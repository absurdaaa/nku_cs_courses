
<file path=[Content_Types].xml><?xml version="1.0" encoding="utf-8"?>
<Types xmlns="http://schemas.openxmlformats.org/package/2006/content-types">
  <Default Extension="bin" ContentType="application/vnd.openxmlformats-officedocument.oleObject"/>
  <Default Extension="png" ContentType="image/png"/>
  <Default Extension="wmf" ContentType="image/x-wmf"/>
  <Default Extension="jpeg" ContentType="image/jpeg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Override1.xml" ContentType="application/vnd.openxmlformats-officedocument.themeOverride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9" r:id="rId1"/>
  </p:sldMasterIdLst>
  <p:notesMasterIdLst>
    <p:notesMasterId r:id="rId91"/>
  </p:notesMasterIdLst>
  <p:handoutMasterIdLst>
    <p:handoutMasterId r:id="rId92"/>
  </p:handoutMasterIdLst>
  <p:sldIdLst>
    <p:sldId id="256" r:id="rId2"/>
    <p:sldId id="358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92" r:id="rId23"/>
    <p:sldId id="293" r:id="rId24"/>
    <p:sldId id="294" r:id="rId25"/>
    <p:sldId id="295" r:id="rId26"/>
    <p:sldId id="360" r:id="rId27"/>
    <p:sldId id="297" r:id="rId28"/>
    <p:sldId id="298" r:id="rId29"/>
    <p:sldId id="299" r:id="rId30"/>
    <p:sldId id="300" r:id="rId31"/>
    <p:sldId id="301" r:id="rId32"/>
    <p:sldId id="302" r:id="rId33"/>
    <p:sldId id="303" r:id="rId34"/>
    <p:sldId id="361" r:id="rId35"/>
    <p:sldId id="304" r:id="rId36"/>
    <p:sldId id="305" r:id="rId37"/>
    <p:sldId id="306" r:id="rId38"/>
    <p:sldId id="307" r:id="rId39"/>
    <p:sldId id="308" r:id="rId40"/>
    <p:sldId id="309" r:id="rId41"/>
    <p:sldId id="310" r:id="rId42"/>
    <p:sldId id="311" r:id="rId43"/>
    <p:sldId id="362" r:id="rId44"/>
    <p:sldId id="312" r:id="rId45"/>
    <p:sldId id="313" r:id="rId46"/>
    <p:sldId id="314" r:id="rId47"/>
    <p:sldId id="316" r:id="rId48"/>
    <p:sldId id="363" r:id="rId49"/>
    <p:sldId id="317" r:id="rId50"/>
    <p:sldId id="318" r:id="rId51"/>
    <p:sldId id="319" r:id="rId52"/>
    <p:sldId id="320" r:id="rId53"/>
    <p:sldId id="321" r:id="rId54"/>
    <p:sldId id="322" r:id="rId55"/>
    <p:sldId id="323" r:id="rId56"/>
    <p:sldId id="324" r:id="rId57"/>
    <p:sldId id="325" r:id="rId58"/>
    <p:sldId id="326" r:id="rId59"/>
    <p:sldId id="327" r:id="rId60"/>
    <p:sldId id="328" r:id="rId61"/>
    <p:sldId id="329" r:id="rId62"/>
    <p:sldId id="330" r:id="rId63"/>
    <p:sldId id="331" r:id="rId64"/>
    <p:sldId id="332" r:id="rId65"/>
    <p:sldId id="333" r:id="rId66"/>
    <p:sldId id="334" r:id="rId67"/>
    <p:sldId id="335" r:id="rId68"/>
    <p:sldId id="336" r:id="rId69"/>
    <p:sldId id="337" r:id="rId70"/>
    <p:sldId id="338" r:id="rId71"/>
    <p:sldId id="339" r:id="rId72"/>
    <p:sldId id="340" r:id="rId73"/>
    <p:sldId id="341" r:id="rId74"/>
    <p:sldId id="342" r:id="rId75"/>
    <p:sldId id="343" r:id="rId76"/>
    <p:sldId id="344" r:id="rId77"/>
    <p:sldId id="345" r:id="rId78"/>
    <p:sldId id="346" r:id="rId79"/>
    <p:sldId id="347" r:id="rId80"/>
    <p:sldId id="348" r:id="rId81"/>
    <p:sldId id="349" r:id="rId82"/>
    <p:sldId id="350" r:id="rId83"/>
    <p:sldId id="351" r:id="rId84"/>
    <p:sldId id="352" r:id="rId85"/>
    <p:sldId id="353" r:id="rId86"/>
    <p:sldId id="354" r:id="rId87"/>
    <p:sldId id="355" r:id="rId88"/>
    <p:sldId id="356" r:id="rId89"/>
    <p:sldId id="357" r:id="rId90"/>
  </p:sldIdLst>
  <p:sldSz cx="9144000" cy="6858000" type="screen4x3"/>
  <p:notesSz cx="6759575" cy="9867900"/>
  <p:defaultTextStyle>
    <a:defPPr>
      <a:defRPr lang="zh-CN"/>
    </a:defPPr>
    <a:lvl1pPr algn="l" rtl="0" eaLnBrk="0" fontAlgn="base" hangingPunct="0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kumimoji="1" sz="2400" kern="120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kumimoji="1" sz="2400" kern="120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kumimoji="1" sz="2400" kern="120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kumimoji="1" sz="2400" kern="120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108">
          <p15:clr>
            <a:srgbClr val="A4A3A4"/>
          </p15:clr>
        </p15:guide>
        <p15:guide id="2" pos="2129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6600"/>
    <a:srgbClr val="FF00FF"/>
    <a:srgbClr val="FFCF01"/>
    <a:srgbClr val="0000FF"/>
    <a:srgbClr val="996633"/>
    <a:srgbClr val="009900"/>
    <a:srgbClr val="CC0099"/>
    <a:srgbClr val="FF33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31465" autoAdjust="0"/>
    <p:restoredTop sz="90929"/>
  </p:normalViewPr>
  <p:slideViewPr>
    <p:cSldViewPr>
      <p:cViewPr varScale="1">
        <p:scale>
          <a:sx n="115" d="100"/>
          <a:sy n="115" d="100"/>
        </p:scale>
        <p:origin x="1086" y="10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notesViewPr>
    <p:cSldViewPr>
      <p:cViewPr varScale="1">
        <p:scale>
          <a:sx n="46" d="100"/>
          <a:sy n="46" d="100"/>
        </p:scale>
        <p:origin x="-1469" y="-86"/>
      </p:cViewPr>
      <p:guideLst>
        <p:guide orient="horz" pos="3108"/>
        <p:guide pos="2129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slide" Target="slides/slide83.xml"/><Relationship Id="rId89" Type="http://schemas.openxmlformats.org/officeDocument/2006/relationships/slide" Target="slides/slide88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5" Type="http://schemas.openxmlformats.org/officeDocument/2006/relationships/slide" Target="slides/slide4.xml"/><Relationship Id="rId90" Type="http://schemas.openxmlformats.org/officeDocument/2006/relationships/slide" Target="slides/slide89.xml"/><Relationship Id="rId95" Type="http://schemas.openxmlformats.org/officeDocument/2006/relationships/theme" Target="theme/theme1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93" Type="http://schemas.openxmlformats.org/officeDocument/2006/relationships/presProps" Target="pres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91" Type="http://schemas.openxmlformats.org/officeDocument/2006/relationships/notesMaster" Target="notesMasters/notesMaster1.xml"/><Relationship Id="rId9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94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wmf"/></Relationships>
</file>

<file path=ppt/drawings/_rels/vmlDrawing2.vml.rels><?xml version="1.0" encoding="UTF-8" standalone="yes"?>
<Relationships xmlns="http://schemas.openxmlformats.org/package/2006/relationships"><Relationship Id="rId2" Type="http://schemas.openxmlformats.org/officeDocument/2006/relationships/image" Target="../media/image3.wmf"/><Relationship Id="rId1" Type="http://schemas.openxmlformats.org/officeDocument/2006/relationships/image" Target="../media/image2.w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9.wmf"/></Relationships>
</file>

<file path=ppt/drawings/_rels/vmlDrawing4.vml.rels><?xml version="1.0" encoding="UTF-8" standalone="yes"?>
<Relationships xmlns="http://schemas.openxmlformats.org/package/2006/relationships"><Relationship Id="rId1" Type="http://schemas.openxmlformats.org/officeDocument/2006/relationships/image" Target="../media/image12.w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994" name="Rectangle 2">
            <a:extLst>
              <a:ext uri="{FF2B5EF4-FFF2-40B4-BE49-F238E27FC236}">
                <a16:creationId xmlns:a16="http://schemas.microsoft.com/office/drawing/2014/main" id="{5FAC3880-7446-447B-AF81-462CDF9FE55E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28938" cy="493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 eaLnBrk="1" hangingPunct="1">
              <a:defRPr sz="1200" smtClean="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212995" name="Rectangle 3">
            <a:extLst>
              <a:ext uri="{FF2B5EF4-FFF2-40B4-BE49-F238E27FC236}">
                <a16:creationId xmlns:a16="http://schemas.microsoft.com/office/drawing/2014/main" id="{D0423288-B20F-4178-8AD2-F3B0221340E1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30638" y="0"/>
            <a:ext cx="2928937" cy="493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200" smtClean="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212996" name="Rectangle 4">
            <a:extLst>
              <a:ext uri="{FF2B5EF4-FFF2-40B4-BE49-F238E27FC236}">
                <a16:creationId xmlns:a16="http://schemas.microsoft.com/office/drawing/2014/main" id="{74DBF0DD-CDE8-463B-939A-D215DDAEBE02}"/>
              </a:ext>
            </a:extLst>
          </p:cNvPr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374188"/>
            <a:ext cx="2928938" cy="493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l" eaLnBrk="1" hangingPunct="1">
              <a:defRPr sz="1200" smtClean="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212997" name="Rectangle 5">
            <a:extLst>
              <a:ext uri="{FF2B5EF4-FFF2-40B4-BE49-F238E27FC236}">
                <a16:creationId xmlns:a16="http://schemas.microsoft.com/office/drawing/2014/main" id="{695453DD-9326-42AD-B8BB-2815D0058F1D}"/>
              </a:ext>
            </a:extLst>
          </p:cNvPr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30638" y="9374188"/>
            <a:ext cx="2928937" cy="493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 smtClean="0"/>
            </a:lvl1pPr>
          </a:lstStyle>
          <a:p>
            <a:pPr>
              <a:defRPr/>
            </a:pPr>
            <a:fld id="{4CEDB332-1164-4ED9-A0A5-4CF76674E43F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Rectangle 2">
            <a:extLst>
              <a:ext uri="{FF2B5EF4-FFF2-40B4-BE49-F238E27FC236}">
                <a16:creationId xmlns:a16="http://schemas.microsoft.com/office/drawing/2014/main" id="{7F49C754-78C4-4789-B90C-1CB0878AD048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28938" cy="493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 eaLnBrk="1" hangingPunct="1">
              <a:defRPr sz="1200" smtClean="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2227" name="Rectangle 3">
            <a:extLst>
              <a:ext uri="{FF2B5EF4-FFF2-40B4-BE49-F238E27FC236}">
                <a16:creationId xmlns:a16="http://schemas.microsoft.com/office/drawing/2014/main" id="{82674064-25B5-4219-804A-F3FB670286A9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 bwMode="auto">
          <a:xfrm>
            <a:off x="3830638" y="0"/>
            <a:ext cx="2928937" cy="493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200" smtClean="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076" name="Rectangle 4">
            <a:extLst>
              <a:ext uri="{FF2B5EF4-FFF2-40B4-BE49-F238E27FC236}">
                <a16:creationId xmlns:a16="http://schemas.microsoft.com/office/drawing/2014/main" id="{BD918E53-73AD-4FFC-B4B1-DE7573A10856}"/>
              </a:ext>
            </a:extLst>
          </p:cNvPr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912813" y="739775"/>
            <a:ext cx="4933950" cy="3700463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52229" name="Rectangle 5">
            <a:extLst>
              <a:ext uri="{FF2B5EF4-FFF2-40B4-BE49-F238E27FC236}">
                <a16:creationId xmlns:a16="http://schemas.microsoft.com/office/drawing/2014/main" id="{081AE18A-E28F-4254-84DE-D381F2426B94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00113" y="4687888"/>
            <a:ext cx="4959350" cy="44402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noProof="0"/>
              <a:t>单击此处编辑母版文本样式</a:t>
            </a:r>
          </a:p>
          <a:p>
            <a:pPr lvl="1"/>
            <a:r>
              <a:rPr lang="zh-CN" altLang="en-US" noProof="0"/>
              <a:t>第二级</a:t>
            </a:r>
          </a:p>
          <a:p>
            <a:pPr lvl="2"/>
            <a:r>
              <a:rPr lang="zh-CN" altLang="en-US" noProof="0"/>
              <a:t>第三级</a:t>
            </a:r>
          </a:p>
          <a:p>
            <a:pPr lvl="3"/>
            <a:r>
              <a:rPr lang="zh-CN" altLang="en-US" noProof="0"/>
              <a:t>第四级</a:t>
            </a:r>
          </a:p>
          <a:p>
            <a:pPr lvl="4"/>
            <a:r>
              <a:rPr lang="zh-CN" altLang="en-US" noProof="0"/>
              <a:t>第五级</a:t>
            </a:r>
          </a:p>
        </p:txBody>
      </p:sp>
      <p:sp>
        <p:nvSpPr>
          <p:cNvPr id="52230" name="Rectangle 6">
            <a:extLst>
              <a:ext uri="{FF2B5EF4-FFF2-40B4-BE49-F238E27FC236}">
                <a16:creationId xmlns:a16="http://schemas.microsoft.com/office/drawing/2014/main" id="{FA6F8A1E-4266-4512-8A63-F7C3DED67804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374188"/>
            <a:ext cx="2928938" cy="493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l" eaLnBrk="1" hangingPunct="1">
              <a:defRPr sz="1200" smtClean="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2231" name="Rectangle 7">
            <a:extLst>
              <a:ext uri="{FF2B5EF4-FFF2-40B4-BE49-F238E27FC236}">
                <a16:creationId xmlns:a16="http://schemas.microsoft.com/office/drawing/2014/main" id="{C0F1A7A7-3EA3-4FD0-A8EE-3A74D5EA1BED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30638" y="9374188"/>
            <a:ext cx="2928937" cy="493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 smtClean="0"/>
            </a:lvl1pPr>
          </a:lstStyle>
          <a:p>
            <a:pPr>
              <a:defRPr/>
            </a:pPr>
            <a:fld id="{B8671182-0B97-43A2-886D-A61C454EB19D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Rectangle 7">
            <a:extLst>
              <a:ext uri="{FF2B5EF4-FFF2-40B4-BE49-F238E27FC236}">
                <a16:creationId xmlns:a16="http://schemas.microsoft.com/office/drawing/2014/main" id="{E71FD5DB-D818-4F71-83D6-755B2A5AA2C5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algn="ctr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algn="ctr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algn="ctr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algn="ctr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algn="ctr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r"/>
            <a:fld id="{8972D34F-AA9B-459D-A4FF-DAE199502261}" type="slidenum">
              <a:rPr lang="en-US" altLang="zh-CN" sz="1200"/>
              <a:pPr algn="r"/>
              <a:t>37</a:t>
            </a:fld>
            <a:endParaRPr lang="en-US" altLang="zh-CN" sz="1200"/>
          </a:p>
        </p:txBody>
      </p:sp>
      <p:sp>
        <p:nvSpPr>
          <p:cNvPr id="60419" name="Rectangle 2">
            <a:extLst>
              <a:ext uri="{FF2B5EF4-FFF2-40B4-BE49-F238E27FC236}">
                <a16:creationId xmlns:a16="http://schemas.microsoft.com/office/drawing/2014/main" id="{BD823398-00D4-473D-8CFB-AE4DF301D64D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0420" name="Rectangle 3">
            <a:extLst>
              <a:ext uri="{FF2B5EF4-FFF2-40B4-BE49-F238E27FC236}">
                <a16:creationId xmlns:a16="http://schemas.microsoft.com/office/drawing/2014/main" id="{17F29E46-C8BA-4FAD-B748-87B399BA79A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zh-CN" altLang="zh-CN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hemeOverride" Target="../theme/themeOverride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2">
            <a:extLst>
              <a:ext uri="{FF2B5EF4-FFF2-40B4-BE49-F238E27FC236}">
                <a16:creationId xmlns:a16="http://schemas.microsoft.com/office/drawing/2014/main" id="{EF7AA216-0500-45F3-8EE0-C035BB492B0C}"/>
              </a:ext>
            </a:extLst>
          </p:cNvPr>
          <p:cNvGrpSpPr>
            <a:grpSpLocks/>
          </p:cNvGrpSpPr>
          <p:nvPr/>
        </p:nvGrpSpPr>
        <p:grpSpPr bwMode="auto">
          <a:xfrm>
            <a:off x="0" y="2438400"/>
            <a:ext cx="9009063" cy="1052513"/>
            <a:chOff x="0" y="1536"/>
            <a:chExt cx="5675" cy="663"/>
          </a:xfrm>
        </p:grpSpPr>
        <p:grpSp>
          <p:nvGrpSpPr>
            <p:cNvPr id="5" name="Group 3">
              <a:extLst>
                <a:ext uri="{FF2B5EF4-FFF2-40B4-BE49-F238E27FC236}">
                  <a16:creationId xmlns:a16="http://schemas.microsoft.com/office/drawing/2014/main" id="{71143667-A2E8-41E3-A682-112F4252AF75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83" y="1604"/>
              <a:ext cx="448" cy="299"/>
              <a:chOff x="720" y="336"/>
              <a:chExt cx="624" cy="432"/>
            </a:xfrm>
          </p:grpSpPr>
          <p:sp>
            <p:nvSpPr>
              <p:cNvPr id="12" name="Rectangle 4">
                <a:extLst>
                  <a:ext uri="{FF2B5EF4-FFF2-40B4-BE49-F238E27FC236}">
                    <a16:creationId xmlns:a16="http://schemas.microsoft.com/office/drawing/2014/main" id="{506175F7-2D07-4C61-A36A-49DD77D3AA6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20" y="336"/>
                <a:ext cx="384" cy="432"/>
              </a:xfrm>
              <a:prstGeom prst="rect">
                <a:avLst/>
              </a:prstGeom>
              <a:solidFill>
                <a:schemeClr val="folHlink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 algn="ctr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 algn="ctr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 algn="ctr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 algn="ctr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 algn="ctr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13" name="Rectangle 5">
                <a:extLst>
                  <a:ext uri="{FF2B5EF4-FFF2-40B4-BE49-F238E27FC236}">
                    <a16:creationId xmlns:a16="http://schemas.microsoft.com/office/drawing/2014/main" id="{49C0553A-DD73-4AE7-8F19-3B65CAAF295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56" y="336"/>
                <a:ext cx="288" cy="432"/>
              </a:xfrm>
              <a:prstGeom prst="rect">
                <a:avLst/>
              </a:prstGeom>
              <a:gradFill rotWithShape="0">
                <a:gsLst>
                  <a:gs pos="0">
                    <a:schemeClr val="folHlink"/>
                  </a:gs>
                  <a:gs pos="100000">
                    <a:schemeClr val="bg1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 algn="ctr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 algn="ctr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 algn="ctr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 algn="ctr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 algn="ctr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</p:grpSp>
        <p:grpSp>
          <p:nvGrpSpPr>
            <p:cNvPr id="6" name="Group 6">
              <a:extLst>
                <a:ext uri="{FF2B5EF4-FFF2-40B4-BE49-F238E27FC236}">
                  <a16:creationId xmlns:a16="http://schemas.microsoft.com/office/drawing/2014/main" id="{3554F1EB-8C7D-4A1D-BEE9-F07E9334D00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61" y="1870"/>
              <a:ext cx="465" cy="299"/>
              <a:chOff x="912" y="2640"/>
              <a:chExt cx="672" cy="432"/>
            </a:xfrm>
          </p:grpSpPr>
          <p:sp>
            <p:nvSpPr>
              <p:cNvPr id="10" name="Rectangle 7">
                <a:extLst>
                  <a:ext uri="{FF2B5EF4-FFF2-40B4-BE49-F238E27FC236}">
                    <a16:creationId xmlns:a16="http://schemas.microsoft.com/office/drawing/2014/main" id="{636B614C-6A3D-4873-A9F5-CDB06531920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12" y="2640"/>
                <a:ext cx="384" cy="432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 algn="ctr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 algn="ctr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 algn="ctr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 algn="ctr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 algn="ctr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11" name="Rectangle 8">
                <a:extLst>
                  <a:ext uri="{FF2B5EF4-FFF2-40B4-BE49-F238E27FC236}">
                    <a16:creationId xmlns:a16="http://schemas.microsoft.com/office/drawing/2014/main" id="{B80022FA-FE12-4CBC-AE8A-611B4BB8060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48" y="2640"/>
                <a:ext cx="336" cy="432"/>
              </a:xfrm>
              <a:prstGeom prst="rect">
                <a:avLst/>
              </a:prstGeom>
              <a:gradFill rotWithShape="0">
                <a:gsLst>
                  <a:gs pos="0">
                    <a:schemeClr val="accent2"/>
                  </a:gs>
                  <a:gs pos="100000">
                    <a:schemeClr val="bg1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 algn="ctr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 algn="ctr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 algn="ctr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 algn="ctr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 algn="ctr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</p:grpSp>
        <p:sp>
          <p:nvSpPr>
            <p:cNvPr id="7" name="Rectangle 9">
              <a:extLst>
                <a:ext uri="{FF2B5EF4-FFF2-40B4-BE49-F238E27FC236}">
                  <a16:creationId xmlns:a16="http://schemas.microsoft.com/office/drawing/2014/main" id="{A6D6EAC8-B527-47E9-8EDF-CEFFEE8D57A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1824"/>
              <a:ext cx="353" cy="266"/>
            </a:xfrm>
            <a:prstGeom prst="rect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hlink"/>
                </a:gs>
              </a:gsLst>
              <a:lin ang="189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algn="ctr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algn="ctr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algn="ctr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algn="ctr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algn="ctr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8" name="Rectangle 10">
              <a:extLst>
                <a:ext uri="{FF2B5EF4-FFF2-40B4-BE49-F238E27FC236}">
                  <a16:creationId xmlns:a16="http://schemas.microsoft.com/office/drawing/2014/main" id="{9D721010-2F5D-4487-98D6-10498CA2150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0" y="1536"/>
              <a:ext cx="20" cy="663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bg2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algn="ctr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algn="ctr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algn="ctr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algn="ctr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algn="ctr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9" name="Rectangle 11">
              <a:extLst>
                <a:ext uri="{FF2B5EF4-FFF2-40B4-BE49-F238E27FC236}">
                  <a16:creationId xmlns:a16="http://schemas.microsoft.com/office/drawing/2014/main" id="{B380E18E-B263-4A27-B889-3BE02944B87A}"/>
                </a:ext>
              </a:extLst>
            </p:cNvPr>
            <p:cNvSpPr>
              <a:spLocks noChangeArrowheads="1"/>
            </p:cNvSpPr>
            <p:nvPr/>
          </p:nvSpPr>
          <p:spPr bwMode="auto">
            <a:xfrm flipV="1">
              <a:off x="199" y="2054"/>
              <a:ext cx="5476" cy="35"/>
            </a:xfrm>
            <a:prstGeom prst="rect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algn="ctr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algn="ctr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algn="ctr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algn="ctr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algn="ctr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</p:grpSp>
      <p:sp>
        <p:nvSpPr>
          <p:cNvPr id="6156" name="Rectangle 12"/>
          <p:cNvSpPr>
            <a:spLocks noGrp="1" noChangeArrowheads="1"/>
          </p:cNvSpPr>
          <p:nvPr>
            <p:ph type="ctrTitle"/>
          </p:nvPr>
        </p:nvSpPr>
        <p:spPr>
          <a:xfrm>
            <a:off x="990600" y="1828800"/>
            <a:ext cx="7772400" cy="11430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zh-CN" altLang="en-US" noProof="0"/>
              <a:t>单击此处编辑母版标题样式</a:t>
            </a:r>
          </a:p>
        </p:txBody>
      </p:sp>
      <p:sp>
        <p:nvSpPr>
          <p:cNvPr id="6157" name="Rectangle 13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Font typeface="Wingdings" panose="05000000000000000000" pitchFamily="2" charset="2"/>
              <a:buNone/>
              <a:defRPr/>
            </a:lvl1pPr>
          </a:lstStyle>
          <a:p>
            <a:pPr lvl="0"/>
            <a:r>
              <a:rPr lang="zh-CN" altLang="en-US" noProof="0"/>
              <a:t>单击此处编辑母版副标题样式</a:t>
            </a:r>
          </a:p>
        </p:txBody>
      </p:sp>
      <p:sp>
        <p:nvSpPr>
          <p:cNvPr id="14" name="Rectangle 14">
            <a:extLst>
              <a:ext uri="{FF2B5EF4-FFF2-40B4-BE49-F238E27FC236}">
                <a16:creationId xmlns:a16="http://schemas.microsoft.com/office/drawing/2014/main" id="{30A359CC-D91E-4A12-882A-319DA51BE9D2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xfrm>
            <a:off x="990600" y="6248400"/>
            <a:ext cx="1905000" cy="457200"/>
          </a:xfrm>
        </p:spPr>
        <p:txBody>
          <a:bodyPr/>
          <a:lstStyle>
            <a:lvl1pPr>
              <a:defRPr smtClean="0">
                <a:solidFill>
                  <a:schemeClr val="bg2"/>
                </a:solidFill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5" name="Rectangle 15">
            <a:extLst>
              <a:ext uri="{FF2B5EF4-FFF2-40B4-BE49-F238E27FC236}">
                <a16:creationId xmlns:a16="http://schemas.microsoft.com/office/drawing/2014/main" id="{B1EEA24D-5415-45DF-80C6-79B3F93EC8BD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xfrm>
            <a:off x="3429000" y="6248400"/>
            <a:ext cx="2895600" cy="457200"/>
          </a:xfrm>
        </p:spPr>
        <p:txBody>
          <a:bodyPr/>
          <a:lstStyle>
            <a:lvl1pPr>
              <a:defRPr smtClean="0">
                <a:solidFill>
                  <a:schemeClr val="bg2"/>
                </a:solidFill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6" name="Rectangle 16">
            <a:extLst>
              <a:ext uri="{FF2B5EF4-FFF2-40B4-BE49-F238E27FC236}">
                <a16:creationId xmlns:a16="http://schemas.microsoft.com/office/drawing/2014/main" id="{A1D1CE5C-BFC6-45BE-80B3-2F690E75638A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xfrm>
            <a:off x="6858000" y="6248400"/>
            <a:ext cx="1905000" cy="457200"/>
          </a:xfrm>
        </p:spPr>
        <p:txBody>
          <a:bodyPr/>
          <a:lstStyle>
            <a:lvl1pPr>
              <a:defRPr smtClean="0">
                <a:solidFill>
                  <a:schemeClr val="bg2"/>
                </a:solidFill>
              </a:defRPr>
            </a:lvl1pPr>
          </a:lstStyle>
          <a:p>
            <a:pPr>
              <a:defRPr/>
            </a:pPr>
            <a:fld id="{4A10BF5D-0F0D-45EA-8180-1D56FBE652C1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46165393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11">
            <a:extLst>
              <a:ext uri="{FF2B5EF4-FFF2-40B4-BE49-F238E27FC236}">
                <a16:creationId xmlns:a16="http://schemas.microsoft.com/office/drawing/2014/main" id="{A07343F5-860F-4A9E-99D6-66F01B1362F6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12">
            <a:extLst>
              <a:ext uri="{FF2B5EF4-FFF2-40B4-BE49-F238E27FC236}">
                <a16:creationId xmlns:a16="http://schemas.microsoft.com/office/drawing/2014/main" id="{6A1E654F-2A07-4096-844E-CA41254DFB58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13">
            <a:extLst>
              <a:ext uri="{FF2B5EF4-FFF2-40B4-BE49-F238E27FC236}">
                <a16:creationId xmlns:a16="http://schemas.microsoft.com/office/drawing/2014/main" id="{1466470A-363E-4560-A4F3-91787253CB15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C48D6C8-320C-4762-8945-C1FBC8E42EC3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18660589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Rectangle 11">
            <a:extLst>
              <a:ext uri="{FF2B5EF4-FFF2-40B4-BE49-F238E27FC236}">
                <a16:creationId xmlns:a16="http://schemas.microsoft.com/office/drawing/2014/main" id="{879E763D-7C7D-463C-97E1-3DD4065A601A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12">
            <a:extLst>
              <a:ext uri="{FF2B5EF4-FFF2-40B4-BE49-F238E27FC236}">
                <a16:creationId xmlns:a16="http://schemas.microsoft.com/office/drawing/2014/main" id="{D56FE26C-E089-4625-AEA1-4186894C9DDF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13">
            <a:extLst>
              <a:ext uri="{FF2B5EF4-FFF2-40B4-BE49-F238E27FC236}">
                <a16:creationId xmlns:a16="http://schemas.microsoft.com/office/drawing/2014/main" id="{519954A8-75AE-4A73-A581-67305D4A6529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DF0385F-DC40-44AB-94FF-1E2B33481E42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23224083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1182688" y="1371600"/>
            <a:ext cx="3810000" cy="4724400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5145088" y="1371600"/>
            <a:ext cx="3810000" cy="4724400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Rectangle 11">
            <a:extLst>
              <a:ext uri="{FF2B5EF4-FFF2-40B4-BE49-F238E27FC236}">
                <a16:creationId xmlns:a16="http://schemas.microsoft.com/office/drawing/2014/main" id="{15BE4E09-2568-42B6-8030-B807C762D564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12">
            <a:extLst>
              <a:ext uri="{FF2B5EF4-FFF2-40B4-BE49-F238E27FC236}">
                <a16:creationId xmlns:a16="http://schemas.microsoft.com/office/drawing/2014/main" id="{B264DE12-1400-405D-98F4-90CC98FF3416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13">
            <a:extLst>
              <a:ext uri="{FF2B5EF4-FFF2-40B4-BE49-F238E27FC236}">
                <a16:creationId xmlns:a16="http://schemas.microsoft.com/office/drawing/2014/main" id="{09841A21-3C02-400E-A565-047E0278B84E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8298374-592F-48B0-9E2C-83795CD389D1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63558657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Rectangle 11">
            <a:extLst>
              <a:ext uri="{FF2B5EF4-FFF2-40B4-BE49-F238E27FC236}">
                <a16:creationId xmlns:a16="http://schemas.microsoft.com/office/drawing/2014/main" id="{D1802957-71F5-4B8A-B1A5-C0F0C5630C95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" name="Rectangle 12">
            <a:extLst>
              <a:ext uri="{FF2B5EF4-FFF2-40B4-BE49-F238E27FC236}">
                <a16:creationId xmlns:a16="http://schemas.microsoft.com/office/drawing/2014/main" id="{3A3B74C4-22A5-4E03-90BF-A1C925C1F9F4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9" name="Rectangle 13">
            <a:extLst>
              <a:ext uri="{FF2B5EF4-FFF2-40B4-BE49-F238E27FC236}">
                <a16:creationId xmlns:a16="http://schemas.microsoft.com/office/drawing/2014/main" id="{2609F837-5F53-4CF7-809B-7079026F9FCB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BE5EE02-1A4D-444E-87D3-516245F07998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28926329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Rectangle 11">
            <a:extLst>
              <a:ext uri="{FF2B5EF4-FFF2-40B4-BE49-F238E27FC236}">
                <a16:creationId xmlns:a16="http://schemas.microsoft.com/office/drawing/2014/main" id="{2404D262-8B0C-4BF0-AECC-4A1CF2C14554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12">
            <a:extLst>
              <a:ext uri="{FF2B5EF4-FFF2-40B4-BE49-F238E27FC236}">
                <a16:creationId xmlns:a16="http://schemas.microsoft.com/office/drawing/2014/main" id="{06CA4050-4113-4D13-8F52-95B16D84A490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13">
            <a:extLst>
              <a:ext uri="{FF2B5EF4-FFF2-40B4-BE49-F238E27FC236}">
                <a16:creationId xmlns:a16="http://schemas.microsoft.com/office/drawing/2014/main" id="{77A09825-201D-4D6A-AFE0-50463F805EBF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17EEF95-E834-4A12-8E12-9967B6EB81C3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5376698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1">
            <a:extLst>
              <a:ext uri="{FF2B5EF4-FFF2-40B4-BE49-F238E27FC236}">
                <a16:creationId xmlns:a16="http://schemas.microsoft.com/office/drawing/2014/main" id="{FBCFDC21-7DBD-4751-9568-F1FC5E236CDB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" name="Rectangle 12">
            <a:extLst>
              <a:ext uri="{FF2B5EF4-FFF2-40B4-BE49-F238E27FC236}">
                <a16:creationId xmlns:a16="http://schemas.microsoft.com/office/drawing/2014/main" id="{38CF6E55-6659-4E03-83BD-4CB8D14FC098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13">
            <a:extLst>
              <a:ext uri="{FF2B5EF4-FFF2-40B4-BE49-F238E27FC236}">
                <a16:creationId xmlns:a16="http://schemas.microsoft.com/office/drawing/2014/main" id="{B13E1DA9-DCAA-4FF9-9DF5-BA0D1B7B6ADB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740E0AE-D9CF-43FA-AA17-E5FA914B1F6E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44754753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Rectangle 11">
            <a:extLst>
              <a:ext uri="{FF2B5EF4-FFF2-40B4-BE49-F238E27FC236}">
                <a16:creationId xmlns:a16="http://schemas.microsoft.com/office/drawing/2014/main" id="{A9E11CFC-8C0D-4CCA-B412-1FA044A871A2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12">
            <a:extLst>
              <a:ext uri="{FF2B5EF4-FFF2-40B4-BE49-F238E27FC236}">
                <a16:creationId xmlns:a16="http://schemas.microsoft.com/office/drawing/2014/main" id="{31FD0326-59CE-4989-8FE5-F3B638D65BEB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13">
            <a:extLst>
              <a:ext uri="{FF2B5EF4-FFF2-40B4-BE49-F238E27FC236}">
                <a16:creationId xmlns:a16="http://schemas.microsoft.com/office/drawing/2014/main" id="{EBEA450A-6AA8-4695-BC34-98E37BE84862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44C7E14-4D50-4F25-8C16-19A7D928AFA1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682278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Rectangle 11">
            <a:extLst>
              <a:ext uri="{FF2B5EF4-FFF2-40B4-BE49-F238E27FC236}">
                <a16:creationId xmlns:a16="http://schemas.microsoft.com/office/drawing/2014/main" id="{7E039C76-FB82-4E77-8986-E9EC57A64AAF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12">
            <a:extLst>
              <a:ext uri="{FF2B5EF4-FFF2-40B4-BE49-F238E27FC236}">
                <a16:creationId xmlns:a16="http://schemas.microsoft.com/office/drawing/2014/main" id="{A671C87B-7F9F-4526-8B98-E0617C5DDA14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13">
            <a:extLst>
              <a:ext uri="{FF2B5EF4-FFF2-40B4-BE49-F238E27FC236}">
                <a16:creationId xmlns:a16="http://schemas.microsoft.com/office/drawing/2014/main" id="{9459B5F4-5436-441C-BFF1-009980438BF2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0645183-57DA-4A6D-A00E-1CB1C59E5EE0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37844099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11">
            <a:extLst>
              <a:ext uri="{FF2B5EF4-FFF2-40B4-BE49-F238E27FC236}">
                <a16:creationId xmlns:a16="http://schemas.microsoft.com/office/drawing/2014/main" id="{24A9C6CE-5031-4CA2-9F06-99DA64ABA7A7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12">
            <a:extLst>
              <a:ext uri="{FF2B5EF4-FFF2-40B4-BE49-F238E27FC236}">
                <a16:creationId xmlns:a16="http://schemas.microsoft.com/office/drawing/2014/main" id="{EE5F4B1B-A321-407A-9BEC-1FC2CF150B05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13">
            <a:extLst>
              <a:ext uri="{FF2B5EF4-FFF2-40B4-BE49-F238E27FC236}">
                <a16:creationId xmlns:a16="http://schemas.microsoft.com/office/drawing/2014/main" id="{235F2580-2F64-49B9-8229-8A38054F28F8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FAC3704-1A90-457B-BC78-7AEBB022270A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77583640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7004050" y="76200"/>
            <a:ext cx="1951038" cy="6019800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1150938" y="76200"/>
            <a:ext cx="5700712" cy="6019800"/>
          </a:xfr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11">
            <a:extLst>
              <a:ext uri="{FF2B5EF4-FFF2-40B4-BE49-F238E27FC236}">
                <a16:creationId xmlns:a16="http://schemas.microsoft.com/office/drawing/2014/main" id="{4C498F76-93D4-4F5F-A717-97E7DFE25854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12">
            <a:extLst>
              <a:ext uri="{FF2B5EF4-FFF2-40B4-BE49-F238E27FC236}">
                <a16:creationId xmlns:a16="http://schemas.microsoft.com/office/drawing/2014/main" id="{0F303E72-6EC5-4C91-833C-D901049A8966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13">
            <a:extLst>
              <a:ext uri="{FF2B5EF4-FFF2-40B4-BE49-F238E27FC236}">
                <a16:creationId xmlns:a16="http://schemas.microsoft.com/office/drawing/2014/main" id="{7EEB49E7-3F3C-494F-9137-D8A08B69CB81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D050D35-F8EE-4D2E-9B33-D39B906BE071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18066860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10CBAF9F-8ED4-490E-ACA6-E82BDE132312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417513" y="557213"/>
            <a:ext cx="438150" cy="474662"/>
          </a:xfrm>
          <a:prstGeom prst="rect">
            <a:avLst/>
          </a:prstGeom>
          <a:solidFill>
            <a:srgbClr val="FFCF0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algn="ctr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algn="ctr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algn="ctr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algn="ctr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algn="ctr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zh-CN"/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23467204-9C5B-4603-ABEF-262647A39849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800100" y="557213"/>
            <a:ext cx="328613" cy="474662"/>
          </a:xfrm>
          <a:prstGeom prst="rect">
            <a:avLst/>
          </a:prstGeom>
          <a:gradFill rotWithShape="0">
            <a:gsLst>
              <a:gs pos="0">
                <a:srgbClr val="FFCF01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algn="ctr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algn="ctr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algn="ctr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algn="ctr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algn="ctr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zh-CN"/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75F9A3CF-1A05-4CB5-82CD-3390C07B92DD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541338" y="979488"/>
            <a:ext cx="422275" cy="474662"/>
          </a:xfrm>
          <a:prstGeom prst="rect">
            <a:avLst/>
          </a:prstGeom>
          <a:solidFill>
            <a:schemeClr val="folHlink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algn="ctr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algn="ctr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algn="ctr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algn="ctr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algn="ctr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zh-CN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7691BC45-1A99-4B60-AE80-B327CF7B32B5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911225" y="979488"/>
            <a:ext cx="368300" cy="474662"/>
          </a:xfrm>
          <a:prstGeom prst="rect">
            <a:avLst/>
          </a:prstGeom>
          <a:gradFill rotWithShape="0">
            <a:gsLst>
              <a:gs pos="0">
                <a:schemeClr val="folHlink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algn="ctr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algn="ctr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algn="ctr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algn="ctr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algn="ctr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zh-CN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58E11010-A8EA-4291-BD75-C318B47B0651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127000" y="906463"/>
            <a:ext cx="560388" cy="422275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hlink"/>
              </a:gs>
            </a:gsLst>
            <a:lin ang="189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algn="ctr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algn="ctr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algn="ctr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algn="ctr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algn="ctr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zh-CN"/>
          </a:p>
        </p:txBody>
      </p:sp>
      <p:sp>
        <p:nvSpPr>
          <p:cNvPr id="1031" name="Rectangle 7">
            <a:extLst>
              <a:ext uri="{FF2B5EF4-FFF2-40B4-BE49-F238E27FC236}">
                <a16:creationId xmlns:a16="http://schemas.microsoft.com/office/drawing/2014/main" id="{88A82FF8-AF94-45B9-890E-1A2533B87686}"/>
              </a:ext>
            </a:extLst>
          </p:cNvPr>
          <p:cNvSpPr>
            <a:spLocks noChangeArrowheads="1"/>
          </p:cNvSpPr>
          <p:nvPr/>
        </p:nvSpPr>
        <p:spPr bwMode="gray">
          <a:xfrm>
            <a:off x="762000" y="449263"/>
            <a:ext cx="31750" cy="1052512"/>
          </a:xfrm>
          <a:prstGeom prst="rect">
            <a:avLst/>
          </a:prstGeom>
          <a:solidFill>
            <a:schemeClr val="bg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algn="ctr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algn="ctr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algn="ctr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algn="ctr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algn="ctr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zh-CN"/>
          </a:p>
        </p:txBody>
      </p:sp>
      <p:sp>
        <p:nvSpPr>
          <p:cNvPr id="1032" name="Rectangle 8">
            <a:extLst>
              <a:ext uri="{FF2B5EF4-FFF2-40B4-BE49-F238E27FC236}">
                <a16:creationId xmlns:a16="http://schemas.microsoft.com/office/drawing/2014/main" id="{30BF9AFC-E3BB-4580-B3AA-05508542BE1D}"/>
              </a:ext>
            </a:extLst>
          </p:cNvPr>
          <p:cNvSpPr>
            <a:spLocks noChangeArrowheads="1"/>
          </p:cNvSpPr>
          <p:nvPr/>
        </p:nvSpPr>
        <p:spPr bwMode="gray">
          <a:xfrm>
            <a:off x="442913" y="1239838"/>
            <a:ext cx="8226425" cy="31750"/>
          </a:xfrm>
          <a:prstGeom prst="rect">
            <a:avLst/>
          </a:prstGeom>
          <a:gradFill rotWithShape="0">
            <a:gsLst>
              <a:gs pos="0">
                <a:schemeClr val="bg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algn="ctr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algn="ctr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algn="ctr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algn="ctr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algn="ctr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zh-CN"/>
          </a:p>
        </p:txBody>
      </p:sp>
      <p:sp>
        <p:nvSpPr>
          <p:cNvPr id="1033" name="Rectangle 9">
            <a:extLst>
              <a:ext uri="{FF2B5EF4-FFF2-40B4-BE49-F238E27FC236}">
                <a16:creationId xmlns:a16="http://schemas.microsoft.com/office/drawing/2014/main" id="{ACBDB32A-BC8E-4683-A9BB-2E8B38CA248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1150938" y="76200"/>
            <a:ext cx="7793037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1034" name="Rectangle 10">
            <a:extLst>
              <a:ext uri="{FF2B5EF4-FFF2-40B4-BE49-F238E27FC236}">
                <a16:creationId xmlns:a16="http://schemas.microsoft.com/office/drawing/2014/main" id="{2A816ED2-712E-4899-B38E-33768816B39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1182688" y="1371600"/>
            <a:ext cx="7772400" cy="4724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131" name="Rectangle 11">
            <a:extLst>
              <a:ext uri="{FF2B5EF4-FFF2-40B4-BE49-F238E27FC236}">
                <a16:creationId xmlns:a16="http://schemas.microsoft.com/office/drawing/2014/main" id="{ECB581E3-5A17-45CA-9C5E-1CA42BF7F531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914400" y="63246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l" eaLnBrk="1" hangingPunct="1">
              <a:defRPr kumimoji="0" sz="1400" smtClean="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132" name="Rectangle 12">
            <a:extLst>
              <a:ext uri="{FF2B5EF4-FFF2-40B4-BE49-F238E27FC236}">
                <a16:creationId xmlns:a16="http://schemas.microsoft.com/office/drawing/2014/main" id="{2804F0AA-1F62-4606-8820-FAAA8077F7A5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352800" y="63246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ctr" eaLnBrk="1" hangingPunct="1">
              <a:defRPr kumimoji="0" sz="1400" smtClean="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133" name="Rectangle 13">
            <a:extLst>
              <a:ext uri="{FF2B5EF4-FFF2-40B4-BE49-F238E27FC236}">
                <a16:creationId xmlns:a16="http://schemas.microsoft.com/office/drawing/2014/main" id="{36357889-798D-40E1-9EFF-ECA6F29E1D1E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781800" y="63246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kumimoji="0" sz="1400" smtClean="0"/>
            </a:lvl1pPr>
          </a:lstStyle>
          <a:p>
            <a:pPr>
              <a:defRPr/>
            </a:pPr>
            <a:fld id="{74AD46EC-5A4D-4FA8-9809-CF7A8D451FFC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2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kumimoji="1" sz="4400" kern="12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5pPr>
      <a:lvl6pPr marL="457200" algn="l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6pPr>
      <a:lvl7pPr marL="914400" algn="l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7pPr>
      <a:lvl8pPr marL="1371600" algn="l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8pPr>
      <a:lvl9pPr marL="1828800" algn="l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rgbClr val="FF3300"/>
        </a:buClr>
        <a:buSzPct val="75000"/>
        <a:buFont typeface="Wingdings" panose="05000000000000000000" pitchFamily="2" charset="2"/>
        <a:buChar char="m"/>
        <a:defRPr kumimoji="1"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69000"/>
        <a:buFont typeface="Wingdings" panose="05000000000000000000" pitchFamily="2" charset="2"/>
        <a:buChar char="q"/>
        <a:defRPr kumimoji="1" sz="2800" kern="1200">
          <a:solidFill>
            <a:srgbClr val="3333CC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rgbClr val="FF3300"/>
        </a:buClr>
        <a:buFont typeface="Wingdings" panose="05000000000000000000" pitchFamily="2" charset="2"/>
        <a:buChar char="Ø"/>
        <a:defRPr kumimoji="1" sz="2400" kern="1200">
          <a:solidFill>
            <a:srgbClr val="FF3300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Char char="–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Char char="»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4" Type="http://schemas.openxmlformats.org/officeDocument/2006/relationships/image" Target="../media/image1.wmf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.vml"/><Relationship Id="rId6" Type="http://schemas.openxmlformats.org/officeDocument/2006/relationships/image" Target="../media/image3.wmf"/><Relationship Id="rId5" Type="http://schemas.openxmlformats.org/officeDocument/2006/relationships/oleObject" Target="../embeddings/oleObject3.bin"/><Relationship Id="rId4" Type="http://schemas.openxmlformats.org/officeDocument/2006/relationships/image" Target="../media/image2.wmf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3.vml"/><Relationship Id="rId4" Type="http://schemas.openxmlformats.org/officeDocument/2006/relationships/image" Target="../media/image9.wmf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4.vml"/><Relationship Id="rId4" Type="http://schemas.openxmlformats.org/officeDocument/2006/relationships/image" Target="../media/image12.wmf"/></Relationships>
</file>

<file path=ppt/slides/_rels/slide6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7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7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4.png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8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6.png"/></Relationships>
</file>

<file path=ppt/slides/_rels/slide8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8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9.png"/></Relationships>
</file>

<file path=ppt/slides/_rels/slide8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8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>
            <a:extLst>
              <a:ext uri="{FF2B5EF4-FFF2-40B4-BE49-F238E27FC236}">
                <a16:creationId xmlns:a16="http://schemas.microsoft.com/office/drawing/2014/main" id="{61BA2E51-2F22-468B-BBF5-6554F220BBB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150938" y="2743200"/>
            <a:ext cx="7793037" cy="1143000"/>
          </a:xfrm>
        </p:spPr>
        <p:txBody>
          <a:bodyPr/>
          <a:lstStyle/>
          <a:p>
            <a:pPr algn="ctr" eaLnBrk="1" hangingPunct="1"/>
            <a:r>
              <a:rPr lang="zh-CN" altLang="en-US"/>
              <a:t>第九章  代码生成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>
            <a:extLst>
              <a:ext uri="{FF2B5EF4-FFF2-40B4-BE49-F238E27FC236}">
                <a16:creationId xmlns:a16="http://schemas.microsoft.com/office/drawing/2014/main" id="{45F078CD-7030-408E-A467-76E18CFE79C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学习内容</a:t>
            </a:r>
          </a:p>
        </p:txBody>
      </p:sp>
      <p:sp>
        <p:nvSpPr>
          <p:cNvPr id="6147" name="Rectangle 3">
            <a:extLst>
              <a:ext uri="{FF2B5EF4-FFF2-40B4-BE49-F238E27FC236}">
                <a16:creationId xmlns:a16="http://schemas.microsoft.com/office/drawing/2014/main" id="{E19976E1-7EDA-4502-9A53-28E4A88310B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目标机器</a:t>
            </a:r>
          </a:p>
          <a:p>
            <a:pPr eaLnBrk="1" hangingPunct="1"/>
            <a:r>
              <a:rPr lang="zh-CN" altLang="en-US"/>
              <a:t>存储管理</a:t>
            </a:r>
          </a:p>
          <a:p>
            <a:pPr eaLnBrk="1" hangingPunct="1"/>
            <a:r>
              <a:rPr lang="zh-CN" altLang="en-US"/>
              <a:t>基本块、流图</a:t>
            </a:r>
          </a:p>
          <a:p>
            <a:pPr eaLnBrk="1" hangingPunct="1"/>
            <a:r>
              <a:rPr lang="zh-CN" altLang="en-US"/>
              <a:t>简单代码生成算法</a:t>
            </a:r>
          </a:p>
          <a:p>
            <a:pPr eaLnBrk="1" hangingPunct="1"/>
            <a:r>
              <a:rPr lang="zh-CN" altLang="en-US"/>
              <a:t>寄存器分配</a:t>
            </a:r>
          </a:p>
          <a:p>
            <a:pPr eaLnBrk="1" hangingPunct="1"/>
            <a:r>
              <a:rPr lang="zh-CN" altLang="en-US"/>
              <a:t>窥孔优化</a:t>
            </a:r>
          </a:p>
          <a:p>
            <a:pPr eaLnBrk="1" hangingPunct="1"/>
            <a:r>
              <a:rPr lang="zh-CN" altLang="en-US"/>
              <a:t>基本块</a:t>
            </a:r>
            <a:r>
              <a:rPr lang="en-US" altLang="zh-CN"/>
              <a:t>dag</a:t>
            </a:r>
            <a:r>
              <a:rPr lang="zh-CN" altLang="en-US"/>
              <a:t>表示、从</a:t>
            </a:r>
            <a:r>
              <a:rPr lang="en-US" altLang="zh-CN"/>
              <a:t>dag</a:t>
            </a:r>
            <a:r>
              <a:rPr lang="zh-CN" altLang="en-US"/>
              <a:t>生成代码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>
            <a:extLst>
              <a:ext uri="{FF2B5EF4-FFF2-40B4-BE49-F238E27FC236}">
                <a16:creationId xmlns:a16="http://schemas.microsoft.com/office/drawing/2014/main" id="{5E64F68B-05DB-48D0-9AE8-EE51B58E5E8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9.1  </a:t>
            </a:r>
            <a:r>
              <a:rPr lang="zh-CN" altLang="en-US"/>
              <a:t>设计中的问题</a:t>
            </a:r>
          </a:p>
        </p:txBody>
      </p:sp>
      <p:sp>
        <p:nvSpPr>
          <p:cNvPr id="7171" name="Rectangle 3">
            <a:extLst>
              <a:ext uri="{FF2B5EF4-FFF2-40B4-BE49-F238E27FC236}">
                <a16:creationId xmlns:a16="http://schemas.microsoft.com/office/drawing/2014/main" id="{C756F4CD-E2D2-4635-9641-A06F9DAA088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marL="609600" indent="-609600" eaLnBrk="1" hangingPunct="1">
              <a:buFont typeface="Wingdings" panose="05000000000000000000" pitchFamily="2" charset="2"/>
              <a:buAutoNum type="arabicPeriod"/>
            </a:pPr>
            <a:r>
              <a:rPr lang="zh-CN" altLang="en-US" sz="2800"/>
              <a:t>输入</a:t>
            </a:r>
          </a:p>
          <a:p>
            <a:pPr marL="990600" lvl="1" indent="-533400" eaLnBrk="1" hangingPunct="1"/>
            <a:r>
              <a:rPr lang="zh-CN" altLang="en-US" sz="2400"/>
              <a:t>前端生成的中间表示形式</a:t>
            </a:r>
          </a:p>
          <a:p>
            <a:pPr marL="1371600" lvl="2" indent="-457200" eaLnBrk="1" hangingPunct="1"/>
            <a:r>
              <a:rPr lang="zh-CN" altLang="en-US" sz="2000"/>
              <a:t>线性化表示：后缀表示形式</a:t>
            </a:r>
          </a:p>
          <a:p>
            <a:pPr marL="1371600" lvl="2" indent="-457200" eaLnBrk="1" hangingPunct="1"/>
            <a:r>
              <a:rPr lang="zh-CN" altLang="en-US" sz="2000"/>
              <a:t>四元式表示：三地址码</a:t>
            </a:r>
          </a:p>
          <a:p>
            <a:pPr marL="1371600" lvl="2" indent="-457200" eaLnBrk="1" hangingPunct="1"/>
            <a:r>
              <a:rPr lang="zh-CN" altLang="en-US" sz="2000"/>
              <a:t>虚拟机表示：抽象栈机器代码</a:t>
            </a:r>
          </a:p>
          <a:p>
            <a:pPr marL="1371600" lvl="2" indent="-457200" eaLnBrk="1" hangingPunct="1"/>
            <a:r>
              <a:rPr lang="zh-CN" altLang="en-US" sz="2000"/>
              <a:t>图形化表示：语法树、</a:t>
            </a:r>
            <a:r>
              <a:rPr lang="en-US" altLang="zh-CN" sz="2000"/>
              <a:t>DAG</a:t>
            </a:r>
          </a:p>
          <a:p>
            <a:pPr marL="990600" lvl="1" indent="-533400" eaLnBrk="1" hangingPunct="1"/>
            <a:r>
              <a:rPr lang="zh-CN" altLang="en-US" sz="2400"/>
              <a:t>符号表信息</a:t>
            </a:r>
          </a:p>
          <a:p>
            <a:pPr marL="990600" lvl="1" indent="-533400" eaLnBrk="1" hangingPunct="1"/>
            <a:r>
              <a:rPr lang="zh-CN" altLang="en-US" sz="2400"/>
              <a:t>类型检查、类型转换已完成</a:t>
            </a:r>
          </a:p>
          <a:p>
            <a:pPr marL="990600" lvl="1" indent="-533400" eaLnBrk="1" hangingPunct="1"/>
            <a:r>
              <a:rPr lang="zh-CN" altLang="en-US" sz="2400"/>
              <a:t>输入是无错误的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>
            <a:extLst>
              <a:ext uri="{FF2B5EF4-FFF2-40B4-BE49-F238E27FC236}">
                <a16:creationId xmlns:a16="http://schemas.microsoft.com/office/drawing/2014/main" id="{9401E723-C363-40F6-B960-B92ABDFB4EE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设计中的问题（续）</a:t>
            </a:r>
          </a:p>
        </p:txBody>
      </p:sp>
      <p:sp>
        <p:nvSpPr>
          <p:cNvPr id="8195" name="Rectangle 3">
            <a:extLst>
              <a:ext uri="{FF2B5EF4-FFF2-40B4-BE49-F238E27FC236}">
                <a16:creationId xmlns:a16="http://schemas.microsoft.com/office/drawing/2014/main" id="{5AC57F16-D1A7-4B96-AC4D-AE511B1F512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marL="609600" indent="-609600" eaLnBrk="1" hangingPunct="1">
              <a:buFont typeface="Wingdings" panose="05000000000000000000" pitchFamily="2" charset="2"/>
              <a:buAutoNum type="arabicPeriod" startAt="2"/>
            </a:pPr>
            <a:r>
              <a:rPr lang="zh-CN" altLang="en-US" sz="2800"/>
              <a:t>目标程序</a:t>
            </a:r>
          </a:p>
          <a:p>
            <a:pPr marL="990600" lvl="1" indent="-533400" eaLnBrk="1" hangingPunct="1"/>
            <a:r>
              <a:rPr lang="zh-CN" altLang="en-US" sz="2400"/>
              <a:t>绝对机器语言</a:t>
            </a:r>
          </a:p>
          <a:p>
            <a:pPr marL="1371600" lvl="2" indent="-457200" eaLnBrk="1" hangingPunct="1"/>
            <a:r>
              <a:rPr lang="zh-CN" altLang="en-US" sz="2000"/>
              <a:t>固定内存地址，可直接执行</a:t>
            </a:r>
          </a:p>
          <a:p>
            <a:pPr marL="990600" lvl="1" indent="-533400" eaLnBrk="1" hangingPunct="1"/>
            <a:r>
              <a:rPr lang="zh-CN" altLang="en-US" sz="2400"/>
              <a:t>可重定位机器语言</a:t>
            </a:r>
          </a:p>
          <a:p>
            <a:pPr marL="1371600" lvl="2" indent="-457200" eaLnBrk="1" hangingPunct="1"/>
            <a:r>
              <a:rPr lang="zh-CN" altLang="en-US" sz="2000"/>
              <a:t>多模块连接</a:t>
            </a:r>
          </a:p>
          <a:p>
            <a:pPr marL="1371600" lvl="2" indent="-457200" eaLnBrk="1" hangingPunct="1"/>
            <a:r>
              <a:rPr lang="zh-CN" altLang="en-US" sz="2000"/>
              <a:t>灵活、分别编译</a:t>
            </a:r>
          </a:p>
          <a:p>
            <a:pPr marL="990600" lvl="1" indent="-533400" eaLnBrk="1" hangingPunct="1"/>
            <a:r>
              <a:rPr lang="zh-CN" altLang="en-US" sz="2400"/>
              <a:t>汇编语言</a:t>
            </a:r>
          </a:p>
          <a:p>
            <a:pPr marL="1371600" lvl="2" indent="-457200" eaLnBrk="1" hangingPunct="1"/>
            <a:r>
              <a:rPr lang="zh-CN" altLang="en-US" sz="2000"/>
              <a:t>简单</a:t>
            </a:r>
            <a:r>
              <a:rPr lang="en-US" altLang="zh-CN" sz="2000"/>
              <a:t>——</a:t>
            </a:r>
            <a:r>
              <a:rPr lang="zh-CN" altLang="en-US" sz="2000"/>
              <a:t>符号指令、宏的使用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>
            <a:extLst>
              <a:ext uri="{FF2B5EF4-FFF2-40B4-BE49-F238E27FC236}">
                <a16:creationId xmlns:a16="http://schemas.microsoft.com/office/drawing/2014/main" id="{ABA7BEA5-0EC6-41ED-BF88-BFB94CAC675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设计中的问题（续）</a:t>
            </a:r>
          </a:p>
        </p:txBody>
      </p:sp>
      <p:sp>
        <p:nvSpPr>
          <p:cNvPr id="9219" name="Rectangle 3">
            <a:extLst>
              <a:ext uri="{FF2B5EF4-FFF2-40B4-BE49-F238E27FC236}">
                <a16:creationId xmlns:a16="http://schemas.microsoft.com/office/drawing/2014/main" id="{8F19D1C3-59FE-40DA-BC0F-DB9E3DBACF8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marL="609600" indent="-609600" eaLnBrk="1" hangingPunct="1">
              <a:buFont typeface="Wingdings" panose="05000000000000000000" pitchFamily="2" charset="2"/>
              <a:buAutoNum type="arabicPeriod" startAt="3"/>
            </a:pPr>
            <a:r>
              <a:rPr lang="zh-CN" altLang="en-US"/>
              <a:t>内存管理</a:t>
            </a:r>
          </a:p>
          <a:p>
            <a:pPr marL="990600" lvl="1" indent="-533400" eaLnBrk="1" hangingPunct="1"/>
            <a:r>
              <a:rPr lang="zh-CN" altLang="en-US"/>
              <a:t>名字</a:t>
            </a:r>
            <a:r>
              <a:rPr lang="zh-CN" altLang="en-US">
                <a:sym typeface="Wingdings" panose="05000000000000000000" pitchFamily="2" charset="2"/>
              </a:rPr>
              <a:t>数据地址，与前端协作</a:t>
            </a:r>
          </a:p>
          <a:p>
            <a:pPr marL="990600" lvl="1" indent="-533400" eaLnBrk="1" hangingPunct="1"/>
            <a:r>
              <a:rPr lang="zh-CN" altLang="en-US"/>
              <a:t>符号表</a:t>
            </a:r>
          </a:p>
          <a:p>
            <a:pPr marL="990600" lvl="1" indent="-533400" eaLnBrk="1" hangingPunct="1"/>
            <a:r>
              <a:rPr lang="zh-CN" altLang="en-US"/>
              <a:t>标号</a:t>
            </a:r>
            <a:r>
              <a:rPr lang="zh-CN" altLang="en-US">
                <a:sym typeface="Wingdings" panose="05000000000000000000" pitchFamily="2" charset="2"/>
              </a:rPr>
              <a:t>指令地址</a:t>
            </a:r>
          </a:p>
          <a:p>
            <a:pPr marL="990600" lvl="1" indent="-533400" eaLnBrk="1" hangingPunct="1"/>
            <a:r>
              <a:rPr lang="en-US" altLang="zh-CN">
                <a:sym typeface="Wingdings" panose="05000000000000000000" pitchFamily="2" charset="2"/>
              </a:rPr>
              <a:t>backpatching</a:t>
            </a:r>
            <a:r>
              <a:rPr lang="zh-CN" altLang="en-US">
                <a:sym typeface="Wingdings" panose="05000000000000000000" pitchFamily="2" charset="2"/>
              </a:rPr>
              <a:t>技术</a:t>
            </a:r>
            <a:endParaRPr lang="zh-CN" alt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>
            <a:extLst>
              <a:ext uri="{FF2B5EF4-FFF2-40B4-BE49-F238E27FC236}">
                <a16:creationId xmlns:a16="http://schemas.microsoft.com/office/drawing/2014/main" id="{7D62EDD3-0F17-408F-9248-0839679706B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设计中的问题（续）</a:t>
            </a:r>
          </a:p>
        </p:txBody>
      </p:sp>
      <p:sp>
        <p:nvSpPr>
          <p:cNvPr id="10243" name="Rectangle 3">
            <a:extLst>
              <a:ext uri="{FF2B5EF4-FFF2-40B4-BE49-F238E27FC236}">
                <a16:creationId xmlns:a16="http://schemas.microsoft.com/office/drawing/2014/main" id="{60BD41EE-F562-4AD2-A9D0-7A590556239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marL="609600" indent="-609600" eaLnBrk="1" hangingPunct="1">
              <a:buFont typeface="Wingdings" panose="05000000000000000000" pitchFamily="2" charset="2"/>
              <a:buAutoNum type="arabicPeriod" startAt="4"/>
            </a:pPr>
            <a:r>
              <a:rPr lang="zh-CN" altLang="en-US"/>
              <a:t>指令选择</a:t>
            </a:r>
          </a:p>
          <a:p>
            <a:pPr marL="990600" lvl="1" indent="-533400" eaLnBrk="1" hangingPunct="1"/>
            <a:r>
              <a:rPr lang="zh-CN" altLang="en-US"/>
              <a:t>指令集特性</a:t>
            </a:r>
          </a:p>
          <a:p>
            <a:pPr marL="1371600" lvl="2" indent="-457200" eaLnBrk="1" hangingPunct="1"/>
            <a:r>
              <a:rPr lang="zh-CN" altLang="en-US"/>
              <a:t>一致性、完整性</a:t>
            </a:r>
          </a:p>
          <a:p>
            <a:pPr marL="1371600" lvl="2" indent="-457200" eaLnBrk="1" hangingPunct="1"/>
            <a:r>
              <a:rPr lang="zh-CN" altLang="en-US"/>
              <a:t>指令速度、机器特性</a:t>
            </a:r>
          </a:p>
          <a:p>
            <a:pPr marL="990600" lvl="1" indent="-533400" eaLnBrk="1" hangingPunct="1"/>
            <a:r>
              <a:rPr lang="zh-CN" altLang="en-US"/>
              <a:t>代码质量：速度、大小</a:t>
            </a:r>
          </a:p>
          <a:p>
            <a:pPr marL="990600" lvl="1" indent="-533400" eaLnBrk="1" hangingPunct="1"/>
            <a:r>
              <a:rPr lang="zh-CN" altLang="en-US"/>
              <a:t>丰富的指令集</a:t>
            </a:r>
            <a:r>
              <a:rPr lang="zh-CN" altLang="en-US">
                <a:sym typeface="Wingdings" panose="05000000000000000000" pitchFamily="2" charset="2"/>
              </a:rPr>
              <a:t>多种代码生成方式</a:t>
            </a:r>
          </a:p>
          <a:p>
            <a:pPr marL="990600" lvl="1" indent="-533400" eaLnBrk="1" hangingPunct="1"/>
            <a:r>
              <a:rPr lang="zh-CN" altLang="en-US">
                <a:sym typeface="Wingdings" panose="05000000000000000000" pitchFamily="2" charset="2"/>
              </a:rPr>
              <a:t>选择最高效方式</a:t>
            </a:r>
            <a:endParaRPr lang="zh-CN" alt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>
            <a:extLst>
              <a:ext uri="{FF2B5EF4-FFF2-40B4-BE49-F238E27FC236}">
                <a16:creationId xmlns:a16="http://schemas.microsoft.com/office/drawing/2014/main" id="{120164FF-6434-4EA9-A873-4B1C65E969E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设计问题（续）</a:t>
            </a:r>
          </a:p>
        </p:txBody>
      </p:sp>
      <p:sp>
        <p:nvSpPr>
          <p:cNvPr id="11267" name="Rectangle 3">
            <a:extLst>
              <a:ext uri="{FF2B5EF4-FFF2-40B4-BE49-F238E27FC236}">
                <a16:creationId xmlns:a16="http://schemas.microsoft.com/office/drawing/2014/main" id="{FF6C9854-DF14-46B1-B36B-D06A48130D6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marL="609600" indent="-609600" eaLnBrk="1" hangingPunct="1">
              <a:buFont typeface="Wingdings" panose="05000000000000000000" pitchFamily="2" charset="2"/>
              <a:buAutoNum type="arabicPeriod" startAt="5"/>
            </a:pPr>
            <a:r>
              <a:rPr lang="zh-CN" altLang="en-US"/>
              <a:t>寄存器分配</a:t>
            </a:r>
          </a:p>
          <a:p>
            <a:pPr marL="990600" lvl="1" indent="-533400" eaLnBrk="1" hangingPunct="1"/>
            <a:r>
              <a:rPr lang="en-US" altLang="zh-CN">
                <a:solidFill>
                  <a:srgbClr val="FF3300"/>
                </a:solidFill>
              </a:rPr>
              <a:t>allocation</a:t>
            </a:r>
            <a:r>
              <a:rPr lang="zh-CN" altLang="en-US"/>
              <a:t>、</a:t>
            </a:r>
            <a:r>
              <a:rPr lang="en-US" altLang="zh-CN">
                <a:solidFill>
                  <a:srgbClr val="FF3300"/>
                </a:solidFill>
              </a:rPr>
              <a:t>assignment</a:t>
            </a:r>
          </a:p>
          <a:p>
            <a:pPr marL="990600" lvl="1" indent="-533400" eaLnBrk="1" hangingPunct="1"/>
            <a:r>
              <a:rPr lang="zh-CN" altLang="en-US"/>
              <a:t>最优化</a:t>
            </a:r>
            <a:r>
              <a:rPr lang="en-US" altLang="zh-CN"/>
              <a:t>assignment——NP-</a:t>
            </a:r>
            <a:r>
              <a:rPr lang="zh-CN" altLang="en-US"/>
              <a:t>完全问题</a:t>
            </a:r>
          </a:p>
          <a:p>
            <a:pPr marL="990600" lvl="1" indent="-533400" eaLnBrk="1" hangingPunct="1"/>
            <a:r>
              <a:rPr lang="en-US" altLang="zh-CN">
                <a:solidFill>
                  <a:srgbClr val="FF3300"/>
                </a:solidFill>
              </a:rPr>
              <a:t>register-pair</a:t>
            </a:r>
          </a:p>
          <a:p>
            <a:pPr marL="609600" indent="-609600" eaLnBrk="1" hangingPunct="1">
              <a:buFont typeface="Wingdings" panose="05000000000000000000" pitchFamily="2" charset="2"/>
              <a:buAutoNum type="arabicPeriod" startAt="5"/>
            </a:pPr>
            <a:r>
              <a:rPr lang="zh-CN" altLang="en-US"/>
              <a:t>计算顺序</a:t>
            </a:r>
          </a:p>
          <a:p>
            <a:pPr marL="990600" lvl="1" indent="-533400" eaLnBrk="1" hangingPunct="1"/>
            <a:r>
              <a:rPr lang="zh-CN" altLang="en-US"/>
              <a:t>调整计算顺序</a:t>
            </a:r>
            <a:r>
              <a:rPr lang="zh-CN" altLang="en-US">
                <a:sym typeface="Wingdings" panose="05000000000000000000" pitchFamily="2" charset="2"/>
              </a:rPr>
              <a:t>提高效率</a:t>
            </a:r>
          </a:p>
          <a:p>
            <a:pPr marL="990600" lvl="1" indent="-533400" eaLnBrk="1" hangingPunct="1"/>
            <a:r>
              <a:rPr lang="en-US" altLang="zh-CN">
                <a:sym typeface="Wingdings" panose="05000000000000000000" pitchFamily="2" charset="2"/>
              </a:rPr>
              <a:t>NP-</a:t>
            </a:r>
            <a:r>
              <a:rPr lang="zh-CN" altLang="en-US">
                <a:sym typeface="Wingdings" panose="05000000000000000000" pitchFamily="2" charset="2"/>
              </a:rPr>
              <a:t>完全问题</a:t>
            </a:r>
            <a:endParaRPr lang="zh-CN" alt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>
            <a:extLst>
              <a:ext uri="{FF2B5EF4-FFF2-40B4-BE49-F238E27FC236}">
                <a16:creationId xmlns:a16="http://schemas.microsoft.com/office/drawing/2014/main" id="{516CD032-ED52-400B-B265-068C342BAD9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设计问题（续）</a:t>
            </a:r>
          </a:p>
        </p:txBody>
      </p:sp>
      <p:sp>
        <p:nvSpPr>
          <p:cNvPr id="12291" name="Rectangle 3">
            <a:extLst>
              <a:ext uri="{FF2B5EF4-FFF2-40B4-BE49-F238E27FC236}">
                <a16:creationId xmlns:a16="http://schemas.microsoft.com/office/drawing/2014/main" id="{E72469CC-BC80-4A97-962D-BDB537B6FA0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marL="609600" indent="-609600" eaLnBrk="1" hangingPunct="1">
              <a:buFont typeface="Wingdings" panose="05000000000000000000" pitchFamily="2" charset="2"/>
              <a:buAutoNum type="arabicPeriod" startAt="7"/>
            </a:pPr>
            <a:r>
              <a:rPr lang="zh-CN" altLang="en-US"/>
              <a:t>代码生成方法</a:t>
            </a:r>
          </a:p>
          <a:p>
            <a:pPr marL="990600" lvl="1" indent="-533400" eaLnBrk="1" hangingPunct="1"/>
            <a:r>
              <a:rPr lang="zh-CN" altLang="en-US"/>
              <a:t>正确性是第一位的</a:t>
            </a:r>
          </a:p>
          <a:p>
            <a:pPr marL="990600" lvl="1" indent="-533400" eaLnBrk="1" hangingPunct="1"/>
            <a:r>
              <a:rPr lang="zh-CN" altLang="en-US"/>
              <a:t>设计目标：易于实现、测试、维护</a:t>
            </a:r>
          </a:p>
          <a:p>
            <a:pPr marL="990600" lvl="1" indent="-533400" eaLnBrk="1" hangingPunct="1"/>
            <a:r>
              <a:rPr lang="en-US" altLang="zh-CN"/>
              <a:t>9.6</a:t>
            </a:r>
            <a:r>
              <a:rPr lang="zh-CN" altLang="en-US"/>
              <a:t>节：生成算法，</a:t>
            </a:r>
            <a:r>
              <a:rPr lang="en-US" altLang="zh-CN"/>
              <a:t>9.9</a:t>
            </a:r>
            <a:r>
              <a:rPr lang="zh-CN" altLang="en-US"/>
              <a:t>节：窥孔优化</a:t>
            </a:r>
          </a:p>
          <a:p>
            <a:pPr marL="990600" lvl="1" indent="-533400" eaLnBrk="1" hangingPunct="1"/>
            <a:r>
              <a:rPr lang="en-US" altLang="zh-CN"/>
              <a:t>9.7</a:t>
            </a:r>
            <a:r>
              <a:rPr lang="zh-CN" altLang="en-US"/>
              <a:t>节：寄存器使用算法</a:t>
            </a:r>
            <a:r>
              <a:rPr lang="en-US" altLang="zh-CN"/>
              <a:t>——</a:t>
            </a:r>
            <a:r>
              <a:rPr lang="zh-CN" altLang="en-US"/>
              <a:t>控制流</a:t>
            </a:r>
          </a:p>
          <a:p>
            <a:pPr marL="990600" lvl="1" indent="-533400" eaLnBrk="1" hangingPunct="1"/>
            <a:r>
              <a:rPr lang="en-US" altLang="zh-CN"/>
              <a:t>9.10</a:t>
            </a:r>
            <a:r>
              <a:rPr lang="zh-CN" altLang="en-US"/>
              <a:t>、</a:t>
            </a:r>
            <a:r>
              <a:rPr lang="en-US" altLang="zh-CN"/>
              <a:t>9.11</a:t>
            </a:r>
            <a:r>
              <a:rPr lang="zh-CN" altLang="en-US"/>
              <a:t>节：代码选择</a:t>
            </a:r>
          </a:p>
          <a:p>
            <a:pPr marL="990600" lvl="1" indent="-533400" eaLnBrk="1" hangingPunct="1"/>
            <a:r>
              <a:rPr lang="en-US" altLang="zh-CN"/>
              <a:t>9.12</a:t>
            </a:r>
            <a:r>
              <a:rPr lang="zh-CN" altLang="en-US"/>
              <a:t>节：代码生成</a:t>
            </a:r>
            <a:r>
              <a:rPr lang="en-US" altLang="zh-CN"/>
              <a:t>——</a:t>
            </a:r>
            <a:r>
              <a:rPr lang="zh-CN" altLang="en-US"/>
              <a:t>树重构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>
            <a:extLst>
              <a:ext uri="{FF2B5EF4-FFF2-40B4-BE49-F238E27FC236}">
                <a16:creationId xmlns:a16="http://schemas.microsoft.com/office/drawing/2014/main" id="{05D23E1D-F18F-4163-9BA6-2628FE462AF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9.2  </a:t>
            </a:r>
            <a:r>
              <a:rPr lang="zh-CN" altLang="en-US"/>
              <a:t>目标机器</a:t>
            </a:r>
          </a:p>
        </p:txBody>
      </p:sp>
      <p:sp>
        <p:nvSpPr>
          <p:cNvPr id="13315" name="Rectangle 3">
            <a:extLst>
              <a:ext uri="{FF2B5EF4-FFF2-40B4-BE49-F238E27FC236}">
                <a16:creationId xmlns:a16="http://schemas.microsoft.com/office/drawing/2014/main" id="{1E31B40C-C225-469B-8400-9ED575C24F1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182688" y="1371600"/>
            <a:ext cx="7772400" cy="5257800"/>
          </a:xfrm>
        </p:spPr>
        <p:txBody>
          <a:bodyPr/>
          <a:lstStyle/>
          <a:p>
            <a:pPr eaLnBrk="1" hangingPunct="1"/>
            <a:r>
              <a:rPr lang="zh-CN" altLang="en-US"/>
              <a:t>寄存器：</a:t>
            </a:r>
            <a:r>
              <a:rPr lang="en-US" altLang="zh-CN"/>
              <a:t>R0</a:t>
            </a:r>
            <a:r>
              <a:rPr lang="zh-CN" altLang="en-US"/>
              <a:t>，</a:t>
            </a:r>
            <a:r>
              <a:rPr lang="en-US" altLang="zh-CN"/>
              <a:t>R1</a:t>
            </a:r>
            <a:r>
              <a:rPr lang="zh-CN" altLang="en-US"/>
              <a:t>，</a:t>
            </a:r>
            <a:r>
              <a:rPr lang="en-US" altLang="zh-CN"/>
              <a:t>…</a:t>
            </a:r>
            <a:r>
              <a:rPr lang="zh-CN" altLang="en-US"/>
              <a:t>，</a:t>
            </a:r>
            <a:r>
              <a:rPr lang="en-US" altLang="zh-CN"/>
              <a:t>Rn-1</a:t>
            </a:r>
          </a:p>
          <a:p>
            <a:pPr eaLnBrk="1" hangingPunct="1"/>
            <a:r>
              <a:rPr lang="zh-CN" altLang="en-US"/>
              <a:t>指令：</a:t>
            </a:r>
            <a:r>
              <a:rPr lang="en-US" altLang="zh-CN"/>
              <a:t>op  source, destination</a:t>
            </a:r>
          </a:p>
          <a:p>
            <a:pPr eaLnBrk="1" hangingPunct="1"/>
            <a:r>
              <a:rPr lang="zh-CN" altLang="en-US"/>
              <a:t>寻址方式</a:t>
            </a:r>
          </a:p>
          <a:p>
            <a:pPr eaLnBrk="1" hangingPunct="1"/>
            <a:endParaRPr lang="zh-CN" altLang="en-US"/>
          </a:p>
          <a:p>
            <a:pPr eaLnBrk="1" hangingPunct="1"/>
            <a:endParaRPr lang="zh-CN" altLang="en-US"/>
          </a:p>
          <a:p>
            <a:pPr eaLnBrk="1" hangingPunct="1"/>
            <a:endParaRPr lang="zh-CN" altLang="en-US"/>
          </a:p>
          <a:p>
            <a:pPr eaLnBrk="1" hangingPunct="1"/>
            <a:endParaRPr lang="zh-CN" altLang="en-US"/>
          </a:p>
          <a:p>
            <a:pPr eaLnBrk="1" hangingPunct="1">
              <a:lnSpc>
                <a:spcPct val="80000"/>
              </a:lnSpc>
              <a:spcBef>
                <a:spcPct val="10000"/>
              </a:spcBef>
              <a:buFont typeface="Wingdings" panose="05000000000000000000" pitchFamily="2" charset="2"/>
              <a:buNone/>
            </a:pPr>
            <a:r>
              <a:rPr lang="en-US" altLang="zh-CN" sz="2400"/>
              <a:t>MOV R0, M</a:t>
            </a:r>
          </a:p>
          <a:p>
            <a:pPr eaLnBrk="1" hangingPunct="1">
              <a:lnSpc>
                <a:spcPct val="80000"/>
              </a:lnSpc>
              <a:spcBef>
                <a:spcPct val="10000"/>
              </a:spcBef>
              <a:buFont typeface="Wingdings" panose="05000000000000000000" pitchFamily="2" charset="2"/>
              <a:buNone/>
            </a:pPr>
            <a:r>
              <a:rPr lang="en-US" altLang="zh-CN" sz="2400"/>
              <a:t>MOV 4(R0), M</a:t>
            </a:r>
          </a:p>
          <a:p>
            <a:pPr eaLnBrk="1" hangingPunct="1">
              <a:lnSpc>
                <a:spcPct val="80000"/>
              </a:lnSpc>
              <a:spcBef>
                <a:spcPct val="10000"/>
              </a:spcBef>
              <a:buFont typeface="Wingdings" panose="05000000000000000000" pitchFamily="2" charset="2"/>
              <a:buNone/>
            </a:pPr>
            <a:r>
              <a:rPr lang="en-US" altLang="zh-CN" sz="2400"/>
              <a:t>MOV *4(R0), M</a:t>
            </a:r>
          </a:p>
        </p:txBody>
      </p:sp>
      <p:graphicFrame>
        <p:nvGraphicFramePr>
          <p:cNvPr id="577597" name="Group 61">
            <a:extLst>
              <a:ext uri="{FF2B5EF4-FFF2-40B4-BE49-F238E27FC236}">
                <a16:creationId xmlns:a16="http://schemas.microsoft.com/office/drawing/2014/main" id="{2CFF9297-5EF8-4BFB-BE63-703C257BE1BB}"/>
              </a:ext>
            </a:extLst>
          </p:cNvPr>
          <p:cNvGraphicFramePr>
            <a:graphicFrameLocks noGrp="1"/>
          </p:cNvGraphicFramePr>
          <p:nvPr/>
        </p:nvGraphicFramePr>
        <p:xfrm>
          <a:off x="1447800" y="3143250"/>
          <a:ext cx="7543800" cy="2194560"/>
        </p:xfrm>
        <a:graphic>
          <a:graphicData uri="http://schemas.openxmlformats.org/drawingml/2006/table">
            <a:tbl>
              <a:tblPr/>
              <a:tblGrid>
                <a:gridCol w="1676400">
                  <a:extLst>
                    <a:ext uri="{9D8B030D-6E8A-4147-A177-3AD203B41FA5}">
                      <a16:colId xmlns:a16="http://schemas.microsoft.com/office/drawing/2014/main" val="2811689215"/>
                    </a:ext>
                  </a:extLst>
                </a:gridCol>
                <a:gridCol w="1219200">
                  <a:extLst>
                    <a:ext uri="{9D8B030D-6E8A-4147-A177-3AD203B41FA5}">
                      <a16:colId xmlns:a16="http://schemas.microsoft.com/office/drawing/2014/main" val="3858981892"/>
                    </a:ext>
                  </a:extLst>
                </a:gridCol>
                <a:gridCol w="3124200">
                  <a:extLst>
                    <a:ext uri="{9D8B030D-6E8A-4147-A177-3AD203B41FA5}">
                      <a16:colId xmlns:a16="http://schemas.microsoft.com/office/drawing/2014/main" val="1443061173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2010489188"/>
                    </a:ext>
                  </a:extLst>
                </a:gridCol>
              </a:tblGrid>
              <a:tr h="365654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9000"/>
                        <a:buFont typeface="Wingdings" panose="05000000000000000000" pitchFamily="2" charset="2"/>
                        <a:defRPr kumimoji="1" sz="2400">
                          <a:solidFill>
                            <a:srgbClr val="3333CC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000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folHlink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寻址方式</a:t>
                      </a:r>
                    </a:p>
                  </a:txBody>
                  <a:tcPr marL="0" marR="0" marT="0" marB="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9000"/>
                        <a:buFont typeface="Wingdings" panose="05000000000000000000" pitchFamily="2" charset="2"/>
                        <a:defRPr kumimoji="1" sz="2400">
                          <a:solidFill>
                            <a:srgbClr val="3333CC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000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folHlink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形式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9000"/>
                        <a:buFont typeface="Wingdings" panose="05000000000000000000" pitchFamily="2" charset="2"/>
                        <a:defRPr kumimoji="1" sz="2400">
                          <a:solidFill>
                            <a:srgbClr val="3333CC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000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folHlink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地址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9000"/>
                        <a:buFont typeface="Wingdings" panose="05000000000000000000" pitchFamily="2" charset="2"/>
                        <a:defRPr kumimoji="1" sz="2400">
                          <a:solidFill>
                            <a:srgbClr val="3333CC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000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folHlink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额外开销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22433560"/>
                  </a:ext>
                </a:extLst>
              </a:tr>
              <a:tr h="365654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9000"/>
                        <a:buFont typeface="Wingdings" panose="05000000000000000000" pitchFamily="2" charset="2"/>
                        <a:defRPr kumimoji="1" sz="2400">
                          <a:solidFill>
                            <a:srgbClr val="3333CC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000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zh-CN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绝对</a:t>
                      </a:r>
                    </a:p>
                  </a:txBody>
                  <a:tcPr marL="0" marR="0" marT="0" marB="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9000"/>
                        <a:buFont typeface="Wingdings" panose="05000000000000000000" pitchFamily="2" charset="2"/>
                        <a:defRPr kumimoji="1" sz="2400">
                          <a:solidFill>
                            <a:srgbClr val="3333CC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000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M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9000"/>
                        <a:buFont typeface="Wingdings" panose="05000000000000000000" pitchFamily="2" charset="2"/>
                        <a:defRPr kumimoji="1" sz="2400">
                          <a:solidFill>
                            <a:srgbClr val="3333CC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000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M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9000"/>
                        <a:buFont typeface="Wingdings" panose="05000000000000000000" pitchFamily="2" charset="2"/>
                        <a:defRPr kumimoji="1" sz="2400">
                          <a:solidFill>
                            <a:srgbClr val="3333CC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000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66673604"/>
                  </a:ext>
                </a:extLst>
              </a:tr>
              <a:tr h="365654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9000"/>
                        <a:buFont typeface="Wingdings" panose="05000000000000000000" pitchFamily="2" charset="2"/>
                        <a:defRPr kumimoji="1" sz="2400">
                          <a:solidFill>
                            <a:srgbClr val="3333CC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000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zh-CN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寄存器</a:t>
                      </a:r>
                    </a:p>
                  </a:txBody>
                  <a:tcPr marL="0" marR="0" marT="0" marB="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9000"/>
                        <a:buFont typeface="Wingdings" panose="05000000000000000000" pitchFamily="2" charset="2"/>
                        <a:defRPr kumimoji="1" sz="2400">
                          <a:solidFill>
                            <a:srgbClr val="3333CC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000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R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9000"/>
                        <a:buFont typeface="Wingdings" panose="05000000000000000000" pitchFamily="2" charset="2"/>
                        <a:defRPr kumimoji="1" sz="2400">
                          <a:solidFill>
                            <a:srgbClr val="3333CC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000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R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9000"/>
                        <a:buFont typeface="Wingdings" panose="05000000000000000000" pitchFamily="2" charset="2"/>
                        <a:defRPr kumimoji="1" sz="2400">
                          <a:solidFill>
                            <a:srgbClr val="3333CC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000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02536318"/>
                  </a:ext>
                </a:extLst>
              </a:tr>
              <a:tr h="365654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9000"/>
                        <a:buFont typeface="Wingdings" panose="05000000000000000000" pitchFamily="2" charset="2"/>
                        <a:defRPr kumimoji="1" sz="2400">
                          <a:solidFill>
                            <a:srgbClr val="3333CC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000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zh-CN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索引</a:t>
                      </a:r>
                    </a:p>
                  </a:txBody>
                  <a:tcPr marL="0" marR="0" marT="0" marB="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9000"/>
                        <a:buFont typeface="Wingdings" panose="05000000000000000000" pitchFamily="2" charset="2"/>
                        <a:defRPr kumimoji="1" sz="2400">
                          <a:solidFill>
                            <a:srgbClr val="3333CC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000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c(R)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9000"/>
                        <a:buFont typeface="Wingdings" panose="05000000000000000000" pitchFamily="2" charset="2"/>
                        <a:defRPr kumimoji="1" sz="2400">
                          <a:solidFill>
                            <a:srgbClr val="3333CC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000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c+contents(R)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9000"/>
                        <a:buFont typeface="Wingdings" panose="05000000000000000000" pitchFamily="2" charset="2"/>
                        <a:defRPr kumimoji="1" sz="2400">
                          <a:solidFill>
                            <a:srgbClr val="3333CC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000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09157016"/>
                  </a:ext>
                </a:extLst>
              </a:tr>
              <a:tr h="365654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9000"/>
                        <a:buFont typeface="Wingdings" panose="05000000000000000000" pitchFamily="2" charset="2"/>
                        <a:defRPr kumimoji="1" sz="2400">
                          <a:solidFill>
                            <a:srgbClr val="3333CC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000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zh-CN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间接寄存器</a:t>
                      </a:r>
                    </a:p>
                  </a:txBody>
                  <a:tcPr marL="0" marR="0" marT="0" marB="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9000"/>
                        <a:buFont typeface="Wingdings" panose="05000000000000000000" pitchFamily="2" charset="2"/>
                        <a:defRPr kumimoji="1" sz="2400">
                          <a:solidFill>
                            <a:srgbClr val="3333CC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000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*R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9000"/>
                        <a:buFont typeface="Wingdings" panose="05000000000000000000" pitchFamily="2" charset="2"/>
                        <a:defRPr kumimoji="1" sz="2400">
                          <a:solidFill>
                            <a:srgbClr val="3333CC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000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contents(R)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9000"/>
                        <a:buFont typeface="Wingdings" panose="05000000000000000000" pitchFamily="2" charset="2"/>
                        <a:defRPr kumimoji="1" sz="2400">
                          <a:solidFill>
                            <a:srgbClr val="3333CC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000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87146698"/>
                  </a:ext>
                </a:extLst>
              </a:tr>
              <a:tr h="365654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9000"/>
                        <a:buFont typeface="Wingdings" panose="05000000000000000000" pitchFamily="2" charset="2"/>
                        <a:defRPr kumimoji="1" sz="2400">
                          <a:solidFill>
                            <a:srgbClr val="3333CC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000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zh-CN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间接索引</a:t>
                      </a:r>
                    </a:p>
                  </a:txBody>
                  <a:tcPr marL="0" marR="0" marT="0" marB="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9000"/>
                        <a:buFont typeface="Wingdings" panose="05000000000000000000" pitchFamily="2" charset="2"/>
                        <a:defRPr kumimoji="1" sz="2400">
                          <a:solidFill>
                            <a:srgbClr val="3333CC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000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*c(R)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9000"/>
                        <a:buFont typeface="Wingdings" panose="05000000000000000000" pitchFamily="2" charset="2"/>
                        <a:defRPr kumimoji="1" sz="2400">
                          <a:solidFill>
                            <a:srgbClr val="3333CC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000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contents(c+contents(R))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9000"/>
                        <a:buFont typeface="Wingdings" panose="05000000000000000000" pitchFamily="2" charset="2"/>
                        <a:defRPr kumimoji="1" sz="2400">
                          <a:solidFill>
                            <a:srgbClr val="3333CC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000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9812306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>
            <a:extLst>
              <a:ext uri="{FF2B5EF4-FFF2-40B4-BE49-F238E27FC236}">
                <a16:creationId xmlns:a16="http://schemas.microsoft.com/office/drawing/2014/main" id="{9B29C4BD-4E60-4F0A-9B35-9F08C9E0889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指令开销</a:t>
            </a:r>
          </a:p>
        </p:txBody>
      </p:sp>
      <p:sp>
        <p:nvSpPr>
          <p:cNvPr id="14339" name="Rectangle 3">
            <a:extLst>
              <a:ext uri="{FF2B5EF4-FFF2-40B4-BE49-F238E27FC236}">
                <a16:creationId xmlns:a16="http://schemas.microsoft.com/office/drawing/2014/main" id="{0B399D8E-E92D-4CB7-9153-512A8927D70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marL="609600" indent="-609600" eaLnBrk="1" hangingPunct="1"/>
            <a:r>
              <a:rPr lang="zh-CN" altLang="en-US"/>
              <a:t>长度</a:t>
            </a:r>
          </a:p>
          <a:p>
            <a:pPr marL="990600" lvl="1" indent="-533400" eaLnBrk="1" hangingPunct="1">
              <a:buFont typeface="Wingdings" panose="05000000000000000000" pitchFamily="2" charset="2"/>
              <a:buAutoNum type="arabicPeriod"/>
            </a:pPr>
            <a:r>
              <a:rPr lang="en-US" altLang="zh-CN"/>
              <a:t>MOV R0, R1</a:t>
            </a:r>
            <a:r>
              <a:rPr lang="zh-CN" altLang="en-US"/>
              <a:t>：开销</a:t>
            </a:r>
            <a:r>
              <a:rPr lang="en-US" altLang="zh-CN"/>
              <a:t>1</a:t>
            </a:r>
          </a:p>
          <a:p>
            <a:pPr marL="990600" lvl="1" indent="-533400" eaLnBrk="1" hangingPunct="1">
              <a:buFont typeface="Wingdings" panose="05000000000000000000" pitchFamily="2" charset="2"/>
              <a:buAutoNum type="arabicPeriod"/>
            </a:pPr>
            <a:r>
              <a:rPr lang="en-US" altLang="zh-CN"/>
              <a:t>MOV R5, M</a:t>
            </a:r>
            <a:r>
              <a:rPr lang="zh-CN" altLang="en-US"/>
              <a:t>：开销</a:t>
            </a:r>
            <a:r>
              <a:rPr lang="en-US" altLang="zh-CN"/>
              <a:t>2</a:t>
            </a:r>
          </a:p>
          <a:p>
            <a:pPr marL="990600" lvl="1" indent="-533400" eaLnBrk="1" hangingPunct="1">
              <a:buFont typeface="Wingdings" panose="05000000000000000000" pitchFamily="2" charset="2"/>
              <a:buAutoNum type="arabicPeriod"/>
            </a:pPr>
            <a:r>
              <a:rPr lang="en-US" altLang="zh-CN"/>
              <a:t>ADD #1, R3</a:t>
            </a:r>
            <a:r>
              <a:rPr lang="zh-CN" altLang="en-US"/>
              <a:t>：开销</a:t>
            </a:r>
            <a:r>
              <a:rPr lang="en-US" altLang="zh-CN"/>
              <a:t>2</a:t>
            </a:r>
          </a:p>
          <a:p>
            <a:pPr marL="990600" lvl="1" indent="-533400" eaLnBrk="1" hangingPunct="1">
              <a:buFont typeface="Wingdings" panose="05000000000000000000" pitchFamily="2" charset="2"/>
              <a:buAutoNum type="arabicPeriod"/>
            </a:pPr>
            <a:r>
              <a:rPr lang="en-US" altLang="zh-CN"/>
              <a:t>SUB 4(R0), *12(R1)</a:t>
            </a:r>
            <a:r>
              <a:rPr lang="zh-CN" altLang="en-US"/>
              <a:t>：开销</a:t>
            </a:r>
            <a:r>
              <a:rPr lang="en-US" altLang="zh-CN"/>
              <a:t>3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>
            <a:extLst>
              <a:ext uri="{FF2B5EF4-FFF2-40B4-BE49-F238E27FC236}">
                <a16:creationId xmlns:a16="http://schemas.microsoft.com/office/drawing/2014/main" id="{DD124A62-DEBF-4927-9F6E-DF917067B21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指令开销</a:t>
            </a:r>
            <a:r>
              <a:rPr lang="en-US" altLang="zh-CN"/>
              <a:t>——</a:t>
            </a:r>
            <a:r>
              <a:rPr lang="zh-CN" altLang="en-US"/>
              <a:t>翻译方法</a:t>
            </a:r>
          </a:p>
        </p:txBody>
      </p:sp>
      <p:sp>
        <p:nvSpPr>
          <p:cNvPr id="15363" name="Rectangle 3">
            <a:extLst>
              <a:ext uri="{FF2B5EF4-FFF2-40B4-BE49-F238E27FC236}">
                <a16:creationId xmlns:a16="http://schemas.microsoft.com/office/drawing/2014/main" id="{E70ECA30-7BCC-4A76-AFAA-68B9D21F202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182688" y="1371600"/>
            <a:ext cx="7772400" cy="4876800"/>
          </a:xfrm>
        </p:spPr>
        <p:txBody>
          <a:bodyPr/>
          <a:lstStyle/>
          <a:p>
            <a:pPr marL="609600" indent="-609600" eaLnBrk="1" hangingPunct="1"/>
            <a:r>
              <a:rPr lang="en-US" altLang="zh-CN"/>
              <a:t>a = b + c</a:t>
            </a:r>
          </a:p>
          <a:p>
            <a:pPr marL="990600" lvl="1" indent="-533400" eaLnBrk="1" hangingPunct="1">
              <a:buFont typeface="Wingdings" panose="05000000000000000000" pitchFamily="2" charset="2"/>
              <a:buAutoNum type="arabicPeriod"/>
            </a:pPr>
            <a:r>
              <a:rPr lang="en-US" altLang="zh-CN"/>
              <a:t>MOV b, R0		</a:t>
            </a:r>
            <a:r>
              <a:rPr lang="zh-CN" altLang="en-US"/>
              <a:t>开销</a:t>
            </a:r>
            <a:r>
              <a:rPr lang="en-US" altLang="zh-CN"/>
              <a:t>6</a:t>
            </a:r>
            <a:br>
              <a:rPr lang="en-US" altLang="zh-CN"/>
            </a:br>
            <a:r>
              <a:rPr lang="en-US" altLang="zh-CN"/>
              <a:t>ADD c, R0</a:t>
            </a:r>
            <a:br>
              <a:rPr lang="en-US" altLang="zh-CN"/>
            </a:br>
            <a:r>
              <a:rPr lang="en-US" altLang="zh-CN"/>
              <a:t>MOV R0, a</a:t>
            </a:r>
          </a:p>
          <a:p>
            <a:pPr marL="990600" lvl="1" indent="-533400" eaLnBrk="1" hangingPunct="1">
              <a:buFont typeface="Wingdings" panose="05000000000000000000" pitchFamily="2" charset="2"/>
              <a:buAutoNum type="arabicPeriod"/>
            </a:pPr>
            <a:r>
              <a:rPr lang="en-US" altLang="zh-CN"/>
              <a:t>MOV b, a		</a:t>
            </a:r>
            <a:r>
              <a:rPr lang="zh-CN" altLang="en-US"/>
              <a:t>开销</a:t>
            </a:r>
            <a:r>
              <a:rPr lang="en-US" altLang="zh-CN"/>
              <a:t>6</a:t>
            </a:r>
            <a:br>
              <a:rPr lang="en-US" altLang="zh-CN"/>
            </a:br>
            <a:r>
              <a:rPr lang="en-US" altLang="zh-CN"/>
              <a:t>ADD c, a</a:t>
            </a:r>
          </a:p>
          <a:p>
            <a:pPr marL="990600" lvl="1" indent="-533400" eaLnBrk="1" hangingPunct="1">
              <a:buFont typeface="Wingdings" panose="05000000000000000000" pitchFamily="2" charset="2"/>
              <a:buAutoNum type="arabicPeriod"/>
            </a:pPr>
            <a:r>
              <a:rPr lang="en-US" altLang="zh-CN"/>
              <a:t>MOV *R1, *R0	</a:t>
            </a:r>
            <a:r>
              <a:rPr lang="zh-CN" altLang="en-US"/>
              <a:t>开销</a:t>
            </a:r>
            <a:r>
              <a:rPr lang="en-US" altLang="zh-CN"/>
              <a:t>2</a:t>
            </a:r>
            <a:br>
              <a:rPr lang="en-US" altLang="zh-CN"/>
            </a:br>
            <a:r>
              <a:rPr lang="en-US" altLang="zh-CN"/>
              <a:t>ADD *R2, *R0</a:t>
            </a:r>
          </a:p>
          <a:p>
            <a:pPr marL="990600" lvl="1" indent="-533400" eaLnBrk="1" hangingPunct="1">
              <a:buFont typeface="Wingdings" panose="05000000000000000000" pitchFamily="2" charset="2"/>
              <a:buAutoNum type="arabicPeriod"/>
            </a:pPr>
            <a:r>
              <a:rPr lang="en-US" altLang="zh-CN"/>
              <a:t>ADD R2, R1	</a:t>
            </a:r>
            <a:r>
              <a:rPr lang="zh-CN" altLang="en-US"/>
              <a:t>开销</a:t>
            </a:r>
            <a:r>
              <a:rPr lang="en-US" altLang="zh-CN"/>
              <a:t>3</a:t>
            </a:r>
            <a:br>
              <a:rPr lang="en-US" altLang="zh-CN"/>
            </a:br>
            <a:r>
              <a:rPr lang="en-US" altLang="zh-CN"/>
              <a:t>MOV R1, a</a:t>
            </a:r>
          </a:p>
        </p:txBody>
      </p:sp>
      <p:sp>
        <p:nvSpPr>
          <p:cNvPr id="15364" name="Text Box 4">
            <a:extLst>
              <a:ext uri="{FF2B5EF4-FFF2-40B4-BE49-F238E27FC236}">
                <a16:creationId xmlns:a16="http://schemas.microsoft.com/office/drawing/2014/main" id="{9A55939D-966A-4735-9E82-109D4DD5D4F5}"/>
              </a:ext>
            </a:extLst>
          </p:cNvPr>
          <p:cNvSpPr txBox="1">
            <a:spLocks noChangeArrowheads="1"/>
          </p:cNvSpPr>
          <p:nvPr/>
        </p:nvSpPr>
        <p:spPr bwMode="ltGray">
          <a:xfrm>
            <a:off x="6096000" y="3962400"/>
            <a:ext cx="2133600" cy="11874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CF0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algn="ctr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algn="ctr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algn="ctr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algn="ctr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algn="ctr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>
                <a:solidFill>
                  <a:srgbClr val="FF3300"/>
                </a:solidFill>
              </a:rPr>
              <a:t>R0</a:t>
            </a:r>
            <a:r>
              <a:rPr lang="zh-CN" altLang="en-US">
                <a:solidFill>
                  <a:srgbClr val="FF3300"/>
                </a:solidFill>
              </a:rPr>
              <a:t>：</a:t>
            </a:r>
            <a:r>
              <a:rPr lang="en-US" altLang="zh-CN">
                <a:solidFill>
                  <a:srgbClr val="FF3300"/>
                </a:solidFill>
              </a:rPr>
              <a:t>a</a:t>
            </a:r>
            <a:r>
              <a:rPr lang="zh-CN" altLang="en-US">
                <a:solidFill>
                  <a:srgbClr val="FF3300"/>
                </a:solidFill>
              </a:rPr>
              <a:t>的地址</a:t>
            </a:r>
            <a:br>
              <a:rPr lang="zh-CN" altLang="en-US">
                <a:solidFill>
                  <a:srgbClr val="FF3300"/>
                </a:solidFill>
              </a:rPr>
            </a:br>
            <a:r>
              <a:rPr lang="en-US" altLang="zh-CN">
                <a:solidFill>
                  <a:srgbClr val="FF3300"/>
                </a:solidFill>
              </a:rPr>
              <a:t>R1</a:t>
            </a:r>
            <a:r>
              <a:rPr lang="zh-CN" altLang="en-US">
                <a:solidFill>
                  <a:srgbClr val="FF3300"/>
                </a:solidFill>
              </a:rPr>
              <a:t>：</a:t>
            </a:r>
            <a:r>
              <a:rPr lang="en-US" altLang="zh-CN">
                <a:solidFill>
                  <a:srgbClr val="FF3300"/>
                </a:solidFill>
              </a:rPr>
              <a:t>b</a:t>
            </a:r>
            <a:r>
              <a:rPr lang="zh-CN" altLang="en-US">
                <a:solidFill>
                  <a:srgbClr val="FF3300"/>
                </a:solidFill>
              </a:rPr>
              <a:t>的地址</a:t>
            </a:r>
            <a:br>
              <a:rPr lang="zh-CN" altLang="en-US">
                <a:solidFill>
                  <a:srgbClr val="FF3300"/>
                </a:solidFill>
              </a:rPr>
            </a:br>
            <a:r>
              <a:rPr lang="en-US" altLang="zh-CN">
                <a:solidFill>
                  <a:srgbClr val="FF3300"/>
                </a:solidFill>
              </a:rPr>
              <a:t>R2</a:t>
            </a:r>
            <a:r>
              <a:rPr lang="zh-CN" altLang="en-US">
                <a:solidFill>
                  <a:srgbClr val="FF3300"/>
                </a:solidFill>
              </a:rPr>
              <a:t>：</a:t>
            </a:r>
            <a:r>
              <a:rPr lang="en-US" altLang="zh-CN">
                <a:solidFill>
                  <a:srgbClr val="FF3300"/>
                </a:solidFill>
              </a:rPr>
              <a:t>c</a:t>
            </a:r>
            <a:r>
              <a:rPr lang="zh-CN" altLang="en-US">
                <a:solidFill>
                  <a:srgbClr val="FF3300"/>
                </a:solidFill>
              </a:rPr>
              <a:t>的地址</a:t>
            </a:r>
          </a:p>
        </p:txBody>
      </p:sp>
      <p:sp>
        <p:nvSpPr>
          <p:cNvPr id="15365" name="Text Box 5">
            <a:extLst>
              <a:ext uri="{FF2B5EF4-FFF2-40B4-BE49-F238E27FC236}">
                <a16:creationId xmlns:a16="http://schemas.microsoft.com/office/drawing/2014/main" id="{3C9F5526-8819-4A16-AA08-1ABC7904793D}"/>
              </a:ext>
            </a:extLst>
          </p:cNvPr>
          <p:cNvSpPr txBox="1">
            <a:spLocks noChangeArrowheads="1"/>
          </p:cNvSpPr>
          <p:nvPr/>
        </p:nvSpPr>
        <p:spPr bwMode="ltGray">
          <a:xfrm>
            <a:off x="0" y="5715000"/>
            <a:ext cx="2133600" cy="822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CF0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algn="ctr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algn="ctr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algn="ctr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algn="ctr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algn="ctr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>
                <a:solidFill>
                  <a:srgbClr val="FF3300"/>
                </a:solidFill>
              </a:rPr>
              <a:t>R1</a:t>
            </a:r>
            <a:r>
              <a:rPr lang="zh-CN" altLang="en-US">
                <a:solidFill>
                  <a:srgbClr val="FF3300"/>
                </a:solidFill>
              </a:rPr>
              <a:t>：</a:t>
            </a:r>
            <a:r>
              <a:rPr lang="en-US" altLang="zh-CN">
                <a:solidFill>
                  <a:srgbClr val="FF3300"/>
                </a:solidFill>
              </a:rPr>
              <a:t>b</a:t>
            </a:r>
            <a:r>
              <a:rPr lang="zh-CN" altLang="en-US">
                <a:solidFill>
                  <a:srgbClr val="FF3300"/>
                </a:solidFill>
              </a:rPr>
              <a:t>的值</a:t>
            </a:r>
            <a:br>
              <a:rPr lang="zh-CN" altLang="en-US">
                <a:solidFill>
                  <a:srgbClr val="FF3300"/>
                </a:solidFill>
              </a:rPr>
            </a:br>
            <a:r>
              <a:rPr lang="en-US" altLang="zh-CN">
                <a:solidFill>
                  <a:srgbClr val="FF3300"/>
                </a:solidFill>
              </a:rPr>
              <a:t>R2</a:t>
            </a:r>
            <a:r>
              <a:rPr lang="zh-CN" altLang="en-US">
                <a:solidFill>
                  <a:srgbClr val="FF3300"/>
                </a:solidFill>
              </a:rPr>
              <a:t>：</a:t>
            </a:r>
            <a:r>
              <a:rPr lang="en-US" altLang="zh-CN">
                <a:solidFill>
                  <a:srgbClr val="FF3300"/>
                </a:solidFill>
              </a:rPr>
              <a:t>c</a:t>
            </a:r>
            <a:r>
              <a:rPr lang="zh-CN" altLang="en-US">
                <a:solidFill>
                  <a:srgbClr val="FF3300"/>
                </a:solidFill>
              </a:rPr>
              <a:t>的值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>
            <a:extLst>
              <a:ext uri="{FF2B5EF4-FFF2-40B4-BE49-F238E27FC236}">
                <a16:creationId xmlns:a16="http://schemas.microsoft.com/office/drawing/2014/main" id="{2891909A-911E-4EA8-AA13-CCA9BDA8289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9.3  </a:t>
            </a:r>
            <a:r>
              <a:rPr lang="zh-CN" altLang="en-US"/>
              <a:t>运行时存储管理</a:t>
            </a:r>
          </a:p>
        </p:txBody>
      </p:sp>
      <p:sp>
        <p:nvSpPr>
          <p:cNvPr id="16387" name="Rectangle 3">
            <a:extLst>
              <a:ext uri="{FF2B5EF4-FFF2-40B4-BE49-F238E27FC236}">
                <a16:creationId xmlns:a16="http://schemas.microsoft.com/office/drawing/2014/main" id="{BEB2F6D3-8226-4571-A22B-24C3BCE7B0D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静态分配，栈分配</a:t>
            </a:r>
          </a:p>
          <a:p>
            <a:pPr eaLnBrk="1" hangingPunct="1"/>
            <a:r>
              <a:rPr lang="zh-CN" altLang="en-US"/>
              <a:t>翻译如下三地址码</a:t>
            </a:r>
          </a:p>
          <a:p>
            <a:pPr lvl="1" eaLnBrk="1" hangingPunct="1"/>
            <a:r>
              <a:rPr lang="en-US" altLang="zh-CN"/>
              <a:t>call</a:t>
            </a:r>
          </a:p>
          <a:p>
            <a:pPr lvl="1" eaLnBrk="1" hangingPunct="1"/>
            <a:r>
              <a:rPr lang="en-US" altLang="zh-CN"/>
              <a:t>return</a:t>
            </a:r>
          </a:p>
          <a:p>
            <a:pPr lvl="1" eaLnBrk="1" hangingPunct="1"/>
            <a:r>
              <a:rPr lang="en-US" altLang="zh-CN"/>
              <a:t>halt</a:t>
            </a:r>
          </a:p>
          <a:p>
            <a:pPr lvl="1" eaLnBrk="1" hangingPunct="1"/>
            <a:r>
              <a:rPr lang="en-US" altLang="zh-CN"/>
              <a:t>action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>
            <a:extLst>
              <a:ext uri="{FF2B5EF4-FFF2-40B4-BE49-F238E27FC236}">
                <a16:creationId xmlns:a16="http://schemas.microsoft.com/office/drawing/2014/main" id="{897A64FD-0FF1-4A55-B611-2F0153C694C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9.3.1  </a:t>
            </a:r>
            <a:r>
              <a:rPr lang="zh-CN" altLang="en-US"/>
              <a:t>静态分配</a:t>
            </a:r>
          </a:p>
        </p:txBody>
      </p:sp>
      <p:sp>
        <p:nvSpPr>
          <p:cNvPr id="17411" name="Rectangle 3">
            <a:extLst>
              <a:ext uri="{FF2B5EF4-FFF2-40B4-BE49-F238E27FC236}">
                <a16:creationId xmlns:a16="http://schemas.microsoft.com/office/drawing/2014/main" id="{4D522145-9416-4A41-B24F-D9BC5A66855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call</a:t>
            </a:r>
            <a:r>
              <a:rPr lang="zh-CN" altLang="en-US"/>
              <a:t>翻译为</a:t>
            </a:r>
          </a:p>
          <a:p>
            <a:pPr lvl="1" eaLnBrk="1" hangingPunct="1">
              <a:buFont typeface="Wingdings" panose="05000000000000000000" pitchFamily="2" charset="2"/>
              <a:buNone/>
            </a:pPr>
            <a:r>
              <a:rPr lang="en-US" altLang="zh-CN"/>
              <a:t>MOV #here, callee.static_area</a:t>
            </a:r>
          </a:p>
          <a:p>
            <a:pPr lvl="1" eaLnBrk="1" hangingPunct="1">
              <a:buFont typeface="Wingdings" panose="05000000000000000000" pitchFamily="2" charset="2"/>
              <a:buNone/>
            </a:pPr>
            <a:r>
              <a:rPr lang="en-US" altLang="zh-CN"/>
              <a:t>GOTO callee.code_area</a:t>
            </a:r>
          </a:p>
          <a:p>
            <a:pPr eaLnBrk="1" hangingPunct="1"/>
            <a:r>
              <a:rPr lang="en-US" altLang="zh-CN"/>
              <a:t>return</a:t>
            </a:r>
            <a:r>
              <a:rPr lang="zh-CN" altLang="en-US"/>
              <a:t>翻译为</a:t>
            </a:r>
          </a:p>
          <a:p>
            <a:pPr lvl="1" eaLnBrk="1" hangingPunct="1">
              <a:buFont typeface="Wingdings" panose="05000000000000000000" pitchFamily="2" charset="2"/>
              <a:buNone/>
            </a:pPr>
            <a:r>
              <a:rPr lang="en-US" altLang="zh-CN"/>
              <a:t>GOTO *callee.static_area</a:t>
            </a:r>
          </a:p>
        </p:txBody>
      </p:sp>
      <p:sp>
        <p:nvSpPr>
          <p:cNvPr id="17412" name="Text Box 4">
            <a:extLst>
              <a:ext uri="{FF2B5EF4-FFF2-40B4-BE49-F238E27FC236}">
                <a16:creationId xmlns:a16="http://schemas.microsoft.com/office/drawing/2014/main" id="{07F93370-CDB2-47A4-83DF-828A3A959CA7}"/>
              </a:ext>
            </a:extLst>
          </p:cNvPr>
          <p:cNvSpPr txBox="1">
            <a:spLocks noChangeArrowheads="1"/>
          </p:cNvSpPr>
          <p:nvPr/>
        </p:nvSpPr>
        <p:spPr bwMode="ltGray">
          <a:xfrm flipV="1">
            <a:off x="6553200" y="2971800"/>
            <a:ext cx="2133600" cy="22828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CF0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rot="10800000">
            <a:spAutoFit/>
          </a:bodyPr>
          <a:lstStyle>
            <a:lvl1pPr algn="ctr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algn="ctr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algn="ctr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algn="ctr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algn="ctr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>
                <a:solidFill>
                  <a:srgbClr val="FF3300"/>
                </a:solidFill>
              </a:rPr>
              <a:t>当前代码地址</a:t>
            </a:r>
          </a:p>
          <a:p>
            <a:pPr eaLnBrk="1" hangingPunct="1">
              <a:spcBef>
                <a:spcPct val="50000"/>
              </a:spcBef>
            </a:pPr>
            <a:r>
              <a:rPr lang="zh-CN" altLang="en-US">
                <a:solidFill>
                  <a:srgbClr val="FF3300"/>
                </a:solidFill>
              </a:rPr>
              <a:t>被调用函数的静态区域</a:t>
            </a:r>
          </a:p>
          <a:p>
            <a:pPr eaLnBrk="1" hangingPunct="1">
              <a:spcBef>
                <a:spcPct val="50000"/>
              </a:spcBef>
            </a:pPr>
            <a:r>
              <a:rPr lang="zh-CN" altLang="en-US">
                <a:solidFill>
                  <a:srgbClr val="FF3300"/>
                </a:solidFill>
              </a:rPr>
              <a:t>被调用函数的代码区域</a:t>
            </a:r>
          </a:p>
        </p:txBody>
      </p:sp>
      <p:sp>
        <p:nvSpPr>
          <p:cNvPr id="17413" name="Freeform 5">
            <a:extLst>
              <a:ext uri="{FF2B5EF4-FFF2-40B4-BE49-F238E27FC236}">
                <a16:creationId xmlns:a16="http://schemas.microsoft.com/office/drawing/2014/main" id="{27D70368-B4F8-432F-AA39-080224EFE43F}"/>
              </a:ext>
            </a:extLst>
          </p:cNvPr>
          <p:cNvSpPr>
            <a:spLocks/>
          </p:cNvSpPr>
          <p:nvPr/>
        </p:nvSpPr>
        <p:spPr bwMode="ltGray">
          <a:xfrm>
            <a:off x="3048000" y="1714500"/>
            <a:ext cx="4089400" cy="1485900"/>
          </a:xfrm>
          <a:custGeom>
            <a:avLst/>
            <a:gdLst>
              <a:gd name="T0" fmla="*/ 3657600 w 2576"/>
              <a:gd name="T1" fmla="*/ 1485900 h 936"/>
              <a:gd name="T2" fmla="*/ 3581400 w 2576"/>
              <a:gd name="T3" fmla="*/ 266700 h 936"/>
              <a:gd name="T4" fmla="*/ 609600 w 2576"/>
              <a:gd name="T5" fmla="*/ 38100 h 936"/>
              <a:gd name="T6" fmla="*/ 0 w 2576"/>
              <a:gd name="T7" fmla="*/ 495300 h 936"/>
              <a:gd name="T8" fmla="*/ 0 60000 65536"/>
              <a:gd name="T9" fmla="*/ 0 60000 65536"/>
              <a:gd name="T10" fmla="*/ 0 60000 65536"/>
              <a:gd name="T11" fmla="*/ 0 60000 6553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0" t="0" r="r" b="b"/>
            <a:pathLst>
              <a:path w="2576" h="936">
                <a:moveTo>
                  <a:pt x="2304" y="936"/>
                </a:moveTo>
                <a:cubicBezTo>
                  <a:pt x="2440" y="628"/>
                  <a:pt x="2576" y="320"/>
                  <a:pt x="2256" y="168"/>
                </a:cubicBezTo>
                <a:cubicBezTo>
                  <a:pt x="1936" y="16"/>
                  <a:pt x="760" y="0"/>
                  <a:pt x="384" y="24"/>
                </a:cubicBezTo>
                <a:cubicBezTo>
                  <a:pt x="8" y="48"/>
                  <a:pt x="4" y="180"/>
                  <a:pt x="0" y="312"/>
                </a:cubicBezTo>
              </a:path>
            </a:pathLst>
          </a:custGeom>
          <a:noFill/>
          <a:ln w="25400" cap="flat" cmpd="sng">
            <a:solidFill>
              <a:srgbClr val="FF3300"/>
            </a:solidFill>
            <a:prstDash val="solid"/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CF0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7414" name="Line 6">
            <a:extLst>
              <a:ext uri="{FF2B5EF4-FFF2-40B4-BE49-F238E27FC236}">
                <a16:creationId xmlns:a16="http://schemas.microsoft.com/office/drawing/2014/main" id="{014DFD66-F3FC-4CBF-BD48-42E359290C15}"/>
              </a:ext>
            </a:extLst>
          </p:cNvPr>
          <p:cNvSpPr>
            <a:spLocks noChangeShapeType="1"/>
          </p:cNvSpPr>
          <p:nvPr/>
        </p:nvSpPr>
        <p:spPr bwMode="ltGray">
          <a:xfrm flipH="1" flipV="1">
            <a:off x="5638800" y="2286000"/>
            <a:ext cx="1143000" cy="1447800"/>
          </a:xfrm>
          <a:prstGeom prst="line">
            <a:avLst/>
          </a:prstGeom>
          <a:noFill/>
          <a:ln w="25400">
            <a:solidFill>
              <a:srgbClr val="FF33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7415" name="Line 8">
            <a:extLst>
              <a:ext uri="{FF2B5EF4-FFF2-40B4-BE49-F238E27FC236}">
                <a16:creationId xmlns:a16="http://schemas.microsoft.com/office/drawing/2014/main" id="{721715B5-AFE3-4C8D-83D4-0952B8979AAE}"/>
              </a:ext>
            </a:extLst>
          </p:cNvPr>
          <p:cNvSpPr>
            <a:spLocks noChangeShapeType="1"/>
          </p:cNvSpPr>
          <p:nvPr/>
        </p:nvSpPr>
        <p:spPr bwMode="ltGray">
          <a:xfrm flipH="1" flipV="1">
            <a:off x="4724400" y="2819400"/>
            <a:ext cx="1981200" cy="1828800"/>
          </a:xfrm>
          <a:prstGeom prst="line">
            <a:avLst/>
          </a:prstGeom>
          <a:noFill/>
          <a:ln w="25400">
            <a:solidFill>
              <a:srgbClr val="FF33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2">
            <a:extLst>
              <a:ext uri="{FF2B5EF4-FFF2-40B4-BE49-F238E27FC236}">
                <a16:creationId xmlns:a16="http://schemas.microsoft.com/office/drawing/2014/main" id="{F107D193-B67A-4348-B06A-370F3521805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例</a:t>
            </a:r>
            <a:r>
              <a:rPr lang="en-US" altLang="zh-CN"/>
              <a:t>9.1</a:t>
            </a:r>
          </a:p>
        </p:txBody>
      </p:sp>
      <p:graphicFrame>
        <p:nvGraphicFramePr>
          <p:cNvPr id="582708" name="Group 52">
            <a:extLst>
              <a:ext uri="{FF2B5EF4-FFF2-40B4-BE49-F238E27FC236}">
                <a16:creationId xmlns:a16="http://schemas.microsoft.com/office/drawing/2014/main" id="{06E3F279-8EDE-418B-863A-E66F7D89A2C2}"/>
              </a:ext>
            </a:extLst>
          </p:cNvPr>
          <p:cNvGraphicFramePr>
            <a:graphicFrameLocks noGrp="1"/>
          </p:cNvGraphicFramePr>
          <p:nvPr/>
        </p:nvGraphicFramePr>
        <p:xfrm>
          <a:off x="762000" y="2038350"/>
          <a:ext cx="2209800" cy="3456396"/>
        </p:xfrm>
        <a:graphic>
          <a:graphicData uri="http://schemas.openxmlformats.org/drawingml/2006/table">
            <a:tbl>
              <a:tblPr/>
              <a:tblGrid>
                <a:gridCol w="2209800">
                  <a:extLst>
                    <a:ext uri="{9D8B030D-6E8A-4147-A177-3AD203B41FA5}">
                      <a16:colId xmlns:a16="http://schemas.microsoft.com/office/drawing/2014/main" val="2262449337"/>
                    </a:ext>
                  </a:extLst>
                </a:gridCol>
              </a:tblGrid>
              <a:tr h="420570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9000"/>
                        <a:buFont typeface="Wingdings" panose="05000000000000000000" pitchFamily="2" charset="2"/>
                        <a:defRPr kumimoji="1" sz="2400">
                          <a:solidFill>
                            <a:srgbClr val="3333CC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000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1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zh-CN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三地址码</a:t>
                      </a:r>
                    </a:p>
                  </a:txBody>
                  <a:tcPr marT="45714" marB="45714" horzOverflow="overflow">
                    <a:lnL cap="flat"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90387799"/>
                  </a:ext>
                </a:extLst>
              </a:tr>
              <a:tr h="1883422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9000"/>
                        <a:buFont typeface="Wingdings" panose="05000000000000000000" pitchFamily="2" charset="2"/>
                        <a:defRPr kumimoji="1" sz="2400">
                          <a:solidFill>
                            <a:srgbClr val="3333CC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000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1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/* c</a:t>
                      </a:r>
                      <a:r>
                        <a:rPr kumimoji="1" lang="zh-CN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的代码 *</a:t>
                      </a:r>
                      <a:r>
                        <a:rPr kumimoji="1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/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1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action</a:t>
                      </a:r>
                      <a:r>
                        <a:rPr kumimoji="1" lang="en-US" altLang="zh-CN" sz="24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1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call p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1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action</a:t>
                      </a:r>
                      <a:r>
                        <a:rPr kumimoji="1" lang="en-US" altLang="zh-CN" sz="24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2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1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halt</a:t>
                      </a:r>
                    </a:p>
                  </a:txBody>
                  <a:tcPr marT="45714" marB="45714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52253590"/>
                  </a:ext>
                </a:extLst>
              </a:tr>
              <a:tr h="1151996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9000"/>
                        <a:buFont typeface="Wingdings" panose="05000000000000000000" pitchFamily="2" charset="2"/>
                        <a:defRPr kumimoji="1" sz="2400">
                          <a:solidFill>
                            <a:srgbClr val="3333CC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000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1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/* p</a:t>
                      </a:r>
                      <a:r>
                        <a:rPr kumimoji="1" lang="zh-CN" alt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的代码 *</a:t>
                      </a:r>
                      <a:r>
                        <a:rPr kumimoji="1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/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1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action</a:t>
                      </a:r>
                      <a:r>
                        <a:rPr kumimoji="1" lang="en-US" altLang="zh-CN" sz="2400" b="0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1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return</a:t>
                      </a:r>
                    </a:p>
                  </a:txBody>
                  <a:tcPr marT="45714" marB="45714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85194103"/>
                  </a:ext>
                </a:extLst>
              </a:tr>
            </a:tbl>
          </a:graphicData>
        </a:graphic>
      </p:graphicFrame>
      <p:graphicFrame>
        <p:nvGraphicFramePr>
          <p:cNvPr id="582759" name="Group 103">
            <a:extLst>
              <a:ext uri="{FF2B5EF4-FFF2-40B4-BE49-F238E27FC236}">
                <a16:creationId xmlns:a16="http://schemas.microsoft.com/office/drawing/2014/main" id="{39C83CC4-11FC-4330-BC21-C18BEE5ED0A8}"/>
              </a:ext>
            </a:extLst>
          </p:cNvPr>
          <p:cNvGraphicFramePr>
            <a:graphicFrameLocks noGrp="1"/>
          </p:cNvGraphicFramePr>
          <p:nvPr/>
        </p:nvGraphicFramePr>
        <p:xfrm>
          <a:off x="3352800" y="1733550"/>
          <a:ext cx="2438400" cy="2825936"/>
        </p:xfrm>
        <a:graphic>
          <a:graphicData uri="http://schemas.openxmlformats.org/drawingml/2006/table">
            <a:tbl>
              <a:tblPr/>
              <a:tblGrid>
                <a:gridCol w="533400">
                  <a:extLst>
                    <a:ext uri="{9D8B030D-6E8A-4147-A177-3AD203B41FA5}">
                      <a16:colId xmlns:a16="http://schemas.microsoft.com/office/drawing/2014/main" val="3636984198"/>
                    </a:ext>
                  </a:extLst>
                </a:gridCol>
                <a:gridCol w="1905000">
                  <a:extLst>
                    <a:ext uri="{9D8B030D-6E8A-4147-A177-3AD203B41FA5}">
                      <a16:colId xmlns:a16="http://schemas.microsoft.com/office/drawing/2014/main" val="608130022"/>
                    </a:ext>
                  </a:extLst>
                </a:gridCol>
              </a:tblGrid>
              <a:tr h="749724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9000"/>
                        <a:buFont typeface="Wingdings" panose="05000000000000000000" pitchFamily="2" charset="2"/>
                        <a:defRPr kumimoji="1" sz="2400">
                          <a:solidFill>
                            <a:srgbClr val="3333CC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000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1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endParaRPr kumimoji="1" lang="zh-CN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15" marB="45715" horzOverflow="overflow">
                    <a:lnL cap="flat"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9000"/>
                        <a:buFont typeface="Wingdings" panose="05000000000000000000" pitchFamily="2" charset="2"/>
                        <a:defRPr kumimoji="1" sz="2400">
                          <a:solidFill>
                            <a:srgbClr val="3333CC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000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1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c</a:t>
                      </a:r>
                      <a:r>
                        <a:rPr kumimoji="1" lang="zh-CN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的活动记录</a:t>
                      </a:r>
                      <a:br>
                        <a:rPr kumimoji="1" lang="zh-CN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</a:br>
                      <a:r>
                        <a:rPr kumimoji="1" lang="zh-CN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（</a:t>
                      </a:r>
                      <a:r>
                        <a:rPr kumimoji="1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64</a:t>
                      </a:r>
                      <a:r>
                        <a:rPr kumimoji="1" lang="zh-CN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字节）</a:t>
                      </a:r>
                    </a:p>
                  </a:txBody>
                  <a:tcPr marT="45715" marB="45715" horzOverflow="overflow">
                    <a:lnL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67747803"/>
                  </a:ext>
                </a:extLst>
              </a:tr>
              <a:tr h="420577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9000"/>
                        <a:buFont typeface="Wingdings" panose="05000000000000000000" pitchFamily="2" charset="2"/>
                        <a:defRPr kumimoji="1" sz="2400">
                          <a:solidFill>
                            <a:srgbClr val="3333CC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000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1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0:</a:t>
                      </a:r>
                    </a:p>
                  </a:txBody>
                  <a:tcPr marT="45715" marB="45715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9000"/>
                        <a:buFont typeface="Wingdings" panose="05000000000000000000" pitchFamily="2" charset="2"/>
                        <a:defRPr kumimoji="1" sz="2400">
                          <a:solidFill>
                            <a:srgbClr val="3333CC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000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1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return address</a:t>
                      </a:r>
                    </a:p>
                  </a:txBody>
                  <a:tcPr marT="45715" marB="45715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90353537"/>
                  </a:ext>
                </a:extLst>
              </a:tr>
              <a:tr h="814296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9000"/>
                        <a:buFont typeface="Wingdings" panose="05000000000000000000" pitchFamily="2" charset="2"/>
                        <a:defRPr kumimoji="1" sz="2400">
                          <a:solidFill>
                            <a:srgbClr val="3333CC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000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1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8:</a:t>
                      </a:r>
                    </a:p>
                  </a:txBody>
                  <a:tcPr marT="45715" marB="45715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9000"/>
                        <a:buFont typeface="Wingdings" panose="05000000000000000000" pitchFamily="2" charset="2"/>
                        <a:defRPr kumimoji="1" sz="2400">
                          <a:solidFill>
                            <a:srgbClr val="3333CC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000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1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arr</a:t>
                      </a:r>
                    </a:p>
                  </a:txBody>
                  <a:tcPr marT="45715" marB="45715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34484905"/>
                  </a:ext>
                </a:extLst>
              </a:tr>
              <a:tr h="420577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9000"/>
                        <a:buFont typeface="Wingdings" panose="05000000000000000000" pitchFamily="2" charset="2"/>
                        <a:defRPr kumimoji="1" sz="2400">
                          <a:solidFill>
                            <a:srgbClr val="3333CC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000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1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56:</a:t>
                      </a:r>
                    </a:p>
                  </a:txBody>
                  <a:tcPr marT="45715" marB="45715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9000"/>
                        <a:buFont typeface="Wingdings" panose="05000000000000000000" pitchFamily="2" charset="2"/>
                        <a:defRPr kumimoji="1" sz="2400">
                          <a:solidFill>
                            <a:srgbClr val="3333CC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000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1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i</a:t>
                      </a:r>
                    </a:p>
                  </a:txBody>
                  <a:tcPr marT="45715" marB="45715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74555551"/>
                  </a:ext>
                </a:extLst>
              </a:tr>
              <a:tr h="420577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9000"/>
                        <a:buFont typeface="Wingdings" panose="05000000000000000000" pitchFamily="2" charset="2"/>
                        <a:defRPr kumimoji="1" sz="2400">
                          <a:solidFill>
                            <a:srgbClr val="3333CC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000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1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60:</a:t>
                      </a:r>
                    </a:p>
                  </a:txBody>
                  <a:tcPr marT="45715" marB="45715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9000"/>
                        <a:buFont typeface="Wingdings" panose="05000000000000000000" pitchFamily="2" charset="2"/>
                        <a:defRPr kumimoji="1" sz="2400">
                          <a:solidFill>
                            <a:srgbClr val="3333CC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000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1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j</a:t>
                      </a:r>
                    </a:p>
                  </a:txBody>
                  <a:tcPr marT="45715" marB="45715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68893167"/>
                  </a:ext>
                </a:extLst>
              </a:tr>
            </a:tbl>
          </a:graphicData>
        </a:graphic>
      </p:graphicFrame>
      <p:graphicFrame>
        <p:nvGraphicFramePr>
          <p:cNvPr id="582786" name="Group 130">
            <a:extLst>
              <a:ext uri="{FF2B5EF4-FFF2-40B4-BE49-F238E27FC236}">
                <a16:creationId xmlns:a16="http://schemas.microsoft.com/office/drawing/2014/main" id="{FAB51F12-ACA2-4283-9B1E-F454F588D7CB}"/>
              </a:ext>
            </a:extLst>
          </p:cNvPr>
          <p:cNvGraphicFramePr>
            <a:graphicFrameLocks noGrp="1"/>
          </p:cNvGraphicFramePr>
          <p:nvPr/>
        </p:nvGraphicFramePr>
        <p:xfrm>
          <a:off x="6019800" y="1733550"/>
          <a:ext cx="2438400" cy="2405273"/>
        </p:xfrm>
        <a:graphic>
          <a:graphicData uri="http://schemas.openxmlformats.org/drawingml/2006/table">
            <a:tbl>
              <a:tblPr/>
              <a:tblGrid>
                <a:gridCol w="533400">
                  <a:extLst>
                    <a:ext uri="{9D8B030D-6E8A-4147-A177-3AD203B41FA5}">
                      <a16:colId xmlns:a16="http://schemas.microsoft.com/office/drawing/2014/main" val="374547307"/>
                    </a:ext>
                  </a:extLst>
                </a:gridCol>
                <a:gridCol w="1905000">
                  <a:extLst>
                    <a:ext uri="{9D8B030D-6E8A-4147-A177-3AD203B41FA5}">
                      <a16:colId xmlns:a16="http://schemas.microsoft.com/office/drawing/2014/main" val="3519866655"/>
                    </a:ext>
                  </a:extLst>
                </a:gridCol>
              </a:tblGrid>
              <a:tr h="749689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9000"/>
                        <a:buFont typeface="Wingdings" panose="05000000000000000000" pitchFamily="2" charset="2"/>
                        <a:defRPr kumimoji="1" sz="2400">
                          <a:solidFill>
                            <a:srgbClr val="3333CC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000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1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endParaRPr kumimoji="1" lang="zh-CN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13" marB="45713" horzOverflow="overflow">
                    <a:lnL cap="flat"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9000"/>
                        <a:buFont typeface="Wingdings" panose="05000000000000000000" pitchFamily="2" charset="2"/>
                        <a:defRPr kumimoji="1" sz="2400">
                          <a:solidFill>
                            <a:srgbClr val="3333CC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000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1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p</a:t>
                      </a:r>
                      <a:r>
                        <a:rPr kumimoji="1" lang="zh-CN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的活动记录</a:t>
                      </a:r>
                      <a:br>
                        <a:rPr kumimoji="1" lang="zh-CN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</a:br>
                      <a:r>
                        <a:rPr kumimoji="1" lang="zh-CN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（</a:t>
                      </a:r>
                      <a:r>
                        <a:rPr kumimoji="1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64</a:t>
                      </a:r>
                      <a:r>
                        <a:rPr kumimoji="1" lang="zh-CN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字节）</a:t>
                      </a:r>
                    </a:p>
                  </a:txBody>
                  <a:tcPr marT="45713" marB="45713" horzOverflow="overflow">
                    <a:lnL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96835672"/>
                  </a:ext>
                </a:extLst>
              </a:tr>
              <a:tr h="420557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9000"/>
                        <a:buFont typeface="Wingdings" panose="05000000000000000000" pitchFamily="2" charset="2"/>
                        <a:defRPr kumimoji="1" sz="2400">
                          <a:solidFill>
                            <a:srgbClr val="3333CC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000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1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0:</a:t>
                      </a:r>
                    </a:p>
                  </a:txBody>
                  <a:tcPr marT="45713" marB="45713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9000"/>
                        <a:buFont typeface="Wingdings" panose="05000000000000000000" pitchFamily="2" charset="2"/>
                        <a:defRPr kumimoji="1" sz="2400">
                          <a:solidFill>
                            <a:srgbClr val="3333CC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000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1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return address</a:t>
                      </a:r>
                    </a:p>
                  </a:txBody>
                  <a:tcPr marT="45713" marB="45713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78362168"/>
                  </a:ext>
                </a:extLst>
              </a:tr>
              <a:tr h="814259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9000"/>
                        <a:buFont typeface="Wingdings" panose="05000000000000000000" pitchFamily="2" charset="2"/>
                        <a:defRPr kumimoji="1" sz="2400">
                          <a:solidFill>
                            <a:srgbClr val="3333CC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000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1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8:</a:t>
                      </a:r>
                    </a:p>
                  </a:txBody>
                  <a:tcPr marT="45713" marB="45713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9000"/>
                        <a:buFont typeface="Wingdings" panose="05000000000000000000" pitchFamily="2" charset="2"/>
                        <a:defRPr kumimoji="1" sz="2400">
                          <a:solidFill>
                            <a:srgbClr val="3333CC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000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1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buf</a:t>
                      </a:r>
                    </a:p>
                  </a:txBody>
                  <a:tcPr marT="45713" marB="45713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75535044"/>
                  </a:ext>
                </a:extLst>
              </a:tr>
              <a:tr h="420557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9000"/>
                        <a:buFont typeface="Wingdings" panose="05000000000000000000" pitchFamily="2" charset="2"/>
                        <a:defRPr kumimoji="1" sz="2400">
                          <a:solidFill>
                            <a:srgbClr val="3333CC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000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1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84:</a:t>
                      </a:r>
                    </a:p>
                  </a:txBody>
                  <a:tcPr marT="45713" marB="45713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9000"/>
                        <a:buFont typeface="Wingdings" panose="05000000000000000000" pitchFamily="2" charset="2"/>
                        <a:defRPr kumimoji="1" sz="2400">
                          <a:solidFill>
                            <a:srgbClr val="3333CC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000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1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n</a:t>
                      </a:r>
                    </a:p>
                  </a:txBody>
                  <a:tcPr marT="45713" marB="45713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2255904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>
            <a:extLst>
              <a:ext uri="{FF2B5EF4-FFF2-40B4-BE49-F238E27FC236}">
                <a16:creationId xmlns:a16="http://schemas.microsoft.com/office/drawing/2014/main" id="{1FC0728B-38A4-456E-B849-4AA91E4D4B7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例</a:t>
            </a:r>
            <a:r>
              <a:rPr lang="en-US" altLang="zh-CN"/>
              <a:t>9.1</a:t>
            </a:r>
            <a:r>
              <a:rPr lang="zh-CN" altLang="en-US"/>
              <a:t>（续）</a:t>
            </a:r>
          </a:p>
        </p:txBody>
      </p:sp>
      <p:sp>
        <p:nvSpPr>
          <p:cNvPr id="19459" name="Rectangle 3">
            <a:extLst>
              <a:ext uri="{FF2B5EF4-FFF2-40B4-BE49-F238E27FC236}">
                <a16:creationId xmlns:a16="http://schemas.microsoft.com/office/drawing/2014/main" id="{A1C259EE-984D-4C5B-9BD0-D864A6FBCD2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182688" y="1371600"/>
            <a:ext cx="7772400" cy="5486400"/>
          </a:xfrm>
        </p:spPr>
        <p:txBody>
          <a:bodyPr/>
          <a:lstStyle/>
          <a:p>
            <a:pPr eaLnBrk="1" hangingPunct="1">
              <a:lnSpc>
                <a:spcPct val="90000"/>
              </a:lnSpc>
              <a:spcBef>
                <a:spcPct val="10000"/>
              </a:spcBef>
              <a:buFont typeface="Wingdings" panose="05000000000000000000" pitchFamily="2" charset="2"/>
              <a:buNone/>
            </a:pPr>
            <a:r>
              <a:rPr lang="en-US" altLang="zh-CN" sz="2200" dirty="0"/>
              <a:t>100:	ACTION</a:t>
            </a:r>
            <a:r>
              <a:rPr lang="en-US" altLang="zh-CN" sz="2200" baseline="-25000" dirty="0"/>
              <a:t>1		</a:t>
            </a:r>
            <a:r>
              <a:rPr lang="en-US" altLang="zh-CN" sz="2200" dirty="0"/>
              <a:t> /* c</a:t>
            </a:r>
            <a:r>
              <a:rPr lang="zh-CN" altLang="en-US" sz="2200" dirty="0"/>
              <a:t>的代码 *</a:t>
            </a:r>
            <a:r>
              <a:rPr lang="en-US" altLang="zh-CN" sz="2200" dirty="0"/>
              <a:t>/</a:t>
            </a:r>
          </a:p>
          <a:p>
            <a:pPr eaLnBrk="1" hangingPunct="1">
              <a:lnSpc>
                <a:spcPct val="90000"/>
              </a:lnSpc>
              <a:spcBef>
                <a:spcPct val="10000"/>
              </a:spcBef>
              <a:buFont typeface="Wingdings" panose="05000000000000000000" pitchFamily="2" charset="2"/>
              <a:buNone/>
            </a:pPr>
            <a:r>
              <a:rPr lang="en-US" altLang="zh-CN" sz="2200" dirty="0"/>
              <a:t>120:	MOV #140, 364</a:t>
            </a:r>
          </a:p>
          <a:p>
            <a:pPr eaLnBrk="1" hangingPunct="1">
              <a:lnSpc>
                <a:spcPct val="90000"/>
              </a:lnSpc>
              <a:spcBef>
                <a:spcPct val="10000"/>
              </a:spcBef>
              <a:buFont typeface="Wingdings" panose="05000000000000000000" pitchFamily="2" charset="2"/>
              <a:buNone/>
            </a:pPr>
            <a:r>
              <a:rPr lang="en-US" altLang="zh-CN" sz="2200" dirty="0"/>
              <a:t>132:	GOTO 200</a:t>
            </a:r>
          </a:p>
          <a:p>
            <a:pPr eaLnBrk="1" hangingPunct="1">
              <a:lnSpc>
                <a:spcPct val="90000"/>
              </a:lnSpc>
              <a:spcBef>
                <a:spcPct val="10000"/>
              </a:spcBef>
              <a:buFont typeface="Wingdings" panose="05000000000000000000" pitchFamily="2" charset="2"/>
              <a:buNone/>
            </a:pPr>
            <a:r>
              <a:rPr lang="en-US" altLang="zh-CN" sz="2200" dirty="0"/>
              <a:t>140:	ACTION</a:t>
            </a:r>
            <a:r>
              <a:rPr lang="en-US" altLang="zh-CN" sz="2200" baseline="-25000" dirty="0"/>
              <a:t>2</a:t>
            </a:r>
            <a:endParaRPr lang="en-US" altLang="zh-CN" sz="2200" dirty="0"/>
          </a:p>
          <a:p>
            <a:pPr eaLnBrk="1" hangingPunct="1">
              <a:lnSpc>
                <a:spcPct val="90000"/>
              </a:lnSpc>
              <a:spcBef>
                <a:spcPct val="10000"/>
              </a:spcBef>
              <a:buFont typeface="Wingdings" panose="05000000000000000000" pitchFamily="2" charset="2"/>
              <a:buNone/>
            </a:pPr>
            <a:r>
              <a:rPr lang="en-US" altLang="zh-CN" sz="2200" dirty="0"/>
              <a:t>160:	HALT</a:t>
            </a:r>
          </a:p>
          <a:p>
            <a:pPr eaLnBrk="1" hangingPunct="1">
              <a:lnSpc>
                <a:spcPct val="90000"/>
              </a:lnSpc>
              <a:spcBef>
                <a:spcPct val="10000"/>
              </a:spcBef>
              <a:buFont typeface="Wingdings" panose="05000000000000000000" pitchFamily="2" charset="2"/>
              <a:buNone/>
            </a:pPr>
            <a:r>
              <a:rPr lang="en-US" altLang="zh-CN" sz="2200" dirty="0"/>
              <a:t>		…</a:t>
            </a:r>
          </a:p>
          <a:p>
            <a:pPr eaLnBrk="1" hangingPunct="1">
              <a:lnSpc>
                <a:spcPct val="90000"/>
              </a:lnSpc>
              <a:spcBef>
                <a:spcPct val="10000"/>
              </a:spcBef>
              <a:buNone/>
            </a:pPr>
            <a:r>
              <a:rPr lang="en-US" altLang="zh-CN" sz="2200" dirty="0"/>
              <a:t>200:	ACTION</a:t>
            </a:r>
            <a:r>
              <a:rPr lang="en-US" altLang="zh-CN" sz="2200" baseline="-25000" dirty="0"/>
              <a:t>3		</a:t>
            </a:r>
            <a:r>
              <a:rPr lang="en-US" altLang="zh-CN" sz="2200" dirty="0"/>
              <a:t> /* p</a:t>
            </a:r>
            <a:r>
              <a:rPr lang="zh-CN" altLang="en-US" sz="2200" dirty="0"/>
              <a:t>的代码 *</a:t>
            </a:r>
            <a:r>
              <a:rPr lang="en-US" altLang="zh-CN" sz="2200" dirty="0"/>
              <a:t>/</a:t>
            </a:r>
          </a:p>
          <a:p>
            <a:pPr eaLnBrk="1" hangingPunct="1">
              <a:lnSpc>
                <a:spcPct val="90000"/>
              </a:lnSpc>
              <a:spcBef>
                <a:spcPct val="10000"/>
              </a:spcBef>
              <a:buFont typeface="Wingdings" panose="05000000000000000000" pitchFamily="2" charset="2"/>
              <a:buNone/>
            </a:pPr>
            <a:r>
              <a:rPr lang="en-US" altLang="zh-CN" sz="2200" dirty="0"/>
              <a:t>220:	GOTO *364</a:t>
            </a:r>
          </a:p>
          <a:p>
            <a:pPr eaLnBrk="1" hangingPunct="1">
              <a:lnSpc>
                <a:spcPct val="90000"/>
              </a:lnSpc>
              <a:spcBef>
                <a:spcPct val="10000"/>
              </a:spcBef>
              <a:buFont typeface="Wingdings" panose="05000000000000000000" pitchFamily="2" charset="2"/>
              <a:buNone/>
            </a:pPr>
            <a:r>
              <a:rPr lang="en-US" altLang="zh-CN" sz="2200" dirty="0"/>
              <a:t>		…</a:t>
            </a:r>
          </a:p>
          <a:p>
            <a:pPr eaLnBrk="1" hangingPunct="1">
              <a:lnSpc>
                <a:spcPct val="90000"/>
              </a:lnSpc>
              <a:spcBef>
                <a:spcPct val="10000"/>
              </a:spcBef>
              <a:buFont typeface="Wingdings" panose="05000000000000000000" pitchFamily="2" charset="2"/>
              <a:buNone/>
            </a:pPr>
            <a:r>
              <a:rPr lang="en-US" altLang="zh-CN" sz="2200" dirty="0"/>
              <a:t>					 /* 300-363: c</a:t>
            </a:r>
            <a:r>
              <a:rPr lang="zh-CN" altLang="en-US" sz="2200" dirty="0"/>
              <a:t>的活动记录 *</a:t>
            </a:r>
            <a:r>
              <a:rPr lang="en-US" altLang="zh-CN" sz="2200" dirty="0"/>
              <a:t>/</a:t>
            </a:r>
          </a:p>
          <a:p>
            <a:pPr eaLnBrk="1" hangingPunct="1">
              <a:lnSpc>
                <a:spcPct val="90000"/>
              </a:lnSpc>
              <a:spcBef>
                <a:spcPct val="10000"/>
              </a:spcBef>
              <a:buFont typeface="Wingdings" panose="05000000000000000000" pitchFamily="2" charset="2"/>
              <a:buNone/>
            </a:pPr>
            <a:r>
              <a:rPr lang="en-US" altLang="zh-CN" sz="2200" dirty="0"/>
              <a:t>300:				 /* </a:t>
            </a:r>
            <a:r>
              <a:rPr lang="zh-CN" altLang="en-US" sz="2200" dirty="0"/>
              <a:t>返回地址 *</a:t>
            </a:r>
            <a:r>
              <a:rPr lang="en-US" altLang="zh-CN" sz="2200" dirty="0"/>
              <a:t>/</a:t>
            </a:r>
          </a:p>
          <a:p>
            <a:pPr eaLnBrk="1" hangingPunct="1">
              <a:lnSpc>
                <a:spcPct val="90000"/>
              </a:lnSpc>
              <a:spcBef>
                <a:spcPct val="10000"/>
              </a:spcBef>
              <a:buFont typeface="Wingdings" panose="05000000000000000000" pitchFamily="2" charset="2"/>
              <a:buNone/>
            </a:pPr>
            <a:r>
              <a:rPr lang="en-US" altLang="zh-CN" sz="2200" dirty="0"/>
              <a:t>304:				 /* </a:t>
            </a:r>
            <a:r>
              <a:rPr lang="zh-CN" altLang="en-US" sz="2200" dirty="0"/>
              <a:t>局部数据 *</a:t>
            </a:r>
            <a:r>
              <a:rPr lang="en-US" altLang="zh-CN" sz="2200" dirty="0"/>
              <a:t>/</a:t>
            </a:r>
          </a:p>
          <a:p>
            <a:pPr eaLnBrk="1" hangingPunct="1">
              <a:lnSpc>
                <a:spcPct val="90000"/>
              </a:lnSpc>
              <a:spcBef>
                <a:spcPct val="10000"/>
              </a:spcBef>
              <a:buFont typeface="Wingdings" panose="05000000000000000000" pitchFamily="2" charset="2"/>
              <a:buNone/>
            </a:pPr>
            <a:r>
              <a:rPr lang="en-US" altLang="zh-CN" sz="2200" dirty="0"/>
              <a:t>		…</a:t>
            </a:r>
          </a:p>
          <a:p>
            <a:pPr eaLnBrk="1" hangingPunct="1">
              <a:lnSpc>
                <a:spcPct val="90000"/>
              </a:lnSpc>
              <a:spcBef>
                <a:spcPct val="10000"/>
              </a:spcBef>
              <a:buFont typeface="Wingdings" panose="05000000000000000000" pitchFamily="2" charset="2"/>
              <a:buNone/>
            </a:pPr>
            <a:r>
              <a:rPr lang="en-US" altLang="zh-CN" sz="2200" dirty="0"/>
              <a:t>					 </a:t>
            </a:r>
            <a:r>
              <a:rPr lang="en-US" altLang="zh-CN" sz="2000" dirty="0"/>
              <a:t>/* 364-451: p</a:t>
            </a:r>
            <a:r>
              <a:rPr lang="zh-CN" altLang="en-US" sz="2000" dirty="0"/>
              <a:t>的活动记录 *</a:t>
            </a:r>
            <a:r>
              <a:rPr lang="en-US" altLang="zh-CN" sz="2000" dirty="0"/>
              <a:t>/</a:t>
            </a:r>
            <a:endParaRPr lang="en-US" altLang="zh-CN" sz="2200" dirty="0"/>
          </a:p>
          <a:p>
            <a:pPr eaLnBrk="1" hangingPunct="1">
              <a:lnSpc>
                <a:spcPct val="90000"/>
              </a:lnSpc>
              <a:spcBef>
                <a:spcPct val="10000"/>
              </a:spcBef>
              <a:buFont typeface="Wingdings" panose="05000000000000000000" pitchFamily="2" charset="2"/>
              <a:buNone/>
            </a:pPr>
            <a:r>
              <a:rPr lang="en-US" altLang="zh-CN" sz="2200" dirty="0"/>
              <a:t>364:				 </a:t>
            </a:r>
            <a:r>
              <a:rPr lang="en-US" altLang="zh-CN" sz="2000" dirty="0"/>
              <a:t>/* </a:t>
            </a:r>
            <a:r>
              <a:rPr lang="zh-CN" altLang="en-US" sz="2000" dirty="0"/>
              <a:t>返回地址 *</a:t>
            </a:r>
            <a:r>
              <a:rPr lang="en-US" altLang="zh-CN" sz="2000" dirty="0"/>
              <a:t>/</a:t>
            </a:r>
            <a:endParaRPr lang="en-US" altLang="zh-CN" sz="2200" dirty="0"/>
          </a:p>
          <a:p>
            <a:pPr eaLnBrk="1" hangingPunct="1">
              <a:lnSpc>
                <a:spcPct val="90000"/>
              </a:lnSpc>
              <a:spcBef>
                <a:spcPct val="10000"/>
              </a:spcBef>
              <a:buFont typeface="Wingdings" panose="05000000000000000000" pitchFamily="2" charset="2"/>
              <a:buNone/>
            </a:pPr>
            <a:r>
              <a:rPr lang="en-US" altLang="zh-CN" sz="2200" dirty="0"/>
              <a:t>368:				 </a:t>
            </a:r>
            <a:r>
              <a:rPr lang="en-US" altLang="zh-CN" sz="2000" dirty="0"/>
              <a:t>/* </a:t>
            </a:r>
            <a:r>
              <a:rPr lang="zh-CN" altLang="en-US" sz="2000" dirty="0"/>
              <a:t>局部数据 *</a:t>
            </a:r>
            <a:r>
              <a:rPr lang="en-US" altLang="zh-CN" sz="2000" dirty="0"/>
              <a:t>/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2">
            <a:extLst>
              <a:ext uri="{FF2B5EF4-FFF2-40B4-BE49-F238E27FC236}">
                <a16:creationId xmlns:a16="http://schemas.microsoft.com/office/drawing/2014/main" id="{2AA6829C-9C9C-4BB8-8B87-A6654C5B3C1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9.3.2  </a:t>
            </a:r>
            <a:r>
              <a:rPr lang="zh-CN" altLang="en-US"/>
              <a:t>栈分配</a:t>
            </a:r>
          </a:p>
        </p:txBody>
      </p:sp>
      <p:sp>
        <p:nvSpPr>
          <p:cNvPr id="20483" name="Rectangle 3">
            <a:extLst>
              <a:ext uri="{FF2B5EF4-FFF2-40B4-BE49-F238E27FC236}">
                <a16:creationId xmlns:a16="http://schemas.microsoft.com/office/drawing/2014/main" id="{28F8529A-35D5-417F-8BED-2D27AF80F53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zh-CN" altLang="en-US" dirty="0"/>
              <a:t>使用相对活动记录起始的偏移</a:t>
            </a:r>
          </a:p>
          <a:p>
            <a:pPr eaLnBrk="1" hangingPunct="1"/>
            <a:r>
              <a:rPr lang="zh-CN" altLang="en-US" dirty="0"/>
              <a:t>活动记录的地址</a:t>
            </a:r>
            <a:r>
              <a:rPr lang="en-US" altLang="zh-CN" dirty="0"/>
              <a:t>——</a:t>
            </a:r>
            <a:r>
              <a:rPr lang="zh-CN" altLang="en-US" dirty="0"/>
              <a:t>栈寄存器，</a:t>
            </a:r>
            <a:r>
              <a:rPr lang="en-US" altLang="zh-CN" dirty="0"/>
              <a:t>SP</a:t>
            </a:r>
          </a:p>
          <a:p>
            <a:pPr eaLnBrk="1" hangingPunct="1"/>
            <a:r>
              <a:rPr lang="zh-CN" altLang="en-US" dirty="0"/>
              <a:t>“第一个过程”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zh-CN" altLang="en-US" sz="2800" dirty="0">
                <a:solidFill>
                  <a:schemeClr val="folHlink"/>
                </a:solidFill>
              </a:rPr>
              <a:t>	</a:t>
            </a:r>
            <a:r>
              <a:rPr lang="en-US" altLang="zh-CN" sz="2800" dirty="0">
                <a:solidFill>
                  <a:schemeClr val="folHlink"/>
                </a:solidFill>
              </a:rPr>
              <a:t>MOV #stackstart, SP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800" dirty="0">
                <a:solidFill>
                  <a:schemeClr val="folHlink"/>
                </a:solidFill>
              </a:rPr>
              <a:t>	</a:t>
            </a:r>
            <a:r>
              <a:rPr lang="zh-CN" altLang="en-US" sz="2800" dirty="0">
                <a:solidFill>
                  <a:schemeClr val="folHlink"/>
                </a:solidFill>
              </a:rPr>
              <a:t>第一个过程的代码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zh-CN" altLang="en-US" sz="2800" dirty="0">
                <a:solidFill>
                  <a:schemeClr val="folHlink"/>
                </a:solidFill>
              </a:rPr>
              <a:t>	</a:t>
            </a:r>
            <a:r>
              <a:rPr lang="en-US" altLang="zh-CN" sz="2800" dirty="0">
                <a:solidFill>
                  <a:schemeClr val="folHlink"/>
                </a:solidFill>
              </a:rPr>
              <a:t>HALT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>
            <a:extLst>
              <a:ext uri="{FF2B5EF4-FFF2-40B4-BE49-F238E27FC236}">
                <a16:creationId xmlns:a16="http://schemas.microsoft.com/office/drawing/2014/main" id="{2D7014F8-D678-488A-AE2F-821E6D7B393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栈分配</a:t>
            </a:r>
            <a:r>
              <a:rPr lang="en-US" altLang="zh-CN"/>
              <a:t>——</a:t>
            </a:r>
            <a:r>
              <a:rPr lang="zh-CN" altLang="en-US"/>
              <a:t>函数调用和返回</a:t>
            </a:r>
          </a:p>
        </p:txBody>
      </p:sp>
      <p:sp>
        <p:nvSpPr>
          <p:cNvPr id="21507" name="Rectangle 3">
            <a:extLst>
              <a:ext uri="{FF2B5EF4-FFF2-40B4-BE49-F238E27FC236}">
                <a16:creationId xmlns:a16="http://schemas.microsoft.com/office/drawing/2014/main" id="{7726648B-0573-4293-8B67-48FAEBC2803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182688" y="1371600"/>
            <a:ext cx="7772400" cy="5029200"/>
          </a:xfrm>
        </p:spPr>
        <p:txBody>
          <a:bodyPr/>
          <a:lstStyle/>
          <a:p>
            <a:pPr eaLnBrk="1" hangingPunct="1"/>
            <a:r>
              <a:rPr lang="zh-CN" altLang="en-US"/>
              <a:t>调用</a:t>
            </a:r>
          </a:p>
          <a:p>
            <a:pPr lvl="1" eaLnBrk="1" hangingPunct="1">
              <a:buFont typeface="Wingdings" panose="05000000000000000000" pitchFamily="2" charset="2"/>
              <a:buNone/>
            </a:pPr>
            <a:r>
              <a:rPr lang="en-US" altLang="zh-CN"/>
              <a:t>ADD #caller.recordsize, SP	/* </a:t>
            </a:r>
            <a:r>
              <a:rPr lang="zh-CN" altLang="en-US"/>
              <a:t>指向被调函数活						动记录 *</a:t>
            </a:r>
            <a:r>
              <a:rPr lang="en-US" altLang="zh-CN"/>
              <a:t>/</a:t>
            </a:r>
          </a:p>
          <a:p>
            <a:pPr lvl="1" eaLnBrk="1" hangingPunct="1">
              <a:buFont typeface="Wingdings" panose="05000000000000000000" pitchFamily="2" charset="2"/>
              <a:buNone/>
            </a:pPr>
            <a:r>
              <a:rPr lang="en-US" altLang="zh-CN"/>
              <a:t>MOV #here + 16, *SP		 /* </a:t>
            </a:r>
            <a:r>
              <a:rPr lang="zh-CN" altLang="en-US"/>
              <a:t>保存返回地址 *</a:t>
            </a:r>
            <a:r>
              <a:rPr lang="en-US" altLang="zh-CN"/>
              <a:t>/</a:t>
            </a:r>
          </a:p>
          <a:p>
            <a:pPr lvl="1" eaLnBrk="1" hangingPunct="1">
              <a:buFont typeface="Wingdings" panose="05000000000000000000" pitchFamily="2" charset="2"/>
              <a:buNone/>
            </a:pPr>
            <a:r>
              <a:rPr lang="en-US" altLang="zh-CN"/>
              <a:t>GOTO callee.code_area</a:t>
            </a:r>
          </a:p>
          <a:p>
            <a:pPr eaLnBrk="1" hangingPunct="1"/>
            <a:r>
              <a:rPr lang="zh-CN" altLang="en-US"/>
              <a:t>返回</a:t>
            </a:r>
          </a:p>
          <a:p>
            <a:pPr lvl="1" eaLnBrk="1" hangingPunct="1">
              <a:buFont typeface="Wingdings" panose="05000000000000000000" pitchFamily="2" charset="2"/>
              <a:buNone/>
            </a:pPr>
            <a:r>
              <a:rPr lang="en-US" altLang="zh-CN"/>
              <a:t>GOTO *0(SP)</a:t>
            </a:r>
          </a:p>
          <a:p>
            <a:pPr eaLnBrk="1" hangingPunct="1"/>
            <a:r>
              <a:rPr lang="zh-CN" altLang="en-US"/>
              <a:t>栈寄存器调整回调用者的活动记录</a:t>
            </a:r>
          </a:p>
          <a:p>
            <a:pPr lvl="1" eaLnBrk="1" hangingPunct="1">
              <a:buFont typeface="Wingdings" panose="05000000000000000000" pitchFamily="2" charset="2"/>
              <a:buNone/>
            </a:pPr>
            <a:r>
              <a:rPr lang="en-US" altLang="zh-CN"/>
              <a:t>SUB #caller.recordsize, SP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2">
            <a:extLst>
              <a:ext uri="{FF2B5EF4-FFF2-40B4-BE49-F238E27FC236}">
                <a16:creationId xmlns:a16="http://schemas.microsoft.com/office/drawing/2014/main" id="{E1949536-E29B-4104-99F3-8FDCB1E418A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dirty="0"/>
              <a:t>例</a:t>
            </a:r>
            <a:r>
              <a:rPr lang="en-US" altLang="zh-CN" dirty="0"/>
              <a:t>9.2 </a:t>
            </a:r>
            <a:r>
              <a:rPr lang="zh-CN" altLang="en-US" dirty="0"/>
              <a:t>快速排序例</a:t>
            </a:r>
            <a:endParaRPr lang="en-US" altLang="zh-CN" dirty="0"/>
          </a:p>
        </p:txBody>
      </p:sp>
      <p:graphicFrame>
        <p:nvGraphicFramePr>
          <p:cNvPr id="586782" name="Group 30">
            <a:extLst>
              <a:ext uri="{FF2B5EF4-FFF2-40B4-BE49-F238E27FC236}">
                <a16:creationId xmlns:a16="http://schemas.microsoft.com/office/drawing/2014/main" id="{FA165A95-5E04-4335-A2B4-C393CDF57976}"/>
              </a:ext>
            </a:extLst>
          </p:cNvPr>
          <p:cNvGraphicFramePr>
            <a:graphicFrameLocks noGrp="1"/>
          </p:cNvGraphicFramePr>
          <p:nvPr/>
        </p:nvGraphicFramePr>
        <p:xfrm>
          <a:off x="1524000" y="1371600"/>
          <a:ext cx="2971800" cy="4005264"/>
        </p:xfrm>
        <a:graphic>
          <a:graphicData uri="http://schemas.openxmlformats.org/drawingml/2006/table">
            <a:tbl>
              <a:tblPr/>
              <a:tblGrid>
                <a:gridCol w="2971800">
                  <a:extLst>
                    <a:ext uri="{9D8B030D-6E8A-4147-A177-3AD203B41FA5}">
                      <a16:colId xmlns:a16="http://schemas.microsoft.com/office/drawing/2014/main" val="779009564"/>
                    </a:ext>
                  </a:extLst>
                </a:gridCol>
              </a:tblGrid>
              <a:tr h="457222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9000"/>
                        <a:buFont typeface="Wingdings" panose="05000000000000000000" pitchFamily="2" charset="2"/>
                        <a:defRPr kumimoji="1" sz="2400">
                          <a:solidFill>
                            <a:srgbClr val="3333CC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000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zh-CN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三地址码</a:t>
                      </a:r>
                    </a:p>
                  </a:txBody>
                  <a:tcPr marT="45722" marB="45722" horzOverflow="overflow">
                    <a:lnL cap="flat"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05646127"/>
                  </a:ext>
                </a:extLst>
              </a:tr>
              <a:tr h="2212954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9000"/>
                        <a:buFont typeface="Wingdings" panose="05000000000000000000" pitchFamily="2" charset="2"/>
                        <a:defRPr kumimoji="1" sz="2400">
                          <a:solidFill>
                            <a:srgbClr val="3333CC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000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/* s</a:t>
                      </a:r>
                      <a:r>
                        <a:rPr kumimoji="1" lang="zh-CN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的代码 *</a:t>
                      </a:r>
                      <a:r>
                        <a:rPr kumimoji="1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/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action</a:t>
                      </a:r>
                      <a:r>
                        <a:rPr kumimoji="1" lang="en-US" altLang="zh-CN" sz="24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  <a:endParaRPr kumimoji="1" lang="en-US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call q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action</a:t>
                      </a:r>
                      <a:r>
                        <a:rPr kumimoji="1" lang="en-US" altLang="zh-CN" sz="24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2</a:t>
                      </a:r>
                      <a:endParaRPr kumimoji="1" lang="en-US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halt</a:t>
                      </a:r>
                    </a:p>
                  </a:txBody>
                  <a:tcPr marT="45722" marB="45722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09475346"/>
                  </a:ext>
                </a:extLst>
              </a:tr>
              <a:tr h="1335088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9000"/>
                        <a:buFont typeface="Wingdings" panose="05000000000000000000" pitchFamily="2" charset="2"/>
                        <a:defRPr kumimoji="1" sz="2400">
                          <a:solidFill>
                            <a:srgbClr val="3333CC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000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/* p</a:t>
                      </a:r>
                      <a:r>
                        <a:rPr kumimoji="1" lang="zh-CN" alt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的代码 *</a:t>
                      </a:r>
                      <a:r>
                        <a:rPr kumimoji="1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/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action</a:t>
                      </a:r>
                      <a:r>
                        <a:rPr kumimoji="1" lang="en-US" altLang="zh-CN" sz="2400" b="0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3</a:t>
                      </a:r>
                      <a:endParaRPr kumimoji="1" lang="en-US" altLang="zh-CN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return</a:t>
                      </a:r>
                    </a:p>
                  </a:txBody>
                  <a:tcPr marT="45722" marB="45722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19846070"/>
                  </a:ext>
                </a:extLst>
              </a:tr>
            </a:tbl>
          </a:graphicData>
        </a:graphic>
      </p:graphicFrame>
      <p:graphicFrame>
        <p:nvGraphicFramePr>
          <p:cNvPr id="586792" name="Group 40">
            <a:extLst>
              <a:ext uri="{FF2B5EF4-FFF2-40B4-BE49-F238E27FC236}">
                <a16:creationId xmlns:a16="http://schemas.microsoft.com/office/drawing/2014/main" id="{6EDFAC27-5E44-4C50-87D1-28CFC1E2BAFD}"/>
              </a:ext>
            </a:extLst>
          </p:cNvPr>
          <p:cNvGraphicFramePr>
            <a:graphicFrameLocks noGrp="1"/>
          </p:cNvGraphicFramePr>
          <p:nvPr/>
        </p:nvGraphicFramePr>
        <p:xfrm>
          <a:off x="4724400" y="1828800"/>
          <a:ext cx="2971800" cy="3581400"/>
        </p:xfrm>
        <a:graphic>
          <a:graphicData uri="http://schemas.openxmlformats.org/drawingml/2006/table">
            <a:tbl>
              <a:tblPr/>
              <a:tblGrid>
                <a:gridCol w="2971800">
                  <a:extLst>
                    <a:ext uri="{9D8B030D-6E8A-4147-A177-3AD203B41FA5}">
                      <a16:colId xmlns:a16="http://schemas.microsoft.com/office/drawing/2014/main" val="2913334285"/>
                    </a:ext>
                  </a:extLst>
                </a:gridCol>
              </a:tblGrid>
              <a:tr h="3581400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9000"/>
                        <a:buFont typeface="Wingdings" panose="05000000000000000000" pitchFamily="2" charset="2"/>
                        <a:defRPr kumimoji="1" sz="2400">
                          <a:solidFill>
                            <a:srgbClr val="3333CC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000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/* q</a:t>
                      </a:r>
                      <a:r>
                        <a:rPr kumimoji="1" lang="zh-CN" alt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的代码 *</a:t>
                      </a:r>
                      <a:r>
                        <a:rPr kumimoji="1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/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action</a:t>
                      </a:r>
                      <a:r>
                        <a:rPr kumimoji="1" lang="en-US" altLang="zh-CN" sz="2400" b="0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4</a:t>
                      </a:r>
                      <a:endParaRPr kumimoji="1" lang="en-US" altLang="zh-CN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call p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action</a:t>
                      </a:r>
                      <a:r>
                        <a:rPr kumimoji="1" lang="en-US" altLang="zh-CN" sz="2400" b="0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5</a:t>
                      </a:r>
                      <a:endParaRPr kumimoji="1" lang="en-US" altLang="zh-CN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call q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action</a:t>
                      </a:r>
                      <a:r>
                        <a:rPr kumimoji="1" lang="en-US" altLang="zh-CN" sz="2400" b="0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6</a:t>
                      </a:r>
                      <a:endParaRPr kumimoji="1" lang="en-US" altLang="zh-CN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call q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return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4209774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2">
            <a:extLst>
              <a:ext uri="{FF2B5EF4-FFF2-40B4-BE49-F238E27FC236}">
                <a16:creationId xmlns:a16="http://schemas.microsoft.com/office/drawing/2014/main" id="{6DCEAC83-206D-4E92-ADF3-A8097B376F8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例</a:t>
            </a:r>
            <a:r>
              <a:rPr lang="en-US" altLang="zh-CN"/>
              <a:t>9.2</a:t>
            </a:r>
            <a:r>
              <a:rPr lang="zh-CN" altLang="en-US"/>
              <a:t>（续）</a:t>
            </a:r>
          </a:p>
        </p:txBody>
      </p:sp>
      <p:sp>
        <p:nvSpPr>
          <p:cNvPr id="23555" name="Rectangle 3">
            <a:extLst>
              <a:ext uri="{FF2B5EF4-FFF2-40B4-BE49-F238E27FC236}">
                <a16:creationId xmlns:a16="http://schemas.microsoft.com/office/drawing/2014/main" id="{5FE314C0-9E80-48E6-85EE-5F266C4A1BC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182688" y="1371600"/>
            <a:ext cx="7772400" cy="5486400"/>
          </a:xfrm>
        </p:spPr>
        <p:txBody>
          <a:bodyPr/>
          <a:lstStyle/>
          <a:p>
            <a:pPr eaLnBrk="1" hangingPunct="1">
              <a:lnSpc>
                <a:spcPct val="90000"/>
              </a:lnSpc>
              <a:spcBef>
                <a:spcPct val="10000"/>
              </a:spcBef>
              <a:buFont typeface="Wingdings" panose="05000000000000000000" pitchFamily="2" charset="2"/>
              <a:buNone/>
            </a:pPr>
            <a:r>
              <a:rPr lang="en-US" altLang="zh-CN" sz="2400"/>
              <a:t>					/* s</a:t>
            </a:r>
            <a:r>
              <a:rPr lang="zh-CN" altLang="en-US" sz="2400"/>
              <a:t>的代码 *</a:t>
            </a:r>
            <a:r>
              <a:rPr lang="en-US" altLang="zh-CN" sz="2400"/>
              <a:t>/</a:t>
            </a:r>
          </a:p>
          <a:p>
            <a:pPr eaLnBrk="1" hangingPunct="1">
              <a:lnSpc>
                <a:spcPct val="90000"/>
              </a:lnSpc>
              <a:spcBef>
                <a:spcPct val="10000"/>
              </a:spcBef>
              <a:buFont typeface="Wingdings" panose="05000000000000000000" pitchFamily="2" charset="2"/>
              <a:buNone/>
            </a:pPr>
            <a:r>
              <a:rPr lang="en-US" altLang="zh-CN" sz="2400"/>
              <a:t>100:	MOV #600, SP	 /* </a:t>
            </a:r>
            <a:r>
              <a:rPr lang="zh-CN" altLang="en-US" sz="2400"/>
              <a:t>初始化栈 *</a:t>
            </a:r>
            <a:r>
              <a:rPr lang="en-US" altLang="zh-CN" sz="2400"/>
              <a:t>/</a:t>
            </a:r>
          </a:p>
          <a:p>
            <a:pPr eaLnBrk="1" hangingPunct="1">
              <a:lnSpc>
                <a:spcPct val="90000"/>
              </a:lnSpc>
              <a:spcBef>
                <a:spcPct val="10000"/>
              </a:spcBef>
              <a:buFont typeface="Wingdings" panose="05000000000000000000" pitchFamily="2" charset="2"/>
              <a:buNone/>
            </a:pPr>
            <a:r>
              <a:rPr lang="en-US" altLang="zh-CN" sz="2400"/>
              <a:t>108:	ACTION</a:t>
            </a:r>
            <a:r>
              <a:rPr lang="en-US" altLang="zh-CN" sz="2400" baseline="-25000"/>
              <a:t>1</a:t>
            </a:r>
            <a:endParaRPr lang="en-US" altLang="zh-CN" sz="2400"/>
          </a:p>
          <a:p>
            <a:pPr eaLnBrk="1" hangingPunct="1">
              <a:lnSpc>
                <a:spcPct val="90000"/>
              </a:lnSpc>
              <a:spcBef>
                <a:spcPct val="10000"/>
              </a:spcBef>
              <a:buFont typeface="Wingdings" panose="05000000000000000000" pitchFamily="2" charset="2"/>
              <a:buNone/>
            </a:pPr>
            <a:r>
              <a:rPr lang="en-US" altLang="zh-CN" sz="2400"/>
              <a:t>128:	ADD #ssize, SP	 /* </a:t>
            </a:r>
            <a:r>
              <a:rPr lang="zh-CN" altLang="en-US" sz="2400"/>
              <a:t>调用序列开始 *</a:t>
            </a:r>
            <a:r>
              <a:rPr lang="en-US" altLang="zh-CN" sz="2400"/>
              <a:t>/</a:t>
            </a:r>
          </a:p>
          <a:p>
            <a:pPr eaLnBrk="1" hangingPunct="1">
              <a:lnSpc>
                <a:spcPct val="90000"/>
              </a:lnSpc>
              <a:spcBef>
                <a:spcPct val="10000"/>
              </a:spcBef>
              <a:buFont typeface="Wingdings" panose="05000000000000000000" pitchFamily="2" charset="2"/>
              <a:buNone/>
            </a:pPr>
            <a:r>
              <a:rPr lang="en-US" altLang="zh-CN" sz="2400"/>
              <a:t>136:	MOV #152, *SP	 /* </a:t>
            </a:r>
            <a:r>
              <a:rPr lang="zh-CN" altLang="en-US" sz="2400"/>
              <a:t>返回地址压栈 *</a:t>
            </a:r>
            <a:r>
              <a:rPr lang="en-US" altLang="zh-CN" sz="2400"/>
              <a:t>/</a:t>
            </a:r>
          </a:p>
          <a:p>
            <a:pPr eaLnBrk="1" hangingPunct="1">
              <a:lnSpc>
                <a:spcPct val="90000"/>
              </a:lnSpc>
              <a:spcBef>
                <a:spcPct val="10000"/>
              </a:spcBef>
              <a:buFont typeface="Wingdings" panose="05000000000000000000" pitchFamily="2" charset="2"/>
              <a:buNone/>
            </a:pPr>
            <a:r>
              <a:rPr lang="en-US" altLang="zh-CN" sz="2400"/>
              <a:t>144:	GOTO 300		 /* call q */</a:t>
            </a:r>
          </a:p>
          <a:p>
            <a:pPr eaLnBrk="1" hangingPunct="1">
              <a:lnSpc>
                <a:spcPct val="90000"/>
              </a:lnSpc>
              <a:spcBef>
                <a:spcPct val="10000"/>
              </a:spcBef>
              <a:buFont typeface="Wingdings" panose="05000000000000000000" pitchFamily="2" charset="2"/>
              <a:buNone/>
            </a:pPr>
            <a:r>
              <a:rPr lang="en-US" altLang="zh-CN" sz="2400"/>
              <a:t>152:	SUB #ssize, SP	 /* </a:t>
            </a:r>
            <a:r>
              <a:rPr lang="zh-CN" altLang="en-US" sz="2400"/>
              <a:t>恢复栈 *</a:t>
            </a:r>
            <a:r>
              <a:rPr lang="en-US" altLang="zh-CN" sz="2400"/>
              <a:t>/</a:t>
            </a:r>
          </a:p>
          <a:p>
            <a:pPr eaLnBrk="1" hangingPunct="1">
              <a:lnSpc>
                <a:spcPct val="90000"/>
              </a:lnSpc>
              <a:spcBef>
                <a:spcPct val="10000"/>
              </a:spcBef>
              <a:buFont typeface="Wingdings" panose="05000000000000000000" pitchFamily="2" charset="2"/>
              <a:buNone/>
            </a:pPr>
            <a:r>
              <a:rPr lang="en-US" altLang="zh-CN" sz="2400"/>
              <a:t>160:	ACTION</a:t>
            </a:r>
            <a:r>
              <a:rPr lang="en-US" altLang="zh-CN" sz="2400" baseline="-25000"/>
              <a:t>2</a:t>
            </a:r>
            <a:endParaRPr lang="en-US" altLang="zh-CN" sz="2400"/>
          </a:p>
          <a:p>
            <a:pPr eaLnBrk="1" hangingPunct="1">
              <a:lnSpc>
                <a:spcPct val="90000"/>
              </a:lnSpc>
              <a:spcBef>
                <a:spcPct val="10000"/>
              </a:spcBef>
              <a:buFont typeface="Wingdings" panose="05000000000000000000" pitchFamily="2" charset="2"/>
              <a:buNone/>
            </a:pPr>
            <a:r>
              <a:rPr lang="en-US" altLang="zh-CN" sz="2400"/>
              <a:t>180:	HALT</a:t>
            </a:r>
          </a:p>
          <a:p>
            <a:pPr eaLnBrk="1" hangingPunct="1">
              <a:lnSpc>
                <a:spcPct val="90000"/>
              </a:lnSpc>
              <a:spcBef>
                <a:spcPct val="10000"/>
              </a:spcBef>
              <a:buFont typeface="Wingdings" panose="05000000000000000000" pitchFamily="2" charset="2"/>
              <a:buNone/>
            </a:pPr>
            <a:r>
              <a:rPr lang="en-US" altLang="zh-CN" sz="2400"/>
              <a:t>		…</a:t>
            </a:r>
          </a:p>
          <a:p>
            <a:pPr eaLnBrk="1" hangingPunct="1">
              <a:lnSpc>
                <a:spcPct val="90000"/>
              </a:lnSpc>
              <a:spcBef>
                <a:spcPct val="10000"/>
              </a:spcBef>
              <a:buFont typeface="Wingdings" panose="05000000000000000000" pitchFamily="2" charset="2"/>
              <a:buNone/>
            </a:pPr>
            <a:r>
              <a:rPr lang="en-US" altLang="zh-CN" sz="2400"/>
              <a:t>					 /* p</a:t>
            </a:r>
            <a:r>
              <a:rPr lang="zh-CN" altLang="en-US" sz="2400"/>
              <a:t>的代码 *</a:t>
            </a:r>
            <a:r>
              <a:rPr lang="en-US" altLang="zh-CN" sz="2400"/>
              <a:t>/</a:t>
            </a:r>
          </a:p>
          <a:p>
            <a:pPr eaLnBrk="1" hangingPunct="1">
              <a:lnSpc>
                <a:spcPct val="90000"/>
              </a:lnSpc>
              <a:spcBef>
                <a:spcPct val="10000"/>
              </a:spcBef>
              <a:buFont typeface="Wingdings" panose="05000000000000000000" pitchFamily="2" charset="2"/>
              <a:buNone/>
            </a:pPr>
            <a:r>
              <a:rPr lang="en-US" altLang="zh-CN" sz="2400"/>
              <a:t>200:	ACTION</a:t>
            </a:r>
            <a:r>
              <a:rPr lang="en-US" altLang="zh-CN" sz="2400" baseline="-25000"/>
              <a:t>3</a:t>
            </a:r>
            <a:endParaRPr lang="en-US" altLang="zh-CN" sz="2400"/>
          </a:p>
          <a:p>
            <a:pPr eaLnBrk="1" hangingPunct="1">
              <a:lnSpc>
                <a:spcPct val="90000"/>
              </a:lnSpc>
              <a:spcBef>
                <a:spcPct val="10000"/>
              </a:spcBef>
              <a:buFont typeface="Wingdings" panose="05000000000000000000" pitchFamily="2" charset="2"/>
              <a:buNone/>
            </a:pPr>
            <a:r>
              <a:rPr lang="en-US" altLang="zh-CN" sz="2400"/>
              <a:t>220:	GOTO *0(SP)		 /* return */</a:t>
            </a:r>
          </a:p>
          <a:p>
            <a:pPr eaLnBrk="1" hangingPunct="1">
              <a:lnSpc>
                <a:spcPct val="90000"/>
              </a:lnSpc>
              <a:spcBef>
                <a:spcPct val="10000"/>
              </a:spcBef>
              <a:buFont typeface="Wingdings" panose="05000000000000000000" pitchFamily="2" charset="2"/>
              <a:buNone/>
            </a:pPr>
            <a:r>
              <a:rPr lang="en-US" altLang="zh-CN" sz="2400"/>
              <a:t>		…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>
            <a:extLst>
              <a:ext uri="{FF2B5EF4-FFF2-40B4-BE49-F238E27FC236}">
                <a16:creationId xmlns:a16="http://schemas.microsoft.com/office/drawing/2014/main" id="{094FC82E-4532-444C-9188-6C3DE00B2A5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例</a:t>
            </a:r>
            <a:r>
              <a:rPr lang="en-US" altLang="zh-CN"/>
              <a:t>9.2</a:t>
            </a:r>
            <a:r>
              <a:rPr lang="zh-CN" altLang="en-US"/>
              <a:t>（续）</a:t>
            </a:r>
          </a:p>
        </p:txBody>
      </p:sp>
      <p:sp>
        <p:nvSpPr>
          <p:cNvPr id="24579" name="Rectangle 3">
            <a:extLst>
              <a:ext uri="{FF2B5EF4-FFF2-40B4-BE49-F238E27FC236}">
                <a16:creationId xmlns:a16="http://schemas.microsoft.com/office/drawing/2014/main" id="{F4DF22CC-2722-4D62-A4C0-6B8E0936428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182688" y="1371600"/>
            <a:ext cx="7772400" cy="5486400"/>
          </a:xfrm>
        </p:spPr>
        <p:txBody>
          <a:bodyPr/>
          <a:lstStyle/>
          <a:p>
            <a:pPr eaLnBrk="1" hangingPunct="1">
              <a:lnSpc>
                <a:spcPct val="80000"/>
              </a:lnSpc>
              <a:spcBef>
                <a:spcPct val="10000"/>
              </a:spcBef>
              <a:buFont typeface="Wingdings" panose="05000000000000000000" pitchFamily="2" charset="2"/>
              <a:buNone/>
            </a:pPr>
            <a:r>
              <a:rPr lang="en-US" altLang="zh-CN" sz="2000"/>
              <a:t>					/* q</a:t>
            </a:r>
            <a:r>
              <a:rPr lang="zh-CN" altLang="en-US" sz="2000"/>
              <a:t>的代码 *</a:t>
            </a:r>
            <a:r>
              <a:rPr lang="en-US" altLang="zh-CN" sz="2000"/>
              <a:t>/</a:t>
            </a:r>
          </a:p>
          <a:p>
            <a:pPr eaLnBrk="1" hangingPunct="1">
              <a:lnSpc>
                <a:spcPct val="80000"/>
              </a:lnSpc>
              <a:spcBef>
                <a:spcPct val="10000"/>
              </a:spcBef>
              <a:buFont typeface="Wingdings" panose="05000000000000000000" pitchFamily="2" charset="2"/>
              <a:buNone/>
            </a:pPr>
            <a:r>
              <a:rPr lang="en-US" altLang="zh-CN" sz="2000"/>
              <a:t>300:	ACTION</a:t>
            </a:r>
            <a:r>
              <a:rPr lang="en-US" altLang="zh-CN" sz="2000" baseline="-25000"/>
              <a:t>4	</a:t>
            </a:r>
            <a:r>
              <a:rPr lang="en-US" altLang="zh-CN" sz="2000"/>
              <a:t>	/* </a:t>
            </a:r>
            <a:r>
              <a:rPr lang="zh-CN" altLang="en-US" sz="2000"/>
              <a:t>条件转移到</a:t>
            </a:r>
            <a:r>
              <a:rPr lang="en-US" altLang="zh-CN" sz="2000"/>
              <a:t>456 */</a:t>
            </a:r>
          </a:p>
          <a:p>
            <a:pPr eaLnBrk="1" hangingPunct="1">
              <a:lnSpc>
                <a:spcPct val="80000"/>
              </a:lnSpc>
              <a:spcBef>
                <a:spcPct val="10000"/>
              </a:spcBef>
              <a:buFont typeface="Wingdings" panose="05000000000000000000" pitchFamily="2" charset="2"/>
              <a:buNone/>
            </a:pPr>
            <a:r>
              <a:rPr lang="en-US" altLang="zh-CN" sz="2000"/>
              <a:t>320:	ADD #qsize, SP</a:t>
            </a:r>
          </a:p>
          <a:p>
            <a:pPr eaLnBrk="1" hangingPunct="1">
              <a:lnSpc>
                <a:spcPct val="80000"/>
              </a:lnSpc>
              <a:spcBef>
                <a:spcPct val="10000"/>
              </a:spcBef>
              <a:buFont typeface="Wingdings" panose="05000000000000000000" pitchFamily="2" charset="2"/>
              <a:buNone/>
            </a:pPr>
            <a:r>
              <a:rPr lang="en-US" altLang="zh-CN" sz="2000"/>
              <a:t>328:	MOV #344, *SP	 	/* </a:t>
            </a:r>
            <a:r>
              <a:rPr lang="zh-CN" altLang="en-US" sz="2000"/>
              <a:t>返回地址压栈 *</a:t>
            </a:r>
            <a:r>
              <a:rPr lang="en-US" altLang="zh-CN" sz="2000"/>
              <a:t>/</a:t>
            </a:r>
          </a:p>
          <a:p>
            <a:pPr eaLnBrk="1" hangingPunct="1">
              <a:lnSpc>
                <a:spcPct val="80000"/>
              </a:lnSpc>
              <a:spcBef>
                <a:spcPct val="10000"/>
              </a:spcBef>
              <a:buFont typeface="Wingdings" panose="05000000000000000000" pitchFamily="2" charset="2"/>
              <a:buNone/>
            </a:pPr>
            <a:r>
              <a:rPr lang="en-US" altLang="zh-CN" sz="2000"/>
              <a:t>336:	GOTO 200		/* call p */</a:t>
            </a:r>
          </a:p>
          <a:p>
            <a:pPr eaLnBrk="1" hangingPunct="1">
              <a:lnSpc>
                <a:spcPct val="80000"/>
              </a:lnSpc>
              <a:spcBef>
                <a:spcPct val="10000"/>
              </a:spcBef>
              <a:buFont typeface="Wingdings" panose="05000000000000000000" pitchFamily="2" charset="2"/>
              <a:buNone/>
            </a:pPr>
            <a:r>
              <a:rPr lang="en-US" altLang="zh-CN" sz="2000"/>
              <a:t>344:	SUB #qsize, SP</a:t>
            </a:r>
          </a:p>
          <a:p>
            <a:pPr eaLnBrk="1" hangingPunct="1">
              <a:lnSpc>
                <a:spcPct val="80000"/>
              </a:lnSpc>
              <a:spcBef>
                <a:spcPct val="10000"/>
              </a:spcBef>
              <a:buFont typeface="Wingdings" panose="05000000000000000000" pitchFamily="2" charset="2"/>
              <a:buNone/>
            </a:pPr>
            <a:r>
              <a:rPr lang="en-US" altLang="zh-CN" sz="2000"/>
              <a:t>352:	ACTION</a:t>
            </a:r>
            <a:r>
              <a:rPr lang="en-US" altLang="zh-CN" sz="2000" baseline="-25000"/>
              <a:t>5</a:t>
            </a:r>
            <a:endParaRPr lang="en-US" altLang="zh-CN" sz="2000"/>
          </a:p>
          <a:p>
            <a:pPr eaLnBrk="1" hangingPunct="1">
              <a:lnSpc>
                <a:spcPct val="80000"/>
              </a:lnSpc>
              <a:spcBef>
                <a:spcPct val="10000"/>
              </a:spcBef>
              <a:buFont typeface="Wingdings" panose="05000000000000000000" pitchFamily="2" charset="2"/>
              <a:buNone/>
            </a:pPr>
            <a:r>
              <a:rPr lang="en-US" altLang="zh-CN" sz="2000"/>
              <a:t>372:	ADD #qsize, SP</a:t>
            </a:r>
          </a:p>
          <a:p>
            <a:pPr eaLnBrk="1" hangingPunct="1">
              <a:lnSpc>
                <a:spcPct val="80000"/>
              </a:lnSpc>
              <a:spcBef>
                <a:spcPct val="10000"/>
              </a:spcBef>
              <a:buFont typeface="Wingdings" panose="05000000000000000000" pitchFamily="2" charset="2"/>
              <a:buNone/>
            </a:pPr>
            <a:r>
              <a:rPr lang="en-US" altLang="zh-CN" sz="2000"/>
              <a:t>380:	MOV #396, *SP		/* </a:t>
            </a:r>
            <a:r>
              <a:rPr lang="zh-CN" altLang="en-US" sz="2000"/>
              <a:t>返回地址压栈 *</a:t>
            </a:r>
            <a:r>
              <a:rPr lang="en-US" altLang="zh-CN" sz="2000"/>
              <a:t>/</a:t>
            </a:r>
          </a:p>
          <a:p>
            <a:pPr eaLnBrk="1" hangingPunct="1">
              <a:lnSpc>
                <a:spcPct val="80000"/>
              </a:lnSpc>
              <a:spcBef>
                <a:spcPct val="10000"/>
              </a:spcBef>
              <a:buFont typeface="Wingdings" panose="05000000000000000000" pitchFamily="2" charset="2"/>
              <a:buNone/>
            </a:pPr>
            <a:r>
              <a:rPr lang="en-US" altLang="zh-CN" sz="2000"/>
              <a:t>388:	GOTO 300		/* call q */</a:t>
            </a:r>
          </a:p>
          <a:p>
            <a:pPr eaLnBrk="1" hangingPunct="1">
              <a:lnSpc>
                <a:spcPct val="80000"/>
              </a:lnSpc>
              <a:spcBef>
                <a:spcPct val="10000"/>
              </a:spcBef>
              <a:buFont typeface="Wingdings" panose="05000000000000000000" pitchFamily="2" charset="2"/>
              <a:buNone/>
            </a:pPr>
            <a:r>
              <a:rPr lang="en-US" altLang="zh-CN" sz="2000"/>
              <a:t>396:	SUB #qsize, SP</a:t>
            </a:r>
          </a:p>
          <a:p>
            <a:pPr eaLnBrk="1" hangingPunct="1">
              <a:lnSpc>
                <a:spcPct val="80000"/>
              </a:lnSpc>
              <a:spcBef>
                <a:spcPct val="10000"/>
              </a:spcBef>
              <a:buFont typeface="Wingdings" panose="05000000000000000000" pitchFamily="2" charset="2"/>
              <a:buNone/>
            </a:pPr>
            <a:r>
              <a:rPr lang="en-US" altLang="zh-CN" sz="2000"/>
              <a:t>404:	ACTION</a:t>
            </a:r>
            <a:r>
              <a:rPr lang="en-US" altLang="zh-CN" sz="2000" baseline="-25000"/>
              <a:t>6</a:t>
            </a:r>
            <a:endParaRPr lang="en-US" altLang="zh-CN" sz="2000"/>
          </a:p>
          <a:p>
            <a:pPr eaLnBrk="1" hangingPunct="1">
              <a:lnSpc>
                <a:spcPct val="80000"/>
              </a:lnSpc>
              <a:spcBef>
                <a:spcPct val="10000"/>
              </a:spcBef>
              <a:buFont typeface="Wingdings" panose="05000000000000000000" pitchFamily="2" charset="2"/>
              <a:buNone/>
            </a:pPr>
            <a:r>
              <a:rPr lang="en-US" altLang="zh-CN" sz="2000"/>
              <a:t>424:	ADD #qsize, SP</a:t>
            </a:r>
          </a:p>
          <a:p>
            <a:pPr eaLnBrk="1" hangingPunct="1">
              <a:lnSpc>
                <a:spcPct val="80000"/>
              </a:lnSpc>
              <a:spcBef>
                <a:spcPct val="10000"/>
              </a:spcBef>
              <a:buFont typeface="Wingdings" panose="05000000000000000000" pitchFamily="2" charset="2"/>
              <a:buNone/>
            </a:pPr>
            <a:r>
              <a:rPr lang="en-US" altLang="zh-CN" sz="2000"/>
              <a:t>432:	MOV #448, *SP		/* </a:t>
            </a:r>
            <a:r>
              <a:rPr lang="zh-CN" altLang="en-US" sz="2000"/>
              <a:t>返回地址压栈 *</a:t>
            </a:r>
            <a:r>
              <a:rPr lang="en-US" altLang="zh-CN" sz="2000"/>
              <a:t>/</a:t>
            </a:r>
          </a:p>
          <a:p>
            <a:pPr eaLnBrk="1" hangingPunct="1">
              <a:lnSpc>
                <a:spcPct val="80000"/>
              </a:lnSpc>
              <a:spcBef>
                <a:spcPct val="10000"/>
              </a:spcBef>
              <a:buFont typeface="Wingdings" panose="05000000000000000000" pitchFamily="2" charset="2"/>
              <a:buNone/>
            </a:pPr>
            <a:r>
              <a:rPr lang="en-US" altLang="zh-CN" sz="2000"/>
              <a:t>440:	GOTO 300		/* call q */</a:t>
            </a:r>
          </a:p>
          <a:p>
            <a:pPr eaLnBrk="1" hangingPunct="1">
              <a:lnSpc>
                <a:spcPct val="80000"/>
              </a:lnSpc>
              <a:spcBef>
                <a:spcPct val="10000"/>
              </a:spcBef>
              <a:buFont typeface="Wingdings" panose="05000000000000000000" pitchFamily="2" charset="2"/>
              <a:buNone/>
            </a:pPr>
            <a:r>
              <a:rPr lang="en-US" altLang="zh-CN" sz="2000"/>
              <a:t>448:	SUB #qsize, SP</a:t>
            </a:r>
          </a:p>
          <a:p>
            <a:pPr eaLnBrk="1" hangingPunct="1">
              <a:lnSpc>
                <a:spcPct val="80000"/>
              </a:lnSpc>
              <a:spcBef>
                <a:spcPct val="10000"/>
              </a:spcBef>
              <a:buFont typeface="Wingdings" panose="05000000000000000000" pitchFamily="2" charset="2"/>
              <a:buNone/>
            </a:pPr>
            <a:r>
              <a:rPr lang="en-US" altLang="zh-CN" sz="2000"/>
              <a:t>456:	GOTO *0(SP)		/* return */</a:t>
            </a:r>
          </a:p>
          <a:p>
            <a:pPr eaLnBrk="1" hangingPunct="1">
              <a:lnSpc>
                <a:spcPct val="80000"/>
              </a:lnSpc>
              <a:spcBef>
                <a:spcPct val="10000"/>
              </a:spcBef>
              <a:buFont typeface="Wingdings" panose="05000000000000000000" pitchFamily="2" charset="2"/>
              <a:buNone/>
            </a:pPr>
            <a:r>
              <a:rPr lang="en-US" altLang="zh-CN" sz="2000"/>
              <a:t>		…</a:t>
            </a:r>
          </a:p>
          <a:p>
            <a:pPr eaLnBrk="1" hangingPunct="1">
              <a:lnSpc>
                <a:spcPct val="80000"/>
              </a:lnSpc>
              <a:spcBef>
                <a:spcPct val="10000"/>
              </a:spcBef>
              <a:buFont typeface="Wingdings" panose="05000000000000000000" pitchFamily="2" charset="2"/>
              <a:buNone/>
            </a:pPr>
            <a:r>
              <a:rPr lang="en-US" altLang="zh-CN" sz="2000"/>
              <a:t>600: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>
            <a:extLst>
              <a:ext uri="{FF2B5EF4-FFF2-40B4-BE49-F238E27FC236}">
                <a16:creationId xmlns:a16="http://schemas.microsoft.com/office/drawing/2014/main" id="{47A82A2A-5CAE-4F4D-B480-74DBC96A000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9.3.3  </a:t>
            </a:r>
            <a:r>
              <a:rPr lang="zh-CN" altLang="en-US"/>
              <a:t>运行时名字的地址</a:t>
            </a:r>
          </a:p>
        </p:txBody>
      </p:sp>
      <p:sp>
        <p:nvSpPr>
          <p:cNvPr id="25603" name="Rectangle 3">
            <a:extLst>
              <a:ext uri="{FF2B5EF4-FFF2-40B4-BE49-F238E27FC236}">
                <a16:creationId xmlns:a16="http://schemas.microsoft.com/office/drawing/2014/main" id="{13BDDA27-547A-43FF-9E60-69E6F07DA5A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x := 0</a:t>
            </a:r>
          </a:p>
          <a:p>
            <a:pPr lvl="1" eaLnBrk="1" hangingPunct="1"/>
            <a:r>
              <a:rPr lang="zh-CN" altLang="en-US"/>
              <a:t>相对地址</a:t>
            </a:r>
            <a:r>
              <a:rPr lang="en-US" altLang="zh-CN"/>
              <a:t>12</a:t>
            </a:r>
          </a:p>
          <a:p>
            <a:pPr lvl="1" eaLnBrk="1" hangingPunct="1"/>
            <a:r>
              <a:rPr lang="zh-CN" altLang="en-US"/>
              <a:t>位于静态分配区域，地址</a:t>
            </a:r>
            <a:r>
              <a:rPr lang="en-US" altLang="zh-CN"/>
              <a:t>static</a:t>
            </a:r>
          </a:p>
          <a:p>
            <a:pPr lvl="1" eaLnBrk="1" hangingPunct="1"/>
            <a:r>
              <a:rPr lang="en-US" altLang="zh-CN"/>
              <a:t>static[12] := 0</a:t>
            </a:r>
          </a:p>
          <a:p>
            <a:pPr lvl="1" eaLnBrk="1" hangingPunct="1"/>
            <a:r>
              <a:rPr lang="en-US" altLang="zh-CN"/>
              <a:t>static = 100 </a:t>
            </a:r>
            <a:r>
              <a:rPr lang="en-US" altLang="zh-CN">
                <a:sym typeface="Wingdings" panose="05000000000000000000" pitchFamily="2" charset="2"/>
              </a:rPr>
              <a:t> MOV #0, 112</a:t>
            </a:r>
          </a:p>
          <a:p>
            <a:pPr lvl="1" eaLnBrk="1" hangingPunct="1"/>
            <a:r>
              <a:rPr lang="en-US" altLang="zh-CN">
                <a:sym typeface="Wingdings" panose="05000000000000000000" pitchFamily="2" charset="2"/>
              </a:rPr>
              <a:t>display</a:t>
            </a:r>
            <a:r>
              <a:rPr lang="zh-CN" altLang="en-US">
                <a:sym typeface="Wingdings" panose="05000000000000000000" pitchFamily="2" charset="2"/>
              </a:rPr>
              <a:t>方式，地址在寄存器</a:t>
            </a:r>
            <a:r>
              <a:rPr lang="en-US" altLang="zh-CN">
                <a:sym typeface="Wingdings" panose="05000000000000000000" pitchFamily="2" charset="2"/>
              </a:rPr>
              <a:t>R3</a:t>
            </a:r>
            <a:r>
              <a:rPr lang="zh-CN" altLang="en-US">
                <a:sym typeface="Wingdings" panose="05000000000000000000" pitchFamily="2" charset="2"/>
              </a:rPr>
              <a:t>中</a:t>
            </a:r>
          </a:p>
          <a:p>
            <a:pPr lvl="2" eaLnBrk="1" hangingPunct="1"/>
            <a:r>
              <a:rPr lang="en-US" altLang="zh-CN"/>
              <a:t>t</a:t>
            </a:r>
            <a:r>
              <a:rPr lang="en-US" altLang="zh-CN" baseline="-25000"/>
              <a:t>1</a:t>
            </a:r>
            <a:r>
              <a:rPr lang="en-US" altLang="zh-CN"/>
              <a:t> := 12 + R3</a:t>
            </a:r>
            <a:br>
              <a:rPr lang="en-US" altLang="zh-CN"/>
            </a:br>
            <a:r>
              <a:rPr lang="en-US" altLang="zh-CN"/>
              <a:t>*t</a:t>
            </a:r>
            <a:r>
              <a:rPr lang="en-US" altLang="zh-CN" baseline="-25000"/>
              <a:t>1</a:t>
            </a:r>
            <a:r>
              <a:rPr lang="en-US" altLang="zh-CN"/>
              <a:t> := 0</a:t>
            </a:r>
          </a:p>
          <a:p>
            <a:pPr lvl="2" eaLnBrk="1" hangingPunct="1"/>
            <a:r>
              <a:rPr lang="en-US" altLang="zh-CN"/>
              <a:t>MOV #0, 12(R3)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Rectangle 2">
            <a:extLst>
              <a:ext uri="{FF2B5EF4-FFF2-40B4-BE49-F238E27FC236}">
                <a16:creationId xmlns:a16="http://schemas.microsoft.com/office/drawing/2014/main" id="{ED43B984-28AB-4FB4-8BE1-73E0B3A8C2D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9.6  </a:t>
            </a:r>
            <a:r>
              <a:rPr lang="zh-CN" altLang="en-US"/>
              <a:t>一个简单的代码生成器</a:t>
            </a:r>
          </a:p>
        </p:txBody>
      </p:sp>
      <p:sp>
        <p:nvSpPr>
          <p:cNvPr id="44035" name="Rectangle 3">
            <a:extLst>
              <a:ext uri="{FF2B5EF4-FFF2-40B4-BE49-F238E27FC236}">
                <a16:creationId xmlns:a16="http://schemas.microsoft.com/office/drawing/2014/main" id="{9596E57C-7982-4080-9128-1074A008766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marL="609600" indent="-609600" eaLnBrk="1" hangingPunct="1"/>
            <a:r>
              <a:rPr lang="zh-CN" altLang="en-US" sz="2800" dirty="0"/>
              <a:t>每个中间语言指令</a:t>
            </a:r>
            <a:r>
              <a:rPr lang="zh-CN" altLang="en-US" sz="2800" dirty="0">
                <a:sym typeface="Wingdings" panose="05000000000000000000" pitchFamily="2" charset="2"/>
              </a:rPr>
              <a:t>目标语言指令</a:t>
            </a:r>
          </a:p>
          <a:p>
            <a:pPr marL="609600" indent="-609600" eaLnBrk="1" hangingPunct="1"/>
            <a:r>
              <a:rPr lang="zh-CN" altLang="en-US" sz="2800" dirty="0">
                <a:sym typeface="Wingdings" panose="05000000000000000000" pitchFamily="2" charset="2"/>
              </a:rPr>
              <a:t>计算结果尽量保存在寄存器，除非</a:t>
            </a:r>
          </a:p>
          <a:p>
            <a:pPr marL="990600" lvl="1" indent="-533400" eaLnBrk="1" hangingPunct="1">
              <a:buFont typeface="Wingdings" panose="05000000000000000000" pitchFamily="2" charset="2"/>
              <a:buAutoNum type="alphaLcParenR"/>
            </a:pPr>
            <a:r>
              <a:rPr lang="zh-CN" altLang="en-US" sz="2400" dirty="0"/>
              <a:t>需要用寄存器进行其他计算</a:t>
            </a:r>
          </a:p>
          <a:p>
            <a:pPr marL="990600" lvl="1" indent="-533400" eaLnBrk="1" hangingPunct="1">
              <a:buFont typeface="Wingdings" panose="05000000000000000000" pitchFamily="2" charset="2"/>
              <a:buAutoNum type="alphaLcParenR"/>
            </a:pPr>
            <a:r>
              <a:rPr lang="zh-CN" altLang="en-US" sz="2400" dirty="0"/>
              <a:t>下面语句是函数调用、转移或标号</a:t>
            </a:r>
            <a:br>
              <a:rPr lang="zh-CN" altLang="en-US" sz="2400" dirty="0"/>
            </a:br>
            <a:r>
              <a:rPr lang="zh-CN" altLang="en-US" sz="2400" dirty="0"/>
              <a:t>基本块结束！</a:t>
            </a:r>
          </a:p>
          <a:p>
            <a:pPr marL="609600" indent="-609600" eaLnBrk="1" hangingPunct="1"/>
            <a:r>
              <a:rPr lang="en-US" altLang="zh-CN" sz="2800" dirty="0"/>
              <a:t>a := b + c</a:t>
            </a:r>
          </a:p>
          <a:p>
            <a:pPr marL="990600" lvl="1" indent="-533400" eaLnBrk="1" hangingPunct="1"/>
            <a:r>
              <a:rPr lang="en-US" altLang="zh-CN" sz="2400" dirty="0"/>
              <a:t>Ri=b, </a:t>
            </a:r>
            <a:r>
              <a:rPr lang="en-US" altLang="zh-CN" sz="2400" dirty="0" err="1"/>
              <a:t>Rj</a:t>
            </a:r>
            <a:r>
              <a:rPr lang="en-US" altLang="zh-CN" sz="2400" dirty="0"/>
              <a:t>=c </a:t>
            </a:r>
            <a:r>
              <a:rPr lang="en-US" altLang="zh-CN" sz="2400" dirty="0">
                <a:sym typeface="Wingdings" panose="05000000000000000000" pitchFamily="2" charset="2"/>
              </a:rPr>
              <a:t> ADD </a:t>
            </a:r>
            <a:r>
              <a:rPr lang="en-US" altLang="zh-CN" sz="2400" dirty="0" err="1">
                <a:sym typeface="Wingdings" panose="05000000000000000000" pitchFamily="2" charset="2"/>
              </a:rPr>
              <a:t>Rj</a:t>
            </a:r>
            <a:r>
              <a:rPr lang="en-US" altLang="zh-CN" sz="2400" dirty="0">
                <a:sym typeface="Wingdings" panose="05000000000000000000" pitchFamily="2" charset="2"/>
              </a:rPr>
              <a:t>, Ri——</a:t>
            </a:r>
            <a:r>
              <a:rPr lang="zh-CN" altLang="en-US" sz="2400" dirty="0">
                <a:sym typeface="Wingdings" panose="05000000000000000000" pitchFamily="2" charset="2"/>
              </a:rPr>
              <a:t>开销</a:t>
            </a:r>
            <a:r>
              <a:rPr lang="en-US" altLang="zh-CN" sz="2400" dirty="0">
                <a:sym typeface="Wingdings" panose="05000000000000000000" pitchFamily="2" charset="2"/>
              </a:rPr>
              <a:t>1</a:t>
            </a:r>
          </a:p>
          <a:p>
            <a:pPr marL="990600" lvl="1" indent="-533400" eaLnBrk="1" hangingPunct="1"/>
            <a:r>
              <a:rPr lang="en-US" altLang="zh-CN" sz="2400" dirty="0">
                <a:sym typeface="Wingdings" panose="05000000000000000000" pitchFamily="2" charset="2"/>
              </a:rPr>
              <a:t>Ri=b    ADD c, Ri——</a:t>
            </a:r>
            <a:r>
              <a:rPr lang="zh-CN" altLang="en-US" sz="2400" dirty="0">
                <a:sym typeface="Wingdings" panose="05000000000000000000" pitchFamily="2" charset="2"/>
              </a:rPr>
              <a:t>开销</a:t>
            </a:r>
            <a:r>
              <a:rPr lang="en-US" altLang="zh-CN" sz="2400" dirty="0">
                <a:sym typeface="Wingdings" panose="05000000000000000000" pitchFamily="2" charset="2"/>
              </a:rPr>
              <a:t>2</a:t>
            </a:r>
          </a:p>
          <a:p>
            <a:pPr marL="990600" lvl="1" indent="-533400" eaLnBrk="1" hangingPunct="1"/>
            <a:r>
              <a:rPr lang="zh-CN" altLang="en-US" sz="2400" dirty="0">
                <a:sym typeface="Wingdings" panose="05000000000000000000" pitchFamily="2" charset="2"/>
              </a:rPr>
              <a:t>或   </a:t>
            </a:r>
            <a:r>
              <a:rPr lang="en-US" altLang="zh-CN" sz="2400" dirty="0">
                <a:sym typeface="Wingdings" panose="05000000000000000000" pitchFamily="2" charset="2"/>
              </a:rPr>
              <a:t>MOV c, </a:t>
            </a:r>
            <a:r>
              <a:rPr lang="en-US" altLang="zh-CN" sz="2400" dirty="0" err="1">
                <a:sym typeface="Wingdings" panose="05000000000000000000" pitchFamily="2" charset="2"/>
              </a:rPr>
              <a:t>Rj</a:t>
            </a:r>
            <a:r>
              <a:rPr lang="en-US" altLang="zh-CN" sz="2400" dirty="0">
                <a:sym typeface="Wingdings" panose="05000000000000000000" pitchFamily="2" charset="2"/>
              </a:rPr>
              <a:t>	ADD </a:t>
            </a:r>
            <a:r>
              <a:rPr lang="en-US" altLang="zh-CN" sz="2400" dirty="0" err="1">
                <a:sym typeface="Wingdings" panose="05000000000000000000" pitchFamily="2" charset="2"/>
              </a:rPr>
              <a:t>Rj</a:t>
            </a:r>
            <a:r>
              <a:rPr lang="en-US" altLang="zh-CN" sz="2400" dirty="0">
                <a:sym typeface="Wingdings" panose="05000000000000000000" pitchFamily="2" charset="2"/>
              </a:rPr>
              <a:t>, Ri——</a:t>
            </a:r>
            <a:r>
              <a:rPr lang="zh-CN" altLang="en-US" sz="2400" dirty="0">
                <a:sym typeface="Wingdings" panose="05000000000000000000" pitchFamily="2" charset="2"/>
              </a:rPr>
              <a:t>开销</a:t>
            </a:r>
            <a:r>
              <a:rPr lang="en-US" altLang="zh-CN" sz="2400" dirty="0">
                <a:sym typeface="Wingdings" panose="05000000000000000000" pitchFamily="2" charset="2"/>
              </a:rPr>
              <a:t>3</a:t>
            </a:r>
            <a:endParaRPr lang="en-US" altLang="zh-CN" sz="24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2">
            <a:extLst>
              <a:ext uri="{FF2B5EF4-FFF2-40B4-BE49-F238E27FC236}">
                <a16:creationId xmlns:a16="http://schemas.microsoft.com/office/drawing/2014/main" id="{BA93BE9E-8E7B-4DE6-8A13-190FDA2EEF7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sz="4000"/>
              <a:t>9.6.1  </a:t>
            </a:r>
            <a:r>
              <a:rPr lang="zh-CN" altLang="en-US" sz="4000"/>
              <a:t>寄存器描述符和地址描述符</a:t>
            </a:r>
          </a:p>
        </p:txBody>
      </p:sp>
      <p:sp>
        <p:nvSpPr>
          <p:cNvPr id="45059" name="Rectangle 3">
            <a:extLst>
              <a:ext uri="{FF2B5EF4-FFF2-40B4-BE49-F238E27FC236}">
                <a16:creationId xmlns:a16="http://schemas.microsoft.com/office/drawing/2014/main" id="{111F48B6-1979-4170-BE89-C077DF4DA64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182688" y="1371600"/>
            <a:ext cx="7772400" cy="5181600"/>
          </a:xfrm>
        </p:spPr>
        <p:txBody>
          <a:bodyPr/>
          <a:lstStyle/>
          <a:p>
            <a:pPr marL="609600" indent="-609600" eaLnBrk="1" hangingPunct="1"/>
            <a:r>
              <a:rPr lang="zh-CN" altLang="en-US" sz="2800"/>
              <a:t>代码生成程序用来保存寄存器内容和名字的地址</a:t>
            </a:r>
          </a:p>
          <a:p>
            <a:pPr marL="990600" lvl="1" indent="-533400" eaLnBrk="1" hangingPunct="1">
              <a:buFont typeface="Wingdings" panose="05000000000000000000" pitchFamily="2" charset="2"/>
              <a:buAutoNum type="arabicPeriod"/>
            </a:pPr>
            <a:r>
              <a:rPr lang="zh-CN" altLang="en-US" sz="2400"/>
              <a:t>寄存器描述符：</a:t>
            </a:r>
            <a:br>
              <a:rPr lang="zh-CN" altLang="en-US" sz="2400"/>
            </a:br>
            <a:r>
              <a:rPr lang="zh-CN" altLang="en-US" sz="2400"/>
              <a:t>当前每个寄存器内容，分配新寄存器时用</a:t>
            </a:r>
            <a:br>
              <a:rPr lang="zh-CN" altLang="en-US" sz="2400"/>
            </a:br>
            <a:r>
              <a:rPr lang="zh-CN" altLang="en-US" sz="2400"/>
              <a:t>初始：所有寄存器均空</a:t>
            </a:r>
            <a:br>
              <a:rPr lang="zh-CN" altLang="en-US" sz="2400"/>
            </a:br>
            <a:r>
              <a:rPr lang="zh-CN" altLang="en-US" sz="2400"/>
              <a:t>代码生成过程中：保存</a:t>
            </a:r>
            <a:r>
              <a:rPr lang="en-US" altLang="zh-CN" sz="2400"/>
              <a:t>0</a:t>
            </a:r>
            <a:r>
              <a:rPr lang="zh-CN" altLang="en-US" sz="2400"/>
              <a:t>个或多个名字值</a:t>
            </a:r>
          </a:p>
          <a:p>
            <a:pPr marL="990600" lvl="1" indent="-533400" eaLnBrk="1" hangingPunct="1">
              <a:buFont typeface="Wingdings" panose="05000000000000000000" pitchFamily="2" charset="2"/>
              <a:buAutoNum type="arabicPeriod"/>
            </a:pPr>
            <a:r>
              <a:rPr lang="zh-CN" altLang="en-US" sz="2400"/>
              <a:t>地址描述符：</a:t>
            </a:r>
            <a:br>
              <a:rPr lang="zh-CN" altLang="en-US" sz="2400"/>
            </a:br>
            <a:r>
              <a:rPr lang="zh-CN" altLang="en-US" sz="2400"/>
              <a:t>名字的当前值保存在何处？</a:t>
            </a:r>
            <a:br>
              <a:rPr lang="zh-CN" altLang="en-US" sz="2400"/>
            </a:br>
            <a:r>
              <a:rPr lang="zh-CN" altLang="en-US" sz="2400"/>
              <a:t>寄存器、栈位置或是内存地址</a:t>
            </a:r>
            <a:br>
              <a:rPr lang="zh-CN" altLang="en-US" sz="2400"/>
            </a:br>
            <a:r>
              <a:rPr lang="zh-CN" altLang="en-US" sz="2400"/>
              <a:t>可能在多个位置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Rectangle 2">
            <a:extLst>
              <a:ext uri="{FF2B5EF4-FFF2-40B4-BE49-F238E27FC236}">
                <a16:creationId xmlns:a16="http://schemas.microsoft.com/office/drawing/2014/main" id="{5E3560A1-9A12-4697-9175-E88BB0D944D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9.6.2  </a:t>
            </a:r>
            <a:r>
              <a:rPr lang="zh-CN" altLang="en-US"/>
              <a:t>代码生成算法</a:t>
            </a:r>
          </a:p>
        </p:txBody>
      </p:sp>
      <p:sp>
        <p:nvSpPr>
          <p:cNvPr id="46083" name="Rectangle 3">
            <a:extLst>
              <a:ext uri="{FF2B5EF4-FFF2-40B4-BE49-F238E27FC236}">
                <a16:creationId xmlns:a16="http://schemas.microsoft.com/office/drawing/2014/main" id="{A14421E8-BF6F-4A72-A971-F9FA13B3CF1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182688" y="1371600"/>
            <a:ext cx="7772400" cy="5029200"/>
          </a:xfrm>
        </p:spPr>
        <p:txBody>
          <a:bodyPr/>
          <a:lstStyle/>
          <a:p>
            <a:pPr marL="609600" indent="-609600" eaLnBrk="1" hangingPunct="1"/>
            <a:r>
              <a:rPr lang="zh-CN" altLang="en-US" sz="2800"/>
              <a:t>输入：基本块，对每个语句</a:t>
            </a:r>
            <a:r>
              <a:rPr lang="en-US" altLang="zh-CN" sz="2800"/>
              <a:t>x := y op z</a:t>
            </a:r>
            <a:r>
              <a:rPr lang="zh-CN" altLang="en-US" sz="2800"/>
              <a:t>：</a:t>
            </a:r>
          </a:p>
          <a:p>
            <a:pPr marL="990600" lvl="1" indent="-533400" eaLnBrk="1" hangingPunct="1">
              <a:buFont typeface="Wingdings" panose="05000000000000000000" pitchFamily="2" charset="2"/>
              <a:buAutoNum type="arabicPeriod"/>
            </a:pPr>
            <a:r>
              <a:rPr lang="zh-CN" altLang="en-US" sz="2400"/>
              <a:t>为计算结果分配位置</a:t>
            </a:r>
            <a:r>
              <a:rPr lang="en-US" altLang="zh-CN" sz="2400"/>
              <a:t>L——getreg</a:t>
            </a:r>
          </a:p>
          <a:p>
            <a:pPr marL="990600" lvl="1" indent="-533400" eaLnBrk="1" hangingPunct="1">
              <a:buFont typeface="Wingdings" panose="05000000000000000000" pitchFamily="2" charset="2"/>
              <a:buAutoNum type="arabicPeriod"/>
            </a:pPr>
            <a:r>
              <a:rPr lang="zh-CN" altLang="en-US" sz="2400"/>
              <a:t>提取</a:t>
            </a:r>
            <a:r>
              <a:rPr lang="en-US" altLang="zh-CN" sz="2400"/>
              <a:t>y</a:t>
            </a:r>
            <a:r>
              <a:rPr lang="zh-CN" altLang="en-US" sz="2400"/>
              <a:t>的值</a:t>
            </a:r>
          </a:p>
          <a:p>
            <a:pPr marL="1371600" lvl="2" indent="-457200" eaLnBrk="1" hangingPunct="1"/>
            <a:r>
              <a:rPr lang="zh-CN" altLang="en-US" sz="2000"/>
              <a:t>查询</a:t>
            </a:r>
            <a:r>
              <a:rPr lang="en-US" altLang="zh-CN" sz="2000"/>
              <a:t>y</a:t>
            </a:r>
            <a:r>
              <a:rPr lang="zh-CN" altLang="en-US" sz="2000"/>
              <a:t>的位置</a:t>
            </a:r>
            <a:r>
              <a:rPr lang="en-US" altLang="zh-CN" sz="2000"/>
              <a:t>y’——</a:t>
            </a:r>
            <a:r>
              <a:rPr lang="zh-CN" altLang="en-US" sz="2000"/>
              <a:t>地址描述符，寄存器优先</a:t>
            </a:r>
          </a:p>
          <a:p>
            <a:pPr marL="1371600" lvl="2" indent="-457200" eaLnBrk="1" hangingPunct="1"/>
            <a:r>
              <a:rPr lang="en-US" altLang="zh-CN" sz="2000"/>
              <a:t>y’&lt;&gt;L——MOV y’, L</a:t>
            </a:r>
          </a:p>
          <a:p>
            <a:pPr marL="990600" lvl="1" indent="-533400" eaLnBrk="1" hangingPunct="1">
              <a:buFont typeface="Wingdings" panose="05000000000000000000" pitchFamily="2" charset="2"/>
              <a:buAutoNum type="arabicPeriod"/>
            </a:pPr>
            <a:r>
              <a:rPr lang="zh-CN" altLang="en-US" sz="2400"/>
              <a:t>生成计算指令</a:t>
            </a:r>
          </a:p>
          <a:p>
            <a:pPr marL="1371600" lvl="2" indent="-457200" eaLnBrk="1" hangingPunct="1"/>
            <a:r>
              <a:rPr lang="zh-CN" altLang="en-US" sz="2000"/>
              <a:t>查询</a:t>
            </a:r>
            <a:r>
              <a:rPr lang="en-US" altLang="zh-CN" sz="2000"/>
              <a:t>z</a:t>
            </a:r>
            <a:r>
              <a:rPr lang="zh-CN" altLang="en-US" sz="2000"/>
              <a:t>的位置</a:t>
            </a:r>
            <a:r>
              <a:rPr lang="en-US" altLang="zh-CN" sz="2000"/>
              <a:t>z’</a:t>
            </a:r>
          </a:p>
          <a:p>
            <a:pPr marL="1371600" lvl="2" indent="-457200" eaLnBrk="1" hangingPunct="1"/>
            <a:r>
              <a:rPr lang="en-US" altLang="zh-CN" sz="2000"/>
              <a:t>OP z’, L</a:t>
            </a:r>
          </a:p>
          <a:p>
            <a:pPr marL="1371600" lvl="2" indent="-457200" eaLnBrk="1" hangingPunct="1"/>
            <a:r>
              <a:rPr lang="zh-CN" altLang="en-US" sz="2000"/>
              <a:t>更新</a:t>
            </a:r>
            <a:r>
              <a:rPr lang="en-US" altLang="zh-CN" sz="2000"/>
              <a:t>x</a:t>
            </a:r>
            <a:r>
              <a:rPr lang="zh-CN" altLang="en-US" sz="2000"/>
              <a:t>的地址描述符和</a:t>
            </a:r>
            <a:r>
              <a:rPr lang="en-US" altLang="zh-CN" sz="2000"/>
              <a:t>L</a:t>
            </a:r>
            <a:r>
              <a:rPr lang="zh-CN" altLang="en-US" sz="2000"/>
              <a:t>的寄存器描述符</a:t>
            </a:r>
          </a:p>
          <a:p>
            <a:pPr marL="990600" lvl="1" indent="-533400" eaLnBrk="1" hangingPunct="1">
              <a:buFont typeface="Wingdings" panose="05000000000000000000" pitchFamily="2" charset="2"/>
              <a:buAutoNum type="arabicPeriod"/>
            </a:pPr>
            <a:r>
              <a:rPr lang="zh-CN" altLang="en-US" sz="2400"/>
              <a:t>若</a:t>
            </a:r>
            <a:r>
              <a:rPr lang="en-US" altLang="zh-CN" sz="2400"/>
              <a:t>y</a:t>
            </a:r>
            <a:r>
              <a:rPr lang="zh-CN" altLang="en-US" sz="2400"/>
              <a:t>、</a:t>
            </a:r>
            <a:r>
              <a:rPr lang="en-US" altLang="zh-CN" sz="2400"/>
              <a:t>z</a:t>
            </a:r>
            <a:r>
              <a:rPr lang="zh-CN" altLang="en-US" sz="2400"/>
              <a:t>不再被引用，从寄存器描述符删除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Rectangle 2">
            <a:extLst>
              <a:ext uri="{FF2B5EF4-FFF2-40B4-BE49-F238E27FC236}">
                <a16:creationId xmlns:a16="http://schemas.microsoft.com/office/drawing/2014/main" id="{E91472E1-D4BC-43C3-BFC0-80E26E3B082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特殊情况</a:t>
            </a:r>
          </a:p>
        </p:txBody>
      </p:sp>
      <p:sp>
        <p:nvSpPr>
          <p:cNvPr id="47107" name="Rectangle 3">
            <a:extLst>
              <a:ext uri="{FF2B5EF4-FFF2-40B4-BE49-F238E27FC236}">
                <a16:creationId xmlns:a16="http://schemas.microsoft.com/office/drawing/2014/main" id="{4A643A28-3661-49BA-ABFD-0BA8FA0311E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182688" y="1371600"/>
            <a:ext cx="7772400" cy="5257800"/>
          </a:xfrm>
        </p:spPr>
        <p:txBody>
          <a:bodyPr/>
          <a:lstStyle/>
          <a:p>
            <a:pPr eaLnBrk="1" hangingPunct="1"/>
            <a:r>
              <a:rPr lang="zh-CN" altLang="en-US"/>
              <a:t>一元运算：省略</a:t>
            </a:r>
            <a:r>
              <a:rPr lang="en-US" altLang="zh-CN"/>
              <a:t>z</a:t>
            </a:r>
            <a:r>
              <a:rPr lang="zh-CN" altLang="en-US"/>
              <a:t>的部分</a:t>
            </a:r>
          </a:p>
          <a:p>
            <a:pPr eaLnBrk="1" hangingPunct="1"/>
            <a:r>
              <a:rPr lang="en-US" altLang="zh-CN"/>
              <a:t>x := y</a:t>
            </a:r>
            <a:r>
              <a:rPr lang="zh-CN" altLang="en-US"/>
              <a:t>，根据</a:t>
            </a:r>
            <a:r>
              <a:rPr lang="en-US" altLang="zh-CN"/>
              <a:t>y</a:t>
            </a:r>
            <a:r>
              <a:rPr lang="zh-CN" altLang="en-US"/>
              <a:t>的位置</a:t>
            </a:r>
          </a:p>
          <a:p>
            <a:pPr lvl="1" eaLnBrk="1" hangingPunct="1"/>
            <a:r>
              <a:rPr lang="zh-CN" altLang="en-US"/>
              <a:t>寄存器</a:t>
            </a:r>
            <a:r>
              <a:rPr lang="en-US" altLang="zh-CN"/>
              <a:t>L</a:t>
            </a:r>
            <a:r>
              <a:rPr lang="zh-CN" altLang="en-US"/>
              <a:t>：修改寄存器描述符和地址描述符</a:t>
            </a:r>
            <a:r>
              <a:rPr lang="zh-CN" altLang="en-US">
                <a:sym typeface="Wingdings" panose="05000000000000000000" pitchFamily="2" charset="2"/>
              </a:rPr>
              <a:t></a:t>
            </a:r>
            <a:r>
              <a:rPr lang="en-US" altLang="zh-CN"/>
              <a:t>x</a:t>
            </a:r>
            <a:r>
              <a:rPr lang="zh-CN" altLang="en-US"/>
              <a:t>也（仅）在</a:t>
            </a:r>
            <a:r>
              <a:rPr lang="en-US" altLang="zh-CN"/>
              <a:t>L</a:t>
            </a:r>
            <a:r>
              <a:rPr lang="zh-CN" altLang="en-US"/>
              <a:t>中</a:t>
            </a:r>
            <a:endParaRPr lang="zh-CN" altLang="en-US">
              <a:sym typeface="Wingdings" panose="05000000000000000000" pitchFamily="2" charset="2"/>
            </a:endParaRPr>
          </a:p>
          <a:p>
            <a:pPr lvl="1" eaLnBrk="1" hangingPunct="1"/>
            <a:r>
              <a:rPr lang="zh-CN" altLang="en-US">
                <a:sym typeface="Wingdings" panose="05000000000000000000" pitchFamily="2" charset="2"/>
              </a:rPr>
              <a:t>内存：</a:t>
            </a:r>
            <a:r>
              <a:rPr lang="en-US" altLang="zh-CN">
                <a:sym typeface="Wingdings" panose="05000000000000000000" pitchFamily="2" charset="2"/>
              </a:rPr>
              <a:t>getreg</a:t>
            </a:r>
            <a:r>
              <a:rPr lang="zh-CN" altLang="en-US">
                <a:sym typeface="Wingdings" panose="05000000000000000000" pitchFamily="2" charset="2"/>
              </a:rPr>
              <a:t>，得到的寄存器保存</a:t>
            </a:r>
            <a:r>
              <a:rPr lang="en-US" altLang="zh-CN">
                <a:sym typeface="Wingdings" panose="05000000000000000000" pitchFamily="2" charset="2"/>
              </a:rPr>
              <a:t>x</a:t>
            </a:r>
            <a:r>
              <a:rPr lang="zh-CN" altLang="en-US">
                <a:sym typeface="Wingdings" panose="05000000000000000000" pitchFamily="2" charset="2"/>
              </a:rPr>
              <a:t>和</a:t>
            </a:r>
            <a:r>
              <a:rPr lang="en-US" altLang="zh-CN">
                <a:sym typeface="Wingdings" panose="05000000000000000000" pitchFamily="2" charset="2"/>
              </a:rPr>
              <a:t>y</a:t>
            </a:r>
          </a:p>
          <a:p>
            <a:pPr lvl="1" eaLnBrk="1" hangingPunct="1"/>
            <a:r>
              <a:rPr lang="en-US" altLang="zh-CN">
                <a:sym typeface="Wingdings" panose="05000000000000000000" pitchFamily="2" charset="2"/>
              </a:rPr>
              <a:t>x</a:t>
            </a:r>
            <a:r>
              <a:rPr lang="zh-CN" altLang="en-US">
                <a:sym typeface="Wingdings" panose="05000000000000000000" pitchFamily="2" charset="2"/>
              </a:rPr>
              <a:t>不再被引用：</a:t>
            </a:r>
            <a:r>
              <a:rPr lang="en-US" altLang="zh-CN">
                <a:sym typeface="Wingdings" panose="05000000000000000000" pitchFamily="2" charset="2"/>
              </a:rPr>
              <a:t>MOV y, x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Rectangle 2">
            <a:extLst>
              <a:ext uri="{FF2B5EF4-FFF2-40B4-BE49-F238E27FC236}">
                <a16:creationId xmlns:a16="http://schemas.microsoft.com/office/drawing/2014/main" id="{208DBF0C-578F-411C-A7C6-00A209733C3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特殊情况</a:t>
            </a:r>
          </a:p>
        </p:txBody>
      </p:sp>
      <p:sp>
        <p:nvSpPr>
          <p:cNvPr id="48131" name="Rectangle 3">
            <a:extLst>
              <a:ext uri="{FF2B5EF4-FFF2-40B4-BE49-F238E27FC236}">
                <a16:creationId xmlns:a16="http://schemas.microsoft.com/office/drawing/2014/main" id="{7D74F2DE-2319-4501-9432-61B522AB195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182688" y="1371600"/>
            <a:ext cx="7772400" cy="5257800"/>
          </a:xfrm>
        </p:spPr>
        <p:txBody>
          <a:bodyPr/>
          <a:lstStyle/>
          <a:p>
            <a:pPr eaLnBrk="1" hangingPunct="1"/>
            <a:r>
              <a:rPr lang="zh-CN" altLang="en-US" dirty="0">
                <a:sym typeface="Wingdings" panose="05000000000000000000" pitchFamily="2" charset="2"/>
              </a:rPr>
              <a:t>基本块出口，将活跃名字值存入内存</a:t>
            </a:r>
          </a:p>
          <a:p>
            <a:pPr lvl="1" eaLnBrk="1" hangingPunct="1"/>
            <a:r>
              <a:rPr lang="zh-CN" altLang="en-US" dirty="0"/>
              <a:t>寄存器描述符</a:t>
            </a:r>
            <a:r>
              <a:rPr lang="zh-CN" altLang="en-US" dirty="0">
                <a:sym typeface="Wingdings" panose="05000000000000000000" pitchFamily="2" charset="2"/>
              </a:rPr>
              <a:t>哪些名字保存在寄存器中</a:t>
            </a:r>
          </a:p>
          <a:p>
            <a:pPr lvl="1" eaLnBrk="1" hangingPunct="1"/>
            <a:r>
              <a:rPr lang="zh-CN" altLang="en-US" dirty="0">
                <a:sym typeface="Wingdings" panose="05000000000000000000" pitchFamily="2" charset="2"/>
              </a:rPr>
              <a:t>地址描述符名字对应的内存地址</a:t>
            </a:r>
          </a:p>
          <a:p>
            <a:pPr lvl="1" eaLnBrk="1" hangingPunct="1"/>
            <a:r>
              <a:rPr lang="zh-CN" altLang="en-US" dirty="0"/>
              <a:t>活跃信息</a:t>
            </a:r>
            <a:r>
              <a:rPr lang="zh-CN" altLang="en-US" dirty="0">
                <a:sym typeface="Wingdings" panose="05000000000000000000" pitchFamily="2" charset="2"/>
              </a:rPr>
              <a:t>是否需要保存到内存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Rectangle 2">
            <a:extLst>
              <a:ext uri="{FF2B5EF4-FFF2-40B4-BE49-F238E27FC236}">
                <a16:creationId xmlns:a16="http://schemas.microsoft.com/office/drawing/2014/main" id="{F7F5A9E7-C37C-4EF8-8A2C-882761269AD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9.6.3  getreg</a:t>
            </a:r>
            <a:r>
              <a:rPr lang="zh-CN" altLang="en-US"/>
              <a:t>算法</a:t>
            </a:r>
          </a:p>
        </p:txBody>
      </p:sp>
      <p:sp>
        <p:nvSpPr>
          <p:cNvPr id="49155" name="Rectangle 3">
            <a:extLst>
              <a:ext uri="{FF2B5EF4-FFF2-40B4-BE49-F238E27FC236}">
                <a16:creationId xmlns:a16="http://schemas.microsoft.com/office/drawing/2014/main" id="{FBB6C52B-5566-4CB0-914F-42441216868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182688" y="1371600"/>
            <a:ext cx="7772400" cy="5334000"/>
          </a:xfrm>
        </p:spPr>
        <p:txBody>
          <a:bodyPr/>
          <a:lstStyle/>
          <a:p>
            <a:pPr marL="609600" indent="-609600" eaLnBrk="1" hangingPunct="1"/>
            <a:r>
              <a:rPr lang="en-US" altLang="zh-CN" sz="2800"/>
              <a:t>x:=y op z</a:t>
            </a:r>
            <a:r>
              <a:rPr lang="zh-CN" altLang="en-US" sz="2800"/>
              <a:t>，为</a:t>
            </a:r>
            <a:r>
              <a:rPr lang="en-US" altLang="zh-CN" sz="2800"/>
              <a:t>x</a:t>
            </a:r>
            <a:r>
              <a:rPr lang="zh-CN" altLang="en-US" sz="2800"/>
              <a:t>分配位置</a:t>
            </a:r>
            <a:r>
              <a:rPr lang="en-US" altLang="zh-CN" sz="2800"/>
              <a:t>L</a:t>
            </a:r>
            <a:r>
              <a:rPr lang="zh-CN" altLang="en-US" sz="2800"/>
              <a:t>，效率高</a:t>
            </a:r>
            <a:r>
              <a:rPr lang="zh-CN" altLang="en-US" sz="2800">
                <a:sym typeface="Wingdings" panose="05000000000000000000" pitchFamily="2" charset="2"/>
              </a:rPr>
              <a:t>低</a:t>
            </a:r>
            <a:endParaRPr lang="zh-CN" altLang="en-US" sz="2800"/>
          </a:p>
          <a:p>
            <a:pPr marL="990600" lvl="1" indent="-533400" eaLnBrk="1" hangingPunct="1">
              <a:buFont typeface="Wingdings" panose="05000000000000000000" pitchFamily="2" charset="2"/>
              <a:buAutoNum type="arabicPeriod"/>
            </a:pPr>
            <a:r>
              <a:rPr lang="zh-CN" altLang="en-US" sz="2400"/>
              <a:t>与</a:t>
            </a:r>
            <a:r>
              <a:rPr lang="en-US" altLang="zh-CN" sz="2400"/>
              <a:t>y</a:t>
            </a:r>
            <a:r>
              <a:rPr lang="zh-CN" altLang="en-US" sz="2400"/>
              <a:t>占用相同寄存器</a:t>
            </a:r>
          </a:p>
          <a:p>
            <a:pPr marL="1371600" lvl="2" indent="-457200" eaLnBrk="1" hangingPunct="1"/>
            <a:r>
              <a:rPr lang="en-US" altLang="zh-CN" sz="2000"/>
              <a:t>y</a:t>
            </a:r>
            <a:r>
              <a:rPr lang="zh-CN" altLang="en-US" sz="2000"/>
              <a:t>的寄存器</a:t>
            </a:r>
            <a:r>
              <a:rPr lang="en-US" altLang="zh-CN" sz="2000"/>
              <a:t>r</a:t>
            </a:r>
            <a:r>
              <a:rPr lang="zh-CN" altLang="en-US" sz="2000"/>
              <a:t>不包含其他名字</a:t>
            </a:r>
          </a:p>
          <a:p>
            <a:pPr marL="1371600" lvl="2" indent="-457200" eaLnBrk="1" hangingPunct="1"/>
            <a:r>
              <a:rPr lang="en-US" altLang="zh-CN" sz="2000"/>
              <a:t>y</a:t>
            </a:r>
            <a:r>
              <a:rPr lang="zh-CN" altLang="en-US" sz="2000"/>
              <a:t>不再活跃、不再被引用</a:t>
            </a:r>
          </a:p>
          <a:p>
            <a:pPr marL="990600" lvl="1" indent="-533400" eaLnBrk="1" hangingPunct="1">
              <a:buFont typeface="Wingdings" panose="05000000000000000000" pitchFamily="2" charset="2"/>
              <a:buAutoNum type="arabicPeriod"/>
            </a:pPr>
            <a:r>
              <a:rPr lang="en-US" altLang="zh-CN" sz="2400"/>
              <a:t>1</a:t>
            </a:r>
            <a:r>
              <a:rPr lang="zh-CN" altLang="en-US" sz="2400"/>
              <a:t>）失败，寻找一个空寄存器</a:t>
            </a:r>
          </a:p>
          <a:p>
            <a:pPr marL="990600" lvl="1" indent="-533400" eaLnBrk="1" hangingPunct="1">
              <a:buFont typeface="Wingdings" panose="05000000000000000000" pitchFamily="2" charset="2"/>
              <a:buAutoNum type="arabicPeriod"/>
            </a:pPr>
            <a:r>
              <a:rPr lang="en-US" altLang="zh-CN" sz="2400"/>
              <a:t>2</a:t>
            </a:r>
            <a:r>
              <a:rPr lang="zh-CN" altLang="en-US" sz="2400"/>
              <a:t>）失败，寄存器替换</a:t>
            </a:r>
          </a:p>
          <a:p>
            <a:pPr marL="1371600" lvl="2" indent="-457200" eaLnBrk="1" hangingPunct="1"/>
            <a:r>
              <a:rPr lang="en-US" altLang="zh-CN" sz="2000"/>
              <a:t>x</a:t>
            </a:r>
            <a:r>
              <a:rPr lang="zh-CN" altLang="en-US" sz="2000"/>
              <a:t>还会被引用，或</a:t>
            </a:r>
            <a:r>
              <a:rPr lang="en-US" altLang="zh-CN" sz="2000"/>
              <a:t>op</a:t>
            </a:r>
            <a:r>
              <a:rPr lang="zh-CN" altLang="en-US" sz="2000"/>
              <a:t>操作需要使用寄存器</a:t>
            </a:r>
            <a:r>
              <a:rPr lang="en-US" altLang="zh-CN" sz="2000"/>
              <a:t>——</a:t>
            </a:r>
            <a:r>
              <a:rPr lang="zh-CN" altLang="en-US" sz="2000"/>
              <a:t>数组索引</a:t>
            </a:r>
          </a:p>
          <a:p>
            <a:pPr marL="1371600" lvl="2" indent="-457200" eaLnBrk="1" hangingPunct="1"/>
            <a:r>
              <a:rPr lang="zh-CN" altLang="en-US" sz="2000"/>
              <a:t>寻找已用寄存器</a:t>
            </a:r>
            <a:r>
              <a:rPr lang="en-US" altLang="zh-CN" sz="2000"/>
              <a:t>R</a:t>
            </a:r>
            <a:r>
              <a:rPr lang="zh-CN" altLang="en-US" sz="2000"/>
              <a:t>，</a:t>
            </a:r>
            <a:r>
              <a:rPr lang="en-US" altLang="zh-CN" sz="2000"/>
              <a:t>x</a:t>
            </a:r>
            <a:r>
              <a:rPr lang="zh-CN" altLang="en-US" sz="2000"/>
              <a:t>替换其中变量</a:t>
            </a:r>
          </a:p>
          <a:p>
            <a:pPr marL="1371600" lvl="2" indent="-457200" eaLnBrk="1" hangingPunct="1"/>
            <a:r>
              <a:rPr lang="en-US" altLang="zh-CN" sz="2000"/>
              <a:t>R</a:t>
            </a:r>
            <a:r>
              <a:rPr lang="zh-CN" altLang="en-US" sz="2000"/>
              <a:t>中变量引用位置最远，或已保存在内存中</a:t>
            </a:r>
          </a:p>
          <a:p>
            <a:pPr marL="990600" lvl="1" indent="-533400" eaLnBrk="1" hangingPunct="1">
              <a:buFont typeface="Wingdings" panose="05000000000000000000" pitchFamily="2" charset="2"/>
              <a:buAutoNum type="arabicPeriod"/>
            </a:pPr>
            <a:r>
              <a:rPr lang="en-US" altLang="zh-CN" sz="2400"/>
              <a:t>x</a:t>
            </a:r>
            <a:r>
              <a:rPr lang="zh-CN" altLang="en-US" sz="2400"/>
              <a:t>不再被引用，或无合适寄存器</a:t>
            </a:r>
            <a:r>
              <a:rPr lang="en-US" altLang="zh-CN" sz="2400"/>
              <a:t>——</a:t>
            </a:r>
            <a:r>
              <a:rPr lang="zh-CN" altLang="en-US" sz="2400"/>
              <a:t>内存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Rectangle 2">
            <a:extLst>
              <a:ext uri="{FF2B5EF4-FFF2-40B4-BE49-F238E27FC236}">
                <a16:creationId xmlns:a16="http://schemas.microsoft.com/office/drawing/2014/main" id="{3EAEACA7-5386-4E56-B545-D982925C66C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例</a:t>
            </a:r>
            <a:r>
              <a:rPr lang="en-US" altLang="zh-CN"/>
              <a:t>9.5  d := (a – b)+(a – c)+(a – c)</a:t>
            </a:r>
          </a:p>
        </p:txBody>
      </p:sp>
      <p:graphicFrame>
        <p:nvGraphicFramePr>
          <p:cNvPr id="614454" name="Group 54">
            <a:extLst>
              <a:ext uri="{FF2B5EF4-FFF2-40B4-BE49-F238E27FC236}">
                <a16:creationId xmlns:a16="http://schemas.microsoft.com/office/drawing/2014/main" id="{40846A25-5FA2-49A2-A416-4980C5A354D4}"/>
              </a:ext>
            </a:extLst>
          </p:cNvPr>
          <p:cNvGraphicFramePr>
            <a:graphicFrameLocks noGrp="1"/>
          </p:cNvGraphicFramePr>
          <p:nvPr/>
        </p:nvGraphicFramePr>
        <p:xfrm>
          <a:off x="838200" y="1600200"/>
          <a:ext cx="8077200" cy="4864548"/>
        </p:xfrm>
        <a:graphic>
          <a:graphicData uri="http://schemas.openxmlformats.org/drawingml/2006/table">
            <a:tbl>
              <a:tblPr/>
              <a:tblGrid>
                <a:gridCol w="2019300">
                  <a:extLst>
                    <a:ext uri="{9D8B030D-6E8A-4147-A177-3AD203B41FA5}">
                      <a16:colId xmlns:a16="http://schemas.microsoft.com/office/drawing/2014/main" val="2614779173"/>
                    </a:ext>
                  </a:extLst>
                </a:gridCol>
                <a:gridCol w="2019300">
                  <a:extLst>
                    <a:ext uri="{9D8B030D-6E8A-4147-A177-3AD203B41FA5}">
                      <a16:colId xmlns:a16="http://schemas.microsoft.com/office/drawing/2014/main" val="3578572051"/>
                    </a:ext>
                  </a:extLst>
                </a:gridCol>
                <a:gridCol w="2019300">
                  <a:extLst>
                    <a:ext uri="{9D8B030D-6E8A-4147-A177-3AD203B41FA5}">
                      <a16:colId xmlns:a16="http://schemas.microsoft.com/office/drawing/2014/main" val="375862896"/>
                    </a:ext>
                  </a:extLst>
                </a:gridCol>
                <a:gridCol w="2019300">
                  <a:extLst>
                    <a:ext uri="{9D8B030D-6E8A-4147-A177-3AD203B41FA5}">
                      <a16:colId xmlns:a16="http://schemas.microsoft.com/office/drawing/2014/main" val="2825290471"/>
                    </a:ext>
                  </a:extLst>
                </a:gridCol>
              </a:tblGrid>
              <a:tr h="457152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9000"/>
                        <a:buFont typeface="Wingdings" panose="05000000000000000000" pitchFamily="2" charset="2"/>
                        <a:defRPr kumimoji="1" sz="2400">
                          <a:solidFill>
                            <a:srgbClr val="3333CC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000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zh-CN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folHlink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三地址码</a:t>
                      </a:r>
                    </a:p>
                  </a:txBody>
                  <a:tcPr marT="45715" marB="45715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9000"/>
                        <a:buFont typeface="Wingdings" panose="05000000000000000000" pitchFamily="2" charset="2"/>
                        <a:defRPr kumimoji="1" sz="2400">
                          <a:solidFill>
                            <a:srgbClr val="3333CC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000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zh-CN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folHlink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目标代码</a:t>
                      </a:r>
                    </a:p>
                  </a:txBody>
                  <a:tcPr marT="45715" marB="4571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9000"/>
                        <a:buFont typeface="Wingdings" panose="05000000000000000000" pitchFamily="2" charset="2"/>
                        <a:defRPr kumimoji="1" sz="2400">
                          <a:solidFill>
                            <a:srgbClr val="3333CC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000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zh-CN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folHlink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寄存器描述符</a:t>
                      </a:r>
                    </a:p>
                  </a:txBody>
                  <a:tcPr marT="45715" marB="4571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9000"/>
                        <a:buFont typeface="Wingdings" panose="05000000000000000000" pitchFamily="2" charset="2"/>
                        <a:defRPr kumimoji="1" sz="2400">
                          <a:solidFill>
                            <a:srgbClr val="3333CC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000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zh-CN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folHlink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地址描述符</a:t>
                      </a:r>
                    </a:p>
                  </a:txBody>
                  <a:tcPr marT="45715" marB="4571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94103880"/>
                  </a:ext>
                </a:extLst>
              </a:tr>
              <a:tr h="457152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9000"/>
                        <a:buFont typeface="Wingdings" panose="05000000000000000000" pitchFamily="2" charset="2"/>
                        <a:defRPr kumimoji="1" sz="2400">
                          <a:solidFill>
                            <a:srgbClr val="3333CC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000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endParaRPr kumimoji="1" lang="zh-CN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15" marB="45715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9000"/>
                        <a:buFont typeface="Wingdings" panose="05000000000000000000" pitchFamily="2" charset="2"/>
                        <a:defRPr kumimoji="1" sz="2400">
                          <a:solidFill>
                            <a:srgbClr val="3333CC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000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endParaRPr kumimoji="1" lang="zh-CN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15" marB="4571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9000"/>
                        <a:buFont typeface="Wingdings" panose="05000000000000000000" pitchFamily="2" charset="2"/>
                        <a:defRPr kumimoji="1" sz="2400">
                          <a:solidFill>
                            <a:srgbClr val="3333CC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000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zh-CN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寄存器均为空</a:t>
                      </a:r>
                    </a:p>
                  </a:txBody>
                  <a:tcPr marT="45715" marB="4571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9000"/>
                        <a:buFont typeface="Wingdings" panose="05000000000000000000" pitchFamily="2" charset="2"/>
                        <a:defRPr kumimoji="1" sz="2400">
                          <a:solidFill>
                            <a:srgbClr val="3333CC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000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endParaRPr kumimoji="1" lang="zh-CN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15" marB="4571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8219030"/>
                  </a:ext>
                </a:extLst>
              </a:tr>
              <a:tr h="896018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9000"/>
                        <a:buFont typeface="Wingdings" panose="05000000000000000000" pitchFamily="2" charset="2"/>
                        <a:defRPr kumimoji="1" sz="2400">
                          <a:solidFill>
                            <a:srgbClr val="3333CC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000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t := a – b</a:t>
                      </a:r>
                    </a:p>
                  </a:txBody>
                  <a:tcPr marT="45715" marB="45715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9000"/>
                        <a:buFont typeface="Wingdings" panose="05000000000000000000" pitchFamily="2" charset="2"/>
                        <a:defRPr kumimoji="1" sz="2400">
                          <a:solidFill>
                            <a:srgbClr val="3333CC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000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MOV a, R0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SUB b, R0</a:t>
                      </a:r>
                    </a:p>
                  </a:txBody>
                  <a:tcPr marT="45715" marB="4571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9000"/>
                        <a:buFont typeface="Wingdings" panose="05000000000000000000" pitchFamily="2" charset="2"/>
                        <a:defRPr kumimoji="1" sz="2400">
                          <a:solidFill>
                            <a:srgbClr val="3333CC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000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R0</a:t>
                      </a:r>
                      <a:r>
                        <a:rPr kumimoji="1" lang="zh-CN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包含</a:t>
                      </a:r>
                      <a:r>
                        <a:rPr kumimoji="1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t</a:t>
                      </a:r>
                    </a:p>
                  </a:txBody>
                  <a:tcPr marT="45715" marB="4571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9000"/>
                        <a:buFont typeface="Wingdings" panose="05000000000000000000" pitchFamily="2" charset="2"/>
                        <a:defRPr kumimoji="1" sz="2400">
                          <a:solidFill>
                            <a:srgbClr val="3333CC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000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t</a:t>
                      </a:r>
                      <a:r>
                        <a:rPr kumimoji="1" lang="zh-CN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在</a:t>
                      </a:r>
                      <a:r>
                        <a:rPr kumimoji="1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R0</a:t>
                      </a:r>
                      <a:r>
                        <a:rPr kumimoji="1" lang="zh-CN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中</a:t>
                      </a:r>
                    </a:p>
                  </a:txBody>
                  <a:tcPr marT="45715" marB="4571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35826414"/>
                  </a:ext>
                </a:extLst>
              </a:tr>
              <a:tr h="896018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9000"/>
                        <a:buFont typeface="Wingdings" panose="05000000000000000000" pitchFamily="2" charset="2"/>
                        <a:defRPr kumimoji="1" sz="2400">
                          <a:solidFill>
                            <a:srgbClr val="3333CC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000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u := a – c</a:t>
                      </a:r>
                    </a:p>
                  </a:txBody>
                  <a:tcPr marT="45715" marB="45715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9000"/>
                        <a:buFont typeface="Wingdings" panose="05000000000000000000" pitchFamily="2" charset="2"/>
                        <a:defRPr kumimoji="1" sz="2400">
                          <a:solidFill>
                            <a:srgbClr val="3333CC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000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MOV a, R1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SUB c, R1</a:t>
                      </a:r>
                    </a:p>
                  </a:txBody>
                  <a:tcPr marT="45715" marB="4571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9000"/>
                        <a:buFont typeface="Wingdings" panose="05000000000000000000" pitchFamily="2" charset="2"/>
                        <a:defRPr kumimoji="1" sz="2400">
                          <a:solidFill>
                            <a:srgbClr val="3333CC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000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R0</a:t>
                      </a:r>
                      <a:r>
                        <a:rPr kumimoji="1" lang="zh-CN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包含</a:t>
                      </a:r>
                      <a:r>
                        <a:rPr kumimoji="1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t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R1</a:t>
                      </a:r>
                      <a:r>
                        <a:rPr kumimoji="1" lang="zh-CN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包含</a:t>
                      </a:r>
                      <a:r>
                        <a:rPr kumimoji="1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u</a:t>
                      </a:r>
                    </a:p>
                  </a:txBody>
                  <a:tcPr marT="45715" marB="4571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9000"/>
                        <a:buFont typeface="Wingdings" panose="05000000000000000000" pitchFamily="2" charset="2"/>
                        <a:defRPr kumimoji="1" sz="2400">
                          <a:solidFill>
                            <a:srgbClr val="3333CC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000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t</a:t>
                      </a:r>
                      <a:r>
                        <a:rPr kumimoji="1" lang="zh-CN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在</a:t>
                      </a:r>
                      <a:r>
                        <a:rPr kumimoji="1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R0</a:t>
                      </a:r>
                      <a:r>
                        <a:rPr kumimoji="1" lang="zh-CN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中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u</a:t>
                      </a:r>
                      <a:r>
                        <a:rPr kumimoji="1" lang="zh-CN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在</a:t>
                      </a:r>
                      <a:r>
                        <a:rPr kumimoji="1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R1</a:t>
                      </a:r>
                      <a:r>
                        <a:rPr kumimoji="1" lang="zh-CN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中</a:t>
                      </a:r>
                    </a:p>
                  </a:txBody>
                  <a:tcPr marT="45715" marB="4571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95274583"/>
                  </a:ext>
                </a:extLst>
              </a:tr>
              <a:tr h="896018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9000"/>
                        <a:buFont typeface="Wingdings" panose="05000000000000000000" pitchFamily="2" charset="2"/>
                        <a:defRPr kumimoji="1" sz="2400">
                          <a:solidFill>
                            <a:srgbClr val="3333CC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000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v := t + u</a:t>
                      </a:r>
                    </a:p>
                  </a:txBody>
                  <a:tcPr marT="45715" marB="45715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9000"/>
                        <a:buFont typeface="Wingdings" panose="05000000000000000000" pitchFamily="2" charset="2"/>
                        <a:defRPr kumimoji="1" sz="2400">
                          <a:solidFill>
                            <a:srgbClr val="3333CC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000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ADD R1, R0</a:t>
                      </a:r>
                    </a:p>
                  </a:txBody>
                  <a:tcPr marT="45715" marB="4571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9000"/>
                        <a:buFont typeface="Wingdings" panose="05000000000000000000" pitchFamily="2" charset="2"/>
                        <a:defRPr kumimoji="1" sz="2400">
                          <a:solidFill>
                            <a:srgbClr val="3333CC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000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R0</a:t>
                      </a:r>
                      <a:r>
                        <a:rPr kumimoji="1" lang="zh-CN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包含</a:t>
                      </a:r>
                      <a:r>
                        <a:rPr kumimoji="1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v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R1</a:t>
                      </a:r>
                      <a:r>
                        <a:rPr kumimoji="1" lang="zh-CN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包含</a:t>
                      </a:r>
                      <a:r>
                        <a:rPr kumimoji="1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u</a:t>
                      </a:r>
                    </a:p>
                  </a:txBody>
                  <a:tcPr marT="45715" marB="4571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9000"/>
                        <a:buFont typeface="Wingdings" panose="05000000000000000000" pitchFamily="2" charset="2"/>
                        <a:defRPr kumimoji="1" sz="2400">
                          <a:solidFill>
                            <a:srgbClr val="3333CC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000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u</a:t>
                      </a:r>
                      <a:r>
                        <a:rPr kumimoji="1" lang="zh-CN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在</a:t>
                      </a:r>
                      <a:r>
                        <a:rPr kumimoji="1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R1</a:t>
                      </a:r>
                      <a:r>
                        <a:rPr kumimoji="1" lang="zh-CN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中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v</a:t>
                      </a:r>
                      <a:r>
                        <a:rPr kumimoji="1" lang="zh-CN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在</a:t>
                      </a:r>
                      <a:r>
                        <a:rPr kumimoji="1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R0</a:t>
                      </a:r>
                      <a:r>
                        <a:rPr kumimoji="1" lang="zh-CN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中</a:t>
                      </a:r>
                    </a:p>
                  </a:txBody>
                  <a:tcPr marT="45715" marB="4571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33324869"/>
                  </a:ext>
                </a:extLst>
              </a:tr>
              <a:tr h="1261740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9000"/>
                        <a:buFont typeface="Wingdings" panose="05000000000000000000" pitchFamily="2" charset="2"/>
                        <a:defRPr kumimoji="1" sz="2400">
                          <a:solidFill>
                            <a:srgbClr val="3333CC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000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d := v + u</a:t>
                      </a:r>
                    </a:p>
                  </a:txBody>
                  <a:tcPr marT="45715" marB="45715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9000"/>
                        <a:buFont typeface="Wingdings" panose="05000000000000000000" pitchFamily="2" charset="2"/>
                        <a:defRPr kumimoji="1" sz="2400">
                          <a:solidFill>
                            <a:srgbClr val="3333CC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000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ADD R1, R0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MOV R0, d</a:t>
                      </a:r>
                    </a:p>
                  </a:txBody>
                  <a:tcPr marT="45715" marB="4571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9000"/>
                        <a:buFont typeface="Wingdings" panose="05000000000000000000" pitchFamily="2" charset="2"/>
                        <a:defRPr kumimoji="1" sz="2400">
                          <a:solidFill>
                            <a:srgbClr val="3333CC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000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R0</a:t>
                      </a:r>
                      <a:r>
                        <a:rPr kumimoji="1" lang="zh-CN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包</a:t>
                      </a:r>
                      <a:r>
                        <a:rPr kumimoji="1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d</a:t>
                      </a:r>
                    </a:p>
                  </a:txBody>
                  <a:tcPr marT="45715" marB="4571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9000"/>
                        <a:buFont typeface="Wingdings" panose="05000000000000000000" pitchFamily="2" charset="2"/>
                        <a:defRPr kumimoji="1" sz="2400">
                          <a:solidFill>
                            <a:srgbClr val="3333CC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000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d</a:t>
                      </a:r>
                      <a:r>
                        <a:rPr kumimoji="1" lang="zh-CN" alt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在</a:t>
                      </a:r>
                      <a:r>
                        <a:rPr kumimoji="1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R0</a:t>
                      </a:r>
                      <a:r>
                        <a:rPr kumimoji="1" lang="zh-CN" alt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中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d</a:t>
                      </a:r>
                      <a:r>
                        <a:rPr kumimoji="1" lang="zh-CN" alt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在</a:t>
                      </a:r>
                      <a:r>
                        <a:rPr kumimoji="1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R0</a:t>
                      </a:r>
                      <a:r>
                        <a:rPr kumimoji="1" lang="zh-CN" alt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和</a:t>
                      </a:r>
                      <a:br>
                        <a:rPr kumimoji="1" lang="zh-CN" alt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</a:br>
                      <a:r>
                        <a:rPr kumimoji="1" lang="zh-CN" alt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内存中</a:t>
                      </a:r>
                    </a:p>
                  </a:txBody>
                  <a:tcPr marT="45715" marB="4571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33149704"/>
                  </a:ext>
                </a:extLst>
              </a:tr>
            </a:tbl>
          </a:graphicData>
        </a:graphic>
      </p:graphicFrame>
      <p:sp>
        <p:nvSpPr>
          <p:cNvPr id="4" name="Text Box 4">
            <a:extLst>
              <a:ext uri="{FF2B5EF4-FFF2-40B4-BE49-F238E27FC236}">
                <a16:creationId xmlns:a16="http://schemas.microsoft.com/office/drawing/2014/main" id="{CE05DF3D-5A69-403A-98F4-C0D58C3270D1}"/>
              </a:ext>
            </a:extLst>
          </p:cNvPr>
          <p:cNvSpPr txBox="1">
            <a:spLocks noChangeArrowheads="1"/>
          </p:cNvSpPr>
          <p:nvPr/>
        </p:nvSpPr>
        <p:spPr bwMode="ltGray">
          <a:xfrm>
            <a:off x="1403648" y="2996952"/>
            <a:ext cx="990600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CF0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algn="ctr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algn="ctr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algn="ctr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algn="ctr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algn="ctr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1600" dirty="0">
                <a:solidFill>
                  <a:srgbClr val="FF33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情况</a:t>
            </a:r>
            <a:r>
              <a:rPr lang="en-US" altLang="zh-CN" sz="1600" dirty="0">
                <a:solidFill>
                  <a:srgbClr val="FF33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endParaRPr lang="zh-CN" altLang="en-US" sz="1600" dirty="0">
              <a:solidFill>
                <a:srgbClr val="FF33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Text Box 4">
            <a:extLst>
              <a:ext uri="{FF2B5EF4-FFF2-40B4-BE49-F238E27FC236}">
                <a16:creationId xmlns:a16="http://schemas.microsoft.com/office/drawing/2014/main" id="{8A5B6695-9CB1-493E-B687-07627452B6BC}"/>
              </a:ext>
            </a:extLst>
          </p:cNvPr>
          <p:cNvSpPr txBox="1">
            <a:spLocks noChangeArrowheads="1"/>
          </p:cNvSpPr>
          <p:nvPr/>
        </p:nvSpPr>
        <p:spPr bwMode="ltGray">
          <a:xfrm>
            <a:off x="1403648" y="3863197"/>
            <a:ext cx="990600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CF0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algn="ctr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algn="ctr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algn="ctr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algn="ctr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algn="ctr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1600" dirty="0">
                <a:solidFill>
                  <a:srgbClr val="FF33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情况</a:t>
            </a:r>
            <a:r>
              <a:rPr lang="en-US" altLang="zh-CN" sz="1600" dirty="0">
                <a:solidFill>
                  <a:srgbClr val="FF33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endParaRPr lang="zh-CN" altLang="en-US" sz="1600" dirty="0">
              <a:solidFill>
                <a:srgbClr val="FF33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Text Box 4">
            <a:extLst>
              <a:ext uri="{FF2B5EF4-FFF2-40B4-BE49-F238E27FC236}">
                <a16:creationId xmlns:a16="http://schemas.microsoft.com/office/drawing/2014/main" id="{62C16127-548C-48FB-BA1B-6B381D3BBAAB}"/>
              </a:ext>
            </a:extLst>
          </p:cNvPr>
          <p:cNvSpPr txBox="1">
            <a:spLocks noChangeArrowheads="1"/>
          </p:cNvSpPr>
          <p:nvPr/>
        </p:nvSpPr>
        <p:spPr bwMode="ltGray">
          <a:xfrm>
            <a:off x="1403648" y="4761639"/>
            <a:ext cx="990600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CF0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algn="ctr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algn="ctr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algn="ctr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algn="ctr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algn="ctr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1600" dirty="0">
                <a:solidFill>
                  <a:srgbClr val="FF33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情况</a:t>
            </a:r>
            <a:r>
              <a:rPr lang="en-US" altLang="zh-CN" sz="1600" dirty="0">
                <a:solidFill>
                  <a:srgbClr val="FF33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endParaRPr lang="zh-CN" altLang="en-US" sz="1600" dirty="0">
              <a:solidFill>
                <a:srgbClr val="FF33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Text Box 4">
            <a:extLst>
              <a:ext uri="{FF2B5EF4-FFF2-40B4-BE49-F238E27FC236}">
                <a16:creationId xmlns:a16="http://schemas.microsoft.com/office/drawing/2014/main" id="{20F29921-C259-4B17-8316-7672D88666D7}"/>
              </a:ext>
            </a:extLst>
          </p:cNvPr>
          <p:cNvSpPr txBox="1">
            <a:spLocks noChangeArrowheads="1"/>
          </p:cNvSpPr>
          <p:nvPr/>
        </p:nvSpPr>
        <p:spPr bwMode="ltGray">
          <a:xfrm>
            <a:off x="1403648" y="5687158"/>
            <a:ext cx="990600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CF0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algn="ctr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algn="ctr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algn="ctr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algn="ctr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algn="ctr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1600" dirty="0">
                <a:solidFill>
                  <a:srgbClr val="FF33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情况</a:t>
            </a:r>
            <a:r>
              <a:rPr lang="en-US" altLang="zh-CN" sz="1600" dirty="0">
                <a:solidFill>
                  <a:srgbClr val="FF33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endParaRPr lang="zh-CN" altLang="en-US" sz="1600" dirty="0">
              <a:solidFill>
                <a:srgbClr val="FF33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Rectangle 2">
            <a:extLst>
              <a:ext uri="{FF2B5EF4-FFF2-40B4-BE49-F238E27FC236}">
                <a16:creationId xmlns:a16="http://schemas.microsoft.com/office/drawing/2014/main" id="{C9AF19BE-46B0-43DF-81C1-1857EFD28E0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9.6.4  </a:t>
            </a:r>
            <a:r>
              <a:rPr lang="zh-CN" altLang="en-US"/>
              <a:t>其他类型语句的代码生成</a:t>
            </a:r>
          </a:p>
        </p:txBody>
      </p:sp>
      <p:sp>
        <p:nvSpPr>
          <p:cNvPr id="51203" name="Rectangle 3">
            <a:extLst>
              <a:ext uri="{FF2B5EF4-FFF2-40B4-BE49-F238E27FC236}">
                <a16:creationId xmlns:a16="http://schemas.microsoft.com/office/drawing/2014/main" id="{94121E92-1749-4D1A-948A-4E24CC1834D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182688" y="1219200"/>
            <a:ext cx="7772400" cy="533400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zh-CN" altLang="en-US"/>
              <a:t>数组和指针</a:t>
            </a:r>
          </a:p>
        </p:txBody>
      </p:sp>
      <p:graphicFrame>
        <p:nvGraphicFramePr>
          <p:cNvPr id="615521" name="Group 97">
            <a:extLst>
              <a:ext uri="{FF2B5EF4-FFF2-40B4-BE49-F238E27FC236}">
                <a16:creationId xmlns:a16="http://schemas.microsoft.com/office/drawing/2014/main" id="{23EE580D-C3CC-42A6-9259-B31510FE51E2}"/>
              </a:ext>
            </a:extLst>
          </p:cNvPr>
          <p:cNvGraphicFramePr>
            <a:graphicFrameLocks noGrp="1"/>
          </p:cNvGraphicFramePr>
          <p:nvPr/>
        </p:nvGraphicFramePr>
        <p:xfrm>
          <a:off x="152400" y="1752600"/>
          <a:ext cx="8839200" cy="2438400"/>
        </p:xfrm>
        <a:graphic>
          <a:graphicData uri="http://schemas.openxmlformats.org/drawingml/2006/table">
            <a:tbl>
              <a:tblPr/>
              <a:tblGrid>
                <a:gridCol w="1143000">
                  <a:extLst>
                    <a:ext uri="{9D8B030D-6E8A-4147-A177-3AD203B41FA5}">
                      <a16:colId xmlns:a16="http://schemas.microsoft.com/office/drawing/2014/main" val="3530596150"/>
                    </a:ext>
                  </a:extLst>
                </a:gridCol>
                <a:gridCol w="1676400">
                  <a:extLst>
                    <a:ext uri="{9D8B030D-6E8A-4147-A177-3AD203B41FA5}">
                      <a16:colId xmlns:a16="http://schemas.microsoft.com/office/drawing/2014/main" val="3776085623"/>
                    </a:ext>
                  </a:extLst>
                </a:gridCol>
                <a:gridCol w="838200">
                  <a:extLst>
                    <a:ext uri="{9D8B030D-6E8A-4147-A177-3AD203B41FA5}">
                      <a16:colId xmlns:a16="http://schemas.microsoft.com/office/drawing/2014/main" val="1264599508"/>
                    </a:ext>
                  </a:extLst>
                </a:gridCol>
                <a:gridCol w="1752600">
                  <a:extLst>
                    <a:ext uri="{9D8B030D-6E8A-4147-A177-3AD203B41FA5}">
                      <a16:colId xmlns:a16="http://schemas.microsoft.com/office/drawing/2014/main" val="3386933932"/>
                    </a:ext>
                  </a:extLst>
                </a:gridCol>
                <a:gridCol w="838200">
                  <a:extLst>
                    <a:ext uri="{9D8B030D-6E8A-4147-A177-3AD203B41FA5}">
                      <a16:colId xmlns:a16="http://schemas.microsoft.com/office/drawing/2014/main" val="2476460677"/>
                    </a:ext>
                  </a:extLst>
                </a:gridCol>
                <a:gridCol w="1752600">
                  <a:extLst>
                    <a:ext uri="{9D8B030D-6E8A-4147-A177-3AD203B41FA5}">
                      <a16:colId xmlns:a16="http://schemas.microsoft.com/office/drawing/2014/main" val="2666434624"/>
                    </a:ext>
                  </a:extLst>
                </a:gridCol>
                <a:gridCol w="838200">
                  <a:extLst>
                    <a:ext uri="{9D8B030D-6E8A-4147-A177-3AD203B41FA5}">
                      <a16:colId xmlns:a16="http://schemas.microsoft.com/office/drawing/2014/main" val="401912922"/>
                    </a:ext>
                  </a:extLst>
                </a:gridCol>
              </a:tblGrid>
              <a:tr h="0">
                <a:tc rowSpan="2"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9000"/>
                        <a:buFont typeface="Wingdings" panose="05000000000000000000" pitchFamily="2" charset="2"/>
                        <a:defRPr kumimoji="1" sz="2400">
                          <a:solidFill>
                            <a:srgbClr val="3333CC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000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zh-CN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folHlink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语句</a:t>
                      </a:r>
                    </a:p>
                  </a:txBody>
                  <a:tcPr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2"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9000"/>
                        <a:buFont typeface="Wingdings" panose="05000000000000000000" pitchFamily="2" charset="2"/>
                        <a:defRPr kumimoji="1" sz="2400">
                          <a:solidFill>
                            <a:srgbClr val="3333CC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000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folHlink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i</a:t>
                      </a:r>
                      <a:r>
                        <a:rPr kumimoji="1" lang="zh-CN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folHlink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在寄存器</a:t>
                      </a:r>
                      <a:r>
                        <a:rPr kumimoji="1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folHlink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Ri</a:t>
                      </a:r>
                      <a:r>
                        <a:rPr kumimoji="1" lang="zh-CN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folHlink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中</a:t>
                      </a: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gridSpan="2"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9000"/>
                        <a:buFont typeface="Wingdings" panose="05000000000000000000" pitchFamily="2" charset="2"/>
                        <a:defRPr kumimoji="1" sz="2400">
                          <a:solidFill>
                            <a:srgbClr val="3333CC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000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folHlink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i</a:t>
                      </a:r>
                      <a:r>
                        <a:rPr kumimoji="1" lang="zh-CN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folHlink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在内存</a:t>
                      </a:r>
                      <a:r>
                        <a:rPr kumimoji="1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folHlink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Mi</a:t>
                      </a:r>
                      <a:r>
                        <a:rPr kumimoji="1" lang="zh-CN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folHlink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中</a:t>
                      </a: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gridSpan="2"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9000"/>
                        <a:buFont typeface="Wingdings" panose="05000000000000000000" pitchFamily="2" charset="2"/>
                        <a:defRPr kumimoji="1" sz="2400">
                          <a:solidFill>
                            <a:srgbClr val="3333CC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000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folHlink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i</a:t>
                      </a:r>
                      <a:r>
                        <a:rPr kumimoji="1" lang="zh-CN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folHlink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在栈中</a:t>
                      </a: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91305084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9000"/>
                        <a:buFont typeface="Wingdings" panose="05000000000000000000" pitchFamily="2" charset="2"/>
                        <a:defRPr kumimoji="1" sz="2400">
                          <a:solidFill>
                            <a:srgbClr val="3333CC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000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zh-CN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folHlink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代码</a:t>
                      </a: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9000"/>
                        <a:buFont typeface="Wingdings" panose="05000000000000000000" pitchFamily="2" charset="2"/>
                        <a:defRPr kumimoji="1" sz="2400">
                          <a:solidFill>
                            <a:srgbClr val="3333CC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000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zh-CN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folHlink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开销</a:t>
                      </a: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9000"/>
                        <a:buFont typeface="Wingdings" panose="05000000000000000000" pitchFamily="2" charset="2"/>
                        <a:defRPr kumimoji="1" sz="2400">
                          <a:solidFill>
                            <a:srgbClr val="3333CC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000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zh-CN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folHlink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代码</a:t>
                      </a: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9000"/>
                        <a:buFont typeface="Wingdings" panose="05000000000000000000" pitchFamily="2" charset="2"/>
                        <a:defRPr kumimoji="1" sz="2400">
                          <a:solidFill>
                            <a:srgbClr val="3333CC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000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zh-CN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folHlink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开销</a:t>
                      </a: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9000"/>
                        <a:buFont typeface="Wingdings" panose="05000000000000000000" pitchFamily="2" charset="2"/>
                        <a:defRPr kumimoji="1" sz="2400">
                          <a:solidFill>
                            <a:srgbClr val="3333CC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000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zh-CN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folHlink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代码</a:t>
                      </a: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9000"/>
                        <a:buFont typeface="Wingdings" panose="05000000000000000000" pitchFamily="2" charset="2"/>
                        <a:defRPr kumimoji="1" sz="2400">
                          <a:solidFill>
                            <a:srgbClr val="3333CC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000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zh-CN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folHlink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开销</a:t>
                      </a: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96727282"/>
                  </a:ext>
                </a:extLst>
              </a:tr>
              <a:tr h="0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9000"/>
                        <a:buFont typeface="Wingdings" panose="05000000000000000000" pitchFamily="2" charset="2"/>
                        <a:defRPr kumimoji="1" sz="2400">
                          <a:solidFill>
                            <a:srgbClr val="3333CC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000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a := b[i]</a:t>
                      </a:r>
                    </a:p>
                  </a:txBody>
                  <a:tcPr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9000"/>
                        <a:buFont typeface="Wingdings" panose="05000000000000000000" pitchFamily="2" charset="2"/>
                        <a:defRPr kumimoji="1" sz="2400">
                          <a:solidFill>
                            <a:srgbClr val="3333CC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000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MOV b(Ri), R</a:t>
                      </a: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9000"/>
                        <a:buFont typeface="Wingdings" panose="05000000000000000000" pitchFamily="2" charset="2"/>
                        <a:defRPr kumimoji="1" sz="2400">
                          <a:solidFill>
                            <a:srgbClr val="3333CC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000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2</a:t>
                      </a: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9000"/>
                        <a:buFont typeface="Wingdings" panose="05000000000000000000" pitchFamily="2" charset="2"/>
                        <a:defRPr kumimoji="1" sz="2400">
                          <a:solidFill>
                            <a:srgbClr val="3333CC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000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MOV Mi, R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MOV b(R), R</a:t>
                      </a: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9000"/>
                        <a:buFont typeface="Wingdings" panose="05000000000000000000" pitchFamily="2" charset="2"/>
                        <a:defRPr kumimoji="1" sz="2400">
                          <a:solidFill>
                            <a:srgbClr val="3333CC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000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4</a:t>
                      </a: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9000"/>
                        <a:buFont typeface="Wingdings" panose="05000000000000000000" pitchFamily="2" charset="2"/>
                        <a:defRPr kumimoji="1" sz="2400">
                          <a:solidFill>
                            <a:srgbClr val="3333CC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000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MOV Si(A), R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MOV b(R), R</a:t>
                      </a: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9000"/>
                        <a:buFont typeface="Wingdings" panose="05000000000000000000" pitchFamily="2" charset="2"/>
                        <a:defRPr kumimoji="1" sz="2400">
                          <a:solidFill>
                            <a:srgbClr val="3333CC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000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4</a:t>
                      </a: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68916579"/>
                  </a:ext>
                </a:extLst>
              </a:tr>
              <a:tr h="0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9000"/>
                        <a:buFont typeface="Wingdings" panose="05000000000000000000" pitchFamily="2" charset="2"/>
                        <a:defRPr kumimoji="1" sz="2400">
                          <a:solidFill>
                            <a:srgbClr val="3333CC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000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a[i] := b</a:t>
                      </a:r>
                    </a:p>
                  </a:txBody>
                  <a:tcPr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9000"/>
                        <a:buFont typeface="Wingdings" panose="05000000000000000000" pitchFamily="2" charset="2"/>
                        <a:defRPr kumimoji="1" sz="2400">
                          <a:solidFill>
                            <a:srgbClr val="3333CC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000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MOV b, a(Ri)</a:t>
                      </a: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9000"/>
                        <a:buFont typeface="Wingdings" panose="05000000000000000000" pitchFamily="2" charset="2"/>
                        <a:defRPr kumimoji="1" sz="2400">
                          <a:solidFill>
                            <a:srgbClr val="3333CC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000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3</a:t>
                      </a: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9000"/>
                        <a:buFont typeface="Wingdings" panose="05000000000000000000" pitchFamily="2" charset="2"/>
                        <a:defRPr kumimoji="1" sz="2400">
                          <a:solidFill>
                            <a:srgbClr val="3333CC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000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MOV Mi, R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MOV b, a(R)</a:t>
                      </a: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9000"/>
                        <a:buFont typeface="Wingdings" panose="05000000000000000000" pitchFamily="2" charset="2"/>
                        <a:defRPr kumimoji="1" sz="2400">
                          <a:solidFill>
                            <a:srgbClr val="3333CC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000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5</a:t>
                      </a: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9000"/>
                        <a:buFont typeface="Wingdings" panose="05000000000000000000" pitchFamily="2" charset="2"/>
                        <a:defRPr kumimoji="1" sz="2400">
                          <a:solidFill>
                            <a:srgbClr val="3333CC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000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MOV Si(A), R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MOV b, a(R)</a:t>
                      </a: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9000"/>
                        <a:buFont typeface="Wingdings" panose="05000000000000000000" pitchFamily="2" charset="2"/>
                        <a:defRPr kumimoji="1" sz="2400">
                          <a:solidFill>
                            <a:srgbClr val="3333CC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000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5</a:t>
                      </a: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09961542"/>
                  </a:ext>
                </a:extLst>
              </a:tr>
            </a:tbl>
          </a:graphicData>
        </a:graphic>
      </p:graphicFrame>
      <p:graphicFrame>
        <p:nvGraphicFramePr>
          <p:cNvPr id="615570" name="Group 146">
            <a:extLst>
              <a:ext uri="{FF2B5EF4-FFF2-40B4-BE49-F238E27FC236}">
                <a16:creationId xmlns:a16="http://schemas.microsoft.com/office/drawing/2014/main" id="{D76009EB-C60C-44E4-8D35-275A8F0DF25D}"/>
              </a:ext>
            </a:extLst>
          </p:cNvPr>
          <p:cNvGraphicFramePr>
            <a:graphicFrameLocks noGrp="1"/>
          </p:cNvGraphicFramePr>
          <p:nvPr/>
        </p:nvGraphicFramePr>
        <p:xfrm>
          <a:off x="152400" y="4267200"/>
          <a:ext cx="8915400" cy="2516188"/>
        </p:xfrm>
        <a:graphic>
          <a:graphicData uri="http://schemas.openxmlformats.org/drawingml/2006/table">
            <a:tbl>
              <a:tblPr/>
              <a:tblGrid>
                <a:gridCol w="1143000">
                  <a:extLst>
                    <a:ext uri="{9D8B030D-6E8A-4147-A177-3AD203B41FA5}">
                      <a16:colId xmlns:a16="http://schemas.microsoft.com/office/drawing/2014/main" val="2716642741"/>
                    </a:ext>
                  </a:extLst>
                </a:gridCol>
                <a:gridCol w="1676400">
                  <a:extLst>
                    <a:ext uri="{9D8B030D-6E8A-4147-A177-3AD203B41FA5}">
                      <a16:colId xmlns:a16="http://schemas.microsoft.com/office/drawing/2014/main" val="2155336962"/>
                    </a:ext>
                  </a:extLst>
                </a:gridCol>
                <a:gridCol w="838200">
                  <a:extLst>
                    <a:ext uri="{9D8B030D-6E8A-4147-A177-3AD203B41FA5}">
                      <a16:colId xmlns:a16="http://schemas.microsoft.com/office/drawing/2014/main" val="268179391"/>
                    </a:ext>
                  </a:extLst>
                </a:gridCol>
                <a:gridCol w="1752600">
                  <a:extLst>
                    <a:ext uri="{9D8B030D-6E8A-4147-A177-3AD203B41FA5}">
                      <a16:colId xmlns:a16="http://schemas.microsoft.com/office/drawing/2014/main" val="749133002"/>
                    </a:ext>
                  </a:extLst>
                </a:gridCol>
                <a:gridCol w="838200">
                  <a:extLst>
                    <a:ext uri="{9D8B030D-6E8A-4147-A177-3AD203B41FA5}">
                      <a16:colId xmlns:a16="http://schemas.microsoft.com/office/drawing/2014/main" val="935454273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1580234685"/>
                    </a:ext>
                  </a:extLst>
                </a:gridCol>
                <a:gridCol w="838200">
                  <a:extLst>
                    <a:ext uri="{9D8B030D-6E8A-4147-A177-3AD203B41FA5}">
                      <a16:colId xmlns:a16="http://schemas.microsoft.com/office/drawing/2014/main" val="1169743231"/>
                    </a:ext>
                  </a:extLst>
                </a:gridCol>
              </a:tblGrid>
              <a:tr h="533400">
                <a:tc rowSpan="2"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9000"/>
                        <a:buFont typeface="Wingdings" panose="05000000000000000000" pitchFamily="2" charset="2"/>
                        <a:defRPr kumimoji="1" sz="2400">
                          <a:solidFill>
                            <a:srgbClr val="3333CC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000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zh-CN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folHlink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语句</a:t>
                      </a:r>
                    </a:p>
                  </a:txBody>
                  <a:tcPr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2"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9000"/>
                        <a:buFont typeface="Wingdings" panose="05000000000000000000" pitchFamily="2" charset="2"/>
                        <a:defRPr kumimoji="1" sz="2400">
                          <a:solidFill>
                            <a:srgbClr val="3333CC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000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folHlink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p</a:t>
                      </a:r>
                      <a:r>
                        <a:rPr kumimoji="1" lang="zh-CN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folHlink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在寄存器</a:t>
                      </a:r>
                      <a:r>
                        <a:rPr kumimoji="1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folHlink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Rp</a:t>
                      </a:r>
                      <a:r>
                        <a:rPr kumimoji="1" lang="zh-CN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folHlink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中</a:t>
                      </a: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gridSpan="2"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9000"/>
                        <a:buFont typeface="Wingdings" panose="05000000000000000000" pitchFamily="2" charset="2"/>
                        <a:defRPr kumimoji="1" sz="2400">
                          <a:solidFill>
                            <a:srgbClr val="3333CC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000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folHlink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p</a:t>
                      </a:r>
                      <a:r>
                        <a:rPr kumimoji="1" lang="zh-CN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folHlink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在内存</a:t>
                      </a:r>
                      <a:r>
                        <a:rPr kumimoji="1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folHlink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Mp</a:t>
                      </a:r>
                      <a:r>
                        <a:rPr kumimoji="1" lang="zh-CN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folHlink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中</a:t>
                      </a: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gridSpan="2"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9000"/>
                        <a:buFont typeface="Wingdings" panose="05000000000000000000" pitchFamily="2" charset="2"/>
                        <a:defRPr kumimoji="1" sz="2400">
                          <a:solidFill>
                            <a:srgbClr val="3333CC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000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folHlink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p</a:t>
                      </a:r>
                      <a:r>
                        <a:rPr kumimoji="1" lang="zh-CN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folHlink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在栈中</a:t>
                      </a: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36986362"/>
                  </a:ext>
                </a:extLst>
              </a:tr>
              <a:tr h="458788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9000"/>
                        <a:buFont typeface="Wingdings" panose="05000000000000000000" pitchFamily="2" charset="2"/>
                        <a:defRPr kumimoji="1" sz="2400">
                          <a:solidFill>
                            <a:srgbClr val="3333CC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000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zh-CN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folHlink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代码</a:t>
                      </a: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9000"/>
                        <a:buFont typeface="Wingdings" panose="05000000000000000000" pitchFamily="2" charset="2"/>
                        <a:defRPr kumimoji="1" sz="2400">
                          <a:solidFill>
                            <a:srgbClr val="3333CC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000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zh-CN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folHlink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开销</a:t>
                      </a: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9000"/>
                        <a:buFont typeface="Wingdings" panose="05000000000000000000" pitchFamily="2" charset="2"/>
                        <a:defRPr kumimoji="1" sz="2400">
                          <a:solidFill>
                            <a:srgbClr val="3333CC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000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zh-CN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folHlink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代码</a:t>
                      </a: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9000"/>
                        <a:buFont typeface="Wingdings" panose="05000000000000000000" pitchFamily="2" charset="2"/>
                        <a:defRPr kumimoji="1" sz="2400">
                          <a:solidFill>
                            <a:srgbClr val="3333CC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000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zh-CN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folHlink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开销</a:t>
                      </a: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9000"/>
                        <a:buFont typeface="Wingdings" panose="05000000000000000000" pitchFamily="2" charset="2"/>
                        <a:defRPr kumimoji="1" sz="2400">
                          <a:solidFill>
                            <a:srgbClr val="3333CC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000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zh-CN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folHlink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代码</a:t>
                      </a: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9000"/>
                        <a:buFont typeface="Wingdings" panose="05000000000000000000" pitchFamily="2" charset="2"/>
                        <a:defRPr kumimoji="1" sz="2400">
                          <a:solidFill>
                            <a:srgbClr val="3333CC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000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zh-CN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folHlink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开销</a:t>
                      </a: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15053974"/>
                  </a:ext>
                </a:extLst>
              </a:tr>
              <a:tr h="0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9000"/>
                        <a:buFont typeface="Wingdings" panose="05000000000000000000" pitchFamily="2" charset="2"/>
                        <a:defRPr kumimoji="1" sz="2400">
                          <a:solidFill>
                            <a:srgbClr val="3333CC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000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a := *p</a:t>
                      </a:r>
                    </a:p>
                  </a:txBody>
                  <a:tcPr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9000"/>
                        <a:buFont typeface="Wingdings" panose="05000000000000000000" pitchFamily="2" charset="2"/>
                        <a:defRPr kumimoji="1" sz="2400">
                          <a:solidFill>
                            <a:srgbClr val="3333CC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000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MOV *Rp, a</a:t>
                      </a: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9000"/>
                        <a:buFont typeface="Wingdings" panose="05000000000000000000" pitchFamily="2" charset="2"/>
                        <a:defRPr kumimoji="1" sz="2400">
                          <a:solidFill>
                            <a:srgbClr val="3333CC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000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2</a:t>
                      </a: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9000"/>
                        <a:buFont typeface="Wingdings" panose="05000000000000000000" pitchFamily="2" charset="2"/>
                        <a:defRPr kumimoji="1" sz="2400">
                          <a:solidFill>
                            <a:srgbClr val="3333CC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000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MOV Mp, R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MOV *R, R</a:t>
                      </a: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9000"/>
                        <a:buFont typeface="Wingdings" panose="05000000000000000000" pitchFamily="2" charset="2"/>
                        <a:defRPr kumimoji="1" sz="2400">
                          <a:solidFill>
                            <a:srgbClr val="3333CC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000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3</a:t>
                      </a: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9000"/>
                        <a:buFont typeface="Wingdings" panose="05000000000000000000" pitchFamily="2" charset="2"/>
                        <a:defRPr kumimoji="1" sz="2400">
                          <a:solidFill>
                            <a:srgbClr val="3333CC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000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MOV Sp(A), R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MOV *R, R</a:t>
                      </a: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9000"/>
                        <a:buFont typeface="Wingdings" panose="05000000000000000000" pitchFamily="2" charset="2"/>
                        <a:defRPr kumimoji="1" sz="2400">
                          <a:solidFill>
                            <a:srgbClr val="3333CC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000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3</a:t>
                      </a: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78136474"/>
                  </a:ext>
                </a:extLst>
              </a:tr>
              <a:tr h="0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9000"/>
                        <a:buFont typeface="Wingdings" panose="05000000000000000000" pitchFamily="2" charset="2"/>
                        <a:defRPr kumimoji="1" sz="2400">
                          <a:solidFill>
                            <a:srgbClr val="3333CC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000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*p := a</a:t>
                      </a:r>
                    </a:p>
                  </a:txBody>
                  <a:tcPr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9000"/>
                        <a:buFont typeface="Wingdings" panose="05000000000000000000" pitchFamily="2" charset="2"/>
                        <a:defRPr kumimoji="1" sz="2400">
                          <a:solidFill>
                            <a:srgbClr val="3333CC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000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MOV a, *Rp</a:t>
                      </a: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9000"/>
                        <a:buFont typeface="Wingdings" panose="05000000000000000000" pitchFamily="2" charset="2"/>
                        <a:defRPr kumimoji="1" sz="2400">
                          <a:solidFill>
                            <a:srgbClr val="3333CC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000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2</a:t>
                      </a: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9000"/>
                        <a:buFont typeface="Wingdings" panose="05000000000000000000" pitchFamily="2" charset="2"/>
                        <a:defRPr kumimoji="1" sz="2400">
                          <a:solidFill>
                            <a:srgbClr val="3333CC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000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MOV Mp, R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MOV a, *R</a:t>
                      </a: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9000"/>
                        <a:buFont typeface="Wingdings" panose="05000000000000000000" pitchFamily="2" charset="2"/>
                        <a:defRPr kumimoji="1" sz="2400">
                          <a:solidFill>
                            <a:srgbClr val="3333CC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000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4</a:t>
                      </a: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9000"/>
                        <a:buFont typeface="Wingdings" panose="05000000000000000000" pitchFamily="2" charset="2"/>
                        <a:defRPr kumimoji="1" sz="2400">
                          <a:solidFill>
                            <a:srgbClr val="3333CC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000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MOV a, R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MOV R, *Sp(A)</a:t>
                      </a: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9000"/>
                        <a:buFont typeface="Wingdings" panose="05000000000000000000" pitchFamily="2" charset="2"/>
                        <a:defRPr kumimoji="1" sz="2400">
                          <a:solidFill>
                            <a:srgbClr val="3333CC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000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5</a:t>
                      </a: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5825379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Rectangle 2">
            <a:extLst>
              <a:ext uri="{FF2B5EF4-FFF2-40B4-BE49-F238E27FC236}">
                <a16:creationId xmlns:a16="http://schemas.microsoft.com/office/drawing/2014/main" id="{9EDF9B17-124E-4CCB-9316-0CFAA5EC30A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9.6.5  </a:t>
            </a:r>
            <a:r>
              <a:rPr lang="zh-CN" altLang="en-US"/>
              <a:t>条件转移语句</a:t>
            </a:r>
          </a:p>
        </p:txBody>
      </p:sp>
      <p:sp>
        <p:nvSpPr>
          <p:cNvPr id="52227" name="Rectangle 3">
            <a:extLst>
              <a:ext uri="{FF2B5EF4-FFF2-40B4-BE49-F238E27FC236}">
                <a16:creationId xmlns:a16="http://schemas.microsoft.com/office/drawing/2014/main" id="{3DA03146-3B45-4CAD-A48B-D5485FC5343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182688" y="1371600"/>
            <a:ext cx="7772400" cy="5486400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zh-CN" altLang="en-US"/>
              <a:t>两种实现方式</a:t>
            </a:r>
          </a:p>
          <a:p>
            <a:pPr lvl="1" eaLnBrk="1" hangingPunct="1">
              <a:lnSpc>
                <a:spcPct val="90000"/>
              </a:lnSpc>
            </a:pPr>
            <a:r>
              <a:rPr lang="zh-CN" altLang="en-US"/>
              <a:t>寄存器值符合六个条件之一：负数、零、正数、非负数、非零、非正数</a:t>
            </a:r>
          </a:p>
          <a:p>
            <a:pPr lvl="1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zh-CN" altLang="en-US"/>
              <a:t>	</a:t>
            </a:r>
            <a:r>
              <a:rPr lang="en-US" altLang="zh-CN"/>
              <a:t>if x &lt; y goto z </a:t>
            </a:r>
            <a:r>
              <a:rPr lang="en-US" altLang="zh-CN">
                <a:sym typeface="Wingdings" panose="05000000000000000000" pitchFamily="2" charset="2"/>
              </a:rPr>
              <a:t> x – y</a:t>
            </a:r>
            <a:r>
              <a:rPr lang="zh-CN" altLang="en-US">
                <a:sym typeface="Wingdings" panose="05000000000000000000" pitchFamily="2" charset="2"/>
              </a:rPr>
              <a:t>，</a:t>
            </a:r>
            <a:r>
              <a:rPr lang="en-US" altLang="zh-CN">
                <a:sym typeface="Wingdings" panose="05000000000000000000" pitchFamily="2" charset="2"/>
              </a:rPr>
              <a:t>if </a:t>
            </a:r>
            <a:r>
              <a:rPr lang="zh-CN" altLang="en-US">
                <a:sym typeface="Wingdings" panose="05000000000000000000" pitchFamily="2" charset="2"/>
              </a:rPr>
              <a:t>负数 </a:t>
            </a:r>
            <a:r>
              <a:rPr lang="en-US" altLang="zh-CN">
                <a:sym typeface="Wingdings" panose="05000000000000000000" pitchFamily="2" charset="2"/>
              </a:rPr>
              <a:t>goto z</a:t>
            </a:r>
          </a:p>
          <a:p>
            <a:pPr lvl="1" eaLnBrk="1" hangingPunct="1">
              <a:lnSpc>
                <a:spcPct val="90000"/>
              </a:lnSpc>
            </a:pPr>
            <a:r>
              <a:rPr lang="zh-CN" altLang="en-US"/>
              <a:t>条件代码</a:t>
            </a:r>
          </a:p>
          <a:p>
            <a:pPr lvl="1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zh-CN" altLang="en-US"/>
              <a:t>	</a:t>
            </a:r>
            <a:r>
              <a:rPr lang="en-US" altLang="zh-CN"/>
              <a:t>if x &lt; y goto z </a:t>
            </a:r>
            <a:r>
              <a:rPr lang="en-US" altLang="zh-CN">
                <a:sym typeface="Wingdings" panose="05000000000000000000" pitchFamily="2" charset="2"/>
              </a:rPr>
              <a:t>	CMP x, y</a:t>
            </a:r>
          </a:p>
          <a:p>
            <a:pPr lvl="1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>
                <a:sym typeface="Wingdings" panose="05000000000000000000" pitchFamily="2" charset="2"/>
              </a:rPr>
              <a:t>					CJ&lt;   z</a:t>
            </a:r>
          </a:p>
          <a:p>
            <a:pPr lvl="1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>
                <a:sym typeface="Wingdings" panose="05000000000000000000" pitchFamily="2" charset="2"/>
              </a:rPr>
              <a:t>	x := y + z		MOV y, R0</a:t>
            </a:r>
          </a:p>
          <a:p>
            <a:pPr lvl="1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>
                <a:sym typeface="Wingdings" panose="05000000000000000000" pitchFamily="2" charset="2"/>
              </a:rPr>
              <a:t>	if x &lt; 0 goto z	ADD z, R0</a:t>
            </a:r>
          </a:p>
          <a:p>
            <a:pPr lvl="1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>
                <a:sym typeface="Wingdings" panose="05000000000000000000" pitchFamily="2" charset="2"/>
              </a:rPr>
              <a:t>					MOV R0, x</a:t>
            </a:r>
          </a:p>
          <a:p>
            <a:pPr lvl="1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>
                <a:sym typeface="Wingdings" panose="05000000000000000000" pitchFamily="2" charset="2"/>
              </a:rPr>
              <a:t>					CJ&lt;	z</a:t>
            </a:r>
            <a:endParaRPr lang="en-US" altLang="zh-CN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Rectangle 2">
            <a:extLst>
              <a:ext uri="{FF2B5EF4-FFF2-40B4-BE49-F238E27FC236}">
                <a16:creationId xmlns:a16="http://schemas.microsoft.com/office/drawing/2014/main" id="{88F9920B-D06C-48EE-88FB-093BF5C1A38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9.7  </a:t>
            </a:r>
            <a:r>
              <a:rPr lang="zh-CN" altLang="en-US"/>
              <a:t>寄存器分配和指定</a:t>
            </a:r>
          </a:p>
        </p:txBody>
      </p:sp>
      <p:sp>
        <p:nvSpPr>
          <p:cNvPr id="53251" name="Rectangle 3">
            <a:extLst>
              <a:ext uri="{FF2B5EF4-FFF2-40B4-BE49-F238E27FC236}">
                <a16:creationId xmlns:a16="http://schemas.microsoft.com/office/drawing/2014/main" id="{3635A2EB-47D2-4A6B-8677-458510034D4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寄存器操作比内存操作代码短，速度快</a:t>
            </a:r>
          </a:p>
          <a:p>
            <a:pPr eaLnBrk="1" hangingPunct="1"/>
            <a:r>
              <a:rPr lang="zh-CN" altLang="en-US"/>
              <a:t>分配：确定哪些值保存在寄存器中</a:t>
            </a:r>
          </a:p>
          <a:p>
            <a:pPr eaLnBrk="1" hangingPunct="1"/>
            <a:r>
              <a:rPr lang="zh-CN" altLang="en-US"/>
              <a:t>指定：确定每个值具体保存在哪个寄存器中</a:t>
            </a:r>
          </a:p>
          <a:p>
            <a:pPr eaLnBrk="1" hangingPunct="1"/>
            <a:r>
              <a:rPr lang="zh-CN" altLang="en-US"/>
              <a:t>寄存器分组</a:t>
            </a:r>
          </a:p>
          <a:p>
            <a:pPr lvl="1" eaLnBrk="1" hangingPunct="1"/>
            <a:r>
              <a:rPr lang="zh-CN" altLang="en-US"/>
              <a:t>基地址、数学运算、栈地址</a:t>
            </a:r>
            <a:r>
              <a:rPr lang="en-US" altLang="zh-CN"/>
              <a:t>…</a:t>
            </a:r>
          </a:p>
          <a:p>
            <a:pPr lvl="1" eaLnBrk="1" hangingPunct="1"/>
            <a:r>
              <a:rPr lang="zh-CN" altLang="en-US"/>
              <a:t>简单、低效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Rectangle 2">
            <a:extLst>
              <a:ext uri="{FF2B5EF4-FFF2-40B4-BE49-F238E27FC236}">
                <a16:creationId xmlns:a16="http://schemas.microsoft.com/office/drawing/2014/main" id="{A3B497BC-5981-41E7-BB88-2DD4E88BA7A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9.7.1  </a:t>
            </a:r>
            <a:r>
              <a:rPr lang="zh-CN" altLang="en-US"/>
              <a:t>全局寄存器分配</a:t>
            </a:r>
          </a:p>
        </p:txBody>
      </p:sp>
      <p:sp>
        <p:nvSpPr>
          <p:cNvPr id="54275" name="Rectangle 3">
            <a:extLst>
              <a:ext uri="{FF2B5EF4-FFF2-40B4-BE49-F238E27FC236}">
                <a16:creationId xmlns:a16="http://schemas.microsoft.com/office/drawing/2014/main" id="{60ED44DE-1034-475F-90E1-9C5E3316BCC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9.6</a:t>
            </a:r>
            <a:r>
              <a:rPr lang="zh-CN" altLang="en-US"/>
              <a:t>节，基本块出口，寄存器</a:t>
            </a:r>
            <a:r>
              <a:rPr lang="zh-CN" altLang="en-US">
                <a:sym typeface="Wingdings" panose="05000000000000000000" pitchFamily="2" charset="2"/>
              </a:rPr>
              <a:t>内存</a:t>
            </a:r>
          </a:p>
          <a:p>
            <a:pPr lvl="1" eaLnBrk="1" hangingPunct="1"/>
            <a:r>
              <a:rPr lang="zh-CN" altLang="en-US"/>
              <a:t>避免复制，将最常用的变量保持在寄存器中</a:t>
            </a:r>
          </a:p>
          <a:p>
            <a:pPr lvl="1" eaLnBrk="1" hangingPunct="1"/>
            <a:r>
              <a:rPr lang="zh-CN" altLang="en-US"/>
              <a:t>跨越基本块边界</a:t>
            </a:r>
            <a:r>
              <a:rPr lang="en-US" altLang="zh-CN"/>
              <a:t>——</a:t>
            </a:r>
            <a:r>
              <a:rPr lang="zh-CN" altLang="en-US"/>
              <a:t>全局</a:t>
            </a:r>
          </a:p>
          <a:p>
            <a:pPr lvl="1" eaLnBrk="1" hangingPunct="1"/>
            <a:r>
              <a:rPr lang="zh-CN" altLang="en-US"/>
              <a:t>循环</a:t>
            </a:r>
          </a:p>
          <a:p>
            <a:pPr lvl="1" eaLnBrk="1" hangingPunct="1"/>
            <a:r>
              <a:rPr lang="zh-CN" altLang="en-US"/>
              <a:t>使用固定一组寄存器保存每个内存循环中最活跃的变量</a:t>
            </a:r>
          </a:p>
          <a:p>
            <a:pPr lvl="1" eaLnBrk="1" hangingPunct="1"/>
            <a:r>
              <a:rPr lang="en-US" altLang="zh-CN"/>
              <a:t>C</a:t>
            </a:r>
            <a:r>
              <a:rPr lang="zh-CN" altLang="en-US"/>
              <a:t>运行程序员指定寄存器分配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Rectangle 2">
            <a:extLst>
              <a:ext uri="{FF2B5EF4-FFF2-40B4-BE49-F238E27FC236}">
                <a16:creationId xmlns:a16="http://schemas.microsoft.com/office/drawing/2014/main" id="{C55EA1EA-9340-4A65-A216-82C6C66E73C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9.7.2  </a:t>
            </a:r>
            <a:r>
              <a:rPr lang="zh-CN" altLang="en-US"/>
              <a:t>引用计数</a:t>
            </a:r>
          </a:p>
        </p:txBody>
      </p:sp>
      <p:sp>
        <p:nvSpPr>
          <p:cNvPr id="55299" name="Rectangle 3">
            <a:extLst>
              <a:ext uri="{FF2B5EF4-FFF2-40B4-BE49-F238E27FC236}">
                <a16:creationId xmlns:a16="http://schemas.microsoft.com/office/drawing/2014/main" id="{21021405-53A4-41F1-82A6-E06BD8090FA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182688" y="1371600"/>
            <a:ext cx="7772400" cy="4343400"/>
          </a:xfrm>
        </p:spPr>
        <p:txBody>
          <a:bodyPr/>
          <a:lstStyle/>
          <a:p>
            <a:pPr eaLnBrk="1" hangingPunct="1"/>
            <a:r>
              <a:rPr lang="zh-CN" altLang="en-US"/>
              <a:t>假定访问寄存器比访问内存节省开销</a:t>
            </a:r>
            <a:r>
              <a:rPr lang="en-US" altLang="zh-CN"/>
              <a:t>1</a:t>
            </a:r>
          </a:p>
          <a:p>
            <a:pPr eaLnBrk="1" hangingPunct="1"/>
            <a:r>
              <a:rPr lang="zh-CN" altLang="en-US"/>
              <a:t>循环</a:t>
            </a:r>
            <a:r>
              <a:rPr lang="en-US" altLang="zh-CN"/>
              <a:t>L</a:t>
            </a:r>
            <a:r>
              <a:rPr lang="zh-CN" altLang="en-US"/>
              <a:t>，定义</a:t>
            </a:r>
            <a:r>
              <a:rPr lang="en-US" altLang="zh-CN"/>
              <a:t>x</a:t>
            </a:r>
          </a:p>
          <a:p>
            <a:pPr lvl="1" eaLnBrk="1" hangingPunct="1"/>
            <a:r>
              <a:rPr lang="en-US" altLang="zh-CN"/>
              <a:t>9.6</a:t>
            </a:r>
            <a:r>
              <a:rPr lang="zh-CN" altLang="en-US"/>
              <a:t>节：定义之后若有引用，</a:t>
            </a:r>
            <a:r>
              <a:rPr lang="en-US" altLang="zh-CN"/>
              <a:t>x</a:t>
            </a:r>
            <a:r>
              <a:rPr lang="zh-CN" altLang="en-US"/>
              <a:t>将保留在寄存器中，而定义之前的引用需访问内存</a:t>
            </a:r>
          </a:p>
          <a:p>
            <a:pPr lvl="1" eaLnBrk="1" hangingPunct="1"/>
            <a:r>
              <a:rPr lang="zh-CN" altLang="en-US"/>
              <a:t>优化：</a:t>
            </a:r>
            <a:r>
              <a:rPr lang="en-US" altLang="zh-CN"/>
              <a:t>x</a:t>
            </a:r>
            <a:r>
              <a:rPr lang="zh-CN" altLang="en-US"/>
              <a:t>一直保存在寄存器中，定义之前的引用变为访问寄存器，节省开销</a:t>
            </a:r>
            <a:r>
              <a:rPr lang="en-US" altLang="zh-CN"/>
              <a:t>1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Rectangle 2">
            <a:extLst>
              <a:ext uri="{FF2B5EF4-FFF2-40B4-BE49-F238E27FC236}">
                <a16:creationId xmlns:a16="http://schemas.microsoft.com/office/drawing/2014/main" id="{A86C49B7-A066-4056-A0FA-8DC09AD3B77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节省开销（续）</a:t>
            </a:r>
          </a:p>
        </p:txBody>
      </p:sp>
      <p:sp>
        <p:nvSpPr>
          <p:cNvPr id="56323" name="Rectangle 3">
            <a:extLst>
              <a:ext uri="{FF2B5EF4-FFF2-40B4-BE49-F238E27FC236}">
                <a16:creationId xmlns:a16="http://schemas.microsoft.com/office/drawing/2014/main" id="{7662FAAC-F1EF-4AE8-A9FC-EFDD10BAA45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182688" y="1371600"/>
            <a:ext cx="7772400" cy="4343400"/>
          </a:xfrm>
        </p:spPr>
        <p:txBody>
          <a:bodyPr/>
          <a:lstStyle/>
          <a:p>
            <a:pPr eaLnBrk="1" hangingPunct="1"/>
            <a:r>
              <a:rPr lang="zh-CN" altLang="en-US"/>
              <a:t>块结束时变量活跃，在块中被定义，后继块中被引用</a:t>
            </a:r>
          </a:p>
          <a:p>
            <a:pPr lvl="1" eaLnBrk="1" hangingPunct="1"/>
            <a:r>
              <a:rPr lang="en-US" altLang="zh-CN"/>
              <a:t>9.6</a:t>
            </a:r>
            <a:r>
              <a:rPr lang="zh-CN" altLang="en-US"/>
              <a:t>节：保存至内存，后继块又需读出到寄存器</a:t>
            </a:r>
          </a:p>
          <a:p>
            <a:pPr lvl="1" eaLnBrk="1" hangingPunct="1"/>
            <a:r>
              <a:rPr lang="zh-CN" altLang="en-US"/>
              <a:t>优化：无需保存和读出，节省开销</a:t>
            </a:r>
            <a:r>
              <a:rPr lang="en-US" altLang="zh-CN"/>
              <a:t>2</a:t>
            </a:r>
          </a:p>
        </p:txBody>
      </p:sp>
      <p:graphicFrame>
        <p:nvGraphicFramePr>
          <p:cNvPr id="56324" name="Object 4">
            <a:extLst>
              <a:ext uri="{FF2B5EF4-FFF2-40B4-BE49-F238E27FC236}">
                <a16:creationId xmlns:a16="http://schemas.microsoft.com/office/drawing/2014/main" id="{8265C839-455B-446E-B5B4-D776F1EBE59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905000" y="4114800"/>
          <a:ext cx="6096000" cy="11382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6330" name="Equation" r:id="rId3" imgW="1904174" imgH="355446" progId="Equation.3">
                  <p:embed/>
                </p:oleObj>
              </mc:Choice>
              <mc:Fallback>
                <p:oleObj name="Equation" r:id="rId3" imgW="1904174" imgH="355446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05000" y="4114800"/>
                        <a:ext cx="6096000" cy="11382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Rectangle 2">
            <a:extLst>
              <a:ext uri="{FF2B5EF4-FFF2-40B4-BE49-F238E27FC236}">
                <a16:creationId xmlns:a16="http://schemas.microsoft.com/office/drawing/2014/main" id="{011F16CA-C630-41FB-8CD2-CBEB917B9B9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例</a:t>
            </a:r>
            <a:r>
              <a:rPr lang="en-US" altLang="zh-CN"/>
              <a:t>9.6</a:t>
            </a:r>
          </a:p>
        </p:txBody>
      </p:sp>
      <p:sp>
        <p:nvSpPr>
          <p:cNvPr id="57347" name="Text Box 5">
            <a:extLst>
              <a:ext uri="{FF2B5EF4-FFF2-40B4-BE49-F238E27FC236}">
                <a16:creationId xmlns:a16="http://schemas.microsoft.com/office/drawing/2014/main" id="{BA855753-6B8F-4001-8269-8042A3AB8661}"/>
              </a:ext>
            </a:extLst>
          </p:cNvPr>
          <p:cNvSpPr txBox="1">
            <a:spLocks noChangeArrowheads="1"/>
          </p:cNvSpPr>
          <p:nvPr/>
        </p:nvSpPr>
        <p:spPr bwMode="ltGray">
          <a:xfrm>
            <a:off x="3276600" y="1828800"/>
            <a:ext cx="2209800" cy="119697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CF0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algn="ctr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algn="ctr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algn="ctr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algn="ctr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algn="ctr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/>
              <a:t>a := b + c</a:t>
            </a:r>
            <a:br>
              <a:rPr lang="en-US" altLang="zh-CN"/>
            </a:br>
            <a:r>
              <a:rPr lang="en-US" altLang="zh-CN"/>
              <a:t>d := d – b</a:t>
            </a:r>
            <a:br>
              <a:rPr lang="en-US" altLang="zh-CN"/>
            </a:br>
            <a:r>
              <a:rPr lang="en-US" altLang="zh-CN"/>
              <a:t>e := a + f</a:t>
            </a:r>
          </a:p>
        </p:txBody>
      </p:sp>
      <p:sp>
        <p:nvSpPr>
          <p:cNvPr id="57348" name="Text Box 6">
            <a:extLst>
              <a:ext uri="{FF2B5EF4-FFF2-40B4-BE49-F238E27FC236}">
                <a16:creationId xmlns:a16="http://schemas.microsoft.com/office/drawing/2014/main" id="{C1104E06-A462-4DDF-8A98-AD339FA2A879}"/>
              </a:ext>
            </a:extLst>
          </p:cNvPr>
          <p:cNvSpPr txBox="1">
            <a:spLocks noChangeArrowheads="1"/>
          </p:cNvSpPr>
          <p:nvPr/>
        </p:nvSpPr>
        <p:spPr bwMode="ltGray">
          <a:xfrm>
            <a:off x="5486400" y="2209800"/>
            <a:ext cx="5334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CF0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algn="ctr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algn="ctr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algn="ctr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algn="ctr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algn="ctr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>
                <a:solidFill>
                  <a:schemeClr val="folHlink"/>
                </a:solidFill>
              </a:rPr>
              <a:t>B</a:t>
            </a:r>
            <a:r>
              <a:rPr lang="en-US" altLang="zh-CN" baseline="-25000">
                <a:solidFill>
                  <a:schemeClr val="folHlink"/>
                </a:solidFill>
              </a:rPr>
              <a:t>1</a:t>
            </a:r>
            <a:endParaRPr lang="en-US" altLang="zh-CN">
              <a:solidFill>
                <a:schemeClr val="folHlink"/>
              </a:solidFill>
            </a:endParaRPr>
          </a:p>
        </p:txBody>
      </p:sp>
      <p:sp>
        <p:nvSpPr>
          <p:cNvPr id="57349" name="Text Box 7">
            <a:extLst>
              <a:ext uri="{FF2B5EF4-FFF2-40B4-BE49-F238E27FC236}">
                <a16:creationId xmlns:a16="http://schemas.microsoft.com/office/drawing/2014/main" id="{80343EB7-9833-4518-BA0F-303F43EB167E}"/>
              </a:ext>
            </a:extLst>
          </p:cNvPr>
          <p:cNvSpPr txBox="1">
            <a:spLocks noChangeArrowheads="1"/>
          </p:cNvSpPr>
          <p:nvPr/>
        </p:nvSpPr>
        <p:spPr bwMode="ltGray">
          <a:xfrm>
            <a:off x="3886200" y="2971800"/>
            <a:ext cx="9144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CF0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algn="ctr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algn="ctr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algn="ctr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algn="ctr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algn="ctr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>
                <a:solidFill>
                  <a:schemeClr val="folHlink"/>
                </a:solidFill>
              </a:rPr>
              <a:t>acdef</a:t>
            </a:r>
          </a:p>
        </p:txBody>
      </p:sp>
      <p:sp>
        <p:nvSpPr>
          <p:cNvPr id="57350" name="Text Box 8">
            <a:extLst>
              <a:ext uri="{FF2B5EF4-FFF2-40B4-BE49-F238E27FC236}">
                <a16:creationId xmlns:a16="http://schemas.microsoft.com/office/drawing/2014/main" id="{F1C25A04-605A-4E08-8801-EAD7600FD734}"/>
              </a:ext>
            </a:extLst>
          </p:cNvPr>
          <p:cNvSpPr txBox="1">
            <a:spLocks noChangeArrowheads="1"/>
          </p:cNvSpPr>
          <p:nvPr/>
        </p:nvSpPr>
        <p:spPr bwMode="ltGray">
          <a:xfrm>
            <a:off x="5410200" y="3581400"/>
            <a:ext cx="2209800" cy="83185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CF0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algn="ctr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algn="ctr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algn="ctr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algn="ctr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algn="ctr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/>
              <a:t>b := d + f</a:t>
            </a:r>
            <a:br>
              <a:rPr lang="en-US" altLang="zh-CN"/>
            </a:br>
            <a:r>
              <a:rPr lang="en-US" altLang="zh-CN"/>
              <a:t>e := a – c</a:t>
            </a:r>
          </a:p>
        </p:txBody>
      </p:sp>
      <p:sp>
        <p:nvSpPr>
          <p:cNvPr id="57351" name="Text Box 9">
            <a:extLst>
              <a:ext uri="{FF2B5EF4-FFF2-40B4-BE49-F238E27FC236}">
                <a16:creationId xmlns:a16="http://schemas.microsoft.com/office/drawing/2014/main" id="{90550806-A8E5-405C-ACD1-C4997A6E1E0A}"/>
              </a:ext>
            </a:extLst>
          </p:cNvPr>
          <p:cNvSpPr txBox="1">
            <a:spLocks noChangeArrowheads="1"/>
          </p:cNvSpPr>
          <p:nvPr/>
        </p:nvSpPr>
        <p:spPr bwMode="ltGray">
          <a:xfrm>
            <a:off x="6858000" y="3200400"/>
            <a:ext cx="9144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CF0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algn="ctr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algn="ctr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algn="ctr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algn="ctr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algn="ctr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>
                <a:solidFill>
                  <a:schemeClr val="folHlink"/>
                </a:solidFill>
              </a:rPr>
              <a:t>acdf</a:t>
            </a:r>
          </a:p>
        </p:txBody>
      </p:sp>
      <p:sp>
        <p:nvSpPr>
          <p:cNvPr id="57352" name="Text Box 10">
            <a:extLst>
              <a:ext uri="{FF2B5EF4-FFF2-40B4-BE49-F238E27FC236}">
                <a16:creationId xmlns:a16="http://schemas.microsoft.com/office/drawing/2014/main" id="{C82E04F6-A59A-4F6F-88C8-0153E6942E59}"/>
              </a:ext>
            </a:extLst>
          </p:cNvPr>
          <p:cNvSpPr txBox="1">
            <a:spLocks noChangeArrowheads="1"/>
          </p:cNvSpPr>
          <p:nvPr/>
        </p:nvSpPr>
        <p:spPr bwMode="ltGray">
          <a:xfrm>
            <a:off x="6477000" y="4343400"/>
            <a:ext cx="990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CF0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algn="ctr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algn="ctr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algn="ctr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algn="ctr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algn="ctr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>
                <a:solidFill>
                  <a:schemeClr val="folHlink"/>
                </a:solidFill>
              </a:rPr>
              <a:t>bcdef</a:t>
            </a:r>
          </a:p>
        </p:txBody>
      </p:sp>
      <p:sp>
        <p:nvSpPr>
          <p:cNvPr id="57353" name="Text Box 11">
            <a:extLst>
              <a:ext uri="{FF2B5EF4-FFF2-40B4-BE49-F238E27FC236}">
                <a16:creationId xmlns:a16="http://schemas.microsoft.com/office/drawing/2014/main" id="{89DBCE49-79DB-45C9-A074-C6A65FA5E0B6}"/>
              </a:ext>
            </a:extLst>
          </p:cNvPr>
          <p:cNvSpPr txBox="1">
            <a:spLocks noChangeArrowheads="1"/>
          </p:cNvSpPr>
          <p:nvPr/>
        </p:nvSpPr>
        <p:spPr bwMode="ltGray">
          <a:xfrm>
            <a:off x="1143000" y="3581400"/>
            <a:ext cx="2209800" cy="46672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CF0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algn="ctr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algn="ctr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algn="ctr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algn="ctr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algn="ctr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/>
              <a:t>f := a – d</a:t>
            </a:r>
          </a:p>
        </p:txBody>
      </p:sp>
      <p:sp>
        <p:nvSpPr>
          <p:cNvPr id="57354" name="Text Box 12">
            <a:extLst>
              <a:ext uri="{FF2B5EF4-FFF2-40B4-BE49-F238E27FC236}">
                <a16:creationId xmlns:a16="http://schemas.microsoft.com/office/drawing/2014/main" id="{ADB9FED0-0A64-4AA9-9EBA-761DA69C4234}"/>
              </a:ext>
            </a:extLst>
          </p:cNvPr>
          <p:cNvSpPr txBox="1">
            <a:spLocks noChangeArrowheads="1"/>
          </p:cNvSpPr>
          <p:nvPr/>
        </p:nvSpPr>
        <p:spPr bwMode="ltGray">
          <a:xfrm>
            <a:off x="990600" y="3200400"/>
            <a:ext cx="9144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CF0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algn="ctr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algn="ctr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algn="ctr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algn="ctr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algn="ctr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>
                <a:solidFill>
                  <a:schemeClr val="folHlink"/>
                </a:solidFill>
              </a:rPr>
              <a:t>acde</a:t>
            </a:r>
          </a:p>
        </p:txBody>
      </p:sp>
      <p:sp>
        <p:nvSpPr>
          <p:cNvPr id="57355" name="Text Box 13">
            <a:extLst>
              <a:ext uri="{FF2B5EF4-FFF2-40B4-BE49-F238E27FC236}">
                <a16:creationId xmlns:a16="http://schemas.microsoft.com/office/drawing/2014/main" id="{432B027A-5340-49BC-B1AA-1BBDAFB5DADC}"/>
              </a:ext>
            </a:extLst>
          </p:cNvPr>
          <p:cNvSpPr txBox="1">
            <a:spLocks noChangeArrowheads="1"/>
          </p:cNvSpPr>
          <p:nvPr/>
        </p:nvSpPr>
        <p:spPr bwMode="ltGray">
          <a:xfrm>
            <a:off x="1066800" y="3962400"/>
            <a:ext cx="76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CF0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algn="ctr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algn="ctr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algn="ctr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algn="ctr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algn="ctr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>
                <a:solidFill>
                  <a:schemeClr val="folHlink"/>
                </a:solidFill>
              </a:rPr>
              <a:t>cdef</a:t>
            </a:r>
          </a:p>
        </p:txBody>
      </p:sp>
      <p:sp>
        <p:nvSpPr>
          <p:cNvPr id="57356" name="Text Box 14">
            <a:extLst>
              <a:ext uri="{FF2B5EF4-FFF2-40B4-BE49-F238E27FC236}">
                <a16:creationId xmlns:a16="http://schemas.microsoft.com/office/drawing/2014/main" id="{A472A952-F35A-42F4-BFFE-625C1C44890C}"/>
              </a:ext>
            </a:extLst>
          </p:cNvPr>
          <p:cNvSpPr txBox="1">
            <a:spLocks noChangeArrowheads="1"/>
          </p:cNvSpPr>
          <p:nvPr/>
        </p:nvSpPr>
        <p:spPr bwMode="ltGray">
          <a:xfrm>
            <a:off x="3276600" y="4953000"/>
            <a:ext cx="2209800" cy="46672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CF0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algn="ctr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algn="ctr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algn="ctr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algn="ctr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algn="ctr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/>
              <a:t>b := d + c</a:t>
            </a:r>
          </a:p>
        </p:txBody>
      </p:sp>
      <p:sp>
        <p:nvSpPr>
          <p:cNvPr id="57357" name="Text Box 15">
            <a:extLst>
              <a:ext uri="{FF2B5EF4-FFF2-40B4-BE49-F238E27FC236}">
                <a16:creationId xmlns:a16="http://schemas.microsoft.com/office/drawing/2014/main" id="{23375686-918F-4F36-992E-56A01806792F}"/>
              </a:ext>
            </a:extLst>
          </p:cNvPr>
          <p:cNvSpPr txBox="1">
            <a:spLocks noChangeArrowheads="1"/>
          </p:cNvSpPr>
          <p:nvPr/>
        </p:nvSpPr>
        <p:spPr bwMode="ltGray">
          <a:xfrm>
            <a:off x="3962400" y="4572000"/>
            <a:ext cx="9144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CF0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algn="ctr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algn="ctr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algn="ctr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algn="ctr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algn="ctr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>
                <a:solidFill>
                  <a:schemeClr val="folHlink"/>
                </a:solidFill>
              </a:rPr>
              <a:t>cdef</a:t>
            </a:r>
          </a:p>
        </p:txBody>
      </p:sp>
      <p:sp>
        <p:nvSpPr>
          <p:cNvPr id="57358" name="Text Box 16">
            <a:extLst>
              <a:ext uri="{FF2B5EF4-FFF2-40B4-BE49-F238E27FC236}">
                <a16:creationId xmlns:a16="http://schemas.microsoft.com/office/drawing/2014/main" id="{6296737E-67AD-4E5C-B554-094AF60E286C}"/>
              </a:ext>
            </a:extLst>
          </p:cNvPr>
          <p:cNvSpPr txBox="1">
            <a:spLocks noChangeArrowheads="1"/>
          </p:cNvSpPr>
          <p:nvPr/>
        </p:nvSpPr>
        <p:spPr bwMode="ltGray">
          <a:xfrm>
            <a:off x="3962400" y="5334000"/>
            <a:ext cx="990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CF0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algn="ctr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algn="ctr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algn="ctr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algn="ctr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algn="ctr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>
                <a:solidFill>
                  <a:schemeClr val="folHlink"/>
                </a:solidFill>
              </a:rPr>
              <a:t>bcdef</a:t>
            </a:r>
          </a:p>
        </p:txBody>
      </p:sp>
      <p:sp>
        <p:nvSpPr>
          <p:cNvPr id="57359" name="Line 17">
            <a:extLst>
              <a:ext uri="{FF2B5EF4-FFF2-40B4-BE49-F238E27FC236}">
                <a16:creationId xmlns:a16="http://schemas.microsoft.com/office/drawing/2014/main" id="{96693ACA-D6A6-4DB2-8887-616ECE806210}"/>
              </a:ext>
            </a:extLst>
          </p:cNvPr>
          <p:cNvSpPr>
            <a:spLocks noChangeShapeType="1"/>
          </p:cNvSpPr>
          <p:nvPr/>
        </p:nvSpPr>
        <p:spPr bwMode="ltGray">
          <a:xfrm flipH="1">
            <a:off x="2286000" y="3048000"/>
            <a:ext cx="990600" cy="533400"/>
          </a:xfrm>
          <a:prstGeom prst="line">
            <a:avLst/>
          </a:prstGeom>
          <a:noFill/>
          <a:ln w="25400">
            <a:solidFill>
              <a:srgbClr val="FF33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7360" name="Line 18">
            <a:extLst>
              <a:ext uri="{FF2B5EF4-FFF2-40B4-BE49-F238E27FC236}">
                <a16:creationId xmlns:a16="http://schemas.microsoft.com/office/drawing/2014/main" id="{9C866A8B-4D53-40EF-8295-4E6F509AFD92}"/>
              </a:ext>
            </a:extLst>
          </p:cNvPr>
          <p:cNvSpPr>
            <a:spLocks noChangeShapeType="1"/>
          </p:cNvSpPr>
          <p:nvPr/>
        </p:nvSpPr>
        <p:spPr bwMode="ltGray">
          <a:xfrm>
            <a:off x="5486400" y="3048000"/>
            <a:ext cx="1066800" cy="533400"/>
          </a:xfrm>
          <a:prstGeom prst="line">
            <a:avLst/>
          </a:prstGeom>
          <a:noFill/>
          <a:ln w="25400">
            <a:solidFill>
              <a:srgbClr val="FF33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7361" name="Line 19">
            <a:extLst>
              <a:ext uri="{FF2B5EF4-FFF2-40B4-BE49-F238E27FC236}">
                <a16:creationId xmlns:a16="http://schemas.microsoft.com/office/drawing/2014/main" id="{C84E75E6-B333-43C2-8066-669F14654510}"/>
              </a:ext>
            </a:extLst>
          </p:cNvPr>
          <p:cNvSpPr>
            <a:spLocks noChangeShapeType="1"/>
          </p:cNvSpPr>
          <p:nvPr/>
        </p:nvSpPr>
        <p:spPr bwMode="ltGray">
          <a:xfrm>
            <a:off x="2286000" y="4038600"/>
            <a:ext cx="990600" cy="914400"/>
          </a:xfrm>
          <a:prstGeom prst="line">
            <a:avLst/>
          </a:prstGeom>
          <a:noFill/>
          <a:ln w="25400">
            <a:solidFill>
              <a:srgbClr val="FF33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7362" name="Line 20">
            <a:extLst>
              <a:ext uri="{FF2B5EF4-FFF2-40B4-BE49-F238E27FC236}">
                <a16:creationId xmlns:a16="http://schemas.microsoft.com/office/drawing/2014/main" id="{7DA974FD-9580-46E6-95D9-7754C6C82425}"/>
              </a:ext>
            </a:extLst>
          </p:cNvPr>
          <p:cNvSpPr>
            <a:spLocks noChangeShapeType="1"/>
          </p:cNvSpPr>
          <p:nvPr/>
        </p:nvSpPr>
        <p:spPr bwMode="ltGray">
          <a:xfrm flipH="1">
            <a:off x="5486400" y="4419600"/>
            <a:ext cx="1066800" cy="533400"/>
          </a:xfrm>
          <a:prstGeom prst="line">
            <a:avLst/>
          </a:prstGeom>
          <a:noFill/>
          <a:ln w="25400">
            <a:solidFill>
              <a:srgbClr val="FF33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7363" name="Line 21">
            <a:extLst>
              <a:ext uri="{FF2B5EF4-FFF2-40B4-BE49-F238E27FC236}">
                <a16:creationId xmlns:a16="http://schemas.microsoft.com/office/drawing/2014/main" id="{06FCE760-30EB-460C-B508-72D66F29572D}"/>
              </a:ext>
            </a:extLst>
          </p:cNvPr>
          <p:cNvSpPr>
            <a:spLocks noChangeShapeType="1"/>
          </p:cNvSpPr>
          <p:nvPr/>
        </p:nvSpPr>
        <p:spPr bwMode="ltGray">
          <a:xfrm>
            <a:off x="7620000" y="4419600"/>
            <a:ext cx="304800" cy="457200"/>
          </a:xfrm>
          <a:prstGeom prst="line">
            <a:avLst/>
          </a:prstGeom>
          <a:noFill/>
          <a:ln w="25400">
            <a:solidFill>
              <a:srgbClr val="FF33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7364" name="Text Box 22">
            <a:extLst>
              <a:ext uri="{FF2B5EF4-FFF2-40B4-BE49-F238E27FC236}">
                <a16:creationId xmlns:a16="http://schemas.microsoft.com/office/drawing/2014/main" id="{39587723-D144-47BA-A5CE-8908BEF8587E}"/>
              </a:ext>
            </a:extLst>
          </p:cNvPr>
          <p:cNvSpPr txBox="1">
            <a:spLocks noChangeArrowheads="1"/>
          </p:cNvSpPr>
          <p:nvPr/>
        </p:nvSpPr>
        <p:spPr bwMode="ltGray">
          <a:xfrm>
            <a:off x="6858000" y="4800600"/>
            <a:ext cx="152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CF0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algn="ctr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algn="ctr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algn="ctr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algn="ctr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algn="ctr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>
                <a:solidFill>
                  <a:schemeClr val="folHlink"/>
                </a:solidFill>
              </a:rPr>
              <a:t>bdef</a:t>
            </a:r>
            <a:r>
              <a:rPr lang="zh-CN" altLang="en-US">
                <a:solidFill>
                  <a:schemeClr val="folHlink"/>
                </a:solidFill>
              </a:rPr>
              <a:t>活跃</a:t>
            </a:r>
          </a:p>
        </p:txBody>
      </p:sp>
      <p:sp>
        <p:nvSpPr>
          <p:cNvPr id="57365" name="Line 23">
            <a:extLst>
              <a:ext uri="{FF2B5EF4-FFF2-40B4-BE49-F238E27FC236}">
                <a16:creationId xmlns:a16="http://schemas.microsoft.com/office/drawing/2014/main" id="{9B236570-6B77-422F-BAA5-3F1BB9DB22D9}"/>
              </a:ext>
            </a:extLst>
          </p:cNvPr>
          <p:cNvSpPr>
            <a:spLocks noChangeShapeType="1"/>
          </p:cNvSpPr>
          <p:nvPr/>
        </p:nvSpPr>
        <p:spPr bwMode="ltGray">
          <a:xfrm>
            <a:off x="5486400" y="5410200"/>
            <a:ext cx="304800" cy="457200"/>
          </a:xfrm>
          <a:prstGeom prst="line">
            <a:avLst/>
          </a:prstGeom>
          <a:noFill/>
          <a:ln w="25400">
            <a:solidFill>
              <a:srgbClr val="FF33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7366" name="Text Box 24">
            <a:extLst>
              <a:ext uri="{FF2B5EF4-FFF2-40B4-BE49-F238E27FC236}">
                <a16:creationId xmlns:a16="http://schemas.microsoft.com/office/drawing/2014/main" id="{5E86E191-5CD2-44B8-998E-CFCA68280AF5}"/>
              </a:ext>
            </a:extLst>
          </p:cNvPr>
          <p:cNvSpPr txBox="1">
            <a:spLocks noChangeArrowheads="1"/>
          </p:cNvSpPr>
          <p:nvPr/>
        </p:nvSpPr>
        <p:spPr bwMode="ltGray">
          <a:xfrm>
            <a:off x="4724400" y="5791200"/>
            <a:ext cx="19812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CF0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algn="ctr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algn="ctr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algn="ctr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algn="ctr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algn="ctr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>
                <a:solidFill>
                  <a:schemeClr val="folHlink"/>
                </a:solidFill>
              </a:rPr>
              <a:t>bcdef</a:t>
            </a:r>
            <a:r>
              <a:rPr lang="zh-CN" altLang="en-US">
                <a:solidFill>
                  <a:schemeClr val="folHlink"/>
                </a:solidFill>
              </a:rPr>
              <a:t>活跃</a:t>
            </a:r>
          </a:p>
        </p:txBody>
      </p:sp>
      <p:sp>
        <p:nvSpPr>
          <p:cNvPr id="57367" name="Freeform 25">
            <a:extLst>
              <a:ext uri="{FF2B5EF4-FFF2-40B4-BE49-F238E27FC236}">
                <a16:creationId xmlns:a16="http://schemas.microsoft.com/office/drawing/2014/main" id="{1A8D99F9-6E44-48EF-96B2-03A0B0698F19}"/>
              </a:ext>
            </a:extLst>
          </p:cNvPr>
          <p:cNvSpPr>
            <a:spLocks/>
          </p:cNvSpPr>
          <p:nvPr/>
        </p:nvSpPr>
        <p:spPr bwMode="ltGray">
          <a:xfrm>
            <a:off x="609600" y="1333500"/>
            <a:ext cx="3276600" cy="4521200"/>
          </a:xfrm>
          <a:custGeom>
            <a:avLst/>
            <a:gdLst>
              <a:gd name="T0" fmla="*/ 2667000 w 2064"/>
              <a:gd name="T1" fmla="*/ 4076700 h 2848"/>
              <a:gd name="T2" fmla="*/ 1676400 w 2064"/>
              <a:gd name="T3" fmla="*/ 4457700 h 2848"/>
              <a:gd name="T4" fmla="*/ 457200 w 2064"/>
              <a:gd name="T5" fmla="*/ 3695700 h 2848"/>
              <a:gd name="T6" fmla="*/ 304800 w 2064"/>
              <a:gd name="T7" fmla="*/ 1181100 h 2848"/>
              <a:gd name="T8" fmla="*/ 2286000 w 2064"/>
              <a:gd name="T9" fmla="*/ 114300 h 2848"/>
              <a:gd name="T10" fmla="*/ 3276600 w 2064"/>
              <a:gd name="T11" fmla="*/ 495300 h 2848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0" t="0" r="r" b="b"/>
            <a:pathLst>
              <a:path w="2064" h="2848">
                <a:moveTo>
                  <a:pt x="1680" y="2568"/>
                </a:moveTo>
                <a:cubicBezTo>
                  <a:pt x="1484" y="2708"/>
                  <a:pt x="1288" y="2848"/>
                  <a:pt x="1056" y="2808"/>
                </a:cubicBezTo>
                <a:cubicBezTo>
                  <a:pt x="824" y="2768"/>
                  <a:pt x="432" y="2672"/>
                  <a:pt x="288" y="2328"/>
                </a:cubicBezTo>
                <a:cubicBezTo>
                  <a:pt x="144" y="1984"/>
                  <a:pt x="0" y="1120"/>
                  <a:pt x="192" y="744"/>
                </a:cubicBezTo>
                <a:cubicBezTo>
                  <a:pt x="384" y="368"/>
                  <a:pt x="1128" y="144"/>
                  <a:pt x="1440" y="72"/>
                </a:cubicBezTo>
                <a:cubicBezTo>
                  <a:pt x="1752" y="0"/>
                  <a:pt x="1908" y="156"/>
                  <a:pt x="2064" y="312"/>
                </a:cubicBezTo>
              </a:path>
            </a:pathLst>
          </a:custGeom>
          <a:noFill/>
          <a:ln w="25400" cap="flat" cmpd="sng">
            <a:solidFill>
              <a:srgbClr val="FF3300"/>
            </a:solidFill>
            <a:prstDash val="solid"/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CF0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7368" name="Text Box 26">
            <a:extLst>
              <a:ext uri="{FF2B5EF4-FFF2-40B4-BE49-F238E27FC236}">
                <a16:creationId xmlns:a16="http://schemas.microsoft.com/office/drawing/2014/main" id="{C12BEA2F-6043-4A18-BE52-C597D0A6411A}"/>
              </a:ext>
            </a:extLst>
          </p:cNvPr>
          <p:cNvSpPr txBox="1">
            <a:spLocks noChangeArrowheads="1"/>
          </p:cNvSpPr>
          <p:nvPr/>
        </p:nvSpPr>
        <p:spPr bwMode="ltGray">
          <a:xfrm>
            <a:off x="4876800" y="1447800"/>
            <a:ext cx="9144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CF0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algn="ctr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algn="ctr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algn="ctr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algn="ctr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algn="ctr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>
                <a:solidFill>
                  <a:schemeClr val="folHlink"/>
                </a:solidFill>
              </a:rPr>
              <a:t>bcdf</a:t>
            </a:r>
          </a:p>
        </p:txBody>
      </p:sp>
      <p:sp>
        <p:nvSpPr>
          <p:cNvPr id="57369" name="Text Box 27">
            <a:extLst>
              <a:ext uri="{FF2B5EF4-FFF2-40B4-BE49-F238E27FC236}">
                <a16:creationId xmlns:a16="http://schemas.microsoft.com/office/drawing/2014/main" id="{D40968E8-D2A0-4C22-80AD-21968C19D913}"/>
              </a:ext>
            </a:extLst>
          </p:cNvPr>
          <p:cNvSpPr txBox="1">
            <a:spLocks noChangeArrowheads="1"/>
          </p:cNvSpPr>
          <p:nvPr/>
        </p:nvSpPr>
        <p:spPr bwMode="ltGray">
          <a:xfrm>
            <a:off x="3352800" y="3581400"/>
            <a:ext cx="5334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CF0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algn="ctr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algn="ctr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algn="ctr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algn="ctr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algn="ctr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>
                <a:solidFill>
                  <a:schemeClr val="folHlink"/>
                </a:solidFill>
              </a:rPr>
              <a:t>B</a:t>
            </a:r>
            <a:r>
              <a:rPr lang="en-US" altLang="zh-CN" baseline="-25000">
                <a:solidFill>
                  <a:schemeClr val="folHlink"/>
                </a:solidFill>
              </a:rPr>
              <a:t>2</a:t>
            </a:r>
            <a:endParaRPr lang="en-US" altLang="zh-CN">
              <a:solidFill>
                <a:schemeClr val="folHlink"/>
              </a:solidFill>
            </a:endParaRPr>
          </a:p>
        </p:txBody>
      </p:sp>
      <p:sp>
        <p:nvSpPr>
          <p:cNvPr id="57370" name="Text Box 28">
            <a:extLst>
              <a:ext uri="{FF2B5EF4-FFF2-40B4-BE49-F238E27FC236}">
                <a16:creationId xmlns:a16="http://schemas.microsoft.com/office/drawing/2014/main" id="{7C2FAA3F-3BCC-4BE7-AC4F-0789559BA263}"/>
              </a:ext>
            </a:extLst>
          </p:cNvPr>
          <p:cNvSpPr txBox="1">
            <a:spLocks noChangeArrowheads="1"/>
          </p:cNvSpPr>
          <p:nvPr/>
        </p:nvSpPr>
        <p:spPr bwMode="ltGray">
          <a:xfrm>
            <a:off x="7620000" y="3810000"/>
            <a:ext cx="5334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CF0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algn="ctr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algn="ctr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algn="ctr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algn="ctr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algn="ctr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>
                <a:solidFill>
                  <a:schemeClr val="folHlink"/>
                </a:solidFill>
              </a:rPr>
              <a:t>B</a:t>
            </a:r>
            <a:r>
              <a:rPr lang="en-US" altLang="zh-CN" baseline="-25000">
                <a:solidFill>
                  <a:schemeClr val="folHlink"/>
                </a:solidFill>
              </a:rPr>
              <a:t>3</a:t>
            </a:r>
            <a:endParaRPr lang="en-US" altLang="zh-CN">
              <a:solidFill>
                <a:schemeClr val="folHlink"/>
              </a:solidFill>
            </a:endParaRPr>
          </a:p>
        </p:txBody>
      </p:sp>
      <p:sp>
        <p:nvSpPr>
          <p:cNvPr id="57371" name="Text Box 29">
            <a:extLst>
              <a:ext uri="{FF2B5EF4-FFF2-40B4-BE49-F238E27FC236}">
                <a16:creationId xmlns:a16="http://schemas.microsoft.com/office/drawing/2014/main" id="{79D76BA0-F124-4216-9641-E465F6A9AF70}"/>
              </a:ext>
            </a:extLst>
          </p:cNvPr>
          <p:cNvSpPr txBox="1">
            <a:spLocks noChangeArrowheads="1"/>
          </p:cNvSpPr>
          <p:nvPr/>
        </p:nvSpPr>
        <p:spPr bwMode="ltGray">
          <a:xfrm>
            <a:off x="5486400" y="4953000"/>
            <a:ext cx="5334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CF0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algn="ctr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algn="ctr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algn="ctr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algn="ctr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algn="ctr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>
                <a:solidFill>
                  <a:schemeClr val="folHlink"/>
                </a:solidFill>
              </a:rPr>
              <a:t>B</a:t>
            </a:r>
            <a:r>
              <a:rPr lang="en-US" altLang="zh-CN" baseline="-25000">
                <a:solidFill>
                  <a:schemeClr val="folHlink"/>
                </a:solidFill>
              </a:rPr>
              <a:t>4</a:t>
            </a:r>
            <a:endParaRPr lang="en-US" altLang="zh-CN">
              <a:solidFill>
                <a:schemeClr val="folHlink"/>
              </a:solidFill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Rectangle 2">
            <a:extLst>
              <a:ext uri="{FF2B5EF4-FFF2-40B4-BE49-F238E27FC236}">
                <a16:creationId xmlns:a16="http://schemas.microsoft.com/office/drawing/2014/main" id="{8C8C3A33-CF8C-4C2E-8611-5037E5260E6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例</a:t>
            </a:r>
            <a:r>
              <a:rPr lang="en-US" altLang="zh-CN"/>
              <a:t>9.6</a:t>
            </a:r>
            <a:r>
              <a:rPr lang="zh-CN" altLang="en-US"/>
              <a:t>（续）</a:t>
            </a:r>
          </a:p>
        </p:txBody>
      </p:sp>
      <p:sp>
        <p:nvSpPr>
          <p:cNvPr id="58371" name="Rectangle 3">
            <a:extLst>
              <a:ext uri="{FF2B5EF4-FFF2-40B4-BE49-F238E27FC236}">
                <a16:creationId xmlns:a16="http://schemas.microsoft.com/office/drawing/2014/main" id="{BDAD43FB-EC0E-4465-9A75-947B707C81A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R0</a:t>
            </a:r>
            <a:r>
              <a:rPr lang="zh-CN" altLang="en-US"/>
              <a:t>，</a:t>
            </a:r>
            <a:r>
              <a:rPr lang="en-US" altLang="zh-CN"/>
              <a:t>R1</a:t>
            </a:r>
            <a:r>
              <a:rPr lang="zh-CN" altLang="en-US"/>
              <a:t>，</a:t>
            </a:r>
            <a:r>
              <a:rPr lang="en-US" altLang="zh-CN"/>
              <a:t>R2</a:t>
            </a:r>
          </a:p>
          <a:p>
            <a:pPr eaLnBrk="1" hangingPunct="1"/>
            <a:r>
              <a:rPr lang="zh-CN" altLang="en-US"/>
              <a:t>对变量</a:t>
            </a:r>
            <a:r>
              <a:rPr lang="en-US" altLang="zh-CN"/>
              <a:t>a</a:t>
            </a:r>
          </a:p>
          <a:p>
            <a:pPr lvl="1" eaLnBrk="1" hangingPunct="1"/>
            <a:r>
              <a:rPr lang="zh-CN" altLang="en-US"/>
              <a:t>只在</a:t>
            </a:r>
            <a:r>
              <a:rPr lang="en-US" altLang="zh-CN"/>
              <a:t>B</a:t>
            </a:r>
            <a:r>
              <a:rPr lang="en-US" altLang="zh-CN" baseline="-25000"/>
              <a:t>1</a:t>
            </a:r>
            <a:r>
              <a:rPr lang="zh-CN" altLang="en-US"/>
              <a:t>出口活跃，</a:t>
            </a:r>
          </a:p>
          <a:p>
            <a:pPr lvl="1" eaLnBrk="1" hangingPunct="1"/>
            <a:r>
              <a:rPr lang="en-US" altLang="zh-CN"/>
              <a:t>use(a, B</a:t>
            </a:r>
            <a:r>
              <a:rPr lang="en-US" altLang="zh-CN" baseline="-25000"/>
              <a:t>1</a:t>
            </a:r>
            <a:r>
              <a:rPr lang="en-US" altLang="zh-CN"/>
              <a:t>) = use(a, B</a:t>
            </a:r>
            <a:r>
              <a:rPr lang="en-US" altLang="zh-CN" baseline="-25000"/>
              <a:t>4</a:t>
            </a:r>
            <a:r>
              <a:rPr lang="en-US" altLang="zh-CN"/>
              <a:t>) = 0, </a:t>
            </a:r>
            <a:br>
              <a:rPr lang="en-US" altLang="zh-CN"/>
            </a:br>
            <a:r>
              <a:rPr lang="en-US" altLang="zh-CN"/>
              <a:t>use(a, B</a:t>
            </a:r>
            <a:r>
              <a:rPr lang="en-US" altLang="zh-CN" baseline="-25000"/>
              <a:t>2</a:t>
            </a:r>
            <a:r>
              <a:rPr lang="en-US" altLang="zh-CN"/>
              <a:t>) = use(a, B</a:t>
            </a:r>
            <a:r>
              <a:rPr lang="en-US" altLang="zh-CN" baseline="-25000"/>
              <a:t>3</a:t>
            </a:r>
            <a:r>
              <a:rPr lang="en-US" altLang="zh-CN"/>
              <a:t>) = 1</a:t>
            </a:r>
          </a:p>
          <a:p>
            <a:pPr lvl="1" eaLnBrk="1" hangingPunct="1"/>
            <a:r>
              <a:rPr lang="zh-CN" altLang="en-US"/>
              <a:t>总共节省</a:t>
            </a:r>
            <a:r>
              <a:rPr lang="en-US" altLang="zh-CN"/>
              <a:t>4</a:t>
            </a:r>
          </a:p>
          <a:p>
            <a:pPr eaLnBrk="1" hangingPunct="1"/>
            <a:r>
              <a:rPr lang="en-US" altLang="zh-CN"/>
              <a:t>b, c, d, e, f——6, 3, 6, 4, 4</a:t>
            </a:r>
          </a:p>
          <a:p>
            <a:pPr eaLnBrk="1" hangingPunct="1"/>
            <a:r>
              <a:rPr lang="zh-CN" altLang="en-US"/>
              <a:t>可将</a:t>
            </a:r>
            <a:r>
              <a:rPr lang="en-US" altLang="zh-CN"/>
              <a:t>a</a:t>
            </a:r>
            <a:r>
              <a:rPr lang="zh-CN" altLang="en-US"/>
              <a:t>、</a:t>
            </a:r>
            <a:r>
              <a:rPr lang="en-US" altLang="zh-CN"/>
              <a:t>b</a:t>
            </a:r>
            <a:r>
              <a:rPr lang="zh-CN" altLang="en-US"/>
              <a:t>、</a:t>
            </a:r>
            <a:r>
              <a:rPr lang="en-US" altLang="zh-CN"/>
              <a:t>d</a:t>
            </a:r>
            <a:r>
              <a:rPr lang="zh-CN" altLang="en-US"/>
              <a:t>保存在</a:t>
            </a:r>
            <a:r>
              <a:rPr lang="en-US" altLang="zh-CN"/>
              <a:t>R0</a:t>
            </a:r>
            <a:r>
              <a:rPr lang="zh-CN" altLang="en-US"/>
              <a:t>、</a:t>
            </a:r>
            <a:r>
              <a:rPr lang="en-US" altLang="zh-CN"/>
              <a:t>R1</a:t>
            </a:r>
            <a:r>
              <a:rPr lang="zh-CN" altLang="en-US"/>
              <a:t>、</a:t>
            </a:r>
            <a:r>
              <a:rPr lang="en-US" altLang="zh-CN"/>
              <a:t>R2</a:t>
            </a:r>
            <a:r>
              <a:rPr lang="zh-CN" altLang="en-US"/>
              <a:t>中</a:t>
            </a:r>
          </a:p>
        </p:txBody>
      </p:sp>
      <p:graphicFrame>
        <p:nvGraphicFramePr>
          <p:cNvPr id="58372" name="Object 4">
            <a:extLst>
              <a:ext uri="{FF2B5EF4-FFF2-40B4-BE49-F238E27FC236}">
                <a16:creationId xmlns:a16="http://schemas.microsoft.com/office/drawing/2014/main" id="{BCA94405-51D1-499D-A7F0-4F4DAB42349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724400" y="2438400"/>
          <a:ext cx="2819400" cy="781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8384" name="Equation" r:id="rId3" imgW="1282700" imgH="355600" progId="Equation.3">
                  <p:embed/>
                </p:oleObj>
              </mc:Choice>
              <mc:Fallback>
                <p:oleObj name="Equation" r:id="rId3" imgW="1282700" imgH="355600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24400" y="2438400"/>
                        <a:ext cx="2819400" cy="7810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8373" name="Object 5">
            <a:extLst>
              <a:ext uri="{FF2B5EF4-FFF2-40B4-BE49-F238E27FC236}">
                <a16:creationId xmlns:a16="http://schemas.microsoft.com/office/drawing/2014/main" id="{1EDD5C24-9F23-4AC2-B855-8DABC3E3FD8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715000" y="2971800"/>
          <a:ext cx="2344738" cy="781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8385" name="Equation" r:id="rId5" imgW="1066337" imgH="355446" progId="Equation.3">
                  <p:embed/>
                </p:oleObj>
              </mc:Choice>
              <mc:Fallback>
                <p:oleObj name="Equation" r:id="rId5" imgW="1066337" imgH="355446" progId="Equation.3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715000" y="2971800"/>
                        <a:ext cx="2344738" cy="7810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Rectangle 2">
            <a:extLst>
              <a:ext uri="{FF2B5EF4-FFF2-40B4-BE49-F238E27FC236}">
                <a16:creationId xmlns:a16="http://schemas.microsoft.com/office/drawing/2014/main" id="{2BFF214A-DCF6-452A-821D-DC5208CD6FC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例</a:t>
            </a:r>
            <a:r>
              <a:rPr lang="en-US" altLang="zh-CN"/>
              <a:t>9.6</a:t>
            </a:r>
            <a:r>
              <a:rPr lang="zh-CN" altLang="en-US"/>
              <a:t>（续）</a:t>
            </a:r>
          </a:p>
        </p:txBody>
      </p:sp>
      <p:sp>
        <p:nvSpPr>
          <p:cNvPr id="59395" name="Text Box 4">
            <a:extLst>
              <a:ext uri="{FF2B5EF4-FFF2-40B4-BE49-F238E27FC236}">
                <a16:creationId xmlns:a16="http://schemas.microsoft.com/office/drawing/2014/main" id="{67B91681-FCD9-43DD-98D2-69C9A2EC76D1}"/>
              </a:ext>
            </a:extLst>
          </p:cNvPr>
          <p:cNvSpPr txBox="1">
            <a:spLocks noChangeArrowheads="1"/>
          </p:cNvSpPr>
          <p:nvPr/>
        </p:nvSpPr>
        <p:spPr bwMode="ltGray">
          <a:xfrm>
            <a:off x="2286000" y="2349500"/>
            <a:ext cx="3962400" cy="833438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CF0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>
            <a:lvl1pPr algn="ctr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algn="ctr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algn="ctr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algn="ctr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algn="ctr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90000"/>
              </a:lnSpc>
              <a:spcBef>
                <a:spcPct val="10000"/>
              </a:spcBef>
            </a:pPr>
            <a:r>
              <a:rPr lang="en-US" altLang="zh-CN" sz="2000"/>
              <a:t>MOV R1, R0	MOV R0, R3</a:t>
            </a:r>
            <a:br>
              <a:rPr lang="en-US" altLang="zh-CN" sz="2000"/>
            </a:br>
            <a:r>
              <a:rPr lang="en-US" altLang="zh-CN" sz="2000"/>
              <a:t>ADD c, R0	ADD f, R3</a:t>
            </a:r>
            <a:br>
              <a:rPr lang="en-US" altLang="zh-CN" sz="2000"/>
            </a:br>
            <a:r>
              <a:rPr lang="en-US" altLang="zh-CN" sz="2000"/>
              <a:t>SUB R1, R2	MOV R3, e</a:t>
            </a:r>
          </a:p>
        </p:txBody>
      </p:sp>
      <p:sp>
        <p:nvSpPr>
          <p:cNvPr id="59396" name="Text Box 5">
            <a:extLst>
              <a:ext uri="{FF2B5EF4-FFF2-40B4-BE49-F238E27FC236}">
                <a16:creationId xmlns:a16="http://schemas.microsoft.com/office/drawing/2014/main" id="{2A632100-448B-4EE5-B6BB-6481B84F738A}"/>
              </a:ext>
            </a:extLst>
          </p:cNvPr>
          <p:cNvSpPr txBox="1">
            <a:spLocks noChangeArrowheads="1"/>
          </p:cNvSpPr>
          <p:nvPr/>
        </p:nvSpPr>
        <p:spPr bwMode="ltGray">
          <a:xfrm>
            <a:off x="6248400" y="2514600"/>
            <a:ext cx="5334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CF0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algn="ctr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algn="ctr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algn="ctr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algn="ctr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algn="ctr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000">
                <a:solidFill>
                  <a:schemeClr val="folHlink"/>
                </a:solidFill>
              </a:rPr>
              <a:t>B</a:t>
            </a:r>
            <a:r>
              <a:rPr lang="en-US" altLang="zh-CN" sz="2000" baseline="-25000">
                <a:solidFill>
                  <a:schemeClr val="folHlink"/>
                </a:solidFill>
              </a:rPr>
              <a:t>1</a:t>
            </a:r>
            <a:endParaRPr lang="en-US" altLang="zh-CN" sz="2000">
              <a:solidFill>
                <a:schemeClr val="folHlink"/>
              </a:solidFill>
            </a:endParaRPr>
          </a:p>
        </p:txBody>
      </p:sp>
      <p:sp>
        <p:nvSpPr>
          <p:cNvPr id="59397" name="Text Box 7">
            <a:extLst>
              <a:ext uri="{FF2B5EF4-FFF2-40B4-BE49-F238E27FC236}">
                <a16:creationId xmlns:a16="http://schemas.microsoft.com/office/drawing/2014/main" id="{69347035-1DA2-4EB2-B75F-1166B5B3AC75}"/>
              </a:ext>
            </a:extLst>
          </p:cNvPr>
          <p:cNvSpPr txBox="1">
            <a:spLocks noChangeArrowheads="1"/>
          </p:cNvSpPr>
          <p:nvPr/>
        </p:nvSpPr>
        <p:spPr bwMode="ltGray">
          <a:xfrm>
            <a:off x="4419600" y="3784600"/>
            <a:ext cx="4038600" cy="833438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CF0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>
            <a:lvl1pPr algn="ctr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algn="ctr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algn="ctr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algn="ctr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algn="ctr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90000"/>
              </a:lnSpc>
              <a:spcBef>
                <a:spcPct val="10000"/>
              </a:spcBef>
            </a:pPr>
            <a:r>
              <a:rPr lang="en-US" altLang="zh-CN" sz="2000"/>
              <a:t>MOV R2, R1	SUB c, R3</a:t>
            </a:r>
            <a:br>
              <a:rPr lang="en-US" altLang="zh-CN" sz="2000"/>
            </a:br>
            <a:r>
              <a:rPr lang="en-US" altLang="zh-CN" sz="2000"/>
              <a:t>ADD f, R1	MOV R3, e</a:t>
            </a:r>
            <a:br>
              <a:rPr lang="en-US" altLang="zh-CN" sz="2000"/>
            </a:br>
            <a:r>
              <a:rPr lang="en-US" altLang="zh-CN" sz="2000"/>
              <a:t>MOV R0, R3	</a:t>
            </a:r>
            <a:r>
              <a:rPr lang="en-US" altLang="zh-CN" sz="2000">
                <a:solidFill>
                  <a:schemeClr val="bg1"/>
                </a:solidFill>
              </a:rPr>
              <a:t>MOV R3, e</a:t>
            </a:r>
          </a:p>
        </p:txBody>
      </p:sp>
      <p:sp>
        <p:nvSpPr>
          <p:cNvPr id="59398" name="Text Box 10">
            <a:extLst>
              <a:ext uri="{FF2B5EF4-FFF2-40B4-BE49-F238E27FC236}">
                <a16:creationId xmlns:a16="http://schemas.microsoft.com/office/drawing/2014/main" id="{BF3FC874-C4DE-4B7C-AF0C-0BA948C92EBA}"/>
              </a:ext>
            </a:extLst>
          </p:cNvPr>
          <p:cNvSpPr txBox="1">
            <a:spLocks noChangeArrowheads="1"/>
          </p:cNvSpPr>
          <p:nvPr/>
        </p:nvSpPr>
        <p:spPr bwMode="ltGray">
          <a:xfrm>
            <a:off x="1143000" y="3784600"/>
            <a:ext cx="2209800" cy="833438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CF0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>
            <a:lvl1pPr algn="ctr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algn="ctr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algn="ctr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algn="ctr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algn="ctr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90000"/>
              </a:lnSpc>
              <a:spcBef>
                <a:spcPct val="10000"/>
              </a:spcBef>
            </a:pPr>
            <a:r>
              <a:rPr lang="en-US" altLang="zh-CN" sz="2000"/>
              <a:t>MOV R0, R3</a:t>
            </a:r>
            <a:br>
              <a:rPr lang="en-US" altLang="zh-CN" sz="2000"/>
            </a:br>
            <a:r>
              <a:rPr lang="en-US" altLang="zh-CN" sz="2000"/>
              <a:t>SUB R2, R3</a:t>
            </a:r>
            <a:br>
              <a:rPr lang="en-US" altLang="zh-CN" sz="2000"/>
            </a:br>
            <a:r>
              <a:rPr lang="en-US" altLang="zh-CN" sz="2000"/>
              <a:t>MOV R3, f</a:t>
            </a:r>
          </a:p>
        </p:txBody>
      </p:sp>
      <p:sp>
        <p:nvSpPr>
          <p:cNvPr id="59399" name="Text Box 13">
            <a:extLst>
              <a:ext uri="{FF2B5EF4-FFF2-40B4-BE49-F238E27FC236}">
                <a16:creationId xmlns:a16="http://schemas.microsoft.com/office/drawing/2014/main" id="{36155B43-8704-47E4-A9E4-882E2D5BF4F0}"/>
              </a:ext>
            </a:extLst>
          </p:cNvPr>
          <p:cNvSpPr txBox="1">
            <a:spLocks noChangeArrowheads="1"/>
          </p:cNvSpPr>
          <p:nvPr/>
        </p:nvSpPr>
        <p:spPr bwMode="ltGray">
          <a:xfrm>
            <a:off x="3276600" y="5156200"/>
            <a:ext cx="2209800" cy="5588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CF0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>
            <a:lvl1pPr algn="ctr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algn="ctr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algn="ctr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algn="ctr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algn="ctr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90000"/>
              </a:lnSpc>
              <a:spcBef>
                <a:spcPct val="10000"/>
              </a:spcBef>
            </a:pPr>
            <a:r>
              <a:rPr lang="en-US" altLang="zh-CN" sz="2000"/>
              <a:t>MOV R2, R1</a:t>
            </a:r>
            <a:br>
              <a:rPr lang="en-US" altLang="zh-CN" sz="2000"/>
            </a:br>
            <a:r>
              <a:rPr lang="en-US" altLang="zh-CN" sz="2000"/>
              <a:t>ADD c, R1</a:t>
            </a:r>
          </a:p>
        </p:txBody>
      </p:sp>
      <p:sp>
        <p:nvSpPr>
          <p:cNvPr id="59400" name="Line 16">
            <a:extLst>
              <a:ext uri="{FF2B5EF4-FFF2-40B4-BE49-F238E27FC236}">
                <a16:creationId xmlns:a16="http://schemas.microsoft.com/office/drawing/2014/main" id="{CFD34B38-077E-480D-A37F-C9775185F74B}"/>
              </a:ext>
            </a:extLst>
          </p:cNvPr>
          <p:cNvSpPr>
            <a:spLocks noChangeShapeType="1"/>
          </p:cNvSpPr>
          <p:nvPr/>
        </p:nvSpPr>
        <p:spPr bwMode="ltGray">
          <a:xfrm flipH="1">
            <a:off x="2209800" y="3225800"/>
            <a:ext cx="1066800" cy="584200"/>
          </a:xfrm>
          <a:prstGeom prst="line">
            <a:avLst/>
          </a:prstGeom>
          <a:noFill/>
          <a:ln w="25400">
            <a:solidFill>
              <a:srgbClr val="FF33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9401" name="Line 17">
            <a:extLst>
              <a:ext uri="{FF2B5EF4-FFF2-40B4-BE49-F238E27FC236}">
                <a16:creationId xmlns:a16="http://schemas.microsoft.com/office/drawing/2014/main" id="{D15D80BE-A1B7-4B9D-8A3D-2920D58092AE}"/>
              </a:ext>
            </a:extLst>
          </p:cNvPr>
          <p:cNvSpPr>
            <a:spLocks noChangeShapeType="1"/>
          </p:cNvSpPr>
          <p:nvPr/>
        </p:nvSpPr>
        <p:spPr bwMode="ltGray">
          <a:xfrm>
            <a:off x="5638800" y="3179763"/>
            <a:ext cx="838200" cy="554037"/>
          </a:xfrm>
          <a:prstGeom prst="line">
            <a:avLst/>
          </a:prstGeom>
          <a:noFill/>
          <a:ln w="25400">
            <a:solidFill>
              <a:srgbClr val="FF33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9402" name="Line 18">
            <a:extLst>
              <a:ext uri="{FF2B5EF4-FFF2-40B4-BE49-F238E27FC236}">
                <a16:creationId xmlns:a16="http://schemas.microsoft.com/office/drawing/2014/main" id="{31BE157B-FE30-4950-ABA1-501BD9F6DF38}"/>
              </a:ext>
            </a:extLst>
          </p:cNvPr>
          <p:cNvSpPr>
            <a:spLocks noChangeShapeType="1"/>
          </p:cNvSpPr>
          <p:nvPr/>
        </p:nvSpPr>
        <p:spPr bwMode="ltGray">
          <a:xfrm>
            <a:off x="2362200" y="4622800"/>
            <a:ext cx="914400" cy="482600"/>
          </a:xfrm>
          <a:prstGeom prst="line">
            <a:avLst/>
          </a:prstGeom>
          <a:noFill/>
          <a:ln w="25400">
            <a:solidFill>
              <a:srgbClr val="FF33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9403" name="Line 19">
            <a:extLst>
              <a:ext uri="{FF2B5EF4-FFF2-40B4-BE49-F238E27FC236}">
                <a16:creationId xmlns:a16="http://schemas.microsoft.com/office/drawing/2014/main" id="{09C0AD38-3399-49C2-AB4F-66AADB95DD1F}"/>
              </a:ext>
            </a:extLst>
          </p:cNvPr>
          <p:cNvSpPr>
            <a:spLocks noChangeShapeType="1"/>
          </p:cNvSpPr>
          <p:nvPr/>
        </p:nvSpPr>
        <p:spPr bwMode="ltGray">
          <a:xfrm flipH="1">
            <a:off x="5486400" y="4622800"/>
            <a:ext cx="1143000" cy="558800"/>
          </a:xfrm>
          <a:prstGeom prst="line">
            <a:avLst/>
          </a:prstGeom>
          <a:noFill/>
          <a:ln w="25400">
            <a:solidFill>
              <a:srgbClr val="FF33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9404" name="Freeform 24">
            <a:extLst>
              <a:ext uri="{FF2B5EF4-FFF2-40B4-BE49-F238E27FC236}">
                <a16:creationId xmlns:a16="http://schemas.microsoft.com/office/drawing/2014/main" id="{5BF4F063-BBA6-4B7D-AA5D-38DD6EC1EFBC}"/>
              </a:ext>
            </a:extLst>
          </p:cNvPr>
          <p:cNvSpPr>
            <a:spLocks/>
          </p:cNvSpPr>
          <p:nvPr/>
        </p:nvSpPr>
        <p:spPr bwMode="ltGray">
          <a:xfrm>
            <a:off x="646113" y="1889125"/>
            <a:ext cx="2673350" cy="4322763"/>
          </a:xfrm>
          <a:custGeom>
            <a:avLst/>
            <a:gdLst>
              <a:gd name="T0" fmla="*/ 2632075 w 1684"/>
              <a:gd name="T1" fmla="*/ 3822700 h 2723"/>
              <a:gd name="T2" fmla="*/ 1639888 w 1684"/>
              <a:gd name="T3" fmla="*/ 4270375 h 2723"/>
              <a:gd name="T4" fmla="*/ 420688 w 1684"/>
              <a:gd name="T5" fmla="*/ 3508375 h 2723"/>
              <a:gd name="T6" fmla="*/ 268288 w 1684"/>
              <a:gd name="T7" fmla="*/ 993775 h 2723"/>
              <a:gd name="T8" fmla="*/ 2027238 w 1684"/>
              <a:gd name="T9" fmla="*/ 93663 h 2723"/>
              <a:gd name="T10" fmla="*/ 2673350 w 1684"/>
              <a:gd name="T11" fmla="*/ 431800 h 2723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0" t="0" r="r" b="b"/>
            <a:pathLst>
              <a:path w="1684" h="2723">
                <a:moveTo>
                  <a:pt x="1658" y="2408"/>
                </a:moveTo>
                <a:cubicBezTo>
                  <a:pt x="1554" y="2453"/>
                  <a:pt x="1265" y="2723"/>
                  <a:pt x="1033" y="2690"/>
                </a:cubicBezTo>
                <a:cubicBezTo>
                  <a:pt x="801" y="2657"/>
                  <a:pt x="409" y="2554"/>
                  <a:pt x="265" y="2210"/>
                </a:cubicBezTo>
                <a:cubicBezTo>
                  <a:pt x="121" y="1866"/>
                  <a:pt x="0" y="985"/>
                  <a:pt x="169" y="626"/>
                </a:cubicBezTo>
                <a:cubicBezTo>
                  <a:pt x="338" y="267"/>
                  <a:pt x="1025" y="118"/>
                  <a:pt x="1277" y="59"/>
                </a:cubicBezTo>
                <a:cubicBezTo>
                  <a:pt x="1529" y="0"/>
                  <a:pt x="1599" y="228"/>
                  <a:pt x="1684" y="272"/>
                </a:cubicBezTo>
              </a:path>
            </a:pathLst>
          </a:custGeom>
          <a:noFill/>
          <a:ln w="25400" cap="flat" cmpd="sng">
            <a:solidFill>
              <a:srgbClr val="FF3300"/>
            </a:solidFill>
            <a:prstDash val="solid"/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CF0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9405" name="Text Box 26">
            <a:extLst>
              <a:ext uri="{FF2B5EF4-FFF2-40B4-BE49-F238E27FC236}">
                <a16:creationId xmlns:a16="http://schemas.microsoft.com/office/drawing/2014/main" id="{9163C864-DE2E-40E9-A910-EB1FD95CDE04}"/>
              </a:ext>
            </a:extLst>
          </p:cNvPr>
          <p:cNvSpPr txBox="1">
            <a:spLocks noChangeArrowheads="1"/>
          </p:cNvSpPr>
          <p:nvPr/>
        </p:nvSpPr>
        <p:spPr bwMode="ltGray">
          <a:xfrm>
            <a:off x="3352800" y="4038600"/>
            <a:ext cx="5334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CF0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algn="ctr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algn="ctr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algn="ctr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algn="ctr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algn="ctr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000">
                <a:solidFill>
                  <a:schemeClr val="folHlink"/>
                </a:solidFill>
              </a:rPr>
              <a:t>B</a:t>
            </a:r>
            <a:r>
              <a:rPr lang="en-US" altLang="zh-CN" sz="2000" baseline="-25000">
                <a:solidFill>
                  <a:schemeClr val="folHlink"/>
                </a:solidFill>
              </a:rPr>
              <a:t>2</a:t>
            </a:r>
            <a:endParaRPr lang="en-US" altLang="zh-CN" sz="2000">
              <a:solidFill>
                <a:schemeClr val="folHlink"/>
              </a:solidFill>
            </a:endParaRPr>
          </a:p>
        </p:txBody>
      </p:sp>
      <p:sp>
        <p:nvSpPr>
          <p:cNvPr id="59406" name="Text Box 27">
            <a:extLst>
              <a:ext uri="{FF2B5EF4-FFF2-40B4-BE49-F238E27FC236}">
                <a16:creationId xmlns:a16="http://schemas.microsoft.com/office/drawing/2014/main" id="{0AEFA106-0E96-4282-9022-76668D1D7335}"/>
              </a:ext>
            </a:extLst>
          </p:cNvPr>
          <p:cNvSpPr txBox="1">
            <a:spLocks noChangeArrowheads="1"/>
          </p:cNvSpPr>
          <p:nvPr/>
        </p:nvSpPr>
        <p:spPr bwMode="ltGray">
          <a:xfrm>
            <a:off x="8458200" y="4038600"/>
            <a:ext cx="5334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CF0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algn="ctr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algn="ctr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algn="ctr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algn="ctr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algn="ctr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000">
                <a:solidFill>
                  <a:schemeClr val="folHlink"/>
                </a:solidFill>
              </a:rPr>
              <a:t>B</a:t>
            </a:r>
            <a:r>
              <a:rPr lang="en-US" altLang="zh-CN" sz="2000" baseline="-25000">
                <a:solidFill>
                  <a:schemeClr val="folHlink"/>
                </a:solidFill>
              </a:rPr>
              <a:t>3</a:t>
            </a:r>
            <a:endParaRPr lang="en-US" altLang="zh-CN" sz="2000">
              <a:solidFill>
                <a:schemeClr val="folHlink"/>
              </a:solidFill>
            </a:endParaRPr>
          </a:p>
        </p:txBody>
      </p:sp>
      <p:sp>
        <p:nvSpPr>
          <p:cNvPr id="59407" name="Text Box 28">
            <a:extLst>
              <a:ext uri="{FF2B5EF4-FFF2-40B4-BE49-F238E27FC236}">
                <a16:creationId xmlns:a16="http://schemas.microsoft.com/office/drawing/2014/main" id="{A8474472-4B9B-4AD0-9EA2-B4A2A0DEE790}"/>
              </a:ext>
            </a:extLst>
          </p:cNvPr>
          <p:cNvSpPr txBox="1">
            <a:spLocks noChangeArrowheads="1"/>
          </p:cNvSpPr>
          <p:nvPr/>
        </p:nvSpPr>
        <p:spPr bwMode="ltGray">
          <a:xfrm>
            <a:off x="5410200" y="5181600"/>
            <a:ext cx="5334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CF0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algn="ctr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algn="ctr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algn="ctr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algn="ctr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algn="ctr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000">
                <a:solidFill>
                  <a:schemeClr val="folHlink"/>
                </a:solidFill>
              </a:rPr>
              <a:t>B</a:t>
            </a:r>
            <a:r>
              <a:rPr lang="en-US" altLang="zh-CN" sz="2000" baseline="-25000">
                <a:solidFill>
                  <a:schemeClr val="folHlink"/>
                </a:solidFill>
              </a:rPr>
              <a:t>4</a:t>
            </a:r>
            <a:endParaRPr lang="en-US" altLang="zh-CN" sz="2000">
              <a:solidFill>
                <a:schemeClr val="folHlink"/>
              </a:solidFill>
            </a:endParaRPr>
          </a:p>
        </p:txBody>
      </p:sp>
      <p:sp>
        <p:nvSpPr>
          <p:cNvPr id="59408" name="Text Box 29">
            <a:extLst>
              <a:ext uri="{FF2B5EF4-FFF2-40B4-BE49-F238E27FC236}">
                <a16:creationId xmlns:a16="http://schemas.microsoft.com/office/drawing/2014/main" id="{13C17DD4-8257-41BB-8B32-7CEB1F36F058}"/>
              </a:ext>
            </a:extLst>
          </p:cNvPr>
          <p:cNvSpPr txBox="1">
            <a:spLocks noChangeArrowheads="1"/>
          </p:cNvSpPr>
          <p:nvPr/>
        </p:nvSpPr>
        <p:spPr bwMode="ltGray">
          <a:xfrm>
            <a:off x="3276600" y="6223000"/>
            <a:ext cx="2209800" cy="5588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CF0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>
            <a:lvl1pPr algn="ctr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algn="ctr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algn="ctr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algn="ctr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algn="ctr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90000"/>
              </a:lnSpc>
              <a:spcBef>
                <a:spcPct val="10000"/>
              </a:spcBef>
            </a:pPr>
            <a:r>
              <a:rPr lang="en-US" altLang="zh-CN" sz="2000"/>
              <a:t>MOV R1, b</a:t>
            </a:r>
            <a:br>
              <a:rPr lang="en-US" altLang="zh-CN" sz="2000"/>
            </a:br>
            <a:r>
              <a:rPr lang="en-US" altLang="zh-CN" sz="2000"/>
              <a:t>MOV R2, d</a:t>
            </a:r>
          </a:p>
        </p:txBody>
      </p:sp>
      <p:sp>
        <p:nvSpPr>
          <p:cNvPr id="59409" name="Line 30">
            <a:extLst>
              <a:ext uri="{FF2B5EF4-FFF2-40B4-BE49-F238E27FC236}">
                <a16:creationId xmlns:a16="http://schemas.microsoft.com/office/drawing/2014/main" id="{ED92FE6C-2EDB-445F-A81A-60808F3905A6}"/>
              </a:ext>
            </a:extLst>
          </p:cNvPr>
          <p:cNvSpPr>
            <a:spLocks noChangeShapeType="1"/>
          </p:cNvSpPr>
          <p:nvPr/>
        </p:nvSpPr>
        <p:spPr bwMode="ltGray">
          <a:xfrm>
            <a:off x="4343400" y="5689600"/>
            <a:ext cx="0" cy="482600"/>
          </a:xfrm>
          <a:prstGeom prst="line">
            <a:avLst/>
          </a:prstGeom>
          <a:noFill/>
          <a:ln w="25400">
            <a:solidFill>
              <a:srgbClr val="FF33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9410" name="Text Box 31">
            <a:extLst>
              <a:ext uri="{FF2B5EF4-FFF2-40B4-BE49-F238E27FC236}">
                <a16:creationId xmlns:a16="http://schemas.microsoft.com/office/drawing/2014/main" id="{7E625DD0-B873-4309-B1B2-23F56B9CA44A}"/>
              </a:ext>
            </a:extLst>
          </p:cNvPr>
          <p:cNvSpPr txBox="1">
            <a:spLocks noChangeArrowheads="1"/>
          </p:cNvSpPr>
          <p:nvPr/>
        </p:nvSpPr>
        <p:spPr bwMode="ltGray">
          <a:xfrm>
            <a:off x="3505200" y="1270000"/>
            <a:ext cx="2209800" cy="5588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CF0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>
            <a:lvl1pPr algn="ctr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algn="ctr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algn="ctr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algn="ctr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algn="ctr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90000"/>
              </a:lnSpc>
              <a:spcBef>
                <a:spcPct val="10000"/>
              </a:spcBef>
            </a:pPr>
            <a:r>
              <a:rPr lang="en-US" altLang="zh-CN" sz="2000"/>
              <a:t>MOV b, R1</a:t>
            </a:r>
            <a:br>
              <a:rPr lang="en-US" altLang="zh-CN" sz="2000"/>
            </a:br>
            <a:r>
              <a:rPr lang="en-US" altLang="zh-CN" sz="2000"/>
              <a:t>MOV d, R2</a:t>
            </a:r>
          </a:p>
        </p:txBody>
      </p:sp>
      <p:sp>
        <p:nvSpPr>
          <p:cNvPr id="59411" name="Line 32">
            <a:extLst>
              <a:ext uri="{FF2B5EF4-FFF2-40B4-BE49-F238E27FC236}">
                <a16:creationId xmlns:a16="http://schemas.microsoft.com/office/drawing/2014/main" id="{78BEAEF8-775C-42DA-B0C3-29380D4B6BE9}"/>
              </a:ext>
            </a:extLst>
          </p:cNvPr>
          <p:cNvSpPr>
            <a:spLocks noChangeShapeType="1"/>
          </p:cNvSpPr>
          <p:nvPr/>
        </p:nvSpPr>
        <p:spPr bwMode="ltGray">
          <a:xfrm>
            <a:off x="4572000" y="1803400"/>
            <a:ext cx="0" cy="482600"/>
          </a:xfrm>
          <a:prstGeom prst="line">
            <a:avLst/>
          </a:prstGeom>
          <a:noFill/>
          <a:ln w="25400">
            <a:solidFill>
              <a:srgbClr val="FF33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9412" name="Text Box 33">
            <a:extLst>
              <a:ext uri="{FF2B5EF4-FFF2-40B4-BE49-F238E27FC236}">
                <a16:creationId xmlns:a16="http://schemas.microsoft.com/office/drawing/2014/main" id="{03055F80-91FB-423D-A21E-8DF2A28FF722}"/>
              </a:ext>
            </a:extLst>
          </p:cNvPr>
          <p:cNvSpPr txBox="1">
            <a:spLocks noChangeArrowheads="1"/>
          </p:cNvSpPr>
          <p:nvPr/>
        </p:nvSpPr>
        <p:spPr bwMode="ltGray">
          <a:xfrm>
            <a:off x="6553200" y="5181600"/>
            <a:ext cx="2209800" cy="5588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CF0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>
            <a:lvl1pPr algn="ctr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algn="ctr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algn="ctr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algn="ctr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algn="ctr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90000"/>
              </a:lnSpc>
              <a:spcBef>
                <a:spcPct val="10000"/>
              </a:spcBef>
            </a:pPr>
            <a:r>
              <a:rPr lang="en-US" altLang="zh-CN" sz="2000"/>
              <a:t>MOV R1, b</a:t>
            </a:r>
            <a:br>
              <a:rPr lang="en-US" altLang="zh-CN" sz="2000"/>
            </a:br>
            <a:r>
              <a:rPr lang="en-US" altLang="zh-CN" sz="2000"/>
              <a:t>MOV R2, d</a:t>
            </a:r>
          </a:p>
        </p:txBody>
      </p:sp>
      <p:sp>
        <p:nvSpPr>
          <p:cNvPr id="59413" name="Line 34">
            <a:extLst>
              <a:ext uri="{FF2B5EF4-FFF2-40B4-BE49-F238E27FC236}">
                <a16:creationId xmlns:a16="http://schemas.microsoft.com/office/drawing/2014/main" id="{0CB6478B-6624-4FCD-B6F1-36EAD676ADE4}"/>
              </a:ext>
            </a:extLst>
          </p:cNvPr>
          <p:cNvSpPr>
            <a:spLocks noChangeShapeType="1"/>
          </p:cNvSpPr>
          <p:nvPr/>
        </p:nvSpPr>
        <p:spPr bwMode="ltGray">
          <a:xfrm>
            <a:off x="7467600" y="4648200"/>
            <a:ext cx="304800" cy="533400"/>
          </a:xfrm>
          <a:prstGeom prst="line">
            <a:avLst/>
          </a:prstGeom>
          <a:noFill/>
          <a:ln w="25400">
            <a:solidFill>
              <a:srgbClr val="FF33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Rectangle 2">
            <a:extLst>
              <a:ext uri="{FF2B5EF4-FFF2-40B4-BE49-F238E27FC236}">
                <a16:creationId xmlns:a16="http://schemas.microsoft.com/office/drawing/2014/main" id="{9F71877E-EF7A-4001-A8E2-ADB3CE23388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9.7.3  </a:t>
            </a:r>
            <a:r>
              <a:rPr lang="zh-CN" altLang="en-US"/>
              <a:t>外层循环的寄存器分配</a:t>
            </a:r>
          </a:p>
        </p:txBody>
      </p:sp>
      <p:sp>
        <p:nvSpPr>
          <p:cNvPr id="61443" name="Rectangle 3">
            <a:extLst>
              <a:ext uri="{FF2B5EF4-FFF2-40B4-BE49-F238E27FC236}">
                <a16:creationId xmlns:a16="http://schemas.microsoft.com/office/drawing/2014/main" id="{7B48F32C-44A9-41C3-8DB4-1DE5244CB9C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内层循环相同思想</a:t>
            </a:r>
          </a:p>
          <a:p>
            <a:pPr eaLnBrk="1" hangingPunct="1"/>
            <a:r>
              <a:rPr lang="en-US" altLang="zh-CN"/>
              <a:t>L</a:t>
            </a:r>
            <a:r>
              <a:rPr lang="en-US" altLang="zh-CN" baseline="-25000"/>
              <a:t>1</a:t>
            </a:r>
            <a:r>
              <a:rPr lang="zh-CN" altLang="en-US"/>
              <a:t>包含</a:t>
            </a:r>
            <a:r>
              <a:rPr lang="en-US" altLang="zh-CN"/>
              <a:t>L</a:t>
            </a:r>
            <a:r>
              <a:rPr lang="en-US" altLang="zh-CN" baseline="-25000"/>
              <a:t>2</a:t>
            </a:r>
            <a:r>
              <a:rPr lang="zh-CN" altLang="en-US"/>
              <a:t>，</a:t>
            </a:r>
            <a:r>
              <a:rPr lang="en-US" altLang="zh-CN"/>
              <a:t>x</a:t>
            </a:r>
            <a:r>
              <a:rPr lang="zh-CN" altLang="en-US"/>
              <a:t>在</a:t>
            </a:r>
            <a:r>
              <a:rPr lang="en-US" altLang="zh-CN"/>
              <a:t>L</a:t>
            </a:r>
            <a:r>
              <a:rPr lang="en-US" altLang="zh-CN" baseline="-25000"/>
              <a:t>2</a:t>
            </a:r>
            <a:r>
              <a:rPr lang="zh-CN" altLang="en-US"/>
              <a:t>中分配了寄存器，则在</a:t>
            </a:r>
            <a:r>
              <a:rPr lang="en-US" altLang="zh-CN"/>
              <a:t>L</a:t>
            </a:r>
            <a:r>
              <a:rPr lang="en-US" altLang="zh-CN" baseline="-25000"/>
              <a:t>1</a:t>
            </a:r>
            <a:r>
              <a:rPr lang="en-US" altLang="zh-CN"/>
              <a:t> – L</a:t>
            </a:r>
            <a:r>
              <a:rPr lang="en-US" altLang="zh-CN" baseline="-25000"/>
              <a:t>2</a:t>
            </a:r>
            <a:r>
              <a:rPr lang="zh-CN" altLang="en-US"/>
              <a:t>不必再分配</a:t>
            </a:r>
          </a:p>
          <a:p>
            <a:pPr eaLnBrk="1" hangingPunct="1"/>
            <a:r>
              <a:rPr lang="en-US" altLang="zh-CN"/>
              <a:t>x</a:t>
            </a:r>
            <a:r>
              <a:rPr lang="zh-CN" altLang="en-US"/>
              <a:t>在</a:t>
            </a:r>
            <a:r>
              <a:rPr lang="en-US" altLang="zh-CN"/>
              <a:t>L</a:t>
            </a:r>
            <a:r>
              <a:rPr lang="en-US" altLang="zh-CN" baseline="-25000"/>
              <a:t>1</a:t>
            </a:r>
            <a:r>
              <a:rPr lang="zh-CN" altLang="en-US"/>
              <a:t>中分配了寄存器，而</a:t>
            </a:r>
            <a:r>
              <a:rPr lang="en-US" altLang="zh-CN"/>
              <a:t>L</a:t>
            </a:r>
            <a:r>
              <a:rPr lang="en-US" altLang="zh-CN" baseline="-25000"/>
              <a:t>2</a:t>
            </a:r>
            <a:r>
              <a:rPr lang="zh-CN" altLang="en-US"/>
              <a:t>中没有，则在</a:t>
            </a:r>
            <a:r>
              <a:rPr lang="en-US" altLang="zh-CN"/>
              <a:t>L</a:t>
            </a:r>
            <a:r>
              <a:rPr lang="en-US" altLang="zh-CN" baseline="-25000"/>
              <a:t>2</a:t>
            </a:r>
            <a:r>
              <a:rPr lang="zh-CN" altLang="en-US"/>
              <a:t>入口需保存，出口需读出</a:t>
            </a:r>
          </a:p>
          <a:p>
            <a:pPr eaLnBrk="1" hangingPunct="1"/>
            <a:r>
              <a:rPr lang="en-US" altLang="zh-CN"/>
              <a:t>x</a:t>
            </a:r>
            <a:r>
              <a:rPr lang="zh-CN" altLang="en-US"/>
              <a:t>在</a:t>
            </a:r>
            <a:r>
              <a:rPr lang="en-US" altLang="zh-CN"/>
              <a:t>L</a:t>
            </a:r>
            <a:r>
              <a:rPr lang="en-US" altLang="zh-CN" baseline="-25000"/>
              <a:t>2</a:t>
            </a:r>
            <a:r>
              <a:rPr lang="zh-CN" altLang="en-US"/>
              <a:t>中分配了寄存器，而</a:t>
            </a:r>
            <a:r>
              <a:rPr lang="en-US" altLang="zh-CN"/>
              <a:t>L</a:t>
            </a:r>
            <a:r>
              <a:rPr lang="en-US" altLang="zh-CN" baseline="-25000"/>
              <a:t>1</a:t>
            </a:r>
            <a:r>
              <a:rPr lang="zh-CN" altLang="en-US"/>
              <a:t>中没有，则在</a:t>
            </a:r>
            <a:r>
              <a:rPr lang="en-US" altLang="zh-CN"/>
              <a:t>L</a:t>
            </a:r>
            <a:r>
              <a:rPr lang="en-US" altLang="zh-CN" baseline="-25000"/>
              <a:t>2</a:t>
            </a:r>
            <a:r>
              <a:rPr lang="zh-CN" altLang="en-US"/>
              <a:t>入口需读取，出口需保存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Rectangle 2">
            <a:extLst>
              <a:ext uri="{FF2B5EF4-FFF2-40B4-BE49-F238E27FC236}">
                <a16:creationId xmlns:a16="http://schemas.microsoft.com/office/drawing/2014/main" id="{D1E63A42-F724-42E7-82AE-CD8E4EE0A3C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9.7.4  </a:t>
            </a:r>
            <a:r>
              <a:rPr lang="zh-CN" altLang="en-US"/>
              <a:t>图着色法进行寄存器分配</a:t>
            </a:r>
          </a:p>
        </p:txBody>
      </p:sp>
      <p:sp>
        <p:nvSpPr>
          <p:cNvPr id="62467" name="Rectangle 3">
            <a:extLst>
              <a:ext uri="{FF2B5EF4-FFF2-40B4-BE49-F238E27FC236}">
                <a16:creationId xmlns:a16="http://schemas.microsoft.com/office/drawing/2014/main" id="{906F817E-FB27-4F17-95DB-4F94B180F40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762000" y="1371600"/>
            <a:ext cx="8193088" cy="5486400"/>
          </a:xfrm>
        </p:spPr>
        <p:txBody>
          <a:bodyPr/>
          <a:lstStyle/>
          <a:p>
            <a:pPr marL="609600" indent="-609600" eaLnBrk="1" hangingPunct="1"/>
            <a:r>
              <a:rPr lang="zh-CN" altLang="en-US"/>
              <a:t>两次扫描</a:t>
            </a:r>
          </a:p>
          <a:p>
            <a:pPr marL="990600" lvl="1" indent="-533400" eaLnBrk="1" hangingPunct="1">
              <a:buFont typeface="Wingdings" panose="05000000000000000000" pitchFamily="2" charset="2"/>
              <a:buAutoNum type="arabicPeriod"/>
            </a:pPr>
            <a:r>
              <a:rPr lang="zh-CN" altLang="en-US"/>
              <a:t>假定寄存器数目是无限的，选择目标机器指令翻译中间代码</a:t>
            </a:r>
            <a:r>
              <a:rPr lang="en-US" altLang="zh-CN"/>
              <a:t>——</a:t>
            </a:r>
            <a:r>
              <a:rPr lang="zh-CN" altLang="en-US"/>
              <a:t>每个变量一个寄存器，符号寄存器</a:t>
            </a:r>
          </a:p>
          <a:p>
            <a:pPr marL="990600" lvl="1" indent="-533400" eaLnBrk="1" hangingPunct="1">
              <a:buFont typeface="Wingdings" panose="05000000000000000000" pitchFamily="2" charset="2"/>
              <a:buAutoNum type="arabicPeriod"/>
            </a:pPr>
            <a:r>
              <a:rPr lang="zh-CN" altLang="en-US"/>
              <a:t>分配物理寄存器</a:t>
            </a:r>
          </a:p>
          <a:p>
            <a:pPr marL="1371600" lvl="2" indent="-457200" eaLnBrk="1" hangingPunct="1"/>
            <a:r>
              <a:rPr lang="zh-CN" altLang="en-US"/>
              <a:t>寄存器冲突图，</a:t>
            </a:r>
            <a:r>
              <a:rPr lang="en-US" altLang="zh-CN"/>
              <a:t>register-interference graph</a:t>
            </a:r>
          </a:p>
          <a:p>
            <a:pPr marL="1752600" lvl="3" indent="-381000" eaLnBrk="1" hangingPunct="1"/>
            <a:r>
              <a:rPr lang="zh-CN" altLang="en-US"/>
              <a:t>节点</a:t>
            </a:r>
            <a:r>
              <a:rPr lang="en-US" altLang="zh-CN"/>
              <a:t>——</a:t>
            </a:r>
            <a:r>
              <a:rPr lang="zh-CN" altLang="en-US"/>
              <a:t>符号寄存器，</a:t>
            </a:r>
            <a:r>
              <a:rPr lang="en-US" altLang="zh-CN"/>
              <a:t>R</a:t>
            </a:r>
            <a:r>
              <a:rPr lang="en-US" altLang="zh-CN" baseline="-25000"/>
              <a:t>1</a:t>
            </a:r>
            <a:r>
              <a:rPr lang="en-US" altLang="zh-CN">
                <a:sym typeface="Wingdings" panose="05000000000000000000" pitchFamily="2" charset="2"/>
              </a:rPr>
              <a:t>—R</a:t>
            </a:r>
            <a:r>
              <a:rPr lang="en-US" altLang="zh-CN" baseline="-25000">
                <a:sym typeface="Wingdings" panose="05000000000000000000" pitchFamily="2" charset="2"/>
              </a:rPr>
              <a:t>2</a:t>
            </a:r>
            <a:r>
              <a:rPr lang="zh-CN" altLang="en-US">
                <a:sym typeface="Wingdings" panose="05000000000000000000" pitchFamily="2" charset="2"/>
              </a:rPr>
              <a:t>，</a:t>
            </a:r>
            <a:r>
              <a:rPr lang="en-US" altLang="zh-CN">
                <a:sym typeface="Wingdings" panose="05000000000000000000" pitchFamily="2" charset="2"/>
              </a:rPr>
              <a:t>R</a:t>
            </a:r>
            <a:r>
              <a:rPr lang="en-US" altLang="zh-CN" baseline="-25000">
                <a:sym typeface="Wingdings" panose="05000000000000000000" pitchFamily="2" charset="2"/>
              </a:rPr>
              <a:t>2</a:t>
            </a:r>
            <a:r>
              <a:rPr lang="zh-CN" altLang="en-US">
                <a:sym typeface="Wingdings" panose="05000000000000000000" pitchFamily="2" charset="2"/>
              </a:rPr>
              <a:t>定义的位置上</a:t>
            </a:r>
            <a:r>
              <a:rPr lang="en-US" altLang="zh-CN">
                <a:sym typeface="Wingdings" panose="05000000000000000000" pitchFamily="2" charset="2"/>
              </a:rPr>
              <a:t>R</a:t>
            </a:r>
            <a:r>
              <a:rPr lang="en-US" altLang="zh-CN" baseline="-25000">
                <a:sym typeface="Wingdings" panose="05000000000000000000" pitchFamily="2" charset="2"/>
              </a:rPr>
              <a:t>1</a:t>
            </a:r>
            <a:r>
              <a:rPr lang="zh-CN" altLang="en-US">
                <a:sym typeface="Wingdings" panose="05000000000000000000" pitchFamily="2" charset="2"/>
              </a:rPr>
              <a:t>活跃</a:t>
            </a:r>
          </a:p>
          <a:p>
            <a:pPr marL="1752600" lvl="3" indent="-381000" eaLnBrk="1" hangingPunct="1"/>
            <a:r>
              <a:rPr lang="en-US" altLang="zh-CN">
                <a:sym typeface="Wingdings" panose="05000000000000000000" pitchFamily="2" charset="2"/>
              </a:rPr>
              <a:t>k——</a:t>
            </a:r>
            <a:r>
              <a:rPr lang="zh-CN" altLang="en-US">
                <a:sym typeface="Wingdings" panose="05000000000000000000" pitchFamily="2" charset="2"/>
              </a:rPr>
              <a:t>可用物理寄存器数，用</a:t>
            </a:r>
            <a:r>
              <a:rPr lang="en-US" altLang="zh-CN">
                <a:sym typeface="Wingdings" panose="05000000000000000000" pitchFamily="2" charset="2"/>
              </a:rPr>
              <a:t>k</a:t>
            </a:r>
            <a:r>
              <a:rPr lang="zh-CN" altLang="en-US">
                <a:sym typeface="Wingdings" panose="05000000000000000000" pitchFamily="2" charset="2"/>
              </a:rPr>
              <a:t>个颜色为图着色</a:t>
            </a:r>
          </a:p>
          <a:p>
            <a:pPr marL="1752600" lvl="3" indent="-381000" eaLnBrk="1" hangingPunct="1"/>
            <a:r>
              <a:rPr lang="zh-CN" altLang="en-US">
                <a:sym typeface="Wingdings" panose="05000000000000000000" pitchFamily="2" charset="2"/>
              </a:rPr>
              <a:t>相邻节点不同颜色</a:t>
            </a:r>
            <a:r>
              <a:rPr lang="en-US" altLang="zh-CN">
                <a:sym typeface="Wingdings" panose="05000000000000000000" pitchFamily="2" charset="2"/>
              </a:rPr>
              <a:t>——</a:t>
            </a:r>
            <a:r>
              <a:rPr lang="zh-CN" altLang="en-US">
                <a:sym typeface="Wingdings" panose="05000000000000000000" pitchFamily="2" charset="2"/>
              </a:rPr>
              <a:t>干扰变量使用不同寄存器</a:t>
            </a:r>
          </a:p>
          <a:p>
            <a:pPr marL="1752600" lvl="3" indent="-381000" eaLnBrk="1" hangingPunct="1"/>
            <a:r>
              <a:rPr lang="zh-CN" altLang="en-US">
                <a:sym typeface="Wingdings" panose="05000000000000000000" pitchFamily="2" charset="2"/>
              </a:rPr>
              <a:t>启发式算法</a:t>
            </a:r>
          </a:p>
          <a:p>
            <a:pPr marL="2209800" lvl="4" indent="-381000" eaLnBrk="1" hangingPunct="1"/>
            <a:r>
              <a:rPr lang="en-US" altLang="zh-CN">
                <a:solidFill>
                  <a:schemeClr val="folHlink"/>
                </a:solidFill>
              </a:rPr>
              <a:t>n</a:t>
            </a:r>
            <a:r>
              <a:rPr lang="zh-CN" altLang="en-US">
                <a:solidFill>
                  <a:schemeClr val="folHlink"/>
                </a:solidFill>
              </a:rPr>
              <a:t>邻居数</a:t>
            </a:r>
            <a:r>
              <a:rPr lang="en-US" altLang="zh-CN">
                <a:solidFill>
                  <a:schemeClr val="folHlink"/>
                </a:solidFill>
              </a:rPr>
              <a:t>&lt;k</a:t>
            </a:r>
            <a:r>
              <a:rPr lang="zh-CN" altLang="en-US">
                <a:solidFill>
                  <a:schemeClr val="folHlink"/>
                </a:solidFill>
              </a:rPr>
              <a:t>，去掉</a:t>
            </a:r>
            <a:r>
              <a:rPr lang="en-US" altLang="zh-CN">
                <a:solidFill>
                  <a:schemeClr val="folHlink"/>
                </a:solidFill>
              </a:rPr>
              <a:t>n</a:t>
            </a:r>
            <a:r>
              <a:rPr lang="en-US" altLang="zh-CN">
                <a:solidFill>
                  <a:schemeClr val="folHlink"/>
                </a:solidFill>
                <a:sym typeface="Wingdings" panose="05000000000000000000" pitchFamily="2" charset="2"/>
              </a:rPr>
              <a:t>G’</a:t>
            </a:r>
            <a:r>
              <a:rPr lang="zh-CN" altLang="en-US">
                <a:solidFill>
                  <a:schemeClr val="folHlink"/>
                </a:solidFill>
                <a:sym typeface="Wingdings" panose="05000000000000000000" pitchFamily="2" charset="2"/>
              </a:rPr>
              <a:t>，</a:t>
            </a:r>
            <a:r>
              <a:rPr lang="en-US" altLang="zh-CN">
                <a:solidFill>
                  <a:schemeClr val="folHlink"/>
                </a:solidFill>
                <a:sym typeface="Wingdings" panose="05000000000000000000" pitchFamily="2" charset="2"/>
              </a:rPr>
              <a:t>G’</a:t>
            </a:r>
            <a:r>
              <a:rPr lang="zh-CN" altLang="en-US">
                <a:solidFill>
                  <a:schemeClr val="folHlink"/>
                </a:solidFill>
                <a:sym typeface="Wingdings" panose="05000000000000000000" pitchFamily="2" charset="2"/>
              </a:rPr>
              <a:t>可</a:t>
            </a:r>
            <a:r>
              <a:rPr lang="en-US" altLang="zh-CN">
                <a:solidFill>
                  <a:schemeClr val="folHlink"/>
                </a:solidFill>
                <a:sym typeface="Wingdings" panose="05000000000000000000" pitchFamily="2" charset="2"/>
              </a:rPr>
              <a:t>k</a:t>
            </a:r>
            <a:r>
              <a:rPr lang="zh-CN" altLang="en-US">
                <a:solidFill>
                  <a:schemeClr val="folHlink"/>
                </a:solidFill>
                <a:sym typeface="Wingdings" panose="05000000000000000000" pitchFamily="2" charset="2"/>
              </a:rPr>
              <a:t>着色</a:t>
            </a:r>
            <a:r>
              <a:rPr lang="en-US" altLang="zh-CN">
                <a:solidFill>
                  <a:schemeClr val="folHlink"/>
                </a:solidFill>
                <a:sym typeface="Wingdings" panose="05000000000000000000" pitchFamily="2" charset="2"/>
              </a:rPr>
              <a:t>G</a:t>
            </a:r>
            <a:r>
              <a:rPr lang="zh-CN" altLang="en-US">
                <a:solidFill>
                  <a:schemeClr val="folHlink"/>
                </a:solidFill>
                <a:sym typeface="Wingdings" panose="05000000000000000000" pitchFamily="2" charset="2"/>
              </a:rPr>
              <a:t>可</a:t>
            </a:r>
            <a:r>
              <a:rPr lang="en-US" altLang="zh-CN">
                <a:solidFill>
                  <a:schemeClr val="folHlink"/>
                </a:solidFill>
                <a:sym typeface="Wingdings" panose="05000000000000000000" pitchFamily="2" charset="2"/>
              </a:rPr>
              <a:t>k</a:t>
            </a:r>
            <a:r>
              <a:rPr lang="zh-CN" altLang="en-US">
                <a:solidFill>
                  <a:schemeClr val="folHlink"/>
                </a:solidFill>
                <a:sym typeface="Wingdings" panose="05000000000000000000" pitchFamily="2" charset="2"/>
              </a:rPr>
              <a:t>着色</a:t>
            </a:r>
          </a:p>
          <a:p>
            <a:pPr marL="2209800" lvl="4" indent="-381000" eaLnBrk="1" hangingPunct="1"/>
            <a:r>
              <a:rPr lang="zh-CN" altLang="en-US">
                <a:solidFill>
                  <a:schemeClr val="folHlink"/>
                </a:solidFill>
                <a:sym typeface="Wingdings" panose="05000000000000000000" pitchFamily="2" charset="2"/>
              </a:rPr>
              <a:t>最终</a:t>
            </a:r>
            <a:r>
              <a:rPr lang="en-US" altLang="zh-CN">
                <a:solidFill>
                  <a:schemeClr val="folHlink"/>
                </a:solidFill>
                <a:sym typeface="Wingdings" panose="05000000000000000000" pitchFamily="2" charset="2"/>
              </a:rPr>
              <a:t>——</a:t>
            </a:r>
            <a:r>
              <a:rPr lang="zh-CN" altLang="en-US">
                <a:solidFill>
                  <a:schemeClr val="folHlink"/>
                </a:solidFill>
                <a:sym typeface="Wingdings" panose="05000000000000000000" pitchFamily="2" charset="2"/>
              </a:rPr>
              <a:t>空图（成功）或所有节点邻居数</a:t>
            </a:r>
            <a:r>
              <a:rPr lang="en-US" altLang="zh-CN">
                <a:solidFill>
                  <a:schemeClr val="folHlink"/>
                </a:solidFill>
                <a:sym typeface="Wingdings" panose="05000000000000000000" pitchFamily="2" charset="2"/>
              </a:rPr>
              <a:t>&gt;=n</a:t>
            </a:r>
            <a:r>
              <a:rPr lang="zh-CN" altLang="en-US">
                <a:solidFill>
                  <a:schemeClr val="folHlink"/>
                </a:solidFill>
                <a:sym typeface="Wingdings" panose="05000000000000000000" pitchFamily="2" charset="2"/>
              </a:rPr>
              <a:t>（失败）</a:t>
            </a:r>
            <a:endParaRPr lang="zh-CN" altLang="en-US">
              <a:solidFill>
                <a:schemeClr val="folHlink"/>
              </a:solidFill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Rectangle 2">
            <a:extLst>
              <a:ext uri="{FF2B5EF4-FFF2-40B4-BE49-F238E27FC236}">
                <a16:creationId xmlns:a16="http://schemas.microsoft.com/office/drawing/2014/main" id="{4FACF4C7-A94E-4C36-A91F-0711BD09522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9.8  </a:t>
            </a:r>
            <a:r>
              <a:rPr lang="zh-CN" altLang="en-US"/>
              <a:t>基本块的</a:t>
            </a:r>
            <a:r>
              <a:rPr lang="en-US" altLang="zh-CN"/>
              <a:t>DAG</a:t>
            </a:r>
            <a:r>
              <a:rPr lang="zh-CN" altLang="en-US"/>
              <a:t>表示</a:t>
            </a:r>
          </a:p>
        </p:txBody>
      </p:sp>
      <p:sp>
        <p:nvSpPr>
          <p:cNvPr id="63491" name="Rectangle 3">
            <a:extLst>
              <a:ext uri="{FF2B5EF4-FFF2-40B4-BE49-F238E27FC236}">
                <a16:creationId xmlns:a16="http://schemas.microsoft.com/office/drawing/2014/main" id="{E5D3BFC1-6A4F-4EBA-B538-7E1B44E8FDA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marL="609600" indent="-609600" eaLnBrk="1" hangingPunct="1"/>
            <a:r>
              <a:rPr lang="zh-CN" altLang="en-US"/>
              <a:t>构造方法</a:t>
            </a:r>
          </a:p>
          <a:p>
            <a:pPr marL="990600" lvl="1" indent="-533400" eaLnBrk="1" hangingPunct="1">
              <a:buFont typeface="Wingdings" panose="05000000000000000000" pitchFamily="2" charset="2"/>
              <a:buAutoNum type="arabicPeriod"/>
            </a:pPr>
            <a:r>
              <a:rPr lang="zh-CN" altLang="en-US"/>
              <a:t>叶：标记变量或常量</a:t>
            </a:r>
            <a:br>
              <a:rPr lang="zh-CN" altLang="en-US"/>
            </a:br>
            <a:r>
              <a:rPr lang="zh-CN" altLang="en-US"/>
              <a:t>左值</a:t>
            </a:r>
            <a:r>
              <a:rPr lang="en-US" altLang="zh-CN"/>
              <a:t>/</a:t>
            </a:r>
            <a:r>
              <a:rPr lang="zh-CN" altLang="en-US"/>
              <a:t>右值</a:t>
            </a:r>
            <a:br>
              <a:rPr lang="zh-CN" altLang="en-US"/>
            </a:br>
            <a:r>
              <a:rPr lang="zh-CN" altLang="en-US"/>
              <a:t>初始值</a:t>
            </a:r>
            <a:r>
              <a:rPr lang="en-US" altLang="zh-CN"/>
              <a:t>——</a:t>
            </a:r>
            <a:r>
              <a:rPr lang="zh-CN" altLang="en-US"/>
              <a:t>下标</a:t>
            </a:r>
            <a:r>
              <a:rPr lang="en-US" altLang="zh-CN"/>
              <a:t>0</a:t>
            </a:r>
          </a:p>
          <a:p>
            <a:pPr marL="990600" lvl="1" indent="-533400" eaLnBrk="1" hangingPunct="1">
              <a:buFont typeface="Wingdings" panose="05000000000000000000" pitchFamily="2" charset="2"/>
              <a:buAutoNum type="arabicPeriod"/>
            </a:pPr>
            <a:r>
              <a:rPr lang="zh-CN" altLang="en-US"/>
              <a:t>内部节点：标记为运算符</a:t>
            </a:r>
          </a:p>
          <a:p>
            <a:pPr marL="990600" lvl="1" indent="-533400" eaLnBrk="1" hangingPunct="1">
              <a:buFont typeface="Wingdings" panose="05000000000000000000" pitchFamily="2" charset="2"/>
              <a:buAutoNum type="arabicPeriod"/>
            </a:pPr>
            <a:r>
              <a:rPr lang="zh-CN" altLang="en-US"/>
              <a:t>为节点标记标识符</a:t>
            </a:r>
            <a:r>
              <a:rPr lang="en-US" altLang="zh-CN"/>
              <a:t>——</a:t>
            </a:r>
            <a:r>
              <a:rPr lang="zh-CN" altLang="en-US"/>
              <a:t>计算结果保存在标识符中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2">
            <a:extLst>
              <a:ext uri="{FF2B5EF4-FFF2-40B4-BE49-F238E27FC236}">
                <a16:creationId xmlns:a16="http://schemas.microsoft.com/office/drawing/2014/main" id="{2E7FC83D-13B9-4483-97AE-EAE60AF7238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例</a:t>
            </a:r>
            <a:r>
              <a:rPr lang="en-US" altLang="zh-CN"/>
              <a:t>9.7</a:t>
            </a:r>
          </a:p>
        </p:txBody>
      </p:sp>
      <p:sp>
        <p:nvSpPr>
          <p:cNvPr id="64515" name="Rectangle 3">
            <a:extLst>
              <a:ext uri="{FF2B5EF4-FFF2-40B4-BE49-F238E27FC236}">
                <a16:creationId xmlns:a16="http://schemas.microsoft.com/office/drawing/2014/main" id="{F58C272A-DEF0-4B5B-9D6B-C9AD3342EF0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228600" y="1676400"/>
            <a:ext cx="3733800" cy="4724400"/>
          </a:xfrm>
        </p:spPr>
        <p:txBody>
          <a:bodyPr/>
          <a:lstStyle/>
          <a:p>
            <a:pPr marL="609600" indent="-609600" eaLnBrk="1" hangingPunct="1">
              <a:lnSpc>
                <a:spcPct val="90000"/>
              </a:lnSpc>
              <a:spcBef>
                <a:spcPct val="10000"/>
              </a:spcBef>
              <a:buFont typeface="Wingdings" panose="05000000000000000000" pitchFamily="2" charset="2"/>
              <a:buAutoNum type="arabicParenR"/>
            </a:pPr>
            <a:r>
              <a:rPr lang="en-US" altLang="zh-CN" sz="2800">
                <a:solidFill>
                  <a:schemeClr val="folHlink"/>
                </a:solidFill>
              </a:rPr>
              <a:t>t</a:t>
            </a:r>
            <a:r>
              <a:rPr lang="en-US" altLang="zh-CN" sz="2800" baseline="-25000">
                <a:solidFill>
                  <a:schemeClr val="folHlink"/>
                </a:solidFill>
              </a:rPr>
              <a:t>1</a:t>
            </a:r>
            <a:r>
              <a:rPr lang="en-US" altLang="zh-CN" sz="2800">
                <a:solidFill>
                  <a:schemeClr val="folHlink"/>
                </a:solidFill>
              </a:rPr>
              <a:t> := 4 * i</a:t>
            </a:r>
          </a:p>
          <a:p>
            <a:pPr marL="609600" indent="-609600" eaLnBrk="1" hangingPunct="1">
              <a:lnSpc>
                <a:spcPct val="90000"/>
              </a:lnSpc>
              <a:spcBef>
                <a:spcPct val="10000"/>
              </a:spcBef>
              <a:buFont typeface="Wingdings" panose="05000000000000000000" pitchFamily="2" charset="2"/>
              <a:buAutoNum type="arabicParenR"/>
            </a:pPr>
            <a:r>
              <a:rPr lang="en-US" altLang="zh-CN" sz="2800">
                <a:solidFill>
                  <a:schemeClr val="folHlink"/>
                </a:solidFill>
              </a:rPr>
              <a:t>t</a:t>
            </a:r>
            <a:r>
              <a:rPr lang="en-US" altLang="zh-CN" sz="2800" baseline="-25000">
                <a:solidFill>
                  <a:schemeClr val="folHlink"/>
                </a:solidFill>
              </a:rPr>
              <a:t>2</a:t>
            </a:r>
            <a:r>
              <a:rPr lang="en-US" altLang="zh-CN" sz="2800">
                <a:solidFill>
                  <a:schemeClr val="folHlink"/>
                </a:solidFill>
              </a:rPr>
              <a:t> := a [ t</a:t>
            </a:r>
            <a:r>
              <a:rPr lang="en-US" altLang="zh-CN" sz="2800" baseline="-25000">
                <a:solidFill>
                  <a:schemeClr val="folHlink"/>
                </a:solidFill>
              </a:rPr>
              <a:t>1</a:t>
            </a:r>
            <a:r>
              <a:rPr lang="en-US" altLang="zh-CN" sz="2800">
                <a:solidFill>
                  <a:schemeClr val="folHlink"/>
                </a:solidFill>
              </a:rPr>
              <a:t> ]</a:t>
            </a:r>
          </a:p>
          <a:p>
            <a:pPr marL="609600" indent="-609600" eaLnBrk="1" hangingPunct="1">
              <a:lnSpc>
                <a:spcPct val="90000"/>
              </a:lnSpc>
              <a:spcBef>
                <a:spcPct val="10000"/>
              </a:spcBef>
              <a:buFont typeface="Wingdings" panose="05000000000000000000" pitchFamily="2" charset="2"/>
              <a:buAutoNum type="arabicParenR"/>
            </a:pPr>
            <a:r>
              <a:rPr lang="en-US" altLang="zh-CN" sz="2800">
                <a:solidFill>
                  <a:schemeClr val="folHlink"/>
                </a:solidFill>
              </a:rPr>
              <a:t>t</a:t>
            </a:r>
            <a:r>
              <a:rPr lang="en-US" altLang="zh-CN" sz="2800" baseline="-25000">
                <a:solidFill>
                  <a:schemeClr val="folHlink"/>
                </a:solidFill>
              </a:rPr>
              <a:t>3</a:t>
            </a:r>
            <a:r>
              <a:rPr lang="en-US" altLang="zh-CN" sz="2800">
                <a:solidFill>
                  <a:schemeClr val="folHlink"/>
                </a:solidFill>
              </a:rPr>
              <a:t> := 4 * i</a:t>
            </a:r>
          </a:p>
          <a:p>
            <a:pPr marL="609600" indent="-609600" eaLnBrk="1" hangingPunct="1">
              <a:lnSpc>
                <a:spcPct val="90000"/>
              </a:lnSpc>
              <a:spcBef>
                <a:spcPct val="10000"/>
              </a:spcBef>
              <a:buFont typeface="Wingdings" panose="05000000000000000000" pitchFamily="2" charset="2"/>
              <a:buAutoNum type="arabicParenR"/>
            </a:pPr>
            <a:r>
              <a:rPr lang="en-US" altLang="zh-CN" sz="2800">
                <a:solidFill>
                  <a:schemeClr val="folHlink"/>
                </a:solidFill>
              </a:rPr>
              <a:t>t</a:t>
            </a:r>
            <a:r>
              <a:rPr lang="en-US" altLang="zh-CN" sz="2800" baseline="-25000">
                <a:solidFill>
                  <a:schemeClr val="folHlink"/>
                </a:solidFill>
              </a:rPr>
              <a:t>4</a:t>
            </a:r>
            <a:r>
              <a:rPr lang="en-US" altLang="zh-CN" sz="2800">
                <a:solidFill>
                  <a:schemeClr val="folHlink"/>
                </a:solidFill>
              </a:rPr>
              <a:t> := b [ t</a:t>
            </a:r>
            <a:r>
              <a:rPr lang="en-US" altLang="zh-CN" sz="2800" baseline="-25000">
                <a:solidFill>
                  <a:schemeClr val="folHlink"/>
                </a:solidFill>
              </a:rPr>
              <a:t>3</a:t>
            </a:r>
            <a:r>
              <a:rPr lang="en-US" altLang="zh-CN" sz="2800">
                <a:solidFill>
                  <a:schemeClr val="folHlink"/>
                </a:solidFill>
              </a:rPr>
              <a:t>]</a:t>
            </a:r>
          </a:p>
          <a:p>
            <a:pPr marL="609600" indent="-609600" eaLnBrk="1" hangingPunct="1">
              <a:lnSpc>
                <a:spcPct val="90000"/>
              </a:lnSpc>
              <a:spcBef>
                <a:spcPct val="10000"/>
              </a:spcBef>
              <a:buFont typeface="Wingdings" panose="05000000000000000000" pitchFamily="2" charset="2"/>
              <a:buAutoNum type="arabicParenR"/>
            </a:pPr>
            <a:r>
              <a:rPr lang="en-US" altLang="zh-CN" sz="2800">
                <a:solidFill>
                  <a:schemeClr val="folHlink"/>
                </a:solidFill>
              </a:rPr>
              <a:t>t</a:t>
            </a:r>
            <a:r>
              <a:rPr lang="en-US" altLang="zh-CN" sz="2800" baseline="-25000">
                <a:solidFill>
                  <a:schemeClr val="folHlink"/>
                </a:solidFill>
              </a:rPr>
              <a:t>5</a:t>
            </a:r>
            <a:r>
              <a:rPr lang="en-US" altLang="zh-CN" sz="2800">
                <a:solidFill>
                  <a:schemeClr val="folHlink"/>
                </a:solidFill>
              </a:rPr>
              <a:t> := t</a:t>
            </a:r>
            <a:r>
              <a:rPr lang="en-US" altLang="zh-CN" sz="2800" baseline="-25000">
                <a:solidFill>
                  <a:schemeClr val="folHlink"/>
                </a:solidFill>
              </a:rPr>
              <a:t>2</a:t>
            </a:r>
            <a:r>
              <a:rPr lang="en-US" altLang="zh-CN" sz="2800">
                <a:solidFill>
                  <a:schemeClr val="folHlink"/>
                </a:solidFill>
              </a:rPr>
              <a:t> * t</a:t>
            </a:r>
            <a:r>
              <a:rPr lang="en-US" altLang="zh-CN" sz="2800" baseline="-25000">
                <a:solidFill>
                  <a:schemeClr val="folHlink"/>
                </a:solidFill>
              </a:rPr>
              <a:t>4</a:t>
            </a:r>
            <a:endParaRPr lang="en-US" altLang="zh-CN" sz="2800">
              <a:solidFill>
                <a:schemeClr val="folHlink"/>
              </a:solidFill>
            </a:endParaRPr>
          </a:p>
          <a:p>
            <a:pPr marL="609600" indent="-609600" eaLnBrk="1" hangingPunct="1">
              <a:lnSpc>
                <a:spcPct val="90000"/>
              </a:lnSpc>
              <a:spcBef>
                <a:spcPct val="10000"/>
              </a:spcBef>
              <a:buFont typeface="Wingdings" panose="05000000000000000000" pitchFamily="2" charset="2"/>
              <a:buAutoNum type="arabicParenR"/>
            </a:pPr>
            <a:r>
              <a:rPr lang="en-US" altLang="zh-CN" sz="2800">
                <a:solidFill>
                  <a:schemeClr val="folHlink"/>
                </a:solidFill>
              </a:rPr>
              <a:t>t</a:t>
            </a:r>
            <a:r>
              <a:rPr lang="en-US" altLang="zh-CN" sz="2800" baseline="-25000">
                <a:solidFill>
                  <a:schemeClr val="folHlink"/>
                </a:solidFill>
              </a:rPr>
              <a:t>6</a:t>
            </a:r>
            <a:r>
              <a:rPr lang="en-US" altLang="zh-CN" sz="2800">
                <a:solidFill>
                  <a:schemeClr val="folHlink"/>
                </a:solidFill>
              </a:rPr>
              <a:t> := prod + t</a:t>
            </a:r>
            <a:r>
              <a:rPr lang="en-US" altLang="zh-CN" sz="2800" baseline="-25000">
                <a:solidFill>
                  <a:schemeClr val="folHlink"/>
                </a:solidFill>
              </a:rPr>
              <a:t>5</a:t>
            </a:r>
            <a:endParaRPr lang="en-US" altLang="zh-CN" sz="2800">
              <a:solidFill>
                <a:schemeClr val="folHlink"/>
              </a:solidFill>
            </a:endParaRPr>
          </a:p>
          <a:p>
            <a:pPr marL="609600" indent="-609600" eaLnBrk="1" hangingPunct="1">
              <a:lnSpc>
                <a:spcPct val="90000"/>
              </a:lnSpc>
              <a:spcBef>
                <a:spcPct val="10000"/>
              </a:spcBef>
              <a:buFont typeface="Wingdings" panose="05000000000000000000" pitchFamily="2" charset="2"/>
              <a:buAutoNum type="arabicParenR"/>
            </a:pPr>
            <a:r>
              <a:rPr lang="en-US" altLang="zh-CN" sz="2800">
                <a:solidFill>
                  <a:schemeClr val="folHlink"/>
                </a:solidFill>
              </a:rPr>
              <a:t>prod := t</a:t>
            </a:r>
            <a:r>
              <a:rPr lang="en-US" altLang="zh-CN" sz="2800" baseline="-25000">
                <a:solidFill>
                  <a:schemeClr val="folHlink"/>
                </a:solidFill>
              </a:rPr>
              <a:t>6</a:t>
            </a:r>
            <a:endParaRPr lang="en-US" altLang="zh-CN" sz="2800">
              <a:solidFill>
                <a:schemeClr val="folHlink"/>
              </a:solidFill>
            </a:endParaRPr>
          </a:p>
          <a:p>
            <a:pPr marL="609600" indent="-609600" eaLnBrk="1" hangingPunct="1">
              <a:lnSpc>
                <a:spcPct val="90000"/>
              </a:lnSpc>
              <a:spcBef>
                <a:spcPct val="10000"/>
              </a:spcBef>
              <a:buFont typeface="Wingdings" panose="05000000000000000000" pitchFamily="2" charset="2"/>
              <a:buAutoNum type="arabicParenR"/>
            </a:pPr>
            <a:r>
              <a:rPr lang="en-US" altLang="zh-CN" sz="2800">
                <a:solidFill>
                  <a:schemeClr val="folHlink"/>
                </a:solidFill>
              </a:rPr>
              <a:t>t</a:t>
            </a:r>
            <a:r>
              <a:rPr lang="en-US" altLang="zh-CN" sz="2800" baseline="-25000">
                <a:solidFill>
                  <a:schemeClr val="folHlink"/>
                </a:solidFill>
              </a:rPr>
              <a:t>7</a:t>
            </a:r>
            <a:r>
              <a:rPr lang="en-US" altLang="zh-CN" sz="2800">
                <a:solidFill>
                  <a:schemeClr val="folHlink"/>
                </a:solidFill>
              </a:rPr>
              <a:t> := i + 1</a:t>
            </a:r>
          </a:p>
          <a:p>
            <a:pPr marL="609600" indent="-609600" eaLnBrk="1" hangingPunct="1">
              <a:lnSpc>
                <a:spcPct val="90000"/>
              </a:lnSpc>
              <a:spcBef>
                <a:spcPct val="10000"/>
              </a:spcBef>
              <a:buFont typeface="Wingdings" panose="05000000000000000000" pitchFamily="2" charset="2"/>
              <a:buAutoNum type="arabicParenR"/>
            </a:pPr>
            <a:r>
              <a:rPr lang="en-US" altLang="zh-CN" sz="2800">
                <a:solidFill>
                  <a:schemeClr val="folHlink"/>
                </a:solidFill>
              </a:rPr>
              <a:t>i := t</a:t>
            </a:r>
            <a:r>
              <a:rPr lang="en-US" altLang="zh-CN" sz="2800" baseline="-25000">
                <a:solidFill>
                  <a:schemeClr val="folHlink"/>
                </a:solidFill>
              </a:rPr>
              <a:t>7</a:t>
            </a:r>
            <a:endParaRPr lang="en-US" altLang="zh-CN" sz="2800">
              <a:solidFill>
                <a:schemeClr val="folHlink"/>
              </a:solidFill>
            </a:endParaRPr>
          </a:p>
          <a:p>
            <a:pPr marL="609600" indent="-609600" eaLnBrk="1" hangingPunct="1">
              <a:lnSpc>
                <a:spcPct val="90000"/>
              </a:lnSpc>
              <a:spcBef>
                <a:spcPct val="10000"/>
              </a:spcBef>
              <a:buFont typeface="Wingdings" panose="05000000000000000000" pitchFamily="2" charset="2"/>
              <a:buAutoNum type="arabicParenR"/>
            </a:pPr>
            <a:r>
              <a:rPr lang="en-US" altLang="zh-CN" sz="2800">
                <a:solidFill>
                  <a:schemeClr val="folHlink"/>
                </a:solidFill>
              </a:rPr>
              <a:t>if i &lt;= 20 goto (1)</a:t>
            </a:r>
            <a:endParaRPr lang="en-US" altLang="zh-CN"/>
          </a:p>
        </p:txBody>
      </p:sp>
      <p:pic>
        <p:nvPicPr>
          <p:cNvPr id="64516" name="Picture 4" descr="C:\Documents and Settings\Administrator\My Documents\wg\编译原理\jiangyi\figures\9\blkdag.gif">
            <a:extLst>
              <a:ext uri="{FF2B5EF4-FFF2-40B4-BE49-F238E27FC236}">
                <a16:creationId xmlns:a16="http://schemas.microsoft.com/office/drawing/2014/main" id="{D3EEE323-14EB-466B-9978-1DFCE60B4C8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87700" y="1828800"/>
            <a:ext cx="5803900" cy="3435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Rectangle 2">
            <a:extLst>
              <a:ext uri="{FF2B5EF4-FFF2-40B4-BE49-F238E27FC236}">
                <a16:creationId xmlns:a16="http://schemas.microsoft.com/office/drawing/2014/main" id="{F97CC5DD-4BD3-4EA9-8E51-C629CE2A37A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9.8.1  dag</a:t>
            </a:r>
            <a:r>
              <a:rPr lang="zh-CN" altLang="en-US"/>
              <a:t>的构造</a:t>
            </a:r>
          </a:p>
        </p:txBody>
      </p:sp>
      <p:sp>
        <p:nvSpPr>
          <p:cNvPr id="65539" name="Rectangle 3">
            <a:extLst>
              <a:ext uri="{FF2B5EF4-FFF2-40B4-BE49-F238E27FC236}">
                <a16:creationId xmlns:a16="http://schemas.microsoft.com/office/drawing/2014/main" id="{A33C7509-6F68-4CD2-A4AA-9CFBF785B7D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182688" y="1371600"/>
            <a:ext cx="7772400" cy="5486400"/>
          </a:xfrm>
        </p:spPr>
        <p:txBody>
          <a:bodyPr/>
          <a:lstStyle/>
          <a:p>
            <a:pPr marL="609600" indent="-609600" eaLnBrk="1" hangingPunct="1">
              <a:buFont typeface="Wingdings" panose="05000000000000000000" pitchFamily="2" charset="2"/>
              <a:buNone/>
            </a:pPr>
            <a:r>
              <a:rPr lang="zh-CN" altLang="en-US"/>
              <a:t>算法</a:t>
            </a:r>
            <a:r>
              <a:rPr lang="en-US" altLang="zh-CN"/>
              <a:t>9.2</a:t>
            </a:r>
            <a:r>
              <a:rPr lang="zh-CN" altLang="en-US"/>
              <a:t>：</a:t>
            </a:r>
          </a:p>
          <a:p>
            <a:pPr marL="609600" indent="-609600" eaLnBrk="1" hangingPunct="1">
              <a:buFont typeface="Wingdings" panose="05000000000000000000" pitchFamily="2" charset="2"/>
              <a:buNone/>
            </a:pPr>
            <a:r>
              <a:rPr lang="zh-CN" altLang="en-US"/>
              <a:t>输入	一个基本块</a:t>
            </a:r>
          </a:p>
          <a:p>
            <a:pPr marL="609600" indent="-609600" eaLnBrk="1" hangingPunct="1">
              <a:buFont typeface="Wingdings" panose="05000000000000000000" pitchFamily="2" charset="2"/>
              <a:buNone/>
            </a:pPr>
            <a:r>
              <a:rPr lang="zh-CN" altLang="en-US"/>
              <a:t>输出	基本块对应的</a:t>
            </a:r>
            <a:r>
              <a:rPr lang="en-US" altLang="zh-CN"/>
              <a:t>dag</a:t>
            </a:r>
            <a:r>
              <a:rPr lang="zh-CN" altLang="en-US"/>
              <a:t>，包含如下信息：</a:t>
            </a:r>
          </a:p>
          <a:p>
            <a:pPr marL="609600" indent="-609600" eaLnBrk="1" hangingPunct="1">
              <a:buFont typeface="Wingdings" panose="05000000000000000000" pitchFamily="2" charset="2"/>
              <a:buAutoNum type="arabicPeriod"/>
            </a:pPr>
            <a:r>
              <a:rPr lang="zh-CN" altLang="en-US" sz="2800">
                <a:solidFill>
                  <a:schemeClr val="folHlink"/>
                </a:solidFill>
              </a:rPr>
              <a:t>每个节点有一个标记，叶节点标记为标识符，内部节点标记为操作符</a:t>
            </a:r>
          </a:p>
          <a:p>
            <a:pPr marL="609600" indent="-609600" eaLnBrk="1" hangingPunct="1">
              <a:buFont typeface="Wingdings" panose="05000000000000000000" pitchFamily="2" charset="2"/>
              <a:buAutoNum type="arabicPeriod"/>
            </a:pPr>
            <a:r>
              <a:rPr lang="zh-CN" altLang="en-US" sz="2800">
                <a:solidFill>
                  <a:schemeClr val="folHlink"/>
                </a:solidFill>
              </a:rPr>
              <a:t>每个节点有一个附着标识符列表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Rectangle 2">
            <a:extLst>
              <a:ext uri="{FF2B5EF4-FFF2-40B4-BE49-F238E27FC236}">
                <a16:creationId xmlns:a16="http://schemas.microsoft.com/office/drawing/2014/main" id="{0B043E54-0C82-47D1-9AFA-D8F8B882EE5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算法</a:t>
            </a:r>
            <a:r>
              <a:rPr lang="en-US" altLang="zh-CN"/>
              <a:t>9.2</a:t>
            </a:r>
            <a:r>
              <a:rPr lang="zh-CN" altLang="en-US"/>
              <a:t>：</a:t>
            </a:r>
            <a:r>
              <a:rPr lang="en-US" altLang="zh-CN"/>
              <a:t>dag</a:t>
            </a:r>
            <a:r>
              <a:rPr lang="zh-CN" altLang="en-US"/>
              <a:t>的构造（续）</a:t>
            </a:r>
          </a:p>
        </p:txBody>
      </p:sp>
      <p:sp>
        <p:nvSpPr>
          <p:cNvPr id="66563" name="Rectangle 3">
            <a:extLst>
              <a:ext uri="{FF2B5EF4-FFF2-40B4-BE49-F238E27FC236}">
                <a16:creationId xmlns:a16="http://schemas.microsoft.com/office/drawing/2014/main" id="{7CCAC6C0-90C5-4601-ABAD-E1F6CF2001E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182688" y="1371600"/>
            <a:ext cx="7772400" cy="5486400"/>
          </a:xfrm>
        </p:spPr>
        <p:txBody>
          <a:bodyPr/>
          <a:lstStyle/>
          <a:p>
            <a:pPr marL="609600" indent="-609600" eaLnBrk="1" hangingPunct="1">
              <a:buFont typeface="Wingdings" panose="05000000000000000000" pitchFamily="2" charset="2"/>
              <a:buNone/>
            </a:pPr>
            <a:r>
              <a:rPr lang="zh-CN" altLang="en-US" sz="2800"/>
              <a:t>方法：</a:t>
            </a:r>
          </a:p>
          <a:p>
            <a:pPr marL="609600" indent="-609600" eaLnBrk="1" hangingPunct="1">
              <a:buFont typeface="Wingdings" panose="05000000000000000000" pitchFamily="2" charset="2"/>
              <a:buNone/>
            </a:pPr>
            <a:r>
              <a:rPr lang="en-US" altLang="zh-CN" sz="2400"/>
              <a:t>node(</a:t>
            </a:r>
            <a:r>
              <a:rPr lang="en-US" altLang="zh-CN" sz="2400" i="1"/>
              <a:t>identifier</a:t>
            </a:r>
            <a:r>
              <a:rPr lang="en-US" altLang="zh-CN" sz="2400"/>
              <a:t>)</a:t>
            </a:r>
            <a:r>
              <a:rPr lang="zh-CN" altLang="en-US" sz="2400"/>
              <a:t>：标识符</a:t>
            </a:r>
            <a:r>
              <a:rPr lang="en-US" altLang="zh-CN" sz="2400" i="1"/>
              <a:t>identifier</a:t>
            </a:r>
            <a:r>
              <a:rPr lang="zh-CN" altLang="en-US" sz="2400"/>
              <a:t>相关联的节点</a:t>
            </a:r>
          </a:p>
          <a:p>
            <a:pPr marL="609600" indent="-609600" eaLnBrk="1" hangingPunct="1">
              <a:buFont typeface="Wingdings" panose="05000000000000000000" pitchFamily="2" charset="2"/>
              <a:buNone/>
            </a:pPr>
            <a:r>
              <a:rPr lang="zh-CN" altLang="en-US" sz="2400"/>
              <a:t>对基本块每个语句做步骤</a:t>
            </a:r>
            <a:r>
              <a:rPr lang="en-US" altLang="zh-CN" sz="2400"/>
              <a:t>(1)-(3)</a:t>
            </a:r>
          </a:p>
          <a:p>
            <a:pPr marL="609600" indent="-609600" eaLnBrk="1" hangingPunct="1">
              <a:buFont typeface="Wingdings" panose="05000000000000000000" pitchFamily="2" charset="2"/>
              <a:buNone/>
            </a:pPr>
            <a:r>
              <a:rPr lang="zh-CN" altLang="en-US" sz="2400"/>
              <a:t>初始，没有节点，</a:t>
            </a:r>
            <a:r>
              <a:rPr lang="en-US" altLang="zh-CN" sz="2400"/>
              <a:t>node</a:t>
            </a:r>
            <a:r>
              <a:rPr lang="zh-CN" altLang="en-US" sz="2400"/>
              <a:t>函数均为未定义</a:t>
            </a:r>
          </a:p>
          <a:p>
            <a:pPr marL="609600" indent="-609600" eaLnBrk="1" hangingPunct="1">
              <a:buFont typeface="Wingdings" panose="05000000000000000000" pitchFamily="2" charset="2"/>
              <a:buNone/>
            </a:pPr>
            <a:r>
              <a:rPr lang="zh-CN" altLang="en-US" sz="2400"/>
              <a:t>三种语句：	</a:t>
            </a:r>
            <a:r>
              <a:rPr lang="en-US" altLang="zh-CN" sz="2400">
                <a:solidFill>
                  <a:schemeClr val="folHlink"/>
                </a:solidFill>
              </a:rPr>
              <a:t>(i) x := y op z</a:t>
            </a:r>
            <a:br>
              <a:rPr lang="en-US" altLang="zh-CN" sz="2400">
                <a:solidFill>
                  <a:schemeClr val="folHlink"/>
                </a:solidFill>
              </a:rPr>
            </a:br>
            <a:r>
              <a:rPr lang="en-US" altLang="zh-CN" sz="2400">
                <a:solidFill>
                  <a:schemeClr val="folHlink"/>
                </a:solidFill>
              </a:rPr>
              <a:t>		(ii) x := op y</a:t>
            </a:r>
          </a:p>
          <a:p>
            <a:pPr marL="609600" indent="-609600" eaLnBrk="1" hangingPunct="1">
              <a:buFont typeface="Wingdings" panose="05000000000000000000" pitchFamily="2" charset="2"/>
              <a:buNone/>
            </a:pPr>
            <a:r>
              <a:rPr lang="en-US" altLang="zh-CN" sz="2400">
                <a:solidFill>
                  <a:schemeClr val="folHlink"/>
                </a:solidFill>
              </a:rPr>
              <a:t>			(iii) x := y</a:t>
            </a:r>
          </a:p>
          <a:p>
            <a:pPr marL="609600" indent="-609600" eaLnBrk="1" hangingPunct="1">
              <a:buFont typeface="Wingdings" panose="05000000000000000000" pitchFamily="2" charset="2"/>
              <a:buAutoNum type="arabicPeriod"/>
            </a:pPr>
            <a:r>
              <a:rPr lang="zh-CN" altLang="en-US" sz="2400">
                <a:solidFill>
                  <a:schemeClr val="folHlink"/>
                </a:solidFill>
              </a:rPr>
              <a:t>创建孩子节点</a:t>
            </a:r>
          </a:p>
          <a:p>
            <a:pPr marL="990600" lvl="1" indent="-533400" eaLnBrk="1" hangingPunct="1"/>
            <a:r>
              <a:rPr lang="zh-CN" altLang="en-US" sz="2000">
                <a:solidFill>
                  <a:srgbClr val="FF3300"/>
                </a:solidFill>
              </a:rPr>
              <a:t>若</a:t>
            </a:r>
            <a:r>
              <a:rPr lang="en-US" altLang="zh-CN" sz="2000">
                <a:solidFill>
                  <a:srgbClr val="FF3300"/>
                </a:solidFill>
              </a:rPr>
              <a:t>node(y)</a:t>
            </a:r>
            <a:r>
              <a:rPr lang="zh-CN" altLang="en-US" sz="2000">
                <a:solidFill>
                  <a:srgbClr val="FF3300"/>
                </a:solidFill>
              </a:rPr>
              <a:t>未定义，创建一个叶节点，标记为</a:t>
            </a:r>
            <a:r>
              <a:rPr lang="en-US" altLang="zh-CN" sz="2000">
                <a:solidFill>
                  <a:srgbClr val="FF3300"/>
                </a:solidFill>
              </a:rPr>
              <a:t>y</a:t>
            </a:r>
            <a:r>
              <a:rPr lang="zh-CN" altLang="en-US" sz="2000">
                <a:solidFill>
                  <a:srgbClr val="FF3300"/>
                </a:solidFill>
              </a:rPr>
              <a:t>，</a:t>
            </a:r>
            <a:r>
              <a:rPr lang="en-US" altLang="zh-CN" sz="2000">
                <a:solidFill>
                  <a:srgbClr val="FF3300"/>
                </a:solidFill>
              </a:rPr>
              <a:t>node(y)</a:t>
            </a:r>
            <a:r>
              <a:rPr lang="zh-CN" altLang="en-US" sz="2000">
                <a:solidFill>
                  <a:srgbClr val="FF3300"/>
                </a:solidFill>
              </a:rPr>
              <a:t>的值设置为此节点。对</a:t>
            </a:r>
            <a:r>
              <a:rPr lang="en-US" altLang="zh-CN" sz="2000">
                <a:solidFill>
                  <a:srgbClr val="FF3300"/>
                </a:solidFill>
              </a:rPr>
              <a:t>(i)</a:t>
            </a:r>
            <a:r>
              <a:rPr lang="zh-CN" altLang="en-US" sz="2000">
                <a:solidFill>
                  <a:srgbClr val="FF3300"/>
                </a:solidFill>
              </a:rPr>
              <a:t>类语句，</a:t>
            </a:r>
            <a:r>
              <a:rPr lang="en-US" altLang="zh-CN" sz="2000">
                <a:solidFill>
                  <a:srgbClr val="FF3300"/>
                </a:solidFill>
              </a:rPr>
              <a:t>z</a:t>
            </a:r>
            <a:r>
              <a:rPr lang="zh-CN" altLang="en-US" sz="2000">
                <a:solidFill>
                  <a:srgbClr val="FF3300"/>
                </a:solidFill>
              </a:rPr>
              <a:t>同样处理</a:t>
            </a:r>
          </a:p>
          <a:p>
            <a:pPr marL="609600" indent="-609600" eaLnBrk="1" hangingPunct="1">
              <a:buFont typeface="Wingdings" panose="05000000000000000000" pitchFamily="2" charset="2"/>
              <a:buNone/>
            </a:pPr>
            <a:endParaRPr lang="en-US" altLang="zh-CN" sz="2000">
              <a:solidFill>
                <a:schemeClr val="folHlink"/>
              </a:solidFill>
            </a:endParaRP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Rectangle 2">
            <a:extLst>
              <a:ext uri="{FF2B5EF4-FFF2-40B4-BE49-F238E27FC236}">
                <a16:creationId xmlns:a16="http://schemas.microsoft.com/office/drawing/2014/main" id="{104FBEB3-2893-448C-A942-2F86F622DC5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算法</a:t>
            </a:r>
            <a:r>
              <a:rPr lang="en-US" altLang="zh-CN"/>
              <a:t>9.2</a:t>
            </a:r>
            <a:r>
              <a:rPr lang="zh-CN" altLang="en-US"/>
              <a:t>：</a:t>
            </a:r>
            <a:r>
              <a:rPr lang="en-US" altLang="zh-CN"/>
              <a:t>dag</a:t>
            </a:r>
            <a:r>
              <a:rPr lang="zh-CN" altLang="en-US"/>
              <a:t>的构造（续）</a:t>
            </a:r>
          </a:p>
        </p:txBody>
      </p:sp>
      <p:sp>
        <p:nvSpPr>
          <p:cNvPr id="67587" name="Rectangle 3">
            <a:extLst>
              <a:ext uri="{FF2B5EF4-FFF2-40B4-BE49-F238E27FC236}">
                <a16:creationId xmlns:a16="http://schemas.microsoft.com/office/drawing/2014/main" id="{A5AABB26-FF4A-41BE-BE61-3C0E7208CED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182688" y="1371600"/>
            <a:ext cx="7772400" cy="5486400"/>
          </a:xfrm>
        </p:spPr>
        <p:txBody>
          <a:bodyPr/>
          <a:lstStyle/>
          <a:p>
            <a:pPr marL="609600" indent="-609600" eaLnBrk="1" hangingPunct="1">
              <a:buFont typeface="Wingdings" panose="05000000000000000000" pitchFamily="2" charset="2"/>
              <a:buAutoNum type="arabicPeriod"/>
            </a:pPr>
            <a:r>
              <a:rPr lang="zh-CN" altLang="en-US" sz="2400">
                <a:solidFill>
                  <a:schemeClr val="folHlink"/>
                </a:solidFill>
              </a:rPr>
              <a:t>创建父节点</a:t>
            </a:r>
          </a:p>
          <a:p>
            <a:pPr marL="990600" lvl="1" indent="-533400" eaLnBrk="1" hangingPunct="1"/>
            <a:r>
              <a:rPr lang="zh-CN" altLang="en-US" sz="2000">
                <a:solidFill>
                  <a:srgbClr val="FF3300"/>
                </a:solidFill>
              </a:rPr>
              <a:t>对</a:t>
            </a:r>
            <a:r>
              <a:rPr lang="en-US" altLang="zh-CN" sz="2000">
                <a:solidFill>
                  <a:srgbClr val="FF3300"/>
                </a:solidFill>
              </a:rPr>
              <a:t>(i)</a:t>
            </a:r>
            <a:r>
              <a:rPr lang="zh-CN" altLang="en-US" sz="2000">
                <a:solidFill>
                  <a:srgbClr val="FF3300"/>
                </a:solidFill>
              </a:rPr>
              <a:t>类语句，检查是否有节点标记为</a:t>
            </a:r>
            <a:r>
              <a:rPr lang="en-US" altLang="zh-CN" sz="2000">
                <a:solidFill>
                  <a:srgbClr val="FF3300"/>
                </a:solidFill>
              </a:rPr>
              <a:t>op</a:t>
            </a:r>
            <a:r>
              <a:rPr lang="zh-CN" altLang="en-US" sz="2000">
                <a:solidFill>
                  <a:srgbClr val="FF3300"/>
                </a:solidFill>
              </a:rPr>
              <a:t>，且左孩子为</a:t>
            </a:r>
            <a:r>
              <a:rPr lang="en-US" altLang="zh-CN" sz="2000">
                <a:solidFill>
                  <a:srgbClr val="FF3300"/>
                </a:solidFill>
              </a:rPr>
              <a:t>node(y)</a:t>
            </a:r>
            <a:r>
              <a:rPr lang="zh-CN" altLang="en-US" sz="2000">
                <a:solidFill>
                  <a:srgbClr val="FF3300"/>
                </a:solidFill>
              </a:rPr>
              <a:t>，右孩子为</a:t>
            </a:r>
            <a:r>
              <a:rPr lang="en-US" altLang="zh-CN" sz="2000">
                <a:solidFill>
                  <a:srgbClr val="FF3300"/>
                </a:solidFill>
              </a:rPr>
              <a:t>node(z)</a:t>
            </a:r>
            <a:r>
              <a:rPr lang="zh-CN" altLang="en-US" sz="2000">
                <a:solidFill>
                  <a:srgbClr val="FF3300"/>
                </a:solidFill>
              </a:rPr>
              <a:t>（检查公共子表达式），若没有，创建这样的节点。令</a:t>
            </a:r>
            <a:r>
              <a:rPr lang="en-US" altLang="zh-CN" sz="2000">
                <a:solidFill>
                  <a:srgbClr val="FF3300"/>
                </a:solidFill>
              </a:rPr>
              <a:t>n</a:t>
            </a:r>
            <a:r>
              <a:rPr lang="zh-CN" altLang="en-US" sz="2000">
                <a:solidFill>
                  <a:srgbClr val="FF3300"/>
                </a:solidFill>
              </a:rPr>
              <a:t>表示此节点。</a:t>
            </a:r>
          </a:p>
          <a:p>
            <a:pPr marL="990600" lvl="1" indent="-533400" eaLnBrk="1" hangingPunct="1"/>
            <a:r>
              <a:rPr lang="zh-CN" altLang="en-US" sz="2000">
                <a:solidFill>
                  <a:srgbClr val="FF3300"/>
                </a:solidFill>
              </a:rPr>
              <a:t>对</a:t>
            </a:r>
            <a:r>
              <a:rPr lang="en-US" altLang="zh-CN" sz="2000">
                <a:solidFill>
                  <a:srgbClr val="FF3300"/>
                </a:solidFill>
              </a:rPr>
              <a:t>(ii)</a:t>
            </a:r>
            <a:r>
              <a:rPr lang="zh-CN" altLang="en-US" sz="2000">
                <a:solidFill>
                  <a:srgbClr val="FF3300"/>
                </a:solidFill>
              </a:rPr>
              <a:t>类语句，检查是否有标记为</a:t>
            </a:r>
            <a:r>
              <a:rPr lang="en-US" altLang="zh-CN" sz="2000">
                <a:solidFill>
                  <a:srgbClr val="FF3300"/>
                </a:solidFill>
              </a:rPr>
              <a:t>op</a:t>
            </a:r>
            <a:r>
              <a:rPr lang="zh-CN" altLang="en-US" sz="2000">
                <a:solidFill>
                  <a:srgbClr val="FF3300"/>
                </a:solidFill>
              </a:rPr>
              <a:t>的节点，其单一孩子节点为</a:t>
            </a:r>
            <a:r>
              <a:rPr lang="en-US" altLang="zh-CN" sz="2000">
                <a:solidFill>
                  <a:srgbClr val="FF3300"/>
                </a:solidFill>
              </a:rPr>
              <a:t>node(y)</a:t>
            </a:r>
            <a:r>
              <a:rPr lang="zh-CN" altLang="en-US" sz="2000">
                <a:solidFill>
                  <a:srgbClr val="FF3300"/>
                </a:solidFill>
              </a:rPr>
              <a:t>，若没有，创建这样的节点。令</a:t>
            </a:r>
            <a:r>
              <a:rPr lang="en-US" altLang="zh-CN" sz="2000">
                <a:solidFill>
                  <a:srgbClr val="FF3300"/>
                </a:solidFill>
              </a:rPr>
              <a:t>n</a:t>
            </a:r>
            <a:r>
              <a:rPr lang="zh-CN" altLang="en-US" sz="2000">
                <a:solidFill>
                  <a:srgbClr val="FF3300"/>
                </a:solidFill>
              </a:rPr>
              <a:t>表示此节点。</a:t>
            </a:r>
          </a:p>
          <a:p>
            <a:pPr marL="990600" lvl="1" indent="-533400" eaLnBrk="1" hangingPunct="1"/>
            <a:r>
              <a:rPr lang="zh-CN" altLang="en-US" sz="2000">
                <a:solidFill>
                  <a:srgbClr val="FF3300"/>
                </a:solidFill>
              </a:rPr>
              <a:t>对</a:t>
            </a:r>
            <a:r>
              <a:rPr lang="en-US" altLang="zh-CN" sz="2000">
                <a:solidFill>
                  <a:srgbClr val="FF3300"/>
                </a:solidFill>
              </a:rPr>
              <a:t>(iii)</a:t>
            </a:r>
            <a:r>
              <a:rPr lang="zh-CN" altLang="en-US" sz="2000">
                <a:solidFill>
                  <a:srgbClr val="FF3300"/>
                </a:solidFill>
              </a:rPr>
              <a:t>类语句，令</a:t>
            </a:r>
            <a:r>
              <a:rPr lang="en-US" altLang="zh-CN" sz="2000">
                <a:solidFill>
                  <a:srgbClr val="FF3300"/>
                </a:solidFill>
              </a:rPr>
              <a:t>n=node(y)</a:t>
            </a:r>
          </a:p>
          <a:p>
            <a:pPr marL="609600" indent="-609600" eaLnBrk="1" hangingPunct="1">
              <a:buFont typeface="Wingdings" panose="05000000000000000000" pitchFamily="2" charset="2"/>
              <a:buAutoNum type="arabicPeriod"/>
            </a:pPr>
            <a:r>
              <a:rPr lang="zh-CN" altLang="en-US" sz="2400">
                <a:solidFill>
                  <a:schemeClr val="folHlink"/>
                </a:solidFill>
              </a:rPr>
              <a:t>附着列表的更新</a:t>
            </a:r>
          </a:p>
          <a:p>
            <a:pPr marL="990600" lvl="1" indent="-533400" eaLnBrk="1" hangingPunct="1"/>
            <a:r>
              <a:rPr lang="zh-CN" altLang="en-US" sz="2000">
                <a:solidFill>
                  <a:srgbClr val="FF3300"/>
                </a:solidFill>
              </a:rPr>
              <a:t>将</a:t>
            </a:r>
            <a:r>
              <a:rPr lang="en-US" altLang="zh-CN" sz="2000">
                <a:solidFill>
                  <a:srgbClr val="FF3300"/>
                </a:solidFill>
              </a:rPr>
              <a:t>x</a:t>
            </a:r>
            <a:r>
              <a:rPr lang="zh-CN" altLang="en-US" sz="2000">
                <a:solidFill>
                  <a:srgbClr val="FF3300"/>
                </a:solidFill>
              </a:rPr>
              <a:t>从节点</a:t>
            </a:r>
            <a:r>
              <a:rPr lang="en-US" altLang="zh-CN" sz="2000">
                <a:solidFill>
                  <a:srgbClr val="FF3300"/>
                </a:solidFill>
              </a:rPr>
              <a:t>node(x)</a:t>
            </a:r>
            <a:r>
              <a:rPr lang="zh-CN" altLang="en-US" sz="2000">
                <a:solidFill>
                  <a:srgbClr val="FF3300"/>
                </a:solidFill>
              </a:rPr>
              <a:t>的附着列表删除，添加到</a:t>
            </a:r>
            <a:r>
              <a:rPr lang="en-US" altLang="zh-CN" sz="2000">
                <a:solidFill>
                  <a:srgbClr val="FF3300"/>
                </a:solidFill>
              </a:rPr>
              <a:t>n</a:t>
            </a:r>
            <a:r>
              <a:rPr lang="zh-CN" altLang="en-US" sz="2000">
                <a:solidFill>
                  <a:srgbClr val="FF3300"/>
                </a:solidFill>
              </a:rPr>
              <a:t>的附着列表中，并将</a:t>
            </a:r>
            <a:r>
              <a:rPr lang="en-US" altLang="zh-CN" sz="2000">
                <a:solidFill>
                  <a:srgbClr val="FF3300"/>
                </a:solidFill>
              </a:rPr>
              <a:t>node(x)</a:t>
            </a:r>
            <a:r>
              <a:rPr lang="zh-CN" altLang="en-US" sz="2000">
                <a:solidFill>
                  <a:srgbClr val="FF3300"/>
                </a:solidFill>
              </a:rPr>
              <a:t>的值设置为</a:t>
            </a:r>
            <a:r>
              <a:rPr lang="en-US" altLang="zh-CN" sz="2000">
                <a:solidFill>
                  <a:srgbClr val="FF3300"/>
                </a:solidFill>
              </a:rPr>
              <a:t>n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Rectangle 2">
            <a:extLst>
              <a:ext uri="{FF2B5EF4-FFF2-40B4-BE49-F238E27FC236}">
                <a16:creationId xmlns:a16="http://schemas.microsoft.com/office/drawing/2014/main" id="{5730753F-1433-4F80-BFC0-FB9A077EA0D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例</a:t>
            </a:r>
            <a:r>
              <a:rPr lang="en-US" altLang="zh-CN"/>
              <a:t>9.8</a:t>
            </a:r>
          </a:p>
        </p:txBody>
      </p:sp>
      <p:pic>
        <p:nvPicPr>
          <p:cNvPr id="68611" name="Picture 4" descr="C:\Documents and Settings\Administrator\My Documents\wg\编译原理\jiangyi\figures\9\dagcrt.gif">
            <a:extLst>
              <a:ext uri="{FF2B5EF4-FFF2-40B4-BE49-F238E27FC236}">
                <a16:creationId xmlns:a16="http://schemas.microsoft.com/office/drawing/2014/main" id="{126EEAC5-BBAB-4332-ACF3-DC0B55C9AD3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95600" y="1371600"/>
            <a:ext cx="2849563" cy="4332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4" name="Rectangle 2">
            <a:extLst>
              <a:ext uri="{FF2B5EF4-FFF2-40B4-BE49-F238E27FC236}">
                <a16:creationId xmlns:a16="http://schemas.microsoft.com/office/drawing/2014/main" id="{CC32A07A-5EE6-4D53-BB2A-8792E007F7A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9.8.2  dag</a:t>
            </a:r>
            <a:r>
              <a:rPr lang="zh-CN" altLang="en-US"/>
              <a:t>的应用</a:t>
            </a:r>
          </a:p>
        </p:txBody>
      </p:sp>
      <p:sp>
        <p:nvSpPr>
          <p:cNvPr id="69635" name="Rectangle 3">
            <a:extLst>
              <a:ext uri="{FF2B5EF4-FFF2-40B4-BE49-F238E27FC236}">
                <a16:creationId xmlns:a16="http://schemas.microsoft.com/office/drawing/2014/main" id="{B17381A5-8CBE-428F-8523-A925B3CE13D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182688" y="1371600"/>
            <a:ext cx="7772400" cy="5486400"/>
          </a:xfrm>
        </p:spPr>
        <p:txBody>
          <a:bodyPr/>
          <a:lstStyle/>
          <a:p>
            <a:pPr marL="609600" indent="-609600" eaLnBrk="1" hangingPunct="1">
              <a:buFont typeface="Wingdings" panose="05000000000000000000" pitchFamily="2" charset="2"/>
              <a:buAutoNum type="arabicPeriod"/>
            </a:pPr>
            <a:r>
              <a:rPr lang="zh-CN" altLang="en-US" sz="2800"/>
              <a:t>公共子表达式的自动检查</a:t>
            </a:r>
          </a:p>
          <a:p>
            <a:pPr marL="609600" indent="-609600" eaLnBrk="1" hangingPunct="1">
              <a:buFont typeface="Wingdings" panose="05000000000000000000" pitchFamily="2" charset="2"/>
              <a:buAutoNum type="arabicPeriod"/>
            </a:pPr>
            <a:r>
              <a:rPr lang="zh-CN" altLang="en-US" sz="2800"/>
              <a:t>哪些标识符在基本块中被使用</a:t>
            </a:r>
          </a:p>
          <a:p>
            <a:pPr marL="990600" lvl="1" indent="-533400" eaLnBrk="1" hangingPunct="1"/>
            <a:r>
              <a:rPr lang="zh-CN" altLang="en-US" sz="2400"/>
              <a:t>步骤</a:t>
            </a:r>
            <a:r>
              <a:rPr lang="en-US" altLang="zh-CN" sz="2400"/>
              <a:t>(1)</a:t>
            </a:r>
            <a:r>
              <a:rPr lang="zh-CN" altLang="en-US" sz="2400"/>
              <a:t>，创建的叶节点对应的标识符</a:t>
            </a:r>
          </a:p>
          <a:p>
            <a:pPr marL="609600" indent="-609600" eaLnBrk="1" hangingPunct="1">
              <a:buFont typeface="Wingdings" panose="05000000000000000000" pitchFamily="2" charset="2"/>
              <a:buAutoNum type="arabicPeriod"/>
            </a:pPr>
            <a:r>
              <a:rPr lang="zh-CN" altLang="en-US" sz="2800"/>
              <a:t>哪些语句</a:t>
            </a:r>
            <a:r>
              <a:rPr lang="en-US" altLang="zh-CN" sz="2800"/>
              <a:t>S</a:t>
            </a:r>
            <a:r>
              <a:rPr lang="zh-CN" altLang="en-US" sz="2800"/>
              <a:t>，其计算的变量值可能在基本块外被使用</a:t>
            </a:r>
          </a:p>
          <a:p>
            <a:pPr marL="990600" lvl="1" indent="-533400" eaLnBrk="1" hangingPunct="1"/>
            <a:r>
              <a:rPr lang="en-US" altLang="zh-CN" sz="2400"/>
              <a:t>S</a:t>
            </a:r>
            <a:r>
              <a:rPr lang="zh-CN" altLang="en-US" sz="2400"/>
              <a:t>对</a:t>
            </a:r>
            <a:r>
              <a:rPr lang="en-US" altLang="zh-CN" sz="2400"/>
              <a:t>x</a:t>
            </a:r>
            <a:r>
              <a:rPr lang="zh-CN" altLang="en-US" sz="2400"/>
              <a:t>赋值，创建节点</a:t>
            </a:r>
            <a:r>
              <a:rPr lang="en-US" altLang="zh-CN" sz="2400"/>
              <a:t>n</a:t>
            </a:r>
            <a:r>
              <a:rPr lang="zh-CN" altLang="en-US" sz="2400"/>
              <a:t>，</a:t>
            </a:r>
            <a:r>
              <a:rPr lang="en-US" altLang="zh-CN" sz="2400"/>
              <a:t>x</a:t>
            </a:r>
            <a:r>
              <a:rPr lang="zh-CN" altLang="en-US" sz="2400"/>
              <a:t>附着在</a:t>
            </a:r>
            <a:r>
              <a:rPr lang="en-US" altLang="zh-CN" sz="2400"/>
              <a:t>n</a:t>
            </a:r>
            <a:r>
              <a:rPr lang="zh-CN" altLang="en-US" sz="2400"/>
              <a:t>上（步骤</a:t>
            </a:r>
            <a:r>
              <a:rPr lang="en-US" altLang="zh-CN" sz="2400"/>
              <a:t>2</a:t>
            </a:r>
            <a:r>
              <a:rPr lang="zh-CN" altLang="en-US" sz="2400"/>
              <a:t>）</a:t>
            </a:r>
          </a:p>
          <a:p>
            <a:pPr marL="990600" lvl="1" indent="-533400" eaLnBrk="1" hangingPunct="1"/>
            <a:r>
              <a:rPr lang="en-US" altLang="zh-CN" sz="2400"/>
              <a:t>dag</a:t>
            </a:r>
            <a:r>
              <a:rPr lang="zh-CN" altLang="en-US" sz="2400"/>
              <a:t>构造完毕后，若仍有</a:t>
            </a:r>
            <a:r>
              <a:rPr lang="en-US" altLang="zh-CN" sz="2400"/>
              <a:t>node(x)==n</a:t>
            </a:r>
            <a:r>
              <a:rPr lang="zh-CN" altLang="en-US" sz="2400"/>
              <a:t>，则</a:t>
            </a:r>
            <a:r>
              <a:rPr lang="en-US" altLang="zh-CN" sz="2400"/>
              <a:t>S</a:t>
            </a:r>
            <a:r>
              <a:rPr lang="zh-CN" altLang="en-US" sz="2400"/>
              <a:t>计算的</a:t>
            </a:r>
            <a:r>
              <a:rPr lang="en-US" altLang="zh-CN" sz="2400"/>
              <a:t>x</a:t>
            </a:r>
            <a:r>
              <a:rPr lang="zh-CN" altLang="en-US" sz="2400"/>
              <a:t>值在基本块外可被使用</a:t>
            </a:r>
          </a:p>
          <a:p>
            <a:pPr marL="609600" indent="-609600" eaLnBrk="1" hangingPunct="1"/>
            <a:r>
              <a:rPr lang="zh-CN" altLang="en-US" sz="2800"/>
              <a:t>例</a:t>
            </a:r>
            <a:r>
              <a:rPr lang="en-US" altLang="zh-CN" sz="2800"/>
              <a:t>9.9</a:t>
            </a:r>
          </a:p>
          <a:p>
            <a:pPr marL="990600" lvl="1" indent="-533400" eaLnBrk="1" hangingPunct="1"/>
            <a:r>
              <a:rPr lang="zh-CN" altLang="en-US" sz="2400"/>
              <a:t>例</a:t>
            </a:r>
            <a:r>
              <a:rPr lang="en-US" altLang="zh-CN" sz="2400"/>
              <a:t>9.8</a:t>
            </a:r>
            <a:r>
              <a:rPr lang="zh-CN" altLang="en-US" sz="2400"/>
              <a:t>中所有所有语句都满足</a:t>
            </a:r>
            <a:r>
              <a:rPr lang="en-US" altLang="zh-CN" sz="2400"/>
              <a:t>3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8" name="Rectangle 2">
            <a:extLst>
              <a:ext uri="{FF2B5EF4-FFF2-40B4-BE49-F238E27FC236}">
                <a16:creationId xmlns:a16="http://schemas.microsoft.com/office/drawing/2014/main" id="{A5A4455A-14E8-4EB7-A9FF-6AFB696E582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dag</a:t>
            </a:r>
            <a:r>
              <a:rPr lang="zh-CN" altLang="en-US"/>
              <a:t>的其他应用</a:t>
            </a:r>
          </a:p>
        </p:txBody>
      </p:sp>
      <p:sp>
        <p:nvSpPr>
          <p:cNvPr id="70659" name="Rectangle 3">
            <a:extLst>
              <a:ext uri="{FF2B5EF4-FFF2-40B4-BE49-F238E27FC236}">
                <a16:creationId xmlns:a16="http://schemas.microsoft.com/office/drawing/2014/main" id="{DE40B3E6-2A4D-4D29-A2DF-EF41A034BB5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182688" y="1371600"/>
            <a:ext cx="7772400" cy="5334000"/>
          </a:xfrm>
        </p:spPr>
        <p:txBody>
          <a:bodyPr/>
          <a:lstStyle/>
          <a:p>
            <a:pPr marL="609600" indent="-609600" eaLnBrk="1" hangingPunct="1"/>
            <a:r>
              <a:rPr lang="zh-CN" altLang="en-US"/>
              <a:t>提取公共子表达式、</a:t>
            </a:r>
            <a:r>
              <a:rPr lang="en-US" altLang="zh-CN"/>
              <a:t>x:=y</a:t>
            </a:r>
            <a:r>
              <a:rPr lang="zh-CN" altLang="en-US"/>
              <a:t>避免不必要的复制</a:t>
            </a:r>
            <a:r>
              <a:rPr lang="en-US" altLang="zh-CN"/>
              <a:t>——</a:t>
            </a:r>
            <a:r>
              <a:rPr lang="zh-CN" altLang="en-US"/>
              <a:t>重新构造优化的三地址码</a:t>
            </a:r>
          </a:p>
          <a:p>
            <a:pPr marL="609600" indent="-609600" eaLnBrk="1" hangingPunct="1"/>
            <a:r>
              <a:rPr lang="zh-CN" altLang="en-US"/>
              <a:t>对每个节点关联的标识符，选定一个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Rectangle 2">
            <a:extLst>
              <a:ext uri="{FF2B5EF4-FFF2-40B4-BE49-F238E27FC236}">
                <a16:creationId xmlns:a16="http://schemas.microsoft.com/office/drawing/2014/main" id="{3A0D2A5A-CFE7-46D5-8ED0-FE07BBC184E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例</a:t>
            </a:r>
            <a:r>
              <a:rPr lang="en-US" altLang="zh-CN"/>
              <a:t>9.10</a:t>
            </a:r>
          </a:p>
        </p:txBody>
      </p:sp>
      <p:sp>
        <p:nvSpPr>
          <p:cNvPr id="71683" name="Rectangle 4">
            <a:extLst>
              <a:ext uri="{FF2B5EF4-FFF2-40B4-BE49-F238E27FC236}">
                <a16:creationId xmlns:a16="http://schemas.microsoft.com/office/drawing/2014/main" id="{E84855CD-4B06-489D-8E23-9DBFB27D43C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8600" y="1981200"/>
            <a:ext cx="3048000" cy="2895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609600" indent="-609600"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990600" indent="-53340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371600" indent="-4572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828800" indent="-4572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286000" indent="-4572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743200" indent="-4572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3200400" indent="-4572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657600" indent="-4572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4114800" indent="-4572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10000"/>
              </a:spcBef>
              <a:buFont typeface="Wingdings" panose="05000000000000000000" pitchFamily="2" charset="2"/>
              <a:buAutoNum type="arabicParenR"/>
            </a:pPr>
            <a:r>
              <a:rPr lang="en-US" altLang="zh-CN" sz="2400">
                <a:solidFill>
                  <a:schemeClr val="folHlink"/>
                </a:solidFill>
              </a:rPr>
              <a:t>t</a:t>
            </a:r>
            <a:r>
              <a:rPr lang="en-US" altLang="zh-CN" sz="2400" baseline="-25000">
                <a:solidFill>
                  <a:schemeClr val="folHlink"/>
                </a:solidFill>
              </a:rPr>
              <a:t>1</a:t>
            </a:r>
            <a:r>
              <a:rPr lang="en-US" altLang="zh-CN" sz="2400">
                <a:solidFill>
                  <a:schemeClr val="folHlink"/>
                </a:solidFill>
              </a:rPr>
              <a:t> := 4 * i</a:t>
            </a:r>
          </a:p>
          <a:p>
            <a:pPr eaLnBrk="1" hangingPunct="1">
              <a:spcBef>
                <a:spcPct val="10000"/>
              </a:spcBef>
              <a:buFont typeface="Wingdings" panose="05000000000000000000" pitchFamily="2" charset="2"/>
              <a:buAutoNum type="arabicParenR"/>
            </a:pPr>
            <a:r>
              <a:rPr lang="en-US" altLang="zh-CN" sz="2400">
                <a:solidFill>
                  <a:schemeClr val="folHlink"/>
                </a:solidFill>
              </a:rPr>
              <a:t>t</a:t>
            </a:r>
            <a:r>
              <a:rPr lang="en-US" altLang="zh-CN" sz="2400" baseline="-25000">
                <a:solidFill>
                  <a:schemeClr val="folHlink"/>
                </a:solidFill>
              </a:rPr>
              <a:t>2</a:t>
            </a:r>
            <a:r>
              <a:rPr lang="en-US" altLang="zh-CN" sz="2400">
                <a:solidFill>
                  <a:schemeClr val="folHlink"/>
                </a:solidFill>
              </a:rPr>
              <a:t> := a [ t</a:t>
            </a:r>
            <a:r>
              <a:rPr lang="en-US" altLang="zh-CN" sz="2400" baseline="-25000">
                <a:solidFill>
                  <a:schemeClr val="folHlink"/>
                </a:solidFill>
              </a:rPr>
              <a:t>1</a:t>
            </a:r>
            <a:r>
              <a:rPr lang="en-US" altLang="zh-CN" sz="2400">
                <a:solidFill>
                  <a:schemeClr val="folHlink"/>
                </a:solidFill>
              </a:rPr>
              <a:t> ]</a:t>
            </a:r>
          </a:p>
          <a:p>
            <a:pPr eaLnBrk="1" hangingPunct="1">
              <a:spcBef>
                <a:spcPct val="10000"/>
              </a:spcBef>
              <a:buFont typeface="Wingdings" panose="05000000000000000000" pitchFamily="2" charset="2"/>
              <a:buAutoNum type="arabicParenR"/>
            </a:pPr>
            <a:r>
              <a:rPr lang="en-US" altLang="zh-CN" sz="2400">
                <a:solidFill>
                  <a:schemeClr val="folHlink"/>
                </a:solidFill>
              </a:rPr>
              <a:t>t</a:t>
            </a:r>
            <a:r>
              <a:rPr lang="en-US" altLang="zh-CN" sz="2400" baseline="-25000">
                <a:solidFill>
                  <a:schemeClr val="folHlink"/>
                </a:solidFill>
              </a:rPr>
              <a:t>4</a:t>
            </a:r>
            <a:r>
              <a:rPr lang="en-US" altLang="zh-CN" sz="2400">
                <a:solidFill>
                  <a:schemeClr val="folHlink"/>
                </a:solidFill>
              </a:rPr>
              <a:t> := b [ t</a:t>
            </a:r>
            <a:r>
              <a:rPr lang="en-US" altLang="zh-CN" sz="2400" baseline="-25000">
                <a:solidFill>
                  <a:schemeClr val="folHlink"/>
                </a:solidFill>
              </a:rPr>
              <a:t>1</a:t>
            </a:r>
            <a:r>
              <a:rPr lang="en-US" altLang="zh-CN" sz="2400">
                <a:solidFill>
                  <a:schemeClr val="folHlink"/>
                </a:solidFill>
              </a:rPr>
              <a:t>]</a:t>
            </a:r>
          </a:p>
          <a:p>
            <a:pPr eaLnBrk="1" hangingPunct="1">
              <a:spcBef>
                <a:spcPct val="10000"/>
              </a:spcBef>
              <a:buFont typeface="Wingdings" panose="05000000000000000000" pitchFamily="2" charset="2"/>
              <a:buAutoNum type="arabicParenR"/>
            </a:pPr>
            <a:r>
              <a:rPr lang="en-US" altLang="zh-CN" sz="2400">
                <a:solidFill>
                  <a:schemeClr val="folHlink"/>
                </a:solidFill>
              </a:rPr>
              <a:t>t</a:t>
            </a:r>
            <a:r>
              <a:rPr lang="en-US" altLang="zh-CN" sz="2400" baseline="-25000">
                <a:solidFill>
                  <a:schemeClr val="folHlink"/>
                </a:solidFill>
              </a:rPr>
              <a:t>5</a:t>
            </a:r>
            <a:r>
              <a:rPr lang="en-US" altLang="zh-CN" sz="2400">
                <a:solidFill>
                  <a:schemeClr val="folHlink"/>
                </a:solidFill>
              </a:rPr>
              <a:t> := t</a:t>
            </a:r>
            <a:r>
              <a:rPr lang="en-US" altLang="zh-CN" sz="2400" baseline="-25000">
                <a:solidFill>
                  <a:schemeClr val="folHlink"/>
                </a:solidFill>
              </a:rPr>
              <a:t>2</a:t>
            </a:r>
            <a:r>
              <a:rPr lang="en-US" altLang="zh-CN" sz="2400">
                <a:solidFill>
                  <a:schemeClr val="folHlink"/>
                </a:solidFill>
              </a:rPr>
              <a:t> * t</a:t>
            </a:r>
            <a:r>
              <a:rPr lang="en-US" altLang="zh-CN" sz="2400" baseline="-25000">
                <a:solidFill>
                  <a:schemeClr val="folHlink"/>
                </a:solidFill>
              </a:rPr>
              <a:t>4</a:t>
            </a:r>
            <a:endParaRPr lang="en-US" altLang="zh-CN" sz="2400">
              <a:solidFill>
                <a:schemeClr val="folHlink"/>
              </a:solidFill>
            </a:endParaRPr>
          </a:p>
          <a:p>
            <a:pPr eaLnBrk="1" hangingPunct="1">
              <a:spcBef>
                <a:spcPct val="10000"/>
              </a:spcBef>
              <a:buFont typeface="Wingdings" panose="05000000000000000000" pitchFamily="2" charset="2"/>
              <a:buAutoNum type="arabicParenR"/>
            </a:pPr>
            <a:r>
              <a:rPr lang="en-US" altLang="zh-CN" sz="2400">
                <a:solidFill>
                  <a:schemeClr val="folHlink"/>
                </a:solidFill>
              </a:rPr>
              <a:t>prod := prod + t</a:t>
            </a:r>
            <a:r>
              <a:rPr lang="en-US" altLang="zh-CN" sz="2400" baseline="-25000">
                <a:solidFill>
                  <a:schemeClr val="folHlink"/>
                </a:solidFill>
              </a:rPr>
              <a:t>5</a:t>
            </a:r>
            <a:endParaRPr lang="en-US" altLang="zh-CN" sz="2400">
              <a:solidFill>
                <a:schemeClr val="folHlink"/>
              </a:solidFill>
            </a:endParaRPr>
          </a:p>
          <a:p>
            <a:pPr eaLnBrk="1" hangingPunct="1">
              <a:spcBef>
                <a:spcPct val="10000"/>
              </a:spcBef>
              <a:buFont typeface="Wingdings" panose="05000000000000000000" pitchFamily="2" charset="2"/>
              <a:buAutoNum type="arabicParenR"/>
            </a:pPr>
            <a:r>
              <a:rPr lang="en-US" altLang="zh-CN" sz="2400">
                <a:solidFill>
                  <a:schemeClr val="folHlink"/>
                </a:solidFill>
              </a:rPr>
              <a:t>i := i + 1</a:t>
            </a:r>
          </a:p>
          <a:p>
            <a:pPr eaLnBrk="1" hangingPunct="1">
              <a:spcBef>
                <a:spcPct val="10000"/>
              </a:spcBef>
              <a:buFont typeface="Wingdings" panose="05000000000000000000" pitchFamily="2" charset="2"/>
              <a:buAutoNum type="arabicParenR"/>
            </a:pPr>
            <a:r>
              <a:rPr lang="en-US" altLang="zh-CN" sz="2400">
                <a:solidFill>
                  <a:schemeClr val="folHlink"/>
                </a:solidFill>
              </a:rPr>
              <a:t>if i &lt;= 20 goto (1)</a:t>
            </a:r>
          </a:p>
        </p:txBody>
      </p:sp>
      <p:pic>
        <p:nvPicPr>
          <p:cNvPr id="71684" name="Picture 5" descr="C:\Documents and Settings\Administrator\My Documents\wg\编译原理\jiangyi\figures\9\optimal.gif">
            <a:extLst>
              <a:ext uri="{FF2B5EF4-FFF2-40B4-BE49-F238E27FC236}">
                <a16:creationId xmlns:a16="http://schemas.microsoft.com/office/drawing/2014/main" id="{E2142AFF-A53D-4917-A631-0F527C5EEB5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38500" y="1524000"/>
            <a:ext cx="5676900" cy="3435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1685" name="Rectangle 6">
            <a:extLst>
              <a:ext uri="{FF2B5EF4-FFF2-40B4-BE49-F238E27FC236}">
                <a16:creationId xmlns:a16="http://schemas.microsoft.com/office/drawing/2014/main" id="{2F5DC6F1-7474-44EB-92CA-9A985A05C3F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endParaRPr lang="zh-CN" altLang="zh-CN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Rectangle 2">
            <a:extLst>
              <a:ext uri="{FF2B5EF4-FFF2-40B4-BE49-F238E27FC236}">
                <a16:creationId xmlns:a16="http://schemas.microsoft.com/office/drawing/2014/main" id="{37F54440-9190-4FA0-905E-2DAEEF77B7C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9.8.3  </a:t>
            </a:r>
            <a:r>
              <a:rPr lang="zh-CN" altLang="en-US"/>
              <a:t>数组、指针和函数调用</a:t>
            </a:r>
          </a:p>
        </p:txBody>
      </p:sp>
      <p:sp>
        <p:nvSpPr>
          <p:cNvPr id="72707" name="Rectangle 3">
            <a:extLst>
              <a:ext uri="{FF2B5EF4-FFF2-40B4-BE49-F238E27FC236}">
                <a16:creationId xmlns:a16="http://schemas.microsoft.com/office/drawing/2014/main" id="{838B64F7-15BF-4174-AB50-A4C3E9B17D8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x := a[i]		</a:t>
            </a:r>
            <a:r>
              <a:rPr lang="en-US" altLang="zh-CN">
                <a:sym typeface="Wingdings" panose="05000000000000000000" pitchFamily="2" charset="2"/>
              </a:rPr>
              <a:t>		x := a[i]</a:t>
            </a:r>
            <a:br>
              <a:rPr lang="en-US" altLang="zh-CN">
                <a:sym typeface="Wingdings" panose="05000000000000000000" pitchFamily="2" charset="2"/>
              </a:rPr>
            </a:br>
            <a:r>
              <a:rPr lang="en-US" altLang="zh-CN">
                <a:sym typeface="Wingdings" panose="05000000000000000000" pitchFamily="2" charset="2"/>
              </a:rPr>
              <a:t>a[j] := y				z := x</a:t>
            </a:r>
            <a:br>
              <a:rPr lang="en-US" altLang="zh-CN">
                <a:sym typeface="Wingdings" panose="05000000000000000000" pitchFamily="2" charset="2"/>
              </a:rPr>
            </a:br>
            <a:r>
              <a:rPr lang="en-US" altLang="zh-CN">
                <a:sym typeface="Wingdings" panose="05000000000000000000" pitchFamily="2" charset="2"/>
              </a:rPr>
              <a:t>z := a[i]				a[j] := y</a:t>
            </a:r>
            <a:br>
              <a:rPr lang="en-US" altLang="zh-CN">
                <a:sym typeface="Wingdings" panose="05000000000000000000" pitchFamily="2" charset="2"/>
              </a:rPr>
            </a:br>
            <a:r>
              <a:rPr lang="zh-CN" altLang="en-US">
                <a:sym typeface="Wingdings" panose="05000000000000000000" pitchFamily="2" charset="2"/>
              </a:rPr>
              <a:t>若</a:t>
            </a:r>
            <a:r>
              <a:rPr lang="en-US" altLang="zh-CN">
                <a:sym typeface="Wingdings" panose="05000000000000000000" pitchFamily="2" charset="2"/>
              </a:rPr>
              <a:t>i = j</a:t>
            </a:r>
            <a:r>
              <a:rPr lang="zh-CN" altLang="en-US">
                <a:sym typeface="Wingdings" panose="05000000000000000000" pitchFamily="2" charset="2"/>
              </a:rPr>
              <a:t>，</a:t>
            </a:r>
            <a:r>
              <a:rPr lang="en-US" altLang="zh-CN">
                <a:sym typeface="Wingdings" panose="05000000000000000000" pitchFamily="2" charset="2"/>
              </a:rPr>
              <a:t>y</a:t>
            </a:r>
            <a:r>
              <a:rPr lang="en-US" altLang="zh-CN">
                <a:ea typeface="Arial Unicode MS" pitchFamily="34" charset="-122"/>
                <a:sym typeface="Wingdings" panose="05000000000000000000" pitchFamily="2" charset="2"/>
              </a:rPr>
              <a:t>≠</a:t>
            </a:r>
            <a:r>
              <a:rPr lang="en-US" altLang="zh-CN">
                <a:sym typeface="Wingdings" panose="05000000000000000000" pitchFamily="2" charset="2"/>
              </a:rPr>
              <a:t>a[i]</a:t>
            </a:r>
            <a:r>
              <a:rPr lang="zh-CN" altLang="en-US">
                <a:sym typeface="Wingdings" panose="05000000000000000000" pitchFamily="2" charset="2"/>
              </a:rPr>
              <a:t>，错误！</a:t>
            </a:r>
          </a:p>
          <a:p>
            <a:pPr eaLnBrk="1" hangingPunct="1"/>
            <a:r>
              <a:rPr lang="zh-CN" altLang="en-US">
                <a:sym typeface="Wingdings" panose="05000000000000000000" pitchFamily="2" charset="2"/>
              </a:rPr>
              <a:t>注销 </a:t>
            </a:r>
            <a:r>
              <a:rPr lang="en-US" altLang="zh-CN">
                <a:sym typeface="Wingdings" panose="05000000000000000000" pitchFamily="2" charset="2"/>
              </a:rPr>
              <a:t>[]</a:t>
            </a:r>
            <a:r>
              <a:rPr lang="zh-CN" altLang="en-US">
                <a:sym typeface="Wingdings" panose="05000000000000000000" pitchFamily="2" charset="2"/>
              </a:rPr>
              <a:t>节点，不附加额外的标识符</a:t>
            </a:r>
          </a:p>
          <a:p>
            <a:pPr eaLnBrk="1" hangingPunct="1"/>
            <a:r>
              <a:rPr lang="zh-CN" altLang="en-US">
                <a:sym typeface="Wingdings" panose="05000000000000000000" pitchFamily="2" charset="2"/>
              </a:rPr>
              <a:t>*</a:t>
            </a:r>
            <a:r>
              <a:rPr lang="en-US" altLang="zh-CN">
                <a:sym typeface="Wingdings" panose="05000000000000000000" pitchFamily="2" charset="2"/>
              </a:rPr>
              <a:t>p:=w</a:t>
            </a:r>
            <a:r>
              <a:rPr lang="zh-CN" altLang="en-US">
                <a:sym typeface="Wingdings" panose="05000000000000000000" pitchFamily="2" charset="2"/>
              </a:rPr>
              <a:t>，类似，可能需要注销所有节点</a:t>
            </a:r>
          </a:p>
          <a:p>
            <a:pPr eaLnBrk="1" hangingPunct="1"/>
            <a:r>
              <a:rPr lang="zh-CN" altLang="en-US">
                <a:sym typeface="Wingdings" panose="05000000000000000000" pitchFamily="2" charset="2"/>
              </a:rPr>
              <a:t>函数调用，注销所有节点</a:t>
            </a:r>
          </a:p>
          <a:p>
            <a:pPr eaLnBrk="1" hangingPunct="1"/>
            <a:r>
              <a:rPr lang="zh-CN" altLang="en-US">
                <a:sym typeface="Wingdings" panose="05000000000000000000" pitchFamily="2" charset="2"/>
              </a:rPr>
              <a:t>额外边</a:t>
            </a:r>
            <a:r>
              <a:rPr lang="en-US" altLang="zh-CN">
                <a:sym typeface="Wingdings" panose="05000000000000000000" pitchFamily="2" charset="2"/>
              </a:rPr>
              <a:t>——</a:t>
            </a:r>
            <a:r>
              <a:rPr lang="zh-CN" altLang="en-US">
                <a:sym typeface="Wingdings" panose="05000000000000000000" pitchFamily="2" charset="2"/>
              </a:rPr>
              <a:t>保持原三地址码语句顺序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30" name="Rectangle 2">
            <a:extLst>
              <a:ext uri="{FF2B5EF4-FFF2-40B4-BE49-F238E27FC236}">
                <a16:creationId xmlns:a16="http://schemas.microsoft.com/office/drawing/2014/main" id="{FE5A84A7-4E47-45C5-8FA3-124B3DE60C8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哪些语句顺序应予以保持</a:t>
            </a:r>
          </a:p>
        </p:txBody>
      </p:sp>
      <p:sp>
        <p:nvSpPr>
          <p:cNvPr id="73731" name="Rectangle 3">
            <a:extLst>
              <a:ext uri="{FF2B5EF4-FFF2-40B4-BE49-F238E27FC236}">
                <a16:creationId xmlns:a16="http://schemas.microsoft.com/office/drawing/2014/main" id="{13BF5FBA-4E44-43B0-8FBA-22447C8B5B1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marL="609600" indent="-609600" eaLnBrk="1" hangingPunct="1">
              <a:buFont typeface="Wingdings" panose="05000000000000000000" pitchFamily="2" charset="2"/>
              <a:buAutoNum type="arabicPeriod"/>
            </a:pPr>
            <a:r>
              <a:rPr lang="zh-CN" altLang="en-US"/>
              <a:t>前：数组元素的赋值语句</a:t>
            </a:r>
            <a:br>
              <a:rPr lang="zh-CN" altLang="en-US"/>
            </a:br>
            <a:r>
              <a:rPr lang="zh-CN" altLang="en-US"/>
              <a:t>后：同一数组的元素的计算、赋值语句</a:t>
            </a:r>
          </a:p>
          <a:p>
            <a:pPr marL="609600" indent="-609600" eaLnBrk="1" hangingPunct="1">
              <a:buFont typeface="Wingdings" panose="05000000000000000000" pitchFamily="2" charset="2"/>
              <a:buAutoNum type="arabicPeriod"/>
            </a:pPr>
            <a:r>
              <a:rPr lang="zh-CN" altLang="en-US"/>
              <a:t>前：数组元素的计算语句</a:t>
            </a:r>
            <a:br>
              <a:rPr lang="zh-CN" altLang="en-US"/>
            </a:br>
            <a:r>
              <a:rPr lang="zh-CN" altLang="en-US"/>
              <a:t>后：同一数组的元素的赋值语句</a:t>
            </a:r>
          </a:p>
          <a:p>
            <a:pPr marL="609600" indent="-609600" eaLnBrk="1" hangingPunct="1">
              <a:buFont typeface="Wingdings" panose="05000000000000000000" pitchFamily="2" charset="2"/>
              <a:buAutoNum type="arabicPeriod"/>
            </a:pPr>
            <a:r>
              <a:rPr lang="zh-CN" altLang="en-US"/>
              <a:t>前：函数调用、利用指针间接赋值</a:t>
            </a:r>
            <a:br>
              <a:rPr lang="zh-CN" altLang="en-US"/>
            </a:br>
            <a:r>
              <a:rPr lang="zh-CN" altLang="en-US"/>
              <a:t>后：使用任何标识符</a:t>
            </a:r>
          </a:p>
          <a:p>
            <a:pPr marL="609600" indent="-609600" eaLnBrk="1" hangingPunct="1">
              <a:buFont typeface="Wingdings" panose="05000000000000000000" pitchFamily="2" charset="2"/>
              <a:buAutoNum type="arabicPeriod"/>
            </a:pPr>
            <a:r>
              <a:rPr lang="zh-CN" altLang="en-US"/>
              <a:t>前：任何标识符的计算</a:t>
            </a:r>
            <a:br>
              <a:rPr lang="zh-CN" altLang="en-US"/>
            </a:br>
            <a:r>
              <a:rPr lang="zh-CN" altLang="en-US"/>
              <a:t>后：函数调用、利用指针间接赋值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Rectangle 2">
            <a:extLst>
              <a:ext uri="{FF2B5EF4-FFF2-40B4-BE49-F238E27FC236}">
                <a16:creationId xmlns:a16="http://schemas.microsoft.com/office/drawing/2014/main" id="{B3CD078D-A110-4773-BBEE-0013A4972ED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9.9 </a:t>
            </a:r>
            <a:r>
              <a:rPr lang="zh-CN" altLang="en-US"/>
              <a:t>窥孔（</a:t>
            </a:r>
            <a:r>
              <a:rPr lang="en-US" altLang="zh-CN">
                <a:solidFill>
                  <a:srgbClr val="FF3300"/>
                </a:solidFill>
              </a:rPr>
              <a:t>Peephole</a:t>
            </a:r>
            <a:r>
              <a:rPr lang="zh-CN" altLang="en-US"/>
              <a:t>）优化</a:t>
            </a:r>
          </a:p>
        </p:txBody>
      </p:sp>
      <p:sp>
        <p:nvSpPr>
          <p:cNvPr id="74755" name="Rectangle 3">
            <a:extLst>
              <a:ext uri="{FF2B5EF4-FFF2-40B4-BE49-F238E27FC236}">
                <a16:creationId xmlns:a16="http://schemas.microsoft.com/office/drawing/2014/main" id="{62848FB2-8501-4765-AAAE-5F96867EA60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marL="609600" indent="-609600" eaLnBrk="1" hangingPunct="1"/>
            <a:r>
              <a:rPr lang="zh-CN" altLang="en-US"/>
              <a:t>窥孔：目标代码一个小的、移动的窗口</a:t>
            </a:r>
            <a:br>
              <a:rPr lang="zh-CN" altLang="en-US"/>
            </a:br>
            <a:r>
              <a:rPr lang="zh-CN" altLang="en-US">
                <a:sym typeface="Wingdings" panose="05000000000000000000" pitchFamily="2" charset="2"/>
              </a:rPr>
              <a:t>更小、更快的代码</a:t>
            </a:r>
          </a:p>
          <a:p>
            <a:pPr marL="609600" indent="-609600" eaLnBrk="1" hangingPunct="1">
              <a:buFont typeface="Wingdings" panose="05000000000000000000" pitchFamily="2" charset="2"/>
              <a:buAutoNum type="arabicPeriod"/>
            </a:pPr>
            <a:r>
              <a:rPr lang="zh-CN" altLang="en-US"/>
              <a:t>消除冗余指令</a:t>
            </a:r>
          </a:p>
          <a:p>
            <a:pPr marL="609600" indent="-609600" eaLnBrk="1" hangingPunct="1">
              <a:buFont typeface="Wingdings" panose="05000000000000000000" pitchFamily="2" charset="2"/>
              <a:buAutoNum type="arabicPeriod"/>
            </a:pPr>
            <a:r>
              <a:rPr lang="zh-CN" altLang="en-US"/>
              <a:t>控制流优化</a:t>
            </a:r>
          </a:p>
          <a:p>
            <a:pPr marL="609600" indent="-609600" eaLnBrk="1" hangingPunct="1">
              <a:buFont typeface="Wingdings" panose="05000000000000000000" pitchFamily="2" charset="2"/>
              <a:buAutoNum type="arabicPeriod"/>
            </a:pPr>
            <a:r>
              <a:rPr lang="zh-CN" altLang="en-US"/>
              <a:t>代数优化</a:t>
            </a:r>
          </a:p>
          <a:p>
            <a:pPr marL="609600" indent="-609600" eaLnBrk="1" hangingPunct="1">
              <a:buFont typeface="Wingdings" panose="05000000000000000000" pitchFamily="2" charset="2"/>
              <a:buAutoNum type="arabicPeriod"/>
            </a:pPr>
            <a:r>
              <a:rPr lang="zh-CN" altLang="en-US"/>
              <a:t>利用机器的特性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8" name="Rectangle 2">
            <a:extLst>
              <a:ext uri="{FF2B5EF4-FFF2-40B4-BE49-F238E27FC236}">
                <a16:creationId xmlns:a16="http://schemas.microsoft.com/office/drawing/2014/main" id="{76FDAC61-011D-4E73-8D0E-5E84828BC5E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9.9.1  </a:t>
            </a:r>
            <a:r>
              <a:rPr lang="zh-CN" altLang="en-US"/>
              <a:t>冗余的</a:t>
            </a:r>
            <a:r>
              <a:rPr lang="en-US" altLang="zh-CN"/>
              <a:t>Load</a:t>
            </a:r>
            <a:r>
              <a:rPr lang="zh-CN" altLang="en-US"/>
              <a:t>和</a:t>
            </a:r>
            <a:r>
              <a:rPr lang="en-US" altLang="zh-CN"/>
              <a:t>Store</a:t>
            </a:r>
            <a:r>
              <a:rPr lang="zh-CN" altLang="en-US"/>
              <a:t>指令</a:t>
            </a:r>
          </a:p>
        </p:txBody>
      </p:sp>
      <p:sp>
        <p:nvSpPr>
          <p:cNvPr id="75779" name="Rectangle 3">
            <a:extLst>
              <a:ext uri="{FF2B5EF4-FFF2-40B4-BE49-F238E27FC236}">
                <a16:creationId xmlns:a16="http://schemas.microsoft.com/office/drawing/2014/main" id="{53ABEA39-C360-411C-AF72-33FE8E41457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marL="609600" indent="-609600" eaLnBrk="1" hangingPunct="1">
              <a:buFont typeface="Wingdings" panose="05000000000000000000" pitchFamily="2" charset="2"/>
              <a:buAutoNum type="arabicParenBoth"/>
            </a:pPr>
            <a:r>
              <a:rPr lang="en-US" altLang="zh-CN"/>
              <a:t>MOV R0, a</a:t>
            </a:r>
          </a:p>
          <a:p>
            <a:pPr marL="609600" indent="-609600" eaLnBrk="1" hangingPunct="1">
              <a:buFont typeface="Wingdings" panose="05000000000000000000" pitchFamily="2" charset="2"/>
              <a:buAutoNum type="arabicParenBoth"/>
            </a:pPr>
            <a:r>
              <a:rPr lang="en-US" altLang="zh-CN"/>
              <a:t>MOV a, R0</a:t>
            </a:r>
          </a:p>
          <a:p>
            <a:pPr marL="609600" indent="-609600" eaLnBrk="1" hangingPunct="1"/>
            <a:r>
              <a:rPr lang="zh-CN" altLang="en-US"/>
              <a:t>删除</a:t>
            </a:r>
            <a:r>
              <a:rPr lang="en-US" altLang="zh-CN"/>
              <a:t>(2)</a:t>
            </a:r>
          </a:p>
          <a:p>
            <a:pPr marL="609600" indent="-609600" eaLnBrk="1" hangingPunct="1"/>
            <a:r>
              <a:rPr lang="zh-CN" altLang="en-US"/>
              <a:t>例外：</a:t>
            </a:r>
            <a:r>
              <a:rPr lang="en-US" altLang="zh-CN"/>
              <a:t>(2)</a:t>
            </a:r>
            <a:r>
              <a:rPr lang="zh-CN" altLang="en-US"/>
              <a:t>有标号</a:t>
            </a:r>
          </a:p>
          <a:p>
            <a:pPr marL="609600" indent="-609600" eaLnBrk="1" hangingPunct="1"/>
            <a:r>
              <a:rPr lang="zh-CN" altLang="en-US"/>
              <a:t>保证</a:t>
            </a:r>
            <a:r>
              <a:rPr lang="en-US" altLang="zh-CN"/>
              <a:t>(1)</a:t>
            </a:r>
            <a:r>
              <a:rPr lang="zh-CN" altLang="en-US"/>
              <a:t>、</a:t>
            </a:r>
            <a:r>
              <a:rPr lang="en-US" altLang="zh-CN"/>
              <a:t>(2)</a:t>
            </a:r>
            <a:r>
              <a:rPr lang="zh-CN" altLang="en-US"/>
              <a:t>在同一个基本块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2" name="Rectangle 2">
            <a:extLst>
              <a:ext uri="{FF2B5EF4-FFF2-40B4-BE49-F238E27FC236}">
                <a16:creationId xmlns:a16="http://schemas.microsoft.com/office/drawing/2014/main" id="{1D785A4D-C66D-4442-BBAC-8BDCA1A5EC8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9.9.2  </a:t>
            </a:r>
            <a:r>
              <a:rPr lang="zh-CN" altLang="en-US"/>
              <a:t>不可达代码</a:t>
            </a:r>
          </a:p>
        </p:txBody>
      </p:sp>
      <p:sp>
        <p:nvSpPr>
          <p:cNvPr id="76803" name="Rectangle 3">
            <a:extLst>
              <a:ext uri="{FF2B5EF4-FFF2-40B4-BE49-F238E27FC236}">
                <a16:creationId xmlns:a16="http://schemas.microsoft.com/office/drawing/2014/main" id="{4DFEF396-FC53-4854-AF7F-C5B831B7B89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400"/>
              <a:t>#define debug 0	</a:t>
            </a:r>
            <a:r>
              <a:rPr lang="en-US" altLang="zh-CN" sz="2400">
                <a:sym typeface="Wingdings" panose="05000000000000000000" pitchFamily="2" charset="2"/>
              </a:rPr>
              <a:t>	if debug = 1 goto L1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400">
                <a:sym typeface="Wingdings" panose="05000000000000000000" pitchFamily="2" charset="2"/>
              </a:rPr>
              <a:t>…					goto L2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400">
                <a:sym typeface="Wingdings" panose="05000000000000000000" pitchFamily="2" charset="2"/>
              </a:rPr>
              <a:t>if (debug) {			L1: </a:t>
            </a:r>
            <a:r>
              <a:rPr lang="zh-CN" altLang="en-US" sz="2400">
                <a:sym typeface="Wingdings" panose="05000000000000000000" pitchFamily="2" charset="2"/>
              </a:rPr>
              <a:t>打印调试信息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zh-CN" altLang="en-US" sz="2400">
                <a:sym typeface="Wingdings" panose="05000000000000000000" pitchFamily="2" charset="2"/>
              </a:rPr>
              <a:t>	打印调试信息 </a:t>
            </a:r>
            <a:r>
              <a:rPr lang="en-US" altLang="zh-CN" sz="2400">
                <a:sym typeface="Wingdings" panose="05000000000000000000" pitchFamily="2" charset="2"/>
              </a:rPr>
              <a:t>}		L2:</a:t>
            </a:r>
            <a:endParaRPr lang="en-US" altLang="zh-CN" sz="2400"/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400">
                <a:sym typeface="Wingdings" panose="05000000000000000000" pitchFamily="2" charset="2"/>
              </a:rPr>
              <a:t>		if debug &lt;&gt; 1 goto L2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400"/>
              <a:t>		</a:t>
            </a:r>
            <a:r>
              <a:rPr lang="zh-CN" altLang="en-US" sz="2400"/>
              <a:t>打印调试信息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zh-CN" altLang="en-US" sz="2400"/>
              <a:t>		</a:t>
            </a:r>
            <a:r>
              <a:rPr lang="en-US" altLang="zh-CN" sz="2400"/>
              <a:t>L2: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400">
                <a:sym typeface="Wingdings" panose="05000000000000000000" pitchFamily="2" charset="2"/>
              </a:rPr>
              <a:t>		if 0 &lt;&gt; 1 goto L2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400"/>
              <a:t>		</a:t>
            </a:r>
            <a:r>
              <a:rPr lang="zh-CN" altLang="en-US" sz="2400"/>
              <a:t>打印调试信息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zh-CN" altLang="en-US" sz="2400"/>
              <a:t>		</a:t>
            </a:r>
            <a:r>
              <a:rPr lang="en-US" altLang="zh-CN" sz="2400"/>
              <a:t>L2</a:t>
            </a:r>
            <a:r>
              <a:rPr lang="zh-CN" altLang="en-US" sz="2400"/>
              <a:t>：</a:t>
            </a:r>
          </a:p>
        </p:txBody>
      </p:sp>
      <p:sp>
        <p:nvSpPr>
          <p:cNvPr id="76804" name="AutoShape 4">
            <a:extLst>
              <a:ext uri="{FF2B5EF4-FFF2-40B4-BE49-F238E27FC236}">
                <a16:creationId xmlns:a16="http://schemas.microsoft.com/office/drawing/2014/main" id="{3B3F9E2A-178C-4BA9-A983-1555FEEA28B5}"/>
              </a:ext>
            </a:extLst>
          </p:cNvPr>
          <p:cNvSpPr>
            <a:spLocks/>
          </p:cNvSpPr>
          <p:nvPr/>
        </p:nvSpPr>
        <p:spPr bwMode="ltGray">
          <a:xfrm>
            <a:off x="4419600" y="4648200"/>
            <a:ext cx="381000" cy="1066800"/>
          </a:xfrm>
          <a:prstGeom prst="rightBrace">
            <a:avLst>
              <a:gd name="adj1" fmla="val 23333"/>
              <a:gd name="adj2" fmla="val 50000"/>
            </a:avLst>
          </a:prstGeom>
          <a:noFill/>
          <a:ln w="25400">
            <a:solidFill>
              <a:srgbClr val="FF33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CF0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algn="ctr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algn="ctr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algn="ctr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algn="ctr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algn="ctr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76805" name="Text Box 5">
            <a:extLst>
              <a:ext uri="{FF2B5EF4-FFF2-40B4-BE49-F238E27FC236}">
                <a16:creationId xmlns:a16="http://schemas.microsoft.com/office/drawing/2014/main" id="{6317F612-4E0C-4D67-8130-AE836D6BBC06}"/>
              </a:ext>
            </a:extLst>
          </p:cNvPr>
          <p:cNvSpPr txBox="1">
            <a:spLocks noChangeArrowheads="1"/>
          </p:cNvSpPr>
          <p:nvPr/>
        </p:nvSpPr>
        <p:spPr bwMode="ltGray">
          <a:xfrm>
            <a:off x="4800600" y="4953000"/>
            <a:ext cx="1143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CF0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algn="ctr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algn="ctr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algn="ctr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algn="ctr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algn="ctr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>
                <a:solidFill>
                  <a:srgbClr val="FF3300"/>
                </a:solidFill>
              </a:rPr>
              <a:t>可删除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Rectangle 2">
            <a:extLst>
              <a:ext uri="{FF2B5EF4-FFF2-40B4-BE49-F238E27FC236}">
                <a16:creationId xmlns:a16="http://schemas.microsoft.com/office/drawing/2014/main" id="{1F8D43A6-865C-470D-BBA2-F256556731E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9.9.3  </a:t>
            </a:r>
            <a:r>
              <a:rPr lang="zh-CN" altLang="en-US"/>
              <a:t>控制流优化</a:t>
            </a:r>
          </a:p>
        </p:txBody>
      </p:sp>
      <p:sp>
        <p:nvSpPr>
          <p:cNvPr id="77827" name="Rectangle 3">
            <a:extLst>
              <a:ext uri="{FF2B5EF4-FFF2-40B4-BE49-F238E27FC236}">
                <a16:creationId xmlns:a16="http://schemas.microsoft.com/office/drawing/2014/main" id="{0EE54828-151B-4663-AC57-A71BBBE1866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182688" y="1371600"/>
            <a:ext cx="7772400" cy="5486400"/>
          </a:xfrm>
        </p:spPr>
        <p:txBody>
          <a:bodyPr/>
          <a:lstStyle/>
          <a:p>
            <a:pPr eaLnBrk="1" hangingPunct="1">
              <a:lnSpc>
                <a:spcPct val="80000"/>
              </a:lnSpc>
              <a:spcBef>
                <a:spcPct val="10000"/>
              </a:spcBef>
              <a:buFont typeface="Wingdings" panose="05000000000000000000" pitchFamily="2" charset="2"/>
              <a:buNone/>
            </a:pPr>
            <a:r>
              <a:rPr lang="en-US" altLang="zh-CN" sz="2800"/>
              <a:t>goto L1		</a:t>
            </a:r>
            <a:r>
              <a:rPr lang="en-US" altLang="zh-CN" sz="2800">
                <a:sym typeface="Wingdings" panose="05000000000000000000" pitchFamily="2" charset="2"/>
              </a:rPr>
              <a:t>	goto L2</a:t>
            </a:r>
          </a:p>
          <a:p>
            <a:pPr eaLnBrk="1" hangingPunct="1">
              <a:lnSpc>
                <a:spcPct val="80000"/>
              </a:lnSpc>
              <a:spcBef>
                <a:spcPct val="10000"/>
              </a:spcBef>
              <a:buFont typeface="Wingdings" panose="05000000000000000000" pitchFamily="2" charset="2"/>
              <a:buNone/>
            </a:pPr>
            <a:r>
              <a:rPr lang="en-US" altLang="zh-CN" sz="2800">
                <a:sym typeface="Wingdings" panose="05000000000000000000" pitchFamily="2" charset="2"/>
              </a:rPr>
              <a:t>…				…</a:t>
            </a:r>
          </a:p>
          <a:p>
            <a:pPr eaLnBrk="1" hangingPunct="1">
              <a:lnSpc>
                <a:spcPct val="80000"/>
              </a:lnSpc>
              <a:spcBef>
                <a:spcPct val="10000"/>
              </a:spcBef>
              <a:buFont typeface="Wingdings" panose="05000000000000000000" pitchFamily="2" charset="2"/>
              <a:buNone/>
            </a:pPr>
            <a:r>
              <a:rPr lang="en-US" altLang="zh-CN" sz="2800">
                <a:sym typeface="Wingdings" panose="05000000000000000000" pitchFamily="2" charset="2"/>
              </a:rPr>
              <a:t>L1: goto L2			L1: goto L2</a:t>
            </a:r>
          </a:p>
          <a:p>
            <a:pPr eaLnBrk="1" hangingPunct="1">
              <a:lnSpc>
                <a:spcPct val="80000"/>
              </a:lnSpc>
              <a:spcBef>
                <a:spcPct val="10000"/>
              </a:spcBef>
              <a:buFont typeface="Wingdings" panose="05000000000000000000" pitchFamily="2" charset="2"/>
              <a:buNone/>
            </a:pPr>
            <a:endParaRPr lang="en-US" altLang="zh-CN" sz="2800">
              <a:sym typeface="Wingdings" panose="05000000000000000000" pitchFamily="2" charset="2"/>
            </a:endParaRPr>
          </a:p>
          <a:p>
            <a:pPr eaLnBrk="1" hangingPunct="1">
              <a:lnSpc>
                <a:spcPct val="80000"/>
              </a:lnSpc>
              <a:spcBef>
                <a:spcPct val="10000"/>
              </a:spcBef>
              <a:buFont typeface="Wingdings" panose="05000000000000000000" pitchFamily="2" charset="2"/>
              <a:buNone/>
            </a:pPr>
            <a:r>
              <a:rPr lang="en-US" altLang="zh-CN" sz="2800">
                <a:sym typeface="Wingdings" panose="05000000000000000000" pitchFamily="2" charset="2"/>
              </a:rPr>
              <a:t>if a &lt; b goto L1		if a &lt; b goto L2</a:t>
            </a:r>
          </a:p>
          <a:p>
            <a:pPr eaLnBrk="1" hangingPunct="1">
              <a:lnSpc>
                <a:spcPct val="80000"/>
              </a:lnSpc>
              <a:spcBef>
                <a:spcPct val="10000"/>
              </a:spcBef>
              <a:buFont typeface="Wingdings" panose="05000000000000000000" pitchFamily="2" charset="2"/>
              <a:buNone/>
            </a:pPr>
            <a:r>
              <a:rPr lang="en-US" altLang="zh-CN" sz="2800">
                <a:sym typeface="Wingdings" panose="05000000000000000000" pitchFamily="2" charset="2"/>
              </a:rPr>
              <a:t>…				…</a:t>
            </a:r>
          </a:p>
          <a:p>
            <a:pPr eaLnBrk="1" hangingPunct="1">
              <a:lnSpc>
                <a:spcPct val="80000"/>
              </a:lnSpc>
              <a:spcBef>
                <a:spcPct val="10000"/>
              </a:spcBef>
              <a:buFont typeface="Wingdings" panose="05000000000000000000" pitchFamily="2" charset="2"/>
              <a:buNone/>
            </a:pPr>
            <a:r>
              <a:rPr lang="en-US" altLang="zh-CN" sz="2800">
                <a:sym typeface="Wingdings" panose="05000000000000000000" pitchFamily="2" charset="2"/>
              </a:rPr>
              <a:t>L1: goto L2			L1: goot L2</a:t>
            </a:r>
          </a:p>
          <a:p>
            <a:pPr eaLnBrk="1" hangingPunct="1">
              <a:lnSpc>
                <a:spcPct val="80000"/>
              </a:lnSpc>
              <a:spcBef>
                <a:spcPct val="10000"/>
              </a:spcBef>
              <a:buFont typeface="Wingdings" panose="05000000000000000000" pitchFamily="2" charset="2"/>
              <a:buNone/>
            </a:pPr>
            <a:endParaRPr lang="en-US" altLang="zh-CN" sz="2800">
              <a:sym typeface="Wingdings" panose="05000000000000000000" pitchFamily="2" charset="2"/>
            </a:endParaRPr>
          </a:p>
          <a:p>
            <a:pPr eaLnBrk="1" hangingPunct="1">
              <a:lnSpc>
                <a:spcPct val="80000"/>
              </a:lnSpc>
              <a:spcBef>
                <a:spcPct val="10000"/>
              </a:spcBef>
              <a:buFont typeface="Wingdings" panose="05000000000000000000" pitchFamily="2" charset="2"/>
              <a:buNone/>
            </a:pPr>
            <a:r>
              <a:rPr lang="en-US" altLang="zh-CN" sz="2800">
                <a:sym typeface="Wingdings" panose="05000000000000000000" pitchFamily="2" charset="2"/>
              </a:rPr>
              <a:t>goto L1			if a &lt; b goto L2</a:t>
            </a:r>
          </a:p>
          <a:p>
            <a:pPr eaLnBrk="1" hangingPunct="1">
              <a:lnSpc>
                <a:spcPct val="80000"/>
              </a:lnSpc>
              <a:spcBef>
                <a:spcPct val="10000"/>
              </a:spcBef>
              <a:buFont typeface="Wingdings" panose="05000000000000000000" pitchFamily="2" charset="2"/>
              <a:buNone/>
            </a:pPr>
            <a:r>
              <a:rPr lang="en-US" altLang="zh-CN" sz="2800"/>
              <a:t>…				goto L3</a:t>
            </a:r>
          </a:p>
          <a:p>
            <a:pPr eaLnBrk="1" hangingPunct="1">
              <a:lnSpc>
                <a:spcPct val="80000"/>
              </a:lnSpc>
              <a:spcBef>
                <a:spcPct val="10000"/>
              </a:spcBef>
              <a:buFont typeface="Wingdings" panose="05000000000000000000" pitchFamily="2" charset="2"/>
              <a:buNone/>
            </a:pPr>
            <a:r>
              <a:rPr lang="en-US" altLang="zh-CN" sz="2800"/>
              <a:t>L1: if a &lt; b goto L2	…</a:t>
            </a:r>
          </a:p>
          <a:p>
            <a:pPr eaLnBrk="1" hangingPunct="1">
              <a:lnSpc>
                <a:spcPct val="80000"/>
              </a:lnSpc>
              <a:spcBef>
                <a:spcPct val="10000"/>
              </a:spcBef>
              <a:buFont typeface="Wingdings" panose="05000000000000000000" pitchFamily="2" charset="2"/>
              <a:buNone/>
            </a:pPr>
            <a:r>
              <a:rPr lang="en-US" altLang="zh-CN" sz="2800"/>
              <a:t>L3:				L3: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50" name="Rectangle 2">
            <a:extLst>
              <a:ext uri="{FF2B5EF4-FFF2-40B4-BE49-F238E27FC236}">
                <a16:creationId xmlns:a16="http://schemas.microsoft.com/office/drawing/2014/main" id="{DAF43B1C-63D0-4739-8BDC-8E5AC4D3C30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其他优化方法</a:t>
            </a:r>
          </a:p>
        </p:txBody>
      </p:sp>
      <p:sp>
        <p:nvSpPr>
          <p:cNvPr id="78851" name="Rectangle 3">
            <a:extLst>
              <a:ext uri="{FF2B5EF4-FFF2-40B4-BE49-F238E27FC236}">
                <a16:creationId xmlns:a16="http://schemas.microsoft.com/office/drawing/2014/main" id="{C770F74C-3C38-4D83-8A4F-E1113578CB5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9.9.4  </a:t>
            </a:r>
            <a:r>
              <a:rPr lang="zh-CN" altLang="en-US"/>
              <a:t>代数优化</a:t>
            </a:r>
          </a:p>
          <a:p>
            <a:pPr lvl="1" eaLnBrk="1" hangingPunct="1"/>
            <a:r>
              <a:rPr lang="en-US" altLang="zh-CN"/>
              <a:t>x := x + 0</a:t>
            </a:r>
            <a:r>
              <a:rPr lang="zh-CN" altLang="en-US"/>
              <a:t>，</a:t>
            </a:r>
            <a:r>
              <a:rPr lang="en-US" altLang="zh-CN"/>
              <a:t>x := x * 1</a:t>
            </a:r>
          </a:p>
          <a:p>
            <a:pPr eaLnBrk="1" hangingPunct="1"/>
            <a:r>
              <a:rPr lang="en-US" altLang="zh-CN"/>
              <a:t>9.9.5  </a:t>
            </a:r>
            <a:r>
              <a:rPr lang="zh-CN" altLang="en-US"/>
              <a:t>强度削弱</a:t>
            </a:r>
          </a:p>
          <a:p>
            <a:pPr lvl="1" eaLnBrk="1" hangingPunct="1"/>
            <a:r>
              <a:rPr lang="zh-CN" altLang="en-US"/>
              <a:t>开销高的指令</a:t>
            </a:r>
            <a:r>
              <a:rPr lang="zh-CN" altLang="en-US">
                <a:sym typeface="Wingdings" panose="05000000000000000000" pitchFamily="2" charset="2"/>
              </a:rPr>
              <a:t>等价的开销低的指令</a:t>
            </a:r>
          </a:p>
          <a:p>
            <a:pPr lvl="1" eaLnBrk="1" hangingPunct="1"/>
            <a:r>
              <a:rPr lang="en-US" altLang="zh-CN">
                <a:sym typeface="Wingdings" panose="05000000000000000000" pitchFamily="2" charset="2"/>
              </a:rPr>
              <a:t>x</a:t>
            </a:r>
            <a:r>
              <a:rPr lang="en-US" altLang="zh-CN" baseline="30000">
                <a:sym typeface="Wingdings" panose="05000000000000000000" pitchFamily="2" charset="2"/>
              </a:rPr>
              <a:t>2</a:t>
            </a:r>
            <a:r>
              <a:rPr lang="zh-CN" altLang="en-US">
                <a:sym typeface="Wingdings" panose="05000000000000000000" pitchFamily="2" charset="2"/>
              </a:rPr>
              <a:t>：乘方函数</a:t>
            </a:r>
            <a:r>
              <a:rPr lang="en-US" altLang="zh-CN">
                <a:sym typeface="Wingdings" panose="05000000000000000000" pitchFamily="2" charset="2"/>
              </a:rPr>
              <a:t>x * x</a:t>
            </a:r>
          </a:p>
          <a:p>
            <a:pPr eaLnBrk="1" hangingPunct="1"/>
            <a:r>
              <a:rPr lang="en-US" altLang="zh-CN"/>
              <a:t>9.9.6  </a:t>
            </a:r>
            <a:r>
              <a:rPr lang="zh-CN" altLang="en-US"/>
              <a:t>利用机器特性</a:t>
            </a:r>
          </a:p>
          <a:p>
            <a:pPr lvl="1" eaLnBrk="1" hangingPunct="1"/>
            <a:r>
              <a:rPr lang="zh-CN" altLang="en-US"/>
              <a:t>特殊机器指令高效实现某些操作</a:t>
            </a:r>
          </a:p>
          <a:p>
            <a:pPr lvl="1" eaLnBrk="1" hangingPunct="1"/>
            <a:r>
              <a:rPr lang="en-US" altLang="zh-CN"/>
              <a:t>i := i + 1 </a:t>
            </a:r>
            <a:r>
              <a:rPr lang="en-US" altLang="zh-CN">
                <a:sym typeface="Wingdings" panose="05000000000000000000" pitchFamily="2" charset="2"/>
              </a:rPr>
              <a:t> inc i</a:t>
            </a:r>
            <a:endParaRPr lang="en-US" altLang="zh-CN"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4" name="Rectangle 2">
            <a:extLst>
              <a:ext uri="{FF2B5EF4-FFF2-40B4-BE49-F238E27FC236}">
                <a16:creationId xmlns:a16="http://schemas.microsoft.com/office/drawing/2014/main" id="{39080D37-CC9B-456A-B71E-3253E52B0C3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9.10  </a:t>
            </a:r>
            <a:r>
              <a:rPr lang="zh-CN" altLang="en-US"/>
              <a:t>利用</a:t>
            </a:r>
            <a:r>
              <a:rPr lang="en-US" altLang="zh-CN"/>
              <a:t>dag</a:t>
            </a:r>
            <a:r>
              <a:rPr lang="zh-CN" altLang="en-US"/>
              <a:t>生成目标代码</a:t>
            </a:r>
          </a:p>
        </p:txBody>
      </p:sp>
      <p:sp>
        <p:nvSpPr>
          <p:cNvPr id="79875" name="Rectangle 3">
            <a:extLst>
              <a:ext uri="{FF2B5EF4-FFF2-40B4-BE49-F238E27FC236}">
                <a16:creationId xmlns:a16="http://schemas.microsoft.com/office/drawing/2014/main" id="{112105E6-D6F7-4678-9DA8-F97C852662E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182688" y="1371600"/>
            <a:ext cx="7772400" cy="685800"/>
          </a:xfrm>
        </p:spPr>
        <p:txBody>
          <a:bodyPr/>
          <a:lstStyle/>
          <a:p>
            <a:pPr eaLnBrk="1" hangingPunct="1"/>
            <a:r>
              <a:rPr lang="en-US" altLang="zh-CN"/>
              <a:t>9.10.1  </a:t>
            </a:r>
            <a:r>
              <a:rPr lang="zh-CN" altLang="en-US"/>
              <a:t>重排顺序：</a:t>
            </a:r>
            <a:r>
              <a:rPr lang="en-US" altLang="zh-CN"/>
              <a:t>(a + b) – (e – (c + d))</a:t>
            </a:r>
          </a:p>
        </p:txBody>
      </p:sp>
      <p:sp>
        <p:nvSpPr>
          <p:cNvPr id="79876" name="Text Box 4">
            <a:extLst>
              <a:ext uri="{FF2B5EF4-FFF2-40B4-BE49-F238E27FC236}">
                <a16:creationId xmlns:a16="http://schemas.microsoft.com/office/drawing/2014/main" id="{BC845F72-8CCC-4B5F-86EB-AAD1253ED65B}"/>
              </a:ext>
            </a:extLst>
          </p:cNvPr>
          <p:cNvSpPr txBox="1">
            <a:spLocks noChangeArrowheads="1"/>
          </p:cNvSpPr>
          <p:nvPr/>
        </p:nvSpPr>
        <p:spPr bwMode="ltGray">
          <a:xfrm>
            <a:off x="228600" y="2133600"/>
            <a:ext cx="1752600" cy="15525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CF0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algn="ctr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algn="ctr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algn="ctr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algn="ctr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algn="ctr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/>
              <a:t>t</a:t>
            </a:r>
            <a:r>
              <a:rPr lang="en-US" altLang="zh-CN" baseline="-25000"/>
              <a:t>1</a:t>
            </a:r>
            <a:r>
              <a:rPr lang="en-US" altLang="zh-CN"/>
              <a:t> := a + b</a:t>
            </a:r>
            <a:br>
              <a:rPr lang="en-US" altLang="zh-CN"/>
            </a:br>
            <a:r>
              <a:rPr lang="en-US" altLang="zh-CN"/>
              <a:t>t</a:t>
            </a:r>
            <a:r>
              <a:rPr lang="en-US" altLang="zh-CN" baseline="-25000"/>
              <a:t>2</a:t>
            </a:r>
            <a:r>
              <a:rPr lang="en-US" altLang="zh-CN"/>
              <a:t> := c + d</a:t>
            </a:r>
            <a:br>
              <a:rPr lang="en-US" altLang="zh-CN"/>
            </a:br>
            <a:r>
              <a:rPr lang="en-US" altLang="zh-CN"/>
              <a:t>t</a:t>
            </a:r>
            <a:r>
              <a:rPr lang="en-US" altLang="zh-CN" baseline="-25000"/>
              <a:t>3</a:t>
            </a:r>
            <a:r>
              <a:rPr lang="en-US" altLang="zh-CN"/>
              <a:t> := e – t</a:t>
            </a:r>
            <a:r>
              <a:rPr lang="en-US" altLang="zh-CN" baseline="-25000"/>
              <a:t>2</a:t>
            </a:r>
            <a:br>
              <a:rPr lang="en-US" altLang="zh-CN"/>
            </a:br>
            <a:r>
              <a:rPr lang="en-US" altLang="zh-CN"/>
              <a:t>t</a:t>
            </a:r>
            <a:r>
              <a:rPr lang="en-US" altLang="zh-CN" baseline="-25000"/>
              <a:t>4</a:t>
            </a:r>
            <a:r>
              <a:rPr lang="en-US" altLang="zh-CN"/>
              <a:t> := t</a:t>
            </a:r>
            <a:r>
              <a:rPr lang="en-US" altLang="zh-CN" baseline="-25000"/>
              <a:t>1</a:t>
            </a:r>
            <a:r>
              <a:rPr lang="en-US" altLang="zh-CN"/>
              <a:t> – t</a:t>
            </a:r>
            <a:r>
              <a:rPr lang="en-US" altLang="zh-CN" baseline="-25000"/>
              <a:t>3</a:t>
            </a:r>
            <a:endParaRPr lang="en-US" altLang="zh-CN"/>
          </a:p>
        </p:txBody>
      </p:sp>
      <p:pic>
        <p:nvPicPr>
          <p:cNvPr id="79877" name="Picture 5" descr="C:\Documents and Settings\Administrator\My Documents\wg\编译原理\jiangyi\figures\9\rearrange.gif">
            <a:extLst>
              <a:ext uri="{FF2B5EF4-FFF2-40B4-BE49-F238E27FC236}">
                <a16:creationId xmlns:a16="http://schemas.microsoft.com/office/drawing/2014/main" id="{45639918-51B8-4C4C-8550-D268DC4CE62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05000" y="2057400"/>
            <a:ext cx="5354638" cy="30749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9878" name="Text Box 6">
            <a:extLst>
              <a:ext uri="{FF2B5EF4-FFF2-40B4-BE49-F238E27FC236}">
                <a16:creationId xmlns:a16="http://schemas.microsoft.com/office/drawing/2014/main" id="{6A261EB7-F4CD-483F-94B5-53EA75A041BB}"/>
              </a:ext>
            </a:extLst>
          </p:cNvPr>
          <p:cNvSpPr txBox="1">
            <a:spLocks noChangeArrowheads="1"/>
          </p:cNvSpPr>
          <p:nvPr/>
        </p:nvSpPr>
        <p:spPr bwMode="ltGray">
          <a:xfrm>
            <a:off x="7162800" y="1828800"/>
            <a:ext cx="1828800" cy="3743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CF0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algn="ctr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algn="ctr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algn="ctr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algn="ctr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algn="ctr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/>
              <a:t>MOV a, R0</a:t>
            </a:r>
            <a:br>
              <a:rPr lang="en-US" altLang="zh-CN"/>
            </a:br>
            <a:r>
              <a:rPr lang="en-US" altLang="zh-CN"/>
              <a:t>ADD b, R0</a:t>
            </a:r>
            <a:br>
              <a:rPr lang="en-US" altLang="zh-CN"/>
            </a:br>
            <a:r>
              <a:rPr lang="en-US" altLang="zh-CN"/>
              <a:t>MOV c, R1</a:t>
            </a:r>
            <a:br>
              <a:rPr lang="en-US" altLang="zh-CN"/>
            </a:br>
            <a:r>
              <a:rPr lang="en-US" altLang="zh-CN"/>
              <a:t>ADD d, R1</a:t>
            </a:r>
            <a:br>
              <a:rPr lang="en-US" altLang="zh-CN"/>
            </a:br>
            <a:r>
              <a:rPr lang="en-US" altLang="zh-CN"/>
              <a:t>MOV R0, t</a:t>
            </a:r>
            <a:r>
              <a:rPr lang="en-US" altLang="zh-CN" baseline="-25000"/>
              <a:t>1</a:t>
            </a:r>
            <a:br>
              <a:rPr lang="en-US" altLang="zh-CN"/>
            </a:br>
            <a:r>
              <a:rPr lang="en-US" altLang="zh-CN"/>
              <a:t>MOV e, R0</a:t>
            </a:r>
            <a:br>
              <a:rPr lang="en-US" altLang="zh-CN"/>
            </a:br>
            <a:r>
              <a:rPr lang="en-US" altLang="zh-CN"/>
              <a:t>SUB R1, R0</a:t>
            </a:r>
            <a:br>
              <a:rPr lang="en-US" altLang="zh-CN"/>
            </a:br>
            <a:r>
              <a:rPr lang="en-US" altLang="zh-CN"/>
              <a:t>MOV t</a:t>
            </a:r>
            <a:r>
              <a:rPr lang="en-US" altLang="zh-CN" baseline="-25000"/>
              <a:t>1</a:t>
            </a:r>
            <a:r>
              <a:rPr lang="en-US" altLang="zh-CN"/>
              <a:t>, R1</a:t>
            </a:r>
            <a:br>
              <a:rPr lang="en-US" altLang="zh-CN"/>
            </a:br>
            <a:r>
              <a:rPr lang="en-US" altLang="zh-CN"/>
              <a:t>SUB R0, R1</a:t>
            </a:r>
            <a:br>
              <a:rPr lang="en-US" altLang="zh-CN"/>
            </a:br>
            <a:r>
              <a:rPr lang="en-US" altLang="zh-CN"/>
              <a:t>MOV R1, t</a:t>
            </a:r>
            <a:r>
              <a:rPr lang="en-US" altLang="zh-CN" baseline="-25000"/>
              <a:t>4</a:t>
            </a:r>
            <a:endParaRPr lang="en-US" altLang="zh-CN"/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98" name="Rectangle 2">
            <a:extLst>
              <a:ext uri="{FF2B5EF4-FFF2-40B4-BE49-F238E27FC236}">
                <a16:creationId xmlns:a16="http://schemas.microsoft.com/office/drawing/2014/main" id="{52F6141A-2203-45A1-B9BE-70F1958EBA6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重排顺序（续）</a:t>
            </a:r>
          </a:p>
        </p:txBody>
      </p:sp>
      <p:sp>
        <p:nvSpPr>
          <p:cNvPr id="80899" name="Text Box 4">
            <a:extLst>
              <a:ext uri="{FF2B5EF4-FFF2-40B4-BE49-F238E27FC236}">
                <a16:creationId xmlns:a16="http://schemas.microsoft.com/office/drawing/2014/main" id="{16870DE6-3998-4E26-AC48-02150A2E3DDB}"/>
              </a:ext>
            </a:extLst>
          </p:cNvPr>
          <p:cNvSpPr txBox="1">
            <a:spLocks noChangeArrowheads="1"/>
          </p:cNvSpPr>
          <p:nvPr/>
        </p:nvSpPr>
        <p:spPr bwMode="ltGray">
          <a:xfrm>
            <a:off x="1676400" y="1482725"/>
            <a:ext cx="1752600" cy="15525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CF0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algn="ctr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algn="ctr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algn="ctr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algn="ctr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algn="ctr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/>
              <a:t>t</a:t>
            </a:r>
            <a:r>
              <a:rPr lang="en-US" altLang="zh-CN" baseline="-25000"/>
              <a:t>2</a:t>
            </a:r>
            <a:r>
              <a:rPr lang="en-US" altLang="zh-CN"/>
              <a:t> := c + d</a:t>
            </a:r>
            <a:br>
              <a:rPr lang="en-US" altLang="zh-CN"/>
            </a:br>
            <a:r>
              <a:rPr lang="en-US" altLang="zh-CN"/>
              <a:t>t</a:t>
            </a:r>
            <a:r>
              <a:rPr lang="en-US" altLang="zh-CN" baseline="-25000"/>
              <a:t>3</a:t>
            </a:r>
            <a:r>
              <a:rPr lang="en-US" altLang="zh-CN"/>
              <a:t> := e – t</a:t>
            </a:r>
            <a:r>
              <a:rPr lang="en-US" altLang="zh-CN" baseline="-25000"/>
              <a:t>2</a:t>
            </a:r>
            <a:br>
              <a:rPr lang="en-US" altLang="zh-CN"/>
            </a:br>
            <a:r>
              <a:rPr lang="en-US" altLang="zh-CN"/>
              <a:t>t</a:t>
            </a:r>
            <a:r>
              <a:rPr lang="en-US" altLang="zh-CN" baseline="-25000"/>
              <a:t>1</a:t>
            </a:r>
            <a:r>
              <a:rPr lang="en-US" altLang="zh-CN"/>
              <a:t> := a + b</a:t>
            </a:r>
            <a:br>
              <a:rPr lang="en-US" altLang="zh-CN"/>
            </a:br>
            <a:r>
              <a:rPr lang="en-US" altLang="zh-CN"/>
              <a:t>t</a:t>
            </a:r>
            <a:r>
              <a:rPr lang="en-US" altLang="zh-CN" baseline="-25000"/>
              <a:t>4</a:t>
            </a:r>
            <a:r>
              <a:rPr lang="en-US" altLang="zh-CN"/>
              <a:t> := t</a:t>
            </a:r>
            <a:r>
              <a:rPr lang="en-US" altLang="zh-CN" baseline="-25000"/>
              <a:t>1</a:t>
            </a:r>
            <a:r>
              <a:rPr lang="en-US" altLang="zh-CN"/>
              <a:t> – t</a:t>
            </a:r>
            <a:r>
              <a:rPr lang="en-US" altLang="zh-CN" baseline="-25000"/>
              <a:t>3</a:t>
            </a:r>
          </a:p>
        </p:txBody>
      </p:sp>
      <p:sp>
        <p:nvSpPr>
          <p:cNvPr id="80900" name="Text Box 6">
            <a:extLst>
              <a:ext uri="{FF2B5EF4-FFF2-40B4-BE49-F238E27FC236}">
                <a16:creationId xmlns:a16="http://schemas.microsoft.com/office/drawing/2014/main" id="{3ECED7C9-5BA5-4263-B7EE-DA33B5364A8C}"/>
              </a:ext>
            </a:extLst>
          </p:cNvPr>
          <p:cNvSpPr txBox="1">
            <a:spLocks noChangeArrowheads="1"/>
          </p:cNvSpPr>
          <p:nvPr/>
        </p:nvSpPr>
        <p:spPr bwMode="ltGray">
          <a:xfrm>
            <a:off x="5181600" y="1482725"/>
            <a:ext cx="1828800" cy="30130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CF0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algn="ctr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algn="ctr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algn="ctr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algn="ctr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algn="ctr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/>
              <a:t>MOV c, R0</a:t>
            </a:r>
            <a:br>
              <a:rPr lang="en-US" altLang="zh-CN"/>
            </a:br>
            <a:r>
              <a:rPr lang="en-US" altLang="zh-CN"/>
              <a:t>ADD d, R0</a:t>
            </a:r>
            <a:br>
              <a:rPr lang="en-US" altLang="zh-CN"/>
            </a:br>
            <a:r>
              <a:rPr lang="en-US" altLang="zh-CN"/>
              <a:t>MOV e, R1</a:t>
            </a:r>
            <a:br>
              <a:rPr lang="en-US" altLang="zh-CN"/>
            </a:br>
            <a:r>
              <a:rPr lang="en-US" altLang="zh-CN"/>
              <a:t>SUB R0, R1</a:t>
            </a:r>
            <a:br>
              <a:rPr lang="en-US" altLang="zh-CN"/>
            </a:br>
            <a:r>
              <a:rPr lang="en-US" altLang="zh-CN"/>
              <a:t>MOV a, R0</a:t>
            </a:r>
            <a:br>
              <a:rPr lang="en-US" altLang="zh-CN"/>
            </a:br>
            <a:r>
              <a:rPr lang="en-US" altLang="zh-CN"/>
              <a:t>ADD b, R0</a:t>
            </a:r>
            <a:br>
              <a:rPr lang="en-US" altLang="zh-CN"/>
            </a:br>
            <a:r>
              <a:rPr lang="en-US" altLang="zh-CN"/>
              <a:t>SUB R1, R0</a:t>
            </a:r>
            <a:br>
              <a:rPr lang="en-US" altLang="zh-CN"/>
            </a:br>
            <a:r>
              <a:rPr lang="en-US" altLang="zh-CN"/>
              <a:t>MOV R0, t</a:t>
            </a:r>
            <a:r>
              <a:rPr lang="en-US" altLang="zh-CN" baseline="-25000"/>
              <a:t>4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22" name="Rectangle 2">
            <a:extLst>
              <a:ext uri="{FF2B5EF4-FFF2-40B4-BE49-F238E27FC236}">
                <a16:creationId xmlns:a16="http://schemas.microsoft.com/office/drawing/2014/main" id="{2498720C-6083-44CB-8D95-AFC595127E1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9.10.2  </a:t>
            </a:r>
            <a:r>
              <a:rPr lang="zh-CN" altLang="en-US"/>
              <a:t>一个启发式重排序算法</a:t>
            </a:r>
          </a:p>
        </p:txBody>
      </p:sp>
      <p:sp>
        <p:nvSpPr>
          <p:cNvPr id="81923" name="Rectangle 3">
            <a:extLst>
              <a:ext uri="{FF2B5EF4-FFF2-40B4-BE49-F238E27FC236}">
                <a16:creationId xmlns:a16="http://schemas.microsoft.com/office/drawing/2014/main" id="{41FEEA5B-CEF8-40F3-8E6D-04CD3F91E8E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182688" y="1371600"/>
            <a:ext cx="7772400" cy="5105400"/>
          </a:xfrm>
        </p:spPr>
        <p:txBody>
          <a:bodyPr/>
          <a:lstStyle/>
          <a:p>
            <a:pPr marL="609600" indent="-609600" eaLnBrk="1" hangingPunct="1"/>
            <a:r>
              <a:rPr lang="zh-CN" altLang="en-US" sz="2800"/>
              <a:t>计算紧接在左孩子之后（</a:t>
            </a:r>
            <a:r>
              <a:rPr lang="en-US" altLang="zh-CN" sz="2800"/>
              <a:t>t</a:t>
            </a:r>
            <a:r>
              <a:rPr lang="en-US" altLang="zh-CN" sz="2800" baseline="-25000"/>
              <a:t>4</a:t>
            </a:r>
            <a:r>
              <a:rPr lang="zh-CN" altLang="en-US" sz="2800"/>
              <a:t>，</a:t>
            </a:r>
            <a:r>
              <a:rPr lang="en-US" altLang="zh-CN" sz="2800"/>
              <a:t>t</a:t>
            </a:r>
            <a:r>
              <a:rPr lang="en-US" altLang="zh-CN" sz="2800" baseline="-25000"/>
              <a:t>1</a:t>
            </a:r>
            <a:r>
              <a:rPr lang="zh-CN" altLang="en-US" sz="2800"/>
              <a:t>）</a:t>
            </a:r>
            <a:r>
              <a:rPr lang="en-US" altLang="zh-CN" sz="2800"/>
              <a:t>——</a:t>
            </a:r>
            <a:r>
              <a:rPr lang="zh-CN" altLang="en-US" sz="2800"/>
              <a:t>共用一个寄存器</a:t>
            </a:r>
          </a:p>
          <a:p>
            <a:pPr marL="609600" indent="-609600" eaLnBrk="1" hangingPunct="1"/>
            <a:r>
              <a:rPr lang="zh-CN" altLang="en-US" sz="2800"/>
              <a:t>算法（按逆序给出重排之后的顺序）：</a:t>
            </a:r>
          </a:p>
          <a:p>
            <a:pPr marL="609600" indent="-609600" eaLnBrk="1" hangingPunct="1">
              <a:buFont typeface="Wingdings" panose="05000000000000000000" pitchFamily="2" charset="2"/>
              <a:buAutoNum type="arabicParenBoth"/>
            </a:pPr>
            <a:r>
              <a:rPr lang="en-US" altLang="zh-CN" sz="2000" b="1">
                <a:solidFill>
                  <a:schemeClr val="folHlink"/>
                </a:solidFill>
              </a:rPr>
              <a:t>while</a:t>
            </a:r>
            <a:r>
              <a:rPr lang="en-US" altLang="zh-CN" sz="2000"/>
              <a:t> </a:t>
            </a:r>
            <a:r>
              <a:rPr lang="zh-CN" altLang="en-US" sz="2000"/>
              <a:t>存在未列出的内部节点 </a:t>
            </a:r>
            <a:r>
              <a:rPr lang="en-US" altLang="zh-CN" sz="2000" b="1">
                <a:solidFill>
                  <a:schemeClr val="folHlink"/>
                </a:solidFill>
              </a:rPr>
              <a:t>do</a:t>
            </a:r>
            <a:r>
              <a:rPr lang="en-US" altLang="zh-CN" sz="2000">
                <a:solidFill>
                  <a:schemeClr val="folHlink"/>
                </a:solidFill>
              </a:rPr>
              <a:t> </a:t>
            </a:r>
            <a:r>
              <a:rPr lang="en-US" altLang="zh-CN" sz="2000" b="1">
                <a:solidFill>
                  <a:schemeClr val="folHlink"/>
                </a:solidFill>
              </a:rPr>
              <a:t>begin</a:t>
            </a:r>
          </a:p>
          <a:p>
            <a:pPr marL="609600" indent="-609600" eaLnBrk="1" hangingPunct="1">
              <a:buFont typeface="Wingdings" panose="05000000000000000000" pitchFamily="2" charset="2"/>
              <a:buAutoNum type="arabicParenBoth"/>
            </a:pPr>
            <a:r>
              <a:rPr lang="zh-CN" altLang="en-US" sz="2000"/>
              <a:t>选择一个未列出的节点</a:t>
            </a:r>
            <a:r>
              <a:rPr lang="en-US" altLang="zh-CN" sz="2000"/>
              <a:t>n</a:t>
            </a:r>
            <a:r>
              <a:rPr lang="zh-CN" altLang="en-US" sz="2000"/>
              <a:t>，其父节点都已列出</a:t>
            </a:r>
            <a:r>
              <a:rPr lang="en-US" altLang="zh-CN" sz="2000"/>
              <a:t>;</a:t>
            </a:r>
          </a:p>
          <a:p>
            <a:pPr marL="609600" indent="-609600" eaLnBrk="1" hangingPunct="1">
              <a:buFont typeface="Wingdings" panose="05000000000000000000" pitchFamily="2" charset="2"/>
              <a:buAutoNum type="arabicParenBoth"/>
            </a:pPr>
            <a:r>
              <a:rPr lang="zh-CN" altLang="en-US" sz="2000"/>
              <a:t>列出</a:t>
            </a:r>
            <a:r>
              <a:rPr lang="en-US" altLang="zh-CN" sz="2000"/>
              <a:t>n;</a:t>
            </a:r>
          </a:p>
          <a:p>
            <a:pPr marL="609600" indent="-609600" eaLnBrk="1" hangingPunct="1">
              <a:buFont typeface="Wingdings" panose="05000000000000000000" pitchFamily="2" charset="2"/>
              <a:buAutoNum type="arabicParenBoth"/>
            </a:pPr>
            <a:r>
              <a:rPr lang="en-US" altLang="zh-CN" sz="2000" b="1">
                <a:solidFill>
                  <a:schemeClr val="folHlink"/>
                </a:solidFill>
              </a:rPr>
              <a:t>while</a:t>
            </a:r>
            <a:r>
              <a:rPr lang="en-US" altLang="zh-CN" sz="2000"/>
              <a:t> n</a:t>
            </a:r>
            <a:r>
              <a:rPr lang="zh-CN" altLang="en-US" sz="2000"/>
              <a:t>的最左孩子</a:t>
            </a:r>
            <a:r>
              <a:rPr lang="en-US" altLang="zh-CN" sz="2000"/>
              <a:t>m</a:t>
            </a:r>
            <a:r>
              <a:rPr lang="zh-CN" altLang="en-US" sz="2000"/>
              <a:t>的所有父节点都已列出，且它不</a:t>
            </a:r>
            <a:br>
              <a:rPr lang="zh-CN" altLang="en-US" sz="2000"/>
            </a:br>
            <a:r>
              <a:rPr lang="zh-CN" altLang="en-US" sz="2000"/>
              <a:t>		是叶节点 </a:t>
            </a:r>
            <a:r>
              <a:rPr lang="en-US" altLang="zh-CN" sz="2000" b="1">
                <a:solidFill>
                  <a:schemeClr val="folHlink"/>
                </a:solidFill>
              </a:rPr>
              <a:t>do begin</a:t>
            </a:r>
          </a:p>
          <a:p>
            <a:pPr marL="609600" indent="-609600" eaLnBrk="1" hangingPunct="1">
              <a:buFont typeface="Wingdings" panose="05000000000000000000" pitchFamily="2" charset="2"/>
              <a:buAutoNum type="arabicParenBoth"/>
            </a:pPr>
            <a:r>
              <a:rPr lang="en-US" altLang="zh-CN" sz="2000"/>
              <a:t>          </a:t>
            </a:r>
            <a:r>
              <a:rPr lang="zh-CN" altLang="en-US" sz="2000"/>
              <a:t>列出</a:t>
            </a:r>
            <a:r>
              <a:rPr lang="en-US" altLang="zh-CN" sz="2000"/>
              <a:t>m;</a:t>
            </a:r>
          </a:p>
          <a:p>
            <a:pPr marL="609600" indent="-609600" eaLnBrk="1" hangingPunct="1">
              <a:buFont typeface="Wingdings" panose="05000000000000000000" pitchFamily="2" charset="2"/>
              <a:buAutoNum type="arabicParenBoth"/>
            </a:pPr>
            <a:r>
              <a:rPr lang="en-US" altLang="zh-CN" sz="2000"/>
              <a:t>          n := m;</a:t>
            </a:r>
          </a:p>
          <a:p>
            <a:pPr marL="609600" indent="-609600" eaLnBrk="1" hangingPunct="1">
              <a:buFont typeface="Wingdings" panose="05000000000000000000" pitchFamily="2" charset="2"/>
              <a:buNone/>
            </a:pPr>
            <a:r>
              <a:rPr lang="en-US" altLang="zh-CN" sz="2000"/>
              <a:t>		      </a:t>
            </a:r>
            <a:r>
              <a:rPr lang="en-US" altLang="zh-CN" sz="2000" b="1">
                <a:solidFill>
                  <a:schemeClr val="folHlink"/>
                </a:solidFill>
              </a:rPr>
              <a:t>end</a:t>
            </a:r>
          </a:p>
          <a:p>
            <a:pPr marL="609600" indent="-609600" eaLnBrk="1" hangingPunct="1">
              <a:buFont typeface="Wingdings" panose="05000000000000000000" pitchFamily="2" charset="2"/>
              <a:buNone/>
            </a:pPr>
            <a:r>
              <a:rPr lang="en-US" altLang="zh-CN" sz="2000"/>
              <a:t>        </a:t>
            </a:r>
            <a:r>
              <a:rPr lang="en-US" altLang="zh-CN" sz="2000" b="1">
                <a:solidFill>
                  <a:schemeClr val="folHlink"/>
                </a:solidFill>
              </a:rPr>
              <a:t>end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6" name="Rectangle 2">
            <a:extLst>
              <a:ext uri="{FF2B5EF4-FFF2-40B4-BE49-F238E27FC236}">
                <a16:creationId xmlns:a16="http://schemas.microsoft.com/office/drawing/2014/main" id="{B120114E-1330-460B-A910-89CB559D00C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例</a:t>
            </a:r>
            <a:r>
              <a:rPr lang="en-US" altLang="zh-CN"/>
              <a:t>9.11</a:t>
            </a:r>
          </a:p>
        </p:txBody>
      </p:sp>
      <p:sp>
        <p:nvSpPr>
          <p:cNvPr id="82947" name="Rectangle 3">
            <a:extLst>
              <a:ext uri="{FF2B5EF4-FFF2-40B4-BE49-F238E27FC236}">
                <a16:creationId xmlns:a16="http://schemas.microsoft.com/office/drawing/2014/main" id="{963216FC-44E9-42F1-8677-35130776686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5943600" y="1371600"/>
            <a:ext cx="3011488" cy="4724400"/>
          </a:xfrm>
        </p:spPr>
        <p:txBody>
          <a:bodyPr/>
          <a:lstStyle/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/>
              <a:t>t</a:t>
            </a:r>
            <a:r>
              <a:rPr lang="en-US" altLang="zh-CN" baseline="-25000"/>
              <a:t>8</a:t>
            </a:r>
            <a:r>
              <a:rPr lang="en-US" altLang="zh-CN"/>
              <a:t> := d + e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/>
              <a:t>t</a:t>
            </a:r>
            <a:r>
              <a:rPr lang="en-US" altLang="zh-CN" baseline="-25000"/>
              <a:t>6</a:t>
            </a:r>
            <a:r>
              <a:rPr lang="en-US" altLang="zh-CN"/>
              <a:t> := a + b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/>
              <a:t>t</a:t>
            </a:r>
            <a:r>
              <a:rPr lang="en-US" altLang="zh-CN" baseline="-25000"/>
              <a:t>5</a:t>
            </a:r>
            <a:r>
              <a:rPr lang="en-US" altLang="zh-CN"/>
              <a:t> := t</a:t>
            </a:r>
            <a:r>
              <a:rPr lang="en-US" altLang="zh-CN" baseline="-25000"/>
              <a:t>6</a:t>
            </a:r>
            <a:r>
              <a:rPr lang="en-US" altLang="zh-CN"/>
              <a:t> – c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/>
              <a:t>t</a:t>
            </a:r>
            <a:r>
              <a:rPr lang="en-US" altLang="zh-CN" baseline="-25000"/>
              <a:t>4</a:t>
            </a:r>
            <a:r>
              <a:rPr lang="en-US" altLang="zh-CN"/>
              <a:t> := t</a:t>
            </a:r>
            <a:r>
              <a:rPr lang="en-US" altLang="zh-CN" baseline="-25000"/>
              <a:t>5</a:t>
            </a:r>
            <a:r>
              <a:rPr lang="en-US" altLang="zh-CN"/>
              <a:t> * t</a:t>
            </a:r>
            <a:r>
              <a:rPr lang="en-US" altLang="zh-CN" baseline="-25000"/>
              <a:t>8</a:t>
            </a:r>
            <a:endParaRPr lang="en-US" altLang="zh-CN"/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/>
              <a:t>t</a:t>
            </a:r>
            <a:r>
              <a:rPr lang="en-US" altLang="zh-CN" baseline="-25000"/>
              <a:t>3</a:t>
            </a:r>
            <a:r>
              <a:rPr lang="en-US" altLang="zh-CN"/>
              <a:t> := t</a:t>
            </a:r>
            <a:r>
              <a:rPr lang="en-US" altLang="zh-CN" baseline="-25000"/>
              <a:t>4</a:t>
            </a:r>
            <a:r>
              <a:rPr lang="en-US" altLang="zh-CN"/>
              <a:t> – e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/>
              <a:t>t</a:t>
            </a:r>
            <a:r>
              <a:rPr lang="en-US" altLang="zh-CN" baseline="-25000"/>
              <a:t>2</a:t>
            </a:r>
            <a:r>
              <a:rPr lang="en-US" altLang="zh-CN"/>
              <a:t> := t</a:t>
            </a:r>
            <a:r>
              <a:rPr lang="en-US" altLang="zh-CN" baseline="-25000"/>
              <a:t>6</a:t>
            </a:r>
            <a:r>
              <a:rPr lang="en-US" altLang="zh-CN"/>
              <a:t> + t</a:t>
            </a:r>
            <a:r>
              <a:rPr lang="en-US" altLang="zh-CN" baseline="-25000"/>
              <a:t>4</a:t>
            </a:r>
            <a:endParaRPr lang="en-US" altLang="zh-CN"/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/>
              <a:t>t</a:t>
            </a:r>
            <a:r>
              <a:rPr lang="en-US" altLang="zh-CN" baseline="-25000"/>
              <a:t>1</a:t>
            </a:r>
            <a:r>
              <a:rPr lang="en-US" altLang="zh-CN"/>
              <a:t> := t</a:t>
            </a:r>
            <a:r>
              <a:rPr lang="en-US" altLang="zh-CN" baseline="-25000"/>
              <a:t>2</a:t>
            </a:r>
            <a:r>
              <a:rPr lang="en-US" altLang="zh-CN"/>
              <a:t> * t</a:t>
            </a:r>
            <a:r>
              <a:rPr lang="en-US" altLang="zh-CN" baseline="-25000"/>
              <a:t>3</a:t>
            </a:r>
            <a:r>
              <a:rPr lang="en-US" altLang="zh-CN"/>
              <a:t> </a:t>
            </a:r>
          </a:p>
        </p:txBody>
      </p:sp>
      <p:pic>
        <p:nvPicPr>
          <p:cNvPr id="82948" name="Picture 4" descr="C:\Documents and Settings\Administrator\My Documents\wg\编译原理\jiangyi\figures\9\order.gif">
            <a:extLst>
              <a:ext uri="{FF2B5EF4-FFF2-40B4-BE49-F238E27FC236}">
                <a16:creationId xmlns:a16="http://schemas.microsoft.com/office/drawing/2014/main" id="{F5B3D7B4-277B-4579-9555-4E202160CA2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4800" y="1905000"/>
            <a:ext cx="5664200" cy="3562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70" name="Rectangle 2">
            <a:extLst>
              <a:ext uri="{FF2B5EF4-FFF2-40B4-BE49-F238E27FC236}">
                <a16:creationId xmlns:a16="http://schemas.microsoft.com/office/drawing/2014/main" id="{BE8AD901-3C2A-4B78-ABB5-41D6B84DD3E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9.10.3  </a:t>
            </a:r>
            <a:r>
              <a:rPr lang="zh-CN" altLang="en-US"/>
              <a:t>树结构的最优排序</a:t>
            </a:r>
          </a:p>
        </p:txBody>
      </p:sp>
      <p:sp>
        <p:nvSpPr>
          <p:cNvPr id="83971" name="Rectangle 3">
            <a:extLst>
              <a:ext uri="{FF2B5EF4-FFF2-40B4-BE49-F238E27FC236}">
                <a16:creationId xmlns:a16="http://schemas.microsoft.com/office/drawing/2014/main" id="{5BC7BF98-0993-451A-96FC-E11EDDEC780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marL="609600" indent="-609600" eaLnBrk="1" hangingPunct="1"/>
            <a:r>
              <a:rPr lang="en-US" altLang="zh-CN"/>
              <a:t>dag</a:t>
            </a:r>
            <a:r>
              <a:rPr lang="en-US" altLang="zh-CN">
                <a:sym typeface="Wingdings" panose="05000000000000000000" pitchFamily="2" charset="2"/>
              </a:rPr>
              <a:t></a:t>
            </a:r>
            <a:r>
              <a:rPr lang="zh-CN" altLang="en-US">
                <a:sym typeface="Wingdings" panose="05000000000000000000" pitchFamily="2" charset="2"/>
              </a:rPr>
              <a:t>树，计算最优顺序的算法</a:t>
            </a:r>
          </a:p>
          <a:p>
            <a:pPr marL="990600" lvl="1" indent="-533400" eaLnBrk="1" hangingPunct="1">
              <a:buFont typeface="Wingdings" panose="05000000000000000000" pitchFamily="2" charset="2"/>
              <a:buAutoNum type="arabicPeriod"/>
            </a:pPr>
            <a:r>
              <a:rPr lang="zh-CN" altLang="en-US"/>
              <a:t>自底向上为每个节点标记一个整数</a:t>
            </a:r>
            <a:r>
              <a:rPr lang="en-US" altLang="zh-CN"/>
              <a:t>——</a:t>
            </a:r>
            <a:r>
              <a:rPr lang="zh-CN" altLang="en-US"/>
              <a:t>不存储中间结果的条件下，计算所需最少寄存器数目</a:t>
            </a:r>
          </a:p>
          <a:p>
            <a:pPr marL="990600" lvl="1" indent="-533400" eaLnBrk="1" hangingPunct="1">
              <a:buFont typeface="Wingdings" panose="05000000000000000000" pitchFamily="2" charset="2"/>
              <a:buAutoNum type="arabicPeriod"/>
            </a:pPr>
            <a:r>
              <a:rPr lang="zh-CN" altLang="en-US"/>
              <a:t>由标记确定顺序，对树进行遍历，生成目标代码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4" name="Rectangle 2">
            <a:extLst>
              <a:ext uri="{FF2B5EF4-FFF2-40B4-BE49-F238E27FC236}">
                <a16:creationId xmlns:a16="http://schemas.microsoft.com/office/drawing/2014/main" id="{03125149-0208-4967-B854-A4EB21F22CF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9.10.4  </a:t>
            </a:r>
            <a:r>
              <a:rPr lang="zh-CN" altLang="en-US"/>
              <a:t>标记算法</a:t>
            </a:r>
          </a:p>
        </p:txBody>
      </p:sp>
      <p:sp>
        <p:nvSpPr>
          <p:cNvPr id="84995" name="Rectangle 3">
            <a:extLst>
              <a:ext uri="{FF2B5EF4-FFF2-40B4-BE49-F238E27FC236}">
                <a16:creationId xmlns:a16="http://schemas.microsoft.com/office/drawing/2014/main" id="{D9764264-6141-43C7-9078-56A0049EFC0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182688" y="1295400"/>
            <a:ext cx="7772400" cy="4191000"/>
          </a:xfrm>
        </p:spPr>
        <p:txBody>
          <a:bodyPr/>
          <a:lstStyle/>
          <a:p>
            <a:pPr marL="609600" indent="-609600" eaLnBrk="1" hangingPunct="1">
              <a:lnSpc>
                <a:spcPct val="90000"/>
              </a:lnSpc>
              <a:buFont typeface="Wingdings" panose="05000000000000000000" pitchFamily="2" charset="2"/>
              <a:buAutoNum type="arabicParenBoth"/>
            </a:pPr>
            <a:r>
              <a:rPr lang="en-US" altLang="zh-CN" sz="2800" b="1">
                <a:solidFill>
                  <a:schemeClr val="folHlink"/>
                </a:solidFill>
              </a:rPr>
              <a:t>if</a:t>
            </a:r>
            <a:r>
              <a:rPr lang="en-US" altLang="zh-CN" sz="2800"/>
              <a:t> n</a:t>
            </a:r>
            <a:r>
              <a:rPr lang="zh-CN" altLang="en-US" sz="2800"/>
              <a:t>为叶节点 </a:t>
            </a:r>
            <a:r>
              <a:rPr lang="en-US" altLang="zh-CN" sz="2800" b="1">
                <a:solidFill>
                  <a:schemeClr val="folHlink"/>
                </a:solidFill>
              </a:rPr>
              <a:t>then</a:t>
            </a:r>
          </a:p>
          <a:p>
            <a:pPr marL="609600" indent="-609600" eaLnBrk="1" hangingPunct="1">
              <a:lnSpc>
                <a:spcPct val="90000"/>
              </a:lnSpc>
              <a:buFont typeface="Wingdings" panose="05000000000000000000" pitchFamily="2" charset="2"/>
              <a:buAutoNum type="arabicParenBoth"/>
            </a:pPr>
            <a:r>
              <a:rPr lang="en-US" altLang="zh-CN" sz="2800"/>
              <a:t>        </a:t>
            </a:r>
            <a:r>
              <a:rPr lang="en-US" altLang="zh-CN" sz="2800" b="1">
                <a:solidFill>
                  <a:schemeClr val="folHlink"/>
                </a:solidFill>
              </a:rPr>
              <a:t>if</a:t>
            </a:r>
            <a:r>
              <a:rPr lang="en-US" altLang="zh-CN" sz="2800"/>
              <a:t> n</a:t>
            </a:r>
            <a:r>
              <a:rPr lang="zh-CN" altLang="en-US" sz="2800"/>
              <a:t>为其父节点的最左孩子 </a:t>
            </a:r>
            <a:r>
              <a:rPr lang="en-US" altLang="zh-CN" sz="2800" b="1">
                <a:solidFill>
                  <a:schemeClr val="folHlink"/>
                </a:solidFill>
              </a:rPr>
              <a:t>then</a:t>
            </a:r>
          </a:p>
          <a:p>
            <a:pPr marL="609600" indent="-609600" eaLnBrk="1" hangingPunct="1">
              <a:lnSpc>
                <a:spcPct val="90000"/>
              </a:lnSpc>
              <a:buFont typeface="Wingdings" panose="05000000000000000000" pitchFamily="2" charset="2"/>
              <a:buAutoNum type="arabicParenBoth"/>
            </a:pPr>
            <a:r>
              <a:rPr lang="en-US" altLang="zh-CN" sz="2800"/>
              <a:t>                  label(n) := 1</a:t>
            </a:r>
          </a:p>
          <a:p>
            <a:pPr marL="609600" indent="-609600" eaLnBrk="1" hangingPunct="1">
              <a:lnSpc>
                <a:spcPct val="90000"/>
              </a:lnSpc>
              <a:buFont typeface="Wingdings" panose="05000000000000000000" pitchFamily="2" charset="2"/>
              <a:buAutoNum type="arabicParenBoth"/>
            </a:pPr>
            <a:r>
              <a:rPr lang="en-US" altLang="zh-CN" sz="2800"/>
              <a:t>        </a:t>
            </a:r>
            <a:r>
              <a:rPr lang="en-US" altLang="zh-CN" sz="2800" b="1">
                <a:solidFill>
                  <a:schemeClr val="folHlink"/>
                </a:solidFill>
              </a:rPr>
              <a:t>else</a:t>
            </a:r>
            <a:r>
              <a:rPr lang="en-US" altLang="zh-CN" sz="2800"/>
              <a:t> label(n) := 0</a:t>
            </a:r>
            <a:br>
              <a:rPr lang="en-US" altLang="zh-CN" sz="2800"/>
            </a:br>
            <a:r>
              <a:rPr lang="en-US" altLang="zh-CN" sz="2800" b="1">
                <a:solidFill>
                  <a:schemeClr val="folHlink"/>
                </a:solidFill>
              </a:rPr>
              <a:t>else begin</a:t>
            </a:r>
          </a:p>
          <a:p>
            <a:pPr marL="609600" indent="-609600" eaLnBrk="1" hangingPunct="1">
              <a:lnSpc>
                <a:spcPct val="90000"/>
              </a:lnSpc>
              <a:buFont typeface="Wingdings" panose="05000000000000000000" pitchFamily="2" charset="2"/>
              <a:buAutoNum type="arabicParenBoth"/>
            </a:pPr>
            <a:r>
              <a:rPr lang="en-US" altLang="zh-CN" sz="2800"/>
              <a:t>        </a:t>
            </a:r>
            <a:r>
              <a:rPr lang="zh-CN" altLang="en-US" sz="2800"/>
              <a:t>令</a:t>
            </a:r>
            <a:r>
              <a:rPr lang="en-US" altLang="zh-CN" sz="2800"/>
              <a:t>n</a:t>
            </a:r>
            <a:r>
              <a:rPr lang="en-US" altLang="zh-CN" sz="2800" baseline="-25000"/>
              <a:t>1</a:t>
            </a:r>
            <a:r>
              <a:rPr lang="en-US" altLang="zh-CN" sz="2800"/>
              <a:t>, n</a:t>
            </a:r>
            <a:r>
              <a:rPr lang="en-US" altLang="zh-CN" sz="2800" baseline="-25000"/>
              <a:t>2</a:t>
            </a:r>
            <a:r>
              <a:rPr lang="en-US" altLang="zh-CN" sz="2800"/>
              <a:t>, …, n</a:t>
            </a:r>
            <a:r>
              <a:rPr lang="en-US" altLang="zh-CN" sz="2800" baseline="-25000"/>
              <a:t>k</a:t>
            </a:r>
            <a:r>
              <a:rPr lang="zh-CN" altLang="en-US" sz="2800"/>
              <a:t>是</a:t>
            </a:r>
            <a:r>
              <a:rPr lang="en-US" altLang="zh-CN" sz="2800"/>
              <a:t>n</a:t>
            </a:r>
            <a:r>
              <a:rPr lang="zh-CN" altLang="en-US" sz="2800"/>
              <a:t>的孩子按标号排序后的结果，即</a:t>
            </a:r>
            <a:r>
              <a:rPr lang="en-US" altLang="zh-CN" sz="2800"/>
              <a:t>label(n</a:t>
            </a:r>
            <a:r>
              <a:rPr lang="en-US" altLang="zh-CN" sz="2800" baseline="-25000"/>
              <a:t>1</a:t>
            </a:r>
            <a:r>
              <a:rPr lang="en-US" altLang="zh-CN" sz="2800"/>
              <a:t>)&gt;=label(n</a:t>
            </a:r>
            <a:r>
              <a:rPr lang="en-US" altLang="zh-CN" sz="2800" baseline="-25000"/>
              <a:t>2</a:t>
            </a:r>
            <a:r>
              <a:rPr lang="en-US" altLang="zh-CN" sz="2800"/>
              <a:t>)&gt;=…&gt;=label(n</a:t>
            </a:r>
            <a:r>
              <a:rPr lang="en-US" altLang="zh-CN" sz="2800" baseline="-25000"/>
              <a:t>k</a:t>
            </a:r>
            <a:r>
              <a:rPr lang="en-US" altLang="zh-CN" sz="2800"/>
              <a:t>)</a:t>
            </a:r>
          </a:p>
          <a:p>
            <a:pPr marL="609600" indent="-609600" eaLnBrk="1" hangingPunct="1">
              <a:lnSpc>
                <a:spcPct val="90000"/>
              </a:lnSpc>
              <a:buFont typeface="Wingdings" panose="05000000000000000000" pitchFamily="2" charset="2"/>
              <a:buAutoNum type="arabicParenBoth"/>
            </a:pPr>
            <a:r>
              <a:rPr lang="en-US" altLang="zh-CN" sz="2800"/>
              <a:t>         label(n) := max(label(n</a:t>
            </a:r>
            <a:r>
              <a:rPr lang="en-US" altLang="zh-CN" sz="2800" baseline="-25000"/>
              <a:t>i</a:t>
            </a:r>
            <a:r>
              <a:rPr lang="en-US" altLang="zh-CN" sz="2800"/>
              <a:t>) + i – 1), 1&lt;i&lt;k</a:t>
            </a:r>
          </a:p>
          <a:p>
            <a:pPr marL="609600" indent="-609600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800"/>
              <a:t>       </a:t>
            </a:r>
            <a:r>
              <a:rPr lang="en-US" altLang="zh-CN" sz="2800" b="1">
                <a:solidFill>
                  <a:schemeClr val="folHlink"/>
                </a:solidFill>
              </a:rPr>
              <a:t>end</a:t>
            </a:r>
          </a:p>
        </p:txBody>
      </p:sp>
      <p:graphicFrame>
        <p:nvGraphicFramePr>
          <p:cNvPr id="84996" name="Object 4">
            <a:extLst>
              <a:ext uri="{FF2B5EF4-FFF2-40B4-BE49-F238E27FC236}">
                <a16:creationId xmlns:a16="http://schemas.microsoft.com/office/drawing/2014/main" id="{0A8B8337-1462-4781-B5F6-076E3218357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447800" y="5394325"/>
          <a:ext cx="6248400" cy="1387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5002" name="Equation" r:id="rId3" imgW="2171700" imgH="482600" progId="Equation.3">
                  <p:embed/>
                </p:oleObj>
              </mc:Choice>
              <mc:Fallback>
                <p:oleObj name="Equation" r:id="rId3" imgW="2171700" imgH="482600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47800" y="5394325"/>
                        <a:ext cx="6248400" cy="13874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18" name="Rectangle 2">
            <a:extLst>
              <a:ext uri="{FF2B5EF4-FFF2-40B4-BE49-F238E27FC236}">
                <a16:creationId xmlns:a16="http://schemas.microsoft.com/office/drawing/2014/main" id="{6EB9B9F7-92BA-4C4E-A2E8-5B8A987A4BA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例</a:t>
            </a:r>
            <a:r>
              <a:rPr lang="en-US" altLang="zh-CN"/>
              <a:t>9.12</a:t>
            </a:r>
          </a:p>
        </p:txBody>
      </p:sp>
      <p:pic>
        <p:nvPicPr>
          <p:cNvPr id="86019" name="Picture 4" descr="C:\Documents and Settings\Administrator\My Documents\wg\编译原理\jiangyi\figures\9\label.gif">
            <a:extLst>
              <a:ext uri="{FF2B5EF4-FFF2-40B4-BE49-F238E27FC236}">
                <a16:creationId xmlns:a16="http://schemas.microsoft.com/office/drawing/2014/main" id="{47851A5F-39A5-49C1-A0D7-0EFBF527DEE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76400" y="1828800"/>
            <a:ext cx="6211888" cy="35036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42" name="Rectangle 2">
            <a:extLst>
              <a:ext uri="{FF2B5EF4-FFF2-40B4-BE49-F238E27FC236}">
                <a16:creationId xmlns:a16="http://schemas.microsoft.com/office/drawing/2014/main" id="{6AD18EE2-1E98-4D70-BA5C-7A73EDFB69D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9.10.5  </a:t>
            </a:r>
            <a:r>
              <a:rPr lang="zh-CN" altLang="en-US"/>
              <a:t>利用标记树生成代码</a:t>
            </a:r>
          </a:p>
        </p:txBody>
      </p:sp>
      <p:sp>
        <p:nvSpPr>
          <p:cNvPr id="87043" name="Rectangle 3">
            <a:extLst>
              <a:ext uri="{FF2B5EF4-FFF2-40B4-BE49-F238E27FC236}">
                <a16:creationId xmlns:a16="http://schemas.microsoft.com/office/drawing/2014/main" id="{59FEEBBE-6831-488A-8329-59D011661B2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182688" y="1371600"/>
            <a:ext cx="7772400" cy="5257800"/>
          </a:xfrm>
        </p:spPr>
        <p:txBody>
          <a:bodyPr/>
          <a:lstStyle/>
          <a:p>
            <a:pPr eaLnBrk="1" hangingPunct="1"/>
            <a:r>
              <a:rPr lang="en-US" altLang="zh-CN" sz="2800"/>
              <a:t>gencode(n)</a:t>
            </a:r>
            <a:r>
              <a:rPr lang="zh-CN" altLang="en-US" sz="2800"/>
              <a:t>：生成以</a:t>
            </a:r>
            <a:r>
              <a:rPr lang="en-US" altLang="zh-CN" sz="2800"/>
              <a:t>n</a:t>
            </a:r>
            <a:r>
              <a:rPr lang="zh-CN" altLang="en-US" sz="2800"/>
              <a:t>为根的标记树</a:t>
            </a:r>
            <a:r>
              <a:rPr lang="en-US" altLang="zh-CN" sz="2800"/>
              <a:t>T</a:t>
            </a:r>
            <a:r>
              <a:rPr lang="zh-CN" altLang="en-US" sz="2800"/>
              <a:t>的代码，结果在寄存器</a:t>
            </a:r>
            <a:r>
              <a:rPr lang="en-US" altLang="zh-CN" sz="2800"/>
              <a:t>R0</a:t>
            </a:r>
            <a:r>
              <a:rPr lang="zh-CN" altLang="en-US" sz="2800"/>
              <a:t>中</a:t>
            </a:r>
          </a:p>
          <a:p>
            <a:pPr eaLnBrk="1" hangingPunct="1"/>
            <a:r>
              <a:rPr lang="en-US" altLang="zh-CN" sz="2800"/>
              <a:t>rstack</a:t>
            </a:r>
            <a:r>
              <a:rPr lang="zh-CN" altLang="en-US" sz="2800"/>
              <a:t>：可用寄存器栈，</a:t>
            </a:r>
            <a:r>
              <a:rPr lang="en-US" altLang="zh-CN" sz="2800"/>
              <a:t>R0, R1, …, R(r-1)</a:t>
            </a:r>
          </a:p>
          <a:p>
            <a:pPr eaLnBrk="1" hangingPunct="1"/>
            <a:r>
              <a:rPr lang="en-US" altLang="zh-CN" sz="2800"/>
              <a:t>swap(rstack)</a:t>
            </a:r>
            <a:r>
              <a:rPr lang="zh-CN" altLang="en-US" sz="2800"/>
              <a:t>：交换栈顶两个寄存器</a:t>
            </a:r>
          </a:p>
          <a:p>
            <a:pPr eaLnBrk="1" hangingPunct="1"/>
            <a:r>
              <a:rPr lang="en-US" altLang="zh-CN" sz="2800"/>
              <a:t>tstack</a:t>
            </a:r>
            <a:r>
              <a:rPr lang="zh-CN" altLang="en-US" sz="2800"/>
              <a:t>：临时存储栈，</a:t>
            </a:r>
            <a:r>
              <a:rPr lang="en-US" altLang="zh-CN" sz="2800"/>
              <a:t>T0, T1, T2, …</a:t>
            </a:r>
          </a:p>
          <a:p>
            <a:pPr eaLnBrk="1" hangingPunct="1"/>
            <a:r>
              <a:rPr lang="zh-CN" altLang="en-US" sz="2800"/>
              <a:t>算法处理的几种情况：</a:t>
            </a:r>
          </a:p>
        </p:txBody>
      </p:sp>
      <p:pic>
        <p:nvPicPr>
          <p:cNvPr id="87044" name="Picture 5" descr="C:\Documents and Settings\Administrator\My Documents\wg\编译原理\jiangyi\figures\9\genlabel.gif">
            <a:extLst>
              <a:ext uri="{FF2B5EF4-FFF2-40B4-BE49-F238E27FC236}">
                <a16:creationId xmlns:a16="http://schemas.microsoft.com/office/drawing/2014/main" id="{E409C915-A85E-4626-8A8E-736E3960EE4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19200" y="4724400"/>
            <a:ext cx="7234238" cy="1514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066" name="Rectangle 2">
            <a:extLst>
              <a:ext uri="{FF2B5EF4-FFF2-40B4-BE49-F238E27FC236}">
                <a16:creationId xmlns:a16="http://schemas.microsoft.com/office/drawing/2014/main" id="{35F3D14F-DCFA-4922-8407-95087696D1C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算法</a:t>
            </a:r>
          </a:p>
        </p:txBody>
      </p:sp>
      <p:sp>
        <p:nvSpPr>
          <p:cNvPr id="88067" name="Rectangle 3">
            <a:extLst>
              <a:ext uri="{FF2B5EF4-FFF2-40B4-BE49-F238E27FC236}">
                <a16:creationId xmlns:a16="http://schemas.microsoft.com/office/drawing/2014/main" id="{888470FA-0058-4F74-B897-AD760D350B0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182688" y="1219200"/>
            <a:ext cx="7772400" cy="5638800"/>
          </a:xfrm>
        </p:spPr>
        <p:txBody>
          <a:bodyPr/>
          <a:lstStyle/>
          <a:p>
            <a:pPr eaLnBrk="1" hangingPunct="1">
              <a:lnSpc>
                <a:spcPct val="90000"/>
              </a:lnSpc>
              <a:spcBef>
                <a:spcPct val="10000"/>
              </a:spcBef>
              <a:buFont typeface="Wingdings" panose="05000000000000000000" pitchFamily="2" charset="2"/>
              <a:buNone/>
            </a:pPr>
            <a:r>
              <a:rPr lang="en-US" altLang="zh-CN" sz="2000"/>
              <a:t>gencode(n)</a:t>
            </a:r>
          </a:p>
          <a:p>
            <a:pPr eaLnBrk="1" hangingPunct="1">
              <a:lnSpc>
                <a:spcPct val="90000"/>
              </a:lnSpc>
              <a:spcBef>
                <a:spcPct val="10000"/>
              </a:spcBef>
              <a:buFont typeface="Wingdings" panose="05000000000000000000" pitchFamily="2" charset="2"/>
              <a:buNone/>
            </a:pPr>
            <a:r>
              <a:rPr lang="en-US" altLang="zh-CN" sz="2000"/>
              <a:t>{</a:t>
            </a:r>
          </a:p>
          <a:p>
            <a:pPr eaLnBrk="1" hangingPunct="1">
              <a:lnSpc>
                <a:spcPct val="90000"/>
              </a:lnSpc>
              <a:spcBef>
                <a:spcPct val="10000"/>
              </a:spcBef>
              <a:buFont typeface="Wingdings" panose="05000000000000000000" pitchFamily="2" charset="2"/>
              <a:buNone/>
            </a:pPr>
            <a:r>
              <a:rPr lang="en-US" altLang="zh-CN" sz="2000"/>
              <a:t>	if (n</a:t>
            </a:r>
            <a:r>
              <a:rPr lang="zh-CN" altLang="en-US" sz="2000"/>
              <a:t>为表示运算对象</a:t>
            </a:r>
            <a:r>
              <a:rPr lang="en-US" altLang="zh-CN" sz="2000"/>
              <a:t>name</a:t>
            </a:r>
            <a:r>
              <a:rPr lang="zh-CN" altLang="en-US" sz="2000"/>
              <a:t>的左叶节点且为其父节点的最左孩子</a:t>
            </a:r>
            <a:r>
              <a:rPr lang="en-US" altLang="zh-CN" sz="2000"/>
              <a:t>)</a:t>
            </a:r>
          </a:p>
          <a:p>
            <a:pPr eaLnBrk="1" hangingPunct="1">
              <a:lnSpc>
                <a:spcPct val="90000"/>
              </a:lnSpc>
              <a:spcBef>
                <a:spcPct val="10000"/>
              </a:spcBef>
              <a:buFont typeface="Wingdings" panose="05000000000000000000" pitchFamily="2" charset="2"/>
              <a:buNone/>
            </a:pPr>
            <a:r>
              <a:rPr lang="en-US" altLang="zh-CN" sz="2000"/>
              <a:t>		print ‘MOV’ || name || ‘,’ || top(rstack);</a:t>
            </a:r>
          </a:p>
          <a:p>
            <a:pPr eaLnBrk="1" hangingPunct="1">
              <a:lnSpc>
                <a:spcPct val="90000"/>
              </a:lnSpc>
              <a:spcBef>
                <a:spcPct val="10000"/>
              </a:spcBef>
              <a:buFont typeface="Wingdings" panose="05000000000000000000" pitchFamily="2" charset="2"/>
              <a:buNone/>
            </a:pPr>
            <a:r>
              <a:rPr lang="en-US" altLang="zh-CN" sz="2000"/>
              <a:t>	else if (n</a:t>
            </a:r>
            <a:r>
              <a:rPr lang="zh-CN" altLang="en-US" sz="2000"/>
              <a:t>是内部节点，运算符为</a:t>
            </a:r>
            <a:r>
              <a:rPr lang="en-US" altLang="zh-CN" sz="2000"/>
              <a:t>op</a:t>
            </a:r>
            <a:r>
              <a:rPr lang="zh-CN" altLang="en-US" sz="2000"/>
              <a:t>，左、右孩子为</a:t>
            </a:r>
            <a:r>
              <a:rPr lang="en-US" altLang="zh-CN" sz="2000"/>
              <a:t>n</a:t>
            </a:r>
            <a:r>
              <a:rPr lang="en-US" altLang="zh-CN" sz="2000" baseline="-25000"/>
              <a:t>1</a:t>
            </a:r>
            <a:r>
              <a:rPr lang="zh-CN" altLang="en-US" sz="2000"/>
              <a:t>、</a:t>
            </a:r>
            <a:r>
              <a:rPr lang="en-US" altLang="zh-CN" sz="2000"/>
              <a:t>n</a:t>
            </a:r>
            <a:r>
              <a:rPr lang="en-US" altLang="zh-CN" sz="2000" baseline="-25000"/>
              <a:t>2</a:t>
            </a:r>
            <a:r>
              <a:rPr lang="en-US" altLang="zh-CN" sz="2000"/>
              <a:t>)</a:t>
            </a:r>
          </a:p>
          <a:p>
            <a:pPr eaLnBrk="1" hangingPunct="1">
              <a:lnSpc>
                <a:spcPct val="90000"/>
              </a:lnSpc>
              <a:spcBef>
                <a:spcPct val="10000"/>
              </a:spcBef>
              <a:buFont typeface="Wingdings" panose="05000000000000000000" pitchFamily="2" charset="2"/>
              <a:buNone/>
            </a:pPr>
            <a:r>
              <a:rPr lang="en-US" altLang="zh-CN" sz="2000"/>
              <a:t>	{</a:t>
            </a:r>
          </a:p>
          <a:p>
            <a:pPr eaLnBrk="1" hangingPunct="1">
              <a:lnSpc>
                <a:spcPct val="90000"/>
              </a:lnSpc>
              <a:spcBef>
                <a:spcPct val="10000"/>
              </a:spcBef>
              <a:buFont typeface="Wingdings" panose="05000000000000000000" pitchFamily="2" charset="2"/>
              <a:buNone/>
            </a:pPr>
            <a:r>
              <a:rPr lang="en-US" altLang="zh-CN" sz="2000"/>
              <a:t>		if (label(n</a:t>
            </a:r>
            <a:r>
              <a:rPr lang="en-US" altLang="zh-CN" sz="2000" baseline="-25000"/>
              <a:t>2</a:t>
            </a:r>
            <a:r>
              <a:rPr lang="en-US" altLang="zh-CN" sz="2000"/>
              <a:t>) == 0) {	/* </a:t>
            </a:r>
            <a:r>
              <a:rPr lang="zh-CN" altLang="en-US" sz="2000"/>
              <a:t>情况</a:t>
            </a:r>
            <a:r>
              <a:rPr lang="en-US" altLang="zh-CN" sz="2000"/>
              <a:t>1 */</a:t>
            </a:r>
          </a:p>
          <a:p>
            <a:pPr eaLnBrk="1" hangingPunct="1">
              <a:lnSpc>
                <a:spcPct val="90000"/>
              </a:lnSpc>
              <a:spcBef>
                <a:spcPct val="10000"/>
              </a:spcBef>
              <a:buFont typeface="Wingdings" panose="05000000000000000000" pitchFamily="2" charset="2"/>
              <a:buNone/>
            </a:pPr>
            <a:r>
              <a:rPr lang="en-US" altLang="zh-CN" sz="2000"/>
              <a:t>			</a:t>
            </a:r>
            <a:r>
              <a:rPr lang="zh-CN" altLang="en-US" sz="2000"/>
              <a:t>令</a:t>
            </a:r>
            <a:r>
              <a:rPr lang="en-US" altLang="zh-CN" sz="2000"/>
              <a:t>name</a:t>
            </a:r>
            <a:r>
              <a:rPr lang="zh-CN" altLang="en-US" sz="2000"/>
              <a:t>为</a:t>
            </a:r>
            <a:r>
              <a:rPr lang="en-US" altLang="zh-CN" sz="2000"/>
              <a:t>n</a:t>
            </a:r>
            <a:r>
              <a:rPr lang="en-US" altLang="zh-CN" sz="2000" baseline="-25000"/>
              <a:t>2</a:t>
            </a:r>
            <a:r>
              <a:rPr lang="zh-CN" altLang="en-US" sz="2000"/>
              <a:t>表示的运算对象</a:t>
            </a:r>
            <a:r>
              <a:rPr lang="en-US" altLang="zh-CN" sz="2000"/>
              <a:t>;</a:t>
            </a:r>
          </a:p>
          <a:p>
            <a:pPr eaLnBrk="1" hangingPunct="1">
              <a:lnSpc>
                <a:spcPct val="90000"/>
              </a:lnSpc>
              <a:spcBef>
                <a:spcPct val="10000"/>
              </a:spcBef>
              <a:buFont typeface="Wingdings" panose="05000000000000000000" pitchFamily="2" charset="2"/>
              <a:buNone/>
            </a:pPr>
            <a:r>
              <a:rPr lang="en-US" altLang="zh-CN" sz="2000"/>
              <a:t>			gencode(n</a:t>
            </a:r>
            <a:r>
              <a:rPr lang="en-US" altLang="zh-CN" sz="2000" baseline="-25000"/>
              <a:t>1</a:t>
            </a:r>
            <a:r>
              <a:rPr lang="en-US" altLang="zh-CN" sz="2000"/>
              <a:t>);</a:t>
            </a:r>
          </a:p>
          <a:p>
            <a:pPr eaLnBrk="1" hangingPunct="1">
              <a:lnSpc>
                <a:spcPct val="90000"/>
              </a:lnSpc>
              <a:spcBef>
                <a:spcPct val="10000"/>
              </a:spcBef>
              <a:buFont typeface="Wingdings" panose="05000000000000000000" pitchFamily="2" charset="2"/>
              <a:buNone/>
            </a:pPr>
            <a:r>
              <a:rPr lang="en-US" altLang="zh-CN" sz="2000"/>
              <a:t>			print op || name || ‘,’ || top(rstack);</a:t>
            </a:r>
          </a:p>
          <a:p>
            <a:pPr eaLnBrk="1" hangingPunct="1">
              <a:lnSpc>
                <a:spcPct val="90000"/>
              </a:lnSpc>
              <a:spcBef>
                <a:spcPct val="10000"/>
              </a:spcBef>
              <a:buFont typeface="Wingdings" panose="05000000000000000000" pitchFamily="2" charset="2"/>
              <a:buNone/>
            </a:pPr>
            <a:r>
              <a:rPr lang="en-US" altLang="zh-CN" sz="2000"/>
              <a:t>		} else if (1 &lt;= label(n</a:t>
            </a:r>
            <a:r>
              <a:rPr lang="en-US" altLang="zh-CN" sz="2000" baseline="-25000"/>
              <a:t>1</a:t>
            </a:r>
            <a:r>
              <a:rPr lang="en-US" altLang="zh-CN" sz="2000"/>
              <a:t>)&lt;label(n</a:t>
            </a:r>
            <a:r>
              <a:rPr lang="en-US" altLang="zh-CN" sz="2000" baseline="-25000"/>
              <a:t>2</a:t>
            </a:r>
            <a:r>
              <a:rPr lang="en-US" altLang="zh-CN" sz="2000"/>
              <a:t>) and label(n</a:t>
            </a:r>
            <a:r>
              <a:rPr lang="en-US" altLang="zh-CN" sz="2000" baseline="-25000"/>
              <a:t>1</a:t>
            </a:r>
            <a:r>
              <a:rPr lang="en-US" altLang="zh-CN" sz="2000"/>
              <a:t>) &lt; r) {/* </a:t>
            </a:r>
            <a:r>
              <a:rPr lang="zh-CN" altLang="en-US" sz="2000"/>
              <a:t>情况</a:t>
            </a:r>
            <a:r>
              <a:rPr lang="en-US" altLang="zh-CN" sz="2000"/>
              <a:t>2 */</a:t>
            </a:r>
          </a:p>
          <a:p>
            <a:pPr eaLnBrk="1" hangingPunct="1">
              <a:lnSpc>
                <a:spcPct val="90000"/>
              </a:lnSpc>
              <a:spcBef>
                <a:spcPct val="10000"/>
              </a:spcBef>
              <a:buFont typeface="Wingdings" panose="05000000000000000000" pitchFamily="2" charset="2"/>
              <a:buNone/>
            </a:pPr>
            <a:r>
              <a:rPr lang="en-US" altLang="zh-CN" sz="2000"/>
              <a:t>			swap(rstack);</a:t>
            </a:r>
          </a:p>
          <a:p>
            <a:pPr eaLnBrk="1" hangingPunct="1">
              <a:lnSpc>
                <a:spcPct val="90000"/>
              </a:lnSpc>
              <a:spcBef>
                <a:spcPct val="10000"/>
              </a:spcBef>
              <a:buFont typeface="Wingdings" panose="05000000000000000000" pitchFamily="2" charset="2"/>
              <a:buNone/>
            </a:pPr>
            <a:r>
              <a:rPr lang="en-US" altLang="zh-CN" sz="2000"/>
              <a:t>			gencode(n</a:t>
            </a:r>
            <a:r>
              <a:rPr lang="en-US" altLang="zh-CN" sz="2000" baseline="-25000"/>
              <a:t>2</a:t>
            </a:r>
            <a:r>
              <a:rPr lang="en-US" altLang="zh-CN" sz="2000"/>
              <a:t>);</a:t>
            </a:r>
          </a:p>
          <a:p>
            <a:pPr eaLnBrk="1" hangingPunct="1">
              <a:lnSpc>
                <a:spcPct val="90000"/>
              </a:lnSpc>
              <a:spcBef>
                <a:spcPct val="10000"/>
              </a:spcBef>
              <a:buFont typeface="Wingdings" panose="05000000000000000000" pitchFamily="2" charset="2"/>
              <a:buNone/>
            </a:pPr>
            <a:r>
              <a:rPr lang="en-US" altLang="zh-CN" sz="2000"/>
              <a:t>			R = pop(rstack);		/* n</a:t>
            </a:r>
            <a:r>
              <a:rPr lang="en-US" altLang="zh-CN" sz="2000" baseline="-25000"/>
              <a:t>2</a:t>
            </a:r>
            <a:r>
              <a:rPr lang="zh-CN" altLang="en-US" sz="2000"/>
              <a:t>的值在</a:t>
            </a:r>
            <a:r>
              <a:rPr lang="en-US" altLang="zh-CN" sz="2000"/>
              <a:t>R</a:t>
            </a:r>
            <a:r>
              <a:rPr lang="zh-CN" altLang="en-US" sz="2000"/>
              <a:t>中 *</a:t>
            </a:r>
            <a:r>
              <a:rPr lang="en-US" altLang="zh-CN" sz="2000"/>
              <a:t>/</a:t>
            </a:r>
          </a:p>
          <a:p>
            <a:pPr eaLnBrk="1" hangingPunct="1">
              <a:lnSpc>
                <a:spcPct val="90000"/>
              </a:lnSpc>
              <a:spcBef>
                <a:spcPct val="10000"/>
              </a:spcBef>
              <a:buFont typeface="Wingdings" panose="05000000000000000000" pitchFamily="2" charset="2"/>
              <a:buNone/>
            </a:pPr>
            <a:r>
              <a:rPr lang="en-US" altLang="zh-CN" sz="2000"/>
              <a:t>			gencode(n</a:t>
            </a:r>
            <a:r>
              <a:rPr lang="en-US" altLang="zh-CN" sz="2000" baseline="-25000"/>
              <a:t>1</a:t>
            </a:r>
            <a:r>
              <a:rPr lang="en-US" altLang="zh-CN" sz="2000"/>
              <a:t>);</a:t>
            </a:r>
          </a:p>
          <a:p>
            <a:pPr eaLnBrk="1" hangingPunct="1">
              <a:lnSpc>
                <a:spcPct val="90000"/>
              </a:lnSpc>
              <a:spcBef>
                <a:spcPct val="10000"/>
              </a:spcBef>
              <a:buFont typeface="Wingdings" panose="05000000000000000000" pitchFamily="2" charset="2"/>
              <a:buNone/>
            </a:pPr>
            <a:r>
              <a:rPr lang="en-US" altLang="zh-CN" sz="2000"/>
              <a:t>			print op || R || ‘,’ || top(rstack);</a:t>
            </a:r>
          </a:p>
          <a:p>
            <a:pPr eaLnBrk="1" hangingPunct="1">
              <a:lnSpc>
                <a:spcPct val="90000"/>
              </a:lnSpc>
              <a:spcBef>
                <a:spcPct val="10000"/>
              </a:spcBef>
              <a:buFont typeface="Wingdings" panose="05000000000000000000" pitchFamily="2" charset="2"/>
              <a:buNone/>
            </a:pPr>
            <a:r>
              <a:rPr lang="en-US" altLang="zh-CN" sz="2000"/>
              <a:t>			push(rstack, R);</a:t>
            </a:r>
          </a:p>
          <a:p>
            <a:pPr eaLnBrk="1" hangingPunct="1">
              <a:lnSpc>
                <a:spcPct val="90000"/>
              </a:lnSpc>
              <a:spcBef>
                <a:spcPct val="10000"/>
              </a:spcBef>
              <a:buFont typeface="Wingdings" panose="05000000000000000000" pitchFamily="2" charset="2"/>
              <a:buNone/>
            </a:pPr>
            <a:r>
              <a:rPr lang="en-US" altLang="zh-CN" sz="2000"/>
              <a:t>			swap(rstack);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Rectangle 2">
            <a:extLst>
              <a:ext uri="{FF2B5EF4-FFF2-40B4-BE49-F238E27FC236}">
                <a16:creationId xmlns:a16="http://schemas.microsoft.com/office/drawing/2014/main" id="{44481808-3452-4D95-89CD-E3040BD3989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算法（续）</a:t>
            </a:r>
          </a:p>
        </p:txBody>
      </p:sp>
      <p:sp>
        <p:nvSpPr>
          <p:cNvPr id="89091" name="Rectangle 3">
            <a:extLst>
              <a:ext uri="{FF2B5EF4-FFF2-40B4-BE49-F238E27FC236}">
                <a16:creationId xmlns:a16="http://schemas.microsoft.com/office/drawing/2014/main" id="{1B72604A-E1C0-4FAF-88C3-47DB7A3499B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14400" y="1219200"/>
            <a:ext cx="8001000" cy="5638800"/>
          </a:xfrm>
        </p:spPr>
        <p:txBody>
          <a:bodyPr/>
          <a:lstStyle/>
          <a:p>
            <a:pPr eaLnBrk="1" hangingPunct="1">
              <a:lnSpc>
                <a:spcPct val="90000"/>
              </a:lnSpc>
              <a:spcBef>
                <a:spcPct val="10000"/>
              </a:spcBef>
              <a:buFont typeface="Wingdings" panose="05000000000000000000" pitchFamily="2" charset="2"/>
              <a:buNone/>
            </a:pPr>
            <a:r>
              <a:rPr lang="en-US" altLang="zh-CN" sz="2000"/>
              <a:t>		} else if (1 &lt;= label(n</a:t>
            </a:r>
            <a:r>
              <a:rPr lang="en-US" altLang="zh-CN" sz="2000" baseline="-25000"/>
              <a:t>2</a:t>
            </a:r>
            <a:r>
              <a:rPr lang="en-US" altLang="zh-CN" sz="2000"/>
              <a:t>) &lt;= label(n</a:t>
            </a:r>
            <a:r>
              <a:rPr lang="en-US" altLang="zh-CN" sz="2000" baseline="-25000"/>
              <a:t>1</a:t>
            </a:r>
            <a:r>
              <a:rPr lang="en-US" altLang="zh-CN" sz="2000"/>
              <a:t>) and label(n</a:t>
            </a:r>
            <a:r>
              <a:rPr lang="en-US" altLang="zh-CN" sz="2000" baseline="-25000"/>
              <a:t>2</a:t>
            </a:r>
            <a:r>
              <a:rPr lang="en-US" altLang="zh-CN" sz="2000"/>
              <a:t>) &lt; r) {/* </a:t>
            </a:r>
            <a:r>
              <a:rPr lang="zh-CN" altLang="en-US" sz="2000"/>
              <a:t>情况</a:t>
            </a:r>
            <a:r>
              <a:rPr lang="en-US" altLang="zh-CN" sz="2000"/>
              <a:t>3 */</a:t>
            </a:r>
          </a:p>
          <a:p>
            <a:pPr eaLnBrk="1" hangingPunct="1">
              <a:lnSpc>
                <a:spcPct val="90000"/>
              </a:lnSpc>
              <a:spcBef>
                <a:spcPct val="10000"/>
              </a:spcBef>
              <a:buFont typeface="Wingdings" panose="05000000000000000000" pitchFamily="2" charset="2"/>
              <a:buNone/>
            </a:pPr>
            <a:r>
              <a:rPr lang="en-US" altLang="zh-CN" sz="2000"/>
              <a:t>			gencode(n</a:t>
            </a:r>
            <a:r>
              <a:rPr lang="en-US" altLang="zh-CN" sz="2000" baseline="-25000"/>
              <a:t>1</a:t>
            </a:r>
            <a:r>
              <a:rPr lang="en-US" altLang="zh-CN" sz="2000"/>
              <a:t>);</a:t>
            </a:r>
          </a:p>
          <a:p>
            <a:pPr eaLnBrk="1" hangingPunct="1">
              <a:lnSpc>
                <a:spcPct val="90000"/>
              </a:lnSpc>
              <a:spcBef>
                <a:spcPct val="10000"/>
              </a:spcBef>
              <a:buFont typeface="Wingdings" panose="05000000000000000000" pitchFamily="2" charset="2"/>
              <a:buNone/>
            </a:pPr>
            <a:r>
              <a:rPr lang="en-US" altLang="zh-CN" sz="2000"/>
              <a:t>			R = pop(rstack);		 /* n</a:t>
            </a:r>
            <a:r>
              <a:rPr lang="en-US" altLang="zh-CN" sz="2000" baseline="-25000"/>
              <a:t>1</a:t>
            </a:r>
            <a:r>
              <a:rPr lang="zh-CN" altLang="en-US" sz="2000"/>
              <a:t>的值在</a:t>
            </a:r>
            <a:r>
              <a:rPr lang="en-US" altLang="zh-CN" sz="2000"/>
              <a:t>R</a:t>
            </a:r>
            <a:r>
              <a:rPr lang="zh-CN" altLang="en-US" sz="2000"/>
              <a:t>中 *</a:t>
            </a:r>
            <a:r>
              <a:rPr lang="en-US" altLang="zh-CN" sz="2000"/>
              <a:t>/</a:t>
            </a:r>
          </a:p>
          <a:p>
            <a:pPr eaLnBrk="1" hangingPunct="1">
              <a:lnSpc>
                <a:spcPct val="90000"/>
              </a:lnSpc>
              <a:spcBef>
                <a:spcPct val="10000"/>
              </a:spcBef>
              <a:buFont typeface="Wingdings" panose="05000000000000000000" pitchFamily="2" charset="2"/>
              <a:buNone/>
            </a:pPr>
            <a:r>
              <a:rPr lang="en-US" altLang="zh-CN" sz="2000"/>
              <a:t>			gencode(n</a:t>
            </a:r>
            <a:r>
              <a:rPr lang="en-US" altLang="zh-CN" sz="2000" baseline="-25000"/>
              <a:t>2</a:t>
            </a:r>
            <a:r>
              <a:rPr lang="en-US" altLang="zh-CN" sz="2000"/>
              <a:t>);</a:t>
            </a:r>
          </a:p>
          <a:p>
            <a:pPr eaLnBrk="1" hangingPunct="1">
              <a:lnSpc>
                <a:spcPct val="90000"/>
              </a:lnSpc>
              <a:spcBef>
                <a:spcPct val="10000"/>
              </a:spcBef>
              <a:buFont typeface="Wingdings" panose="05000000000000000000" pitchFamily="2" charset="2"/>
              <a:buNone/>
            </a:pPr>
            <a:r>
              <a:rPr lang="en-US" altLang="zh-CN" sz="2000"/>
              <a:t>			print op || top(rstack) || ‘,’ || R;</a:t>
            </a:r>
          </a:p>
          <a:p>
            <a:pPr eaLnBrk="1" hangingPunct="1">
              <a:lnSpc>
                <a:spcPct val="90000"/>
              </a:lnSpc>
              <a:spcBef>
                <a:spcPct val="10000"/>
              </a:spcBef>
              <a:buFont typeface="Wingdings" panose="05000000000000000000" pitchFamily="2" charset="2"/>
              <a:buNone/>
            </a:pPr>
            <a:r>
              <a:rPr lang="en-US" altLang="zh-CN" sz="2000"/>
              <a:t>			push(rstack, R);</a:t>
            </a:r>
          </a:p>
          <a:p>
            <a:pPr eaLnBrk="1" hangingPunct="1">
              <a:lnSpc>
                <a:spcPct val="90000"/>
              </a:lnSpc>
              <a:spcBef>
                <a:spcPct val="10000"/>
              </a:spcBef>
              <a:buFont typeface="Wingdings" panose="05000000000000000000" pitchFamily="2" charset="2"/>
              <a:buNone/>
            </a:pPr>
            <a:r>
              <a:rPr lang="en-US" altLang="zh-CN" sz="2000"/>
              <a:t>		} else {/* </a:t>
            </a:r>
            <a:r>
              <a:rPr lang="zh-CN" altLang="en-US" sz="2000"/>
              <a:t>情况</a:t>
            </a:r>
            <a:r>
              <a:rPr lang="en-US" altLang="zh-CN" sz="2000"/>
              <a:t>4 */</a:t>
            </a:r>
          </a:p>
          <a:p>
            <a:pPr eaLnBrk="1" hangingPunct="1">
              <a:lnSpc>
                <a:spcPct val="90000"/>
              </a:lnSpc>
              <a:spcBef>
                <a:spcPct val="10000"/>
              </a:spcBef>
              <a:buFont typeface="Wingdings" panose="05000000000000000000" pitchFamily="2" charset="2"/>
              <a:buNone/>
            </a:pPr>
            <a:r>
              <a:rPr lang="en-US" altLang="zh-CN" sz="2000"/>
              <a:t>			gencode(n</a:t>
            </a:r>
            <a:r>
              <a:rPr lang="en-US" altLang="zh-CN" sz="2000" baseline="-25000"/>
              <a:t>2</a:t>
            </a:r>
            <a:r>
              <a:rPr lang="en-US" altLang="zh-CN" sz="2000"/>
              <a:t>);</a:t>
            </a:r>
          </a:p>
          <a:p>
            <a:pPr eaLnBrk="1" hangingPunct="1">
              <a:lnSpc>
                <a:spcPct val="90000"/>
              </a:lnSpc>
              <a:spcBef>
                <a:spcPct val="10000"/>
              </a:spcBef>
              <a:buFont typeface="Wingdings" panose="05000000000000000000" pitchFamily="2" charset="2"/>
              <a:buNone/>
            </a:pPr>
            <a:r>
              <a:rPr lang="en-US" altLang="zh-CN" sz="2000"/>
              <a:t>			T = pop(tstack);</a:t>
            </a:r>
          </a:p>
          <a:p>
            <a:pPr eaLnBrk="1" hangingPunct="1">
              <a:lnSpc>
                <a:spcPct val="90000"/>
              </a:lnSpc>
              <a:spcBef>
                <a:spcPct val="10000"/>
              </a:spcBef>
              <a:buFont typeface="Wingdings" panose="05000000000000000000" pitchFamily="2" charset="2"/>
              <a:buNone/>
            </a:pPr>
            <a:r>
              <a:rPr lang="en-US" altLang="zh-CN" sz="2000"/>
              <a:t>			print ‘MOV’ || top(rstack) || ‘,’ || T;</a:t>
            </a:r>
          </a:p>
          <a:p>
            <a:pPr eaLnBrk="1" hangingPunct="1">
              <a:lnSpc>
                <a:spcPct val="90000"/>
              </a:lnSpc>
              <a:spcBef>
                <a:spcPct val="10000"/>
              </a:spcBef>
              <a:buFont typeface="Wingdings" panose="05000000000000000000" pitchFamily="2" charset="2"/>
              <a:buNone/>
            </a:pPr>
            <a:r>
              <a:rPr lang="en-US" altLang="zh-CN" sz="2000"/>
              <a:t>			gencode(n</a:t>
            </a:r>
            <a:r>
              <a:rPr lang="en-US" altLang="zh-CN" sz="2000" baseline="-25000"/>
              <a:t>1</a:t>
            </a:r>
            <a:r>
              <a:rPr lang="en-US" altLang="zh-CN" sz="2000"/>
              <a:t>);</a:t>
            </a:r>
          </a:p>
          <a:p>
            <a:pPr eaLnBrk="1" hangingPunct="1">
              <a:lnSpc>
                <a:spcPct val="90000"/>
              </a:lnSpc>
              <a:spcBef>
                <a:spcPct val="10000"/>
              </a:spcBef>
              <a:buFont typeface="Wingdings" panose="05000000000000000000" pitchFamily="2" charset="2"/>
              <a:buNone/>
            </a:pPr>
            <a:r>
              <a:rPr lang="en-US" altLang="zh-CN" sz="2000"/>
              <a:t>			push(tstack, T);</a:t>
            </a:r>
          </a:p>
          <a:p>
            <a:pPr eaLnBrk="1" hangingPunct="1">
              <a:lnSpc>
                <a:spcPct val="90000"/>
              </a:lnSpc>
              <a:spcBef>
                <a:spcPct val="10000"/>
              </a:spcBef>
              <a:buFont typeface="Wingdings" panose="05000000000000000000" pitchFamily="2" charset="2"/>
              <a:buNone/>
            </a:pPr>
            <a:r>
              <a:rPr lang="en-US" altLang="zh-CN" sz="2000"/>
              <a:t>			print op || T || ‘,’ || top(rstack);</a:t>
            </a:r>
          </a:p>
          <a:p>
            <a:pPr eaLnBrk="1" hangingPunct="1">
              <a:lnSpc>
                <a:spcPct val="90000"/>
              </a:lnSpc>
              <a:spcBef>
                <a:spcPct val="10000"/>
              </a:spcBef>
              <a:buFont typeface="Wingdings" panose="05000000000000000000" pitchFamily="2" charset="2"/>
              <a:buNone/>
            </a:pPr>
            <a:r>
              <a:rPr lang="en-US" altLang="zh-CN" sz="2000"/>
              <a:t>		}</a:t>
            </a:r>
          </a:p>
          <a:p>
            <a:pPr eaLnBrk="1" hangingPunct="1">
              <a:lnSpc>
                <a:spcPct val="90000"/>
              </a:lnSpc>
              <a:spcBef>
                <a:spcPct val="10000"/>
              </a:spcBef>
              <a:buFont typeface="Wingdings" panose="05000000000000000000" pitchFamily="2" charset="2"/>
              <a:buNone/>
            </a:pPr>
            <a:r>
              <a:rPr lang="en-US" altLang="zh-CN" sz="2000"/>
              <a:t>	}</a:t>
            </a:r>
          </a:p>
          <a:p>
            <a:pPr eaLnBrk="1" hangingPunct="1">
              <a:lnSpc>
                <a:spcPct val="90000"/>
              </a:lnSpc>
              <a:spcBef>
                <a:spcPct val="10000"/>
              </a:spcBef>
              <a:buFont typeface="Wingdings" panose="05000000000000000000" pitchFamily="2" charset="2"/>
              <a:buNone/>
            </a:pPr>
            <a:r>
              <a:rPr lang="en-US" altLang="zh-CN" sz="2000"/>
              <a:t>}</a:t>
            </a: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114" name="Rectangle 2">
            <a:extLst>
              <a:ext uri="{FF2B5EF4-FFF2-40B4-BE49-F238E27FC236}">
                <a16:creationId xmlns:a16="http://schemas.microsoft.com/office/drawing/2014/main" id="{0065FF27-815A-406E-A8B5-78155E86D7B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例</a:t>
            </a:r>
            <a:r>
              <a:rPr lang="en-US" altLang="zh-CN"/>
              <a:t>9.13</a:t>
            </a:r>
          </a:p>
        </p:txBody>
      </p:sp>
      <p:sp>
        <p:nvSpPr>
          <p:cNvPr id="90115" name="Rectangle 3">
            <a:extLst>
              <a:ext uri="{FF2B5EF4-FFF2-40B4-BE49-F238E27FC236}">
                <a16:creationId xmlns:a16="http://schemas.microsoft.com/office/drawing/2014/main" id="{C2DC8E33-720B-4A9F-A891-5881F3A3E08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228600" y="1371600"/>
            <a:ext cx="5105400" cy="5334000"/>
          </a:xfrm>
        </p:spPr>
        <p:txBody>
          <a:bodyPr/>
          <a:lstStyle/>
          <a:p>
            <a:pPr eaLnBrk="1" hangingPunct="1">
              <a:lnSpc>
                <a:spcPct val="90000"/>
              </a:lnSpc>
              <a:spcBef>
                <a:spcPct val="10000"/>
              </a:spcBef>
              <a:buFont typeface="Wingdings" panose="05000000000000000000" pitchFamily="2" charset="2"/>
              <a:buNone/>
            </a:pPr>
            <a:r>
              <a:rPr lang="en-US" altLang="zh-CN" sz="2400"/>
              <a:t>gencode(t</a:t>
            </a:r>
            <a:r>
              <a:rPr lang="en-US" altLang="zh-CN" sz="2400" baseline="-25000"/>
              <a:t>4</a:t>
            </a:r>
            <a:r>
              <a:rPr lang="en-US" altLang="zh-CN" sz="2400"/>
              <a:t>)     [R</a:t>
            </a:r>
            <a:r>
              <a:rPr lang="en-US" altLang="zh-CN" sz="2400" baseline="-25000"/>
              <a:t>1</a:t>
            </a:r>
            <a:r>
              <a:rPr lang="en-US" altLang="zh-CN" sz="2400"/>
              <a:t> R</a:t>
            </a:r>
            <a:r>
              <a:rPr lang="en-US" altLang="zh-CN" sz="2400" baseline="-25000"/>
              <a:t>0</a:t>
            </a:r>
            <a:r>
              <a:rPr lang="en-US" altLang="zh-CN" sz="2400"/>
              <a:t>]     </a:t>
            </a:r>
            <a:r>
              <a:rPr lang="zh-CN" altLang="en-US" sz="2400"/>
              <a:t>情况</a:t>
            </a:r>
            <a:r>
              <a:rPr lang="en-US" altLang="zh-CN" sz="2400"/>
              <a:t>2</a:t>
            </a:r>
          </a:p>
          <a:p>
            <a:pPr eaLnBrk="1" hangingPunct="1">
              <a:lnSpc>
                <a:spcPct val="90000"/>
              </a:lnSpc>
              <a:spcBef>
                <a:spcPct val="10000"/>
              </a:spcBef>
              <a:buFont typeface="Wingdings" panose="05000000000000000000" pitchFamily="2" charset="2"/>
              <a:buNone/>
            </a:pPr>
            <a:r>
              <a:rPr lang="en-US" altLang="zh-CN" sz="2400"/>
              <a:t>  gencode(t</a:t>
            </a:r>
            <a:r>
              <a:rPr lang="en-US" altLang="zh-CN" sz="2400" baseline="-25000"/>
              <a:t>3</a:t>
            </a:r>
            <a:r>
              <a:rPr lang="en-US" altLang="zh-CN" sz="2400"/>
              <a:t>)     [R</a:t>
            </a:r>
            <a:r>
              <a:rPr lang="en-US" altLang="zh-CN" sz="2400" baseline="-25000"/>
              <a:t>0</a:t>
            </a:r>
            <a:r>
              <a:rPr lang="en-US" altLang="zh-CN" sz="2400"/>
              <a:t> R</a:t>
            </a:r>
            <a:r>
              <a:rPr lang="en-US" altLang="zh-CN" sz="2400" baseline="-25000"/>
              <a:t>1</a:t>
            </a:r>
            <a:r>
              <a:rPr lang="en-US" altLang="zh-CN" sz="2400"/>
              <a:t>]     </a:t>
            </a:r>
            <a:r>
              <a:rPr lang="zh-CN" altLang="en-US" sz="2400"/>
              <a:t>情况</a:t>
            </a:r>
            <a:r>
              <a:rPr lang="en-US" altLang="zh-CN" sz="2400"/>
              <a:t>3</a:t>
            </a:r>
          </a:p>
          <a:p>
            <a:pPr eaLnBrk="1" hangingPunct="1">
              <a:lnSpc>
                <a:spcPct val="90000"/>
              </a:lnSpc>
              <a:spcBef>
                <a:spcPct val="10000"/>
              </a:spcBef>
              <a:buFont typeface="Wingdings" panose="05000000000000000000" pitchFamily="2" charset="2"/>
              <a:buNone/>
            </a:pPr>
            <a:r>
              <a:rPr lang="en-US" altLang="zh-CN" sz="2400"/>
              <a:t>    gencode(e)     [R</a:t>
            </a:r>
            <a:r>
              <a:rPr lang="en-US" altLang="zh-CN" sz="2400" baseline="-25000"/>
              <a:t>0</a:t>
            </a:r>
            <a:r>
              <a:rPr lang="en-US" altLang="zh-CN" sz="2400"/>
              <a:t> R</a:t>
            </a:r>
            <a:r>
              <a:rPr lang="en-US" altLang="zh-CN" sz="2400" baseline="-25000"/>
              <a:t>1</a:t>
            </a:r>
            <a:r>
              <a:rPr lang="en-US" altLang="zh-CN" sz="2400"/>
              <a:t>]     </a:t>
            </a:r>
            <a:r>
              <a:rPr lang="zh-CN" altLang="en-US" sz="2400"/>
              <a:t>情况</a:t>
            </a:r>
            <a:r>
              <a:rPr lang="en-US" altLang="zh-CN" sz="2400"/>
              <a:t>0</a:t>
            </a:r>
          </a:p>
          <a:p>
            <a:pPr eaLnBrk="1" hangingPunct="1">
              <a:lnSpc>
                <a:spcPct val="90000"/>
              </a:lnSpc>
              <a:spcBef>
                <a:spcPct val="10000"/>
              </a:spcBef>
              <a:buFont typeface="Wingdings" panose="05000000000000000000" pitchFamily="2" charset="2"/>
              <a:buNone/>
            </a:pPr>
            <a:r>
              <a:rPr lang="en-US" altLang="zh-CN" sz="2400"/>
              <a:t>		print MOV e, R</a:t>
            </a:r>
            <a:r>
              <a:rPr lang="en-US" altLang="zh-CN" sz="2400" baseline="-25000"/>
              <a:t>1</a:t>
            </a:r>
            <a:endParaRPr lang="en-US" altLang="zh-CN" sz="2400"/>
          </a:p>
          <a:p>
            <a:pPr eaLnBrk="1" hangingPunct="1">
              <a:lnSpc>
                <a:spcPct val="90000"/>
              </a:lnSpc>
              <a:spcBef>
                <a:spcPct val="10000"/>
              </a:spcBef>
              <a:buFont typeface="Wingdings" panose="05000000000000000000" pitchFamily="2" charset="2"/>
              <a:buNone/>
            </a:pPr>
            <a:r>
              <a:rPr lang="en-US" altLang="zh-CN" sz="2400"/>
              <a:t>    gencode(t</a:t>
            </a:r>
            <a:r>
              <a:rPr lang="en-US" altLang="zh-CN" sz="2400" baseline="-25000"/>
              <a:t>2</a:t>
            </a:r>
            <a:r>
              <a:rPr lang="en-US" altLang="zh-CN" sz="2400"/>
              <a:t>)     [R</a:t>
            </a:r>
            <a:r>
              <a:rPr lang="en-US" altLang="zh-CN" sz="2400" baseline="-25000"/>
              <a:t>0</a:t>
            </a:r>
            <a:r>
              <a:rPr lang="en-US" altLang="zh-CN" sz="2400"/>
              <a:t>]     </a:t>
            </a:r>
            <a:r>
              <a:rPr lang="zh-CN" altLang="en-US" sz="2400"/>
              <a:t>情况</a:t>
            </a:r>
            <a:r>
              <a:rPr lang="en-US" altLang="zh-CN" sz="2400"/>
              <a:t>1</a:t>
            </a:r>
          </a:p>
          <a:p>
            <a:pPr eaLnBrk="1" hangingPunct="1">
              <a:lnSpc>
                <a:spcPct val="90000"/>
              </a:lnSpc>
              <a:spcBef>
                <a:spcPct val="10000"/>
              </a:spcBef>
              <a:buFont typeface="Wingdings" panose="05000000000000000000" pitchFamily="2" charset="2"/>
              <a:buNone/>
            </a:pPr>
            <a:r>
              <a:rPr lang="en-US" altLang="zh-CN" sz="2400"/>
              <a:t>      gencode(c)     [R</a:t>
            </a:r>
            <a:r>
              <a:rPr lang="en-US" altLang="zh-CN" sz="2400" baseline="-25000"/>
              <a:t>0</a:t>
            </a:r>
            <a:r>
              <a:rPr lang="en-US" altLang="zh-CN" sz="2400"/>
              <a:t>]     </a:t>
            </a:r>
            <a:r>
              <a:rPr lang="zh-CN" altLang="en-US" sz="2400"/>
              <a:t>情况</a:t>
            </a:r>
            <a:r>
              <a:rPr lang="en-US" altLang="zh-CN" sz="2400"/>
              <a:t>0</a:t>
            </a:r>
          </a:p>
          <a:p>
            <a:pPr eaLnBrk="1" hangingPunct="1">
              <a:lnSpc>
                <a:spcPct val="90000"/>
              </a:lnSpc>
              <a:spcBef>
                <a:spcPct val="10000"/>
              </a:spcBef>
              <a:buFont typeface="Wingdings" panose="05000000000000000000" pitchFamily="2" charset="2"/>
              <a:buNone/>
            </a:pPr>
            <a:r>
              <a:rPr lang="en-US" altLang="zh-CN" sz="2400"/>
              <a:t>		print MOV c, R</a:t>
            </a:r>
            <a:r>
              <a:rPr lang="en-US" altLang="zh-CN" sz="2400" baseline="-25000"/>
              <a:t>0</a:t>
            </a:r>
            <a:endParaRPr lang="en-US" altLang="zh-CN" sz="2400"/>
          </a:p>
          <a:p>
            <a:pPr eaLnBrk="1" hangingPunct="1">
              <a:lnSpc>
                <a:spcPct val="90000"/>
              </a:lnSpc>
              <a:spcBef>
                <a:spcPct val="10000"/>
              </a:spcBef>
              <a:buFont typeface="Wingdings" panose="05000000000000000000" pitchFamily="2" charset="2"/>
              <a:buNone/>
            </a:pPr>
            <a:r>
              <a:rPr lang="en-US" altLang="zh-CN" sz="2400"/>
              <a:t>      print ADD d, R</a:t>
            </a:r>
            <a:r>
              <a:rPr lang="en-US" altLang="zh-CN" sz="2400" baseline="-25000"/>
              <a:t>0</a:t>
            </a:r>
            <a:endParaRPr lang="en-US" altLang="zh-CN" sz="2400"/>
          </a:p>
          <a:p>
            <a:pPr eaLnBrk="1" hangingPunct="1">
              <a:lnSpc>
                <a:spcPct val="90000"/>
              </a:lnSpc>
              <a:spcBef>
                <a:spcPct val="10000"/>
              </a:spcBef>
              <a:buFont typeface="Wingdings" panose="05000000000000000000" pitchFamily="2" charset="2"/>
              <a:buNone/>
            </a:pPr>
            <a:r>
              <a:rPr lang="en-US" altLang="zh-CN" sz="2400"/>
              <a:t>    print SUB R</a:t>
            </a:r>
            <a:r>
              <a:rPr lang="en-US" altLang="zh-CN" sz="2400" baseline="-25000"/>
              <a:t>0</a:t>
            </a:r>
            <a:r>
              <a:rPr lang="en-US" altLang="zh-CN" sz="2400"/>
              <a:t>, R</a:t>
            </a:r>
            <a:r>
              <a:rPr lang="en-US" altLang="zh-CN" sz="2400" baseline="-25000"/>
              <a:t>1</a:t>
            </a:r>
            <a:endParaRPr lang="en-US" altLang="zh-CN" sz="2400"/>
          </a:p>
          <a:p>
            <a:pPr eaLnBrk="1" hangingPunct="1">
              <a:lnSpc>
                <a:spcPct val="90000"/>
              </a:lnSpc>
              <a:spcBef>
                <a:spcPct val="10000"/>
              </a:spcBef>
              <a:buFont typeface="Wingdings" panose="05000000000000000000" pitchFamily="2" charset="2"/>
              <a:buNone/>
            </a:pPr>
            <a:r>
              <a:rPr lang="en-US" altLang="zh-CN" sz="2400"/>
              <a:t>  gencode(t</a:t>
            </a:r>
            <a:r>
              <a:rPr lang="en-US" altLang="zh-CN" sz="2400" baseline="-25000"/>
              <a:t>1</a:t>
            </a:r>
            <a:r>
              <a:rPr lang="en-US" altLang="zh-CN" sz="2400"/>
              <a:t>)     [R</a:t>
            </a:r>
            <a:r>
              <a:rPr lang="en-US" altLang="zh-CN" sz="2400" baseline="-25000"/>
              <a:t>0</a:t>
            </a:r>
            <a:r>
              <a:rPr lang="en-US" altLang="zh-CN" sz="2400"/>
              <a:t>]     </a:t>
            </a:r>
            <a:r>
              <a:rPr lang="zh-CN" altLang="en-US" sz="2400"/>
              <a:t>情况</a:t>
            </a:r>
            <a:r>
              <a:rPr lang="en-US" altLang="zh-CN" sz="2400"/>
              <a:t>1</a:t>
            </a:r>
          </a:p>
          <a:p>
            <a:pPr eaLnBrk="1" hangingPunct="1">
              <a:lnSpc>
                <a:spcPct val="90000"/>
              </a:lnSpc>
              <a:spcBef>
                <a:spcPct val="10000"/>
              </a:spcBef>
              <a:buFont typeface="Wingdings" panose="05000000000000000000" pitchFamily="2" charset="2"/>
              <a:buNone/>
            </a:pPr>
            <a:r>
              <a:rPr lang="en-US" altLang="zh-CN" sz="2400"/>
              <a:t>    gencode(a)     [R</a:t>
            </a:r>
            <a:r>
              <a:rPr lang="en-US" altLang="zh-CN" sz="2400" baseline="-25000"/>
              <a:t>0</a:t>
            </a:r>
            <a:r>
              <a:rPr lang="en-US" altLang="zh-CN" sz="2400"/>
              <a:t>]     </a:t>
            </a:r>
            <a:r>
              <a:rPr lang="zh-CN" altLang="en-US" sz="2400"/>
              <a:t>情况</a:t>
            </a:r>
            <a:r>
              <a:rPr lang="en-US" altLang="zh-CN" sz="2400"/>
              <a:t>0</a:t>
            </a:r>
          </a:p>
          <a:p>
            <a:pPr eaLnBrk="1" hangingPunct="1">
              <a:lnSpc>
                <a:spcPct val="90000"/>
              </a:lnSpc>
              <a:spcBef>
                <a:spcPct val="10000"/>
              </a:spcBef>
              <a:buFont typeface="Wingdings" panose="05000000000000000000" pitchFamily="2" charset="2"/>
              <a:buNone/>
            </a:pPr>
            <a:r>
              <a:rPr lang="en-US" altLang="zh-CN" sz="2400"/>
              <a:t>		print MOV a, R</a:t>
            </a:r>
            <a:r>
              <a:rPr lang="en-US" altLang="zh-CN" sz="2400" baseline="-25000"/>
              <a:t>0</a:t>
            </a:r>
            <a:endParaRPr lang="en-US" altLang="zh-CN" sz="2400"/>
          </a:p>
          <a:p>
            <a:pPr eaLnBrk="1" hangingPunct="1">
              <a:lnSpc>
                <a:spcPct val="90000"/>
              </a:lnSpc>
              <a:spcBef>
                <a:spcPct val="10000"/>
              </a:spcBef>
              <a:buFont typeface="Wingdings" panose="05000000000000000000" pitchFamily="2" charset="2"/>
              <a:buNone/>
            </a:pPr>
            <a:r>
              <a:rPr lang="en-US" altLang="zh-CN" sz="2400"/>
              <a:t>    print ADD b, R</a:t>
            </a:r>
            <a:r>
              <a:rPr lang="en-US" altLang="zh-CN" sz="2400" baseline="-25000"/>
              <a:t>0</a:t>
            </a:r>
            <a:endParaRPr lang="en-US" altLang="zh-CN" sz="2400"/>
          </a:p>
          <a:p>
            <a:pPr eaLnBrk="1" hangingPunct="1">
              <a:lnSpc>
                <a:spcPct val="90000"/>
              </a:lnSpc>
              <a:spcBef>
                <a:spcPct val="10000"/>
              </a:spcBef>
              <a:buFont typeface="Wingdings" panose="05000000000000000000" pitchFamily="2" charset="2"/>
              <a:buNone/>
            </a:pPr>
            <a:r>
              <a:rPr lang="en-US" altLang="zh-CN" sz="2400"/>
              <a:t>  print SUB R</a:t>
            </a:r>
            <a:r>
              <a:rPr lang="en-US" altLang="zh-CN" sz="2400" baseline="-25000"/>
              <a:t>1</a:t>
            </a:r>
            <a:r>
              <a:rPr lang="en-US" altLang="zh-CN" sz="2400"/>
              <a:t>, R</a:t>
            </a:r>
            <a:r>
              <a:rPr lang="en-US" altLang="zh-CN" sz="2400" baseline="-25000"/>
              <a:t>0</a:t>
            </a:r>
            <a:endParaRPr lang="en-US" altLang="zh-CN" sz="2400"/>
          </a:p>
        </p:txBody>
      </p:sp>
      <p:pic>
        <p:nvPicPr>
          <p:cNvPr id="90116" name="Picture 4" descr="C:\Documents and Settings\Administrator\My Documents\wg\编译原理\jiangyi\figures\9\label.gif">
            <a:extLst>
              <a:ext uri="{FF2B5EF4-FFF2-40B4-BE49-F238E27FC236}">
                <a16:creationId xmlns:a16="http://schemas.microsoft.com/office/drawing/2014/main" id="{A333F5E0-4474-4A15-881D-216B323F212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60975" y="1295400"/>
            <a:ext cx="3883025" cy="21891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138" name="Rectangle 2">
            <a:extLst>
              <a:ext uri="{FF2B5EF4-FFF2-40B4-BE49-F238E27FC236}">
                <a16:creationId xmlns:a16="http://schemas.microsoft.com/office/drawing/2014/main" id="{31B47234-546F-4368-AF04-A5CC5A9A086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9.10.6  </a:t>
            </a:r>
            <a:r>
              <a:rPr lang="zh-CN" altLang="en-US"/>
              <a:t>多寄存器运算</a:t>
            </a:r>
          </a:p>
        </p:txBody>
      </p:sp>
      <p:sp>
        <p:nvSpPr>
          <p:cNvPr id="91139" name="Rectangle 3">
            <a:extLst>
              <a:ext uri="{FF2B5EF4-FFF2-40B4-BE49-F238E27FC236}">
                <a16:creationId xmlns:a16="http://schemas.microsoft.com/office/drawing/2014/main" id="{9DF6BAAE-88B9-43F7-A478-95699F6E5EB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乘、除、函数调用</a:t>
            </a:r>
          </a:p>
          <a:p>
            <a:pPr eaLnBrk="1" hangingPunct="1"/>
            <a:r>
              <a:rPr lang="zh-CN" altLang="en-US"/>
              <a:t>修改标记算法</a:t>
            </a:r>
          </a:p>
          <a:p>
            <a:pPr eaLnBrk="1" hangingPunct="1"/>
            <a:endParaRPr lang="zh-CN" altLang="en-US"/>
          </a:p>
          <a:p>
            <a:pPr eaLnBrk="1" hangingPunct="1"/>
            <a:endParaRPr lang="zh-CN" altLang="en-US"/>
          </a:p>
          <a:p>
            <a:pPr eaLnBrk="1" hangingPunct="1"/>
            <a:r>
              <a:rPr lang="zh-CN" altLang="en-US"/>
              <a:t>“寄存器对”情况</a:t>
            </a:r>
          </a:p>
          <a:p>
            <a:pPr lvl="1" eaLnBrk="1" hangingPunct="1"/>
            <a:r>
              <a:rPr lang="zh-CN" altLang="en-US"/>
              <a:t>避免使用</a:t>
            </a:r>
            <a:r>
              <a:rPr lang="en-US" altLang="zh-CN"/>
              <a:t>swap——</a:t>
            </a:r>
            <a:r>
              <a:rPr lang="zh-CN" altLang="en-US"/>
              <a:t>情况</a:t>
            </a:r>
            <a:r>
              <a:rPr lang="en-US" altLang="zh-CN"/>
              <a:t>2</a:t>
            </a:r>
          </a:p>
        </p:txBody>
      </p:sp>
      <p:graphicFrame>
        <p:nvGraphicFramePr>
          <p:cNvPr id="91140" name="Object 4">
            <a:extLst>
              <a:ext uri="{FF2B5EF4-FFF2-40B4-BE49-F238E27FC236}">
                <a16:creationId xmlns:a16="http://schemas.microsoft.com/office/drawing/2014/main" id="{AE29C0DF-C079-40BB-A2B6-77B59FC1CFC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133600" y="2590800"/>
          <a:ext cx="5407025" cy="11731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1146" name="Equation" r:id="rId3" imgW="2222500" imgH="482600" progId="Equation.3">
                  <p:embed/>
                </p:oleObj>
              </mc:Choice>
              <mc:Fallback>
                <p:oleObj name="Equation" r:id="rId3" imgW="2222500" imgH="482600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33600" y="2590800"/>
                        <a:ext cx="5407025" cy="11731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62" name="Rectangle 2">
            <a:extLst>
              <a:ext uri="{FF2B5EF4-FFF2-40B4-BE49-F238E27FC236}">
                <a16:creationId xmlns:a16="http://schemas.microsoft.com/office/drawing/2014/main" id="{8CE4BB2F-A540-482D-BB12-9E0632DC361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9.10.7  </a:t>
            </a:r>
            <a:r>
              <a:rPr lang="zh-CN" altLang="en-US"/>
              <a:t>利用代数特性优化</a:t>
            </a:r>
          </a:p>
        </p:txBody>
      </p:sp>
      <p:pic>
        <p:nvPicPr>
          <p:cNvPr id="92163" name="Picture 4" descr="C:\Documents and Settings\Administrator\My Documents\wg\编译原理\jiangyi\figures\9\algebra.gif">
            <a:extLst>
              <a:ext uri="{FF2B5EF4-FFF2-40B4-BE49-F238E27FC236}">
                <a16:creationId xmlns:a16="http://schemas.microsoft.com/office/drawing/2014/main" id="{57A834E0-4C5B-487D-8C16-FDB4CA09AB2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33600" y="1447800"/>
            <a:ext cx="5676900" cy="1752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2164" name="Picture 5" descr="C:\Documents and Settings\Administrator\My Documents\wg\编译原理\jiangyi\figures\9\algebra1.gif">
            <a:extLst>
              <a:ext uri="{FF2B5EF4-FFF2-40B4-BE49-F238E27FC236}">
                <a16:creationId xmlns:a16="http://schemas.microsoft.com/office/drawing/2014/main" id="{DEBA1F07-5A2C-4617-99C3-B9033E06C5B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19200" y="3352800"/>
            <a:ext cx="7099300" cy="3340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86" name="Rectangle 2">
            <a:extLst>
              <a:ext uri="{FF2B5EF4-FFF2-40B4-BE49-F238E27FC236}">
                <a16:creationId xmlns:a16="http://schemas.microsoft.com/office/drawing/2014/main" id="{3D554367-98AE-4542-83D9-BE03A5721B8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9.10.8  </a:t>
            </a:r>
            <a:r>
              <a:rPr lang="zh-CN" altLang="en-US"/>
              <a:t>公共子表达式的处理</a:t>
            </a:r>
          </a:p>
        </p:txBody>
      </p:sp>
      <p:sp>
        <p:nvSpPr>
          <p:cNvPr id="93187" name="Rectangle 3">
            <a:extLst>
              <a:ext uri="{FF2B5EF4-FFF2-40B4-BE49-F238E27FC236}">
                <a16:creationId xmlns:a16="http://schemas.microsoft.com/office/drawing/2014/main" id="{B78C18B5-96F0-4E47-84FB-953DDC66FDD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NP-</a:t>
            </a:r>
            <a:r>
              <a:rPr lang="zh-CN" altLang="en-US"/>
              <a:t>完全问题</a:t>
            </a:r>
          </a:p>
          <a:p>
            <a:pPr eaLnBrk="1" hangingPunct="1"/>
            <a:r>
              <a:rPr lang="en-US" altLang="zh-CN"/>
              <a:t>dag</a:t>
            </a:r>
            <a:r>
              <a:rPr lang="en-US" altLang="zh-CN">
                <a:sym typeface="Wingdings" panose="05000000000000000000" pitchFamily="2" charset="2"/>
              </a:rPr>
              <a:t></a:t>
            </a:r>
            <a:r>
              <a:rPr lang="zh-CN" altLang="en-US">
                <a:sym typeface="Wingdings" panose="05000000000000000000" pitchFamily="2" charset="2"/>
              </a:rPr>
              <a:t>森林，只有叶节点可为共享节点</a:t>
            </a:r>
            <a:endParaRPr lang="zh-CN" altLang="en-US"/>
          </a:p>
        </p:txBody>
      </p:sp>
      <p:pic>
        <p:nvPicPr>
          <p:cNvPr id="93188" name="Picture 4" descr="C:\Documents and Settings\Administrator\My Documents\wg\编译原理\jiangyi\figures\9\order.gif">
            <a:extLst>
              <a:ext uri="{FF2B5EF4-FFF2-40B4-BE49-F238E27FC236}">
                <a16:creationId xmlns:a16="http://schemas.microsoft.com/office/drawing/2014/main" id="{D91E6E7C-B0EF-41A3-BDD6-E1D9BDD2926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600" y="2867025"/>
            <a:ext cx="4044950" cy="2543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3189" name="Picture 5" descr="C:\Documents and Settings\Administrator\My Documents\wg\编译原理\jiangyi\figures\9\common.gif">
            <a:extLst>
              <a:ext uri="{FF2B5EF4-FFF2-40B4-BE49-F238E27FC236}">
                <a16:creationId xmlns:a16="http://schemas.microsoft.com/office/drawing/2014/main" id="{8490256E-64C9-49C1-8780-21A0D649E78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53000" y="2819400"/>
            <a:ext cx="3914775" cy="2397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3190" name="AutoShape 6">
            <a:extLst>
              <a:ext uri="{FF2B5EF4-FFF2-40B4-BE49-F238E27FC236}">
                <a16:creationId xmlns:a16="http://schemas.microsoft.com/office/drawing/2014/main" id="{04CE4689-A200-4715-9568-24BD98A5FBA0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4038600" y="3505200"/>
            <a:ext cx="609600" cy="457200"/>
          </a:xfrm>
          <a:prstGeom prst="rightArrow">
            <a:avLst>
              <a:gd name="adj1" fmla="val 50000"/>
              <a:gd name="adj2" fmla="val 33333"/>
            </a:avLst>
          </a:prstGeom>
          <a:solidFill>
            <a:srgbClr val="FF330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algn="ctr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algn="ctr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algn="ctr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algn="ctr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algn="ctr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210" name="Rectangle 2">
            <a:extLst>
              <a:ext uri="{FF2B5EF4-FFF2-40B4-BE49-F238E27FC236}">
                <a16:creationId xmlns:a16="http://schemas.microsoft.com/office/drawing/2014/main" id="{2C46789D-3E31-4891-82F2-521D2F2EF14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9.11  </a:t>
            </a:r>
            <a:r>
              <a:rPr lang="zh-CN" altLang="en-US"/>
              <a:t>动态规划代码生成算法</a:t>
            </a:r>
          </a:p>
        </p:txBody>
      </p:sp>
      <p:sp>
        <p:nvSpPr>
          <p:cNvPr id="94211" name="Rectangle 3">
            <a:extLst>
              <a:ext uri="{FF2B5EF4-FFF2-40B4-BE49-F238E27FC236}">
                <a16:creationId xmlns:a16="http://schemas.microsoft.com/office/drawing/2014/main" id="{24C2AABE-B396-4C9F-B866-E1411E71891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一条指令使用两个以上寄存器</a:t>
            </a:r>
          </a:p>
          <a:p>
            <a:pPr eaLnBrk="1" hangingPunct="1"/>
            <a:r>
              <a:rPr lang="en-US" altLang="zh-CN"/>
              <a:t>Ri := E</a:t>
            </a:r>
          </a:p>
          <a:p>
            <a:pPr lvl="1" eaLnBrk="1" hangingPunct="1"/>
            <a:r>
              <a:rPr lang="en-US" altLang="zh-CN"/>
              <a:t>E</a:t>
            </a:r>
            <a:r>
              <a:rPr lang="zh-CN" altLang="en-US"/>
              <a:t>包含一个或多个寄存器，有一个是</a:t>
            </a:r>
            <a:r>
              <a:rPr lang="en-US" altLang="zh-CN"/>
              <a:t>Ri</a:t>
            </a:r>
          </a:p>
          <a:p>
            <a:pPr eaLnBrk="1" hangingPunct="1"/>
            <a:r>
              <a:rPr lang="en-US" altLang="zh-CN"/>
              <a:t>ADD R0, R1 </a:t>
            </a:r>
            <a:r>
              <a:rPr lang="en-US" altLang="zh-CN">
                <a:sym typeface="Wingdings" panose="05000000000000000000" pitchFamily="2" charset="2"/>
              </a:rPr>
              <a:t>  R1 := R1 + R0</a:t>
            </a:r>
            <a:br>
              <a:rPr lang="en-US" altLang="zh-CN">
                <a:sym typeface="Wingdings" panose="05000000000000000000" pitchFamily="2" charset="2"/>
              </a:rPr>
            </a:br>
            <a:r>
              <a:rPr lang="en-US" altLang="zh-CN">
                <a:sym typeface="Wingdings" panose="05000000000000000000" pitchFamily="2" charset="2"/>
              </a:rPr>
              <a:t>ADD *R0, R1   R1 := R1 + ind R0</a:t>
            </a:r>
            <a:endParaRPr lang="en-US" altLang="zh-CN"/>
          </a:p>
          <a:p>
            <a:pPr eaLnBrk="1" hangingPunct="1"/>
            <a:r>
              <a:rPr lang="en-US" altLang="zh-CN"/>
              <a:t>load</a:t>
            </a:r>
            <a:r>
              <a:rPr lang="zh-CN" altLang="en-US"/>
              <a:t>指令：</a:t>
            </a:r>
            <a:r>
              <a:rPr lang="en-US" altLang="zh-CN"/>
              <a:t>Ri := M</a:t>
            </a:r>
          </a:p>
          <a:p>
            <a:pPr eaLnBrk="1" hangingPunct="1"/>
            <a:r>
              <a:rPr lang="en-US" altLang="zh-CN"/>
              <a:t>store</a:t>
            </a:r>
            <a:r>
              <a:rPr lang="zh-CN" altLang="en-US"/>
              <a:t>指令：</a:t>
            </a:r>
            <a:r>
              <a:rPr lang="en-US" altLang="zh-CN"/>
              <a:t>M := Ri</a:t>
            </a:r>
          </a:p>
          <a:p>
            <a:pPr eaLnBrk="1" hangingPunct="1"/>
            <a:r>
              <a:rPr lang="zh-CN" altLang="en-US"/>
              <a:t>寄存器间拷贝：</a:t>
            </a:r>
            <a:r>
              <a:rPr lang="en-US" altLang="zh-CN"/>
              <a:t>Ri := Rj</a:t>
            </a: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234" name="Rectangle 2">
            <a:extLst>
              <a:ext uri="{FF2B5EF4-FFF2-40B4-BE49-F238E27FC236}">
                <a16:creationId xmlns:a16="http://schemas.microsoft.com/office/drawing/2014/main" id="{A7801C09-0EE4-41B6-BF02-33FC171C9BC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9.11.2  </a:t>
            </a:r>
            <a:r>
              <a:rPr lang="zh-CN" altLang="en-US"/>
              <a:t>动态规划算法原理</a:t>
            </a:r>
          </a:p>
        </p:txBody>
      </p:sp>
      <p:sp>
        <p:nvSpPr>
          <p:cNvPr id="95235" name="Rectangle 3">
            <a:extLst>
              <a:ext uri="{FF2B5EF4-FFF2-40B4-BE49-F238E27FC236}">
                <a16:creationId xmlns:a16="http://schemas.microsoft.com/office/drawing/2014/main" id="{83586FA8-F878-4860-A2B7-A9836C71384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E=E</a:t>
            </a:r>
            <a:r>
              <a:rPr lang="en-US" altLang="zh-CN" baseline="-25000"/>
              <a:t>1</a:t>
            </a:r>
            <a:r>
              <a:rPr lang="en-US" altLang="zh-CN"/>
              <a:t>+E</a:t>
            </a:r>
            <a:r>
              <a:rPr lang="en-US" altLang="zh-CN" baseline="-25000"/>
              <a:t>2</a:t>
            </a:r>
            <a:r>
              <a:rPr lang="zh-CN" altLang="en-US"/>
              <a:t>，</a:t>
            </a:r>
            <a:r>
              <a:rPr lang="en-US" altLang="zh-CN"/>
              <a:t>E</a:t>
            </a:r>
            <a:r>
              <a:rPr lang="zh-CN" altLang="en-US"/>
              <a:t>的最优程序可由</a:t>
            </a:r>
            <a:r>
              <a:rPr lang="en-US" altLang="zh-CN"/>
              <a:t>E</a:t>
            </a:r>
            <a:r>
              <a:rPr lang="en-US" altLang="zh-CN" baseline="-25000"/>
              <a:t>1</a:t>
            </a:r>
            <a:r>
              <a:rPr lang="zh-CN" altLang="en-US"/>
              <a:t>、</a:t>
            </a:r>
            <a:r>
              <a:rPr lang="en-US" altLang="zh-CN"/>
              <a:t>E</a:t>
            </a:r>
            <a:r>
              <a:rPr lang="en-US" altLang="zh-CN" baseline="-25000"/>
              <a:t>2</a:t>
            </a:r>
            <a:r>
              <a:rPr lang="zh-CN" altLang="en-US"/>
              <a:t>的最优程序组合而成</a:t>
            </a:r>
          </a:p>
          <a:p>
            <a:pPr eaLnBrk="1" hangingPunct="1"/>
            <a:r>
              <a:rPr lang="zh-CN" altLang="en-US"/>
              <a:t>连续特性</a:t>
            </a:r>
          </a:p>
          <a:p>
            <a:pPr lvl="1" eaLnBrk="1" hangingPunct="1"/>
            <a:r>
              <a:rPr lang="en-US" altLang="zh-CN"/>
              <a:t>T</a:t>
            </a:r>
            <a:r>
              <a:rPr lang="en-US" altLang="zh-CN" baseline="-25000"/>
              <a:t>1</a:t>
            </a:r>
            <a:r>
              <a:rPr lang="zh-CN" altLang="en-US"/>
              <a:t>、</a:t>
            </a:r>
            <a:r>
              <a:rPr lang="en-US" altLang="zh-CN"/>
              <a:t>T</a:t>
            </a:r>
            <a:r>
              <a:rPr lang="en-US" altLang="zh-CN" baseline="-25000"/>
              <a:t>2</a:t>
            </a:r>
            <a:r>
              <a:rPr lang="zh-CN" altLang="en-US"/>
              <a:t>的计算是连续的、完整的，不交叉</a:t>
            </a:r>
          </a:p>
        </p:txBody>
      </p:sp>
      <p:pic>
        <p:nvPicPr>
          <p:cNvPr id="95236" name="Picture 4" descr="C:\Documents and Settings\Administrator\My Documents\wg\编译原理\jiangyi\figures\9\contiguous.gif">
            <a:extLst>
              <a:ext uri="{FF2B5EF4-FFF2-40B4-BE49-F238E27FC236}">
                <a16:creationId xmlns:a16="http://schemas.microsoft.com/office/drawing/2014/main" id="{163713F0-F288-40DB-9D70-68CB74351AB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29000" y="3810000"/>
            <a:ext cx="2897188" cy="2241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258" name="Rectangle 2">
            <a:extLst>
              <a:ext uri="{FF2B5EF4-FFF2-40B4-BE49-F238E27FC236}">
                <a16:creationId xmlns:a16="http://schemas.microsoft.com/office/drawing/2014/main" id="{2F00F848-C0B9-4600-96CD-6C7B310F0E2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9.11.4  </a:t>
            </a:r>
            <a:r>
              <a:rPr lang="zh-CN" altLang="en-US"/>
              <a:t>动态规划算法</a:t>
            </a:r>
          </a:p>
        </p:txBody>
      </p:sp>
      <p:sp>
        <p:nvSpPr>
          <p:cNvPr id="96259" name="Rectangle 3">
            <a:extLst>
              <a:ext uri="{FF2B5EF4-FFF2-40B4-BE49-F238E27FC236}">
                <a16:creationId xmlns:a16="http://schemas.microsoft.com/office/drawing/2014/main" id="{305B54C2-6013-4849-82AC-94465204CB3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182688" y="1371600"/>
            <a:ext cx="7772400" cy="5486400"/>
          </a:xfrm>
        </p:spPr>
        <p:txBody>
          <a:bodyPr/>
          <a:lstStyle/>
          <a:p>
            <a:pPr marL="609600" indent="-609600" eaLnBrk="1" hangingPunct="1">
              <a:buFont typeface="Wingdings" panose="05000000000000000000" pitchFamily="2" charset="2"/>
              <a:buAutoNum type="arabicPeriod"/>
            </a:pPr>
            <a:r>
              <a:rPr lang="zh-CN" altLang="en-US"/>
              <a:t>对表达式树</a:t>
            </a:r>
            <a:r>
              <a:rPr lang="en-US" altLang="zh-CN"/>
              <a:t>T</a:t>
            </a:r>
            <a:r>
              <a:rPr lang="zh-CN" altLang="en-US"/>
              <a:t>的每个节点</a:t>
            </a:r>
            <a:r>
              <a:rPr lang="en-US" altLang="zh-CN"/>
              <a:t>n</a:t>
            </a:r>
            <a:r>
              <a:rPr lang="zh-CN" altLang="en-US"/>
              <a:t>，计算以</a:t>
            </a:r>
            <a:r>
              <a:rPr lang="en-US" altLang="zh-CN"/>
              <a:t>n</a:t>
            </a:r>
            <a:r>
              <a:rPr lang="zh-CN" altLang="en-US"/>
              <a:t>为根的子树（子表达式）的最优计算开销</a:t>
            </a:r>
          </a:p>
          <a:p>
            <a:pPr marL="990600" lvl="1" indent="-533400" eaLnBrk="1" hangingPunct="1"/>
            <a:r>
              <a:rPr lang="en-US" altLang="zh-CN"/>
              <a:t>C[i]</a:t>
            </a:r>
            <a:r>
              <a:rPr lang="zh-CN" altLang="en-US"/>
              <a:t>：利用</a:t>
            </a:r>
            <a:r>
              <a:rPr lang="en-US" altLang="zh-CN"/>
              <a:t>i</a:t>
            </a:r>
            <a:r>
              <a:rPr lang="zh-CN" altLang="en-US"/>
              <a:t>个寄存器计算表达式的开销</a:t>
            </a:r>
          </a:p>
          <a:p>
            <a:pPr marL="990600" lvl="1" indent="-533400" eaLnBrk="1" hangingPunct="1"/>
            <a:r>
              <a:rPr lang="en-US" altLang="zh-CN"/>
              <a:t>R := E</a:t>
            </a:r>
          </a:p>
          <a:p>
            <a:pPr marL="1371600" lvl="2" indent="-457200" eaLnBrk="1" hangingPunct="1"/>
            <a:r>
              <a:rPr lang="zh-CN" altLang="en-US"/>
              <a:t>考虑所有子表达式的不同计算顺序</a:t>
            </a:r>
          </a:p>
          <a:p>
            <a:pPr marL="1371600" lvl="2" indent="-457200" eaLnBrk="1" hangingPunct="1"/>
            <a:r>
              <a:rPr lang="zh-CN" altLang="en-US"/>
              <a:t>“＋”</a:t>
            </a:r>
            <a:r>
              <a:rPr lang="en-US" altLang="zh-CN"/>
              <a:t>E</a:t>
            </a:r>
            <a:r>
              <a:rPr lang="zh-CN" altLang="en-US"/>
              <a:t>的指令的计算开销</a:t>
            </a:r>
          </a:p>
          <a:p>
            <a:pPr marL="1371600" lvl="2" indent="-457200" eaLnBrk="1" hangingPunct="1"/>
            <a:r>
              <a:rPr lang="zh-CN" altLang="en-US"/>
              <a:t>开销最小者</a:t>
            </a:r>
            <a:r>
              <a:rPr lang="zh-CN" altLang="en-US">
                <a:sym typeface="Wingdings" panose="05000000000000000000" pitchFamily="2" charset="2"/>
              </a:rPr>
              <a:t></a:t>
            </a:r>
            <a:r>
              <a:rPr lang="en-US" altLang="zh-CN">
                <a:sym typeface="Wingdings" panose="05000000000000000000" pitchFamily="2" charset="2"/>
              </a:rPr>
              <a:t>C[i]</a:t>
            </a:r>
            <a:endParaRPr lang="en-US" altLang="zh-CN"/>
          </a:p>
          <a:p>
            <a:pPr marL="609600" indent="-609600" eaLnBrk="1" hangingPunct="1">
              <a:buFont typeface="Wingdings" panose="05000000000000000000" pitchFamily="2" charset="2"/>
              <a:buAutoNum type="arabicPeriod"/>
            </a:pPr>
            <a:r>
              <a:rPr lang="zh-CN" altLang="en-US"/>
              <a:t>遍历</a:t>
            </a:r>
            <a:r>
              <a:rPr lang="en-US" altLang="zh-CN"/>
              <a:t>T</a:t>
            </a:r>
            <a:r>
              <a:rPr lang="zh-CN" altLang="en-US"/>
              <a:t>，根据</a:t>
            </a:r>
            <a:r>
              <a:rPr lang="en-US" altLang="zh-CN"/>
              <a:t>C[i]</a:t>
            </a:r>
            <a:r>
              <a:rPr lang="zh-CN" altLang="en-US"/>
              <a:t>确定哪些子表达式结果必须保存到内存</a:t>
            </a:r>
          </a:p>
          <a:p>
            <a:pPr marL="609600" indent="-609600" eaLnBrk="1" hangingPunct="1">
              <a:buFont typeface="Wingdings" panose="05000000000000000000" pitchFamily="2" charset="2"/>
              <a:buAutoNum type="arabicPeriod"/>
            </a:pPr>
            <a:r>
              <a:rPr lang="zh-CN" altLang="en-US"/>
              <a:t>生成代码</a:t>
            </a: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282" name="Rectangle 2">
            <a:extLst>
              <a:ext uri="{FF2B5EF4-FFF2-40B4-BE49-F238E27FC236}">
                <a16:creationId xmlns:a16="http://schemas.microsoft.com/office/drawing/2014/main" id="{5BD13D4D-5C9E-435E-A07E-7344D248844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例</a:t>
            </a:r>
            <a:r>
              <a:rPr lang="en-US" altLang="zh-CN"/>
              <a:t>9.14</a:t>
            </a:r>
          </a:p>
        </p:txBody>
      </p:sp>
      <p:sp>
        <p:nvSpPr>
          <p:cNvPr id="97283" name="Rectangle 3">
            <a:extLst>
              <a:ext uri="{FF2B5EF4-FFF2-40B4-BE49-F238E27FC236}">
                <a16:creationId xmlns:a16="http://schemas.microsoft.com/office/drawing/2014/main" id="{90BF7D8D-FD5C-4EB0-96A6-6A1ED779768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目标机器</a:t>
            </a:r>
          </a:p>
          <a:p>
            <a:pPr lvl="1" eaLnBrk="1" hangingPunct="1"/>
            <a:r>
              <a:rPr lang="zh-CN" altLang="en-US"/>
              <a:t>两个寄存器</a:t>
            </a:r>
            <a:r>
              <a:rPr lang="en-US" altLang="zh-CN"/>
              <a:t>R0</a:t>
            </a:r>
            <a:r>
              <a:rPr lang="zh-CN" altLang="en-US"/>
              <a:t>、</a:t>
            </a:r>
            <a:r>
              <a:rPr lang="en-US" altLang="zh-CN"/>
              <a:t>R1</a:t>
            </a:r>
          </a:p>
          <a:p>
            <a:pPr lvl="1" eaLnBrk="1" hangingPunct="1"/>
            <a:r>
              <a:rPr lang="zh-CN" altLang="en-US"/>
              <a:t>指令集（开销均为</a:t>
            </a:r>
            <a:r>
              <a:rPr lang="en-US" altLang="zh-CN"/>
              <a:t>1</a:t>
            </a:r>
            <a:r>
              <a:rPr lang="zh-CN" altLang="en-US"/>
              <a:t>）：</a:t>
            </a:r>
          </a:p>
          <a:p>
            <a:pPr lvl="2" eaLnBrk="1" hangingPunct="1">
              <a:buFont typeface="Wingdings" panose="05000000000000000000" pitchFamily="2" charset="2"/>
              <a:buNone/>
            </a:pPr>
            <a:r>
              <a:rPr lang="en-US" altLang="zh-CN"/>
              <a:t>Ri :=  Mj</a:t>
            </a:r>
          </a:p>
          <a:p>
            <a:pPr lvl="2" eaLnBrk="1" hangingPunct="1">
              <a:buFont typeface="Wingdings" panose="05000000000000000000" pitchFamily="2" charset="2"/>
              <a:buNone/>
            </a:pPr>
            <a:r>
              <a:rPr lang="en-US" altLang="zh-CN"/>
              <a:t>Ri := Ri op Rj</a:t>
            </a:r>
          </a:p>
          <a:p>
            <a:pPr lvl="2" eaLnBrk="1" hangingPunct="1">
              <a:buFont typeface="Wingdings" panose="05000000000000000000" pitchFamily="2" charset="2"/>
              <a:buNone/>
            </a:pPr>
            <a:r>
              <a:rPr lang="en-US" altLang="zh-CN"/>
              <a:t>Ri : = Ri op Mj</a:t>
            </a:r>
          </a:p>
          <a:p>
            <a:pPr lvl="2" eaLnBrk="1" hangingPunct="1">
              <a:buFont typeface="Wingdings" panose="05000000000000000000" pitchFamily="2" charset="2"/>
              <a:buNone/>
            </a:pPr>
            <a:r>
              <a:rPr lang="en-US" altLang="zh-CN"/>
              <a:t>Ri := Rj</a:t>
            </a:r>
          </a:p>
          <a:p>
            <a:pPr lvl="2" eaLnBrk="1" hangingPunct="1">
              <a:buFont typeface="Wingdings" panose="05000000000000000000" pitchFamily="2" charset="2"/>
              <a:buNone/>
            </a:pPr>
            <a:r>
              <a:rPr lang="en-US" altLang="zh-CN"/>
              <a:t>Mi := Rj</a:t>
            </a: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306" name="Rectangle 2">
            <a:extLst>
              <a:ext uri="{FF2B5EF4-FFF2-40B4-BE49-F238E27FC236}">
                <a16:creationId xmlns:a16="http://schemas.microsoft.com/office/drawing/2014/main" id="{30D78C91-A6B2-44EA-BBCE-02F8FC82C12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例</a:t>
            </a:r>
            <a:r>
              <a:rPr lang="en-US" altLang="zh-CN"/>
              <a:t>9.14</a:t>
            </a:r>
            <a:r>
              <a:rPr lang="zh-CN" altLang="en-US"/>
              <a:t>（续）</a:t>
            </a:r>
          </a:p>
        </p:txBody>
      </p:sp>
      <p:sp>
        <p:nvSpPr>
          <p:cNvPr id="98307" name="Rectangle 3">
            <a:extLst>
              <a:ext uri="{FF2B5EF4-FFF2-40B4-BE49-F238E27FC236}">
                <a16:creationId xmlns:a16="http://schemas.microsoft.com/office/drawing/2014/main" id="{B0B2B942-840C-442F-84B5-BAF5461AF7A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182688" y="4800600"/>
            <a:ext cx="7772400" cy="2057400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zh-CN" altLang="en-US"/>
              <a:t>叶节点</a:t>
            </a:r>
            <a:r>
              <a:rPr lang="en-US" altLang="zh-CN"/>
              <a:t>a</a:t>
            </a:r>
          </a:p>
          <a:p>
            <a:pPr lvl="1" eaLnBrk="1" hangingPunct="1">
              <a:lnSpc>
                <a:spcPct val="90000"/>
              </a:lnSpc>
            </a:pPr>
            <a:r>
              <a:rPr lang="zh-CN" altLang="en-US"/>
              <a:t>结果</a:t>
            </a:r>
            <a:r>
              <a:rPr lang="zh-CN" altLang="en-US">
                <a:sym typeface="Wingdings" panose="05000000000000000000" pitchFamily="2" charset="2"/>
              </a:rPr>
              <a:t>内存，</a:t>
            </a:r>
            <a:r>
              <a:rPr lang="en-US" altLang="zh-CN"/>
              <a:t>C[0]=0</a:t>
            </a:r>
            <a:r>
              <a:rPr lang="zh-CN" altLang="en-US"/>
              <a:t>（已经在内存中）</a:t>
            </a:r>
          </a:p>
          <a:p>
            <a:pPr lvl="1" eaLnBrk="1" hangingPunct="1">
              <a:lnSpc>
                <a:spcPct val="90000"/>
              </a:lnSpc>
            </a:pPr>
            <a:r>
              <a:rPr lang="zh-CN" altLang="en-US"/>
              <a:t>结果</a:t>
            </a:r>
            <a:r>
              <a:rPr lang="zh-CN" altLang="en-US">
                <a:sym typeface="Wingdings" panose="05000000000000000000" pitchFamily="2" charset="2"/>
              </a:rPr>
              <a:t>寄存器，一个可用寄存器，</a:t>
            </a:r>
            <a:r>
              <a:rPr lang="en-US" altLang="zh-CN">
                <a:sym typeface="Wingdings" panose="05000000000000000000" pitchFamily="2" charset="2"/>
              </a:rPr>
              <a:t>C[1]=1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zh-CN">
                <a:sym typeface="Wingdings" panose="05000000000000000000" pitchFamily="2" charset="2"/>
              </a:rPr>
              <a:t>C[2]=1</a:t>
            </a:r>
            <a:endParaRPr lang="en-US" altLang="zh-CN"/>
          </a:p>
        </p:txBody>
      </p:sp>
      <p:pic>
        <p:nvPicPr>
          <p:cNvPr id="98308" name="Picture 4" descr="C:\Documents and Settings\Administrator\My Documents\wg\编译原理\jiangyi\figures\9\dynamic.gif">
            <a:extLst>
              <a:ext uri="{FF2B5EF4-FFF2-40B4-BE49-F238E27FC236}">
                <a16:creationId xmlns:a16="http://schemas.microsoft.com/office/drawing/2014/main" id="{F44E8454-0C42-4EED-88FA-EC8E77C306C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09800" y="1371600"/>
            <a:ext cx="5484813" cy="3498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330" name="Rectangle 2">
            <a:extLst>
              <a:ext uri="{FF2B5EF4-FFF2-40B4-BE49-F238E27FC236}">
                <a16:creationId xmlns:a16="http://schemas.microsoft.com/office/drawing/2014/main" id="{B8948624-39DE-4EC5-94D5-B2095435D58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例</a:t>
            </a:r>
            <a:r>
              <a:rPr lang="en-US" altLang="zh-CN"/>
              <a:t>9.14</a:t>
            </a:r>
            <a:r>
              <a:rPr lang="zh-CN" altLang="en-US"/>
              <a:t>（续）</a:t>
            </a:r>
          </a:p>
        </p:txBody>
      </p:sp>
      <p:sp>
        <p:nvSpPr>
          <p:cNvPr id="99331" name="Rectangle 3">
            <a:extLst>
              <a:ext uri="{FF2B5EF4-FFF2-40B4-BE49-F238E27FC236}">
                <a16:creationId xmlns:a16="http://schemas.microsoft.com/office/drawing/2014/main" id="{3DD4389F-C1E9-4C36-BC03-B3353666FD9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182688" y="1371600"/>
            <a:ext cx="7772400" cy="5105400"/>
          </a:xfrm>
        </p:spPr>
        <p:txBody>
          <a:bodyPr/>
          <a:lstStyle/>
          <a:p>
            <a:pPr eaLnBrk="1" hangingPunct="1"/>
            <a:r>
              <a:rPr lang="zh-CN" altLang="en-US"/>
              <a:t>根节点</a:t>
            </a:r>
          </a:p>
          <a:p>
            <a:pPr lvl="1" eaLnBrk="1" hangingPunct="1"/>
            <a:r>
              <a:rPr lang="zh-CN" altLang="en-US"/>
              <a:t>使用一个寄存器</a:t>
            </a:r>
            <a:r>
              <a:rPr lang="en-US" altLang="zh-CN"/>
              <a:t>——R0 := R0 + M</a:t>
            </a:r>
          </a:p>
          <a:p>
            <a:pPr lvl="2" eaLnBrk="1" hangingPunct="1"/>
            <a:r>
              <a:rPr lang="zh-CN" altLang="en-US"/>
              <a:t>最小开销：右子树</a:t>
            </a:r>
            <a:r>
              <a:rPr lang="zh-CN" altLang="en-US">
                <a:sym typeface="Wingdings" panose="05000000000000000000" pitchFamily="2" charset="2"/>
              </a:rPr>
              <a:t>内存，左子树寄存器</a:t>
            </a:r>
            <a:br>
              <a:rPr lang="zh-CN" altLang="en-US">
                <a:sym typeface="Wingdings" panose="05000000000000000000" pitchFamily="2" charset="2"/>
              </a:rPr>
            </a:br>
            <a:r>
              <a:rPr lang="en-US" altLang="zh-CN">
                <a:sym typeface="Wingdings" panose="05000000000000000000" pitchFamily="2" charset="2"/>
              </a:rPr>
              <a:t>5+2+1=8</a:t>
            </a:r>
          </a:p>
          <a:p>
            <a:pPr lvl="1" eaLnBrk="1" hangingPunct="1"/>
            <a:r>
              <a:rPr lang="zh-CN" altLang="en-US"/>
              <a:t>使用两个寄存器</a:t>
            </a:r>
          </a:p>
          <a:p>
            <a:pPr lvl="2" eaLnBrk="1" hangingPunct="1"/>
            <a:r>
              <a:rPr lang="zh-CN" altLang="en-US"/>
              <a:t>左子树</a:t>
            </a:r>
            <a:r>
              <a:rPr lang="en-US" altLang="zh-CN"/>
              <a:t>——</a:t>
            </a:r>
            <a:r>
              <a:rPr lang="zh-CN" altLang="en-US"/>
              <a:t>使用两个寄存器，右子树</a:t>
            </a:r>
            <a:r>
              <a:rPr lang="en-US" altLang="zh-CN"/>
              <a:t>——</a:t>
            </a:r>
            <a:r>
              <a:rPr lang="zh-CN" altLang="en-US"/>
              <a:t>一个，开销</a:t>
            </a:r>
            <a:r>
              <a:rPr lang="en-US" altLang="zh-CN"/>
              <a:t>2+5+1=8</a:t>
            </a:r>
          </a:p>
          <a:p>
            <a:pPr lvl="2" eaLnBrk="1" hangingPunct="1"/>
            <a:r>
              <a:rPr lang="zh-CN" altLang="en-US"/>
              <a:t>左子树</a:t>
            </a:r>
            <a:r>
              <a:rPr lang="en-US" altLang="zh-CN"/>
              <a:t>——1</a:t>
            </a:r>
            <a:r>
              <a:rPr lang="zh-CN" altLang="en-US"/>
              <a:t>，右子树</a:t>
            </a:r>
            <a:r>
              <a:rPr lang="en-US" altLang="zh-CN"/>
              <a:t>——2</a:t>
            </a:r>
            <a:r>
              <a:rPr lang="zh-CN" altLang="en-US"/>
              <a:t>，</a:t>
            </a:r>
            <a:r>
              <a:rPr lang="en-US" altLang="zh-CN"/>
              <a:t>2+4+1=7</a:t>
            </a:r>
          </a:p>
          <a:p>
            <a:pPr lvl="2" eaLnBrk="1" hangingPunct="1"/>
            <a:r>
              <a:rPr lang="zh-CN" altLang="en-US"/>
              <a:t>左子树</a:t>
            </a:r>
            <a:r>
              <a:rPr lang="en-US" altLang="zh-CN"/>
              <a:t>——2</a:t>
            </a:r>
            <a:r>
              <a:rPr lang="zh-CN" altLang="en-US"/>
              <a:t>，右子树</a:t>
            </a:r>
            <a:r>
              <a:rPr lang="en-US" altLang="zh-CN"/>
              <a:t>——</a:t>
            </a:r>
            <a:r>
              <a:rPr lang="zh-CN" altLang="en-US"/>
              <a:t>内存，</a:t>
            </a:r>
            <a:r>
              <a:rPr lang="en-US" altLang="zh-CN"/>
              <a:t>2+5+1=8</a:t>
            </a: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354" name="Rectangle 2">
            <a:extLst>
              <a:ext uri="{FF2B5EF4-FFF2-40B4-BE49-F238E27FC236}">
                <a16:creationId xmlns:a16="http://schemas.microsoft.com/office/drawing/2014/main" id="{10E03A7E-7E8D-4363-B8EA-3ABDB0E1250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例</a:t>
            </a:r>
            <a:r>
              <a:rPr lang="en-US" altLang="zh-CN"/>
              <a:t>9.14</a:t>
            </a:r>
            <a:r>
              <a:rPr lang="zh-CN" altLang="en-US"/>
              <a:t>（续）</a:t>
            </a:r>
          </a:p>
        </p:txBody>
      </p:sp>
      <p:sp>
        <p:nvSpPr>
          <p:cNvPr id="100355" name="Rectangle 3">
            <a:extLst>
              <a:ext uri="{FF2B5EF4-FFF2-40B4-BE49-F238E27FC236}">
                <a16:creationId xmlns:a16="http://schemas.microsoft.com/office/drawing/2014/main" id="{0FB13016-C74A-490B-A27E-1AD506B008C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182688" y="1371600"/>
            <a:ext cx="7772400" cy="5105400"/>
          </a:xfrm>
        </p:spPr>
        <p:txBody>
          <a:bodyPr/>
          <a:lstStyle/>
          <a:p>
            <a:pPr eaLnBrk="1" hangingPunct="1"/>
            <a:r>
              <a:rPr lang="zh-CN" altLang="en-US"/>
              <a:t>最终结果：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/>
              <a:t>R0 := c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/>
              <a:t>R1 := d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/>
              <a:t>R1 := R1 / e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/>
              <a:t>R0 := R0 * R1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/>
              <a:t>R1 := a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/>
              <a:t>R1 := R1 – b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/>
              <a:t>R1 := R1 + R0</a:t>
            </a:r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378" name="Rectangle 2">
            <a:extLst>
              <a:ext uri="{FF2B5EF4-FFF2-40B4-BE49-F238E27FC236}">
                <a16:creationId xmlns:a16="http://schemas.microsoft.com/office/drawing/2014/main" id="{0F5CDCAE-7424-4035-91D4-D7E9DA58CE2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9.12  </a:t>
            </a:r>
            <a:r>
              <a:rPr lang="zh-CN" altLang="en-US"/>
              <a:t>代码生成程序自动生成器</a:t>
            </a:r>
          </a:p>
        </p:txBody>
      </p:sp>
      <p:sp>
        <p:nvSpPr>
          <p:cNvPr id="101379" name="Rectangle 3">
            <a:extLst>
              <a:ext uri="{FF2B5EF4-FFF2-40B4-BE49-F238E27FC236}">
                <a16:creationId xmlns:a16="http://schemas.microsoft.com/office/drawing/2014/main" id="{E62CFCA3-082F-4FAB-8C5C-159E939A2D4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zh-CN" sz="4000"/>
              <a:t>9.12.1</a:t>
            </a:r>
            <a:r>
              <a:rPr lang="en-US" altLang="zh-CN" sz="4000">
                <a:solidFill>
                  <a:srgbClr val="FF3300"/>
                </a:solidFill>
              </a:rPr>
              <a:t>  tree rewriting</a:t>
            </a:r>
          </a:p>
          <a:p>
            <a:pPr eaLnBrk="1" hangingPunct="1"/>
            <a:r>
              <a:rPr lang="zh-CN" altLang="en-US"/>
              <a:t>例</a:t>
            </a:r>
            <a:r>
              <a:rPr lang="en-US" altLang="zh-CN"/>
              <a:t>9.15</a:t>
            </a:r>
            <a:r>
              <a:rPr lang="zh-CN" altLang="en-US"/>
              <a:t>：</a:t>
            </a:r>
            <a:r>
              <a:rPr lang="en-US" altLang="zh-CN"/>
              <a:t>a[i] := b + 1</a:t>
            </a:r>
            <a:r>
              <a:rPr lang="zh-CN" altLang="en-US"/>
              <a:t>对应的输入树</a:t>
            </a:r>
          </a:p>
        </p:txBody>
      </p:sp>
      <p:pic>
        <p:nvPicPr>
          <p:cNvPr id="101380" name="Picture 4" descr="C:\Documents and Settings\Administrator\My Documents\wg\编译原理\jiangyi\figures\9\codetree.gif">
            <a:extLst>
              <a:ext uri="{FF2B5EF4-FFF2-40B4-BE49-F238E27FC236}">
                <a16:creationId xmlns:a16="http://schemas.microsoft.com/office/drawing/2014/main" id="{55FD85F9-01C7-481C-BA08-3F9EDEDB0DB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57400" y="2590800"/>
            <a:ext cx="5456238" cy="3905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1381" name="Text Box 5">
            <a:extLst>
              <a:ext uri="{FF2B5EF4-FFF2-40B4-BE49-F238E27FC236}">
                <a16:creationId xmlns:a16="http://schemas.microsoft.com/office/drawing/2014/main" id="{C3E81FB6-6392-4AFA-8CB6-E2A3C2A84A1C}"/>
              </a:ext>
            </a:extLst>
          </p:cNvPr>
          <p:cNvSpPr txBox="1">
            <a:spLocks noChangeArrowheads="1"/>
          </p:cNvSpPr>
          <p:nvPr/>
        </p:nvSpPr>
        <p:spPr bwMode="ltGray">
          <a:xfrm>
            <a:off x="304800" y="5715000"/>
            <a:ext cx="1600200" cy="822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CF0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algn="ctr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algn="ctr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algn="ctr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algn="ctr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algn="ctr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>
                <a:solidFill>
                  <a:srgbClr val="FF3300"/>
                </a:solidFill>
              </a:rPr>
              <a:t>局部变量</a:t>
            </a:r>
            <a:br>
              <a:rPr lang="zh-CN" altLang="en-US">
                <a:solidFill>
                  <a:srgbClr val="FF3300"/>
                </a:solidFill>
              </a:rPr>
            </a:br>
            <a:r>
              <a:rPr lang="zh-CN" altLang="en-US">
                <a:solidFill>
                  <a:srgbClr val="FF3300"/>
                </a:solidFill>
              </a:rPr>
              <a:t>在栈中</a:t>
            </a:r>
          </a:p>
        </p:txBody>
      </p:sp>
      <p:sp>
        <p:nvSpPr>
          <p:cNvPr id="101382" name="Line 6">
            <a:extLst>
              <a:ext uri="{FF2B5EF4-FFF2-40B4-BE49-F238E27FC236}">
                <a16:creationId xmlns:a16="http://schemas.microsoft.com/office/drawing/2014/main" id="{5228DBB5-5227-460B-99D3-AC67D7E5AB90}"/>
              </a:ext>
            </a:extLst>
          </p:cNvPr>
          <p:cNvSpPr>
            <a:spLocks noChangeShapeType="1"/>
          </p:cNvSpPr>
          <p:nvPr/>
        </p:nvSpPr>
        <p:spPr bwMode="ltGray">
          <a:xfrm flipV="1">
            <a:off x="1752600" y="5562600"/>
            <a:ext cx="533400" cy="381000"/>
          </a:xfrm>
          <a:prstGeom prst="line">
            <a:avLst/>
          </a:prstGeom>
          <a:noFill/>
          <a:ln w="25400">
            <a:solidFill>
              <a:srgbClr val="FF33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1383" name="Line 7">
            <a:extLst>
              <a:ext uri="{FF2B5EF4-FFF2-40B4-BE49-F238E27FC236}">
                <a16:creationId xmlns:a16="http://schemas.microsoft.com/office/drawing/2014/main" id="{F863FE01-A20B-4AFD-AB0D-67EE790FEF4A}"/>
              </a:ext>
            </a:extLst>
          </p:cNvPr>
          <p:cNvSpPr>
            <a:spLocks noChangeShapeType="1"/>
          </p:cNvSpPr>
          <p:nvPr/>
        </p:nvSpPr>
        <p:spPr bwMode="ltGray">
          <a:xfrm>
            <a:off x="1752600" y="6096000"/>
            <a:ext cx="2057400" cy="152400"/>
          </a:xfrm>
          <a:prstGeom prst="line">
            <a:avLst/>
          </a:prstGeom>
          <a:noFill/>
          <a:ln w="25400">
            <a:solidFill>
              <a:srgbClr val="FF33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02" name="Rectangle 2">
            <a:extLst>
              <a:ext uri="{FF2B5EF4-FFF2-40B4-BE49-F238E27FC236}">
                <a16:creationId xmlns:a16="http://schemas.microsoft.com/office/drawing/2014/main" id="{5EAA78FF-B038-40A9-98CA-041F6C4331A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代码生成算法</a:t>
            </a:r>
          </a:p>
        </p:txBody>
      </p:sp>
      <p:sp>
        <p:nvSpPr>
          <p:cNvPr id="102403" name="Rectangle 3">
            <a:extLst>
              <a:ext uri="{FF2B5EF4-FFF2-40B4-BE49-F238E27FC236}">
                <a16:creationId xmlns:a16="http://schemas.microsoft.com/office/drawing/2014/main" id="{42FB6950-1A03-4C5F-A880-074ED8AF302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182688" y="1371600"/>
            <a:ext cx="7772400" cy="5257800"/>
          </a:xfrm>
        </p:spPr>
        <p:txBody>
          <a:bodyPr/>
          <a:lstStyle/>
          <a:p>
            <a:pPr eaLnBrk="1" hangingPunct="1"/>
            <a:r>
              <a:rPr lang="zh-CN" altLang="en-US"/>
              <a:t>改写规则</a:t>
            </a:r>
            <a:r>
              <a:rPr lang="en-US" altLang="zh-CN"/>
              <a:t>——</a:t>
            </a:r>
            <a:r>
              <a:rPr lang="zh-CN" altLang="en-US"/>
              <a:t>树</a:t>
            </a:r>
            <a:r>
              <a:rPr lang="zh-CN" altLang="en-US">
                <a:sym typeface="Wingdings" panose="05000000000000000000" pitchFamily="2" charset="2"/>
              </a:rPr>
              <a:t>单个节点</a:t>
            </a:r>
          </a:p>
          <a:p>
            <a:pPr lvl="1" eaLnBrk="1" hangingPunct="1">
              <a:buFont typeface="Wingdings" panose="05000000000000000000" pitchFamily="2" charset="2"/>
              <a:buNone/>
            </a:pPr>
            <a:r>
              <a:rPr lang="en-US" altLang="zh-CN"/>
              <a:t>replace  ←  template  {  action  }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zh-CN" altLang="en-US"/>
              <a:t>单个节点	        树	语义动作</a:t>
            </a:r>
          </a:p>
          <a:p>
            <a:pPr eaLnBrk="1" hangingPunct="1"/>
            <a:r>
              <a:rPr lang="zh-CN" altLang="en-US"/>
              <a:t>一组改写规则</a:t>
            </a:r>
            <a:r>
              <a:rPr lang="en-US" altLang="zh-CN"/>
              <a:t>——</a:t>
            </a:r>
            <a:r>
              <a:rPr lang="zh-CN" altLang="en-US"/>
              <a:t>树翻译模式</a:t>
            </a:r>
          </a:p>
          <a:p>
            <a:pPr eaLnBrk="1" hangingPunct="1"/>
            <a:r>
              <a:rPr lang="zh-CN" altLang="en-US"/>
              <a:t>模板</a:t>
            </a:r>
            <a:r>
              <a:rPr lang="en-US" altLang="zh-CN"/>
              <a:t>——</a:t>
            </a:r>
            <a:r>
              <a:rPr lang="zh-CN" altLang="en-US"/>
              <a:t>机器指令，动作</a:t>
            </a:r>
            <a:r>
              <a:rPr lang="en-US" altLang="zh-CN"/>
              <a:t>——</a:t>
            </a:r>
            <a:r>
              <a:rPr lang="zh-CN" altLang="en-US"/>
              <a:t>翻译序列</a:t>
            </a:r>
          </a:p>
          <a:p>
            <a:pPr eaLnBrk="1" hangingPunct="1"/>
            <a:endParaRPr lang="zh-CN" altLang="en-US"/>
          </a:p>
          <a:p>
            <a:pPr eaLnBrk="1" hangingPunct="1"/>
            <a:endParaRPr lang="zh-CN" altLang="en-US"/>
          </a:p>
          <a:p>
            <a:pPr eaLnBrk="1" hangingPunct="1"/>
            <a:r>
              <a:rPr lang="zh-CN" altLang="en-US"/>
              <a:t>输入树中子树与模板匹配</a:t>
            </a:r>
            <a:r>
              <a:rPr lang="zh-CN" altLang="en-US">
                <a:sym typeface="Wingdings" panose="05000000000000000000" pitchFamily="2" charset="2"/>
              </a:rPr>
              <a:t></a:t>
            </a:r>
            <a:br>
              <a:rPr lang="zh-CN" altLang="en-US">
                <a:sym typeface="Wingdings" panose="05000000000000000000" pitchFamily="2" charset="2"/>
              </a:rPr>
            </a:br>
            <a:r>
              <a:rPr lang="zh-CN" altLang="en-US">
                <a:sym typeface="Wingdings" panose="05000000000000000000" pitchFamily="2" charset="2"/>
              </a:rPr>
              <a:t>将其替换为</a:t>
            </a:r>
            <a:r>
              <a:rPr lang="en-US" altLang="zh-CN">
                <a:sym typeface="Wingdings" panose="05000000000000000000" pitchFamily="2" charset="2"/>
              </a:rPr>
              <a:t>reg</a:t>
            </a:r>
            <a:r>
              <a:rPr lang="en-US" altLang="zh-CN" baseline="-25000">
                <a:sym typeface="Wingdings" panose="05000000000000000000" pitchFamily="2" charset="2"/>
              </a:rPr>
              <a:t>i</a:t>
            </a:r>
            <a:r>
              <a:rPr lang="zh-CN" altLang="en-US">
                <a:sym typeface="Wingdings" panose="05000000000000000000" pitchFamily="2" charset="2"/>
              </a:rPr>
              <a:t>，输出</a:t>
            </a:r>
            <a:r>
              <a:rPr lang="en-US" altLang="zh-CN">
                <a:sym typeface="Wingdings" panose="05000000000000000000" pitchFamily="2" charset="2"/>
              </a:rPr>
              <a:t>ADD Rj, Ri</a:t>
            </a:r>
            <a:endParaRPr lang="en-US" altLang="zh-CN"/>
          </a:p>
        </p:txBody>
      </p:sp>
      <p:pic>
        <p:nvPicPr>
          <p:cNvPr id="102404" name="Picture 4" descr="C:\Documents and Settings\Administrator\My Documents\wg\编译原理\jiangyi\figures\9\tmpl7.gif">
            <a:extLst>
              <a:ext uri="{FF2B5EF4-FFF2-40B4-BE49-F238E27FC236}">
                <a16:creationId xmlns:a16="http://schemas.microsoft.com/office/drawing/2014/main" id="{4B0A60EE-7533-49DF-A784-E5EB71DCD83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00200" y="4343400"/>
            <a:ext cx="5791200" cy="1071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426" name="Rectangle 2">
            <a:extLst>
              <a:ext uri="{FF2B5EF4-FFF2-40B4-BE49-F238E27FC236}">
                <a16:creationId xmlns:a16="http://schemas.microsoft.com/office/drawing/2014/main" id="{B124DC42-22EE-4748-81B1-E81141C14C8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例</a:t>
            </a:r>
            <a:r>
              <a:rPr lang="en-US" altLang="zh-CN"/>
              <a:t>9.16</a:t>
            </a:r>
            <a:r>
              <a:rPr lang="zh-CN" altLang="en-US"/>
              <a:t>（改写规则例）</a:t>
            </a:r>
          </a:p>
        </p:txBody>
      </p:sp>
      <p:pic>
        <p:nvPicPr>
          <p:cNvPr id="103427" name="Picture 4" descr="C:\Documents and Settings\Administrator\My Documents\wg\编译原理\jiangyi\figures\9\tmpl1.gif">
            <a:extLst>
              <a:ext uri="{FF2B5EF4-FFF2-40B4-BE49-F238E27FC236}">
                <a16:creationId xmlns:a16="http://schemas.microsoft.com/office/drawing/2014/main" id="{F6CCF581-20E5-4386-8326-9027F60121D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44663" y="1257300"/>
            <a:ext cx="5951537" cy="495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3428" name="Picture 5" descr="C:\Documents and Settings\Administrator\My Documents\wg\编译原理\jiangyi\figures\9\tmpl2.gif">
            <a:extLst>
              <a:ext uri="{FF2B5EF4-FFF2-40B4-BE49-F238E27FC236}">
                <a16:creationId xmlns:a16="http://schemas.microsoft.com/office/drawing/2014/main" id="{EE707FCC-ACD3-4099-90C5-81E5A47D2FE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52600" y="1752600"/>
            <a:ext cx="5678488" cy="4556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3429" name="Picture 6" descr="C:\Documents and Settings\Administrator\My Documents\wg\编译原理\jiangyi\figures\9\tmpl3.gif">
            <a:extLst>
              <a:ext uri="{FF2B5EF4-FFF2-40B4-BE49-F238E27FC236}">
                <a16:creationId xmlns:a16="http://schemas.microsoft.com/office/drawing/2014/main" id="{F35BE75D-5812-4852-8D57-C8ECFCEB635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52600" y="2205038"/>
            <a:ext cx="5678488" cy="10715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3430" name="Picture 7" descr="C:\Documents and Settings\Administrator\My Documents\wg\编译原理\jiangyi\figures\9\tmpl4.gif">
            <a:extLst>
              <a:ext uri="{FF2B5EF4-FFF2-40B4-BE49-F238E27FC236}">
                <a16:creationId xmlns:a16="http://schemas.microsoft.com/office/drawing/2014/main" id="{192B640D-C80F-4355-9AB4-3BD544703EF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85938" y="3276600"/>
            <a:ext cx="6062662" cy="18399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3431" name="Picture 9" descr="C:\Documents and Settings\Administrator\My Documents\wg\编译原理\jiangyi\figures\9\tmpl5.gif">
            <a:extLst>
              <a:ext uri="{FF2B5EF4-FFF2-40B4-BE49-F238E27FC236}">
                <a16:creationId xmlns:a16="http://schemas.microsoft.com/office/drawing/2014/main" id="{8602EBFC-2065-4879-A453-B1861056BBF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70063" y="5033963"/>
            <a:ext cx="6230937" cy="1824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450" name="Rectangle 2">
            <a:extLst>
              <a:ext uri="{FF2B5EF4-FFF2-40B4-BE49-F238E27FC236}">
                <a16:creationId xmlns:a16="http://schemas.microsoft.com/office/drawing/2014/main" id="{5A715483-F10E-473B-9756-D849C6474D4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例</a:t>
            </a:r>
            <a:r>
              <a:rPr lang="en-US" altLang="zh-CN"/>
              <a:t>9.16</a:t>
            </a:r>
            <a:r>
              <a:rPr lang="zh-CN" altLang="en-US"/>
              <a:t>（续）</a:t>
            </a:r>
          </a:p>
        </p:txBody>
      </p:sp>
      <p:pic>
        <p:nvPicPr>
          <p:cNvPr id="104451" name="Picture 8" descr="C:\Documents and Settings\Administrator\My Documents\wg\编译原理\jiangyi\figures\9\tmpl6.gif">
            <a:extLst>
              <a:ext uri="{FF2B5EF4-FFF2-40B4-BE49-F238E27FC236}">
                <a16:creationId xmlns:a16="http://schemas.microsoft.com/office/drawing/2014/main" id="{C213FA5C-AA52-4FBB-A639-F700E48D9B6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76400" y="1295400"/>
            <a:ext cx="6129338" cy="23764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4452" name="Picture 9" descr="C:\Documents and Settings\Administrator\My Documents\wg\编译原理\jiangyi\figures\9\tmpl7.gif">
            <a:extLst>
              <a:ext uri="{FF2B5EF4-FFF2-40B4-BE49-F238E27FC236}">
                <a16:creationId xmlns:a16="http://schemas.microsoft.com/office/drawing/2014/main" id="{CB59F7D7-C865-48F4-90AB-730309BF65E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52600" y="4114800"/>
            <a:ext cx="5791200" cy="1071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4453" name="Picture 10" descr="C:\Documents and Settings\Administrator\My Documents\wg\编译原理\jiangyi\figures\9\tmpl8.gif">
            <a:extLst>
              <a:ext uri="{FF2B5EF4-FFF2-40B4-BE49-F238E27FC236}">
                <a16:creationId xmlns:a16="http://schemas.microsoft.com/office/drawing/2014/main" id="{82E0881F-9F52-4B56-AE06-BFF7D022E0C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04975" y="5786438"/>
            <a:ext cx="5229225" cy="10715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474" name="Rectangle 2">
            <a:extLst>
              <a:ext uri="{FF2B5EF4-FFF2-40B4-BE49-F238E27FC236}">
                <a16:creationId xmlns:a16="http://schemas.microsoft.com/office/drawing/2014/main" id="{5C6A5764-522C-4CE9-AAEA-62040EDE439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例</a:t>
            </a:r>
            <a:r>
              <a:rPr lang="en-US" altLang="zh-CN"/>
              <a:t>9.17  </a:t>
            </a:r>
            <a:r>
              <a:rPr lang="zh-CN" altLang="en-US"/>
              <a:t>由改写规则进行翻译</a:t>
            </a:r>
          </a:p>
        </p:txBody>
      </p:sp>
      <p:sp>
        <p:nvSpPr>
          <p:cNvPr id="105475" name="Rectangle 3">
            <a:extLst>
              <a:ext uri="{FF2B5EF4-FFF2-40B4-BE49-F238E27FC236}">
                <a16:creationId xmlns:a16="http://schemas.microsoft.com/office/drawing/2014/main" id="{C08132F4-EC8C-4243-BB31-2651AA354AF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182688" y="1371600"/>
            <a:ext cx="7772400" cy="685800"/>
          </a:xfrm>
        </p:spPr>
        <p:txBody>
          <a:bodyPr/>
          <a:lstStyle/>
          <a:p>
            <a:pPr eaLnBrk="1" hangingPunct="1"/>
            <a:r>
              <a:rPr lang="zh-CN" altLang="en-US"/>
              <a:t>输入</a:t>
            </a:r>
          </a:p>
        </p:txBody>
      </p:sp>
      <p:pic>
        <p:nvPicPr>
          <p:cNvPr id="105476" name="Picture 4" descr="C:\Documents and Settings\Administrator\My Documents\wg\编译原理\jiangyi\figures\9\codetree.gif">
            <a:extLst>
              <a:ext uri="{FF2B5EF4-FFF2-40B4-BE49-F238E27FC236}">
                <a16:creationId xmlns:a16="http://schemas.microsoft.com/office/drawing/2014/main" id="{08F65A65-9672-4ACF-A269-1F9A1466F50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52600" y="2133600"/>
            <a:ext cx="5456238" cy="3905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498" name="Rectangle 2">
            <a:extLst>
              <a:ext uri="{FF2B5EF4-FFF2-40B4-BE49-F238E27FC236}">
                <a16:creationId xmlns:a16="http://schemas.microsoft.com/office/drawing/2014/main" id="{611C028F-43CB-49FF-A012-29EBB5BB13A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例</a:t>
            </a:r>
            <a:r>
              <a:rPr lang="en-US" altLang="zh-CN"/>
              <a:t>9.17</a:t>
            </a:r>
            <a:r>
              <a:rPr lang="zh-CN" altLang="en-US"/>
              <a:t>（续）</a:t>
            </a:r>
          </a:p>
        </p:txBody>
      </p:sp>
      <p:pic>
        <p:nvPicPr>
          <p:cNvPr id="106499" name="Picture 6" descr="C:\Documents and Settings\Administrator\My Documents\wg\编译原理\jiangyi\figures\9\appl1.gif">
            <a:extLst>
              <a:ext uri="{FF2B5EF4-FFF2-40B4-BE49-F238E27FC236}">
                <a16:creationId xmlns:a16="http://schemas.microsoft.com/office/drawing/2014/main" id="{220A636C-1290-4AD7-B788-FA747A81E07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28800" y="1335088"/>
            <a:ext cx="5086350" cy="4175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6500" name="Picture 7" descr="C:\Documents and Settings\Administrator\My Documents\wg\编译原理\jiangyi\figures\9\appl7.gif">
            <a:extLst>
              <a:ext uri="{FF2B5EF4-FFF2-40B4-BE49-F238E27FC236}">
                <a16:creationId xmlns:a16="http://schemas.microsoft.com/office/drawing/2014/main" id="{61F03DA3-5159-4CD4-8DA1-E91932798C3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28800" y="1828800"/>
            <a:ext cx="5168900" cy="9255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6501" name="Picture 8" descr="C:\Documents and Settings\Administrator\My Documents\wg\编译原理\jiangyi\figures\9\step1.gif">
            <a:extLst>
              <a:ext uri="{FF2B5EF4-FFF2-40B4-BE49-F238E27FC236}">
                <a16:creationId xmlns:a16="http://schemas.microsoft.com/office/drawing/2014/main" id="{471CA58E-5713-4B5B-97AD-593AC65FC49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09800" y="3505200"/>
            <a:ext cx="3838575" cy="33448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6502" name="AutoShape 9">
            <a:extLst>
              <a:ext uri="{FF2B5EF4-FFF2-40B4-BE49-F238E27FC236}">
                <a16:creationId xmlns:a16="http://schemas.microsoft.com/office/drawing/2014/main" id="{9D24BD43-8A83-47C4-B777-24201EC94E7F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3962400" y="2819400"/>
            <a:ext cx="381000" cy="685800"/>
          </a:xfrm>
          <a:prstGeom prst="downArrow">
            <a:avLst>
              <a:gd name="adj1" fmla="val 50000"/>
              <a:gd name="adj2" fmla="val 45000"/>
            </a:avLst>
          </a:prstGeom>
          <a:solidFill>
            <a:srgbClr val="FF330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algn="ctr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algn="ctr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algn="ctr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algn="ctr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algn="ctr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522" name="Rectangle 2">
            <a:extLst>
              <a:ext uri="{FF2B5EF4-FFF2-40B4-BE49-F238E27FC236}">
                <a16:creationId xmlns:a16="http://schemas.microsoft.com/office/drawing/2014/main" id="{59897191-EB89-4BDE-A14E-57E5284B048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例</a:t>
            </a:r>
            <a:r>
              <a:rPr lang="en-US" altLang="zh-CN"/>
              <a:t>9.17</a:t>
            </a:r>
            <a:r>
              <a:rPr lang="zh-CN" altLang="en-US"/>
              <a:t>（续）</a:t>
            </a:r>
          </a:p>
        </p:txBody>
      </p:sp>
      <p:sp>
        <p:nvSpPr>
          <p:cNvPr id="107523" name="Rectangle 7">
            <a:extLst>
              <a:ext uri="{FF2B5EF4-FFF2-40B4-BE49-F238E27FC236}">
                <a16:creationId xmlns:a16="http://schemas.microsoft.com/office/drawing/2014/main" id="{CA6E7FCE-35DE-423E-BE5D-6800FDC38F1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182688" y="1371600"/>
            <a:ext cx="7772400" cy="685800"/>
          </a:xfrm>
          <a:noFill/>
        </p:spPr>
        <p:txBody>
          <a:bodyPr/>
          <a:lstStyle/>
          <a:p>
            <a:pPr eaLnBrk="1" hangingPunct="1">
              <a:buFont typeface="Wingdings" panose="05000000000000000000" pitchFamily="2" charset="2"/>
              <a:buNone/>
            </a:pPr>
            <a:r>
              <a:rPr lang="zh-CN" altLang="en-US"/>
              <a:t>可对子树                        应用规则</a:t>
            </a:r>
            <a:r>
              <a:rPr lang="en-US" altLang="zh-CN"/>
              <a:t>(5)</a:t>
            </a:r>
          </a:p>
        </p:txBody>
      </p:sp>
      <p:pic>
        <p:nvPicPr>
          <p:cNvPr id="107524" name="Picture 8" descr="C:\Documents and Settings\Administrator\My Documents\wg\编译原理\jiangyi\figures\9\appl5.gif">
            <a:extLst>
              <a:ext uri="{FF2B5EF4-FFF2-40B4-BE49-F238E27FC236}">
                <a16:creationId xmlns:a16="http://schemas.microsoft.com/office/drawing/2014/main" id="{3CA567A4-3395-48B5-9BF7-4425C6B5B38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71800" y="1371600"/>
            <a:ext cx="2178050" cy="18748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7525" name="Rectangle 9">
            <a:extLst>
              <a:ext uri="{FF2B5EF4-FFF2-40B4-BE49-F238E27FC236}">
                <a16:creationId xmlns:a16="http://schemas.microsoft.com/office/drawing/2014/main" id="{F8931179-2500-4554-9EE2-114B327B59C2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8200" y="4419600"/>
            <a:ext cx="8124825" cy="1524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 typeface="Wingdings" panose="05000000000000000000" pitchFamily="2" charset="2"/>
              <a:buNone/>
            </a:pPr>
            <a:r>
              <a:rPr lang="zh-CN" altLang="en-US"/>
              <a:t>也可对子树                               应用规则</a:t>
            </a:r>
            <a:r>
              <a:rPr lang="en-US" altLang="zh-CN"/>
              <a:t>(6)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/>
              <a:t>						      ADD i(SP), R0</a:t>
            </a:r>
          </a:p>
        </p:txBody>
      </p:sp>
      <p:pic>
        <p:nvPicPr>
          <p:cNvPr id="107526" name="Picture 10" descr="C:\Documents and Settings\Administrator\My Documents\wg\编译原理\jiangyi\figures\9\appl6.gif">
            <a:extLst>
              <a:ext uri="{FF2B5EF4-FFF2-40B4-BE49-F238E27FC236}">
                <a16:creationId xmlns:a16="http://schemas.microsoft.com/office/drawing/2014/main" id="{BF4975AC-096C-42A3-BEA0-713CDD1A0DC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48000" y="3810000"/>
            <a:ext cx="3033713" cy="2536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546" name="Rectangle 2">
            <a:extLst>
              <a:ext uri="{FF2B5EF4-FFF2-40B4-BE49-F238E27FC236}">
                <a16:creationId xmlns:a16="http://schemas.microsoft.com/office/drawing/2014/main" id="{AB1BBE9E-BA3E-49C5-9F41-4F6B8ACC400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例</a:t>
            </a:r>
            <a:r>
              <a:rPr lang="en-US" altLang="zh-CN"/>
              <a:t>9.17</a:t>
            </a:r>
            <a:r>
              <a:rPr lang="zh-CN" altLang="en-US"/>
              <a:t>（续）</a:t>
            </a:r>
          </a:p>
        </p:txBody>
      </p:sp>
      <p:sp>
        <p:nvSpPr>
          <p:cNvPr id="108547" name="Rectangle 3">
            <a:extLst>
              <a:ext uri="{FF2B5EF4-FFF2-40B4-BE49-F238E27FC236}">
                <a16:creationId xmlns:a16="http://schemas.microsoft.com/office/drawing/2014/main" id="{C491BD7D-1979-4640-82A7-8B4911F98F5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182688" y="2895600"/>
            <a:ext cx="7772400" cy="1143000"/>
          </a:xfrm>
          <a:noFill/>
        </p:spPr>
        <p:txBody>
          <a:bodyPr/>
          <a:lstStyle/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zh-CN" altLang="en-US"/>
              <a:t>对</a:t>
            </a:r>
            <a:r>
              <a:rPr lang="en-US" altLang="zh-CN"/>
              <a:t>mem</a:t>
            </a:r>
            <a:r>
              <a:rPr lang="en-US" altLang="zh-CN" baseline="-25000"/>
              <a:t>b</a:t>
            </a:r>
            <a:r>
              <a:rPr lang="zh-CN" altLang="en-US"/>
              <a:t>应用规则</a:t>
            </a:r>
            <a:r>
              <a:rPr lang="en-US" altLang="zh-CN"/>
              <a:t>(2)</a:t>
            </a:r>
            <a:r>
              <a:rPr lang="zh-CN" altLang="en-US"/>
              <a:t>：</a:t>
            </a:r>
            <a:r>
              <a:rPr lang="en-US" altLang="zh-CN"/>
              <a:t>MOV b</a:t>
            </a:r>
            <a:r>
              <a:rPr lang="zh-CN" altLang="en-US"/>
              <a:t>， </a:t>
            </a:r>
            <a:r>
              <a:rPr lang="en-US" altLang="zh-CN"/>
              <a:t>R1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zh-CN" altLang="en-US"/>
              <a:t>再应用规则</a:t>
            </a:r>
            <a:r>
              <a:rPr lang="en-US" altLang="zh-CN"/>
              <a:t>(8)</a:t>
            </a:r>
            <a:r>
              <a:rPr lang="zh-CN" altLang="en-US"/>
              <a:t>：</a:t>
            </a:r>
            <a:r>
              <a:rPr lang="en-US" altLang="zh-CN"/>
              <a:t>INC R1</a:t>
            </a:r>
          </a:p>
        </p:txBody>
      </p:sp>
      <p:pic>
        <p:nvPicPr>
          <p:cNvPr id="108548" name="Picture 9" descr="C:\Documents and Settings\Administrator\My Documents\wg\编译原理\jiangyi\figures\9\step2.gif">
            <a:extLst>
              <a:ext uri="{FF2B5EF4-FFF2-40B4-BE49-F238E27FC236}">
                <a16:creationId xmlns:a16="http://schemas.microsoft.com/office/drawing/2014/main" id="{23A1CDE2-464D-44B0-8CC5-7F63B0F3CCC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6000" y="1319213"/>
            <a:ext cx="3208338" cy="15763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8549" name="Picture 10" descr="C:\Documents and Settings\Administrator\My Documents\wg\编译原理\jiangyi\figures\9\step3.gif">
            <a:extLst>
              <a:ext uri="{FF2B5EF4-FFF2-40B4-BE49-F238E27FC236}">
                <a16:creationId xmlns:a16="http://schemas.microsoft.com/office/drawing/2014/main" id="{9BEA4F96-18A8-49FF-A1A0-396366F9848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62200" y="3962400"/>
            <a:ext cx="2625725" cy="15636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8550" name="Rectangle 11">
            <a:extLst>
              <a:ext uri="{FF2B5EF4-FFF2-40B4-BE49-F238E27FC236}">
                <a16:creationId xmlns:a16="http://schemas.microsoft.com/office/drawing/2014/main" id="{1E836F2E-7390-4CA6-971F-B37D1C9CBB4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82688" y="5638800"/>
            <a:ext cx="7772400" cy="685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 typeface="Wingdings" panose="05000000000000000000" pitchFamily="2" charset="2"/>
              <a:buNone/>
            </a:pPr>
            <a:r>
              <a:rPr lang="zh-CN" altLang="en-US"/>
              <a:t>最后应用规则</a:t>
            </a:r>
            <a:r>
              <a:rPr lang="en-US" altLang="zh-CN"/>
              <a:t>(4)</a:t>
            </a:r>
            <a:r>
              <a:rPr lang="zh-CN" altLang="en-US"/>
              <a:t>：</a:t>
            </a:r>
            <a:r>
              <a:rPr lang="en-US" altLang="zh-CN"/>
              <a:t>MOV R1, *R0</a:t>
            </a:r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570" name="Rectangle 2">
            <a:extLst>
              <a:ext uri="{FF2B5EF4-FFF2-40B4-BE49-F238E27FC236}">
                <a16:creationId xmlns:a16="http://schemas.microsoft.com/office/drawing/2014/main" id="{4216AC92-28FF-41F3-9215-AAA938B6E70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例</a:t>
            </a:r>
            <a:r>
              <a:rPr lang="en-US" altLang="zh-CN"/>
              <a:t>9.17</a:t>
            </a:r>
            <a:r>
              <a:rPr lang="zh-CN" altLang="en-US"/>
              <a:t>（续）</a:t>
            </a:r>
          </a:p>
        </p:txBody>
      </p:sp>
      <p:sp>
        <p:nvSpPr>
          <p:cNvPr id="109571" name="Rectangle 3">
            <a:extLst>
              <a:ext uri="{FF2B5EF4-FFF2-40B4-BE49-F238E27FC236}">
                <a16:creationId xmlns:a16="http://schemas.microsoft.com/office/drawing/2014/main" id="{571595B3-B472-4BC4-9620-C94E22E70AC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/>
              <a:t>MOV #a, R0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/>
              <a:t>ADD SP, R0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/>
              <a:t>ADD i(SP), R0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/>
              <a:t>MOV b, R1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/>
              <a:t>INC R1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/>
              <a:t>MOV R1, *R0</a:t>
            </a:r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594" name="Rectangle 2">
            <a:extLst>
              <a:ext uri="{FF2B5EF4-FFF2-40B4-BE49-F238E27FC236}">
                <a16:creationId xmlns:a16="http://schemas.microsoft.com/office/drawing/2014/main" id="{C7F5C43A-6EC0-473A-B658-AD52251B2D0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几个问题</a:t>
            </a:r>
          </a:p>
        </p:txBody>
      </p:sp>
      <p:sp>
        <p:nvSpPr>
          <p:cNvPr id="110595" name="Rectangle 3">
            <a:extLst>
              <a:ext uri="{FF2B5EF4-FFF2-40B4-BE49-F238E27FC236}">
                <a16:creationId xmlns:a16="http://schemas.microsoft.com/office/drawing/2014/main" id="{71D4B199-8323-4B91-BB5E-C66A52AE0B0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如何匹配？</a:t>
            </a:r>
            <a:r>
              <a:rPr lang="en-US" altLang="zh-CN"/>
              <a:t>——</a:t>
            </a:r>
            <a:r>
              <a:rPr lang="zh-CN" altLang="en-US"/>
              <a:t>习题</a:t>
            </a:r>
            <a:r>
              <a:rPr lang="en-US" altLang="zh-CN"/>
              <a:t>3.32</a:t>
            </a:r>
            <a:r>
              <a:rPr lang="zh-CN" altLang="en-US"/>
              <a:t>，用字符串表示模板</a:t>
            </a:r>
          </a:p>
          <a:p>
            <a:pPr eaLnBrk="1" hangingPunct="1"/>
            <a:r>
              <a:rPr lang="zh-CN" altLang="en-US"/>
              <a:t>匹配顺序和多匹配问题</a:t>
            </a:r>
            <a:r>
              <a:rPr lang="en-US" altLang="zh-CN"/>
              <a:t>——</a:t>
            </a:r>
            <a:r>
              <a:rPr lang="zh-CN" altLang="en-US"/>
              <a:t>结合动态规划算法</a:t>
            </a:r>
          </a:p>
          <a:p>
            <a:pPr eaLnBrk="1" hangingPunct="1"/>
            <a:r>
              <a:rPr lang="zh-CN" altLang="en-US"/>
              <a:t>实现方法</a:t>
            </a:r>
          </a:p>
          <a:p>
            <a:pPr lvl="1" eaLnBrk="1" hangingPunct="1"/>
            <a:r>
              <a:rPr lang="zh-CN" altLang="en-US"/>
              <a:t>深度优先遍历输入树，同时进行匹配</a:t>
            </a:r>
          </a:p>
          <a:p>
            <a:pPr lvl="1" eaLnBrk="1" hangingPunct="1"/>
            <a:r>
              <a:rPr lang="zh-CN" altLang="en-US"/>
              <a:t>可利用动态规划算法获取最优匹配</a:t>
            </a:r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618" name="Rectangle 2">
            <a:extLst>
              <a:ext uri="{FF2B5EF4-FFF2-40B4-BE49-F238E27FC236}">
                <a16:creationId xmlns:a16="http://schemas.microsoft.com/office/drawing/2014/main" id="{AA023440-CEAA-48A2-9C2F-EAE4AE9D046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sz="4000"/>
              <a:t>9.12.2  </a:t>
            </a:r>
            <a:r>
              <a:rPr lang="zh-CN" altLang="en-US" sz="4000"/>
              <a:t>利用语法分析的模式匹配</a:t>
            </a:r>
          </a:p>
        </p:txBody>
      </p:sp>
      <p:sp>
        <p:nvSpPr>
          <p:cNvPr id="111619" name="Rectangle 3">
            <a:extLst>
              <a:ext uri="{FF2B5EF4-FFF2-40B4-BE49-F238E27FC236}">
                <a16:creationId xmlns:a16="http://schemas.microsoft.com/office/drawing/2014/main" id="{60A138FD-E115-4B05-9FA7-08A7A90EF8E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182688" y="1371600"/>
            <a:ext cx="7772400" cy="5486400"/>
          </a:xfrm>
        </p:spPr>
        <p:txBody>
          <a:bodyPr/>
          <a:lstStyle/>
          <a:p>
            <a:pPr marL="609600" indent="-609600" eaLnBrk="1" hangingPunct="1"/>
            <a:r>
              <a:rPr lang="zh-CN" altLang="en-US"/>
              <a:t>输入树的前缀表示法</a:t>
            </a:r>
            <a:endParaRPr lang="zh-CN" altLang="en-US" sz="2400"/>
          </a:p>
          <a:p>
            <a:pPr marL="990600" lvl="1" indent="-533400" eaLnBrk="1" hangingPunct="1">
              <a:buFont typeface="Wingdings" panose="05000000000000000000" pitchFamily="2" charset="2"/>
              <a:buNone/>
            </a:pPr>
            <a:r>
              <a:rPr lang="en-US" altLang="zh-CN" sz="2400"/>
              <a:t>:= ind + + const</a:t>
            </a:r>
            <a:r>
              <a:rPr lang="en-US" altLang="zh-CN" sz="2400" baseline="-25000"/>
              <a:t>a</a:t>
            </a:r>
            <a:r>
              <a:rPr lang="en-US" altLang="zh-CN" sz="2400"/>
              <a:t> reg</a:t>
            </a:r>
            <a:r>
              <a:rPr lang="en-US" altLang="zh-CN" sz="2400" baseline="-25000"/>
              <a:t>SP</a:t>
            </a:r>
            <a:r>
              <a:rPr lang="en-US" altLang="zh-CN" sz="2400"/>
              <a:t> ind + const</a:t>
            </a:r>
            <a:r>
              <a:rPr lang="en-US" altLang="zh-CN" sz="2400" baseline="-25000"/>
              <a:t>i</a:t>
            </a:r>
            <a:r>
              <a:rPr lang="en-US" altLang="zh-CN" sz="2400"/>
              <a:t> reg</a:t>
            </a:r>
            <a:r>
              <a:rPr lang="en-US" altLang="zh-CN" sz="2400" baseline="-25000"/>
              <a:t>SP</a:t>
            </a:r>
            <a:r>
              <a:rPr lang="en-US" altLang="zh-CN" sz="2400"/>
              <a:t> + mem</a:t>
            </a:r>
            <a:r>
              <a:rPr lang="en-US" altLang="zh-CN" sz="2400" baseline="-25000"/>
              <a:t>b</a:t>
            </a:r>
            <a:r>
              <a:rPr lang="en-US" altLang="zh-CN" sz="2400"/>
              <a:t> const</a:t>
            </a:r>
            <a:r>
              <a:rPr lang="en-US" altLang="zh-CN" sz="2400" baseline="-25000"/>
              <a:t>1</a:t>
            </a:r>
            <a:endParaRPr lang="en-US" altLang="zh-CN" sz="2400"/>
          </a:p>
          <a:p>
            <a:pPr marL="609600" indent="-609600" eaLnBrk="1" hangingPunct="1"/>
            <a:r>
              <a:rPr lang="zh-CN" altLang="en-US"/>
              <a:t>对它进行语法分析，利用翻译模式进行翻译</a:t>
            </a:r>
          </a:p>
          <a:p>
            <a:pPr marL="609600" indent="-609600" eaLnBrk="1" hangingPunct="1">
              <a:buFont typeface="Wingdings" panose="05000000000000000000" pitchFamily="2" charset="2"/>
              <a:buAutoNum type="arabicParenBoth"/>
            </a:pPr>
            <a:r>
              <a:rPr lang="en-US" altLang="zh-CN" sz="2000"/>
              <a:t>reg</a:t>
            </a:r>
            <a:r>
              <a:rPr lang="en-US" altLang="zh-CN" sz="2000" baseline="-25000"/>
              <a:t>i</a:t>
            </a:r>
            <a:r>
              <a:rPr lang="en-US" altLang="zh-CN" sz="2000"/>
              <a:t> → const</a:t>
            </a:r>
            <a:r>
              <a:rPr lang="en-US" altLang="zh-CN" sz="2000" baseline="-25000"/>
              <a:t>c</a:t>
            </a:r>
            <a:r>
              <a:rPr lang="en-US" altLang="zh-CN" sz="2000"/>
              <a:t>		{ MOV #c, Ri }</a:t>
            </a:r>
          </a:p>
          <a:p>
            <a:pPr marL="609600" indent="-609600" eaLnBrk="1" hangingPunct="1">
              <a:buFont typeface="Wingdings" panose="05000000000000000000" pitchFamily="2" charset="2"/>
              <a:buAutoNum type="arabicParenBoth"/>
            </a:pPr>
            <a:r>
              <a:rPr lang="en-US" altLang="zh-CN" sz="2000"/>
              <a:t>reg</a:t>
            </a:r>
            <a:r>
              <a:rPr lang="en-US" altLang="zh-CN" sz="2000" baseline="-25000"/>
              <a:t>i</a:t>
            </a:r>
            <a:r>
              <a:rPr lang="en-US" altLang="zh-CN" sz="2000"/>
              <a:t> → mem</a:t>
            </a:r>
            <a:r>
              <a:rPr lang="en-US" altLang="zh-CN" sz="2000" baseline="-25000"/>
              <a:t>a</a:t>
            </a:r>
            <a:r>
              <a:rPr lang="en-US" altLang="zh-CN" sz="2000"/>
              <a:t>		{ MOV a, Ri }</a:t>
            </a:r>
          </a:p>
          <a:p>
            <a:pPr marL="609600" indent="-609600" eaLnBrk="1" hangingPunct="1">
              <a:buFont typeface="Wingdings" panose="05000000000000000000" pitchFamily="2" charset="2"/>
              <a:buAutoNum type="arabicParenBoth"/>
            </a:pPr>
            <a:r>
              <a:rPr lang="en-US" altLang="zh-CN" sz="2000"/>
              <a:t>mem → := mem</a:t>
            </a:r>
            <a:r>
              <a:rPr lang="en-US" altLang="zh-CN" sz="2000" baseline="-25000"/>
              <a:t>a</a:t>
            </a:r>
            <a:r>
              <a:rPr lang="en-US" altLang="zh-CN" sz="2000"/>
              <a:t> reg</a:t>
            </a:r>
            <a:r>
              <a:rPr lang="en-US" altLang="zh-CN" sz="2000" baseline="-25000"/>
              <a:t>i</a:t>
            </a:r>
            <a:r>
              <a:rPr lang="en-US" altLang="zh-CN" sz="2000"/>
              <a:t>	{ MOV Ri, a }</a:t>
            </a:r>
          </a:p>
          <a:p>
            <a:pPr marL="609600" indent="-609600" eaLnBrk="1" hangingPunct="1">
              <a:buFont typeface="Wingdings" panose="05000000000000000000" pitchFamily="2" charset="2"/>
              <a:buAutoNum type="arabicParenBoth"/>
            </a:pPr>
            <a:r>
              <a:rPr lang="en-US" altLang="zh-CN" sz="2000"/>
              <a:t>mem → := ind reg</a:t>
            </a:r>
            <a:r>
              <a:rPr lang="en-US" altLang="zh-CN" sz="2000" baseline="-25000"/>
              <a:t>i</a:t>
            </a:r>
            <a:r>
              <a:rPr lang="en-US" altLang="zh-CN" sz="2000"/>
              <a:t> reg</a:t>
            </a:r>
            <a:r>
              <a:rPr lang="en-US" altLang="zh-CN" sz="2000" baseline="-25000"/>
              <a:t>j</a:t>
            </a:r>
            <a:r>
              <a:rPr lang="en-US" altLang="zh-CN" sz="2000"/>
              <a:t>	{ MOV Rj, *Ri }</a:t>
            </a:r>
          </a:p>
          <a:p>
            <a:pPr marL="609600" indent="-609600" eaLnBrk="1" hangingPunct="1">
              <a:buFont typeface="Wingdings" panose="05000000000000000000" pitchFamily="2" charset="2"/>
              <a:buAutoNum type="arabicParenBoth"/>
            </a:pPr>
            <a:r>
              <a:rPr lang="en-US" altLang="zh-CN" sz="2000"/>
              <a:t>reg</a:t>
            </a:r>
            <a:r>
              <a:rPr lang="en-US" altLang="zh-CN" sz="2000" baseline="-25000"/>
              <a:t>i</a:t>
            </a:r>
            <a:r>
              <a:rPr lang="en-US" altLang="zh-CN" sz="2000"/>
              <a:t> → ind + const</a:t>
            </a:r>
            <a:r>
              <a:rPr lang="en-US" altLang="zh-CN" sz="2000" baseline="-25000"/>
              <a:t>c</a:t>
            </a:r>
            <a:r>
              <a:rPr lang="en-US" altLang="zh-CN" sz="2000"/>
              <a:t> reg</a:t>
            </a:r>
            <a:r>
              <a:rPr lang="en-US" altLang="zh-CN" sz="2000" baseline="-25000"/>
              <a:t>j</a:t>
            </a:r>
            <a:r>
              <a:rPr lang="en-US" altLang="zh-CN" sz="2000"/>
              <a:t>	{ MOV c(Rj), Ri }</a:t>
            </a:r>
          </a:p>
          <a:p>
            <a:pPr marL="609600" indent="-609600" eaLnBrk="1" hangingPunct="1">
              <a:buFont typeface="Wingdings" panose="05000000000000000000" pitchFamily="2" charset="2"/>
              <a:buAutoNum type="arabicParenBoth"/>
            </a:pPr>
            <a:r>
              <a:rPr lang="en-US" altLang="zh-CN" sz="2000"/>
              <a:t>reg</a:t>
            </a:r>
            <a:r>
              <a:rPr lang="en-US" altLang="zh-CN" sz="2000" baseline="-25000"/>
              <a:t>i</a:t>
            </a:r>
            <a:r>
              <a:rPr lang="en-US" altLang="zh-CN" sz="2000"/>
              <a:t> → + reg</a:t>
            </a:r>
            <a:r>
              <a:rPr lang="en-US" altLang="zh-CN" sz="2000" baseline="-25000"/>
              <a:t>i</a:t>
            </a:r>
            <a:r>
              <a:rPr lang="en-US" altLang="zh-CN" sz="2000"/>
              <a:t> ind + const</a:t>
            </a:r>
            <a:r>
              <a:rPr lang="en-US" altLang="zh-CN" sz="2000" baseline="-25000"/>
              <a:t>c</a:t>
            </a:r>
            <a:r>
              <a:rPr lang="en-US" altLang="zh-CN" sz="2000"/>
              <a:t> reg</a:t>
            </a:r>
            <a:r>
              <a:rPr lang="en-US" altLang="zh-CN" sz="2000" baseline="-25000"/>
              <a:t>j</a:t>
            </a:r>
            <a:r>
              <a:rPr lang="en-US" altLang="zh-CN" sz="2000"/>
              <a:t>	{ ADD c(Rj), Ri }</a:t>
            </a:r>
          </a:p>
          <a:p>
            <a:pPr marL="609600" indent="-609600" eaLnBrk="1" hangingPunct="1">
              <a:buFont typeface="Wingdings" panose="05000000000000000000" pitchFamily="2" charset="2"/>
              <a:buAutoNum type="arabicParenBoth"/>
            </a:pPr>
            <a:r>
              <a:rPr lang="en-US" altLang="zh-CN" sz="2000"/>
              <a:t>reg</a:t>
            </a:r>
            <a:r>
              <a:rPr lang="en-US" altLang="zh-CN" sz="2000" baseline="-25000"/>
              <a:t>i</a:t>
            </a:r>
            <a:r>
              <a:rPr lang="en-US" altLang="zh-CN" sz="2000"/>
              <a:t> → + reg</a:t>
            </a:r>
            <a:r>
              <a:rPr lang="en-US" altLang="zh-CN" sz="2000" baseline="-25000"/>
              <a:t>i</a:t>
            </a:r>
            <a:r>
              <a:rPr lang="en-US" altLang="zh-CN" sz="2000"/>
              <a:t> reg</a:t>
            </a:r>
            <a:r>
              <a:rPr lang="en-US" altLang="zh-CN" sz="2000" baseline="-25000"/>
              <a:t>j</a:t>
            </a:r>
            <a:r>
              <a:rPr lang="en-US" altLang="zh-CN" sz="2000"/>
              <a:t>		{ ADD Rj, Ri }</a:t>
            </a:r>
          </a:p>
          <a:p>
            <a:pPr marL="609600" indent="-609600" eaLnBrk="1" hangingPunct="1">
              <a:buFont typeface="Wingdings" panose="05000000000000000000" pitchFamily="2" charset="2"/>
              <a:buAutoNum type="arabicParenBoth"/>
            </a:pPr>
            <a:r>
              <a:rPr lang="en-US" altLang="zh-CN" sz="2000"/>
              <a:t>reg</a:t>
            </a:r>
            <a:r>
              <a:rPr lang="en-US" altLang="zh-CN" sz="2000" baseline="-25000"/>
              <a:t>i</a:t>
            </a:r>
            <a:r>
              <a:rPr lang="en-US" altLang="zh-CN" sz="2000"/>
              <a:t> → + reg</a:t>
            </a:r>
            <a:r>
              <a:rPr lang="en-US" altLang="zh-CN" sz="2000" baseline="-25000"/>
              <a:t>i</a:t>
            </a:r>
            <a:r>
              <a:rPr lang="en-US" altLang="zh-CN" sz="2000"/>
              <a:t> const</a:t>
            </a:r>
            <a:r>
              <a:rPr lang="en-US" altLang="zh-CN" sz="2000" baseline="-25000"/>
              <a:t>1</a:t>
            </a:r>
            <a:r>
              <a:rPr lang="en-US" altLang="zh-CN" sz="2000"/>
              <a:t>		{ INC Ri }</a:t>
            </a:r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42" name="Rectangle 2">
            <a:extLst>
              <a:ext uri="{FF2B5EF4-FFF2-40B4-BE49-F238E27FC236}">
                <a16:creationId xmlns:a16="http://schemas.microsoft.com/office/drawing/2014/main" id="{D64698C0-BACA-43C3-887B-19712DF47D9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语法分析方法进行代码生成</a:t>
            </a:r>
          </a:p>
        </p:txBody>
      </p:sp>
      <p:sp>
        <p:nvSpPr>
          <p:cNvPr id="112643" name="Rectangle 3">
            <a:extLst>
              <a:ext uri="{FF2B5EF4-FFF2-40B4-BE49-F238E27FC236}">
                <a16:creationId xmlns:a16="http://schemas.microsoft.com/office/drawing/2014/main" id="{372628EC-DF95-4431-8E7B-62A999D1A42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182688" y="1371600"/>
            <a:ext cx="7772400" cy="5486400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zh-CN" altLang="en-US"/>
              <a:t>二义性</a:t>
            </a:r>
          </a:p>
          <a:p>
            <a:pPr lvl="1" eaLnBrk="1" hangingPunct="1">
              <a:lnSpc>
                <a:spcPct val="90000"/>
              </a:lnSpc>
            </a:pPr>
            <a:r>
              <a:rPr lang="zh-CN" altLang="en-US"/>
              <a:t>规约－规约冲突：选择较长的规约</a:t>
            </a:r>
          </a:p>
          <a:p>
            <a:pPr lvl="1" eaLnBrk="1" hangingPunct="1">
              <a:lnSpc>
                <a:spcPct val="90000"/>
              </a:lnSpc>
            </a:pPr>
            <a:r>
              <a:rPr lang="zh-CN" altLang="en-US"/>
              <a:t>移进－规约冲突：移进</a:t>
            </a:r>
          </a:p>
          <a:p>
            <a:pPr eaLnBrk="1" hangingPunct="1">
              <a:lnSpc>
                <a:spcPct val="90000"/>
              </a:lnSpc>
            </a:pPr>
            <a:r>
              <a:rPr lang="zh-CN" altLang="en-US"/>
              <a:t>优点</a:t>
            </a:r>
          </a:p>
          <a:p>
            <a:pPr lvl="1" eaLnBrk="1" hangingPunct="1">
              <a:lnSpc>
                <a:spcPct val="90000"/>
              </a:lnSpc>
            </a:pPr>
            <a:r>
              <a:rPr lang="zh-CN" altLang="en-US"/>
              <a:t>实现可靠、高效</a:t>
            </a:r>
          </a:p>
          <a:p>
            <a:pPr lvl="1" eaLnBrk="1" hangingPunct="1">
              <a:lnSpc>
                <a:spcPct val="90000"/>
              </a:lnSpc>
            </a:pPr>
            <a:r>
              <a:rPr lang="zh-CN" altLang="en-US"/>
              <a:t>移植方便</a:t>
            </a:r>
          </a:p>
          <a:p>
            <a:pPr lvl="1" eaLnBrk="1" hangingPunct="1">
              <a:lnSpc>
                <a:spcPct val="90000"/>
              </a:lnSpc>
            </a:pPr>
            <a:r>
              <a:rPr lang="zh-CN" altLang="en-US"/>
              <a:t>可方便实现利用机器特性的高效代码生成</a:t>
            </a:r>
          </a:p>
          <a:p>
            <a:pPr eaLnBrk="1" hangingPunct="1">
              <a:lnSpc>
                <a:spcPct val="90000"/>
              </a:lnSpc>
            </a:pPr>
            <a:r>
              <a:rPr lang="zh-CN" altLang="en-US"/>
              <a:t>缺点</a:t>
            </a:r>
          </a:p>
          <a:p>
            <a:pPr lvl="1" eaLnBrk="1" hangingPunct="1">
              <a:lnSpc>
                <a:spcPct val="90000"/>
              </a:lnSpc>
            </a:pPr>
            <a:r>
              <a:rPr lang="zh-CN" altLang="en-US"/>
              <a:t>语法分析限制了计算顺序：左</a:t>
            </a:r>
            <a:r>
              <a:rPr lang="zh-CN" altLang="en-US">
                <a:sym typeface="Wingdings" panose="05000000000000000000" pitchFamily="2" charset="2"/>
              </a:rPr>
              <a:t>右</a:t>
            </a:r>
          </a:p>
          <a:p>
            <a:pPr lvl="1" eaLnBrk="1" hangingPunct="1">
              <a:lnSpc>
                <a:spcPct val="90000"/>
              </a:lnSpc>
            </a:pPr>
            <a:r>
              <a:rPr lang="zh-CN" altLang="en-US">
                <a:sym typeface="Wingdings" panose="05000000000000000000" pitchFamily="2" charset="2"/>
              </a:rPr>
              <a:t>文法可能过于庞大</a:t>
            </a:r>
          </a:p>
          <a:p>
            <a:pPr lvl="1" eaLnBrk="1" hangingPunct="1">
              <a:lnSpc>
                <a:spcPct val="90000"/>
              </a:lnSpc>
            </a:pPr>
            <a:r>
              <a:rPr lang="zh-CN" altLang="en-US"/>
              <a:t>避免无法分析和无限循环问题</a:t>
            </a:r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666" name="Rectangle 2">
            <a:extLst>
              <a:ext uri="{FF2B5EF4-FFF2-40B4-BE49-F238E27FC236}">
                <a16:creationId xmlns:a16="http://schemas.microsoft.com/office/drawing/2014/main" id="{9EC7CE2F-BF8B-4C41-88A1-D115E5AE295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9.12.3  </a:t>
            </a:r>
            <a:r>
              <a:rPr lang="zh-CN" altLang="en-US"/>
              <a:t>语义检查</a:t>
            </a:r>
          </a:p>
        </p:txBody>
      </p:sp>
      <p:sp>
        <p:nvSpPr>
          <p:cNvPr id="113667" name="Rectangle 3">
            <a:extLst>
              <a:ext uri="{FF2B5EF4-FFF2-40B4-BE49-F238E27FC236}">
                <a16:creationId xmlns:a16="http://schemas.microsoft.com/office/drawing/2014/main" id="{C81FF106-FD69-4B31-BF1A-4683802C6B0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输入树叶节点：类型＋下标</a:t>
            </a:r>
          </a:p>
          <a:p>
            <a:pPr eaLnBrk="1" hangingPunct="1"/>
            <a:r>
              <a:rPr lang="zh-CN" altLang="en-US"/>
              <a:t>机器指令对下标可能有限制</a:t>
            </a:r>
          </a:p>
          <a:p>
            <a:pPr eaLnBrk="1" hangingPunct="1"/>
            <a:r>
              <a:rPr lang="zh-CN" altLang="en-US"/>
              <a:t>在语义动作中添加检查部分</a:t>
            </a:r>
          </a:p>
        </p:txBody>
      </p:sp>
      <p:pic>
        <p:nvPicPr>
          <p:cNvPr id="113668" name="Picture 4" descr="C:\Documents and Settings\Administrator\My Documents\wg\编译原理\jiangyi\figures\9\check.gif">
            <a:extLst>
              <a:ext uri="{FF2B5EF4-FFF2-40B4-BE49-F238E27FC236}">
                <a16:creationId xmlns:a16="http://schemas.microsoft.com/office/drawing/2014/main" id="{86812D98-AE6F-43AA-9EF8-5D9A4040CB2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43000" y="3657600"/>
            <a:ext cx="7143750" cy="1863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Blends">
  <a:themeElements>
    <a:clrScheme name="">
      <a:dk1>
        <a:srgbClr val="000000"/>
      </a:dk1>
      <a:lt1>
        <a:srgbClr val="FFFFFF"/>
      </a:lt1>
      <a:dk2>
        <a:srgbClr val="333399"/>
      </a:dk2>
      <a:lt2>
        <a:srgbClr val="1C1C1C"/>
      </a:lt2>
      <a:accent1>
        <a:srgbClr val="00E4A8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FD1"/>
      </a:accent5>
      <a:accent6>
        <a:srgbClr val="2D2DB9"/>
      </a:accent6>
      <a:hlink>
        <a:srgbClr val="FF0000"/>
      </a:hlink>
      <a:folHlink>
        <a:srgbClr val="3333CC"/>
      </a:folHlink>
    </a:clrScheme>
    <a:fontScheme name="Blends">
      <a:majorFont>
        <a:latin typeface="Times New Roman"/>
        <a:ea typeface="宋体"/>
        <a:cs typeface=""/>
      </a:majorFont>
      <a:minorFont>
        <a:latin typeface="Times New Roman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FFCF01"/>
        </a:solidFill>
        <a:ln>
          <a:noFill/>
        </a:ln>
        <a:effectLst/>
        <a:extLst>
          <a:ext uri="{91240B29-F687-4F45-9708-019B960494DF}">
            <a14:hiddenLine xmlns:a14="http://schemas.microsoft.com/office/drawing/2010/main"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14:hiddenLine>
          </a:ex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zh-CN" alt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ahoma" panose="020B0604030504040204" pitchFamily="34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FFCF01"/>
        </a:solidFill>
        <a:ln>
          <a:noFill/>
        </a:ln>
        <a:effectLst/>
        <a:extLst>
          <a:ext uri="{91240B29-F687-4F45-9708-019B960494DF}">
            <a14:hiddenLine xmlns:a14="http://schemas.microsoft.com/office/drawing/2010/main"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14:hiddenLine>
          </a:ex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zh-CN" alt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ahoma" panose="020B0604030504040204" pitchFamily="34" charset="0"/>
            <a:ea typeface="宋体" panose="02010600030101010101" pitchFamily="2" charset="-122"/>
          </a:defRPr>
        </a:defPPr>
      </a:lstStyle>
    </a:lnDef>
  </a:objectDefaults>
  <a:extraClrSchemeLst>
    <a:extraClrScheme>
      <a:clrScheme name="Blends 1">
        <a:dk1>
          <a:srgbClr val="969696"/>
        </a:dk1>
        <a:lt1>
          <a:srgbClr val="FFFFFF"/>
        </a:lt1>
        <a:dk2>
          <a:srgbClr val="000000"/>
        </a:dk2>
        <a:lt2>
          <a:srgbClr val="DDDDDD"/>
        </a:lt2>
        <a:accent1>
          <a:srgbClr val="00E4A8"/>
        </a:accent1>
        <a:accent2>
          <a:srgbClr val="3333CC"/>
        </a:accent2>
        <a:accent3>
          <a:srgbClr val="AAAAAA"/>
        </a:accent3>
        <a:accent4>
          <a:srgbClr val="DADADA"/>
        </a:accent4>
        <a:accent5>
          <a:srgbClr val="AAEFD1"/>
        </a:accent5>
        <a:accent6>
          <a:srgbClr val="2D2DB9"/>
        </a:accent6>
        <a:hlink>
          <a:srgbClr val="FF5050"/>
        </a:hlink>
        <a:folHlink>
          <a:srgbClr val="FFCF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ends 2">
        <a:dk1>
          <a:srgbClr val="000000"/>
        </a:dk1>
        <a:lt1>
          <a:srgbClr val="FFFFFF"/>
        </a:lt1>
        <a:dk2>
          <a:srgbClr val="333399"/>
        </a:dk2>
        <a:lt2>
          <a:srgbClr val="1C1C1C"/>
        </a:lt2>
        <a:accent1>
          <a:srgbClr val="00E4A8"/>
        </a:accent1>
        <a:accent2>
          <a:srgbClr val="FFCF01"/>
        </a:accent2>
        <a:accent3>
          <a:srgbClr val="FFFFFF"/>
        </a:accent3>
        <a:accent4>
          <a:srgbClr val="000000"/>
        </a:accent4>
        <a:accent5>
          <a:srgbClr val="AAEFD1"/>
        </a:accent5>
        <a:accent6>
          <a:srgbClr val="E7BB01"/>
        </a:accent6>
        <a:hlink>
          <a:srgbClr val="FF0000"/>
        </a:hlink>
        <a:folHlink>
          <a:srgbClr val="3333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3">
        <a:dk1>
          <a:srgbClr val="000000"/>
        </a:dk1>
        <a:lt1>
          <a:srgbClr val="FFFFFF"/>
        </a:lt1>
        <a:dk2>
          <a:srgbClr val="000000"/>
        </a:dk2>
        <a:lt2>
          <a:srgbClr val="5F5F5F"/>
        </a:lt2>
        <a:accent1>
          <a:srgbClr val="EAEAEA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F3F3F3"/>
        </a:accent5>
        <a:accent6>
          <a:srgbClr val="737373"/>
        </a:accent6>
        <a:hlink>
          <a:srgbClr val="4D4D4D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4">
        <a:dk1>
          <a:srgbClr val="000094"/>
        </a:dk1>
        <a:lt1>
          <a:srgbClr val="FFFFFF"/>
        </a:lt1>
        <a:dk2>
          <a:srgbClr val="0000CC"/>
        </a:dk2>
        <a:lt2>
          <a:srgbClr val="FFFFCC"/>
        </a:lt2>
        <a:accent1>
          <a:srgbClr val="3193FF"/>
        </a:accent1>
        <a:accent2>
          <a:srgbClr val="9900FF"/>
        </a:accent2>
        <a:accent3>
          <a:srgbClr val="AAAAE2"/>
        </a:accent3>
        <a:accent4>
          <a:srgbClr val="DADADA"/>
        </a:accent4>
        <a:accent5>
          <a:srgbClr val="ADC8FF"/>
        </a:accent5>
        <a:accent6>
          <a:srgbClr val="8A00E7"/>
        </a:accent6>
        <a:hlink>
          <a:srgbClr val="FF3399"/>
        </a:hlink>
        <a:folHlink>
          <a:srgbClr val="FF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ends 5">
        <a:dk1>
          <a:srgbClr val="000000"/>
        </a:dk1>
        <a:lt1>
          <a:srgbClr val="FFFFFF"/>
        </a:lt1>
        <a:dk2>
          <a:srgbClr val="000066"/>
        </a:dk2>
        <a:lt2>
          <a:srgbClr val="333333"/>
        </a:lt2>
        <a:accent1>
          <a:srgbClr val="C4709A"/>
        </a:accent1>
        <a:accent2>
          <a:srgbClr val="4B4EB5"/>
        </a:accent2>
        <a:accent3>
          <a:srgbClr val="FFFFFF"/>
        </a:accent3>
        <a:accent4>
          <a:srgbClr val="000000"/>
        </a:accent4>
        <a:accent5>
          <a:srgbClr val="DEBBCA"/>
        </a:accent5>
        <a:accent6>
          <a:srgbClr val="4346A4"/>
        </a:accent6>
        <a:hlink>
          <a:srgbClr val="C481CF"/>
        </a:hlink>
        <a:folHlink>
          <a:srgbClr val="76B74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6">
        <a:dk1>
          <a:srgbClr val="000000"/>
        </a:dk1>
        <a:lt1>
          <a:srgbClr val="FFFFFF"/>
        </a:lt1>
        <a:dk2>
          <a:srgbClr val="6A4076"/>
        </a:dk2>
        <a:lt2>
          <a:srgbClr val="969696"/>
        </a:lt2>
        <a:accent1>
          <a:srgbClr val="DBA9C2"/>
        </a:accent1>
        <a:accent2>
          <a:srgbClr val="E1BF91"/>
        </a:accent2>
        <a:accent3>
          <a:srgbClr val="FFFFFF"/>
        </a:accent3>
        <a:accent4>
          <a:srgbClr val="000000"/>
        </a:accent4>
        <a:accent5>
          <a:srgbClr val="EAD1DD"/>
        </a:accent5>
        <a:accent6>
          <a:srgbClr val="CCAD83"/>
        </a:accent6>
        <a:hlink>
          <a:srgbClr val="B3CE82"/>
        </a:hlink>
        <a:folHlink>
          <a:srgbClr val="B8AD48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7">
        <a:dk1>
          <a:srgbClr val="000000"/>
        </a:dk1>
        <a:lt1>
          <a:srgbClr val="FFFFFF"/>
        </a:lt1>
        <a:dk2>
          <a:srgbClr val="515F7B"/>
        </a:dk2>
        <a:lt2>
          <a:srgbClr val="808080"/>
        </a:lt2>
        <a:accent1>
          <a:srgbClr val="9FCAD3"/>
        </a:accent1>
        <a:accent2>
          <a:srgbClr val="C0C0C0"/>
        </a:accent2>
        <a:accent3>
          <a:srgbClr val="FFFFFF"/>
        </a:accent3>
        <a:accent4>
          <a:srgbClr val="000000"/>
        </a:accent4>
        <a:accent5>
          <a:srgbClr val="CDE1E6"/>
        </a:accent5>
        <a:accent6>
          <a:srgbClr val="AEAEAE"/>
        </a:accent6>
        <a:hlink>
          <a:srgbClr val="91AFBF"/>
        </a:hlink>
        <a:folHlink>
          <a:srgbClr val="ECEAAC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Blends 2">
    <a:dk1>
      <a:srgbClr val="000000"/>
    </a:dk1>
    <a:lt1>
      <a:srgbClr val="FFFFFF"/>
    </a:lt1>
    <a:dk2>
      <a:srgbClr val="333399"/>
    </a:dk2>
    <a:lt2>
      <a:srgbClr val="1C1C1C"/>
    </a:lt2>
    <a:accent1>
      <a:srgbClr val="00E4A8"/>
    </a:accent1>
    <a:accent2>
      <a:srgbClr val="FFCF01"/>
    </a:accent2>
    <a:accent3>
      <a:srgbClr val="FFFFFF"/>
    </a:accent3>
    <a:accent4>
      <a:srgbClr val="000000"/>
    </a:accent4>
    <a:accent5>
      <a:srgbClr val="AAEFD1"/>
    </a:accent5>
    <a:accent6>
      <a:srgbClr val="E7BB01"/>
    </a:accent6>
    <a:hlink>
      <a:srgbClr val="FF0000"/>
    </a:hlink>
    <a:folHlink>
      <a:srgbClr val="3333CC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>D:\Program Files\Microsoft Office\Templates\Presentation Designs\Blends.pot</Template>
  <TotalTime>19836</TotalTime>
  <Words>5853</Words>
  <Application>Microsoft Office PowerPoint</Application>
  <PresentationFormat>全屏显示(4:3)</PresentationFormat>
  <Paragraphs>814</Paragraphs>
  <Slides>89</Slides>
  <Notes>1</Notes>
  <HiddenSlides>0</HiddenSlides>
  <MMClips>0</MMClips>
  <ScaleCrop>false</ScaleCrop>
  <HeadingPairs>
    <vt:vector size="8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89</vt:i4>
      </vt:variant>
    </vt:vector>
  </HeadingPairs>
  <TitlesOfParts>
    <vt:vector size="99" baseType="lpstr">
      <vt:lpstr>Arial Unicode MS</vt:lpstr>
      <vt:lpstr>黑体</vt:lpstr>
      <vt:lpstr>宋体</vt:lpstr>
      <vt:lpstr>微软雅黑</vt:lpstr>
      <vt:lpstr>Arial</vt:lpstr>
      <vt:lpstr>Tahoma</vt:lpstr>
      <vt:lpstr>Times New Roman</vt:lpstr>
      <vt:lpstr>Wingdings</vt:lpstr>
      <vt:lpstr>Blends</vt:lpstr>
      <vt:lpstr>Equation</vt:lpstr>
      <vt:lpstr>第九章  代码生成</vt:lpstr>
      <vt:lpstr>学习内容</vt:lpstr>
      <vt:lpstr>9.1  设计中的问题</vt:lpstr>
      <vt:lpstr>设计中的问题（续）</vt:lpstr>
      <vt:lpstr>设计中的问题（续）</vt:lpstr>
      <vt:lpstr>设计中的问题（续）</vt:lpstr>
      <vt:lpstr>设计问题（续）</vt:lpstr>
      <vt:lpstr>设计问题（续）</vt:lpstr>
      <vt:lpstr>9.2  目标机器</vt:lpstr>
      <vt:lpstr>指令开销</vt:lpstr>
      <vt:lpstr>指令开销——翻译方法</vt:lpstr>
      <vt:lpstr>9.3  运行时存储管理</vt:lpstr>
      <vt:lpstr>9.3.1  静态分配</vt:lpstr>
      <vt:lpstr>例9.1</vt:lpstr>
      <vt:lpstr>例9.1（续）</vt:lpstr>
      <vt:lpstr>9.3.2  栈分配</vt:lpstr>
      <vt:lpstr>栈分配——函数调用和返回</vt:lpstr>
      <vt:lpstr>例9.2 快速排序例</vt:lpstr>
      <vt:lpstr>例9.2（续）</vt:lpstr>
      <vt:lpstr>例9.2（续）</vt:lpstr>
      <vt:lpstr>9.3.3  运行时名字的地址</vt:lpstr>
      <vt:lpstr>9.6  一个简单的代码生成器</vt:lpstr>
      <vt:lpstr>9.6.1  寄存器描述符和地址描述符</vt:lpstr>
      <vt:lpstr>9.6.2  代码生成算法</vt:lpstr>
      <vt:lpstr>特殊情况</vt:lpstr>
      <vt:lpstr>特殊情况</vt:lpstr>
      <vt:lpstr>9.6.3  getreg算法</vt:lpstr>
      <vt:lpstr>例9.5  d := (a – b)+(a – c)+(a – c)</vt:lpstr>
      <vt:lpstr>9.6.4  其他类型语句的代码生成</vt:lpstr>
      <vt:lpstr>9.6.5  条件转移语句</vt:lpstr>
      <vt:lpstr>9.7  寄存器分配和指定</vt:lpstr>
      <vt:lpstr>9.7.1  全局寄存器分配</vt:lpstr>
      <vt:lpstr>9.7.2  引用计数</vt:lpstr>
      <vt:lpstr>节省开销（续）</vt:lpstr>
      <vt:lpstr>例9.6</vt:lpstr>
      <vt:lpstr>例9.6（续）</vt:lpstr>
      <vt:lpstr>例9.6（续）</vt:lpstr>
      <vt:lpstr>9.7.3  外层循环的寄存器分配</vt:lpstr>
      <vt:lpstr>9.7.4  图着色法进行寄存器分配</vt:lpstr>
      <vt:lpstr>9.8  基本块的DAG表示</vt:lpstr>
      <vt:lpstr>例9.7</vt:lpstr>
      <vt:lpstr>9.8.1  dag的构造</vt:lpstr>
      <vt:lpstr>算法9.2：dag的构造（续）</vt:lpstr>
      <vt:lpstr>算法9.2：dag的构造（续）</vt:lpstr>
      <vt:lpstr>例9.8</vt:lpstr>
      <vt:lpstr>9.8.2  dag的应用</vt:lpstr>
      <vt:lpstr>dag的其他应用</vt:lpstr>
      <vt:lpstr>例9.10</vt:lpstr>
      <vt:lpstr>9.8.3  数组、指针和函数调用</vt:lpstr>
      <vt:lpstr>哪些语句顺序应予以保持</vt:lpstr>
      <vt:lpstr>9.9 窥孔（Peephole）优化</vt:lpstr>
      <vt:lpstr>9.9.1  冗余的Load和Store指令</vt:lpstr>
      <vt:lpstr>9.9.2  不可达代码</vt:lpstr>
      <vt:lpstr>9.9.3  控制流优化</vt:lpstr>
      <vt:lpstr>其他优化方法</vt:lpstr>
      <vt:lpstr>9.10  利用dag生成目标代码</vt:lpstr>
      <vt:lpstr>重排顺序（续）</vt:lpstr>
      <vt:lpstr>9.10.2  一个启发式重排序算法</vt:lpstr>
      <vt:lpstr>例9.11</vt:lpstr>
      <vt:lpstr>9.10.3  树结构的最优排序</vt:lpstr>
      <vt:lpstr>9.10.4  标记算法</vt:lpstr>
      <vt:lpstr>例9.12</vt:lpstr>
      <vt:lpstr>9.10.5  利用标记树生成代码</vt:lpstr>
      <vt:lpstr>算法</vt:lpstr>
      <vt:lpstr>算法（续）</vt:lpstr>
      <vt:lpstr>例9.13</vt:lpstr>
      <vt:lpstr>9.10.6  多寄存器运算</vt:lpstr>
      <vt:lpstr>9.10.7  利用代数特性优化</vt:lpstr>
      <vt:lpstr>9.10.8  公共子表达式的处理</vt:lpstr>
      <vt:lpstr>9.11  动态规划代码生成算法</vt:lpstr>
      <vt:lpstr>9.11.2  动态规划算法原理</vt:lpstr>
      <vt:lpstr>9.11.4  动态规划算法</vt:lpstr>
      <vt:lpstr>例9.14</vt:lpstr>
      <vt:lpstr>例9.14（续）</vt:lpstr>
      <vt:lpstr>例9.14（续）</vt:lpstr>
      <vt:lpstr>例9.14（续）</vt:lpstr>
      <vt:lpstr>9.12  代码生成程序自动生成器</vt:lpstr>
      <vt:lpstr>代码生成算法</vt:lpstr>
      <vt:lpstr>例9.16（改写规则例）</vt:lpstr>
      <vt:lpstr>例9.16（续）</vt:lpstr>
      <vt:lpstr>例9.17  由改写规则进行翻译</vt:lpstr>
      <vt:lpstr>例9.17（续）</vt:lpstr>
      <vt:lpstr>例9.17（续）</vt:lpstr>
      <vt:lpstr>例9.17（续）</vt:lpstr>
      <vt:lpstr>例9.17（续）</vt:lpstr>
      <vt:lpstr>几个问题</vt:lpstr>
      <vt:lpstr>9.12.2  利用语法分析的模式匹配</vt:lpstr>
      <vt:lpstr>语法分析方法进行代码生成</vt:lpstr>
      <vt:lpstr>9.12.3  语义检查</vt:lpstr>
    </vt:vector>
  </TitlesOfParts>
  <Company>南开大学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第一章 介绍</dc:title>
  <dc:creator>王刚</dc:creator>
  <cp:lastModifiedBy>Administrator</cp:lastModifiedBy>
  <cp:revision>2034</cp:revision>
  <dcterms:created xsi:type="dcterms:W3CDTF">2003-06-05T11:51:39Z</dcterms:created>
  <dcterms:modified xsi:type="dcterms:W3CDTF">2025-12-09T05:01:30Z</dcterms:modified>
</cp:coreProperties>
</file>