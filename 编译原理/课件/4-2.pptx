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55"/>
  </p:notesMasterIdLst>
  <p:handoutMasterIdLst>
    <p:handoutMasterId r:id="rId156"/>
  </p:handout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399" r:id="rId11"/>
    <p:sldId id="265" r:id="rId12"/>
    <p:sldId id="267" r:id="rId13"/>
    <p:sldId id="268" r:id="rId14"/>
    <p:sldId id="269" r:id="rId15"/>
    <p:sldId id="270" r:id="rId16"/>
    <p:sldId id="40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401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410" r:id="rId39"/>
    <p:sldId id="291" r:id="rId40"/>
    <p:sldId id="292" r:id="rId41"/>
    <p:sldId id="293" r:id="rId42"/>
    <p:sldId id="418" r:id="rId43"/>
    <p:sldId id="294" r:id="rId44"/>
    <p:sldId id="295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402" r:id="rId59"/>
    <p:sldId id="310" r:id="rId60"/>
    <p:sldId id="419" r:id="rId61"/>
    <p:sldId id="412" r:id="rId62"/>
    <p:sldId id="421" r:id="rId63"/>
    <p:sldId id="420" r:id="rId64"/>
    <p:sldId id="311" r:id="rId65"/>
    <p:sldId id="312" r:id="rId66"/>
    <p:sldId id="313" r:id="rId67"/>
    <p:sldId id="314" r:id="rId68"/>
    <p:sldId id="315" r:id="rId69"/>
    <p:sldId id="316" r:id="rId70"/>
    <p:sldId id="317" r:id="rId71"/>
    <p:sldId id="403" r:id="rId72"/>
    <p:sldId id="318" r:id="rId73"/>
    <p:sldId id="319" r:id="rId74"/>
    <p:sldId id="321" r:id="rId75"/>
    <p:sldId id="411" r:id="rId76"/>
    <p:sldId id="322" r:id="rId77"/>
    <p:sldId id="323" r:id="rId78"/>
    <p:sldId id="324" r:id="rId79"/>
    <p:sldId id="325" r:id="rId80"/>
    <p:sldId id="326" r:id="rId81"/>
    <p:sldId id="405" r:id="rId82"/>
    <p:sldId id="327" r:id="rId83"/>
    <p:sldId id="404" r:id="rId84"/>
    <p:sldId id="328" r:id="rId85"/>
    <p:sldId id="329" r:id="rId86"/>
    <p:sldId id="330" r:id="rId87"/>
    <p:sldId id="331" r:id="rId88"/>
    <p:sldId id="332" r:id="rId89"/>
    <p:sldId id="333" r:id="rId90"/>
    <p:sldId id="334" r:id="rId91"/>
    <p:sldId id="335" r:id="rId92"/>
    <p:sldId id="406" r:id="rId93"/>
    <p:sldId id="336" r:id="rId94"/>
    <p:sldId id="337" r:id="rId95"/>
    <p:sldId id="338" r:id="rId96"/>
    <p:sldId id="339" r:id="rId97"/>
    <p:sldId id="340" r:id="rId98"/>
    <p:sldId id="341" r:id="rId99"/>
    <p:sldId id="342" r:id="rId100"/>
    <p:sldId id="416" r:id="rId101"/>
    <p:sldId id="343" r:id="rId102"/>
    <p:sldId id="344" r:id="rId103"/>
    <p:sldId id="345" r:id="rId104"/>
    <p:sldId id="346" r:id="rId105"/>
    <p:sldId id="407" r:id="rId106"/>
    <p:sldId id="347" r:id="rId107"/>
    <p:sldId id="348" r:id="rId108"/>
    <p:sldId id="349" r:id="rId109"/>
    <p:sldId id="350" r:id="rId110"/>
    <p:sldId id="351" r:id="rId111"/>
    <p:sldId id="352" r:id="rId112"/>
    <p:sldId id="353" r:id="rId113"/>
    <p:sldId id="354" r:id="rId114"/>
    <p:sldId id="355" r:id="rId115"/>
    <p:sldId id="356" r:id="rId116"/>
    <p:sldId id="398" r:id="rId117"/>
    <p:sldId id="357" r:id="rId118"/>
    <p:sldId id="358" r:id="rId119"/>
    <p:sldId id="359" r:id="rId120"/>
    <p:sldId id="360" r:id="rId121"/>
    <p:sldId id="361" r:id="rId122"/>
    <p:sldId id="414" r:id="rId123"/>
    <p:sldId id="363" r:id="rId124"/>
    <p:sldId id="364" r:id="rId125"/>
    <p:sldId id="365" r:id="rId126"/>
    <p:sldId id="366" r:id="rId127"/>
    <p:sldId id="408" r:id="rId128"/>
    <p:sldId id="367" r:id="rId129"/>
    <p:sldId id="368" r:id="rId130"/>
    <p:sldId id="369" r:id="rId131"/>
    <p:sldId id="409" r:id="rId132"/>
    <p:sldId id="370" r:id="rId133"/>
    <p:sldId id="371" r:id="rId134"/>
    <p:sldId id="372" r:id="rId135"/>
    <p:sldId id="374" r:id="rId136"/>
    <p:sldId id="417" r:id="rId137"/>
    <p:sldId id="373" r:id="rId138"/>
    <p:sldId id="375" r:id="rId139"/>
    <p:sldId id="376" r:id="rId140"/>
    <p:sldId id="377" r:id="rId141"/>
    <p:sldId id="378" r:id="rId142"/>
    <p:sldId id="379" r:id="rId143"/>
    <p:sldId id="380" r:id="rId144"/>
    <p:sldId id="381" r:id="rId145"/>
    <p:sldId id="382" r:id="rId146"/>
    <p:sldId id="384" r:id="rId147"/>
    <p:sldId id="383" r:id="rId148"/>
    <p:sldId id="385" r:id="rId149"/>
    <p:sldId id="386" r:id="rId150"/>
    <p:sldId id="387" r:id="rId151"/>
    <p:sldId id="388" r:id="rId152"/>
    <p:sldId id="389" r:id="rId153"/>
    <p:sldId id="390" r:id="rId154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FF00FF"/>
    <a:srgbClr val="FFCF01"/>
    <a:srgbClr val="0000FF"/>
    <a:srgbClr val="3333CC"/>
    <a:srgbClr val="800000"/>
    <a:srgbClr val="0099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 autoAdjust="0"/>
    <p:restoredTop sz="94715" autoAdjust="0"/>
  </p:normalViewPr>
  <p:slideViewPr>
    <p:cSldViewPr>
      <p:cViewPr varScale="1">
        <p:scale>
          <a:sx n="120" d="100"/>
          <a:sy n="120" d="100"/>
        </p:scale>
        <p:origin x="792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6" d="100"/>
          <a:sy n="46" d="100"/>
        </p:scale>
        <p:origin x="-1469" y="-8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theme" Target="theme/theme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tableStyles" Target="tableStyle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notesMaster" Target="notesMasters/notesMaster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handoutMaster" Target="handoutMasters/handoutMaster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>
            <a:extLst>
              <a:ext uri="{FF2B5EF4-FFF2-40B4-BE49-F238E27FC236}">
                <a16:creationId xmlns:a16="http://schemas.microsoft.com/office/drawing/2014/main" id="{31566339-FBFF-499E-9C81-5525D680107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39624ABB-5AB9-4BA2-85BB-114B8804ABE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2996" name="Rectangle 4">
            <a:extLst>
              <a:ext uri="{FF2B5EF4-FFF2-40B4-BE49-F238E27FC236}">
                <a16:creationId xmlns:a16="http://schemas.microsoft.com/office/drawing/2014/main" id="{D727000D-04B3-4266-8F49-0BD5520B2D6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2997" name="Rectangle 5">
            <a:extLst>
              <a:ext uri="{FF2B5EF4-FFF2-40B4-BE49-F238E27FC236}">
                <a16:creationId xmlns:a16="http://schemas.microsoft.com/office/drawing/2014/main" id="{4A70A73D-24E0-4238-A30F-D50F05C1F27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96227D1-EFF3-4D3D-8151-447ED79E416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3BFB3E45-821D-48C8-B74D-4C2D6B8E887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246EC3C8-829B-4A5B-92AA-C5A58D4E2F8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C79B4282-3CE5-4814-9C05-06FB3792436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FF6181A0-644C-478E-AC9D-EED8ECB127C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51718F5B-0ADC-4731-A93A-747ACC3ABFF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6FED5ACC-F86F-4D3E-8F6A-C926821C13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5592E4B-FCEA-41D5-956D-3C4E7F765E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5592E4B-FCEA-41D5-956D-3C4E7F765EAA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076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>
            <a:extLst>
              <a:ext uri="{FF2B5EF4-FFF2-40B4-BE49-F238E27FC236}">
                <a16:creationId xmlns:a16="http://schemas.microsoft.com/office/drawing/2014/main" id="{53F187C1-7C3C-482D-9229-A0B93FE0A3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备注占位符 2">
            <a:extLst>
              <a:ext uri="{FF2B5EF4-FFF2-40B4-BE49-F238E27FC236}">
                <a16:creationId xmlns:a16="http://schemas.microsoft.com/office/drawing/2014/main" id="{DD5F1DDD-8993-4FD9-BE28-9154B89C2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6" name="灯片编号占位符 3">
            <a:extLst>
              <a:ext uri="{FF2B5EF4-FFF2-40B4-BE49-F238E27FC236}">
                <a16:creationId xmlns:a16="http://schemas.microsoft.com/office/drawing/2014/main" id="{E31DD3F4-A678-4F39-A06D-55F6F87579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42C3AA6-9C26-458A-9F43-34B90FB839AF}" type="slidenum">
              <a:rPr lang="en-US" altLang="zh-CN" sz="1200" smtClean="0"/>
              <a:pPr/>
              <a:t>13</a:t>
            </a:fld>
            <a:endParaRPr lang="en-US" alt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5C166FC6-F476-4318-9A61-2C4FA314F0FB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6C85D000-2710-4659-AEEB-14D9E8802D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F519FE1B-42EC-49A8-9A09-451563E9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25839F9B-8578-4FF4-AE06-A11D9AD1A3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C32C37F1-D668-4D34-8FCE-8D3A912981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66C7452F-E9B9-4DF9-AEDA-C4A15DF383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9FD9DA51-FD6C-4171-9829-D99B109E85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5926F88B-DA77-4313-8129-17095BF170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8CD7CB01-BEB3-42A5-832E-E1861D08A7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118E1BBF-7570-4D55-973D-81BAA434301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61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4694C51F-40D0-429B-AC14-10F5A36868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71DD1450-2523-4909-BCBA-FFF405191F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58FA3BAD-B8A1-446C-9BB7-48E9AD52DF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CB5A2563-4B1B-4EC3-9B5A-56E9FB8A33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86177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6820209-3D29-4C66-A80D-0610FB991F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31A5D31-A13A-4873-B976-6E5AB94ECA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9EAF324D-997F-480E-896C-A7AAB52E4F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D2A4BA-5683-4239-8BE4-29C90EA64B3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2277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4F58226-E5B8-454E-8BD9-607D386C93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B1C938CD-3A7F-469E-8E65-02766509B6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AB796B6A-2137-4A25-9D97-4D5306F820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8AD58F-1278-45FD-AC4A-6B54BA341AF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084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F54D382D-79D8-4E8C-9A82-FA451ED5AC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99F71E8A-0CE1-4131-A1CA-8561D4D4D9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E163D68-11F0-4675-A13B-63DEB6B9EB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41A009-62B1-4FFB-A0F7-3158A42924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7162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ADD92BEB-1CC9-482A-AC58-3979A67CFF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B0BD0EE7-D975-4772-84CC-C3ECB4F132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54AD9A2C-DD96-4E05-95BD-68076AB5DB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13E6D7-C0D9-419E-BE12-56982EECC5A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7573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A573D8E8-37B6-4673-B72C-BB1413F3D5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338D34D8-3944-436E-AC67-DC05A11248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F36CE8E3-0855-48EC-BD16-0A7A75D6E6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C258DE-82EE-4139-8610-E22439A42C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2189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B9D179E3-B45C-4E3A-B3C7-14D88C0A7C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1D1B8CED-0DD4-49DD-AE9E-D589B40032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9002FD1C-3996-4AA0-B1AF-468CED6435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9157DF-1746-4F4F-8346-EE53276F38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177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00B07BFC-4E7F-4AE6-B331-F3FBC98776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A83FD648-2BCC-4275-8DF2-7F23C7C45E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BA5B920-81E5-41F8-9C9B-8CBBD26BAC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0B9291-19F8-499C-A529-32769F80414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413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D4536C5-F4B6-40EE-BAFB-15D518EA73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13673A71-0438-4630-9C7F-DFA67C6D59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D4FFEC7A-802C-4F37-8BC3-17A65EC6F7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DCCD65-EEE8-4AEE-8263-87792F7E862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0787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3FB7171-4A5E-44AB-AB76-937E8F8D9A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DB5B218-437B-4823-BA14-7D1BF705E9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A696B820-DF26-478E-A593-5DEF65D841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479C54-C25C-4E96-AFBF-498756E4CD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3642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76200"/>
            <a:ext cx="1951038" cy="6019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76200"/>
            <a:ext cx="5700712" cy="6019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C101B2E0-1A72-4E7C-92CD-81038CCDE3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41734FA9-49FA-4BFF-9CE7-056847CFDB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A8D2E7C-65B3-4E1F-B31B-CB54E5046B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E22F0F-EADC-4FC4-8D5F-1712EF4962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0602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D3A1FE4-1F08-4BCA-A118-2BE65BEB7A2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557213"/>
            <a:ext cx="438150" cy="474662"/>
          </a:xfrm>
          <a:prstGeom prst="rect">
            <a:avLst/>
          </a:prstGeom>
          <a:solidFill>
            <a:srgbClr val="FFCF01"/>
          </a:solidFill>
          <a:ln>
            <a:noFill/>
          </a:ln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A30C822-1D60-45AD-B029-7589D62053C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557213"/>
            <a:ext cx="328613" cy="474662"/>
          </a:xfrm>
          <a:prstGeom prst="rect">
            <a:avLst/>
          </a:prstGeom>
          <a:gradFill rotWithShape="0">
            <a:gsLst>
              <a:gs pos="0">
                <a:srgbClr val="FFCF01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CE2DFA7-2D1C-4904-BEEB-93AAB953453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97948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40DBC35-F8F6-4EEE-86FF-66B8841E9C7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97948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BF5F37E-8383-4763-8A37-E977DAA762D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9064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554ABBF3-ED73-43E5-8BF2-C061F44786A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449263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234B8E8C-B079-47C4-A48B-0B75EB44E34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2398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062C23E1-CB66-43A1-8768-462E27FAB7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76200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7AE3CD52-4EFB-4866-9DC1-02663400A2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1371600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1" name="Rectangle 11">
            <a:extLst>
              <a:ext uri="{FF2B5EF4-FFF2-40B4-BE49-F238E27FC236}">
                <a16:creationId xmlns:a16="http://schemas.microsoft.com/office/drawing/2014/main" id="{1BFB87B4-5C73-4C05-BAE1-9F40DB740E0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2" name="Rectangle 12">
            <a:extLst>
              <a:ext uri="{FF2B5EF4-FFF2-40B4-BE49-F238E27FC236}">
                <a16:creationId xmlns:a16="http://schemas.microsoft.com/office/drawing/2014/main" id="{6979C5DA-41FE-4397-B9B9-8F2B2157506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3" name="Rectangle 13">
            <a:extLst>
              <a:ext uri="{FF2B5EF4-FFF2-40B4-BE49-F238E27FC236}">
                <a16:creationId xmlns:a16="http://schemas.microsoft.com/office/drawing/2014/main" id="{D52A9E59-1F02-48DC-95F1-20FEFE58521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/>
            </a:lvl1pPr>
          </a:lstStyle>
          <a:p>
            <a:pPr>
              <a:defRPr/>
            </a:pPr>
            <a:fld id="{5F3E7464-A17F-4E62-9C2C-B49D51495F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SzPct val="75000"/>
        <a:buFont typeface="Wingdings" panose="05000000000000000000" pitchFamily="2" charset="2"/>
        <a:buChar char="m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9000"/>
        <a:buFont typeface="Wingdings" panose="05000000000000000000" pitchFamily="2" charset="2"/>
        <a:buChar char="q"/>
        <a:defRPr kumimoji="1" sz="2800">
          <a:solidFill>
            <a:srgbClr val="3333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Ø"/>
        <a:defRPr kumimoji="1" sz="2400">
          <a:solidFill>
            <a:srgbClr val="FF3300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60DF104-9EE9-40A8-8288-0E3E4E0868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4.5 </a:t>
            </a:r>
            <a:r>
              <a:rPr lang="zh-CN" altLang="en-US"/>
              <a:t>自底向上语法分析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BA842E9E-BB71-4571-B1FF-84C429B621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“移进－归约”分析方法，</a:t>
            </a:r>
            <a:r>
              <a:rPr lang="en-US" altLang="zh-CN" dirty="0">
                <a:solidFill>
                  <a:srgbClr val="FF3300"/>
                </a:solidFill>
              </a:rPr>
              <a:t>shift-reduce</a:t>
            </a:r>
          </a:p>
          <a:p>
            <a:pPr eaLnBrk="1" hangingPunct="1"/>
            <a:r>
              <a:rPr lang="zh-CN" altLang="en-US" dirty="0"/>
              <a:t>从单词串开始逐步</a:t>
            </a:r>
            <a:r>
              <a:rPr lang="zh-CN" altLang="en-US" dirty="0">
                <a:solidFill>
                  <a:schemeClr val="accent2"/>
                </a:solidFill>
                <a:ea typeface="黑体" panose="02010609060101010101" pitchFamily="49" charset="-122"/>
              </a:rPr>
              <a:t>归约</a:t>
            </a:r>
            <a:r>
              <a:rPr lang="zh-CN" altLang="en-US" dirty="0"/>
              <a:t>为文法开始符号</a:t>
            </a:r>
          </a:p>
          <a:p>
            <a:pPr eaLnBrk="1" hangingPunct="1"/>
            <a:r>
              <a:rPr lang="zh-CN" altLang="en-US" dirty="0"/>
              <a:t>算法优先分析法、</a:t>
            </a:r>
            <a:r>
              <a:rPr lang="en-US" altLang="zh-CN" dirty="0"/>
              <a:t>LR</a:t>
            </a:r>
            <a:r>
              <a:rPr lang="zh-CN" altLang="en-US" dirty="0"/>
              <a:t>分析法</a:t>
            </a:r>
          </a:p>
          <a:p>
            <a:pPr eaLnBrk="1" hangingPunct="1"/>
            <a:r>
              <a:rPr lang="zh-CN" altLang="en-US" dirty="0"/>
              <a:t>每个归约步骤</a:t>
            </a:r>
          </a:p>
          <a:p>
            <a:pPr lvl="1" eaLnBrk="1" hangingPunct="1"/>
            <a:r>
              <a:rPr lang="zh-CN" altLang="en-US" dirty="0"/>
              <a:t>一个子串匹配某个产生式的右部</a:t>
            </a:r>
          </a:p>
          <a:p>
            <a:pPr lvl="1" eaLnBrk="1" hangingPunct="1"/>
            <a:r>
              <a:rPr lang="zh-CN" altLang="en-US" dirty="0"/>
              <a:t>将这个子串替换为产生式左部的</a:t>
            </a:r>
            <a:r>
              <a:rPr lang="en-US" altLang="zh-CN" dirty="0"/>
              <a:t>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D504447-D060-4838-B39B-D9E46235D7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4.21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0059966-12E3-4DE9-AAAF-3E15A65D58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文法	</a:t>
            </a:r>
            <a:r>
              <a:rPr kumimoji="0" lang="en-US" altLang="zh-CN" sz="2400" b="1" dirty="0"/>
              <a:t>S </a:t>
            </a:r>
            <a:r>
              <a:rPr kumimoji="0" lang="en-US" altLang="zh-CN" sz="2400" b="1" dirty="0">
                <a:sym typeface="Symbol" panose="05050102010706020507" pitchFamily="18" charset="2"/>
              </a:rPr>
              <a:t> </a:t>
            </a:r>
            <a:r>
              <a:rPr kumimoji="0" lang="en-US" altLang="zh-CN" sz="2400" b="1" dirty="0" err="1">
                <a:solidFill>
                  <a:schemeClr val="accent2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400" b="1" dirty="0" err="1">
                <a:sym typeface="Symbol" panose="05050102010706020507" pitchFamily="18" charset="2"/>
              </a:rPr>
              <a:t>AB</a:t>
            </a:r>
            <a:r>
              <a:rPr kumimoji="0" lang="en-US" altLang="zh-CN" sz="2400" b="1" dirty="0" err="1">
                <a:solidFill>
                  <a:schemeClr val="accent2"/>
                </a:solidFill>
                <a:sym typeface="Symbol" panose="05050102010706020507" pitchFamily="18" charset="2"/>
              </a:rPr>
              <a:t>e</a:t>
            </a:r>
            <a:b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</a:b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      </a:t>
            </a:r>
            <a:r>
              <a:rPr kumimoji="0" lang="en-US" altLang="zh-CN" sz="2400" b="1" dirty="0">
                <a:sym typeface="Symbol" panose="05050102010706020507" pitchFamily="18" charset="2"/>
              </a:rPr>
              <a:t>             A  </a:t>
            </a:r>
            <a:r>
              <a:rPr kumimoji="0" lang="en-US" altLang="zh-CN" sz="2400" b="1" dirty="0" err="1">
                <a:sym typeface="Symbol" panose="05050102010706020507" pitchFamily="18" charset="2"/>
              </a:rPr>
              <a:t>A</a:t>
            </a:r>
            <a:r>
              <a:rPr kumimoji="0" lang="en-US" altLang="zh-CN" sz="2400" b="1" dirty="0" err="1">
                <a:solidFill>
                  <a:schemeClr val="accent2"/>
                </a:solidFill>
                <a:sym typeface="Symbol" panose="05050102010706020507" pitchFamily="18" charset="2"/>
              </a:rPr>
              <a:t>bc</a:t>
            </a:r>
            <a:r>
              <a:rPr kumimoji="0" lang="en-US" altLang="zh-CN" sz="2400" b="1" dirty="0">
                <a:sym typeface="Symbol" panose="05050102010706020507" pitchFamily="18" charset="2"/>
              </a:rPr>
              <a:t> |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b</a:t>
            </a:r>
            <a:b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</a:br>
            <a:r>
              <a:rPr kumimoji="0" lang="en-US" altLang="zh-CN" sz="2400" b="1" dirty="0">
                <a:sym typeface="Symbol" panose="05050102010706020507" pitchFamily="18" charset="2"/>
              </a:rPr>
              <a:t>            	B 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d</a:t>
            </a:r>
          </a:p>
          <a:p>
            <a:pPr eaLnBrk="1" hangingPunct="1"/>
            <a:r>
              <a:rPr kumimoji="0" lang="zh-CN" altLang="en-US" sz="2800" dirty="0">
                <a:sym typeface="Symbol" panose="05050102010706020507" pitchFamily="18" charset="2"/>
              </a:rPr>
              <a:t>归约	</a:t>
            </a:r>
            <a:r>
              <a:rPr kumimoji="0" lang="en-US" altLang="zh-CN" sz="2400" dirty="0" err="1"/>
              <a:t>a</a:t>
            </a:r>
            <a:r>
              <a:rPr kumimoji="0" lang="en-US" altLang="zh-CN" sz="2400" dirty="0" err="1">
                <a:solidFill>
                  <a:srgbClr val="FF3300"/>
                </a:solidFill>
              </a:rPr>
              <a:t>b</a:t>
            </a:r>
            <a:r>
              <a:rPr kumimoji="0" lang="en-US" altLang="zh-CN" sz="2400" dirty="0" err="1"/>
              <a:t>bcde</a:t>
            </a:r>
            <a:br>
              <a:rPr kumimoji="0" lang="en-US" altLang="zh-CN" sz="2400" dirty="0"/>
            </a:br>
            <a:r>
              <a:rPr kumimoji="0" lang="en-US" altLang="zh-CN" sz="2400" dirty="0"/>
              <a:t>		</a:t>
            </a:r>
            <a:r>
              <a:rPr kumimoji="0" lang="en-US" altLang="zh-CN" sz="2400" dirty="0" err="1"/>
              <a:t>a</a:t>
            </a:r>
            <a:r>
              <a:rPr kumimoji="0" lang="en-US" altLang="zh-CN" sz="2400" dirty="0" err="1">
                <a:solidFill>
                  <a:srgbClr val="FF3300"/>
                </a:solidFill>
              </a:rPr>
              <a:t>Abc</a:t>
            </a:r>
            <a:r>
              <a:rPr kumimoji="0" lang="en-US" altLang="zh-CN" sz="2400" dirty="0" err="1"/>
              <a:t>de</a:t>
            </a:r>
            <a:br>
              <a:rPr kumimoji="0" lang="en-US" altLang="zh-CN" sz="2400" dirty="0"/>
            </a:br>
            <a:r>
              <a:rPr kumimoji="0" lang="en-US" altLang="zh-CN" sz="2400" dirty="0"/>
              <a:t>		</a:t>
            </a:r>
            <a:r>
              <a:rPr kumimoji="0" lang="en-US" altLang="zh-CN" sz="2400" dirty="0" err="1"/>
              <a:t>aA</a:t>
            </a:r>
            <a:r>
              <a:rPr kumimoji="0" lang="en-US" altLang="zh-CN" sz="2400" dirty="0" err="1">
                <a:solidFill>
                  <a:srgbClr val="FF3300"/>
                </a:solidFill>
              </a:rPr>
              <a:t>d</a:t>
            </a:r>
            <a:r>
              <a:rPr kumimoji="0" lang="en-US" altLang="zh-CN" sz="2400" dirty="0" err="1"/>
              <a:t>e</a:t>
            </a:r>
            <a:br>
              <a:rPr kumimoji="0" lang="en-US" altLang="zh-CN" sz="2400" dirty="0"/>
            </a:br>
            <a:r>
              <a:rPr kumimoji="0" lang="en-US" altLang="zh-CN" sz="2400" dirty="0"/>
              <a:t>		</a:t>
            </a:r>
            <a:r>
              <a:rPr kumimoji="0" lang="en-US" altLang="zh-CN" sz="2400" dirty="0" err="1">
                <a:solidFill>
                  <a:srgbClr val="FF3300"/>
                </a:solidFill>
              </a:rPr>
              <a:t>aABe</a:t>
            </a:r>
            <a:br>
              <a:rPr kumimoji="0" lang="en-US" altLang="zh-CN" sz="2400" dirty="0"/>
            </a:br>
            <a:r>
              <a:rPr kumimoji="0" lang="en-US" altLang="zh-CN" sz="2400" dirty="0"/>
              <a:t>		S</a:t>
            </a:r>
          </a:p>
          <a:p>
            <a:pPr eaLnBrk="1" hangingPunct="1"/>
            <a:r>
              <a:rPr kumimoji="0" lang="zh-CN" altLang="en-US" sz="2800" dirty="0"/>
              <a:t>对应最右推导（逆过程）</a:t>
            </a:r>
            <a:br>
              <a:rPr kumimoji="0" lang="zh-CN" altLang="en-US" sz="2800" dirty="0"/>
            </a:br>
            <a:r>
              <a:rPr kumimoji="0" lang="en-US" altLang="zh-CN" sz="2400" dirty="0"/>
              <a:t>S </a:t>
            </a:r>
            <a:r>
              <a:rPr kumimoji="0" lang="en-US" altLang="zh-CN" sz="2400" b="1" dirty="0">
                <a:sym typeface="Symbol" panose="05050102010706020507" pitchFamily="18" charset="2"/>
              </a:rPr>
              <a:t>  </a:t>
            </a:r>
            <a:r>
              <a:rPr kumimoji="0" lang="en-US" altLang="zh-CN" sz="2400" b="1" dirty="0" err="1">
                <a:sym typeface="Symbol" panose="05050102010706020507" pitchFamily="18" charset="2"/>
              </a:rPr>
              <a:t>aABe</a:t>
            </a:r>
            <a:r>
              <a:rPr kumimoji="0" lang="en-US" altLang="zh-CN" sz="2400" b="1" dirty="0">
                <a:sym typeface="Symbol" panose="05050102010706020507" pitchFamily="18" charset="2"/>
              </a:rPr>
              <a:t>   </a:t>
            </a:r>
            <a:r>
              <a:rPr kumimoji="0" lang="en-US" altLang="zh-CN" sz="2400" b="1" dirty="0" err="1">
                <a:sym typeface="Symbol" panose="05050102010706020507" pitchFamily="18" charset="2"/>
              </a:rPr>
              <a:t>aAde</a:t>
            </a:r>
            <a:r>
              <a:rPr kumimoji="0" lang="en-US" altLang="zh-CN" sz="2400" b="1" dirty="0">
                <a:sym typeface="Symbol" panose="05050102010706020507" pitchFamily="18" charset="2"/>
              </a:rPr>
              <a:t>   </a:t>
            </a:r>
            <a:r>
              <a:rPr kumimoji="0" lang="en-US" altLang="zh-CN" sz="2400" b="1" dirty="0" err="1">
                <a:sym typeface="Symbol" panose="05050102010706020507" pitchFamily="18" charset="2"/>
              </a:rPr>
              <a:t>aAbcde</a:t>
            </a:r>
            <a:r>
              <a:rPr kumimoji="0" lang="en-US" altLang="zh-CN" sz="2400" b="1" dirty="0">
                <a:sym typeface="Symbol" panose="05050102010706020507" pitchFamily="18" charset="2"/>
              </a:rPr>
              <a:t>   </a:t>
            </a:r>
            <a:r>
              <a:rPr kumimoji="0" lang="en-US" altLang="zh-CN" sz="2400" b="1" dirty="0" err="1">
                <a:sym typeface="Symbol" panose="05050102010706020507" pitchFamily="18" charset="2"/>
              </a:rPr>
              <a:t>abbcde</a:t>
            </a:r>
            <a:endParaRPr kumimoji="0" lang="en-US" altLang="zh-CN" sz="2400" b="1" dirty="0">
              <a:sym typeface="Symbol" panose="05050102010706020507" pitchFamily="18" charset="2"/>
            </a:endParaRP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CCD1AFA2-ABF4-4669-959B-D4B1948C6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184775"/>
            <a:ext cx="465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E2526282-5E7A-4BFD-A703-4A66DC157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5181600"/>
            <a:ext cx="465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4BB16DB2-F01F-42DA-868F-610F43051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5181600"/>
            <a:ext cx="465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97078AC2-CFEA-44FA-9056-A79A43BCB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5181600"/>
            <a:ext cx="465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D7A075F-B233-460B-BB23-661E69BFC7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4.5.1  </a:t>
            </a:r>
            <a:r>
              <a:rPr lang="zh-CN" altLang="en-US"/>
              <a:t>句柄（</a:t>
            </a:r>
            <a:r>
              <a:rPr lang="en-US" altLang="zh-CN">
                <a:solidFill>
                  <a:schemeClr val="hlink"/>
                </a:solidFill>
              </a:rPr>
              <a:t>Handle</a:t>
            </a:r>
            <a:r>
              <a:rPr lang="zh-CN" altLang="en-US"/>
              <a:t>）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D780D17B-9656-4F29-9AD7-AD663046B1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归约过程中符号串中的“句柄”</a:t>
            </a:r>
          </a:p>
          <a:p>
            <a:pPr lvl="1" eaLnBrk="1" hangingPunct="1"/>
            <a:r>
              <a:rPr lang="zh-CN" altLang="en-US" sz="2400" dirty="0"/>
              <a:t>子串，与某个产生式右部匹配</a:t>
            </a:r>
          </a:p>
          <a:p>
            <a:pPr lvl="1" eaLnBrk="1" hangingPunct="1"/>
            <a:r>
              <a:rPr lang="zh-CN" altLang="en-US" sz="2400" dirty="0"/>
              <a:t>将其归约为产生式左部，</a:t>
            </a:r>
            <a:r>
              <a:rPr lang="zh-CN" altLang="en-US" sz="2400" dirty="0">
                <a:sym typeface="Wingdings" panose="05000000000000000000" pitchFamily="2" charset="2"/>
              </a:rPr>
              <a:t>对应单步</a:t>
            </a:r>
            <a:r>
              <a:rPr lang="zh-CN" altLang="en-US" sz="2400" dirty="0"/>
              <a:t>最右推导逆过程</a:t>
            </a:r>
          </a:p>
          <a:p>
            <a:pPr eaLnBrk="1" hangingPunct="1"/>
            <a:r>
              <a:rPr lang="zh-CN" altLang="en-US" sz="2800" dirty="0"/>
              <a:t>形式化定义：一个最右句型</a:t>
            </a:r>
            <a:r>
              <a:rPr lang="en-US" altLang="zh-CN" sz="2800" dirty="0">
                <a:latin typeface="Symbol" panose="05050102010706020507" pitchFamily="18" charset="2"/>
              </a:rPr>
              <a:t>g</a:t>
            </a:r>
            <a:r>
              <a:rPr lang="zh-CN" altLang="en-US" sz="2800" dirty="0"/>
              <a:t>的句柄</a:t>
            </a:r>
          </a:p>
          <a:p>
            <a:pPr lvl="1" eaLnBrk="1" hangingPunct="1"/>
            <a:r>
              <a:rPr lang="en-US" altLang="zh-CN" sz="2400" dirty="0"/>
              <a:t>&lt;</a:t>
            </a:r>
            <a:r>
              <a:rPr lang="en-US" altLang="zh-CN" sz="2400" dirty="0"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sym typeface="Symbol" panose="05050102010706020507" pitchFamily="18" charset="2"/>
              </a:rPr>
              <a:t>, </a:t>
            </a:r>
            <a:r>
              <a:rPr lang="zh-CN" altLang="en-US" sz="2400" dirty="0">
                <a:sym typeface="Symbol" panose="05050102010706020507" pitchFamily="18" charset="2"/>
              </a:rPr>
              <a:t>中的位置</a:t>
            </a:r>
            <a:r>
              <a:rPr lang="en-US" altLang="zh-CN" sz="2400" dirty="0">
                <a:sym typeface="Symbol" panose="05050102010706020507" pitchFamily="18" charset="2"/>
              </a:rPr>
              <a:t>&gt;</a:t>
            </a:r>
          </a:p>
          <a:p>
            <a:pPr lvl="1" eaLnBrk="1" hangingPunct="1"/>
            <a:r>
              <a:rPr lang="en-US" altLang="zh-CN" sz="2400" dirty="0">
                <a:sym typeface="Symbol" panose="05050102010706020507" pitchFamily="18" charset="2"/>
              </a:rPr>
              <a:t>S =&gt;Aw =&gt; w</a:t>
            </a:r>
            <a:r>
              <a:rPr lang="zh-CN" altLang="en-US" sz="2400" dirty="0">
                <a:sym typeface="Symbol" panose="05050102010706020507" pitchFamily="18" charset="2"/>
              </a:rPr>
              <a:t>，中之后即为句柄位置，</a:t>
            </a:r>
            <a:r>
              <a:rPr lang="en-US" altLang="zh-CN" sz="2400" dirty="0">
                <a:sym typeface="Symbol" panose="05050102010706020507" pitchFamily="18" charset="2"/>
              </a:rPr>
              <a:t>w</a:t>
            </a:r>
            <a:r>
              <a:rPr lang="zh-CN" altLang="en-US" sz="2400" dirty="0">
                <a:sym typeface="Symbol" panose="05050102010706020507" pitchFamily="18" charset="2"/>
              </a:rPr>
              <a:t>只包含终结符</a:t>
            </a:r>
          </a:p>
          <a:p>
            <a:pPr eaLnBrk="1" hangingPunct="1"/>
            <a:r>
              <a:rPr lang="zh-CN" altLang="en-US" sz="2800" dirty="0">
                <a:sym typeface="Symbol" panose="05050102010706020507" pitchFamily="18" charset="2"/>
              </a:rPr>
              <a:t>一个句型可有多个不同句柄</a:t>
            </a:r>
          </a:p>
          <a:p>
            <a:pPr eaLnBrk="1" hangingPunct="1"/>
            <a:r>
              <a:rPr lang="zh-CN" altLang="en-US" sz="2800" dirty="0">
                <a:sym typeface="Symbol" panose="05050102010706020507" pitchFamily="18" charset="2"/>
              </a:rPr>
              <a:t>非二义性文法的最右句型有唯一句柄</a:t>
            </a: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5E1466B3-F63B-47F9-9E1A-E737A75B8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36576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3333CC"/>
                </a:solidFill>
              </a:rPr>
              <a:t>*</a:t>
            </a: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694AD68B-6FE3-4C8C-B22E-50A547DCB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7725" y="3829050"/>
            <a:ext cx="465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3333CC"/>
                </a:solidFill>
              </a:rPr>
              <a:t>rm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1B9E0330-1ABE-4A0D-9241-21769DF40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848" y="3829050"/>
            <a:ext cx="465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dirty="0">
                <a:solidFill>
                  <a:srgbClr val="3333CC"/>
                </a:solidFill>
              </a:rPr>
              <a:t>rm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/>
      <p:bldP spid="6149" grpId="0"/>
      <p:bldP spid="61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2F8D7FA-DFA4-46D0-BFD9-3D3A305CE4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4.22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E45334D-A094-4F05-BEF0-726EEE1C7A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590800"/>
            <a:ext cx="3541712" cy="3200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/>
              <a:t>E </a:t>
            </a:r>
            <a:r>
              <a:rPr kumimoji="0" lang="en-US" altLang="zh-CN" b="1">
                <a:sym typeface="Symbol" panose="05050102010706020507" pitchFamily="18" charset="2"/>
              </a:rPr>
              <a:t> </a:t>
            </a:r>
            <a:r>
              <a:rPr kumimoji="0" lang="en-US" altLang="zh-CN" u="sng">
                <a:sym typeface="Symbol" panose="05050102010706020507" pitchFamily="18" charset="2"/>
              </a:rPr>
              <a:t>E + E</a:t>
            </a:r>
            <a:r>
              <a:rPr kumimoji="0" lang="en-US" altLang="zh-CN" b="1">
                <a:sym typeface="Symbol" panose="05050102010706020507" pitchFamily="18" charset="2"/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b="1">
                <a:sym typeface="Symbol" panose="05050102010706020507" pitchFamily="18" charset="2"/>
              </a:rPr>
              <a:t>   </a:t>
            </a:r>
            <a:r>
              <a:rPr kumimoji="0" lang="en-US" altLang="zh-CN">
                <a:sym typeface="Symbol" panose="05050102010706020507" pitchFamily="18" charset="2"/>
              </a:rPr>
              <a:t> E + </a:t>
            </a:r>
            <a:r>
              <a:rPr kumimoji="0" lang="en-US" altLang="zh-CN" u="sng">
                <a:sym typeface="Symbol" panose="05050102010706020507" pitchFamily="18" charset="2"/>
              </a:rPr>
              <a:t>E * 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>
                <a:sym typeface="Symbol" panose="05050102010706020507" pitchFamily="18" charset="2"/>
              </a:rPr>
              <a:t>    E + E * </a:t>
            </a:r>
            <a:r>
              <a:rPr kumimoji="0" lang="en-US" altLang="zh-CN" b="1" u="sng">
                <a:sym typeface="Symbol" panose="05050102010706020507" pitchFamily="18" charset="2"/>
              </a:rPr>
              <a:t>id</a:t>
            </a:r>
            <a:r>
              <a:rPr kumimoji="0" lang="en-US" altLang="zh-CN" b="1" baseline="-25000">
                <a:sym typeface="Symbol" panose="05050102010706020507" pitchFamily="18" charset="2"/>
              </a:rPr>
              <a:t>3</a:t>
            </a:r>
            <a:endParaRPr kumimoji="0" lang="en-US" altLang="zh-CN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>
                <a:sym typeface="Symbol" panose="05050102010706020507" pitchFamily="18" charset="2"/>
              </a:rPr>
              <a:t>    E + </a:t>
            </a:r>
            <a:r>
              <a:rPr kumimoji="0" lang="en-US" altLang="zh-CN" b="1" u="sng">
                <a:sym typeface="Symbol" panose="05050102010706020507" pitchFamily="18" charset="2"/>
              </a:rPr>
              <a:t>id</a:t>
            </a:r>
            <a:r>
              <a:rPr kumimoji="0" lang="en-US" altLang="zh-CN" b="1" baseline="-25000">
                <a:sym typeface="Symbol" panose="05050102010706020507" pitchFamily="18" charset="2"/>
              </a:rPr>
              <a:t>2</a:t>
            </a:r>
            <a:r>
              <a:rPr kumimoji="0" lang="en-US" altLang="zh-CN" b="1">
                <a:sym typeface="Symbol" panose="05050102010706020507" pitchFamily="18" charset="2"/>
              </a:rPr>
              <a:t> </a:t>
            </a:r>
            <a:r>
              <a:rPr kumimoji="0" lang="en-US" altLang="zh-CN">
                <a:sym typeface="Symbol" panose="05050102010706020507" pitchFamily="18" charset="2"/>
              </a:rPr>
              <a:t>* </a:t>
            </a:r>
            <a:r>
              <a:rPr kumimoji="0" lang="en-US" altLang="zh-CN" b="1">
                <a:sym typeface="Symbol" panose="05050102010706020507" pitchFamily="18" charset="2"/>
              </a:rPr>
              <a:t>id</a:t>
            </a:r>
            <a:r>
              <a:rPr kumimoji="0" lang="en-US" altLang="zh-CN" b="1" baseline="-25000">
                <a:sym typeface="Symbol" panose="05050102010706020507" pitchFamily="18" charset="2"/>
              </a:rPr>
              <a:t>3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>
                <a:sym typeface="Symbol" panose="05050102010706020507" pitchFamily="18" charset="2"/>
              </a:rPr>
              <a:t>    </a:t>
            </a:r>
            <a:r>
              <a:rPr kumimoji="0" lang="en-US" altLang="zh-CN" b="1" u="sng">
                <a:sym typeface="Symbol" panose="05050102010706020507" pitchFamily="18" charset="2"/>
              </a:rPr>
              <a:t>id</a:t>
            </a:r>
            <a:r>
              <a:rPr kumimoji="0" lang="en-US" altLang="zh-CN" b="1" baseline="-25000">
                <a:sym typeface="Symbol" panose="05050102010706020507" pitchFamily="18" charset="2"/>
              </a:rPr>
              <a:t>1</a:t>
            </a:r>
            <a:r>
              <a:rPr kumimoji="0" lang="en-US" altLang="zh-CN">
                <a:sym typeface="Symbol" panose="05050102010706020507" pitchFamily="18" charset="2"/>
              </a:rPr>
              <a:t> + </a:t>
            </a:r>
            <a:r>
              <a:rPr kumimoji="0" lang="en-US" altLang="zh-CN" b="1">
                <a:sym typeface="Symbol" panose="05050102010706020507" pitchFamily="18" charset="2"/>
              </a:rPr>
              <a:t>id</a:t>
            </a:r>
            <a:r>
              <a:rPr kumimoji="0" lang="en-US" altLang="zh-CN" b="1" baseline="-25000">
                <a:sym typeface="Symbol" panose="05050102010706020507" pitchFamily="18" charset="2"/>
              </a:rPr>
              <a:t>2</a:t>
            </a:r>
            <a:r>
              <a:rPr kumimoji="0" lang="en-US" altLang="zh-CN" b="1">
                <a:sym typeface="Symbol" panose="05050102010706020507" pitchFamily="18" charset="2"/>
              </a:rPr>
              <a:t> </a:t>
            </a:r>
            <a:r>
              <a:rPr kumimoji="0" lang="en-US" altLang="zh-CN">
                <a:sym typeface="Symbol" panose="05050102010706020507" pitchFamily="18" charset="2"/>
              </a:rPr>
              <a:t>* </a:t>
            </a:r>
            <a:r>
              <a:rPr kumimoji="0" lang="en-US" altLang="zh-CN" b="1">
                <a:sym typeface="Symbol" panose="05050102010706020507" pitchFamily="18" charset="2"/>
              </a:rPr>
              <a:t>id</a:t>
            </a:r>
            <a:r>
              <a:rPr kumimoji="0" lang="en-US" altLang="zh-CN" b="1" baseline="-25000">
                <a:sym typeface="Symbol" panose="05050102010706020507" pitchFamily="18" charset="2"/>
              </a:rPr>
              <a:t>3</a:t>
            </a:r>
            <a:endParaRPr kumimoji="0" lang="en-US" altLang="zh-CN" b="1">
              <a:sym typeface="Symbol" panose="05050102010706020507" pitchFamily="18" charset="2"/>
            </a:endParaRPr>
          </a:p>
        </p:txBody>
      </p:sp>
      <p:sp>
        <p:nvSpPr>
          <p:cNvPr id="8196" name="Rectangle 5">
            <a:extLst>
              <a:ext uri="{FF2B5EF4-FFF2-40B4-BE49-F238E27FC236}">
                <a16:creationId xmlns:a16="http://schemas.microsoft.com/office/drawing/2014/main" id="{D11C74D4-5B76-49CF-88AD-4D83D096F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819400"/>
            <a:ext cx="465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</a:p>
        </p:txBody>
      </p:sp>
      <p:sp>
        <p:nvSpPr>
          <p:cNvPr id="8197" name="Rectangle 6">
            <a:extLst>
              <a:ext uri="{FF2B5EF4-FFF2-40B4-BE49-F238E27FC236}">
                <a16:creationId xmlns:a16="http://schemas.microsoft.com/office/drawing/2014/main" id="{047EFC90-6211-475E-A66B-753CEF04C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3413125"/>
            <a:ext cx="465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</a:p>
        </p:txBody>
      </p:sp>
      <p:sp>
        <p:nvSpPr>
          <p:cNvPr id="8198" name="Rectangle 7">
            <a:extLst>
              <a:ext uri="{FF2B5EF4-FFF2-40B4-BE49-F238E27FC236}">
                <a16:creationId xmlns:a16="http://schemas.microsoft.com/office/drawing/2014/main" id="{4143FEEA-8EA3-41DE-90A5-CA52D96E9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022725"/>
            <a:ext cx="465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</a:p>
        </p:txBody>
      </p:sp>
      <p:sp>
        <p:nvSpPr>
          <p:cNvPr id="8199" name="Rectangle 8">
            <a:extLst>
              <a:ext uri="{FF2B5EF4-FFF2-40B4-BE49-F238E27FC236}">
                <a16:creationId xmlns:a16="http://schemas.microsoft.com/office/drawing/2014/main" id="{2223F635-6CCB-439A-B9BD-8DB3966B0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603750"/>
            <a:ext cx="465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</a:p>
        </p:txBody>
      </p:sp>
      <p:sp>
        <p:nvSpPr>
          <p:cNvPr id="8200" name="Rectangle 9">
            <a:extLst>
              <a:ext uri="{FF2B5EF4-FFF2-40B4-BE49-F238E27FC236}">
                <a16:creationId xmlns:a16="http://schemas.microsoft.com/office/drawing/2014/main" id="{7635C9F3-3B46-4310-ABDF-AB87E04B1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165725"/>
            <a:ext cx="465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</a:p>
        </p:txBody>
      </p:sp>
      <p:sp>
        <p:nvSpPr>
          <p:cNvPr id="8201" name="Rectangle 10">
            <a:extLst>
              <a:ext uri="{FF2B5EF4-FFF2-40B4-BE49-F238E27FC236}">
                <a16:creationId xmlns:a16="http://schemas.microsoft.com/office/drawing/2014/main" id="{246D617B-9FA6-4CE8-9C1B-8B1D885F96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590800"/>
            <a:ext cx="3541713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/>
              <a:t>E </a:t>
            </a:r>
            <a:r>
              <a:rPr kumimoji="0" lang="en-US" altLang="zh-CN" b="1">
                <a:sym typeface="Symbol" panose="05050102010706020507" pitchFamily="18" charset="2"/>
              </a:rPr>
              <a:t> </a:t>
            </a:r>
            <a:r>
              <a:rPr kumimoji="0" lang="en-US" altLang="zh-CN" u="sng">
                <a:sym typeface="Symbol" panose="05050102010706020507" pitchFamily="18" charset="2"/>
              </a:rPr>
              <a:t>E * E</a:t>
            </a:r>
            <a:r>
              <a:rPr kumimoji="0" lang="en-US" altLang="zh-CN" b="1">
                <a:sym typeface="Symbol" panose="05050102010706020507" pitchFamily="18" charset="2"/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b="1">
                <a:sym typeface="Symbol" panose="05050102010706020507" pitchFamily="18" charset="2"/>
              </a:rPr>
              <a:t>   </a:t>
            </a:r>
            <a:r>
              <a:rPr kumimoji="0" lang="en-US" altLang="zh-CN">
                <a:sym typeface="Symbol" panose="05050102010706020507" pitchFamily="18" charset="2"/>
              </a:rPr>
              <a:t> E + </a:t>
            </a:r>
            <a:r>
              <a:rPr kumimoji="0" lang="en-US" altLang="zh-CN" b="1" u="sng">
                <a:sym typeface="Symbol" panose="05050102010706020507" pitchFamily="18" charset="2"/>
              </a:rPr>
              <a:t>id</a:t>
            </a:r>
            <a:r>
              <a:rPr kumimoji="0" lang="en-US" altLang="zh-CN" b="1" baseline="-25000">
                <a:sym typeface="Symbol" panose="05050102010706020507" pitchFamily="18" charset="2"/>
              </a:rPr>
              <a:t>3</a:t>
            </a:r>
            <a:endParaRPr kumimoji="0" lang="en-US" altLang="zh-CN" u="sng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>
                <a:sym typeface="Symbol" panose="05050102010706020507" pitchFamily="18" charset="2"/>
              </a:rPr>
              <a:t>    </a:t>
            </a:r>
            <a:r>
              <a:rPr kumimoji="0" lang="en-US" altLang="zh-CN" u="sng">
                <a:sym typeface="Symbol" panose="05050102010706020507" pitchFamily="18" charset="2"/>
              </a:rPr>
              <a:t>E + E</a:t>
            </a:r>
            <a:r>
              <a:rPr kumimoji="0" lang="en-US" altLang="zh-CN">
                <a:sym typeface="Symbol" panose="05050102010706020507" pitchFamily="18" charset="2"/>
              </a:rPr>
              <a:t> * </a:t>
            </a:r>
            <a:r>
              <a:rPr kumimoji="0" lang="en-US" altLang="zh-CN" b="1">
                <a:sym typeface="Symbol" panose="05050102010706020507" pitchFamily="18" charset="2"/>
              </a:rPr>
              <a:t>id</a:t>
            </a:r>
            <a:r>
              <a:rPr kumimoji="0" lang="en-US" altLang="zh-CN" b="1" baseline="-25000">
                <a:sym typeface="Symbol" panose="05050102010706020507" pitchFamily="18" charset="2"/>
              </a:rPr>
              <a:t>3</a:t>
            </a:r>
            <a:endParaRPr kumimoji="0" lang="en-US" altLang="zh-CN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>
                <a:sym typeface="Symbol" panose="05050102010706020507" pitchFamily="18" charset="2"/>
              </a:rPr>
              <a:t>    E + </a:t>
            </a:r>
            <a:r>
              <a:rPr kumimoji="0" lang="en-US" altLang="zh-CN" b="1" u="sng">
                <a:sym typeface="Symbol" panose="05050102010706020507" pitchFamily="18" charset="2"/>
              </a:rPr>
              <a:t>id</a:t>
            </a:r>
            <a:r>
              <a:rPr kumimoji="0" lang="en-US" altLang="zh-CN" b="1" baseline="-25000">
                <a:sym typeface="Symbol" panose="05050102010706020507" pitchFamily="18" charset="2"/>
              </a:rPr>
              <a:t>2</a:t>
            </a:r>
            <a:r>
              <a:rPr kumimoji="0" lang="en-US" altLang="zh-CN" b="1">
                <a:sym typeface="Symbol" panose="05050102010706020507" pitchFamily="18" charset="2"/>
              </a:rPr>
              <a:t> </a:t>
            </a:r>
            <a:r>
              <a:rPr kumimoji="0" lang="en-US" altLang="zh-CN">
                <a:sym typeface="Symbol" panose="05050102010706020507" pitchFamily="18" charset="2"/>
              </a:rPr>
              <a:t>* </a:t>
            </a:r>
            <a:r>
              <a:rPr kumimoji="0" lang="en-US" altLang="zh-CN" b="1">
                <a:sym typeface="Symbol" panose="05050102010706020507" pitchFamily="18" charset="2"/>
              </a:rPr>
              <a:t>id</a:t>
            </a:r>
            <a:r>
              <a:rPr kumimoji="0" lang="en-US" altLang="zh-CN" b="1" baseline="-25000">
                <a:sym typeface="Symbol" panose="05050102010706020507" pitchFamily="18" charset="2"/>
              </a:rPr>
              <a:t>3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>
                <a:sym typeface="Symbol" panose="05050102010706020507" pitchFamily="18" charset="2"/>
              </a:rPr>
              <a:t>    </a:t>
            </a:r>
            <a:r>
              <a:rPr kumimoji="0" lang="en-US" altLang="zh-CN" b="1" u="sng">
                <a:sym typeface="Symbol" panose="05050102010706020507" pitchFamily="18" charset="2"/>
              </a:rPr>
              <a:t>id</a:t>
            </a:r>
            <a:r>
              <a:rPr kumimoji="0" lang="en-US" altLang="zh-CN" b="1" baseline="-25000">
                <a:sym typeface="Symbol" panose="05050102010706020507" pitchFamily="18" charset="2"/>
              </a:rPr>
              <a:t>1</a:t>
            </a:r>
            <a:r>
              <a:rPr kumimoji="0" lang="en-US" altLang="zh-CN">
                <a:sym typeface="Symbol" panose="05050102010706020507" pitchFamily="18" charset="2"/>
              </a:rPr>
              <a:t> + </a:t>
            </a:r>
            <a:r>
              <a:rPr kumimoji="0" lang="en-US" altLang="zh-CN" b="1">
                <a:sym typeface="Symbol" panose="05050102010706020507" pitchFamily="18" charset="2"/>
              </a:rPr>
              <a:t>id</a:t>
            </a:r>
            <a:r>
              <a:rPr kumimoji="0" lang="en-US" altLang="zh-CN" b="1" baseline="-25000">
                <a:sym typeface="Symbol" panose="05050102010706020507" pitchFamily="18" charset="2"/>
              </a:rPr>
              <a:t>2</a:t>
            </a:r>
            <a:r>
              <a:rPr kumimoji="0" lang="en-US" altLang="zh-CN" b="1">
                <a:sym typeface="Symbol" panose="05050102010706020507" pitchFamily="18" charset="2"/>
              </a:rPr>
              <a:t> </a:t>
            </a:r>
            <a:r>
              <a:rPr kumimoji="0" lang="en-US" altLang="zh-CN">
                <a:sym typeface="Symbol" panose="05050102010706020507" pitchFamily="18" charset="2"/>
              </a:rPr>
              <a:t>* </a:t>
            </a:r>
            <a:r>
              <a:rPr kumimoji="0" lang="en-US" altLang="zh-CN" b="1">
                <a:sym typeface="Symbol" panose="05050102010706020507" pitchFamily="18" charset="2"/>
              </a:rPr>
              <a:t>id</a:t>
            </a:r>
            <a:r>
              <a:rPr kumimoji="0" lang="en-US" altLang="zh-CN" b="1" baseline="-25000">
                <a:sym typeface="Symbol" panose="05050102010706020507" pitchFamily="18" charset="2"/>
              </a:rPr>
              <a:t>3</a:t>
            </a:r>
            <a:endParaRPr kumimoji="0" lang="en-US" altLang="zh-CN" b="1">
              <a:sym typeface="Symbol" panose="05050102010706020507" pitchFamily="18" charset="2"/>
            </a:endParaRPr>
          </a:p>
        </p:txBody>
      </p:sp>
      <p:sp>
        <p:nvSpPr>
          <p:cNvPr id="8202" name="Rectangle 11">
            <a:extLst>
              <a:ext uri="{FF2B5EF4-FFF2-40B4-BE49-F238E27FC236}">
                <a16:creationId xmlns:a16="http://schemas.microsoft.com/office/drawing/2014/main" id="{7E1D2DD0-7D11-4019-A225-7CD084D7D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8113" y="2819400"/>
            <a:ext cx="465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</a:p>
        </p:txBody>
      </p:sp>
      <p:sp>
        <p:nvSpPr>
          <p:cNvPr id="8203" name="Rectangle 12">
            <a:extLst>
              <a:ext uri="{FF2B5EF4-FFF2-40B4-BE49-F238E27FC236}">
                <a16:creationId xmlns:a16="http://schemas.microsoft.com/office/drawing/2014/main" id="{ACD6AB14-FA73-41B6-91BD-634753DA0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0175" y="3413125"/>
            <a:ext cx="465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</a:p>
        </p:txBody>
      </p:sp>
      <p:sp>
        <p:nvSpPr>
          <p:cNvPr id="8204" name="Rectangle 13">
            <a:extLst>
              <a:ext uri="{FF2B5EF4-FFF2-40B4-BE49-F238E27FC236}">
                <a16:creationId xmlns:a16="http://schemas.microsoft.com/office/drawing/2014/main" id="{A6924B7C-8CB5-42A6-AAD9-B1BC0C0F4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8113" y="4022725"/>
            <a:ext cx="465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</a:p>
        </p:txBody>
      </p:sp>
      <p:sp>
        <p:nvSpPr>
          <p:cNvPr id="8205" name="Rectangle 14">
            <a:extLst>
              <a:ext uri="{FF2B5EF4-FFF2-40B4-BE49-F238E27FC236}">
                <a16:creationId xmlns:a16="http://schemas.microsoft.com/office/drawing/2014/main" id="{DB4A1877-F643-4906-A192-49C18ED84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8113" y="4603750"/>
            <a:ext cx="465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</a:p>
        </p:txBody>
      </p:sp>
      <p:sp>
        <p:nvSpPr>
          <p:cNvPr id="8206" name="Rectangle 15">
            <a:extLst>
              <a:ext uri="{FF2B5EF4-FFF2-40B4-BE49-F238E27FC236}">
                <a16:creationId xmlns:a16="http://schemas.microsoft.com/office/drawing/2014/main" id="{AD6787DE-DEBD-4ABF-BDEB-36EDE055F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8113" y="5165725"/>
            <a:ext cx="465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</a:p>
        </p:txBody>
      </p:sp>
      <p:sp>
        <p:nvSpPr>
          <p:cNvPr id="8207" name="Rectangle 16">
            <a:extLst>
              <a:ext uri="{FF2B5EF4-FFF2-40B4-BE49-F238E27FC236}">
                <a16:creationId xmlns:a16="http://schemas.microsoft.com/office/drawing/2014/main" id="{AAD52BC0-F9B5-45D1-8039-3B23448BA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2688" y="1371600"/>
            <a:ext cx="6665912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/>
              <a:t>(1) E </a:t>
            </a:r>
            <a:r>
              <a:rPr kumimoji="0" lang="en-US" altLang="zh-CN">
                <a:sym typeface="Symbol" panose="05050102010706020507" pitchFamily="18" charset="2"/>
              </a:rPr>
              <a:t> E + E		(3) E</a:t>
            </a:r>
            <a:r>
              <a:rPr kumimoji="0" lang="en-US" altLang="zh-CN"/>
              <a:t> </a:t>
            </a:r>
            <a:r>
              <a:rPr kumimoji="0" lang="en-US" altLang="zh-CN">
                <a:sym typeface="Symbol" panose="05050102010706020507" pitchFamily="18" charset="2"/>
              </a:rPr>
              <a:t> (E)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>
                <a:sym typeface="Symbol" panose="05050102010706020507" pitchFamily="18" charset="2"/>
              </a:rPr>
              <a:t>(2) E</a:t>
            </a:r>
            <a:r>
              <a:rPr kumimoji="0" lang="en-US" altLang="zh-CN"/>
              <a:t> </a:t>
            </a:r>
            <a:r>
              <a:rPr kumimoji="0" lang="en-US" altLang="zh-CN">
                <a:sym typeface="Symbol" panose="05050102010706020507" pitchFamily="18" charset="2"/>
              </a:rPr>
              <a:t> E * E		(4) E  </a:t>
            </a:r>
            <a:r>
              <a:rPr kumimoji="0" lang="en-US" altLang="zh-CN" b="1">
                <a:sym typeface="Symbol" panose="05050102010706020507" pitchFamily="18" charset="2"/>
              </a:rPr>
              <a:t>id</a:t>
            </a:r>
            <a:endParaRPr kumimoji="0" lang="en-US" altLang="zh-CN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44640F11-2F12-42C3-ABB4-507554518B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4.5.2 </a:t>
            </a:r>
            <a:r>
              <a:rPr lang="zh-CN" altLang="en-US"/>
              <a:t>句柄剪枝</a:t>
            </a:r>
            <a:r>
              <a:rPr lang="en-US" altLang="zh-CN"/>
              <a:t>(</a:t>
            </a:r>
            <a:r>
              <a:rPr lang="en-US" altLang="zh-CN">
                <a:solidFill>
                  <a:schemeClr val="hlink"/>
                </a:solidFill>
              </a:rPr>
              <a:t>Handle Pruning</a:t>
            </a:r>
            <a:r>
              <a:rPr lang="en-US" altLang="zh-CN"/>
              <a:t>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C263755B-5C9A-4307-BD79-E6A2740C4F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219200"/>
            <a:ext cx="7772400" cy="106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子串</a:t>
            </a:r>
            <a:r>
              <a:rPr lang="zh-CN" altLang="en-US" dirty="0">
                <a:sym typeface="Wingdings" panose="05000000000000000000" pitchFamily="2" charset="2"/>
              </a:rPr>
              <a:t>归约为产生式左部</a:t>
            </a:r>
            <a:r>
              <a:rPr lang="en-US" altLang="zh-CN" dirty="0">
                <a:sym typeface="Wingdings" panose="05000000000000000000" pitchFamily="2" charset="2"/>
              </a:rPr>
              <a:t>——</a:t>
            </a:r>
            <a:r>
              <a:rPr lang="zh-CN" altLang="en-US" dirty="0">
                <a:sym typeface="Wingdings" panose="05000000000000000000" pitchFamily="2" charset="2"/>
              </a:rPr>
              <a:t>语法树剪枝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sym typeface="Wingdings" panose="05000000000000000000" pitchFamily="2" charset="2"/>
              </a:rPr>
              <a:t>不断剪枝最右推导的逆过程</a:t>
            </a:r>
            <a:r>
              <a:rPr lang="en-US" altLang="zh-CN" dirty="0">
                <a:sym typeface="Wingdings" panose="05000000000000000000" pitchFamily="2" charset="2"/>
              </a:rPr>
              <a:t>——</a:t>
            </a:r>
            <a:r>
              <a:rPr lang="zh-CN" altLang="en-US" dirty="0">
                <a:sym typeface="Wingdings" panose="05000000000000000000" pitchFamily="2" charset="2"/>
              </a:rPr>
              <a:t>归约</a:t>
            </a:r>
            <a:endParaRPr lang="zh-CN" altLang="en-US" dirty="0"/>
          </a:p>
        </p:txBody>
      </p:sp>
      <p:sp>
        <p:nvSpPr>
          <p:cNvPr id="9220" name="Line 4">
            <a:extLst>
              <a:ext uri="{FF2B5EF4-FFF2-40B4-BE49-F238E27FC236}">
                <a16:creationId xmlns:a16="http://schemas.microsoft.com/office/drawing/2014/main" id="{6FBFA33A-8693-48AB-B6BF-8256938AA2D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514600"/>
            <a:ext cx="1588" cy="1371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6C5F09BA-5F79-4289-861B-640FBDFA0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1336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S</a:t>
            </a:r>
          </a:p>
        </p:txBody>
      </p:sp>
      <p:sp>
        <p:nvSpPr>
          <p:cNvPr id="9222" name="Rectangle 6">
            <a:extLst>
              <a:ext uri="{FF2B5EF4-FFF2-40B4-BE49-F238E27FC236}">
                <a16:creationId xmlns:a16="http://schemas.microsoft.com/office/drawing/2014/main" id="{6877668B-082A-415E-B0C1-AB5547F07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82905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A</a:t>
            </a:r>
          </a:p>
        </p:txBody>
      </p:sp>
      <p:sp>
        <p:nvSpPr>
          <p:cNvPr id="9223" name="AutoShape 7">
            <a:extLst>
              <a:ext uri="{FF2B5EF4-FFF2-40B4-BE49-F238E27FC236}">
                <a16:creationId xmlns:a16="http://schemas.microsoft.com/office/drawing/2014/main" id="{220B9673-1330-472A-9FCE-50DA9992E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4210050"/>
            <a:ext cx="838200" cy="685800"/>
          </a:xfrm>
          <a:prstGeom prst="triangle">
            <a:avLst>
              <a:gd name="adj" fmla="val 50000"/>
            </a:avLst>
          </a:prstGeom>
          <a:noFill/>
          <a:ln w="25400">
            <a:solidFill>
              <a:srgbClr val="FF0000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9224" name="AutoShape 8">
            <a:extLst>
              <a:ext uri="{FF2B5EF4-FFF2-40B4-BE49-F238E27FC236}">
                <a16:creationId xmlns:a16="http://schemas.microsoft.com/office/drawing/2014/main" id="{0094BD0B-B520-4CAD-8E62-B61037709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667000"/>
            <a:ext cx="2590800" cy="2228850"/>
          </a:xfrm>
          <a:prstGeom prst="triangle">
            <a:avLst>
              <a:gd name="adj" fmla="val 0"/>
            </a:avLst>
          </a:prstGeom>
          <a:noFill/>
          <a:ln w="25400">
            <a:solidFill>
              <a:srgbClr val="FF0000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9225" name="AutoShape 9">
            <a:extLst>
              <a:ext uri="{FF2B5EF4-FFF2-40B4-BE49-F238E27FC236}">
                <a16:creationId xmlns:a16="http://schemas.microsoft.com/office/drawing/2014/main" id="{E8A50DDD-8949-4F74-BB15-F4A64844733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133600" y="2743200"/>
            <a:ext cx="1981200" cy="2171700"/>
          </a:xfrm>
          <a:prstGeom prst="triangle">
            <a:avLst>
              <a:gd name="adj" fmla="val 0"/>
            </a:avLst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9226" name="Rectangle 10">
            <a:extLst>
              <a:ext uri="{FF2B5EF4-FFF2-40B4-BE49-F238E27FC236}">
                <a16:creationId xmlns:a16="http://schemas.microsoft.com/office/drawing/2014/main" id="{3405E9FB-BC6B-4539-8150-FE2E778C8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3763" y="4876800"/>
            <a:ext cx="5913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Left part	 Handle  (only terminals here)</a:t>
            </a:r>
          </a:p>
        </p:txBody>
      </p:sp>
      <p:sp>
        <p:nvSpPr>
          <p:cNvPr id="9227" name="AutoShape 11">
            <a:extLst>
              <a:ext uri="{FF2B5EF4-FFF2-40B4-BE49-F238E27FC236}">
                <a16:creationId xmlns:a16="http://schemas.microsoft.com/office/drawing/2014/main" id="{0BCA02A1-D3E4-451D-873E-F308D25FE92D}"/>
              </a:ext>
            </a:extLst>
          </p:cNvPr>
          <p:cNvSpPr>
            <a:spLocks/>
          </p:cNvSpPr>
          <p:nvPr/>
        </p:nvSpPr>
        <p:spPr bwMode="auto">
          <a:xfrm rot="5400000">
            <a:off x="3459163" y="3810000"/>
            <a:ext cx="304800" cy="3048000"/>
          </a:xfrm>
          <a:prstGeom prst="rightBrace">
            <a:avLst>
              <a:gd name="adj1" fmla="val 9963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9228" name="Rectangle 12">
            <a:extLst>
              <a:ext uri="{FF2B5EF4-FFF2-40B4-BE49-F238E27FC236}">
                <a16:creationId xmlns:a16="http://schemas.microsoft.com/office/drawing/2014/main" id="{7A235A5E-065A-42A6-9A8D-FBDDAD8FA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5410200"/>
            <a:ext cx="1884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Viable prefix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B1551C3-DF34-4159-BC49-2D5B02AF99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4.23</a:t>
            </a:r>
          </a:p>
        </p:txBody>
      </p:sp>
      <p:sp>
        <p:nvSpPr>
          <p:cNvPr id="10243" name="Rectangle 4">
            <a:extLst>
              <a:ext uri="{FF2B5EF4-FFF2-40B4-BE49-F238E27FC236}">
                <a16:creationId xmlns:a16="http://schemas.microsoft.com/office/drawing/2014/main" id="{1DC78BDF-34DE-47AA-B0ED-E88A5AA427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2703512" cy="4114800"/>
          </a:xfrm>
          <a:noFill/>
        </p:spPr>
        <p:txBody>
          <a:bodyPr/>
          <a:lstStyle/>
          <a:p>
            <a:pPr algn="r" eaLnBrk="1" hangingPunct="1">
              <a:buFont typeface="Wingdings" panose="05000000000000000000" pitchFamily="2" charset="2"/>
              <a:buNone/>
            </a:pPr>
            <a:r>
              <a:rPr kumimoji="0" lang="zh-CN" altLang="en-US" sz="2800" b="1">
                <a:sym typeface="Symbol" panose="05050102010706020507" pitchFamily="18" charset="2"/>
              </a:rPr>
              <a:t>最右句型</a:t>
            </a: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 b="1" baseline="-25000"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sym typeface="Symbol" panose="05050102010706020507" pitchFamily="18" charset="2"/>
              </a:rPr>
              <a:t> +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 b="1" baseline="-25000">
                <a:sym typeface="Symbol" panose="05050102010706020507" pitchFamily="18" charset="2"/>
              </a:rPr>
              <a:t>2</a:t>
            </a:r>
            <a:r>
              <a:rPr kumimoji="0" lang="en-US" altLang="zh-CN" sz="2800" b="1">
                <a:sym typeface="Symbol" panose="05050102010706020507" pitchFamily="18" charset="2"/>
              </a:rPr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*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 b="1" baseline="-25000">
                <a:sym typeface="Symbol" panose="05050102010706020507" pitchFamily="18" charset="2"/>
              </a:rPr>
              <a:t>3</a:t>
            </a: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E +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 b="1" baseline="-25000">
                <a:sym typeface="Symbol" panose="05050102010706020507" pitchFamily="18" charset="2"/>
              </a:rPr>
              <a:t>2</a:t>
            </a:r>
            <a:r>
              <a:rPr kumimoji="0" lang="en-US" altLang="zh-CN" sz="2800" b="1">
                <a:sym typeface="Symbol" panose="05050102010706020507" pitchFamily="18" charset="2"/>
              </a:rPr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*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 b="1" baseline="-25000">
                <a:sym typeface="Symbol" panose="05050102010706020507" pitchFamily="18" charset="2"/>
              </a:rPr>
              <a:t>3</a:t>
            </a: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E + E *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 b="1" baseline="-25000">
                <a:sym typeface="Symbol" panose="05050102010706020507" pitchFamily="18" charset="2"/>
              </a:rPr>
              <a:t>3</a:t>
            </a: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E + E * E</a:t>
            </a: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E + E</a:t>
            </a:r>
            <a:r>
              <a:rPr kumimoji="0" lang="en-US" altLang="zh-CN" sz="2800" b="1">
                <a:sym typeface="Symbol" panose="05050102010706020507" pitchFamily="18" charset="2"/>
              </a:rPr>
              <a:t> </a:t>
            </a: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kumimoji="0" lang="en-US" altLang="zh-CN" sz="2800"/>
              <a:t>E</a:t>
            </a:r>
          </a:p>
        </p:txBody>
      </p:sp>
      <p:sp>
        <p:nvSpPr>
          <p:cNvPr id="10244" name="Rectangle 5">
            <a:extLst>
              <a:ext uri="{FF2B5EF4-FFF2-40B4-BE49-F238E27FC236}">
                <a16:creationId xmlns:a16="http://schemas.microsoft.com/office/drawing/2014/main" id="{49F3FE13-286F-4D60-8120-27C128F9F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0688" y="1371600"/>
            <a:ext cx="15605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zh-CN" altLang="en-US" sz="2800" b="1">
                <a:sym typeface="Symbol" panose="05050102010706020507" pitchFamily="18" charset="2"/>
              </a:rPr>
              <a:t>句柄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 b="1" baseline="-25000">
                <a:sym typeface="Symbol" panose="05050102010706020507" pitchFamily="18" charset="2"/>
              </a:rPr>
              <a:t>1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 b="1" baseline="-25000">
                <a:sym typeface="Symbol" panose="05050102010706020507" pitchFamily="18" charset="2"/>
              </a:rPr>
              <a:t>2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 b="1" baseline="-25000">
                <a:sym typeface="Symbol" panose="05050102010706020507" pitchFamily="18" charset="2"/>
              </a:rPr>
              <a:t>3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E * E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E + E</a:t>
            </a:r>
            <a:endParaRPr kumimoji="0" lang="en-US" altLang="zh-CN" sz="2800"/>
          </a:p>
        </p:txBody>
      </p:sp>
      <p:sp>
        <p:nvSpPr>
          <p:cNvPr id="10245" name="Rectangle 6">
            <a:extLst>
              <a:ext uri="{FF2B5EF4-FFF2-40B4-BE49-F238E27FC236}">
                <a16:creationId xmlns:a16="http://schemas.microsoft.com/office/drawing/2014/main" id="{BF06C3D7-9FA7-4534-B214-062DD4094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3288" y="1371600"/>
            <a:ext cx="27035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kumimoji="0" lang="zh-CN" altLang="en-US" sz="2800" b="1">
                <a:sym typeface="Symbol" panose="05050102010706020507" pitchFamily="18" charset="2"/>
              </a:rPr>
              <a:t>归约产生式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E 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E 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E 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E</a:t>
            </a:r>
            <a:r>
              <a:rPr kumimoji="0" lang="en-US" altLang="zh-CN" sz="2800"/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 E * 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/>
              <a:t>E </a:t>
            </a:r>
            <a:r>
              <a:rPr kumimoji="0" lang="en-US" altLang="zh-CN" sz="2800">
                <a:sym typeface="Symbol" panose="05050102010706020507" pitchFamily="18" charset="2"/>
              </a:rPr>
              <a:t> E + E	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2CB170B-20B6-4BE7-8E9F-646CF4E402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4.5.3  </a:t>
            </a:r>
            <a:r>
              <a:rPr lang="zh-CN" altLang="en-US"/>
              <a:t>移进－归约分析的实现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E30AF8FD-A681-4512-94F9-64522496EA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marL="609600" indent="-609600" eaLnBrk="1" hangingPunct="1"/>
            <a:r>
              <a:rPr lang="zh-CN" altLang="en-US" sz="2800" dirty="0"/>
              <a:t>基于栈实现移进</a:t>
            </a:r>
            <a:r>
              <a:rPr lang="en-US" altLang="zh-CN" sz="2800" dirty="0"/>
              <a:t>—</a:t>
            </a:r>
            <a:r>
              <a:rPr lang="zh-CN" altLang="en-US" sz="2800" dirty="0"/>
              <a:t>归约过程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 dirty="0"/>
              <a:t>将输入符号“移进”栈中，直至在栈顶形成一个句柄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 dirty="0"/>
              <a:t>将句柄“归约”为相应的非终结符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 dirty="0"/>
              <a:t>不断重复，直至栈中只剩开始符号，输入缓冲区为空</a:t>
            </a:r>
            <a:r>
              <a:rPr lang="en-US" altLang="zh-CN" sz="2400" dirty="0"/>
              <a:t>——</a:t>
            </a:r>
            <a:r>
              <a:rPr lang="zh-CN" altLang="en-US" sz="2400" dirty="0"/>
              <a:t>接受输入串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 dirty="0"/>
              <a:t>错误处理</a:t>
            </a:r>
          </a:p>
          <a:p>
            <a:pPr marL="609600" indent="-609600" eaLnBrk="1" hangingPunct="1"/>
            <a:r>
              <a:rPr lang="zh-CN" altLang="en-US" sz="2800" dirty="0"/>
              <a:t>两个问题</a:t>
            </a:r>
          </a:p>
          <a:p>
            <a:pPr marL="990600" lvl="1" indent="-533400" eaLnBrk="1" hangingPunct="1"/>
            <a:r>
              <a:rPr lang="zh-CN" altLang="en-US" sz="2400" dirty="0"/>
              <a:t>定位句柄</a:t>
            </a:r>
          </a:p>
          <a:p>
            <a:pPr marL="990600" lvl="1" indent="-533400" eaLnBrk="1" hangingPunct="1"/>
            <a:r>
              <a:rPr lang="zh-CN" altLang="en-US" sz="2400" dirty="0"/>
              <a:t>确定用哪个产生式进行归约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086EA59B-860B-469B-AEDD-CC40FE9441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4.24</a:t>
            </a:r>
          </a:p>
        </p:txBody>
      </p:sp>
      <p:grpSp>
        <p:nvGrpSpPr>
          <p:cNvPr id="12291" name="Group 21">
            <a:extLst>
              <a:ext uri="{FF2B5EF4-FFF2-40B4-BE49-F238E27FC236}">
                <a16:creationId xmlns:a16="http://schemas.microsoft.com/office/drawing/2014/main" id="{87BB6F54-08FF-4031-A90D-67D2BB4DBF73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1371600"/>
            <a:ext cx="6400800" cy="4267200"/>
            <a:chOff x="960" y="864"/>
            <a:chExt cx="4032" cy="3216"/>
          </a:xfrm>
        </p:grpSpPr>
        <p:sp>
          <p:nvSpPr>
            <p:cNvPr id="12292" name="Line 5">
              <a:extLst>
                <a:ext uri="{FF2B5EF4-FFF2-40B4-BE49-F238E27FC236}">
                  <a16:creationId xmlns:a16="http://schemas.microsoft.com/office/drawing/2014/main" id="{79A87790-E24F-490A-8697-2CC5D6BC34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864"/>
              <a:ext cx="38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3" name="Line 6">
              <a:extLst>
                <a:ext uri="{FF2B5EF4-FFF2-40B4-BE49-F238E27FC236}">
                  <a16:creationId xmlns:a16="http://schemas.microsoft.com/office/drawing/2014/main" id="{72540F90-AEBD-4BDF-A015-1568A47D0E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912"/>
              <a:ext cx="38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4" name="Line 7">
              <a:extLst>
                <a:ext uri="{FF2B5EF4-FFF2-40B4-BE49-F238E27FC236}">
                  <a16:creationId xmlns:a16="http://schemas.microsoft.com/office/drawing/2014/main" id="{4FC8E0E2-F67B-492D-BAD4-F0B22DF92C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1200"/>
              <a:ext cx="38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5" name="Line 8">
              <a:extLst>
                <a:ext uri="{FF2B5EF4-FFF2-40B4-BE49-F238E27FC236}">
                  <a16:creationId xmlns:a16="http://schemas.microsoft.com/office/drawing/2014/main" id="{1217B10D-93D2-4504-9B06-2D6A2FEADC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4080"/>
              <a:ext cx="38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6" name="Line 9">
              <a:extLst>
                <a:ext uri="{FF2B5EF4-FFF2-40B4-BE49-F238E27FC236}">
                  <a16:creationId xmlns:a16="http://schemas.microsoft.com/office/drawing/2014/main" id="{A7C7F39D-66BC-4429-99AF-ADD39480C3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912"/>
              <a:ext cx="0" cy="31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7" name="Line 10">
              <a:extLst>
                <a:ext uri="{FF2B5EF4-FFF2-40B4-BE49-F238E27FC236}">
                  <a16:creationId xmlns:a16="http://schemas.microsoft.com/office/drawing/2014/main" id="{84D59106-85FF-4FD8-B655-F7DA2CC869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912"/>
              <a:ext cx="0" cy="31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8" name="Text Box 11">
              <a:extLst>
                <a:ext uri="{FF2B5EF4-FFF2-40B4-BE49-F238E27FC236}">
                  <a16:creationId xmlns:a16="http://schemas.microsoft.com/office/drawing/2014/main" id="{0B133B83-22BF-4615-BA23-DA0A42FE20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152"/>
              <a:ext cx="1152" cy="2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$</a:t>
              </a: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$ </a:t>
              </a:r>
              <a:r>
                <a:rPr kumimoji="0" lang="en-US" altLang="zh-CN" sz="2000" b="1">
                  <a:solidFill>
                    <a:schemeClr val="accent2"/>
                  </a:solidFill>
                </a:rPr>
                <a:t>id</a:t>
              </a:r>
              <a:r>
                <a:rPr kumimoji="0" lang="en-US" altLang="zh-CN" sz="2000" b="1" baseline="-25000">
                  <a:solidFill>
                    <a:schemeClr val="accent2"/>
                  </a:solidFill>
                </a:rPr>
                <a:t>1</a:t>
              </a:r>
              <a:r>
                <a:rPr kumimoji="0" lang="en-US" altLang="zh-CN" sz="2000" b="1">
                  <a:solidFill>
                    <a:schemeClr val="accent2"/>
                  </a:solidFill>
                </a:rPr>
                <a:t> </a:t>
              </a:r>
              <a:endParaRPr kumimoji="0" lang="en-US" altLang="zh-CN" sz="2000" b="1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$E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$E +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$E + </a:t>
              </a:r>
              <a:r>
                <a:rPr kumimoji="0" lang="en-US" altLang="zh-CN" sz="2000" b="1">
                  <a:solidFill>
                    <a:srgbClr val="3333CC"/>
                  </a:solidFill>
                </a:rPr>
                <a:t>id</a:t>
              </a:r>
              <a:r>
                <a:rPr kumimoji="0" lang="en-US" altLang="zh-CN" sz="2000" b="1" baseline="-25000">
                  <a:solidFill>
                    <a:srgbClr val="3333CC"/>
                  </a:solidFill>
                </a:rPr>
                <a:t>2</a:t>
              </a:r>
              <a:endParaRPr kumimoji="0" lang="en-US" altLang="zh-CN" sz="2000" b="1">
                <a:solidFill>
                  <a:srgbClr val="3333CC"/>
                </a:solidFill>
              </a:endParaRP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$E + E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$E + E *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$E + E * </a:t>
              </a:r>
              <a:r>
                <a:rPr kumimoji="0" lang="en-US" altLang="zh-CN" sz="2000" b="1">
                  <a:solidFill>
                    <a:srgbClr val="3333CC"/>
                  </a:solidFill>
                </a:rPr>
                <a:t>id</a:t>
              </a:r>
              <a:r>
                <a:rPr kumimoji="0" lang="en-US" altLang="zh-CN" sz="2000" b="1" baseline="-25000">
                  <a:solidFill>
                    <a:srgbClr val="3333CC"/>
                  </a:solidFill>
                </a:rPr>
                <a:t>3</a:t>
              </a:r>
              <a:endParaRPr kumimoji="0" lang="en-US" altLang="zh-CN" sz="2000" b="1">
                <a:solidFill>
                  <a:srgbClr val="3333CC"/>
                </a:solidFill>
              </a:endParaRP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$E + E * E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$E + E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$E</a:t>
              </a:r>
            </a:p>
          </p:txBody>
        </p:sp>
        <p:sp>
          <p:nvSpPr>
            <p:cNvPr id="12299" name="Text Box 12">
              <a:extLst>
                <a:ext uri="{FF2B5EF4-FFF2-40B4-BE49-F238E27FC236}">
                  <a16:creationId xmlns:a16="http://schemas.microsoft.com/office/drawing/2014/main" id="{D3BEA9BD-055A-4692-82C1-DB5551CF85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152"/>
              <a:ext cx="1296" cy="2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chemeClr val="accent2"/>
                  </a:solidFill>
                </a:rPr>
                <a:t>id</a:t>
              </a:r>
              <a:r>
                <a:rPr kumimoji="0" lang="en-US" altLang="zh-CN" sz="2000" b="1" baseline="-25000">
                  <a:solidFill>
                    <a:schemeClr val="accent2"/>
                  </a:solidFill>
                </a:rPr>
                <a:t>1</a:t>
              </a:r>
              <a:r>
                <a:rPr kumimoji="0" lang="en-US" altLang="zh-CN" sz="2000" b="1">
                  <a:solidFill>
                    <a:schemeClr val="accent2"/>
                  </a:solidFill>
                </a:rPr>
                <a:t> + id</a:t>
              </a:r>
              <a:r>
                <a:rPr kumimoji="0" lang="en-US" altLang="zh-CN" sz="2000" b="1" baseline="-25000">
                  <a:solidFill>
                    <a:schemeClr val="accent2"/>
                  </a:solidFill>
                </a:rPr>
                <a:t>2</a:t>
              </a:r>
              <a:r>
                <a:rPr kumimoji="0" lang="en-US" altLang="zh-CN" sz="2000" b="1">
                  <a:solidFill>
                    <a:schemeClr val="accent2"/>
                  </a:solidFill>
                </a:rPr>
                <a:t> * id</a:t>
              </a:r>
              <a:r>
                <a:rPr kumimoji="0" lang="en-US" altLang="zh-CN" sz="2000" b="1" baseline="-25000">
                  <a:solidFill>
                    <a:schemeClr val="accent2"/>
                  </a:solidFill>
                </a:rPr>
                <a:t>3</a:t>
              </a:r>
              <a:r>
                <a:rPr kumimoji="0" lang="en-US" altLang="zh-CN" sz="2000" b="1">
                  <a:solidFill>
                    <a:schemeClr val="accent2"/>
                  </a:solidFill>
                </a:rPr>
                <a:t>$ </a:t>
              </a: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chemeClr val="accent2"/>
                  </a:solidFill>
                </a:rPr>
                <a:t>+ id</a:t>
              </a:r>
              <a:r>
                <a:rPr kumimoji="0" lang="en-US" altLang="zh-CN" sz="2000" b="1" baseline="-25000">
                  <a:solidFill>
                    <a:schemeClr val="accent2"/>
                  </a:solidFill>
                </a:rPr>
                <a:t>2</a:t>
              </a:r>
              <a:r>
                <a:rPr kumimoji="0" lang="en-US" altLang="zh-CN" sz="2000" b="1">
                  <a:solidFill>
                    <a:schemeClr val="accent2"/>
                  </a:solidFill>
                </a:rPr>
                <a:t> * id</a:t>
              </a:r>
              <a:r>
                <a:rPr kumimoji="0" lang="en-US" altLang="zh-CN" sz="2000" b="1" baseline="-25000">
                  <a:solidFill>
                    <a:schemeClr val="accent2"/>
                  </a:solidFill>
                </a:rPr>
                <a:t>3</a:t>
              </a:r>
              <a:r>
                <a:rPr kumimoji="0" lang="en-US" altLang="zh-CN" sz="2000" b="1">
                  <a:solidFill>
                    <a:schemeClr val="accent2"/>
                  </a:solidFill>
                </a:rPr>
                <a:t>$</a:t>
              </a: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chemeClr val="accent2"/>
                  </a:solidFill>
                </a:rPr>
                <a:t>+ id</a:t>
              </a:r>
              <a:r>
                <a:rPr kumimoji="0" lang="en-US" altLang="zh-CN" sz="2000" b="1" baseline="-25000">
                  <a:solidFill>
                    <a:schemeClr val="accent2"/>
                  </a:solidFill>
                </a:rPr>
                <a:t>2</a:t>
              </a:r>
              <a:r>
                <a:rPr kumimoji="0" lang="en-US" altLang="zh-CN" sz="2000" b="1">
                  <a:solidFill>
                    <a:schemeClr val="accent2"/>
                  </a:solidFill>
                </a:rPr>
                <a:t> * id</a:t>
              </a:r>
              <a:r>
                <a:rPr kumimoji="0" lang="en-US" altLang="zh-CN" sz="2000" b="1" baseline="-25000">
                  <a:solidFill>
                    <a:schemeClr val="accent2"/>
                  </a:solidFill>
                </a:rPr>
                <a:t>3</a:t>
              </a:r>
              <a:r>
                <a:rPr kumimoji="0" lang="en-US" altLang="zh-CN" sz="2000" b="1">
                  <a:solidFill>
                    <a:schemeClr val="accent2"/>
                  </a:solidFill>
                </a:rPr>
                <a:t>$</a:t>
              </a: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chemeClr val="accent2"/>
                  </a:solidFill>
                </a:rPr>
                <a:t>id</a:t>
              </a:r>
              <a:r>
                <a:rPr kumimoji="0" lang="en-US" altLang="zh-CN" sz="2000" b="1" baseline="-25000">
                  <a:solidFill>
                    <a:schemeClr val="accent2"/>
                  </a:solidFill>
                </a:rPr>
                <a:t>2</a:t>
              </a:r>
              <a:r>
                <a:rPr kumimoji="0" lang="en-US" altLang="zh-CN" sz="2000" b="1">
                  <a:solidFill>
                    <a:schemeClr val="accent2"/>
                  </a:solidFill>
                </a:rPr>
                <a:t> * id</a:t>
              </a:r>
              <a:r>
                <a:rPr kumimoji="0" lang="en-US" altLang="zh-CN" sz="2000" b="1" baseline="-25000">
                  <a:solidFill>
                    <a:schemeClr val="accent2"/>
                  </a:solidFill>
                </a:rPr>
                <a:t>3</a:t>
              </a:r>
              <a:r>
                <a:rPr kumimoji="0" lang="en-US" altLang="zh-CN" sz="2000" b="1">
                  <a:solidFill>
                    <a:schemeClr val="accent2"/>
                  </a:solidFill>
                </a:rPr>
                <a:t>$</a:t>
              </a: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chemeClr val="accent2"/>
                  </a:solidFill>
                </a:rPr>
                <a:t>* id</a:t>
              </a:r>
              <a:r>
                <a:rPr kumimoji="0" lang="en-US" altLang="zh-CN" sz="2000" b="1" baseline="-25000">
                  <a:solidFill>
                    <a:schemeClr val="accent2"/>
                  </a:solidFill>
                </a:rPr>
                <a:t>3</a:t>
              </a:r>
              <a:r>
                <a:rPr kumimoji="0" lang="en-US" altLang="zh-CN" sz="2000" b="1">
                  <a:solidFill>
                    <a:schemeClr val="accent2"/>
                  </a:solidFill>
                </a:rPr>
                <a:t>$</a:t>
              </a: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chemeClr val="accent2"/>
                  </a:solidFill>
                </a:rPr>
                <a:t>* id</a:t>
              </a:r>
              <a:r>
                <a:rPr kumimoji="0" lang="en-US" altLang="zh-CN" sz="2000" b="1" baseline="-25000">
                  <a:solidFill>
                    <a:schemeClr val="accent2"/>
                  </a:solidFill>
                </a:rPr>
                <a:t>3</a:t>
              </a:r>
              <a:r>
                <a:rPr kumimoji="0" lang="en-US" altLang="zh-CN" sz="2000" b="1">
                  <a:solidFill>
                    <a:schemeClr val="accent2"/>
                  </a:solidFill>
                </a:rPr>
                <a:t>$</a:t>
              </a: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chemeClr val="accent2"/>
                  </a:solidFill>
                </a:rPr>
                <a:t>id</a:t>
              </a:r>
              <a:r>
                <a:rPr kumimoji="0" lang="en-US" altLang="zh-CN" sz="2000" b="1" baseline="-25000">
                  <a:solidFill>
                    <a:schemeClr val="accent2"/>
                  </a:solidFill>
                </a:rPr>
                <a:t>3</a:t>
              </a:r>
              <a:r>
                <a:rPr kumimoji="0" lang="en-US" altLang="zh-CN" sz="2000" b="1">
                  <a:solidFill>
                    <a:schemeClr val="accent2"/>
                  </a:solidFill>
                </a:rPr>
                <a:t>$</a:t>
              </a: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chemeClr val="accent2"/>
                  </a:solidFill>
                </a:rPr>
                <a:t>$</a:t>
              </a: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chemeClr val="accent2"/>
                  </a:solidFill>
                </a:rPr>
                <a:t>$</a:t>
              </a: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chemeClr val="accent2"/>
                  </a:solidFill>
                </a:rPr>
                <a:t>$</a:t>
              </a: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solidFill>
                    <a:schemeClr val="accent2"/>
                  </a:solidFill>
                </a:rPr>
                <a:t>$</a:t>
              </a:r>
            </a:p>
          </p:txBody>
        </p:sp>
        <p:sp>
          <p:nvSpPr>
            <p:cNvPr id="12300" name="Text Box 13">
              <a:extLst>
                <a:ext uri="{FF2B5EF4-FFF2-40B4-BE49-F238E27FC236}">
                  <a16:creationId xmlns:a16="http://schemas.microsoft.com/office/drawing/2014/main" id="{9427DB89-FF4E-47C0-BC54-0AB1209F58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152"/>
              <a:ext cx="960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kumimoji="0" lang="zh-CN" altLang="zh-CN" sz="2000" b="1"/>
            </a:p>
          </p:txBody>
        </p:sp>
        <p:sp>
          <p:nvSpPr>
            <p:cNvPr id="12301" name="Text Box 14">
              <a:extLst>
                <a:ext uri="{FF2B5EF4-FFF2-40B4-BE49-F238E27FC236}">
                  <a16:creationId xmlns:a16="http://schemas.microsoft.com/office/drawing/2014/main" id="{8E9C8047-EE40-459C-A5B4-D3A05E368A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912"/>
              <a:ext cx="864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2000" b="1"/>
                <a:t>栈</a:t>
              </a:r>
            </a:p>
          </p:txBody>
        </p:sp>
        <p:sp>
          <p:nvSpPr>
            <p:cNvPr id="12302" name="Text Box 15">
              <a:extLst>
                <a:ext uri="{FF2B5EF4-FFF2-40B4-BE49-F238E27FC236}">
                  <a16:creationId xmlns:a16="http://schemas.microsoft.com/office/drawing/2014/main" id="{163F964F-547C-4AD6-BA48-EC800046EB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912"/>
              <a:ext cx="768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2000" b="1"/>
                <a:t>输入</a:t>
              </a:r>
            </a:p>
          </p:txBody>
        </p:sp>
        <p:sp>
          <p:nvSpPr>
            <p:cNvPr id="12303" name="Text Box 16">
              <a:extLst>
                <a:ext uri="{FF2B5EF4-FFF2-40B4-BE49-F238E27FC236}">
                  <a16:creationId xmlns:a16="http://schemas.microsoft.com/office/drawing/2014/main" id="{664D4EB4-F0A1-4443-930A-D915667349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912"/>
              <a:ext cx="864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2000" b="1"/>
                <a:t>动作</a:t>
              </a:r>
            </a:p>
          </p:txBody>
        </p:sp>
        <p:sp>
          <p:nvSpPr>
            <p:cNvPr id="12304" name="Text Box 20">
              <a:extLst>
                <a:ext uri="{FF2B5EF4-FFF2-40B4-BE49-F238E27FC236}">
                  <a16:creationId xmlns:a16="http://schemas.microsoft.com/office/drawing/2014/main" id="{44BAC8BA-C5F9-4F06-93DC-8C9E668C55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1152"/>
              <a:ext cx="1392" cy="2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2000" b="1"/>
                <a:t>移进</a:t>
              </a:r>
              <a:endParaRPr kumimoji="0" lang="zh-CN" altLang="en-US" sz="2000" b="1">
                <a:solidFill>
                  <a:schemeClr val="accent2"/>
                </a:solidFill>
              </a:endParaRP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2000" b="1"/>
                <a:t>归约</a:t>
              </a:r>
              <a:r>
                <a:rPr kumimoji="0" lang="en-US" altLang="zh-CN" sz="2000" b="1"/>
                <a:t>E </a:t>
              </a:r>
              <a:r>
                <a:rPr kumimoji="0" lang="en-US" altLang="zh-CN" sz="2000" b="1">
                  <a:sym typeface="Symbol" panose="05050102010706020507" pitchFamily="18" charset="2"/>
                </a:rPr>
                <a:t> </a:t>
              </a:r>
              <a:r>
                <a:rPr kumimoji="0" lang="en-US" altLang="zh-CN" sz="2000" b="1">
                  <a:solidFill>
                    <a:schemeClr val="accent2"/>
                  </a:solidFill>
                </a:rPr>
                <a:t>id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2000" b="1"/>
                <a:t>移进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2000" b="1"/>
                <a:t>移进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2000" b="1"/>
                <a:t>归约</a:t>
              </a:r>
              <a:r>
                <a:rPr kumimoji="0" lang="en-US" altLang="zh-CN" sz="2000" b="1"/>
                <a:t>E </a:t>
              </a:r>
              <a:r>
                <a:rPr kumimoji="0" lang="en-US" altLang="zh-CN" sz="2000" b="1">
                  <a:sym typeface="Symbol" panose="05050102010706020507" pitchFamily="18" charset="2"/>
                </a:rPr>
                <a:t> </a:t>
              </a:r>
              <a:r>
                <a:rPr kumimoji="0" lang="en-US" altLang="zh-CN" sz="2000" b="1">
                  <a:solidFill>
                    <a:schemeClr val="accent2"/>
                  </a:solidFill>
                </a:rPr>
                <a:t>id</a:t>
              </a:r>
              <a:endParaRPr kumimoji="0" lang="en-US" altLang="zh-CN" sz="2000" b="1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2000" b="1"/>
                <a:t>移进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2000" b="1"/>
                <a:t>移进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2000" b="1"/>
                <a:t>归约</a:t>
              </a:r>
              <a:r>
                <a:rPr kumimoji="0" lang="en-US" altLang="zh-CN" sz="2000" b="1"/>
                <a:t>E </a:t>
              </a:r>
              <a:r>
                <a:rPr kumimoji="0" lang="en-US" altLang="zh-CN" sz="2000" b="1">
                  <a:sym typeface="Symbol" panose="05050102010706020507" pitchFamily="18" charset="2"/>
                </a:rPr>
                <a:t> </a:t>
              </a:r>
              <a:r>
                <a:rPr kumimoji="0" lang="en-US" altLang="zh-CN" sz="2000" b="1">
                  <a:solidFill>
                    <a:schemeClr val="accent2"/>
                  </a:solidFill>
                </a:rPr>
                <a:t>id</a:t>
              </a:r>
              <a:endParaRPr kumimoji="0" lang="en-US" altLang="zh-CN" sz="2000" b="1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2000" b="1"/>
                <a:t>归约</a:t>
              </a:r>
              <a:r>
                <a:rPr kumimoji="0" lang="en-US" altLang="zh-CN" sz="2000" b="1"/>
                <a:t>E </a:t>
              </a:r>
              <a:r>
                <a:rPr kumimoji="0" lang="en-US" altLang="zh-CN" sz="2000" b="1">
                  <a:sym typeface="Symbol" panose="05050102010706020507" pitchFamily="18" charset="2"/>
                </a:rPr>
                <a:t> E * E</a:t>
              </a:r>
              <a:endParaRPr kumimoji="0" lang="en-US" altLang="zh-CN" sz="2000" b="1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2000" b="1"/>
                <a:t>归约</a:t>
              </a:r>
              <a:r>
                <a:rPr kumimoji="0" lang="en-US" altLang="zh-CN" sz="2000" b="1"/>
                <a:t>E </a:t>
              </a:r>
              <a:r>
                <a:rPr kumimoji="0" lang="en-US" altLang="zh-CN" sz="2000" b="1">
                  <a:sym typeface="Symbol" panose="05050102010706020507" pitchFamily="18" charset="2"/>
                </a:rPr>
                <a:t> E + E</a:t>
              </a:r>
              <a:endParaRPr kumimoji="0" lang="en-US" altLang="zh-CN" sz="2000" b="1"/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2000" b="1"/>
                <a:t>接受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D0E46653-D874-464C-BB01-C595664819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基本操作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5DB6D69A-830D-4221-916B-3CF4069FE2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移进（</a:t>
            </a:r>
            <a:r>
              <a:rPr lang="en-US" altLang="zh-CN">
                <a:solidFill>
                  <a:srgbClr val="FF3300"/>
                </a:solidFill>
              </a:rPr>
              <a:t>shift</a:t>
            </a:r>
            <a:r>
              <a:rPr lang="zh-CN" altLang="en-US"/>
              <a:t>）</a:t>
            </a:r>
          </a:p>
          <a:p>
            <a:pPr marL="990600" lvl="1" indent="-533400" eaLnBrk="1" hangingPunct="1"/>
            <a:r>
              <a:rPr lang="zh-CN" altLang="en-US"/>
              <a:t>下个输入符号移到栈顶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归约（</a:t>
            </a:r>
            <a:r>
              <a:rPr lang="en-US" altLang="zh-CN">
                <a:solidFill>
                  <a:srgbClr val="FF3300"/>
                </a:solidFill>
              </a:rPr>
              <a:t>reduce</a:t>
            </a:r>
            <a:r>
              <a:rPr lang="zh-CN" altLang="en-US"/>
              <a:t>）</a:t>
            </a:r>
          </a:p>
          <a:p>
            <a:pPr marL="990600" lvl="1" indent="-533400" eaLnBrk="1" hangingPunct="1"/>
            <a:r>
              <a:rPr lang="zh-CN" altLang="en-US"/>
              <a:t>句柄的右端恰在栈顶，定位句柄左端</a:t>
            </a:r>
          </a:p>
          <a:p>
            <a:pPr marL="990600" lvl="1" indent="-533400" eaLnBrk="1" hangingPunct="1"/>
            <a:r>
              <a:rPr lang="zh-CN" altLang="en-US"/>
              <a:t>确定选用的产生式，用产生式左部非终结符替换栈中的句柄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AC43A66-E173-4A29-8777-B040F77242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基本操作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D6DDD863-F421-4753-9EFC-F0233CE831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 startAt="3"/>
            </a:pPr>
            <a:r>
              <a:rPr lang="zh-CN" altLang="en-US" dirty="0"/>
              <a:t>接受（</a:t>
            </a:r>
            <a:r>
              <a:rPr lang="en-US" altLang="zh-CN" dirty="0">
                <a:solidFill>
                  <a:srgbClr val="FF3300"/>
                </a:solidFill>
              </a:rPr>
              <a:t>accept</a:t>
            </a:r>
            <a:r>
              <a:rPr lang="zh-CN" altLang="en-US" dirty="0"/>
              <a:t>）</a:t>
            </a:r>
          </a:p>
          <a:p>
            <a:pPr marL="990600" lvl="1" indent="-533400" eaLnBrk="1" hangingPunct="1"/>
            <a:r>
              <a:rPr lang="zh-CN" altLang="en-US" dirty="0"/>
              <a:t>宣布分析成功结束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 startAt="3"/>
            </a:pPr>
            <a:r>
              <a:rPr lang="zh-CN" altLang="en-US" dirty="0"/>
              <a:t>错误（</a:t>
            </a:r>
            <a:r>
              <a:rPr lang="en-US" altLang="zh-CN" dirty="0">
                <a:solidFill>
                  <a:srgbClr val="FF3300"/>
                </a:solidFill>
              </a:rPr>
              <a:t>error</a:t>
            </a:r>
            <a:r>
              <a:rPr lang="zh-CN" altLang="en-US" dirty="0"/>
              <a:t>）</a:t>
            </a:r>
          </a:p>
          <a:p>
            <a:pPr marL="990600" lvl="1" indent="-533400" eaLnBrk="1" hangingPunct="1"/>
            <a:r>
              <a:rPr lang="zh-CN" altLang="en-US" dirty="0"/>
              <a:t>发现语法错误，调用错误恢复函数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ABE07F7-667F-4ECA-B609-2727F019DF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句柄必然在栈顶？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01624ACB-2005-4C32-A2C7-851ECA679C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65688"/>
          </a:xfrm>
        </p:spPr>
        <p:txBody>
          <a:bodyPr/>
          <a:lstStyle/>
          <a:p>
            <a:pPr marL="609600" indent="-609600" eaLnBrk="1" hangingPunct="1"/>
            <a:r>
              <a:rPr kumimoji="0" lang="zh-CN" altLang="en-US" sz="2800">
                <a:sym typeface="Symbol" panose="05050102010706020507" pitchFamily="18" charset="2"/>
              </a:rPr>
              <a:t>移进动作在栈内形成句柄</a:t>
            </a:r>
          </a:p>
          <a:p>
            <a:pPr marL="990600" lvl="1" indent="-533400" eaLnBrk="1" hangingPunct="1"/>
            <a:r>
              <a:rPr kumimoji="0" lang="zh-CN" altLang="en-US" sz="2400">
                <a:sym typeface="Symbol" panose="05050102010706020507" pitchFamily="18" charset="2"/>
              </a:rPr>
              <a:t>这显然不可能</a:t>
            </a:r>
            <a:br>
              <a:rPr kumimoji="0" lang="zh-CN" altLang="en-US" sz="2400">
                <a:sym typeface="Symbol" panose="05050102010706020507" pitchFamily="18" charset="2"/>
              </a:rPr>
            </a:br>
            <a:r>
              <a:rPr kumimoji="0" lang="zh-CN" altLang="en-US" sz="2400">
                <a:sym typeface="Symbol" panose="05050102010706020507" pitchFamily="18" charset="2"/>
              </a:rPr>
              <a:t>若形成</a:t>
            </a:r>
            <a:r>
              <a:rPr kumimoji="0" lang="en-US" altLang="zh-CN" sz="2400">
                <a:sym typeface="Symbol" panose="05050102010706020507" pitchFamily="18" charset="2"/>
              </a:rPr>
              <a:t>($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ab</a:t>
            </a:r>
            <a:r>
              <a:rPr kumimoji="0" lang="en-US" altLang="zh-CN" sz="2400">
                <a:sym typeface="Symbol" panose="05050102010706020507" pitchFamily="18" charset="2"/>
              </a:rPr>
              <a:t>y,   z$)</a:t>
            </a:r>
            <a:r>
              <a:rPr kumimoji="0" lang="zh-CN" altLang="en-US" sz="2400">
                <a:latin typeface="Tahoma" panose="020B0604030504040204" pitchFamily="34" charset="0"/>
                <a:sym typeface="Symbol" panose="05050102010706020507" pitchFamily="18" charset="2"/>
              </a:rPr>
              <a:t>局面时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kumimoji="0" lang="zh-CN" altLang="en-US" sz="2400">
                <a:latin typeface="Tahoma" panose="020B0604030504040204" pitchFamily="34" charset="0"/>
                <a:sym typeface="Symbol" panose="05050102010706020507" pitchFamily="18" charset="2"/>
              </a:rPr>
              <a:t>成为句柄</a:t>
            </a:r>
            <a:br>
              <a:rPr kumimoji="0" lang="zh-CN" altLang="en-US" sz="2400">
                <a:latin typeface="Tahoma" panose="020B0604030504040204" pitchFamily="34" charset="0"/>
                <a:sym typeface="Symbol" panose="05050102010706020507" pitchFamily="18" charset="2"/>
              </a:rPr>
            </a:br>
            <a:r>
              <a:rPr kumimoji="0" lang="zh-CN" altLang="en-US" sz="2400">
                <a:latin typeface="Tahoma" panose="020B0604030504040204" pitchFamily="34" charset="0"/>
                <a:sym typeface="Symbol" panose="05050102010706020507" pitchFamily="18" charset="2"/>
              </a:rPr>
              <a:t>则形成</a:t>
            </a:r>
            <a:r>
              <a:rPr kumimoji="0" lang="en-US" altLang="zh-CN" sz="2400">
                <a:sym typeface="Symbol" panose="05050102010706020507" pitchFamily="18" charset="2"/>
              </a:rPr>
              <a:t>($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ab</a:t>
            </a:r>
            <a:r>
              <a:rPr kumimoji="0" lang="en-US" altLang="zh-CN" sz="2400">
                <a:sym typeface="Symbol" panose="05050102010706020507" pitchFamily="18" charset="2"/>
              </a:rPr>
              <a:t>,   yz$)</a:t>
            </a:r>
            <a:r>
              <a:rPr kumimoji="0" lang="zh-CN" altLang="en-US" sz="2400">
                <a:sym typeface="Symbol" panose="05050102010706020507" pitchFamily="18" charset="2"/>
              </a:rPr>
              <a:t>局面时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kumimoji="0" lang="zh-CN" altLang="en-US" sz="2400">
                <a:sym typeface="Symbol" panose="05050102010706020507" pitchFamily="18" charset="2"/>
              </a:rPr>
              <a:t>已可成为句柄</a:t>
            </a:r>
          </a:p>
          <a:p>
            <a:pPr marL="609600" indent="-609600" eaLnBrk="1" hangingPunct="1"/>
            <a:r>
              <a:rPr kumimoji="0" lang="zh-CN" altLang="en-US" sz="2800">
                <a:sym typeface="Symbol" panose="05050102010706020507" pitchFamily="18" charset="2"/>
              </a:rPr>
              <a:t>归约动作在栈内形成句柄</a:t>
            </a:r>
          </a:p>
          <a:p>
            <a:pPr marL="990600" lvl="1" indent="-533400" eaLnBrk="1" hangingPunct="1"/>
            <a:r>
              <a:rPr kumimoji="0" lang="en-US" altLang="zh-CN" sz="2400">
                <a:sym typeface="Symbol" panose="05050102010706020507" pitchFamily="18" charset="2"/>
              </a:rPr>
              <a:t>($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abgd</a:t>
            </a:r>
            <a:r>
              <a:rPr kumimoji="0" lang="en-US" altLang="zh-CN" sz="2400">
                <a:sym typeface="Symbol" panose="05050102010706020507" pitchFamily="18" charset="2"/>
              </a:rPr>
              <a:t>,   y$)</a:t>
            </a:r>
            <a:r>
              <a:rPr kumimoji="0" lang="zh-CN" altLang="en-US" sz="2400">
                <a:sym typeface="Symbol" panose="05050102010706020507" pitchFamily="18" charset="2"/>
              </a:rPr>
              <a:t>归约为</a:t>
            </a:r>
            <a:r>
              <a:rPr kumimoji="0" lang="en-US" altLang="zh-CN" sz="2400">
                <a:sym typeface="Symbol" panose="05050102010706020507" pitchFamily="18" charset="2"/>
              </a:rPr>
              <a:t>($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abg</a:t>
            </a:r>
            <a:r>
              <a:rPr kumimoji="0" lang="en-US" altLang="zh-CN" sz="2400">
                <a:sym typeface="Symbol" panose="05050102010706020507" pitchFamily="18" charset="2"/>
              </a:rPr>
              <a:t>B,   y$)</a:t>
            </a:r>
            <a:r>
              <a:rPr kumimoji="0" lang="zh-CN" altLang="en-US" sz="2400">
                <a:sym typeface="Symbol" panose="05050102010706020507" pitchFamily="18" charset="2"/>
              </a:rPr>
              <a:t>后形成句柄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kumimoji="0" lang="zh-CN" altLang="en-US" sz="2400">
                <a:sym typeface="Symbol" panose="05050102010706020507" pitchFamily="18" charset="2"/>
              </a:rPr>
              <a:t>，再归约为</a:t>
            </a:r>
            <a:r>
              <a:rPr kumimoji="0" lang="en-US" altLang="zh-CN" sz="2400">
                <a:sym typeface="Symbol" panose="05050102010706020507" pitchFamily="18" charset="2"/>
              </a:rPr>
              <a:t>($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aAg</a:t>
            </a:r>
            <a:r>
              <a:rPr kumimoji="0" lang="en-US" altLang="zh-CN" sz="2400">
                <a:sym typeface="Symbol" panose="05050102010706020507" pitchFamily="18" charset="2"/>
              </a:rPr>
              <a:t>B,   y$)</a:t>
            </a:r>
            <a:br>
              <a:rPr kumimoji="0" lang="en-US" altLang="zh-CN" sz="2400">
                <a:sym typeface="Symbol" panose="05050102010706020507" pitchFamily="18" charset="2"/>
              </a:rPr>
            </a:br>
            <a:r>
              <a:rPr kumimoji="0" lang="zh-CN" altLang="en-US" sz="2400">
                <a:sym typeface="Symbol" panose="05050102010706020507" pitchFamily="18" charset="2"/>
              </a:rPr>
              <a:t>则存在对应推导</a:t>
            </a:r>
            <a:r>
              <a:rPr kumimoji="0" lang="en-US" altLang="zh-CN" sz="2400">
                <a:sym typeface="Symbol" panose="05050102010706020507" pitchFamily="18" charset="2"/>
              </a:rPr>
              <a:t>S </a:t>
            </a:r>
            <a:r>
              <a:rPr kumimoji="0" lang="en-US" altLang="zh-CN" sz="2400" b="1">
                <a:sym typeface="Symbol" panose="05050102010706020507" pitchFamily="18" charset="2"/>
              </a:rPr>
              <a:t> 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aAg</a:t>
            </a:r>
            <a:r>
              <a:rPr kumimoji="0" lang="en-US" altLang="zh-CN" sz="2400">
                <a:sym typeface="Symbol" panose="05050102010706020507" pitchFamily="18" charset="2"/>
              </a:rPr>
              <a:t>By </a:t>
            </a:r>
            <a:r>
              <a:rPr kumimoji="0" lang="en-US" altLang="zh-CN" sz="2400" b="1">
                <a:sym typeface="Symbol" panose="05050102010706020507" pitchFamily="18" charset="2"/>
              </a:rPr>
              <a:t> 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abg</a:t>
            </a:r>
            <a:r>
              <a:rPr kumimoji="0" lang="en-US" altLang="zh-CN" sz="2400">
                <a:sym typeface="Symbol" panose="05050102010706020507" pitchFamily="18" charset="2"/>
              </a:rPr>
              <a:t>By </a:t>
            </a:r>
            <a:r>
              <a:rPr kumimoji="0" lang="en-US" altLang="zh-CN" sz="2400" b="1">
                <a:sym typeface="Symbol" panose="05050102010706020507" pitchFamily="18" charset="2"/>
              </a:rPr>
              <a:t> 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abgd</a:t>
            </a:r>
            <a:r>
              <a:rPr kumimoji="0" lang="en-US" altLang="zh-CN" sz="2400">
                <a:sym typeface="Symbol" panose="05050102010706020507" pitchFamily="18" charset="2"/>
              </a:rPr>
              <a:t>y</a:t>
            </a:r>
            <a:br>
              <a:rPr kumimoji="0" lang="en-US" altLang="zh-CN" sz="2400">
                <a:sym typeface="Symbol" panose="05050102010706020507" pitchFamily="18" charset="2"/>
              </a:rPr>
            </a:br>
            <a:r>
              <a:rPr kumimoji="0" lang="zh-CN" altLang="en-US" sz="2400">
                <a:sym typeface="Symbol" panose="05050102010706020507" pitchFamily="18" charset="2"/>
              </a:rPr>
              <a:t>这显然不是一个最右推导，矛盾！</a:t>
            </a: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0F07FFA3-25A3-4720-8AB9-79C774C8E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256088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3333CC"/>
                </a:solidFill>
              </a:rPr>
              <a:t>*</a:t>
            </a:r>
          </a:p>
        </p:txBody>
      </p:sp>
      <p:sp>
        <p:nvSpPr>
          <p:cNvPr id="15365" name="Rectangle 6">
            <a:extLst>
              <a:ext uri="{FF2B5EF4-FFF2-40B4-BE49-F238E27FC236}">
                <a16:creationId xmlns:a16="http://schemas.microsoft.com/office/drawing/2014/main" id="{51D96C83-0EE3-4C79-88D0-0AD702687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4256088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3333CC"/>
                </a:solidFill>
              </a:rPr>
              <a:t>*</a:t>
            </a:r>
          </a:p>
        </p:txBody>
      </p:sp>
      <p:sp>
        <p:nvSpPr>
          <p:cNvPr id="15366" name="Rectangle 8">
            <a:extLst>
              <a:ext uri="{FF2B5EF4-FFF2-40B4-BE49-F238E27FC236}">
                <a16:creationId xmlns:a16="http://schemas.microsoft.com/office/drawing/2014/main" id="{797D2C68-F9A9-4C79-8BF1-D70B1ECCF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4256088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3333CC"/>
                </a:solidFill>
              </a:rPr>
              <a:t>*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7DCB3D4C-EE4E-459B-BAF1-14B0A89626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4.5.4  </a:t>
            </a:r>
            <a:r>
              <a:rPr lang="zh-CN" altLang="en-US"/>
              <a:t>活前缀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65524E6-979A-433B-9A05-1853BC9BC8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solidFill>
                  <a:srgbClr val="FF3300"/>
                </a:solidFill>
              </a:rPr>
              <a:t>Viable Prefix</a:t>
            </a:r>
          </a:p>
          <a:p>
            <a:pPr eaLnBrk="1" hangingPunct="1"/>
            <a:r>
              <a:rPr lang="zh-CN" altLang="en-US" dirty="0"/>
              <a:t>最右句型的前缀，且满足</a:t>
            </a:r>
          </a:p>
          <a:p>
            <a:pPr lvl="1" eaLnBrk="1" hangingPunct="1"/>
            <a:r>
              <a:rPr lang="zh-CN" altLang="en-US" dirty="0"/>
              <a:t>其右端不会在最右句柄的右端之后</a:t>
            </a:r>
          </a:p>
          <a:p>
            <a:pPr eaLnBrk="1" hangingPunct="1"/>
            <a:r>
              <a:rPr lang="zh-CN" altLang="en-US" dirty="0"/>
              <a:t>另一种定义：移进－归约分析过程中可出现在栈中的串</a:t>
            </a:r>
            <a:r>
              <a:rPr lang="en-US" altLang="zh-CN" dirty="0"/>
              <a:t>——</a:t>
            </a:r>
            <a:r>
              <a:rPr lang="zh-CN" altLang="en-US" dirty="0"/>
              <a:t>活前缀末端即栈顶</a:t>
            </a:r>
          </a:p>
          <a:p>
            <a:pPr eaLnBrk="1" hangingPunct="1"/>
            <a:r>
              <a:rPr lang="zh-CN" altLang="en-US" dirty="0"/>
              <a:t>总是可能通过向其末端添加若干终结符，形成最右句型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79FDEF33-6686-4EF5-9907-AE24354C0B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4.5.5  </a:t>
            </a:r>
            <a:r>
              <a:rPr lang="zh-CN" altLang="en-US"/>
              <a:t>冲突（例</a:t>
            </a:r>
            <a:r>
              <a:rPr lang="en-US" altLang="zh-CN"/>
              <a:t>4.25</a:t>
            </a:r>
            <a:r>
              <a:rPr lang="zh-CN" altLang="en-US"/>
              <a:t>）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52E1C05-16E6-4C77-8BA3-605A849932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/>
            <a:r>
              <a:rPr lang="zh-CN" altLang="en-US" sz="2800"/>
              <a:t>移进</a:t>
            </a:r>
            <a:r>
              <a:rPr lang="en-US" altLang="zh-CN" sz="2800"/>
              <a:t>/</a:t>
            </a:r>
            <a:r>
              <a:rPr lang="zh-CN" altLang="en-US" sz="2800"/>
              <a:t>归约冲突，归约</a:t>
            </a:r>
            <a:r>
              <a:rPr lang="en-US" altLang="zh-CN" sz="2800"/>
              <a:t>/</a:t>
            </a:r>
            <a:r>
              <a:rPr lang="zh-CN" altLang="en-US" sz="2800"/>
              <a:t>归约冲突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i="1"/>
              <a:t>stmt</a:t>
            </a:r>
            <a:r>
              <a:rPr kumimoji="0" lang="en-US" altLang="zh-CN" sz="2400" b="1"/>
              <a:t> </a:t>
            </a:r>
            <a:r>
              <a:rPr kumimoji="0" lang="en-US" altLang="zh-CN" sz="2400" b="1">
                <a:sym typeface="Symbol" panose="05050102010706020507" pitchFamily="18" charset="2"/>
              </a:rPr>
              <a:t>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if </a:t>
            </a:r>
            <a:r>
              <a:rPr kumimoji="0" lang="en-US" altLang="zh-CN" sz="2400" b="1" i="1">
                <a:sym typeface="Symbol" panose="05050102010706020507" pitchFamily="18" charset="2"/>
              </a:rPr>
              <a:t>expr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then </a:t>
            </a:r>
            <a:r>
              <a:rPr kumimoji="0" lang="en-US" altLang="zh-CN" sz="2400" b="1" i="1">
                <a:sym typeface="Symbol" panose="05050102010706020507" pitchFamily="18" charset="2"/>
              </a:rPr>
              <a:t>stmt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         | 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if </a:t>
            </a:r>
            <a:r>
              <a:rPr kumimoji="0" lang="en-US" altLang="zh-CN" sz="2400" b="1" i="1">
                <a:sym typeface="Symbol" panose="05050102010706020507" pitchFamily="18" charset="2"/>
              </a:rPr>
              <a:t>expr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then </a:t>
            </a:r>
            <a:r>
              <a:rPr kumimoji="0" lang="en-US" altLang="zh-CN" sz="2400" b="1" i="1">
                <a:sym typeface="Symbol" panose="05050102010706020507" pitchFamily="18" charset="2"/>
              </a:rPr>
              <a:t>stmt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else </a:t>
            </a:r>
            <a:r>
              <a:rPr kumimoji="0" lang="en-US" altLang="zh-CN" sz="2400" b="1" i="1">
                <a:sym typeface="Symbol" panose="05050102010706020507" pitchFamily="18" charset="2"/>
              </a:rPr>
              <a:t>stmt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         | 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other  (any other statement)</a:t>
            </a:r>
            <a:endParaRPr lang="en-US" altLang="zh-CN" sz="24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Stack				Input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$…</a:t>
            </a:r>
            <a:r>
              <a:rPr kumimoji="0" lang="en-US" altLang="zh-CN" sz="2000">
                <a:solidFill>
                  <a:schemeClr val="accent2"/>
                </a:solidFill>
              </a:rPr>
              <a:t> </a:t>
            </a:r>
            <a:r>
              <a:rPr kumimoji="0" lang="en-US" altLang="zh-CN" sz="2000" b="1">
                <a:solidFill>
                  <a:schemeClr val="accent2"/>
                </a:solidFill>
              </a:rPr>
              <a:t>if</a:t>
            </a:r>
            <a:r>
              <a:rPr kumimoji="0" lang="en-US" altLang="zh-CN" sz="2000"/>
              <a:t> expr </a:t>
            </a:r>
            <a:r>
              <a:rPr kumimoji="0" lang="en-US" altLang="zh-CN" sz="2000" b="1">
                <a:solidFill>
                  <a:schemeClr val="accent2"/>
                </a:solidFill>
              </a:rPr>
              <a:t>then </a:t>
            </a:r>
            <a:r>
              <a:rPr kumimoji="0" lang="en-US" altLang="zh-CN" sz="2000"/>
              <a:t>stmt		</a:t>
            </a:r>
            <a:r>
              <a:rPr kumimoji="0" lang="en-US" altLang="zh-CN" sz="2000" b="1">
                <a:solidFill>
                  <a:schemeClr val="accent2"/>
                </a:solidFill>
              </a:rPr>
              <a:t>else</a:t>
            </a:r>
            <a:r>
              <a:rPr kumimoji="0" lang="en-US" altLang="zh-CN" sz="2000"/>
              <a:t> …$</a:t>
            </a:r>
            <a:endParaRPr lang="en-US" altLang="zh-CN" sz="2800"/>
          </a:p>
          <a:p>
            <a:pPr eaLnBrk="1" hangingPunct="1"/>
            <a:r>
              <a:rPr lang="zh-CN" altLang="en-US" sz="2800"/>
              <a:t>归约</a:t>
            </a:r>
            <a:r>
              <a:rPr lang="en-US" altLang="zh-CN" sz="2800" b="1"/>
              <a:t>if</a:t>
            </a:r>
            <a:r>
              <a:rPr lang="en-US" altLang="zh-CN" sz="2800"/>
              <a:t> expr </a:t>
            </a:r>
            <a:r>
              <a:rPr lang="en-US" altLang="zh-CN" sz="2800" b="1"/>
              <a:t>then</a:t>
            </a:r>
            <a:r>
              <a:rPr lang="en-US" altLang="zh-CN" sz="2800"/>
              <a:t> stmt</a:t>
            </a:r>
            <a:r>
              <a:rPr lang="zh-CN" altLang="en-US" sz="2800">
                <a:sym typeface="Wingdings" panose="05000000000000000000" pitchFamily="2" charset="2"/>
              </a:rPr>
              <a:t>归约为</a:t>
            </a:r>
            <a:r>
              <a:rPr lang="en-US" altLang="zh-CN" sz="2800">
                <a:sym typeface="Wingdings" panose="05000000000000000000" pitchFamily="2" charset="2"/>
              </a:rPr>
              <a:t>stmt</a:t>
            </a:r>
            <a:r>
              <a:rPr lang="zh-CN" altLang="en-US" sz="2800">
                <a:sym typeface="Wingdings" panose="05000000000000000000" pitchFamily="2" charset="2"/>
              </a:rPr>
              <a:t>？或是</a:t>
            </a:r>
            <a:br>
              <a:rPr lang="zh-CN" altLang="en-US" sz="2800">
                <a:sym typeface="Wingdings" panose="05000000000000000000" pitchFamily="2" charset="2"/>
              </a:rPr>
            </a:br>
            <a:r>
              <a:rPr lang="zh-CN" altLang="en-US" sz="2800">
                <a:sym typeface="Wingdings" panose="05000000000000000000" pitchFamily="2" charset="2"/>
              </a:rPr>
              <a:t>移进</a:t>
            </a:r>
            <a:r>
              <a:rPr lang="en-US" altLang="zh-CN" sz="2800" b="1">
                <a:sym typeface="Wingdings" panose="05000000000000000000" pitchFamily="2" charset="2"/>
              </a:rPr>
              <a:t>else</a:t>
            </a:r>
            <a:r>
              <a:rPr lang="zh-CN" altLang="en-US" sz="2800">
                <a:sym typeface="Wingdings" panose="05000000000000000000" pitchFamily="2" charset="2"/>
              </a:rPr>
              <a:t>，归约</a:t>
            </a:r>
            <a:r>
              <a:rPr lang="en-US" altLang="zh-CN" sz="2800" b="1"/>
              <a:t>if</a:t>
            </a:r>
            <a:r>
              <a:rPr lang="en-US" altLang="zh-CN" sz="2800"/>
              <a:t> expr </a:t>
            </a:r>
            <a:r>
              <a:rPr lang="en-US" altLang="zh-CN" sz="2800" b="1"/>
              <a:t>then</a:t>
            </a:r>
            <a:r>
              <a:rPr lang="en-US" altLang="zh-CN" sz="2800"/>
              <a:t> stmt </a:t>
            </a:r>
            <a:r>
              <a:rPr lang="en-US" altLang="zh-CN" sz="2800" b="1"/>
              <a:t>else</a:t>
            </a:r>
            <a:r>
              <a:rPr lang="en-US" altLang="zh-CN" sz="2800"/>
              <a:t> stmt</a:t>
            </a:r>
            <a:r>
              <a:rPr lang="zh-CN" altLang="en-US" sz="2800"/>
              <a:t>？</a:t>
            </a:r>
            <a:br>
              <a:rPr lang="zh-CN" altLang="en-US" sz="2800"/>
            </a:br>
            <a:r>
              <a:rPr lang="zh-CN" altLang="en-US" sz="2800"/>
              <a:t>移进</a:t>
            </a:r>
            <a:r>
              <a:rPr lang="en-US" altLang="zh-CN" sz="2800"/>
              <a:t>/</a:t>
            </a:r>
            <a:r>
              <a:rPr lang="zh-CN" altLang="en-US" sz="2800"/>
              <a:t>归约冲突</a:t>
            </a:r>
          </a:p>
          <a:p>
            <a:pPr eaLnBrk="1" hangingPunct="1"/>
            <a:r>
              <a:rPr lang="zh-CN" altLang="en-US" sz="2800"/>
              <a:t>解决方法</a:t>
            </a:r>
            <a:r>
              <a:rPr lang="en-US" altLang="zh-CN" sz="2800"/>
              <a:t>——</a:t>
            </a:r>
            <a:r>
              <a:rPr lang="zh-CN" altLang="en-US" sz="2800"/>
              <a:t>强制一种动作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34DA026-40F2-4163-82E1-16FD83D927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4.26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590816C5-7447-4E95-AE10-F9D355EDA9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marL="0" indent="0" eaLnBrk="1" hangingPunct="1">
              <a:buClrTx/>
              <a:buSzTx/>
              <a:buFontTx/>
              <a:buNone/>
            </a:pPr>
            <a:r>
              <a:rPr lang="en-US" altLang="zh-CN" sz="2000" dirty="0"/>
              <a:t>(1)</a:t>
            </a:r>
            <a:r>
              <a:rPr lang="en-US" altLang="zh-CN" sz="2000" b="1" i="1" dirty="0" err="1"/>
              <a:t>stmt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ym typeface="Symbol" panose="05050102010706020507" pitchFamily="18" charset="2"/>
              </a:rPr>
              <a:t> </a:t>
            </a:r>
            <a:r>
              <a:rPr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id ( </a:t>
            </a:r>
            <a:r>
              <a:rPr lang="en-US" altLang="zh-CN" sz="2000" b="1" i="1" dirty="0">
                <a:sym typeface="Symbol" panose="05050102010706020507" pitchFamily="18" charset="2"/>
              </a:rPr>
              <a:t>parameter-list </a:t>
            </a:r>
            <a:r>
              <a:rPr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br>
              <a:rPr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</a:br>
            <a:r>
              <a:rPr lang="en-US" altLang="zh-CN" sz="2000" dirty="0"/>
              <a:t>(2)</a:t>
            </a:r>
            <a:r>
              <a:rPr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000" b="1" i="1" dirty="0" err="1"/>
              <a:t>stmt</a:t>
            </a:r>
            <a:r>
              <a:rPr lang="en-US" altLang="zh-CN" sz="2000" b="1" i="1" dirty="0"/>
              <a:t> </a:t>
            </a:r>
            <a:r>
              <a:rPr lang="en-US" altLang="zh-CN" sz="2000" b="1" dirty="0">
                <a:sym typeface="Symbol" panose="05050102010706020507" pitchFamily="18" charset="2"/>
              </a:rPr>
              <a:t> </a:t>
            </a:r>
            <a:r>
              <a:rPr lang="en-US" altLang="zh-CN" sz="2000" b="1" i="1" dirty="0">
                <a:sym typeface="Symbol" panose="05050102010706020507" pitchFamily="18" charset="2"/>
              </a:rPr>
              <a:t>expr</a:t>
            </a:r>
            <a:r>
              <a:rPr lang="en-US" altLang="zh-CN" sz="2000" b="1" dirty="0">
                <a:sym typeface="Symbol" panose="05050102010706020507" pitchFamily="18" charset="2"/>
              </a:rPr>
              <a:t> </a:t>
            </a:r>
            <a:r>
              <a:rPr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:=</a:t>
            </a:r>
            <a:r>
              <a:rPr lang="en-US" altLang="zh-CN" sz="2000" b="1" dirty="0">
                <a:sym typeface="Symbol" panose="05050102010706020507" pitchFamily="18" charset="2"/>
              </a:rPr>
              <a:t> </a:t>
            </a:r>
            <a:r>
              <a:rPr lang="en-US" altLang="zh-CN" sz="2000" b="1" i="1" dirty="0">
                <a:sym typeface="Symbol" panose="05050102010706020507" pitchFamily="18" charset="2"/>
              </a:rPr>
              <a:t>expr</a:t>
            </a:r>
            <a:br>
              <a:rPr lang="en-US" altLang="zh-CN" sz="2000" b="1" i="1" dirty="0">
                <a:sym typeface="Symbol" panose="05050102010706020507" pitchFamily="18" charset="2"/>
              </a:rPr>
            </a:br>
            <a:r>
              <a:rPr lang="en-US" altLang="zh-CN" sz="2000" dirty="0"/>
              <a:t>(3)</a:t>
            </a:r>
            <a:r>
              <a:rPr lang="en-US" altLang="zh-CN" sz="2000" b="1" i="1" dirty="0">
                <a:sym typeface="Symbol" panose="05050102010706020507" pitchFamily="18" charset="2"/>
              </a:rPr>
              <a:t> parameter-list </a:t>
            </a:r>
            <a:r>
              <a:rPr lang="en-US" altLang="zh-CN" sz="2000" b="1" dirty="0">
                <a:sym typeface="Symbol" panose="05050102010706020507" pitchFamily="18" charset="2"/>
              </a:rPr>
              <a:t> </a:t>
            </a:r>
            <a:r>
              <a:rPr lang="en-US" altLang="zh-CN" sz="2000" b="1" i="1" dirty="0">
                <a:sym typeface="Symbol" panose="05050102010706020507" pitchFamily="18" charset="2"/>
              </a:rPr>
              <a:t>parameter-list </a:t>
            </a:r>
            <a:r>
              <a:rPr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ym typeface="Symbol" panose="05050102010706020507" pitchFamily="18" charset="2"/>
              </a:rPr>
              <a:t> </a:t>
            </a:r>
            <a:r>
              <a:rPr lang="en-US" altLang="zh-CN" sz="2000" b="1" i="1" dirty="0">
                <a:sym typeface="Symbol" panose="05050102010706020507" pitchFamily="18" charset="2"/>
              </a:rPr>
              <a:t>parameter</a:t>
            </a:r>
            <a:br>
              <a:rPr lang="en-US" altLang="zh-CN" sz="2000" b="1" i="1" dirty="0">
                <a:sym typeface="Symbol" panose="05050102010706020507" pitchFamily="18" charset="2"/>
              </a:rPr>
            </a:br>
            <a:r>
              <a:rPr lang="en-US" altLang="zh-CN" sz="2000" dirty="0"/>
              <a:t>(4,5)</a:t>
            </a:r>
            <a:r>
              <a:rPr lang="en-US" altLang="zh-CN" sz="2000" b="1" i="1" dirty="0">
                <a:sym typeface="Symbol" panose="05050102010706020507" pitchFamily="18" charset="2"/>
              </a:rPr>
              <a:t> parameter-list </a:t>
            </a:r>
            <a:r>
              <a:rPr lang="en-US" altLang="zh-CN" sz="2000" b="1" dirty="0">
                <a:sym typeface="Symbol" panose="05050102010706020507" pitchFamily="18" charset="2"/>
              </a:rPr>
              <a:t> </a:t>
            </a:r>
            <a:r>
              <a:rPr lang="en-US" altLang="zh-CN" sz="2000" b="1" i="1" dirty="0">
                <a:sym typeface="Symbol" panose="05050102010706020507" pitchFamily="18" charset="2"/>
              </a:rPr>
              <a:t>parameter | </a:t>
            </a:r>
            <a:r>
              <a:rPr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br>
              <a:rPr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</a:br>
            <a:r>
              <a:rPr lang="en-US" altLang="zh-CN" sz="2000" dirty="0"/>
              <a:t>(6,7)</a:t>
            </a:r>
            <a:r>
              <a:rPr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000" b="1" i="1" dirty="0"/>
              <a:t>expr </a:t>
            </a:r>
            <a:r>
              <a:rPr lang="en-US" altLang="zh-CN" sz="2000" b="1" dirty="0">
                <a:sym typeface="Symbol" panose="05050102010706020507" pitchFamily="18" charset="2"/>
              </a:rPr>
              <a:t> </a:t>
            </a:r>
            <a:r>
              <a:rPr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id ( </a:t>
            </a:r>
            <a:r>
              <a:rPr lang="en-US" altLang="zh-CN" sz="2000" b="1" i="1" dirty="0">
                <a:sym typeface="Symbol" panose="05050102010706020507" pitchFamily="18" charset="2"/>
              </a:rPr>
              <a:t>expr-list </a:t>
            </a:r>
            <a:r>
              <a:rPr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) </a:t>
            </a:r>
            <a:r>
              <a:rPr lang="en-US" altLang="zh-CN" sz="2000" b="1" dirty="0">
                <a:sym typeface="Symbol" panose="05050102010706020507" pitchFamily="18" charset="2"/>
              </a:rPr>
              <a:t>|</a:t>
            </a:r>
            <a:r>
              <a:rPr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 id </a:t>
            </a:r>
            <a:br>
              <a:rPr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</a:br>
            <a:r>
              <a:rPr lang="en-US" altLang="zh-CN" sz="2000" dirty="0"/>
              <a:t>(8)</a:t>
            </a:r>
            <a:r>
              <a:rPr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000" b="1" i="1" dirty="0">
                <a:sym typeface="Symbol" panose="05050102010706020507" pitchFamily="18" charset="2"/>
              </a:rPr>
              <a:t>expr-list </a:t>
            </a:r>
            <a:r>
              <a:rPr lang="en-US" altLang="zh-CN" sz="2000" b="1" dirty="0">
                <a:sym typeface="Symbol" panose="05050102010706020507" pitchFamily="18" charset="2"/>
              </a:rPr>
              <a:t> </a:t>
            </a:r>
            <a:r>
              <a:rPr lang="en-US" altLang="zh-CN" sz="2000" b="1" i="1" dirty="0">
                <a:sym typeface="Symbol" panose="05050102010706020507" pitchFamily="18" charset="2"/>
              </a:rPr>
              <a:t>expr-list </a:t>
            </a:r>
            <a:r>
              <a:rPr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ym typeface="Symbol" panose="05050102010706020507" pitchFamily="18" charset="2"/>
              </a:rPr>
              <a:t> </a:t>
            </a:r>
            <a:r>
              <a:rPr lang="en-US" altLang="zh-CN" sz="2000" b="1" i="1" dirty="0">
                <a:sym typeface="Symbol" panose="05050102010706020507" pitchFamily="18" charset="2"/>
              </a:rPr>
              <a:t>expr | expr</a:t>
            </a:r>
            <a:endParaRPr lang="en-US" altLang="zh-CN" sz="2000" dirty="0"/>
          </a:p>
          <a:p>
            <a:pPr marL="0" indent="0" eaLnBrk="1" hangingPunct="1"/>
            <a:r>
              <a:rPr lang="zh-CN" altLang="en-US" sz="2800" dirty="0"/>
              <a:t>符号串“</a:t>
            </a:r>
            <a:r>
              <a:rPr lang="en-US" altLang="zh-CN" sz="2800" dirty="0"/>
              <a:t>A(I, J)</a:t>
            </a:r>
            <a:r>
              <a:rPr lang="zh-CN" altLang="en-US" sz="2800"/>
              <a:t>”，</a:t>
            </a:r>
            <a:r>
              <a:rPr lang="zh-CN" altLang="en-US" sz="2800" dirty="0"/>
              <a:t>单词流</a:t>
            </a:r>
            <a:r>
              <a:rPr lang="en-US" altLang="zh-CN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id(id, id)</a:t>
            </a:r>
          </a:p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Stack				Input</a:t>
            </a:r>
          </a:p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$…</a:t>
            </a:r>
            <a:r>
              <a:rPr kumimoji="0" lang="en-US" altLang="zh-CN" sz="2000" dirty="0">
                <a:solidFill>
                  <a:schemeClr val="accent2"/>
                </a:solidFill>
              </a:rPr>
              <a:t> </a:t>
            </a:r>
            <a:r>
              <a:rPr kumimoji="0" lang="en-US" altLang="zh-CN" sz="2000" b="1" dirty="0">
                <a:solidFill>
                  <a:schemeClr val="accent2"/>
                </a:solidFill>
              </a:rPr>
              <a:t>id ( id</a:t>
            </a:r>
            <a:r>
              <a:rPr kumimoji="0" lang="en-US" altLang="zh-CN" sz="2000" dirty="0"/>
              <a:t>			</a:t>
            </a:r>
            <a:r>
              <a:rPr kumimoji="0" lang="en-US" altLang="zh-CN" sz="2000" b="1" dirty="0">
                <a:solidFill>
                  <a:schemeClr val="accent2"/>
                </a:solidFill>
              </a:rPr>
              <a:t>, id )</a:t>
            </a:r>
            <a:r>
              <a:rPr kumimoji="0" lang="en-US" altLang="zh-CN" sz="2000" dirty="0"/>
              <a:t> …$</a:t>
            </a:r>
            <a:endParaRPr lang="en-US" altLang="zh-CN" sz="2800" b="1" dirty="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marL="0" indent="0" eaLnBrk="1" hangingPunct="1"/>
            <a:r>
              <a:rPr lang="zh-CN" altLang="en-US" sz="2400" dirty="0"/>
              <a:t>归约</a:t>
            </a:r>
            <a:r>
              <a:rPr lang="en-US" altLang="zh-CN" sz="2400" dirty="0"/>
              <a:t>(5)—</a:t>
            </a:r>
            <a:r>
              <a:rPr lang="zh-CN" altLang="en-US" sz="2400" dirty="0"/>
              <a:t>过程参数？归约</a:t>
            </a:r>
            <a:r>
              <a:rPr lang="en-US" altLang="zh-CN" sz="2400" dirty="0"/>
              <a:t>(7)—</a:t>
            </a:r>
            <a:r>
              <a:rPr lang="zh-CN" altLang="en-US" sz="2400" dirty="0"/>
              <a:t>数组下标？</a:t>
            </a:r>
            <a:br>
              <a:rPr lang="zh-CN" altLang="en-US" sz="2400" dirty="0"/>
            </a:br>
            <a:r>
              <a:rPr lang="zh-CN" altLang="en-US" sz="2400" dirty="0"/>
              <a:t>   归约</a:t>
            </a:r>
            <a:r>
              <a:rPr lang="en-US" altLang="zh-CN" sz="2400" dirty="0"/>
              <a:t>/</a:t>
            </a:r>
            <a:r>
              <a:rPr lang="zh-CN" altLang="en-US" sz="2400" dirty="0"/>
              <a:t>归约冲突</a:t>
            </a:r>
          </a:p>
          <a:p>
            <a:pPr marL="0" indent="0" eaLnBrk="1" hangingPunct="1"/>
            <a:r>
              <a:rPr lang="zh-CN" altLang="en-US" sz="2400" dirty="0"/>
              <a:t>解决：</a:t>
            </a:r>
            <a:r>
              <a:rPr lang="en-US" altLang="zh-CN" sz="2400" dirty="0"/>
              <a:t>(1) </a:t>
            </a:r>
            <a:r>
              <a:rPr kumimoji="0" lang="en-US" altLang="zh-CN" sz="2400" b="1" dirty="0" err="1">
                <a:solidFill>
                  <a:schemeClr val="accent2"/>
                </a:solidFill>
              </a:rPr>
              <a:t>id</a:t>
            </a:r>
            <a:r>
              <a:rPr kumimoji="0" lang="en-US" altLang="zh-CN" sz="2400" b="1" dirty="0" err="1">
                <a:solidFill>
                  <a:schemeClr val="accent2"/>
                </a:solidFill>
                <a:sym typeface="Wingdings" panose="05000000000000000000" pitchFamily="2" charset="2"/>
              </a:rPr>
              <a:t>procid</a:t>
            </a:r>
            <a:r>
              <a:rPr kumimoji="0" lang="zh-CN" altLang="en-US" sz="2400" dirty="0">
                <a:sym typeface="Wingdings" panose="05000000000000000000" pitchFamily="2" charset="2"/>
              </a:rPr>
              <a:t>，区分过程</a:t>
            </a:r>
            <a:r>
              <a:rPr kumimoji="0" lang="en-US" altLang="zh-CN" sz="2400" dirty="0">
                <a:sym typeface="Wingdings" panose="05000000000000000000" pitchFamily="2" charset="2"/>
              </a:rPr>
              <a:t>/</a:t>
            </a:r>
            <a:r>
              <a:rPr kumimoji="0" lang="zh-CN" altLang="en-US" sz="2400" dirty="0">
                <a:sym typeface="Wingdings" panose="05000000000000000000" pitchFamily="2" charset="2"/>
              </a:rPr>
              <a:t>数组</a:t>
            </a:r>
            <a:endParaRPr kumimoji="0" lang="zh-CN" altLang="en-US" sz="24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7CC91318-3FBA-4E7C-A71E-5C04CBB01F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4.6  </a:t>
            </a:r>
            <a:r>
              <a:rPr lang="zh-CN" altLang="en-US"/>
              <a:t>算符优先分析方法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B001D22C-F7B7-434D-9A38-B9194BF71D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295400"/>
            <a:ext cx="7772400" cy="5562600"/>
          </a:xfrm>
        </p:spPr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en-US" altLang="zh-CN">
                <a:solidFill>
                  <a:srgbClr val="FF3300"/>
                </a:solidFill>
              </a:rPr>
              <a:t>operator-precedence parsing</a:t>
            </a:r>
          </a:p>
          <a:p>
            <a:pPr eaLnBrk="1" hangingPunct="1">
              <a:spcBef>
                <a:spcPct val="10000"/>
              </a:spcBef>
            </a:pPr>
            <a:r>
              <a:rPr lang="zh-CN" altLang="en-US"/>
              <a:t>算符文法</a:t>
            </a:r>
          </a:p>
          <a:p>
            <a:pPr lvl="1" eaLnBrk="1" hangingPunct="1">
              <a:spcBef>
                <a:spcPct val="10000"/>
              </a:spcBef>
            </a:pPr>
            <a:r>
              <a:rPr lang="zh-CN" altLang="en-US"/>
              <a:t>无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lang="zh-CN" altLang="en-US">
                <a:sym typeface="Symbol" panose="05050102010706020507" pitchFamily="18" charset="2"/>
              </a:rPr>
              <a:t>产生式</a:t>
            </a:r>
          </a:p>
          <a:p>
            <a:pPr lvl="1" eaLnBrk="1" hangingPunct="1">
              <a:spcBef>
                <a:spcPct val="10000"/>
              </a:spcBef>
            </a:pPr>
            <a:r>
              <a:rPr lang="zh-CN" altLang="en-US">
                <a:sym typeface="Symbol" panose="05050102010706020507" pitchFamily="18" charset="2"/>
              </a:rPr>
              <a:t>产生式右部不含连续</a:t>
            </a:r>
            <a:r>
              <a:rPr lang="en-US" altLang="zh-CN">
                <a:sym typeface="Symbol" panose="05050102010706020507" pitchFamily="18" charset="2"/>
              </a:rPr>
              <a:t>NT</a:t>
            </a:r>
          </a:p>
          <a:p>
            <a:pPr eaLnBrk="1" hangingPunct="1">
              <a:spcBef>
                <a:spcPct val="10000"/>
              </a:spcBef>
            </a:pPr>
            <a:r>
              <a:rPr lang="zh-CN" altLang="en-US">
                <a:sym typeface="Symbol" panose="05050102010706020507" pitchFamily="18" charset="2"/>
              </a:rPr>
              <a:t>例</a:t>
            </a:r>
            <a:r>
              <a:rPr lang="en-US" altLang="zh-CN">
                <a:sym typeface="Symbol" panose="05050102010706020507" pitchFamily="18" charset="2"/>
              </a:rPr>
              <a:t>4.27</a:t>
            </a:r>
            <a:br>
              <a:rPr lang="en-US" altLang="zh-CN">
                <a:sym typeface="Symbol" panose="05050102010706020507" pitchFamily="18" charset="2"/>
              </a:rPr>
            </a:b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EAE |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-</a:t>
            </a:r>
            <a:r>
              <a:rPr kumimoji="0" lang="en-US" altLang="zh-CN" sz="2400" b="1">
                <a:sym typeface="Symbol" panose="05050102010706020507" pitchFamily="18" charset="2"/>
              </a:rPr>
              <a:t> E  |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|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b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</a:br>
            <a:r>
              <a:rPr kumimoji="0" lang="en-US" altLang="zh-CN" sz="2400" b="1"/>
              <a:t>A </a:t>
            </a:r>
            <a:r>
              <a:rPr kumimoji="0" lang="en-US" altLang="zh-CN" sz="2400" b="1">
                <a:sym typeface="Symbol" panose="05050102010706020507" pitchFamily="18" charset="2"/>
              </a:rPr>
              <a:t>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- </a:t>
            </a:r>
            <a:r>
              <a:rPr kumimoji="0" lang="en-US" altLang="zh-CN" sz="2400" b="1">
                <a:sym typeface="Symbol" panose="05050102010706020507" pitchFamily="18" charset="2"/>
              </a:rPr>
              <a:t>|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+ </a:t>
            </a:r>
            <a:r>
              <a:rPr kumimoji="0" lang="en-US" altLang="zh-CN" sz="2400" b="1">
                <a:sym typeface="Symbol" panose="05050102010706020507" pitchFamily="18" charset="2"/>
              </a:rPr>
              <a:t>|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* </a:t>
            </a:r>
            <a:r>
              <a:rPr kumimoji="0" lang="en-US" altLang="zh-CN" sz="2400" b="1">
                <a:sym typeface="Symbol" panose="05050102010706020507" pitchFamily="18" charset="2"/>
              </a:rPr>
              <a:t>|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/ </a:t>
            </a:r>
            <a:r>
              <a:rPr kumimoji="0" lang="en-US" altLang="zh-CN" sz="2400" b="1">
                <a:sym typeface="Symbol" panose="05050102010706020507" pitchFamily="18" charset="2"/>
              </a:rPr>
              <a:t>|</a:t>
            </a:r>
            <a:r>
              <a:rPr kumimoji="0" lang="en-US" altLang="zh-CN" sz="2400" b="1">
                <a:solidFill>
                  <a:srgbClr val="3333CC"/>
                </a:solidFill>
                <a:latin typeface="宋体" panose="02010600030101010101" pitchFamily="2" charset="-122"/>
              </a:rPr>
              <a:t>↑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	    </a:t>
            </a:r>
            <a:r>
              <a:rPr kumimoji="0" lang="en-US" altLang="zh-CN" sz="2400" b="1">
                <a:sym typeface="Wingdings" panose="05000000000000000000" pitchFamily="2" charset="2"/>
              </a:rPr>
              <a:t></a:t>
            </a:r>
            <a:br>
              <a:rPr kumimoji="0" lang="en-US" altLang="zh-CN" sz="2400" b="1">
                <a:sym typeface="Wingdings" panose="05000000000000000000" pitchFamily="2" charset="2"/>
              </a:rPr>
            </a:br>
            <a:r>
              <a:rPr kumimoji="0" lang="en-US" altLang="zh-CN" sz="2400" b="1">
                <a:sym typeface="Symbol" panose="05050102010706020507" pitchFamily="18" charset="2"/>
              </a:rPr>
              <a:t>E 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-</a:t>
            </a:r>
            <a:r>
              <a:rPr kumimoji="0" lang="en-US" altLang="zh-CN" sz="2400" b="1">
                <a:sym typeface="Symbol" panose="05050102010706020507" pitchFamily="18" charset="2"/>
              </a:rPr>
              <a:t> E |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 b="1">
                <a:sym typeface="Symbol" panose="05050102010706020507" pitchFamily="18" charset="2"/>
              </a:rPr>
              <a:t> E |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E | E</a:t>
            </a:r>
            <a:r>
              <a:rPr kumimoji="0" lang="en-US" altLang="zh-CN" sz="2400" b="1">
                <a:solidFill>
                  <a:srgbClr val="3333CC"/>
                </a:solidFill>
                <a:latin typeface="宋体" panose="02010600030101010101" pitchFamily="2" charset="-122"/>
              </a:rPr>
              <a:t>↑</a:t>
            </a:r>
            <a:r>
              <a:rPr kumimoji="0" lang="en-US" altLang="zh-CN" sz="2400" b="1">
                <a:sym typeface="Symbol" panose="05050102010706020507" pitchFamily="18" charset="2"/>
              </a:rPr>
              <a:t>E |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^</a:t>
            </a:r>
            <a:r>
              <a:rPr kumimoji="0" lang="en-US" altLang="zh-CN" sz="2400" b="1">
                <a:sym typeface="Symbol" panose="05050102010706020507" pitchFamily="18" charset="2"/>
              </a:rPr>
              <a:t> E |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-</a:t>
            </a:r>
            <a:r>
              <a:rPr kumimoji="0" lang="en-US" altLang="zh-CN" sz="2400" b="1">
                <a:sym typeface="Symbol" panose="05050102010706020507" pitchFamily="18" charset="2"/>
              </a:rPr>
              <a:t> E  |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|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endParaRPr lang="en-US" altLang="zh-CN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D7189097-1914-4FEE-A7DF-60FA0D764F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算符优先分析方法的特点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4C5D33A-B3F9-41C7-ACBB-784A8E223E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295400"/>
            <a:ext cx="7772400" cy="5229225"/>
          </a:xfrm>
        </p:spPr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zh-CN" altLang="en-US" dirty="0">
                <a:sym typeface="Symbol" panose="05050102010706020507" pitchFamily="18" charset="2"/>
              </a:rPr>
              <a:t>缺点</a:t>
            </a:r>
          </a:p>
          <a:p>
            <a:pPr lvl="1" eaLnBrk="1" hangingPunct="1">
              <a:spcBef>
                <a:spcPct val="10000"/>
              </a:spcBef>
            </a:pPr>
            <a:r>
              <a:rPr lang="zh-CN" altLang="en-US" dirty="0">
                <a:sym typeface="Symbol" panose="05050102010706020507" pitchFamily="18" charset="2"/>
              </a:rPr>
              <a:t>多优先级算符例如</a:t>
            </a:r>
            <a:r>
              <a:rPr lang="en-US" altLang="zh-CN" dirty="0">
                <a:sym typeface="Symbol" panose="05050102010706020507" pitchFamily="18" charset="2"/>
              </a:rPr>
              <a:t>‘-’</a:t>
            </a:r>
            <a:r>
              <a:rPr lang="zh-CN" altLang="en-US" dirty="0">
                <a:sym typeface="Symbol" panose="05050102010706020507" pitchFamily="18" charset="2"/>
              </a:rPr>
              <a:t>难以处理</a:t>
            </a:r>
          </a:p>
          <a:p>
            <a:pPr lvl="1" eaLnBrk="1" hangingPunct="1">
              <a:spcBef>
                <a:spcPct val="10000"/>
              </a:spcBef>
            </a:pPr>
            <a:r>
              <a:rPr lang="zh-CN" altLang="en-US" dirty="0">
                <a:sym typeface="Symbol" panose="05050102010706020507" pitchFamily="18" charset="2"/>
              </a:rPr>
              <a:t>文法</a:t>
            </a:r>
            <a:r>
              <a:rPr lang="en-US" altLang="zh-CN" dirty="0">
                <a:sym typeface="Symbol" panose="05050102010706020507" pitchFamily="18" charset="2"/>
              </a:rPr>
              <a:t>——</a:t>
            </a:r>
            <a:r>
              <a:rPr lang="zh-CN" altLang="en-US" dirty="0">
                <a:sym typeface="Symbol" panose="05050102010706020507" pitchFamily="18" charset="2"/>
              </a:rPr>
              <a:t>分析器关系不紧密</a:t>
            </a:r>
          </a:p>
          <a:p>
            <a:pPr lvl="1" eaLnBrk="1" hangingPunct="1">
              <a:spcBef>
                <a:spcPct val="10000"/>
              </a:spcBef>
            </a:pPr>
            <a:r>
              <a:rPr lang="zh-CN" altLang="en-US" dirty="0">
                <a:sym typeface="Symbol" panose="05050102010706020507" pitchFamily="18" charset="2"/>
              </a:rPr>
              <a:t>仅适用少数文法</a:t>
            </a:r>
          </a:p>
          <a:p>
            <a:pPr eaLnBrk="1" hangingPunct="1">
              <a:spcBef>
                <a:spcPct val="10000"/>
              </a:spcBef>
            </a:pPr>
            <a:r>
              <a:rPr lang="zh-CN" altLang="en-US" dirty="0">
                <a:sym typeface="Symbol" panose="05050102010706020507" pitchFamily="18" charset="2"/>
              </a:rPr>
              <a:t>优点</a:t>
            </a:r>
          </a:p>
          <a:p>
            <a:pPr lvl="1" eaLnBrk="1" hangingPunct="1">
              <a:spcBef>
                <a:spcPct val="10000"/>
              </a:spcBef>
            </a:pPr>
            <a:r>
              <a:rPr lang="zh-CN" altLang="en-US" dirty="0">
                <a:solidFill>
                  <a:schemeClr val="folHlink"/>
                </a:solidFill>
                <a:sym typeface="Symbol" panose="05050102010706020507" pitchFamily="18" charset="2"/>
              </a:rPr>
              <a:t>简单</a:t>
            </a:r>
          </a:p>
          <a:p>
            <a:pPr lvl="1" eaLnBrk="1" hangingPunct="1">
              <a:spcBef>
                <a:spcPct val="10000"/>
              </a:spcBef>
            </a:pPr>
            <a:r>
              <a:rPr lang="zh-CN" altLang="en-US" dirty="0">
                <a:solidFill>
                  <a:schemeClr val="folHlink"/>
                </a:solidFill>
                <a:sym typeface="Symbol" panose="05050102010706020507" pitchFamily="18" charset="2"/>
              </a:rPr>
              <a:t>适合表达式分析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0FD60D30-5800-412B-8E98-6C122EE915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优先级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794DB5F4-7599-4E65-BF87-D278420678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/>
            <a:r>
              <a:rPr lang="zh-CN" altLang="en-US" sz="2800"/>
              <a:t>不相交的三种优先级关系</a:t>
            </a:r>
            <a:r>
              <a:rPr lang="en-US" altLang="zh-CN" sz="2800"/>
              <a:t>—</a:t>
            </a:r>
            <a:r>
              <a:rPr lang="zh-CN" altLang="en-US" sz="2800"/>
              <a:t>终结符之间</a:t>
            </a:r>
          </a:p>
          <a:p>
            <a:pPr lvl="1" eaLnBrk="1" hangingPunct="1"/>
            <a:r>
              <a:rPr lang="en-US" altLang="zh-CN" sz="2400"/>
              <a:t>a⋖b</a:t>
            </a:r>
            <a:r>
              <a:rPr lang="zh-CN" altLang="en-US" sz="2400"/>
              <a:t>，</a:t>
            </a:r>
            <a:r>
              <a:rPr lang="en-US" altLang="zh-CN" sz="2400"/>
              <a:t>a</a:t>
            </a:r>
            <a:r>
              <a:rPr lang="zh-CN" altLang="en-US" sz="2400"/>
              <a:t>的优先级低于</a:t>
            </a:r>
            <a:r>
              <a:rPr lang="en-US" altLang="zh-CN" sz="2400"/>
              <a:t>b</a:t>
            </a:r>
          </a:p>
          <a:p>
            <a:pPr lvl="1" eaLnBrk="1" hangingPunct="1"/>
            <a:r>
              <a:rPr lang="en-US" altLang="zh-CN" sz="2400"/>
              <a:t>a≐b</a:t>
            </a:r>
            <a:r>
              <a:rPr lang="zh-CN" altLang="en-US" sz="2400"/>
              <a:t>，</a:t>
            </a:r>
            <a:r>
              <a:rPr lang="en-US" altLang="zh-CN" sz="2400"/>
              <a:t>a</a:t>
            </a:r>
            <a:r>
              <a:rPr lang="zh-CN" altLang="en-US" sz="2400"/>
              <a:t>的优先级等于</a:t>
            </a:r>
            <a:r>
              <a:rPr lang="en-US" altLang="zh-CN" sz="2400"/>
              <a:t>b</a:t>
            </a:r>
          </a:p>
          <a:p>
            <a:pPr lvl="1" eaLnBrk="1" hangingPunct="1"/>
            <a:r>
              <a:rPr lang="en-US" altLang="zh-CN" sz="2400"/>
              <a:t>a⋗b</a:t>
            </a:r>
            <a:r>
              <a:rPr lang="zh-CN" altLang="en-US" sz="2400"/>
              <a:t>，</a:t>
            </a:r>
            <a:r>
              <a:rPr lang="en-US" altLang="zh-CN" sz="2400"/>
              <a:t>a</a:t>
            </a:r>
            <a:r>
              <a:rPr lang="zh-CN" altLang="en-US" sz="2400"/>
              <a:t>的优先级高于</a:t>
            </a:r>
            <a:r>
              <a:rPr lang="en-US" altLang="zh-CN" sz="2400"/>
              <a:t>b</a:t>
            </a:r>
          </a:p>
          <a:p>
            <a:pPr eaLnBrk="1" hangingPunct="1"/>
            <a:r>
              <a:rPr lang="zh-CN" altLang="en-US" sz="2800"/>
              <a:t>不同于算术关系</a:t>
            </a:r>
            <a:r>
              <a:rPr lang="en-US" altLang="zh-CN" sz="2800"/>
              <a:t>&lt;</a:t>
            </a:r>
            <a:r>
              <a:rPr lang="zh-CN" altLang="en-US" sz="2800"/>
              <a:t>、</a:t>
            </a:r>
            <a:r>
              <a:rPr lang="en-US" altLang="zh-CN" sz="2800"/>
              <a:t>=</a:t>
            </a:r>
            <a:r>
              <a:rPr lang="zh-CN" altLang="en-US" sz="2800"/>
              <a:t>、 </a:t>
            </a:r>
            <a:r>
              <a:rPr lang="en-US" altLang="zh-CN" sz="2800"/>
              <a:t>&gt;</a:t>
            </a:r>
          </a:p>
          <a:p>
            <a:pPr lvl="1" eaLnBrk="1" hangingPunct="1"/>
            <a:r>
              <a:rPr lang="en-US" altLang="zh-CN" sz="2400"/>
              <a:t>a⋖b</a:t>
            </a:r>
            <a:r>
              <a:rPr lang="zh-CN" altLang="en-US" sz="2400"/>
              <a:t>，</a:t>
            </a:r>
            <a:r>
              <a:rPr lang="en-US" altLang="zh-CN" sz="2400"/>
              <a:t>a⋗b</a:t>
            </a:r>
            <a:r>
              <a:rPr lang="zh-CN" altLang="en-US" sz="2400"/>
              <a:t>可能同时成立</a:t>
            </a:r>
          </a:p>
          <a:p>
            <a:pPr lvl="1" eaLnBrk="1" hangingPunct="1"/>
            <a:r>
              <a:rPr lang="zh-CN" altLang="en-US" sz="2400"/>
              <a:t>三种关系可能均不成立</a:t>
            </a:r>
          </a:p>
          <a:p>
            <a:pPr eaLnBrk="1" hangingPunct="1"/>
            <a:r>
              <a:rPr lang="zh-CN" altLang="en-US" sz="2800"/>
              <a:t>确定优先关系</a:t>
            </a:r>
          </a:p>
          <a:p>
            <a:pPr lvl="1" eaLnBrk="1" hangingPunct="1"/>
            <a:r>
              <a:rPr lang="zh-CN" altLang="en-US" sz="2400"/>
              <a:t>传统意义运算符的优先级：</a:t>
            </a:r>
            <a:r>
              <a:rPr lang="en-US" altLang="zh-CN" sz="2400"/>
              <a:t>+⋖*</a:t>
            </a:r>
            <a:r>
              <a:rPr lang="zh-CN" altLang="en-US" sz="2400"/>
              <a:t>，*⋗</a:t>
            </a:r>
            <a:r>
              <a:rPr lang="en-US" altLang="zh-CN" sz="2400"/>
              <a:t>+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7B28FF75-B8BA-46DC-BEC3-1D848DBB7F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使用算法计算优先关系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0876A84D-2E87-4002-981E-ECD2BE6512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marL="609600" indent="-609600" eaLnBrk="1" hangingPunct="1"/>
            <a:r>
              <a:rPr lang="zh-CN" altLang="en-US" sz="2800" dirty="0"/>
              <a:t>非二义性文法，语法树反映优先关系</a:t>
            </a:r>
          </a:p>
          <a:p>
            <a:pPr marL="609600" indent="-609600" eaLnBrk="1" hangingPunct="1"/>
            <a:r>
              <a:rPr lang="zh-CN" altLang="en-US" sz="2800" dirty="0"/>
              <a:t>不含</a:t>
            </a:r>
            <a:r>
              <a:rPr lang="en-US" altLang="zh-CN" sz="2800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lang="zh-CN" altLang="en-US" sz="2800" dirty="0">
                <a:sym typeface="Symbol" panose="05050102010706020507" pitchFamily="18" charset="2"/>
              </a:rPr>
              <a:t>产生式文法，对任一对终结符</a:t>
            </a:r>
            <a:r>
              <a:rPr lang="en-US" altLang="zh-CN" sz="2800" dirty="0">
                <a:sym typeface="Symbol" panose="05050102010706020507" pitchFamily="18" charset="2"/>
              </a:rPr>
              <a:t>a, b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 dirty="0" err="1"/>
              <a:t>a≐b</a:t>
            </a:r>
            <a:r>
              <a:rPr lang="zh-CN" altLang="en-US" sz="2400" dirty="0"/>
              <a:t>，当且仅当</a:t>
            </a:r>
            <a:r>
              <a:rPr kumimoji="0" lang="en-US" altLang="zh-CN" sz="2400" dirty="0"/>
              <a:t>P</a:t>
            </a:r>
            <a:r>
              <a:rPr kumimoji="0" lang="en-US" altLang="zh-CN" sz="2400" dirty="0">
                <a:sym typeface="Symbol" panose="05050102010706020507" pitchFamily="18" charset="2"/>
              </a:rPr>
              <a:t>…ab…</a:t>
            </a:r>
            <a:r>
              <a:rPr kumimoji="0" lang="zh-CN" altLang="en-US" sz="2400" dirty="0">
                <a:sym typeface="Symbol" panose="05050102010706020507" pitchFamily="18" charset="2"/>
              </a:rPr>
              <a:t>或</a:t>
            </a:r>
            <a:r>
              <a:rPr kumimoji="0" lang="en-US" altLang="zh-CN" sz="2400" dirty="0"/>
              <a:t>P</a:t>
            </a:r>
            <a:r>
              <a:rPr kumimoji="0" lang="en-US" altLang="zh-CN" sz="2400" dirty="0">
                <a:sym typeface="Symbol" panose="05050102010706020507" pitchFamily="18" charset="2"/>
              </a:rPr>
              <a:t>…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aQb</a:t>
            </a:r>
            <a:r>
              <a:rPr kumimoji="0" lang="en-US" altLang="zh-CN" sz="2400" dirty="0">
                <a:sym typeface="Symbol" panose="05050102010706020507" pitchFamily="18" charset="2"/>
              </a:rPr>
              <a:t>…</a:t>
            </a:r>
            <a:r>
              <a:rPr kumimoji="0" lang="zh-CN" altLang="en-US" sz="2400" dirty="0">
                <a:sym typeface="Symbol" panose="05050102010706020507" pitchFamily="18" charset="2"/>
              </a:rPr>
              <a:t>（同时归约意味着同时计算</a:t>
            </a:r>
            <a:r>
              <a:rPr kumimoji="0" lang="en-US" altLang="zh-CN" sz="2400" dirty="0">
                <a:sym typeface="Wingdings" panose="05000000000000000000" pitchFamily="2" charset="2"/>
              </a:rPr>
              <a:t></a:t>
            </a:r>
            <a:r>
              <a:rPr kumimoji="0" lang="zh-CN" altLang="en-US" sz="2400" dirty="0">
                <a:sym typeface="Wingdings" panose="05000000000000000000" pitchFamily="2" charset="2"/>
              </a:rPr>
              <a:t>优先级相同）</a:t>
            </a:r>
            <a:endParaRPr lang="en-US" altLang="zh-CN" sz="2400" dirty="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 dirty="0" err="1"/>
              <a:t>a⋖b</a:t>
            </a:r>
            <a:r>
              <a:rPr lang="zh-CN" altLang="en-US" sz="2400" dirty="0"/>
              <a:t>，当且仅当</a:t>
            </a:r>
            <a:r>
              <a:rPr kumimoji="0" lang="en-US" altLang="zh-CN" sz="2400" dirty="0"/>
              <a:t>P</a:t>
            </a:r>
            <a:r>
              <a:rPr kumimoji="0" lang="en-US" altLang="zh-CN" sz="2400" dirty="0">
                <a:sym typeface="Symbol" panose="05050102010706020507" pitchFamily="18" charset="2"/>
              </a:rPr>
              <a:t>…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aR</a:t>
            </a:r>
            <a:r>
              <a:rPr kumimoji="0" lang="en-US" altLang="zh-CN" sz="2400" dirty="0">
                <a:sym typeface="Symbol" panose="05050102010706020507" pitchFamily="18" charset="2"/>
              </a:rPr>
              <a:t>…</a:t>
            </a:r>
            <a:r>
              <a:rPr kumimoji="0" lang="zh-CN" altLang="en-US" sz="2400" dirty="0">
                <a:sym typeface="Symbol" panose="05050102010706020507" pitchFamily="18" charset="2"/>
              </a:rPr>
              <a:t>，且</a:t>
            </a:r>
            <a:r>
              <a:rPr kumimoji="0" lang="en-US" altLang="zh-CN" sz="2400" dirty="0" err="1"/>
              <a:t>R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b</a:t>
            </a:r>
            <a:r>
              <a:rPr kumimoji="0" lang="en-US" altLang="zh-CN" sz="2400" dirty="0">
                <a:sym typeface="Symbol" panose="05050102010706020507" pitchFamily="18" charset="2"/>
              </a:rPr>
              <a:t>…</a:t>
            </a:r>
            <a:r>
              <a:rPr kumimoji="0" lang="zh-CN" altLang="en-US" sz="2400" dirty="0">
                <a:sym typeface="Symbol" panose="05050102010706020507" pitchFamily="18" charset="2"/>
              </a:rPr>
              <a:t>或</a:t>
            </a:r>
            <a:r>
              <a:rPr kumimoji="0" lang="en-US" altLang="zh-CN" sz="2400" dirty="0" err="1"/>
              <a:t>R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Qb</a:t>
            </a:r>
            <a:r>
              <a:rPr kumimoji="0" lang="en-US" altLang="zh-CN" sz="2400" dirty="0">
                <a:sym typeface="Symbol" panose="05050102010706020507" pitchFamily="18" charset="2"/>
              </a:rPr>
              <a:t>… </a:t>
            </a:r>
            <a:r>
              <a:rPr kumimoji="0" lang="zh-CN" altLang="en-US" sz="2400" dirty="0">
                <a:sym typeface="Symbol" panose="05050102010706020507" pitchFamily="18" charset="2"/>
              </a:rPr>
              <a:t>（</a:t>
            </a:r>
            <a:r>
              <a:rPr kumimoji="0" lang="en-US" altLang="zh-CN" sz="2400" dirty="0">
                <a:sym typeface="Symbol" panose="05050102010706020507" pitchFamily="18" charset="2"/>
              </a:rPr>
              <a:t>b</a:t>
            </a:r>
            <a:r>
              <a:rPr kumimoji="0" lang="zh-CN" altLang="en-US" sz="2400" dirty="0">
                <a:sym typeface="Symbol" panose="05050102010706020507" pitchFamily="18" charset="2"/>
              </a:rPr>
              <a:t>的运算结果</a:t>
            </a:r>
            <a:r>
              <a:rPr kumimoji="0" lang="en-US" altLang="zh-CN" sz="2400" dirty="0">
                <a:sym typeface="Symbol" panose="05050102010706020507" pitchFamily="18" charset="2"/>
              </a:rPr>
              <a:t>R</a:t>
            </a:r>
            <a:r>
              <a:rPr kumimoji="0" lang="zh-CN" altLang="en-US" sz="2400" dirty="0">
                <a:sym typeface="Symbol" panose="05050102010706020507" pitchFamily="18" charset="2"/>
              </a:rPr>
              <a:t>是</a:t>
            </a:r>
            <a:r>
              <a:rPr kumimoji="0" lang="en-US" altLang="zh-CN" sz="2400" dirty="0">
                <a:sym typeface="Symbol" panose="05050102010706020507" pitchFamily="18" charset="2"/>
              </a:rPr>
              <a:t>a</a:t>
            </a:r>
            <a:r>
              <a:rPr kumimoji="0" lang="zh-CN" altLang="en-US" sz="2400" dirty="0">
                <a:sym typeface="Symbol" panose="05050102010706020507" pitchFamily="18" charset="2"/>
              </a:rPr>
              <a:t>的运算对象</a:t>
            </a:r>
            <a:r>
              <a:rPr kumimoji="0" lang="en-US" altLang="zh-CN" sz="2400" dirty="0">
                <a:sym typeface="Wingdings" panose="05000000000000000000" pitchFamily="2" charset="2"/>
              </a:rPr>
              <a:t>a</a:t>
            </a:r>
            <a:r>
              <a:rPr kumimoji="0" lang="zh-CN" altLang="en-US" sz="2400" dirty="0">
                <a:sym typeface="Wingdings" panose="05000000000000000000" pitchFamily="2" charset="2"/>
              </a:rPr>
              <a:t>优先级低）</a:t>
            </a:r>
            <a:endParaRPr lang="en-US" altLang="zh-CN" sz="2400" dirty="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 dirty="0" err="1"/>
              <a:t>a⋗b</a:t>
            </a:r>
            <a:r>
              <a:rPr lang="zh-CN" altLang="en-US" sz="2400" dirty="0"/>
              <a:t>，当且仅当</a:t>
            </a:r>
            <a:r>
              <a:rPr kumimoji="0" lang="en-US" altLang="zh-CN" sz="2400" dirty="0"/>
              <a:t>P</a:t>
            </a:r>
            <a:r>
              <a:rPr kumimoji="0" lang="en-US" altLang="zh-CN" sz="2400" dirty="0">
                <a:sym typeface="Symbol" panose="05050102010706020507" pitchFamily="18" charset="2"/>
              </a:rPr>
              <a:t>…Rb…</a:t>
            </a:r>
            <a:r>
              <a:rPr kumimoji="0" lang="zh-CN" altLang="en-US" sz="2400" dirty="0">
                <a:sym typeface="Symbol" panose="05050102010706020507" pitchFamily="18" charset="2"/>
              </a:rPr>
              <a:t>，且</a:t>
            </a:r>
            <a:r>
              <a:rPr kumimoji="0" lang="en-US" altLang="zh-CN" sz="2400" dirty="0"/>
              <a:t>R</a:t>
            </a:r>
            <a:r>
              <a:rPr kumimoji="0" lang="en-US" altLang="zh-CN" sz="2400" dirty="0">
                <a:sym typeface="Symbol" panose="05050102010706020507" pitchFamily="18" charset="2"/>
              </a:rPr>
              <a:t>…a</a:t>
            </a:r>
            <a:r>
              <a:rPr kumimoji="0" lang="zh-CN" altLang="en-US" sz="2400" dirty="0">
                <a:sym typeface="Symbol" panose="05050102010706020507" pitchFamily="18" charset="2"/>
              </a:rPr>
              <a:t>或</a:t>
            </a:r>
            <a:r>
              <a:rPr kumimoji="0" lang="en-US" altLang="zh-CN" sz="2400" dirty="0"/>
              <a:t>R</a:t>
            </a:r>
            <a:r>
              <a:rPr kumimoji="0" lang="en-US" altLang="zh-CN" sz="2400" dirty="0">
                <a:sym typeface="Symbol" panose="05050102010706020507" pitchFamily="18" charset="2"/>
              </a:rPr>
              <a:t>…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aQ</a:t>
            </a:r>
            <a:r>
              <a:rPr kumimoji="0" lang="zh-CN" altLang="en-US" sz="2400" dirty="0">
                <a:sym typeface="Symbol" panose="05050102010706020507" pitchFamily="18" charset="2"/>
              </a:rPr>
              <a:t>（</a:t>
            </a:r>
            <a:r>
              <a:rPr kumimoji="0" lang="en-US" altLang="zh-CN" sz="2400" dirty="0">
                <a:sym typeface="Symbol" panose="05050102010706020507" pitchFamily="18" charset="2"/>
              </a:rPr>
              <a:t>a</a:t>
            </a:r>
            <a:r>
              <a:rPr kumimoji="0" lang="zh-CN" altLang="en-US" sz="2400" dirty="0">
                <a:sym typeface="Symbol" panose="05050102010706020507" pitchFamily="18" charset="2"/>
              </a:rPr>
              <a:t>的运算结果</a:t>
            </a:r>
            <a:r>
              <a:rPr kumimoji="0" lang="en-US" altLang="zh-CN" sz="2400" dirty="0">
                <a:sym typeface="Symbol" panose="05050102010706020507" pitchFamily="18" charset="2"/>
              </a:rPr>
              <a:t>R</a:t>
            </a:r>
            <a:r>
              <a:rPr kumimoji="0" lang="zh-CN" altLang="en-US" sz="2400" dirty="0">
                <a:sym typeface="Symbol" panose="05050102010706020507" pitchFamily="18" charset="2"/>
              </a:rPr>
              <a:t>是</a:t>
            </a:r>
            <a:r>
              <a:rPr kumimoji="0" lang="en-US" altLang="zh-CN" sz="2400" dirty="0">
                <a:sym typeface="Symbol" panose="05050102010706020507" pitchFamily="18" charset="2"/>
              </a:rPr>
              <a:t>b</a:t>
            </a:r>
            <a:r>
              <a:rPr kumimoji="0" lang="zh-CN" altLang="en-US" sz="2400" dirty="0">
                <a:sym typeface="Symbol" panose="05050102010706020507" pitchFamily="18" charset="2"/>
              </a:rPr>
              <a:t>的运算对象</a:t>
            </a:r>
            <a:r>
              <a:rPr kumimoji="0" lang="en-US" altLang="zh-CN" sz="2400" dirty="0">
                <a:sym typeface="Wingdings" panose="05000000000000000000" pitchFamily="2" charset="2"/>
              </a:rPr>
              <a:t>a</a:t>
            </a:r>
            <a:r>
              <a:rPr kumimoji="0" lang="zh-CN" altLang="en-US" sz="2400" dirty="0">
                <a:sym typeface="Wingdings" panose="05000000000000000000" pitchFamily="2" charset="2"/>
              </a:rPr>
              <a:t>优先级高）</a:t>
            </a:r>
            <a:endParaRPr kumimoji="0" lang="en-US" altLang="zh-CN" sz="2400" dirty="0">
              <a:sym typeface="Symbol" panose="05050102010706020507" pitchFamily="18" charset="2"/>
            </a:endParaRPr>
          </a:p>
          <a:p>
            <a:pPr marL="990600" lvl="1" indent="-533400" eaLnBrk="1" hangingPunct="1">
              <a:buFont typeface="Wingdings" panose="05000000000000000000" pitchFamily="2" charset="2"/>
              <a:buNone/>
            </a:pPr>
            <a:r>
              <a:rPr kumimoji="0" lang="zh-CN" altLang="en-US" sz="2400" dirty="0">
                <a:sym typeface="Symbol" panose="05050102010706020507" pitchFamily="18" charset="2"/>
              </a:rPr>
              <a:t>若算符文法</a:t>
            </a:r>
            <a:r>
              <a:rPr kumimoji="0" lang="en-US" altLang="zh-CN" sz="2400" dirty="0">
                <a:sym typeface="Symbol" panose="05050102010706020507" pitchFamily="18" charset="2"/>
              </a:rPr>
              <a:t>G</a:t>
            </a:r>
            <a:r>
              <a:rPr kumimoji="0" lang="zh-CN" altLang="en-US" sz="2400" dirty="0">
                <a:sym typeface="Symbol" panose="05050102010706020507" pitchFamily="18" charset="2"/>
              </a:rPr>
              <a:t>任何终结符对</a:t>
            </a:r>
            <a:r>
              <a:rPr kumimoji="0" lang="en-US" altLang="zh-CN" sz="2400" dirty="0">
                <a:sym typeface="Symbol" panose="05050102010706020507" pitchFamily="18" charset="2"/>
              </a:rPr>
              <a:t>(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a,b</a:t>
            </a:r>
            <a:r>
              <a:rPr kumimoji="0" lang="en-US" altLang="zh-CN" sz="2400" dirty="0">
                <a:sym typeface="Symbol" panose="05050102010706020507" pitchFamily="18" charset="2"/>
              </a:rPr>
              <a:t>)</a:t>
            </a:r>
            <a:r>
              <a:rPr kumimoji="0" lang="zh-CN" altLang="en-US" sz="2400" dirty="0">
                <a:sym typeface="Symbol" panose="05050102010706020507" pitchFamily="18" charset="2"/>
              </a:rPr>
              <a:t>至多只满足</a:t>
            </a:r>
          </a:p>
          <a:p>
            <a:pPr marL="990600" lvl="1" indent="-53340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		</a:t>
            </a:r>
            <a:r>
              <a:rPr lang="en-US" altLang="zh-CN" sz="2400" dirty="0" err="1"/>
              <a:t>a⋖b</a:t>
            </a:r>
            <a:r>
              <a:rPr lang="zh-CN" altLang="en-US" sz="2400" dirty="0"/>
              <a:t>，</a:t>
            </a:r>
            <a:r>
              <a:rPr lang="en-US" altLang="zh-CN" sz="2400" dirty="0" err="1"/>
              <a:t>a≐b</a:t>
            </a:r>
            <a:r>
              <a:rPr lang="zh-CN" altLang="en-US" sz="2400" dirty="0"/>
              <a:t>，</a:t>
            </a:r>
            <a:r>
              <a:rPr lang="en-US" altLang="zh-CN" sz="2400" dirty="0" err="1"/>
              <a:t>a⋗b</a:t>
            </a:r>
            <a:endParaRPr lang="en-US" altLang="zh-CN" sz="2400" dirty="0"/>
          </a:p>
          <a:p>
            <a:pPr marL="990600" lvl="1" indent="-53340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之一，则称之为算符优先文法</a:t>
            </a:r>
            <a:endParaRPr kumimoji="0" lang="zh-CN" altLang="en-US" sz="2400" dirty="0">
              <a:sym typeface="Symbol" panose="05050102010706020507" pitchFamily="18" charset="2"/>
            </a:endParaRP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2FDB556E-FC06-46EE-8267-190DD06B2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4629" y="3084835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3333CC"/>
                </a:solidFill>
              </a:rPr>
              <a:t>+</a:t>
            </a:r>
          </a:p>
        </p:txBody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FAD55C1B-EE41-470E-9034-E8D4A5A01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029" y="306896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3333CC"/>
                </a:solidFill>
              </a:rPr>
              <a:t>+</a:t>
            </a:r>
          </a:p>
        </p:txBody>
      </p:sp>
      <p:sp>
        <p:nvSpPr>
          <p:cNvPr id="23558" name="Rectangle 6">
            <a:extLst>
              <a:ext uri="{FF2B5EF4-FFF2-40B4-BE49-F238E27FC236}">
                <a16:creationId xmlns:a16="http://schemas.microsoft.com/office/drawing/2014/main" id="{FF55134F-BC07-4DCC-86F2-0BD87B995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3842" y="3896221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3333CC"/>
                </a:solidFill>
              </a:rPr>
              <a:t>+</a:t>
            </a:r>
          </a:p>
        </p:txBody>
      </p:sp>
      <p:sp>
        <p:nvSpPr>
          <p:cNvPr id="23559" name="Rectangle 7">
            <a:extLst>
              <a:ext uri="{FF2B5EF4-FFF2-40B4-BE49-F238E27FC236}">
                <a16:creationId xmlns:a16="http://schemas.microsoft.com/office/drawing/2014/main" id="{C094C6AE-92E3-41D9-8BAA-3D9B1980D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352" y="3880346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dirty="0">
                <a:solidFill>
                  <a:srgbClr val="3333CC"/>
                </a:solidFill>
              </a:rPr>
              <a:t>+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7692CF5-7EF6-4E92-87B7-2827B0732B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CC0C65A2-33D8-4FE1-8E36-130CC3A86D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(1) E </a:t>
            </a:r>
            <a:r>
              <a:rPr kumimoji="0" lang="en-US" altLang="zh-CN" sz="2400" b="1">
                <a:sym typeface="Symbol" panose="05050102010706020507" pitchFamily="18" charset="2"/>
              </a:rPr>
              <a:t> E + T  |  T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kumimoji="0" lang="en-US" altLang="zh-CN" sz="2400" b="1">
                <a:sym typeface="Symbol" panose="05050102010706020507" pitchFamily="18" charset="2"/>
              </a:rPr>
              <a:t>(2) T  T * F  |  F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kumimoji="0" lang="en-US" altLang="zh-CN" sz="2400" b="1">
                <a:sym typeface="Symbol" panose="05050102010706020507" pitchFamily="18" charset="2"/>
              </a:rPr>
              <a:t>(3) F   ( E )  | id</a:t>
            </a:r>
          </a:p>
          <a:p>
            <a:pPr marL="0" indent="0" eaLnBrk="1" hangingPunct="1"/>
            <a:r>
              <a:rPr lang="zh-CN" altLang="en-US" sz="2800"/>
              <a:t>传统意义：</a:t>
            </a:r>
            <a:r>
              <a:rPr lang="en-US" altLang="zh-CN" sz="2800"/>
              <a:t>+⋖*</a:t>
            </a:r>
            <a:r>
              <a:rPr lang="zh-CN" altLang="en-US" sz="2800"/>
              <a:t>；</a:t>
            </a:r>
            <a:r>
              <a:rPr lang="en-US" altLang="zh-CN" sz="2800"/>
              <a:t>+ ⋗+</a:t>
            </a:r>
            <a:r>
              <a:rPr lang="zh-CN" altLang="en-US" sz="2800"/>
              <a:t>；</a:t>
            </a:r>
            <a:r>
              <a:rPr lang="en-US" altLang="zh-CN" sz="2800"/>
              <a:t>( ⋖ +,*</a:t>
            </a:r>
            <a:r>
              <a:rPr lang="zh-CN" altLang="en-US" sz="2800"/>
              <a:t>；</a:t>
            </a:r>
            <a:r>
              <a:rPr lang="en-US" altLang="zh-CN" sz="2800"/>
              <a:t>) ⋗ +,*</a:t>
            </a:r>
          </a:p>
          <a:p>
            <a:pPr marL="0" indent="0" eaLnBrk="1" hangingPunct="1"/>
            <a:r>
              <a:rPr lang="zh-CN" altLang="en-US" sz="2800"/>
              <a:t>算法计算</a:t>
            </a:r>
          </a:p>
          <a:p>
            <a:pPr marL="857250" lvl="1" eaLnBrk="1" hangingPunct="1"/>
            <a:r>
              <a:rPr lang="zh-CN" altLang="en-US" sz="2400"/>
              <a:t>由</a:t>
            </a:r>
            <a:r>
              <a:rPr lang="en-US" altLang="zh-CN" sz="2400"/>
              <a:t>(3)</a:t>
            </a:r>
            <a:r>
              <a:rPr lang="zh-CN" altLang="en-US" sz="2400"/>
              <a:t>，</a:t>
            </a:r>
            <a:r>
              <a:rPr lang="en-US" altLang="zh-CN" sz="2400"/>
              <a:t>(≐)</a:t>
            </a:r>
            <a:r>
              <a:rPr lang="zh-CN" altLang="en-US" sz="2400"/>
              <a:t>（规则</a:t>
            </a:r>
            <a:r>
              <a:rPr lang="en-US" altLang="zh-CN" sz="2400"/>
              <a:t>1</a:t>
            </a:r>
            <a:r>
              <a:rPr lang="zh-CN" altLang="en-US" sz="2400"/>
              <a:t>）</a:t>
            </a:r>
          </a:p>
          <a:p>
            <a:pPr marL="857250" lvl="1" eaLnBrk="1" hangingPunct="1"/>
            <a:r>
              <a:rPr kumimoji="0" lang="en-US" altLang="zh-CN" sz="2400"/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E </a:t>
            </a:r>
            <a:r>
              <a:rPr kumimoji="0" lang="en-US" altLang="zh-CN" sz="2400">
                <a:solidFill>
                  <a:schemeClr val="hlink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olidFill>
                  <a:srgbClr val="009900"/>
                </a:solidFill>
                <a:sym typeface="Symbol" panose="05050102010706020507" pitchFamily="18" charset="2"/>
              </a:rPr>
              <a:t>T</a:t>
            </a:r>
            <a:r>
              <a:rPr kumimoji="0" lang="zh-CN" altLang="en-US" sz="2400">
                <a:sym typeface="Symbol" panose="05050102010706020507" pitchFamily="18" charset="2"/>
              </a:rPr>
              <a:t>，</a:t>
            </a:r>
            <a:r>
              <a:rPr kumimoji="0" lang="en-US" altLang="zh-CN" sz="2400">
                <a:solidFill>
                  <a:srgbClr val="009900"/>
                </a:solidFill>
                <a:sym typeface="Symbol" panose="05050102010706020507" pitchFamily="18" charset="2"/>
              </a:rPr>
              <a:t>T</a:t>
            </a:r>
            <a:r>
              <a:rPr kumimoji="0" lang="en-US" altLang="zh-CN" sz="2400">
                <a:sym typeface="Symbol" panose="05050102010706020507" pitchFamily="18" charset="2"/>
              </a:rPr>
              <a:t>  T </a:t>
            </a:r>
            <a:r>
              <a:rPr kumimoji="0" lang="en-US" altLang="zh-CN" sz="2400">
                <a:solidFill>
                  <a:srgbClr val="800000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>
                <a:sym typeface="Symbol" panose="05050102010706020507" pitchFamily="18" charset="2"/>
              </a:rPr>
              <a:t> F</a:t>
            </a:r>
            <a:r>
              <a:rPr kumimoji="0" lang="zh-CN" altLang="en-US" sz="2400">
                <a:sym typeface="Symbol" panose="05050102010706020507" pitchFamily="18" charset="2"/>
              </a:rPr>
              <a:t>，</a:t>
            </a:r>
            <a:r>
              <a:rPr lang="en-US" altLang="zh-CN" sz="2400">
                <a:solidFill>
                  <a:schemeClr val="hlink"/>
                </a:solidFill>
              </a:rPr>
              <a:t>+</a:t>
            </a:r>
            <a:r>
              <a:rPr lang="en-US" altLang="zh-CN" sz="2400"/>
              <a:t> ⋖ </a:t>
            </a:r>
            <a:r>
              <a:rPr lang="en-US" altLang="zh-CN" sz="2400">
                <a:solidFill>
                  <a:srgbClr val="800000"/>
                </a:solidFill>
              </a:rPr>
              <a:t>*</a:t>
            </a:r>
            <a:r>
              <a:rPr lang="zh-CN" altLang="en-US" sz="2400"/>
              <a:t>（规则</a:t>
            </a:r>
            <a:r>
              <a:rPr lang="en-US" altLang="zh-CN" sz="2400"/>
              <a:t>2</a:t>
            </a:r>
            <a:r>
              <a:rPr lang="zh-CN" altLang="en-US" sz="2400"/>
              <a:t>）</a:t>
            </a:r>
          </a:p>
          <a:p>
            <a:pPr marL="857250" lvl="1" eaLnBrk="1" hangingPunct="1"/>
            <a:r>
              <a:rPr kumimoji="0" lang="en-US" altLang="zh-CN" sz="2400"/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</a:t>
            </a:r>
            <a:r>
              <a:rPr kumimoji="0" lang="en-US" altLang="zh-CN" sz="2400">
                <a:solidFill>
                  <a:srgbClr val="009900"/>
                </a:solidFill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olidFill>
                  <a:srgbClr val="800000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>
                <a:sym typeface="Symbol" panose="05050102010706020507" pitchFamily="18" charset="2"/>
              </a:rPr>
              <a:t> T</a:t>
            </a:r>
            <a:r>
              <a:rPr kumimoji="0" lang="zh-CN" altLang="en-US" sz="2400">
                <a:sym typeface="Symbol" panose="05050102010706020507" pitchFamily="18" charset="2"/>
              </a:rPr>
              <a:t>，</a:t>
            </a:r>
            <a:r>
              <a:rPr kumimoji="0" lang="en-US" altLang="zh-CN" sz="2400">
                <a:solidFill>
                  <a:srgbClr val="009900"/>
                </a:solidFill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  E </a:t>
            </a:r>
            <a:r>
              <a:rPr kumimoji="0" lang="en-US" altLang="zh-CN" sz="2400">
                <a:solidFill>
                  <a:schemeClr val="hlink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>
                <a:sym typeface="Symbol" panose="05050102010706020507" pitchFamily="18" charset="2"/>
              </a:rPr>
              <a:t> T</a:t>
            </a:r>
            <a:r>
              <a:rPr kumimoji="0" lang="zh-CN" altLang="en-US" sz="2400">
                <a:sym typeface="Symbol" panose="05050102010706020507" pitchFamily="18" charset="2"/>
              </a:rPr>
              <a:t>，</a:t>
            </a:r>
            <a:r>
              <a:rPr lang="en-US" altLang="zh-CN" sz="2400">
                <a:solidFill>
                  <a:schemeClr val="hlink"/>
                </a:solidFill>
              </a:rPr>
              <a:t>+</a:t>
            </a:r>
            <a:r>
              <a:rPr lang="en-US" altLang="zh-CN" sz="2400"/>
              <a:t> ⋗ </a:t>
            </a:r>
            <a:r>
              <a:rPr lang="en-US" altLang="zh-CN" sz="2400">
                <a:solidFill>
                  <a:srgbClr val="800000"/>
                </a:solidFill>
              </a:rPr>
              <a:t>+</a:t>
            </a:r>
            <a:r>
              <a:rPr lang="zh-CN" altLang="en-US" sz="2400"/>
              <a:t>（规则</a:t>
            </a:r>
            <a:r>
              <a:rPr lang="en-US" altLang="zh-CN" sz="2400"/>
              <a:t>3</a:t>
            </a:r>
            <a:r>
              <a:rPr lang="zh-CN" altLang="en-US" sz="2400"/>
              <a:t>）</a:t>
            </a:r>
          </a:p>
          <a:p>
            <a:pPr marL="857250" lvl="1" eaLnBrk="1" hangingPunct="1"/>
            <a:r>
              <a:rPr lang="en-US" altLang="zh-CN" sz="2400"/>
              <a:t>F</a:t>
            </a:r>
            <a:r>
              <a:rPr kumimoji="0" lang="en-US" altLang="zh-CN" sz="2400">
                <a:sym typeface="Symbol" panose="05050102010706020507" pitchFamily="18" charset="2"/>
              </a:rPr>
              <a:t>(E)</a:t>
            </a:r>
            <a:r>
              <a:rPr kumimoji="0" lang="zh-CN" altLang="en-US" sz="2400">
                <a:sym typeface="Symbol" panose="05050102010706020507" pitchFamily="18" charset="2"/>
              </a:rPr>
              <a:t>，</a:t>
            </a:r>
            <a:r>
              <a:rPr kumimoji="0" lang="en-US" altLang="zh-CN" sz="2400">
                <a:sym typeface="Symbol" panose="05050102010706020507" pitchFamily="18" charset="2"/>
              </a:rPr>
              <a:t>E  E + T</a:t>
            </a:r>
            <a:r>
              <a:rPr kumimoji="0" lang="zh-CN" altLang="en-US" sz="2400">
                <a:sym typeface="Symbol" panose="05050102010706020507" pitchFamily="18" charset="2"/>
              </a:rPr>
              <a:t>， </a:t>
            </a:r>
            <a:r>
              <a:rPr lang="en-US" altLang="zh-CN" sz="2400"/>
              <a:t>+ ⋗ )</a:t>
            </a:r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0111960C-351A-409E-81D1-DC7A91D1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870325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3333CC"/>
                </a:solidFill>
              </a:rPr>
              <a:t>+</a:t>
            </a:r>
          </a:p>
        </p:txBody>
      </p:sp>
      <p:sp>
        <p:nvSpPr>
          <p:cNvPr id="24581" name="Rectangle 5">
            <a:extLst>
              <a:ext uri="{FF2B5EF4-FFF2-40B4-BE49-F238E27FC236}">
                <a16:creationId xmlns:a16="http://schemas.microsoft.com/office/drawing/2014/main" id="{16F2060D-C271-47F3-B7DC-675C11CC7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2672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3333CC"/>
                </a:solidFill>
              </a:rPr>
              <a:t>+</a:t>
            </a:r>
          </a:p>
        </p:txBody>
      </p:sp>
      <p:sp>
        <p:nvSpPr>
          <p:cNvPr id="24582" name="Rectangle 6">
            <a:extLst>
              <a:ext uri="{FF2B5EF4-FFF2-40B4-BE49-F238E27FC236}">
                <a16:creationId xmlns:a16="http://schemas.microsoft.com/office/drawing/2014/main" id="{C50A1850-E5D2-4E1F-8D68-4AF95E6F2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47244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3333CC"/>
                </a:solidFill>
              </a:rPr>
              <a:t>+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6AE40DFC-9BCA-4A71-8E17-8A194E814B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4.6.1  </a:t>
            </a:r>
            <a:r>
              <a:rPr lang="zh-CN" altLang="en-US"/>
              <a:t>使用算符优先关系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89A47A05-81B6-4025-9237-A9384D291B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目的：确定最右句型的句柄的边界</a:t>
            </a:r>
          </a:p>
          <a:p>
            <a:pPr eaLnBrk="1" hangingPunct="1"/>
            <a:r>
              <a:rPr lang="zh-CN" altLang="en-US"/>
              <a:t>⋖</a:t>
            </a:r>
            <a:r>
              <a:rPr lang="en-US" altLang="zh-CN"/>
              <a:t>——</a:t>
            </a:r>
            <a:r>
              <a:rPr lang="zh-CN" altLang="en-US"/>
              <a:t>开始，≐</a:t>
            </a:r>
            <a:r>
              <a:rPr lang="en-US" altLang="zh-CN"/>
              <a:t>——</a:t>
            </a:r>
            <a:r>
              <a:rPr lang="zh-CN" altLang="en-US"/>
              <a:t>内部，⋗</a:t>
            </a:r>
            <a:r>
              <a:rPr lang="en-US" altLang="zh-CN"/>
              <a:t>——</a:t>
            </a:r>
            <a:r>
              <a:rPr lang="zh-CN" altLang="en-US"/>
              <a:t>结束</a:t>
            </a:r>
          </a:p>
          <a:p>
            <a:pPr eaLnBrk="1" hangingPunct="1"/>
            <a:r>
              <a:rPr lang="zh-CN" altLang="en-US"/>
              <a:t>产生式右部无连续</a:t>
            </a:r>
            <a:r>
              <a:rPr lang="en-US" altLang="zh-CN"/>
              <a:t>NT——</a:t>
            </a:r>
            <a:r>
              <a:rPr lang="zh-CN" altLang="en-US"/>
              <a:t>句型同样</a:t>
            </a:r>
          </a:p>
          <a:p>
            <a:pPr eaLnBrk="1" hangingPunct="1"/>
            <a:r>
              <a:rPr lang="zh-CN" altLang="en-US">
                <a:sym typeface="Symbol" panose="05050102010706020507" pitchFamily="18" charset="2"/>
              </a:rPr>
              <a:t></a:t>
            </a:r>
            <a:r>
              <a:rPr lang="en-US" altLang="zh-CN" baseline="-25000">
                <a:sym typeface="Symbol" panose="05050102010706020507" pitchFamily="18" charset="2"/>
              </a:rPr>
              <a:t>0</a:t>
            </a:r>
            <a:r>
              <a:rPr lang="en-US" altLang="zh-CN"/>
              <a:t>a</a:t>
            </a:r>
            <a:r>
              <a:rPr lang="en-US" altLang="zh-CN" baseline="-25000"/>
              <a:t>1</a:t>
            </a:r>
            <a:r>
              <a:rPr lang="en-US" altLang="zh-CN">
                <a:sym typeface="Symbol" panose="05050102010706020507" pitchFamily="18" charset="2"/>
              </a:rPr>
              <a:t></a:t>
            </a:r>
            <a:r>
              <a:rPr lang="en-US" altLang="zh-CN" baseline="-25000">
                <a:sym typeface="Symbol" panose="05050102010706020507" pitchFamily="18" charset="2"/>
              </a:rPr>
              <a:t>1</a:t>
            </a:r>
            <a:r>
              <a:rPr lang="en-US" altLang="zh-CN"/>
              <a:t>a</a:t>
            </a:r>
            <a:r>
              <a:rPr lang="en-US" altLang="zh-CN" baseline="-25000"/>
              <a:t>2</a:t>
            </a:r>
            <a:r>
              <a:rPr lang="en-US" altLang="zh-CN">
                <a:sym typeface="Symbol" panose="05050102010706020507" pitchFamily="18" charset="2"/>
              </a:rPr>
              <a:t>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 … </a:t>
            </a:r>
            <a:r>
              <a:rPr lang="en-US" altLang="zh-CN"/>
              <a:t>a</a:t>
            </a:r>
            <a:r>
              <a:rPr lang="en-US" altLang="zh-CN" baseline="-25000"/>
              <a:t>n</a:t>
            </a:r>
            <a:r>
              <a:rPr lang="en-US" altLang="zh-CN">
                <a:sym typeface="Symbol" panose="05050102010706020507" pitchFamily="18" charset="2"/>
              </a:rPr>
              <a:t></a:t>
            </a:r>
            <a:r>
              <a:rPr lang="en-US" altLang="zh-CN" baseline="-25000">
                <a:sym typeface="Symbol" panose="05050102010706020507" pitchFamily="18" charset="2"/>
              </a:rPr>
              <a:t>n</a:t>
            </a:r>
            <a:r>
              <a:rPr lang="zh-CN" altLang="en-US">
                <a:sym typeface="Symbol" panose="05050102010706020507" pitchFamily="18" charset="2"/>
              </a:rPr>
              <a:t>：</a:t>
            </a:r>
            <a:r>
              <a:rPr lang="en-US" altLang="zh-CN" baseline="-25000">
                <a:sym typeface="Symbol" panose="05050102010706020507" pitchFamily="18" charset="2"/>
              </a:rPr>
              <a:t>i</a:t>
            </a:r>
            <a:r>
              <a:rPr lang="zh-CN" altLang="en-US">
                <a:sym typeface="Symbol" panose="05050102010706020507" pitchFamily="18" charset="2"/>
              </a:rPr>
              <a:t>为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>
                <a:sym typeface="Symbol" panose="05050102010706020507" pitchFamily="18" charset="2"/>
              </a:rPr>
              <a:t>或单个非终结符，</a:t>
            </a:r>
            <a:r>
              <a:rPr lang="en-US" altLang="zh-CN"/>
              <a:t>a</a:t>
            </a:r>
            <a:r>
              <a:rPr lang="en-US" altLang="zh-CN" baseline="-25000"/>
              <a:t>i</a:t>
            </a:r>
            <a:r>
              <a:rPr lang="zh-CN" altLang="en-US"/>
              <a:t>为单个终结符</a:t>
            </a:r>
          </a:p>
          <a:p>
            <a:pPr eaLnBrk="1" hangingPunct="1"/>
            <a:r>
              <a:rPr lang="zh-CN" altLang="en-US"/>
              <a:t>去掉所有</a:t>
            </a:r>
            <a:r>
              <a:rPr lang="en-US" altLang="zh-CN"/>
              <a:t>NT</a:t>
            </a:r>
            <a:r>
              <a:rPr lang="zh-CN" altLang="en-US"/>
              <a:t>，在相邻</a:t>
            </a:r>
            <a:r>
              <a:rPr lang="en-US" altLang="zh-CN"/>
              <a:t>T</a:t>
            </a:r>
            <a:r>
              <a:rPr lang="zh-CN" altLang="en-US"/>
              <a:t>之间（包括</a:t>
            </a:r>
            <a:r>
              <a:rPr lang="en-US" altLang="zh-CN"/>
              <a:t>$</a:t>
            </a:r>
            <a:r>
              <a:rPr lang="zh-CN" altLang="en-US"/>
              <a:t>）填写算符优先关系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1693CA1C-3C86-468B-83AD-5DE5DA2391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使用算符优先关系（续）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A2509DE5-5802-494B-9EF2-35203B82EC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3581400"/>
            <a:ext cx="7772400" cy="1981200"/>
          </a:xfrm>
        </p:spPr>
        <p:txBody>
          <a:bodyPr/>
          <a:lstStyle/>
          <a:p>
            <a:pPr eaLnBrk="1" hangingPunct="1"/>
            <a:r>
              <a:rPr lang="en-US" altLang="zh-CN">
                <a:sym typeface="Symbol" panose="05050102010706020507" pitchFamily="18" charset="2"/>
              </a:rPr>
              <a:t>$</a:t>
            </a:r>
            <a:r>
              <a:rPr lang="en-US" altLang="zh-CN" b="1">
                <a:sym typeface="Symbol" panose="05050102010706020507" pitchFamily="18" charset="2"/>
              </a:rPr>
              <a:t>id</a:t>
            </a:r>
            <a:r>
              <a:rPr lang="en-US" altLang="zh-CN">
                <a:sym typeface="Symbol" panose="05050102010706020507" pitchFamily="18" charset="2"/>
              </a:rPr>
              <a:t>+</a:t>
            </a:r>
            <a:r>
              <a:rPr lang="en-US" altLang="zh-CN" b="1">
                <a:sym typeface="Symbol" panose="05050102010706020507" pitchFamily="18" charset="2"/>
              </a:rPr>
              <a:t>id</a:t>
            </a:r>
            <a:r>
              <a:rPr lang="en-US" altLang="zh-CN">
                <a:sym typeface="Symbol" panose="05050102010706020507" pitchFamily="18" charset="2"/>
              </a:rPr>
              <a:t>*</a:t>
            </a:r>
            <a:r>
              <a:rPr lang="en-US" altLang="zh-CN" b="1">
                <a:sym typeface="Symbol" panose="05050102010706020507" pitchFamily="18" charset="2"/>
              </a:rPr>
              <a:t>id</a:t>
            </a:r>
            <a:r>
              <a:rPr lang="en-US" altLang="zh-CN">
                <a:sym typeface="Symbol" panose="05050102010706020507" pitchFamily="18" charset="2"/>
              </a:rPr>
              <a:t>$</a:t>
            </a:r>
            <a:r>
              <a:rPr lang="en-US" altLang="zh-CN">
                <a:sym typeface="Wingdings" panose="05000000000000000000" pitchFamily="2" charset="2"/>
              </a:rPr>
              <a:t></a:t>
            </a:r>
            <a:r>
              <a:rPr lang="en-US" altLang="zh-CN">
                <a:sym typeface="Symbol" panose="05050102010706020507" pitchFamily="18" charset="2"/>
              </a:rPr>
              <a:t>$</a:t>
            </a:r>
            <a:r>
              <a:rPr lang="en-US" altLang="zh-CN"/>
              <a:t>⋖</a:t>
            </a:r>
            <a:r>
              <a:rPr lang="en-US" altLang="zh-CN" b="1">
                <a:sym typeface="Symbol" panose="05050102010706020507" pitchFamily="18" charset="2"/>
              </a:rPr>
              <a:t>id</a:t>
            </a:r>
            <a:r>
              <a:rPr lang="en-US" altLang="zh-CN"/>
              <a:t>⋗</a:t>
            </a:r>
            <a:r>
              <a:rPr lang="en-US" altLang="zh-CN">
                <a:sym typeface="Symbol" panose="05050102010706020507" pitchFamily="18" charset="2"/>
              </a:rPr>
              <a:t>+</a:t>
            </a:r>
            <a:r>
              <a:rPr lang="en-US" altLang="zh-CN"/>
              <a:t>⋖</a:t>
            </a:r>
            <a:r>
              <a:rPr lang="en-US" altLang="zh-CN" b="1">
                <a:sym typeface="Symbol" panose="05050102010706020507" pitchFamily="18" charset="2"/>
              </a:rPr>
              <a:t>id</a:t>
            </a:r>
            <a:r>
              <a:rPr lang="en-US" altLang="zh-CN"/>
              <a:t>⋗</a:t>
            </a:r>
            <a:r>
              <a:rPr lang="en-US" altLang="zh-CN">
                <a:sym typeface="Symbol" panose="05050102010706020507" pitchFamily="18" charset="2"/>
              </a:rPr>
              <a:t>*</a:t>
            </a:r>
            <a:r>
              <a:rPr lang="en-US" altLang="zh-CN"/>
              <a:t>⋖</a:t>
            </a:r>
            <a:r>
              <a:rPr lang="en-US" altLang="zh-CN" b="1">
                <a:sym typeface="Symbol" panose="05050102010706020507" pitchFamily="18" charset="2"/>
              </a:rPr>
              <a:t>id</a:t>
            </a:r>
            <a:r>
              <a:rPr lang="en-US" altLang="zh-CN"/>
              <a:t>⋗</a:t>
            </a:r>
            <a:r>
              <a:rPr lang="en-US" altLang="zh-CN">
                <a:sym typeface="Symbol" panose="05050102010706020507" pitchFamily="18" charset="2"/>
              </a:rPr>
              <a:t>$</a:t>
            </a:r>
          </a:p>
          <a:p>
            <a:pPr eaLnBrk="1" hangingPunct="1"/>
            <a:r>
              <a:rPr lang="en-US" altLang="zh-CN">
                <a:sym typeface="Symbol" panose="05050102010706020507" pitchFamily="18" charset="2"/>
              </a:rPr>
              <a:t>$E + E * E$</a:t>
            </a:r>
            <a:r>
              <a:rPr lang="en-US" altLang="zh-CN">
                <a:sym typeface="Wingdings" panose="05000000000000000000" pitchFamily="2" charset="2"/>
              </a:rPr>
              <a:t> </a:t>
            </a:r>
            <a:r>
              <a:rPr lang="en-US" altLang="zh-CN">
                <a:sym typeface="Symbol" panose="05050102010706020507" pitchFamily="18" charset="2"/>
              </a:rPr>
              <a:t>$</a:t>
            </a:r>
            <a:r>
              <a:rPr lang="en-US" altLang="zh-CN"/>
              <a:t>⋖ </a:t>
            </a:r>
            <a:r>
              <a:rPr lang="en-US" altLang="zh-CN">
                <a:sym typeface="Symbol" panose="05050102010706020507" pitchFamily="18" charset="2"/>
              </a:rPr>
              <a:t>+ </a:t>
            </a:r>
            <a:r>
              <a:rPr lang="en-US" altLang="zh-CN"/>
              <a:t>⋖ </a:t>
            </a:r>
            <a:r>
              <a:rPr lang="en-US" altLang="zh-CN">
                <a:sym typeface="Symbol" panose="05050102010706020507" pitchFamily="18" charset="2"/>
              </a:rPr>
              <a:t>* </a:t>
            </a:r>
            <a:r>
              <a:rPr lang="en-US" altLang="zh-CN"/>
              <a:t>⋗</a:t>
            </a:r>
            <a:r>
              <a:rPr lang="en-US" altLang="zh-CN">
                <a:sym typeface="Symbol" panose="05050102010706020507" pitchFamily="18" charset="2"/>
              </a:rPr>
              <a:t>$</a:t>
            </a:r>
          </a:p>
        </p:txBody>
      </p:sp>
      <p:sp>
        <p:nvSpPr>
          <p:cNvPr id="26628" name="Line 6">
            <a:extLst>
              <a:ext uri="{FF2B5EF4-FFF2-40B4-BE49-F238E27FC236}">
                <a16:creationId xmlns:a16="http://schemas.microsoft.com/office/drawing/2014/main" id="{272B63BD-CC83-4BF2-B860-3CF795B56BA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1828800"/>
            <a:ext cx="403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29" name="Line 9">
            <a:extLst>
              <a:ext uri="{FF2B5EF4-FFF2-40B4-BE49-F238E27FC236}">
                <a16:creationId xmlns:a16="http://schemas.microsoft.com/office/drawing/2014/main" id="{5A4AA4D4-BA22-4299-BE8F-D3A1F1D5CE9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1371600"/>
            <a:ext cx="0" cy="205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0" name="Text Box 10">
            <a:extLst>
              <a:ext uri="{FF2B5EF4-FFF2-40B4-BE49-F238E27FC236}">
                <a16:creationId xmlns:a16="http://schemas.microsoft.com/office/drawing/2014/main" id="{D2245DFB-95F1-4960-9163-1CF1E03503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752600"/>
            <a:ext cx="6096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/>
              <a:t>id</a:t>
            </a:r>
            <a:br>
              <a:rPr kumimoji="0" lang="en-US" altLang="zh-CN" sz="2800" b="1"/>
            </a:br>
            <a:r>
              <a:rPr kumimoji="0" lang="en-US" altLang="zh-CN" sz="2800"/>
              <a:t>+</a:t>
            </a:r>
            <a:br>
              <a:rPr kumimoji="0" lang="en-US" altLang="zh-CN" sz="2800"/>
            </a:br>
            <a:r>
              <a:rPr kumimoji="0" lang="en-US" altLang="zh-CN" sz="2800"/>
              <a:t>*</a:t>
            </a:r>
            <a:br>
              <a:rPr kumimoji="0" lang="en-US" altLang="zh-CN" sz="2800"/>
            </a:br>
            <a:r>
              <a:rPr kumimoji="0" lang="en-US" altLang="zh-CN" sz="2800"/>
              <a:t>$</a:t>
            </a:r>
            <a:endParaRPr kumimoji="0" lang="en-US" altLang="zh-CN" sz="2800" b="1"/>
          </a:p>
        </p:txBody>
      </p:sp>
      <p:sp>
        <p:nvSpPr>
          <p:cNvPr id="26631" name="Line 17">
            <a:extLst>
              <a:ext uri="{FF2B5EF4-FFF2-40B4-BE49-F238E27FC236}">
                <a16:creationId xmlns:a16="http://schemas.microsoft.com/office/drawing/2014/main" id="{F17F6477-ACC5-4650-AB32-9B1F16BDDBB0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1371600"/>
            <a:ext cx="0" cy="205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2" name="Text Box 18">
            <a:extLst>
              <a:ext uri="{FF2B5EF4-FFF2-40B4-BE49-F238E27FC236}">
                <a16:creationId xmlns:a16="http://schemas.microsoft.com/office/drawing/2014/main" id="{77ECCC77-7AA5-41EC-ADDB-BD932D05ED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1752600"/>
            <a:ext cx="6096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br>
              <a:rPr kumimoji="0" lang="en-US" altLang="zh-CN" sz="2800" b="1"/>
            </a:br>
            <a:r>
              <a:rPr kumimoji="0" lang="en-US" altLang="zh-CN" sz="2800" b="1"/>
              <a:t> </a:t>
            </a:r>
            <a:r>
              <a:rPr lang="en-US" altLang="zh-CN" sz="2800"/>
              <a:t>⋖</a:t>
            </a:r>
            <a:br>
              <a:rPr lang="en-US" altLang="zh-CN" sz="2800"/>
            </a:br>
            <a:r>
              <a:rPr lang="en-US" altLang="zh-CN" sz="2800"/>
              <a:t> ⋖</a:t>
            </a:r>
            <a:br>
              <a:rPr lang="en-US" altLang="zh-CN" sz="2800"/>
            </a:br>
            <a:r>
              <a:rPr lang="en-US" altLang="zh-CN" sz="2800"/>
              <a:t> ⋖</a:t>
            </a:r>
          </a:p>
        </p:txBody>
      </p:sp>
      <p:sp>
        <p:nvSpPr>
          <p:cNvPr id="26633" name="Text Box 19">
            <a:extLst>
              <a:ext uri="{FF2B5EF4-FFF2-40B4-BE49-F238E27FC236}">
                <a16:creationId xmlns:a16="http://schemas.microsoft.com/office/drawing/2014/main" id="{ADBBCED7-D642-4E94-93EA-0E1720EBA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13716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/>
              <a:t>id</a:t>
            </a:r>
          </a:p>
        </p:txBody>
      </p:sp>
      <p:sp>
        <p:nvSpPr>
          <p:cNvPr id="26634" name="Line 20">
            <a:extLst>
              <a:ext uri="{FF2B5EF4-FFF2-40B4-BE49-F238E27FC236}">
                <a16:creationId xmlns:a16="http://schemas.microsoft.com/office/drawing/2014/main" id="{B6F826AF-9AA9-40CB-A08F-8C71ABC4FF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1371600"/>
            <a:ext cx="0" cy="205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5" name="Text Box 21">
            <a:extLst>
              <a:ext uri="{FF2B5EF4-FFF2-40B4-BE49-F238E27FC236}">
                <a16:creationId xmlns:a16="http://schemas.microsoft.com/office/drawing/2014/main" id="{A9DB1074-12E5-4581-9661-1D33F137F9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1752600"/>
            <a:ext cx="6096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⋗</a:t>
            </a:r>
            <a:r>
              <a:rPr kumimoji="0" lang="en-US" altLang="zh-CN" sz="2800" b="1"/>
              <a:t> </a:t>
            </a:r>
            <a:r>
              <a:rPr lang="en-US" altLang="zh-CN" sz="2800"/>
              <a:t>⋗</a:t>
            </a:r>
            <a:br>
              <a:rPr lang="en-US" altLang="zh-CN" sz="2800"/>
            </a:br>
            <a:r>
              <a:rPr lang="en-US" altLang="zh-CN" sz="2800"/>
              <a:t>⋗ </a:t>
            </a:r>
            <a:br>
              <a:rPr lang="en-US" altLang="zh-CN" sz="2800"/>
            </a:br>
            <a:r>
              <a:rPr lang="en-US" altLang="zh-CN" sz="2800"/>
              <a:t>⋖</a:t>
            </a:r>
          </a:p>
        </p:txBody>
      </p:sp>
      <p:sp>
        <p:nvSpPr>
          <p:cNvPr id="26636" name="Text Box 22">
            <a:extLst>
              <a:ext uri="{FF2B5EF4-FFF2-40B4-BE49-F238E27FC236}">
                <a16:creationId xmlns:a16="http://schemas.microsoft.com/office/drawing/2014/main" id="{4DEF148E-7946-4178-A82F-0243A2789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13716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+</a:t>
            </a:r>
          </a:p>
        </p:txBody>
      </p:sp>
      <p:sp>
        <p:nvSpPr>
          <p:cNvPr id="26637" name="Line 23">
            <a:extLst>
              <a:ext uri="{FF2B5EF4-FFF2-40B4-BE49-F238E27FC236}">
                <a16:creationId xmlns:a16="http://schemas.microsoft.com/office/drawing/2014/main" id="{48DFABA0-9C7C-4052-A0A8-E024B1A2464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1371600"/>
            <a:ext cx="0" cy="205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8" name="Text Box 24">
            <a:extLst>
              <a:ext uri="{FF2B5EF4-FFF2-40B4-BE49-F238E27FC236}">
                <a16:creationId xmlns:a16="http://schemas.microsoft.com/office/drawing/2014/main" id="{3A3EA5A1-6A68-47A6-9364-869649E8C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1752600"/>
            <a:ext cx="6096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⋗</a:t>
            </a:r>
            <a:r>
              <a:rPr kumimoji="0" lang="en-US" altLang="zh-CN" sz="2800" b="1"/>
              <a:t> </a:t>
            </a:r>
            <a:r>
              <a:rPr lang="en-US" altLang="zh-CN" sz="2800"/>
              <a:t>⋖</a:t>
            </a:r>
            <a:br>
              <a:rPr lang="en-US" altLang="zh-CN" sz="2800"/>
            </a:br>
            <a:r>
              <a:rPr lang="en-US" altLang="zh-CN" sz="2800"/>
              <a:t>⋗ </a:t>
            </a:r>
            <a:br>
              <a:rPr lang="en-US" altLang="zh-CN" sz="2800"/>
            </a:br>
            <a:r>
              <a:rPr lang="en-US" altLang="zh-CN" sz="2800"/>
              <a:t>⋖</a:t>
            </a:r>
          </a:p>
        </p:txBody>
      </p:sp>
      <p:sp>
        <p:nvSpPr>
          <p:cNvPr id="26639" name="Text Box 25">
            <a:extLst>
              <a:ext uri="{FF2B5EF4-FFF2-40B4-BE49-F238E27FC236}">
                <a16:creationId xmlns:a16="http://schemas.microsoft.com/office/drawing/2014/main" id="{EDA5C6C0-71B3-4B92-90CE-24DCFE35B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13716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*</a:t>
            </a:r>
          </a:p>
        </p:txBody>
      </p:sp>
      <p:sp>
        <p:nvSpPr>
          <p:cNvPr id="26640" name="Text Box 26">
            <a:extLst>
              <a:ext uri="{FF2B5EF4-FFF2-40B4-BE49-F238E27FC236}">
                <a16:creationId xmlns:a16="http://schemas.microsoft.com/office/drawing/2014/main" id="{FF9360EB-C7EA-4611-A7EA-AB9923E8A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1752600"/>
            <a:ext cx="6096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⋗</a:t>
            </a:r>
            <a:r>
              <a:rPr kumimoji="0" lang="en-US" altLang="zh-CN" sz="2800" b="1"/>
              <a:t> </a:t>
            </a:r>
            <a:r>
              <a:rPr lang="en-US" altLang="zh-CN" sz="2800"/>
              <a:t>⋗</a:t>
            </a:r>
            <a:br>
              <a:rPr lang="en-US" altLang="zh-CN" sz="2800"/>
            </a:br>
            <a:r>
              <a:rPr lang="en-US" altLang="zh-CN" sz="2800"/>
              <a:t>⋗ </a:t>
            </a:r>
          </a:p>
        </p:txBody>
      </p:sp>
      <p:sp>
        <p:nvSpPr>
          <p:cNvPr id="26641" name="Text Box 27">
            <a:extLst>
              <a:ext uri="{FF2B5EF4-FFF2-40B4-BE49-F238E27FC236}">
                <a16:creationId xmlns:a16="http://schemas.microsoft.com/office/drawing/2014/main" id="{5311CB01-8D10-49BE-B89C-D161CC976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13716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$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34ADE621-B325-4A43-8884-0180AA67FA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寻找句柄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8E0D054D-2D30-4F51-82DB-588DA80365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>
                <a:sym typeface="Symbol" panose="05050102010706020507" pitchFamily="18" charset="2"/>
              </a:rPr>
              <a:t>由左至右扫描，寻找第一个</a:t>
            </a:r>
            <a:r>
              <a:rPr lang="zh-CN" altLang="en-US" sz="2800"/>
              <a:t>⋗</a:t>
            </a:r>
            <a:endParaRPr lang="zh-CN" altLang="en-US" sz="280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800">
                <a:sym typeface="Symbol" panose="05050102010706020507" pitchFamily="18" charset="2"/>
              </a:rPr>
              <a:t>向回（左）扫描，略过</a:t>
            </a:r>
            <a:r>
              <a:rPr lang="zh-CN" altLang="en-US" sz="2800"/>
              <a:t>≐，直至找到⋖</a:t>
            </a:r>
          </a:p>
          <a:p>
            <a:pPr eaLnBrk="1" hangingPunct="1"/>
            <a:r>
              <a:rPr lang="zh-CN" altLang="en-US" sz="2800"/>
              <a:t>⋖、⋗之间（不包含）的部分即为句柄</a:t>
            </a:r>
          </a:p>
          <a:p>
            <a:pPr eaLnBrk="1" hangingPunct="1"/>
            <a:r>
              <a:rPr lang="en-US" altLang="zh-CN" sz="2800">
                <a:sym typeface="Symbol" panose="05050102010706020507" pitchFamily="18" charset="2"/>
              </a:rPr>
              <a:t>$</a:t>
            </a:r>
            <a:r>
              <a:rPr lang="en-US" altLang="zh-CN" sz="2800" b="1">
                <a:solidFill>
                  <a:schemeClr val="hlink"/>
                </a:solidFill>
                <a:sym typeface="Symbol" panose="05050102010706020507" pitchFamily="18" charset="2"/>
              </a:rPr>
              <a:t>id</a:t>
            </a:r>
            <a:r>
              <a:rPr lang="en-US" altLang="zh-CN" sz="2800">
                <a:sym typeface="Symbol" panose="05050102010706020507" pitchFamily="18" charset="2"/>
              </a:rPr>
              <a:t>+</a:t>
            </a:r>
            <a:r>
              <a:rPr lang="en-US" altLang="zh-CN" sz="2800" b="1">
                <a:sym typeface="Symbol" panose="05050102010706020507" pitchFamily="18" charset="2"/>
              </a:rPr>
              <a:t>id</a:t>
            </a:r>
            <a:r>
              <a:rPr lang="en-US" altLang="zh-CN" sz="2800">
                <a:sym typeface="Symbol" panose="05050102010706020507" pitchFamily="18" charset="2"/>
              </a:rPr>
              <a:t>*</a:t>
            </a:r>
            <a:r>
              <a:rPr lang="en-US" altLang="zh-CN" sz="2800" b="1">
                <a:sym typeface="Symbol" panose="05050102010706020507" pitchFamily="18" charset="2"/>
              </a:rPr>
              <a:t>id</a:t>
            </a:r>
            <a:r>
              <a:rPr lang="en-US" altLang="zh-CN" sz="2800">
                <a:sym typeface="Symbol" panose="05050102010706020507" pitchFamily="18" charset="2"/>
              </a:rPr>
              <a:t>$</a:t>
            </a:r>
            <a:r>
              <a:rPr lang="en-US" altLang="zh-CN" sz="2800">
                <a:sym typeface="Wingdings" panose="05000000000000000000" pitchFamily="2" charset="2"/>
              </a:rPr>
              <a:t></a:t>
            </a:r>
            <a:r>
              <a:rPr lang="en-US" altLang="zh-CN" sz="2800">
                <a:sym typeface="Symbol" panose="05050102010706020507" pitchFamily="18" charset="2"/>
              </a:rPr>
              <a:t>$</a:t>
            </a:r>
            <a:r>
              <a:rPr lang="en-US" altLang="zh-CN" sz="2800"/>
              <a:t>⋖</a:t>
            </a:r>
            <a:r>
              <a:rPr lang="en-US" altLang="zh-CN" sz="2800" b="1">
                <a:solidFill>
                  <a:schemeClr val="hlink"/>
                </a:solidFill>
                <a:sym typeface="Symbol" panose="05050102010706020507" pitchFamily="18" charset="2"/>
              </a:rPr>
              <a:t>id</a:t>
            </a:r>
            <a:r>
              <a:rPr lang="en-US" altLang="zh-CN" sz="2800"/>
              <a:t>⋗</a:t>
            </a:r>
            <a:r>
              <a:rPr lang="en-US" altLang="zh-CN" sz="2800">
                <a:sym typeface="Symbol" panose="05050102010706020507" pitchFamily="18" charset="2"/>
              </a:rPr>
              <a:t>+</a:t>
            </a:r>
            <a:r>
              <a:rPr lang="en-US" altLang="zh-CN" sz="2800"/>
              <a:t>⋖</a:t>
            </a:r>
            <a:r>
              <a:rPr lang="en-US" altLang="zh-CN" sz="2800" b="1">
                <a:sym typeface="Symbol" panose="05050102010706020507" pitchFamily="18" charset="2"/>
              </a:rPr>
              <a:t>id</a:t>
            </a:r>
            <a:r>
              <a:rPr lang="en-US" altLang="zh-CN" sz="2800"/>
              <a:t>⋗</a:t>
            </a:r>
            <a:r>
              <a:rPr lang="en-US" altLang="zh-CN" sz="2800">
                <a:sym typeface="Symbol" panose="05050102010706020507" pitchFamily="18" charset="2"/>
              </a:rPr>
              <a:t>*</a:t>
            </a:r>
            <a:r>
              <a:rPr lang="en-US" altLang="zh-CN" sz="2800"/>
              <a:t>⋖</a:t>
            </a:r>
            <a:r>
              <a:rPr lang="en-US" altLang="zh-CN" sz="2800" b="1">
                <a:sym typeface="Symbol" panose="05050102010706020507" pitchFamily="18" charset="2"/>
              </a:rPr>
              <a:t>id</a:t>
            </a:r>
            <a:r>
              <a:rPr lang="en-US" altLang="zh-CN" sz="2800"/>
              <a:t>⋗</a:t>
            </a:r>
            <a:r>
              <a:rPr lang="en-US" altLang="zh-CN" sz="2800">
                <a:sym typeface="Symbol" panose="05050102010706020507" pitchFamily="18" charset="2"/>
              </a:rPr>
              <a:t>$—</a:t>
            </a:r>
            <a:r>
              <a:rPr lang="en-US" altLang="zh-CN" sz="2800" b="1">
                <a:solidFill>
                  <a:schemeClr val="hlink"/>
                </a:solidFill>
                <a:sym typeface="Symbol" panose="05050102010706020507" pitchFamily="18" charset="2"/>
              </a:rPr>
              <a:t>id</a:t>
            </a:r>
            <a:endParaRPr lang="en-US" altLang="zh-CN" sz="2800">
              <a:solidFill>
                <a:schemeClr val="hlink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>
                <a:sym typeface="Symbol" panose="05050102010706020507" pitchFamily="18" charset="2"/>
              </a:rPr>
              <a:t>$E + E * E$</a:t>
            </a:r>
            <a:r>
              <a:rPr lang="en-US" altLang="zh-CN" sz="2800">
                <a:sym typeface="Wingdings" panose="05000000000000000000" pitchFamily="2" charset="2"/>
              </a:rPr>
              <a:t> </a:t>
            </a:r>
            <a:r>
              <a:rPr lang="en-US" altLang="zh-CN" sz="2800">
                <a:sym typeface="Symbol" panose="05050102010706020507" pitchFamily="18" charset="2"/>
              </a:rPr>
              <a:t>$</a:t>
            </a:r>
            <a:r>
              <a:rPr lang="en-US" altLang="zh-CN" sz="2800"/>
              <a:t>⋖ </a:t>
            </a:r>
            <a:r>
              <a:rPr lang="en-US" altLang="zh-CN" sz="2800">
                <a:sym typeface="Symbol" panose="05050102010706020507" pitchFamily="18" charset="2"/>
              </a:rPr>
              <a:t>+ </a:t>
            </a:r>
            <a:r>
              <a:rPr lang="en-US" altLang="zh-CN" sz="2800"/>
              <a:t>⋖ </a:t>
            </a:r>
            <a:r>
              <a:rPr lang="en-US" altLang="zh-CN" sz="2800">
                <a:sym typeface="Symbol" panose="05050102010706020507" pitchFamily="18" charset="2"/>
              </a:rPr>
              <a:t>* </a:t>
            </a:r>
            <a:r>
              <a:rPr lang="en-US" altLang="zh-CN" sz="2800"/>
              <a:t>⋗</a:t>
            </a:r>
            <a:r>
              <a:rPr lang="en-US" altLang="zh-CN" sz="2800">
                <a:sym typeface="Symbol" panose="05050102010706020507" pitchFamily="18" charset="2"/>
              </a:rPr>
              <a:t>$—E * E</a:t>
            </a:r>
          </a:p>
          <a:p>
            <a:pPr eaLnBrk="1" hangingPunct="1"/>
            <a:r>
              <a:rPr lang="zh-CN" altLang="en-US" sz="2800">
                <a:sym typeface="Symbol" panose="05050102010706020507" pitchFamily="18" charset="2"/>
              </a:rPr>
              <a:t>非终结符</a:t>
            </a:r>
            <a:r>
              <a:rPr lang="en-US" altLang="zh-CN" sz="2800">
                <a:sym typeface="Symbol" panose="05050102010706020507" pitchFamily="18" charset="2"/>
              </a:rPr>
              <a:t>——</a:t>
            </a:r>
            <a:r>
              <a:rPr lang="zh-CN" altLang="en-US" sz="2800">
                <a:sym typeface="Symbol" panose="05050102010706020507" pitchFamily="18" charset="2"/>
              </a:rPr>
              <a:t>占位符</a:t>
            </a:r>
          </a:p>
          <a:p>
            <a:pPr eaLnBrk="1" hangingPunct="1"/>
            <a:r>
              <a:rPr lang="zh-CN" altLang="en-US" sz="2800">
                <a:sym typeface="Symbol" panose="05050102010706020507" pitchFamily="18" charset="2"/>
              </a:rPr>
              <a:t>使用栈实现非常容易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23BA3161-1B8A-48C6-BC44-61CB8EB581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4.5  </a:t>
            </a:r>
            <a:r>
              <a:rPr lang="zh-CN" altLang="en-US"/>
              <a:t>算符优先分析算法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0FC78412-B6C1-4FC4-ADB6-CD04350621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输入：一个输入串</a:t>
            </a:r>
            <a:r>
              <a:rPr lang="en-US" altLang="zh-CN" sz="2800" dirty="0"/>
              <a:t>w</a:t>
            </a:r>
            <a:r>
              <a:rPr lang="zh-CN" altLang="en-US" sz="2800" dirty="0"/>
              <a:t>和一个优先关系表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输出：如果</a:t>
            </a:r>
            <a:r>
              <a:rPr lang="en-US" altLang="zh-CN" sz="2800" dirty="0"/>
              <a:t>w</a:t>
            </a:r>
            <a:r>
              <a:rPr lang="zh-CN" altLang="en-US" sz="2800" dirty="0"/>
              <a:t>符合语法，生成语法树框架（所有内部节点表示为占位符）；否则，输出错误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方法：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设置</a:t>
            </a:r>
            <a:r>
              <a:rPr lang="en-US" altLang="zh-CN" sz="2400" dirty="0" err="1"/>
              <a:t>ip</a:t>
            </a:r>
            <a:r>
              <a:rPr lang="zh-CN" altLang="en-US" sz="2400" dirty="0"/>
              <a:t>指向</a:t>
            </a:r>
            <a:r>
              <a:rPr lang="en-US" altLang="zh-CN" sz="2400" dirty="0"/>
              <a:t>w$</a:t>
            </a:r>
            <a:r>
              <a:rPr lang="zh-CN" altLang="en-US" sz="2400" dirty="0"/>
              <a:t>的第一个符号</a:t>
            </a:r>
            <a:r>
              <a:rPr lang="en-US" altLang="zh-CN" sz="2400" dirty="0"/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/>
              <a:t>repeat forever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/>
              <a:t>	if</a:t>
            </a:r>
            <a:r>
              <a:rPr lang="en-US" altLang="zh-CN" sz="2400" dirty="0"/>
              <a:t> (</a:t>
            </a:r>
            <a:r>
              <a:rPr lang="zh-CN" altLang="en-US" sz="2400" dirty="0"/>
              <a:t>栈顶为</a:t>
            </a:r>
            <a:r>
              <a:rPr lang="en-US" altLang="zh-CN" sz="2400" dirty="0"/>
              <a:t>$</a:t>
            </a:r>
            <a:r>
              <a:rPr lang="zh-CN" altLang="en-US" sz="2400" dirty="0"/>
              <a:t>且</a:t>
            </a:r>
            <a:r>
              <a:rPr lang="en-US" altLang="zh-CN" sz="2400" dirty="0" err="1"/>
              <a:t>ip</a:t>
            </a:r>
            <a:r>
              <a:rPr lang="zh-CN" altLang="en-US" sz="2400" dirty="0"/>
              <a:t>指向</a:t>
            </a:r>
            <a:r>
              <a:rPr lang="en-US" altLang="zh-CN" sz="2400" dirty="0"/>
              <a:t>$)</a:t>
            </a:r>
            <a:endParaRPr lang="en-US" altLang="zh-CN" sz="24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/>
              <a:t>		return;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/>
              <a:t>	else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/>
              <a:t>		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90194FF1-5FF2-470F-A58F-F1711FABF5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4.5</a:t>
            </a:r>
            <a:r>
              <a:rPr lang="zh-CN" altLang="en-US"/>
              <a:t>（续）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FE75C0D7-0F7C-4D7A-8735-D87EA5FD12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/>
              <a:t>		</a:t>
            </a:r>
            <a:r>
              <a:rPr lang="zh-CN" altLang="en-US" sz="2400"/>
              <a:t>令</a:t>
            </a:r>
            <a:r>
              <a:rPr lang="en-US" altLang="zh-CN" sz="2400"/>
              <a:t>a</a:t>
            </a:r>
            <a:r>
              <a:rPr lang="zh-CN" altLang="en-US" sz="2400"/>
              <a:t>为最接近栈顶的终结符，</a:t>
            </a:r>
            <a:r>
              <a:rPr lang="en-US" altLang="zh-CN" sz="2400"/>
              <a:t>b</a:t>
            </a:r>
            <a:r>
              <a:rPr lang="zh-CN" altLang="en-US" sz="2400"/>
              <a:t>为</a:t>
            </a:r>
            <a:r>
              <a:rPr lang="en-US" altLang="zh-CN" sz="2400"/>
              <a:t>ip</a:t>
            </a:r>
            <a:r>
              <a:rPr lang="zh-CN" altLang="en-US" sz="2400"/>
              <a:t>指向符号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		</a:t>
            </a:r>
            <a:r>
              <a:rPr lang="en-US" altLang="zh-CN" sz="2400" b="1"/>
              <a:t>if </a:t>
            </a:r>
            <a:r>
              <a:rPr lang="en-US" altLang="zh-CN" sz="2400"/>
              <a:t>(a⋖b </a:t>
            </a:r>
            <a:r>
              <a:rPr lang="zh-CN" altLang="en-US" sz="2400"/>
              <a:t>或 </a:t>
            </a:r>
            <a:r>
              <a:rPr lang="en-US" altLang="zh-CN" sz="2400"/>
              <a:t>a≐b)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b</a:t>
            </a:r>
            <a:r>
              <a:rPr lang="zh-CN" altLang="en-US" sz="2400"/>
              <a:t>压栈</a:t>
            </a:r>
            <a:r>
              <a:rPr lang="en-US" altLang="zh-CN" sz="2400"/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ip</a:t>
            </a:r>
            <a:r>
              <a:rPr lang="zh-CN" altLang="en-US" sz="2400"/>
              <a:t>前移</a:t>
            </a:r>
            <a:r>
              <a:rPr lang="en-US" altLang="zh-CN" sz="2400"/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} </a:t>
            </a:r>
            <a:r>
              <a:rPr lang="en-US" altLang="zh-CN" sz="2400" b="1"/>
              <a:t>else if</a:t>
            </a:r>
            <a:r>
              <a:rPr lang="en-US" altLang="zh-CN" sz="2400"/>
              <a:t> (a⋗b)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</a:t>
            </a:r>
            <a:r>
              <a:rPr lang="en-US" altLang="zh-CN" sz="2400" b="1"/>
              <a:t>repeat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/>
              <a:t>				</a:t>
            </a:r>
            <a:r>
              <a:rPr lang="zh-CN" altLang="en-US" sz="2400"/>
              <a:t>栈中符号弹出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			</a:t>
            </a:r>
            <a:r>
              <a:rPr lang="en-US" altLang="zh-CN" sz="2400" b="1"/>
              <a:t>until </a:t>
            </a:r>
            <a:r>
              <a:rPr lang="zh-CN" altLang="en-US" sz="2400"/>
              <a:t>栈顶符号⋖刚刚弹出符号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		</a:t>
            </a:r>
            <a:r>
              <a:rPr lang="en-US" altLang="zh-CN" sz="2400"/>
              <a:t>} </a:t>
            </a:r>
            <a:r>
              <a:rPr lang="en-US" altLang="zh-CN" sz="2400" b="1"/>
              <a:t>else</a:t>
            </a:r>
            <a:r>
              <a:rPr lang="en-US" altLang="zh-CN" sz="2400"/>
              <a:t> error();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AB485693-EE3F-446E-83E8-80D0FC8D40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</a:p>
        </p:txBody>
      </p:sp>
      <p:sp>
        <p:nvSpPr>
          <p:cNvPr id="30723" name="Line 5">
            <a:extLst>
              <a:ext uri="{FF2B5EF4-FFF2-40B4-BE49-F238E27FC236}">
                <a16:creationId xmlns:a16="http://schemas.microsoft.com/office/drawing/2014/main" id="{C08C772C-3A04-4A05-A212-E46ABE0E6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371600"/>
            <a:ext cx="5181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4" name="Line 6">
            <a:extLst>
              <a:ext uri="{FF2B5EF4-FFF2-40B4-BE49-F238E27FC236}">
                <a16:creationId xmlns:a16="http://schemas.microsoft.com/office/drawing/2014/main" id="{44763306-50DF-42E5-AB60-6919652DF29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447800"/>
            <a:ext cx="5181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5" name="Line 7">
            <a:extLst>
              <a:ext uri="{FF2B5EF4-FFF2-40B4-BE49-F238E27FC236}">
                <a16:creationId xmlns:a16="http://schemas.microsoft.com/office/drawing/2014/main" id="{AACF2C43-D082-4412-9110-A6B78033BD2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752600"/>
            <a:ext cx="5181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6" name="Line 8">
            <a:extLst>
              <a:ext uri="{FF2B5EF4-FFF2-40B4-BE49-F238E27FC236}">
                <a16:creationId xmlns:a16="http://schemas.microsoft.com/office/drawing/2014/main" id="{FCA4FACD-70EF-436B-919B-409A50C86D9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6019800"/>
            <a:ext cx="5181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7" name="Line 9">
            <a:extLst>
              <a:ext uri="{FF2B5EF4-FFF2-40B4-BE49-F238E27FC236}">
                <a16:creationId xmlns:a16="http://schemas.microsoft.com/office/drawing/2014/main" id="{2A3660B4-182C-491E-91F8-E0351742C67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1447800"/>
            <a:ext cx="0" cy="4572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8" name="Line 10">
            <a:extLst>
              <a:ext uri="{FF2B5EF4-FFF2-40B4-BE49-F238E27FC236}">
                <a16:creationId xmlns:a16="http://schemas.microsoft.com/office/drawing/2014/main" id="{7A07E263-27C8-4E3B-A473-CB004B26E672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1447800"/>
            <a:ext cx="0" cy="4572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9" name="Text Box 12">
            <a:extLst>
              <a:ext uri="{FF2B5EF4-FFF2-40B4-BE49-F238E27FC236}">
                <a16:creationId xmlns:a16="http://schemas.microsoft.com/office/drawing/2014/main" id="{90B9E5BA-FA44-4346-A454-C5EED55E48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828800"/>
            <a:ext cx="1828800" cy="414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id + id *  id$ </a:t>
            </a:r>
          </a:p>
          <a:p>
            <a:pPr algn="r"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  + id * id$ </a:t>
            </a: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+ id * id$ </a:t>
            </a: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id * id$</a:t>
            </a: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* id$</a:t>
            </a: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* id$</a:t>
            </a: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id$</a:t>
            </a: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$</a:t>
            </a: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$</a:t>
            </a: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$</a:t>
            </a: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$</a:t>
            </a:r>
          </a:p>
        </p:txBody>
      </p:sp>
      <p:sp>
        <p:nvSpPr>
          <p:cNvPr id="30730" name="Text Box 13">
            <a:extLst>
              <a:ext uri="{FF2B5EF4-FFF2-40B4-BE49-F238E27FC236}">
                <a16:creationId xmlns:a16="http://schemas.microsoft.com/office/drawing/2014/main" id="{A9E193CF-B02D-4567-ACEF-0553665FAB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18288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400" b="1"/>
          </a:p>
        </p:txBody>
      </p:sp>
      <p:sp>
        <p:nvSpPr>
          <p:cNvPr id="30731" name="Text Box 14">
            <a:extLst>
              <a:ext uri="{FF2B5EF4-FFF2-40B4-BE49-F238E27FC236}">
                <a16:creationId xmlns:a16="http://schemas.microsoft.com/office/drawing/2014/main" id="{D33A4918-5EEE-4AAF-9711-FBF20BF92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3716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STACK</a:t>
            </a:r>
          </a:p>
        </p:txBody>
      </p:sp>
      <p:sp>
        <p:nvSpPr>
          <p:cNvPr id="30732" name="Text Box 15">
            <a:extLst>
              <a:ext uri="{FF2B5EF4-FFF2-40B4-BE49-F238E27FC236}">
                <a16:creationId xmlns:a16="http://schemas.microsoft.com/office/drawing/2014/main" id="{9C503C32-598E-47B0-8B23-4CF81DE51D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13716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INPUT</a:t>
            </a:r>
          </a:p>
        </p:txBody>
      </p:sp>
      <p:sp>
        <p:nvSpPr>
          <p:cNvPr id="30733" name="Text Box 16">
            <a:extLst>
              <a:ext uri="{FF2B5EF4-FFF2-40B4-BE49-F238E27FC236}">
                <a16:creationId xmlns:a16="http://schemas.microsoft.com/office/drawing/2014/main" id="{99FD68C5-C1C1-4185-AD17-436703005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13716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Remark</a:t>
            </a:r>
          </a:p>
        </p:txBody>
      </p:sp>
      <p:sp>
        <p:nvSpPr>
          <p:cNvPr id="30734" name="Text Box 18">
            <a:extLst>
              <a:ext uri="{FF2B5EF4-FFF2-40B4-BE49-F238E27FC236}">
                <a16:creationId xmlns:a16="http://schemas.microsoft.com/office/drawing/2014/main" id="{9F0A8CCE-B031-422E-AE8D-3A675F236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2133600"/>
            <a:ext cx="32004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 b="1">
                <a:solidFill>
                  <a:srgbClr val="3333CC"/>
                </a:solidFill>
                <a:latin typeface="Courier New" panose="02070309020205020404" pitchFamily="49" charset="0"/>
              </a:rPr>
              <a:t>一系列的弹出操作</a:t>
            </a:r>
            <a:br>
              <a:rPr kumimoji="0" lang="zh-CN" altLang="en-US" sz="2800" b="1">
                <a:solidFill>
                  <a:srgbClr val="3333CC"/>
                </a:solidFill>
                <a:latin typeface="Courier New" panose="02070309020205020404" pitchFamily="49" charset="0"/>
              </a:rPr>
            </a:br>
            <a:r>
              <a:rPr kumimoji="0" lang="en-US" altLang="zh-CN" sz="2800" b="1">
                <a:solidFill>
                  <a:srgbClr val="3333CC"/>
                </a:solidFill>
                <a:latin typeface="Courier New" panose="02070309020205020404" pitchFamily="49" charset="0"/>
              </a:rPr>
              <a:t>——</a:t>
            </a:r>
            <a:r>
              <a:rPr kumimoji="0" lang="zh-CN" altLang="en-US" sz="2800" b="1">
                <a:solidFill>
                  <a:srgbClr val="3333CC"/>
                </a:solidFill>
                <a:latin typeface="Courier New" panose="02070309020205020404" pitchFamily="49" charset="0"/>
              </a:rPr>
              <a:t>利用某个产生式进行归约</a:t>
            </a:r>
          </a:p>
        </p:txBody>
      </p:sp>
      <p:sp>
        <p:nvSpPr>
          <p:cNvPr id="30735" name="Text Box 19">
            <a:extLst>
              <a:ext uri="{FF2B5EF4-FFF2-40B4-BE49-F238E27FC236}">
                <a16:creationId xmlns:a16="http://schemas.microsoft.com/office/drawing/2014/main" id="{6822D2AB-0386-40A4-BDBC-BBDD8E5C65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828800"/>
            <a:ext cx="1828800" cy="414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 </a:t>
            </a:r>
            <a:r>
              <a:rPr lang="en-US" altLang="zh-CN" sz="2400"/>
              <a:t>⋖</a:t>
            </a:r>
            <a:r>
              <a:rPr kumimoji="0" lang="en-US" altLang="zh-CN" sz="2400" b="1"/>
              <a:t> </a:t>
            </a:r>
            <a:r>
              <a:rPr kumimoji="0" lang="en-US" altLang="zh-CN" sz="2400" b="1">
                <a:solidFill>
                  <a:schemeClr val="accent2"/>
                </a:solidFill>
              </a:rPr>
              <a:t>id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id </a:t>
            </a:r>
            <a:r>
              <a:rPr lang="en-US" altLang="zh-CN" sz="2400"/>
              <a:t>⋗</a:t>
            </a:r>
            <a:r>
              <a:rPr kumimoji="0" lang="en-US" altLang="zh-CN" sz="2400" b="1"/>
              <a:t> </a:t>
            </a:r>
            <a:r>
              <a:rPr kumimoji="0" lang="en-US" altLang="zh-CN" sz="2400" b="1">
                <a:solidFill>
                  <a:schemeClr val="accent2"/>
                </a:solidFill>
              </a:rPr>
              <a:t>+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</a:t>
            </a:r>
            <a:r>
              <a:rPr kumimoji="0" lang="en-US" altLang="zh-CN" sz="2400" b="1">
                <a:solidFill>
                  <a:schemeClr val="accent2"/>
                </a:solidFill>
              </a:rPr>
              <a:t> </a:t>
            </a:r>
            <a:r>
              <a:rPr lang="en-US" altLang="zh-CN" sz="2400"/>
              <a:t>⋖</a:t>
            </a:r>
            <a:r>
              <a:rPr kumimoji="0" lang="en-US" altLang="zh-CN" sz="2400" b="1"/>
              <a:t> </a:t>
            </a:r>
            <a:r>
              <a:rPr kumimoji="0" lang="en-US" altLang="zh-CN" sz="2400" b="1">
                <a:solidFill>
                  <a:schemeClr val="accent2"/>
                </a:solidFill>
              </a:rPr>
              <a:t>+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+ </a:t>
            </a:r>
            <a:r>
              <a:rPr lang="en-US" altLang="zh-CN" sz="2400"/>
              <a:t>⋖</a:t>
            </a:r>
            <a:r>
              <a:rPr kumimoji="0" lang="en-US" altLang="zh-CN" sz="2400" b="1"/>
              <a:t> </a:t>
            </a:r>
            <a:r>
              <a:rPr kumimoji="0" lang="en-US" altLang="zh-CN" sz="2400" b="1">
                <a:solidFill>
                  <a:schemeClr val="accent2"/>
                </a:solidFill>
              </a:rPr>
              <a:t>id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id </a:t>
            </a:r>
            <a:r>
              <a:rPr lang="en-US" altLang="zh-CN" sz="2400"/>
              <a:t>⋗</a:t>
            </a:r>
            <a:r>
              <a:rPr kumimoji="0" lang="en-US" altLang="zh-CN" sz="2400" b="1"/>
              <a:t> </a:t>
            </a:r>
            <a:r>
              <a:rPr kumimoji="0" lang="en-US" altLang="zh-CN" sz="2400" b="1">
                <a:solidFill>
                  <a:schemeClr val="accent2"/>
                </a:solidFill>
              </a:rPr>
              <a:t>*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+ </a:t>
            </a:r>
            <a:r>
              <a:rPr lang="en-US" altLang="zh-CN" sz="2400"/>
              <a:t>⋖</a:t>
            </a:r>
            <a:r>
              <a:rPr kumimoji="0" lang="en-US" altLang="zh-CN" sz="2400" b="1">
                <a:solidFill>
                  <a:schemeClr val="accent2"/>
                </a:solidFill>
              </a:rPr>
              <a:t> *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* </a:t>
            </a:r>
            <a:r>
              <a:rPr lang="en-US" altLang="zh-CN" sz="2400"/>
              <a:t>⋖</a:t>
            </a:r>
            <a:r>
              <a:rPr kumimoji="0" lang="en-US" altLang="zh-CN" sz="2400" b="1"/>
              <a:t> </a:t>
            </a:r>
            <a:r>
              <a:rPr kumimoji="0" lang="en-US" altLang="zh-CN" sz="2400" b="1">
                <a:solidFill>
                  <a:schemeClr val="accent2"/>
                </a:solidFill>
              </a:rPr>
              <a:t>id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id </a:t>
            </a:r>
            <a:r>
              <a:rPr lang="en-US" altLang="zh-CN" sz="2400"/>
              <a:t>⋗</a:t>
            </a:r>
            <a:r>
              <a:rPr kumimoji="0" lang="en-US" altLang="zh-CN" sz="2400" b="1"/>
              <a:t> $</a:t>
            </a:r>
            <a:endParaRPr kumimoji="0" lang="en-US" altLang="zh-CN" sz="2400" b="1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* </a:t>
            </a:r>
            <a:r>
              <a:rPr lang="en-US" altLang="zh-CN" sz="2400"/>
              <a:t>⋗</a:t>
            </a:r>
            <a:r>
              <a:rPr kumimoji="0" lang="en-US" altLang="zh-CN" sz="2400" b="1"/>
              <a:t> $</a:t>
            </a:r>
            <a:endParaRPr kumimoji="0" lang="en-US" altLang="zh-CN" sz="2400" b="1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olidFill>
                  <a:schemeClr val="accent2"/>
                </a:solidFill>
              </a:rPr>
              <a:t>+ </a:t>
            </a:r>
            <a:r>
              <a:rPr lang="en-US" altLang="zh-CN" sz="2400"/>
              <a:t>⋗</a:t>
            </a:r>
            <a:r>
              <a:rPr kumimoji="0" lang="en-US" altLang="zh-CN" sz="2400" b="1"/>
              <a:t> $</a:t>
            </a:r>
            <a:endParaRPr kumimoji="0" lang="en-US" altLang="zh-CN" sz="2400" b="1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accept</a:t>
            </a:r>
          </a:p>
        </p:txBody>
      </p:sp>
      <p:sp>
        <p:nvSpPr>
          <p:cNvPr id="30736" name="Text Box 20">
            <a:extLst>
              <a:ext uri="{FF2B5EF4-FFF2-40B4-BE49-F238E27FC236}">
                <a16:creationId xmlns:a16="http://schemas.microsoft.com/office/drawing/2014/main" id="{36DC3CC1-EB64-4290-B416-84E5D4D8D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828800"/>
            <a:ext cx="1371600" cy="414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</a:t>
            </a:r>
            <a:endParaRPr kumimoji="0" lang="en-US" altLang="zh-CN" sz="2400" b="1">
              <a:solidFill>
                <a:schemeClr val="accent2"/>
              </a:solidFill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 </a:t>
            </a:r>
            <a:r>
              <a:rPr kumimoji="0" lang="en-US" altLang="zh-CN" sz="2400" b="1">
                <a:solidFill>
                  <a:schemeClr val="accent2"/>
                </a:solidFill>
              </a:rPr>
              <a:t>id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</a:t>
            </a:r>
            <a:endParaRPr kumimoji="0" lang="en-US" altLang="zh-CN" sz="2400" b="1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 </a:t>
            </a:r>
            <a:r>
              <a:rPr kumimoji="0" lang="en-US" altLang="zh-CN" sz="2400" b="1">
                <a:solidFill>
                  <a:schemeClr val="accent2"/>
                </a:solidFill>
              </a:rPr>
              <a:t>+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 </a:t>
            </a:r>
            <a:r>
              <a:rPr kumimoji="0" lang="en-US" altLang="zh-CN" sz="2400" b="1">
                <a:solidFill>
                  <a:schemeClr val="accent2"/>
                </a:solidFill>
              </a:rPr>
              <a:t>+ id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 </a:t>
            </a:r>
            <a:r>
              <a:rPr kumimoji="0" lang="en-US" altLang="zh-CN" sz="2400" b="1">
                <a:solidFill>
                  <a:schemeClr val="accent2"/>
                </a:solidFill>
              </a:rPr>
              <a:t>+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 </a:t>
            </a:r>
            <a:r>
              <a:rPr kumimoji="0" lang="en-US" altLang="zh-CN" sz="2400" b="1">
                <a:solidFill>
                  <a:schemeClr val="accent2"/>
                </a:solidFill>
              </a:rPr>
              <a:t>+ *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 </a:t>
            </a:r>
            <a:r>
              <a:rPr kumimoji="0" lang="en-US" altLang="zh-CN" sz="2400" b="1">
                <a:solidFill>
                  <a:schemeClr val="accent2"/>
                </a:solidFill>
              </a:rPr>
              <a:t>+ * id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 </a:t>
            </a:r>
            <a:r>
              <a:rPr kumimoji="0" lang="en-US" altLang="zh-CN" sz="2400" b="1">
                <a:solidFill>
                  <a:schemeClr val="accent2"/>
                </a:solidFill>
              </a:rPr>
              <a:t>+ *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 </a:t>
            </a:r>
            <a:r>
              <a:rPr kumimoji="0" lang="en-US" altLang="zh-CN" sz="2400" b="1">
                <a:solidFill>
                  <a:schemeClr val="accent2"/>
                </a:solidFill>
              </a:rPr>
              <a:t>+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98550458-2611-4BB6-BA91-AE05CD10C6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4.6.2 </a:t>
            </a:r>
            <a:r>
              <a:rPr lang="zh-CN" altLang="en-US"/>
              <a:t>直接构造算符优先关系</a:t>
            </a:r>
            <a:r>
              <a:rPr lang="en-US" altLang="zh-CN"/>
              <a:t>(</a:t>
            </a:r>
            <a:r>
              <a:rPr lang="zh-CN" altLang="en-US"/>
              <a:t>表</a:t>
            </a:r>
            <a:r>
              <a:rPr lang="en-US" altLang="zh-CN"/>
              <a:t>)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44849E0B-4D4C-40AB-8493-E466C1F236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zh-CN" altLang="en-US" sz="2800" dirty="0"/>
              <a:t>在理解文法含义的前提下直接构造优先关系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dirty="0"/>
              <a:t>若</a:t>
            </a:r>
            <a:r>
              <a:rPr lang="en-US" altLang="zh-CN" sz="2800" dirty="0">
                <a:latin typeface="Symbol" panose="05050102010706020507" pitchFamily="18" charset="2"/>
              </a:rPr>
              <a:t>q</a:t>
            </a:r>
            <a:r>
              <a:rPr lang="en-US" altLang="zh-CN" sz="2800" baseline="-25000" dirty="0"/>
              <a:t>1</a:t>
            </a:r>
            <a:r>
              <a:rPr lang="zh-CN" altLang="en-US" sz="2800" dirty="0"/>
              <a:t>优先级高于</a:t>
            </a:r>
            <a:r>
              <a:rPr lang="en-US" altLang="zh-CN" sz="2800" dirty="0">
                <a:latin typeface="Symbol" panose="05050102010706020507" pitchFamily="18" charset="2"/>
              </a:rPr>
              <a:t>q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， </a:t>
            </a:r>
            <a:r>
              <a:rPr lang="en-US" altLang="zh-CN" sz="2800" dirty="0">
                <a:latin typeface="Symbol" panose="05050102010706020507" pitchFamily="18" charset="2"/>
              </a:rPr>
              <a:t>q</a:t>
            </a:r>
            <a:r>
              <a:rPr lang="en-US" altLang="zh-CN" sz="2800" baseline="-25000" dirty="0"/>
              <a:t>1</a:t>
            </a:r>
            <a:r>
              <a:rPr lang="en-US" altLang="zh-CN" sz="2800" dirty="0">
                <a:latin typeface="Lucida Sans Unicode" panose="020B0602030504020204" pitchFamily="34" charset="0"/>
              </a:rPr>
              <a:t>⋗</a:t>
            </a:r>
            <a:r>
              <a:rPr lang="en-US" altLang="zh-CN" sz="2800" dirty="0">
                <a:latin typeface="Symbol" panose="05050102010706020507" pitchFamily="18" charset="2"/>
              </a:rPr>
              <a:t>q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，</a:t>
            </a:r>
            <a:r>
              <a:rPr lang="en-US" altLang="zh-CN" sz="2800" dirty="0">
                <a:latin typeface="Symbol" panose="05050102010706020507" pitchFamily="18" charset="2"/>
              </a:rPr>
              <a:t>q</a:t>
            </a:r>
            <a:r>
              <a:rPr lang="en-US" altLang="zh-CN" sz="2800" baseline="-25000" dirty="0"/>
              <a:t>2</a:t>
            </a:r>
            <a:r>
              <a:rPr lang="en-US" altLang="zh-CN" sz="2800" dirty="0">
                <a:latin typeface="Lucida Sans Unicode" panose="020B0602030504020204" pitchFamily="34" charset="0"/>
              </a:rPr>
              <a:t>⋖</a:t>
            </a:r>
            <a:r>
              <a:rPr lang="en-US" altLang="zh-CN" sz="2800" dirty="0">
                <a:latin typeface="Symbol" panose="05050102010706020507" pitchFamily="18" charset="2"/>
              </a:rPr>
              <a:t>q</a:t>
            </a:r>
            <a:r>
              <a:rPr lang="en-US" altLang="zh-CN" sz="2800" baseline="-25000" dirty="0">
                <a:latin typeface="Symbol" panose="05050102010706020507" pitchFamily="18" charset="2"/>
              </a:rPr>
              <a:t>1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dirty="0"/>
              <a:t>若</a:t>
            </a:r>
            <a:r>
              <a:rPr lang="en-US" altLang="zh-CN" sz="2800" dirty="0">
                <a:latin typeface="Symbol" panose="05050102010706020507" pitchFamily="18" charset="2"/>
              </a:rPr>
              <a:t>q</a:t>
            </a:r>
            <a:r>
              <a:rPr lang="en-US" altLang="zh-CN" sz="2800" baseline="-25000" dirty="0"/>
              <a:t>1</a:t>
            </a:r>
            <a:r>
              <a:rPr lang="zh-CN" altLang="en-US" sz="2800" dirty="0"/>
              <a:t>优先级等于</a:t>
            </a:r>
            <a:r>
              <a:rPr lang="en-US" altLang="zh-CN" sz="2800" dirty="0">
                <a:latin typeface="Symbol" panose="05050102010706020507" pitchFamily="18" charset="2"/>
              </a:rPr>
              <a:t>q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（或相同的算符）， 若左结合，</a:t>
            </a:r>
            <a:r>
              <a:rPr lang="en-US" altLang="zh-CN" sz="2800" dirty="0">
                <a:latin typeface="Symbol" panose="05050102010706020507" pitchFamily="18" charset="2"/>
              </a:rPr>
              <a:t>q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⋗</a:t>
            </a:r>
            <a:r>
              <a:rPr lang="en-US" altLang="zh-CN" sz="2800" dirty="0">
                <a:latin typeface="Symbol" panose="05050102010706020507" pitchFamily="18" charset="2"/>
              </a:rPr>
              <a:t>q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，</a:t>
            </a:r>
            <a:r>
              <a:rPr lang="en-US" altLang="zh-CN" sz="2800" dirty="0">
                <a:latin typeface="Symbol" panose="05050102010706020507" pitchFamily="18" charset="2"/>
              </a:rPr>
              <a:t>q</a:t>
            </a:r>
            <a:r>
              <a:rPr lang="en-US" altLang="zh-CN" sz="2800" baseline="-25000" dirty="0"/>
              <a:t>2</a:t>
            </a:r>
            <a:r>
              <a:rPr lang="en-US" altLang="zh-CN" sz="2800" dirty="0">
                <a:latin typeface="Lucida Sans Unicode" panose="020B0602030504020204" pitchFamily="34" charset="0"/>
              </a:rPr>
              <a:t>⋗</a:t>
            </a:r>
            <a:r>
              <a:rPr lang="en-US" altLang="zh-CN" sz="2800" dirty="0">
                <a:latin typeface="Symbol" panose="05050102010706020507" pitchFamily="18" charset="2"/>
              </a:rPr>
              <a:t>q</a:t>
            </a:r>
            <a:r>
              <a:rPr lang="en-US" altLang="zh-CN" sz="2800" baseline="-25000" dirty="0">
                <a:latin typeface="Symbol" panose="05050102010706020507" pitchFamily="18" charset="2"/>
              </a:rPr>
              <a:t>1</a:t>
            </a:r>
            <a:r>
              <a:rPr lang="zh-CN" altLang="en-US" sz="2800" dirty="0">
                <a:latin typeface="Symbol" panose="05050102010706020507" pitchFamily="18" charset="2"/>
              </a:rPr>
              <a:t>，</a:t>
            </a:r>
            <a:br>
              <a:rPr lang="zh-CN" altLang="en-US" sz="2800" dirty="0">
                <a:latin typeface="Symbol" panose="05050102010706020507" pitchFamily="18" charset="2"/>
              </a:rPr>
            </a:br>
            <a:r>
              <a:rPr lang="zh-CN" altLang="en-US" sz="2800" dirty="0">
                <a:latin typeface="Symbol" panose="05050102010706020507" pitchFamily="18" charset="2"/>
              </a:rPr>
              <a:t>若右结合，</a:t>
            </a:r>
            <a:r>
              <a:rPr lang="en-US" altLang="zh-CN" sz="2800" dirty="0">
                <a:latin typeface="Symbol" panose="05050102010706020507" pitchFamily="18" charset="2"/>
              </a:rPr>
              <a:t>q</a:t>
            </a:r>
            <a:r>
              <a:rPr lang="en-US" altLang="zh-CN" sz="2800" baseline="-25000" dirty="0"/>
              <a:t>1</a:t>
            </a:r>
            <a:r>
              <a:rPr lang="en-US" altLang="zh-CN" sz="2800" dirty="0">
                <a:latin typeface="Lucida Sans Unicode" panose="020B0602030504020204" pitchFamily="34" charset="0"/>
              </a:rPr>
              <a:t>⋖</a:t>
            </a:r>
            <a:r>
              <a:rPr lang="en-US" altLang="zh-CN" sz="2800" dirty="0">
                <a:latin typeface="Symbol" panose="05050102010706020507" pitchFamily="18" charset="2"/>
              </a:rPr>
              <a:t>q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，</a:t>
            </a:r>
            <a:r>
              <a:rPr lang="en-US" altLang="zh-CN" sz="2800" dirty="0">
                <a:latin typeface="Symbol" panose="05050102010706020507" pitchFamily="18" charset="2"/>
              </a:rPr>
              <a:t>q</a:t>
            </a:r>
            <a:r>
              <a:rPr lang="en-US" altLang="zh-CN" sz="2800" baseline="-25000" dirty="0"/>
              <a:t>2</a:t>
            </a:r>
            <a:r>
              <a:rPr lang="en-US" altLang="zh-CN" sz="2800" dirty="0">
                <a:latin typeface="Lucida Sans Unicode" panose="020B0602030504020204" pitchFamily="34" charset="0"/>
              </a:rPr>
              <a:t>⋖</a:t>
            </a:r>
            <a:r>
              <a:rPr lang="en-US" altLang="zh-CN" sz="2800" dirty="0">
                <a:latin typeface="Symbol" panose="05050102010706020507" pitchFamily="18" charset="2"/>
              </a:rPr>
              <a:t>q</a:t>
            </a:r>
            <a:r>
              <a:rPr lang="en-US" altLang="zh-CN" sz="2800" baseline="-25000" dirty="0">
                <a:latin typeface="Symbol" panose="05050102010706020507" pitchFamily="18" charset="2"/>
              </a:rPr>
              <a:t>1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 dirty="0">
                <a:solidFill>
                  <a:schemeClr val="folHlink"/>
                </a:solidFill>
                <a:latin typeface="Symbol" panose="05050102010706020507" pitchFamily="18" charset="2"/>
              </a:rPr>
              <a:t>q</a:t>
            </a:r>
            <a:r>
              <a:rPr lang="en-US" altLang="zh-CN" sz="2800" dirty="0"/>
              <a:t>⋖</a:t>
            </a:r>
            <a:r>
              <a:rPr lang="en-US" altLang="zh-CN" sz="2800" dirty="0">
                <a:solidFill>
                  <a:schemeClr val="folHlink"/>
                </a:solidFill>
              </a:rPr>
              <a:t>(</a:t>
            </a:r>
            <a:r>
              <a:rPr lang="zh-CN" altLang="en-US" sz="2800" dirty="0"/>
              <a:t>，</a:t>
            </a:r>
            <a:r>
              <a:rPr lang="en-US" altLang="zh-CN" sz="2800" dirty="0">
                <a:solidFill>
                  <a:schemeClr val="folHlink"/>
                </a:solidFill>
              </a:rPr>
              <a:t>(</a:t>
            </a:r>
            <a:r>
              <a:rPr lang="en-US" altLang="zh-CN" sz="2800" dirty="0"/>
              <a:t>⋖</a:t>
            </a:r>
            <a:r>
              <a:rPr lang="en-US" altLang="zh-CN" sz="2800" dirty="0">
                <a:solidFill>
                  <a:schemeClr val="folHlink"/>
                </a:solidFill>
                <a:latin typeface="Symbol" panose="05050102010706020507" pitchFamily="18" charset="2"/>
              </a:rPr>
              <a:t>q</a:t>
            </a:r>
            <a:r>
              <a:rPr lang="zh-CN" altLang="en-US" sz="2800" dirty="0">
                <a:latin typeface="Symbol" panose="05050102010706020507" pitchFamily="18" charset="2"/>
              </a:rPr>
              <a:t>，</a:t>
            </a:r>
            <a:r>
              <a:rPr lang="en-US" altLang="zh-CN" sz="2800" dirty="0">
                <a:solidFill>
                  <a:schemeClr val="folHlink"/>
                </a:solidFill>
              </a:rPr>
              <a:t>)</a:t>
            </a:r>
            <a:r>
              <a:rPr lang="en-US" altLang="zh-CN" sz="2800" dirty="0">
                <a:latin typeface="Lucida Sans Unicode" panose="020B0602030504020204" pitchFamily="34" charset="0"/>
              </a:rPr>
              <a:t>⋗</a:t>
            </a:r>
            <a:r>
              <a:rPr lang="en-US" altLang="zh-CN" sz="2800" dirty="0">
                <a:solidFill>
                  <a:schemeClr val="folHlink"/>
                </a:solidFill>
                <a:latin typeface="Symbol" panose="05050102010706020507" pitchFamily="18" charset="2"/>
              </a:rPr>
              <a:t>q</a:t>
            </a:r>
            <a:r>
              <a:rPr lang="zh-CN" altLang="en-US" sz="2800" dirty="0">
                <a:latin typeface="Symbol" panose="05050102010706020507" pitchFamily="18" charset="2"/>
              </a:rPr>
              <a:t>，</a:t>
            </a:r>
            <a:r>
              <a:rPr lang="en-US" altLang="zh-CN" sz="2800" dirty="0">
                <a:solidFill>
                  <a:schemeClr val="folHlink"/>
                </a:solidFill>
                <a:latin typeface="Symbol" panose="05050102010706020507" pitchFamily="18" charset="2"/>
              </a:rPr>
              <a:t>q</a:t>
            </a:r>
            <a:r>
              <a:rPr lang="en-US" altLang="zh-CN" sz="2800" dirty="0">
                <a:latin typeface="Lucida Sans Unicode" panose="020B0602030504020204" pitchFamily="34" charset="0"/>
              </a:rPr>
              <a:t>⋗</a:t>
            </a:r>
            <a:r>
              <a:rPr lang="en-US" altLang="zh-CN" sz="2800" dirty="0">
                <a:solidFill>
                  <a:schemeClr val="folHlink"/>
                </a:solidFill>
              </a:rPr>
              <a:t>)</a:t>
            </a:r>
            <a:r>
              <a:rPr lang="zh-CN" altLang="en-US" sz="2800" dirty="0"/>
              <a:t>，</a:t>
            </a:r>
            <a:r>
              <a:rPr lang="en-US" altLang="zh-CN" sz="2800" dirty="0">
                <a:solidFill>
                  <a:schemeClr val="folHlink"/>
                </a:solidFill>
              </a:rPr>
              <a:t>(</a:t>
            </a:r>
            <a:r>
              <a:rPr lang="en-US" altLang="zh-CN" sz="2800" dirty="0"/>
              <a:t>≐</a:t>
            </a:r>
            <a:r>
              <a:rPr lang="en-US" altLang="zh-CN" sz="2800" dirty="0">
                <a:solidFill>
                  <a:schemeClr val="folHlink"/>
                </a:solidFill>
              </a:rPr>
              <a:t>)</a:t>
            </a:r>
            <a:r>
              <a:rPr lang="zh-CN" altLang="en-US" sz="2800" dirty="0"/>
              <a:t>，</a:t>
            </a:r>
            <a:r>
              <a:rPr lang="en-US" altLang="zh-CN" sz="2800" dirty="0">
                <a:solidFill>
                  <a:schemeClr val="folHlink"/>
                </a:solidFill>
              </a:rPr>
              <a:t>(</a:t>
            </a:r>
            <a:r>
              <a:rPr lang="en-US" altLang="zh-CN" sz="2800" dirty="0"/>
              <a:t>⋖</a:t>
            </a:r>
            <a:r>
              <a:rPr lang="en-US" altLang="zh-CN" sz="2800" dirty="0">
                <a:solidFill>
                  <a:schemeClr val="folHlink"/>
                </a:solidFill>
              </a:rPr>
              <a:t>(</a:t>
            </a:r>
            <a:r>
              <a:rPr lang="zh-CN" altLang="en-US" sz="2800" dirty="0"/>
              <a:t>，</a:t>
            </a:r>
            <a:r>
              <a:rPr lang="en-US" altLang="zh-CN" sz="2800" dirty="0">
                <a:solidFill>
                  <a:schemeClr val="folHlink"/>
                </a:solidFill>
              </a:rPr>
              <a:t>)</a:t>
            </a:r>
            <a:r>
              <a:rPr lang="en-US" altLang="zh-CN" sz="2800" dirty="0">
                <a:latin typeface="Lucida Sans Unicode" panose="020B0602030504020204" pitchFamily="34" charset="0"/>
              </a:rPr>
              <a:t>⋗</a:t>
            </a:r>
            <a:r>
              <a:rPr lang="en-US" altLang="zh-CN" sz="2800" dirty="0">
                <a:solidFill>
                  <a:schemeClr val="folHlink"/>
                </a:solidFill>
              </a:rPr>
              <a:t>)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 b="1" dirty="0"/>
              <a:t>id</a:t>
            </a:r>
            <a:r>
              <a:rPr lang="zh-CN" altLang="en-US" sz="2800" dirty="0"/>
              <a:t>的优先级高于任何其他符号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 dirty="0"/>
              <a:t>$</a:t>
            </a:r>
            <a:r>
              <a:rPr lang="zh-CN" altLang="en-US" sz="2800" dirty="0"/>
              <a:t>具有最低的优先级</a:t>
            </a:r>
            <a:endParaRPr lang="zh-CN" altLang="en-US" sz="2800"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E7D27240-3C9A-43BE-9A1F-0FE41857AA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4.28</a:t>
            </a:r>
          </a:p>
        </p:txBody>
      </p:sp>
      <p:grpSp>
        <p:nvGrpSpPr>
          <p:cNvPr id="32771" name="Group 41">
            <a:extLst>
              <a:ext uri="{FF2B5EF4-FFF2-40B4-BE49-F238E27FC236}">
                <a16:creationId xmlns:a16="http://schemas.microsoft.com/office/drawing/2014/main" id="{2C3072DA-C3F0-47F9-819F-C67273018AB4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447800"/>
            <a:ext cx="8534400" cy="3886200"/>
            <a:chOff x="336" y="912"/>
            <a:chExt cx="5376" cy="2720"/>
          </a:xfrm>
        </p:grpSpPr>
        <p:sp>
          <p:nvSpPr>
            <p:cNvPr id="32772" name="Line 4">
              <a:extLst>
                <a:ext uri="{FF2B5EF4-FFF2-40B4-BE49-F238E27FC236}">
                  <a16:creationId xmlns:a16="http://schemas.microsoft.com/office/drawing/2014/main" id="{4C0C5067-F12B-4127-BF92-4AE2E0442E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1200"/>
              <a:ext cx="52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73" name="Line 5">
              <a:extLst>
                <a:ext uri="{FF2B5EF4-FFF2-40B4-BE49-F238E27FC236}">
                  <a16:creationId xmlns:a16="http://schemas.microsoft.com/office/drawing/2014/main" id="{8CCDA0B9-39E3-4DC6-B7CE-E238016B35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912"/>
              <a:ext cx="0" cy="2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74" name="Text Box 6">
              <a:extLst>
                <a:ext uri="{FF2B5EF4-FFF2-40B4-BE49-F238E27FC236}">
                  <a16:creationId xmlns:a16="http://schemas.microsoft.com/office/drawing/2014/main" id="{E36E5BD4-1ACE-4B82-80E5-BB67A0C0C8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151"/>
              <a:ext cx="384" cy="2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1"/>
                <a:t>+</a:t>
              </a:r>
              <a:br>
                <a:rPr kumimoji="0" lang="en-US" altLang="zh-CN" sz="2400" b="1"/>
              </a:br>
              <a:r>
                <a:rPr kumimoji="0" lang="en-US" altLang="zh-CN" sz="2400" b="1"/>
                <a:t>-</a:t>
              </a:r>
              <a:br>
                <a:rPr kumimoji="0" lang="en-US" altLang="zh-CN" sz="2400" b="1"/>
              </a:br>
              <a:r>
                <a:rPr kumimoji="0" lang="en-US" altLang="zh-CN" sz="2400" b="1"/>
                <a:t>*</a:t>
              </a:r>
              <a:br>
                <a:rPr kumimoji="0" lang="en-US" altLang="zh-CN" sz="2400" b="1"/>
              </a:br>
              <a:r>
                <a:rPr kumimoji="0" lang="en-US" altLang="zh-CN" sz="2400" b="1"/>
                <a:t>/</a:t>
              </a:r>
              <a:br>
                <a:rPr kumimoji="0" lang="en-US" altLang="zh-CN" sz="2400" b="1"/>
              </a:br>
              <a:r>
                <a:rPr kumimoji="0" lang="en-US" altLang="zh-CN" sz="2400" b="1">
                  <a:latin typeface="宋体" panose="02010600030101010101" pitchFamily="2" charset="-122"/>
                </a:rPr>
                <a:t>↑</a:t>
              </a:r>
              <a:br>
                <a:rPr kumimoji="0" lang="en-US" altLang="zh-CN" sz="2400" b="1">
                  <a:latin typeface="宋体" panose="02010600030101010101" pitchFamily="2" charset="-122"/>
                </a:rPr>
              </a:br>
              <a:r>
                <a:rPr kumimoji="0" lang="en-US" altLang="zh-CN" sz="2400" b="1"/>
                <a:t>id</a:t>
              </a:r>
              <a:br>
                <a:rPr kumimoji="0" lang="en-US" altLang="zh-CN" sz="2400" b="1"/>
              </a:br>
              <a:r>
                <a:rPr kumimoji="0" lang="en-US" altLang="zh-CN" sz="2400" b="1"/>
                <a:t>(</a:t>
              </a:r>
              <a:br>
                <a:rPr kumimoji="0" lang="en-US" altLang="zh-CN" sz="2400" b="1"/>
              </a:br>
              <a:r>
                <a:rPr kumimoji="0" lang="en-US" altLang="zh-CN" sz="2400" b="1"/>
                <a:t>)</a:t>
              </a:r>
              <a:br>
                <a:rPr kumimoji="0" lang="en-US" altLang="zh-CN" sz="2400" b="1"/>
              </a:br>
              <a:r>
                <a:rPr kumimoji="0" lang="en-US" altLang="zh-CN" sz="2400" b="1"/>
                <a:t>$</a:t>
              </a:r>
            </a:p>
          </p:txBody>
        </p:sp>
        <p:sp>
          <p:nvSpPr>
            <p:cNvPr id="32775" name="Line 7">
              <a:extLst>
                <a:ext uri="{FF2B5EF4-FFF2-40B4-BE49-F238E27FC236}">
                  <a16:creationId xmlns:a16="http://schemas.microsoft.com/office/drawing/2014/main" id="{03C6F2DA-B18E-46C8-8098-3E26ADAA28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912"/>
              <a:ext cx="0" cy="2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76" name="Text Box 8">
              <a:extLst>
                <a:ext uri="{FF2B5EF4-FFF2-40B4-BE49-F238E27FC236}">
                  <a16:creationId xmlns:a16="http://schemas.microsoft.com/office/drawing/2014/main" id="{63A4F779-CC18-40BE-8585-E0F63062A0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151"/>
              <a:ext cx="384" cy="2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kumimoji="0" lang="en-US" altLang="zh-CN" sz="2400" b="1"/>
                <a:t> </a:t>
              </a: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⋖</a:t>
              </a:r>
              <a:br>
                <a:rPr lang="en-US" altLang="zh-CN" sz="2400"/>
              </a:br>
              <a:r>
                <a:rPr lang="en-US" altLang="zh-CN" sz="2400"/>
                <a:t> ⋗ </a:t>
              </a:r>
              <a:br>
                <a:rPr lang="en-US" altLang="zh-CN" sz="2400"/>
              </a:br>
              <a:r>
                <a:rPr lang="en-US" altLang="zh-CN" sz="2400"/>
                <a:t>⋖</a:t>
              </a:r>
            </a:p>
          </p:txBody>
        </p:sp>
        <p:sp>
          <p:nvSpPr>
            <p:cNvPr id="32777" name="Text Box 9">
              <a:extLst>
                <a:ext uri="{FF2B5EF4-FFF2-40B4-BE49-F238E27FC236}">
                  <a16:creationId xmlns:a16="http://schemas.microsoft.com/office/drawing/2014/main" id="{65A67B25-AEE2-419E-9735-2C08338690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912"/>
              <a:ext cx="384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1"/>
                <a:t>+</a:t>
              </a:r>
            </a:p>
          </p:txBody>
        </p:sp>
        <p:sp>
          <p:nvSpPr>
            <p:cNvPr id="32778" name="Line 10">
              <a:extLst>
                <a:ext uri="{FF2B5EF4-FFF2-40B4-BE49-F238E27FC236}">
                  <a16:creationId xmlns:a16="http://schemas.microsoft.com/office/drawing/2014/main" id="{5E23B6F1-D837-421F-9536-DD60EBDBFF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912"/>
              <a:ext cx="0" cy="2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79" name="Text Box 12">
              <a:extLst>
                <a:ext uri="{FF2B5EF4-FFF2-40B4-BE49-F238E27FC236}">
                  <a16:creationId xmlns:a16="http://schemas.microsoft.com/office/drawing/2014/main" id="{8FCFA40F-8F41-4D8F-BB7B-FB7628D9B3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912"/>
              <a:ext cx="384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1"/>
                <a:t>-</a:t>
              </a:r>
            </a:p>
          </p:txBody>
        </p:sp>
        <p:sp>
          <p:nvSpPr>
            <p:cNvPr id="32780" name="Line 13">
              <a:extLst>
                <a:ext uri="{FF2B5EF4-FFF2-40B4-BE49-F238E27FC236}">
                  <a16:creationId xmlns:a16="http://schemas.microsoft.com/office/drawing/2014/main" id="{EC7267C5-4337-4E44-92DE-1CC5159BFB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912"/>
              <a:ext cx="0" cy="2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1" name="Text Box 15">
              <a:extLst>
                <a:ext uri="{FF2B5EF4-FFF2-40B4-BE49-F238E27FC236}">
                  <a16:creationId xmlns:a16="http://schemas.microsoft.com/office/drawing/2014/main" id="{9DAEF344-8FCB-4BB2-889E-CF5732BC39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912"/>
              <a:ext cx="384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1"/>
                <a:t>*</a:t>
              </a:r>
            </a:p>
          </p:txBody>
        </p:sp>
        <p:sp>
          <p:nvSpPr>
            <p:cNvPr id="32782" name="Text Box 17">
              <a:extLst>
                <a:ext uri="{FF2B5EF4-FFF2-40B4-BE49-F238E27FC236}">
                  <a16:creationId xmlns:a16="http://schemas.microsoft.com/office/drawing/2014/main" id="{46A5BEB4-B9C7-4C4E-900F-E75BEDA41F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912"/>
              <a:ext cx="384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1"/>
                <a:t>/</a:t>
              </a:r>
            </a:p>
          </p:txBody>
        </p:sp>
        <p:sp>
          <p:nvSpPr>
            <p:cNvPr id="32783" name="Line 18">
              <a:extLst>
                <a:ext uri="{FF2B5EF4-FFF2-40B4-BE49-F238E27FC236}">
                  <a16:creationId xmlns:a16="http://schemas.microsoft.com/office/drawing/2014/main" id="{8BA8EE72-4EED-4969-A69D-A8C5742C43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912"/>
              <a:ext cx="0" cy="2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4" name="Line 19">
              <a:extLst>
                <a:ext uri="{FF2B5EF4-FFF2-40B4-BE49-F238E27FC236}">
                  <a16:creationId xmlns:a16="http://schemas.microsoft.com/office/drawing/2014/main" id="{640FA197-B21E-433B-A458-E76F257108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912"/>
              <a:ext cx="0" cy="2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5" name="Text Box 21">
              <a:extLst>
                <a:ext uri="{FF2B5EF4-FFF2-40B4-BE49-F238E27FC236}">
                  <a16:creationId xmlns:a16="http://schemas.microsoft.com/office/drawing/2014/main" id="{A73B48D8-376A-498F-92BF-AACF1A1AAA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912"/>
              <a:ext cx="384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1">
                  <a:latin typeface="宋体" panose="02010600030101010101" pitchFamily="2" charset="-122"/>
                </a:rPr>
                <a:t>↑</a:t>
              </a:r>
              <a:endParaRPr kumimoji="0" lang="en-US" altLang="zh-CN" sz="2400" b="1"/>
            </a:p>
          </p:txBody>
        </p:sp>
        <p:sp>
          <p:nvSpPr>
            <p:cNvPr id="32786" name="Line 22">
              <a:extLst>
                <a:ext uri="{FF2B5EF4-FFF2-40B4-BE49-F238E27FC236}">
                  <a16:creationId xmlns:a16="http://schemas.microsoft.com/office/drawing/2014/main" id="{80DD5746-9369-4A41-B315-BC57BB79CC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912"/>
              <a:ext cx="0" cy="2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7" name="Text Box 24">
              <a:extLst>
                <a:ext uri="{FF2B5EF4-FFF2-40B4-BE49-F238E27FC236}">
                  <a16:creationId xmlns:a16="http://schemas.microsoft.com/office/drawing/2014/main" id="{6A89C862-A8D6-4C7E-A858-BC743934EB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912"/>
              <a:ext cx="384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1"/>
                <a:t>id</a:t>
              </a:r>
            </a:p>
          </p:txBody>
        </p:sp>
        <p:sp>
          <p:nvSpPr>
            <p:cNvPr id="32788" name="Line 25">
              <a:extLst>
                <a:ext uri="{FF2B5EF4-FFF2-40B4-BE49-F238E27FC236}">
                  <a16:creationId xmlns:a16="http://schemas.microsoft.com/office/drawing/2014/main" id="{2749E163-9B2C-43E1-857E-ECAF44CE86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912"/>
              <a:ext cx="0" cy="2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9" name="Text Box 27">
              <a:extLst>
                <a:ext uri="{FF2B5EF4-FFF2-40B4-BE49-F238E27FC236}">
                  <a16:creationId xmlns:a16="http://schemas.microsoft.com/office/drawing/2014/main" id="{8E1C0604-9C2E-4558-9526-2907BF7E54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912"/>
              <a:ext cx="384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1"/>
                <a:t>(</a:t>
              </a:r>
            </a:p>
          </p:txBody>
        </p:sp>
        <p:sp>
          <p:nvSpPr>
            <p:cNvPr id="32790" name="Text Box 29">
              <a:extLst>
                <a:ext uri="{FF2B5EF4-FFF2-40B4-BE49-F238E27FC236}">
                  <a16:creationId xmlns:a16="http://schemas.microsoft.com/office/drawing/2014/main" id="{64A6429E-4F98-4E72-8573-0568315C0A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912"/>
              <a:ext cx="384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1"/>
                <a:t>)</a:t>
              </a:r>
            </a:p>
          </p:txBody>
        </p:sp>
        <p:sp>
          <p:nvSpPr>
            <p:cNvPr id="32791" name="Line 30">
              <a:extLst>
                <a:ext uri="{FF2B5EF4-FFF2-40B4-BE49-F238E27FC236}">
                  <a16:creationId xmlns:a16="http://schemas.microsoft.com/office/drawing/2014/main" id="{E84BC2FC-A78A-401F-8B28-E68D8F8FF7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2" y="912"/>
              <a:ext cx="0" cy="2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2" name="Text Box 32">
              <a:extLst>
                <a:ext uri="{FF2B5EF4-FFF2-40B4-BE49-F238E27FC236}">
                  <a16:creationId xmlns:a16="http://schemas.microsoft.com/office/drawing/2014/main" id="{DA0EE4EF-65C7-4923-A5F3-3954E40BDE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912"/>
              <a:ext cx="384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1"/>
                <a:t>$</a:t>
              </a:r>
            </a:p>
          </p:txBody>
        </p:sp>
        <p:sp>
          <p:nvSpPr>
            <p:cNvPr id="32793" name="Text Box 33">
              <a:extLst>
                <a:ext uri="{FF2B5EF4-FFF2-40B4-BE49-F238E27FC236}">
                  <a16:creationId xmlns:a16="http://schemas.microsoft.com/office/drawing/2014/main" id="{06FF0B22-39B9-4B56-8060-0853F58D51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151"/>
              <a:ext cx="384" cy="2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kumimoji="0" lang="en-US" altLang="zh-CN" sz="2400" b="1"/>
                <a:t> </a:t>
              </a: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⋖</a:t>
              </a:r>
              <a:br>
                <a:rPr lang="en-US" altLang="zh-CN" sz="2400"/>
              </a:br>
              <a:r>
                <a:rPr lang="en-US" altLang="zh-CN" sz="2400"/>
                <a:t> ⋗ </a:t>
              </a:r>
              <a:br>
                <a:rPr lang="en-US" altLang="zh-CN" sz="2400"/>
              </a:br>
              <a:r>
                <a:rPr lang="en-US" altLang="zh-CN" sz="2400"/>
                <a:t>⋖</a:t>
              </a:r>
            </a:p>
          </p:txBody>
        </p:sp>
        <p:sp>
          <p:nvSpPr>
            <p:cNvPr id="32794" name="Text Box 34">
              <a:extLst>
                <a:ext uri="{FF2B5EF4-FFF2-40B4-BE49-F238E27FC236}">
                  <a16:creationId xmlns:a16="http://schemas.microsoft.com/office/drawing/2014/main" id="{CD5891A6-378E-4746-8032-BD9CEB7C7C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1151"/>
              <a:ext cx="384" cy="2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⋖</a:t>
              </a:r>
              <a:br>
                <a:rPr lang="en-US" altLang="zh-CN" sz="2400"/>
              </a:br>
              <a:r>
                <a:rPr kumimoji="0" lang="en-US" altLang="zh-CN" sz="2400" b="1"/>
                <a:t> </a:t>
              </a:r>
              <a:r>
                <a:rPr lang="en-US" altLang="zh-CN" sz="2400"/>
                <a:t>⋖ 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⋖</a:t>
              </a:r>
              <a:br>
                <a:rPr lang="en-US" altLang="zh-CN" sz="2400"/>
              </a:br>
              <a:r>
                <a:rPr lang="en-US" altLang="zh-CN" sz="2400"/>
                <a:t> ⋗ </a:t>
              </a:r>
              <a:br>
                <a:rPr lang="en-US" altLang="zh-CN" sz="2400"/>
              </a:br>
              <a:r>
                <a:rPr lang="en-US" altLang="zh-CN" sz="2400"/>
                <a:t>⋖</a:t>
              </a:r>
            </a:p>
          </p:txBody>
        </p:sp>
        <p:sp>
          <p:nvSpPr>
            <p:cNvPr id="32795" name="Text Box 35">
              <a:extLst>
                <a:ext uri="{FF2B5EF4-FFF2-40B4-BE49-F238E27FC236}">
                  <a16:creationId xmlns:a16="http://schemas.microsoft.com/office/drawing/2014/main" id="{DCD844C2-16A0-4B17-9FB6-AB6ECB26D9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1151"/>
              <a:ext cx="384" cy="2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⋖</a:t>
              </a:r>
              <a:r>
                <a:rPr kumimoji="0" lang="en-US" altLang="zh-CN" sz="2400" b="1"/>
                <a:t> </a:t>
              </a:r>
              <a:br>
                <a:rPr kumimoji="0" lang="en-US" altLang="zh-CN" sz="2400" b="1"/>
              </a:br>
              <a:r>
                <a:rPr lang="en-US" altLang="zh-CN" sz="2400"/>
                <a:t>⋖</a:t>
              </a:r>
              <a:br>
                <a:rPr lang="en-US" altLang="zh-CN" sz="2400"/>
              </a:br>
              <a:r>
                <a:rPr lang="en-US" altLang="zh-CN" sz="2400"/>
                <a:t> ⋖</a:t>
              </a:r>
              <a:r>
                <a:rPr kumimoji="0" lang="en-US" altLang="zh-CN" sz="2400" b="1"/>
                <a:t> </a:t>
              </a:r>
              <a:r>
                <a:rPr lang="en-US" altLang="zh-CN" sz="2400"/>
                <a:t>⋖</a:t>
              </a:r>
              <a:br>
                <a:rPr lang="en-US" altLang="zh-CN" sz="2400"/>
              </a:br>
              <a:r>
                <a:rPr lang="en-US" altLang="zh-CN" sz="2400"/>
                <a:t> ⋖ 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⋖</a:t>
              </a:r>
              <a:br>
                <a:rPr lang="en-US" altLang="zh-CN" sz="2400"/>
              </a:br>
              <a:r>
                <a:rPr lang="en-US" altLang="zh-CN" sz="2400"/>
                <a:t> ⋗ </a:t>
              </a:r>
              <a:br>
                <a:rPr lang="en-US" altLang="zh-CN" sz="2400"/>
              </a:br>
              <a:r>
                <a:rPr lang="en-US" altLang="zh-CN" sz="2400"/>
                <a:t>⋖</a:t>
              </a:r>
            </a:p>
          </p:txBody>
        </p:sp>
        <p:sp>
          <p:nvSpPr>
            <p:cNvPr id="32796" name="Text Box 36">
              <a:extLst>
                <a:ext uri="{FF2B5EF4-FFF2-40B4-BE49-F238E27FC236}">
                  <a16:creationId xmlns:a16="http://schemas.microsoft.com/office/drawing/2014/main" id="{EB1893B4-2B01-4187-8FD5-F3840B803C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151"/>
              <a:ext cx="384" cy="2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⋖</a:t>
              </a:r>
              <a:br>
                <a:rPr lang="en-US" altLang="zh-CN" sz="2400"/>
              </a:br>
              <a:r>
                <a:rPr kumimoji="0" lang="en-US" altLang="zh-CN" sz="2400" b="1"/>
                <a:t> </a:t>
              </a:r>
              <a:r>
                <a:rPr lang="en-US" altLang="zh-CN" sz="2400"/>
                <a:t>⋖ 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⋖</a:t>
              </a:r>
              <a:br>
                <a:rPr lang="en-US" altLang="zh-CN" sz="2400"/>
              </a:br>
              <a:r>
                <a:rPr lang="en-US" altLang="zh-CN" sz="2400"/>
                <a:t> ⋗ </a:t>
              </a:r>
              <a:br>
                <a:rPr lang="en-US" altLang="zh-CN" sz="2400"/>
              </a:br>
              <a:r>
                <a:rPr lang="en-US" altLang="zh-CN" sz="2400"/>
                <a:t>⋖</a:t>
              </a:r>
            </a:p>
          </p:txBody>
        </p:sp>
        <p:sp>
          <p:nvSpPr>
            <p:cNvPr id="32797" name="Text Box 37">
              <a:extLst>
                <a:ext uri="{FF2B5EF4-FFF2-40B4-BE49-F238E27FC236}">
                  <a16:creationId xmlns:a16="http://schemas.microsoft.com/office/drawing/2014/main" id="{AE3A9316-3D8E-401B-A62D-92E8CC7E66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1151"/>
              <a:ext cx="384" cy="2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⋖</a:t>
              </a:r>
              <a:r>
                <a:rPr kumimoji="0" lang="en-US" altLang="zh-CN" sz="2400" b="1"/>
                <a:t> </a:t>
              </a:r>
              <a:br>
                <a:rPr kumimoji="0" lang="en-US" altLang="zh-CN" sz="2400" b="1"/>
              </a:br>
              <a:r>
                <a:rPr lang="en-US" altLang="zh-CN" sz="2400"/>
                <a:t>⋖</a:t>
              </a:r>
              <a:br>
                <a:rPr lang="en-US" altLang="zh-CN" sz="2400"/>
              </a:br>
              <a:r>
                <a:rPr lang="en-US" altLang="zh-CN" sz="2400"/>
                <a:t> ⋖</a:t>
              </a:r>
              <a:r>
                <a:rPr kumimoji="0" lang="en-US" altLang="zh-CN" sz="2400" b="1"/>
                <a:t> </a:t>
              </a:r>
              <a:r>
                <a:rPr lang="en-US" altLang="zh-CN" sz="2400"/>
                <a:t>⋖</a:t>
              </a:r>
              <a:br>
                <a:rPr lang="en-US" altLang="zh-CN" sz="2400"/>
              </a:br>
              <a:r>
                <a:rPr lang="en-US" altLang="zh-CN" sz="2400"/>
                <a:t> ⋖ </a:t>
              </a:r>
              <a:br>
                <a:rPr lang="en-US" altLang="zh-CN" sz="2400"/>
              </a:br>
              <a:br>
                <a:rPr lang="en-US" altLang="zh-CN" sz="2400"/>
              </a:br>
              <a:r>
                <a:rPr lang="en-US" altLang="zh-CN" sz="2400"/>
                <a:t>⋖</a:t>
              </a:r>
              <a:br>
                <a:rPr lang="en-US" altLang="zh-CN" sz="2400"/>
              </a:br>
              <a:r>
                <a:rPr lang="en-US" altLang="zh-CN" sz="2400"/>
                <a:t> </a:t>
              </a:r>
              <a:br>
                <a:rPr lang="en-US" altLang="zh-CN" sz="2400"/>
              </a:br>
              <a:r>
                <a:rPr lang="en-US" altLang="zh-CN" sz="2400"/>
                <a:t> ⋖</a:t>
              </a:r>
            </a:p>
          </p:txBody>
        </p:sp>
        <p:sp>
          <p:nvSpPr>
            <p:cNvPr id="32798" name="Text Box 38">
              <a:extLst>
                <a:ext uri="{FF2B5EF4-FFF2-40B4-BE49-F238E27FC236}">
                  <a16:creationId xmlns:a16="http://schemas.microsoft.com/office/drawing/2014/main" id="{EA4A641B-54B1-4890-9BE4-9B62E4BCA0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1151"/>
              <a:ext cx="384" cy="2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⋖</a:t>
              </a:r>
              <a:r>
                <a:rPr kumimoji="0" lang="en-US" altLang="zh-CN" sz="2400" b="1"/>
                <a:t> </a:t>
              </a:r>
              <a:br>
                <a:rPr kumimoji="0" lang="en-US" altLang="zh-CN" sz="2400" b="1"/>
              </a:br>
              <a:r>
                <a:rPr lang="en-US" altLang="zh-CN" sz="2400"/>
                <a:t>⋖</a:t>
              </a:r>
              <a:br>
                <a:rPr lang="en-US" altLang="zh-CN" sz="2400"/>
              </a:br>
              <a:r>
                <a:rPr lang="en-US" altLang="zh-CN" sz="2400"/>
                <a:t> ⋖</a:t>
              </a:r>
              <a:r>
                <a:rPr kumimoji="0" lang="en-US" altLang="zh-CN" sz="2400" b="1"/>
                <a:t> </a:t>
              </a:r>
              <a:r>
                <a:rPr lang="en-US" altLang="zh-CN" sz="2400"/>
                <a:t>⋖</a:t>
              </a:r>
              <a:br>
                <a:rPr lang="en-US" altLang="zh-CN" sz="2400"/>
              </a:br>
              <a:r>
                <a:rPr lang="en-US" altLang="zh-CN" sz="2400"/>
                <a:t> ⋖ </a:t>
              </a:r>
              <a:br>
                <a:rPr lang="en-US" altLang="zh-CN" sz="2400"/>
              </a:br>
              <a:br>
                <a:rPr lang="en-US" altLang="zh-CN" sz="2400"/>
              </a:br>
              <a:r>
                <a:rPr lang="en-US" altLang="zh-CN" sz="2400"/>
                <a:t>⋖</a:t>
              </a:r>
              <a:br>
                <a:rPr lang="en-US" altLang="zh-CN" sz="2400"/>
              </a:br>
              <a:r>
                <a:rPr lang="en-US" altLang="zh-CN" sz="2400"/>
                <a:t> </a:t>
              </a:r>
              <a:br>
                <a:rPr lang="en-US" altLang="zh-CN" sz="2400"/>
              </a:br>
              <a:r>
                <a:rPr lang="en-US" altLang="zh-CN" sz="2400"/>
                <a:t> ⋖</a:t>
              </a:r>
            </a:p>
          </p:txBody>
        </p:sp>
        <p:sp>
          <p:nvSpPr>
            <p:cNvPr id="32799" name="Text Box 39">
              <a:extLst>
                <a:ext uri="{FF2B5EF4-FFF2-40B4-BE49-F238E27FC236}">
                  <a16:creationId xmlns:a16="http://schemas.microsoft.com/office/drawing/2014/main" id="{63D8F704-1FD3-4875-BBF2-E153A5AAE2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151"/>
              <a:ext cx="384" cy="2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⋗</a:t>
              </a:r>
              <a:r>
                <a:rPr kumimoji="0" lang="en-US" altLang="zh-CN" sz="2400" b="1"/>
                <a:t> </a:t>
              </a:r>
              <a:br>
                <a:rPr kumimoji="0" lang="en-US" altLang="zh-CN" sz="2400" b="1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 </a:t>
              </a:r>
              <a:r>
                <a:rPr lang="en-US" altLang="zh-CN" sz="2400">
                  <a:latin typeface="Lucida Sans Unicode" panose="020B0602030504020204" pitchFamily="34" charset="0"/>
                </a:rPr>
                <a:t>≐</a:t>
              </a:r>
              <a:r>
                <a:rPr lang="en-US" altLang="zh-CN" sz="2400"/>
                <a:t>  </a:t>
              </a:r>
              <a:br>
                <a:rPr lang="en-US" altLang="zh-CN" sz="2400"/>
              </a:br>
              <a:r>
                <a:rPr lang="en-US" altLang="zh-CN" sz="2400">
                  <a:latin typeface="Tahoma" panose="020B0604030504040204" pitchFamily="34" charset="0"/>
                </a:rPr>
                <a:t>⋗</a:t>
              </a:r>
            </a:p>
          </p:txBody>
        </p:sp>
        <p:sp>
          <p:nvSpPr>
            <p:cNvPr id="32800" name="Text Box 40">
              <a:extLst>
                <a:ext uri="{FF2B5EF4-FFF2-40B4-BE49-F238E27FC236}">
                  <a16:creationId xmlns:a16="http://schemas.microsoft.com/office/drawing/2014/main" id="{A0548E81-2437-4312-8763-0247BAC072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2" y="1151"/>
              <a:ext cx="384" cy="2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kumimoji="0" lang="en-US" altLang="zh-CN" sz="2400" b="1"/>
                <a:t> </a:t>
              </a: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r>
                <a:rPr lang="en-US" altLang="zh-CN" sz="2400"/>
                <a:t>⋗</a:t>
              </a:r>
              <a:br>
                <a:rPr lang="en-US" altLang="zh-CN" sz="2400"/>
              </a:br>
              <a:br>
                <a:rPr lang="en-US" altLang="zh-CN" sz="2400"/>
              </a:br>
              <a:r>
                <a:rPr lang="en-US" altLang="zh-CN" sz="2400"/>
                <a:t> ⋗ </a:t>
              </a:r>
              <a:br>
                <a:rPr lang="en-US" altLang="zh-CN" sz="2400"/>
              </a:br>
              <a:endParaRPr lang="en-US" altLang="zh-CN" sz="2400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224E729B-15E3-4861-9314-D689606216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4.6.3  </a:t>
            </a:r>
            <a:r>
              <a:rPr lang="zh-CN" altLang="en-US"/>
              <a:t>处理一元算符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2D9A501B-559D-457D-9425-0595798038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普通一元算符，</a:t>
            </a:r>
            <a:r>
              <a:rPr lang="en-US" altLang="zh-CN">
                <a:latin typeface="宋体" panose="02010600030101010101" pitchFamily="2" charset="-122"/>
              </a:rPr>
              <a:t>﹁</a:t>
            </a:r>
          </a:p>
          <a:p>
            <a:pPr lvl="1" eaLnBrk="1" hangingPunct="1"/>
            <a:r>
              <a:rPr lang="zh-CN" altLang="en-US">
                <a:latin typeface="Symbol" panose="05050102010706020507" pitchFamily="18" charset="2"/>
              </a:rPr>
              <a:t>对任何算符</a:t>
            </a:r>
            <a:r>
              <a:rPr lang="en-US" altLang="zh-CN">
                <a:latin typeface="Symbol" panose="05050102010706020507" pitchFamily="18" charset="2"/>
              </a:rPr>
              <a:t>q</a:t>
            </a:r>
            <a:r>
              <a:rPr lang="zh-CN" altLang="en-US">
                <a:latin typeface="Symbol" panose="05050102010706020507" pitchFamily="18" charset="2"/>
              </a:rPr>
              <a:t>，</a:t>
            </a:r>
            <a:r>
              <a:rPr lang="en-US" altLang="zh-CN">
                <a:latin typeface="Symbol" panose="05050102010706020507" pitchFamily="18" charset="2"/>
              </a:rPr>
              <a:t>q</a:t>
            </a:r>
            <a:r>
              <a:rPr lang="en-US" altLang="zh-CN"/>
              <a:t>⋖</a:t>
            </a:r>
            <a:r>
              <a:rPr lang="en-US" altLang="zh-CN">
                <a:latin typeface="宋体" panose="02010600030101010101" pitchFamily="2" charset="-122"/>
              </a:rPr>
              <a:t>﹁</a:t>
            </a:r>
          </a:p>
          <a:p>
            <a:pPr lvl="1" eaLnBrk="1" hangingPunct="1"/>
            <a:r>
              <a:rPr lang="en-US" altLang="zh-CN">
                <a:latin typeface="宋体" panose="02010600030101010101" pitchFamily="2" charset="-122"/>
              </a:rPr>
              <a:t>﹁</a:t>
            </a:r>
            <a:r>
              <a:rPr lang="zh-CN" altLang="en-US">
                <a:latin typeface="宋体" panose="02010600030101010101" pitchFamily="2" charset="-122"/>
              </a:rPr>
              <a:t>优先级高于</a:t>
            </a:r>
            <a:r>
              <a:rPr lang="en-US" altLang="zh-CN">
                <a:latin typeface="Symbol" panose="05050102010706020507" pitchFamily="18" charset="2"/>
              </a:rPr>
              <a:t>q</a:t>
            </a:r>
            <a:r>
              <a:rPr lang="zh-CN" altLang="en-US">
                <a:latin typeface="Symbol" panose="05050102010706020507" pitchFamily="18" charset="2"/>
              </a:rPr>
              <a:t>，</a:t>
            </a:r>
            <a:r>
              <a:rPr lang="en-US" altLang="zh-CN">
                <a:latin typeface="宋体" panose="02010600030101010101" pitchFamily="2" charset="-122"/>
              </a:rPr>
              <a:t>﹁</a:t>
            </a:r>
            <a:r>
              <a:rPr lang="en-US" altLang="zh-CN">
                <a:latin typeface="Lucida Sans Unicode" panose="020B0602030504020204" pitchFamily="34" charset="0"/>
              </a:rPr>
              <a:t>⋗</a:t>
            </a:r>
            <a:r>
              <a:rPr lang="en-US" altLang="zh-CN">
                <a:latin typeface="Symbol" panose="05050102010706020507" pitchFamily="18" charset="2"/>
              </a:rPr>
              <a:t>q</a:t>
            </a:r>
            <a:r>
              <a:rPr lang="zh-CN" altLang="en-US">
                <a:latin typeface="Symbol" panose="05050102010706020507" pitchFamily="18" charset="2"/>
              </a:rPr>
              <a:t>；否则，</a:t>
            </a:r>
            <a:r>
              <a:rPr lang="en-US" altLang="zh-CN">
                <a:latin typeface="宋体" panose="02010600030101010101" pitchFamily="2" charset="-122"/>
              </a:rPr>
              <a:t>﹁</a:t>
            </a:r>
            <a:r>
              <a:rPr lang="en-US" altLang="zh-CN"/>
              <a:t>⋖</a:t>
            </a:r>
            <a:r>
              <a:rPr lang="en-US" altLang="zh-CN">
                <a:latin typeface="Symbol" panose="05050102010706020507" pitchFamily="18" charset="2"/>
              </a:rPr>
              <a:t>q</a:t>
            </a:r>
          </a:p>
          <a:p>
            <a:pPr eaLnBrk="1" hangingPunct="1"/>
            <a:r>
              <a:rPr lang="zh-CN" altLang="en-US">
                <a:latin typeface="Symbol" panose="05050102010706020507" pitchFamily="18" charset="2"/>
              </a:rPr>
              <a:t>既是一元算符，也是二元算符，</a:t>
            </a:r>
            <a:r>
              <a:rPr lang="en-US" altLang="zh-CN">
                <a:latin typeface="Symbol" panose="05050102010706020507" pitchFamily="18" charset="2"/>
              </a:rPr>
              <a:t>-</a:t>
            </a:r>
          </a:p>
          <a:p>
            <a:pPr lvl="1" eaLnBrk="1" hangingPunct="1"/>
            <a:r>
              <a:rPr lang="zh-CN" altLang="en-US">
                <a:latin typeface="Symbol" panose="05050102010706020507" pitchFamily="18" charset="2"/>
              </a:rPr>
              <a:t>词法分析器返回不同单词</a:t>
            </a:r>
          </a:p>
          <a:p>
            <a:pPr lvl="1" eaLnBrk="1" hangingPunct="1"/>
            <a:r>
              <a:rPr lang="zh-CN" altLang="en-US">
                <a:latin typeface="Symbol" panose="05050102010706020507" pitchFamily="18" charset="2"/>
              </a:rPr>
              <a:t>仅向前搜索不够，需记住前面符号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8181FBA5-4DFC-47BC-B0B0-1906DE4690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4.6.4  </a:t>
            </a:r>
            <a:r>
              <a:rPr lang="zh-CN" altLang="en-US"/>
              <a:t>优先级函数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5E0E92ED-2439-4D26-9DD6-90F9CB98D1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3886200"/>
          </a:xfrm>
        </p:spPr>
        <p:txBody>
          <a:bodyPr/>
          <a:lstStyle/>
          <a:p>
            <a:pPr eaLnBrk="1" hangingPunct="1"/>
            <a:r>
              <a:rPr lang="zh-CN" altLang="en-US" dirty="0"/>
              <a:t>每个终结符对应两个整型函数</a:t>
            </a:r>
          </a:p>
          <a:p>
            <a:pPr lvl="1" eaLnBrk="1" hangingPunct="1"/>
            <a:r>
              <a:rPr lang="en-US" altLang="zh-CN" dirty="0"/>
              <a:t>f(a) &lt; g(b)</a:t>
            </a:r>
            <a:r>
              <a:rPr lang="en-US" altLang="zh-CN" dirty="0">
                <a:sym typeface="Wingdings" panose="05000000000000000000" pitchFamily="2" charset="2"/>
              </a:rPr>
              <a:t></a:t>
            </a:r>
            <a:r>
              <a:rPr lang="en-US" altLang="zh-CN" dirty="0" err="1"/>
              <a:t>a⋖b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f(a) = g(b)</a:t>
            </a:r>
            <a:r>
              <a:rPr lang="en-US" altLang="zh-CN" dirty="0">
                <a:sym typeface="Wingdings" panose="05000000000000000000" pitchFamily="2" charset="2"/>
              </a:rPr>
              <a:t></a:t>
            </a:r>
            <a:r>
              <a:rPr lang="en-US" altLang="zh-CN" dirty="0" err="1"/>
              <a:t>a≐b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f(a) &gt; g(b)</a:t>
            </a:r>
            <a:r>
              <a:rPr lang="en-US" altLang="zh-CN" dirty="0">
                <a:sym typeface="Wingdings" panose="05000000000000000000" pitchFamily="2" charset="2"/>
              </a:rPr>
              <a:t></a:t>
            </a:r>
            <a:r>
              <a:rPr lang="en-US" altLang="zh-CN" dirty="0" err="1"/>
              <a:t>a⋗b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错误无法表示，不严重</a:t>
            </a:r>
            <a:r>
              <a:rPr lang="zh-CN" altLang="en-US" dirty="0">
                <a:sym typeface="Wingdings" panose="05000000000000000000" pitchFamily="2" charset="2"/>
              </a:rPr>
              <a:t>归约时仍可捕获</a:t>
            </a:r>
          </a:p>
          <a:p>
            <a:pPr lvl="1" eaLnBrk="1" hangingPunct="1"/>
            <a:r>
              <a:rPr lang="zh-CN" altLang="en-US" dirty="0">
                <a:sym typeface="Wingdings" panose="05000000000000000000" pitchFamily="2" charset="2"/>
              </a:rPr>
              <a:t>不是所有优先关系（表）都存在优先级函数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0590585E-6E23-4F5F-8096-24EC14EC95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4.29</a:t>
            </a:r>
          </a:p>
        </p:txBody>
      </p:sp>
      <p:sp>
        <p:nvSpPr>
          <p:cNvPr id="35843" name="Line 4">
            <a:extLst>
              <a:ext uri="{FF2B5EF4-FFF2-40B4-BE49-F238E27FC236}">
                <a16:creationId xmlns:a16="http://schemas.microsoft.com/office/drawing/2014/main" id="{C920E441-4CEB-430A-A8EA-623BE7055EF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1828800"/>
            <a:ext cx="838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4" name="Line 5">
            <a:extLst>
              <a:ext uri="{FF2B5EF4-FFF2-40B4-BE49-F238E27FC236}">
                <a16:creationId xmlns:a16="http://schemas.microsoft.com/office/drawing/2014/main" id="{56855793-5CC7-4178-81F3-695391A1764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1371600"/>
            <a:ext cx="0" cy="14398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5" name="Text Box 6">
            <a:extLst>
              <a:ext uri="{FF2B5EF4-FFF2-40B4-BE49-F238E27FC236}">
                <a16:creationId xmlns:a16="http://schemas.microsoft.com/office/drawing/2014/main" id="{F4867761-491E-4CAA-97D4-139378E8F5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752600"/>
            <a:ext cx="60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/>
              <a:t>f</a:t>
            </a:r>
            <a:br>
              <a:rPr kumimoji="0" lang="en-US" altLang="zh-CN" sz="2800" b="1"/>
            </a:br>
            <a:r>
              <a:rPr kumimoji="0" lang="en-US" altLang="zh-CN" sz="2800" b="1"/>
              <a:t>g</a:t>
            </a:r>
          </a:p>
        </p:txBody>
      </p:sp>
      <p:sp>
        <p:nvSpPr>
          <p:cNvPr id="35846" name="Line 7">
            <a:extLst>
              <a:ext uri="{FF2B5EF4-FFF2-40B4-BE49-F238E27FC236}">
                <a16:creationId xmlns:a16="http://schemas.microsoft.com/office/drawing/2014/main" id="{37F65072-10C1-45EC-99CE-A1254F527CF2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1371600"/>
            <a:ext cx="0" cy="14398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7" name="Text Box 8">
            <a:extLst>
              <a:ext uri="{FF2B5EF4-FFF2-40B4-BE49-F238E27FC236}">
                <a16:creationId xmlns:a16="http://schemas.microsoft.com/office/drawing/2014/main" id="{8CEB5A47-AC6A-478C-AFCC-CAE1F2432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752600"/>
            <a:ext cx="60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2</a:t>
            </a:r>
            <a:r>
              <a:rPr kumimoji="0" lang="en-US" altLang="zh-CN" sz="2800" b="1"/>
              <a:t> </a:t>
            </a:r>
            <a:r>
              <a:rPr lang="en-US" altLang="zh-CN" sz="2800"/>
              <a:t>1</a:t>
            </a:r>
          </a:p>
        </p:txBody>
      </p:sp>
      <p:sp>
        <p:nvSpPr>
          <p:cNvPr id="35848" name="Text Box 9">
            <a:extLst>
              <a:ext uri="{FF2B5EF4-FFF2-40B4-BE49-F238E27FC236}">
                <a16:creationId xmlns:a16="http://schemas.microsoft.com/office/drawing/2014/main" id="{032FC74C-0982-4393-A6C0-A963B9BA1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3716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/>
              <a:t>+</a:t>
            </a:r>
          </a:p>
        </p:txBody>
      </p:sp>
      <p:sp>
        <p:nvSpPr>
          <p:cNvPr id="35849" name="Line 10">
            <a:extLst>
              <a:ext uri="{FF2B5EF4-FFF2-40B4-BE49-F238E27FC236}">
                <a16:creationId xmlns:a16="http://schemas.microsoft.com/office/drawing/2014/main" id="{9DBDEC8E-8D2C-48D5-903D-F9A38CCD604C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1371600"/>
            <a:ext cx="0" cy="14398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0" name="Text Box 11">
            <a:extLst>
              <a:ext uri="{FF2B5EF4-FFF2-40B4-BE49-F238E27FC236}">
                <a16:creationId xmlns:a16="http://schemas.microsoft.com/office/drawing/2014/main" id="{59A3A364-AC38-452A-865A-B2FB1F6DA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3716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/>
              <a:t>-</a:t>
            </a:r>
          </a:p>
        </p:txBody>
      </p:sp>
      <p:sp>
        <p:nvSpPr>
          <p:cNvPr id="35851" name="Line 12">
            <a:extLst>
              <a:ext uri="{FF2B5EF4-FFF2-40B4-BE49-F238E27FC236}">
                <a16:creationId xmlns:a16="http://schemas.microsoft.com/office/drawing/2014/main" id="{281F0889-532A-4CE1-B2BA-274AC19C4C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371600"/>
            <a:ext cx="0" cy="14398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2" name="Text Box 13">
            <a:extLst>
              <a:ext uri="{FF2B5EF4-FFF2-40B4-BE49-F238E27FC236}">
                <a16:creationId xmlns:a16="http://schemas.microsoft.com/office/drawing/2014/main" id="{F9FF3B54-12EE-4853-9B7B-FAB1584EC7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13716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/>
              <a:t>*</a:t>
            </a:r>
          </a:p>
        </p:txBody>
      </p:sp>
      <p:sp>
        <p:nvSpPr>
          <p:cNvPr id="35853" name="Text Box 14">
            <a:extLst>
              <a:ext uri="{FF2B5EF4-FFF2-40B4-BE49-F238E27FC236}">
                <a16:creationId xmlns:a16="http://schemas.microsoft.com/office/drawing/2014/main" id="{28EEF23E-F8AB-41D9-8713-0C1A3F87F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13716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/>
              <a:t>/</a:t>
            </a:r>
          </a:p>
        </p:txBody>
      </p:sp>
      <p:sp>
        <p:nvSpPr>
          <p:cNvPr id="35854" name="Line 15">
            <a:extLst>
              <a:ext uri="{FF2B5EF4-FFF2-40B4-BE49-F238E27FC236}">
                <a16:creationId xmlns:a16="http://schemas.microsoft.com/office/drawing/2014/main" id="{D04BD8EC-7E2D-4AB6-B14F-0923E9EF4C8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1371600"/>
            <a:ext cx="0" cy="14398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5" name="Line 16">
            <a:extLst>
              <a:ext uri="{FF2B5EF4-FFF2-40B4-BE49-F238E27FC236}">
                <a16:creationId xmlns:a16="http://schemas.microsoft.com/office/drawing/2014/main" id="{BC64401B-2641-4D51-B67D-DA85B445F579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1371600"/>
            <a:ext cx="0" cy="14398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6" name="Text Box 17">
            <a:extLst>
              <a:ext uri="{FF2B5EF4-FFF2-40B4-BE49-F238E27FC236}">
                <a16:creationId xmlns:a16="http://schemas.microsoft.com/office/drawing/2014/main" id="{D6A81069-4802-4EAA-A571-D8608C9E0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13716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>
                <a:latin typeface="宋体" panose="02010600030101010101" pitchFamily="2" charset="-122"/>
              </a:rPr>
              <a:t>↑</a:t>
            </a:r>
            <a:endParaRPr kumimoji="0" lang="en-US" altLang="zh-CN" sz="2800" b="1"/>
          </a:p>
        </p:txBody>
      </p:sp>
      <p:sp>
        <p:nvSpPr>
          <p:cNvPr id="35857" name="Line 18">
            <a:extLst>
              <a:ext uri="{FF2B5EF4-FFF2-40B4-BE49-F238E27FC236}">
                <a16:creationId xmlns:a16="http://schemas.microsoft.com/office/drawing/2014/main" id="{4DF3D1D3-619F-419B-89F1-C9474DF31992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1371600"/>
            <a:ext cx="0" cy="14398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8" name="Text Box 19">
            <a:extLst>
              <a:ext uri="{FF2B5EF4-FFF2-40B4-BE49-F238E27FC236}">
                <a16:creationId xmlns:a16="http://schemas.microsoft.com/office/drawing/2014/main" id="{556F5EA5-C1B3-4CC9-8EFC-41A025C00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3716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/>
              <a:t>id</a:t>
            </a:r>
          </a:p>
        </p:txBody>
      </p:sp>
      <p:sp>
        <p:nvSpPr>
          <p:cNvPr id="35859" name="Line 20">
            <a:extLst>
              <a:ext uri="{FF2B5EF4-FFF2-40B4-BE49-F238E27FC236}">
                <a16:creationId xmlns:a16="http://schemas.microsoft.com/office/drawing/2014/main" id="{FCCAF234-CD09-47C5-83E7-A43B3C682E92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1371600"/>
            <a:ext cx="0" cy="14398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60" name="Text Box 21">
            <a:extLst>
              <a:ext uri="{FF2B5EF4-FFF2-40B4-BE49-F238E27FC236}">
                <a16:creationId xmlns:a16="http://schemas.microsoft.com/office/drawing/2014/main" id="{E4EBC518-7C9A-4548-80BB-97D0B7FB3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13716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/>
              <a:t>(</a:t>
            </a:r>
          </a:p>
        </p:txBody>
      </p:sp>
      <p:sp>
        <p:nvSpPr>
          <p:cNvPr id="35861" name="Text Box 22">
            <a:extLst>
              <a:ext uri="{FF2B5EF4-FFF2-40B4-BE49-F238E27FC236}">
                <a16:creationId xmlns:a16="http://schemas.microsoft.com/office/drawing/2014/main" id="{C98E161B-C930-4406-B10C-7D954D3541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13716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/>
              <a:t>)</a:t>
            </a:r>
          </a:p>
        </p:txBody>
      </p:sp>
      <p:sp>
        <p:nvSpPr>
          <p:cNvPr id="35862" name="Line 23">
            <a:extLst>
              <a:ext uri="{FF2B5EF4-FFF2-40B4-BE49-F238E27FC236}">
                <a16:creationId xmlns:a16="http://schemas.microsoft.com/office/drawing/2014/main" id="{4EABC214-B1C9-416F-9F44-73A476868538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5800" y="1371600"/>
            <a:ext cx="0" cy="14398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63" name="Text Box 24">
            <a:extLst>
              <a:ext uri="{FF2B5EF4-FFF2-40B4-BE49-F238E27FC236}">
                <a16:creationId xmlns:a16="http://schemas.microsoft.com/office/drawing/2014/main" id="{1D3242F0-2618-44FF-A10A-DFE87C019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13716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/>
              <a:t>$</a:t>
            </a:r>
          </a:p>
        </p:txBody>
      </p:sp>
      <p:sp>
        <p:nvSpPr>
          <p:cNvPr id="35864" name="Text Box 25">
            <a:extLst>
              <a:ext uri="{FF2B5EF4-FFF2-40B4-BE49-F238E27FC236}">
                <a16:creationId xmlns:a16="http://schemas.microsoft.com/office/drawing/2014/main" id="{6B467373-5E9E-4BCE-B950-27B0F59052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752600"/>
            <a:ext cx="60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2</a:t>
            </a:r>
            <a:r>
              <a:rPr kumimoji="0" lang="en-US" altLang="zh-CN" sz="2800" b="1"/>
              <a:t> </a:t>
            </a:r>
            <a:r>
              <a:rPr lang="en-US" altLang="zh-CN" sz="2800"/>
              <a:t>1</a:t>
            </a:r>
          </a:p>
        </p:txBody>
      </p:sp>
      <p:sp>
        <p:nvSpPr>
          <p:cNvPr id="35865" name="Text Box 26">
            <a:extLst>
              <a:ext uri="{FF2B5EF4-FFF2-40B4-BE49-F238E27FC236}">
                <a16:creationId xmlns:a16="http://schemas.microsoft.com/office/drawing/2014/main" id="{EFDA5DC8-30AB-4439-B9D1-6F4499E803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1752600"/>
            <a:ext cx="60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4</a:t>
            </a:r>
            <a:br>
              <a:rPr lang="en-US" altLang="zh-CN" sz="2800"/>
            </a:br>
            <a:r>
              <a:rPr lang="en-US" altLang="zh-CN" sz="2800"/>
              <a:t>3</a:t>
            </a:r>
          </a:p>
        </p:txBody>
      </p:sp>
      <p:sp>
        <p:nvSpPr>
          <p:cNvPr id="35866" name="Text Box 27">
            <a:extLst>
              <a:ext uri="{FF2B5EF4-FFF2-40B4-BE49-F238E27FC236}">
                <a16:creationId xmlns:a16="http://schemas.microsoft.com/office/drawing/2014/main" id="{466F5EC5-5AE4-41F8-A2B3-93A34637BD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1752600"/>
            <a:ext cx="60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4</a:t>
            </a:r>
            <a:r>
              <a:rPr kumimoji="0" lang="en-US" altLang="zh-CN" sz="2800" b="1"/>
              <a:t> </a:t>
            </a:r>
            <a:r>
              <a:rPr lang="en-US" altLang="zh-CN" sz="2800"/>
              <a:t>5</a:t>
            </a:r>
          </a:p>
        </p:txBody>
      </p:sp>
      <p:sp>
        <p:nvSpPr>
          <p:cNvPr id="35867" name="Text Box 28">
            <a:extLst>
              <a:ext uri="{FF2B5EF4-FFF2-40B4-BE49-F238E27FC236}">
                <a16:creationId xmlns:a16="http://schemas.microsoft.com/office/drawing/2014/main" id="{5557E50C-D3EF-42E2-8898-36B16FEBC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752600"/>
            <a:ext cx="60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4</a:t>
            </a:r>
            <a:r>
              <a:rPr kumimoji="0" lang="en-US" altLang="zh-CN" sz="2800" b="1"/>
              <a:t> </a:t>
            </a:r>
            <a:r>
              <a:rPr lang="en-US" altLang="zh-CN" sz="2800"/>
              <a:t>3</a:t>
            </a:r>
          </a:p>
        </p:txBody>
      </p:sp>
      <p:sp>
        <p:nvSpPr>
          <p:cNvPr id="35868" name="Text Box 29">
            <a:extLst>
              <a:ext uri="{FF2B5EF4-FFF2-40B4-BE49-F238E27FC236}">
                <a16:creationId xmlns:a16="http://schemas.microsoft.com/office/drawing/2014/main" id="{5D270028-74E5-496E-BA7B-7A759D390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752600"/>
            <a:ext cx="60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6</a:t>
            </a:r>
            <a:r>
              <a:rPr kumimoji="0" lang="en-US" altLang="zh-CN" sz="2800" b="1"/>
              <a:t> </a:t>
            </a:r>
            <a:r>
              <a:rPr lang="en-US" altLang="zh-CN" sz="2800"/>
              <a:t>5</a:t>
            </a:r>
          </a:p>
        </p:txBody>
      </p:sp>
      <p:sp>
        <p:nvSpPr>
          <p:cNvPr id="35869" name="Text Box 30">
            <a:extLst>
              <a:ext uri="{FF2B5EF4-FFF2-40B4-BE49-F238E27FC236}">
                <a16:creationId xmlns:a16="http://schemas.microsoft.com/office/drawing/2014/main" id="{0E34F851-9A59-4DF0-8C29-0CA05A3CF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1752600"/>
            <a:ext cx="60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0</a:t>
            </a:r>
            <a:r>
              <a:rPr kumimoji="0" lang="en-US" altLang="zh-CN" sz="2800" b="1"/>
              <a:t> </a:t>
            </a:r>
            <a:r>
              <a:rPr lang="en-US" altLang="zh-CN" sz="2800"/>
              <a:t>5</a:t>
            </a:r>
          </a:p>
        </p:txBody>
      </p:sp>
      <p:sp>
        <p:nvSpPr>
          <p:cNvPr id="35870" name="Text Box 31">
            <a:extLst>
              <a:ext uri="{FF2B5EF4-FFF2-40B4-BE49-F238E27FC236}">
                <a16:creationId xmlns:a16="http://schemas.microsoft.com/office/drawing/2014/main" id="{5CD24E5E-E62E-4CC4-9E03-61752656B7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1752600"/>
            <a:ext cx="60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6</a:t>
            </a:r>
            <a:r>
              <a:rPr kumimoji="0" lang="en-US" altLang="zh-CN" sz="2800" b="1"/>
              <a:t> </a:t>
            </a:r>
            <a:r>
              <a:rPr lang="en-US" altLang="zh-CN" sz="2800"/>
              <a:t>0</a:t>
            </a:r>
          </a:p>
        </p:txBody>
      </p:sp>
      <p:sp>
        <p:nvSpPr>
          <p:cNvPr id="35871" name="Text Box 32">
            <a:extLst>
              <a:ext uri="{FF2B5EF4-FFF2-40B4-BE49-F238E27FC236}">
                <a16:creationId xmlns:a16="http://schemas.microsoft.com/office/drawing/2014/main" id="{58BF670D-044B-436E-8680-73ED7081C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1752600"/>
            <a:ext cx="60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0</a:t>
            </a:r>
            <a:r>
              <a:rPr kumimoji="0" lang="en-US" altLang="zh-CN" sz="2800" b="1"/>
              <a:t> </a:t>
            </a:r>
            <a:r>
              <a:rPr lang="en-US" altLang="zh-CN" sz="2800"/>
              <a:t>0</a:t>
            </a:r>
          </a:p>
        </p:txBody>
      </p:sp>
      <p:grpSp>
        <p:nvGrpSpPr>
          <p:cNvPr id="35872" name="Group 34">
            <a:extLst>
              <a:ext uri="{FF2B5EF4-FFF2-40B4-BE49-F238E27FC236}">
                <a16:creationId xmlns:a16="http://schemas.microsoft.com/office/drawing/2014/main" id="{6B73F5BF-310F-4DE5-990C-FCA099AA14CB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2819400"/>
            <a:ext cx="8534400" cy="3143250"/>
            <a:chOff x="336" y="912"/>
            <a:chExt cx="5376" cy="2720"/>
          </a:xfrm>
        </p:grpSpPr>
        <p:sp>
          <p:nvSpPr>
            <p:cNvPr id="35873" name="Line 35">
              <a:extLst>
                <a:ext uri="{FF2B5EF4-FFF2-40B4-BE49-F238E27FC236}">
                  <a16:creationId xmlns:a16="http://schemas.microsoft.com/office/drawing/2014/main" id="{8013B457-F06C-4380-BA99-84C629D09A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1200"/>
              <a:ext cx="52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4" name="Line 36">
              <a:extLst>
                <a:ext uri="{FF2B5EF4-FFF2-40B4-BE49-F238E27FC236}">
                  <a16:creationId xmlns:a16="http://schemas.microsoft.com/office/drawing/2014/main" id="{BCDBA792-C79A-486B-8883-5E821CF313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912"/>
              <a:ext cx="0" cy="2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5" name="Text Box 37">
              <a:extLst>
                <a:ext uri="{FF2B5EF4-FFF2-40B4-BE49-F238E27FC236}">
                  <a16:creationId xmlns:a16="http://schemas.microsoft.com/office/drawing/2014/main" id="{61B1EEA1-825C-4E0A-A15D-DA52847DF7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151"/>
              <a:ext cx="384" cy="2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+</a:t>
              </a:r>
              <a:br>
                <a:rPr kumimoji="0" lang="en-US" altLang="zh-CN" sz="2000" b="1"/>
              </a:br>
              <a:r>
                <a:rPr kumimoji="0" lang="en-US" altLang="zh-CN" sz="2000" b="1"/>
                <a:t>-</a:t>
              </a:r>
              <a:br>
                <a:rPr kumimoji="0" lang="en-US" altLang="zh-CN" sz="2000" b="1"/>
              </a:br>
              <a:r>
                <a:rPr kumimoji="0" lang="en-US" altLang="zh-CN" sz="2000" b="1"/>
                <a:t>*</a:t>
              </a:r>
              <a:br>
                <a:rPr kumimoji="0" lang="en-US" altLang="zh-CN" sz="2000" b="1"/>
              </a:br>
              <a:r>
                <a:rPr kumimoji="0" lang="en-US" altLang="zh-CN" sz="2000" b="1"/>
                <a:t>/</a:t>
              </a:r>
              <a:br>
                <a:rPr kumimoji="0" lang="en-US" altLang="zh-CN" sz="2000" b="1"/>
              </a:br>
              <a:r>
                <a:rPr kumimoji="0" lang="en-US" altLang="zh-CN" sz="2000" b="1">
                  <a:latin typeface="宋体" panose="02010600030101010101" pitchFamily="2" charset="-122"/>
                </a:rPr>
                <a:t>↑</a:t>
              </a:r>
              <a:br>
                <a:rPr kumimoji="0" lang="en-US" altLang="zh-CN" sz="2000" b="1">
                  <a:latin typeface="宋体" panose="02010600030101010101" pitchFamily="2" charset="-122"/>
                </a:rPr>
              </a:br>
              <a:r>
                <a:rPr kumimoji="0" lang="en-US" altLang="zh-CN" sz="2000" b="1"/>
                <a:t>id</a:t>
              </a:r>
              <a:br>
                <a:rPr kumimoji="0" lang="en-US" altLang="zh-CN" sz="2000" b="1"/>
              </a:br>
              <a:r>
                <a:rPr kumimoji="0" lang="en-US" altLang="zh-CN" sz="2000" b="1"/>
                <a:t>(</a:t>
              </a:r>
              <a:br>
                <a:rPr kumimoji="0" lang="en-US" altLang="zh-CN" sz="2000" b="1"/>
              </a:br>
              <a:r>
                <a:rPr kumimoji="0" lang="en-US" altLang="zh-CN" sz="2000" b="1"/>
                <a:t>)</a:t>
              </a:r>
              <a:br>
                <a:rPr kumimoji="0" lang="en-US" altLang="zh-CN" sz="2000" b="1"/>
              </a:br>
              <a:r>
                <a:rPr kumimoji="0" lang="en-US" altLang="zh-CN" sz="2000" b="1"/>
                <a:t>$</a:t>
              </a:r>
            </a:p>
          </p:txBody>
        </p:sp>
        <p:sp>
          <p:nvSpPr>
            <p:cNvPr id="35876" name="Line 38">
              <a:extLst>
                <a:ext uri="{FF2B5EF4-FFF2-40B4-BE49-F238E27FC236}">
                  <a16:creationId xmlns:a16="http://schemas.microsoft.com/office/drawing/2014/main" id="{27396B4D-7DA3-48E2-A705-8503E9A200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912"/>
              <a:ext cx="0" cy="2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7" name="Text Box 39">
              <a:extLst>
                <a:ext uri="{FF2B5EF4-FFF2-40B4-BE49-F238E27FC236}">
                  <a16:creationId xmlns:a16="http://schemas.microsoft.com/office/drawing/2014/main" id="{C95947D8-86BF-439E-8737-6F4BEE71B8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151"/>
              <a:ext cx="384" cy="2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/>
                <a:t>⋗</a:t>
              </a:r>
              <a:r>
                <a:rPr kumimoji="0" lang="en-US" altLang="zh-CN" sz="2000" b="1"/>
                <a:t> </a:t>
              </a:r>
              <a:br>
                <a:rPr kumimoji="0" lang="en-US" altLang="zh-CN" sz="2000" b="1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⋖</a:t>
              </a:r>
              <a:br>
                <a:rPr lang="en-US" altLang="zh-CN" sz="2000"/>
              </a:br>
              <a:r>
                <a:rPr lang="en-US" altLang="zh-CN" sz="2000"/>
                <a:t> ⋗ </a:t>
              </a:r>
              <a:br>
                <a:rPr lang="en-US" altLang="zh-CN" sz="2000"/>
              </a:br>
              <a:r>
                <a:rPr lang="en-US" altLang="zh-CN" sz="2000"/>
                <a:t>⋖</a:t>
              </a:r>
            </a:p>
          </p:txBody>
        </p:sp>
        <p:sp>
          <p:nvSpPr>
            <p:cNvPr id="35878" name="Text Box 40">
              <a:extLst>
                <a:ext uri="{FF2B5EF4-FFF2-40B4-BE49-F238E27FC236}">
                  <a16:creationId xmlns:a16="http://schemas.microsoft.com/office/drawing/2014/main" id="{0F67857E-5C6F-4CB2-BC2A-7BAE76B686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912"/>
              <a:ext cx="384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+</a:t>
              </a:r>
            </a:p>
          </p:txBody>
        </p:sp>
        <p:sp>
          <p:nvSpPr>
            <p:cNvPr id="35879" name="Line 41">
              <a:extLst>
                <a:ext uri="{FF2B5EF4-FFF2-40B4-BE49-F238E27FC236}">
                  <a16:creationId xmlns:a16="http://schemas.microsoft.com/office/drawing/2014/main" id="{97A5CE3B-BC77-4E95-880D-6C7D7C917F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912"/>
              <a:ext cx="0" cy="2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80" name="Text Box 42">
              <a:extLst>
                <a:ext uri="{FF2B5EF4-FFF2-40B4-BE49-F238E27FC236}">
                  <a16:creationId xmlns:a16="http://schemas.microsoft.com/office/drawing/2014/main" id="{488FD2A2-FA5D-40A3-954F-894F935D9D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912"/>
              <a:ext cx="384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-</a:t>
              </a:r>
            </a:p>
          </p:txBody>
        </p:sp>
        <p:sp>
          <p:nvSpPr>
            <p:cNvPr id="35881" name="Line 43">
              <a:extLst>
                <a:ext uri="{FF2B5EF4-FFF2-40B4-BE49-F238E27FC236}">
                  <a16:creationId xmlns:a16="http://schemas.microsoft.com/office/drawing/2014/main" id="{1F861CEC-C475-477C-84CB-46E3A9C737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912"/>
              <a:ext cx="0" cy="2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82" name="Text Box 44">
              <a:extLst>
                <a:ext uri="{FF2B5EF4-FFF2-40B4-BE49-F238E27FC236}">
                  <a16:creationId xmlns:a16="http://schemas.microsoft.com/office/drawing/2014/main" id="{37973364-C0FD-4E8C-A1F9-FC0B5067CA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912"/>
              <a:ext cx="384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*</a:t>
              </a:r>
            </a:p>
          </p:txBody>
        </p:sp>
        <p:sp>
          <p:nvSpPr>
            <p:cNvPr id="35883" name="Text Box 45">
              <a:extLst>
                <a:ext uri="{FF2B5EF4-FFF2-40B4-BE49-F238E27FC236}">
                  <a16:creationId xmlns:a16="http://schemas.microsoft.com/office/drawing/2014/main" id="{F4DEE591-92C7-4818-B7D7-3E7A3AF979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912"/>
              <a:ext cx="384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/</a:t>
              </a:r>
            </a:p>
          </p:txBody>
        </p:sp>
        <p:sp>
          <p:nvSpPr>
            <p:cNvPr id="35884" name="Line 46">
              <a:extLst>
                <a:ext uri="{FF2B5EF4-FFF2-40B4-BE49-F238E27FC236}">
                  <a16:creationId xmlns:a16="http://schemas.microsoft.com/office/drawing/2014/main" id="{E01E90D1-9F52-4C80-9880-60A5F980FE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912"/>
              <a:ext cx="0" cy="2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85" name="Line 47">
              <a:extLst>
                <a:ext uri="{FF2B5EF4-FFF2-40B4-BE49-F238E27FC236}">
                  <a16:creationId xmlns:a16="http://schemas.microsoft.com/office/drawing/2014/main" id="{B0CDC86A-DA16-458F-87DC-3F991DABA4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912"/>
              <a:ext cx="0" cy="2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86" name="Text Box 48">
              <a:extLst>
                <a:ext uri="{FF2B5EF4-FFF2-40B4-BE49-F238E27FC236}">
                  <a16:creationId xmlns:a16="http://schemas.microsoft.com/office/drawing/2014/main" id="{C85A0D6C-6AD7-4546-90DE-B489529FD7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912"/>
              <a:ext cx="384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>
                  <a:latin typeface="宋体" panose="02010600030101010101" pitchFamily="2" charset="-122"/>
                </a:rPr>
                <a:t>↑</a:t>
              </a:r>
              <a:endParaRPr kumimoji="0" lang="en-US" altLang="zh-CN" sz="2000" b="1"/>
            </a:p>
          </p:txBody>
        </p:sp>
        <p:sp>
          <p:nvSpPr>
            <p:cNvPr id="35887" name="Line 49">
              <a:extLst>
                <a:ext uri="{FF2B5EF4-FFF2-40B4-BE49-F238E27FC236}">
                  <a16:creationId xmlns:a16="http://schemas.microsoft.com/office/drawing/2014/main" id="{338928E6-CE66-411D-8D3E-CF959A64D6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912"/>
              <a:ext cx="0" cy="2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88" name="Text Box 50">
              <a:extLst>
                <a:ext uri="{FF2B5EF4-FFF2-40B4-BE49-F238E27FC236}">
                  <a16:creationId xmlns:a16="http://schemas.microsoft.com/office/drawing/2014/main" id="{25A4BAED-BD71-4296-95F1-36ADF14750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912"/>
              <a:ext cx="384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id</a:t>
              </a:r>
            </a:p>
          </p:txBody>
        </p:sp>
        <p:sp>
          <p:nvSpPr>
            <p:cNvPr id="35889" name="Line 51">
              <a:extLst>
                <a:ext uri="{FF2B5EF4-FFF2-40B4-BE49-F238E27FC236}">
                  <a16:creationId xmlns:a16="http://schemas.microsoft.com/office/drawing/2014/main" id="{E7FB4EEE-085D-409A-8023-AD6C7EC9C4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912"/>
              <a:ext cx="0" cy="2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90" name="Text Box 52">
              <a:extLst>
                <a:ext uri="{FF2B5EF4-FFF2-40B4-BE49-F238E27FC236}">
                  <a16:creationId xmlns:a16="http://schemas.microsoft.com/office/drawing/2014/main" id="{518B1F1E-73DF-4BE1-98C7-8BD7DFF44E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912"/>
              <a:ext cx="384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(</a:t>
              </a:r>
            </a:p>
          </p:txBody>
        </p:sp>
        <p:sp>
          <p:nvSpPr>
            <p:cNvPr id="35891" name="Text Box 53">
              <a:extLst>
                <a:ext uri="{FF2B5EF4-FFF2-40B4-BE49-F238E27FC236}">
                  <a16:creationId xmlns:a16="http://schemas.microsoft.com/office/drawing/2014/main" id="{350675F1-4456-4FAE-B556-36B95ED2B4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912"/>
              <a:ext cx="384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)</a:t>
              </a:r>
            </a:p>
          </p:txBody>
        </p:sp>
        <p:sp>
          <p:nvSpPr>
            <p:cNvPr id="35892" name="Line 54">
              <a:extLst>
                <a:ext uri="{FF2B5EF4-FFF2-40B4-BE49-F238E27FC236}">
                  <a16:creationId xmlns:a16="http://schemas.microsoft.com/office/drawing/2014/main" id="{83E36838-4AC8-43B0-8391-533227C08C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2" y="912"/>
              <a:ext cx="0" cy="2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93" name="Text Box 55">
              <a:extLst>
                <a:ext uri="{FF2B5EF4-FFF2-40B4-BE49-F238E27FC236}">
                  <a16:creationId xmlns:a16="http://schemas.microsoft.com/office/drawing/2014/main" id="{E6A320C2-2BC3-4BEA-BB34-453F966481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912"/>
              <a:ext cx="384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$</a:t>
              </a:r>
            </a:p>
          </p:txBody>
        </p:sp>
        <p:sp>
          <p:nvSpPr>
            <p:cNvPr id="35894" name="Text Box 56">
              <a:extLst>
                <a:ext uri="{FF2B5EF4-FFF2-40B4-BE49-F238E27FC236}">
                  <a16:creationId xmlns:a16="http://schemas.microsoft.com/office/drawing/2014/main" id="{3F0767B6-EEC0-42C7-8957-3E4887087B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151"/>
              <a:ext cx="384" cy="2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/>
                <a:t>⋗</a:t>
              </a:r>
              <a:r>
                <a:rPr kumimoji="0" lang="en-US" altLang="zh-CN" sz="2000" b="1"/>
                <a:t> </a:t>
              </a:r>
              <a:br>
                <a:rPr kumimoji="0" lang="en-US" altLang="zh-CN" sz="2000" b="1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⋖</a:t>
              </a:r>
              <a:br>
                <a:rPr lang="en-US" altLang="zh-CN" sz="2000"/>
              </a:br>
              <a:r>
                <a:rPr lang="en-US" altLang="zh-CN" sz="2000"/>
                <a:t> ⋗ </a:t>
              </a:r>
              <a:br>
                <a:rPr lang="en-US" altLang="zh-CN" sz="2000"/>
              </a:br>
              <a:r>
                <a:rPr lang="en-US" altLang="zh-CN" sz="2000"/>
                <a:t>⋖</a:t>
              </a:r>
            </a:p>
          </p:txBody>
        </p:sp>
        <p:sp>
          <p:nvSpPr>
            <p:cNvPr id="35895" name="Text Box 57">
              <a:extLst>
                <a:ext uri="{FF2B5EF4-FFF2-40B4-BE49-F238E27FC236}">
                  <a16:creationId xmlns:a16="http://schemas.microsoft.com/office/drawing/2014/main" id="{DA1BBD3E-4CDE-4271-B7DA-1EF819AB24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1151"/>
              <a:ext cx="384" cy="2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/>
                <a:t>⋖</a:t>
              </a:r>
              <a:r>
                <a:rPr kumimoji="0" lang="en-US" altLang="zh-CN" sz="2000" b="1"/>
                <a:t> </a:t>
              </a:r>
              <a:br>
                <a:rPr kumimoji="0" lang="en-US" altLang="zh-CN" sz="2000" b="1"/>
              </a:br>
              <a:r>
                <a:rPr lang="en-US" altLang="zh-CN" sz="2000"/>
                <a:t>⋖</a:t>
              </a:r>
              <a:br>
                <a:rPr lang="en-US" altLang="zh-CN" sz="2000"/>
              </a:br>
              <a:r>
                <a:rPr lang="en-US" altLang="zh-CN" sz="2000"/>
                <a:t> 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⋖</a:t>
              </a:r>
              <a:br>
                <a:rPr lang="en-US" altLang="zh-CN" sz="2000"/>
              </a:br>
              <a:r>
                <a:rPr lang="en-US" altLang="zh-CN" sz="2000"/>
                <a:t> ⋗ </a:t>
              </a:r>
              <a:br>
                <a:rPr lang="en-US" altLang="zh-CN" sz="2000"/>
              </a:br>
              <a:r>
                <a:rPr lang="en-US" altLang="zh-CN" sz="2000"/>
                <a:t>⋖</a:t>
              </a:r>
            </a:p>
          </p:txBody>
        </p:sp>
        <p:sp>
          <p:nvSpPr>
            <p:cNvPr id="35896" name="Text Box 58">
              <a:extLst>
                <a:ext uri="{FF2B5EF4-FFF2-40B4-BE49-F238E27FC236}">
                  <a16:creationId xmlns:a16="http://schemas.microsoft.com/office/drawing/2014/main" id="{2AE2634C-0331-45ED-BE03-2B5DE427BF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1151"/>
              <a:ext cx="384" cy="2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/>
                <a:t>⋖</a:t>
              </a:r>
              <a:r>
                <a:rPr kumimoji="0" lang="en-US" altLang="zh-CN" sz="2000" b="1"/>
                <a:t> </a:t>
              </a:r>
              <a:br>
                <a:rPr kumimoji="0" lang="en-US" altLang="zh-CN" sz="2000" b="1"/>
              </a:br>
              <a:r>
                <a:rPr lang="en-US" altLang="zh-CN" sz="2000"/>
                <a:t>⋖</a:t>
              </a:r>
              <a:br>
                <a:rPr lang="en-US" altLang="zh-CN" sz="2000"/>
              </a:br>
              <a:r>
                <a:rPr lang="en-US" altLang="zh-CN" sz="2000"/>
                <a:t> ⋖</a:t>
              </a:r>
              <a:br>
                <a:rPr lang="en-US" altLang="zh-CN" sz="2000"/>
              </a:br>
              <a:r>
                <a:rPr kumimoji="0" lang="en-US" altLang="zh-CN" sz="2000" b="1"/>
                <a:t> </a:t>
              </a:r>
              <a:r>
                <a:rPr lang="en-US" altLang="zh-CN" sz="2000"/>
                <a:t>⋖</a:t>
              </a:r>
              <a:br>
                <a:rPr lang="en-US" altLang="zh-CN" sz="2000"/>
              </a:br>
              <a:r>
                <a:rPr lang="en-US" altLang="zh-CN" sz="2000"/>
                <a:t> ⋖ 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⋖</a:t>
              </a:r>
              <a:br>
                <a:rPr lang="en-US" altLang="zh-CN" sz="2000"/>
              </a:br>
              <a:r>
                <a:rPr lang="en-US" altLang="zh-CN" sz="2000"/>
                <a:t> ⋗ </a:t>
              </a:r>
              <a:br>
                <a:rPr lang="en-US" altLang="zh-CN" sz="2000"/>
              </a:br>
              <a:r>
                <a:rPr lang="en-US" altLang="zh-CN" sz="2000"/>
                <a:t>⋖</a:t>
              </a:r>
            </a:p>
          </p:txBody>
        </p:sp>
        <p:sp>
          <p:nvSpPr>
            <p:cNvPr id="35897" name="Text Box 59">
              <a:extLst>
                <a:ext uri="{FF2B5EF4-FFF2-40B4-BE49-F238E27FC236}">
                  <a16:creationId xmlns:a16="http://schemas.microsoft.com/office/drawing/2014/main" id="{DEE8F056-68F5-49ED-8901-06A27B8A0B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151"/>
              <a:ext cx="384" cy="2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/>
                <a:t>⋖</a:t>
              </a:r>
              <a:r>
                <a:rPr kumimoji="0" lang="en-US" altLang="zh-CN" sz="2000" b="1"/>
                <a:t> </a:t>
              </a:r>
              <a:br>
                <a:rPr kumimoji="0" lang="en-US" altLang="zh-CN" sz="2000" b="1"/>
              </a:br>
              <a:r>
                <a:rPr lang="en-US" altLang="zh-CN" sz="2000"/>
                <a:t>⋖</a:t>
              </a:r>
              <a:br>
                <a:rPr lang="en-US" altLang="zh-CN" sz="2000"/>
              </a:br>
              <a:r>
                <a:rPr lang="en-US" altLang="zh-CN" sz="2000"/>
                <a:t> 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⋖</a:t>
              </a:r>
              <a:br>
                <a:rPr lang="en-US" altLang="zh-CN" sz="2000"/>
              </a:br>
              <a:r>
                <a:rPr lang="en-US" altLang="zh-CN" sz="2000"/>
                <a:t> ⋗ </a:t>
              </a:r>
              <a:br>
                <a:rPr lang="en-US" altLang="zh-CN" sz="2000"/>
              </a:br>
              <a:r>
                <a:rPr lang="en-US" altLang="zh-CN" sz="2000"/>
                <a:t>⋖</a:t>
              </a:r>
            </a:p>
          </p:txBody>
        </p:sp>
        <p:sp>
          <p:nvSpPr>
            <p:cNvPr id="35898" name="Text Box 60">
              <a:extLst>
                <a:ext uri="{FF2B5EF4-FFF2-40B4-BE49-F238E27FC236}">
                  <a16:creationId xmlns:a16="http://schemas.microsoft.com/office/drawing/2014/main" id="{856FFEB7-8602-4EA5-8CC7-224C66E2E4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1151"/>
              <a:ext cx="384" cy="2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/>
                <a:t>⋖</a:t>
              </a:r>
              <a:br>
                <a:rPr lang="en-US" altLang="zh-CN" sz="2000"/>
              </a:br>
              <a:r>
                <a:rPr kumimoji="0" lang="en-US" altLang="zh-CN" sz="2000" b="1"/>
                <a:t> </a:t>
              </a:r>
              <a:r>
                <a:rPr lang="en-US" altLang="zh-CN" sz="2000"/>
                <a:t>⋖</a:t>
              </a:r>
              <a:br>
                <a:rPr lang="en-US" altLang="zh-CN" sz="2000"/>
              </a:br>
              <a:r>
                <a:rPr lang="en-US" altLang="zh-CN" sz="2000"/>
                <a:t> ⋖</a:t>
              </a:r>
              <a:br>
                <a:rPr lang="en-US" altLang="zh-CN" sz="2000"/>
              </a:br>
              <a:r>
                <a:rPr kumimoji="0" lang="en-US" altLang="zh-CN" sz="2000" b="1"/>
                <a:t> </a:t>
              </a:r>
              <a:r>
                <a:rPr lang="en-US" altLang="zh-CN" sz="2000"/>
                <a:t>⋖</a:t>
              </a:r>
              <a:br>
                <a:rPr lang="en-US" altLang="zh-CN" sz="2000"/>
              </a:br>
              <a:r>
                <a:rPr lang="en-US" altLang="zh-CN" sz="2000"/>
                <a:t> ⋖ </a:t>
              </a:r>
              <a:br>
                <a:rPr lang="en-US" altLang="zh-CN" sz="2000"/>
              </a:br>
              <a:br>
                <a:rPr lang="en-US" altLang="zh-CN" sz="2000"/>
              </a:br>
              <a:r>
                <a:rPr lang="en-US" altLang="zh-CN" sz="2000"/>
                <a:t>⋖</a:t>
              </a:r>
              <a:br>
                <a:rPr lang="en-US" altLang="zh-CN" sz="2000"/>
              </a:br>
              <a:r>
                <a:rPr lang="en-US" altLang="zh-CN" sz="2000"/>
                <a:t> </a:t>
              </a:r>
              <a:br>
                <a:rPr lang="en-US" altLang="zh-CN" sz="2000"/>
              </a:br>
              <a:r>
                <a:rPr lang="en-US" altLang="zh-CN" sz="2000"/>
                <a:t> ⋖</a:t>
              </a:r>
            </a:p>
          </p:txBody>
        </p:sp>
        <p:sp>
          <p:nvSpPr>
            <p:cNvPr id="35899" name="Text Box 61">
              <a:extLst>
                <a:ext uri="{FF2B5EF4-FFF2-40B4-BE49-F238E27FC236}">
                  <a16:creationId xmlns:a16="http://schemas.microsoft.com/office/drawing/2014/main" id="{90EA62D4-7364-426B-85C1-124CCF22E3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1151"/>
              <a:ext cx="384" cy="2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/>
                <a:t>⋖</a:t>
              </a:r>
              <a:r>
                <a:rPr kumimoji="0" lang="en-US" altLang="zh-CN" sz="2000" b="1"/>
                <a:t> </a:t>
              </a:r>
              <a:br>
                <a:rPr kumimoji="0" lang="en-US" altLang="zh-CN" sz="2000" b="1"/>
              </a:br>
              <a:r>
                <a:rPr lang="en-US" altLang="zh-CN" sz="2000"/>
                <a:t>⋖</a:t>
              </a:r>
              <a:br>
                <a:rPr lang="en-US" altLang="zh-CN" sz="2000"/>
              </a:br>
              <a:r>
                <a:rPr lang="en-US" altLang="zh-CN" sz="2000"/>
                <a:t> ⋖</a:t>
              </a:r>
              <a:br>
                <a:rPr lang="en-US" altLang="zh-CN" sz="2000"/>
              </a:br>
              <a:r>
                <a:rPr kumimoji="0" lang="en-US" altLang="zh-CN" sz="2000" b="1"/>
                <a:t> </a:t>
              </a:r>
              <a:r>
                <a:rPr lang="en-US" altLang="zh-CN" sz="2000"/>
                <a:t>⋖</a:t>
              </a:r>
              <a:br>
                <a:rPr lang="en-US" altLang="zh-CN" sz="2000"/>
              </a:br>
              <a:r>
                <a:rPr lang="en-US" altLang="zh-CN" sz="2000"/>
                <a:t> ⋖ </a:t>
              </a:r>
              <a:br>
                <a:rPr lang="en-US" altLang="zh-CN" sz="2000"/>
              </a:br>
              <a:br>
                <a:rPr lang="en-US" altLang="zh-CN" sz="2000"/>
              </a:br>
              <a:r>
                <a:rPr lang="en-US" altLang="zh-CN" sz="2000"/>
                <a:t>⋖</a:t>
              </a:r>
              <a:br>
                <a:rPr lang="en-US" altLang="zh-CN" sz="2000"/>
              </a:br>
              <a:r>
                <a:rPr lang="en-US" altLang="zh-CN" sz="2000"/>
                <a:t> </a:t>
              </a:r>
              <a:br>
                <a:rPr lang="en-US" altLang="zh-CN" sz="2000"/>
              </a:br>
              <a:r>
                <a:rPr lang="en-US" altLang="zh-CN" sz="2000"/>
                <a:t> ⋖</a:t>
              </a:r>
            </a:p>
          </p:txBody>
        </p:sp>
        <p:sp>
          <p:nvSpPr>
            <p:cNvPr id="35900" name="Text Box 62">
              <a:extLst>
                <a:ext uri="{FF2B5EF4-FFF2-40B4-BE49-F238E27FC236}">
                  <a16:creationId xmlns:a16="http://schemas.microsoft.com/office/drawing/2014/main" id="{74FA71D0-C0E6-4340-B0E7-E4CB3EA042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151"/>
              <a:ext cx="384" cy="2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/>
                <a:t>⋗</a:t>
              </a:r>
              <a:r>
                <a:rPr kumimoji="0" lang="en-US" altLang="zh-CN" sz="2000" b="1"/>
                <a:t> </a:t>
              </a:r>
              <a:br>
                <a:rPr kumimoji="0" lang="en-US" altLang="zh-CN" sz="2000" b="1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 </a:t>
              </a:r>
              <a:r>
                <a:rPr lang="en-US" altLang="zh-CN" sz="2000">
                  <a:latin typeface="Lucida Sans Unicode" panose="020B0602030504020204" pitchFamily="34" charset="0"/>
                </a:rPr>
                <a:t>≐</a:t>
              </a:r>
              <a:r>
                <a:rPr lang="en-US" altLang="zh-CN" sz="2000"/>
                <a:t>  </a:t>
              </a:r>
              <a:br>
                <a:rPr lang="en-US" altLang="zh-CN" sz="2000"/>
              </a:br>
              <a:r>
                <a:rPr lang="en-US" altLang="zh-CN" sz="2400">
                  <a:latin typeface="Tahoma" panose="020B0604030504040204" pitchFamily="34" charset="0"/>
                </a:rPr>
                <a:t>⋗</a:t>
              </a:r>
            </a:p>
          </p:txBody>
        </p:sp>
        <p:sp>
          <p:nvSpPr>
            <p:cNvPr id="35901" name="Text Box 63">
              <a:extLst>
                <a:ext uri="{FF2B5EF4-FFF2-40B4-BE49-F238E27FC236}">
                  <a16:creationId xmlns:a16="http://schemas.microsoft.com/office/drawing/2014/main" id="{74E8E574-F2E0-4CAD-85DE-48B4E06275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2" y="1151"/>
              <a:ext cx="384" cy="2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/>
                <a:t>⋗</a:t>
              </a:r>
              <a:r>
                <a:rPr kumimoji="0" lang="en-US" altLang="zh-CN" sz="2000" b="1"/>
                <a:t> </a:t>
              </a: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r>
                <a:rPr lang="en-US" altLang="zh-CN" sz="2000"/>
                <a:t>⋗</a:t>
              </a:r>
              <a:br>
                <a:rPr lang="en-US" altLang="zh-CN" sz="2000"/>
              </a:br>
              <a:br>
                <a:rPr lang="en-US" altLang="zh-CN" sz="2000"/>
              </a:br>
              <a:r>
                <a:rPr lang="en-US" altLang="zh-CN" sz="2000"/>
                <a:t> ⋗ </a:t>
              </a:r>
              <a:br>
                <a:rPr lang="en-US" altLang="zh-CN" sz="2000"/>
              </a:br>
              <a:endParaRPr lang="en-US" altLang="zh-CN" sz="2000"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F925BC1B-F711-44BA-ABCB-7FB9C22DC6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4.6  </a:t>
            </a:r>
            <a:r>
              <a:rPr lang="zh-CN" altLang="en-US"/>
              <a:t>构造优先级函数</a:t>
            </a:r>
          </a:p>
        </p:txBody>
      </p:sp>
      <p:sp>
        <p:nvSpPr>
          <p:cNvPr id="36867" name="Rectangle 4">
            <a:extLst>
              <a:ext uri="{FF2B5EF4-FFF2-40B4-BE49-F238E27FC236}">
                <a16:creationId xmlns:a16="http://schemas.microsoft.com/office/drawing/2014/main" id="{66E25E07-4F46-46C9-BF09-E998421BE6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800"/>
              <a:t>输入：一个算符优先关系矩阵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800"/>
              <a:t>输出：对应的优先级函数，或返回不存在信息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800"/>
              <a:t>方法：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对每个非终结符</a:t>
            </a:r>
            <a:r>
              <a:rPr lang="en-US" altLang="zh-CN" sz="2800"/>
              <a:t>a</a:t>
            </a:r>
            <a:r>
              <a:rPr lang="zh-CN" altLang="en-US" sz="2800"/>
              <a:t>或</a:t>
            </a:r>
            <a:r>
              <a:rPr lang="en-US" altLang="zh-CN" sz="2800"/>
              <a:t>$</a:t>
            </a:r>
            <a:r>
              <a:rPr lang="zh-CN" altLang="en-US" sz="2800"/>
              <a:t>创建符号</a:t>
            </a:r>
            <a:r>
              <a:rPr lang="en-US" altLang="zh-CN" sz="2800"/>
              <a:t>f</a:t>
            </a:r>
            <a:r>
              <a:rPr lang="en-US" altLang="zh-CN" sz="2800" baseline="-25000"/>
              <a:t>a</a:t>
            </a:r>
            <a:r>
              <a:rPr lang="zh-CN" altLang="en-US" sz="2800"/>
              <a:t>和</a:t>
            </a:r>
            <a:r>
              <a:rPr lang="en-US" altLang="zh-CN" sz="2800"/>
              <a:t>g</a:t>
            </a:r>
            <a:r>
              <a:rPr lang="en-US" altLang="zh-CN" sz="2800" baseline="-25000"/>
              <a:t>a</a:t>
            </a:r>
            <a:endParaRPr lang="en-US" altLang="zh-CN" sz="28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将创建的符号划分为尽量多的组：</a:t>
            </a:r>
          </a:p>
          <a:p>
            <a:pPr marL="990600" lvl="1" indent="-533400" eaLnBrk="1" hangingPunct="1"/>
            <a:r>
              <a:rPr lang="zh-CN" altLang="en-US" sz="2400"/>
              <a:t>若</a:t>
            </a:r>
            <a:r>
              <a:rPr lang="en-US" altLang="zh-CN" sz="2400"/>
              <a:t>a≐b</a:t>
            </a:r>
            <a:r>
              <a:rPr lang="zh-CN" altLang="en-US" sz="2400"/>
              <a:t>，则</a:t>
            </a:r>
            <a:r>
              <a:rPr lang="en-US" altLang="zh-CN" sz="2400"/>
              <a:t>f</a:t>
            </a:r>
            <a:r>
              <a:rPr lang="en-US" altLang="zh-CN" sz="2400" baseline="-25000"/>
              <a:t>a</a:t>
            </a:r>
            <a:r>
              <a:rPr lang="zh-CN" altLang="en-US" sz="2400"/>
              <a:t>和</a:t>
            </a:r>
            <a:r>
              <a:rPr lang="en-US" altLang="zh-CN" sz="2400"/>
              <a:t>g</a:t>
            </a:r>
            <a:r>
              <a:rPr lang="en-US" altLang="zh-CN" sz="2400" baseline="-25000"/>
              <a:t>b</a:t>
            </a:r>
            <a:r>
              <a:rPr lang="zh-CN" altLang="en-US" sz="2400"/>
              <a:t>分在同一组</a:t>
            </a:r>
          </a:p>
          <a:p>
            <a:pPr marL="990600" lvl="1" indent="-533400" eaLnBrk="1" hangingPunct="1"/>
            <a:r>
              <a:rPr lang="zh-CN" altLang="en-US" sz="2400"/>
              <a:t>没有≐关系，也可能分在一组</a:t>
            </a:r>
          </a:p>
          <a:p>
            <a:pPr marL="1371600" lvl="2" indent="-457200" eaLnBrk="1" hangingPunct="1"/>
            <a:r>
              <a:rPr lang="zh-CN" altLang="en-US" sz="2000"/>
              <a:t>如</a:t>
            </a:r>
            <a:r>
              <a:rPr lang="en-US" altLang="zh-CN" sz="2000"/>
              <a:t>a≐b</a:t>
            </a:r>
            <a:r>
              <a:rPr lang="zh-CN" altLang="en-US" sz="2000"/>
              <a:t>，</a:t>
            </a:r>
            <a:r>
              <a:rPr lang="en-US" altLang="zh-CN" sz="2000"/>
              <a:t>c≐b</a:t>
            </a:r>
            <a:r>
              <a:rPr lang="zh-CN" altLang="en-US" sz="2000"/>
              <a:t>，则</a:t>
            </a:r>
            <a:r>
              <a:rPr lang="en-US" altLang="zh-CN" sz="2000"/>
              <a:t>f</a:t>
            </a:r>
            <a:r>
              <a:rPr lang="en-US" altLang="zh-CN" sz="2000" baseline="-25000"/>
              <a:t>a</a:t>
            </a:r>
            <a:r>
              <a:rPr lang="zh-CN" altLang="en-US" sz="2000"/>
              <a:t>和</a:t>
            </a:r>
            <a:r>
              <a:rPr lang="en-US" altLang="zh-CN" sz="2000"/>
              <a:t>f</a:t>
            </a:r>
            <a:r>
              <a:rPr lang="en-US" altLang="zh-CN" sz="2000" baseline="-25000"/>
              <a:t>c</a:t>
            </a:r>
            <a:r>
              <a:rPr lang="zh-CN" altLang="en-US" sz="2000"/>
              <a:t>会在一组</a:t>
            </a:r>
          </a:p>
          <a:p>
            <a:pPr marL="1371600" lvl="2" indent="-457200" eaLnBrk="1" hangingPunct="1"/>
            <a:r>
              <a:rPr lang="zh-CN" altLang="en-US" sz="2000"/>
              <a:t>若还有</a:t>
            </a:r>
            <a:r>
              <a:rPr lang="en-US" altLang="zh-CN" sz="2000"/>
              <a:t>c≐d</a:t>
            </a:r>
            <a:r>
              <a:rPr lang="zh-CN" altLang="en-US" sz="2000"/>
              <a:t>，</a:t>
            </a:r>
            <a:r>
              <a:rPr lang="en-US" altLang="zh-CN" sz="2000"/>
              <a:t>f</a:t>
            </a:r>
            <a:r>
              <a:rPr lang="en-US" altLang="zh-CN" sz="2000" baseline="-25000"/>
              <a:t>a</a:t>
            </a:r>
            <a:r>
              <a:rPr lang="zh-CN" altLang="en-US" sz="2000"/>
              <a:t>和</a:t>
            </a:r>
            <a:r>
              <a:rPr lang="en-US" altLang="zh-CN" sz="2000"/>
              <a:t>g</a:t>
            </a:r>
            <a:r>
              <a:rPr lang="en-US" altLang="zh-CN" sz="2000" baseline="-25000"/>
              <a:t>d</a:t>
            </a:r>
            <a:r>
              <a:rPr lang="zh-CN" altLang="en-US" sz="2000"/>
              <a:t>会在一组，而</a:t>
            </a:r>
            <a:r>
              <a:rPr lang="en-US" altLang="zh-CN" sz="2000"/>
              <a:t>a≐d</a:t>
            </a:r>
            <a:r>
              <a:rPr lang="zh-CN" altLang="en-US" sz="2000"/>
              <a:t>不一定成立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E0558248-99CA-4766-9A3E-87DA1F76AA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4.6 </a:t>
            </a:r>
            <a:r>
              <a:rPr lang="zh-CN" altLang="en-US"/>
              <a:t>（续）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70F6FE07-9CD8-435E-9E3E-15DA678E6B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 startAt="3"/>
            </a:pPr>
            <a:r>
              <a:rPr lang="zh-CN" altLang="en-US" sz="2800"/>
              <a:t>创建有向图</a:t>
            </a:r>
          </a:p>
          <a:p>
            <a:pPr marL="990600" lvl="1" indent="-533400" eaLnBrk="1" hangingPunct="1"/>
            <a:r>
              <a:rPr lang="zh-CN" altLang="en-US" sz="2400"/>
              <a:t>节点</a:t>
            </a:r>
            <a:r>
              <a:rPr lang="en-US" altLang="zh-CN" sz="2400"/>
              <a:t>——</a:t>
            </a:r>
            <a:r>
              <a:rPr lang="zh-CN" altLang="en-US" sz="2400"/>
              <a:t>符号分组</a:t>
            </a:r>
          </a:p>
          <a:p>
            <a:pPr marL="990600" lvl="1" indent="-533400" eaLnBrk="1" hangingPunct="1"/>
            <a:r>
              <a:rPr lang="zh-CN" altLang="en-US" sz="2400"/>
              <a:t>对任何</a:t>
            </a:r>
            <a:r>
              <a:rPr lang="en-US" altLang="zh-CN" sz="2400"/>
              <a:t>a</a:t>
            </a:r>
            <a:r>
              <a:rPr lang="zh-CN" altLang="en-US" sz="2400"/>
              <a:t>、</a:t>
            </a:r>
            <a:r>
              <a:rPr lang="en-US" altLang="zh-CN" sz="2400"/>
              <a:t>b</a:t>
            </a:r>
          </a:p>
          <a:p>
            <a:pPr marL="1371600" lvl="2" indent="-457200" eaLnBrk="1" hangingPunct="1"/>
            <a:r>
              <a:rPr lang="en-US" altLang="zh-CN" sz="2000"/>
              <a:t>a⋖b</a:t>
            </a:r>
            <a:r>
              <a:rPr lang="zh-CN" altLang="en-US" sz="2000"/>
              <a:t>，</a:t>
            </a:r>
            <a:r>
              <a:rPr lang="en-US" altLang="zh-CN" sz="2000"/>
              <a:t>g</a:t>
            </a:r>
            <a:r>
              <a:rPr lang="en-US" altLang="zh-CN" sz="2000" baseline="-25000"/>
              <a:t>b</a:t>
            </a:r>
            <a:r>
              <a:rPr lang="zh-CN" altLang="en-US" sz="2000"/>
              <a:t>所在组向</a:t>
            </a:r>
            <a:r>
              <a:rPr lang="en-US" altLang="zh-CN" sz="2000"/>
              <a:t>f</a:t>
            </a:r>
            <a:r>
              <a:rPr lang="en-US" altLang="zh-CN" sz="2000" baseline="-25000"/>
              <a:t>a</a:t>
            </a:r>
            <a:r>
              <a:rPr lang="zh-CN" altLang="en-US" sz="2000"/>
              <a:t>所在组引一条边</a:t>
            </a:r>
          </a:p>
          <a:p>
            <a:pPr marL="1371600" lvl="2" indent="-457200" eaLnBrk="1" hangingPunct="1"/>
            <a:r>
              <a:rPr lang="zh-CN" altLang="en-US" sz="2000"/>
              <a:t>若</a:t>
            </a:r>
            <a:r>
              <a:rPr lang="en-US" altLang="zh-CN" sz="2000"/>
              <a:t>a⋗b</a:t>
            </a:r>
            <a:r>
              <a:rPr lang="zh-CN" altLang="en-US" sz="2000"/>
              <a:t>，</a:t>
            </a:r>
            <a:r>
              <a:rPr lang="en-US" altLang="zh-CN" sz="2000"/>
              <a:t>f</a:t>
            </a:r>
            <a:r>
              <a:rPr lang="en-US" altLang="zh-CN" sz="2000" baseline="-25000"/>
              <a:t>a</a:t>
            </a:r>
            <a:r>
              <a:rPr lang="zh-CN" altLang="en-US" sz="2000"/>
              <a:t>所在组向</a:t>
            </a:r>
            <a:r>
              <a:rPr lang="en-US" altLang="zh-CN" sz="2000"/>
              <a:t>g</a:t>
            </a:r>
            <a:r>
              <a:rPr lang="en-US" altLang="zh-CN" sz="2000" baseline="-25000"/>
              <a:t>b</a:t>
            </a:r>
            <a:r>
              <a:rPr lang="zh-CN" altLang="en-US" sz="2000"/>
              <a:t>所在组引一条边</a:t>
            </a:r>
          </a:p>
          <a:p>
            <a:pPr marL="1371600" lvl="2" indent="-457200" eaLnBrk="1" hangingPunct="1"/>
            <a:r>
              <a:rPr lang="en-US" altLang="zh-CN" sz="2000"/>
              <a:t>f</a:t>
            </a:r>
            <a:r>
              <a:rPr lang="en-US" altLang="zh-CN" sz="2000" baseline="-25000"/>
              <a:t>a</a:t>
            </a:r>
            <a:r>
              <a:rPr lang="zh-CN" altLang="en-US" sz="2000"/>
              <a:t>到</a:t>
            </a:r>
            <a:r>
              <a:rPr lang="en-US" altLang="zh-CN" sz="2000"/>
              <a:t>g</a:t>
            </a:r>
            <a:r>
              <a:rPr lang="en-US" altLang="zh-CN" sz="2000" baseline="-25000"/>
              <a:t>b</a:t>
            </a:r>
            <a:r>
              <a:rPr lang="zh-CN" altLang="en-US" sz="2000"/>
              <a:t>的边（路径）：</a:t>
            </a:r>
            <a:r>
              <a:rPr lang="en-US" altLang="zh-CN" sz="2000"/>
              <a:t>f(a)</a:t>
            </a:r>
            <a:r>
              <a:rPr lang="zh-CN" altLang="en-US" sz="2000"/>
              <a:t>必须大于</a:t>
            </a:r>
            <a:r>
              <a:rPr lang="en-US" altLang="zh-CN" sz="2000"/>
              <a:t>g(b)</a:t>
            </a:r>
            <a:r>
              <a:rPr lang="zh-CN" altLang="en-US" sz="2000"/>
              <a:t>，反之亦然。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 startAt="3"/>
            </a:pPr>
            <a:r>
              <a:rPr lang="zh-CN" altLang="en-US" sz="2800"/>
              <a:t>利用有向图获得优先函数</a:t>
            </a:r>
          </a:p>
          <a:p>
            <a:pPr marL="990600" lvl="1" indent="-533400" eaLnBrk="1" hangingPunct="1"/>
            <a:r>
              <a:rPr lang="zh-CN" altLang="en-US" sz="2400"/>
              <a:t>有向图存在回路</a:t>
            </a:r>
            <a:r>
              <a:rPr lang="zh-CN" altLang="en-US" sz="2400">
                <a:sym typeface="Wingdings" panose="05000000000000000000" pitchFamily="2" charset="2"/>
              </a:rPr>
              <a:t></a:t>
            </a:r>
            <a:r>
              <a:rPr lang="zh-CN" altLang="en-US" sz="2400"/>
              <a:t>优先级函数不存在</a:t>
            </a:r>
          </a:p>
          <a:p>
            <a:pPr marL="990600" lvl="1" indent="-533400" eaLnBrk="1" hangingPunct="1"/>
            <a:r>
              <a:rPr lang="zh-CN" altLang="en-US" sz="2400"/>
              <a:t>否则</a:t>
            </a:r>
          </a:p>
          <a:p>
            <a:pPr marL="1371600" lvl="2" indent="-457200" eaLnBrk="1" hangingPunct="1"/>
            <a:r>
              <a:rPr lang="en-US" altLang="zh-CN" sz="2000"/>
              <a:t>f(a) = f</a:t>
            </a:r>
            <a:r>
              <a:rPr lang="en-US" altLang="zh-CN" sz="2000" baseline="-25000"/>
              <a:t>a</a:t>
            </a:r>
            <a:r>
              <a:rPr lang="zh-CN" altLang="en-US" sz="2000"/>
              <a:t>所在组开始的最长路径长度</a:t>
            </a:r>
          </a:p>
          <a:p>
            <a:pPr marL="1371600" lvl="2" indent="-457200" eaLnBrk="1" hangingPunct="1"/>
            <a:r>
              <a:rPr lang="en-US" altLang="zh-CN" sz="2000"/>
              <a:t>g(a) = g</a:t>
            </a:r>
            <a:r>
              <a:rPr lang="en-US" altLang="zh-CN" sz="2000" baseline="-25000"/>
              <a:t>a</a:t>
            </a:r>
            <a:r>
              <a:rPr lang="zh-CN" altLang="en-US" sz="2000"/>
              <a:t>所在组开始的最长路径长度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33FAC099-34B1-447F-A837-95E9C63AE0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4.30</a:t>
            </a:r>
          </a:p>
        </p:txBody>
      </p:sp>
      <p:sp>
        <p:nvSpPr>
          <p:cNvPr id="38915" name="Line 4">
            <a:extLst>
              <a:ext uri="{FF2B5EF4-FFF2-40B4-BE49-F238E27FC236}">
                <a16:creationId xmlns:a16="http://schemas.microsoft.com/office/drawing/2014/main" id="{7EB86DBD-F583-42DC-9328-11DEE33711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2162175"/>
            <a:ext cx="403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16" name="Line 5">
            <a:extLst>
              <a:ext uri="{FF2B5EF4-FFF2-40B4-BE49-F238E27FC236}">
                <a16:creationId xmlns:a16="http://schemas.microsoft.com/office/drawing/2014/main" id="{00F4FE87-A1A2-4E44-BBB2-25FAD95A586C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1704975"/>
            <a:ext cx="0" cy="205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17" name="Text Box 6">
            <a:extLst>
              <a:ext uri="{FF2B5EF4-FFF2-40B4-BE49-F238E27FC236}">
                <a16:creationId xmlns:a16="http://schemas.microsoft.com/office/drawing/2014/main" id="{5198E67A-2669-4221-A10F-AB8766339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085975"/>
            <a:ext cx="6096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/>
              <a:t>id</a:t>
            </a:r>
            <a:br>
              <a:rPr kumimoji="0" lang="en-US" altLang="zh-CN" sz="2800" b="1"/>
            </a:br>
            <a:r>
              <a:rPr kumimoji="0" lang="en-US" altLang="zh-CN" sz="2800"/>
              <a:t>+</a:t>
            </a:r>
            <a:br>
              <a:rPr kumimoji="0" lang="en-US" altLang="zh-CN" sz="2800"/>
            </a:br>
            <a:r>
              <a:rPr kumimoji="0" lang="en-US" altLang="zh-CN" sz="2800"/>
              <a:t>*</a:t>
            </a:r>
            <a:br>
              <a:rPr kumimoji="0" lang="en-US" altLang="zh-CN" sz="2800"/>
            </a:br>
            <a:r>
              <a:rPr kumimoji="0" lang="en-US" altLang="zh-CN" sz="2800"/>
              <a:t>$</a:t>
            </a:r>
            <a:endParaRPr kumimoji="0" lang="en-US" altLang="zh-CN" sz="2800" b="1"/>
          </a:p>
        </p:txBody>
      </p:sp>
      <p:sp>
        <p:nvSpPr>
          <p:cNvPr id="38918" name="Line 7">
            <a:extLst>
              <a:ext uri="{FF2B5EF4-FFF2-40B4-BE49-F238E27FC236}">
                <a16:creationId xmlns:a16="http://schemas.microsoft.com/office/drawing/2014/main" id="{44B6FCD7-6EF1-472C-8F3A-686193284AB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1704975"/>
            <a:ext cx="0" cy="205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19" name="Text Box 8">
            <a:extLst>
              <a:ext uri="{FF2B5EF4-FFF2-40B4-BE49-F238E27FC236}">
                <a16:creationId xmlns:a16="http://schemas.microsoft.com/office/drawing/2014/main" id="{80636BCA-09B3-4EE8-B79A-E82D4A6A58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085975"/>
            <a:ext cx="6096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br>
              <a:rPr kumimoji="0" lang="en-US" altLang="zh-CN" sz="2800" b="1"/>
            </a:br>
            <a:r>
              <a:rPr kumimoji="0" lang="en-US" altLang="zh-CN" sz="2800" b="1"/>
              <a:t> </a:t>
            </a:r>
            <a:r>
              <a:rPr lang="en-US" altLang="zh-CN" sz="2800"/>
              <a:t>⋖</a:t>
            </a:r>
            <a:br>
              <a:rPr lang="en-US" altLang="zh-CN" sz="2800"/>
            </a:br>
            <a:r>
              <a:rPr lang="en-US" altLang="zh-CN" sz="2800"/>
              <a:t> ⋖</a:t>
            </a:r>
            <a:br>
              <a:rPr lang="en-US" altLang="zh-CN" sz="2800"/>
            </a:br>
            <a:r>
              <a:rPr lang="en-US" altLang="zh-CN" sz="2800"/>
              <a:t> ⋖</a:t>
            </a:r>
          </a:p>
        </p:txBody>
      </p:sp>
      <p:sp>
        <p:nvSpPr>
          <p:cNvPr id="38920" name="Text Box 9">
            <a:extLst>
              <a:ext uri="{FF2B5EF4-FFF2-40B4-BE49-F238E27FC236}">
                <a16:creationId xmlns:a16="http://schemas.microsoft.com/office/drawing/2014/main" id="{F59B83E3-5726-4EC4-BCA2-897ED7235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704975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/>
              <a:t>id</a:t>
            </a:r>
          </a:p>
        </p:txBody>
      </p:sp>
      <p:sp>
        <p:nvSpPr>
          <p:cNvPr id="38921" name="Line 10">
            <a:extLst>
              <a:ext uri="{FF2B5EF4-FFF2-40B4-BE49-F238E27FC236}">
                <a16:creationId xmlns:a16="http://schemas.microsoft.com/office/drawing/2014/main" id="{C3AAF720-1B8E-4ADA-8B63-C10F8B154E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1704975"/>
            <a:ext cx="0" cy="205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22" name="Text Box 11">
            <a:extLst>
              <a:ext uri="{FF2B5EF4-FFF2-40B4-BE49-F238E27FC236}">
                <a16:creationId xmlns:a16="http://schemas.microsoft.com/office/drawing/2014/main" id="{A56C1B55-6006-4EBC-B0EC-B4D2ADDCB6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085975"/>
            <a:ext cx="6096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⋗</a:t>
            </a:r>
            <a:r>
              <a:rPr kumimoji="0" lang="en-US" altLang="zh-CN" sz="2800" b="1"/>
              <a:t> </a:t>
            </a:r>
            <a:r>
              <a:rPr lang="en-US" altLang="zh-CN" sz="2800"/>
              <a:t>⋗</a:t>
            </a:r>
            <a:br>
              <a:rPr lang="en-US" altLang="zh-CN" sz="2800"/>
            </a:br>
            <a:r>
              <a:rPr lang="en-US" altLang="zh-CN" sz="2800"/>
              <a:t>⋗ </a:t>
            </a:r>
            <a:br>
              <a:rPr lang="en-US" altLang="zh-CN" sz="2800"/>
            </a:br>
            <a:r>
              <a:rPr lang="en-US" altLang="zh-CN" sz="2800"/>
              <a:t>⋖</a:t>
            </a:r>
          </a:p>
        </p:txBody>
      </p:sp>
      <p:sp>
        <p:nvSpPr>
          <p:cNvPr id="38923" name="Text Box 12">
            <a:extLst>
              <a:ext uri="{FF2B5EF4-FFF2-40B4-BE49-F238E27FC236}">
                <a16:creationId xmlns:a16="http://schemas.microsoft.com/office/drawing/2014/main" id="{50C03DC3-A0F2-4D6D-88B5-2129979634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704975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+</a:t>
            </a:r>
          </a:p>
        </p:txBody>
      </p:sp>
      <p:sp>
        <p:nvSpPr>
          <p:cNvPr id="38924" name="Line 13">
            <a:extLst>
              <a:ext uri="{FF2B5EF4-FFF2-40B4-BE49-F238E27FC236}">
                <a16:creationId xmlns:a16="http://schemas.microsoft.com/office/drawing/2014/main" id="{83BD5A4A-F82E-4A0C-88D9-81A9C10AD1B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1704975"/>
            <a:ext cx="0" cy="205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25" name="Text Box 14">
            <a:extLst>
              <a:ext uri="{FF2B5EF4-FFF2-40B4-BE49-F238E27FC236}">
                <a16:creationId xmlns:a16="http://schemas.microsoft.com/office/drawing/2014/main" id="{C7495A0B-CB14-4F41-8DFC-9AF15BA30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2085975"/>
            <a:ext cx="6096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⋗</a:t>
            </a:r>
            <a:r>
              <a:rPr kumimoji="0" lang="en-US" altLang="zh-CN" sz="2800" b="1"/>
              <a:t> </a:t>
            </a:r>
            <a:r>
              <a:rPr lang="en-US" altLang="zh-CN" sz="2800"/>
              <a:t>⋖</a:t>
            </a:r>
            <a:br>
              <a:rPr lang="en-US" altLang="zh-CN" sz="2800"/>
            </a:br>
            <a:r>
              <a:rPr lang="en-US" altLang="zh-CN" sz="2800"/>
              <a:t>⋗ </a:t>
            </a:r>
            <a:br>
              <a:rPr lang="en-US" altLang="zh-CN" sz="2800"/>
            </a:br>
            <a:r>
              <a:rPr lang="en-US" altLang="zh-CN" sz="2800"/>
              <a:t>⋖</a:t>
            </a:r>
          </a:p>
        </p:txBody>
      </p:sp>
      <p:sp>
        <p:nvSpPr>
          <p:cNvPr id="38926" name="Text Box 15">
            <a:extLst>
              <a:ext uri="{FF2B5EF4-FFF2-40B4-BE49-F238E27FC236}">
                <a16:creationId xmlns:a16="http://schemas.microsoft.com/office/drawing/2014/main" id="{2F706E58-A008-49F2-BE93-D7E8E8792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1704975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*</a:t>
            </a:r>
          </a:p>
        </p:txBody>
      </p:sp>
      <p:sp>
        <p:nvSpPr>
          <p:cNvPr id="38927" name="Text Box 16">
            <a:extLst>
              <a:ext uri="{FF2B5EF4-FFF2-40B4-BE49-F238E27FC236}">
                <a16:creationId xmlns:a16="http://schemas.microsoft.com/office/drawing/2014/main" id="{878315AC-24DB-415F-A607-6A5931F6EF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2085975"/>
            <a:ext cx="6096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⋗</a:t>
            </a:r>
            <a:r>
              <a:rPr kumimoji="0" lang="en-US" altLang="zh-CN" sz="2800" b="1"/>
              <a:t> </a:t>
            </a:r>
            <a:r>
              <a:rPr lang="en-US" altLang="zh-CN" sz="2800"/>
              <a:t>⋗</a:t>
            </a:r>
            <a:br>
              <a:rPr lang="en-US" altLang="zh-CN" sz="2800"/>
            </a:br>
            <a:r>
              <a:rPr lang="en-US" altLang="zh-CN" sz="2800"/>
              <a:t>⋗ </a:t>
            </a:r>
          </a:p>
        </p:txBody>
      </p:sp>
      <p:sp>
        <p:nvSpPr>
          <p:cNvPr id="38928" name="Text Box 17">
            <a:extLst>
              <a:ext uri="{FF2B5EF4-FFF2-40B4-BE49-F238E27FC236}">
                <a16:creationId xmlns:a16="http://schemas.microsoft.com/office/drawing/2014/main" id="{27872389-CE9E-4098-9318-08F7D0760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1704975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$</a:t>
            </a:r>
          </a:p>
        </p:txBody>
      </p:sp>
      <p:pic>
        <p:nvPicPr>
          <p:cNvPr id="38929" name="Picture 18" descr="preced">
            <a:extLst>
              <a:ext uri="{FF2B5EF4-FFF2-40B4-BE49-F238E27FC236}">
                <a16:creationId xmlns:a16="http://schemas.microsoft.com/office/drawing/2014/main" id="{5347BC64-B061-4EEC-9C62-0F592B80B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2663" y="1479550"/>
            <a:ext cx="3894137" cy="393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30" name="Line 19">
            <a:extLst>
              <a:ext uri="{FF2B5EF4-FFF2-40B4-BE49-F238E27FC236}">
                <a16:creationId xmlns:a16="http://schemas.microsoft.com/office/drawing/2014/main" id="{245235DA-4A12-4F88-972D-D6F06EC8575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4572000"/>
            <a:ext cx="403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31" name="Line 20">
            <a:extLst>
              <a:ext uri="{FF2B5EF4-FFF2-40B4-BE49-F238E27FC236}">
                <a16:creationId xmlns:a16="http://schemas.microsoft.com/office/drawing/2014/main" id="{12C416F5-911C-42A9-AFEE-B1A36CB949A1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4114800"/>
            <a:ext cx="0" cy="1295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32" name="Text Box 21">
            <a:extLst>
              <a:ext uri="{FF2B5EF4-FFF2-40B4-BE49-F238E27FC236}">
                <a16:creationId xmlns:a16="http://schemas.microsoft.com/office/drawing/2014/main" id="{795D77E8-94F5-47E9-AA44-532D0656EB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495800"/>
            <a:ext cx="60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/>
              <a:t>f</a:t>
            </a:r>
            <a:br>
              <a:rPr kumimoji="0" lang="en-US" altLang="zh-CN" sz="2800" b="1"/>
            </a:br>
            <a:r>
              <a:rPr kumimoji="0" lang="en-US" altLang="zh-CN" sz="2800" b="1"/>
              <a:t>g</a:t>
            </a:r>
          </a:p>
        </p:txBody>
      </p:sp>
      <p:sp>
        <p:nvSpPr>
          <p:cNvPr id="38933" name="Line 22">
            <a:extLst>
              <a:ext uri="{FF2B5EF4-FFF2-40B4-BE49-F238E27FC236}">
                <a16:creationId xmlns:a16="http://schemas.microsoft.com/office/drawing/2014/main" id="{CBDA09E3-ED8D-46FE-AA95-CC467E7DD2D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4114800"/>
            <a:ext cx="0" cy="1295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34" name="Text Box 23">
            <a:extLst>
              <a:ext uri="{FF2B5EF4-FFF2-40B4-BE49-F238E27FC236}">
                <a16:creationId xmlns:a16="http://schemas.microsoft.com/office/drawing/2014/main" id="{FD1C364C-BD65-4335-80A2-3D31EFDE3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495800"/>
            <a:ext cx="60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4</a:t>
            </a:r>
            <a:br>
              <a:rPr kumimoji="0" lang="en-US" altLang="zh-CN" sz="2800"/>
            </a:br>
            <a:r>
              <a:rPr kumimoji="0" lang="en-US" altLang="zh-CN" sz="2800"/>
              <a:t>5</a:t>
            </a:r>
            <a:endParaRPr lang="en-US" altLang="zh-CN" sz="2800"/>
          </a:p>
        </p:txBody>
      </p:sp>
      <p:sp>
        <p:nvSpPr>
          <p:cNvPr id="38935" name="Text Box 24">
            <a:extLst>
              <a:ext uri="{FF2B5EF4-FFF2-40B4-BE49-F238E27FC236}">
                <a16:creationId xmlns:a16="http://schemas.microsoft.com/office/drawing/2014/main" id="{5A92B14D-A051-4A52-814F-B61586C440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1148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/>
              <a:t>id</a:t>
            </a:r>
          </a:p>
        </p:txBody>
      </p:sp>
      <p:sp>
        <p:nvSpPr>
          <p:cNvPr id="38936" name="Line 25">
            <a:extLst>
              <a:ext uri="{FF2B5EF4-FFF2-40B4-BE49-F238E27FC236}">
                <a16:creationId xmlns:a16="http://schemas.microsoft.com/office/drawing/2014/main" id="{DA44EDE1-60B0-4C1F-9FEB-4A64A247BAC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4114800"/>
            <a:ext cx="0" cy="1295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37" name="Text Box 26">
            <a:extLst>
              <a:ext uri="{FF2B5EF4-FFF2-40B4-BE49-F238E27FC236}">
                <a16:creationId xmlns:a16="http://schemas.microsoft.com/office/drawing/2014/main" id="{07D48DC0-9CAE-44D0-8863-DCE50E9015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511675"/>
            <a:ext cx="60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2</a:t>
            </a:r>
            <a:br>
              <a:rPr lang="en-US" altLang="zh-CN" sz="2800"/>
            </a:br>
            <a:r>
              <a:rPr lang="en-US" altLang="zh-CN" sz="2800"/>
              <a:t>1</a:t>
            </a:r>
          </a:p>
        </p:txBody>
      </p:sp>
      <p:sp>
        <p:nvSpPr>
          <p:cNvPr id="38938" name="Text Box 27">
            <a:extLst>
              <a:ext uri="{FF2B5EF4-FFF2-40B4-BE49-F238E27FC236}">
                <a16:creationId xmlns:a16="http://schemas.microsoft.com/office/drawing/2014/main" id="{97B78AC9-2E2B-45C9-96A1-666F050D8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1148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+</a:t>
            </a:r>
          </a:p>
        </p:txBody>
      </p:sp>
      <p:sp>
        <p:nvSpPr>
          <p:cNvPr id="38939" name="Line 28">
            <a:extLst>
              <a:ext uri="{FF2B5EF4-FFF2-40B4-BE49-F238E27FC236}">
                <a16:creationId xmlns:a16="http://schemas.microsoft.com/office/drawing/2014/main" id="{560D43A4-FD97-406E-A4E2-CF1EA35ABEE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4114800"/>
            <a:ext cx="0" cy="1295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40" name="Text Box 29">
            <a:extLst>
              <a:ext uri="{FF2B5EF4-FFF2-40B4-BE49-F238E27FC236}">
                <a16:creationId xmlns:a16="http://schemas.microsoft.com/office/drawing/2014/main" id="{660A2525-6BF2-4562-988F-DDA798F8FD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4511675"/>
            <a:ext cx="60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4</a:t>
            </a:r>
            <a:br>
              <a:rPr lang="en-US" altLang="zh-CN" sz="2800"/>
            </a:br>
            <a:r>
              <a:rPr lang="en-US" altLang="zh-CN" sz="2800"/>
              <a:t>3</a:t>
            </a:r>
          </a:p>
        </p:txBody>
      </p:sp>
      <p:sp>
        <p:nvSpPr>
          <p:cNvPr id="38941" name="Text Box 30">
            <a:extLst>
              <a:ext uri="{FF2B5EF4-FFF2-40B4-BE49-F238E27FC236}">
                <a16:creationId xmlns:a16="http://schemas.microsoft.com/office/drawing/2014/main" id="{4F4E6F4D-E0FC-4C16-813C-44FE8CB50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41148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*</a:t>
            </a:r>
          </a:p>
        </p:txBody>
      </p:sp>
      <p:sp>
        <p:nvSpPr>
          <p:cNvPr id="38942" name="Text Box 31">
            <a:extLst>
              <a:ext uri="{FF2B5EF4-FFF2-40B4-BE49-F238E27FC236}">
                <a16:creationId xmlns:a16="http://schemas.microsoft.com/office/drawing/2014/main" id="{123660E8-518A-4D73-8FD3-0139BC2041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511675"/>
            <a:ext cx="60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0</a:t>
            </a:r>
            <a:br>
              <a:rPr lang="en-US" altLang="zh-CN" sz="2800"/>
            </a:br>
            <a:r>
              <a:rPr lang="en-US" altLang="zh-CN" sz="2800"/>
              <a:t>0</a:t>
            </a:r>
          </a:p>
        </p:txBody>
      </p:sp>
      <p:sp>
        <p:nvSpPr>
          <p:cNvPr id="38943" name="Text Box 32">
            <a:extLst>
              <a:ext uri="{FF2B5EF4-FFF2-40B4-BE49-F238E27FC236}">
                <a16:creationId xmlns:a16="http://schemas.microsoft.com/office/drawing/2014/main" id="{6182A0DB-091E-4378-9C4F-5E775ECC52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1148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$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8F5A489F-D0C2-4DE5-B588-275A374EFC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4.6.5  </a:t>
            </a:r>
            <a:r>
              <a:rPr lang="zh-CN" altLang="en-US" dirty="0"/>
              <a:t>算符优先分析的错误处理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DBFC7EB8-5233-4E2C-806C-225CE5A366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zh-CN" altLang="en-US" dirty="0"/>
              <a:t>两种错误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栈顶终结符和输入的下一个终结符间无优先关系（移进</a:t>
            </a:r>
            <a:r>
              <a:rPr lang="en-US" altLang="zh-CN" dirty="0"/>
              <a:t>/</a:t>
            </a:r>
            <a:r>
              <a:rPr lang="zh-CN" altLang="en-US" dirty="0"/>
              <a:t>归约错误）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句柄与任何产生式右部都不相同（归约错误）</a:t>
            </a:r>
          </a:p>
          <a:p>
            <a:pPr marL="609600" indent="-609600" eaLnBrk="1" hangingPunct="1"/>
            <a:r>
              <a:rPr lang="zh-CN" altLang="en-US" dirty="0"/>
              <a:t>只有这两个错误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考虑算法</a:t>
            </a:r>
            <a:r>
              <a:rPr lang="en-US" altLang="zh-CN" dirty="0"/>
              <a:t>4.5</a:t>
            </a:r>
            <a:r>
              <a:rPr lang="zh-CN" altLang="en-US" dirty="0"/>
              <a:t>，总会找到⋖</a:t>
            </a:r>
            <a:r>
              <a:rPr lang="en-US" altLang="zh-CN" dirty="0"/>
              <a:t>——</a:t>
            </a:r>
            <a:r>
              <a:rPr lang="zh-CN" altLang="en-US" dirty="0"/>
              <a:t>栈底为</a:t>
            </a:r>
            <a:r>
              <a:rPr lang="en-US" altLang="zh-CN" dirty="0"/>
              <a:t>$</a:t>
            </a:r>
            <a:r>
              <a:rPr lang="zh-CN" altLang="en-US" dirty="0"/>
              <a:t>，优先级低于任何终结符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压栈过程中相邻符号必须满足⋖、≐，因此，算法肯定可以找到句柄，进行归约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A76295AF-9D85-4401-978A-543A91DED9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处理归约错误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E105908E-0C4F-4E2E-A7D8-748639D74F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错误诊断信息</a:t>
            </a:r>
            <a:r>
              <a:rPr lang="en-US" altLang="zh-CN" dirty="0"/>
              <a:t>——</a:t>
            </a:r>
            <a:r>
              <a:rPr lang="zh-CN" altLang="en-US" dirty="0"/>
              <a:t>句柄“像”哪个产生式右部？</a:t>
            </a:r>
          </a:p>
          <a:p>
            <a:pPr eaLnBrk="1" hangingPunct="1"/>
            <a:r>
              <a:rPr lang="zh-CN" altLang="en-US" dirty="0"/>
              <a:t>句柄</a:t>
            </a:r>
            <a:r>
              <a:rPr lang="en-US" altLang="zh-CN" dirty="0" err="1"/>
              <a:t>abc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右部</a:t>
            </a:r>
            <a:r>
              <a:rPr lang="en-US" altLang="zh-CN" dirty="0" err="1"/>
              <a:t>aEcE</a:t>
            </a:r>
            <a:r>
              <a:rPr lang="zh-CN" altLang="en-US" dirty="0"/>
              <a:t>：“非法的</a:t>
            </a:r>
            <a:r>
              <a:rPr lang="en-US" altLang="zh-CN" dirty="0"/>
              <a:t>b</a:t>
            </a:r>
            <a:r>
              <a:rPr lang="zh-CN" altLang="en-US" dirty="0"/>
              <a:t>”</a:t>
            </a:r>
            <a:endParaRPr lang="en-US" altLang="zh-CN" dirty="0"/>
          </a:p>
          <a:p>
            <a:pPr lvl="1" eaLnBrk="1" hangingPunct="1"/>
            <a:r>
              <a:rPr lang="en-US" altLang="zh-CN" dirty="0" err="1"/>
              <a:t>abEdc</a:t>
            </a:r>
            <a:r>
              <a:rPr lang="zh-CN" altLang="en-US" dirty="0"/>
              <a:t>：“缺少</a:t>
            </a:r>
            <a:r>
              <a:rPr lang="en-US" altLang="zh-CN" dirty="0"/>
              <a:t>d</a:t>
            </a:r>
            <a:r>
              <a:rPr lang="zh-CN" altLang="en-US" dirty="0"/>
              <a:t>”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终结符匹配，非终结符不匹配，句柄中无非终结符，右部</a:t>
            </a:r>
            <a:r>
              <a:rPr lang="en-US" altLang="zh-CN" dirty="0" err="1"/>
              <a:t>aEbc</a:t>
            </a:r>
            <a:r>
              <a:rPr lang="zh-CN" altLang="en-US" dirty="0"/>
              <a:t>：“缺少</a:t>
            </a:r>
            <a:r>
              <a:rPr lang="en-US" altLang="zh-CN" dirty="0"/>
              <a:t>E</a:t>
            </a:r>
            <a:r>
              <a:rPr lang="zh-CN" altLang="en-US" dirty="0"/>
              <a:t>”</a:t>
            </a:r>
            <a:endParaRPr lang="en-US" altLang="zh-CN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675287EB-8C26-4295-8138-40EDEFC3F3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难点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FFC27DDE-2E78-4DF9-A14C-678D6D2042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/>
            <a:r>
              <a:rPr lang="zh-CN" altLang="en-US" sz="2800"/>
              <a:t>有穷或无穷个符号串“可被弹出”？</a:t>
            </a:r>
            <a:br>
              <a:rPr lang="zh-CN" altLang="en-US" sz="2800"/>
            </a:br>
            <a:r>
              <a:rPr lang="en-US" altLang="zh-CN" sz="2800"/>
              <a:t>b</a:t>
            </a:r>
            <a:r>
              <a:rPr lang="en-US" altLang="zh-CN" sz="2800" baseline="-25000"/>
              <a:t>1</a:t>
            </a:r>
            <a:r>
              <a:rPr lang="en-US" altLang="zh-CN" sz="2800"/>
              <a:t>≐b</a:t>
            </a:r>
            <a:r>
              <a:rPr lang="en-US" altLang="zh-CN" sz="2800" baseline="-25000"/>
              <a:t>2</a:t>
            </a:r>
            <a:r>
              <a:rPr lang="en-US" altLang="zh-CN" sz="2800"/>
              <a:t>≐…≐b</a:t>
            </a:r>
            <a:r>
              <a:rPr lang="en-US" altLang="zh-CN" sz="2800" baseline="-25000"/>
              <a:t>k</a:t>
            </a:r>
            <a:endParaRPr lang="en-US" altLang="zh-CN" sz="2800"/>
          </a:p>
          <a:p>
            <a:pPr eaLnBrk="1" hangingPunct="1"/>
            <a:r>
              <a:rPr lang="zh-CN" altLang="en-US" sz="2800"/>
              <a:t>有穷，预先计算符号串“最相像”右部</a:t>
            </a:r>
          </a:p>
          <a:p>
            <a:pPr eaLnBrk="1" hangingPunct="1"/>
            <a:r>
              <a:rPr lang="zh-CN" altLang="en-US" sz="2800"/>
              <a:t>有向图</a:t>
            </a:r>
          </a:p>
          <a:p>
            <a:pPr lvl="1" eaLnBrk="1" hangingPunct="1"/>
            <a:r>
              <a:rPr lang="zh-CN" altLang="en-US" sz="2400"/>
              <a:t>节点</a:t>
            </a:r>
            <a:r>
              <a:rPr lang="zh-CN" altLang="en-US" sz="2400">
                <a:sym typeface="Wingdings" panose="05000000000000000000" pitchFamily="2" charset="2"/>
              </a:rPr>
              <a:t>终结符</a:t>
            </a:r>
          </a:p>
          <a:p>
            <a:pPr lvl="1" eaLnBrk="1" hangingPunct="1"/>
            <a:r>
              <a:rPr lang="en-US" altLang="zh-CN" sz="2400">
                <a:sym typeface="Wingdings" panose="05000000000000000000" pitchFamily="2" charset="2"/>
              </a:rPr>
              <a:t>a</a:t>
            </a:r>
            <a:r>
              <a:rPr lang="zh-CN" altLang="en-US" sz="2400">
                <a:sym typeface="Wingdings" panose="05000000000000000000" pitchFamily="2" charset="2"/>
              </a:rPr>
              <a:t>到</a:t>
            </a:r>
            <a:r>
              <a:rPr lang="en-US" altLang="zh-CN" sz="2400">
                <a:sym typeface="Wingdings" panose="05000000000000000000" pitchFamily="2" charset="2"/>
              </a:rPr>
              <a:t>b</a:t>
            </a:r>
            <a:r>
              <a:rPr lang="zh-CN" altLang="en-US" sz="2400">
                <a:sym typeface="Wingdings" panose="05000000000000000000" pitchFamily="2" charset="2"/>
              </a:rPr>
              <a:t>的边</a:t>
            </a:r>
            <a:r>
              <a:rPr lang="en-US" altLang="zh-CN" sz="2400">
                <a:sym typeface="Wingdings" panose="05000000000000000000" pitchFamily="2" charset="2"/>
              </a:rPr>
              <a:t>a </a:t>
            </a:r>
            <a:r>
              <a:rPr lang="en-US" altLang="zh-CN" sz="2400"/>
              <a:t>≐b</a:t>
            </a:r>
          </a:p>
          <a:p>
            <a:pPr lvl="1" eaLnBrk="1" hangingPunct="1"/>
            <a:r>
              <a:rPr lang="zh-CN" altLang="en-US" sz="2400"/>
              <a:t>路径</a:t>
            </a:r>
            <a:r>
              <a:rPr lang="zh-CN" altLang="en-US" sz="2400">
                <a:sym typeface="Wingdings" panose="05000000000000000000" pitchFamily="2" charset="2"/>
              </a:rPr>
              <a:t>“可被弹出”的符号串</a:t>
            </a:r>
          </a:p>
          <a:p>
            <a:pPr eaLnBrk="1" hangingPunct="1"/>
            <a:r>
              <a:rPr lang="zh-CN" altLang="en-US" sz="2800"/>
              <a:t>开始、结束符号，</a:t>
            </a:r>
            <a:r>
              <a:rPr lang="en-US" altLang="zh-CN" sz="2800"/>
              <a:t>a</a:t>
            </a:r>
            <a:r>
              <a:rPr lang="en-US" altLang="zh-CN" sz="2400"/>
              <a:t>⋖</a:t>
            </a:r>
            <a:r>
              <a:rPr lang="en-US" altLang="zh-CN" sz="2800"/>
              <a:t>b</a:t>
            </a:r>
            <a:r>
              <a:rPr lang="en-US" altLang="zh-CN" sz="2800" baseline="-25000"/>
              <a:t>1</a:t>
            </a:r>
            <a:r>
              <a:rPr lang="zh-CN" altLang="en-US" sz="2800"/>
              <a:t>，</a:t>
            </a:r>
            <a:r>
              <a:rPr lang="en-US" altLang="zh-CN" sz="2800"/>
              <a:t>b</a:t>
            </a:r>
            <a:r>
              <a:rPr lang="en-US" altLang="zh-CN" sz="2800" baseline="-25000"/>
              <a:t>k</a:t>
            </a:r>
            <a:r>
              <a:rPr lang="en-US" altLang="zh-CN" sz="2400"/>
              <a:t>⋗</a:t>
            </a:r>
            <a:r>
              <a:rPr lang="en-US" altLang="zh-CN" sz="2800"/>
              <a:t>c</a:t>
            </a:r>
          </a:p>
          <a:p>
            <a:pPr eaLnBrk="1" hangingPunct="1"/>
            <a:r>
              <a:rPr lang="zh-CN" altLang="en-US" sz="2800"/>
              <a:t>回路</a:t>
            </a:r>
            <a:r>
              <a:rPr lang="en-US" altLang="zh-CN" sz="2800"/>
              <a:t>——</a:t>
            </a:r>
            <a:r>
              <a:rPr lang="zh-CN" altLang="en-US" sz="2800"/>
              <a:t>无穷多个符号串；否则，有穷</a:t>
            </a:r>
            <a:endParaRPr lang="zh-CN" altLang="en-US" sz="24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2AE4E156-3DE7-4B9E-A163-93D0948E07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4.31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B421E7FC-ED12-423B-814A-86B449CC6E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/>
            <a:r>
              <a:rPr kumimoji="0" lang="en-US" altLang="zh-CN" sz="2800" b="1">
                <a:sym typeface="Symbol" panose="05050102010706020507" pitchFamily="18" charset="2"/>
              </a:rPr>
              <a:t>E  E 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-</a:t>
            </a:r>
            <a:r>
              <a:rPr kumimoji="0" lang="en-US" altLang="zh-CN" sz="2800" b="1">
                <a:sym typeface="Symbol" panose="05050102010706020507" pitchFamily="18" charset="2"/>
              </a:rPr>
              <a:t> E | E 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800" b="1">
                <a:sym typeface="Symbol" panose="05050102010706020507" pitchFamily="18" charset="2"/>
              </a:rPr>
              <a:t> E | E 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800" b="1">
                <a:sym typeface="Symbol" panose="05050102010706020507" pitchFamily="18" charset="2"/>
              </a:rPr>
              <a:t> E | E</a:t>
            </a:r>
            <a:r>
              <a:rPr kumimoji="0" lang="en-US" altLang="zh-CN" sz="2800" b="1">
                <a:solidFill>
                  <a:srgbClr val="3333CC"/>
                </a:solidFill>
                <a:latin typeface="宋体" panose="02010600030101010101" pitchFamily="2" charset="-122"/>
              </a:rPr>
              <a:t>↑</a:t>
            </a:r>
            <a:r>
              <a:rPr kumimoji="0" lang="en-US" altLang="zh-CN" sz="2800" b="1">
                <a:sym typeface="Symbol" panose="05050102010706020507" pitchFamily="18" charset="2"/>
              </a:rPr>
              <a:t>E | E 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^</a:t>
            </a:r>
            <a:r>
              <a:rPr kumimoji="0" lang="en-US" altLang="zh-CN" sz="2800" b="1">
                <a:sym typeface="Symbol" panose="05050102010706020507" pitchFamily="18" charset="2"/>
              </a:rPr>
              <a:t> E | 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-</a:t>
            </a:r>
            <a:r>
              <a:rPr kumimoji="0" lang="en-US" altLang="zh-CN" sz="2800" b="1">
                <a:sym typeface="Symbol" panose="05050102010706020507" pitchFamily="18" charset="2"/>
              </a:rPr>
              <a:t> E  | 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800" b="1">
                <a:sym typeface="Symbol" panose="05050102010706020507" pitchFamily="18" charset="2"/>
              </a:rPr>
              <a:t> E 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800" b="1">
                <a:sym typeface="Symbol" panose="05050102010706020507" pitchFamily="18" charset="2"/>
              </a:rPr>
              <a:t> | 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</a:p>
          <a:p>
            <a:pPr eaLnBrk="1" hangingPunct="1"/>
            <a:r>
              <a:rPr lang="en-US" altLang="zh-CN"/>
              <a:t>(≐)</a:t>
            </a:r>
            <a:r>
              <a:rPr lang="zh-CN" altLang="en-US"/>
              <a:t>，</a:t>
            </a:r>
            <a:r>
              <a:rPr lang="en-US" altLang="zh-CN"/>
              <a:t>)</a:t>
            </a:r>
            <a:r>
              <a:rPr lang="zh-CN" altLang="en-US"/>
              <a:t>外均可作开始符号，</a:t>
            </a:r>
            <a:r>
              <a:rPr lang="en-US" altLang="zh-CN"/>
              <a:t>(</a:t>
            </a:r>
            <a:r>
              <a:rPr lang="zh-CN" altLang="en-US"/>
              <a:t>外均可做结束符号</a:t>
            </a:r>
          </a:p>
          <a:p>
            <a:pPr eaLnBrk="1" hangingPunct="1"/>
            <a:r>
              <a:rPr lang="zh-CN" altLang="en-US"/>
              <a:t>长度为</a:t>
            </a:r>
            <a:r>
              <a:rPr lang="en-US" altLang="zh-CN"/>
              <a:t>1</a:t>
            </a:r>
            <a:r>
              <a:rPr lang="zh-CN" altLang="en-US"/>
              <a:t>路径：</a:t>
            </a:r>
            <a:r>
              <a:rPr lang="en-US" altLang="zh-CN"/>
              <a:t>+, -, *, /, </a:t>
            </a:r>
            <a:r>
              <a:rPr kumimoji="0" lang="en-US" altLang="zh-CN" b="1"/>
              <a:t>↑, id</a:t>
            </a:r>
            <a:r>
              <a:rPr kumimoji="0" lang="zh-CN" altLang="en-US"/>
              <a:t>，长度为</a:t>
            </a:r>
            <a:r>
              <a:rPr kumimoji="0" lang="en-US" altLang="zh-CN"/>
              <a:t>2</a:t>
            </a:r>
            <a:r>
              <a:rPr kumimoji="0" lang="zh-CN" altLang="en-US"/>
              <a:t>：</a:t>
            </a:r>
            <a:r>
              <a:rPr kumimoji="0" lang="en-US" altLang="zh-CN"/>
              <a:t>( 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DCD48302-367E-48FB-9828-E5CE8C3AF4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4.31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7A794637-23DF-4E33-BC9D-E909068F26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/>
            <a:r>
              <a:rPr kumimoji="0" lang="zh-CN" altLang="en-US" sz="2800" dirty="0"/>
              <a:t>错误检测</a:t>
            </a:r>
          </a:p>
          <a:p>
            <a:pPr lvl="1" eaLnBrk="1" hangingPunct="1"/>
            <a:r>
              <a:rPr kumimoji="0" lang="zh-CN" altLang="en-US" sz="2400" dirty="0">
                <a:latin typeface="宋体" panose="02010600030101010101" pitchFamily="2" charset="-122"/>
              </a:rPr>
              <a:t>若归约</a:t>
            </a:r>
            <a:r>
              <a:rPr lang="en-US" altLang="zh-CN" sz="2400" dirty="0"/>
              <a:t>+, -, *, /, </a:t>
            </a:r>
            <a:r>
              <a:rPr kumimoji="0" lang="en-US" altLang="zh-CN" sz="2400" dirty="0"/>
              <a:t>↑</a:t>
            </a:r>
            <a:r>
              <a:rPr kumimoji="0" lang="zh-CN" altLang="en-US" sz="2400" dirty="0"/>
              <a:t>，检查两侧是否都有非终结符，若不是，错误信息“缺少运算数”</a:t>
            </a:r>
          </a:p>
          <a:p>
            <a:pPr lvl="1" eaLnBrk="1" hangingPunct="1"/>
            <a:r>
              <a:rPr kumimoji="0" lang="zh-CN" altLang="en-US" sz="2400" dirty="0"/>
              <a:t>若归约</a:t>
            </a:r>
            <a:r>
              <a:rPr kumimoji="0" lang="en-US" altLang="zh-CN" sz="2400" b="1" dirty="0"/>
              <a:t>id</a:t>
            </a:r>
            <a:r>
              <a:rPr kumimoji="0" lang="zh-CN" altLang="en-US" sz="2400" dirty="0"/>
              <a:t>，检查左侧或右侧没有非终结符。若不是，“缺少运算符”</a:t>
            </a:r>
          </a:p>
          <a:p>
            <a:pPr lvl="1" eaLnBrk="1" hangingPunct="1"/>
            <a:r>
              <a:rPr kumimoji="0" lang="zh-CN" altLang="en-US" sz="2400" dirty="0"/>
              <a:t>若归约</a:t>
            </a:r>
            <a:r>
              <a:rPr kumimoji="0" lang="en-US" altLang="zh-CN" sz="2400" dirty="0"/>
              <a:t>( )</a:t>
            </a:r>
            <a:r>
              <a:rPr kumimoji="0" lang="zh-CN" altLang="en-US" sz="2400" dirty="0"/>
              <a:t>，检查括号之间存在一个非终结符。若不是，“括号间缺少表达式”</a:t>
            </a:r>
          </a:p>
          <a:p>
            <a:pPr eaLnBrk="1" hangingPunct="1"/>
            <a:r>
              <a:rPr kumimoji="0" lang="zh-CN" altLang="en-US" sz="2800" dirty="0"/>
              <a:t>无穷情况，不能逐个情况考虑，通用函数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52DFA068-116D-466C-B201-BCCC520BD5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处理移进</a:t>
            </a:r>
            <a:r>
              <a:rPr lang="en-US" altLang="zh-CN" dirty="0"/>
              <a:t>/</a:t>
            </a:r>
            <a:r>
              <a:rPr lang="zh-CN" altLang="en-US" dirty="0"/>
              <a:t>归约错误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1A0D1477-E61E-434F-9A57-B63B6977E1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栈顶、输入两个终结符无优先关系</a:t>
            </a:r>
          </a:p>
          <a:p>
            <a:pPr eaLnBrk="1" hangingPunct="1"/>
            <a:r>
              <a:rPr lang="zh-CN" altLang="en-US"/>
              <a:t>修改栈、输入</a:t>
            </a:r>
            <a:r>
              <a:rPr lang="en-US" altLang="zh-CN"/>
              <a:t>——</a:t>
            </a:r>
            <a:r>
              <a:rPr lang="zh-CN" altLang="en-US"/>
              <a:t>避免无限循环</a:t>
            </a:r>
          </a:p>
          <a:p>
            <a:pPr eaLnBrk="1" hangingPunct="1"/>
            <a:r>
              <a:rPr lang="zh-CN" altLang="en-US"/>
              <a:t>策略一：保证移进</a:t>
            </a:r>
          </a:p>
          <a:p>
            <a:pPr lvl="1" eaLnBrk="1" hangingPunct="1"/>
            <a:r>
              <a:rPr lang="zh-CN" altLang="en-US"/>
              <a:t>栈顶</a:t>
            </a:r>
            <a:r>
              <a:rPr lang="en-US" altLang="zh-CN"/>
              <a:t>ab</a:t>
            </a:r>
            <a:r>
              <a:rPr lang="zh-CN" altLang="en-US"/>
              <a:t>，输入</a:t>
            </a:r>
            <a:r>
              <a:rPr lang="en-US" altLang="zh-CN"/>
              <a:t>cd</a:t>
            </a:r>
            <a:r>
              <a:rPr lang="zh-CN" altLang="en-US"/>
              <a:t>，</a:t>
            </a:r>
            <a:r>
              <a:rPr lang="en-US" altLang="zh-CN"/>
              <a:t>b</a:t>
            </a:r>
            <a:r>
              <a:rPr lang="zh-CN" altLang="en-US"/>
              <a:t>、</a:t>
            </a:r>
            <a:r>
              <a:rPr lang="en-US" altLang="zh-CN"/>
              <a:t>c</a:t>
            </a:r>
            <a:r>
              <a:rPr lang="zh-CN" altLang="en-US"/>
              <a:t>无优先关系</a:t>
            </a:r>
          </a:p>
          <a:p>
            <a:pPr lvl="1" eaLnBrk="1" hangingPunct="1"/>
            <a:r>
              <a:rPr lang="en-US" altLang="zh-CN"/>
              <a:t>a</a:t>
            </a:r>
            <a:r>
              <a:rPr lang="en-US" altLang="zh-CN" u="sng"/>
              <a:t>⋖</a:t>
            </a:r>
            <a:r>
              <a:rPr lang="en-US" altLang="zh-CN"/>
              <a:t>c</a:t>
            </a:r>
            <a:r>
              <a:rPr lang="en-US" altLang="zh-CN">
                <a:sym typeface="Wingdings" panose="05000000000000000000" pitchFamily="2" charset="2"/>
              </a:rPr>
              <a:t></a:t>
            </a:r>
            <a:r>
              <a:rPr lang="zh-CN" altLang="en-US"/>
              <a:t>删除</a:t>
            </a:r>
            <a:r>
              <a:rPr lang="en-US" altLang="zh-CN"/>
              <a:t>b</a:t>
            </a:r>
          </a:p>
          <a:p>
            <a:pPr lvl="1" eaLnBrk="1" hangingPunct="1"/>
            <a:r>
              <a:rPr lang="en-US" altLang="zh-CN"/>
              <a:t>b</a:t>
            </a:r>
            <a:r>
              <a:rPr lang="en-US" altLang="zh-CN" u="sng"/>
              <a:t>⋖</a:t>
            </a:r>
            <a:r>
              <a:rPr lang="en-US" altLang="zh-CN"/>
              <a:t>d</a:t>
            </a:r>
            <a:r>
              <a:rPr lang="en-US" altLang="zh-CN">
                <a:sym typeface="Wingdings" panose="05000000000000000000" pitchFamily="2" charset="2"/>
              </a:rPr>
              <a:t></a:t>
            </a:r>
            <a:r>
              <a:rPr lang="zh-CN" altLang="en-US">
                <a:sym typeface="Wingdings" panose="05000000000000000000" pitchFamily="2" charset="2"/>
              </a:rPr>
              <a:t>删除</a:t>
            </a:r>
            <a:r>
              <a:rPr lang="en-US" altLang="zh-CN">
                <a:sym typeface="Wingdings" panose="05000000000000000000" pitchFamily="2" charset="2"/>
              </a:rPr>
              <a:t>c</a:t>
            </a:r>
          </a:p>
          <a:p>
            <a:pPr lvl="1" eaLnBrk="1" hangingPunct="1"/>
            <a:r>
              <a:rPr lang="zh-CN" altLang="en-US">
                <a:sym typeface="Wingdings" panose="05000000000000000000" pitchFamily="2" charset="2"/>
              </a:rPr>
              <a:t>插入</a:t>
            </a:r>
            <a:r>
              <a:rPr lang="en-US" altLang="zh-CN">
                <a:sym typeface="Wingdings" panose="05000000000000000000" pitchFamily="2" charset="2"/>
              </a:rPr>
              <a:t>e</a:t>
            </a:r>
            <a:r>
              <a:rPr lang="zh-CN" altLang="en-US">
                <a:sym typeface="Wingdings" panose="05000000000000000000" pitchFamily="2" charset="2"/>
              </a:rPr>
              <a:t>，使</a:t>
            </a:r>
            <a:r>
              <a:rPr lang="en-US" altLang="zh-CN"/>
              <a:t>b</a:t>
            </a:r>
            <a:r>
              <a:rPr lang="en-US" altLang="zh-CN" u="sng"/>
              <a:t>⋖</a:t>
            </a:r>
            <a:r>
              <a:rPr lang="en-US" altLang="zh-CN"/>
              <a:t>e</a:t>
            </a:r>
            <a:r>
              <a:rPr lang="en-US" altLang="zh-CN" u="sng"/>
              <a:t>⋖</a:t>
            </a:r>
            <a:r>
              <a:rPr lang="en-US" altLang="zh-CN"/>
              <a:t>c</a:t>
            </a:r>
            <a:r>
              <a:rPr lang="zh-CN" altLang="en-US"/>
              <a:t>，一般：</a:t>
            </a:r>
            <a:r>
              <a:rPr lang="en-US" altLang="zh-CN"/>
              <a:t>b</a:t>
            </a:r>
            <a:r>
              <a:rPr lang="en-US" altLang="zh-CN" u="sng"/>
              <a:t>⋖</a:t>
            </a:r>
            <a:r>
              <a:rPr lang="en-US" altLang="zh-CN"/>
              <a:t>e</a:t>
            </a:r>
            <a:r>
              <a:rPr lang="en-US" altLang="zh-CN" baseline="-25000"/>
              <a:t>1</a:t>
            </a:r>
            <a:r>
              <a:rPr lang="en-US" altLang="zh-CN" u="sng"/>
              <a:t>⋖</a:t>
            </a:r>
            <a:r>
              <a:rPr lang="en-US" altLang="zh-CN"/>
              <a:t>e</a:t>
            </a:r>
            <a:r>
              <a:rPr lang="en-US" altLang="zh-CN" baseline="-25000"/>
              <a:t>2</a:t>
            </a:r>
            <a:r>
              <a:rPr lang="en-US" altLang="zh-CN"/>
              <a:t>… </a:t>
            </a:r>
            <a:r>
              <a:rPr lang="en-US" altLang="zh-CN" u="sng"/>
              <a:t>⋖</a:t>
            </a:r>
            <a:r>
              <a:rPr lang="en-US" altLang="zh-CN"/>
              <a:t>e</a:t>
            </a:r>
            <a:r>
              <a:rPr lang="en-US" altLang="zh-CN" baseline="-25000"/>
              <a:t>n</a:t>
            </a:r>
            <a:r>
              <a:rPr lang="en-US" altLang="zh-CN" u="sng"/>
              <a:t>⋖</a:t>
            </a:r>
            <a:r>
              <a:rPr lang="en-US" altLang="zh-CN"/>
              <a:t>c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A0A4B603-1257-4E49-ACC4-225E7EC29B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4.32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E8F70B7A-5F06-4A10-A87C-A03CC481D2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3276600"/>
            <a:ext cx="7772400" cy="28194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/>
              <a:t>e1</a:t>
            </a:r>
            <a:r>
              <a:rPr lang="zh-CN" altLang="en-US" sz="2800"/>
              <a:t>：插入</a:t>
            </a:r>
            <a:r>
              <a:rPr lang="en-US" altLang="zh-CN" sz="2800" b="1"/>
              <a:t>id</a:t>
            </a:r>
            <a:r>
              <a:rPr lang="en-US" altLang="zh-CN" sz="2800">
                <a:sym typeface="Wingdings" panose="05000000000000000000" pitchFamily="2" charset="2"/>
              </a:rPr>
              <a:t></a:t>
            </a:r>
            <a:r>
              <a:rPr lang="zh-CN" altLang="en-US" sz="2800">
                <a:sym typeface="Wingdings" panose="05000000000000000000" pitchFamily="2" charset="2"/>
              </a:rPr>
              <a:t>输入缓冲</a:t>
            </a:r>
            <a:r>
              <a:rPr lang="zh-CN" altLang="en-US" sz="2800"/>
              <a:t>，“缺少运算数”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/>
              <a:t>e2</a:t>
            </a:r>
            <a:r>
              <a:rPr lang="zh-CN" altLang="en-US" sz="2800"/>
              <a:t>：删除</a:t>
            </a:r>
            <a:r>
              <a:rPr lang="en-US" altLang="zh-CN" sz="2800"/>
              <a:t>)</a:t>
            </a:r>
            <a:r>
              <a:rPr lang="zh-CN" altLang="en-US" sz="2800"/>
              <a:t>，“未匹配右括号”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/>
              <a:t>e3</a:t>
            </a:r>
            <a:r>
              <a:rPr lang="zh-CN" altLang="en-US" sz="2800"/>
              <a:t>：插入</a:t>
            </a:r>
            <a:r>
              <a:rPr lang="en-US" altLang="zh-CN" sz="2800"/>
              <a:t>+</a:t>
            </a:r>
            <a:r>
              <a:rPr lang="en-US" altLang="zh-CN" sz="2800">
                <a:sym typeface="Wingdings" panose="05000000000000000000" pitchFamily="2" charset="2"/>
              </a:rPr>
              <a:t></a:t>
            </a:r>
            <a:r>
              <a:rPr lang="zh-CN" altLang="en-US" sz="2800">
                <a:sym typeface="Wingdings" panose="05000000000000000000" pitchFamily="2" charset="2"/>
              </a:rPr>
              <a:t>输入缓冲</a:t>
            </a:r>
            <a:r>
              <a:rPr lang="zh-CN" altLang="en-US" sz="2800"/>
              <a:t>，“缺少运算符”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/>
              <a:t>e4</a:t>
            </a:r>
            <a:r>
              <a:rPr lang="zh-CN" altLang="en-US" sz="2800"/>
              <a:t>：弹出</a:t>
            </a:r>
            <a:r>
              <a:rPr lang="en-US" altLang="zh-CN" sz="2800"/>
              <a:t>(</a:t>
            </a:r>
            <a:r>
              <a:rPr lang="zh-CN" altLang="en-US" sz="2800"/>
              <a:t>，“缺少右括号”</a:t>
            </a:r>
          </a:p>
        </p:txBody>
      </p:sp>
      <p:sp>
        <p:nvSpPr>
          <p:cNvPr id="46084" name="Line 4">
            <a:extLst>
              <a:ext uri="{FF2B5EF4-FFF2-40B4-BE49-F238E27FC236}">
                <a16:creationId xmlns:a16="http://schemas.microsoft.com/office/drawing/2014/main" id="{2F1521CF-AD1B-4E37-AFF4-3C8FAB970AC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1676400"/>
            <a:ext cx="403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85" name="Line 5">
            <a:extLst>
              <a:ext uri="{FF2B5EF4-FFF2-40B4-BE49-F238E27FC236}">
                <a16:creationId xmlns:a16="http://schemas.microsoft.com/office/drawing/2014/main" id="{FA1C6755-A9A8-4C7C-B508-8CD8D54BE71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1219200"/>
            <a:ext cx="0" cy="205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86" name="Text Box 6">
            <a:extLst>
              <a:ext uri="{FF2B5EF4-FFF2-40B4-BE49-F238E27FC236}">
                <a16:creationId xmlns:a16="http://schemas.microsoft.com/office/drawing/2014/main" id="{76E548F0-BEDE-4C43-A0B5-C9BFBF777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600200"/>
            <a:ext cx="6096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/>
              <a:t>id</a:t>
            </a:r>
            <a:br>
              <a:rPr kumimoji="0" lang="en-US" altLang="zh-CN" sz="2800" b="1"/>
            </a:br>
            <a:r>
              <a:rPr kumimoji="0" lang="en-US" altLang="zh-CN" sz="2800"/>
              <a:t>(</a:t>
            </a:r>
            <a:br>
              <a:rPr kumimoji="0" lang="en-US" altLang="zh-CN" sz="2800"/>
            </a:br>
            <a:r>
              <a:rPr kumimoji="0" lang="en-US" altLang="zh-CN" sz="2800"/>
              <a:t>)</a:t>
            </a:r>
            <a:br>
              <a:rPr kumimoji="0" lang="en-US" altLang="zh-CN" sz="2800"/>
            </a:br>
            <a:r>
              <a:rPr kumimoji="0" lang="en-US" altLang="zh-CN" sz="2800"/>
              <a:t>$</a:t>
            </a:r>
            <a:endParaRPr kumimoji="0" lang="en-US" altLang="zh-CN" sz="2800" b="1"/>
          </a:p>
        </p:txBody>
      </p:sp>
      <p:sp>
        <p:nvSpPr>
          <p:cNvPr id="46087" name="Line 7">
            <a:extLst>
              <a:ext uri="{FF2B5EF4-FFF2-40B4-BE49-F238E27FC236}">
                <a16:creationId xmlns:a16="http://schemas.microsoft.com/office/drawing/2014/main" id="{1522F725-1CBB-4F40-B633-EB5A90DFE49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219200"/>
            <a:ext cx="0" cy="205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88" name="Text Box 8">
            <a:extLst>
              <a:ext uri="{FF2B5EF4-FFF2-40B4-BE49-F238E27FC236}">
                <a16:creationId xmlns:a16="http://schemas.microsoft.com/office/drawing/2014/main" id="{C496F9DC-6587-490E-88B7-A1E1AA08C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1600200"/>
            <a:ext cx="6858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e3</a:t>
            </a:r>
            <a:r>
              <a:rPr lang="en-US" altLang="zh-CN" sz="2800"/>
              <a:t>⋖</a:t>
            </a:r>
            <a:br>
              <a:rPr lang="en-US" altLang="zh-CN" sz="2800"/>
            </a:br>
            <a:r>
              <a:rPr lang="en-US" altLang="zh-CN" sz="2800"/>
              <a:t>e3</a:t>
            </a:r>
            <a:br>
              <a:rPr lang="en-US" altLang="zh-CN" sz="2800"/>
            </a:br>
            <a:r>
              <a:rPr lang="en-US" altLang="zh-CN" sz="2800"/>
              <a:t>⋖</a:t>
            </a:r>
          </a:p>
        </p:txBody>
      </p:sp>
      <p:sp>
        <p:nvSpPr>
          <p:cNvPr id="46089" name="Text Box 9">
            <a:extLst>
              <a:ext uri="{FF2B5EF4-FFF2-40B4-BE49-F238E27FC236}">
                <a16:creationId xmlns:a16="http://schemas.microsoft.com/office/drawing/2014/main" id="{7B9D21D5-8324-46C6-8B3C-0D430E12F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12192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b="1"/>
              <a:t>id</a:t>
            </a:r>
          </a:p>
        </p:txBody>
      </p:sp>
      <p:sp>
        <p:nvSpPr>
          <p:cNvPr id="46090" name="Line 10">
            <a:extLst>
              <a:ext uri="{FF2B5EF4-FFF2-40B4-BE49-F238E27FC236}">
                <a16:creationId xmlns:a16="http://schemas.microsoft.com/office/drawing/2014/main" id="{3EA9FC0A-ECBB-432E-A659-4967597F73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1219200"/>
            <a:ext cx="0" cy="205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91" name="Text Box 11">
            <a:extLst>
              <a:ext uri="{FF2B5EF4-FFF2-40B4-BE49-F238E27FC236}">
                <a16:creationId xmlns:a16="http://schemas.microsoft.com/office/drawing/2014/main" id="{67B4890B-C7C1-4CC0-8992-D28D64658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600200"/>
            <a:ext cx="6096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e3</a:t>
            </a:r>
            <a:r>
              <a:rPr kumimoji="0" lang="en-US" altLang="zh-CN" sz="2800" b="1"/>
              <a:t> </a:t>
            </a:r>
            <a:r>
              <a:rPr lang="en-US" altLang="zh-CN" sz="2800"/>
              <a:t>⋖ e3 </a:t>
            </a:r>
            <a:br>
              <a:rPr lang="en-US" altLang="zh-CN" sz="2800"/>
            </a:br>
            <a:r>
              <a:rPr lang="en-US" altLang="zh-CN" sz="2800"/>
              <a:t>⋖</a:t>
            </a:r>
          </a:p>
        </p:txBody>
      </p:sp>
      <p:sp>
        <p:nvSpPr>
          <p:cNvPr id="46092" name="Text Box 12">
            <a:extLst>
              <a:ext uri="{FF2B5EF4-FFF2-40B4-BE49-F238E27FC236}">
                <a16:creationId xmlns:a16="http://schemas.microsoft.com/office/drawing/2014/main" id="{FD1FAEE8-B401-45E5-84C6-2488D45CE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2192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(</a:t>
            </a:r>
          </a:p>
        </p:txBody>
      </p:sp>
      <p:sp>
        <p:nvSpPr>
          <p:cNvPr id="46093" name="Line 13">
            <a:extLst>
              <a:ext uri="{FF2B5EF4-FFF2-40B4-BE49-F238E27FC236}">
                <a16:creationId xmlns:a16="http://schemas.microsoft.com/office/drawing/2014/main" id="{3EB7BB7A-4467-4515-811E-59E43CF541F9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1219200"/>
            <a:ext cx="0" cy="205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94" name="Text Box 14">
            <a:extLst>
              <a:ext uri="{FF2B5EF4-FFF2-40B4-BE49-F238E27FC236}">
                <a16:creationId xmlns:a16="http://schemas.microsoft.com/office/drawing/2014/main" id="{EFA134C2-4EBA-42E8-861D-53B06B676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1600200"/>
            <a:ext cx="609600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⋗</a:t>
            </a:r>
            <a:r>
              <a:rPr kumimoji="0" lang="en-US" altLang="zh-CN" sz="2800" b="1"/>
              <a:t> </a:t>
            </a:r>
            <a:r>
              <a:rPr lang="en-US" altLang="zh-CN"/>
              <a:t>≐</a:t>
            </a:r>
            <a:r>
              <a:rPr lang="en-US" altLang="zh-CN" sz="2800"/>
              <a:t> </a:t>
            </a:r>
            <a:br>
              <a:rPr lang="en-US" altLang="zh-CN" sz="2800"/>
            </a:br>
            <a:r>
              <a:rPr lang="en-US" altLang="zh-CN" sz="2800"/>
              <a:t>⋗ </a:t>
            </a:r>
            <a:br>
              <a:rPr lang="en-US" altLang="zh-CN" sz="2800"/>
            </a:br>
            <a:r>
              <a:rPr lang="en-US" altLang="zh-CN" sz="2800"/>
              <a:t>e2</a:t>
            </a:r>
          </a:p>
        </p:txBody>
      </p:sp>
      <p:sp>
        <p:nvSpPr>
          <p:cNvPr id="46095" name="Text Box 15">
            <a:extLst>
              <a:ext uri="{FF2B5EF4-FFF2-40B4-BE49-F238E27FC236}">
                <a16:creationId xmlns:a16="http://schemas.microsoft.com/office/drawing/2014/main" id="{5A2E2DE9-CFBE-48C6-BF4C-C4B1B37D78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12192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)</a:t>
            </a:r>
          </a:p>
        </p:txBody>
      </p:sp>
      <p:sp>
        <p:nvSpPr>
          <p:cNvPr id="46096" name="Text Box 16">
            <a:extLst>
              <a:ext uri="{FF2B5EF4-FFF2-40B4-BE49-F238E27FC236}">
                <a16:creationId xmlns:a16="http://schemas.microsoft.com/office/drawing/2014/main" id="{53202060-885E-4DA5-B2D5-6BC0F7B18C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600200"/>
            <a:ext cx="6096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/>
              <a:t>⋗</a:t>
            </a:r>
            <a:r>
              <a:rPr kumimoji="0" lang="en-US" altLang="zh-CN" sz="2800" b="1"/>
              <a:t> </a:t>
            </a:r>
            <a:r>
              <a:rPr lang="en-US" altLang="zh-CN" sz="2800"/>
              <a:t>e4⋗</a:t>
            </a:r>
            <a:br>
              <a:rPr lang="en-US" altLang="zh-CN" sz="2800"/>
            </a:br>
            <a:r>
              <a:rPr lang="en-US" altLang="zh-CN" sz="2800"/>
              <a:t>e1 </a:t>
            </a:r>
          </a:p>
        </p:txBody>
      </p:sp>
      <p:sp>
        <p:nvSpPr>
          <p:cNvPr id="46097" name="Text Box 17">
            <a:extLst>
              <a:ext uri="{FF2B5EF4-FFF2-40B4-BE49-F238E27FC236}">
                <a16:creationId xmlns:a16="http://schemas.microsoft.com/office/drawing/2014/main" id="{5AA623DE-3A7D-4BF7-8304-AAE22FB17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2192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$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08C6930C-D4BF-4B1C-ABBF-B08A887503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4.32</a:t>
            </a:r>
            <a:r>
              <a:rPr lang="zh-CN" altLang="en-US"/>
              <a:t>（续）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4FAFF9D9-3C47-449B-BF0E-B2C48BF03E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447800"/>
            <a:ext cx="7772400" cy="4648200"/>
          </a:xfrm>
        </p:spPr>
        <p:txBody>
          <a:bodyPr/>
          <a:lstStyle/>
          <a:p>
            <a:pPr marL="609600" indent="-6096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 dirty="0"/>
              <a:t>id</a:t>
            </a:r>
            <a:r>
              <a:rPr kumimoji="0" lang="en-US" altLang="zh-CN" sz="2000" dirty="0"/>
              <a:t> + )</a:t>
            </a:r>
          </a:p>
          <a:p>
            <a:pPr marL="609600" indent="-6096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Stack				Input</a:t>
            </a:r>
          </a:p>
          <a:p>
            <a:pPr marL="609600" indent="-6096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$E +					</a:t>
            </a:r>
            <a:r>
              <a:rPr kumimoji="0" lang="en-US" altLang="zh-CN" sz="2000" b="1" dirty="0"/>
              <a:t>)</a:t>
            </a:r>
            <a:r>
              <a:rPr kumimoji="0" lang="en-US" altLang="zh-CN" sz="2000" dirty="0"/>
              <a:t>$</a:t>
            </a:r>
            <a:endParaRPr lang="en-US" altLang="zh-CN" sz="2800" dirty="0"/>
          </a:p>
          <a:p>
            <a:pPr marL="609600" indent="-609600" eaLnBrk="1" hangingPunct="1"/>
            <a:r>
              <a:rPr lang="en-US" altLang="zh-CN" sz="2800" dirty="0"/>
              <a:t>+ ⋗ )</a:t>
            </a:r>
            <a:r>
              <a:rPr lang="en-US" altLang="zh-CN" sz="2800" dirty="0">
                <a:sym typeface="Wingdings" panose="05000000000000000000" pitchFamily="2" charset="2"/>
              </a:rPr>
              <a:t></a:t>
            </a:r>
            <a:r>
              <a:rPr lang="zh-CN" altLang="en-US" sz="2800" dirty="0">
                <a:sym typeface="Wingdings" panose="05000000000000000000" pitchFamily="2" charset="2"/>
              </a:rPr>
              <a:t>归约，</a:t>
            </a:r>
            <a:r>
              <a:rPr lang="en-US" altLang="zh-CN" sz="2800" dirty="0">
                <a:sym typeface="Wingdings" panose="05000000000000000000" pitchFamily="2" charset="2"/>
              </a:rPr>
              <a:t>+</a:t>
            </a:r>
            <a:r>
              <a:rPr lang="zh-CN" altLang="en-US" sz="2800" dirty="0">
                <a:sym typeface="Wingdings" panose="05000000000000000000" pitchFamily="2" charset="2"/>
              </a:rPr>
              <a:t>右侧无非终结符</a:t>
            </a:r>
            <a:br>
              <a:rPr lang="zh-CN" altLang="en-US" sz="2800" dirty="0">
                <a:sym typeface="Wingdings" panose="05000000000000000000" pitchFamily="2" charset="2"/>
              </a:rPr>
            </a:br>
            <a:r>
              <a:rPr lang="zh-CN" altLang="en-US" sz="2800" dirty="0">
                <a:sym typeface="Wingdings" panose="05000000000000000000" pitchFamily="2" charset="2"/>
              </a:rPr>
              <a:t>“缺少运算数”</a:t>
            </a:r>
          </a:p>
          <a:p>
            <a:pPr marL="609600" indent="-6096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Stack				Input</a:t>
            </a:r>
          </a:p>
          <a:p>
            <a:pPr marL="609600" indent="-6096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$E 					</a:t>
            </a:r>
            <a:r>
              <a:rPr kumimoji="0" lang="en-US" altLang="zh-CN" sz="2000" b="1" dirty="0"/>
              <a:t>)</a:t>
            </a:r>
            <a:r>
              <a:rPr kumimoji="0" lang="en-US" altLang="zh-CN" sz="2000" dirty="0"/>
              <a:t>$</a:t>
            </a:r>
            <a:endParaRPr lang="en-US" altLang="zh-CN" sz="2800" dirty="0"/>
          </a:p>
          <a:p>
            <a:pPr marL="609600" indent="-609600" eaLnBrk="1" hangingPunct="1"/>
            <a:r>
              <a:rPr lang="en-US" altLang="zh-CN" sz="2800" dirty="0"/>
              <a:t>$</a:t>
            </a:r>
            <a:r>
              <a:rPr lang="zh-CN" altLang="en-US" sz="2800" dirty="0"/>
              <a:t>、</a:t>
            </a:r>
            <a:r>
              <a:rPr lang="en-US" altLang="zh-CN" sz="2800" dirty="0"/>
              <a:t>)</a:t>
            </a:r>
            <a:r>
              <a:rPr lang="zh-CN" altLang="en-US" sz="2800" dirty="0"/>
              <a:t>无优先关系</a:t>
            </a:r>
            <a:r>
              <a:rPr lang="zh-CN" altLang="en-US" sz="2800" dirty="0">
                <a:sym typeface="Wingdings" panose="05000000000000000000" pitchFamily="2" charset="2"/>
              </a:rPr>
              <a:t>“未匹配</a:t>
            </a:r>
            <a:r>
              <a:rPr lang="en-US" altLang="zh-CN" sz="2800" dirty="0">
                <a:sym typeface="Wingdings" panose="05000000000000000000" pitchFamily="2" charset="2"/>
              </a:rPr>
              <a:t>)</a:t>
            </a:r>
            <a:r>
              <a:rPr lang="zh-CN" altLang="en-US" sz="2800" dirty="0">
                <a:sym typeface="Wingdings" panose="05000000000000000000" pitchFamily="2" charset="2"/>
              </a:rPr>
              <a:t>”</a:t>
            </a:r>
            <a:endParaRPr lang="en-US" altLang="zh-CN" sz="2800" dirty="0">
              <a:sym typeface="Wingdings" panose="05000000000000000000" pitchFamily="2" charset="2"/>
            </a:endParaRPr>
          </a:p>
          <a:p>
            <a:pPr marL="609600" indent="-6096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Stack				Input</a:t>
            </a:r>
          </a:p>
          <a:p>
            <a:pPr marL="609600" indent="-6096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$E 					</a:t>
            </a:r>
            <a:r>
              <a:rPr kumimoji="0" lang="en-US" altLang="zh-CN" sz="2000" b="1" dirty="0"/>
              <a:t>)</a:t>
            </a:r>
            <a:r>
              <a:rPr kumimoji="0" lang="en-US" altLang="zh-CN" sz="2000" dirty="0"/>
              <a:t>$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9C62C365-C4FA-49D5-96EF-E3360739C8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算符优先错误处理例</a:t>
            </a:r>
          </a:p>
        </p:txBody>
      </p:sp>
      <p:grpSp>
        <p:nvGrpSpPr>
          <p:cNvPr id="128003" name="Group 4">
            <a:extLst>
              <a:ext uri="{FF2B5EF4-FFF2-40B4-BE49-F238E27FC236}">
                <a16:creationId xmlns:a16="http://schemas.microsoft.com/office/drawing/2014/main" id="{3B06A892-6CC1-432C-BB5E-8735639CE0C6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1219200"/>
            <a:ext cx="5181600" cy="5105400"/>
            <a:chOff x="1632" y="816"/>
            <a:chExt cx="3264" cy="3216"/>
          </a:xfrm>
        </p:grpSpPr>
        <p:sp>
          <p:nvSpPr>
            <p:cNvPr id="128008" name="Line 5">
              <a:extLst>
                <a:ext uri="{FF2B5EF4-FFF2-40B4-BE49-F238E27FC236}">
                  <a16:creationId xmlns:a16="http://schemas.microsoft.com/office/drawing/2014/main" id="{4D1BF9EB-D78F-463F-BB48-E2C8E60487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816"/>
              <a:ext cx="32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09" name="Line 6">
              <a:extLst>
                <a:ext uri="{FF2B5EF4-FFF2-40B4-BE49-F238E27FC236}">
                  <a16:creationId xmlns:a16="http://schemas.microsoft.com/office/drawing/2014/main" id="{29505436-FB24-49EE-BFC0-09E1FDFDAD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864"/>
              <a:ext cx="32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10" name="Line 7">
              <a:extLst>
                <a:ext uri="{FF2B5EF4-FFF2-40B4-BE49-F238E27FC236}">
                  <a16:creationId xmlns:a16="http://schemas.microsoft.com/office/drawing/2014/main" id="{CA8FD629-4EFD-4747-B21F-0002E5D395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056"/>
              <a:ext cx="32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11" name="Line 8">
              <a:extLst>
                <a:ext uri="{FF2B5EF4-FFF2-40B4-BE49-F238E27FC236}">
                  <a16:creationId xmlns:a16="http://schemas.microsoft.com/office/drawing/2014/main" id="{6B74FF77-BE32-498B-B7F0-957919CA7B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4032"/>
              <a:ext cx="32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12" name="Line 9">
              <a:extLst>
                <a:ext uri="{FF2B5EF4-FFF2-40B4-BE49-F238E27FC236}">
                  <a16:creationId xmlns:a16="http://schemas.microsoft.com/office/drawing/2014/main" id="{8158E582-4271-434F-839D-E9747F9EAF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864"/>
              <a:ext cx="0" cy="31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13" name="Line 10">
              <a:extLst>
                <a:ext uri="{FF2B5EF4-FFF2-40B4-BE49-F238E27FC236}">
                  <a16:creationId xmlns:a16="http://schemas.microsoft.com/office/drawing/2014/main" id="{7B1960AA-A6FC-411B-90E9-2D566C3A17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7" y="864"/>
              <a:ext cx="0" cy="31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014" name="Text Box 11">
              <a:extLst>
                <a:ext uri="{FF2B5EF4-FFF2-40B4-BE49-F238E27FC236}">
                  <a16:creationId xmlns:a16="http://schemas.microsoft.com/office/drawing/2014/main" id="{42E61429-20E1-4502-974B-39B7FE8CB4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1104"/>
              <a:ext cx="878" cy="2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/>
                <a:t>$</a:t>
              </a: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/>
                <a:t>$ (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/>
                <a:t>$ (</a:t>
              </a:r>
              <a:r>
                <a:rPr kumimoji="0" lang="zh-CN" altLang="en-US" sz="1800" b="1" dirty="0"/>
                <a:t> </a:t>
              </a:r>
              <a:r>
                <a:rPr kumimoji="0" lang="en-US" altLang="zh-CN" sz="1800" b="1" dirty="0"/>
                <a:t>id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/>
                <a:t>$ (</a:t>
              </a:r>
              <a:r>
                <a:rPr kumimoji="0" lang="zh-CN" altLang="en-US" sz="1800" b="1" dirty="0"/>
                <a:t> </a:t>
              </a:r>
              <a:r>
                <a:rPr kumimoji="0" lang="en-US" altLang="zh-CN" sz="1800" b="1" dirty="0"/>
                <a:t>E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/>
                <a:t>$ (</a:t>
              </a:r>
              <a:r>
                <a:rPr kumimoji="0" lang="zh-CN" altLang="en-US" sz="1800" b="1" dirty="0"/>
                <a:t> </a:t>
              </a:r>
              <a:r>
                <a:rPr kumimoji="0" lang="en-US" altLang="zh-CN" sz="1800" b="1" dirty="0"/>
                <a:t>E +</a:t>
              </a:r>
              <a:endParaRPr kumimoji="0" lang="en-US" altLang="zh-CN" sz="1800" b="1" dirty="0">
                <a:solidFill>
                  <a:schemeClr val="accent2"/>
                </a:solidFill>
              </a:endParaRP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None/>
              </a:pPr>
              <a:r>
                <a:rPr kumimoji="0" lang="en-US" altLang="zh-CN" sz="1800" b="1" dirty="0"/>
                <a:t>$ (</a:t>
              </a:r>
              <a:r>
                <a:rPr kumimoji="0" lang="zh-CN" altLang="en-US" sz="1800" b="1" dirty="0"/>
                <a:t> </a:t>
              </a:r>
              <a:r>
                <a:rPr kumimoji="0" lang="en-US" altLang="zh-CN" sz="1800" b="1" dirty="0"/>
                <a:t>E + *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None/>
              </a:pPr>
              <a:r>
                <a:rPr kumimoji="0" lang="en-US" altLang="zh-CN" sz="1800" b="1" dirty="0"/>
                <a:t>$ (</a:t>
              </a:r>
              <a:r>
                <a:rPr kumimoji="0" lang="zh-CN" altLang="en-US" sz="1800" b="1" dirty="0"/>
                <a:t> </a:t>
              </a:r>
              <a:r>
                <a:rPr kumimoji="0" lang="en-US" altLang="zh-CN" sz="1800" b="1" dirty="0"/>
                <a:t>E + * id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/>
                <a:t>$ (</a:t>
              </a:r>
              <a:r>
                <a:rPr kumimoji="0" lang="zh-CN" altLang="en-US" sz="1800" b="1" dirty="0"/>
                <a:t> </a:t>
              </a:r>
              <a:r>
                <a:rPr kumimoji="0" lang="en-US" altLang="zh-CN" sz="1800" b="1" dirty="0"/>
                <a:t>E + * E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/>
                <a:t>$ (</a:t>
              </a:r>
              <a:r>
                <a:rPr kumimoji="0" lang="zh-CN" altLang="en-US" sz="1800" b="1" dirty="0"/>
                <a:t> </a:t>
              </a:r>
              <a:r>
                <a:rPr kumimoji="0" lang="en-US" altLang="zh-CN" sz="1800" b="1" dirty="0"/>
                <a:t>E + E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/>
                <a:t>$ (</a:t>
              </a:r>
              <a:r>
                <a:rPr kumimoji="0" lang="zh-CN" altLang="en-US" sz="1800" b="1" dirty="0"/>
                <a:t> </a:t>
              </a:r>
              <a:r>
                <a:rPr kumimoji="0" lang="en-US" altLang="zh-CN" sz="1800" b="1" dirty="0"/>
                <a:t>E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/>
                <a:t>$ E</a:t>
              </a:r>
              <a:endParaRPr kumimoji="0" lang="en-US" altLang="zh-CN" sz="1800" b="1" dirty="0">
                <a:solidFill>
                  <a:schemeClr val="accent2"/>
                </a:solidFill>
              </a:endParaRP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kumimoji="0" lang="en-US" altLang="zh-CN" sz="1800" b="1" dirty="0"/>
            </a:p>
          </p:txBody>
        </p:sp>
        <p:sp>
          <p:nvSpPr>
            <p:cNvPr id="128015" name="Text Box 12">
              <a:extLst>
                <a:ext uri="{FF2B5EF4-FFF2-40B4-BE49-F238E27FC236}">
                  <a16:creationId xmlns:a16="http://schemas.microsoft.com/office/drawing/2014/main" id="{75FE6AA9-5C5A-4E24-9FEF-E800B5EAA8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1097"/>
              <a:ext cx="1152" cy="2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>
                  <a:solidFill>
                    <a:schemeClr val="accent2"/>
                  </a:solidFill>
                </a:rPr>
                <a:t>( id + * id$ </a:t>
              </a: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>
                  <a:solidFill>
                    <a:schemeClr val="accent2"/>
                  </a:solidFill>
                </a:rPr>
                <a:t>id + * id$ </a:t>
              </a: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>
                  <a:solidFill>
                    <a:schemeClr val="accent2"/>
                  </a:solidFill>
                </a:rPr>
                <a:t>  + * id$ </a:t>
              </a: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>
                  <a:solidFill>
                    <a:schemeClr val="accent2"/>
                  </a:solidFill>
                </a:rPr>
                <a:t> + * id$</a:t>
              </a:r>
            </a:p>
            <a:p>
              <a:pPr algn="r" eaLnBrk="1" hangingPunct="1">
                <a:lnSpc>
                  <a:spcPct val="7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>
                  <a:solidFill>
                    <a:schemeClr val="accent2"/>
                  </a:solidFill>
                </a:rPr>
                <a:t>* id$ </a:t>
              </a:r>
            </a:p>
            <a:p>
              <a:pPr algn="r" eaLnBrk="1" hangingPunct="1">
                <a:lnSpc>
                  <a:spcPct val="5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>
                  <a:solidFill>
                    <a:schemeClr val="accent2"/>
                  </a:solidFill>
                </a:rPr>
                <a:t>id$ </a:t>
              </a: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>
                  <a:solidFill>
                    <a:schemeClr val="accent2"/>
                  </a:solidFill>
                </a:rPr>
                <a:t>$ </a:t>
              </a:r>
            </a:p>
            <a:p>
              <a:pPr algn="r" eaLnBrk="1" hangingPunct="1">
                <a:lnSpc>
                  <a:spcPct val="7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>
                  <a:solidFill>
                    <a:schemeClr val="accent2"/>
                  </a:solidFill>
                </a:rPr>
                <a:t>$ </a:t>
              </a:r>
            </a:p>
            <a:p>
              <a:pPr algn="r" eaLnBrk="1" hangingPunct="1">
                <a:lnSpc>
                  <a:spcPct val="5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>
                  <a:solidFill>
                    <a:schemeClr val="accent2"/>
                  </a:solidFill>
                </a:rPr>
                <a:t>$ </a:t>
              </a:r>
            </a:p>
            <a:p>
              <a:pPr algn="r" eaLnBrk="1" hangingPunct="1">
                <a:lnSpc>
                  <a:spcPct val="7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>
                  <a:solidFill>
                    <a:schemeClr val="accent2"/>
                  </a:solidFill>
                </a:rPr>
                <a:t>$ </a:t>
              </a:r>
            </a:p>
            <a:p>
              <a:pPr algn="r"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>
                  <a:solidFill>
                    <a:schemeClr val="accent2"/>
                  </a:solidFill>
                </a:rPr>
                <a:t>$ </a:t>
              </a:r>
            </a:p>
            <a:p>
              <a:pPr algn="r" eaLnBrk="1" hangingPunct="1">
                <a:lnSpc>
                  <a:spcPct val="7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kumimoji="0" lang="en-US" altLang="zh-CN" sz="1800" b="1" dirty="0">
                <a:solidFill>
                  <a:schemeClr val="accent2"/>
                </a:solidFill>
              </a:endParaRPr>
            </a:p>
          </p:txBody>
        </p:sp>
        <p:sp>
          <p:nvSpPr>
            <p:cNvPr id="128016" name="Text Box 13">
              <a:extLst>
                <a:ext uri="{FF2B5EF4-FFF2-40B4-BE49-F238E27FC236}">
                  <a16:creationId xmlns:a16="http://schemas.microsoft.com/office/drawing/2014/main" id="{1DFDC64A-71CC-48D7-B83C-41D3C41F78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1104"/>
              <a:ext cx="96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kumimoji="0" lang="zh-CN" altLang="zh-CN" sz="1600" b="1"/>
            </a:p>
          </p:txBody>
        </p:sp>
        <p:sp>
          <p:nvSpPr>
            <p:cNvPr id="128017" name="Text Box 14">
              <a:extLst>
                <a:ext uri="{FF2B5EF4-FFF2-40B4-BE49-F238E27FC236}">
                  <a16:creationId xmlns:a16="http://schemas.microsoft.com/office/drawing/2014/main" id="{51F11297-48F7-4E11-BB9C-A5AA698395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864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STACK</a:t>
              </a:r>
            </a:p>
          </p:txBody>
        </p:sp>
        <p:sp>
          <p:nvSpPr>
            <p:cNvPr id="128018" name="Text Box 15">
              <a:extLst>
                <a:ext uri="{FF2B5EF4-FFF2-40B4-BE49-F238E27FC236}">
                  <a16:creationId xmlns:a16="http://schemas.microsoft.com/office/drawing/2014/main" id="{89C3970E-A545-4183-BA82-0BE713B1BD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864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INPUT</a:t>
              </a:r>
            </a:p>
          </p:txBody>
        </p:sp>
        <p:sp>
          <p:nvSpPr>
            <p:cNvPr id="128019" name="Text Box 16">
              <a:extLst>
                <a:ext uri="{FF2B5EF4-FFF2-40B4-BE49-F238E27FC236}">
                  <a16:creationId xmlns:a16="http://schemas.microsoft.com/office/drawing/2014/main" id="{F07F2B9E-AD38-40D5-B3A1-BDAF2FEE3C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864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Remark</a:t>
              </a:r>
            </a:p>
          </p:txBody>
        </p:sp>
      </p:grpSp>
      <p:sp>
        <p:nvSpPr>
          <p:cNvPr id="128004" name="Text Box 17">
            <a:extLst>
              <a:ext uri="{FF2B5EF4-FFF2-40B4-BE49-F238E27FC236}">
                <a16:creationId xmlns:a16="http://schemas.microsoft.com/office/drawing/2014/main" id="{9A371AF1-4BC6-47D3-9184-180CBEBFFA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3810526"/>
            <a:ext cx="379546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 dirty="0"/>
              <a:t>*</a:t>
            </a:r>
            <a:r>
              <a:rPr lang="en-US" altLang="zh-CN" sz="1600" dirty="0"/>
              <a:t>⋗</a:t>
            </a:r>
            <a:r>
              <a:rPr kumimoji="0" lang="en-US" altLang="zh-CN" sz="1600" b="1" dirty="0"/>
              <a:t>$</a:t>
            </a:r>
            <a:r>
              <a:rPr kumimoji="0" lang="zh-CN" altLang="en-US" sz="1600" b="1" dirty="0"/>
              <a:t>，</a:t>
            </a:r>
            <a:r>
              <a:rPr kumimoji="0" lang="en-US" altLang="zh-CN" sz="1600" b="1" dirty="0"/>
              <a:t>*</a:t>
            </a:r>
            <a:r>
              <a:rPr kumimoji="0" lang="zh-CN" altLang="en-US" sz="1600" b="1" dirty="0"/>
              <a:t>左侧无</a:t>
            </a:r>
            <a:r>
              <a:rPr kumimoji="0" lang="en-US" altLang="zh-CN" sz="1600" b="1" dirty="0"/>
              <a:t>NT</a:t>
            </a:r>
            <a:r>
              <a:rPr kumimoji="0" lang="zh-CN" altLang="en-US" sz="1600" b="1" dirty="0"/>
              <a:t>，“缺少运算数”</a:t>
            </a:r>
            <a:endParaRPr kumimoji="0" lang="en-US" altLang="zh-CN" sz="1600" b="1" dirty="0"/>
          </a:p>
        </p:txBody>
      </p:sp>
      <p:sp>
        <p:nvSpPr>
          <p:cNvPr id="128005" name="Text Box 18">
            <a:extLst>
              <a:ext uri="{FF2B5EF4-FFF2-40B4-BE49-F238E27FC236}">
                <a16:creationId xmlns:a16="http://schemas.microsoft.com/office/drawing/2014/main" id="{579C1FF3-F23A-4400-829A-A53FAFC30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2999" y="4437112"/>
            <a:ext cx="278734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1600" b="1" dirty="0"/>
              <a:t>“缺少右括号”，弹出</a:t>
            </a:r>
            <a:r>
              <a:rPr kumimoji="0" lang="en-US" altLang="zh-CN" sz="1600" b="1" dirty="0"/>
              <a:t>(</a:t>
            </a:r>
          </a:p>
        </p:txBody>
      </p:sp>
      <p:sp>
        <p:nvSpPr>
          <p:cNvPr id="20" name="Text Box 18">
            <a:extLst>
              <a:ext uri="{FF2B5EF4-FFF2-40B4-BE49-F238E27FC236}">
                <a16:creationId xmlns:a16="http://schemas.microsoft.com/office/drawing/2014/main" id="{E1F97A09-C33E-483C-B5B3-AFEB9692AA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3" y="4723140"/>
            <a:ext cx="278734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 dirty="0"/>
              <a:t>accept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EBE6A6E0-5C40-40B0-B644-E4F4AF7DBE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4.7  LR</a:t>
            </a:r>
            <a:r>
              <a:rPr lang="zh-CN" altLang="en-US"/>
              <a:t>分析方法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EAD676A2-560B-407A-B59F-4789454D0B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65688"/>
          </a:xfrm>
        </p:spPr>
        <p:txBody>
          <a:bodyPr/>
          <a:lstStyle/>
          <a:p>
            <a:pPr marL="609600" indent="-609600"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/>
              <a:t>例：</a:t>
            </a:r>
            <a:r>
              <a:rPr lang="en-US" altLang="zh-CN" sz="2400" b="1" dirty="0"/>
              <a:t>S </a:t>
            </a:r>
            <a:r>
              <a:rPr lang="en-US" altLang="zh-CN" sz="2400" b="1" dirty="0">
                <a:sym typeface="Symbol" panose="05050102010706020507" pitchFamily="18" charset="2"/>
              </a:rPr>
              <a:t> </a:t>
            </a:r>
            <a:r>
              <a:rPr lang="en-US" altLang="zh-CN" sz="2400" b="1" dirty="0" err="1">
                <a:solidFill>
                  <a:schemeClr val="accent2"/>
                </a:solidFill>
                <a:sym typeface="Symbol" panose="05050102010706020507" pitchFamily="18" charset="2"/>
              </a:rPr>
              <a:t>a</a:t>
            </a:r>
            <a:r>
              <a:rPr lang="en-US" altLang="zh-CN" sz="2400" b="1" dirty="0" err="1">
                <a:sym typeface="Symbol" panose="05050102010706020507" pitchFamily="18" charset="2"/>
              </a:rPr>
              <a:t>AB</a:t>
            </a:r>
            <a:r>
              <a:rPr lang="en-US" altLang="zh-CN" sz="2400" b="1" dirty="0" err="1">
                <a:solidFill>
                  <a:schemeClr val="accent2"/>
                </a:solidFill>
                <a:sym typeface="Symbol" panose="05050102010706020507" pitchFamily="18" charset="2"/>
              </a:rPr>
              <a:t>e</a:t>
            </a:r>
            <a:endParaRPr lang="en-US" altLang="zh-CN" sz="2400" b="1" dirty="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marL="609600" indent="-609600"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    </a:t>
            </a:r>
            <a:r>
              <a:rPr lang="en-US" altLang="zh-CN" sz="2400" b="1" dirty="0">
                <a:sym typeface="Symbol" panose="05050102010706020507" pitchFamily="18" charset="2"/>
              </a:rPr>
              <a:t>    A  </a:t>
            </a:r>
            <a:r>
              <a:rPr lang="en-US" altLang="zh-CN" sz="2400" b="1" dirty="0" err="1">
                <a:sym typeface="Symbol" panose="05050102010706020507" pitchFamily="18" charset="2"/>
              </a:rPr>
              <a:t>A</a:t>
            </a:r>
            <a:r>
              <a:rPr lang="en-US" altLang="zh-CN" sz="2400" b="1" dirty="0" err="1">
                <a:solidFill>
                  <a:schemeClr val="accent2"/>
                </a:solidFill>
                <a:sym typeface="Symbol" panose="05050102010706020507" pitchFamily="18" charset="2"/>
              </a:rPr>
              <a:t>bc</a:t>
            </a:r>
            <a:r>
              <a:rPr lang="en-US" altLang="zh-CN" sz="2400" b="1" dirty="0">
                <a:sym typeface="Symbol" panose="05050102010706020507" pitchFamily="18" charset="2"/>
              </a:rPr>
              <a:t> | </a:t>
            </a:r>
            <a:r>
              <a:rPr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b</a:t>
            </a:r>
          </a:p>
          <a:p>
            <a:pPr marL="609600" indent="-609600"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        </a:t>
            </a:r>
            <a:r>
              <a:rPr lang="en-US" altLang="zh-CN" sz="2400" b="1" dirty="0">
                <a:sym typeface="Symbol" panose="05050102010706020507" pitchFamily="18" charset="2"/>
              </a:rPr>
              <a:t>B  </a:t>
            </a:r>
            <a:r>
              <a:rPr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d</a:t>
            </a:r>
          </a:p>
          <a:p>
            <a:pPr marL="609600" indent="-609600"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 err="1">
                <a:sym typeface="Symbol" panose="05050102010706020507" pitchFamily="18" charset="2"/>
              </a:rPr>
              <a:t>abbcde</a:t>
            </a:r>
            <a:r>
              <a:rPr lang="zh-CN" altLang="en-US" sz="2400" b="1" dirty="0">
                <a:sym typeface="Symbol" panose="05050102010706020507" pitchFamily="18" charset="2"/>
              </a:rPr>
              <a:t>的最右推导：</a:t>
            </a:r>
          </a:p>
          <a:p>
            <a:pPr marL="609600" indent="-609600"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/>
              <a:t>S</a:t>
            </a:r>
            <a:r>
              <a:rPr lang="en-US" altLang="zh-CN" sz="2400" b="1" dirty="0">
                <a:sym typeface="Symbol" panose="05050102010706020507" pitchFamily="18" charset="2"/>
              </a:rPr>
              <a:t> </a:t>
            </a:r>
            <a:r>
              <a:rPr lang="en-US" altLang="zh-CN" sz="2400" b="1" u="sng" dirty="0" err="1">
                <a:sym typeface="Symbol" panose="05050102010706020507" pitchFamily="18" charset="2"/>
              </a:rPr>
              <a:t>aABe</a:t>
            </a:r>
            <a:r>
              <a:rPr lang="en-US" altLang="zh-CN" sz="2400" b="1" dirty="0">
                <a:sym typeface="Symbol" panose="05050102010706020507" pitchFamily="18" charset="2"/>
              </a:rPr>
              <a:t>   </a:t>
            </a:r>
            <a:r>
              <a:rPr lang="en-US" altLang="zh-CN" sz="2400" b="1" dirty="0" err="1">
                <a:sym typeface="Symbol" panose="05050102010706020507" pitchFamily="18" charset="2"/>
              </a:rPr>
              <a:t>aA</a:t>
            </a:r>
            <a:r>
              <a:rPr lang="en-US" altLang="zh-CN" sz="2400" b="1" u="sng" dirty="0" err="1">
                <a:sym typeface="Symbol" panose="05050102010706020507" pitchFamily="18" charset="2"/>
              </a:rPr>
              <a:t>d</a:t>
            </a:r>
            <a:r>
              <a:rPr lang="en-US" altLang="zh-CN" sz="2400" b="1" dirty="0" err="1">
                <a:sym typeface="Symbol" panose="05050102010706020507" pitchFamily="18" charset="2"/>
              </a:rPr>
              <a:t>e</a:t>
            </a:r>
            <a:r>
              <a:rPr lang="en-US" altLang="zh-CN" sz="2400" b="1" dirty="0">
                <a:sym typeface="Symbol" panose="05050102010706020507" pitchFamily="18" charset="2"/>
              </a:rPr>
              <a:t>   </a:t>
            </a:r>
            <a:r>
              <a:rPr lang="en-US" altLang="zh-CN" sz="2400" b="1" dirty="0" err="1">
                <a:sym typeface="Symbol" panose="05050102010706020507" pitchFamily="18" charset="2"/>
              </a:rPr>
              <a:t>a</a:t>
            </a:r>
            <a:r>
              <a:rPr lang="en-US" altLang="zh-CN" sz="2400" b="1" u="sng" dirty="0" err="1">
                <a:sym typeface="Symbol" panose="05050102010706020507" pitchFamily="18" charset="2"/>
              </a:rPr>
              <a:t>Abc</a:t>
            </a:r>
            <a:r>
              <a:rPr lang="en-US" altLang="zh-CN" sz="2400" b="1" dirty="0" err="1">
                <a:sym typeface="Symbol" panose="05050102010706020507" pitchFamily="18" charset="2"/>
              </a:rPr>
              <a:t>de</a:t>
            </a:r>
            <a:r>
              <a:rPr lang="en-US" altLang="zh-CN" sz="2400" b="1" dirty="0">
                <a:sym typeface="Symbol" panose="05050102010706020507" pitchFamily="18" charset="2"/>
              </a:rPr>
              <a:t>   </a:t>
            </a:r>
            <a:r>
              <a:rPr lang="en-US" altLang="zh-CN" sz="2400" b="1" dirty="0" err="1">
                <a:sym typeface="Symbol" panose="05050102010706020507" pitchFamily="18" charset="2"/>
              </a:rPr>
              <a:t>a</a:t>
            </a:r>
            <a:r>
              <a:rPr lang="en-US" altLang="zh-CN" sz="2400" b="1" u="sng" dirty="0" err="1">
                <a:sym typeface="Symbol" panose="05050102010706020507" pitchFamily="18" charset="2"/>
              </a:rPr>
              <a:t>b</a:t>
            </a:r>
            <a:r>
              <a:rPr lang="en-US" altLang="zh-CN" sz="2400" b="1" dirty="0" err="1">
                <a:sym typeface="Symbol" panose="05050102010706020507" pitchFamily="18" charset="2"/>
              </a:rPr>
              <a:t>bcde</a:t>
            </a:r>
            <a:endParaRPr lang="en-US" altLang="zh-CN" sz="2400" b="1" dirty="0">
              <a:sym typeface="Symbol" panose="05050102010706020507" pitchFamily="18" charset="2"/>
            </a:endParaRPr>
          </a:p>
          <a:p>
            <a:pPr marL="609600" indent="-609600"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2400" b="1" dirty="0">
              <a:sym typeface="Symbol" panose="05050102010706020507" pitchFamily="18" charset="2"/>
            </a:endParaRPr>
          </a:p>
          <a:p>
            <a:pPr marL="609600" indent="-609600" eaLnBrk="1" hangingPunct="1"/>
            <a:r>
              <a:rPr lang="zh-CN" altLang="en-US" sz="2800" dirty="0"/>
              <a:t>活前缀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arenR"/>
            </a:pPr>
            <a:r>
              <a:rPr lang="zh-CN" altLang="en-US" sz="2400" dirty="0"/>
              <a:t>最右句型的前缀，不超过唯一句柄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arenR"/>
            </a:pPr>
            <a:r>
              <a:rPr lang="en-US" altLang="zh-CN" sz="2400" dirty="0"/>
              <a:t>a, </a:t>
            </a:r>
            <a:r>
              <a:rPr lang="en-US" altLang="zh-CN" sz="2400" dirty="0" err="1"/>
              <a:t>aA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aAd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aAbc</a:t>
            </a:r>
            <a:r>
              <a:rPr lang="en-US" altLang="zh-CN" sz="2400" dirty="0"/>
              <a:t>, ab, </a:t>
            </a:r>
            <a:r>
              <a:rPr lang="en-US" altLang="zh-CN" sz="2400" dirty="0" err="1"/>
              <a:t>aAb</a:t>
            </a:r>
            <a:endParaRPr lang="en-US" altLang="zh-CN" sz="2400" dirty="0"/>
          </a:p>
          <a:p>
            <a:pPr marL="990600" lvl="1" indent="-533400" eaLnBrk="1" hangingPunct="1">
              <a:buFont typeface="Wingdings" panose="05000000000000000000" pitchFamily="2" charset="2"/>
              <a:buAutoNum type="arabicParenR"/>
            </a:pPr>
            <a:r>
              <a:rPr lang="en-US" altLang="zh-CN" sz="2400" dirty="0" err="1"/>
              <a:t>aAde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Abc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aAA</a:t>
            </a:r>
            <a:r>
              <a:rPr lang="zh-CN" altLang="en-US" sz="2400" dirty="0"/>
              <a:t>不是</a:t>
            </a:r>
          </a:p>
        </p:txBody>
      </p:sp>
      <p:sp>
        <p:nvSpPr>
          <p:cNvPr id="48132" name="Text Box 4">
            <a:extLst>
              <a:ext uri="{FF2B5EF4-FFF2-40B4-BE49-F238E27FC236}">
                <a16:creationId xmlns:a16="http://schemas.microsoft.com/office/drawing/2014/main" id="{283BAD74-F5C9-471D-A116-578563C64A43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5105400" y="4572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>
              <a:latin typeface="Tahoma" panose="020B0604030504040204" pitchFamily="34" charset="0"/>
            </a:endParaRPr>
          </a:p>
        </p:txBody>
      </p:sp>
      <p:sp>
        <p:nvSpPr>
          <p:cNvPr id="48133" name="Text Box 5">
            <a:extLst>
              <a:ext uri="{FF2B5EF4-FFF2-40B4-BE49-F238E27FC236}">
                <a16:creationId xmlns:a16="http://schemas.microsoft.com/office/drawing/2014/main" id="{5BE3FC5D-28FE-4D07-88B1-66132B389613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3505200" y="35814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FF3300"/>
                </a:solidFill>
                <a:latin typeface="Tahoma" panose="020B0604030504040204" pitchFamily="34" charset="0"/>
              </a:rPr>
              <a:t>句柄</a:t>
            </a:r>
          </a:p>
        </p:txBody>
      </p:sp>
      <p:sp>
        <p:nvSpPr>
          <p:cNvPr id="48134" name="Line 6">
            <a:extLst>
              <a:ext uri="{FF2B5EF4-FFF2-40B4-BE49-F238E27FC236}">
                <a16:creationId xmlns:a16="http://schemas.microsoft.com/office/drawing/2014/main" id="{65D8274F-0EAB-4DBA-8EE8-59D9E66766EE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2133600" y="3276600"/>
            <a:ext cx="1752600" cy="4572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5" name="Line 7">
            <a:extLst>
              <a:ext uri="{FF2B5EF4-FFF2-40B4-BE49-F238E27FC236}">
                <a16:creationId xmlns:a16="http://schemas.microsoft.com/office/drawing/2014/main" id="{A77A61DC-36D4-4284-AF93-A7A5B5097881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3581400" y="3276600"/>
            <a:ext cx="381000" cy="4572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6" name="Line 8">
            <a:extLst>
              <a:ext uri="{FF2B5EF4-FFF2-40B4-BE49-F238E27FC236}">
                <a16:creationId xmlns:a16="http://schemas.microsoft.com/office/drawing/2014/main" id="{D29F3E90-EBB7-4FAA-948B-561601471672}"/>
              </a:ext>
            </a:extLst>
          </p:cNvPr>
          <p:cNvSpPr>
            <a:spLocks noChangeShapeType="1"/>
          </p:cNvSpPr>
          <p:nvPr/>
        </p:nvSpPr>
        <p:spPr bwMode="ltGray">
          <a:xfrm flipV="1">
            <a:off x="4114800" y="3276600"/>
            <a:ext cx="609600" cy="4572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7" name="Line 9">
            <a:extLst>
              <a:ext uri="{FF2B5EF4-FFF2-40B4-BE49-F238E27FC236}">
                <a16:creationId xmlns:a16="http://schemas.microsoft.com/office/drawing/2014/main" id="{B245DEB2-EF4D-45F3-B04C-72F2C3673A3F}"/>
              </a:ext>
            </a:extLst>
          </p:cNvPr>
          <p:cNvSpPr>
            <a:spLocks noChangeShapeType="1"/>
          </p:cNvSpPr>
          <p:nvPr/>
        </p:nvSpPr>
        <p:spPr bwMode="ltGray">
          <a:xfrm flipV="1">
            <a:off x="4267200" y="3276600"/>
            <a:ext cx="1752600" cy="4572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8" name="Line 10">
            <a:extLst>
              <a:ext uri="{FF2B5EF4-FFF2-40B4-BE49-F238E27FC236}">
                <a16:creationId xmlns:a16="http://schemas.microsoft.com/office/drawing/2014/main" id="{0ACF19CC-AFA5-4D10-BF01-E329FD1EC553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1331913" y="3213100"/>
            <a:ext cx="2447925" cy="576263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57F3DA18-F621-48B4-86CF-9211BCF2EF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移进</a:t>
            </a:r>
            <a:r>
              <a:rPr lang="en-US" altLang="zh-CN"/>
              <a:t>/</a:t>
            </a:r>
            <a:r>
              <a:rPr lang="zh-CN" altLang="en-US"/>
              <a:t>归约分析过程</a:t>
            </a:r>
          </a:p>
        </p:txBody>
      </p:sp>
      <p:grpSp>
        <p:nvGrpSpPr>
          <p:cNvPr id="49155" name="Group 16">
            <a:extLst>
              <a:ext uri="{FF2B5EF4-FFF2-40B4-BE49-F238E27FC236}">
                <a16:creationId xmlns:a16="http://schemas.microsoft.com/office/drawing/2014/main" id="{1EDDF5FA-CC86-4F70-B2FE-287812CD6FA1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1295400"/>
            <a:ext cx="5410200" cy="4433888"/>
            <a:chOff x="912" y="768"/>
            <a:chExt cx="3408" cy="3343"/>
          </a:xfrm>
        </p:grpSpPr>
        <p:sp>
          <p:nvSpPr>
            <p:cNvPr id="49158" name="Line 4">
              <a:extLst>
                <a:ext uri="{FF2B5EF4-FFF2-40B4-BE49-F238E27FC236}">
                  <a16:creationId xmlns:a16="http://schemas.microsoft.com/office/drawing/2014/main" id="{10DED563-B23D-41EC-BAF3-DBDF8D5E87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768"/>
              <a:ext cx="3264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59" name="Line 5">
              <a:extLst>
                <a:ext uri="{FF2B5EF4-FFF2-40B4-BE49-F238E27FC236}">
                  <a16:creationId xmlns:a16="http://schemas.microsoft.com/office/drawing/2014/main" id="{FF028C84-B787-4400-9731-1F9B7F0627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816"/>
              <a:ext cx="3264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60" name="Line 6">
              <a:extLst>
                <a:ext uri="{FF2B5EF4-FFF2-40B4-BE49-F238E27FC236}">
                  <a16:creationId xmlns:a16="http://schemas.microsoft.com/office/drawing/2014/main" id="{7EBAF6B2-D3A5-485C-8B2F-BC58AC4D76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008"/>
              <a:ext cx="3264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61" name="Line 7">
              <a:extLst>
                <a:ext uri="{FF2B5EF4-FFF2-40B4-BE49-F238E27FC236}">
                  <a16:creationId xmlns:a16="http://schemas.microsoft.com/office/drawing/2014/main" id="{E9F8297A-48D8-4F6C-BBF3-6498983B2D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3984"/>
              <a:ext cx="3264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62" name="Line 8">
              <a:extLst>
                <a:ext uri="{FF2B5EF4-FFF2-40B4-BE49-F238E27FC236}">
                  <a16:creationId xmlns:a16="http://schemas.microsoft.com/office/drawing/2014/main" id="{BF1B0A68-9EEE-41BB-ABE6-FEDD7B2AA8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816"/>
              <a:ext cx="1" cy="31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63" name="Line 9">
              <a:extLst>
                <a:ext uri="{FF2B5EF4-FFF2-40B4-BE49-F238E27FC236}">
                  <a16:creationId xmlns:a16="http://schemas.microsoft.com/office/drawing/2014/main" id="{5F392523-A373-4DC1-B01D-0A036FFAD9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816"/>
              <a:ext cx="1" cy="31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64" name="Text Box 10">
              <a:extLst>
                <a:ext uri="{FF2B5EF4-FFF2-40B4-BE49-F238E27FC236}">
                  <a16:creationId xmlns:a16="http://schemas.microsoft.com/office/drawing/2014/main" id="{428E7056-B4B2-4336-88F1-C1F5855D00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056"/>
              <a:ext cx="3360" cy="3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$		</a:t>
              </a:r>
              <a:r>
                <a:rPr kumimoji="0" lang="en-US" altLang="zh-CN" sz="2000" b="1" dirty="0" err="1">
                  <a:solidFill>
                    <a:schemeClr val="accent2"/>
                  </a:solidFill>
                </a:rPr>
                <a:t>abbcde</a:t>
              </a:r>
              <a:r>
                <a:rPr kumimoji="0" lang="en-US" altLang="zh-CN" sz="2000" b="1" dirty="0"/>
                <a:t>$		SHIFT</a:t>
              </a: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$</a:t>
              </a:r>
              <a:r>
                <a:rPr kumimoji="0" lang="en-US" altLang="zh-CN" sz="2000" b="1" dirty="0">
                  <a:solidFill>
                    <a:schemeClr val="accent2"/>
                  </a:solidFill>
                </a:rPr>
                <a:t>a		  </a:t>
              </a:r>
              <a:r>
                <a:rPr kumimoji="0" lang="en-US" altLang="zh-CN" sz="2000" b="1" dirty="0" err="1">
                  <a:solidFill>
                    <a:schemeClr val="accent2"/>
                  </a:solidFill>
                </a:rPr>
                <a:t>bbcde</a:t>
              </a:r>
              <a:r>
                <a:rPr kumimoji="0" lang="en-US" altLang="zh-CN" sz="2000" b="1" dirty="0"/>
                <a:t>$		SHIFT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$</a:t>
              </a:r>
              <a:r>
                <a:rPr kumimoji="0" lang="en-US" altLang="zh-CN" sz="2000" b="1" dirty="0">
                  <a:solidFill>
                    <a:schemeClr val="accent2"/>
                  </a:solidFill>
                </a:rPr>
                <a:t>ab		    </a:t>
              </a:r>
              <a:r>
                <a:rPr kumimoji="0" lang="en-US" altLang="zh-CN" sz="2000" b="1" dirty="0" err="1">
                  <a:solidFill>
                    <a:schemeClr val="accent2"/>
                  </a:solidFill>
                </a:rPr>
                <a:t>bcde</a:t>
              </a:r>
              <a:r>
                <a:rPr kumimoji="0" lang="en-US" altLang="zh-CN" sz="2000" b="1" dirty="0"/>
                <a:t>$		REDUCE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$</a:t>
              </a:r>
              <a:r>
                <a:rPr kumimoji="0" lang="en-US" altLang="zh-CN" sz="2000" b="1" dirty="0" err="1">
                  <a:solidFill>
                    <a:schemeClr val="accent2"/>
                  </a:solidFill>
                </a:rPr>
                <a:t>a</a:t>
              </a:r>
              <a:r>
                <a:rPr kumimoji="0" lang="en-US" altLang="zh-CN" sz="2000" b="1" dirty="0" err="1"/>
                <a:t>A</a:t>
              </a:r>
              <a:r>
                <a:rPr kumimoji="0" lang="en-US" altLang="zh-CN" sz="2000" b="1" dirty="0">
                  <a:solidFill>
                    <a:schemeClr val="accent2"/>
                  </a:solidFill>
                </a:rPr>
                <a:t>		    </a:t>
              </a:r>
              <a:r>
                <a:rPr kumimoji="0" lang="en-US" altLang="zh-CN" sz="2000" b="1" dirty="0" err="1">
                  <a:solidFill>
                    <a:schemeClr val="accent2"/>
                  </a:solidFill>
                </a:rPr>
                <a:t>bcde</a:t>
              </a:r>
              <a:r>
                <a:rPr kumimoji="0" lang="en-US" altLang="zh-CN" sz="2000" b="1" dirty="0"/>
                <a:t>$		SHIFT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$</a:t>
              </a:r>
              <a:r>
                <a:rPr kumimoji="0" lang="en-US" altLang="zh-CN" sz="2000" b="1" dirty="0" err="1">
                  <a:solidFill>
                    <a:schemeClr val="accent2"/>
                  </a:solidFill>
                </a:rPr>
                <a:t>a</a:t>
              </a:r>
              <a:r>
                <a:rPr kumimoji="0" lang="en-US" altLang="zh-CN" sz="2000" b="1" dirty="0" err="1"/>
                <a:t>A</a:t>
              </a:r>
              <a:r>
                <a:rPr kumimoji="0" lang="en-US" altLang="zh-CN" sz="2000" b="1" dirty="0" err="1">
                  <a:solidFill>
                    <a:schemeClr val="accent2"/>
                  </a:solidFill>
                </a:rPr>
                <a:t>b</a:t>
              </a:r>
              <a:r>
                <a:rPr kumimoji="0" lang="en-US" altLang="zh-CN" sz="2000" b="1" dirty="0">
                  <a:solidFill>
                    <a:schemeClr val="accent2"/>
                  </a:solidFill>
                </a:rPr>
                <a:t>		      </a:t>
              </a:r>
              <a:r>
                <a:rPr kumimoji="0" lang="en-US" altLang="zh-CN" sz="2000" b="1" dirty="0" err="1">
                  <a:solidFill>
                    <a:schemeClr val="accent2"/>
                  </a:solidFill>
                </a:rPr>
                <a:t>cde</a:t>
              </a:r>
              <a:r>
                <a:rPr kumimoji="0" lang="en-US" altLang="zh-CN" sz="2000" b="1" dirty="0"/>
                <a:t>$		SHIFT (?)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$</a:t>
              </a:r>
              <a:r>
                <a:rPr kumimoji="0" lang="en-US" altLang="zh-CN" sz="2000" b="1" dirty="0" err="1">
                  <a:solidFill>
                    <a:schemeClr val="accent2"/>
                  </a:solidFill>
                </a:rPr>
                <a:t>a</a:t>
              </a:r>
              <a:r>
                <a:rPr kumimoji="0" lang="en-US" altLang="zh-CN" sz="2000" b="1" dirty="0" err="1"/>
                <a:t>A</a:t>
              </a:r>
              <a:r>
                <a:rPr kumimoji="0" lang="en-US" altLang="zh-CN" sz="2000" b="1" dirty="0" err="1">
                  <a:solidFill>
                    <a:schemeClr val="accent2"/>
                  </a:solidFill>
                </a:rPr>
                <a:t>bc</a:t>
              </a:r>
              <a:r>
                <a:rPr kumimoji="0" lang="en-US" altLang="zh-CN" sz="2000" b="1" dirty="0">
                  <a:solidFill>
                    <a:schemeClr val="accent2"/>
                  </a:solidFill>
                </a:rPr>
                <a:t> 		        de</a:t>
              </a:r>
              <a:r>
                <a:rPr kumimoji="0" lang="en-US" altLang="zh-CN" sz="2000" b="1" dirty="0"/>
                <a:t>$		REDUCE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$</a:t>
              </a:r>
              <a:r>
                <a:rPr kumimoji="0" lang="en-US" altLang="zh-CN" sz="2000" b="1" dirty="0" err="1">
                  <a:solidFill>
                    <a:schemeClr val="accent2"/>
                  </a:solidFill>
                </a:rPr>
                <a:t>a</a:t>
              </a:r>
              <a:r>
                <a:rPr kumimoji="0" lang="en-US" altLang="zh-CN" sz="2000" b="1" dirty="0" err="1"/>
                <a:t>A</a:t>
              </a:r>
              <a:r>
                <a:rPr kumimoji="0" lang="en-US" altLang="zh-CN" sz="2000" b="1" dirty="0">
                  <a:solidFill>
                    <a:schemeClr val="accent2"/>
                  </a:solidFill>
                </a:rPr>
                <a:t> 		        de</a:t>
              </a:r>
              <a:r>
                <a:rPr kumimoji="0" lang="en-US" altLang="zh-CN" sz="2000" b="1" dirty="0"/>
                <a:t>$		SHIFT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$</a:t>
              </a:r>
              <a:r>
                <a:rPr kumimoji="0" lang="en-US" altLang="zh-CN" sz="2000" b="1" dirty="0" err="1">
                  <a:solidFill>
                    <a:schemeClr val="accent2"/>
                  </a:solidFill>
                </a:rPr>
                <a:t>a</a:t>
              </a:r>
              <a:r>
                <a:rPr kumimoji="0" lang="en-US" altLang="zh-CN" sz="2000" b="1" dirty="0" err="1"/>
                <a:t>A</a:t>
              </a:r>
              <a:r>
                <a:rPr kumimoji="0" lang="en-US" altLang="zh-CN" sz="2000" b="1" dirty="0" err="1">
                  <a:solidFill>
                    <a:schemeClr val="accent2"/>
                  </a:solidFill>
                </a:rPr>
                <a:t>d</a:t>
              </a:r>
              <a:r>
                <a:rPr kumimoji="0" lang="en-US" altLang="zh-CN" sz="2000" b="1" dirty="0">
                  <a:solidFill>
                    <a:schemeClr val="accent2"/>
                  </a:solidFill>
                </a:rPr>
                <a:t> 		          e</a:t>
              </a:r>
              <a:r>
                <a:rPr kumimoji="0" lang="en-US" altLang="zh-CN" sz="2000" b="1" dirty="0"/>
                <a:t>$		REDUCE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$</a:t>
              </a:r>
              <a:r>
                <a:rPr kumimoji="0" lang="en-US" altLang="zh-CN" sz="2000" b="1" dirty="0" err="1">
                  <a:solidFill>
                    <a:schemeClr val="accent2"/>
                  </a:solidFill>
                </a:rPr>
                <a:t>a</a:t>
              </a:r>
              <a:r>
                <a:rPr kumimoji="0" lang="en-US" altLang="zh-CN" sz="2000" b="1" dirty="0" err="1"/>
                <a:t>AB</a:t>
              </a:r>
              <a:r>
                <a:rPr kumimoji="0" lang="en-US" altLang="zh-CN" sz="2000" b="1" dirty="0">
                  <a:solidFill>
                    <a:schemeClr val="accent2"/>
                  </a:solidFill>
                </a:rPr>
                <a:t>		          e</a:t>
              </a:r>
              <a:r>
                <a:rPr kumimoji="0" lang="en-US" altLang="zh-CN" sz="2000" b="1" dirty="0"/>
                <a:t>$		SHIFT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$</a:t>
              </a:r>
              <a:r>
                <a:rPr kumimoji="0" lang="en-US" altLang="zh-CN" sz="2000" b="1" dirty="0" err="1">
                  <a:solidFill>
                    <a:schemeClr val="accent2"/>
                  </a:solidFill>
                </a:rPr>
                <a:t>a</a:t>
              </a:r>
              <a:r>
                <a:rPr kumimoji="0" lang="en-US" altLang="zh-CN" sz="2000" b="1" dirty="0" err="1"/>
                <a:t>AB</a:t>
              </a:r>
              <a:r>
                <a:rPr kumimoji="0" lang="en-US" altLang="zh-CN" sz="2000" b="1" dirty="0" err="1">
                  <a:solidFill>
                    <a:schemeClr val="accent2"/>
                  </a:solidFill>
                </a:rPr>
                <a:t>e</a:t>
              </a:r>
              <a:r>
                <a:rPr kumimoji="0" lang="en-US" altLang="zh-CN" sz="2000" b="1" dirty="0"/>
                <a:t> </a:t>
              </a:r>
              <a:r>
                <a:rPr kumimoji="0" lang="en-US" altLang="zh-CN" sz="2000" b="1" dirty="0">
                  <a:solidFill>
                    <a:schemeClr val="accent2"/>
                  </a:solidFill>
                </a:rPr>
                <a:t>	                          </a:t>
              </a:r>
              <a:r>
                <a:rPr kumimoji="0" lang="en-US" altLang="zh-CN" sz="2000" b="1" dirty="0"/>
                <a:t>$		REDUCE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 dirty="0"/>
                <a:t>$S</a:t>
              </a:r>
              <a:r>
                <a:rPr kumimoji="0" lang="en-US" altLang="zh-CN" sz="2000" b="1" dirty="0">
                  <a:solidFill>
                    <a:schemeClr val="accent2"/>
                  </a:solidFill>
                </a:rPr>
                <a:t>		            </a:t>
              </a:r>
              <a:r>
                <a:rPr kumimoji="0" lang="en-US" altLang="zh-CN" sz="2000" b="1" dirty="0"/>
                <a:t>$		ACCEPT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kumimoji="0" lang="en-US" altLang="zh-CN" sz="2000" b="1" dirty="0"/>
            </a:p>
          </p:txBody>
        </p:sp>
        <p:sp>
          <p:nvSpPr>
            <p:cNvPr id="49165" name="Text Box 11">
              <a:extLst>
                <a:ext uri="{FF2B5EF4-FFF2-40B4-BE49-F238E27FC236}">
                  <a16:creationId xmlns:a16="http://schemas.microsoft.com/office/drawing/2014/main" id="{E84A9DCB-EE58-4B6B-85FB-2C7D1C637C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1056"/>
              <a:ext cx="96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kumimoji="0" lang="zh-CN" altLang="zh-CN" sz="1400" b="1"/>
            </a:p>
          </p:txBody>
        </p:sp>
        <p:sp>
          <p:nvSpPr>
            <p:cNvPr id="49166" name="Text Box 12">
              <a:extLst>
                <a:ext uri="{FF2B5EF4-FFF2-40B4-BE49-F238E27FC236}">
                  <a16:creationId xmlns:a16="http://schemas.microsoft.com/office/drawing/2014/main" id="{313AA50D-E124-440C-8366-8ABB53FD04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768"/>
              <a:ext cx="816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STACK</a:t>
              </a:r>
            </a:p>
          </p:txBody>
        </p:sp>
        <p:sp>
          <p:nvSpPr>
            <p:cNvPr id="49167" name="Text Box 13">
              <a:extLst>
                <a:ext uri="{FF2B5EF4-FFF2-40B4-BE49-F238E27FC236}">
                  <a16:creationId xmlns:a16="http://schemas.microsoft.com/office/drawing/2014/main" id="{CAB84CFB-890E-4648-AB5E-F688749A78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768"/>
              <a:ext cx="768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INPUT</a:t>
              </a:r>
            </a:p>
          </p:txBody>
        </p:sp>
        <p:sp>
          <p:nvSpPr>
            <p:cNvPr id="49168" name="Text Box 14">
              <a:extLst>
                <a:ext uri="{FF2B5EF4-FFF2-40B4-BE49-F238E27FC236}">
                  <a16:creationId xmlns:a16="http://schemas.microsoft.com/office/drawing/2014/main" id="{58519240-CC62-4A88-865F-A569337A00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768"/>
              <a:ext cx="91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1"/>
                <a:t>Remark</a:t>
              </a:r>
            </a:p>
          </p:txBody>
        </p:sp>
      </p:grpSp>
      <p:sp>
        <p:nvSpPr>
          <p:cNvPr id="49156" name="Text Box 15">
            <a:extLst>
              <a:ext uri="{FF2B5EF4-FFF2-40B4-BE49-F238E27FC236}">
                <a16:creationId xmlns:a16="http://schemas.microsoft.com/office/drawing/2014/main" id="{6B23C35A-CE1B-422B-BD72-B5DC9FB7E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1982" y="1219200"/>
            <a:ext cx="2539005" cy="3111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zh-CN" altLang="en-US" sz="2000" b="1" dirty="0">
                <a:solidFill>
                  <a:srgbClr val="3333CC"/>
                </a:solidFill>
              </a:rPr>
              <a:t>何时移进？</a:t>
            </a:r>
            <a:endParaRPr kumimoji="0" lang="en-US" altLang="zh-CN" sz="2000" b="1" dirty="0">
              <a:solidFill>
                <a:srgbClr val="3333CC"/>
              </a:solidFill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zh-CN" altLang="en-US" sz="2000" b="1" dirty="0">
                <a:solidFill>
                  <a:srgbClr val="3333CC"/>
                </a:solidFill>
              </a:rPr>
              <a:t>尚未在栈顶形成句柄</a:t>
            </a:r>
            <a:endParaRPr kumimoji="0" lang="en-US" altLang="zh-CN" sz="2000" b="1" dirty="0">
              <a:solidFill>
                <a:srgbClr val="3333CC"/>
              </a:solidFill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endParaRPr kumimoji="0" lang="en-US" altLang="zh-CN" sz="2000" b="1" dirty="0">
              <a:solidFill>
                <a:srgbClr val="3333CC"/>
              </a:solidFill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zh-CN" altLang="en-US" sz="2000" b="1" dirty="0">
                <a:solidFill>
                  <a:srgbClr val="3333CC"/>
                </a:solidFill>
              </a:rPr>
              <a:t>何时归约？</a:t>
            </a:r>
            <a:endParaRPr kumimoji="0" lang="en-US" altLang="zh-CN" sz="2000" b="1" dirty="0">
              <a:solidFill>
                <a:srgbClr val="3333CC"/>
              </a:solidFill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zh-CN" altLang="en-US" sz="2000" b="1" dirty="0">
                <a:solidFill>
                  <a:srgbClr val="3333CC"/>
                </a:solidFill>
              </a:rPr>
              <a:t>已在栈顶形成句柄</a:t>
            </a:r>
            <a:endParaRPr kumimoji="0" lang="en-US" altLang="zh-CN" sz="2000" b="1" dirty="0">
              <a:solidFill>
                <a:srgbClr val="3333CC"/>
              </a:solidFill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endParaRPr kumimoji="0" lang="en-US" altLang="zh-CN" sz="2000" b="1" dirty="0">
              <a:solidFill>
                <a:srgbClr val="3333CC"/>
              </a:solidFill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zh-CN" altLang="en-US" sz="2000" b="1" dirty="0">
                <a:solidFill>
                  <a:srgbClr val="3333CC"/>
                </a:solidFill>
              </a:rPr>
              <a:t>如何判定？</a:t>
            </a:r>
            <a:endParaRPr kumimoji="0" lang="en-US" altLang="zh-CN" sz="2000" b="1" dirty="0">
              <a:solidFill>
                <a:srgbClr val="3333CC"/>
              </a:solidFill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zh-CN" altLang="en-US" sz="2000" b="1" dirty="0">
                <a:solidFill>
                  <a:srgbClr val="3333CC"/>
                </a:solidFill>
              </a:rPr>
              <a:t>栈中符号串始终是</a:t>
            </a:r>
            <a:endParaRPr kumimoji="0" lang="en-US" altLang="zh-CN" sz="2000" b="1" dirty="0">
              <a:solidFill>
                <a:srgbClr val="3333CC"/>
              </a:solidFill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zh-CN" altLang="en-US" sz="2000" b="1" dirty="0">
                <a:solidFill>
                  <a:srgbClr val="3333CC"/>
                </a:solidFill>
              </a:rPr>
              <a:t>活前缀！</a:t>
            </a:r>
            <a:endParaRPr kumimoji="0" lang="zh-CN" altLang="en-US" sz="2000" b="1" dirty="0">
              <a:solidFill>
                <a:srgbClr val="3333CC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CN" sz="2000" dirty="0">
              <a:solidFill>
                <a:srgbClr val="3333CC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94298B-18E5-4B61-90AB-66B7FF555694}"/>
              </a:ext>
            </a:extLst>
          </p:cNvPr>
          <p:cNvSpPr/>
          <p:nvPr/>
        </p:nvSpPr>
        <p:spPr>
          <a:xfrm>
            <a:off x="1146175" y="5865813"/>
            <a:ext cx="5711825" cy="3143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609600" indent="-609600"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S</a:t>
            </a:r>
            <a:r>
              <a:rPr lang="en-US" altLang="zh-CN" b="1" kern="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 </a:t>
            </a:r>
            <a:r>
              <a:rPr lang="en-US" altLang="zh-CN" b="1" u="sng" kern="0" dirty="0" err="1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aABe</a:t>
            </a:r>
            <a:r>
              <a:rPr lang="en-US" altLang="zh-CN" b="1" kern="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   </a:t>
            </a:r>
            <a:r>
              <a:rPr lang="en-US" altLang="zh-CN" b="1" kern="0" dirty="0" err="1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aA</a:t>
            </a:r>
            <a:r>
              <a:rPr lang="en-US" altLang="zh-CN" b="1" u="sng" kern="0" dirty="0" err="1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d</a:t>
            </a:r>
            <a:r>
              <a:rPr lang="en-US" altLang="zh-CN" b="1" kern="0" dirty="0" err="1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e</a:t>
            </a:r>
            <a:r>
              <a:rPr lang="en-US" altLang="zh-CN" b="1" kern="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   </a:t>
            </a:r>
            <a:r>
              <a:rPr lang="en-US" altLang="zh-CN" b="1" kern="0" dirty="0" err="1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a</a:t>
            </a:r>
            <a:r>
              <a:rPr lang="en-US" altLang="zh-CN" b="1" u="sng" kern="0" dirty="0" err="1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Abc</a:t>
            </a:r>
            <a:r>
              <a:rPr lang="en-US" altLang="zh-CN" b="1" kern="0" dirty="0" err="1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de</a:t>
            </a:r>
            <a:r>
              <a:rPr lang="en-US" altLang="zh-CN" b="1" kern="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   </a:t>
            </a:r>
            <a:r>
              <a:rPr lang="en-US" altLang="zh-CN" b="1" kern="0" dirty="0" err="1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a</a:t>
            </a:r>
            <a:r>
              <a:rPr lang="en-US" altLang="zh-CN" b="1" u="sng" kern="0" dirty="0" err="1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b</a:t>
            </a:r>
            <a:r>
              <a:rPr lang="en-US" altLang="zh-CN" b="1" kern="0" dirty="0" err="1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bcde</a:t>
            </a:r>
            <a:endParaRPr lang="en-US" altLang="zh-CN" b="1" kern="0" dirty="0">
              <a:solidFill>
                <a:srgbClr val="000000"/>
              </a:solidFill>
              <a:latin typeface="Times New Roman"/>
              <a:ea typeface="宋体"/>
              <a:sym typeface="Symbol" panose="05050102010706020507" pitchFamily="18" charset="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CC5189-F64E-4DAB-9FC1-DAD8F26AFDBA}"/>
              </a:ext>
            </a:extLst>
          </p:cNvPr>
          <p:cNvSpPr/>
          <p:nvPr/>
        </p:nvSpPr>
        <p:spPr bwMode="auto">
          <a:xfrm>
            <a:off x="1547664" y="2060848"/>
            <a:ext cx="4536504" cy="299588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62D1B84-997F-428D-8B81-AF2C01E8048E}"/>
              </a:ext>
            </a:extLst>
          </p:cNvPr>
          <p:cNvSpPr/>
          <p:nvPr/>
        </p:nvSpPr>
        <p:spPr bwMode="auto">
          <a:xfrm>
            <a:off x="1547664" y="2377839"/>
            <a:ext cx="4824536" cy="299588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A84A3B3-E9D0-4831-AFFA-2C7029E5E83D}"/>
              </a:ext>
            </a:extLst>
          </p:cNvPr>
          <p:cNvSpPr/>
          <p:nvPr/>
        </p:nvSpPr>
        <p:spPr bwMode="auto">
          <a:xfrm>
            <a:off x="1547664" y="3068960"/>
            <a:ext cx="4896544" cy="299588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D6FD31-5E03-4E18-BB6C-3CE3494154D1}"/>
              </a:ext>
            </a:extLst>
          </p:cNvPr>
          <p:cNvSpPr/>
          <p:nvPr/>
        </p:nvSpPr>
        <p:spPr>
          <a:xfrm>
            <a:off x="26046" y="3051607"/>
            <a:ext cx="1531188" cy="3170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zh-CN" altLang="en-US" sz="2000" b="1" dirty="0">
                <a:solidFill>
                  <a:srgbClr val="3333CC"/>
                </a:solidFill>
              </a:rPr>
              <a:t>为何移进</a:t>
            </a:r>
            <a:br>
              <a:rPr kumimoji="0" lang="en-US" altLang="zh-CN" sz="2000" b="1" dirty="0">
                <a:solidFill>
                  <a:srgbClr val="3333CC"/>
                </a:solidFill>
              </a:rPr>
            </a:br>
            <a:r>
              <a:rPr kumimoji="0" lang="zh-CN" altLang="en-US" sz="2000" b="1" dirty="0">
                <a:solidFill>
                  <a:srgbClr val="3333CC"/>
                </a:solidFill>
              </a:rPr>
              <a:t>而不归约？</a:t>
            </a:r>
            <a:endParaRPr kumimoji="0" lang="en-US" altLang="zh-CN" sz="2000" b="1" dirty="0">
              <a:solidFill>
                <a:srgbClr val="3333CC"/>
              </a:solidFill>
            </a:endParaRPr>
          </a:p>
          <a:p>
            <a:pPr eaLnBrk="1" hangingPunct="1">
              <a:lnSpc>
                <a:spcPct val="89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kumimoji="0" lang="en-US" altLang="zh-CN" sz="2000" b="1" dirty="0" err="1">
                <a:solidFill>
                  <a:srgbClr val="3333CC"/>
                </a:solidFill>
                <a:latin typeface="+mn-lt"/>
              </a:rPr>
              <a:t>aAA</a:t>
            </a:r>
            <a:r>
              <a:rPr kumimoji="0" lang="zh-CN" altLang="en-US" sz="2000" b="1" dirty="0">
                <a:solidFill>
                  <a:srgbClr val="3333CC"/>
                </a:solidFill>
                <a:latin typeface="+mn-lt"/>
              </a:rPr>
              <a:t>不是活</a:t>
            </a:r>
            <a:endParaRPr kumimoji="0" lang="en-US" altLang="zh-CN" sz="2000" b="1" dirty="0">
              <a:solidFill>
                <a:srgbClr val="3333CC"/>
              </a:solidFill>
              <a:latin typeface="+mn-lt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zh-CN" altLang="en-US" sz="2000" b="1" dirty="0">
                <a:solidFill>
                  <a:srgbClr val="3333CC"/>
                </a:solidFill>
                <a:latin typeface="+mn-lt"/>
              </a:rPr>
              <a:t>前缀！</a:t>
            </a:r>
            <a:endParaRPr kumimoji="0" lang="en-US" altLang="zh-CN" sz="2000" b="1" dirty="0">
              <a:solidFill>
                <a:srgbClr val="3333CC"/>
              </a:solidFill>
              <a:latin typeface="+mn-lt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endParaRPr kumimoji="0" lang="en-US" altLang="zh-CN" sz="2000" b="1" dirty="0">
              <a:solidFill>
                <a:srgbClr val="3333CC"/>
              </a:solidFill>
              <a:latin typeface="+mn-lt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zh-CN" altLang="en-US" sz="2000" b="1" dirty="0">
                <a:solidFill>
                  <a:srgbClr val="3333CC"/>
                </a:solidFill>
                <a:latin typeface="+mn-lt"/>
              </a:rPr>
              <a:t>之前的</a:t>
            </a:r>
            <a:r>
              <a:rPr kumimoji="0" lang="en-US" altLang="zh-CN" sz="2000" b="1" dirty="0">
                <a:solidFill>
                  <a:srgbClr val="3333CC"/>
                </a:solidFill>
                <a:latin typeface="+mn-lt"/>
              </a:rPr>
              <a:t>b</a:t>
            </a:r>
            <a:r>
              <a:rPr kumimoji="0" lang="zh-CN" altLang="en-US" sz="2000" b="1" dirty="0">
                <a:solidFill>
                  <a:srgbClr val="3333CC"/>
                </a:solidFill>
                <a:latin typeface="+mn-lt"/>
              </a:rPr>
              <a:t>能</a:t>
            </a:r>
            <a:br>
              <a:rPr kumimoji="0" lang="en-US" altLang="zh-CN" sz="2000" b="1" dirty="0">
                <a:solidFill>
                  <a:srgbClr val="3333CC"/>
                </a:solidFill>
                <a:latin typeface="+mn-lt"/>
              </a:rPr>
            </a:br>
            <a:r>
              <a:rPr kumimoji="0" lang="zh-CN" altLang="en-US" sz="2000" b="1" dirty="0">
                <a:solidFill>
                  <a:srgbClr val="3333CC"/>
                </a:solidFill>
                <a:latin typeface="+mn-lt"/>
              </a:rPr>
              <a:t>归约因为</a:t>
            </a:r>
            <a:r>
              <a:rPr kumimoji="0" lang="en-US" altLang="zh-CN" sz="2000" b="1" dirty="0" err="1">
                <a:solidFill>
                  <a:srgbClr val="3333CC"/>
                </a:solidFill>
                <a:latin typeface="+mn-lt"/>
              </a:rPr>
              <a:t>aA</a:t>
            </a:r>
            <a:endParaRPr kumimoji="0" lang="en-US" altLang="zh-CN" sz="2000" b="1" dirty="0">
              <a:solidFill>
                <a:srgbClr val="3333CC"/>
              </a:solidFill>
              <a:latin typeface="+mn-lt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zh-CN" altLang="en-US" sz="2000" b="1" dirty="0">
                <a:solidFill>
                  <a:srgbClr val="3333CC"/>
                </a:solidFill>
                <a:latin typeface="+mn-lt"/>
              </a:rPr>
              <a:t>是活前缀</a:t>
            </a:r>
            <a:endParaRPr kumimoji="0" lang="en-US" altLang="zh-CN" sz="2000" b="1" dirty="0">
              <a:solidFill>
                <a:srgbClr val="3333CC"/>
              </a:solidFill>
              <a:latin typeface="+mn-lt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endParaRPr kumimoji="0" lang="en-US" altLang="zh-CN" sz="2000" b="1" dirty="0">
              <a:solidFill>
                <a:srgbClr val="3333CC"/>
              </a:solidFill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endParaRPr kumimoji="0" lang="en-US" altLang="zh-CN" sz="2000" b="1" dirty="0">
              <a:solidFill>
                <a:srgbClr val="3333CC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A717520-B67F-3244-A12E-A88057CE7F7F}"/>
              </a:ext>
            </a:extLst>
          </p:cNvPr>
          <p:cNvSpPr/>
          <p:nvPr/>
        </p:nvSpPr>
        <p:spPr bwMode="auto">
          <a:xfrm>
            <a:off x="1859549" y="2364782"/>
            <a:ext cx="192171" cy="299588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8" grpId="0" animBg="1"/>
      <p:bldP spid="19" grpId="0" animBg="1"/>
      <p:bldP spid="2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6F6E5EA6-A39A-4B32-A2E9-7B5266FE31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何时移进？何时归约？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DD39C44F-1D0D-456A-8D59-97AA857FAF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确定移进</a:t>
            </a:r>
            <a:r>
              <a:rPr lang="en-US" altLang="zh-CN" sz="2800" dirty="0"/>
              <a:t>/</a:t>
            </a:r>
            <a:r>
              <a:rPr lang="zh-CN" altLang="en-US" sz="2800" dirty="0"/>
              <a:t>归约，需要</a:t>
            </a:r>
          </a:p>
          <a:p>
            <a:pPr lvl="1" eaLnBrk="1" hangingPunct="1"/>
            <a:r>
              <a:rPr lang="zh-CN" altLang="en-US" sz="2400" dirty="0"/>
              <a:t>查看栈中一些符号</a:t>
            </a:r>
          </a:p>
          <a:p>
            <a:pPr lvl="1" eaLnBrk="1" hangingPunct="1"/>
            <a:r>
              <a:rPr lang="zh-CN" altLang="en-US" sz="2400" dirty="0"/>
              <a:t>保证对栈的修改保持“活前缀特性”</a:t>
            </a:r>
          </a:p>
          <a:p>
            <a:pPr eaLnBrk="1" hangingPunct="1"/>
            <a:r>
              <a:rPr lang="zh-CN" altLang="en-US" sz="2800" dirty="0"/>
              <a:t>对于前面例子</a:t>
            </a:r>
          </a:p>
          <a:p>
            <a:pPr lvl="1" eaLnBrk="1" hangingPunct="1"/>
            <a:r>
              <a:rPr lang="zh-CN" altLang="en-US" sz="2400" dirty="0"/>
              <a:t>任何</a:t>
            </a:r>
            <a:r>
              <a:rPr lang="en-US" altLang="zh-CN" sz="2400" dirty="0"/>
              <a:t>b</a:t>
            </a:r>
            <a:r>
              <a:rPr lang="zh-CN" altLang="en-US" sz="2400" dirty="0"/>
              <a:t>若在‘</a:t>
            </a:r>
            <a:r>
              <a:rPr lang="en-US" altLang="zh-CN" sz="2400" dirty="0"/>
              <a:t>A</a:t>
            </a:r>
            <a:r>
              <a:rPr lang="zh-CN" altLang="en-US" sz="2400" dirty="0"/>
              <a:t>’右边，不应归约</a:t>
            </a:r>
          </a:p>
          <a:p>
            <a:pPr lvl="1" eaLnBrk="1" hangingPunct="1"/>
            <a:r>
              <a:rPr lang="en-US" altLang="zh-CN" sz="2400" dirty="0"/>
              <a:t>b</a:t>
            </a:r>
            <a:r>
              <a:rPr lang="zh-CN" altLang="en-US" sz="2400" dirty="0"/>
              <a:t>只有在‘</a:t>
            </a:r>
            <a:r>
              <a:rPr lang="en-US" altLang="zh-CN" sz="2400" dirty="0"/>
              <a:t>a</a:t>
            </a:r>
            <a:r>
              <a:rPr lang="zh-CN" altLang="en-US" sz="2400" dirty="0"/>
              <a:t> ’之后，才可归约</a:t>
            </a:r>
          </a:p>
          <a:p>
            <a:pPr eaLnBrk="1" hangingPunct="1"/>
            <a:r>
              <a:rPr lang="zh-CN" altLang="en-US" sz="2800" dirty="0"/>
              <a:t>难题：在栈中保存何种信息，才能使得，只查看栈顶数据，即可（获取栈中活前缀串的信息，从而）确定移进</a:t>
            </a:r>
            <a:r>
              <a:rPr lang="en-US" altLang="zh-CN" sz="2800" dirty="0"/>
              <a:t>/</a:t>
            </a:r>
            <a:r>
              <a:rPr lang="zh-CN" altLang="en-US" sz="2800" dirty="0"/>
              <a:t>归约？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41A429EA-6D83-4624-A7A8-F6F38CB459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LR</a:t>
            </a:r>
            <a:r>
              <a:rPr lang="zh-CN" altLang="en-US"/>
              <a:t>分析方法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81013F51-DCB4-47D5-AD4D-C448EDFF65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/>
            <a:r>
              <a:rPr lang="en-US" altLang="zh-CN" sz="2800" dirty="0"/>
              <a:t>LR</a:t>
            </a:r>
            <a:r>
              <a:rPr lang="zh-CN" altLang="en-US" sz="2800" dirty="0"/>
              <a:t>：</a:t>
            </a:r>
            <a:r>
              <a:rPr lang="en-US" altLang="zh-CN" sz="2800" dirty="0"/>
              <a:t>L—</a:t>
            </a:r>
            <a:r>
              <a:rPr lang="zh-CN" altLang="en-US" sz="2800" dirty="0"/>
              <a:t>由左至右扫描，</a:t>
            </a:r>
            <a:r>
              <a:rPr lang="en-US" altLang="zh-CN" sz="2800" dirty="0"/>
              <a:t>R—</a:t>
            </a:r>
            <a:r>
              <a:rPr lang="zh-CN" altLang="en-US" sz="2800" dirty="0"/>
              <a:t>最右推导</a:t>
            </a:r>
          </a:p>
          <a:p>
            <a:pPr eaLnBrk="1" hangingPunct="1"/>
            <a:r>
              <a:rPr lang="en-US" altLang="zh-CN" sz="2800" dirty="0"/>
              <a:t>LR(1)——1</a:t>
            </a:r>
            <a:r>
              <a:rPr lang="zh-CN" altLang="en-US" sz="2800" dirty="0"/>
              <a:t>个向前搜索符号</a:t>
            </a:r>
          </a:p>
          <a:p>
            <a:pPr eaLnBrk="1" hangingPunct="1"/>
            <a:r>
              <a:rPr lang="zh-CN" altLang="en-US" sz="2800" dirty="0"/>
              <a:t>优缺点</a:t>
            </a:r>
          </a:p>
          <a:p>
            <a:pPr lvl="1" eaLnBrk="1" hangingPunct="1"/>
            <a:r>
              <a:rPr lang="zh-CN" altLang="en-US" sz="2400" dirty="0"/>
              <a:t>实际上可识别所有程序语言结构</a:t>
            </a:r>
          </a:p>
          <a:p>
            <a:pPr lvl="1" eaLnBrk="1" hangingPunct="1"/>
            <a:r>
              <a:rPr lang="zh-CN" altLang="en-US" sz="2400" dirty="0"/>
              <a:t>最通用的非回溯移进</a:t>
            </a:r>
            <a:r>
              <a:rPr lang="en-US" altLang="zh-CN" sz="2400" dirty="0"/>
              <a:t>-</a:t>
            </a:r>
            <a:r>
              <a:rPr lang="zh-CN" altLang="en-US" sz="2400" dirty="0"/>
              <a:t>归约分析方法</a:t>
            </a:r>
          </a:p>
          <a:p>
            <a:pPr lvl="1" eaLnBrk="1" hangingPunct="1"/>
            <a:r>
              <a:rPr lang="zh-CN" altLang="en-US" sz="2400" dirty="0"/>
              <a:t>可分析的文法是预测分析法的超集</a:t>
            </a:r>
          </a:p>
          <a:p>
            <a:pPr lvl="1" eaLnBrk="1" hangingPunct="1"/>
            <a:r>
              <a:rPr lang="zh-CN" altLang="en-US" sz="2400" dirty="0"/>
              <a:t>错误检测迅速</a:t>
            </a:r>
          </a:p>
          <a:p>
            <a:pPr lvl="1" eaLnBrk="1" hangingPunct="1"/>
            <a:r>
              <a:rPr lang="zh-CN" altLang="en-US" sz="2400" dirty="0">
                <a:solidFill>
                  <a:srgbClr val="FF3300"/>
                </a:solidFill>
              </a:rPr>
              <a:t>手工实现繁琐，但已有很多自动生成工具</a:t>
            </a:r>
          </a:p>
          <a:p>
            <a:pPr eaLnBrk="1" hangingPunct="1"/>
            <a:r>
              <a:rPr lang="en-US" altLang="zh-CN" sz="2800" dirty="0"/>
              <a:t>SLR</a:t>
            </a:r>
            <a:r>
              <a:rPr lang="zh-CN" altLang="en-US" sz="2800" dirty="0"/>
              <a:t>，规范</a:t>
            </a:r>
            <a:r>
              <a:rPr lang="en-US" altLang="zh-CN" sz="2800" dirty="0"/>
              <a:t>LR</a:t>
            </a:r>
            <a:r>
              <a:rPr lang="zh-CN" altLang="en-US" sz="2800" dirty="0"/>
              <a:t>，</a:t>
            </a:r>
            <a:r>
              <a:rPr lang="en-US" altLang="zh-CN" sz="2800" dirty="0"/>
              <a:t>LALR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A4C1F3D7-2ACF-4A91-BA0E-B372871597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4.7.1  LR</a:t>
            </a:r>
            <a:r>
              <a:rPr lang="zh-CN" altLang="en-US"/>
              <a:t>分析算法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35C955A5-302E-4298-88B3-6F3F01D78C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4114800"/>
            <a:ext cx="8116888" cy="19812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不同</a:t>
            </a:r>
            <a:r>
              <a:rPr lang="en-US" altLang="zh-CN" sz="2800" dirty="0"/>
              <a:t>LR</a:t>
            </a:r>
            <a:r>
              <a:rPr lang="zh-CN" altLang="en-US" sz="2800" dirty="0"/>
              <a:t>分析方法算法相同，只是分析表不同</a:t>
            </a:r>
          </a:p>
          <a:p>
            <a:pPr eaLnBrk="1" hangingPunct="1"/>
            <a:r>
              <a:rPr lang="en-US" altLang="zh-CN" sz="2800" dirty="0" err="1"/>
              <a:t>s</a:t>
            </a:r>
            <a:r>
              <a:rPr lang="en-US" altLang="zh-CN" sz="2800" baseline="-25000" dirty="0" err="1"/>
              <a:t>i</a:t>
            </a:r>
            <a:r>
              <a:rPr lang="zh-CN" altLang="en-US" sz="2800" dirty="0"/>
              <a:t>：状态，概括了栈中位于它下面的所有符号（活前缀串）的信息</a:t>
            </a:r>
          </a:p>
        </p:txBody>
      </p:sp>
      <p:sp>
        <p:nvSpPr>
          <p:cNvPr id="53252" name="Text Box 5">
            <a:extLst>
              <a:ext uri="{FF2B5EF4-FFF2-40B4-BE49-F238E27FC236}">
                <a16:creationId xmlns:a16="http://schemas.microsoft.com/office/drawing/2014/main" id="{33B09786-BF72-4B41-8DCD-A64332643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6075" y="1371600"/>
            <a:ext cx="360363" cy="3619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…</a:t>
            </a:r>
          </a:p>
        </p:txBody>
      </p:sp>
      <p:sp>
        <p:nvSpPr>
          <p:cNvPr id="53253" name="Text Box 6">
            <a:extLst>
              <a:ext uri="{FF2B5EF4-FFF2-40B4-BE49-F238E27FC236}">
                <a16:creationId xmlns:a16="http://schemas.microsoft.com/office/drawing/2014/main" id="{4EDA484E-1C39-44DC-8BC0-9E9CADC35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6438" y="1371600"/>
            <a:ext cx="360362" cy="3619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a</a:t>
            </a:r>
            <a:r>
              <a:rPr kumimoji="0" lang="en-US" altLang="zh-CN" sz="1600" b="1" baseline="-25000"/>
              <a:t>i</a:t>
            </a:r>
            <a:endParaRPr kumimoji="0" lang="en-US" altLang="zh-CN" sz="1600" b="1"/>
          </a:p>
        </p:txBody>
      </p:sp>
      <p:sp>
        <p:nvSpPr>
          <p:cNvPr id="53254" name="Text Box 7">
            <a:extLst>
              <a:ext uri="{FF2B5EF4-FFF2-40B4-BE49-F238E27FC236}">
                <a16:creationId xmlns:a16="http://schemas.microsoft.com/office/drawing/2014/main" id="{F0FE3998-33E0-455A-8B42-D66C87DF0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3625" y="1371600"/>
            <a:ext cx="360363" cy="3619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…</a:t>
            </a:r>
          </a:p>
        </p:txBody>
      </p:sp>
      <p:sp>
        <p:nvSpPr>
          <p:cNvPr id="53255" name="Text Box 8">
            <a:extLst>
              <a:ext uri="{FF2B5EF4-FFF2-40B4-BE49-F238E27FC236}">
                <a16:creationId xmlns:a16="http://schemas.microsoft.com/office/drawing/2014/main" id="{CF1B6271-58E1-48D2-90C3-7995FE9F9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0813" y="1371600"/>
            <a:ext cx="360362" cy="3619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a</a:t>
            </a:r>
            <a:r>
              <a:rPr kumimoji="0" lang="en-US" altLang="zh-CN" sz="1600" b="1" baseline="-25000"/>
              <a:t>n</a:t>
            </a:r>
            <a:endParaRPr kumimoji="0" lang="en-US" altLang="zh-CN" sz="1600" b="1"/>
          </a:p>
        </p:txBody>
      </p:sp>
      <p:sp>
        <p:nvSpPr>
          <p:cNvPr id="53256" name="Text Box 9">
            <a:extLst>
              <a:ext uri="{FF2B5EF4-FFF2-40B4-BE49-F238E27FC236}">
                <a16:creationId xmlns:a16="http://schemas.microsoft.com/office/drawing/2014/main" id="{58B1763A-004F-47AB-8726-5A98C4379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3238" y="1371600"/>
            <a:ext cx="360362" cy="3619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$</a:t>
            </a:r>
          </a:p>
        </p:txBody>
      </p:sp>
      <p:sp>
        <p:nvSpPr>
          <p:cNvPr id="53257" name="Text Box 11">
            <a:extLst>
              <a:ext uri="{FF2B5EF4-FFF2-40B4-BE49-F238E27FC236}">
                <a16:creationId xmlns:a16="http://schemas.microsoft.com/office/drawing/2014/main" id="{E02BBE70-7B00-4C9D-B9BD-747EE17E2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2589213"/>
            <a:ext cx="457200" cy="30638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X</a:t>
            </a:r>
            <a:r>
              <a:rPr kumimoji="0" lang="en-US" altLang="zh-CN" sz="1600" b="1" baseline="-25000"/>
              <a:t>m</a:t>
            </a:r>
            <a:endParaRPr kumimoji="0" lang="en-US" altLang="zh-CN" sz="1600" b="1"/>
          </a:p>
        </p:txBody>
      </p:sp>
      <p:sp>
        <p:nvSpPr>
          <p:cNvPr id="53258" name="Text Box 12">
            <a:extLst>
              <a:ext uri="{FF2B5EF4-FFF2-40B4-BE49-F238E27FC236}">
                <a16:creationId xmlns:a16="http://schemas.microsoft.com/office/drawing/2014/main" id="{F6AE6117-55A6-425C-80C8-8EDC7B298D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2286000"/>
            <a:ext cx="457200" cy="30638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s</a:t>
            </a:r>
            <a:r>
              <a:rPr kumimoji="0" lang="en-US" altLang="zh-CN" sz="1600" b="1" baseline="-25000"/>
              <a:t>m</a:t>
            </a:r>
            <a:endParaRPr kumimoji="0" lang="en-US" altLang="zh-CN" sz="1600" b="1"/>
          </a:p>
        </p:txBody>
      </p:sp>
      <p:sp>
        <p:nvSpPr>
          <p:cNvPr id="53259" name="Text Box 13">
            <a:extLst>
              <a:ext uri="{FF2B5EF4-FFF2-40B4-BE49-F238E27FC236}">
                <a16:creationId xmlns:a16="http://schemas.microsoft.com/office/drawing/2014/main" id="{D116B005-04AC-458F-B354-DB9EBA26B7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200400"/>
            <a:ext cx="457200" cy="30638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X</a:t>
            </a:r>
            <a:r>
              <a:rPr kumimoji="0" lang="en-US" altLang="zh-CN" sz="1600" b="1" baseline="-25000"/>
              <a:t>m-1</a:t>
            </a:r>
            <a:endParaRPr kumimoji="0" lang="en-US" altLang="zh-CN" sz="1600" b="1"/>
          </a:p>
        </p:txBody>
      </p:sp>
      <p:sp>
        <p:nvSpPr>
          <p:cNvPr id="53260" name="Text Box 14">
            <a:extLst>
              <a:ext uri="{FF2B5EF4-FFF2-40B4-BE49-F238E27FC236}">
                <a16:creationId xmlns:a16="http://schemas.microsoft.com/office/drawing/2014/main" id="{27E9A02A-8F47-484B-BA71-BFA50C32A7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2895600"/>
            <a:ext cx="457200" cy="30638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s</a:t>
            </a:r>
            <a:r>
              <a:rPr kumimoji="0" lang="en-US" altLang="zh-CN" sz="1600" b="1" baseline="-25000"/>
              <a:t>m-1</a:t>
            </a:r>
            <a:endParaRPr kumimoji="0" lang="en-US" altLang="zh-CN" sz="1600" b="1"/>
          </a:p>
        </p:txBody>
      </p:sp>
      <p:sp>
        <p:nvSpPr>
          <p:cNvPr id="53261" name="Text Box 15">
            <a:extLst>
              <a:ext uri="{FF2B5EF4-FFF2-40B4-BE49-F238E27FC236}">
                <a16:creationId xmlns:a16="http://schemas.microsoft.com/office/drawing/2014/main" id="{8476F7C4-69F8-4B38-AF8F-602F94FE2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3716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/>
              <a:t>Input</a:t>
            </a:r>
          </a:p>
        </p:txBody>
      </p:sp>
      <p:sp>
        <p:nvSpPr>
          <p:cNvPr id="53262" name="Text Box 16">
            <a:extLst>
              <a:ext uri="{FF2B5EF4-FFF2-40B4-BE49-F238E27FC236}">
                <a16:creationId xmlns:a16="http://schemas.microsoft.com/office/drawing/2014/main" id="{7ECC7272-6F2A-44F9-A37F-721EE2AAF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209800"/>
            <a:ext cx="2133600" cy="6667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/>
              <a:t>LR Parsing Program</a:t>
            </a:r>
          </a:p>
        </p:txBody>
      </p:sp>
      <p:sp>
        <p:nvSpPr>
          <p:cNvPr id="53263" name="Text Box 17">
            <a:extLst>
              <a:ext uri="{FF2B5EF4-FFF2-40B4-BE49-F238E27FC236}">
                <a16:creationId xmlns:a16="http://schemas.microsoft.com/office/drawing/2014/main" id="{AB48D099-8F9D-4BC6-A275-C91FE387D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18288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/>
              <a:t>Stack</a:t>
            </a:r>
          </a:p>
        </p:txBody>
      </p:sp>
      <p:sp>
        <p:nvSpPr>
          <p:cNvPr id="53264" name="Text Box 18">
            <a:extLst>
              <a:ext uri="{FF2B5EF4-FFF2-40B4-BE49-F238E27FC236}">
                <a16:creationId xmlns:a16="http://schemas.microsoft.com/office/drawing/2014/main" id="{1C32C29E-EB00-42BC-BF78-F605EA302B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2286000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/>
              <a:t>Output</a:t>
            </a:r>
          </a:p>
        </p:txBody>
      </p:sp>
      <p:sp>
        <p:nvSpPr>
          <p:cNvPr id="53265" name="Text Box 19">
            <a:extLst>
              <a:ext uri="{FF2B5EF4-FFF2-40B4-BE49-F238E27FC236}">
                <a16:creationId xmlns:a16="http://schemas.microsoft.com/office/drawing/2014/main" id="{7240F37D-6DD5-4A74-82EE-D28BAEAE9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3200400"/>
            <a:ext cx="2133600" cy="6667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/>
              <a:t>Parsing Table </a:t>
            </a:r>
            <a:br>
              <a:rPr kumimoji="0" lang="en-US" altLang="zh-CN" sz="1800" b="1"/>
            </a:br>
            <a:r>
              <a:rPr kumimoji="0" lang="en-US" altLang="zh-CN" sz="1800" b="1"/>
              <a:t>action[.,.] goto[.,.]</a:t>
            </a:r>
          </a:p>
        </p:txBody>
      </p:sp>
      <p:sp>
        <p:nvSpPr>
          <p:cNvPr id="53266" name="Line 20">
            <a:extLst>
              <a:ext uri="{FF2B5EF4-FFF2-40B4-BE49-F238E27FC236}">
                <a16:creationId xmlns:a16="http://schemas.microsoft.com/office/drawing/2014/main" id="{9408A4AA-672A-4662-B40B-F69D5D9AAA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24400" y="17526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67" name="Line 21">
            <a:extLst>
              <a:ext uri="{FF2B5EF4-FFF2-40B4-BE49-F238E27FC236}">
                <a16:creationId xmlns:a16="http://schemas.microsoft.com/office/drawing/2014/main" id="{37A5F474-EA11-450A-8AF7-C76A229098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4200" y="24384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68" name="Line 22">
            <a:extLst>
              <a:ext uri="{FF2B5EF4-FFF2-40B4-BE49-F238E27FC236}">
                <a16:creationId xmlns:a16="http://schemas.microsoft.com/office/drawing/2014/main" id="{3E9303F7-5DF1-4BB7-9BDD-B44FDD8ACD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28956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69" name="Line 23">
            <a:extLst>
              <a:ext uri="{FF2B5EF4-FFF2-40B4-BE49-F238E27FC236}">
                <a16:creationId xmlns:a16="http://schemas.microsoft.com/office/drawing/2014/main" id="{90550F14-B1FF-46EA-AE48-6BBAFE621BE2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25146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70" name="Text Box 24">
            <a:extLst>
              <a:ext uri="{FF2B5EF4-FFF2-40B4-BE49-F238E27FC236}">
                <a16:creationId xmlns:a16="http://schemas.microsoft.com/office/drawing/2014/main" id="{510EF856-ACFB-4AF3-8D4B-D58BCD1BC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13716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>
                <a:solidFill>
                  <a:srgbClr val="FF3300"/>
                </a:solidFill>
              </a:rPr>
              <a:t>(String + terminator)</a:t>
            </a:r>
          </a:p>
        </p:txBody>
      </p:sp>
      <p:sp>
        <p:nvSpPr>
          <p:cNvPr id="53271" name="Text Box 25">
            <a:extLst>
              <a:ext uri="{FF2B5EF4-FFF2-40B4-BE49-F238E27FC236}">
                <a16:creationId xmlns:a16="http://schemas.microsoft.com/office/drawing/2014/main" id="{39EC2AF2-009F-4B80-B365-917C35AE77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057400"/>
            <a:ext cx="914400" cy="8509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>
                <a:solidFill>
                  <a:srgbClr val="FF3300"/>
                </a:solidFill>
              </a:rPr>
              <a:t>NT + T symbols of CFG</a:t>
            </a:r>
          </a:p>
        </p:txBody>
      </p:sp>
      <p:sp>
        <p:nvSpPr>
          <p:cNvPr id="53272" name="AutoShape 26">
            <a:extLst>
              <a:ext uri="{FF2B5EF4-FFF2-40B4-BE49-F238E27FC236}">
                <a16:creationId xmlns:a16="http://schemas.microsoft.com/office/drawing/2014/main" id="{E4309157-0400-441A-9FEF-39BBF00F469D}"/>
              </a:ext>
            </a:extLst>
          </p:cNvPr>
          <p:cNvSpPr>
            <a:spLocks/>
          </p:cNvSpPr>
          <p:nvPr/>
        </p:nvSpPr>
        <p:spPr bwMode="auto">
          <a:xfrm>
            <a:off x="6096000" y="3048000"/>
            <a:ext cx="1524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53273" name="Text Box 27">
            <a:extLst>
              <a:ext uri="{FF2B5EF4-FFF2-40B4-BE49-F238E27FC236}">
                <a16:creationId xmlns:a16="http://schemas.microsoft.com/office/drawing/2014/main" id="{C4D1388B-69A7-4F35-AD04-EB09538A6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3048000"/>
            <a:ext cx="21336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>
                <a:solidFill>
                  <a:srgbClr val="FF3300"/>
                </a:solidFill>
              </a:rPr>
              <a:t>What actions parser should take based on stack / input</a:t>
            </a:r>
          </a:p>
        </p:txBody>
      </p:sp>
      <p:cxnSp>
        <p:nvCxnSpPr>
          <p:cNvPr id="53274" name="AutoShape 28">
            <a:extLst>
              <a:ext uri="{FF2B5EF4-FFF2-40B4-BE49-F238E27FC236}">
                <a16:creationId xmlns:a16="http://schemas.microsoft.com/office/drawing/2014/main" id="{939FFF41-93FE-4E45-8903-42B9453A539A}"/>
              </a:ext>
            </a:extLst>
          </p:cNvPr>
          <p:cNvCxnSpPr>
            <a:cxnSpLocks noChangeShapeType="1"/>
            <a:stCxn id="53271" idx="3"/>
            <a:endCxn id="53271" idx="3"/>
          </p:cNvCxnSpPr>
          <p:nvPr/>
        </p:nvCxnSpPr>
        <p:spPr bwMode="auto">
          <a:xfrm>
            <a:off x="2070100" y="2482850"/>
            <a:ext cx="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75" name="AutoShape 29">
            <a:extLst>
              <a:ext uri="{FF2B5EF4-FFF2-40B4-BE49-F238E27FC236}">
                <a16:creationId xmlns:a16="http://schemas.microsoft.com/office/drawing/2014/main" id="{2D66D775-100B-40BC-80DA-680A8A5FF16A}"/>
              </a:ext>
            </a:extLst>
          </p:cNvPr>
          <p:cNvCxnSpPr>
            <a:cxnSpLocks noChangeShapeType="1"/>
            <a:stCxn id="53271" idx="3"/>
            <a:endCxn id="53257" idx="1"/>
          </p:cNvCxnSpPr>
          <p:nvPr/>
        </p:nvCxnSpPr>
        <p:spPr bwMode="auto">
          <a:xfrm>
            <a:off x="2070100" y="2482850"/>
            <a:ext cx="584200" cy="26035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76" name="AutoShape 30">
            <a:extLst>
              <a:ext uri="{FF2B5EF4-FFF2-40B4-BE49-F238E27FC236}">
                <a16:creationId xmlns:a16="http://schemas.microsoft.com/office/drawing/2014/main" id="{5574C44D-3B3B-4252-A0BE-9F0AE01A3431}"/>
              </a:ext>
            </a:extLst>
          </p:cNvPr>
          <p:cNvCxnSpPr>
            <a:cxnSpLocks noChangeShapeType="1"/>
            <a:stCxn id="53271" idx="3"/>
            <a:endCxn id="53259" idx="1"/>
          </p:cNvCxnSpPr>
          <p:nvPr/>
        </p:nvCxnSpPr>
        <p:spPr bwMode="auto">
          <a:xfrm>
            <a:off x="2070100" y="2482850"/>
            <a:ext cx="584200" cy="871538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3277" name="Text Box 31">
            <a:extLst>
              <a:ext uri="{FF2B5EF4-FFF2-40B4-BE49-F238E27FC236}">
                <a16:creationId xmlns:a16="http://schemas.microsoft.com/office/drawing/2014/main" id="{D6BE654A-4609-4E88-B23B-509D0A9D9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600200"/>
            <a:ext cx="1066800" cy="3619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>
                <a:solidFill>
                  <a:srgbClr val="FF3300"/>
                </a:solidFill>
              </a:rPr>
              <a:t>“States”</a:t>
            </a:r>
          </a:p>
        </p:txBody>
      </p:sp>
      <p:cxnSp>
        <p:nvCxnSpPr>
          <p:cNvPr id="53278" name="AutoShape 32">
            <a:extLst>
              <a:ext uri="{FF2B5EF4-FFF2-40B4-BE49-F238E27FC236}">
                <a16:creationId xmlns:a16="http://schemas.microsoft.com/office/drawing/2014/main" id="{9697C17D-2F24-4752-930B-1008FA070487}"/>
              </a:ext>
            </a:extLst>
          </p:cNvPr>
          <p:cNvCxnSpPr>
            <a:cxnSpLocks noChangeShapeType="1"/>
            <a:stCxn id="53277" idx="3"/>
            <a:endCxn id="53258" idx="1"/>
          </p:cNvCxnSpPr>
          <p:nvPr/>
        </p:nvCxnSpPr>
        <p:spPr bwMode="auto">
          <a:xfrm>
            <a:off x="2222500" y="1781175"/>
            <a:ext cx="431800" cy="65881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79" name="AutoShape 33">
            <a:extLst>
              <a:ext uri="{FF2B5EF4-FFF2-40B4-BE49-F238E27FC236}">
                <a16:creationId xmlns:a16="http://schemas.microsoft.com/office/drawing/2014/main" id="{B64EEC74-B56A-4BBC-B666-4377E92F50F7}"/>
              </a:ext>
            </a:extLst>
          </p:cNvPr>
          <p:cNvCxnSpPr>
            <a:cxnSpLocks noChangeShapeType="1"/>
            <a:stCxn id="53277" idx="3"/>
            <a:endCxn id="53260" idx="1"/>
          </p:cNvCxnSpPr>
          <p:nvPr/>
        </p:nvCxnSpPr>
        <p:spPr bwMode="auto">
          <a:xfrm>
            <a:off x="2222500" y="1781175"/>
            <a:ext cx="431800" cy="126841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3280" name="Text Box 34">
            <a:extLst>
              <a:ext uri="{FF2B5EF4-FFF2-40B4-BE49-F238E27FC236}">
                <a16:creationId xmlns:a16="http://schemas.microsoft.com/office/drawing/2014/main" id="{E0036F12-8F48-4D0B-A616-B4A931B92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808413"/>
            <a:ext cx="457200" cy="30638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s</a:t>
            </a:r>
            <a:r>
              <a:rPr kumimoji="0" lang="en-US" altLang="zh-CN" sz="1600" b="1" baseline="-25000"/>
              <a:t>0</a:t>
            </a:r>
            <a:endParaRPr kumimoji="0" lang="en-US" altLang="zh-CN" sz="1600" b="1"/>
          </a:p>
        </p:txBody>
      </p:sp>
      <p:sp>
        <p:nvSpPr>
          <p:cNvPr id="53281" name="Text Box 35">
            <a:extLst>
              <a:ext uri="{FF2B5EF4-FFF2-40B4-BE49-F238E27FC236}">
                <a16:creationId xmlns:a16="http://schemas.microsoft.com/office/drawing/2014/main" id="{9505F2D3-ABDD-4202-A06F-4C297F097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503613"/>
            <a:ext cx="457200" cy="30638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…</a:t>
            </a:r>
          </a:p>
        </p:txBody>
      </p:sp>
      <p:sp>
        <p:nvSpPr>
          <p:cNvPr id="53282" name="Text Box 36">
            <a:extLst>
              <a:ext uri="{FF2B5EF4-FFF2-40B4-BE49-F238E27FC236}">
                <a16:creationId xmlns:a16="http://schemas.microsoft.com/office/drawing/2014/main" id="{BD3CFF43-0FF1-4005-9024-39D6EAF92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3650" y="1371600"/>
            <a:ext cx="360363" cy="3619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a</a:t>
            </a:r>
            <a:r>
              <a:rPr kumimoji="0" lang="en-US" altLang="zh-CN" sz="1600" b="1" baseline="-25000"/>
              <a:t>1</a:t>
            </a:r>
            <a:endParaRPr kumimoji="0" lang="en-US" altLang="zh-CN" sz="16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53F57A2D-1997-4456-9A4A-048744B5C8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action</a:t>
            </a:r>
            <a:r>
              <a:rPr lang="zh-CN" altLang="en-US"/>
              <a:t>表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1BB44C3F-4719-4D0B-972E-EA4AC85A65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en-US" altLang="zh-CN" dirty="0"/>
              <a:t>action[</a:t>
            </a:r>
            <a:r>
              <a:rPr lang="en-US" altLang="zh-CN" dirty="0" err="1"/>
              <a:t>s</a:t>
            </a:r>
            <a:r>
              <a:rPr lang="en-US" altLang="zh-CN" baseline="-25000" dirty="0" err="1"/>
              <a:t>m</a:t>
            </a:r>
            <a:r>
              <a:rPr lang="en-US" altLang="zh-CN" dirty="0"/>
              <a:t>, a</a:t>
            </a:r>
            <a:r>
              <a:rPr lang="en-US" altLang="zh-CN" baseline="-25000" dirty="0"/>
              <a:t>i</a:t>
            </a:r>
            <a:r>
              <a:rPr lang="en-US" altLang="zh-CN" dirty="0"/>
              <a:t>]</a:t>
            </a:r>
            <a:r>
              <a:rPr lang="zh-CN" altLang="en-US" dirty="0"/>
              <a:t>：遇到输入缓冲区中终结符时使用，四种动作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移进：新状态为</a:t>
            </a:r>
            <a:r>
              <a:rPr lang="en-US" altLang="zh-CN" dirty="0"/>
              <a:t>s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归约：利用产生式</a:t>
            </a:r>
            <a:r>
              <a:rPr kumimoji="0" lang="en-US" altLang="zh-CN" dirty="0"/>
              <a:t>A </a:t>
            </a:r>
            <a:r>
              <a:rPr kumimoji="0" lang="en-US" altLang="zh-CN" dirty="0">
                <a:sym typeface="Symbol" panose="05050102010706020507" pitchFamily="18" charset="2"/>
              </a:rPr>
              <a:t> </a:t>
            </a:r>
            <a:r>
              <a:rPr kumimoji="0"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kumimoji="0" lang="zh-CN" altLang="en-US" dirty="0">
                <a:sym typeface="Symbol" panose="05050102010706020507" pitchFamily="18" charset="2"/>
              </a:rPr>
              <a:t>（再使用</a:t>
            </a:r>
            <a:r>
              <a:rPr kumimoji="0" lang="en-US" altLang="zh-CN" dirty="0" err="1">
                <a:sym typeface="Symbol" panose="05050102010706020507" pitchFamily="18" charset="2"/>
              </a:rPr>
              <a:t>goto</a:t>
            </a:r>
            <a:r>
              <a:rPr kumimoji="0" lang="zh-CN" altLang="en-US" dirty="0">
                <a:sym typeface="Symbol" panose="05050102010706020507" pitchFamily="18" charset="2"/>
              </a:rPr>
              <a:t>表）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dirty="0">
                <a:sym typeface="Symbol" panose="05050102010706020507" pitchFamily="18" charset="2"/>
              </a:rPr>
              <a:t>接受：输入串合法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dirty="0">
                <a:sym typeface="Symbol" panose="05050102010706020507" pitchFamily="18" charset="2"/>
              </a:rPr>
              <a:t>错误：使用错误恢复机制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B4751819-8C11-4CEE-999C-8CB8C52572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goto</a:t>
            </a:r>
            <a:r>
              <a:rPr lang="zh-CN" altLang="en-US"/>
              <a:t>表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BB556B3C-1651-436A-BA04-84412D6B08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 err="1"/>
              <a:t>goto</a:t>
            </a:r>
            <a:r>
              <a:rPr lang="en-US" altLang="zh-CN" sz="2800" dirty="0"/>
              <a:t>[s, A]=s’</a:t>
            </a:r>
          </a:p>
          <a:p>
            <a:pPr lvl="1" eaLnBrk="1" hangingPunct="1"/>
            <a:r>
              <a:rPr lang="zh-CN" altLang="en-US" sz="2400" dirty="0"/>
              <a:t>归约为</a:t>
            </a:r>
            <a:r>
              <a:rPr lang="en-US" altLang="zh-CN" sz="2400" dirty="0"/>
              <a:t>A</a:t>
            </a:r>
            <a:r>
              <a:rPr lang="zh-CN" altLang="en-US" sz="2400" dirty="0"/>
              <a:t>时使用，</a:t>
            </a:r>
            <a:r>
              <a:rPr lang="en-US" altLang="zh-CN" sz="2400" dirty="0"/>
              <a:t>s’</a:t>
            </a:r>
            <a:r>
              <a:rPr lang="zh-CN" altLang="en-US" sz="2400" dirty="0"/>
              <a:t>为新状态</a:t>
            </a:r>
            <a:endParaRPr lang="en-US" altLang="zh-CN" sz="2400" dirty="0"/>
          </a:p>
          <a:p>
            <a:pPr eaLnBrk="1" hangingPunct="1"/>
            <a:r>
              <a:rPr lang="en-US" altLang="zh-CN" sz="2800" dirty="0"/>
              <a:t>action</a:t>
            </a:r>
            <a:r>
              <a:rPr lang="zh-CN" altLang="en-US" sz="2800" dirty="0"/>
              <a:t>表：</a:t>
            </a:r>
            <a:r>
              <a:rPr lang="en-US" altLang="zh-CN" sz="2800" dirty="0" err="1"/>
              <a:t>s</a:t>
            </a:r>
            <a:r>
              <a:rPr lang="en-US" altLang="zh-CN" sz="2800" baseline="-25000" dirty="0" err="1"/>
              <a:t>m</a:t>
            </a:r>
            <a:r>
              <a:rPr lang="en-US" altLang="zh-CN" sz="2800" dirty="0" err="1">
                <a:sym typeface="Wingdings" pitchFamily="2" charset="2"/>
              </a:rPr>
              <a:t>s</a:t>
            </a:r>
            <a:r>
              <a:rPr lang="zh-CN" altLang="en-US" sz="2800" dirty="0">
                <a:sym typeface="Wingdings" pitchFamily="2" charset="2"/>
              </a:rPr>
              <a:t>，</a:t>
            </a:r>
            <a:r>
              <a:rPr lang="en-US" altLang="zh-CN" sz="2800" dirty="0" err="1">
                <a:sym typeface="Wingdings" pitchFamily="2" charset="2"/>
              </a:rPr>
              <a:t>goto</a:t>
            </a:r>
            <a:r>
              <a:rPr lang="zh-CN" altLang="en-US" sz="2800" dirty="0">
                <a:sym typeface="Wingdings" pitchFamily="2" charset="2"/>
              </a:rPr>
              <a:t>表：</a:t>
            </a:r>
            <a:r>
              <a:rPr lang="en-US" altLang="zh-CN" sz="2800" dirty="0" err="1">
                <a:sym typeface="Wingdings" pitchFamily="2" charset="2"/>
              </a:rPr>
              <a:t>s</a:t>
            </a:r>
            <a:r>
              <a:rPr lang="en-US" altLang="zh-CN" sz="2800" dirty="0" err="1"/>
              <a:t>s</a:t>
            </a:r>
            <a:r>
              <a:rPr lang="en-US" altLang="zh-CN" sz="2800" dirty="0"/>
              <a:t>’——</a:t>
            </a:r>
            <a:r>
              <a:rPr lang="zh-CN" altLang="en-US" sz="2800" dirty="0"/>
              <a:t>识别活前缀的</a:t>
            </a:r>
            <a:r>
              <a:rPr lang="en-US" altLang="zh-CN" sz="2800" dirty="0">
                <a:solidFill>
                  <a:schemeClr val="hlink"/>
                </a:solidFill>
              </a:rPr>
              <a:t>DFA</a:t>
            </a:r>
            <a:r>
              <a:rPr lang="zh-CN" altLang="en-US" sz="2800" dirty="0"/>
              <a:t>的状态转换函数！</a:t>
            </a:r>
            <a:r>
              <a:rPr lang="en-US" altLang="zh-CN" sz="2800" dirty="0"/>
              <a:t>——</a:t>
            </a:r>
            <a:r>
              <a:rPr lang="zh-CN" altLang="en-US" sz="2800" dirty="0"/>
              <a:t>活前缀（状态）集合实际上是一个正规集，可用</a:t>
            </a:r>
            <a:r>
              <a:rPr lang="en-US" altLang="zh-CN" sz="2800" dirty="0"/>
              <a:t>DFA</a:t>
            </a:r>
            <a:r>
              <a:rPr lang="zh-CN" altLang="en-US" sz="2800" dirty="0"/>
              <a:t>识别！</a:t>
            </a:r>
          </a:p>
          <a:p>
            <a:pPr eaLnBrk="1" hangingPunct="1"/>
            <a:r>
              <a:rPr lang="zh-CN" altLang="en-US" sz="2800" dirty="0"/>
              <a:t>初始状态</a:t>
            </a:r>
            <a:r>
              <a:rPr lang="en-US" altLang="zh-CN" sz="2800" dirty="0"/>
              <a:t>——</a:t>
            </a:r>
            <a:r>
              <a:rPr lang="zh-CN" altLang="en-US" sz="2800" dirty="0"/>
              <a:t>栈中初始状态</a:t>
            </a:r>
          </a:p>
          <a:p>
            <a:pPr eaLnBrk="1" hangingPunct="1"/>
            <a:r>
              <a:rPr lang="zh-CN" altLang="en-US" sz="2800" dirty="0"/>
              <a:t>格局（</a:t>
            </a:r>
            <a:r>
              <a:rPr lang="en-US" altLang="zh-CN" sz="2800" dirty="0">
                <a:solidFill>
                  <a:schemeClr val="hlink"/>
                </a:solidFill>
              </a:rPr>
              <a:t>configuration</a:t>
            </a:r>
            <a:r>
              <a:rPr lang="zh-CN" altLang="en-US" sz="2800" dirty="0"/>
              <a:t>）</a:t>
            </a:r>
            <a:br>
              <a:rPr lang="zh-CN" altLang="en-US" sz="2800" dirty="0"/>
            </a:br>
            <a:r>
              <a:rPr lang="en-US" altLang="zh-CN" sz="2800" dirty="0"/>
              <a:t>(s</a:t>
            </a:r>
            <a:r>
              <a:rPr lang="en-US" altLang="zh-CN" sz="2800" baseline="-25000" dirty="0"/>
              <a:t>0</a:t>
            </a:r>
            <a:r>
              <a:rPr lang="en-US" altLang="zh-CN" sz="2800" dirty="0"/>
              <a:t>X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s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X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…</a:t>
            </a:r>
            <a:r>
              <a:rPr lang="en-US" altLang="zh-CN" sz="2800" dirty="0" err="1"/>
              <a:t>X</a:t>
            </a:r>
            <a:r>
              <a:rPr lang="en-US" altLang="zh-CN" sz="2800" baseline="-25000" dirty="0" err="1"/>
              <a:t>m</a:t>
            </a:r>
            <a:r>
              <a:rPr lang="en-US" altLang="zh-CN" sz="2800" dirty="0" err="1"/>
              <a:t>s</a:t>
            </a:r>
            <a:r>
              <a:rPr lang="en-US" altLang="zh-CN" sz="2800" baseline="-25000" dirty="0" err="1"/>
              <a:t>m</a:t>
            </a:r>
            <a:r>
              <a:rPr lang="en-US" altLang="zh-CN" sz="2800" dirty="0"/>
              <a:t>, a</a:t>
            </a:r>
            <a:r>
              <a:rPr lang="en-US" altLang="zh-CN" sz="2800" baseline="-25000" dirty="0"/>
              <a:t>i</a:t>
            </a:r>
            <a:r>
              <a:rPr lang="en-US" altLang="zh-CN" sz="2800" dirty="0"/>
              <a:t>a</a:t>
            </a:r>
            <a:r>
              <a:rPr lang="en-US" altLang="zh-CN" sz="2800" baseline="-25000" dirty="0"/>
              <a:t>i+1</a:t>
            </a:r>
            <a:r>
              <a:rPr lang="en-US" altLang="zh-CN" sz="2800" dirty="0"/>
              <a:t>…a</a:t>
            </a:r>
            <a:r>
              <a:rPr lang="en-US" altLang="zh-CN" sz="2800" baseline="-25000" dirty="0"/>
              <a:t>n</a:t>
            </a:r>
            <a:r>
              <a:rPr lang="en-US" altLang="zh-CN" sz="2800" dirty="0"/>
              <a:t>$)</a:t>
            </a:r>
            <a:br>
              <a:rPr lang="en-US" altLang="zh-CN" sz="2800" dirty="0"/>
            </a:br>
            <a:r>
              <a:rPr lang="en-US" altLang="zh-CN" sz="2800" dirty="0"/>
              <a:t> X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X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…X</a:t>
            </a:r>
            <a:r>
              <a:rPr lang="en-US" altLang="zh-CN" sz="2800" baseline="-25000" dirty="0"/>
              <a:t>m</a:t>
            </a:r>
            <a:r>
              <a:rPr lang="en-US" altLang="zh-CN" sz="2800" dirty="0"/>
              <a:t>a</a:t>
            </a:r>
            <a:r>
              <a:rPr lang="en-US" altLang="zh-CN" sz="2800" baseline="-25000" dirty="0"/>
              <a:t>i</a:t>
            </a:r>
            <a:r>
              <a:rPr lang="en-US" altLang="zh-CN" sz="2800" dirty="0"/>
              <a:t>a</a:t>
            </a:r>
            <a:r>
              <a:rPr lang="en-US" altLang="zh-CN" sz="2800" baseline="-25000" dirty="0"/>
              <a:t>i+1</a:t>
            </a:r>
            <a:r>
              <a:rPr lang="en-US" altLang="zh-CN" sz="2800" dirty="0"/>
              <a:t>…a</a:t>
            </a:r>
            <a:r>
              <a:rPr lang="en-US" altLang="zh-CN" sz="2800" baseline="-25000" dirty="0"/>
              <a:t>n</a:t>
            </a:r>
            <a:r>
              <a:rPr lang="en-US" altLang="zh-CN" sz="2800" dirty="0"/>
              <a:t>——</a:t>
            </a:r>
            <a:r>
              <a:rPr lang="zh-CN" altLang="en-US" sz="2800" dirty="0"/>
              <a:t>最右句型</a:t>
            </a:r>
            <a:endParaRPr lang="zh-CN" altLang="en-US" sz="2800" baseline="-25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B1C22228-D22A-4020-8080-2D3BA29D41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分析器运行方式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7D45879E-7951-417F-9E5F-5C811308D5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marL="381000" indent="-3810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 dirty="0"/>
              <a:t>action[</a:t>
            </a:r>
            <a:r>
              <a:rPr lang="en-US" altLang="zh-CN" sz="2800" dirty="0" err="1"/>
              <a:t>s</a:t>
            </a:r>
            <a:r>
              <a:rPr lang="en-US" altLang="zh-CN" sz="2800" baseline="-25000" dirty="0" err="1"/>
              <a:t>m</a:t>
            </a:r>
            <a:r>
              <a:rPr lang="en-US" altLang="zh-CN" sz="2800" dirty="0"/>
              <a:t>, a</a:t>
            </a:r>
            <a:r>
              <a:rPr lang="en-US" altLang="zh-CN" sz="2800" baseline="-25000" dirty="0"/>
              <a:t>i</a:t>
            </a:r>
            <a:r>
              <a:rPr lang="en-US" altLang="zh-CN" sz="2800" dirty="0"/>
              <a:t>]=</a:t>
            </a:r>
            <a:r>
              <a:rPr lang="zh-CN" altLang="en-US" sz="2800" dirty="0"/>
              <a:t>移进</a:t>
            </a:r>
            <a:r>
              <a:rPr lang="en-US" altLang="zh-CN" sz="2800" dirty="0"/>
              <a:t>s</a:t>
            </a:r>
            <a:r>
              <a:rPr lang="zh-CN" altLang="en-US" sz="2800" dirty="0"/>
              <a:t>，进行移进动作，格局变化</a:t>
            </a:r>
            <a:br>
              <a:rPr lang="zh-CN" altLang="en-US" sz="2800" dirty="0"/>
            </a:br>
            <a:endParaRPr lang="zh-CN" altLang="en-US" sz="2800" dirty="0"/>
          </a:p>
          <a:p>
            <a:pPr marL="381000" indent="-3810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 dirty="0"/>
              <a:t>action[</a:t>
            </a:r>
            <a:r>
              <a:rPr lang="en-US" altLang="zh-CN" sz="2800" dirty="0" err="1"/>
              <a:t>s</a:t>
            </a:r>
            <a:r>
              <a:rPr lang="en-US" altLang="zh-CN" sz="2800" baseline="-25000" dirty="0" err="1"/>
              <a:t>m</a:t>
            </a:r>
            <a:r>
              <a:rPr lang="en-US" altLang="zh-CN" sz="2800" dirty="0"/>
              <a:t>, a</a:t>
            </a:r>
            <a:r>
              <a:rPr lang="en-US" altLang="zh-CN" sz="2800" baseline="-25000" dirty="0"/>
              <a:t>i</a:t>
            </a:r>
            <a:r>
              <a:rPr lang="en-US" altLang="zh-CN" sz="2800" dirty="0"/>
              <a:t>]=</a:t>
            </a:r>
            <a:r>
              <a:rPr lang="zh-CN" altLang="en-US" sz="2800" dirty="0"/>
              <a:t>归约</a:t>
            </a:r>
            <a:r>
              <a:rPr kumimoji="0" lang="en-US" altLang="zh-CN" sz="2800" dirty="0" err="1"/>
              <a:t>A</a:t>
            </a:r>
            <a:r>
              <a:rPr kumimoji="0" lang="en-US" altLang="zh-CN" sz="2800" dirty="0" err="1">
                <a:sym typeface="Symbol" panose="05050102010706020507" pitchFamily="18" charset="2"/>
              </a:rPr>
              <a:t></a:t>
            </a:r>
            <a:r>
              <a:rPr kumimoji="0" lang="en-US" altLang="zh-CN" sz="2800" dirty="0" err="1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kumimoji="0" lang="zh-CN" altLang="en-US" sz="2800" dirty="0">
                <a:latin typeface="Symbol" panose="05050102010706020507" pitchFamily="18" charset="2"/>
                <a:sym typeface="Symbol" panose="05050102010706020507" pitchFamily="18" charset="2"/>
              </a:rPr>
              <a:t>（</a:t>
            </a:r>
            <a:r>
              <a:rPr kumimoji="0" lang="en-US" altLang="zh-CN" sz="2800" dirty="0">
                <a:latin typeface="Symbol" panose="05050102010706020507" pitchFamily="18" charset="2"/>
                <a:sym typeface="Symbol" panose="05050102010706020507" pitchFamily="18" charset="2"/>
              </a:rPr>
              <a:t>b =</a:t>
            </a:r>
            <a:r>
              <a:rPr lang="en-US" altLang="zh-CN" sz="2800" b="1" dirty="0">
                <a:solidFill>
                  <a:schemeClr val="folHlink"/>
                </a:solidFill>
              </a:rPr>
              <a:t>X</a:t>
            </a:r>
            <a:r>
              <a:rPr lang="en-US" altLang="zh-CN" sz="2800" b="1" baseline="-25000" dirty="0">
                <a:solidFill>
                  <a:schemeClr val="folHlink"/>
                </a:solidFill>
              </a:rPr>
              <a:t>m-r+1</a:t>
            </a:r>
            <a:r>
              <a:rPr lang="en-US" altLang="zh-CN" sz="2800" b="1" dirty="0">
                <a:solidFill>
                  <a:schemeClr val="folHlink"/>
                </a:solidFill>
              </a:rPr>
              <a:t>…</a:t>
            </a:r>
            <a:r>
              <a:rPr lang="en-US" altLang="zh-CN" sz="2800" b="1" dirty="0" err="1">
                <a:solidFill>
                  <a:schemeClr val="folHlink"/>
                </a:solidFill>
              </a:rPr>
              <a:t>X</a:t>
            </a:r>
            <a:r>
              <a:rPr lang="en-US" altLang="zh-CN" sz="2800" b="1" baseline="-25000" dirty="0" err="1">
                <a:solidFill>
                  <a:schemeClr val="folHlink"/>
                </a:solidFill>
              </a:rPr>
              <a:t>m</a:t>
            </a:r>
            <a:r>
              <a:rPr kumimoji="0" lang="zh-CN" altLang="en-US" sz="2800" dirty="0">
                <a:latin typeface="Symbol" panose="05050102010706020507" pitchFamily="18" charset="2"/>
                <a:sym typeface="Symbol" panose="05050102010706020507" pitchFamily="18" charset="2"/>
              </a:rPr>
              <a:t>），</a:t>
            </a:r>
            <a:r>
              <a:rPr kumimoji="0" lang="zh-CN" altLang="en-US" sz="2800" dirty="0">
                <a:sym typeface="Symbol" panose="05050102010706020507" pitchFamily="18" charset="2"/>
              </a:rPr>
              <a:t>进行归约动作，格局变为</a:t>
            </a:r>
            <a:br>
              <a:rPr kumimoji="0" lang="zh-CN" altLang="en-US" sz="2800" dirty="0">
                <a:sym typeface="Symbol" panose="05050102010706020507" pitchFamily="18" charset="2"/>
              </a:rPr>
            </a:br>
            <a:br>
              <a:rPr lang="zh-CN" altLang="en-US" sz="2800" dirty="0"/>
            </a:br>
            <a:r>
              <a:rPr lang="zh-CN" altLang="en-US" sz="2800" dirty="0"/>
              <a:t>其中，</a:t>
            </a:r>
            <a:r>
              <a:rPr lang="en-US" altLang="zh-CN" sz="2800" dirty="0"/>
              <a:t>r</a:t>
            </a:r>
            <a:r>
              <a:rPr lang="zh-CN" altLang="en-US" sz="2800" dirty="0"/>
              <a:t>为</a:t>
            </a:r>
            <a:r>
              <a:rPr kumimoji="0" lang="en-US" altLang="zh-CN" sz="2800" dirty="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kumimoji="0" lang="zh-CN" altLang="en-US" sz="2800" dirty="0">
                <a:latin typeface="Symbol" panose="05050102010706020507" pitchFamily="18" charset="2"/>
                <a:sym typeface="Symbol" panose="05050102010706020507" pitchFamily="18" charset="2"/>
              </a:rPr>
              <a:t>的长度，</a:t>
            </a:r>
            <a:r>
              <a:rPr kumimoji="0" lang="en-US" altLang="zh-CN" sz="2800" dirty="0">
                <a:sym typeface="Symbol" panose="05050102010706020507" pitchFamily="18" charset="2"/>
              </a:rPr>
              <a:t>s=</a:t>
            </a:r>
            <a:r>
              <a:rPr kumimoji="0" lang="en-US" altLang="zh-CN" sz="2800" dirty="0" err="1">
                <a:sym typeface="Symbol" panose="05050102010706020507" pitchFamily="18" charset="2"/>
              </a:rPr>
              <a:t>goto</a:t>
            </a:r>
            <a:r>
              <a:rPr kumimoji="0" lang="en-US" altLang="zh-CN" sz="2800" dirty="0">
                <a:sym typeface="Symbol" panose="05050102010706020507" pitchFamily="18" charset="2"/>
              </a:rPr>
              <a:t>[</a:t>
            </a:r>
            <a:r>
              <a:rPr kumimoji="0" lang="en-US" altLang="zh-CN" sz="2800" dirty="0" err="1">
                <a:sym typeface="Symbol" panose="05050102010706020507" pitchFamily="18" charset="2"/>
              </a:rPr>
              <a:t>s</a:t>
            </a:r>
            <a:r>
              <a:rPr kumimoji="0" lang="en-US" altLang="zh-CN" sz="2800" baseline="-25000" dirty="0" err="1">
                <a:sym typeface="Symbol" panose="05050102010706020507" pitchFamily="18" charset="2"/>
              </a:rPr>
              <a:t>m</a:t>
            </a:r>
            <a:r>
              <a:rPr kumimoji="0" lang="en-US" altLang="zh-CN" sz="2800" baseline="-25000" dirty="0">
                <a:sym typeface="Symbol" panose="05050102010706020507" pitchFamily="18" charset="2"/>
              </a:rPr>
              <a:t>-r</a:t>
            </a:r>
            <a:r>
              <a:rPr kumimoji="0" lang="en-US" altLang="zh-CN" sz="2800" dirty="0">
                <a:sym typeface="Symbol" panose="05050102010706020507" pitchFamily="18" charset="2"/>
              </a:rPr>
              <a:t>, A]</a:t>
            </a:r>
          </a:p>
          <a:p>
            <a:pPr marL="381000" indent="-3810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 dirty="0"/>
              <a:t>action[</a:t>
            </a:r>
            <a:r>
              <a:rPr lang="en-US" altLang="zh-CN" sz="2800" dirty="0" err="1"/>
              <a:t>s</a:t>
            </a:r>
            <a:r>
              <a:rPr lang="en-US" altLang="zh-CN" sz="2800" baseline="-25000" dirty="0" err="1"/>
              <a:t>m</a:t>
            </a:r>
            <a:r>
              <a:rPr lang="en-US" altLang="zh-CN" sz="2800" dirty="0"/>
              <a:t>, a</a:t>
            </a:r>
            <a:r>
              <a:rPr lang="en-US" altLang="zh-CN" sz="2800" baseline="-25000" dirty="0"/>
              <a:t>i</a:t>
            </a:r>
            <a:r>
              <a:rPr lang="en-US" altLang="zh-CN" sz="2800" dirty="0"/>
              <a:t>]=</a:t>
            </a:r>
            <a:r>
              <a:rPr lang="zh-CN" altLang="en-US" sz="2800" dirty="0"/>
              <a:t>接受，分析结束</a:t>
            </a:r>
          </a:p>
          <a:p>
            <a:pPr marL="381000" indent="-3810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 dirty="0"/>
              <a:t>action[</a:t>
            </a:r>
            <a:r>
              <a:rPr lang="en-US" altLang="zh-CN" sz="2800" dirty="0" err="1"/>
              <a:t>s</a:t>
            </a:r>
            <a:r>
              <a:rPr lang="en-US" altLang="zh-CN" sz="2800" baseline="-25000" dirty="0" err="1"/>
              <a:t>m</a:t>
            </a:r>
            <a:r>
              <a:rPr lang="en-US" altLang="zh-CN" sz="2800" dirty="0"/>
              <a:t>, a</a:t>
            </a:r>
            <a:r>
              <a:rPr lang="en-US" altLang="zh-CN" sz="2800" baseline="-25000" dirty="0"/>
              <a:t>i</a:t>
            </a:r>
            <a:r>
              <a:rPr lang="en-US" altLang="zh-CN" sz="2800" dirty="0"/>
              <a:t>]=</a:t>
            </a:r>
            <a:r>
              <a:rPr lang="zh-CN" altLang="en-US" sz="2800" dirty="0"/>
              <a:t>错误，调用错误恢复函数</a:t>
            </a:r>
          </a:p>
        </p:txBody>
      </p:sp>
      <p:sp>
        <p:nvSpPr>
          <p:cNvPr id="56324" name="Rectangle 4">
            <a:extLst>
              <a:ext uri="{FF2B5EF4-FFF2-40B4-BE49-F238E27FC236}">
                <a16:creationId xmlns:a16="http://schemas.microsoft.com/office/drawing/2014/main" id="{19961814-2B8C-4145-A33B-E2585713F81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557338" y="1905000"/>
            <a:ext cx="4730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hlink"/>
                </a:solidFill>
              </a:rPr>
              <a:t>(s</a:t>
            </a:r>
            <a:r>
              <a:rPr lang="en-US" altLang="zh-CN" sz="2400" b="1" baseline="-25000">
                <a:solidFill>
                  <a:schemeClr val="hlink"/>
                </a:solidFill>
              </a:rPr>
              <a:t>0</a:t>
            </a:r>
            <a:r>
              <a:rPr lang="en-US" altLang="zh-CN" sz="2400" b="1">
                <a:solidFill>
                  <a:schemeClr val="hlink"/>
                </a:solidFill>
              </a:rPr>
              <a:t>X</a:t>
            </a:r>
            <a:r>
              <a:rPr lang="en-US" altLang="zh-CN" sz="2400" b="1" baseline="-25000">
                <a:solidFill>
                  <a:schemeClr val="hlink"/>
                </a:solidFill>
              </a:rPr>
              <a:t>1</a:t>
            </a:r>
            <a:r>
              <a:rPr lang="en-US" altLang="zh-CN" sz="2400" b="1">
                <a:solidFill>
                  <a:schemeClr val="hlink"/>
                </a:solidFill>
              </a:rPr>
              <a:t>s</a:t>
            </a:r>
            <a:r>
              <a:rPr lang="en-US" altLang="zh-CN" sz="2400" b="1" baseline="-25000">
                <a:solidFill>
                  <a:schemeClr val="hlink"/>
                </a:solidFill>
              </a:rPr>
              <a:t>1</a:t>
            </a:r>
            <a:r>
              <a:rPr lang="en-US" altLang="zh-CN" sz="2400" b="1">
                <a:solidFill>
                  <a:schemeClr val="hlink"/>
                </a:solidFill>
              </a:rPr>
              <a:t>X</a:t>
            </a:r>
            <a:r>
              <a:rPr lang="en-US" altLang="zh-CN" sz="2400" b="1" baseline="-25000">
                <a:solidFill>
                  <a:schemeClr val="hlink"/>
                </a:solidFill>
              </a:rPr>
              <a:t>2</a:t>
            </a:r>
            <a:r>
              <a:rPr lang="en-US" altLang="zh-CN" sz="2400" b="1">
                <a:solidFill>
                  <a:schemeClr val="hlink"/>
                </a:solidFill>
              </a:rPr>
              <a:t>…X</a:t>
            </a:r>
            <a:r>
              <a:rPr lang="en-US" altLang="zh-CN" sz="2400" b="1" baseline="-25000">
                <a:solidFill>
                  <a:schemeClr val="hlink"/>
                </a:solidFill>
              </a:rPr>
              <a:t>m</a:t>
            </a:r>
            <a:r>
              <a:rPr lang="en-US" altLang="zh-CN" sz="2400" b="1">
                <a:solidFill>
                  <a:schemeClr val="hlink"/>
                </a:solidFill>
              </a:rPr>
              <a:t>s</a:t>
            </a:r>
            <a:r>
              <a:rPr lang="en-US" altLang="zh-CN" sz="2400" b="1" baseline="-25000">
                <a:solidFill>
                  <a:schemeClr val="hlink"/>
                </a:solidFill>
              </a:rPr>
              <a:t>m</a:t>
            </a:r>
            <a:r>
              <a:rPr lang="en-US" altLang="zh-CN" sz="2400" b="1">
                <a:solidFill>
                  <a:schemeClr val="hlink"/>
                </a:solidFill>
              </a:rPr>
              <a:t>,           a</a:t>
            </a:r>
            <a:r>
              <a:rPr lang="en-US" altLang="zh-CN" sz="2400" b="1" baseline="-25000">
                <a:solidFill>
                  <a:schemeClr val="hlink"/>
                </a:solidFill>
              </a:rPr>
              <a:t>i</a:t>
            </a:r>
            <a:r>
              <a:rPr lang="en-US" altLang="zh-CN" sz="2400" b="1">
                <a:solidFill>
                  <a:schemeClr val="hlink"/>
                </a:solidFill>
              </a:rPr>
              <a:t>a</a:t>
            </a:r>
            <a:r>
              <a:rPr lang="en-US" altLang="zh-CN" sz="2400" b="1" baseline="-25000">
                <a:solidFill>
                  <a:schemeClr val="hlink"/>
                </a:solidFill>
              </a:rPr>
              <a:t>i+1</a:t>
            </a:r>
            <a:r>
              <a:rPr lang="en-US" altLang="zh-CN" sz="2400" b="1">
                <a:solidFill>
                  <a:schemeClr val="hlink"/>
                </a:solidFill>
              </a:rPr>
              <a:t>…a</a:t>
            </a:r>
            <a:r>
              <a:rPr lang="en-US" altLang="zh-CN" sz="2400" b="1" baseline="-25000">
                <a:solidFill>
                  <a:schemeClr val="hlink"/>
                </a:solidFill>
              </a:rPr>
              <a:t>n</a:t>
            </a:r>
            <a:r>
              <a:rPr lang="en-US" altLang="zh-CN" sz="2400" b="1">
                <a:solidFill>
                  <a:schemeClr val="hlink"/>
                </a:solidFill>
              </a:rPr>
              <a:t>$)</a:t>
            </a:r>
          </a:p>
        </p:txBody>
      </p:sp>
      <p:sp>
        <p:nvSpPr>
          <p:cNvPr id="295941" name="Rectangle 5">
            <a:extLst>
              <a:ext uri="{FF2B5EF4-FFF2-40B4-BE49-F238E27FC236}">
                <a16:creationId xmlns:a16="http://schemas.microsoft.com/office/drawing/2014/main" id="{26F26178-9650-4615-85ED-995B96ED109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557338" y="1905000"/>
            <a:ext cx="47307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hlink"/>
                </a:solidFill>
              </a:rPr>
              <a:t>(s</a:t>
            </a:r>
            <a:r>
              <a:rPr lang="en-US" altLang="zh-CN" sz="2400" b="1" baseline="-25000">
                <a:solidFill>
                  <a:schemeClr val="hlink"/>
                </a:solidFill>
              </a:rPr>
              <a:t>0</a:t>
            </a:r>
            <a:r>
              <a:rPr lang="en-US" altLang="zh-CN" sz="2400" b="1">
                <a:solidFill>
                  <a:schemeClr val="hlink"/>
                </a:solidFill>
              </a:rPr>
              <a:t>X</a:t>
            </a:r>
            <a:r>
              <a:rPr lang="en-US" altLang="zh-CN" sz="2400" b="1" baseline="-25000">
                <a:solidFill>
                  <a:schemeClr val="hlink"/>
                </a:solidFill>
              </a:rPr>
              <a:t>1</a:t>
            </a:r>
            <a:r>
              <a:rPr lang="en-US" altLang="zh-CN" sz="2400" b="1">
                <a:solidFill>
                  <a:schemeClr val="hlink"/>
                </a:solidFill>
              </a:rPr>
              <a:t>s</a:t>
            </a:r>
            <a:r>
              <a:rPr lang="en-US" altLang="zh-CN" sz="2400" b="1" baseline="-25000">
                <a:solidFill>
                  <a:schemeClr val="hlink"/>
                </a:solidFill>
              </a:rPr>
              <a:t>1</a:t>
            </a:r>
            <a:r>
              <a:rPr lang="en-US" altLang="zh-CN" sz="2400" b="1">
                <a:solidFill>
                  <a:schemeClr val="hlink"/>
                </a:solidFill>
              </a:rPr>
              <a:t>X</a:t>
            </a:r>
            <a:r>
              <a:rPr lang="en-US" altLang="zh-CN" sz="2400" b="1" baseline="-25000">
                <a:solidFill>
                  <a:schemeClr val="hlink"/>
                </a:solidFill>
              </a:rPr>
              <a:t>2</a:t>
            </a:r>
            <a:r>
              <a:rPr lang="en-US" altLang="zh-CN" sz="2400" b="1">
                <a:solidFill>
                  <a:schemeClr val="hlink"/>
                </a:solidFill>
              </a:rPr>
              <a:t>…X</a:t>
            </a:r>
            <a:r>
              <a:rPr lang="en-US" altLang="zh-CN" sz="2400" b="1" baseline="-25000">
                <a:solidFill>
                  <a:schemeClr val="hlink"/>
                </a:solidFill>
              </a:rPr>
              <a:t>m</a:t>
            </a:r>
            <a:r>
              <a:rPr lang="en-US" altLang="zh-CN" sz="2400" b="1">
                <a:solidFill>
                  <a:schemeClr val="hlink"/>
                </a:solidFill>
              </a:rPr>
              <a:t>s</a:t>
            </a:r>
            <a:r>
              <a:rPr lang="en-US" altLang="zh-CN" sz="2400" b="1" baseline="-25000">
                <a:solidFill>
                  <a:schemeClr val="hlink"/>
                </a:solidFill>
              </a:rPr>
              <a:t>m</a:t>
            </a:r>
            <a:r>
              <a:rPr lang="en-US" altLang="zh-CN" sz="2400" b="1">
                <a:solidFill>
                  <a:schemeClr val="hlink"/>
                </a:solidFill>
              </a:rPr>
              <a:t>a</a:t>
            </a:r>
            <a:r>
              <a:rPr lang="en-US" altLang="zh-CN" sz="2400" b="1" baseline="-25000">
                <a:solidFill>
                  <a:schemeClr val="hlink"/>
                </a:solidFill>
              </a:rPr>
              <a:t>i</a:t>
            </a:r>
            <a:r>
              <a:rPr lang="en-US" altLang="zh-CN" sz="2400" b="1">
                <a:solidFill>
                  <a:schemeClr val="hlink"/>
                </a:solidFill>
              </a:rPr>
              <a:t>,           a</a:t>
            </a:r>
            <a:r>
              <a:rPr lang="en-US" altLang="zh-CN" sz="2400" b="1" baseline="-25000">
                <a:solidFill>
                  <a:schemeClr val="hlink"/>
                </a:solidFill>
              </a:rPr>
              <a:t>i+1</a:t>
            </a:r>
            <a:r>
              <a:rPr lang="en-US" altLang="zh-CN" sz="2400" b="1">
                <a:solidFill>
                  <a:schemeClr val="hlink"/>
                </a:solidFill>
              </a:rPr>
              <a:t>…a</a:t>
            </a:r>
            <a:r>
              <a:rPr lang="en-US" altLang="zh-CN" sz="2400" b="1" baseline="-25000">
                <a:solidFill>
                  <a:schemeClr val="hlink"/>
                </a:solidFill>
              </a:rPr>
              <a:t>n</a:t>
            </a:r>
            <a:r>
              <a:rPr lang="en-US" altLang="zh-CN" sz="2400" b="1">
                <a:solidFill>
                  <a:schemeClr val="hlink"/>
                </a:solidFill>
              </a:rPr>
              <a:t>$)</a:t>
            </a:r>
          </a:p>
        </p:txBody>
      </p:sp>
      <p:sp>
        <p:nvSpPr>
          <p:cNvPr id="295942" name="Rectangle 6">
            <a:extLst>
              <a:ext uri="{FF2B5EF4-FFF2-40B4-BE49-F238E27FC236}">
                <a16:creationId xmlns:a16="http://schemas.microsoft.com/office/drawing/2014/main" id="{287FBB53-54FF-4CA8-AD68-3499E7A265F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557338" y="1905000"/>
            <a:ext cx="477361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</a:rPr>
              <a:t>(s</a:t>
            </a:r>
            <a:r>
              <a:rPr lang="en-US" altLang="zh-CN" sz="2400" b="1" baseline="-25000" dirty="0">
                <a:solidFill>
                  <a:schemeClr val="hlink"/>
                </a:solidFill>
              </a:rPr>
              <a:t>0</a:t>
            </a:r>
            <a:r>
              <a:rPr lang="en-US" altLang="zh-CN" sz="2400" b="1" dirty="0">
                <a:solidFill>
                  <a:schemeClr val="hlink"/>
                </a:solidFill>
              </a:rPr>
              <a:t>X</a:t>
            </a:r>
            <a:r>
              <a:rPr lang="en-US" altLang="zh-CN" sz="2400" b="1" baseline="-25000" dirty="0">
                <a:solidFill>
                  <a:schemeClr val="hlink"/>
                </a:solidFill>
              </a:rPr>
              <a:t>1</a:t>
            </a:r>
            <a:r>
              <a:rPr lang="en-US" altLang="zh-CN" sz="2400" b="1" dirty="0">
                <a:solidFill>
                  <a:schemeClr val="hlink"/>
                </a:solidFill>
              </a:rPr>
              <a:t>s</a:t>
            </a:r>
            <a:r>
              <a:rPr lang="en-US" altLang="zh-CN" sz="2400" b="1" baseline="-25000" dirty="0">
                <a:solidFill>
                  <a:schemeClr val="hlink"/>
                </a:solidFill>
              </a:rPr>
              <a:t>1</a:t>
            </a:r>
            <a:r>
              <a:rPr lang="en-US" altLang="zh-CN" sz="2400" b="1" dirty="0">
                <a:solidFill>
                  <a:schemeClr val="hlink"/>
                </a:solidFill>
              </a:rPr>
              <a:t>X</a:t>
            </a:r>
            <a:r>
              <a:rPr lang="en-US" altLang="zh-CN" sz="2400" b="1" baseline="-25000" dirty="0">
                <a:solidFill>
                  <a:schemeClr val="hlink"/>
                </a:solidFill>
              </a:rPr>
              <a:t>2</a:t>
            </a:r>
            <a:r>
              <a:rPr lang="en-US" altLang="zh-CN" sz="2400" b="1" dirty="0">
                <a:solidFill>
                  <a:schemeClr val="hlink"/>
                </a:solidFill>
              </a:rPr>
              <a:t>…</a:t>
            </a:r>
            <a:r>
              <a:rPr lang="en-US" altLang="zh-CN" sz="2400" b="1" dirty="0" err="1">
                <a:solidFill>
                  <a:schemeClr val="hlink"/>
                </a:solidFill>
              </a:rPr>
              <a:t>X</a:t>
            </a:r>
            <a:r>
              <a:rPr lang="en-US" altLang="zh-CN" sz="2400" b="1" baseline="-25000" dirty="0" err="1">
                <a:solidFill>
                  <a:schemeClr val="hlink"/>
                </a:solidFill>
              </a:rPr>
              <a:t>m</a:t>
            </a:r>
            <a:r>
              <a:rPr lang="en-US" altLang="zh-CN" sz="2400" b="1" dirty="0" err="1">
                <a:solidFill>
                  <a:schemeClr val="hlink"/>
                </a:solidFill>
              </a:rPr>
              <a:t>s</a:t>
            </a:r>
            <a:r>
              <a:rPr lang="en-US" altLang="zh-CN" sz="2400" b="1" baseline="-25000" dirty="0" err="1">
                <a:solidFill>
                  <a:schemeClr val="hlink"/>
                </a:solidFill>
              </a:rPr>
              <a:t>m</a:t>
            </a:r>
            <a:r>
              <a:rPr lang="en-US" altLang="zh-CN" sz="2400" b="1" dirty="0" err="1">
                <a:solidFill>
                  <a:schemeClr val="hlink"/>
                </a:solidFill>
              </a:rPr>
              <a:t>a</a:t>
            </a:r>
            <a:r>
              <a:rPr lang="en-US" altLang="zh-CN" sz="2400" b="1" baseline="-25000" dirty="0" err="1">
                <a:solidFill>
                  <a:schemeClr val="hlink"/>
                </a:solidFill>
              </a:rPr>
              <a:t>i</a:t>
            </a:r>
            <a:r>
              <a:rPr lang="en-US" altLang="zh-CN" sz="2400" b="1" dirty="0" err="1">
                <a:solidFill>
                  <a:schemeClr val="hlink"/>
                </a:solidFill>
              </a:rPr>
              <a:t>s</a:t>
            </a:r>
            <a:r>
              <a:rPr lang="en-US" altLang="zh-CN" sz="2400" b="1" dirty="0">
                <a:solidFill>
                  <a:schemeClr val="hlink"/>
                </a:solidFill>
              </a:rPr>
              <a:t>,          a</a:t>
            </a:r>
            <a:r>
              <a:rPr lang="en-US" altLang="zh-CN" sz="2400" b="1" baseline="-25000" dirty="0">
                <a:solidFill>
                  <a:schemeClr val="hlink"/>
                </a:solidFill>
              </a:rPr>
              <a:t>i+1</a:t>
            </a:r>
            <a:r>
              <a:rPr lang="en-US" altLang="zh-CN" sz="2400" b="1" dirty="0">
                <a:solidFill>
                  <a:schemeClr val="hlink"/>
                </a:solidFill>
              </a:rPr>
              <a:t>…a</a:t>
            </a:r>
            <a:r>
              <a:rPr lang="en-US" altLang="zh-CN" sz="2400" b="1" baseline="-25000" dirty="0">
                <a:solidFill>
                  <a:schemeClr val="hlink"/>
                </a:solidFill>
              </a:rPr>
              <a:t>n</a:t>
            </a:r>
            <a:r>
              <a:rPr lang="en-US" altLang="zh-CN" sz="2400" b="1" dirty="0">
                <a:solidFill>
                  <a:schemeClr val="hlink"/>
                </a:solidFill>
              </a:rPr>
              <a:t>$)</a:t>
            </a:r>
          </a:p>
        </p:txBody>
      </p:sp>
      <p:sp>
        <p:nvSpPr>
          <p:cNvPr id="56327" name="Rectangle 7">
            <a:extLst>
              <a:ext uri="{FF2B5EF4-FFF2-40B4-BE49-F238E27FC236}">
                <a16:creationId xmlns:a16="http://schemas.microsoft.com/office/drawing/2014/main" id="{41640D0A-F454-4DA0-AE2F-5DFBB2081B8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447800" y="3200400"/>
            <a:ext cx="7142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hlink"/>
                </a:solidFill>
              </a:rPr>
              <a:t>(s</a:t>
            </a:r>
            <a:r>
              <a:rPr lang="en-US" altLang="zh-CN" sz="2400" b="1" baseline="-25000">
                <a:solidFill>
                  <a:schemeClr val="hlink"/>
                </a:solidFill>
              </a:rPr>
              <a:t>0</a:t>
            </a:r>
            <a:r>
              <a:rPr lang="en-US" altLang="zh-CN" sz="2400" b="1">
                <a:solidFill>
                  <a:schemeClr val="hlink"/>
                </a:solidFill>
              </a:rPr>
              <a:t>X</a:t>
            </a:r>
            <a:r>
              <a:rPr lang="en-US" altLang="zh-CN" sz="2400" b="1" baseline="-25000">
                <a:solidFill>
                  <a:schemeClr val="hlink"/>
                </a:solidFill>
              </a:rPr>
              <a:t>1</a:t>
            </a:r>
            <a:r>
              <a:rPr lang="en-US" altLang="zh-CN" sz="2400" b="1">
                <a:solidFill>
                  <a:schemeClr val="hlink"/>
                </a:solidFill>
              </a:rPr>
              <a:t>s</a:t>
            </a:r>
            <a:r>
              <a:rPr lang="en-US" altLang="zh-CN" sz="2400" b="1" baseline="-25000">
                <a:solidFill>
                  <a:schemeClr val="hlink"/>
                </a:solidFill>
              </a:rPr>
              <a:t>1</a:t>
            </a:r>
            <a:r>
              <a:rPr lang="en-US" altLang="zh-CN" sz="2400" b="1">
                <a:solidFill>
                  <a:schemeClr val="hlink"/>
                </a:solidFill>
              </a:rPr>
              <a:t>…X</a:t>
            </a:r>
            <a:r>
              <a:rPr lang="en-US" altLang="zh-CN" sz="2400" b="1" baseline="-25000">
                <a:solidFill>
                  <a:schemeClr val="hlink"/>
                </a:solidFill>
              </a:rPr>
              <a:t>m-r</a:t>
            </a:r>
            <a:r>
              <a:rPr lang="en-US" altLang="zh-CN" sz="2400" b="1">
                <a:solidFill>
                  <a:schemeClr val="hlink"/>
                </a:solidFill>
              </a:rPr>
              <a:t>s</a:t>
            </a:r>
            <a:r>
              <a:rPr lang="en-US" altLang="zh-CN" sz="2400" b="1" baseline="-25000">
                <a:solidFill>
                  <a:schemeClr val="hlink"/>
                </a:solidFill>
              </a:rPr>
              <a:t>m-r</a:t>
            </a:r>
            <a:r>
              <a:rPr lang="en-US" altLang="zh-CN" sz="2400" b="1">
                <a:solidFill>
                  <a:schemeClr val="folHlink"/>
                </a:solidFill>
              </a:rPr>
              <a:t>X</a:t>
            </a:r>
            <a:r>
              <a:rPr lang="en-US" altLang="zh-CN" sz="2400" b="1" baseline="-25000">
                <a:solidFill>
                  <a:schemeClr val="folHlink"/>
                </a:solidFill>
              </a:rPr>
              <a:t>m-r+1</a:t>
            </a:r>
            <a:r>
              <a:rPr lang="en-US" altLang="zh-CN" sz="2400" b="1">
                <a:solidFill>
                  <a:schemeClr val="folHlink"/>
                </a:solidFill>
              </a:rPr>
              <a:t>s</a:t>
            </a:r>
            <a:r>
              <a:rPr lang="en-US" altLang="zh-CN" sz="2400" b="1" baseline="-25000">
                <a:solidFill>
                  <a:schemeClr val="folHlink"/>
                </a:solidFill>
              </a:rPr>
              <a:t>m-r+1</a:t>
            </a:r>
            <a:r>
              <a:rPr lang="en-US" altLang="zh-CN" sz="2400" b="1">
                <a:solidFill>
                  <a:schemeClr val="folHlink"/>
                </a:solidFill>
              </a:rPr>
              <a:t>…X</a:t>
            </a:r>
            <a:r>
              <a:rPr lang="en-US" altLang="zh-CN" sz="2400" b="1" baseline="-25000">
                <a:solidFill>
                  <a:schemeClr val="folHlink"/>
                </a:solidFill>
              </a:rPr>
              <a:t>m</a:t>
            </a:r>
            <a:r>
              <a:rPr lang="en-US" altLang="zh-CN" sz="2400" b="1">
                <a:solidFill>
                  <a:schemeClr val="folHlink"/>
                </a:solidFill>
              </a:rPr>
              <a:t>s</a:t>
            </a:r>
            <a:r>
              <a:rPr lang="en-US" altLang="zh-CN" sz="2400" b="1" baseline="-25000">
                <a:solidFill>
                  <a:schemeClr val="folHlink"/>
                </a:solidFill>
              </a:rPr>
              <a:t>m</a:t>
            </a:r>
            <a:r>
              <a:rPr lang="en-US" altLang="zh-CN" sz="2400" b="1">
                <a:solidFill>
                  <a:schemeClr val="hlink"/>
                </a:solidFill>
              </a:rPr>
              <a:t>,           a</a:t>
            </a:r>
            <a:r>
              <a:rPr lang="en-US" altLang="zh-CN" sz="2400" b="1" baseline="-25000">
                <a:solidFill>
                  <a:schemeClr val="hlink"/>
                </a:solidFill>
              </a:rPr>
              <a:t>i</a:t>
            </a:r>
            <a:r>
              <a:rPr lang="en-US" altLang="zh-CN" sz="2400" b="1">
                <a:solidFill>
                  <a:schemeClr val="hlink"/>
                </a:solidFill>
              </a:rPr>
              <a:t>a</a:t>
            </a:r>
            <a:r>
              <a:rPr lang="en-US" altLang="zh-CN" sz="2400" b="1" baseline="-25000">
                <a:solidFill>
                  <a:schemeClr val="hlink"/>
                </a:solidFill>
              </a:rPr>
              <a:t>i+1</a:t>
            </a:r>
            <a:r>
              <a:rPr lang="en-US" altLang="zh-CN" sz="2400" b="1">
                <a:solidFill>
                  <a:schemeClr val="hlink"/>
                </a:solidFill>
              </a:rPr>
              <a:t>…a</a:t>
            </a:r>
            <a:r>
              <a:rPr lang="en-US" altLang="zh-CN" sz="2400" b="1" baseline="-25000">
                <a:solidFill>
                  <a:schemeClr val="hlink"/>
                </a:solidFill>
              </a:rPr>
              <a:t>n</a:t>
            </a:r>
            <a:r>
              <a:rPr lang="en-US" altLang="zh-CN" sz="2400" b="1">
                <a:solidFill>
                  <a:schemeClr val="hlink"/>
                </a:solidFill>
              </a:rPr>
              <a:t>$)</a:t>
            </a:r>
          </a:p>
        </p:txBody>
      </p:sp>
      <p:sp>
        <p:nvSpPr>
          <p:cNvPr id="295944" name="Rectangle 8">
            <a:extLst>
              <a:ext uri="{FF2B5EF4-FFF2-40B4-BE49-F238E27FC236}">
                <a16:creationId xmlns:a16="http://schemas.microsoft.com/office/drawing/2014/main" id="{2123F9C8-2B14-4AD7-B972-15FA2FA25D9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447800" y="3200400"/>
            <a:ext cx="7162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hlink"/>
                </a:solidFill>
              </a:rPr>
              <a:t>(s</a:t>
            </a:r>
            <a:r>
              <a:rPr lang="en-US" altLang="zh-CN" sz="2400" b="1" baseline="-25000">
                <a:solidFill>
                  <a:schemeClr val="hlink"/>
                </a:solidFill>
              </a:rPr>
              <a:t>0</a:t>
            </a:r>
            <a:r>
              <a:rPr lang="en-US" altLang="zh-CN" sz="2400" b="1">
                <a:solidFill>
                  <a:schemeClr val="hlink"/>
                </a:solidFill>
              </a:rPr>
              <a:t>X</a:t>
            </a:r>
            <a:r>
              <a:rPr lang="en-US" altLang="zh-CN" sz="2400" b="1" baseline="-25000">
                <a:solidFill>
                  <a:schemeClr val="hlink"/>
                </a:solidFill>
              </a:rPr>
              <a:t>1</a:t>
            </a:r>
            <a:r>
              <a:rPr lang="en-US" altLang="zh-CN" sz="2400" b="1">
                <a:solidFill>
                  <a:schemeClr val="hlink"/>
                </a:solidFill>
              </a:rPr>
              <a:t>s</a:t>
            </a:r>
            <a:r>
              <a:rPr lang="en-US" altLang="zh-CN" sz="2400" b="1" baseline="-25000">
                <a:solidFill>
                  <a:schemeClr val="hlink"/>
                </a:solidFill>
              </a:rPr>
              <a:t>1</a:t>
            </a:r>
            <a:r>
              <a:rPr lang="en-US" altLang="zh-CN" sz="2400" b="1">
                <a:solidFill>
                  <a:schemeClr val="hlink"/>
                </a:solidFill>
              </a:rPr>
              <a:t>…X</a:t>
            </a:r>
            <a:r>
              <a:rPr lang="en-US" altLang="zh-CN" sz="2400" b="1" baseline="-25000">
                <a:solidFill>
                  <a:schemeClr val="hlink"/>
                </a:solidFill>
              </a:rPr>
              <a:t>m-r</a:t>
            </a:r>
            <a:r>
              <a:rPr lang="en-US" altLang="zh-CN" sz="2400" b="1">
                <a:solidFill>
                  <a:schemeClr val="hlink"/>
                </a:solidFill>
              </a:rPr>
              <a:t>s</a:t>
            </a:r>
            <a:r>
              <a:rPr lang="en-US" altLang="zh-CN" sz="2400" b="1" baseline="-25000">
                <a:solidFill>
                  <a:schemeClr val="hlink"/>
                </a:solidFill>
              </a:rPr>
              <a:t>m-r</a:t>
            </a:r>
            <a:r>
              <a:rPr lang="en-US" altLang="zh-CN" sz="2400" b="1">
                <a:solidFill>
                  <a:schemeClr val="hlink"/>
                </a:solidFill>
              </a:rPr>
              <a:t>A,           a</a:t>
            </a:r>
            <a:r>
              <a:rPr lang="en-US" altLang="zh-CN" sz="2400" b="1" baseline="-25000">
                <a:solidFill>
                  <a:schemeClr val="hlink"/>
                </a:solidFill>
              </a:rPr>
              <a:t>i</a:t>
            </a:r>
            <a:r>
              <a:rPr lang="en-US" altLang="zh-CN" sz="2400" b="1">
                <a:solidFill>
                  <a:schemeClr val="hlink"/>
                </a:solidFill>
              </a:rPr>
              <a:t>a</a:t>
            </a:r>
            <a:r>
              <a:rPr lang="en-US" altLang="zh-CN" sz="2400" b="1" baseline="-25000">
                <a:solidFill>
                  <a:schemeClr val="hlink"/>
                </a:solidFill>
              </a:rPr>
              <a:t>i+1</a:t>
            </a:r>
            <a:r>
              <a:rPr lang="en-US" altLang="zh-CN" sz="2400" b="1">
                <a:solidFill>
                  <a:schemeClr val="hlink"/>
                </a:solidFill>
              </a:rPr>
              <a:t>…a</a:t>
            </a:r>
            <a:r>
              <a:rPr lang="en-US" altLang="zh-CN" sz="2400" b="1" baseline="-25000">
                <a:solidFill>
                  <a:schemeClr val="hlink"/>
                </a:solidFill>
              </a:rPr>
              <a:t>n</a:t>
            </a:r>
            <a:r>
              <a:rPr lang="en-US" altLang="zh-CN" sz="2400" b="1">
                <a:solidFill>
                  <a:schemeClr val="hlink"/>
                </a:solidFill>
              </a:rPr>
              <a:t>$)                             </a:t>
            </a:r>
          </a:p>
        </p:txBody>
      </p:sp>
      <p:sp>
        <p:nvSpPr>
          <p:cNvPr id="295946" name="Rectangle 10">
            <a:extLst>
              <a:ext uri="{FF2B5EF4-FFF2-40B4-BE49-F238E27FC236}">
                <a16:creationId xmlns:a16="http://schemas.microsoft.com/office/drawing/2014/main" id="{F432F5B7-1B8F-45A0-B8CF-BDD6A96D2BC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447800" y="3200400"/>
            <a:ext cx="7162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</a:rPr>
              <a:t>(s</a:t>
            </a:r>
            <a:r>
              <a:rPr lang="en-US" altLang="zh-CN" sz="2400" b="1" baseline="-25000" dirty="0">
                <a:solidFill>
                  <a:schemeClr val="hlink"/>
                </a:solidFill>
              </a:rPr>
              <a:t>0</a:t>
            </a:r>
            <a:r>
              <a:rPr lang="en-US" altLang="zh-CN" sz="2400" b="1" dirty="0">
                <a:solidFill>
                  <a:schemeClr val="hlink"/>
                </a:solidFill>
              </a:rPr>
              <a:t>X</a:t>
            </a:r>
            <a:r>
              <a:rPr lang="en-US" altLang="zh-CN" sz="2400" b="1" baseline="-25000" dirty="0">
                <a:solidFill>
                  <a:schemeClr val="hlink"/>
                </a:solidFill>
              </a:rPr>
              <a:t>1</a:t>
            </a:r>
            <a:r>
              <a:rPr lang="en-US" altLang="zh-CN" sz="2400" b="1" dirty="0">
                <a:solidFill>
                  <a:schemeClr val="hlink"/>
                </a:solidFill>
              </a:rPr>
              <a:t>s</a:t>
            </a:r>
            <a:r>
              <a:rPr lang="en-US" altLang="zh-CN" sz="2400" b="1" baseline="-25000" dirty="0">
                <a:solidFill>
                  <a:schemeClr val="hlink"/>
                </a:solidFill>
              </a:rPr>
              <a:t>1</a:t>
            </a:r>
            <a:r>
              <a:rPr lang="en-US" altLang="zh-CN" sz="2400" b="1" dirty="0">
                <a:solidFill>
                  <a:schemeClr val="hlink"/>
                </a:solidFill>
              </a:rPr>
              <a:t>…</a:t>
            </a:r>
            <a:r>
              <a:rPr lang="en-US" altLang="zh-CN" sz="2400" b="1" dirty="0" err="1">
                <a:solidFill>
                  <a:schemeClr val="hlink"/>
                </a:solidFill>
              </a:rPr>
              <a:t>X</a:t>
            </a:r>
            <a:r>
              <a:rPr lang="en-US" altLang="zh-CN" sz="2400" b="1" baseline="-25000" dirty="0" err="1">
                <a:solidFill>
                  <a:schemeClr val="hlink"/>
                </a:solidFill>
              </a:rPr>
              <a:t>m-r</a:t>
            </a:r>
            <a:r>
              <a:rPr lang="en-US" altLang="zh-CN" sz="2400" b="1" dirty="0" err="1">
                <a:solidFill>
                  <a:schemeClr val="hlink"/>
                </a:solidFill>
              </a:rPr>
              <a:t>s</a:t>
            </a:r>
            <a:r>
              <a:rPr lang="en-US" altLang="zh-CN" sz="2400" b="1" baseline="-25000" dirty="0" err="1">
                <a:solidFill>
                  <a:schemeClr val="hlink"/>
                </a:solidFill>
              </a:rPr>
              <a:t>m-r</a:t>
            </a:r>
            <a:r>
              <a:rPr lang="en-US" altLang="zh-CN" sz="2400" b="1" dirty="0" err="1">
                <a:solidFill>
                  <a:schemeClr val="hlink"/>
                </a:solidFill>
              </a:rPr>
              <a:t>As</a:t>
            </a:r>
            <a:r>
              <a:rPr lang="en-US" altLang="zh-CN" sz="2400" b="1" dirty="0">
                <a:solidFill>
                  <a:schemeClr val="hlink"/>
                </a:solidFill>
              </a:rPr>
              <a:t>,          a</a:t>
            </a:r>
            <a:r>
              <a:rPr lang="en-US" altLang="zh-CN" sz="2400" b="1" baseline="-25000" dirty="0">
                <a:solidFill>
                  <a:schemeClr val="hlink"/>
                </a:solidFill>
              </a:rPr>
              <a:t>i</a:t>
            </a:r>
            <a:r>
              <a:rPr lang="en-US" altLang="zh-CN" sz="2400" b="1" dirty="0">
                <a:solidFill>
                  <a:schemeClr val="hlink"/>
                </a:solidFill>
              </a:rPr>
              <a:t>a</a:t>
            </a:r>
            <a:r>
              <a:rPr lang="en-US" altLang="zh-CN" sz="2400" b="1" baseline="-25000" dirty="0">
                <a:solidFill>
                  <a:schemeClr val="hlink"/>
                </a:solidFill>
              </a:rPr>
              <a:t>i+1</a:t>
            </a:r>
            <a:r>
              <a:rPr lang="en-US" altLang="zh-CN" sz="2400" b="1" dirty="0">
                <a:solidFill>
                  <a:schemeClr val="hlink"/>
                </a:solidFill>
              </a:rPr>
              <a:t>…a</a:t>
            </a:r>
            <a:r>
              <a:rPr lang="en-US" altLang="zh-CN" sz="2400" b="1" baseline="-25000" dirty="0">
                <a:solidFill>
                  <a:schemeClr val="hlink"/>
                </a:solidFill>
              </a:rPr>
              <a:t>n</a:t>
            </a:r>
            <a:r>
              <a:rPr lang="en-US" altLang="zh-CN" sz="2400" b="1" dirty="0">
                <a:solidFill>
                  <a:schemeClr val="hlink"/>
                </a:solidFill>
              </a:rPr>
              <a:t>$)                       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5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5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5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41" grpId="0" animBg="1" autoUpdateAnimBg="0"/>
      <p:bldP spid="295942" grpId="0" animBg="1" autoUpdateAnimBg="0"/>
      <p:bldP spid="295944" grpId="0" animBg="1" autoUpdateAnimBg="0"/>
      <p:bldP spid="295946" grpId="0" animBg="1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110A9D79-3A25-4CA8-A412-BC1722EAE9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4.7  LR</a:t>
            </a:r>
            <a:r>
              <a:rPr lang="zh-CN" altLang="en-US"/>
              <a:t>分析算法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C5FA6BF9-F766-4AD5-99D1-40324D8974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输入：一个输入串</a:t>
            </a:r>
            <a:r>
              <a:rPr lang="en-US" altLang="zh-CN" sz="2800" dirty="0"/>
              <a:t>w</a:t>
            </a:r>
            <a:r>
              <a:rPr lang="zh-CN" altLang="en-US" sz="2800" dirty="0"/>
              <a:t>和一个文法</a:t>
            </a:r>
            <a:r>
              <a:rPr lang="en-US" altLang="zh-CN" sz="2800" dirty="0"/>
              <a:t>G</a:t>
            </a:r>
            <a:r>
              <a:rPr lang="zh-CN" altLang="en-US" sz="2800" dirty="0"/>
              <a:t>的</a:t>
            </a:r>
            <a:r>
              <a:rPr lang="en-US" altLang="zh-CN" sz="2800" dirty="0"/>
              <a:t>LR</a:t>
            </a:r>
            <a:r>
              <a:rPr lang="zh-CN" altLang="en-US" sz="2800" dirty="0"/>
              <a:t>分析表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输出：若</a:t>
            </a:r>
            <a:r>
              <a:rPr lang="en-US" altLang="zh-CN" sz="2800" dirty="0" err="1"/>
              <a:t>w∈L</a:t>
            </a:r>
            <a:r>
              <a:rPr lang="en-US" altLang="zh-CN" sz="2800" dirty="0"/>
              <a:t>(G)</a:t>
            </a:r>
            <a:r>
              <a:rPr lang="zh-CN" altLang="en-US" sz="2800" dirty="0"/>
              <a:t>，输出</a:t>
            </a:r>
            <a:r>
              <a:rPr lang="en-US" altLang="zh-CN" sz="2800" dirty="0"/>
              <a:t>w</a:t>
            </a:r>
            <a:r>
              <a:rPr lang="zh-CN" altLang="en-US" sz="2800" dirty="0"/>
              <a:t>的一个自底向上分析；否则，输出错误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方法：初始，栈中只含初始状态</a:t>
            </a:r>
            <a:r>
              <a:rPr lang="en-US" altLang="zh-CN" sz="2800" dirty="0"/>
              <a:t>s</a:t>
            </a:r>
            <a:r>
              <a:rPr lang="en-US" altLang="zh-CN" sz="2800" baseline="-25000" dirty="0"/>
              <a:t>0</a:t>
            </a:r>
            <a:r>
              <a:rPr lang="zh-CN" altLang="en-US" sz="2800" dirty="0"/>
              <a:t>，输入缓冲区为</a:t>
            </a:r>
            <a:r>
              <a:rPr lang="en-US" altLang="zh-CN" sz="2800" dirty="0"/>
              <a:t>w$</a:t>
            </a:r>
            <a:r>
              <a:rPr lang="zh-CN" altLang="en-US" sz="2800" dirty="0"/>
              <a:t>，分析器按如下算法运行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将</a:t>
            </a:r>
            <a:r>
              <a:rPr lang="en-US" altLang="zh-CN" sz="2400" dirty="0" err="1"/>
              <a:t>ip</a:t>
            </a:r>
            <a:r>
              <a:rPr lang="zh-CN" altLang="en-US" sz="2400" dirty="0"/>
              <a:t>设置为</a:t>
            </a:r>
            <a:r>
              <a:rPr lang="en-US" altLang="zh-CN" sz="2400" dirty="0"/>
              <a:t>w$</a:t>
            </a:r>
            <a:r>
              <a:rPr lang="zh-CN" altLang="en-US" sz="2400" dirty="0"/>
              <a:t>的第一个符号</a:t>
            </a:r>
            <a:r>
              <a:rPr lang="en-US" altLang="zh-CN" sz="2400" dirty="0"/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/>
              <a:t>repeat forever begin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/>
              <a:t>	</a:t>
            </a:r>
            <a:r>
              <a:rPr lang="zh-CN" altLang="en-US" sz="2400" dirty="0"/>
              <a:t>令</a:t>
            </a:r>
            <a:r>
              <a:rPr lang="en-US" altLang="zh-CN" sz="2400" dirty="0"/>
              <a:t>s</a:t>
            </a:r>
            <a:r>
              <a:rPr lang="zh-CN" altLang="en-US" sz="2400" dirty="0"/>
              <a:t>为栈顶状态，</a:t>
            </a:r>
            <a:r>
              <a:rPr lang="en-US" altLang="zh-CN" sz="2400" dirty="0"/>
              <a:t>a</a:t>
            </a:r>
            <a:r>
              <a:rPr lang="zh-CN" altLang="en-US" sz="2400" dirty="0"/>
              <a:t>为</a:t>
            </a:r>
            <a:r>
              <a:rPr lang="en-US" altLang="zh-CN" sz="2400" dirty="0" err="1"/>
              <a:t>ip</a:t>
            </a:r>
            <a:r>
              <a:rPr lang="zh-CN" altLang="en-US" sz="2400" dirty="0"/>
              <a:t>指向符号</a:t>
            </a:r>
            <a:r>
              <a:rPr lang="en-US" altLang="zh-CN" sz="2400" dirty="0"/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	</a:t>
            </a:r>
            <a:r>
              <a:rPr lang="en-US" altLang="zh-CN" sz="2400" b="1" dirty="0"/>
              <a:t>if </a:t>
            </a:r>
            <a:r>
              <a:rPr lang="en-US" altLang="zh-CN" sz="2400" dirty="0"/>
              <a:t>(action[s, a] = </a:t>
            </a:r>
            <a:r>
              <a:rPr lang="zh-CN" altLang="en-US" sz="2400" dirty="0"/>
              <a:t>移进</a:t>
            </a:r>
            <a:r>
              <a:rPr lang="en-US" altLang="zh-CN" sz="2400" dirty="0"/>
              <a:t>s’)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		</a:t>
            </a:r>
            <a:r>
              <a:rPr lang="zh-CN" altLang="en-US" sz="2400" dirty="0"/>
              <a:t>将</a:t>
            </a:r>
            <a:r>
              <a:rPr lang="en-US" altLang="zh-CN" sz="2400" dirty="0"/>
              <a:t>a</a:t>
            </a:r>
            <a:r>
              <a:rPr lang="zh-CN" altLang="en-US" sz="2400" dirty="0"/>
              <a:t>，</a:t>
            </a:r>
            <a:r>
              <a:rPr lang="en-US" altLang="zh-CN" sz="2400" dirty="0"/>
              <a:t>s’</a:t>
            </a:r>
            <a:r>
              <a:rPr lang="zh-CN" altLang="en-US" sz="2400" dirty="0"/>
              <a:t>依次压栈</a:t>
            </a:r>
            <a:r>
              <a:rPr lang="en-US" altLang="zh-CN" sz="2400" dirty="0"/>
              <a:t>;</a:t>
            </a:r>
            <a:endParaRPr lang="en-US" altLang="zh-CN" sz="2400" b="1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771984C3-12D5-4DAF-91DF-83B89CDE89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4.7  LR</a:t>
            </a:r>
            <a:r>
              <a:rPr lang="zh-CN" altLang="en-US"/>
              <a:t>分析算法（续）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86A791D4-577C-425A-B54C-69142C2972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ip</a:t>
            </a:r>
            <a:r>
              <a:rPr lang="zh-CN" altLang="en-US" sz="2400"/>
              <a:t>指向下一个输入符号</a:t>
            </a:r>
            <a:r>
              <a:rPr lang="en-US" altLang="zh-CN" sz="2400"/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</a:t>
            </a:r>
            <a:r>
              <a:rPr lang="en-US" altLang="zh-CN" sz="2400" b="1"/>
              <a:t>else if </a:t>
            </a:r>
            <a:r>
              <a:rPr lang="en-US" altLang="zh-CN" sz="2400"/>
              <a:t>(action[s, a]=</a:t>
            </a:r>
            <a:r>
              <a:rPr lang="zh-CN" altLang="en-US" sz="2400"/>
              <a:t>归约</a:t>
            </a:r>
            <a:r>
              <a:rPr kumimoji="0" lang="en-US" altLang="zh-CN" sz="2400"/>
              <a:t>A</a:t>
            </a:r>
            <a:r>
              <a:rPr kumimoji="0" lang="en-US" altLang="zh-CN" sz="2400">
                <a:sym typeface="Symbol" panose="05050102010706020507" pitchFamily="18" charset="2"/>
              </a:rPr>
              <a:t>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b)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		</a:t>
            </a:r>
            <a:r>
              <a:rPr kumimoji="0" lang="zh-CN" altLang="en-US" sz="2400">
                <a:sym typeface="Symbol" panose="05050102010706020507" pitchFamily="18" charset="2"/>
              </a:rPr>
              <a:t>从栈中弹出</a:t>
            </a:r>
            <a:r>
              <a:rPr kumimoji="0" lang="en-US" altLang="zh-CN" sz="2400">
                <a:sym typeface="Symbol" panose="05050102010706020507" pitchFamily="18" charset="2"/>
              </a:rPr>
              <a:t>2*|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kumimoji="0" lang="en-US" altLang="zh-CN" sz="2400">
                <a:sym typeface="Symbol" panose="05050102010706020507" pitchFamily="18" charset="2"/>
              </a:rPr>
              <a:t>|</a:t>
            </a:r>
            <a:r>
              <a:rPr kumimoji="0" lang="zh-CN" altLang="en-US" sz="2400">
                <a:sym typeface="Symbol" panose="05050102010706020507" pitchFamily="18" charset="2"/>
              </a:rPr>
              <a:t>个符号</a:t>
            </a:r>
            <a:r>
              <a:rPr kumimoji="0" lang="en-US" altLang="zh-CN" sz="2400">
                <a:sym typeface="Symbol" panose="05050102010706020507" pitchFamily="18" charset="2"/>
              </a:rPr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</a:t>
            </a:r>
            <a:r>
              <a:rPr kumimoji="0" lang="zh-CN" altLang="en-US" sz="2400">
                <a:sym typeface="Symbol" panose="05050102010706020507" pitchFamily="18" charset="2"/>
              </a:rPr>
              <a:t>令</a:t>
            </a:r>
            <a:r>
              <a:rPr kumimoji="0" lang="en-US" altLang="zh-CN" sz="2400">
                <a:sym typeface="Symbol" panose="05050102010706020507" pitchFamily="18" charset="2"/>
              </a:rPr>
              <a:t>s’</a:t>
            </a:r>
            <a:r>
              <a:rPr kumimoji="0" lang="zh-CN" altLang="en-US" sz="2400">
                <a:sym typeface="Symbol" panose="05050102010706020507" pitchFamily="18" charset="2"/>
              </a:rPr>
              <a:t>为当前栈顶状态</a:t>
            </a:r>
            <a:r>
              <a:rPr kumimoji="0" lang="en-US" altLang="zh-CN" sz="2400">
                <a:sym typeface="Symbol" panose="05050102010706020507" pitchFamily="18" charset="2"/>
              </a:rPr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</a:t>
            </a:r>
            <a:r>
              <a:rPr kumimoji="0" lang="zh-CN" altLang="en-US" sz="2400">
                <a:sym typeface="Symbol" panose="05050102010706020507" pitchFamily="18" charset="2"/>
              </a:rPr>
              <a:t>将</a:t>
            </a:r>
            <a:r>
              <a:rPr kumimoji="0" lang="en-US" altLang="zh-CN" sz="2400">
                <a:sym typeface="Symbol" panose="05050102010706020507" pitchFamily="18" charset="2"/>
              </a:rPr>
              <a:t>A</a:t>
            </a:r>
            <a:r>
              <a:rPr kumimoji="0" lang="zh-CN" altLang="en-US" sz="2400">
                <a:sym typeface="Symbol" panose="05050102010706020507" pitchFamily="18" charset="2"/>
              </a:rPr>
              <a:t>和状态</a:t>
            </a:r>
            <a:r>
              <a:rPr kumimoji="0" lang="en-US" altLang="zh-CN" sz="2400">
                <a:sym typeface="Symbol" panose="05050102010706020507" pitchFamily="18" charset="2"/>
              </a:rPr>
              <a:t>goto[s’, A]</a:t>
            </a:r>
            <a:r>
              <a:rPr kumimoji="0" lang="zh-CN" altLang="en-US" sz="2400">
                <a:sym typeface="Symbol" panose="05050102010706020507" pitchFamily="18" charset="2"/>
              </a:rPr>
              <a:t>依次压栈</a:t>
            </a:r>
            <a:r>
              <a:rPr kumimoji="0" lang="en-US" altLang="zh-CN" sz="2400">
                <a:sym typeface="Symbol" panose="05050102010706020507" pitchFamily="18" charset="2"/>
              </a:rPr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</a:t>
            </a:r>
            <a:r>
              <a:rPr kumimoji="0" lang="zh-CN" altLang="en-US" sz="2400">
                <a:sym typeface="Symbol" panose="05050102010706020507" pitchFamily="18" charset="2"/>
              </a:rPr>
              <a:t>输出</a:t>
            </a:r>
            <a:r>
              <a:rPr kumimoji="0" lang="en-US" altLang="zh-CN" sz="2400"/>
              <a:t>A</a:t>
            </a:r>
            <a:r>
              <a:rPr kumimoji="0" lang="en-US" altLang="zh-CN" sz="2400">
                <a:sym typeface="Symbol" panose="05050102010706020507" pitchFamily="18" charset="2"/>
              </a:rPr>
              <a:t>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b;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	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	</a:t>
            </a:r>
            <a:r>
              <a:rPr kumimoji="0" lang="en-US" altLang="zh-CN" sz="2400" b="1">
                <a:sym typeface="Symbol" panose="05050102010706020507" pitchFamily="18" charset="2"/>
              </a:rPr>
              <a:t>else if </a:t>
            </a:r>
            <a:r>
              <a:rPr kumimoji="0" lang="en-US" altLang="zh-CN" sz="2400">
                <a:sym typeface="Symbol" panose="05050102010706020507" pitchFamily="18" charset="2"/>
              </a:rPr>
              <a:t>(action[s, a] = </a:t>
            </a:r>
            <a:r>
              <a:rPr kumimoji="0" lang="zh-CN" altLang="en-US" sz="2400">
                <a:sym typeface="Symbol" panose="05050102010706020507" pitchFamily="18" charset="2"/>
              </a:rPr>
              <a:t>接受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return;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</a:t>
            </a:r>
            <a:r>
              <a:rPr kumimoji="0" lang="en-US" altLang="zh-CN" sz="2400" b="1">
                <a:sym typeface="Symbol" panose="05050102010706020507" pitchFamily="18" charset="2"/>
              </a:rPr>
              <a:t>else</a:t>
            </a:r>
            <a:r>
              <a:rPr kumimoji="0" lang="en-US" altLang="zh-CN" sz="2400">
                <a:sym typeface="Symbol" panose="05050102010706020507" pitchFamily="18" charset="2"/>
              </a:rPr>
              <a:t> error();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}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16FB861B-EA91-4656-8637-491AF27B29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4.33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A24AFFBE-F9F5-4007-96D7-95643DD69A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mar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(1) E </a:t>
            </a:r>
            <a:r>
              <a:rPr kumimoji="0" lang="en-US" altLang="zh-CN" sz="2400" b="1" dirty="0">
                <a:sym typeface="Symbol" panose="05050102010706020507" pitchFamily="18" charset="2"/>
              </a:rPr>
              <a:t> E + T</a:t>
            </a:r>
            <a:br>
              <a:rPr kumimoji="0" lang="en-US" altLang="zh-CN" sz="2400" b="1" dirty="0">
                <a:sym typeface="Symbol" panose="05050102010706020507" pitchFamily="18" charset="2"/>
              </a:rPr>
            </a:br>
            <a:r>
              <a:rPr kumimoji="0" lang="en-US" altLang="zh-CN" sz="2400" b="1" dirty="0">
                <a:sym typeface="Symbol" panose="05050102010706020507" pitchFamily="18" charset="2"/>
              </a:rPr>
              <a:t>(2) </a:t>
            </a:r>
            <a:r>
              <a:rPr kumimoji="0" lang="en-US" altLang="zh-CN" sz="2400" b="1" dirty="0"/>
              <a:t>E </a:t>
            </a:r>
            <a:r>
              <a:rPr kumimoji="0" lang="en-US" altLang="zh-CN" sz="2400" b="1" dirty="0">
                <a:sym typeface="Symbol" panose="05050102010706020507" pitchFamily="18" charset="2"/>
              </a:rPr>
              <a:t> T</a:t>
            </a:r>
            <a:br>
              <a:rPr kumimoji="0" lang="en-US" altLang="zh-CN" sz="2400" b="1" dirty="0">
                <a:sym typeface="Symbol" panose="05050102010706020507" pitchFamily="18" charset="2"/>
              </a:rPr>
            </a:br>
            <a:r>
              <a:rPr kumimoji="0" lang="en-US" altLang="zh-CN" sz="2400" b="1" dirty="0">
                <a:sym typeface="Symbol" panose="05050102010706020507" pitchFamily="18" charset="2"/>
              </a:rPr>
              <a:t>(3) T  T * F</a:t>
            </a:r>
            <a:br>
              <a:rPr kumimoji="0" lang="en-US" altLang="zh-CN" sz="2400" b="1" dirty="0">
                <a:sym typeface="Symbol" panose="05050102010706020507" pitchFamily="18" charset="2"/>
              </a:rPr>
            </a:br>
            <a:r>
              <a:rPr kumimoji="0" lang="en-US" altLang="zh-CN" sz="2400" b="1" dirty="0">
                <a:sym typeface="Symbol" panose="05050102010706020507" pitchFamily="18" charset="2"/>
              </a:rPr>
              <a:t>(4) T  F</a:t>
            </a:r>
            <a:br>
              <a:rPr kumimoji="0" lang="en-US" altLang="zh-CN" sz="2400" b="1" dirty="0">
                <a:sym typeface="Symbol" panose="05050102010706020507" pitchFamily="18" charset="2"/>
              </a:rPr>
            </a:br>
            <a:r>
              <a:rPr kumimoji="0" lang="en-US" altLang="zh-CN" sz="2400" b="1" dirty="0">
                <a:sym typeface="Symbol" panose="05050102010706020507" pitchFamily="18" charset="2"/>
              </a:rPr>
              <a:t>(5) F  ( E )</a:t>
            </a:r>
            <a:br>
              <a:rPr kumimoji="0" lang="en-US" altLang="zh-CN" sz="2400" b="1" dirty="0">
                <a:sym typeface="Symbol" panose="05050102010706020507" pitchFamily="18" charset="2"/>
              </a:rPr>
            </a:br>
            <a:r>
              <a:rPr kumimoji="0" lang="en-US" altLang="zh-CN" sz="2400" b="1" dirty="0">
                <a:sym typeface="Symbol" panose="05050102010706020507" pitchFamily="18" charset="2"/>
              </a:rPr>
              <a:t>(6) F  id</a:t>
            </a:r>
          </a:p>
          <a:p>
            <a:pPr marL="0" indent="0" eaLnBrk="1" hangingPunct="1"/>
            <a:r>
              <a:rPr lang="en-US" altLang="zh-CN" sz="2800" dirty="0" err="1"/>
              <a:t>si</a:t>
            </a:r>
            <a:r>
              <a:rPr lang="zh-CN" altLang="en-US" sz="2800" dirty="0"/>
              <a:t>：移进状态</a:t>
            </a:r>
            <a:r>
              <a:rPr lang="en-US" altLang="zh-CN" sz="2800" dirty="0" err="1"/>
              <a:t>i</a:t>
            </a:r>
            <a:endParaRPr lang="en-US" altLang="zh-CN" sz="2800" dirty="0"/>
          </a:p>
          <a:p>
            <a:pPr marL="0" indent="0" eaLnBrk="1" hangingPunct="1"/>
            <a:r>
              <a:rPr lang="en-US" altLang="zh-CN" sz="2800" dirty="0" err="1"/>
              <a:t>rj</a:t>
            </a:r>
            <a:r>
              <a:rPr lang="zh-CN" altLang="en-US" sz="2800" dirty="0"/>
              <a:t>：利用产生式</a:t>
            </a:r>
            <a:r>
              <a:rPr lang="en-US" altLang="zh-CN" sz="2800" dirty="0"/>
              <a:t>j</a:t>
            </a:r>
            <a:r>
              <a:rPr lang="zh-CN" altLang="en-US" sz="2800" dirty="0"/>
              <a:t>归约</a:t>
            </a:r>
          </a:p>
          <a:p>
            <a:pPr marL="0" indent="0" eaLnBrk="1" hangingPunct="1"/>
            <a:r>
              <a:rPr lang="en-US" altLang="zh-CN" sz="2800" dirty="0"/>
              <a:t>acc</a:t>
            </a:r>
            <a:r>
              <a:rPr lang="zh-CN" altLang="en-US" sz="2800" dirty="0"/>
              <a:t>：接受</a:t>
            </a:r>
          </a:p>
          <a:p>
            <a:pPr marL="0" indent="0" eaLnBrk="1" hangingPunct="1"/>
            <a:r>
              <a:rPr lang="zh-CN" altLang="en-US" sz="2800" dirty="0"/>
              <a:t>空格：错误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46922D0A-7586-4CC2-B99D-3D42074ADB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4.33  </a:t>
            </a:r>
            <a:r>
              <a:rPr lang="zh-CN" altLang="en-US"/>
              <a:t>分析表</a:t>
            </a:r>
          </a:p>
        </p:txBody>
      </p:sp>
      <p:sp>
        <p:nvSpPr>
          <p:cNvPr id="60419" name="Line 5">
            <a:extLst>
              <a:ext uri="{FF2B5EF4-FFF2-40B4-BE49-F238E27FC236}">
                <a16:creationId xmlns:a16="http://schemas.microsoft.com/office/drawing/2014/main" id="{1D8B2DA9-4E25-4772-9891-745FB330E0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1371600"/>
            <a:ext cx="784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0" name="Line 6">
            <a:extLst>
              <a:ext uri="{FF2B5EF4-FFF2-40B4-BE49-F238E27FC236}">
                <a16:creationId xmlns:a16="http://schemas.microsoft.com/office/drawing/2014/main" id="{9F812703-06BE-420F-B0AF-2DA9C53AAE13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1447800"/>
            <a:ext cx="784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1" name="Line 7">
            <a:extLst>
              <a:ext uri="{FF2B5EF4-FFF2-40B4-BE49-F238E27FC236}">
                <a16:creationId xmlns:a16="http://schemas.microsoft.com/office/drawing/2014/main" id="{A7459A83-41D1-468D-84A8-D49704D989E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1828800"/>
            <a:ext cx="71612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2" name="Line 8">
            <a:extLst>
              <a:ext uri="{FF2B5EF4-FFF2-40B4-BE49-F238E27FC236}">
                <a16:creationId xmlns:a16="http://schemas.microsoft.com/office/drawing/2014/main" id="{995AB8BE-1977-483B-8D5B-61EFBB155BE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2133600"/>
            <a:ext cx="784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3" name="Line 10">
            <a:extLst>
              <a:ext uri="{FF2B5EF4-FFF2-40B4-BE49-F238E27FC236}">
                <a16:creationId xmlns:a16="http://schemas.microsoft.com/office/drawing/2014/main" id="{D50981CE-0F43-48CC-A2A3-268C0E7AF436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800" y="1371600"/>
            <a:ext cx="0" cy="533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4" name="Line 11">
            <a:extLst>
              <a:ext uri="{FF2B5EF4-FFF2-40B4-BE49-F238E27FC236}">
                <a16:creationId xmlns:a16="http://schemas.microsoft.com/office/drawing/2014/main" id="{C297169C-B394-4857-8288-1C2594ACD5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1447800"/>
            <a:ext cx="0" cy="525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5" name="Line 15">
            <a:extLst>
              <a:ext uri="{FF2B5EF4-FFF2-40B4-BE49-F238E27FC236}">
                <a16:creationId xmlns:a16="http://schemas.microsoft.com/office/drawing/2014/main" id="{E0B7C43A-0CAB-4D41-9DFC-2049ACFC6AB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1447800"/>
            <a:ext cx="0" cy="525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6" name="Text Box 21">
            <a:extLst>
              <a:ext uri="{FF2B5EF4-FFF2-40B4-BE49-F238E27FC236}">
                <a16:creationId xmlns:a16="http://schemas.microsoft.com/office/drawing/2014/main" id="{D6603C88-46A8-4A03-86FE-EE9F4B4A0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600200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状态</a:t>
            </a:r>
          </a:p>
        </p:txBody>
      </p:sp>
      <p:sp>
        <p:nvSpPr>
          <p:cNvPr id="60427" name="Text Box 22">
            <a:extLst>
              <a:ext uri="{FF2B5EF4-FFF2-40B4-BE49-F238E27FC236}">
                <a16:creationId xmlns:a16="http://schemas.microsoft.com/office/drawing/2014/main" id="{E5B6CE83-3F9A-4BEA-BAF1-745A0F1F4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14478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action</a:t>
            </a:r>
          </a:p>
        </p:txBody>
      </p:sp>
      <p:sp>
        <p:nvSpPr>
          <p:cNvPr id="60428" name="Text Box 23">
            <a:extLst>
              <a:ext uri="{FF2B5EF4-FFF2-40B4-BE49-F238E27FC236}">
                <a16:creationId xmlns:a16="http://schemas.microsoft.com/office/drawing/2014/main" id="{C6CBFF35-2F94-4A6B-8E2B-1248528ED5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755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id</a:t>
            </a:r>
          </a:p>
        </p:txBody>
      </p:sp>
      <p:sp>
        <p:nvSpPr>
          <p:cNvPr id="60429" name="Text Box 24">
            <a:extLst>
              <a:ext uri="{FF2B5EF4-FFF2-40B4-BE49-F238E27FC236}">
                <a16:creationId xmlns:a16="http://schemas.microsoft.com/office/drawing/2014/main" id="{BB9DC496-0CD5-4807-9ED1-D8786D41A1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888" y="1755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+</a:t>
            </a:r>
          </a:p>
        </p:txBody>
      </p:sp>
      <p:sp>
        <p:nvSpPr>
          <p:cNvPr id="60430" name="Text Box 25">
            <a:extLst>
              <a:ext uri="{FF2B5EF4-FFF2-40B4-BE49-F238E27FC236}">
                <a16:creationId xmlns:a16="http://schemas.microsoft.com/office/drawing/2014/main" id="{E405F34F-AF50-4068-92BE-F7C1549238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3963" y="1755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*</a:t>
            </a:r>
          </a:p>
        </p:txBody>
      </p:sp>
      <p:sp>
        <p:nvSpPr>
          <p:cNvPr id="60431" name="Text Box 26">
            <a:extLst>
              <a:ext uri="{FF2B5EF4-FFF2-40B4-BE49-F238E27FC236}">
                <a16:creationId xmlns:a16="http://schemas.microsoft.com/office/drawing/2014/main" id="{B1CE3D70-FF87-4D7D-8140-D6F08C8AF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6450" y="1755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(</a:t>
            </a:r>
          </a:p>
        </p:txBody>
      </p:sp>
      <p:sp>
        <p:nvSpPr>
          <p:cNvPr id="60432" name="Text Box 27">
            <a:extLst>
              <a:ext uri="{FF2B5EF4-FFF2-40B4-BE49-F238E27FC236}">
                <a16:creationId xmlns:a16="http://schemas.microsoft.com/office/drawing/2014/main" id="{582CB9EE-C39B-4130-AED7-10E9F531A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0525" y="1755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)</a:t>
            </a:r>
          </a:p>
        </p:txBody>
      </p:sp>
      <p:sp>
        <p:nvSpPr>
          <p:cNvPr id="60433" name="Text Box 28">
            <a:extLst>
              <a:ext uri="{FF2B5EF4-FFF2-40B4-BE49-F238E27FC236}">
                <a16:creationId xmlns:a16="http://schemas.microsoft.com/office/drawing/2014/main" id="{1DE0C00B-13B7-44C0-8011-34C333372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1755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$</a:t>
            </a:r>
          </a:p>
        </p:txBody>
      </p:sp>
      <p:sp>
        <p:nvSpPr>
          <p:cNvPr id="60434" name="Text Box 29">
            <a:extLst>
              <a:ext uri="{FF2B5EF4-FFF2-40B4-BE49-F238E27FC236}">
                <a16:creationId xmlns:a16="http://schemas.microsoft.com/office/drawing/2014/main" id="{D17E6939-01A2-4990-85D1-E7A61ED718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133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0</a:t>
            </a:r>
          </a:p>
        </p:txBody>
      </p:sp>
      <p:sp>
        <p:nvSpPr>
          <p:cNvPr id="60435" name="Text Box 30">
            <a:extLst>
              <a:ext uri="{FF2B5EF4-FFF2-40B4-BE49-F238E27FC236}">
                <a16:creationId xmlns:a16="http://schemas.microsoft.com/office/drawing/2014/main" id="{2B0E5470-466F-4792-9F45-34896AB42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514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1</a:t>
            </a:r>
          </a:p>
        </p:txBody>
      </p:sp>
      <p:sp>
        <p:nvSpPr>
          <p:cNvPr id="60436" name="Text Box 31">
            <a:extLst>
              <a:ext uri="{FF2B5EF4-FFF2-40B4-BE49-F238E27FC236}">
                <a16:creationId xmlns:a16="http://schemas.microsoft.com/office/drawing/2014/main" id="{88298D9D-6838-4978-A1E8-9E5CE33BE6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895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2</a:t>
            </a:r>
          </a:p>
        </p:txBody>
      </p:sp>
      <p:sp>
        <p:nvSpPr>
          <p:cNvPr id="60437" name="Text Box 32">
            <a:extLst>
              <a:ext uri="{FF2B5EF4-FFF2-40B4-BE49-F238E27FC236}">
                <a16:creationId xmlns:a16="http://schemas.microsoft.com/office/drawing/2014/main" id="{D0D23DA9-8FA5-4363-8713-E5616C08D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276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3</a:t>
            </a:r>
          </a:p>
        </p:txBody>
      </p:sp>
      <p:sp>
        <p:nvSpPr>
          <p:cNvPr id="60438" name="Text Box 33">
            <a:extLst>
              <a:ext uri="{FF2B5EF4-FFF2-40B4-BE49-F238E27FC236}">
                <a16:creationId xmlns:a16="http://schemas.microsoft.com/office/drawing/2014/main" id="{5ED3E7E5-7709-4EC7-A573-B21567681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657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4</a:t>
            </a:r>
          </a:p>
        </p:txBody>
      </p:sp>
      <p:sp>
        <p:nvSpPr>
          <p:cNvPr id="60439" name="Line 47">
            <a:extLst>
              <a:ext uri="{FF2B5EF4-FFF2-40B4-BE49-F238E27FC236}">
                <a16:creationId xmlns:a16="http://schemas.microsoft.com/office/drawing/2014/main" id="{FD51675E-6721-4BF9-8BF4-A2EEE2FD317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1371600"/>
            <a:ext cx="0" cy="533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40" name="Text Box 49">
            <a:extLst>
              <a:ext uri="{FF2B5EF4-FFF2-40B4-BE49-F238E27FC236}">
                <a16:creationId xmlns:a16="http://schemas.microsoft.com/office/drawing/2014/main" id="{8DBC3D58-9E82-4E26-B4A9-8D73B2A38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038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5</a:t>
            </a:r>
          </a:p>
        </p:txBody>
      </p:sp>
      <p:sp>
        <p:nvSpPr>
          <p:cNvPr id="60441" name="Text Box 55">
            <a:extLst>
              <a:ext uri="{FF2B5EF4-FFF2-40B4-BE49-F238E27FC236}">
                <a16:creationId xmlns:a16="http://schemas.microsoft.com/office/drawing/2014/main" id="{104CAC16-7687-4D55-916B-D5C57F7D1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403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6</a:t>
            </a:r>
          </a:p>
        </p:txBody>
      </p:sp>
      <p:sp>
        <p:nvSpPr>
          <p:cNvPr id="60442" name="Text Box 56">
            <a:extLst>
              <a:ext uri="{FF2B5EF4-FFF2-40B4-BE49-F238E27FC236}">
                <a16:creationId xmlns:a16="http://schemas.microsoft.com/office/drawing/2014/main" id="{7341D91A-4933-4ABC-BC12-2434BD22B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784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7</a:t>
            </a:r>
          </a:p>
        </p:txBody>
      </p:sp>
      <p:sp>
        <p:nvSpPr>
          <p:cNvPr id="60443" name="Text Box 57">
            <a:extLst>
              <a:ext uri="{FF2B5EF4-FFF2-40B4-BE49-F238E27FC236}">
                <a16:creationId xmlns:a16="http://schemas.microsoft.com/office/drawing/2014/main" id="{34AAA38C-42FF-4FE3-88D6-FF052A1D55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5165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8</a:t>
            </a:r>
          </a:p>
        </p:txBody>
      </p:sp>
      <p:sp>
        <p:nvSpPr>
          <p:cNvPr id="60444" name="Text Box 58">
            <a:extLst>
              <a:ext uri="{FF2B5EF4-FFF2-40B4-BE49-F238E27FC236}">
                <a16:creationId xmlns:a16="http://schemas.microsoft.com/office/drawing/2014/main" id="{6C799620-AAD9-499A-86DF-BA2EA035C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5546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9</a:t>
            </a:r>
          </a:p>
        </p:txBody>
      </p:sp>
      <p:sp>
        <p:nvSpPr>
          <p:cNvPr id="60445" name="Text Box 59">
            <a:extLst>
              <a:ext uri="{FF2B5EF4-FFF2-40B4-BE49-F238E27FC236}">
                <a16:creationId xmlns:a16="http://schemas.microsoft.com/office/drawing/2014/main" id="{14C4FF8B-510C-4167-BABD-9B986417D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927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10</a:t>
            </a:r>
          </a:p>
        </p:txBody>
      </p:sp>
      <p:sp>
        <p:nvSpPr>
          <p:cNvPr id="60446" name="Line 60">
            <a:extLst>
              <a:ext uri="{FF2B5EF4-FFF2-40B4-BE49-F238E27FC236}">
                <a16:creationId xmlns:a16="http://schemas.microsoft.com/office/drawing/2014/main" id="{71BD82BC-6F5A-4740-A13D-7BE53FD539E8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6689725"/>
            <a:ext cx="784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47" name="Text Box 61">
            <a:extLst>
              <a:ext uri="{FF2B5EF4-FFF2-40B4-BE49-F238E27FC236}">
                <a16:creationId xmlns:a16="http://schemas.microsoft.com/office/drawing/2014/main" id="{E12CC5BE-3163-4DC1-A044-65910D46A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3087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11</a:t>
            </a:r>
          </a:p>
        </p:txBody>
      </p:sp>
      <p:sp>
        <p:nvSpPr>
          <p:cNvPr id="60448" name="Text Box 63">
            <a:extLst>
              <a:ext uri="{FF2B5EF4-FFF2-40B4-BE49-F238E27FC236}">
                <a16:creationId xmlns:a16="http://schemas.microsoft.com/office/drawing/2014/main" id="{ADD3FA5E-020F-446A-AA9B-2D7F7E328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1752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</a:t>
            </a:r>
          </a:p>
        </p:txBody>
      </p:sp>
      <p:sp>
        <p:nvSpPr>
          <p:cNvPr id="60449" name="Text Box 64">
            <a:extLst>
              <a:ext uri="{FF2B5EF4-FFF2-40B4-BE49-F238E27FC236}">
                <a16:creationId xmlns:a16="http://schemas.microsoft.com/office/drawing/2014/main" id="{3C3427A9-745C-428C-9668-06C6C55E99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275" y="1752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</a:t>
            </a:r>
          </a:p>
        </p:txBody>
      </p:sp>
      <p:sp>
        <p:nvSpPr>
          <p:cNvPr id="60450" name="Text Box 65">
            <a:extLst>
              <a:ext uri="{FF2B5EF4-FFF2-40B4-BE49-F238E27FC236}">
                <a16:creationId xmlns:a16="http://schemas.microsoft.com/office/drawing/2014/main" id="{E4F9F622-F263-492C-9084-02D51ACE67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1752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</a:t>
            </a:r>
          </a:p>
        </p:txBody>
      </p:sp>
      <p:sp>
        <p:nvSpPr>
          <p:cNvPr id="60451" name="Text Box 66">
            <a:extLst>
              <a:ext uri="{FF2B5EF4-FFF2-40B4-BE49-F238E27FC236}">
                <a16:creationId xmlns:a16="http://schemas.microsoft.com/office/drawing/2014/main" id="{9C86B8A7-07C0-446A-BF47-07B81E3D9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14478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goto</a:t>
            </a:r>
          </a:p>
        </p:txBody>
      </p:sp>
      <p:sp>
        <p:nvSpPr>
          <p:cNvPr id="60452" name="Text Box 67">
            <a:extLst>
              <a:ext uri="{FF2B5EF4-FFF2-40B4-BE49-F238E27FC236}">
                <a16:creationId xmlns:a16="http://schemas.microsoft.com/office/drawing/2014/main" id="{06B88874-3601-4750-B08E-1A7B032DA9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136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s5</a:t>
            </a:r>
          </a:p>
        </p:txBody>
      </p:sp>
      <p:sp>
        <p:nvSpPr>
          <p:cNvPr id="60453" name="Text Box 69">
            <a:extLst>
              <a:ext uri="{FF2B5EF4-FFF2-40B4-BE49-F238E27FC236}">
                <a16:creationId xmlns:a16="http://schemas.microsoft.com/office/drawing/2014/main" id="{1C90BB88-44D1-47DB-A3BA-91F15433D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2136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</a:p>
        </p:txBody>
      </p:sp>
      <p:sp>
        <p:nvSpPr>
          <p:cNvPr id="60454" name="Text Box 73">
            <a:extLst>
              <a:ext uri="{FF2B5EF4-FFF2-40B4-BE49-F238E27FC236}">
                <a16:creationId xmlns:a16="http://schemas.microsoft.com/office/drawing/2014/main" id="{0004FEF0-FCBD-4593-B3B5-09FF32C3EB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2133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1</a:t>
            </a:r>
          </a:p>
        </p:txBody>
      </p:sp>
      <p:sp>
        <p:nvSpPr>
          <p:cNvPr id="60455" name="Text Box 74">
            <a:extLst>
              <a:ext uri="{FF2B5EF4-FFF2-40B4-BE49-F238E27FC236}">
                <a16:creationId xmlns:a16="http://schemas.microsoft.com/office/drawing/2014/main" id="{239D316D-E5BD-4AE3-B1FF-3D931557B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275" y="2133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2</a:t>
            </a:r>
          </a:p>
        </p:txBody>
      </p:sp>
      <p:sp>
        <p:nvSpPr>
          <p:cNvPr id="60456" name="Text Box 75">
            <a:extLst>
              <a:ext uri="{FF2B5EF4-FFF2-40B4-BE49-F238E27FC236}">
                <a16:creationId xmlns:a16="http://schemas.microsoft.com/office/drawing/2014/main" id="{D618846B-1ACE-4F28-9891-EDB8FAECDD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2133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3</a:t>
            </a:r>
          </a:p>
        </p:txBody>
      </p:sp>
      <p:sp>
        <p:nvSpPr>
          <p:cNvPr id="60457" name="Text Box 77">
            <a:extLst>
              <a:ext uri="{FF2B5EF4-FFF2-40B4-BE49-F238E27FC236}">
                <a16:creationId xmlns:a16="http://schemas.microsoft.com/office/drawing/2014/main" id="{92CE3DE0-0CAC-4EE9-81E4-F34E3EECF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888" y="2517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s6</a:t>
            </a:r>
          </a:p>
        </p:txBody>
      </p:sp>
      <p:sp>
        <p:nvSpPr>
          <p:cNvPr id="60458" name="Text Box 81">
            <a:extLst>
              <a:ext uri="{FF2B5EF4-FFF2-40B4-BE49-F238E27FC236}">
                <a16:creationId xmlns:a16="http://schemas.microsoft.com/office/drawing/2014/main" id="{259E4567-12ED-4CD3-8098-BED1C53C5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25177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acc</a:t>
            </a:r>
          </a:p>
        </p:txBody>
      </p:sp>
      <p:sp>
        <p:nvSpPr>
          <p:cNvPr id="60459" name="Text Box 86">
            <a:extLst>
              <a:ext uri="{FF2B5EF4-FFF2-40B4-BE49-F238E27FC236}">
                <a16:creationId xmlns:a16="http://schemas.microsoft.com/office/drawing/2014/main" id="{AF199B00-C90D-43FA-BF21-6E9D5E09E5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888" y="2879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</a:p>
        </p:txBody>
      </p:sp>
      <p:sp>
        <p:nvSpPr>
          <p:cNvPr id="60460" name="Text Box 87">
            <a:extLst>
              <a:ext uri="{FF2B5EF4-FFF2-40B4-BE49-F238E27FC236}">
                <a16:creationId xmlns:a16="http://schemas.microsoft.com/office/drawing/2014/main" id="{3A3DE87B-871B-44AC-BF19-3DC59733A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3963" y="2879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s7</a:t>
            </a:r>
          </a:p>
        </p:txBody>
      </p:sp>
      <p:sp>
        <p:nvSpPr>
          <p:cNvPr id="60461" name="Text Box 89">
            <a:extLst>
              <a:ext uri="{FF2B5EF4-FFF2-40B4-BE49-F238E27FC236}">
                <a16:creationId xmlns:a16="http://schemas.microsoft.com/office/drawing/2014/main" id="{DC371464-1777-4A66-8D57-3150651ED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0525" y="2879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</a:p>
        </p:txBody>
      </p:sp>
      <p:sp>
        <p:nvSpPr>
          <p:cNvPr id="60462" name="Text Box 90">
            <a:extLst>
              <a:ext uri="{FF2B5EF4-FFF2-40B4-BE49-F238E27FC236}">
                <a16:creationId xmlns:a16="http://schemas.microsoft.com/office/drawing/2014/main" id="{D673DB10-DC31-4FED-BEB3-601D0579B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2879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</a:p>
        </p:txBody>
      </p:sp>
      <p:sp>
        <p:nvSpPr>
          <p:cNvPr id="60463" name="Text Box 95">
            <a:extLst>
              <a:ext uri="{FF2B5EF4-FFF2-40B4-BE49-F238E27FC236}">
                <a16:creationId xmlns:a16="http://schemas.microsoft.com/office/drawing/2014/main" id="{ECA25E0C-5AA9-4A25-98D7-B79F240DD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888" y="3260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</a:p>
        </p:txBody>
      </p:sp>
      <p:sp>
        <p:nvSpPr>
          <p:cNvPr id="60464" name="Text Box 96">
            <a:extLst>
              <a:ext uri="{FF2B5EF4-FFF2-40B4-BE49-F238E27FC236}">
                <a16:creationId xmlns:a16="http://schemas.microsoft.com/office/drawing/2014/main" id="{6BC09A55-FCE3-4CAE-929A-89BE62EB8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3963" y="3260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</a:p>
        </p:txBody>
      </p:sp>
      <p:sp>
        <p:nvSpPr>
          <p:cNvPr id="60465" name="Text Box 98">
            <a:extLst>
              <a:ext uri="{FF2B5EF4-FFF2-40B4-BE49-F238E27FC236}">
                <a16:creationId xmlns:a16="http://schemas.microsoft.com/office/drawing/2014/main" id="{38C9E913-38A2-4FD4-9464-6100C17C3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0525" y="3260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</a:p>
        </p:txBody>
      </p:sp>
      <p:sp>
        <p:nvSpPr>
          <p:cNvPr id="60466" name="Text Box 99">
            <a:extLst>
              <a:ext uri="{FF2B5EF4-FFF2-40B4-BE49-F238E27FC236}">
                <a16:creationId xmlns:a16="http://schemas.microsoft.com/office/drawing/2014/main" id="{6BE69B66-F2AA-4A88-AFCB-FBBAB4E5E3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3260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</a:p>
        </p:txBody>
      </p:sp>
      <p:sp>
        <p:nvSpPr>
          <p:cNvPr id="60467" name="Text Box 103">
            <a:extLst>
              <a:ext uri="{FF2B5EF4-FFF2-40B4-BE49-F238E27FC236}">
                <a16:creationId xmlns:a16="http://schemas.microsoft.com/office/drawing/2014/main" id="{0B431997-DF48-4980-807F-CC863DC3C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3660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s5</a:t>
            </a:r>
          </a:p>
        </p:txBody>
      </p:sp>
      <p:sp>
        <p:nvSpPr>
          <p:cNvPr id="60468" name="Text Box 106">
            <a:extLst>
              <a:ext uri="{FF2B5EF4-FFF2-40B4-BE49-F238E27FC236}">
                <a16:creationId xmlns:a16="http://schemas.microsoft.com/office/drawing/2014/main" id="{FAED5847-1FBA-439F-9136-E01E40F40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6450" y="3660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</a:p>
        </p:txBody>
      </p:sp>
      <p:sp>
        <p:nvSpPr>
          <p:cNvPr id="60469" name="Text Box 109">
            <a:extLst>
              <a:ext uri="{FF2B5EF4-FFF2-40B4-BE49-F238E27FC236}">
                <a16:creationId xmlns:a16="http://schemas.microsoft.com/office/drawing/2014/main" id="{441A0C54-036D-4AF0-98DE-D1751AD2A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3657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8</a:t>
            </a:r>
          </a:p>
        </p:txBody>
      </p:sp>
      <p:sp>
        <p:nvSpPr>
          <p:cNvPr id="60470" name="Text Box 110">
            <a:extLst>
              <a:ext uri="{FF2B5EF4-FFF2-40B4-BE49-F238E27FC236}">
                <a16:creationId xmlns:a16="http://schemas.microsoft.com/office/drawing/2014/main" id="{E74E7199-32D5-425C-A49B-84128FC4F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275" y="3657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2</a:t>
            </a:r>
          </a:p>
        </p:txBody>
      </p:sp>
      <p:sp>
        <p:nvSpPr>
          <p:cNvPr id="60471" name="Text Box 111">
            <a:extLst>
              <a:ext uri="{FF2B5EF4-FFF2-40B4-BE49-F238E27FC236}">
                <a16:creationId xmlns:a16="http://schemas.microsoft.com/office/drawing/2014/main" id="{7B96AE53-946D-40D6-9DA0-41FFDF3D5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3657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3</a:t>
            </a:r>
          </a:p>
        </p:txBody>
      </p:sp>
      <p:sp>
        <p:nvSpPr>
          <p:cNvPr id="60472" name="Text Box 113">
            <a:extLst>
              <a:ext uri="{FF2B5EF4-FFF2-40B4-BE49-F238E27FC236}">
                <a16:creationId xmlns:a16="http://schemas.microsoft.com/office/drawing/2014/main" id="{3D7EEAD7-7A77-4280-BD19-AF4BA3984A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888" y="4041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r6</a:t>
            </a:r>
          </a:p>
        </p:txBody>
      </p:sp>
      <p:sp>
        <p:nvSpPr>
          <p:cNvPr id="60473" name="Text Box 114">
            <a:extLst>
              <a:ext uri="{FF2B5EF4-FFF2-40B4-BE49-F238E27FC236}">
                <a16:creationId xmlns:a16="http://schemas.microsoft.com/office/drawing/2014/main" id="{64E7C1DB-A469-4650-8C1E-F1E5D5686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3963" y="4041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r6</a:t>
            </a:r>
          </a:p>
        </p:txBody>
      </p:sp>
      <p:sp>
        <p:nvSpPr>
          <p:cNvPr id="60474" name="Text Box 116">
            <a:extLst>
              <a:ext uri="{FF2B5EF4-FFF2-40B4-BE49-F238E27FC236}">
                <a16:creationId xmlns:a16="http://schemas.microsoft.com/office/drawing/2014/main" id="{5F5AB5C6-3DB6-4EFD-BCBA-BE4643977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0525" y="4041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r6</a:t>
            </a:r>
          </a:p>
        </p:txBody>
      </p:sp>
      <p:sp>
        <p:nvSpPr>
          <p:cNvPr id="60475" name="Text Box 117">
            <a:extLst>
              <a:ext uri="{FF2B5EF4-FFF2-40B4-BE49-F238E27FC236}">
                <a16:creationId xmlns:a16="http://schemas.microsoft.com/office/drawing/2014/main" id="{2022DC50-5E37-4E77-A5AB-F287FB037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4041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r6</a:t>
            </a:r>
          </a:p>
        </p:txBody>
      </p:sp>
      <p:sp>
        <p:nvSpPr>
          <p:cNvPr id="60476" name="Text Box 121">
            <a:extLst>
              <a:ext uri="{FF2B5EF4-FFF2-40B4-BE49-F238E27FC236}">
                <a16:creationId xmlns:a16="http://schemas.microsoft.com/office/drawing/2014/main" id="{CB34E619-89D3-4E2B-AD9B-B90671493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403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s5</a:t>
            </a:r>
          </a:p>
        </p:txBody>
      </p:sp>
      <p:sp>
        <p:nvSpPr>
          <p:cNvPr id="60477" name="Text Box 124">
            <a:extLst>
              <a:ext uri="{FF2B5EF4-FFF2-40B4-BE49-F238E27FC236}">
                <a16:creationId xmlns:a16="http://schemas.microsoft.com/office/drawing/2014/main" id="{C4D2BA5F-83D7-4A6D-B552-403654A2C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6450" y="4403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</a:p>
        </p:txBody>
      </p:sp>
      <p:sp>
        <p:nvSpPr>
          <p:cNvPr id="60478" name="Text Box 128">
            <a:extLst>
              <a:ext uri="{FF2B5EF4-FFF2-40B4-BE49-F238E27FC236}">
                <a16:creationId xmlns:a16="http://schemas.microsoft.com/office/drawing/2014/main" id="{3EF759FA-D09A-4C25-8128-70589CE88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275" y="4400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9</a:t>
            </a:r>
          </a:p>
        </p:txBody>
      </p:sp>
      <p:sp>
        <p:nvSpPr>
          <p:cNvPr id="60479" name="Text Box 129">
            <a:extLst>
              <a:ext uri="{FF2B5EF4-FFF2-40B4-BE49-F238E27FC236}">
                <a16:creationId xmlns:a16="http://schemas.microsoft.com/office/drawing/2014/main" id="{10D294BE-FFC3-416A-A58B-6CCBB8C0F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4400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3</a:t>
            </a:r>
          </a:p>
        </p:txBody>
      </p:sp>
      <p:sp>
        <p:nvSpPr>
          <p:cNvPr id="60480" name="Text Box 130">
            <a:extLst>
              <a:ext uri="{FF2B5EF4-FFF2-40B4-BE49-F238E27FC236}">
                <a16:creationId xmlns:a16="http://schemas.microsoft.com/office/drawing/2014/main" id="{39D44B0E-42E6-4DB4-9D01-EFAABB8E2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784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s5</a:t>
            </a:r>
          </a:p>
        </p:txBody>
      </p:sp>
      <p:sp>
        <p:nvSpPr>
          <p:cNvPr id="60481" name="Text Box 133">
            <a:extLst>
              <a:ext uri="{FF2B5EF4-FFF2-40B4-BE49-F238E27FC236}">
                <a16:creationId xmlns:a16="http://schemas.microsoft.com/office/drawing/2014/main" id="{1EA09434-8497-4ABE-9F05-C701D0C1E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6450" y="4784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</a:p>
        </p:txBody>
      </p:sp>
      <p:sp>
        <p:nvSpPr>
          <p:cNvPr id="60482" name="Text Box 138">
            <a:extLst>
              <a:ext uri="{FF2B5EF4-FFF2-40B4-BE49-F238E27FC236}">
                <a16:creationId xmlns:a16="http://schemas.microsoft.com/office/drawing/2014/main" id="{E1B0D052-9488-4B8C-BB63-D3EF4DACCC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4781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10</a:t>
            </a:r>
          </a:p>
        </p:txBody>
      </p:sp>
      <p:sp>
        <p:nvSpPr>
          <p:cNvPr id="60483" name="Text Box 140">
            <a:extLst>
              <a:ext uri="{FF2B5EF4-FFF2-40B4-BE49-F238E27FC236}">
                <a16:creationId xmlns:a16="http://schemas.microsoft.com/office/drawing/2014/main" id="{AE323EA5-73DA-4BE4-9708-209D9AC34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888" y="51466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s6</a:t>
            </a:r>
          </a:p>
        </p:txBody>
      </p:sp>
      <p:sp>
        <p:nvSpPr>
          <p:cNvPr id="60484" name="Text Box 143">
            <a:extLst>
              <a:ext uri="{FF2B5EF4-FFF2-40B4-BE49-F238E27FC236}">
                <a16:creationId xmlns:a16="http://schemas.microsoft.com/office/drawing/2014/main" id="{5B7EFE4E-C9FD-475B-A668-E55800ACC1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146675"/>
            <a:ext cx="593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s11</a:t>
            </a:r>
          </a:p>
        </p:txBody>
      </p:sp>
      <p:sp>
        <p:nvSpPr>
          <p:cNvPr id="60485" name="Text Box 149">
            <a:extLst>
              <a:ext uri="{FF2B5EF4-FFF2-40B4-BE49-F238E27FC236}">
                <a16:creationId xmlns:a16="http://schemas.microsoft.com/office/drawing/2014/main" id="{490A5A6E-7558-4710-A758-8C3C1E4D61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888" y="55276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r1</a:t>
            </a:r>
          </a:p>
        </p:txBody>
      </p:sp>
      <p:sp>
        <p:nvSpPr>
          <p:cNvPr id="60486" name="Text Box 150">
            <a:extLst>
              <a:ext uri="{FF2B5EF4-FFF2-40B4-BE49-F238E27FC236}">
                <a16:creationId xmlns:a16="http://schemas.microsoft.com/office/drawing/2014/main" id="{D166B0D2-36A6-4810-B373-27E534734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3963" y="55276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s7</a:t>
            </a:r>
          </a:p>
        </p:txBody>
      </p:sp>
      <p:sp>
        <p:nvSpPr>
          <p:cNvPr id="60487" name="Text Box 152">
            <a:extLst>
              <a:ext uri="{FF2B5EF4-FFF2-40B4-BE49-F238E27FC236}">
                <a16:creationId xmlns:a16="http://schemas.microsoft.com/office/drawing/2014/main" id="{655E5047-102E-4F37-B739-E5BAC5F4B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0525" y="55276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r1</a:t>
            </a:r>
          </a:p>
        </p:txBody>
      </p:sp>
      <p:sp>
        <p:nvSpPr>
          <p:cNvPr id="60488" name="Text Box 153">
            <a:extLst>
              <a:ext uri="{FF2B5EF4-FFF2-40B4-BE49-F238E27FC236}">
                <a16:creationId xmlns:a16="http://schemas.microsoft.com/office/drawing/2014/main" id="{BBCEAEEF-F6DB-41BF-9E4B-3F6D013775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55276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r1</a:t>
            </a:r>
          </a:p>
        </p:txBody>
      </p:sp>
      <p:sp>
        <p:nvSpPr>
          <p:cNvPr id="60489" name="Text Box 158">
            <a:extLst>
              <a:ext uri="{FF2B5EF4-FFF2-40B4-BE49-F238E27FC236}">
                <a16:creationId xmlns:a16="http://schemas.microsoft.com/office/drawing/2014/main" id="{9832E37A-6D36-4126-A58B-1C9C4CAAD7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888" y="5927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</a:p>
        </p:txBody>
      </p:sp>
      <p:sp>
        <p:nvSpPr>
          <p:cNvPr id="60490" name="Text Box 159">
            <a:extLst>
              <a:ext uri="{FF2B5EF4-FFF2-40B4-BE49-F238E27FC236}">
                <a16:creationId xmlns:a16="http://schemas.microsoft.com/office/drawing/2014/main" id="{407B985A-4B87-41E4-912D-EFE3B0E62D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3963" y="5927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</a:p>
        </p:txBody>
      </p:sp>
      <p:sp>
        <p:nvSpPr>
          <p:cNvPr id="60491" name="Text Box 161">
            <a:extLst>
              <a:ext uri="{FF2B5EF4-FFF2-40B4-BE49-F238E27FC236}">
                <a16:creationId xmlns:a16="http://schemas.microsoft.com/office/drawing/2014/main" id="{110FAC29-8680-4B52-991E-3F6F4215F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0525" y="5927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</a:p>
        </p:txBody>
      </p:sp>
      <p:sp>
        <p:nvSpPr>
          <p:cNvPr id="60492" name="Text Box 162">
            <a:extLst>
              <a:ext uri="{FF2B5EF4-FFF2-40B4-BE49-F238E27FC236}">
                <a16:creationId xmlns:a16="http://schemas.microsoft.com/office/drawing/2014/main" id="{799866EC-0578-4F55-B9E3-437D7B543B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5927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</a:p>
        </p:txBody>
      </p:sp>
      <p:sp>
        <p:nvSpPr>
          <p:cNvPr id="60493" name="Text Box 167">
            <a:extLst>
              <a:ext uri="{FF2B5EF4-FFF2-40B4-BE49-F238E27FC236}">
                <a16:creationId xmlns:a16="http://schemas.microsoft.com/office/drawing/2014/main" id="{5E81D00E-9BB2-4AEE-B345-9D3EB05C54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888" y="6308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r5</a:t>
            </a:r>
          </a:p>
        </p:txBody>
      </p:sp>
      <p:sp>
        <p:nvSpPr>
          <p:cNvPr id="60494" name="Text Box 168">
            <a:extLst>
              <a:ext uri="{FF2B5EF4-FFF2-40B4-BE49-F238E27FC236}">
                <a16:creationId xmlns:a16="http://schemas.microsoft.com/office/drawing/2014/main" id="{D39F1FE2-12FC-4C80-83B6-95EC4A111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3963" y="6308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r5</a:t>
            </a:r>
          </a:p>
        </p:txBody>
      </p:sp>
      <p:sp>
        <p:nvSpPr>
          <p:cNvPr id="60495" name="Text Box 170">
            <a:extLst>
              <a:ext uri="{FF2B5EF4-FFF2-40B4-BE49-F238E27FC236}">
                <a16:creationId xmlns:a16="http://schemas.microsoft.com/office/drawing/2014/main" id="{63CBA171-23B5-4EEA-940A-25C10AC9E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0525" y="6308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r5</a:t>
            </a:r>
          </a:p>
        </p:txBody>
      </p:sp>
      <p:sp>
        <p:nvSpPr>
          <p:cNvPr id="60496" name="Text Box 171">
            <a:extLst>
              <a:ext uri="{FF2B5EF4-FFF2-40B4-BE49-F238E27FC236}">
                <a16:creationId xmlns:a16="http://schemas.microsoft.com/office/drawing/2014/main" id="{322A0CB9-E24C-4EFD-B4E4-7C85B6AD9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6308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05F6F400-46C0-4878-B025-9405C9C304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4.33  </a:t>
            </a:r>
            <a:r>
              <a:rPr lang="zh-CN" altLang="en-US"/>
              <a:t>分析实例</a:t>
            </a:r>
          </a:p>
        </p:txBody>
      </p:sp>
      <p:sp>
        <p:nvSpPr>
          <p:cNvPr id="61443" name="Line 5">
            <a:extLst>
              <a:ext uri="{FF2B5EF4-FFF2-40B4-BE49-F238E27FC236}">
                <a16:creationId xmlns:a16="http://schemas.microsoft.com/office/drawing/2014/main" id="{D80A74CD-95B7-4EAE-9E9D-D537F1C29BB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295400"/>
            <a:ext cx="739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4" name="Line 6">
            <a:extLst>
              <a:ext uri="{FF2B5EF4-FFF2-40B4-BE49-F238E27FC236}">
                <a16:creationId xmlns:a16="http://schemas.microsoft.com/office/drawing/2014/main" id="{090759A4-7A1F-41E9-AC7D-3D695EFBB2D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371600"/>
            <a:ext cx="739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5" name="Line 7">
            <a:extLst>
              <a:ext uri="{FF2B5EF4-FFF2-40B4-BE49-F238E27FC236}">
                <a16:creationId xmlns:a16="http://schemas.microsoft.com/office/drawing/2014/main" id="{F7B296C6-6E3D-4A38-891B-E9738816582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1676400"/>
            <a:ext cx="739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6" name="Line 8">
            <a:extLst>
              <a:ext uri="{FF2B5EF4-FFF2-40B4-BE49-F238E27FC236}">
                <a16:creationId xmlns:a16="http://schemas.microsoft.com/office/drawing/2014/main" id="{BBF7597A-9A18-45E8-A896-A6F282D906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6019800"/>
            <a:ext cx="739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7" name="Line 9">
            <a:extLst>
              <a:ext uri="{FF2B5EF4-FFF2-40B4-BE49-F238E27FC236}">
                <a16:creationId xmlns:a16="http://schemas.microsoft.com/office/drawing/2014/main" id="{D2B9E796-448F-42CD-A29D-2AB45C0AE3D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1371600"/>
            <a:ext cx="0" cy="4648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8" name="Line 10">
            <a:extLst>
              <a:ext uri="{FF2B5EF4-FFF2-40B4-BE49-F238E27FC236}">
                <a16:creationId xmlns:a16="http://schemas.microsoft.com/office/drawing/2014/main" id="{C709B597-02A9-4686-B974-F4125D6B509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1371600"/>
            <a:ext cx="0" cy="4648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9" name="Text Box 11">
            <a:extLst>
              <a:ext uri="{FF2B5EF4-FFF2-40B4-BE49-F238E27FC236}">
                <a16:creationId xmlns:a16="http://schemas.microsoft.com/office/drawing/2014/main" id="{99BCB874-2B70-45BA-9BB0-10AD6FCF2E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1601788"/>
            <a:ext cx="18288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id * id + id$ </a:t>
            </a:r>
          </a:p>
          <a:p>
            <a:pPr algn="r"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  * id + id$ </a:t>
            </a: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* id + id$ </a:t>
            </a: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* id + id$</a:t>
            </a: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id + id$</a:t>
            </a: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+ id$</a:t>
            </a: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+ id$</a:t>
            </a: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+ id$</a:t>
            </a: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+ id$</a:t>
            </a: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id$</a:t>
            </a: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$</a:t>
            </a: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$</a:t>
            </a: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$</a:t>
            </a:r>
          </a:p>
          <a:p>
            <a:pPr algn="r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accent2"/>
                </a:solidFill>
              </a:rPr>
              <a:t>$</a:t>
            </a:r>
          </a:p>
        </p:txBody>
      </p:sp>
      <p:sp>
        <p:nvSpPr>
          <p:cNvPr id="61450" name="Text Box 12">
            <a:extLst>
              <a:ext uri="{FF2B5EF4-FFF2-40B4-BE49-F238E27FC236}">
                <a16:creationId xmlns:a16="http://schemas.microsoft.com/office/drawing/2014/main" id="{CE446408-D985-4CD7-B788-E8AFA85787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1752600"/>
            <a:ext cx="152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000" b="1"/>
          </a:p>
        </p:txBody>
      </p:sp>
      <p:sp>
        <p:nvSpPr>
          <p:cNvPr id="61451" name="Text Box 13">
            <a:extLst>
              <a:ext uri="{FF2B5EF4-FFF2-40B4-BE49-F238E27FC236}">
                <a16:creationId xmlns:a16="http://schemas.microsoft.com/office/drawing/2014/main" id="{3F62FC99-EBEB-4188-83BA-2C174E39E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295400"/>
            <a:ext cx="1371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STACK</a:t>
            </a:r>
          </a:p>
        </p:txBody>
      </p:sp>
      <p:sp>
        <p:nvSpPr>
          <p:cNvPr id="61452" name="Text Box 14">
            <a:extLst>
              <a:ext uri="{FF2B5EF4-FFF2-40B4-BE49-F238E27FC236}">
                <a16:creationId xmlns:a16="http://schemas.microsoft.com/office/drawing/2014/main" id="{D5C47163-8C0E-4E5A-877C-08C4474078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1295400"/>
            <a:ext cx="1219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INPUT</a:t>
            </a:r>
          </a:p>
        </p:txBody>
      </p:sp>
      <p:sp>
        <p:nvSpPr>
          <p:cNvPr id="61453" name="Text Box 15">
            <a:extLst>
              <a:ext uri="{FF2B5EF4-FFF2-40B4-BE49-F238E27FC236}">
                <a16:creationId xmlns:a16="http://schemas.microsoft.com/office/drawing/2014/main" id="{7BF7DB93-B407-47F1-86EA-4FE3A9918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1295400"/>
            <a:ext cx="1371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Remark</a:t>
            </a:r>
          </a:p>
        </p:txBody>
      </p:sp>
      <p:sp>
        <p:nvSpPr>
          <p:cNvPr id="61454" name="Text Box 16">
            <a:extLst>
              <a:ext uri="{FF2B5EF4-FFF2-40B4-BE49-F238E27FC236}">
                <a16:creationId xmlns:a16="http://schemas.microsoft.com/office/drawing/2014/main" id="{4E4A2804-A351-43C6-92A3-99F0339F7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1601788"/>
            <a:ext cx="22098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/>
              <a:t>移进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/>
              <a:t>归约</a:t>
            </a:r>
            <a:r>
              <a:rPr kumimoji="0" lang="en-US" altLang="zh-CN" sz="2000">
                <a:sym typeface="Symbol" panose="05050102010706020507" pitchFamily="18" charset="2"/>
              </a:rPr>
              <a:t>F  </a:t>
            </a:r>
            <a:r>
              <a:rPr kumimoji="0" lang="en-US" altLang="zh-CN" sz="2000" b="1">
                <a:sym typeface="Symbol" panose="05050102010706020507" pitchFamily="18" charset="2"/>
              </a:rPr>
              <a:t>id</a:t>
            </a:r>
            <a:endParaRPr kumimoji="0" lang="en-US" altLang="zh-CN" sz="2000" b="1"/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/>
              <a:t>归约</a:t>
            </a:r>
            <a:r>
              <a:rPr kumimoji="0" lang="en-US" altLang="zh-CN" sz="2000">
                <a:sym typeface="Symbol" panose="05050102010706020507" pitchFamily="18" charset="2"/>
              </a:rPr>
              <a:t>T  F</a:t>
            </a:r>
            <a:endParaRPr kumimoji="0" lang="en-US" altLang="zh-CN" sz="2000"/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/>
              <a:t>移进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/>
              <a:t>移进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/>
              <a:t>归约</a:t>
            </a:r>
            <a:r>
              <a:rPr kumimoji="0" lang="en-US" altLang="zh-CN" sz="2000">
                <a:sym typeface="Symbol" panose="05050102010706020507" pitchFamily="18" charset="2"/>
              </a:rPr>
              <a:t>F  </a:t>
            </a:r>
            <a:r>
              <a:rPr kumimoji="0" lang="en-US" altLang="zh-CN" sz="2000" b="1">
                <a:sym typeface="Symbol" panose="05050102010706020507" pitchFamily="18" charset="2"/>
              </a:rPr>
              <a:t>id</a:t>
            </a:r>
            <a:endParaRPr kumimoji="0" lang="en-US" altLang="zh-CN" sz="2000" b="1"/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/>
              <a:t>归约</a:t>
            </a:r>
            <a:r>
              <a:rPr kumimoji="0" lang="en-US" altLang="zh-CN" sz="2000">
                <a:sym typeface="Symbol" panose="05050102010706020507" pitchFamily="18" charset="2"/>
              </a:rPr>
              <a:t>T  T * F</a:t>
            </a:r>
            <a:endParaRPr kumimoji="0" lang="en-US" altLang="zh-CN" sz="2000"/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/>
              <a:t>归约</a:t>
            </a:r>
            <a:r>
              <a:rPr kumimoji="0" lang="en-US" altLang="zh-CN" sz="2000"/>
              <a:t>E </a:t>
            </a:r>
            <a:r>
              <a:rPr kumimoji="0" lang="en-US" altLang="zh-CN" sz="2000">
                <a:sym typeface="Symbol" panose="05050102010706020507" pitchFamily="18" charset="2"/>
              </a:rPr>
              <a:t> T</a:t>
            </a:r>
            <a:endParaRPr kumimoji="0" lang="en-US" altLang="zh-CN" sz="2000"/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/>
              <a:t>移进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/>
              <a:t>移进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/>
              <a:t>归约</a:t>
            </a:r>
            <a:r>
              <a:rPr kumimoji="0" lang="en-US" altLang="zh-CN" sz="2000">
                <a:sym typeface="Symbol" panose="05050102010706020507" pitchFamily="18" charset="2"/>
              </a:rPr>
              <a:t>F  </a:t>
            </a:r>
            <a:r>
              <a:rPr kumimoji="0" lang="en-US" altLang="zh-CN" sz="2000" b="1">
                <a:sym typeface="Symbol" panose="05050102010706020507" pitchFamily="18" charset="2"/>
              </a:rPr>
              <a:t>id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/>
              <a:t>归约</a:t>
            </a:r>
            <a:r>
              <a:rPr kumimoji="0" lang="en-US" altLang="zh-CN" sz="2000">
                <a:sym typeface="Symbol" panose="05050102010706020507" pitchFamily="18" charset="2"/>
              </a:rPr>
              <a:t>T  F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/>
              <a:t>归约</a:t>
            </a:r>
            <a:r>
              <a:rPr kumimoji="0" lang="en-US" altLang="zh-CN" sz="2000"/>
              <a:t>E </a:t>
            </a:r>
            <a:r>
              <a:rPr kumimoji="0" lang="en-US" altLang="zh-CN" sz="2000">
                <a:sym typeface="Symbol" panose="05050102010706020507" pitchFamily="18" charset="2"/>
              </a:rPr>
              <a:t> E + 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>
                <a:sym typeface="Symbol" panose="05050102010706020507" pitchFamily="18" charset="2"/>
              </a:rPr>
              <a:t>接受</a:t>
            </a:r>
          </a:p>
        </p:txBody>
      </p:sp>
      <p:sp>
        <p:nvSpPr>
          <p:cNvPr id="61455" name="Text Box 17">
            <a:extLst>
              <a:ext uri="{FF2B5EF4-FFF2-40B4-BE49-F238E27FC236}">
                <a16:creationId xmlns:a16="http://schemas.microsoft.com/office/drawing/2014/main" id="{ACC2E559-26AF-4784-B7AA-04DDE013F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601788"/>
            <a:ext cx="28194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(1) 0</a:t>
            </a:r>
            <a:endParaRPr kumimoji="0" lang="en-US" altLang="zh-CN" sz="2000">
              <a:solidFill>
                <a:schemeClr val="accent2"/>
              </a:solidFill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(2) 0 </a:t>
            </a:r>
            <a:r>
              <a:rPr kumimoji="0" lang="en-US" altLang="zh-CN" sz="2000" b="1"/>
              <a:t>id</a:t>
            </a:r>
            <a:r>
              <a:rPr kumimoji="0" lang="en-US" altLang="zh-CN" sz="2000"/>
              <a:t> 5</a:t>
            </a:r>
            <a:endParaRPr kumimoji="0" lang="en-US" altLang="zh-CN" sz="2000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(3) 0 F 3</a:t>
            </a:r>
            <a:endParaRPr kumimoji="0" lang="en-US" altLang="zh-CN" sz="2000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(4) 0 T 2</a:t>
            </a:r>
            <a:endParaRPr kumimoji="0" lang="en-US" altLang="zh-CN" sz="2000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(5) 0 T 2 * 7</a:t>
            </a:r>
            <a:endParaRPr kumimoji="0" lang="en-US" altLang="zh-CN" sz="2000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(6) 0 T 2 * 7 </a:t>
            </a:r>
            <a:r>
              <a:rPr kumimoji="0" lang="en-US" altLang="zh-CN" sz="2000" b="1"/>
              <a:t>id </a:t>
            </a:r>
            <a:r>
              <a:rPr kumimoji="0" lang="en-US" altLang="zh-CN" sz="2000"/>
              <a:t>5</a:t>
            </a:r>
            <a:endParaRPr kumimoji="0" lang="en-US" altLang="zh-CN" sz="2000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(7) 0 T 2 * 7 F 10</a:t>
            </a:r>
            <a:endParaRPr kumimoji="0" lang="en-US" altLang="zh-CN" sz="2000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(8) 0 T 2</a:t>
            </a:r>
            <a:endParaRPr kumimoji="0" lang="en-US" altLang="zh-CN" sz="2000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(9) 0 E 1</a:t>
            </a:r>
            <a:endParaRPr kumimoji="0" lang="en-US" altLang="zh-CN" sz="2000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(10) 0 E 1 + 6</a:t>
            </a:r>
            <a:endParaRPr kumimoji="0" lang="en-US" altLang="zh-CN" sz="2000">
              <a:solidFill>
                <a:schemeClr val="accent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(11) 0 E 1 + 6 </a:t>
            </a:r>
            <a:r>
              <a:rPr kumimoji="0" lang="en-US" altLang="zh-CN" sz="2000" b="1"/>
              <a:t>id</a:t>
            </a:r>
            <a:r>
              <a:rPr kumimoji="0" lang="en-US" altLang="zh-CN" sz="2000"/>
              <a:t> 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(12) 0 E 1 + 6 F 3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(13) 0 E 1 + 6 T 9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(14) 0 E 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1C87E2A2-E832-4A9D-ACF6-BA6E156112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4.7.2  LR</a:t>
            </a:r>
            <a:r>
              <a:rPr lang="zh-CN" altLang="en-US"/>
              <a:t>文法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5D61BDCB-03BD-4150-8A98-3A56438971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可创建</a:t>
            </a:r>
            <a:r>
              <a:rPr lang="en-US" altLang="zh-CN" sz="2800" dirty="0"/>
              <a:t>LR</a:t>
            </a:r>
            <a:r>
              <a:rPr lang="zh-CN" altLang="en-US" sz="2800" dirty="0"/>
              <a:t>分析表的文法</a:t>
            </a:r>
          </a:p>
          <a:p>
            <a:pPr eaLnBrk="1" hangingPunct="1"/>
            <a:r>
              <a:rPr lang="zh-CN" altLang="en-US" sz="2800" dirty="0"/>
              <a:t>如何分析</a:t>
            </a:r>
            <a:r>
              <a:rPr lang="en-US" altLang="zh-CN" sz="2800" dirty="0"/>
              <a:t>LR</a:t>
            </a:r>
            <a:r>
              <a:rPr lang="zh-CN" altLang="en-US" sz="2800" dirty="0"/>
              <a:t>文法</a:t>
            </a:r>
          </a:p>
          <a:p>
            <a:pPr lvl="1" eaLnBrk="1" hangingPunct="1"/>
            <a:r>
              <a:rPr lang="zh-CN" altLang="en-US" sz="2400" dirty="0"/>
              <a:t>所有活前缀的集合是正规的</a:t>
            </a:r>
          </a:p>
          <a:p>
            <a:pPr lvl="1" eaLnBrk="1" hangingPunct="1"/>
            <a:r>
              <a:rPr lang="zh-CN" altLang="en-US" sz="2400" dirty="0"/>
              <a:t>构造</a:t>
            </a:r>
            <a:r>
              <a:rPr lang="en-US" altLang="zh-CN" sz="2400" dirty="0"/>
              <a:t>DFA</a:t>
            </a:r>
            <a:r>
              <a:rPr lang="zh-CN" altLang="en-US" sz="2400" dirty="0"/>
              <a:t>识别它</a:t>
            </a:r>
          </a:p>
          <a:p>
            <a:pPr lvl="1" eaLnBrk="1" hangingPunct="1"/>
            <a:r>
              <a:rPr lang="zh-CN" altLang="en-US" sz="2400" dirty="0"/>
              <a:t>利用</a:t>
            </a:r>
            <a:r>
              <a:rPr lang="en-US" altLang="zh-CN" sz="2400" dirty="0"/>
              <a:t>DFA</a:t>
            </a:r>
            <a:r>
              <a:rPr lang="zh-CN" altLang="en-US" sz="2400" dirty="0"/>
              <a:t>辅助分析表的构造</a:t>
            </a:r>
          </a:p>
          <a:p>
            <a:pPr eaLnBrk="1" hangingPunct="1"/>
            <a:r>
              <a:rPr lang="en-US" altLang="zh-CN" sz="2800" dirty="0"/>
              <a:t>LR(k)——</a:t>
            </a:r>
            <a:r>
              <a:rPr lang="zh-CN" altLang="en-US" sz="2800" dirty="0"/>
              <a:t>展望</a:t>
            </a:r>
            <a:r>
              <a:rPr lang="en-US" altLang="zh-CN" sz="2800" dirty="0"/>
              <a:t>k</a:t>
            </a:r>
            <a:r>
              <a:rPr lang="zh-CN" altLang="en-US" sz="2800" dirty="0"/>
              <a:t>个符号</a:t>
            </a:r>
            <a:br>
              <a:rPr lang="zh-CN" altLang="en-US" sz="2800" dirty="0"/>
            </a:br>
            <a:r>
              <a:rPr lang="en-US" altLang="zh-CN" sz="2800" dirty="0"/>
              <a:t>LL(k)——</a:t>
            </a:r>
            <a:r>
              <a:rPr lang="zh-CN" altLang="en-US" sz="2800" dirty="0"/>
              <a:t>区分右部推导的前</a:t>
            </a:r>
            <a:r>
              <a:rPr lang="en-US" altLang="zh-CN" sz="2800" dirty="0"/>
              <a:t>k</a:t>
            </a:r>
            <a:r>
              <a:rPr lang="zh-CN" altLang="en-US" sz="2800" dirty="0"/>
              <a:t>个符号</a:t>
            </a:r>
            <a:br>
              <a:rPr lang="zh-CN" altLang="en-US" sz="2800" dirty="0"/>
            </a:br>
            <a:r>
              <a:rPr lang="en-US" altLang="zh-CN" sz="2800" dirty="0"/>
              <a:t>LR</a:t>
            </a:r>
            <a:r>
              <a:rPr lang="zh-CN" altLang="en-US" sz="2800" dirty="0"/>
              <a:t>描述能力更强</a:t>
            </a:r>
          </a:p>
        </p:txBody>
      </p:sp>
      <p:sp>
        <p:nvSpPr>
          <p:cNvPr id="62468" name="Text Box 4">
            <a:extLst>
              <a:ext uri="{FF2B5EF4-FFF2-40B4-BE49-F238E27FC236}">
                <a16:creationId xmlns:a16="http://schemas.microsoft.com/office/drawing/2014/main" id="{36252280-F09B-49BA-B4A5-55C5E14A5176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228600" y="4876800"/>
            <a:ext cx="362332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folHlink"/>
                </a:solidFill>
              </a:rPr>
              <a:t>$…A	x…$</a:t>
            </a:r>
            <a:br>
              <a:rPr lang="en-US" altLang="zh-CN" sz="2400" dirty="0">
                <a:solidFill>
                  <a:schemeClr val="folHlink"/>
                </a:solidFill>
              </a:rPr>
            </a:br>
            <a:r>
              <a:rPr lang="en-US" altLang="zh-CN" sz="2400" dirty="0">
                <a:solidFill>
                  <a:srgbClr val="FF3300"/>
                </a:solidFill>
              </a:rPr>
              <a:t>A…</a:t>
            </a:r>
            <a:r>
              <a:rPr lang="zh-CN" altLang="en-US" sz="2400" dirty="0">
                <a:solidFill>
                  <a:srgbClr val="FF3300"/>
                </a:solidFill>
              </a:rPr>
              <a:t>和</a:t>
            </a:r>
            <a:r>
              <a:rPr lang="en-US" altLang="zh-CN" sz="2400" dirty="0">
                <a:solidFill>
                  <a:srgbClr val="FF3300"/>
                </a:solidFill>
              </a:rPr>
              <a:t>x…</a:t>
            </a:r>
            <a:r>
              <a:rPr lang="zh-CN" altLang="en-US" sz="2400" dirty="0">
                <a:solidFill>
                  <a:srgbClr val="FF3300"/>
                </a:solidFill>
              </a:rPr>
              <a:t>是语法等价关系试图寻找</a:t>
            </a:r>
            <a:r>
              <a:rPr lang="en-US" altLang="zh-CN" sz="2400" dirty="0">
                <a:solidFill>
                  <a:srgbClr val="FF3300"/>
                </a:solidFill>
              </a:rPr>
              <a:t>A…</a:t>
            </a:r>
            <a:r>
              <a:rPr kumimoji="0" lang="en-US" altLang="zh-CN" sz="2400" dirty="0">
                <a:solidFill>
                  <a:srgbClr val="FF3300"/>
                </a:solidFill>
                <a:sym typeface="Symbol" panose="05050102010706020507" pitchFamily="18" charset="2"/>
              </a:rPr>
              <a:t>x…</a:t>
            </a:r>
            <a:br>
              <a:rPr kumimoji="0" lang="en-US" altLang="zh-CN" sz="2400" dirty="0">
                <a:solidFill>
                  <a:srgbClr val="FF3300"/>
                </a:solidFill>
                <a:sym typeface="Symbol" panose="05050102010706020507" pitchFamily="18" charset="2"/>
              </a:rPr>
            </a:br>
            <a:r>
              <a:rPr kumimoji="0" lang="zh-CN" altLang="en-US" sz="2400" dirty="0">
                <a:solidFill>
                  <a:srgbClr val="FF3300"/>
                </a:solidFill>
                <a:sym typeface="Symbol" panose="05050102010706020507" pitchFamily="18" charset="2"/>
              </a:rPr>
              <a:t>把</a:t>
            </a:r>
            <a:r>
              <a:rPr kumimoji="0" lang="en-US" altLang="zh-CN" sz="2400" dirty="0">
                <a:solidFill>
                  <a:srgbClr val="FF3300"/>
                </a:solidFill>
                <a:sym typeface="Symbol" panose="05050102010706020507" pitchFamily="18" charset="2"/>
              </a:rPr>
              <a:t>A…</a:t>
            </a:r>
            <a:r>
              <a:rPr lang="zh-CN" altLang="en-US" sz="2400" dirty="0">
                <a:solidFill>
                  <a:srgbClr val="FF3300"/>
                </a:solidFill>
              </a:rPr>
              <a:t>“变换</a:t>
            </a:r>
            <a:r>
              <a:rPr kumimoji="0" lang="zh-CN" altLang="en-US" sz="2400" dirty="0">
                <a:solidFill>
                  <a:srgbClr val="FF3300"/>
                </a:solidFill>
                <a:sym typeface="Symbol" panose="05050102010706020507" pitchFamily="18" charset="2"/>
              </a:rPr>
              <a:t>成”</a:t>
            </a:r>
            <a:r>
              <a:rPr kumimoji="0" lang="en-US" altLang="zh-CN" sz="2400" dirty="0">
                <a:solidFill>
                  <a:srgbClr val="FF3300"/>
                </a:solidFill>
                <a:sym typeface="Symbol" panose="05050102010706020507" pitchFamily="18" charset="2"/>
              </a:rPr>
              <a:t>x…</a:t>
            </a:r>
          </a:p>
        </p:txBody>
      </p:sp>
      <p:sp>
        <p:nvSpPr>
          <p:cNvPr id="62469" name="Text Box 5">
            <a:extLst>
              <a:ext uri="{FF2B5EF4-FFF2-40B4-BE49-F238E27FC236}">
                <a16:creationId xmlns:a16="http://schemas.microsoft.com/office/drawing/2014/main" id="{2E693B15-26EC-48EB-92EC-F14FBF9580C1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2534816" y="5577479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</a:rPr>
              <a:t>*</a:t>
            </a:r>
          </a:p>
        </p:txBody>
      </p:sp>
      <p:sp>
        <p:nvSpPr>
          <p:cNvPr id="62470" name="Text Box 6">
            <a:extLst>
              <a:ext uri="{FF2B5EF4-FFF2-40B4-BE49-F238E27FC236}">
                <a16:creationId xmlns:a16="http://schemas.microsoft.com/office/drawing/2014/main" id="{32F9C26E-1CC1-4919-B896-4CF6AC98CD9D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6465192" y="2362200"/>
            <a:ext cx="2427288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folHlink"/>
                </a:solidFill>
              </a:rPr>
              <a:t>$…</a:t>
            </a:r>
            <a:r>
              <a:rPr lang="en-US" altLang="zh-CN" sz="2400" dirty="0">
                <a:solidFill>
                  <a:schemeClr val="folHlink"/>
                </a:solidFill>
                <a:latin typeface="Symbol" panose="05050102010706020507" pitchFamily="18" charset="2"/>
              </a:rPr>
              <a:t>a</a:t>
            </a:r>
            <a:r>
              <a:rPr lang="en-US" altLang="zh-CN" sz="2400" dirty="0">
                <a:solidFill>
                  <a:schemeClr val="folHlink"/>
                </a:solidFill>
              </a:rPr>
              <a:t>	x…$</a:t>
            </a:r>
            <a:br>
              <a:rPr lang="en-US" altLang="zh-CN" sz="2400" dirty="0">
                <a:solidFill>
                  <a:schemeClr val="folHlink"/>
                </a:solidFill>
              </a:rPr>
            </a:br>
            <a:r>
              <a:rPr lang="en-US" altLang="zh-CN" sz="2400" dirty="0">
                <a:solidFill>
                  <a:srgbClr val="FF3300"/>
                </a:solidFill>
                <a:latin typeface="Symbol" panose="05050102010706020507" pitchFamily="18" charset="2"/>
              </a:rPr>
              <a:t>a</a:t>
            </a:r>
            <a:r>
              <a:rPr lang="zh-CN" altLang="en-US" sz="2400" dirty="0">
                <a:solidFill>
                  <a:srgbClr val="FF3300"/>
                </a:solidFill>
                <a:latin typeface="Symbol" panose="05050102010706020507" pitchFamily="18" charset="2"/>
              </a:rPr>
              <a:t>和</a:t>
            </a:r>
            <a:r>
              <a:rPr lang="en-US" altLang="zh-CN" sz="2400" dirty="0">
                <a:solidFill>
                  <a:srgbClr val="FF3300"/>
                </a:solidFill>
              </a:rPr>
              <a:t>x</a:t>
            </a:r>
            <a:r>
              <a:rPr lang="zh-CN" altLang="en-US" sz="2400" dirty="0">
                <a:solidFill>
                  <a:srgbClr val="FF3300"/>
                </a:solidFill>
              </a:rPr>
              <a:t>是协同关系，一起 “拼接成”</a:t>
            </a:r>
            <a:br>
              <a:rPr lang="en-US" altLang="zh-CN" sz="2400" dirty="0">
                <a:solidFill>
                  <a:srgbClr val="FF3300"/>
                </a:solidFill>
              </a:rPr>
            </a:br>
            <a:r>
              <a:rPr lang="zh-CN" altLang="en-US" sz="2400" dirty="0">
                <a:solidFill>
                  <a:srgbClr val="FF3300"/>
                </a:solidFill>
              </a:rPr>
              <a:t>最右句型</a:t>
            </a:r>
            <a:endParaRPr kumimoji="0" lang="zh-CN" altLang="en-US" sz="2400" dirty="0">
              <a:solidFill>
                <a:srgbClr val="FF3300"/>
              </a:solidFill>
              <a:sym typeface="Symbol" panose="05050102010706020507" pitchFamily="18" charset="2"/>
            </a:endParaRPr>
          </a:p>
        </p:txBody>
      </p:sp>
      <p:sp>
        <p:nvSpPr>
          <p:cNvPr id="62471" name="Line 8">
            <a:extLst>
              <a:ext uri="{FF2B5EF4-FFF2-40B4-BE49-F238E27FC236}">
                <a16:creationId xmlns:a16="http://schemas.microsoft.com/office/drawing/2014/main" id="{C6389227-3406-43C4-A166-90D71486420E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5181600" y="3276600"/>
            <a:ext cx="1219200" cy="6096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72" name="Line 9">
            <a:extLst>
              <a:ext uri="{FF2B5EF4-FFF2-40B4-BE49-F238E27FC236}">
                <a16:creationId xmlns:a16="http://schemas.microsoft.com/office/drawing/2014/main" id="{7B415E82-75E0-4307-A174-DFC515846F7B}"/>
              </a:ext>
            </a:extLst>
          </p:cNvPr>
          <p:cNvSpPr>
            <a:spLocks noChangeShapeType="1"/>
          </p:cNvSpPr>
          <p:nvPr/>
        </p:nvSpPr>
        <p:spPr bwMode="ltGray">
          <a:xfrm flipV="1">
            <a:off x="990600" y="4419600"/>
            <a:ext cx="609600" cy="4572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CB8F626D-9089-403F-9352-0EF0221946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4.7.3  SLR</a:t>
            </a:r>
            <a:r>
              <a:rPr lang="zh-CN" altLang="en-US"/>
              <a:t>分析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8C8F59C4-B91A-45A7-BB78-619355A342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600" y="1371600"/>
            <a:ext cx="7964488" cy="5369768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FF3300"/>
                </a:solidFill>
              </a:rPr>
              <a:t>Simple LR parsing</a:t>
            </a:r>
          </a:p>
          <a:p>
            <a:pPr eaLnBrk="1" hangingPunct="1"/>
            <a:r>
              <a:rPr lang="zh-CN" altLang="en-US" dirty="0"/>
              <a:t>保证语法栈中始终是活前缀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需能识别所有活前缀</a:t>
            </a:r>
            <a:r>
              <a:rPr lang="en-US" altLang="zh-CN" dirty="0"/>
              <a:t>——</a:t>
            </a:r>
            <a:r>
              <a:rPr lang="zh-CN" altLang="en-US" dirty="0"/>
              <a:t>构造</a:t>
            </a:r>
            <a:r>
              <a:rPr lang="en-US" altLang="zh-CN" dirty="0"/>
              <a:t>DFA</a:t>
            </a:r>
          </a:p>
          <a:p>
            <a:pPr lvl="1" eaLnBrk="1" hangingPunct="1"/>
            <a:r>
              <a:rPr lang="zh-CN" altLang="en-US" dirty="0"/>
              <a:t>活前缀无穷多个</a:t>
            </a:r>
            <a:r>
              <a:rPr lang="en-US" altLang="zh-CN" dirty="0"/>
              <a:t>——</a:t>
            </a:r>
            <a:r>
              <a:rPr lang="zh-CN" altLang="en-US" dirty="0"/>
              <a:t>寻找替代物</a:t>
            </a:r>
            <a:endParaRPr lang="en-US" altLang="zh-CN" dirty="0"/>
          </a:p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文法</a:t>
            </a:r>
            <a:r>
              <a:rPr lang="en-US" altLang="zh-CN" dirty="0"/>
              <a:t>G</a:t>
            </a:r>
            <a:r>
              <a:rPr lang="zh-CN" altLang="en-US" dirty="0">
                <a:latin typeface="宋体" panose="02010600030101010101" pitchFamily="2" charset="-122"/>
              </a:rPr>
              <a:t>的</a:t>
            </a:r>
            <a:r>
              <a:rPr lang="en-US" altLang="zh-CN" b="1" dirty="0">
                <a:ea typeface="黑体" panose="02010609060101010101" pitchFamily="49" charset="-122"/>
              </a:rPr>
              <a:t>LR(0)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项目</a:t>
            </a:r>
            <a:r>
              <a:rPr lang="zh-CN" altLang="en-US" dirty="0"/>
              <a:t>（简称</a:t>
            </a:r>
            <a:r>
              <a:rPr lang="zh-CN" altLang="en-US" b="1" dirty="0">
                <a:ea typeface="黑体" panose="02010609060101010101" pitchFamily="49" charset="-122"/>
              </a:rPr>
              <a:t>项目</a:t>
            </a:r>
            <a:r>
              <a:rPr lang="zh-CN" altLang="en-US" dirty="0"/>
              <a:t>，</a:t>
            </a:r>
            <a:r>
              <a:rPr lang="en-US" altLang="zh-CN" b="1" dirty="0">
                <a:solidFill>
                  <a:srgbClr val="FF3300"/>
                </a:solidFill>
              </a:rPr>
              <a:t>item</a:t>
            </a:r>
            <a:r>
              <a:rPr lang="zh-CN" altLang="en-US" dirty="0"/>
              <a:t>）</a:t>
            </a:r>
            <a:br>
              <a:rPr lang="zh-CN" altLang="en-US" dirty="0"/>
            </a:br>
            <a:r>
              <a:rPr lang="en-US" altLang="zh-CN" dirty="0"/>
              <a:t>——</a:t>
            </a:r>
            <a:r>
              <a:rPr lang="zh-CN" altLang="en-US" dirty="0"/>
              <a:t>产生式，右部某个位置加标记‘</a:t>
            </a:r>
            <a:r>
              <a:rPr lang="en-US" altLang="zh-CN" dirty="0"/>
              <a:t>.</a:t>
            </a:r>
            <a:r>
              <a:rPr lang="zh-CN" altLang="en-US" dirty="0"/>
              <a:t>’</a:t>
            </a:r>
            <a:endParaRPr lang="en-US" altLang="zh-CN" dirty="0"/>
          </a:p>
          <a:p>
            <a:pPr eaLnBrk="1" hangingPunct="1"/>
            <a:r>
              <a:rPr kumimoji="0" lang="en-US" altLang="zh-CN" dirty="0"/>
              <a:t>A</a:t>
            </a:r>
            <a:r>
              <a:rPr kumimoji="0" lang="en-US" altLang="zh-CN" dirty="0">
                <a:sym typeface="Symbol" panose="05050102010706020507" pitchFamily="18" charset="2"/>
              </a:rPr>
              <a:t>XYZ</a:t>
            </a:r>
            <a:r>
              <a:rPr kumimoji="0" lang="zh-CN" altLang="en-US" dirty="0">
                <a:sym typeface="Symbol" panose="05050102010706020507" pitchFamily="18" charset="2"/>
              </a:rPr>
              <a:t>有</a:t>
            </a:r>
            <a:r>
              <a:rPr kumimoji="0" lang="en-US" altLang="zh-CN" dirty="0">
                <a:sym typeface="Symbol" panose="05050102010706020507" pitchFamily="18" charset="2"/>
              </a:rPr>
              <a:t>4</a:t>
            </a:r>
            <a:r>
              <a:rPr kumimoji="0" lang="zh-CN" altLang="en-US" dirty="0">
                <a:sym typeface="Symbol" panose="05050102010706020507" pitchFamily="18" charset="2"/>
              </a:rPr>
              <a:t>个项目</a:t>
            </a:r>
            <a:br>
              <a:rPr kumimoji="0" lang="zh-CN" altLang="en-US" dirty="0">
                <a:sym typeface="Symbol" panose="05050102010706020507" pitchFamily="18" charset="2"/>
              </a:rPr>
            </a:br>
            <a:r>
              <a:rPr kumimoji="0" lang="en-US" altLang="zh-CN" dirty="0"/>
              <a:t>A</a:t>
            </a:r>
            <a:r>
              <a:rPr kumimoji="0" lang="en-US" altLang="zh-CN" dirty="0">
                <a:sym typeface="Symbol" panose="05050102010706020507" pitchFamily="18" charset="2"/>
              </a:rPr>
              <a:t></a:t>
            </a:r>
            <a:r>
              <a:rPr kumimoji="0"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·</a:t>
            </a:r>
            <a:r>
              <a:rPr kumimoji="0" lang="en-US" altLang="zh-CN" dirty="0">
                <a:sym typeface="Symbol" panose="05050102010706020507" pitchFamily="18" charset="2"/>
              </a:rPr>
              <a:t>XYZ		</a:t>
            </a:r>
            <a:r>
              <a:rPr kumimoji="0" lang="en-US" altLang="zh-CN" dirty="0"/>
              <a:t>A</a:t>
            </a:r>
            <a:r>
              <a:rPr kumimoji="0" lang="en-US" altLang="zh-CN" dirty="0">
                <a:sym typeface="Symbol" panose="05050102010706020507" pitchFamily="18" charset="2"/>
              </a:rPr>
              <a:t>X</a:t>
            </a:r>
            <a:r>
              <a:rPr kumimoji="0"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·</a:t>
            </a:r>
            <a:r>
              <a:rPr kumimoji="0" lang="en-US" altLang="zh-CN" dirty="0">
                <a:sym typeface="Symbol" panose="05050102010706020507" pitchFamily="18" charset="2"/>
              </a:rPr>
              <a:t>YZ</a:t>
            </a:r>
            <a:br>
              <a:rPr kumimoji="0" lang="en-US" altLang="zh-CN" dirty="0">
                <a:sym typeface="Symbol" panose="05050102010706020507" pitchFamily="18" charset="2"/>
              </a:rPr>
            </a:br>
            <a:r>
              <a:rPr kumimoji="0" lang="en-US" altLang="zh-CN" dirty="0"/>
              <a:t>A</a:t>
            </a:r>
            <a:r>
              <a:rPr kumimoji="0" lang="en-US" altLang="zh-CN" dirty="0">
                <a:sym typeface="Symbol" panose="05050102010706020507" pitchFamily="18" charset="2"/>
              </a:rPr>
              <a:t>XY</a:t>
            </a:r>
            <a:r>
              <a:rPr kumimoji="0"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·</a:t>
            </a:r>
            <a:r>
              <a:rPr kumimoji="0" lang="en-US" altLang="zh-CN" dirty="0">
                <a:sym typeface="Symbol" panose="05050102010706020507" pitchFamily="18" charset="2"/>
              </a:rPr>
              <a:t>Z		</a:t>
            </a:r>
            <a:r>
              <a:rPr kumimoji="0" lang="en-US" altLang="zh-CN" dirty="0"/>
              <a:t>A</a:t>
            </a:r>
            <a:r>
              <a:rPr kumimoji="0" lang="en-US" altLang="zh-CN" dirty="0">
                <a:sym typeface="Symbol" panose="05050102010706020507" pitchFamily="18" charset="2"/>
              </a:rPr>
              <a:t>XYZ</a:t>
            </a:r>
            <a:r>
              <a:rPr kumimoji="0"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·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4D041A5F-8EC4-4936-BA90-F1C8C185E0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项目的含义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DFF18091-0A56-4148-BA2A-0153940F46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600" y="1371600"/>
            <a:ext cx="7964488" cy="5486400"/>
          </a:xfrm>
        </p:spPr>
        <p:txBody>
          <a:bodyPr/>
          <a:lstStyle/>
          <a:p>
            <a:pPr eaLnBrk="1" hangingPunct="1"/>
            <a:r>
              <a:rPr kumimoji="0" lang="zh-CN" altLang="en-US" dirty="0">
                <a:sym typeface="Symbol" panose="05050102010706020507" pitchFamily="18" charset="2"/>
              </a:rPr>
              <a:t>产生式指出语法分析当前阶段的目标</a:t>
            </a:r>
            <a:r>
              <a:rPr kumimoji="0" lang="en-US" altLang="zh-CN" dirty="0">
                <a:sym typeface="Symbol" panose="05050102010706020507" pitchFamily="18" charset="2"/>
              </a:rPr>
              <a:t>——</a:t>
            </a:r>
            <a:r>
              <a:rPr kumimoji="0" lang="zh-CN" altLang="en-US" dirty="0">
                <a:sym typeface="Symbol" panose="05050102010706020507" pitchFamily="18" charset="2"/>
              </a:rPr>
              <a:t>在栈顶形成句柄</a:t>
            </a:r>
            <a:r>
              <a:rPr kumimoji="0" lang="en-US" altLang="zh-CN" dirty="0">
                <a:sym typeface="Symbol" panose="05050102010706020507" pitchFamily="18" charset="2"/>
              </a:rPr>
              <a:t>XYZ</a:t>
            </a:r>
            <a:r>
              <a:rPr kumimoji="0" lang="zh-CN" altLang="en-US" dirty="0">
                <a:sym typeface="Symbol" panose="05050102010706020507" pitchFamily="18" charset="2"/>
              </a:rPr>
              <a:t>，然后归约出</a:t>
            </a:r>
            <a:r>
              <a:rPr kumimoji="0" lang="en-US" altLang="zh-CN" dirty="0">
                <a:sym typeface="Symbol" panose="05050102010706020507" pitchFamily="18" charset="2"/>
              </a:rPr>
              <a:t>A</a:t>
            </a:r>
          </a:p>
          <a:p>
            <a:pPr eaLnBrk="1" hangingPunct="1"/>
            <a:r>
              <a:rPr kumimoji="0" lang="zh-CN" altLang="en-US" dirty="0">
                <a:sym typeface="Symbol" panose="05050102010706020507" pitchFamily="18" charset="2"/>
              </a:rPr>
              <a:t>“</a:t>
            </a:r>
            <a:r>
              <a:rPr kumimoji="0"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·</a:t>
            </a:r>
            <a:r>
              <a:rPr kumimoji="0" lang="zh-CN" altLang="en-US" dirty="0">
                <a:sym typeface="Symbol" panose="05050102010706020507" pitchFamily="18" charset="2"/>
              </a:rPr>
              <a:t>”表示即时状态</a:t>
            </a:r>
            <a:r>
              <a:rPr kumimoji="0" lang="en-US" altLang="zh-CN" dirty="0">
                <a:sym typeface="Symbol" panose="05050102010706020507" pitchFamily="18" charset="2"/>
              </a:rPr>
              <a:t>——</a:t>
            </a:r>
            <a:r>
              <a:rPr kumimoji="0" lang="zh-CN" altLang="en-US" dirty="0">
                <a:sym typeface="Symbol" panose="05050102010706020507" pitchFamily="18" charset="2"/>
              </a:rPr>
              <a:t>在栈顶</a:t>
            </a:r>
            <a:r>
              <a:rPr kumimoji="0" lang="zh-CN" altLang="en-US" b="1" dirty="0">
                <a:solidFill>
                  <a:schemeClr val="folHlink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已形成了</a:t>
            </a:r>
            <a:r>
              <a:rPr kumimoji="0" lang="zh-CN" altLang="en-US" b="1" dirty="0">
                <a:solidFill>
                  <a:srgbClr val="FF33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句柄的哪些部分</a:t>
            </a:r>
            <a:r>
              <a:rPr kumimoji="0" lang="zh-CN" altLang="en-US" dirty="0">
                <a:sym typeface="Symbol" panose="05050102010706020507" pitchFamily="18" charset="2"/>
              </a:rPr>
              <a:t>，</a:t>
            </a:r>
            <a:r>
              <a:rPr kumimoji="0" lang="zh-CN" altLang="en-US" b="1" dirty="0">
                <a:solidFill>
                  <a:schemeClr val="folHlink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还需</a:t>
            </a:r>
            <a:r>
              <a:rPr kumimoji="0" lang="zh-CN" altLang="en-US" dirty="0">
                <a:sym typeface="Symbol" panose="05050102010706020507" pitchFamily="18" charset="2"/>
              </a:rPr>
              <a:t>（从输入缓冲区）获取</a:t>
            </a:r>
            <a:r>
              <a:rPr kumimoji="0" lang="zh-CN" altLang="en-US" b="1" dirty="0">
                <a:solidFill>
                  <a:srgbClr val="FF33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哪些部分</a:t>
            </a:r>
            <a:r>
              <a:rPr kumimoji="0" lang="zh-CN" altLang="en-US" dirty="0">
                <a:sym typeface="Symbol" panose="05050102010706020507" pitchFamily="18" charset="2"/>
              </a:rPr>
              <a:t>（可能需归约）形成完整句柄</a:t>
            </a:r>
            <a:endParaRPr kumimoji="0" lang="zh-CN" altLang="en-US" b="1" dirty="0">
              <a:solidFill>
                <a:srgbClr val="FF3300"/>
              </a:solidFill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lvl="1" eaLnBrk="1" hangingPunct="1"/>
            <a:r>
              <a:rPr kumimoji="0"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·</a:t>
            </a:r>
            <a:r>
              <a:rPr kumimoji="0" lang="en-US" altLang="zh-CN" dirty="0">
                <a:sym typeface="Symbol" panose="05050102010706020507" pitchFamily="18" charset="2"/>
              </a:rPr>
              <a:t>XYZ</a:t>
            </a:r>
            <a:r>
              <a:rPr kumimoji="0" lang="zh-CN" altLang="en-US" dirty="0">
                <a:sym typeface="Symbol" panose="05050102010706020507" pitchFamily="18" charset="2"/>
              </a:rPr>
              <a:t>，栈中还未形成任何内容，“期待”得到</a:t>
            </a:r>
            <a:r>
              <a:rPr kumimoji="0" lang="en-US" altLang="zh-CN" dirty="0">
                <a:sym typeface="Symbol" panose="05050102010706020507" pitchFamily="18" charset="2"/>
              </a:rPr>
              <a:t>XYZ——</a:t>
            </a:r>
            <a:r>
              <a:rPr kumimoji="0" lang="zh-CN" altLang="en-US" dirty="0">
                <a:sym typeface="Symbol" panose="05050102010706020507" pitchFamily="18" charset="2"/>
              </a:rPr>
              <a:t>从缓冲中内容“拼装成”</a:t>
            </a:r>
            <a:r>
              <a:rPr kumimoji="0" lang="en-US" altLang="zh-CN" dirty="0">
                <a:sym typeface="Symbol" panose="05050102010706020507" pitchFamily="18" charset="2"/>
              </a:rPr>
              <a:t>XYZ</a:t>
            </a:r>
            <a:endParaRPr kumimoji="0" lang="zh-CN" altLang="en-US" dirty="0">
              <a:sym typeface="Symbol" panose="05050102010706020507" pitchFamily="18" charset="2"/>
            </a:endParaRPr>
          </a:p>
          <a:p>
            <a:pPr lvl="1" eaLnBrk="1" hangingPunct="1"/>
            <a:r>
              <a:rPr kumimoji="0" lang="en-US" altLang="zh-CN" dirty="0">
                <a:sym typeface="Symbol" panose="05050102010706020507" pitchFamily="18" charset="2"/>
              </a:rPr>
              <a:t>X</a:t>
            </a:r>
            <a:r>
              <a:rPr kumimoji="0"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·</a:t>
            </a:r>
            <a:r>
              <a:rPr kumimoji="0" lang="en-US" altLang="zh-CN" dirty="0">
                <a:sym typeface="Symbol" panose="05050102010706020507" pitchFamily="18" charset="2"/>
              </a:rPr>
              <a:t>YZ</a:t>
            </a:r>
            <a:r>
              <a:rPr kumimoji="0" lang="zh-CN" altLang="en-US" dirty="0">
                <a:sym typeface="Symbol" panose="05050102010706020507" pitchFamily="18" charset="2"/>
              </a:rPr>
              <a:t>，已形成了</a:t>
            </a:r>
            <a:r>
              <a:rPr kumimoji="0" lang="en-US" altLang="zh-CN" dirty="0">
                <a:sym typeface="Symbol" panose="05050102010706020507" pitchFamily="18" charset="2"/>
              </a:rPr>
              <a:t>X</a:t>
            </a:r>
            <a:r>
              <a:rPr kumimoji="0" lang="zh-CN" altLang="en-US" dirty="0">
                <a:sym typeface="Symbol" panose="05050102010706020507" pitchFamily="18" charset="2"/>
              </a:rPr>
              <a:t>，期待从输入缓冲得到</a:t>
            </a:r>
            <a:r>
              <a:rPr kumimoji="0" lang="en-US" altLang="zh-CN" dirty="0">
                <a:sym typeface="Symbol" panose="05050102010706020507" pitchFamily="18" charset="2"/>
              </a:rPr>
              <a:t>YZ</a:t>
            </a:r>
          </a:p>
          <a:p>
            <a:pPr eaLnBrk="1" hangingPunct="1"/>
            <a:r>
              <a:rPr kumimoji="0" lang="zh-CN" altLang="en-US" dirty="0">
                <a:sym typeface="Symbol" panose="05050102010706020507" pitchFamily="18" charset="2"/>
              </a:rPr>
              <a:t>“</a:t>
            </a:r>
            <a:r>
              <a:rPr kumimoji="0"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·</a:t>
            </a:r>
            <a:r>
              <a:rPr kumimoji="0" lang="zh-CN" altLang="en-US" dirty="0">
                <a:sym typeface="Symbol" panose="05050102010706020507" pitchFamily="18" charset="2"/>
              </a:rPr>
              <a:t>”就是栈顶！</a:t>
            </a:r>
            <a:endParaRPr kumimoji="0"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kumimoji="0" lang="en-US" altLang="zh-CN" dirty="0" err="1"/>
              <a:t>A</a:t>
            </a:r>
            <a:r>
              <a:rPr kumimoji="0" lang="en-US" altLang="zh-CN" dirty="0" err="1">
                <a:sym typeface="Symbol" panose="05050102010706020507" pitchFamily="18" charset="2"/>
              </a:rPr>
              <a:t></a:t>
            </a:r>
            <a:r>
              <a:rPr kumimoji="0" lang="en-US" altLang="zh-CN" dirty="0" err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lang="en-US" altLang="zh-CN" dirty="0">
                <a:sym typeface="Symbol" panose="05050102010706020507" pitchFamily="18" charset="2"/>
              </a:rPr>
              <a:t>——</a:t>
            </a:r>
            <a:r>
              <a:rPr kumimoji="0" lang="en-US" altLang="zh-CN" dirty="0"/>
              <a:t>A</a:t>
            </a:r>
            <a:r>
              <a:rPr kumimoji="0" lang="en-US" altLang="zh-CN" dirty="0">
                <a:sym typeface="Symbol" panose="05050102010706020507" pitchFamily="18" charset="2"/>
              </a:rPr>
              <a:t></a:t>
            </a:r>
            <a:r>
              <a:rPr kumimoji="0"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·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0D45B2EF-1B54-4D37-8481-A39C37AC5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构造</a:t>
            </a:r>
            <a:r>
              <a:rPr lang="en-US" altLang="zh-CN"/>
              <a:t>SLR</a:t>
            </a:r>
            <a:r>
              <a:rPr lang="zh-CN" altLang="en-US"/>
              <a:t>分析表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996D03DE-77C7-4F2B-8567-1F3207AACC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核心思想</a:t>
            </a:r>
          </a:p>
          <a:p>
            <a:pPr lvl="1" eaLnBrk="1" hangingPunct="1"/>
            <a:r>
              <a:rPr lang="zh-CN" altLang="en-US" dirty="0"/>
              <a:t>构造一个</a:t>
            </a:r>
            <a:r>
              <a:rPr lang="en-US" altLang="zh-CN" dirty="0"/>
              <a:t>DFA</a:t>
            </a:r>
            <a:r>
              <a:rPr lang="zh-CN" altLang="en-US" dirty="0"/>
              <a:t>来识别活前缀</a:t>
            </a:r>
          </a:p>
          <a:p>
            <a:pPr lvl="1" eaLnBrk="1" hangingPunct="1"/>
            <a:r>
              <a:rPr lang="zh-CN" altLang="en-US" dirty="0"/>
              <a:t>构造</a:t>
            </a:r>
            <a:r>
              <a:rPr lang="en-US" altLang="zh-CN" dirty="0"/>
              <a:t>LR(0)</a:t>
            </a:r>
            <a:r>
              <a:rPr lang="zh-CN" altLang="en-US" dirty="0"/>
              <a:t>项目集规范族（项目集的集合）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LR(0)</a:t>
            </a:r>
            <a:r>
              <a:rPr lang="zh-CN" altLang="en-US" dirty="0"/>
              <a:t>项目集</a:t>
            </a:r>
            <a:r>
              <a:rPr lang="en-US" altLang="zh-CN" dirty="0">
                <a:sym typeface="Wingdings" pitchFamily="2" charset="2"/>
              </a:rPr>
              <a:t></a:t>
            </a:r>
            <a:r>
              <a:rPr lang="en-US" altLang="zh-CN" dirty="0"/>
              <a:t>DFA</a:t>
            </a:r>
            <a:r>
              <a:rPr lang="zh-CN" altLang="en-US" dirty="0"/>
              <a:t>状态</a:t>
            </a:r>
            <a:endParaRPr lang="en-US" altLang="zh-CN" dirty="0"/>
          </a:p>
          <a:p>
            <a:pPr lvl="1" eaLnBrk="1" hangingPunct="1"/>
            <a:r>
              <a:rPr kumimoji="0" lang="zh-CN" altLang="en-US" dirty="0">
                <a:sym typeface="Symbol" panose="05050102010706020507" pitchFamily="18" charset="2"/>
              </a:rPr>
              <a:t>核心计算：闭包（</a:t>
            </a:r>
            <a:r>
              <a:rPr kumimoji="0" lang="en-US" altLang="zh-CN" dirty="0">
                <a:solidFill>
                  <a:schemeClr val="hlink"/>
                </a:solidFill>
                <a:sym typeface="Symbol" panose="05050102010706020507" pitchFamily="18" charset="2"/>
              </a:rPr>
              <a:t>closure</a:t>
            </a:r>
            <a:r>
              <a:rPr kumimoji="0" lang="zh-CN" altLang="en-US" dirty="0">
                <a:sym typeface="Symbol" panose="05050102010706020507" pitchFamily="18" charset="2"/>
              </a:rPr>
              <a:t>）函数和</a:t>
            </a:r>
            <a:r>
              <a:rPr kumimoji="0" lang="en-US" altLang="zh-CN" dirty="0" err="1">
                <a:sym typeface="Symbol" panose="05050102010706020507" pitchFamily="18" charset="2"/>
              </a:rPr>
              <a:t>goto</a:t>
            </a:r>
            <a:r>
              <a:rPr kumimoji="0" lang="zh-CN" altLang="en-US" dirty="0">
                <a:sym typeface="Symbol" panose="05050102010706020507" pitchFamily="18" charset="2"/>
              </a:rPr>
              <a:t>函数</a:t>
            </a:r>
            <a:endParaRPr lang="en-US" altLang="zh-CN" dirty="0"/>
          </a:p>
          <a:p>
            <a:pPr lvl="1" eaLnBrk="1" hangingPunct="1"/>
            <a:r>
              <a:rPr lang="zh-CN" altLang="en-US" dirty="0">
                <a:solidFill>
                  <a:srgbClr val="FF0000"/>
                </a:solidFill>
              </a:rPr>
              <a:t>本质是一个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子集构造法过程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——</a:t>
            </a:r>
            <a:r>
              <a:rPr lang="en-US" altLang="zh-CN" dirty="0">
                <a:solidFill>
                  <a:srgbClr val="FF0000"/>
                </a:solidFill>
              </a:rPr>
              <a:t>NFA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DFA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！</a:t>
            </a:r>
            <a:endParaRPr lang="en-US" altLang="zh-CN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dirty="0"/>
              <a:t>因为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天然存在一个识别活前缀的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NFA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0D45B2EF-1B54-4D37-8481-A39C37AC5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识别活前缀的</a:t>
            </a:r>
            <a:r>
              <a:rPr lang="en-US" altLang="zh-CN" dirty="0"/>
              <a:t>NFA</a:t>
            </a:r>
            <a:endParaRPr lang="zh-CN" altLang="en-US" dirty="0"/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996D03DE-77C7-4F2B-8567-1F3207AACC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>
                <a:sym typeface="Wingdings" panose="05000000000000000000" pitchFamily="2" charset="2"/>
              </a:rPr>
              <a:t>拓广文法：</a:t>
            </a:r>
            <a:r>
              <a:rPr lang="en-US" altLang="zh-CN" sz="2400" dirty="0">
                <a:sym typeface="Wingdings" panose="05000000000000000000" pitchFamily="2" charset="2"/>
              </a:rPr>
              <a:t>S’</a:t>
            </a:r>
            <a:r>
              <a:rPr kumimoji="0" lang="en-US" altLang="zh-CN" sz="2400" dirty="0">
                <a:sym typeface="Symbol" panose="05050102010706020507" pitchFamily="18" charset="2"/>
              </a:rPr>
              <a:t>S</a:t>
            </a:r>
          </a:p>
          <a:p>
            <a:pPr eaLnBrk="1" hangingPunct="1"/>
            <a:r>
              <a:rPr lang="zh-CN" altLang="en-US" sz="2400" dirty="0">
                <a:sym typeface="Wingdings" panose="05000000000000000000" pitchFamily="2" charset="2"/>
              </a:rPr>
              <a:t>状态</a:t>
            </a:r>
            <a:r>
              <a:rPr lang="en-US" altLang="zh-CN" sz="2400" dirty="0">
                <a:sym typeface="Wingdings" panose="05000000000000000000" pitchFamily="2" charset="2"/>
              </a:rPr>
              <a:t>——LR(0)</a:t>
            </a:r>
            <a:r>
              <a:rPr lang="zh-CN" altLang="en-US" sz="2400" dirty="0">
                <a:sym typeface="Wingdings" panose="05000000000000000000" pitchFamily="2" charset="2"/>
              </a:rPr>
              <a:t>项目，</a:t>
            </a:r>
            <a:r>
              <a:rPr lang="en-US" altLang="zh-CN" sz="2400" dirty="0">
                <a:sym typeface="Wingdings" panose="05000000000000000000" pitchFamily="2" charset="2"/>
              </a:rPr>
              <a:t>S’</a:t>
            </a:r>
            <a:r>
              <a:rPr kumimoji="0" lang="en-US" altLang="zh-CN" sz="2400" dirty="0">
                <a:sym typeface="Symbol" panose="05050102010706020507" pitchFamily="18" charset="2"/>
              </a:rPr>
              <a:t></a:t>
            </a:r>
            <a:r>
              <a:rPr kumimoji="0" lang="en-US" altLang="zh-CN" sz="2400" dirty="0">
                <a:cs typeface="Times New Roman" panose="02020603050405020304" pitchFamily="18" charset="0"/>
                <a:sym typeface="Symbol" panose="05050102010706020507" pitchFamily="18" charset="2"/>
              </a:rPr>
              <a:t>·</a:t>
            </a:r>
            <a:r>
              <a:rPr kumimoji="0" lang="en-US" altLang="zh-CN" sz="2400" dirty="0">
                <a:sym typeface="Symbol" panose="05050102010706020507" pitchFamily="18" charset="2"/>
              </a:rPr>
              <a:t>S</a:t>
            </a:r>
            <a:r>
              <a:rPr kumimoji="0" lang="zh-CN" altLang="en-US" sz="2400" dirty="0">
                <a:sym typeface="Symbol" panose="05050102010706020507" pitchFamily="18" charset="2"/>
              </a:rPr>
              <a:t>为初态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sz="2400" dirty="0">
                <a:sym typeface="Wingdings" panose="05000000000000000000" pitchFamily="2" charset="2"/>
              </a:rPr>
              <a:t>项目对应语法栈状态、边对应语法栈动作</a:t>
            </a:r>
          </a:p>
          <a:p>
            <a:pPr lvl="1" eaLnBrk="1" hangingPunct="1"/>
            <a:r>
              <a:rPr lang="zh-CN" altLang="en-US" sz="2000" dirty="0">
                <a:sym typeface="Wingdings" panose="05000000000000000000" pitchFamily="2" charset="2"/>
              </a:rPr>
              <a:t>状态</a:t>
            </a:r>
            <a:r>
              <a:rPr kumimoji="0" lang="en-US" altLang="zh-CN" sz="2000" dirty="0">
                <a:sym typeface="Symbol" panose="05050102010706020507" pitchFamily="18" charset="2"/>
              </a:rPr>
              <a:t>S</a:t>
            </a:r>
            <a:r>
              <a:rPr kumimoji="0" lang="en-US" altLang="zh-CN" sz="2000" dirty="0">
                <a:cs typeface="Times New Roman" panose="02020603050405020304" pitchFamily="18" charset="0"/>
                <a:sym typeface="Symbol" panose="05050102010706020507" pitchFamily="18" charset="2"/>
              </a:rPr>
              <a:t>·</a:t>
            </a:r>
            <a:r>
              <a:rPr kumimoji="0" lang="en-US" altLang="zh-CN" sz="2000" dirty="0" err="1">
                <a:cs typeface="Times New Roman" panose="02020603050405020304" pitchFamily="18" charset="0"/>
                <a:sym typeface="Symbol" panose="05050102010706020507" pitchFamily="18" charset="2"/>
              </a:rPr>
              <a:t>aABe</a:t>
            </a:r>
            <a:r>
              <a:rPr kumimoji="0" lang="en-US" altLang="zh-CN" sz="200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zh-CN" altLang="en-US" sz="2000" dirty="0">
                <a:cs typeface="Times New Roman" panose="02020603050405020304" pitchFamily="18" charset="0"/>
                <a:sym typeface="Symbol" panose="05050102010706020507" pitchFamily="18" charset="2"/>
              </a:rPr>
              <a:t>转到 状态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S</a:t>
            </a:r>
            <a:r>
              <a:rPr kumimoji="0" lang="en-US" altLang="zh-CN" sz="2000" dirty="0" err="1">
                <a:cs typeface="Times New Roman" panose="02020603050405020304" pitchFamily="18" charset="0"/>
                <a:sym typeface="Symbol" panose="05050102010706020507" pitchFamily="18" charset="2"/>
              </a:rPr>
              <a:t>a·Abe</a:t>
            </a:r>
            <a:r>
              <a:rPr kumimoji="0" lang="zh-CN" altLang="en-US" sz="2000" dirty="0">
                <a:cs typeface="Times New Roman" panose="02020603050405020304" pitchFamily="18" charset="0"/>
                <a:sym typeface="Symbol" panose="05050102010706020507" pitchFamily="18" charset="2"/>
              </a:rPr>
              <a:t>（边</a:t>
            </a:r>
            <a:r>
              <a:rPr kumimoji="0" lang="en" altLang="zh-CN" sz="2000" dirty="0">
                <a:cs typeface="Times New Roman" panose="02020603050405020304" pitchFamily="18" charset="0"/>
                <a:sym typeface="Symbol" panose="05050102010706020507" pitchFamily="18" charset="2"/>
              </a:rPr>
              <a:t>‘a’</a:t>
            </a:r>
            <a:r>
              <a:rPr kumimoji="0" lang="zh-CN" altLang="en-US" sz="2000" dirty="0">
                <a:cs typeface="Times New Roman" panose="02020603050405020304" pitchFamily="18" charset="0"/>
                <a:sym typeface="Symbol" panose="05050102010706020507" pitchFamily="18" charset="2"/>
              </a:rPr>
              <a:t>）</a:t>
            </a:r>
            <a:endParaRPr kumimoji="0" lang="en-US" altLang="zh-CN" sz="2000" dirty="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kumimoji="0" lang="zh-CN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将</a:t>
            </a:r>
            <a:r>
              <a:rPr kumimoji="0"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终结符</a:t>
            </a:r>
            <a:r>
              <a:rPr kumimoji="0"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‘a’</a:t>
            </a:r>
            <a:r>
              <a:rPr kumimoji="0" lang="zh-CN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从输入缓冲区</a:t>
            </a:r>
            <a:r>
              <a:rPr kumimoji="0"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移进</a:t>
            </a:r>
            <a:r>
              <a:rPr kumimoji="0" lang="zh-CN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到语法栈</a:t>
            </a:r>
            <a:endParaRPr lang="zh-CN" altLang="en-US" sz="20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sz="2000" dirty="0">
                <a:sym typeface="Wingdings" panose="05000000000000000000" pitchFamily="2" charset="2"/>
              </a:rPr>
              <a:t>状态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S</a:t>
            </a:r>
            <a:r>
              <a:rPr kumimoji="0" lang="en-US" altLang="zh-CN" sz="2000" dirty="0" err="1">
                <a:cs typeface="Times New Roman" panose="02020603050405020304" pitchFamily="18" charset="0"/>
                <a:sym typeface="Symbol" panose="05050102010706020507" pitchFamily="18" charset="2"/>
              </a:rPr>
              <a:t>a·ABe</a:t>
            </a:r>
            <a:r>
              <a:rPr kumimoji="0" lang="en-US" altLang="zh-CN" sz="200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zh-CN" altLang="en-US" sz="2000" dirty="0">
                <a:cs typeface="Times New Roman" panose="02020603050405020304" pitchFamily="18" charset="0"/>
                <a:sym typeface="Symbol" panose="05050102010706020507" pitchFamily="18" charset="2"/>
              </a:rPr>
              <a:t>转到 状态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S</a:t>
            </a:r>
            <a:r>
              <a:rPr kumimoji="0" lang="en-US" altLang="zh-CN" sz="2000" dirty="0" err="1">
                <a:cs typeface="Times New Roman" panose="02020603050405020304" pitchFamily="18" charset="0"/>
                <a:sym typeface="Symbol" panose="05050102010706020507" pitchFamily="18" charset="2"/>
              </a:rPr>
              <a:t>aA·Be</a:t>
            </a:r>
            <a:r>
              <a:rPr kumimoji="0" lang="zh-CN" altLang="en-US" sz="2000" dirty="0">
                <a:cs typeface="Times New Roman" panose="02020603050405020304" pitchFamily="18" charset="0"/>
                <a:sym typeface="Symbol" panose="05050102010706020507" pitchFamily="18" charset="2"/>
              </a:rPr>
              <a:t>（边</a:t>
            </a:r>
            <a:r>
              <a:rPr kumimoji="0" lang="en" altLang="zh-CN" sz="2000" dirty="0">
                <a:cs typeface="Times New Roman" panose="02020603050405020304" pitchFamily="18" charset="0"/>
                <a:sym typeface="Symbol" panose="05050102010706020507" pitchFamily="18" charset="2"/>
              </a:rPr>
              <a:t>‘A’</a:t>
            </a:r>
            <a:r>
              <a:rPr kumimoji="0" lang="zh-CN" altLang="en-US" sz="2000" dirty="0">
                <a:cs typeface="Times New Roman" panose="02020603050405020304" pitchFamily="18" charset="0"/>
                <a:sym typeface="Symbol" panose="05050102010706020507" pitchFamily="18" charset="2"/>
              </a:rPr>
              <a:t>）</a:t>
            </a:r>
            <a:endParaRPr kumimoji="0" lang="en-US" altLang="zh-CN" sz="2000" dirty="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kumimoji="0"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不可能</a:t>
            </a:r>
            <a:r>
              <a:rPr kumimoji="0" lang="zh-CN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从缓冲区直接</a:t>
            </a:r>
            <a:r>
              <a:rPr kumimoji="0"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移进非终结符</a:t>
            </a:r>
            <a:r>
              <a:rPr kumimoji="0"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‘A’</a:t>
            </a:r>
            <a:r>
              <a:rPr kumimoji="0" lang="zh-CN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！</a:t>
            </a:r>
            <a:endParaRPr kumimoji="0" lang="en-US" altLang="zh-CN" sz="2000" dirty="0">
              <a:solidFill>
                <a:srgbClr val="FF000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kumimoji="0" lang="zh-CN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必然是通过一系列移进动作（可能还有归约动作），在栈顶形成句柄，最后</a:t>
            </a:r>
            <a:r>
              <a:rPr kumimoji="0"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归约</a:t>
            </a:r>
            <a:r>
              <a:rPr kumimoji="0" lang="zh-CN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出</a:t>
            </a:r>
            <a:r>
              <a:rPr kumimoji="0"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‘A’</a:t>
            </a:r>
            <a:r>
              <a:rPr kumimoji="0" lang="zh-CN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！</a:t>
            </a:r>
            <a:r>
              <a:rPr kumimoji="0"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</a:t>
            </a:r>
            <a:r>
              <a:rPr kumimoji="0" lang="zh-CN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为了归约出</a:t>
            </a:r>
            <a:r>
              <a:rPr kumimoji="0"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kumimoji="0" lang="zh-CN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，先要归约出</a:t>
            </a:r>
            <a:r>
              <a:rPr kumimoji="0"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kumimoji="0"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</a:t>
            </a:r>
            <a:r>
              <a:rPr kumimoji="0" lang="zh-CN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要从</a:t>
            </a:r>
            <a:r>
              <a:rPr lang="zh-CN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状态</a:t>
            </a:r>
            <a:r>
              <a:rPr kumimoji="0" lang="en-US" altLang="zh-CN" sz="2000" dirty="0" err="1">
                <a:solidFill>
                  <a:srgbClr val="FF0000"/>
                </a:solidFill>
                <a:sym typeface="Symbol" panose="05050102010706020507" pitchFamily="18" charset="2"/>
              </a:rPr>
              <a:t>S</a:t>
            </a:r>
            <a:r>
              <a:rPr kumimoji="0" lang="en-US" altLang="zh-CN" sz="2000" dirty="0" err="1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a·ABe</a:t>
            </a:r>
            <a:r>
              <a:rPr kumimoji="0"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zh-CN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转到 </a:t>
            </a:r>
            <a:r>
              <a:rPr kumimoji="0"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‘A’</a:t>
            </a:r>
            <a:r>
              <a:rPr kumimoji="0" lang="zh-CN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的产生式的项目！</a:t>
            </a:r>
            <a:br>
              <a:rPr kumimoji="0" lang="en-US" altLang="zh-CN" sz="2000" dirty="0">
                <a:solidFill>
                  <a:srgbClr val="FF0000"/>
                </a:solidFill>
                <a:sym typeface="Symbol" panose="05050102010706020507" pitchFamily="18" charset="2"/>
              </a:rPr>
            </a:br>
            <a:r>
              <a:rPr kumimoji="0" lang="en-US" altLang="zh-CN" sz="2000" dirty="0">
                <a:solidFill>
                  <a:srgbClr val="FF0000"/>
                </a:solidFill>
                <a:sym typeface="Symbol" panose="05050102010706020507" pitchFamily="18" charset="2"/>
              </a:rPr>
              <a:t>A</a:t>
            </a:r>
            <a:r>
              <a:rPr kumimoji="0"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·</a:t>
            </a:r>
            <a:r>
              <a:rPr kumimoji="0" lang="en-US" altLang="zh-CN" sz="2000" dirty="0" err="1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Abc</a:t>
            </a:r>
            <a:r>
              <a:rPr kumimoji="0" lang="zh-CN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、</a:t>
            </a:r>
            <a:r>
              <a:rPr kumimoji="0" lang="en-US" altLang="zh-CN" sz="2000" dirty="0">
                <a:solidFill>
                  <a:srgbClr val="FF0000"/>
                </a:solidFill>
                <a:sym typeface="Symbol" panose="05050102010706020507" pitchFamily="18" charset="2"/>
              </a:rPr>
              <a:t>A</a:t>
            </a:r>
            <a:r>
              <a:rPr kumimoji="0"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·b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kumimoji="0" lang="zh-CN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这种状态转换并未压栈任何符号</a:t>
            </a:r>
            <a:r>
              <a:rPr kumimoji="0"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——‘</a:t>
            </a:r>
            <a:r>
              <a:rPr kumimoji="0" lang="en-US" altLang="zh-CN" sz="2000" dirty="0">
                <a:solidFill>
                  <a:srgbClr val="FF0000"/>
                </a:solidFill>
                <a:latin typeface="Symbol" panose="05050102010706020507" pitchFamily="18" charset="2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0"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’</a:t>
            </a:r>
            <a:r>
              <a:rPr kumimoji="0" lang="zh-CN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边！</a:t>
            </a:r>
            <a:endParaRPr kumimoji="0" lang="en-US" altLang="zh-CN" sz="2000" dirty="0">
              <a:solidFill>
                <a:srgbClr val="FF000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0" eaLnBrk="1" hangingPunct="1"/>
            <a:r>
              <a:rPr lang="zh-CN" altLang="en-US" sz="2400" dirty="0">
                <a:solidFill>
                  <a:srgbClr val="000000"/>
                </a:solidFill>
                <a:sym typeface="Wingdings" panose="05000000000000000000" pitchFamily="2" charset="2"/>
              </a:rPr>
              <a:t>终态？</a:t>
            </a:r>
            <a:endParaRPr lang="en-US" altLang="zh-CN" sz="240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lvl="1" eaLnBrk="1" hangingPunct="1">
              <a:buClr>
                <a:srgbClr val="3333CC"/>
              </a:buClr>
              <a:buFont typeface="Wingdings" panose="05000000000000000000" pitchFamily="2" charset="2"/>
              <a:buChar char="Ø"/>
            </a:pPr>
            <a:r>
              <a:rPr kumimoji="0" lang="zh-CN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所有状态！</a:t>
            </a:r>
            <a:r>
              <a:rPr kumimoji="0" lang="en-US" altLang="zh-CN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——</a:t>
            </a:r>
            <a:r>
              <a:rPr kumimoji="0" lang="zh-CN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只要正常状态转换，得到的都是合法活前缀</a:t>
            </a:r>
            <a:endParaRPr kumimoji="0" lang="en-US" altLang="zh-CN" sz="2000" dirty="0">
              <a:solidFill>
                <a:srgbClr val="FF000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126864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16352616-56E0-43DC-90C3-D5F458282A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示例文法的</a:t>
            </a:r>
            <a:r>
              <a:rPr lang="en-US" altLang="zh-CN" dirty="0"/>
              <a:t>NFA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7805DB9D-68F2-4224-BA01-9ECBFD6F48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zh-CN" dirty="0"/>
          </a:p>
        </p:txBody>
      </p:sp>
      <p:pic>
        <p:nvPicPr>
          <p:cNvPr id="6" name="Picture 4" descr="slrnfa">
            <a:extLst>
              <a:ext uri="{FF2B5EF4-FFF2-40B4-BE49-F238E27FC236}">
                <a16:creationId xmlns:a16="http://schemas.microsoft.com/office/drawing/2014/main" id="{0F4DFD2E-4FDC-40FF-BD14-C0663237D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06513"/>
            <a:ext cx="7888288" cy="417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8">
            <a:extLst>
              <a:ext uri="{FF2B5EF4-FFF2-40B4-BE49-F238E27FC236}">
                <a16:creationId xmlns:a16="http://schemas.microsoft.com/office/drawing/2014/main" id="{13196003-C7BA-4B55-A69A-7228D0D19E69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2124075" y="3213100"/>
            <a:ext cx="431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>
              <a:latin typeface="Tahoma" panose="020B0604030504040204" pitchFamily="34" charset="0"/>
            </a:endParaRP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D5B425C1-1324-4B47-A768-714199E8B744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2195513" y="3651250"/>
            <a:ext cx="187166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>
              <a:latin typeface="Tahoma" panose="020B0604030504040204" pitchFamily="34" charset="0"/>
            </a:endParaRPr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59CFDBCF-E2A3-0246-8444-1D462C3DBB5A}"/>
              </a:ext>
            </a:extLst>
          </p:cNvPr>
          <p:cNvCxnSpPr/>
          <p:nvPr/>
        </p:nvCxnSpPr>
        <p:spPr bwMode="auto">
          <a:xfrm flipH="1">
            <a:off x="5724128" y="1700808"/>
            <a:ext cx="504056" cy="504056"/>
          </a:xfrm>
          <a:prstGeom prst="straightConnector1">
            <a:avLst/>
          </a:prstGeom>
          <a:solidFill>
            <a:srgbClr val="FFCF0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79420D74-5343-6549-A499-67EB8C83D214}"/>
              </a:ext>
            </a:extLst>
          </p:cNvPr>
          <p:cNvCxnSpPr>
            <a:cxnSpLocks/>
          </p:cNvCxnSpPr>
          <p:nvPr/>
        </p:nvCxnSpPr>
        <p:spPr bwMode="auto">
          <a:xfrm>
            <a:off x="6671220" y="1700808"/>
            <a:ext cx="565076" cy="504056"/>
          </a:xfrm>
          <a:prstGeom prst="straightConnector1">
            <a:avLst/>
          </a:prstGeom>
          <a:solidFill>
            <a:srgbClr val="FFCF0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DF2B7FD7-2AF6-E740-82F0-BA7CD84FA834}"/>
              </a:ext>
            </a:extLst>
          </p:cNvPr>
          <p:cNvSpPr txBox="1"/>
          <p:nvPr/>
        </p:nvSpPr>
        <p:spPr>
          <a:xfrm>
            <a:off x="5238328" y="1403484"/>
            <a:ext cx="2430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8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终结符边</a:t>
            </a:r>
            <a:r>
              <a:rPr kumimoji="0" lang="en-US" altLang="zh-CN" sz="18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——</a:t>
            </a:r>
            <a:r>
              <a:rPr kumimoji="0" lang="zh-CN" altLang="en-US" sz="18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移进动作</a:t>
            </a:r>
            <a:endParaRPr lang="zh-CN" altLang="en-US" sz="1800" dirty="0"/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820B9CF1-3108-F245-BA3F-EA39B00D989B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691680" y="3651250"/>
            <a:ext cx="1728650" cy="1348389"/>
          </a:xfrm>
          <a:prstGeom prst="straightConnector1">
            <a:avLst/>
          </a:prstGeom>
          <a:solidFill>
            <a:srgbClr val="FFCF0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CFFDEFE2-C02A-CC4F-9330-4453F31BB149}"/>
              </a:ext>
            </a:extLst>
          </p:cNvPr>
          <p:cNvSpPr txBox="1"/>
          <p:nvPr/>
        </p:nvSpPr>
        <p:spPr>
          <a:xfrm>
            <a:off x="2224112" y="4937048"/>
            <a:ext cx="3644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8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“移进”非终结符</a:t>
            </a:r>
            <a:r>
              <a:rPr kumimoji="0" lang="en-US" altLang="zh-CN" sz="18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——</a:t>
            </a:r>
            <a:r>
              <a:rPr kumimoji="0" lang="zh-CN" altLang="en-US" sz="18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需归约出</a:t>
            </a:r>
            <a:r>
              <a:rPr kumimoji="0" lang="en-US" altLang="zh-CN" sz="18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endParaRPr lang="zh-CN" altLang="en-US" sz="1800" dirty="0"/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E3DF8113-6603-9D41-9497-AD4DFA48BC60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339975" y="2673265"/>
            <a:ext cx="2082893" cy="939560"/>
          </a:xfrm>
          <a:prstGeom prst="straightConnector1">
            <a:avLst/>
          </a:prstGeom>
          <a:solidFill>
            <a:srgbClr val="FFCF0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B682A73F-ACE9-BD4B-BABF-363B9AF44786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411760" y="2996952"/>
            <a:ext cx="1512403" cy="615874"/>
          </a:xfrm>
          <a:prstGeom prst="straightConnector1">
            <a:avLst/>
          </a:prstGeom>
          <a:solidFill>
            <a:srgbClr val="FFCF0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A0998946-F34A-FF40-A93D-676C8771AE41}"/>
              </a:ext>
            </a:extLst>
          </p:cNvPr>
          <p:cNvSpPr txBox="1"/>
          <p:nvPr/>
        </p:nvSpPr>
        <p:spPr>
          <a:xfrm>
            <a:off x="2923604" y="3560053"/>
            <a:ext cx="32119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8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为完成归约</a:t>
            </a:r>
            <a:r>
              <a:rPr kumimoji="0" lang="en-US" altLang="zh-CN" sz="18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——</a:t>
            </a:r>
            <a:r>
              <a:rPr kumimoji="0" lang="zh-CN" altLang="en-US" sz="18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转向</a:t>
            </a:r>
            <a:r>
              <a:rPr kumimoji="0" lang="en-US" altLang="zh-CN" sz="18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0" lang="zh-CN" altLang="en-US" sz="18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的项目</a:t>
            </a: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23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0D45B2EF-1B54-4D37-8481-A39C37AC5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利用</a:t>
            </a:r>
            <a:r>
              <a:rPr lang="en-US" altLang="zh-CN" dirty="0"/>
              <a:t>NFA</a:t>
            </a:r>
            <a:r>
              <a:rPr lang="zh-CN" altLang="en-US" dirty="0"/>
              <a:t>进行</a:t>
            </a:r>
            <a:r>
              <a:rPr lang="en-US" altLang="zh-CN" dirty="0"/>
              <a:t>LR</a:t>
            </a:r>
            <a:r>
              <a:rPr lang="zh-CN" altLang="en-US" dirty="0"/>
              <a:t>分析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996D03DE-77C7-4F2B-8567-1F3207AACC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>
                <a:sym typeface="Wingdings" panose="05000000000000000000" pitchFamily="2" charset="2"/>
              </a:rPr>
              <a:t>NFA</a:t>
            </a:r>
            <a:r>
              <a:rPr lang="zh-CN" altLang="en-US" sz="2800" dirty="0">
                <a:sym typeface="Wingdings" panose="05000000000000000000" pitchFamily="2" charset="2"/>
              </a:rPr>
              <a:t>运转</a:t>
            </a:r>
            <a:r>
              <a:rPr lang="en-US" altLang="zh-CN" sz="2800" dirty="0">
                <a:sym typeface="Wingdings" panose="05000000000000000000" pitchFamily="2" charset="2"/>
              </a:rPr>
              <a:t>LR</a:t>
            </a:r>
            <a:r>
              <a:rPr lang="zh-CN" altLang="en-US" sz="2800" dirty="0">
                <a:sym typeface="Wingdings" pitchFamily="2" charset="2"/>
              </a:rPr>
              <a:t>分析：</a:t>
            </a:r>
            <a:br>
              <a:rPr lang="en-US" altLang="zh-CN" sz="2800" dirty="0">
                <a:sym typeface="Wingdings" pitchFamily="2" charset="2"/>
              </a:rPr>
            </a:br>
            <a:r>
              <a:rPr lang="zh-CN" altLang="en-US" sz="2800" dirty="0">
                <a:sym typeface="Wingdings" panose="05000000000000000000" pitchFamily="2" charset="2"/>
              </a:rPr>
              <a:t>项目</a:t>
            </a:r>
            <a:r>
              <a:rPr lang="en-US" altLang="zh-CN" sz="2800" dirty="0">
                <a:sym typeface="Wingdings" pitchFamily="2" charset="2"/>
              </a:rPr>
              <a:t></a:t>
            </a:r>
            <a:r>
              <a:rPr lang="zh-CN" altLang="en-US" sz="2800" dirty="0">
                <a:sym typeface="Wingdings" panose="05000000000000000000" pitchFamily="2" charset="2"/>
              </a:rPr>
              <a:t>语法栈（</a:t>
            </a:r>
            <a:r>
              <a:rPr lang="en-US" altLang="zh-CN" sz="2800" dirty="0">
                <a:sym typeface="Wingdings" panose="05000000000000000000" pitchFamily="2" charset="2"/>
              </a:rPr>
              <a:t>NFA</a:t>
            </a:r>
            <a:r>
              <a:rPr lang="zh-CN" altLang="en-US" sz="2800" dirty="0">
                <a:sym typeface="Wingdings" panose="05000000000000000000" pitchFamily="2" charset="2"/>
              </a:rPr>
              <a:t>）状态、</a:t>
            </a:r>
            <a:br>
              <a:rPr lang="en-US" altLang="zh-CN" sz="2800" dirty="0">
                <a:sym typeface="Wingdings" panose="05000000000000000000" pitchFamily="2" charset="2"/>
              </a:rPr>
            </a:br>
            <a:r>
              <a:rPr lang="zh-CN" altLang="en-US" sz="2800" dirty="0">
                <a:sym typeface="Wingdings" panose="05000000000000000000" pitchFamily="2" charset="2"/>
              </a:rPr>
              <a:t>语法栈操作</a:t>
            </a:r>
            <a:r>
              <a:rPr lang="en-US" altLang="zh-CN" sz="2800" dirty="0">
                <a:sym typeface="Wingdings" panose="05000000000000000000" pitchFamily="2" charset="2"/>
              </a:rPr>
              <a:t> NFA</a:t>
            </a:r>
            <a:r>
              <a:rPr lang="zh-CN" altLang="en-US" sz="2800" dirty="0">
                <a:sym typeface="Wingdings" panose="05000000000000000000" pitchFamily="2" charset="2"/>
              </a:rPr>
              <a:t>中动作（边）</a:t>
            </a:r>
            <a:endParaRPr kumimoji="0" lang="en-US" altLang="zh-CN" sz="2800" dirty="0"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 sz="2400" dirty="0">
                <a:sym typeface="Wingdings" panose="05000000000000000000" pitchFamily="2" charset="2"/>
              </a:rPr>
              <a:t>初始时位于</a:t>
            </a:r>
            <a:r>
              <a:rPr lang="en-US" altLang="zh-CN" sz="2400" dirty="0">
                <a:sym typeface="Wingdings" panose="05000000000000000000" pitchFamily="2" charset="2"/>
              </a:rPr>
              <a:t>NFA</a:t>
            </a:r>
            <a:r>
              <a:rPr lang="zh-CN" altLang="en-US" sz="2400" dirty="0">
                <a:sym typeface="Wingdings" panose="05000000000000000000" pitchFamily="2" charset="2"/>
              </a:rPr>
              <a:t>初态的</a:t>
            </a:r>
            <a:r>
              <a:rPr lang="en-US" altLang="zh-CN" sz="2400" dirty="0" err="1">
                <a:latin typeface="Symbol" panose="05050102010706020507" pitchFamily="18" charset="2"/>
                <a:sym typeface="Wingdings" panose="05000000000000000000" pitchFamily="2" charset="2"/>
              </a:rPr>
              <a:t>e</a:t>
            </a:r>
            <a:r>
              <a:rPr lang="en-US" altLang="zh-CN" sz="2400" dirty="0" err="1">
                <a:sym typeface="Wingdings" panose="05000000000000000000" pitchFamily="2" charset="2"/>
              </a:rPr>
              <a:t>_closure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lvl="1" eaLnBrk="1" hangingPunct="1"/>
            <a:r>
              <a:rPr kumimoji="0" lang="zh-CN" altLang="en-US" sz="2400" dirty="0">
                <a:cs typeface="Times New Roman" panose="02020603050405020304" pitchFamily="18" charset="0"/>
                <a:sym typeface="Wingdings" panose="05000000000000000000" pitchFamily="2" charset="2"/>
              </a:rPr>
              <a:t>读入终结符</a:t>
            </a:r>
            <a:r>
              <a:rPr kumimoji="0" lang="en-US" altLang="zh-CN" sz="2400" dirty="0">
                <a:cs typeface="Times New Roman" panose="02020603050405020304" pitchFamily="18" charset="0"/>
                <a:sym typeface="Symbol" panose="05050102010706020507" pitchFamily="18" charset="2"/>
              </a:rPr>
              <a:t>‘a’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kumimoji="0"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NFA</a:t>
            </a:r>
            <a:r>
              <a:rPr kumimoji="0"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状态转换</a:t>
            </a:r>
            <a:r>
              <a:rPr kumimoji="0"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：当前状态集走边</a:t>
            </a:r>
            <a:r>
              <a:rPr kumimoji="0"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‘a’</a:t>
            </a:r>
            <a:r>
              <a:rPr kumimoji="0"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、计算</a:t>
            </a:r>
            <a:r>
              <a:rPr lang="en-US" altLang="zh-CN" sz="2400" dirty="0" err="1">
                <a:solidFill>
                  <a:srgbClr val="FF0000"/>
                </a:solidFill>
                <a:latin typeface="Symbol" panose="05050102010706020507" pitchFamily="18" charset="2"/>
                <a:sym typeface="Wingdings" panose="05000000000000000000" pitchFamily="2" charset="2"/>
              </a:rPr>
              <a:t>e</a:t>
            </a:r>
            <a:r>
              <a:rPr lang="en-US" altLang="zh-CN" sz="2400" dirty="0" err="1">
                <a:solidFill>
                  <a:srgbClr val="FF0000"/>
                </a:solidFill>
                <a:sym typeface="Wingdings" panose="05000000000000000000" pitchFamily="2" charset="2"/>
              </a:rPr>
              <a:t>_closure</a:t>
            </a:r>
            <a:br>
              <a:rPr kumimoji="0"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</a:br>
            <a:r>
              <a:rPr kumimoji="0"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 </a:t>
            </a:r>
            <a:r>
              <a:rPr kumimoji="0"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LR</a:t>
            </a:r>
            <a:r>
              <a:rPr kumimoji="0"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分析：将</a:t>
            </a:r>
            <a:r>
              <a:rPr kumimoji="0"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‘a’</a:t>
            </a:r>
            <a:r>
              <a:rPr kumimoji="0"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从输入缓冲区</a:t>
            </a:r>
            <a:r>
              <a:rPr kumimoji="0"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移进</a:t>
            </a:r>
            <a:r>
              <a:rPr kumimoji="0"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到语法栈</a:t>
            </a:r>
            <a:endParaRPr lang="zh-CN" altLang="en-US" sz="24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sz="2400" dirty="0">
                <a:sym typeface="Wingdings" panose="05000000000000000000" pitchFamily="2" charset="2"/>
              </a:rPr>
              <a:t>到达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S</a:t>
            </a:r>
            <a:r>
              <a:rPr kumimoji="0" lang="en-US" altLang="zh-CN" sz="2400" dirty="0" err="1">
                <a:cs typeface="Times New Roman" panose="02020603050405020304" pitchFamily="18" charset="0"/>
                <a:sym typeface="Symbol" panose="05050102010706020507" pitchFamily="18" charset="2"/>
              </a:rPr>
              <a:t>aABe</a:t>
            </a:r>
            <a:r>
              <a:rPr kumimoji="0" lang="en-US" altLang="zh-CN" sz="2400" dirty="0">
                <a:cs typeface="Times New Roman" panose="02020603050405020304" pitchFamily="18" charset="0"/>
                <a:sym typeface="Symbol" panose="05050102010706020507" pitchFamily="18" charset="2"/>
              </a:rPr>
              <a:t>· </a:t>
            </a:r>
            <a:r>
              <a:rPr kumimoji="0" lang="zh-CN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这种状态</a:t>
            </a:r>
            <a:endParaRPr kumimoji="0" lang="en-US" altLang="zh-CN" sz="2400" dirty="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kumimoji="0"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已在栈顶形成句柄，归约！</a:t>
            </a:r>
            <a:endParaRPr kumimoji="0" lang="en-US" altLang="zh-CN" sz="2400" dirty="0">
              <a:solidFill>
                <a:srgbClr val="FF000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kumimoji="0"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怎么做？归约动作分解：</a:t>
            </a:r>
            <a:endParaRPr kumimoji="0" lang="en-US" altLang="zh-CN" sz="2400" dirty="0">
              <a:solidFill>
                <a:srgbClr val="FF000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2" eaLnBrk="1" hangingPunct="1"/>
            <a:r>
              <a:rPr kumimoji="0" lang="zh-CN" altLang="en-US" sz="2000" dirty="0">
                <a:cs typeface="Times New Roman" panose="02020603050405020304" pitchFamily="18" charset="0"/>
                <a:sym typeface="Symbol" panose="05050102010706020507" pitchFamily="18" charset="2"/>
              </a:rPr>
              <a:t>从栈顶弹出句柄</a:t>
            </a:r>
            <a:r>
              <a:rPr kumimoji="0" lang="en-US" altLang="zh-CN" sz="2000" dirty="0">
                <a:cs typeface="Times New Roman" panose="02020603050405020304" pitchFamily="18" charset="0"/>
                <a:sym typeface="Symbol" panose="05050102010706020507" pitchFamily="18" charset="2"/>
              </a:rPr>
              <a:t>——</a:t>
            </a:r>
            <a:r>
              <a:rPr kumimoji="0" lang="zh-CN" altLang="en-US" sz="2000" dirty="0">
                <a:cs typeface="Times New Roman" panose="02020603050405020304" pitchFamily="18" charset="0"/>
                <a:sym typeface="Symbol" panose="05050102010706020507" pitchFamily="18" charset="2"/>
              </a:rPr>
              <a:t>移进的逆操作</a:t>
            </a:r>
            <a:r>
              <a:rPr kumimoji="0" lang="en-US" altLang="zh-CN" sz="2000" dirty="0">
                <a:cs typeface="Times New Roman" panose="02020603050405020304" pitchFamily="18" charset="0"/>
                <a:sym typeface="Symbol" panose="05050102010706020507" pitchFamily="18" charset="2"/>
              </a:rPr>
              <a:t>——NFA</a:t>
            </a:r>
            <a:r>
              <a:rPr kumimoji="0" lang="zh-CN" altLang="en-US" sz="2000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状态转换的逆操作</a:t>
            </a:r>
            <a:r>
              <a:rPr kumimoji="0" lang="en-US" altLang="zh-CN" sz="2000" dirty="0"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kumimoji="0" lang="zh-CN" altLang="en-US" sz="2000" dirty="0">
                <a:cs typeface="Times New Roman" panose="02020603050405020304" pitchFamily="18" charset="0"/>
                <a:sym typeface="Symbol" panose="05050102010706020507" pitchFamily="18" charset="2"/>
              </a:rPr>
              <a:t>沿前几步来时路径回退！</a:t>
            </a:r>
            <a:endParaRPr kumimoji="0" lang="en-US" altLang="zh-CN" sz="2000" dirty="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2" eaLnBrk="1" hangingPunct="1"/>
            <a:r>
              <a:rPr kumimoji="0" lang="zh-CN" altLang="en-US" sz="2000" dirty="0">
                <a:cs typeface="Times New Roman" panose="02020603050405020304" pitchFamily="18" charset="0"/>
                <a:sym typeface="Symbol" panose="05050102010706020507" pitchFamily="18" charset="2"/>
              </a:rPr>
              <a:t>将左部</a:t>
            </a:r>
            <a:r>
              <a:rPr kumimoji="0" lang="en-US" altLang="zh-CN" sz="2000" dirty="0">
                <a:cs typeface="Times New Roman" panose="02020603050405020304" pitchFamily="18" charset="0"/>
                <a:sym typeface="Symbol" panose="05050102010706020507" pitchFamily="18" charset="2"/>
              </a:rPr>
              <a:t>NT</a:t>
            </a:r>
            <a:r>
              <a:rPr kumimoji="0" lang="zh-CN" altLang="en-US" sz="2000" dirty="0">
                <a:cs typeface="Times New Roman" panose="02020603050405020304" pitchFamily="18" charset="0"/>
                <a:sym typeface="Symbol" panose="05050102010706020507" pitchFamily="18" charset="2"/>
              </a:rPr>
              <a:t>压栈</a:t>
            </a:r>
            <a:r>
              <a:rPr kumimoji="0" lang="en-US" altLang="zh-CN" sz="2000" dirty="0">
                <a:cs typeface="Times New Roman" panose="02020603050405020304" pitchFamily="18" charset="0"/>
                <a:sym typeface="Symbol" panose="05050102010706020507" pitchFamily="18" charset="2"/>
              </a:rPr>
              <a:t>——</a:t>
            </a:r>
            <a:r>
              <a:rPr kumimoji="0" lang="zh-CN" altLang="en-US" sz="2000" dirty="0">
                <a:cs typeface="Times New Roman" panose="02020603050405020304" pitchFamily="18" charset="0"/>
                <a:sym typeface="Symbol" panose="05050102010706020507" pitchFamily="18" charset="2"/>
              </a:rPr>
              <a:t>走</a:t>
            </a:r>
            <a:r>
              <a:rPr kumimoji="0" lang="en-US" altLang="zh-CN" sz="2000" dirty="0">
                <a:cs typeface="Times New Roman" panose="02020603050405020304" pitchFamily="18" charset="0"/>
                <a:sym typeface="Symbol" panose="05050102010706020507" pitchFamily="18" charset="2"/>
              </a:rPr>
              <a:t>NT</a:t>
            </a:r>
            <a:r>
              <a:rPr kumimoji="0" lang="zh-CN" altLang="en-US" sz="2000" dirty="0">
                <a:cs typeface="Times New Roman" panose="02020603050405020304" pitchFamily="18" charset="0"/>
                <a:sym typeface="Symbol" panose="05050102010706020507" pitchFamily="18" charset="2"/>
              </a:rPr>
              <a:t>对应边、计算</a:t>
            </a:r>
            <a:r>
              <a:rPr lang="en-US" altLang="zh-CN" sz="2000" dirty="0" err="1">
                <a:solidFill>
                  <a:srgbClr val="FF0000"/>
                </a:solidFill>
                <a:latin typeface="Symbol" panose="05050102010706020507" pitchFamily="18" charset="2"/>
                <a:sym typeface="Wingdings" panose="05000000000000000000" pitchFamily="2" charset="2"/>
              </a:rPr>
              <a:t>e</a:t>
            </a:r>
            <a:r>
              <a:rPr lang="en-US" altLang="zh-CN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_closure</a:t>
            </a:r>
            <a:r>
              <a:rPr lang="zh-CN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！</a:t>
            </a:r>
            <a:endParaRPr kumimoji="0" lang="en-US" altLang="zh-CN" sz="2000" dirty="0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28002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16352616-56E0-43DC-90C3-D5F458282A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项目</a:t>
            </a:r>
            <a:r>
              <a:rPr lang="en-US" altLang="zh-CN"/>
              <a:t>——</a:t>
            </a:r>
            <a:r>
              <a:rPr lang="zh-CN" altLang="en-US"/>
              <a:t>状态的</a:t>
            </a:r>
            <a:r>
              <a:rPr lang="en-US" altLang="zh-CN"/>
              <a:t>NFA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7805DB9D-68F2-4224-BA01-9ECBFD6F48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  <p:pic>
        <p:nvPicPr>
          <p:cNvPr id="66564" name="Picture 4" descr="slrnfa">
            <a:extLst>
              <a:ext uri="{FF2B5EF4-FFF2-40B4-BE49-F238E27FC236}">
                <a16:creationId xmlns:a16="http://schemas.microsoft.com/office/drawing/2014/main" id="{CBAB6015-A6F4-45A6-9B2B-2347C42E5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06513"/>
            <a:ext cx="7888288" cy="417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5" name="Rectangle 7">
            <a:extLst>
              <a:ext uri="{FF2B5EF4-FFF2-40B4-BE49-F238E27FC236}">
                <a16:creationId xmlns:a16="http://schemas.microsoft.com/office/drawing/2014/main" id="{68069C90-E52B-493C-AED1-4BCE0A9A970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78238" y="5078855"/>
            <a:ext cx="51308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algn="ctr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hlink"/>
                </a:solidFill>
              </a:rPr>
              <a:t>句柄：</a:t>
            </a:r>
            <a:r>
              <a:rPr lang="en-US" altLang="zh-CN" sz="2400" dirty="0">
                <a:solidFill>
                  <a:schemeClr val="hlink"/>
                </a:solidFill>
              </a:rPr>
              <a:t>a, </a:t>
            </a:r>
            <a:r>
              <a:rPr lang="en-US" altLang="zh-CN" sz="2400" dirty="0" err="1">
                <a:solidFill>
                  <a:schemeClr val="hlink"/>
                </a:solidFill>
              </a:rPr>
              <a:t>aA</a:t>
            </a:r>
            <a:r>
              <a:rPr lang="en-US" altLang="zh-CN" sz="2400" dirty="0">
                <a:solidFill>
                  <a:schemeClr val="hlink"/>
                </a:solidFill>
              </a:rPr>
              <a:t>, </a:t>
            </a:r>
            <a:r>
              <a:rPr lang="en-US" altLang="zh-CN" sz="2400" dirty="0" err="1">
                <a:solidFill>
                  <a:schemeClr val="hlink"/>
                </a:solidFill>
              </a:rPr>
              <a:t>aAd</a:t>
            </a:r>
            <a:r>
              <a:rPr lang="en-US" altLang="zh-CN" sz="2400" dirty="0">
                <a:solidFill>
                  <a:schemeClr val="hlink"/>
                </a:solidFill>
              </a:rPr>
              <a:t>, </a:t>
            </a:r>
            <a:r>
              <a:rPr lang="en-US" altLang="zh-CN" sz="2400" dirty="0" err="1">
                <a:solidFill>
                  <a:schemeClr val="hlink"/>
                </a:solidFill>
              </a:rPr>
              <a:t>aAbc</a:t>
            </a:r>
            <a:r>
              <a:rPr lang="en-US" altLang="zh-CN" sz="2400" dirty="0">
                <a:solidFill>
                  <a:schemeClr val="hlink"/>
                </a:solidFill>
              </a:rPr>
              <a:t>, ab, </a:t>
            </a:r>
            <a:r>
              <a:rPr lang="en-US" altLang="zh-CN" sz="2400" dirty="0" err="1">
                <a:solidFill>
                  <a:schemeClr val="hlink"/>
                </a:solidFill>
              </a:rPr>
              <a:t>aAb</a:t>
            </a:r>
            <a:endParaRPr lang="en-US" altLang="zh-CN" sz="2400" dirty="0">
              <a:solidFill>
                <a:schemeClr val="hlink"/>
              </a:solidFill>
            </a:endParaRPr>
          </a:p>
          <a:p>
            <a:pPr lvl="1" algn="ctr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hlink"/>
                </a:solidFill>
              </a:rPr>
              <a:t>非句柄：</a:t>
            </a:r>
            <a:r>
              <a:rPr lang="en-US" altLang="zh-CN" sz="2400" dirty="0" err="1">
                <a:solidFill>
                  <a:schemeClr val="hlink"/>
                </a:solidFill>
              </a:rPr>
              <a:t>aAde</a:t>
            </a:r>
            <a:r>
              <a:rPr lang="en-US" altLang="zh-CN" sz="2400" dirty="0">
                <a:solidFill>
                  <a:schemeClr val="hlink"/>
                </a:solidFill>
              </a:rPr>
              <a:t>, </a:t>
            </a:r>
            <a:r>
              <a:rPr lang="en-US" altLang="zh-CN" sz="2400" dirty="0" err="1">
                <a:solidFill>
                  <a:schemeClr val="hlink"/>
                </a:solidFill>
              </a:rPr>
              <a:t>Abc</a:t>
            </a:r>
            <a:r>
              <a:rPr lang="en-US" altLang="zh-CN" sz="2400" dirty="0">
                <a:solidFill>
                  <a:schemeClr val="hlink"/>
                </a:solidFill>
              </a:rPr>
              <a:t>, </a:t>
            </a:r>
            <a:r>
              <a:rPr lang="en-US" altLang="zh-CN" sz="2400" dirty="0" err="1">
                <a:solidFill>
                  <a:schemeClr val="hlink"/>
                </a:solidFill>
              </a:rPr>
              <a:t>aAA</a:t>
            </a:r>
            <a:endParaRPr lang="en-US" altLang="zh-CN" sz="2400" dirty="0">
              <a:solidFill>
                <a:schemeClr val="hlink"/>
              </a:solidFill>
            </a:endParaRPr>
          </a:p>
        </p:txBody>
      </p:sp>
      <p:sp>
        <p:nvSpPr>
          <p:cNvPr id="66566" name="Text Box 8">
            <a:extLst>
              <a:ext uri="{FF2B5EF4-FFF2-40B4-BE49-F238E27FC236}">
                <a16:creationId xmlns:a16="http://schemas.microsoft.com/office/drawing/2014/main" id="{A80DF024-35B8-4E7D-8468-5E257DE9A64D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2124075" y="3213100"/>
            <a:ext cx="431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>
              <a:latin typeface="Tahoma" panose="020B0604030504040204" pitchFamily="34" charset="0"/>
            </a:endParaRPr>
          </a:p>
        </p:txBody>
      </p:sp>
      <p:sp>
        <p:nvSpPr>
          <p:cNvPr id="66567" name="Text Box 9">
            <a:extLst>
              <a:ext uri="{FF2B5EF4-FFF2-40B4-BE49-F238E27FC236}">
                <a16:creationId xmlns:a16="http://schemas.microsoft.com/office/drawing/2014/main" id="{FF29C47C-C6F9-4E2F-9A93-783E88DCF073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2195513" y="3651250"/>
            <a:ext cx="187166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>
              <a:latin typeface="Tahoma" panose="020B0604030504040204" pitchFamily="34" charset="0"/>
            </a:endParaRPr>
          </a:p>
        </p:txBody>
      </p:sp>
      <p:sp>
        <p:nvSpPr>
          <p:cNvPr id="412683" name="Oval 11">
            <a:extLst>
              <a:ext uri="{FF2B5EF4-FFF2-40B4-BE49-F238E27FC236}">
                <a16:creationId xmlns:a16="http://schemas.microsoft.com/office/drawing/2014/main" id="{078D960A-0612-4916-849B-BB808039E07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55650" y="1484313"/>
            <a:ext cx="287338" cy="287337"/>
          </a:xfrm>
          <a:prstGeom prst="ellipse">
            <a:avLst/>
          </a:prstGeom>
          <a:noFill/>
          <a:ln w="25400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412684" name="Oval 12">
            <a:extLst>
              <a:ext uri="{FF2B5EF4-FFF2-40B4-BE49-F238E27FC236}">
                <a16:creationId xmlns:a16="http://schemas.microsoft.com/office/drawing/2014/main" id="{09BC6580-FA5D-419E-857E-D7A2DF49005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611188" y="2276475"/>
            <a:ext cx="287337" cy="287338"/>
          </a:xfrm>
          <a:prstGeom prst="ellipse">
            <a:avLst/>
          </a:prstGeom>
          <a:noFill/>
          <a:ln w="25400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412685" name="Oval 13">
            <a:extLst>
              <a:ext uri="{FF2B5EF4-FFF2-40B4-BE49-F238E27FC236}">
                <a16:creationId xmlns:a16="http://schemas.microsoft.com/office/drawing/2014/main" id="{90DF210F-2B2F-4E51-BE56-8DAD6909486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39750" y="2997200"/>
            <a:ext cx="287338" cy="287338"/>
          </a:xfrm>
          <a:prstGeom prst="ellipse">
            <a:avLst/>
          </a:prstGeom>
          <a:noFill/>
          <a:ln w="25400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412686" name="Oval 14">
            <a:extLst>
              <a:ext uri="{FF2B5EF4-FFF2-40B4-BE49-F238E27FC236}">
                <a16:creationId xmlns:a16="http://schemas.microsoft.com/office/drawing/2014/main" id="{50C23E85-9A9E-49B0-94F9-00A96EF677A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413000" y="3070225"/>
            <a:ext cx="287338" cy="287338"/>
          </a:xfrm>
          <a:prstGeom prst="ellipse">
            <a:avLst/>
          </a:prstGeom>
          <a:noFill/>
          <a:ln w="25400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412687" name="Oval 15">
            <a:extLst>
              <a:ext uri="{FF2B5EF4-FFF2-40B4-BE49-F238E27FC236}">
                <a16:creationId xmlns:a16="http://schemas.microsoft.com/office/drawing/2014/main" id="{F93D5D1F-91A1-4D95-85F5-63D01A2195A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411413" y="2309813"/>
            <a:ext cx="287337" cy="287337"/>
          </a:xfrm>
          <a:prstGeom prst="ellipse">
            <a:avLst/>
          </a:prstGeom>
          <a:noFill/>
          <a:ln w="25400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412690" name="Oval 18">
            <a:extLst>
              <a:ext uri="{FF2B5EF4-FFF2-40B4-BE49-F238E27FC236}">
                <a16:creationId xmlns:a16="http://schemas.microsoft.com/office/drawing/2014/main" id="{60F5EAE0-F4C6-4DB3-9A82-4466E6421AE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40200" y="3070225"/>
            <a:ext cx="287338" cy="287338"/>
          </a:xfrm>
          <a:prstGeom prst="ellipse">
            <a:avLst/>
          </a:prstGeom>
          <a:noFill/>
          <a:ln w="25400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412691" name="Oval 19">
            <a:extLst>
              <a:ext uri="{FF2B5EF4-FFF2-40B4-BE49-F238E27FC236}">
                <a16:creationId xmlns:a16="http://schemas.microsoft.com/office/drawing/2014/main" id="{B5040E2F-9EB8-4AFC-9D80-3297F023A1C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39750" y="3716338"/>
            <a:ext cx="287338" cy="287337"/>
          </a:xfrm>
          <a:prstGeom prst="ellipse">
            <a:avLst/>
          </a:prstGeom>
          <a:noFill/>
          <a:ln w="25400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412692" name="Oval 20">
            <a:extLst>
              <a:ext uri="{FF2B5EF4-FFF2-40B4-BE49-F238E27FC236}">
                <a16:creationId xmlns:a16="http://schemas.microsoft.com/office/drawing/2014/main" id="{6507D9EB-CEDF-47D7-8FDC-DBBD82E4958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997325" y="2276475"/>
            <a:ext cx="287338" cy="287338"/>
          </a:xfrm>
          <a:prstGeom prst="ellipse">
            <a:avLst/>
          </a:prstGeom>
          <a:noFill/>
          <a:ln w="25400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412693" name="Oval 21">
            <a:extLst>
              <a:ext uri="{FF2B5EF4-FFF2-40B4-BE49-F238E27FC236}">
                <a16:creationId xmlns:a16="http://schemas.microsoft.com/office/drawing/2014/main" id="{CB3A1085-9531-40E2-90DB-6B20C48C3E3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39750" y="4437063"/>
            <a:ext cx="287338" cy="287337"/>
          </a:xfrm>
          <a:prstGeom prst="ellipse">
            <a:avLst/>
          </a:prstGeom>
          <a:noFill/>
          <a:ln w="25400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412694" name="Oval 22">
            <a:extLst>
              <a:ext uri="{FF2B5EF4-FFF2-40B4-BE49-F238E27FC236}">
                <a16:creationId xmlns:a16="http://schemas.microsoft.com/office/drawing/2014/main" id="{0D47AFE7-312D-4C7A-AD04-3715FF4D79B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651500" y="2276475"/>
            <a:ext cx="287338" cy="287338"/>
          </a:xfrm>
          <a:prstGeom prst="ellipse">
            <a:avLst/>
          </a:prstGeom>
          <a:noFill/>
          <a:ln w="25400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412695" name="Oval 23">
            <a:extLst>
              <a:ext uri="{FF2B5EF4-FFF2-40B4-BE49-F238E27FC236}">
                <a16:creationId xmlns:a16="http://schemas.microsoft.com/office/drawing/2014/main" id="{D92444AD-6AA3-4506-995B-9F33BA4E4A5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308850" y="2276475"/>
            <a:ext cx="287338" cy="287338"/>
          </a:xfrm>
          <a:prstGeom prst="ellipse">
            <a:avLst/>
          </a:prstGeom>
          <a:noFill/>
          <a:ln w="25400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11BD9168-045E-4892-91C3-FCA71833CC5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367213" y="1325563"/>
            <a:ext cx="7921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1" algn="ctr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hlink"/>
                </a:solidFill>
              </a:rPr>
              <a:t>识别</a:t>
            </a:r>
            <a:r>
              <a:rPr lang="en-US" altLang="zh-CN" sz="2400">
                <a:solidFill>
                  <a:schemeClr val="hlink"/>
                </a:solidFill>
              </a:rPr>
              <a:t>a</a:t>
            </a:r>
            <a:endParaRPr lang="zh-CN" altLang="en-US" sz="2400">
              <a:solidFill>
                <a:schemeClr val="hlink"/>
              </a:solidFill>
            </a:endParaRPr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9281ED1C-10BD-4284-B948-9E423959299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103813" y="1331913"/>
            <a:ext cx="1952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1" algn="ctr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hlink"/>
                </a:solidFill>
              </a:rPr>
              <a:t>b</a:t>
            </a:r>
            <a:endParaRPr lang="zh-CN" altLang="en-US" sz="2400">
              <a:solidFill>
                <a:schemeClr val="hlink"/>
              </a:solidFill>
            </a:endParaRP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1D6CB5DF-CEE6-440F-ACB6-0E700BE64D2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241925" y="1325563"/>
            <a:ext cx="1952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1" algn="ctr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hlink"/>
                </a:solidFill>
              </a:rPr>
              <a:t>b</a:t>
            </a:r>
            <a:endParaRPr lang="zh-CN" altLang="en-US" sz="2400">
              <a:solidFill>
                <a:schemeClr val="hlink"/>
              </a:solidFill>
            </a:endParaRPr>
          </a:p>
        </p:txBody>
      </p:sp>
      <p:sp>
        <p:nvSpPr>
          <p:cNvPr id="23" name="Rectangle 10">
            <a:extLst>
              <a:ext uri="{FF2B5EF4-FFF2-40B4-BE49-F238E27FC236}">
                <a16:creationId xmlns:a16="http://schemas.microsoft.com/office/drawing/2014/main" id="{AAFB0D28-0FFD-4FE4-8F67-944EDFBCDE5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389563" y="1323975"/>
            <a:ext cx="1952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1" algn="ctr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hlink"/>
                </a:solidFill>
              </a:rPr>
              <a:t>c</a:t>
            </a:r>
            <a:endParaRPr lang="zh-CN" altLang="en-US" sz="2400">
              <a:solidFill>
                <a:schemeClr val="hlink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7D5FDAE-132E-4BC0-A1B9-64E0B230F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075" y="1671638"/>
            <a:ext cx="2217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Tahoma" panose="020B0604030504040204" pitchFamily="34" charset="0"/>
                <a:sym typeface="Symbol" panose="05050102010706020507" pitchFamily="18" charset="2"/>
              </a:rPr>
              <a:t>归约：</a:t>
            </a:r>
            <a:r>
              <a:rPr lang="en-US" altLang="zh-CN" sz="2400" b="1">
                <a:latin typeface="Tahoma" panose="020B0604030504040204" pitchFamily="34" charset="0"/>
                <a:sym typeface="Symbol" panose="05050102010706020507" pitchFamily="18" charset="2"/>
              </a:rPr>
              <a:t>AA</a:t>
            </a:r>
            <a:r>
              <a:rPr lang="en-US" altLang="zh-CN" sz="2400" b="1">
                <a:solidFill>
                  <a:schemeClr val="accent2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bc</a:t>
            </a:r>
            <a:r>
              <a:rPr lang="en-US" altLang="zh-CN" sz="2400" b="1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0D2AE06-145E-41A7-8052-8F6F52CC2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5" y="1666875"/>
            <a:ext cx="1809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Tahoma" panose="020B0604030504040204" pitchFamily="34" charset="0"/>
                <a:sym typeface="Symbol" panose="05050102010706020507" pitchFamily="18" charset="2"/>
              </a:rPr>
              <a:t>归约：</a:t>
            </a:r>
            <a:r>
              <a:rPr lang="en-US" altLang="zh-CN" sz="2400" b="1">
                <a:latin typeface="Tahoma" panose="020B0604030504040204" pitchFamily="34" charset="0"/>
                <a:sym typeface="Symbol" panose="05050102010706020507" pitchFamily="18" charset="2"/>
              </a:rPr>
              <a:t>A</a:t>
            </a:r>
            <a:r>
              <a:rPr lang="en-US" altLang="zh-CN" sz="2400" b="1">
                <a:solidFill>
                  <a:schemeClr val="accent2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2400" b="1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31A2F35-04F2-4A1E-A886-1F6FFFEE69B3}"/>
              </a:ext>
            </a:extLst>
          </p:cNvPr>
          <p:cNvSpPr/>
          <p:nvPr/>
        </p:nvSpPr>
        <p:spPr>
          <a:xfrm>
            <a:off x="1042988" y="6307138"/>
            <a:ext cx="5711825" cy="3143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609600" indent="-609600" eaLnBrk="1" hangingPunct="1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S</a:t>
            </a:r>
            <a:r>
              <a:rPr lang="en-US" altLang="zh-CN" b="1" kern="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 </a:t>
            </a:r>
            <a:r>
              <a:rPr lang="en-US" altLang="zh-CN" b="1" u="sng" kern="0" dirty="0" err="1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aABe</a:t>
            </a:r>
            <a:r>
              <a:rPr lang="en-US" altLang="zh-CN" b="1" kern="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   </a:t>
            </a:r>
            <a:r>
              <a:rPr lang="en-US" altLang="zh-CN" b="1" kern="0" dirty="0" err="1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aA</a:t>
            </a:r>
            <a:r>
              <a:rPr lang="en-US" altLang="zh-CN" b="1" u="sng" kern="0" dirty="0" err="1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d</a:t>
            </a:r>
            <a:r>
              <a:rPr lang="en-US" altLang="zh-CN" b="1" kern="0" dirty="0" err="1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e</a:t>
            </a:r>
            <a:r>
              <a:rPr lang="en-US" altLang="zh-CN" b="1" kern="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   </a:t>
            </a:r>
            <a:r>
              <a:rPr lang="en-US" altLang="zh-CN" b="1" kern="0" dirty="0" err="1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a</a:t>
            </a:r>
            <a:r>
              <a:rPr lang="en-US" altLang="zh-CN" b="1" u="sng" kern="0" dirty="0" err="1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Abc</a:t>
            </a:r>
            <a:r>
              <a:rPr lang="en-US" altLang="zh-CN" b="1" kern="0" dirty="0" err="1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de</a:t>
            </a:r>
            <a:r>
              <a:rPr lang="en-US" altLang="zh-CN" b="1" kern="0" dirty="0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   </a:t>
            </a:r>
            <a:r>
              <a:rPr lang="en-US" altLang="zh-CN" b="1" kern="0" dirty="0" err="1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a</a:t>
            </a:r>
            <a:r>
              <a:rPr lang="en-US" altLang="zh-CN" b="1" u="sng" kern="0" dirty="0" err="1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b</a:t>
            </a:r>
            <a:r>
              <a:rPr lang="en-US" altLang="zh-CN" b="1" kern="0" dirty="0" err="1">
                <a:solidFill>
                  <a:srgbClr val="000000"/>
                </a:solidFill>
                <a:latin typeface="Times New Roman"/>
                <a:ea typeface="宋体"/>
                <a:sym typeface="Symbol" panose="05050102010706020507" pitchFamily="18" charset="2"/>
              </a:rPr>
              <a:t>bcde</a:t>
            </a:r>
            <a:endParaRPr lang="en-US" altLang="zh-CN" b="1" kern="0" dirty="0">
              <a:solidFill>
                <a:srgbClr val="000000"/>
              </a:solidFill>
              <a:latin typeface="Times New Roman"/>
              <a:ea typeface="宋体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15785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7" dur="1000"/>
                                        <p:tgtEl>
                                          <p:spTgt spid="412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10" dur="1000"/>
                                        <p:tgtEl>
                                          <p:spTgt spid="412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22" dur="1000"/>
                                        <p:tgtEl>
                                          <p:spTgt spid="412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25" dur="1000"/>
                                        <p:tgtEl>
                                          <p:spTgt spid="412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28" dur="1000"/>
                                        <p:tgtEl>
                                          <p:spTgt spid="412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42" dur="1000"/>
                                        <p:tgtEl>
                                          <p:spTgt spid="412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3" presetClass="entr" presetSubtype="3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53" dur="1000"/>
                                        <p:tgtEl>
                                          <p:spTgt spid="412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3" presetClass="entr" presetSubtype="3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56" dur="1000"/>
                                        <p:tgtEl>
                                          <p:spTgt spid="412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3" presetClass="entr" presetSubtype="3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59" dur="1000"/>
                                        <p:tgtEl>
                                          <p:spTgt spid="412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70" dur="1000"/>
                                        <p:tgtEl>
                                          <p:spTgt spid="41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73" dur="1000"/>
                                        <p:tgtEl>
                                          <p:spTgt spid="412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76" dur="1000"/>
                                        <p:tgtEl>
                                          <p:spTgt spid="412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90" dur="1000"/>
                                        <p:tgtEl>
                                          <p:spTgt spid="412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100" dur="1000"/>
                                        <p:tgtEl>
                                          <p:spTgt spid="412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3" presetClass="entr" presetSubtype="32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111" dur="1000"/>
                                        <p:tgtEl>
                                          <p:spTgt spid="412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3" presetClass="entr" presetSubtype="32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114" dur="1000"/>
                                        <p:tgtEl>
                                          <p:spTgt spid="412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3" presetClass="entr" presetSubtype="32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117" dur="1000"/>
                                        <p:tgtEl>
                                          <p:spTgt spid="412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3" presetClass="entr" presetSubtype="3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128" dur="1000"/>
                                        <p:tgtEl>
                                          <p:spTgt spid="41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3" presetClass="entr" presetSubtype="3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131" dur="1000"/>
                                        <p:tgtEl>
                                          <p:spTgt spid="412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3" presetClass="entr" presetSubtype="3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134" dur="1000"/>
                                        <p:tgtEl>
                                          <p:spTgt spid="412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683" grpId="0" animBg="1"/>
      <p:bldP spid="412683" grpId="1" animBg="1"/>
      <p:bldP spid="412684" grpId="0" animBg="1"/>
      <p:bldP spid="412684" grpId="1" animBg="1"/>
      <p:bldP spid="412685" grpId="0" animBg="1"/>
      <p:bldP spid="412685" grpId="1" animBg="1"/>
      <p:bldP spid="412685" grpId="2" animBg="1"/>
      <p:bldP spid="412685" grpId="3" animBg="1"/>
      <p:bldP spid="412685" grpId="4" animBg="1"/>
      <p:bldP spid="412685" grpId="5" animBg="1"/>
      <p:bldP spid="412686" grpId="0" animBg="1"/>
      <p:bldP spid="412686" grpId="1" animBg="1"/>
      <p:bldP spid="412686" grpId="2" animBg="1"/>
      <p:bldP spid="412686" grpId="3" animBg="1"/>
      <p:bldP spid="412686" grpId="4" animBg="1"/>
      <p:bldP spid="412686" grpId="5" animBg="1"/>
      <p:bldP spid="412687" grpId="0" animBg="1"/>
      <p:bldP spid="412687" grpId="1" animBg="1"/>
      <p:bldP spid="412687" grpId="2" animBg="1"/>
      <p:bldP spid="412687" grpId="3" animBg="1"/>
      <p:bldP spid="412687" grpId="4" animBg="1"/>
      <p:bldP spid="412687" grpId="5" animBg="1"/>
      <p:bldP spid="412690" grpId="0" animBg="1"/>
      <p:bldP spid="412690" grpId="1" animBg="1"/>
      <p:bldP spid="412691" grpId="0" animBg="1"/>
      <p:bldP spid="412691" grpId="1" animBg="1"/>
      <p:bldP spid="412691" grpId="2" animBg="1"/>
      <p:bldP spid="412692" grpId="0" animBg="1"/>
      <p:bldP spid="412692" grpId="1" animBg="1"/>
      <p:bldP spid="412692" grpId="2" animBg="1"/>
      <p:bldP spid="412693" grpId="0" animBg="1"/>
      <p:bldP spid="412693" grpId="1" animBg="1"/>
      <p:bldP spid="412693" grpId="2" animBg="1"/>
      <p:bldP spid="412694" grpId="0" animBg="1"/>
      <p:bldP spid="412694" grpId="1" animBg="1"/>
      <p:bldP spid="412695" grpId="0" animBg="1"/>
      <p:bldP spid="412695" grpId="1" animBg="1"/>
      <p:bldP spid="20" grpId="0"/>
      <p:bldP spid="21" grpId="0"/>
      <p:bldP spid="22" grpId="0"/>
      <p:bldP spid="23" grpId="0"/>
      <p:bldP spid="2" grpId="0"/>
      <p:bldP spid="3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A32809FC-5D2B-4285-A4C6-82EFC525FA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closure</a:t>
            </a:r>
            <a:r>
              <a:rPr lang="zh-CN" altLang="en-US"/>
              <a:t>函数的计算</a:t>
            </a:r>
          </a:p>
        </p:txBody>
      </p:sp>
      <p:sp>
        <p:nvSpPr>
          <p:cNvPr id="306179" name="Rectangle 3">
            <a:extLst>
              <a:ext uri="{FF2B5EF4-FFF2-40B4-BE49-F238E27FC236}">
                <a16:creationId xmlns:a16="http://schemas.microsoft.com/office/drawing/2014/main" id="{A37AA9CC-9780-40AD-B25C-538992957D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648200"/>
          </a:xfrm>
        </p:spPr>
        <p:txBody>
          <a:bodyPr/>
          <a:lstStyle/>
          <a:p>
            <a:pPr marL="609600" indent="-609600" eaLnBrk="1" hangingPunct="1">
              <a:defRPr/>
            </a:pPr>
            <a:r>
              <a:rPr lang="en-US" altLang="zh-CN" sz="2800" dirty="0"/>
              <a:t>I</a:t>
            </a:r>
            <a:r>
              <a:rPr lang="zh-CN" altLang="en-US" sz="2800" dirty="0"/>
              <a:t>为项目集，则</a:t>
            </a:r>
            <a:r>
              <a:rPr lang="en-US" altLang="zh-CN" sz="2800" dirty="0"/>
              <a:t>closure(I)</a:t>
            </a:r>
            <a:r>
              <a:rPr lang="zh-CN" altLang="en-US" sz="2800" dirty="0"/>
              <a:t>为按下列规则构造的项目集：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  <a:defRPr/>
            </a:pPr>
            <a:r>
              <a:rPr lang="zh-CN" altLang="en-US" sz="2400" dirty="0"/>
              <a:t>初始，</a:t>
            </a:r>
            <a:r>
              <a:rPr lang="en-US" altLang="zh-CN" sz="2400" dirty="0"/>
              <a:t>I</a:t>
            </a:r>
            <a:r>
              <a:rPr lang="zh-CN" altLang="en-US" sz="2400" dirty="0"/>
              <a:t>中项目都加入</a:t>
            </a:r>
            <a:r>
              <a:rPr lang="en-US" altLang="zh-CN" sz="2400" dirty="0"/>
              <a:t>closure(I)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  <a:defRPr/>
            </a:pPr>
            <a:r>
              <a:rPr lang="en-US" altLang="zh-CN" sz="2400" dirty="0" err="1"/>
              <a:t>A</a:t>
            </a:r>
            <a:r>
              <a:rPr kumimoji="0" lang="en-US" altLang="zh-CN" sz="2400" dirty="0" err="1">
                <a:sym typeface="Symbol" pitchFamily="18" charset="2"/>
              </a:rPr>
              <a:t></a:t>
            </a:r>
            <a:r>
              <a:rPr kumimoji="0" lang="en-US" altLang="zh-CN" sz="2400" dirty="0" err="1">
                <a:latin typeface="Symbol" pitchFamily="18" charset="2"/>
                <a:sym typeface="Symbol" pitchFamily="18" charset="2"/>
              </a:rPr>
              <a:t>a</a:t>
            </a:r>
            <a:r>
              <a:rPr kumimoji="0" lang="en-US" altLang="zh-CN" sz="2400" dirty="0" err="1">
                <a:sym typeface="Symbol" pitchFamily="18" charset="2"/>
              </a:rPr>
              <a:t>·B</a:t>
            </a:r>
            <a:r>
              <a:rPr kumimoji="0" lang="en-US" altLang="zh-CN" sz="2400" dirty="0" err="1">
                <a:latin typeface="Symbol" pitchFamily="18" charset="2"/>
                <a:sym typeface="Symbol" pitchFamily="18" charset="2"/>
              </a:rPr>
              <a:t>b</a:t>
            </a:r>
            <a:r>
              <a:rPr kumimoji="0" lang="en-US" altLang="zh-CN" sz="2400" dirty="0" err="1">
                <a:latin typeface="+mj-lt"/>
                <a:sym typeface="Symbol" pitchFamily="18" charset="2"/>
              </a:rPr>
              <a:t>∈</a:t>
            </a:r>
            <a:r>
              <a:rPr kumimoji="0" lang="en-US" altLang="zh-CN" sz="2400" dirty="0" err="1">
                <a:sym typeface="Symbol" pitchFamily="18" charset="2"/>
              </a:rPr>
              <a:t>closure</a:t>
            </a:r>
            <a:r>
              <a:rPr kumimoji="0" lang="en-US" altLang="zh-CN" sz="2400" dirty="0">
                <a:sym typeface="Symbol" pitchFamily="18" charset="2"/>
              </a:rPr>
              <a:t>(I)</a:t>
            </a:r>
            <a:r>
              <a:rPr kumimoji="0" lang="zh-CN" altLang="en-US" sz="2400" dirty="0">
                <a:sym typeface="Symbol" pitchFamily="18" charset="2"/>
              </a:rPr>
              <a:t>，存在产生式</a:t>
            </a:r>
            <a:r>
              <a:rPr kumimoji="0" lang="en-US" altLang="zh-CN" sz="2400" dirty="0" err="1">
                <a:sym typeface="Symbol" pitchFamily="18" charset="2"/>
              </a:rPr>
              <a:t>B</a:t>
            </a:r>
            <a:r>
              <a:rPr kumimoji="0" lang="en-US" altLang="zh-CN" sz="2400" dirty="0" err="1">
                <a:latin typeface="Symbol" pitchFamily="18" charset="2"/>
                <a:sym typeface="Symbol" pitchFamily="18" charset="2"/>
              </a:rPr>
              <a:t>g</a:t>
            </a:r>
            <a:r>
              <a:rPr kumimoji="0" lang="zh-CN" altLang="en-US" sz="2400" dirty="0">
                <a:latin typeface="Symbol" pitchFamily="18" charset="2"/>
                <a:sym typeface="Symbol" pitchFamily="18" charset="2"/>
              </a:rPr>
              <a:t>，</a:t>
            </a:r>
            <a:r>
              <a:rPr kumimoji="0" lang="zh-CN" altLang="en-US" sz="2400" dirty="0">
                <a:latin typeface="Symbol" pitchFamily="18" charset="2"/>
                <a:sym typeface="Wingdings" pitchFamily="2" charset="2"/>
              </a:rPr>
              <a:t>则将 </a:t>
            </a:r>
            <a:r>
              <a:rPr kumimoji="0" lang="en-US" altLang="zh-CN" sz="2400" dirty="0">
                <a:sym typeface="Symbol" pitchFamily="18" charset="2"/>
              </a:rPr>
              <a:t>B·</a:t>
            </a:r>
            <a:r>
              <a:rPr kumimoji="0" lang="en-US" altLang="zh-CN" sz="2400" dirty="0">
                <a:latin typeface="Symbol" pitchFamily="18" charset="2"/>
                <a:sym typeface="Symbol" pitchFamily="18" charset="2"/>
              </a:rPr>
              <a:t>g</a:t>
            </a:r>
            <a:r>
              <a:rPr kumimoji="0" lang="zh-CN" altLang="en-US" sz="2400" dirty="0">
                <a:latin typeface="Symbol" pitchFamily="18" charset="2"/>
                <a:sym typeface="Symbol" pitchFamily="18" charset="2"/>
              </a:rPr>
              <a:t>添加进</a:t>
            </a:r>
            <a:r>
              <a:rPr kumimoji="0" lang="en-US" altLang="zh-CN" sz="2400" dirty="0">
                <a:sym typeface="Symbol" pitchFamily="18" charset="2"/>
              </a:rPr>
              <a:t>closure(I) 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  <a:defRPr/>
            </a:pPr>
            <a:r>
              <a:rPr kumimoji="0" lang="zh-CN" altLang="en-US" sz="2400" dirty="0">
                <a:sym typeface="Symbol" pitchFamily="18" charset="2"/>
              </a:rPr>
              <a:t>重复</a:t>
            </a:r>
            <a:r>
              <a:rPr kumimoji="0" lang="en-US" altLang="zh-CN" sz="2400" dirty="0">
                <a:sym typeface="Symbol" pitchFamily="18" charset="2"/>
              </a:rPr>
              <a:t>2</a:t>
            </a:r>
            <a:r>
              <a:rPr kumimoji="0" lang="zh-CN" altLang="en-US" sz="2400" dirty="0">
                <a:sym typeface="Symbol" pitchFamily="18" charset="2"/>
              </a:rPr>
              <a:t>直至没有新的项目加入闭包。</a:t>
            </a:r>
          </a:p>
          <a:p>
            <a:pPr marL="990600" lvl="1" indent="-533400" eaLnBrk="1" hangingPunct="1">
              <a:buFont typeface="Wingdings" panose="05000000000000000000" pitchFamily="2" charset="2"/>
              <a:buNone/>
              <a:defRPr/>
            </a:pPr>
            <a:r>
              <a:rPr kumimoji="0" lang="en-US" altLang="zh-CN" sz="2400" dirty="0">
                <a:solidFill>
                  <a:schemeClr val="hlink"/>
                </a:solidFill>
                <a:latin typeface="Symbol" pitchFamily="18" charset="2"/>
                <a:sym typeface="Symbol" pitchFamily="18" charset="2"/>
              </a:rPr>
              <a:t>e</a:t>
            </a:r>
            <a:r>
              <a:rPr kumimoji="0" lang="en-US" altLang="zh-CN" sz="2400" dirty="0">
                <a:solidFill>
                  <a:schemeClr val="hlink"/>
                </a:solidFill>
                <a:sym typeface="Symbol" pitchFamily="18" charset="2"/>
              </a:rPr>
              <a:t>-closure</a:t>
            </a:r>
            <a:r>
              <a:rPr kumimoji="0" lang="zh-CN" altLang="en-US" sz="2400" dirty="0">
                <a:solidFill>
                  <a:schemeClr val="hlink"/>
                </a:solidFill>
                <a:sym typeface="Symbol" pitchFamily="18" charset="2"/>
              </a:rPr>
              <a:t>闭包！</a:t>
            </a:r>
          </a:p>
          <a:p>
            <a:pPr marL="609600" indent="-609600" eaLnBrk="1" hangingPunct="1">
              <a:defRPr/>
            </a:pPr>
            <a:r>
              <a:rPr lang="en-US" altLang="zh-CN" sz="2800" dirty="0" err="1"/>
              <a:t>A</a:t>
            </a:r>
            <a:r>
              <a:rPr kumimoji="0" lang="en-US" altLang="zh-CN" sz="2800" dirty="0" err="1">
                <a:sym typeface="Symbol" pitchFamily="18" charset="2"/>
              </a:rPr>
              <a:t></a:t>
            </a:r>
            <a:r>
              <a:rPr kumimoji="0" lang="en-US" altLang="zh-CN" sz="2800" dirty="0" err="1">
                <a:latin typeface="Symbol" pitchFamily="18" charset="2"/>
                <a:sym typeface="Symbol" pitchFamily="18" charset="2"/>
              </a:rPr>
              <a:t>a</a:t>
            </a:r>
            <a:r>
              <a:rPr kumimoji="0" lang="en-US" altLang="zh-CN" sz="2800" dirty="0" err="1">
                <a:sym typeface="Symbol" pitchFamily="18" charset="2"/>
              </a:rPr>
              <a:t>·B</a:t>
            </a:r>
            <a:r>
              <a:rPr kumimoji="0" lang="en-US" altLang="zh-CN" sz="2800" dirty="0" err="1">
                <a:latin typeface="Symbol" pitchFamily="18" charset="2"/>
                <a:sym typeface="Symbol" pitchFamily="18" charset="2"/>
              </a:rPr>
              <a:t>b</a:t>
            </a:r>
            <a:r>
              <a:rPr kumimoji="0" lang="en-US" altLang="zh-CN" sz="2800" dirty="0">
                <a:sym typeface="Symbol" pitchFamily="18" charset="2"/>
              </a:rPr>
              <a:t>——</a:t>
            </a:r>
            <a:r>
              <a:rPr kumimoji="0" lang="zh-CN" altLang="en-US" sz="2800" dirty="0">
                <a:latin typeface="Symbol" pitchFamily="18" charset="2"/>
                <a:sym typeface="Symbol" pitchFamily="18" charset="2"/>
              </a:rPr>
              <a:t>期待用输入缓冲中内容拼出</a:t>
            </a:r>
            <a:r>
              <a:rPr kumimoji="0" lang="en-US" altLang="zh-CN" sz="2800" dirty="0">
                <a:latin typeface="Symbol" pitchFamily="18" charset="2"/>
                <a:sym typeface="Symbol" pitchFamily="18" charset="2"/>
              </a:rPr>
              <a:t>Bb</a:t>
            </a:r>
            <a:br>
              <a:rPr kumimoji="0" lang="en-US" altLang="zh-CN" sz="2800" dirty="0">
                <a:latin typeface="Symbol" pitchFamily="18" charset="2"/>
                <a:sym typeface="Symbol" pitchFamily="18" charset="2"/>
              </a:rPr>
            </a:br>
            <a:r>
              <a:rPr kumimoji="0" lang="zh-CN" altLang="en-US" sz="2800" dirty="0">
                <a:latin typeface="Symbol" pitchFamily="18" charset="2"/>
                <a:sym typeface="Symbol" pitchFamily="18" charset="2"/>
              </a:rPr>
              <a:t>存在产生式</a:t>
            </a:r>
            <a:r>
              <a:rPr kumimoji="0" lang="en-US" altLang="zh-CN" sz="2800" dirty="0" err="1">
                <a:sym typeface="Symbol" pitchFamily="18" charset="2"/>
              </a:rPr>
              <a:t>B</a:t>
            </a:r>
            <a:r>
              <a:rPr kumimoji="0" lang="en-US" altLang="zh-CN" sz="2800" dirty="0" err="1">
                <a:latin typeface="Symbol" pitchFamily="18" charset="2"/>
                <a:sym typeface="Symbol" pitchFamily="18" charset="2"/>
              </a:rPr>
              <a:t>g</a:t>
            </a:r>
            <a:r>
              <a:rPr kumimoji="0" lang="en-US" altLang="zh-CN" sz="2800" dirty="0">
                <a:latin typeface="Symbol" pitchFamily="18" charset="2"/>
                <a:sym typeface="Symbol" pitchFamily="18" charset="2"/>
              </a:rPr>
              <a:t> </a:t>
            </a:r>
            <a:r>
              <a:rPr kumimoji="0" lang="en-US" altLang="zh-CN" sz="2800" dirty="0">
                <a:latin typeface="Symbol" pitchFamily="18" charset="2"/>
                <a:sym typeface="Wingdings" pitchFamily="2" charset="2"/>
              </a:rPr>
              <a:t> </a:t>
            </a:r>
            <a:r>
              <a:rPr kumimoji="0" lang="zh-CN" altLang="en-US" sz="2800" dirty="0">
                <a:latin typeface="Symbol" pitchFamily="18" charset="2"/>
                <a:sym typeface="Wingdings" pitchFamily="2" charset="2"/>
              </a:rPr>
              <a:t>先考虑拼出</a:t>
            </a:r>
            <a:r>
              <a:rPr kumimoji="0" lang="en-US" altLang="zh-CN" sz="2800" dirty="0">
                <a:latin typeface="Symbol" pitchFamily="18" charset="2"/>
                <a:sym typeface="Symbol" pitchFamily="18" charset="2"/>
              </a:rPr>
              <a:t>g</a:t>
            </a:r>
            <a:r>
              <a:rPr kumimoji="0" lang="zh-CN" altLang="en-US" sz="2800" dirty="0">
                <a:latin typeface="Symbol" pitchFamily="18" charset="2"/>
                <a:sym typeface="Symbol" pitchFamily="18" charset="2"/>
              </a:rPr>
              <a:t>，再拼出</a:t>
            </a:r>
            <a:r>
              <a:rPr kumimoji="0" lang="en-US" altLang="zh-CN" sz="2800" dirty="0">
                <a:latin typeface="Symbol" pitchFamily="18" charset="2"/>
                <a:sym typeface="Symbol" pitchFamily="18" charset="2"/>
              </a:rPr>
              <a:t>B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35C26E4-0173-45CF-B8E4-5AE00072E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975" y="3213100"/>
            <a:ext cx="1931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90600" indent="-53340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1800">
                <a:solidFill>
                  <a:schemeClr val="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两者间有</a:t>
            </a:r>
            <a:r>
              <a:rPr kumimoji="0" lang="en-US" altLang="zh-CN" sz="1800">
                <a:solidFill>
                  <a:schemeClr val="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sz="1800">
                <a:solidFill>
                  <a:schemeClr val="hlink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边！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86726A31-CB8C-4E5B-A7BB-94981558FB36}"/>
              </a:ext>
            </a:extLst>
          </p:cNvPr>
          <p:cNvCxnSpPr>
            <a:cxnSpLocks noChangeShapeType="1"/>
            <a:stCxn id="2" idx="3"/>
          </p:cNvCxnSpPr>
          <p:nvPr/>
        </p:nvCxnSpPr>
        <p:spPr bwMode="auto">
          <a:xfrm flipV="1">
            <a:off x="1751013" y="2971800"/>
            <a:ext cx="517525" cy="425450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B6CCA64-F674-4A7A-808B-0428BFB61594}"/>
              </a:ext>
            </a:extLst>
          </p:cNvPr>
          <p:cNvCxnSpPr>
            <a:cxnSpLocks noChangeShapeType="1"/>
            <a:stCxn id="2" idx="3"/>
          </p:cNvCxnSpPr>
          <p:nvPr/>
        </p:nvCxnSpPr>
        <p:spPr bwMode="auto">
          <a:xfrm>
            <a:off x="1751013" y="3397250"/>
            <a:ext cx="517525" cy="0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1F9E34A7-3DC0-4D07-B20C-0AF1C3E1E7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closure</a:t>
            </a:r>
            <a:r>
              <a:rPr lang="zh-CN" altLang="en-US"/>
              <a:t>函数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4E5915C1-4D2F-445A-88FE-FBD303A854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latin typeface="Lucida Sans Unicode" panose="020B0602030504020204" pitchFamily="34" charset="0"/>
                <a:sym typeface="Symbol" panose="05050102010706020507" pitchFamily="18" charset="2"/>
              </a:rPr>
              <a:t>Function closure(I)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latin typeface="Lucida Sans Unicode" panose="020B0602030504020204" pitchFamily="34" charset="0"/>
                <a:sym typeface="Symbol" panose="05050102010706020507" pitchFamily="18" charset="2"/>
              </a:rPr>
              <a:t>{	J=I;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latin typeface="Lucida Sans Unicode" panose="020B0602030504020204" pitchFamily="34" charset="0"/>
                <a:sym typeface="Symbol" panose="05050102010706020507" pitchFamily="18" charset="2"/>
              </a:rPr>
              <a:t>	repeat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latin typeface="Lucida Sans Unicode" panose="020B0602030504020204" pitchFamily="34" charset="0"/>
                <a:sym typeface="Symbol" panose="05050102010706020507" pitchFamily="18" charset="2"/>
              </a:rPr>
              <a:t>		for</a:t>
            </a:r>
            <a:r>
              <a:rPr lang="en-US" altLang="zh-CN" sz="2400">
                <a:latin typeface="Lucida Sans Unicode" panose="020B0602030504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400">
                <a:sym typeface="Symbol" panose="05050102010706020507" pitchFamily="18" charset="2"/>
              </a:rPr>
              <a:t>J</a:t>
            </a:r>
            <a:r>
              <a:rPr lang="zh-CN" altLang="en-US" sz="2400">
                <a:sym typeface="Symbol" panose="05050102010706020507" pitchFamily="18" charset="2"/>
              </a:rPr>
              <a:t>中每个</a:t>
            </a:r>
            <a:r>
              <a:rPr lang="en-US" altLang="zh-CN" sz="2400" b="1">
                <a:latin typeface="Lucida Sans Unicode" panose="020B0602030504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sym typeface="Symbol" panose="05050102010706020507" pitchFamily="18" charset="2"/>
              </a:rPr>
              <a:t> .B </a:t>
            </a:r>
            <a:r>
              <a:rPr lang="zh-CN" altLang="en-US" sz="2400">
                <a:sym typeface="Symbol" panose="05050102010706020507" pitchFamily="18" charset="2"/>
              </a:rPr>
              <a:t>和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ym typeface="Symbol" panose="05050102010706020507" pitchFamily="18" charset="2"/>
              </a:rPr>
              <a:t>		       </a:t>
            </a:r>
            <a:r>
              <a:rPr lang="en-US" altLang="zh-CN" sz="2400">
                <a:sym typeface="Symbol" panose="05050102010706020507" pitchFamily="18" charset="2"/>
              </a:rPr>
              <a:t>G</a:t>
            </a:r>
            <a:r>
              <a:rPr lang="zh-CN" altLang="en-US" sz="2400">
                <a:sym typeface="Symbol" panose="05050102010706020507" pitchFamily="18" charset="2"/>
              </a:rPr>
              <a:t>的每个产生式</a:t>
            </a:r>
            <a:r>
              <a:rPr lang="en-US" altLang="zh-CN" sz="2400" b="1">
                <a:sym typeface="Symbol" panose="05050102010706020507" pitchFamily="18" charset="2"/>
              </a:rPr>
              <a:t>B</a:t>
            </a:r>
            <a:r>
              <a:rPr lang="zh-CN" altLang="en-US" sz="2400">
                <a:sym typeface="Symbol" panose="05050102010706020507" pitchFamily="18" charset="2"/>
              </a:rPr>
              <a:t>，</a:t>
            </a:r>
            <a:r>
              <a:rPr lang="en-US" altLang="zh-CN" sz="2400" b="1">
                <a:sym typeface="Symbol" panose="05050102010706020507" pitchFamily="18" charset="2"/>
              </a:rPr>
              <a:t>B.</a:t>
            </a:r>
            <a:r>
              <a:rPr lang="zh-CN" altLang="en-US" sz="2400">
                <a:sym typeface="Symbol" panose="05050102010706020507" pitchFamily="18" charset="2"/>
              </a:rPr>
              <a:t>不在</a:t>
            </a:r>
            <a:r>
              <a:rPr lang="en-US" altLang="zh-CN" sz="2400">
                <a:sym typeface="Symbol" panose="05050102010706020507" pitchFamily="18" charset="2"/>
              </a:rPr>
              <a:t>J</a:t>
            </a:r>
            <a:r>
              <a:rPr lang="zh-CN" altLang="en-US" sz="2400">
                <a:sym typeface="Symbol" panose="05050102010706020507" pitchFamily="18" charset="2"/>
              </a:rPr>
              <a:t>中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ym typeface="Symbol" panose="05050102010706020507" pitchFamily="18" charset="2"/>
              </a:rPr>
              <a:t>			将</a:t>
            </a:r>
            <a:r>
              <a:rPr lang="en-US" altLang="zh-CN" sz="2400" b="1">
                <a:sym typeface="Symbol" panose="05050102010706020507" pitchFamily="18" charset="2"/>
              </a:rPr>
              <a:t>B.</a:t>
            </a:r>
            <a:r>
              <a:rPr lang="zh-CN" altLang="en-US" sz="2400">
                <a:sym typeface="Symbol" panose="05050102010706020507" pitchFamily="18" charset="2"/>
              </a:rPr>
              <a:t>加入</a:t>
            </a:r>
            <a:r>
              <a:rPr lang="en-US" altLang="zh-CN" sz="2400" b="1">
                <a:sym typeface="Symbol" panose="05050102010706020507" pitchFamily="18" charset="2"/>
              </a:rPr>
              <a:t>J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	until </a:t>
            </a:r>
            <a:r>
              <a:rPr lang="zh-CN" altLang="en-US" sz="2400">
                <a:sym typeface="Symbol" panose="05050102010706020507" pitchFamily="18" charset="2"/>
              </a:rPr>
              <a:t>没有新的项目加入</a:t>
            </a:r>
            <a:r>
              <a:rPr lang="en-US" altLang="zh-CN" sz="2400" b="1">
                <a:sym typeface="Symbol" panose="05050102010706020507" pitchFamily="18" charset="2"/>
              </a:rPr>
              <a:t>J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	return J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}</a:t>
            </a:r>
            <a:endParaRPr lang="en-US" altLang="zh-CN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96BA7C7B-4A65-4AD7-ABB8-BDC6DE9606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4.34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D1AC098B-2A6D-48DA-B9DB-A0F7C2751C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E’ </a:t>
            </a:r>
            <a:r>
              <a:rPr kumimoji="0" lang="en-US" altLang="zh-CN" sz="2800">
                <a:sym typeface="Symbol" panose="05050102010706020507" pitchFamily="18" charset="2"/>
              </a:rPr>
              <a:t> E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/>
              <a:t>E </a:t>
            </a:r>
            <a:r>
              <a:rPr kumimoji="0" lang="en-US" altLang="zh-CN" sz="2800">
                <a:sym typeface="Symbol" panose="05050102010706020507" pitchFamily="18" charset="2"/>
              </a:rPr>
              <a:t> E + T  |  T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T  T * F  |  F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F   ( E )  | id</a:t>
            </a:r>
            <a:endParaRPr lang="en-US" altLang="zh-CN" sz="2800"/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I = {</a:t>
            </a:r>
            <a:r>
              <a:rPr kumimoji="0" lang="en-US" altLang="zh-CN" sz="2800"/>
              <a:t>E’ </a:t>
            </a:r>
            <a:r>
              <a:rPr kumimoji="0" lang="en-US" altLang="zh-CN" sz="2800">
                <a:sym typeface="Symbol" panose="05050102010706020507" pitchFamily="18" charset="2"/>
              </a:rPr>
              <a:t> ·E}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closure(I) = {</a:t>
            </a:r>
            <a:r>
              <a:rPr kumimoji="0" lang="en-US" altLang="zh-CN" sz="2800"/>
              <a:t>E’</a:t>
            </a:r>
            <a:r>
              <a:rPr kumimoji="0" lang="en-US" altLang="zh-CN" sz="2800">
                <a:sym typeface="Symbol" panose="05050102010706020507" pitchFamily="18" charset="2"/>
              </a:rPr>
              <a:t>·E,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		 </a:t>
            </a:r>
            <a:r>
              <a:rPr kumimoji="0" lang="en-US" altLang="zh-CN" sz="2800"/>
              <a:t>E</a:t>
            </a:r>
            <a:r>
              <a:rPr kumimoji="0" lang="en-US" altLang="zh-CN" sz="2800">
                <a:sym typeface="Symbol" panose="05050102010706020507" pitchFamily="18" charset="2"/>
              </a:rPr>
              <a:t>·E+T, </a:t>
            </a:r>
            <a:r>
              <a:rPr kumimoji="0" lang="en-US" altLang="zh-CN" sz="2800"/>
              <a:t>E</a:t>
            </a:r>
            <a:r>
              <a:rPr kumimoji="0" lang="en-US" altLang="zh-CN" sz="2800">
                <a:sym typeface="Symbol" panose="05050102010706020507" pitchFamily="18" charset="2"/>
              </a:rPr>
              <a:t>·T,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		 T·T * F, T·F,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		 F·( E ), F · id }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5FA2482B-98A1-4760-8D4E-001DEC38E2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核心（</a:t>
            </a:r>
            <a:r>
              <a:rPr lang="en-US" altLang="zh-CN">
                <a:solidFill>
                  <a:schemeClr val="hlink"/>
                </a:solidFill>
              </a:rPr>
              <a:t>kernel</a:t>
            </a:r>
            <a:r>
              <a:rPr lang="zh-CN" altLang="en-US"/>
              <a:t>）项目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CD16E340-24D9-4A9D-B35A-32F29A3246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kumimoji="0" lang="en-US" altLang="zh-CN" sz="2800" dirty="0">
                <a:sym typeface="Symbol" panose="05050102010706020507" pitchFamily="18" charset="2"/>
              </a:rPr>
              <a:t>B·</a:t>
            </a:r>
            <a:r>
              <a:rPr kumimoji="0" lang="en-US" altLang="zh-CN" sz="2800" dirty="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kumimoji="0" lang="zh-CN" altLang="en-US" sz="2800" dirty="0">
                <a:latin typeface="Symbol" panose="05050102010706020507" pitchFamily="18" charset="2"/>
                <a:sym typeface="Symbol" panose="05050102010706020507" pitchFamily="18" charset="2"/>
              </a:rPr>
              <a:t>（</a:t>
            </a:r>
            <a:r>
              <a:rPr kumimoji="0" lang="zh-CN" altLang="en-US" sz="2800" dirty="0">
                <a:sym typeface="Symbol" panose="05050102010706020507" pitchFamily="18" charset="2"/>
              </a:rPr>
              <a:t>‘</a:t>
            </a:r>
            <a:r>
              <a:rPr kumimoji="0" lang="en-US" altLang="zh-CN" sz="2800" dirty="0">
                <a:sym typeface="Symbol" panose="05050102010706020507" pitchFamily="18" charset="2"/>
              </a:rPr>
              <a:t>·</a:t>
            </a:r>
            <a:r>
              <a:rPr kumimoji="0" lang="zh-CN" altLang="en-US" sz="2800" dirty="0">
                <a:sym typeface="Symbol" panose="05050102010706020507" pitchFamily="18" charset="2"/>
              </a:rPr>
              <a:t>’在最左边）</a:t>
            </a:r>
            <a:r>
              <a:rPr lang="zh-CN" altLang="en-US" sz="2800" dirty="0"/>
              <a:t>加入</a:t>
            </a:r>
            <a:r>
              <a:rPr lang="en-US" altLang="zh-CN" sz="2800" dirty="0"/>
              <a:t>closure(I)</a:t>
            </a:r>
            <a:r>
              <a:rPr lang="en-US" altLang="zh-CN" sz="2800" dirty="0">
                <a:sym typeface="Wingdings" panose="05000000000000000000" pitchFamily="2" charset="2"/>
              </a:rPr>
              <a:t></a:t>
            </a:r>
            <a:br>
              <a:rPr lang="en-US" altLang="zh-CN" sz="2800" dirty="0">
                <a:sym typeface="Wingdings" panose="05000000000000000000" pitchFamily="2" charset="2"/>
              </a:rPr>
            </a:br>
            <a:r>
              <a:rPr lang="zh-CN" altLang="en-US" sz="2800" dirty="0">
                <a:sym typeface="Wingdings" panose="05000000000000000000" pitchFamily="2" charset="2"/>
              </a:rPr>
              <a:t>所有类似产生式（项目）都加入</a:t>
            </a:r>
            <a:r>
              <a:rPr lang="en-US" altLang="zh-CN" sz="2800" dirty="0"/>
              <a:t>closure(I)</a:t>
            </a:r>
          </a:p>
          <a:p>
            <a:pPr marL="609600" indent="-609600" eaLnBrk="1" hangingPunct="1"/>
            <a:r>
              <a:rPr lang="zh-CN" altLang="en-US" sz="2800" dirty="0"/>
              <a:t>实际上不必一一列出，用</a:t>
            </a:r>
            <a:r>
              <a:rPr lang="en-US" altLang="zh-CN" sz="2800" dirty="0"/>
              <a:t>B</a:t>
            </a:r>
            <a:r>
              <a:rPr lang="zh-CN" altLang="en-US" sz="2800" dirty="0"/>
              <a:t>表示即可</a:t>
            </a:r>
          </a:p>
          <a:p>
            <a:pPr marL="609600" indent="-609600" eaLnBrk="1" hangingPunct="1"/>
            <a:r>
              <a:rPr lang="zh-CN" altLang="en-US" sz="2800" dirty="0"/>
              <a:t>所有项目可分为两大类：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 dirty="0"/>
              <a:t>核心项目：</a:t>
            </a:r>
            <a:r>
              <a:rPr lang="en-US" altLang="zh-CN" sz="2400" dirty="0">
                <a:sym typeface="Wingdings" panose="05000000000000000000" pitchFamily="2" charset="2"/>
              </a:rPr>
              <a:t>S’</a:t>
            </a:r>
            <a:r>
              <a:rPr kumimoji="0" lang="en-US" altLang="zh-CN" sz="2400" dirty="0">
                <a:sym typeface="Symbol" panose="05050102010706020507" pitchFamily="18" charset="2"/>
              </a:rPr>
              <a:t>·S</a:t>
            </a:r>
            <a:r>
              <a:rPr kumimoji="0" lang="zh-CN" altLang="en-US" sz="2400" dirty="0">
                <a:sym typeface="Symbol" panose="05050102010706020507" pitchFamily="18" charset="2"/>
              </a:rPr>
              <a:t>和‘</a:t>
            </a:r>
            <a:r>
              <a:rPr kumimoji="0" lang="en-US" altLang="zh-CN" sz="2400" dirty="0">
                <a:sym typeface="Symbol" panose="05050102010706020507" pitchFamily="18" charset="2"/>
              </a:rPr>
              <a:t>·</a:t>
            </a:r>
            <a:r>
              <a:rPr kumimoji="0" lang="zh-CN" altLang="en-US" sz="2400" dirty="0">
                <a:sym typeface="Symbol" panose="05050102010706020507" pitchFamily="18" charset="2"/>
              </a:rPr>
              <a:t>’不在最左边的项目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400" dirty="0">
                <a:sym typeface="Symbol" panose="05050102010706020507" pitchFamily="18" charset="2"/>
              </a:rPr>
              <a:t>非核心项目：其他‘</a:t>
            </a:r>
            <a:r>
              <a:rPr kumimoji="0" lang="en-US" altLang="zh-CN" sz="2400" dirty="0">
                <a:sym typeface="Symbol" panose="05050102010706020507" pitchFamily="18" charset="2"/>
              </a:rPr>
              <a:t>·</a:t>
            </a:r>
            <a:r>
              <a:rPr kumimoji="0" lang="zh-CN" altLang="en-US" sz="2400" dirty="0">
                <a:sym typeface="Symbol" panose="05050102010706020507" pitchFamily="18" charset="2"/>
              </a:rPr>
              <a:t>’在最左边的项目（</a:t>
            </a:r>
            <a:r>
              <a:rPr kumimoji="0" lang="en-US" altLang="zh-CN" sz="2400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sz="2400" dirty="0">
                <a:latin typeface="Symbol" panose="05050102010706020507" pitchFamily="18" charset="2"/>
                <a:sym typeface="Symbol" panose="05050102010706020507" pitchFamily="18" charset="2"/>
              </a:rPr>
              <a:t>边！</a:t>
            </a:r>
            <a:r>
              <a:rPr kumimoji="0" lang="zh-CN" altLang="en-US" sz="2400" dirty="0">
                <a:sym typeface="Symbol" panose="05050102010706020507" pitchFamily="18" charset="2"/>
              </a:rPr>
              <a:t>）</a:t>
            </a:r>
          </a:p>
          <a:p>
            <a:pPr marL="609600" indent="-609600" eaLnBrk="1" hangingPunct="1"/>
            <a:r>
              <a:rPr kumimoji="0" lang="zh-CN" altLang="en-US" sz="2800" dirty="0">
                <a:sym typeface="Symbol" panose="05050102010706020507" pitchFamily="18" charset="2"/>
              </a:rPr>
              <a:t>项目集中实际只关心核心项目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DCA68BDB-1933-463C-BF75-78E0E2742C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goto</a:t>
            </a:r>
            <a:r>
              <a:rPr lang="zh-CN" altLang="en-US"/>
              <a:t>函数的计算</a:t>
            </a:r>
          </a:p>
        </p:txBody>
      </p:sp>
      <p:sp>
        <p:nvSpPr>
          <p:cNvPr id="310275" name="Rectangle 3">
            <a:extLst>
              <a:ext uri="{FF2B5EF4-FFF2-40B4-BE49-F238E27FC236}">
                <a16:creationId xmlns:a16="http://schemas.microsoft.com/office/drawing/2014/main" id="{15588327-20D8-4472-B46E-628244E2D2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goto(I, X)=closure({</a:t>
            </a:r>
            <a:r>
              <a:rPr lang="en-US" altLang="zh-CN">
                <a:sym typeface="Symbol" panose="05050102010706020507" pitchFamily="18" charset="2"/>
              </a:rPr>
              <a:t>AX· | A·X</a:t>
            </a:r>
            <a:r>
              <a:rPr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∈</a:t>
            </a:r>
            <a:r>
              <a:rPr lang="en-US" altLang="zh-CN">
                <a:sym typeface="Symbol" panose="05050102010706020507" pitchFamily="18" charset="2"/>
              </a:rPr>
              <a:t>I})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lang="en-US" altLang="zh-CN">
                <a:solidFill>
                  <a:schemeClr val="hlink"/>
                </a:solidFill>
                <a:sym typeface="Symbol" panose="05050102010706020507" pitchFamily="18" charset="2"/>
              </a:rPr>
              <a:t>_closure(</a:t>
            </a:r>
            <a:r>
              <a:rPr lang="en-US" altLang="zh-CN">
                <a:solidFill>
                  <a:schemeClr val="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lang="en-US" altLang="zh-CN">
                <a:solidFill>
                  <a:schemeClr val="hlink"/>
                </a:solidFill>
                <a:sym typeface="Symbol" panose="05050102010706020507" pitchFamily="18" charset="2"/>
              </a:rPr>
              <a:t>(I, X))</a:t>
            </a:r>
            <a:r>
              <a:rPr lang="zh-CN" altLang="en-US">
                <a:solidFill>
                  <a:schemeClr val="hlink"/>
                </a:solidFill>
                <a:sym typeface="Symbol" panose="05050102010706020507" pitchFamily="18" charset="2"/>
              </a:rPr>
              <a:t>！</a:t>
            </a:r>
          </a:p>
          <a:p>
            <a:pPr eaLnBrk="1" hangingPunct="1"/>
            <a:r>
              <a:rPr lang="en-US" altLang="zh-CN">
                <a:sym typeface="Symbol" panose="05050102010706020507" pitchFamily="18" charset="2"/>
              </a:rPr>
              <a:t>I</a:t>
            </a:r>
            <a:r>
              <a:rPr lang="zh-CN" altLang="en-US">
                <a:sym typeface="Symbol" panose="05050102010706020507" pitchFamily="18" charset="2"/>
              </a:rPr>
              <a:t>：活前缀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zh-CN" altLang="en-US">
                <a:latin typeface="Symbol" panose="05050102010706020507" pitchFamily="18" charset="2"/>
                <a:sym typeface="Symbol" panose="05050102010706020507" pitchFamily="18" charset="2"/>
              </a:rPr>
              <a:t>对应</a:t>
            </a:r>
            <a:r>
              <a:rPr lang="zh-CN" altLang="en-US">
                <a:sym typeface="Symbol" panose="05050102010706020507" pitchFamily="18" charset="2"/>
              </a:rPr>
              <a:t>的有效项目集</a:t>
            </a:r>
            <a:r>
              <a:rPr lang="zh-CN" altLang="en-US">
                <a:sym typeface="Wingdings" panose="05000000000000000000" pitchFamily="2" charset="2"/>
              </a:rPr>
              <a:t></a:t>
            </a:r>
            <a:br>
              <a:rPr lang="zh-CN" altLang="en-US">
                <a:sym typeface="Wingdings" panose="05000000000000000000" pitchFamily="2" charset="2"/>
              </a:rPr>
            </a:br>
            <a:r>
              <a:rPr lang="en-US" altLang="zh-CN">
                <a:sym typeface="Wingdings" panose="05000000000000000000" pitchFamily="2" charset="2"/>
              </a:rPr>
              <a:t>goto(I, X)</a:t>
            </a:r>
            <a:r>
              <a:rPr lang="zh-CN" altLang="en-US">
                <a:sym typeface="Wingdings" panose="05000000000000000000" pitchFamily="2" charset="2"/>
              </a:rPr>
              <a:t>：活前缀</a:t>
            </a:r>
            <a:r>
              <a:rPr lang="en-US" altLang="zh-CN">
                <a:latin typeface="Symbol" panose="05050102010706020507" pitchFamily="18" charset="2"/>
                <a:sym typeface="Wingdings" panose="05000000000000000000" pitchFamily="2" charset="2"/>
              </a:rPr>
              <a:t>g</a:t>
            </a:r>
            <a:r>
              <a:rPr lang="en-US" altLang="zh-CN">
                <a:sym typeface="Wingdings" panose="05000000000000000000" pitchFamily="2" charset="2"/>
              </a:rPr>
              <a:t>X</a:t>
            </a:r>
            <a:r>
              <a:rPr lang="zh-CN" altLang="en-US">
                <a:sym typeface="Wingdings" panose="05000000000000000000" pitchFamily="2" charset="2"/>
              </a:rPr>
              <a:t>对应的有效项目集</a:t>
            </a:r>
          </a:p>
          <a:p>
            <a:pPr eaLnBrk="1" hangingPunct="1"/>
            <a:r>
              <a:rPr lang="zh-CN" altLang="en-US">
                <a:sym typeface="Wingdings" panose="05000000000000000000" pitchFamily="2" charset="2"/>
              </a:rPr>
              <a:t>例</a:t>
            </a:r>
            <a:r>
              <a:rPr lang="en-US" altLang="zh-CN">
                <a:sym typeface="Wingdings" panose="05000000000000000000" pitchFamily="2" charset="2"/>
              </a:rPr>
              <a:t>4.35</a:t>
            </a:r>
            <a:r>
              <a:rPr lang="zh-CN" altLang="en-US">
                <a:sym typeface="Wingdings" panose="05000000000000000000" pitchFamily="2" charset="2"/>
              </a:rPr>
              <a:t>：</a:t>
            </a:r>
            <a:r>
              <a:rPr lang="en-US" altLang="zh-CN">
                <a:sym typeface="Wingdings" panose="05000000000000000000" pitchFamily="2" charset="2"/>
              </a:rPr>
              <a:t>I = { </a:t>
            </a:r>
            <a:r>
              <a:rPr kumimoji="0" lang="en-US" altLang="zh-CN" sz="2800"/>
              <a:t>E’</a:t>
            </a:r>
            <a:r>
              <a:rPr kumimoji="0" lang="en-US" altLang="zh-CN" sz="2800">
                <a:sym typeface="Symbol" panose="05050102010706020507" pitchFamily="18" charset="2"/>
              </a:rPr>
              <a:t>·E, </a:t>
            </a:r>
            <a:r>
              <a:rPr kumimoji="0" lang="en-US" altLang="zh-CN" sz="2800"/>
              <a:t>E</a:t>
            </a:r>
            <a:r>
              <a:rPr kumimoji="0" lang="en-US" altLang="zh-CN" sz="2800">
                <a:sym typeface="Symbol" panose="05050102010706020507" pitchFamily="18" charset="2"/>
              </a:rPr>
              <a:t>E·+T }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goto(I, +) = { </a:t>
            </a:r>
            <a:r>
              <a:rPr kumimoji="0" lang="en-US" altLang="zh-CN" sz="2800"/>
              <a:t>E</a:t>
            </a:r>
            <a:r>
              <a:rPr kumimoji="0" lang="en-US" altLang="zh-CN" sz="2800">
                <a:sym typeface="Symbol" panose="05050102010706020507" pitchFamily="18" charset="2"/>
              </a:rPr>
              <a:t>E+·T, 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		      T·T*F, T·F,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		      F·(E), F·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 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B56D3529-38CD-4BF9-B42D-356DBE963B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LR(0)</a:t>
            </a:r>
            <a:r>
              <a:rPr lang="zh-CN" altLang="en-US"/>
              <a:t>项目集规范族的构造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52FC0B65-D165-40A7-8FAC-B7C6DFB55C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Lucida Sans Unicode" panose="020B0602030504020204" pitchFamily="34" charset="0"/>
                <a:sym typeface="Symbol" panose="05050102010706020507" pitchFamily="18" charset="2"/>
              </a:rPr>
              <a:t>Procedure Items(G’:</a:t>
            </a:r>
            <a:r>
              <a:rPr kumimoji="0" lang="en-US" altLang="zh-CN" sz="2000" i="1">
                <a:latin typeface="Lucida Sans Unicode" panose="020B0602030504020204" pitchFamily="34" charset="0"/>
                <a:sym typeface="Symbol" panose="05050102010706020507" pitchFamily="18" charset="2"/>
              </a:rPr>
              <a:t>augmented grammar</a:t>
            </a:r>
            <a:r>
              <a:rPr kumimoji="0" lang="en-US" altLang="zh-CN" sz="2000" b="1">
                <a:latin typeface="Lucida Sans Unicode" panose="020B0602030504020204" pitchFamily="34" charset="0"/>
                <a:sym typeface="Symbol" panose="05050102010706020507" pitchFamily="18" charset="2"/>
              </a:rPr>
              <a:t>) 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Lucida Sans Unicode" panose="020B0602030504020204" pitchFamily="34" charset="0"/>
                <a:sym typeface="Symbol" panose="05050102010706020507" pitchFamily="18" charset="2"/>
              </a:rPr>
              <a:t>{	C:={ closure [S’ </a:t>
            </a:r>
            <a:r>
              <a:rPr kumimoji="0" lang="en-US" altLang="zh-CN" sz="2000" b="1">
                <a:sym typeface="Symbol" panose="05050102010706020507" pitchFamily="18" charset="2"/>
              </a:rPr>
              <a:t> .</a:t>
            </a:r>
            <a:r>
              <a:rPr kumimoji="0" lang="en-US" altLang="zh-CN" sz="2000" b="1">
                <a:latin typeface="Lucida Sans Unicode" panose="020B0602030504020204" pitchFamily="34" charset="0"/>
                <a:sym typeface="Symbol" panose="05050102010706020507" pitchFamily="18" charset="2"/>
              </a:rPr>
              <a:t>S] }</a:t>
            </a:r>
            <a:endParaRPr kumimoji="0" lang="en-US" altLang="zh-CN" sz="20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Lucida Sans Unicode" panose="020B0602030504020204" pitchFamily="34" charset="0"/>
                <a:sym typeface="Symbol" panose="05050102010706020507" pitchFamily="18" charset="2"/>
              </a:rPr>
              <a:t>	repeat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Lucida Sans Unicode" panose="020B0602030504020204" pitchFamily="34" charset="0"/>
                <a:sym typeface="Symbol" panose="05050102010706020507" pitchFamily="18" charset="2"/>
              </a:rPr>
              <a:t>		for C</a:t>
            </a:r>
            <a:r>
              <a:rPr kumimoji="0" lang="zh-CN" altLang="en-US" sz="2000">
                <a:latin typeface="Lucida Sans Unicode" panose="020B0602030504020204" pitchFamily="34" charset="0"/>
                <a:sym typeface="Symbol" panose="05050102010706020507" pitchFamily="18" charset="2"/>
              </a:rPr>
              <a:t>中每个项目集</a:t>
            </a:r>
            <a:r>
              <a:rPr kumimoji="0" lang="en-US" altLang="zh-CN" sz="2000" b="1">
                <a:latin typeface="Lucida Sans Unicode" panose="020B0602030504020204" pitchFamily="34" charset="0"/>
                <a:sym typeface="Symbol" panose="05050102010706020507" pitchFamily="18" charset="2"/>
              </a:rPr>
              <a:t>I </a:t>
            </a:r>
            <a:r>
              <a:rPr kumimoji="0" lang="zh-CN" altLang="en-US" sz="2000">
                <a:latin typeface="Lucida Sans Unicode" panose="020B0602030504020204" pitchFamily="34" charset="0"/>
                <a:sym typeface="Symbol" panose="05050102010706020507" pitchFamily="18" charset="2"/>
              </a:rPr>
              <a:t>和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>
                <a:latin typeface="Lucida Sans Unicode" panose="020B0602030504020204" pitchFamily="34" charset="0"/>
                <a:sym typeface="Symbol" panose="05050102010706020507" pitchFamily="18" charset="2"/>
              </a:rPr>
              <a:t>		      每个文法符号</a:t>
            </a:r>
            <a:r>
              <a:rPr kumimoji="0" lang="en-US" altLang="zh-CN" sz="2000" b="1">
                <a:latin typeface="Lucida Sans Unicode" panose="020B0602030504020204" pitchFamily="34" charset="0"/>
                <a:sym typeface="Symbol" panose="05050102010706020507" pitchFamily="18" charset="2"/>
              </a:rPr>
              <a:t>X</a:t>
            </a:r>
            <a:r>
              <a:rPr kumimoji="0" lang="zh-CN" altLang="en-US" sz="2000" b="1">
                <a:latin typeface="Lucida Sans Unicode" panose="020B0602030504020204" pitchFamily="34" charset="0"/>
                <a:sym typeface="Symbol" panose="05050102010706020507" pitchFamily="18" charset="2"/>
              </a:rPr>
              <a:t>，</a:t>
            </a:r>
            <a:r>
              <a:rPr kumimoji="0" lang="en-US" altLang="zh-CN" sz="2000" b="1">
                <a:latin typeface="Lucida Sans Unicode" panose="020B0602030504020204" pitchFamily="34" charset="0"/>
                <a:sym typeface="Symbol" panose="05050102010706020507" pitchFamily="18" charset="2"/>
              </a:rPr>
              <a:t>goto(I,X)</a:t>
            </a:r>
            <a:r>
              <a:rPr kumimoji="0" lang="zh-CN" altLang="en-US" sz="2000">
                <a:latin typeface="Lucida Sans Unicode" panose="020B0602030504020204" pitchFamily="34" charset="0"/>
                <a:sym typeface="Symbol" panose="05050102010706020507" pitchFamily="18" charset="2"/>
              </a:rPr>
              <a:t>不空且不在</a:t>
            </a:r>
            <a:r>
              <a:rPr kumimoji="0" lang="en-US" altLang="zh-CN" sz="2000" b="1">
                <a:latin typeface="Lucida Sans Unicode" panose="020B0602030504020204" pitchFamily="34" charset="0"/>
                <a:sym typeface="Symbol" panose="05050102010706020507" pitchFamily="18" charset="2"/>
              </a:rPr>
              <a:t>C</a:t>
            </a:r>
            <a:r>
              <a:rPr kumimoji="0" lang="zh-CN" altLang="en-US" sz="2000" b="1">
                <a:latin typeface="Lucida Sans Unicode" panose="020B0602030504020204" pitchFamily="34" charset="0"/>
                <a:sym typeface="Symbol" panose="05050102010706020507" pitchFamily="18" charset="2"/>
              </a:rPr>
              <a:t>中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>
                <a:latin typeface="Lucida Sans Unicode" panose="020B0602030504020204" pitchFamily="34" charset="0"/>
                <a:sym typeface="Symbol" panose="05050102010706020507" pitchFamily="18" charset="2"/>
              </a:rPr>
              <a:t>			</a:t>
            </a:r>
            <a:r>
              <a:rPr kumimoji="0" lang="zh-CN" altLang="en-US" sz="2000">
                <a:latin typeface="Lucida Sans Unicode" panose="020B0602030504020204" pitchFamily="34" charset="0"/>
                <a:sym typeface="Symbol" panose="05050102010706020507" pitchFamily="18" charset="2"/>
              </a:rPr>
              <a:t>将</a:t>
            </a:r>
            <a:r>
              <a:rPr kumimoji="0" lang="en-US" altLang="zh-CN" sz="2000" b="1">
                <a:latin typeface="Lucida Sans Unicode" panose="020B0602030504020204" pitchFamily="34" charset="0"/>
                <a:sym typeface="Symbol" panose="05050102010706020507" pitchFamily="18" charset="2"/>
              </a:rPr>
              <a:t>goto(I,X)</a:t>
            </a:r>
            <a:r>
              <a:rPr kumimoji="0" lang="zh-CN" altLang="en-US" sz="2000">
                <a:latin typeface="Lucida Sans Unicode" panose="020B0602030504020204" pitchFamily="34" charset="0"/>
                <a:sym typeface="Symbol" panose="05050102010706020507" pitchFamily="18" charset="2"/>
              </a:rPr>
              <a:t>加入</a:t>
            </a:r>
            <a:r>
              <a:rPr kumimoji="0" lang="en-US" altLang="zh-CN" sz="2000" b="1">
                <a:latin typeface="Lucida Sans Unicode" panose="020B0602030504020204" pitchFamily="34" charset="0"/>
                <a:sym typeface="Symbol" panose="05050102010706020507" pitchFamily="18" charset="2"/>
              </a:rPr>
              <a:t>C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Lucida Sans Unicode" panose="020B0602030504020204" pitchFamily="34" charset="0"/>
                <a:sym typeface="Symbol" panose="05050102010706020507" pitchFamily="18" charset="2"/>
              </a:rPr>
              <a:t>	until </a:t>
            </a:r>
            <a:r>
              <a:rPr kumimoji="0" lang="zh-CN" altLang="en-US" sz="2000">
                <a:latin typeface="Lucida Sans Unicode" panose="020B0602030504020204" pitchFamily="34" charset="0"/>
                <a:sym typeface="Symbol" panose="05050102010706020507" pitchFamily="18" charset="2"/>
              </a:rPr>
              <a:t>没有新的项目集加入</a:t>
            </a:r>
            <a:r>
              <a:rPr kumimoji="0" lang="en-US" altLang="zh-CN" sz="2000">
                <a:latin typeface="Lucida Sans Unicode" panose="020B0602030504020204" pitchFamily="34" charset="0"/>
                <a:sym typeface="Symbol" panose="05050102010706020507" pitchFamily="18" charset="2"/>
              </a:rPr>
              <a:t>C</a:t>
            </a:r>
            <a:endParaRPr kumimoji="0" lang="en-US" altLang="zh-CN" sz="2000" b="1">
              <a:latin typeface="Lucida Sans Unicode" panose="020B0602030504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Lucida Sans Unicode" panose="020B0602030504020204" pitchFamily="34" charset="0"/>
                <a:sym typeface="Symbol" panose="05050102010706020507" pitchFamily="18" charset="2"/>
              </a:rPr>
              <a:t>}</a:t>
            </a:r>
            <a:endParaRPr lang="en-US" altLang="zh-CN"/>
          </a:p>
          <a:p>
            <a:pPr eaLnBrk="1" hangingPunct="1"/>
            <a:endParaRPr lang="en-US" altLang="zh-CN"/>
          </a:p>
        </p:txBody>
      </p:sp>
      <p:sp>
        <p:nvSpPr>
          <p:cNvPr id="72708" name="Text Box 4">
            <a:extLst>
              <a:ext uri="{FF2B5EF4-FFF2-40B4-BE49-F238E27FC236}">
                <a16:creationId xmlns:a16="http://schemas.microsoft.com/office/drawing/2014/main" id="{8655D082-C8E9-4970-B140-74F39D7E1D55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6172200" y="1752600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hlink"/>
                </a:solidFill>
                <a:latin typeface="Tahoma" panose="020B0604030504040204" pitchFamily="34" charset="0"/>
              </a:rPr>
              <a:t>初始项目集</a:t>
            </a:r>
          </a:p>
        </p:txBody>
      </p:sp>
      <p:sp>
        <p:nvSpPr>
          <p:cNvPr id="72709" name="Line 5">
            <a:extLst>
              <a:ext uri="{FF2B5EF4-FFF2-40B4-BE49-F238E27FC236}">
                <a16:creationId xmlns:a16="http://schemas.microsoft.com/office/drawing/2014/main" id="{30849C60-3775-42A6-9D65-DABB3A356235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4419600" y="1752600"/>
            <a:ext cx="2133600" cy="304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0" name="Text Box 6">
            <a:extLst>
              <a:ext uri="{FF2B5EF4-FFF2-40B4-BE49-F238E27FC236}">
                <a16:creationId xmlns:a16="http://schemas.microsoft.com/office/drawing/2014/main" id="{122F0653-5607-458D-AE7C-33DB5565D8F7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4724400" y="3629025"/>
            <a:ext cx="39624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hlink"/>
                </a:solidFill>
                <a:latin typeface="Tahoma" panose="020B0604030504040204" pitchFamily="34" charset="0"/>
              </a:rPr>
              <a:t>子集构造法类似过程，由初始项目集开始，对每个项目集和文法符号计算</a:t>
            </a:r>
            <a:r>
              <a:rPr lang="en-US" altLang="zh-CN" sz="2400">
                <a:solidFill>
                  <a:schemeClr val="hlink"/>
                </a:solidFill>
                <a:latin typeface="Tahoma" panose="020B0604030504040204" pitchFamily="34" charset="0"/>
              </a:rPr>
              <a:t>goto</a:t>
            </a:r>
            <a:r>
              <a:rPr lang="zh-CN" altLang="en-US" sz="2400">
                <a:solidFill>
                  <a:schemeClr val="hlink"/>
                </a:solidFill>
                <a:latin typeface="Tahoma" panose="020B0604030504040204" pitchFamily="34" charset="0"/>
              </a:rPr>
              <a:t>函数，直至不再产生新的项目集</a:t>
            </a:r>
          </a:p>
        </p:txBody>
      </p:sp>
      <p:sp>
        <p:nvSpPr>
          <p:cNvPr id="72711" name="Line 7">
            <a:extLst>
              <a:ext uri="{FF2B5EF4-FFF2-40B4-BE49-F238E27FC236}">
                <a16:creationId xmlns:a16="http://schemas.microsoft.com/office/drawing/2014/main" id="{2DACD237-EBD8-48C1-8740-25F60DD78918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5334000" y="3124200"/>
            <a:ext cx="1371600" cy="609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54449D3E-B2EC-492B-828B-9775645D88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4.36</a:t>
            </a:r>
          </a:p>
        </p:txBody>
      </p:sp>
      <p:sp>
        <p:nvSpPr>
          <p:cNvPr id="73731" name="Text Box 4">
            <a:extLst>
              <a:ext uri="{FF2B5EF4-FFF2-40B4-BE49-F238E27FC236}">
                <a16:creationId xmlns:a16="http://schemas.microsoft.com/office/drawing/2014/main" id="{468652AE-4593-490A-BA31-7BCD65A4D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524000"/>
            <a:ext cx="1766888" cy="315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0</a:t>
            </a:r>
            <a:r>
              <a:rPr kumimoji="0" lang="en-US" altLang="zh-CN" sz="2400"/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E’ </a:t>
            </a:r>
            <a:r>
              <a:rPr kumimoji="0" lang="en-US" altLang="zh-CN" sz="2400" b="1">
                <a:sym typeface="Symbol" panose="05050102010706020507" pitchFamily="18" charset="2"/>
              </a:rPr>
              <a:t> ·E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·E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 b="1">
                <a:sym typeface="Symbol" panose="05050102010706020507" pitchFamily="18" charset="2"/>
              </a:rPr>
              <a:t> T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·T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 ·T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  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·F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endParaRPr kumimoji="0" lang="en-US" altLang="zh-CN" sz="2400"/>
          </a:p>
        </p:txBody>
      </p:sp>
      <p:sp>
        <p:nvSpPr>
          <p:cNvPr id="73732" name="Text Box 5">
            <a:extLst>
              <a:ext uri="{FF2B5EF4-FFF2-40B4-BE49-F238E27FC236}">
                <a16:creationId xmlns:a16="http://schemas.microsoft.com/office/drawing/2014/main" id="{A7E36A43-0D61-4799-9717-182534161F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9288" y="1524000"/>
            <a:ext cx="207327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1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0</a:t>
            </a:r>
            <a:r>
              <a:rPr kumimoji="0" lang="en-US" altLang="zh-CN" sz="2400">
                <a:solidFill>
                  <a:srgbClr val="3333CC"/>
                </a:solidFill>
              </a:rPr>
              <a:t>, E)</a:t>
            </a:r>
            <a:r>
              <a:rPr kumimoji="0" lang="en-US" altLang="zh-CN" sz="2400"/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E’ </a:t>
            </a:r>
            <a:r>
              <a:rPr kumimoji="0" lang="en-US" altLang="zh-CN" sz="2400" b="1">
                <a:sym typeface="Symbol" panose="05050102010706020507" pitchFamily="18" charset="2"/>
              </a:rPr>
              <a:t> E·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E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 b="1">
                <a:sym typeface="Symbol" panose="05050102010706020507" pitchFamily="18" charset="2"/>
              </a:rPr>
              <a:t> T </a:t>
            </a:r>
          </a:p>
        </p:txBody>
      </p:sp>
      <p:sp>
        <p:nvSpPr>
          <p:cNvPr id="73733" name="Text Box 6">
            <a:extLst>
              <a:ext uri="{FF2B5EF4-FFF2-40B4-BE49-F238E27FC236}">
                <a16:creationId xmlns:a16="http://schemas.microsoft.com/office/drawing/2014/main" id="{FB5FAC26-8936-4AF0-BBD0-7B2475BF9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8688" y="1524000"/>
            <a:ext cx="2073275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2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0</a:t>
            </a:r>
            <a:r>
              <a:rPr kumimoji="0" lang="en-US" altLang="zh-CN" sz="2400">
                <a:solidFill>
                  <a:srgbClr val="3333CC"/>
                </a:solidFill>
              </a:rPr>
              <a:t>, T)</a:t>
            </a:r>
            <a:r>
              <a:rPr kumimoji="0" lang="en-US" altLang="zh-CN" sz="2400"/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T·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 T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  </a:t>
            </a:r>
          </a:p>
        </p:txBody>
      </p:sp>
      <p:sp>
        <p:nvSpPr>
          <p:cNvPr id="73734" name="Text Box 7">
            <a:extLst>
              <a:ext uri="{FF2B5EF4-FFF2-40B4-BE49-F238E27FC236}">
                <a16:creationId xmlns:a16="http://schemas.microsoft.com/office/drawing/2014/main" id="{29ED7364-FB06-4A27-9203-855AF7FF0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971800"/>
            <a:ext cx="2057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3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0</a:t>
            </a:r>
            <a:r>
              <a:rPr kumimoji="0" lang="en-US" altLang="zh-CN" sz="2400">
                <a:solidFill>
                  <a:srgbClr val="3333CC"/>
                </a:solidFill>
              </a:rPr>
              <a:t>, F)</a:t>
            </a:r>
            <a:r>
              <a:rPr kumimoji="0" lang="en-US" altLang="zh-CN" sz="2400"/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F·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45ED9F5A-0EEA-45CF-A8BC-9822E6C249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4.36</a:t>
            </a:r>
          </a:p>
        </p:txBody>
      </p:sp>
      <p:sp>
        <p:nvSpPr>
          <p:cNvPr id="74755" name="Text Box 7">
            <a:extLst>
              <a:ext uri="{FF2B5EF4-FFF2-40B4-BE49-F238E27FC236}">
                <a16:creationId xmlns:a16="http://schemas.microsoft.com/office/drawing/2014/main" id="{0EFEFB2F-676E-4FA1-B0AA-6BBF348BB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600200"/>
            <a:ext cx="1989138" cy="319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4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0</a:t>
            </a:r>
            <a:r>
              <a:rPr kumimoji="0" lang="en-US" altLang="zh-CN" sz="2400">
                <a:solidFill>
                  <a:srgbClr val="3333CC"/>
                </a:solidFill>
              </a:rPr>
              <a:t>, ()</a:t>
            </a:r>
            <a:r>
              <a:rPr kumimoji="0" lang="en-US" altLang="zh-CN" sz="2400"/>
              <a:t> 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·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·E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 b="1">
                <a:sym typeface="Symbol" panose="05050102010706020507" pitchFamily="18" charset="2"/>
              </a:rPr>
              <a:t> T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·T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 ·T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  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·F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</a:p>
        </p:txBody>
      </p:sp>
      <p:sp>
        <p:nvSpPr>
          <p:cNvPr id="74756" name="Text Box 8">
            <a:extLst>
              <a:ext uri="{FF2B5EF4-FFF2-40B4-BE49-F238E27FC236}">
                <a16:creationId xmlns:a16="http://schemas.microsoft.com/office/drawing/2014/main" id="{2DFC8351-A1B3-4617-8AF1-69FAE14EB8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1600200"/>
            <a:ext cx="2141538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5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0</a:t>
            </a:r>
            <a:r>
              <a:rPr kumimoji="0" lang="en-US" altLang="zh-CN" sz="2400">
                <a:solidFill>
                  <a:srgbClr val="3333CC"/>
                </a:solidFill>
              </a:rPr>
              <a:t>, </a:t>
            </a:r>
            <a:r>
              <a:rPr kumimoji="0" lang="en-US" altLang="zh-CN" sz="2400" b="1">
                <a:solidFill>
                  <a:srgbClr val="3333CC"/>
                </a:solidFill>
              </a:rPr>
              <a:t>id</a:t>
            </a:r>
            <a:r>
              <a:rPr kumimoji="0" lang="en-US" altLang="zh-CN" sz="2400">
                <a:solidFill>
                  <a:srgbClr val="3333CC"/>
                </a:solidFill>
              </a:rPr>
              <a:t>)</a:t>
            </a:r>
            <a:r>
              <a:rPr kumimoji="0" lang="en-US" altLang="zh-CN" sz="2400"/>
              <a:t> 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id·</a:t>
            </a:r>
          </a:p>
        </p:txBody>
      </p:sp>
      <p:sp>
        <p:nvSpPr>
          <p:cNvPr id="74757" name="Text Box 9">
            <a:extLst>
              <a:ext uri="{FF2B5EF4-FFF2-40B4-BE49-F238E27FC236}">
                <a16:creationId xmlns:a16="http://schemas.microsoft.com/office/drawing/2014/main" id="{0B32CFB2-925B-4FD7-B5E7-CE3674E6D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609725"/>
            <a:ext cx="2058988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6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1</a:t>
            </a:r>
            <a:r>
              <a:rPr kumimoji="0" lang="en-US" altLang="zh-CN" sz="2400">
                <a:solidFill>
                  <a:srgbClr val="3333CC"/>
                </a:solidFill>
              </a:rPr>
              <a:t>, +)</a:t>
            </a:r>
            <a:r>
              <a:rPr kumimoji="0" lang="en-US" altLang="zh-CN" sz="2400"/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 b="1">
                <a:sym typeface="Symbol" panose="05050102010706020507" pitchFamily="18" charset="2"/>
              </a:rPr>
              <a:t> ·T 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 ·T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  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·F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5C5F31BC-ADBC-4C72-BC66-11F40D859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4.36</a:t>
            </a:r>
            <a:r>
              <a:rPr lang="zh-CN" altLang="en-US"/>
              <a:t>（续）</a:t>
            </a:r>
          </a:p>
        </p:txBody>
      </p:sp>
      <p:sp>
        <p:nvSpPr>
          <p:cNvPr id="75779" name="Text Box 7">
            <a:extLst>
              <a:ext uri="{FF2B5EF4-FFF2-40B4-BE49-F238E27FC236}">
                <a16:creationId xmlns:a16="http://schemas.microsoft.com/office/drawing/2014/main" id="{85ACBDE7-283C-4F0B-8B3B-5C870E6B7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600200"/>
            <a:ext cx="2039938" cy="166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7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2</a:t>
            </a:r>
            <a:r>
              <a:rPr kumimoji="0" lang="en-US" altLang="zh-CN" sz="2400">
                <a:solidFill>
                  <a:srgbClr val="3333CC"/>
                </a:solidFill>
              </a:rPr>
              <a:t>, *)</a:t>
            </a:r>
            <a:r>
              <a:rPr kumimoji="0" lang="en-US" altLang="zh-CN" sz="2400"/>
              <a:t> 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 T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·F  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</a:p>
        </p:txBody>
      </p:sp>
      <p:sp>
        <p:nvSpPr>
          <p:cNvPr id="75780" name="Text Box 10">
            <a:extLst>
              <a:ext uri="{FF2B5EF4-FFF2-40B4-BE49-F238E27FC236}">
                <a16:creationId xmlns:a16="http://schemas.microsoft.com/office/drawing/2014/main" id="{C2B4399A-1F2E-446F-A605-7C50005CF7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1063" y="1600200"/>
            <a:ext cx="2073275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8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4</a:t>
            </a:r>
            <a:r>
              <a:rPr kumimoji="0" lang="en-US" altLang="zh-CN" sz="2400">
                <a:solidFill>
                  <a:srgbClr val="3333CC"/>
                </a:solidFill>
              </a:rPr>
              <a:t>, E) 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 E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E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 b="1">
                <a:sym typeface="Symbol" panose="05050102010706020507" pitchFamily="18" charset="2"/>
              </a:rPr>
              <a:t> T </a:t>
            </a:r>
          </a:p>
        </p:txBody>
      </p:sp>
      <p:sp>
        <p:nvSpPr>
          <p:cNvPr id="75781" name="Text Box 11">
            <a:extLst>
              <a:ext uri="{FF2B5EF4-FFF2-40B4-BE49-F238E27FC236}">
                <a16:creationId xmlns:a16="http://schemas.microsoft.com/office/drawing/2014/main" id="{016A2B23-9492-4454-A83A-9DE9529CC0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1604963"/>
            <a:ext cx="2073275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9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6</a:t>
            </a:r>
            <a:r>
              <a:rPr kumimoji="0" lang="en-US" altLang="zh-CN" sz="2400">
                <a:solidFill>
                  <a:srgbClr val="3333CC"/>
                </a:solidFill>
              </a:rPr>
              <a:t>, T)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 b="1">
                <a:sym typeface="Symbol" panose="05050102010706020507" pitchFamily="18" charset="2"/>
              </a:rPr>
              <a:t> T· 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 T·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 </a:t>
            </a:r>
          </a:p>
        </p:txBody>
      </p:sp>
      <p:sp>
        <p:nvSpPr>
          <p:cNvPr id="75782" name="Text Box 12">
            <a:extLst>
              <a:ext uri="{FF2B5EF4-FFF2-40B4-BE49-F238E27FC236}">
                <a16:creationId xmlns:a16="http://schemas.microsoft.com/office/drawing/2014/main" id="{732EC0D3-38CE-488F-B0D1-426FC4E73C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429000"/>
            <a:ext cx="2159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10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7</a:t>
            </a:r>
            <a:r>
              <a:rPr kumimoji="0" lang="en-US" altLang="zh-CN" sz="2400">
                <a:solidFill>
                  <a:srgbClr val="3333CC"/>
                </a:solidFill>
              </a:rPr>
              <a:t>, F)</a:t>
            </a:r>
            <a:r>
              <a:rPr kumimoji="0" lang="en-US" altLang="zh-CN" sz="2400"/>
              <a:t> 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 T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F·  </a:t>
            </a:r>
          </a:p>
        </p:txBody>
      </p:sp>
      <p:sp>
        <p:nvSpPr>
          <p:cNvPr id="75783" name="Text Box 13">
            <a:extLst>
              <a:ext uri="{FF2B5EF4-FFF2-40B4-BE49-F238E27FC236}">
                <a16:creationId xmlns:a16="http://schemas.microsoft.com/office/drawing/2014/main" id="{53FACFEE-93E5-41D5-B579-0268A84F57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1063" y="3433763"/>
            <a:ext cx="2166937" cy="858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11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8</a:t>
            </a:r>
            <a:r>
              <a:rPr kumimoji="0" lang="en-US" altLang="zh-CN" sz="2400">
                <a:solidFill>
                  <a:srgbClr val="3333CC"/>
                </a:solidFill>
              </a:rPr>
              <a:t>, ) ) 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)·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AC5F8367-EB4C-4431-896B-F01D4A65FE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4.36</a:t>
            </a:r>
            <a:r>
              <a:rPr lang="zh-CN" altLang="en-US"/>
              <a:t>（续）</a:t>
            </a:r>
          </a:p>
        </p:txBody>
      </p:sp>
      <p:pic>
        <p:nvPicPr>
          <p:cNvPr id="76803" name="Picture 8" descr="slr">
            <a:extLst>
              <a:ext uri="{FF2B5EF4-FFF2-40B4-BE49-F238E27FC236}">
                <a16:creationId xmlns:a16="http://schemas.microsoft.com/office/drawing/2014/main" id="{49431B8D-E923-4BEB-82EE-1BB8EC52C5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550" y="1295400"/>
            <a:ext cx="3951288" cy="455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257396C-14F8-4B82-B38E-DA6B71E05634}"/>
              </a:ext>
            </a:extLst>
          </p:cNvPr>
          <p:cNvSpPr/>
          <p:nvPr/>
        </p:nvSpPr>
        <p:spPr>
          <a:xfrm>
            <a:off x="2411760" y="5924550"/>
            <a:ext cx="319510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000" dirty="0">
                <a:solidFill>
                  <a:srgbClr val="FF0000"/>
                </a:solidFill>
              </a:rPr>
              <a:t>初态</a:t>
            </a:r>
            <a:r>
              <a:rPr lang="en-US" altLang="zh-CN" sz="2000" dirty="0">
                <a:solidFill>
                  <a:srgbClr val="FF0000"/>
                </a:solidFill>
              </a:rPr>
              <a:t>I</a:t>
            </a:r>
            <a:r>
              <a:rPr lang="en-US" altLang="zh-CN" sz="2000" baseline="-25000" dirty="0">
                <a:solidFill>
                  <a:srgbClr val="FF0000"/>
                </a:solidFill>
              </a:rPr>
              <a:t>0</a:t>
            </a:r>
            <a:r>
              <a:rPr lang="zh-CN" altLang="en-US" sz="2000" dirty="0">
                <a:solidFill>
                  <a:srgbClr val="FF0000"/>
                </a:solidFill>
              </a:rPr>
              <a:t>，所有状态都是终态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95FE4664-F294-4949-976C-88439BBB54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有效项目（</a:t>
            </a:r>
            <a:r>
              <a:rPr lang="en-US" altLang="zh-CN">
                <a:solidFill>
                  <a:schemeClr val="hlink"/>
                </a:solidFill>
              </a:rPr>
              <a:t>valid items</a:t>
            </a:r>
            <a:r>
              <a:rPr lang="zh-CN" altLang="en-US"/>
              <a:t>）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FC8B9853-1899-4A4C-9463-79DC7D2300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/>
              <a:t>称项目</a:t>
            </a:r>
            <a:r>
              <a:rPr lang="en-US" altLang="zh-CN" dirty="0">
                <a:sym typeface="Symbol" panose="05050102010706020507" pitchFamily="18" charset="2"/>
              </a:rPr>
              <a:t>A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>
                <a:sym typeface="Symbol" panose="05050102010706020507" pitchFamily="18" charset="2"/>
              </a:rPr>
              <a:t>·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zh-CN" altLang="en-US" dirty="0">
                <a:sym typeface="Symbol" panose="05050102010706020507" pitchFamily="18" charset="2"/>
              </a:rPr>
              <a:t>对活前缀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zh-CN" altLang="en-US" b="1" dirty="0">
                <a:solidFill>
                  <a:srgbClr val="FF33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有效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br>
              <a:rPr lang="zh-CN" altLang="en-US" dirty="0">
                <a:sym typeface="Symbol" panose="05050102010706020507" pitchFamily="18" charset="2"/>
              </a:rPr>
            </a:br>
            <a:r>
              <a:rPr lang="zh-CN" altLang="en-US" dirty="0">
                <a:sym typeface="Symbol" panose="05050102010706020507" pitchFamily="18" charset="2"/>
              </a:rPr>
              <a:t>当存在一个最右推导</a:t>
            </a:r>
            <a:br>
              <a:rPr lang="zh-CN" altLang="en-US" dirty="0">
                <a:sym typeface="Symbol" panose="05050102010706020507" pitchFamily="18" charset="2"/>
              </a:rPr>
            </a:br>
            <a:r>
              <a:rPr kumimoji="0" lang="en-US" altLang="zh-CN" dirty="0"/>
              <a:t>S</a:t>
            </a:r>
            <a:r>
              <a:rPr kumimoji="0" lang="en-US" altLang="zh-CN" dirty="0">
                <a:sym typeface="Symbol" panose="05050102010706020507" pitchFamily="18" charset="2"/>
              </a:rPr>
              <a:t></a:t>
            </a:r>
            <a:r>
              <a:rPr kumimoji="0"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kumimoji="0" lang="en-US" altLang="zh-CN" dirty="0">
                <a:sym typeface="Symbol" panose="05050102010706020507" pitchFamily="18" charset="2"/>
              </a:rPr>
              <a:t>Aw</a:t>
            </a:r>
            <a:r>
              <a:rPr kumimoji="0"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zh-CN" dirty="0"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dirty="0">
                <a:sym typeface="Symbol" panose="05050102010706020507" pitchFamily="18" charset="2"/>
              </a:rPr>
              <a:t>w</a:t>
            </a:r>
          </a:p>
          <a:p>
            <a:pPr eaLnBrk="1" hangingPunct="1">
              <a:spcBef>
                <a:spcPct val="50000"/>
              </a:spcBef>
            </a:pPr>
            <a:r>
              <a:rPr kumimoji="0" lang="zh-CN" altLang="en-US" dirty="0">
                <a:sym typeface="Symbol" panose="05050102010706020507" pitchFamily="18" charset="2"/>
              </a:rPr>
              <a:t>哪个产生式产生了此活前缀</a:t>
            </a:r>
            <a:endParaRPr kumimoji="0" lang="en-US" altLang="zh-CN" dirty="0"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</a:pPr>
            <a:r>
              <a:rPr kumimoji="0" lang="zh-CN" altLang="en-US" dirty="0">
                <a:sym typeface="Symbol" panose="05050102010706020507" pitchFamily="18" charset="2"/>
              </a:rPr>
              <a:t>一个项目可对很多活前缀有效</a:t>
            </a:r>
          </a:p>
        </p:txBody>
      </p:sp>
      <p:sp>
        <p:nvSpPr>
          <p:cNvPr id="78852" name="Rectangle 4">
            <a:extLst>
              <a:ext uri="{FF2B5EF4-FFF2-40B4-BE49-F238E27FC236}">
                <a16:creationId xmlns:a16="http://schemas.microsoft.com/office/drawing/2014/main" id="{1358FD8E-1FD1-4547-9757-37832CF4C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2378075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*</a:t>
            </a:r>
          </a:p>
        </p:txBody>
      </p:sp>
      <p:sp>
        <p:nvSpPr>
          <p:cNvPr id="78853" name="Rectangle 5">
            <a:extLst>
              <a:ext uri="{FF2B5EF4-FFF2-40B4-BE49-F238E27FC236}">
                <a16:creationId xmlns:a16="http://schemas.microsoft.com/office/drawing/2014/main" id="{45B42509-9C5A-4F3F-97B6-BF337D32E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0863" y="2590800"/>
            <a:ext cx="465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</a:p>
        </p:txBody>
      </p:sp>
      <p:sp>
        <p:nvSpPr>
          <p:cNvPr id="78854" name="Rectangle 6">
            <a:extLst>
              <a:ext uri="{FF2B5EF4-FFF2-40B4-BE49-F238E27FC236}">
                <a16:creationId xmlns:a16="http://schemas.microsoft.com/office/drawing/2014/main" id="{05C9C348-B199-4680-8C94-734F51637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2590800"/>
            <a:ext cx="465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52977ADF-1AD5-40D4-A00C-B59B46CA8D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有效项目（</a:t>
            </a:r>
            <a:r>
              <a:rPr lang="en-US" altLang="zh-CN">
                <a:solidFill>
                  <a:schemeClr val="hlink"/>
                </a:solidFill>
              </a:rPr>
              <a:t>valid items</a:t>
            </a:r>
            <a:r>
              <a:rPr lang="zh-CN" altLang="en-US"/>
              <a:t>）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A6D0A7C7-A791-4193-82C2-4D57BACF21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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zh-CN" altLang="en-US" dirty="0">
                <a:sym typeface="Symbol" panose="05050102010706020507" pitchFamily="18" charset="2"/>
              </a:rPr>
              <a:t>位于栈顶，帮助确定移进</a:t>
            </a:r>
            <a:r>
              <a:rPr lang="en-US" altLang="zh-CN" dirty="0">
                <a:sym typeface="Symbol" panose="05050102010706020507" pitchFamily="18" charset="2"/>
              </a:rPr>
              <a:t>/</a:t>
            </a:r>
            <a:r>
              <a:rPr lang="zh-CN" altLang="en-US" dirty="0">
                <a:sym typeface="Symbol" panose="05050102010706020507" pitchFamily="18" charset="2"/>
              </a:rPr>
              <a:t>归约</a:t>
            </a:r>
          </a:p>
          <a:p>
            <a:pPr lvl="1" eaLnBrk="1" hangingPunct="1"/>
            <a:r>
              <a:rPr lang="zh-CN" altLang="en-US" dirty="0"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</a:t>
            </a:r>
            <a:r>
              <a:rPr kumimoji="0"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zh-CN" altLang="en-US" dirty="0">
                <a:sym typeface="Symbol" panose="05050102010706020507" pitchFamily="18" charset="2"/>
              </a:rPr>
              <a:t>，未形成句柄，移进</a:t>
            </a:r>
          </a:p>
          <a:p>
            <a:pPr lvl="1" eaLnBrk="1" hangingPunct="1"/>
            <a:r>
              <a:rPr lang="zh-CN" altLang="en-US" dirty="0">
                <a:sym typeface="Symbol" panose="05050102010706020507" pitchFamily="18" charset="2"/>
              </a:rPr>
              <a:t>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=</a:t>
            </a:r>
            <a:r>
              <a:rPr kumimoji="0"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>
                <a:sym typeface="Symbol" panose="05050102010706020507" pitchFamily="18" charset="2"/>
              </a:rPr>
              <a:t>A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zh-CN" altLang="en-US" dirty="0">
                <a:sym typeface="Symbol" panose="05050102010706020507" pitchFamily="18" charset="2"/>
              </a:rPr>
              <a:t>为句柄，归约</a:t>
            </a:r>
          </a:p>
          <a:p>
            <a:pPr lvl="1" eaLnBrk="1" hangingPunct="1"/>
            <a:r>
              <a:rPr lang="zh-CN" altLang="en-US" dirty="0">
                <a:sym typeface="Symbol" panose="05050102010706020507" pitchFamily="18" charset="2"/>
              </a:rPr>
              <a:t>对同一活前缀，项目集中不同有效项目可能有不同建议</a:t>
            </a:r>
            <a:r>
              <a:rPr lang="en-US" altLang="zh-CN" dirty="0">
                <a:sym typeface="Symbol" panose="05050102010706020507" pitchFamily="18" charset="2"/>
              </a:rPr>
              <a:t>——</a:t>
            </a:r>
            <a:r>
              <a:rPr lang="zh-CN" altLang="en-US" dirty="0">
                <a:sym typeface="Symbol" panose="05050102010706020507" pitchFamily="18" charset="2"/>
              </a:rPr>
              <a:t>向前搜索解决，或冲突！</a:t>
            </a:r>
          </a:p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LR</a:t>
            </a:r>
            <a:r>
              <a:rPr lang="zh-CN" altLang="en-US" dirty="0">
                <a:sym typeface="Symbol" panose="05050102010706020507" pitchFamily="18" charset="2"/>
              </a:rPr>
              <a:t>分析法核心理论：活前缀</a:t>
            </a:r>
            <a:r>
              <a:rPr kumimoji="0"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kumimoji="0" lang="zh-CN" altLang="en-US" dirty="0">
                <a:latin typeface="Symbol" panose="05050102010706020507" pitchFamily="18" charset="2"/>
                <a:sym typeface="Symbol" panose="05050102010706020507" pitchFamily="18" charset="2"/>
              </a:rPr>
              <a:t>的有效项目集</a:t>
            </a:r>
            <a:r>
              <a:rPr kumimoji="0" lang="zh-CN" altLang="en-US" dirty="0">
                <a:sym typeface="Symbol" panose="05050102010706020507" pitchFamily="18" charset="2"/>
              </a:rPr>
              <a:t>≡</a:t>
            </a:r>
            <a:r>
              <a:rPr kumimoji="0" lang="en-US" altLang="zh-CN" dirty="0">
                <a:sym typeface="Symbol" panose="05050102010706020507" pitchFamily="18" charset="2"/>
              </a:rPr>
              <a:t>DFA</a:t>
            </a:r>
            <a:r>
              <a:rPr kumimoji="0" lang="zh-CN" altLang="en-US" dirty="0">
                <a:sym typeface="Symbol" panose="05050102010706020507" pitchFamily="18" charset="2"/>
              </a:rPr>
              <a:t>读入</a:t>
            </a:r>
            <a:r>
              <a:rPr kumimoji="0"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kumimoji="0" lang="zh-CN" altLang="en-US" dirty="0">
                <a:latin typeface="Symbol" panose="05050102010706020507" pitchFamily="18" charset="2"/>
                <a:sym typeface="Symbol" panose="05050102010706020507" pitchFamily="18" charset="2"/>
              </a:rPr>
              <a:t>后达到的状态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F609C691-403A-4FFC-B16D-3D803B75A8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4.37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492443EA-776F-473B-B694-A498B89165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pPr eaLnBrk="1" hangingPunct="1"/>
            <a:r>
              <a:rPr lang="en-US" altLang="zh-CN" sz="2800"/>
              <a:t>E+T*</a:t>
            </a:r>
            <a:r>
              <a:rPr lang="zh-CN" altLang="en-US" sz="2800"/>
              <a:t>是一个活前缀，对应状态集</a:t>
            </a:r>
            <a:r>
              <a:rPr lang="en-US" altLang="zh-CN" sz="2800"/>
              <a:t>I</a:t>
            </a:r>
            <a:r>
              <a:rPr lang="en-US" altLang="zh-CN" sz="2800" baseline="-25000"/>
              <a:t>7</a:t>
            </a:r>
            <a:endParaRPr lang="en-US" altLang="zh-CN" sz="2800"/>
          </a:p>
          <a:p>
            <a:pPr eaLnBrk="1" hangingPunct="1"/>
            <a:r>
              <a:rPr lang="zh-CN" altLang="en-US" sz="2800"/>
              <a:t>包括：</a:t>
            </a:r>
            <a:r>
              <a:rPr lang="en-US" altLang="zh-CN" sz="2800"/>
              <a:t>T </a:t>
            </a:r>
            <a:r>
              <a:rPr lang="en-US" altLang="zh-CN" sz="2800">
                <a:sym typeface="Symbol" panose="05050102010706020507" pitchFamily="18" charset="2"/>
              </a:rPr>
              <a:t> T*·F</a:t>
            </a:r>
            <a:br>
              <a:rPr lang="en-US" altLang="zh-CN" sz="2800">
                <a:sym typeface="Symbol" panose="05050102010706020507" pitchFamily="18" charset="2"/>
              </a:rPr>
            </a:br>
            <a:r>
              <a:rPr lang="en-US" altLang="zh-CN" sz="2800">
                <a:sym typeface="Symbol" panose="05050102010706020507" pitchFamily="18" charset="2"/>
              </a:rPr>
              <a:t>	      </a:t>
            </a:r>
            <a:r>
              <a:rPr lang="en-US" altLang="zh-CN" sz="2800"/>
              <a:t>F </a:t>
            </a:r>
            <a:r>
              <a:rPr lang="en-US" altLang="zh-CN" sz="2800">
                <a:sym typeface="Symbol" panose="05050102010706020507" pitchFamily="18" charset="2"/>
              </a:rPr>
              <a:t> ·(E)</a:t>
            </a:r>
            <a:br>
              <a:rPr lang="en-US" altLang="zh-CN" sz="2800">
                <a:sym typeface="Symbol" panose="05050102010706020507" pitchFamily="18" charset="2"/>
              </a:rPr>
            </a:br>
            <a:r>
              <a:rPr lang="en-US" altLang="zh-CN" sz="2800">
                <a:sym typeface="Symbol" panose="05050102010706020507" pitchFamily="18" charset="2"/>
              </a:rPr>
              <a:t>            </a:t>
            </a:r>
            <a:r>
              <a:rPr lang="en-US" altLang="zh-CN" sz="2800"/>
              <a:t>F </a:t>
            </a:r>
            <a:r>
              <a:rPr lang="en-US" altLang="zh-CN" sz="2800">
                <a:sym typeface="Symbol" panose="05050102010706020507" pitchFamily="18" charset="2"/>
              </a:rPr>
              <a:t> ·id	 </a:t>
            </a:r>
            <a:r>
              <a:rPr lang="en-US" altLang="zh-CN" sz="2800"/>
              <a:t>E+T*</a:t>
            </a:r>
            <a:r>
              <a:rPr lang="zh-CN" altLang="en-US" sz="2800"/>
              <a:t>的有效项目</a:t>
            </a:r>
          </a:p>
          <a:p>
            <a:pPr eaLnBrk="1" hangingPunct="1"/>
            <a:r>
              <a:rPr lang="en-US" altLang="zh-CN" sz="2800">
                <a:sym typeface="Symbol" panose="05050102010706020507" pitchFamily="18" charset="2"/>
              </a:rPr>
              <a:t>E’=&gt;E=&gt;E+T=&gt;</a:t>
            </a:r>
            <a:r>
              <a:rPr lang="en-US" altLang="zh-CN" sz="2800" u="sng">
                <a:solidFill>
                  <a:schemeClr val="accent2"/>
                </a:solidFill>
                <a:sym typeface="Symbol" panose="05050102010706020507" pitchFamily="18" charset="2"/>
              </a:rPr>
              <a:t>E+</a:t>
            </a:r>
            <a:r>
              <a:rPr lang="en-US" altLang="zh-CN" sz="2800" u="sng">
                <a:solidFill>
                  <a:schemeClr val="hlink"/>
                </a:solidFill>
                <a:sym typeface="Symbol" panose="05050102010706020507" pitchFamily="18" charset="2"/>
              </a:rPr>
              <a:t>T*</a:t>
            </a:r>
            <a:r>
              <a:rPr lang="en-US" altLang="zh-CN" sz="2800">
                <a:sym typeface="Symbol" panose="05050102010706020507" pitchFamily="18" charset="2"/>
              </a:rPr>
              <a:t>F</a:t>
            </a:r>
            <a:br>
              <a:rPr lang="en-US" altLang="zh-CN" sz="2800">
                <a:sym typeface="Symbol" panose="05050102010706020507" pitchFamily="18" charset="2"/>
              </a:rPr>
            </a:br>
            <a:r>
              <a:rPr lang="en-US" altLang="zh-CN" sz="2800">
                <a:sym typeface="Symbol" panose="05050102010706020507" pitchFamily="18" charset="2"/>
              </a:rPr>
              <a:t>E’=&gt;E=&gt;E+T=&gt;E+T*F=&gt;</a:t>
            </a:r>
            <a:r>
              <a:rPr lang="en-US" altLang="zh-CN" sz="2800" u="sng">
                <a:solidFill>
                  <a:schemeClr val="hlink"/>
                </a:solidFill>
                <a:sym typeface="Symbol" panose="05050102010706020507" pitchFamily="18" charset="2"/>
              </a:rPr>
              <a:t>E+T*</a:t>
            </a:r>
            <a:r>
              <a:rPr lang="en-US" altLang="zh-CN" sz="2800">
                <a:sym typeface="Symbol" panose="05050102010706020507" pitchFamily="18" charset="2"/>
              </a:rPr>
              <a:t>(E)</a:t>
            </a:r>
            <a:br>
              <a:rPr lang="en-US" altLang="zh-CN" sz="2800">
                <a:sym typeface="Symbol" panose="05050102010706020507" pitchFamily="18" charset="2"/>
              </a:rPr>
            </a:br>
            <a:r>
              <a:rPr lang="en-US" altLang="zh-CN" sz="2800">
                <a:sym typeface="Symbol" panose="05050102010706020507" pitchFamily="18" charset="2"/>
              </a:rPr>
              <a:t>E’=&gt;E=&gt;E+T=&gt;E+T*F=&gt;</a:t>
            </a:r>
            <a:r>
              <a:rPr lang="en-US" altLang="zh-CN" sz="2800" u="sng">
                <a:solidFill>
                  <a:schemeClr val="hlink"/>
                </a:solidFill>
                <a:sym typeface="Symbol" panose="05050102010706020507" pitchFamily="18" charset="2"/>
              </a:rPr>
              <a:t>E+T*</a:t>
            </a:r>
            <a:r>
              <a:rPr lang="en-US" altLang="zh-CN" sz="2800">
                <a:sym typeface="Symbol" panose="05050102010706020507" pitchFamily="18" charset="2"/>
              </a:rPr>
              <a:t>id</a:t>
            </a:r>
            <a:br>
              <a:rPr lang="en-US" altLang="zh-CN" sz="2800">
                <a:sym typeface="Symbol" panose="05050102010706020507" pitchFamily="18" charset="2"/>
              </a:rPr>
            </a:br>
            <a:r>
              <a:rPr lang="zh-CN" altLang="en-US" sz="2800">
                <a:sym typeface="Symbol" panose="05050102010706020507" pitchFamily="18" charset="2"/>
              </a:rPr>
              <a:t>分别验证了三个项目的有效性</a:t>
            </a:r>
          </a:p>
          <a:p>
            <a:pPr eaLnBrk="1" hangingPunct="1"/>
            <a:r>
              <a:rPr lang="zh-CN" altLang="en-US" sz="2800"/>
              <a:t>无其他有效项目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E9FBD0B5-0B5D-4C3C-ABC2-075F6A5046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4.8</a:t>
            </a:r>
            <a:r>
              <a:rPr lang="zh-CN" altLang="en-US"/>
              <a:t>：构造</a:t>
            </a:r>
            <a:r>
              <a:rPr lang="en-US" altLang="zh-CN"/>
              <a:t>SLR</a:t>
            </a:r>
            <a:r>
              <a:rPr lang="zh-CN" altLang="en-US"/>
              <a:t>分析表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4BB94704-F81F-4901-BA40-55A3F98827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输入：拓广文法</a:t>
            </a:r>
            <a:r>
              <a:rPr lang="en-US" altLang="zh-CN" sz="2800" dirty="0"/>
              <a:t>G’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输出：</a:t>
            </a:r>
            <a:r>
              <a:rPr lang="en-US" altLang="zh-CN" sz="2800" dirty="0"/>
              <a:t>G’</a:t>
            </a:r>
            <a:r>
              <a:rPr lang="zh-CN" altLang="en-US" sz="2800" dirty="0"/>
              <a:t>的</a:t>
            </a:r>
            <a:r>
              <a:rPr lang="en-US" altLang="zh-CN" sz="2800" dirty="0"/>
              <a:t>SLR</a:t>
            </a:r>
            <a:r>
              <a:rPr lang="zh-CN" altLang="en-US" sz="2800" dirty="0"/>
              <a:t>分析表</a:t>
            </a:r>
            <a:r>
              <a:rPr lang="en-US" altLang="zh-CN" sz="2800" dirty="0"/>
              <a:t>——action</a:t>
            </a:r>
            <a:r>
              <a:rPr lang="zh-CN" altLang="en-US" sz="2800" dirty="0"/>
              <a:t>，</a:t>
            </a:r>
            <a:r>
              <a:rPr lang="en-US" altLang="zh-CN" sz="2800" dirty="0" err="1"/>
              <a:t>goto</a:t>
            </a:r>
            <a:r>
              <a:rPr lang="zh-CN" altLang="en-US" sz="2800" dirty="0"/>
              <a:t>函数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方法：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dirty="0"/>
              <a:t>构造</a:t>
            </a:r>
            <a:r>
              <a:rPr lang="en-US" altLang="zh-CN" sz="2800" dirty="0"/>
              <a:t>G’</a:t>
            </a:r>
            <a:r>
              <a:rPr lang="zh-CN" altLang="en-US" sz="2800" dirty="0"/>
              <a:t>的</a:t>
            </a:r>
            <a:r>
              <a:rPr lang="en-US" altLang="zh-CN" sz="2800" dirty="0"/>
              <a:t>LR(0)</a:t>
            </a:r>
            <a:r>
              <a:rPr lang="zh-CN" altLang="en-US" sz="2800" dirty="0"/>
              <a:t>项目集规范族</a:t>
            </a:r>
            <a:r>
              <a:rPr lang="en-US" altLang="zh-CN" sz="2800" dirty="0"/>
              <a:t>C={I</a:t>
            </a:r>
            <a:r>
              <a:rPr lang="en-US" altLang="zh-CN" sz="2800" baseline="-25000" dirty="0"/>
              <a:t>0</a:t>
            </a:r>
            <a:r>
              <a:rPr lang="en-US" altLang="zh-CN" sz="2800" dirty="0"/>
              <a:t>, I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 …, I</a:t>
            </a:r>
            <a:r>
              <a:rPr lang="en-US" altLang="zh-CN" sz="2800" baseline="-25000" dirty="0"/>
              <a:t>n</a:t>
            </a:r>
            <a:r>
              <a:rPr lang="en-US" altLang="zh-CN" sz="2800" dirty="0"/>
              <a:t>}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dirty="0"/>
              <a:t>由</a:t>
            </a:r>
            <a:r>
              <a:rPr lang="en-US" altLang="zh-CN" sz="2800" dirty="0" err="1"/>
              <a:t>I</a:t>
            </a:r>
            <a:r>
              <a:rPr lang="en-US" altLang="zh-CN" sz="2800" baseline="-25000" dirty="0" err="1"/>
              <a:t>i</a:t>
            </a:r>
            <a:r>
              <a:rPr lang="zh-CN" altLang="en-US" sz="2800" dirty="0"/>
              <a:t>构造状态</a:t>
            </a:r>
            <a:r>
              <a:rPr lang="en-US" altLang="zh-CN" sz="2800" dirty="0" err="1"/>
              <a:t>i</a:t>
            </a:r>
            <a:r>
              <a:rPr lang="zh-CN" altLang="en-US" sz="2800" dirty="0"/>
              <a:t>：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lphaLcParenR"/>
            </a:pPr>
            <a:r>
              <a:rPr lang="zh-CN" altLang="en-US" sz="2400" dirty="0"/>
              <a:t>若</a:t>
            </a:r>
            <a:r>
              <a:rPr lang="en-US" altLang="zh-CN" sz="2400" dirty="0">
                <a:sym typeface="Symbol" panose="05050102010706020507" pitchFamily="18" charset="2"/>
              </a:rPr>
              <a:t>[A·a] </a:t>
            </a:r>
            <a:r>
              <a:rPr lang="zh-CN" altLang="en-US" sz="2400" dirty="0">
                <a:sym typeface="Symbol" panose="05050102010706020507" pitchFamily="18" charset="2"/>
              </a:rPr>
              <a:t>在</a:t>
            </a:r>
            <a:r>
              <a:rPr lang="en-US" altLang="zh-CN" sz="2400" dirty="0" err="1">
                <a:sym typeface="Symbol" panose="05050102010706020507" pitchFamily="18" charset="2"/>
              </a:rPr>
              <a:t>I</a:t>
            </a:r>
            <a:r>
              <a:rPr lang="en-US" altLang="zh-CN" sz="2400" baseline="-25000" dirty="0" err="1">
                <a:sym typeface="Symbol" panose="05050102010706020507" pitchFamily="18" charset="2"/>
              </a:rPr>
              <a:t>i</a:t>
            </a:r>
            <a:r>
              <a:rPr lang="zh-CN" altLang="en-US" sz="2400" dirty="0">
                <a:sym typeface="Symbol" panose="05050102010706020507" pitchFamily="18" charset="2"/>
              </a:rPr>
              <a:t>中，且</a:t>
            </a:r>
            <a:r>
              <a:rPr lang="en-US" altLang="zh-CN" sz="2400" dirty="0" err="1">
                <a:sym typeface="Symbol" panose="05050102010706020507" pitchFamily="18" charset="2"/>
              </a:rPr>
              <a:t>goto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dirty="0" err="1">
                <a:sym typeface="Symbol" panose="05050102010706020507" pitchFamily="18" charset="2"/>
              </a:rPr>
              <a:t>I</a:t>
            </a:r>
            <a:r>
              <a:rPr lang="en-US" altLang="zh-CN" sz="2400" baseline="-25000" dirty="0" err="1"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sym typeface="Symbol" panose="05050102010706020507" pitchFamily="18" charset="2"/>
              </a:rPr>
              <a:t>, a)=</a:t>
            </a:r>
            <a:r>
              <a:rPr lang="en-US" altLang="zh-CN" sz="2400" dirty="0" err="1">
                <a:sym typeface="Symbol" panose="05050102010706020507" pitchFamily="18" charset="2"/>
              </a:rPr>
              <a:t>I</a:t>
            </a:r>
            <a:r>
              <a:rPr lang="en-US" altLang="zh-CN" sz="2400" baseline="-25000" dirty="0" err="1">
                <a:sym typeface="Symbol" panose="05050102010706020507" pitchFamily="18" charset="2"/>
              </a:rPr>
              <a:t>j</a:t>
            </a:r>
            <a:r>
              <a:rPr lang="zh-CN" altLang="en-US" sz="2400" dirty="0">
                <a:sym typeface="Symbol" panose="05050102010706020507" pitchFamily="18" charset="2"/>
              </a:rPr>
              <a:t>，则</a:t>
            </a:r>
            <a:r>
              <a:rPr lang="en-US" altLang="zh-CN" sz="2400" dirty="0">
                <a:sym typeface="Symbol" panose="05050102010706020507" pitchFamily="18" charset="2"/>
              </a:rPr>
              <a:t>action[</a:t>
            </a:r>
            <a:r>
              <a:rPr lang="en-US" altLang="zh-CN" sz="2400" dirty="0" err="1"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sym typeface="Symbol" panose="05050102010706020507" pitchFamily="18" charset="2"/>
              </a:rPr>
              <a:t>, a]=“</a:t>
            </a:r>
            <a:r>
              <a:rPr lang="zh-CN" altLang="en-US" sz="2400" dirty="0">
                <a:sym typeface="Symbol" panose="05050102010706020507" pitchFamily="18" charset="2"/>
              </a:rPr>
              <a:t>移进</a:t>
            </a:r>
            <a:r>
              <a:rPr lang="en-US" altLang="zh-CN" sz="2400" dirty="0">
                <a:sym typeface="Symbol" panose="05050102010706020507" pitchFamily="18" charset="2"/>
              </a:rPr>
              <a:t>j”</a:t>
            </a:r>
            <a:r>
              <a:rPr lang="zh-CN" altLang="en-US" sz="2400" dirty="0">
                <a:sym typeface="Symbol" panose="05050102010706020507" pitchFamily="18" charset="2"/>
              </a:rPr>
              <a:t>，此处</a:t>
            </a:r>
            <a:r>
              <a:rPr lang="en-US" altLang="zh-CN" sz="2400" dirty="0">
                <a:sym typeface="Symbol" panose="05050102010706020507" pitchFamily="18" charset="2"/>
              </a:rPr>
              <a:t>a</a:t>
            </a:r>
            <a:r>
              <a:rPr lang="zh-CN" altLang="en-US" sz="2400" dirty="0">
                <a:sym typeface="Symbol" panose="05050102010706020507" pitchFamily="18" charset="2"/>
              </a:rPr>
              <a:t>为终结符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lphaLcParenR"/>
            </a:pPr>
            <a:r>
              <a:rPr lang="zh-CN" altLang="en-US" sz="2400" dirty="0"/>
              <a:t>若</a:t>
            </a:r>
            <a:r>
              <a:rPr lang="en-US" altLang="zh-CN" sz="2400" dirty="0">
                <a:sym typeface="Symbol" panose="05050102010706020507" pitchFamily="18" charset="2"/>
              </a:rPr>
              <a:t>[A·] </a:t>
            </a:r>
            <a:r>
              <a:rPr lang="zh-CN" altLang="en-US" sz="2400" dirty="0">
                <a:sym typeface="Symbol" panose="05050102010706020507" pitchFamily="18" charset="2"/>
              </a:rPr>
              <a:t>在</a:t>
            </a:r>
            <a:r>
              <a:rPr lang="en-US" altLang="zh-CN" sz="2400" dirty="0" err="1">
                <a:sym typeface="Symbol" panose="05050102010706020507" pitchFamily="18" charset="2"/>
              </a:rPr>
              <a:t>I</a:t>
            </a:r>
            <a:r>
              <a:rPr lang="en-US" altLang="zh-CN" sz="2400" baseline="-25000" dirty="0" err="1">
                <a:sym typeface="Symbol" panose="05050102010706020507" pitchFamily="18" charset="2"/>
              </a:rPr>
              <a:t>i</a:t>
            </a:r>
            <a:r>
              <a:rPr lang="zh-CN" altLang="en-US" sz="2400" dirty="0">
                <a:sym typeface="Symbol" panose="05050102010706020507" pitchFamily="18" charset="2"/>
              </a:rPr>
              <a:t>中，对所有</a:t>
            </a:r>
            <a:r>
              <a:rPr lang="en-US" altLang="zh-CN" sz="2400" dirty="0" err="1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altLang="zh-CN" sz="2400" dirty="0" err="1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∈</a:t>
            </a:r>
            <a:r>
              <a:rPr lang="en-US" altLang="zh-CN" sz="2400" dirty="0" err="1">
                <a:solidFill>
                  <a:srgbClr val="FF0000"/>
                </a:solidFill>
                <a:sym typeface="Symbol" panose="05050102010706020507" pitchFamily="18" charset="2"/>
              </a:rPr>
              <a:t>FOLLOW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(A)</a:t>
            </a:r>
            <a:r>
              <a:rPr lang="zh-CN" altLang="en-US" sz="2400" dirty="0">
                <a:sym typeface="Symbol" panose="05050102010706020507" pitchFamily="18" charset="2"/>
              </a:rPr>
              <a:t>，令</a:t>
            </a:r>
            <a:r>
              <a:rPr lang="en-US" altLang="zh-CN" sz="2400" dirty="0">
                <a:sym typeface="Symbol" panose="05050102010706020507" pitchFamily="18" charset="2"/>
              </a:rPr>
              <a:t>action[</a:t>
            </a:r>
            <a:r>
              <a:rPr lang="en-US" altLang="zh-CN" sz="2400" dirty="0" err="1"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sym typeface="Symbol" panose="05050102010706020507" pitchFamily="18" charset="2"/>
              </a:rPr>
              <a:t>, a]=“</a:t>
            </a:r>
            <a:r>
              <a:rPr lang="zh-CN" altLang="en-US" sz="2400" dirty="0">
                <a:sym typeface="Symbol" panose="05050102010706020507" pitchFamily="18" charset="2"/>
              </a:rPr>
              <a:t>归约</a:t>
            </a:r>
            <a:r>
              <a:rPr lang="en-US" altLang="zh-CN" sz="2400" dirty="0">
                <a:sym typeface="Symbol" panose="05050102010706020507" pitchFamily="18" charset="2"/>
              </a:rPr>
              <a:t>A”</a:t>
            </a:r>
            <a:r>
              <a:rPr lang="zh-CN" altLang="en-US" sz="2400" dirty="0">
                <a:sym typeface="Symbol" panose="05050102010706020507" pitchFamily="18" charset="2"/>
              </a:rPr>
              <a:t>，此处</a:t>
            </a:r>
            <a:r>
              <a:rPr lang="en-US" altLang="zh-CN" sz="2400" dirty="0">
                <a:sym typeface="Symbol" panose="05050102010706020507" pitchFamily="18" charset="2"/>
              </a:rPr>
              <a:t>A</a:t>
            </a:r>
            <a:r>
              <a:rPr lang="en-US" altLang="zh-CN" sz="2400" dirty="0">
                <a:ea typeface="Arial Unicode MS" pitchFamily="34" charset="-122"/>
                <a:sym typeface="Symbol" panose="05050102010706020507" pitchFamily="18" charset="2"/>
              </a:rPr>
              <a:t>≠</a:t>
            </a:r>
            <a:r>
              <a:rPr lang="en-US" altLang="zh-CN" sz="2400" dirty="0">
                <a:sym typeface="Symbol" panose="05050102010706020507" pitchFamily="18" charset="2"/>
              </a:rPr>
              <a:t>S’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0AD116D3-0D71-40AD-8C9B-F610D288EA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4.8</a:t>
            </a:r>
            <a:r>
              <a:rPr lang="zh-CN" altLang="en-US"/>
              <a:t>：构造</a:t>
            </a:r>
            <a:r>
              <a:rPr lang="en-US" altLang="zh-CN"/>
              <a:t>SLR</a:t>
            </a:r>
            <a:r>
              <a:rPr lang="zh-CN" altLang="en-US"/>
              <a:t>分析表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9F465383-EBFD-485E-A0C6-33B30A62DF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990600" lvl="1" indent="-533400" eaLnBrk="1" hangingPunct="1">
              <a:buFont typeface="Wingdings" panose="05000000000000000000" pitchFamily="2" charset="2"/>
              <a:buAutoNum type="alphaLcParenR" startAt="3"/>
            </a:pPr>
            <a:r>
              <a:rPr lang="zh-CN" altLang="en-US" dirty="0"/>
              <a:t>若</a:t>
            </a:r>
            <a:r>
              <a:rPr lang="en-US" altLang="zh-CN" dirty="0">
                <a:sym typeface="Symbol" panose="05050102010706020507" pitchFamily="18" charset="2"/>
              </a:rPr>
              <a:t>[S’S·] </a:t>
            </a:r>
            <a:r>
              <a:rPr lang="zh-CN" altLang="en-US" dirty="0">
                <a:sym typeface="Symbol" panose="05050102010706020507" pitchFamily="18" charset="2"/>
              </a:rPr>
              <a:t>在</a:t>
            </a:r>
            <a:r>
              <a:rPr lang="en-US" altLang="zh-CN" dirty="0">
                <a:sym typeface="Symbol" panose="05050102010706020507" pitchFamily="18" charset="2"/>
              </a:rPr>
              <a:t>I</a:t>
            </a:r>
            <a:r>
              <a:rPr lang="en-US" altLang="zh-CN" baseline="-25000" dirty="0">
                <a:sym typeface="Symbol" panose="05050102010706020507" pitchFamily="18" charset="2"/>
              </a:rPr>
              <a:t>i</a:t>
            </a:r>
            <a:r>
              <a:rPr lang="zh-CN" altLang="en-US" dirty="0">
                <a:sym typeface="Symbol" panose="05050102010706020507" pitchFamily="18" charset="2"/>
              </a:rPr>
              <a:t>中，则令</a:t>
            </a:r>
            <a:r>
              <a:rPr lang="en-US" altLang="zh-CN" dirty="0">
                <a:sym typeface="Symbol" panose="05050102010706020507" pitchFamily="18" charset="2"/>
              </a:rPr>
              <a:t>action[</a:t>
            </a:r>
            <a:r>
              <a:rPr lang="en-US" altLang="zh-CN" dirty="0" err="1">
                <a:sym typeface="Symbol" panose="05050102010706020507" pitchFamily="18" charset="2"/>
              </a:rPr>
              <a:t>i</a:t>
            </a:r>
            <a:r>
              <a:rPr lang="en-US" altLang="zh-CN" dirty="0">
                <a:sym typeface="Symbol" panose="05050102010706020507" pitchFamily="18" charset="2"/>
              </a:rPr>
              <a:t>, $]=</a:t>
            </a:r>
            <a:r>
              <a:rPr lang="zh-CN" altLang="en-US" dirty="0">
                <a:sym typeface="Symbol" panose="05050102010706020507" pitchFamily="18" charset="2"/>
              </a:rPr>
              <a:t>“接受”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 startAt="3"/>
            </a:pPr>
            <a:r>
              <a:rPr lang="zh-CN" altLang="en-US" dirty="0">
                <a:sym typeface="Symbol" panose="05050102010706020507" pitchFamily="18" charset="2"/>
              </a:rPr>
              <a:t>利用</a:t>
            </a:r>
            <a:r>
              <a:rPr lang="en-US" altLang="zh-CN" dirty="0">
                <a:sym typeface="Symbol" panose="05050102010706020507" pitchFamily="18" charset="2"/>
              </a:rPr>
              <a:t>DFA</a:t>
            </a:r>
            <a:r>
              <a:rPr lang="zh-CN" altLang="en-US" dirty="0">
                <a:sym typeface="Symbol" panose="05050102010706020507" pitchFamily="18" charset="2"/>
              </a:rPr>
              <a:t>的状态转移函数构造状态的</a:t>
            </a:r>
            <a:r>
              <a:rPr lang="en-US" altLang="zh-CN" dirty="0" err="1">
                <a:sym typeface="Symbol" panose="05050102010706020507" pitchFamily="18" charset="2"/>
              </a:rPr>
              <a:t>goto</a:t>
            </a:r>
            <a:r>
              <a:rPr lang="zh-CN" altLang="en-US" dirty="0">
                <a:sym typeface="Symbol" panose="05050102010706020507" pitchFamily="18" charset="2"/>
              </a:rPr>
              <a:t>函数：</a:t>
            </a:r>
            <a:r>
              <a:rPr lang="en-US" altLang="zh-CN" dirty="0" err="1">
                <a:sym typeface="Symbol" panose="05050102010706020507" pitchFamily="18" charset="2"/>
              </a:rPr>
              <a:t>goto</a:t>
            </a:r>
            <a:r>
              <a:rPr lang="en-US" altLang="zh-CN" dirty="0">
                <a:sym typeface="Symbol" panose="05050102010706020507" pitchFamily="18" charset="2"/>
              </a:rPr>
              <a:t>(I</a:t>
            </a:r>
            <a:r>
              <a:rPr lang="en-US" altLang="zh-CN" baseline="-25000" dirty="0">
                <a:sym typeface="Symbol" panose="05050102010706020507" pitchFamily="18" charset="2"/>
              </a:rPr>
              <a:t>i</a:t>
            </a:r>
            <a:r>
              <a:rPr lang="en-US" altLang="zh-CN" dirty="0">
                <a:sym typeface="Symbol" panose="05050102010706020507" pitchFamily="18" charset="2"/>
              </a:rPr>
              <a:t>, A)=</a:t>
            </a:r>
            <a:r>
              <a:rPr lang="en-US" altLang="zh-CN" dirty="0" err="1">
                <a:sym typeface="Symbol" panose="05050102010706020507" pitchFamily="18" charset="2"/>
              </a:rPr>
              <a:t>I</a:t>
            </a:r>
            <a:r>
              <a:rPr lang="en-US" altLang="zh-CN" baseline="-25000" dirty="0" err="1">
                <a:sym typeface="Symbol" panose="05050102010706020507" pitchFamily="18" charset="2"/>
              </a:rPr>
              <a:t>j</a:t>
            </a:r>
            <a:r>
              <a:rPr lang="en-US" altLang="zh-CN" dirty="0" err="1">
                <a:sym typeface="Wingdings" panose="05000000000000000000" pitchFamily="2" charset="2"/>
              </a:rPr>
              <a:t>goto</a:t>
            </a:r>
            <a:r>
              <a:rPr lang="en-US" altLang="zh-CN" dirty="0">
                <a:sym typeface="Wingdings" panose="05000000000000000000" pitchFamily="2" charset="2"/>
              </a:rPr>
              <a:t>[</a:t>
            </a:r>
            <a:r>
              <a:rPr lang="en-US" altLang="zh-CN" dirty="0" err="1">
                <a:sym typeface="Wingdings" panose="05000000000000000000" pitchFamily="2" charset="2"/>
              </a:rPr>
              <a:t>i</a:t>
            </a:r>
            <a:r>
              <a:rPr lang="en-US" altLang="zh-CN" dirty="0">
                <a:sym typeface="Wingdings" panose="05000000000000000000" pitchFamily="2" charset="2"/>
              </a:rPr>
              <a:t>, A]=j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 startAt="3"/>
            </a:pPr>
            <a:r>
              <a:rPr lang="en-US" altLang="zh-CN" dirty="0">
                <a:sym typeface="Wingdings" panose="05000000000000000000" pitchFamily="2" charset="2"/>
              </a:rPr>
              <a:t>2</a:t>
            </a:r>
            <a:r>
              <a:rPr lang="zh-CN" altLang="en-US" dirty="0">
                <a:sym typeface="Wingdings" panose="05000000000000000000" pitchFamily="2" charset="2"/>
              </a:rPr>
              <a:t>、</a:t>
            </a:r>
            <a:r>
              <a:rPr lang="en-US" altLang="zh-CN" dirty="0">
                <a:sym typeface="Wingdings" panose="05000000000000000000" pitchFamily="2" charset="2"/>
              </a:rPr>
              <a:t>3</a:t>
            </a:r>
            <a:r>
              <a:rPr lang="zh-CN" altLang="en-US" dirty="0">
                <a:sym typeface="Wingdings" panose="05000000000000000000" pitchFamily="2" charset="2"/>
              </a:rPr>
              <a:t>未定义的表项为错误项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 startAt="3"/>
            </a:pPr>
            <a:r>
              <a:rPr lang="zh-CN" altLang="en-US" dirty="0">
                <a:sym typeface="Wingdings" panose="05000000000000000000" pitchFamily="2" charset="2"/>
              </a:rPr>
              <a:t>分析器的初态，设定为包含</a:t>
            </a:r>
            <a:r>
              <a:rPr lang="en-US" altLang="zh-CN" dirty="0">
                <a:sym typeface="Symbol" panose="05050102010706020507" pitchFamily="18" charset="2"/>
              </a:rPr>
              <a:t>[S’S·]</a:t>
            </a:r>
            <a:r>
              <a:rPr lang="zh-CN" altLang="en-US" dirty="0">
                <a:sym typeface="Symbol" panose="05050102010706020507" pitchFamily="18" charset="2"/>
              </a:rPr>
              <a:t>的项目集</a:t>
            </a:r>
            <a:r>
              <a:rPr lang="en-US" altLang="zh-CN" dirty="0">
                <a:sym typeface="Symbol" panose="05050102010706020507" pitchFamily="18" charset="2"/>
              </a:rPr>
              <a:t>I</a:t>
            </a:r>
            <a:r>
              <a:rPr lang="en-US" altLang="zh-CN" baseline="-25000" dirty="0">
                <a:sym typeface="Symbol" panose="05050102010706020507" pitchFamily="18" charset="2"/>
              </a:rPr>
              <a:t>0</a:t>
            </a:r>
            <a:endParaRPr lang="en-US" altLang="zh-CN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FC53A019-3FFD-41A0-AD96-3726E44A9B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4.38</a:t>
            </a:r>
          </a:p>
        </p:txBody>
      </p:sp>
      <p:sp>
        <p:nvSpPr>
          <p:cNvPr id="83971" name="Text Box 4">
            <a:extLst>
              <a:ext uri="{FF2B5EF4-FFF2-40B4-BE49-F238E27FC236}">
                <a16:creationId xmlns:a16="http://schemas.microsoft.com/office/drawing/2014/main" id="{0E081D35-7C33-4033-81CC-FC049AFCF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219200"/>
            <a:ext cx="1766888" cy="315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0</a:t>
            </a:r>
            <a:r>
              <a:rPr kumimoji="0" lang="en-US" altLang="zh-CN" sz="2400">
                <a:solidFill>
                  <a:srgbClr val="3333CC"/>
                </a:solidFill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E’ </a:t>
            </a:r>
            <a:r>
              <a:rPr kumimoji="0" lang="en-US" altLang="zh-CN" sz="2400" b="1">
                <a:sym typeface="Symbol" panose="05050102010706020507" pitchFamily="18" charset="2"/>
              </a:rPr>
              <a:t> ·E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·E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 b="1">
                <a:sym typeface="Symbol" panose="05050102010706020507" pitchFamily="18" charset="2"/>
              </a:rPr>
              <a:t> T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·T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 ·T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  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·F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endParaRPr kumimoji="0" lang="en-US" altLang="zh-CN" sz="2400"/>
          </a:p>
        </p:txBody>
      </p:sp>
      <p:sp>
        <p:nvSpPr>
          <p:cNvPr id="83972" name="Text Box 5">
            <a:extLst>
              <a:ext uri="{FF2B5EF4-FFF2-40B4-BE49-F238E27FC236}">
                <a16:creationId xmlns:a16="http://schemas.microsoft.com/office/drawing/2014/main" id="{E03C89AB-E6C8-45C5-BAC3-CD3DCE1C0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2788" y="1676400"/>
            <a:ext cx="5360987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,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/>
              <a:t>goto(I</a:t>
            </a:r>
            <a:r>
              <a:rPr kumimoji="0" lang="en-US" altLang="zh-CN" sz="2400" baseline="-25000"/>
              <a:t>0</a:t>
            </a:r>
            <a:r>
              <a:rPr kumimoji="0" lang="en-US" altLang="zh-CN" sz="2400"/>
              <a:t>, ( )=I</a:t>
            </a:r>
            <a:r>
              <a:rPr kumimoji="0" lang="en-US" altLang="zh-CN" sz="2400" baseline="-25000"/>
              <a:t>4</a:t>
            </a:r>
            <a:r>
              <a:rPr kumimoji="0" lang="en-US" altLang="zh-CN" sz="2400">
                <a:sym typeface="Wingdings" panose="05000000000000000000" pitchFamily="2" charset="2"/>
              </a:rPr>
              <a:t>action[0, (]=s4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, goto(I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0</a:t>
            </a:r>
            <a:r>
              <a:rPr kumimoji="0" lang="en-US" altLang="zh-CN" sz="2400">
                <a:sym typeface="Symbol" panose="05050102010706020507" pitchFamily="18" charset="2"/>
              </a:rPr>
              <a:t>, 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)=I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5</a:t>
            </a:r>
            <a:r>
              <a:rPr kumimoji="0" lang="en-US" altLang="zh-CN" sz="2400">
                <a:sym typeface="Wingdings" panose="05000000000000000000" pitchFamily="2" charset="2"/>
              </a:rPr>
              <a:t>action[0, </a:t>
            </a:r>
            <a:r>
              <a:rPr kumimoji="0" lang="en-US" altLang="zh-CN" sz="2400" b="1">
                <a:sym typeface="Wingdings" panose="05000000000000000000" pitchFamily="2" charset="2"/>
              </a:rPr>
              <a:t>id</a:t>
            </a:r>
            <a:r>
              <a:rPr kumimoji="0" lang="en-US" altLang="zh-CN" sz="2400">
                <a:sym typeface="Wingdings" panose="05000000000000000000" pitchFamily="2" charset="2"/>
              </a:rPr>
              <a:t>]=s5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Wingdings" panose="05000000000000000000" pitchFamily="2" charset="2"/>
              </a:rPr>
              <a:t>goto[0, E] = 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Wingdings" panose="05000000000000000000" pitchFamily="2" charset="2"/>
              </a:rPr>
              <a:t>goto[0, T] = 2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Wingdings" panose="05000000000000000000" pitchFamily="2" charset="2"/>
              </a:rPr>
              <a:t>goto[0, F] = 3</a:t>
            </a:r>
            <a:endParaRPr kumimoji="0" lang="en-US" altLang="zh-CN" sz="2400">
              <a:sym typeface="Symbol" panose="05050102010706020507" pitchFamily="18" charset="2"/>
            </a:endParaRPr>
          </a:p>
        </p:txBody>
      </p:sp>
      <p:sp>
        <p:nvSpPr>
          <p:cNvPr id="83973" name="Text Box 6">
            <a:extLst>
              <a:ext uri="{FF2B5EF4-FFF2-40B4-BE49-F238E27FC236}">
                <a16:creationId xmlns:a16="http://schemas.microsoft.com/office/drawing/2014/main" id="{0696F1B0-0F84-4DCA-B05B-62E1DC250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419600"/>
            <a:ext cx="1728788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1</a:t>
            </a:r>
            <a:r>
              <a:rPr kumimoji="0" lang="en-US" altLang="zh-CN" sz="2400">
                <a:solidFill>
                  <a:srgbClr val="3333CC"/>
                </a:solidFill>
              </a:rPr>
              <a:t> </a:t>
            </a:r>
            <a:br>
              <a:rPr kumimoji="0" lang="en-US" altLang="zh-CN" sz="2400"/>
            </a:br>
            <a:r>
              <a:rPr kumimoji="0" lang="en-US" altLang="zh-CN" sz="2400" b="1"/>
              <a:t>E’ </a:t>
            </a:r>
            <a:r>
              <a:rPr kumimoji="0" lang="en-US" altLang="zh-CN" sz="2400" b="1">
                <a:sym typeface="Symbol" panose="05050102010706020507" pitchFamily="18" charset="2"/>
              </a:rPr>
              <a:t> E·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E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 b="1">
                <a:sym typeface="Symbol" panose="05050102010706020507" pitchFamily="18" charset="2"/>
              </a:rPr>
              <a:t> T </a:t>
            </a:r>
          </a:p>
        </p:txBody>
      </p:sp>
      <p:sp>
        <p:nvSpPr>
          <p:cNvPr id="83974" name="Text Box 7">
            <a:extLst>
              <a:ext uri="{FF2B5EF4-FFF2-40B4-BE49-F238E27FC236}">
                <a16:creationId xmlns:a16="http://schemas.microsoft.com/office/drawing/2014/main" id="{B89005DF-04EC-4C05-8137-ABD5212BD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338388"/>
            <a:ext cx="6175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ym typeface="Wingdings" panose="05000000000000000000" pitchFamily="2" charset="2"/>
              </a:rPr>
              <a:t></a:t>
            </a:r>
            <a:endParaRPr kumimoji="0" lang="en-US" altLang="zh-CN"/>
          </a:p>
        </p:txBody>
      </p:sp>
      <p:sp>
        <p:nvSpPr>
          <p:cNvPr id="83975" name="Text Box 8">
            <a:extLst>
              <a:ext uri="{FF2B5EF4-FFF2-40B4-BE49-F238E27FC236}">
                <a16:creationId xmlns:a16="http://schemas.microsoft.com/office/drawing/2014/main" id="{6958359F-2FB8-42D0-9FBC-BB7C381286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5188" y="4664075"/>
            <a:ext cx="56181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E’ </a:t>
            </a:r>
            <a:r>
              <a:rPr kumimoji="0" lang="en-US" altLang="zh-CN" sz="2400" b="1">
                <a:sym typeface="Symbol" panose="05050102010706020507" pitchFamily="18" charset="2"/>
              </a:rPr>
              <a:t> E·</a:t>
            </a:r>
            <a:r>
              <a:rPr kumimoji="0" lang="en-US" altLang="zh-CN" sz="2400">
                <a:sym typeface="Wingdings" panose="05000000000000000000" pitchFamily="2" charset="2"/>
              </a:rPr>
              <a:t>action[1, $]=acc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E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 b="1">
                <a:sym typeface="Symbol" panose="05050102010706020507" pitchFamily="18" charset="2"/>
              </a:rPr>
              <a:t> T</a:t>
            </a:r>
            <a:r>
              <a:rPr kumimoji="0" lang="en-US" altLang="zh-CN" sz="2400">
                <a:sym typeface="Symbol" panose="05050102010706020507" pitchFamily="18" charset="2"/>
              </a:rPr>
              <a:t>, goto(I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, </a:t>
            </a:r>
            <a:r>
              <a:rPr kumimoji="0" lang="en-US" altLang="zh-CN" sz="2400" b="1">
                <a:sym typeface="Symbol" panose="05050102010706020507" pitchFamily="18" charset="2"/>
              </a:rPr>
              <a:t>+</a:t>
            </a:r>
            <a:r>
              <a:rPr kumimoji="0" lang="en-US" altLang="zh-CN" sz="2400">
                <a:sym typeface="Symbol" panose="05050102010706020507" pitchFamily="18" charset="2"/>
              </a:rPr>
              <a:t>)=I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6</a:t>
            </a:r>
            <a:r>
              <a:rPr kumimoji="0" lang="en-US" altLang="zh-CN" sz="2400">
                <a:sym typeface="Wingdings" panose="05000000000000000000" pitchFamily="2" charset="2"/>
              </a:rPr>
              <a:t>action[1, </a:t>
            </a:r>
            <a:r>
              <a:rPr kumimoji="0" lang="en-US" altLang="zh-CN" sz="2400" b="1">
                <a:sym typeface="Wingdings" panose="05000000000000000000" pitchFamily="2" charset="2"/>
              </a:rPr>
              <a:t>+</a:t>
            </a:r>
            <a:r>
              <a:rPr kumimoji="0" lang="en-US" altLang="zh-CN" sz="2400">
                <a:sym typeface="Wingdings" panose="05000000000000000000" pitchFamily="2" charset="2"/>
              </a:rPr>
              <a:t>]=s6</a:t>
            </a:r>
          </a:p>
        </p:txBody>
      </p:sp>
      <p:sp>
        <p:nvSpPr>
          <p:cNvPr id="83976" name="Text Box 9">
            <a:extLst>
              <a:ext uri="{FF2B5EF4-FFF2-40B4-BE49-F238E27FC236}">
                <a16:creationId xmlns:a16="http://schemas.microsoft.com/office/drawing/2014/main" id="{1DD507BB-04FC-4B0A-AC68-86D8E5E37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5202238"/>
            <a:ext cx="6175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ym typeface="Wingdings" panose="05000000000000000000" pitchFamily="2" charset="2"/>
              </a:rPr>
              <a:t></a:t>
            </a:r>
            <a:endParaRPr kumimoji="0" lang="en-US" altLang="zh-CN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D629E7D1-DF5C-4E2C-B688-68DA96ABE4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4.38</a:t>
            </a:r>
            <a:r>
              <a:rPr lang="zh-CN" altLang="en-US"/>
              <a:t>（续）</a:t>
            </a:r>
          </a:p>
        </p:txBody>
      </p:sp>
      <p:sp>
        <p:nvSpPr>
          <p:cNvPr id="84995" name="Text Box 3">
            <a:extLst>
              <a:ext uri="{FF2B5EF4-FFF2-40B4-BE49-F238E27FC236}">
                <a16:creationId xmlns:a16="http://schemas.microsoft.com/office/drawing/2014/main" id="{2D1C5290-8721-4836-BFA1-2CA3E9B4A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219200"/>
            <a:ext cx="1763713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2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T·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 T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  </a:t>
            </a:r>
          </a:p>
        </p:txBody>
      </p:sp>
      <p:sp>
        <p:nvSpPr>
          <p:cNvPr id="84996" name="Text Box 4">
            <a:extLst>
              <a:ext uri="{FF2B5EF4-FFF2-40B4-BE49-F238E27FC236}">
                <a16:creationId xmlns:a16="http://schemas.microsoft.com/office/drawing/2014/main" id="{8389665E-C4F7-42EE-AF3F-7C5F2FDFDA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588" y="1273175"/>
            <a:ext cx="5535612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T·,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/>
              <a:t>FOLLOW(E)={$, +, )}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Wingdings" panose="05000000000000000000" pitchFamily="2" charset="2"/>
              </a:rPr>
              <a:t>action[2,$]=action[2,+]= action[2,)]=r2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 T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 </a:t>
            </a:r>
            <a:r>
              <a:rPr kumimoji="0" lang="en-US" altLang="zh-CN" sz="2400">
                <a:sym typeface="Symbol" panose="05050102010706020507" pitchFamily="18" charset="2"/>
              </a:rPr>
              <a:t>, goto(I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, </a:t>
            </a:r>
            <a:r>
              <a:rPr kumimoji="0" lang="en-US" altLang="zh-CN" sz="2400" b="1">
                <a:sym typeface="Symbol" panose="05050102010706020507" pitchFamily="18" charset="2"/>
              </a:rPr>
              <a:t>*</a:t>
            </a:r>
            <a:r>
              <a:rPr kumimoji="0" lang="en-US" altLang="zh-CN" sz="2400">
                <a:sym typeface="Symbol" panose="05050102010706020507" pitchFamily="18" charset="2"/>
              </a:rPr>
              <a:t>)=I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7</a:t>
            </a:r>
            <a:r>
              <a:rPr kumimoji="0" lang="en-US" altLang="zh-CN" sz="2400">
                <a:sym typeface="Wingdings" panose="05000000000000000000" pitchFamily="2" charset="2"/>
              </a:rPr>
              <a:t>action[2,*]=s7</a:t>
            </a:r>
          </a:p>
        </p:txBody>
      </p:sp>
      <p:sp>
        <p:nvSpPr>
          <p:cNvPr id="84997" name="Text Box 5">
            <a:extLst>
              <a:ext uri="{FF2B5EF4-FFF2-40B4-BE49-F238E27FC236}">
                <a16:creationId xmlns:a16="http://schemas.microsoft.com/office/drawing/2014/main" id="{7F8EE320-9CD4-4089-976E-4F125275B1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667000"/>
            <a:ext cx="102711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3</a:t>
            </a:r>
            <a:endParaRPr kumimoji="0" lang="en-US" altLang="zh-CN" sz="2400">
              <a:solidFill>
                <a:srgbClr val="3333CC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F·</a:t>
            </a:r>
          </a:p>
        </p:txBody>
      </p:sp>
      <p:sp>
        <p:nvSpPr>
          <p:cNvPr id="84998" name="Text Box 6">
            <a:extLst>
              <a:ext uri="{FF2B5EF4-FFF2-40B4-BE49-F238E27FC236}">
                <a16:creationId xmlns:a16="http://schemas.microsoft.com/office/drawing/2014/main" id="{65DDAF19-EDF8-449E-BAE7-456FBD7DD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1600" y="1600200"/>
            <a:ext cx="6175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ym typeface="Wingdings" panose="05000000000000000000" pitchFamily="2" charset="2"/>
              </a:rPr>
              <a:t></a:t>
            </a:r>
            <a:endParaRPr kumimoji="0" lang="en-US" altLang="zh-CN"/>
          </a:p>
        </p:txBody>
      </p:sp>
      <p:sp>
        <p:nvSpPr>
          <p:cNvPr id="84999" name="Text Box 7">
            <a:extLst>
              <a:ext uri="{FF2B5EF4-FFF2-40B4-BE49-F238E27FC236}">
                <a16:creationId xmlns:a16="http://schemas.microsoft.com/office/drawing/2014/main" id="{6A92D95A-D9EF-4898-88C3-850C8C405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2590800"/>
            <a:ext cx="43370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F·, </a:t>
            </a:r>
            <a:r>
              <a:rPr kumimoji="0" lang="en-US" altLang="zh-CN" sz="2400">
                <a:sym typeface="Symbol" panose="05050102010706020507" pitchFamily="18" charset="2"/>
              </a:rPr>
              <a:t>FOLLOW(T)={$, +, *, )}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Wingdings" panose="05000000000000000000" pitchFamily="2" charset="2"/>
              </a:rPr>
              <a:t>action[3, $/+/*/)]=r4</a:t>
            </a:r>
          </a:p>
        </p:txBody>
      </p:sp>
      <p:sp>
        <p:nvSpPr>
          <p:cNvPr id="85000" name="Text Box 8">
            <a:extLst>
              <a:ext uri="{FF2B5EF4-FFF2-40B4-BE49-F238E27FC236}">
                <a16:creationId xmlns:a16="http://schemas.microsoft.com/office/drawing/2014/main" id="{1191EC0B-185C-4820-A720-D38C9D34A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773363"/>
            <a:ext cx="6175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ym typeface="Wingdings" panose="05000000000000000000" pitchFamily="2" charset="2"/>
              </a:rPr>
              <a:t></a:t>
            </a:r>
            <a:endParaRPr kumimoji="0" lang="en-US" altLang="zh-CN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2776314B-55F2-4FD7-9366-8D32CBA879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4.38</a:t>
            </a:r>
            <a:r>
              <a:rPr lang="zh-CN" altLang="en-US"/>
              <a:t>（续）</a:t>
            </a:r>
          </a:p>
        </p:txBody>
      </p:sp>
      <p:sp>
        <p:nvSpPr>
          <p:cNvPr id="86019" name="Text Box 9">
            <a:extLst>
              <a:ext uri="{FF2B5EF4-FFF2-40B4-BE49-F238E27FC236}">
                <a16:creationId xmlns:a16="http://schemas.microsoft.com/office/drawing/2014/main" id="{3C31FC00-CBA5-440A-B954-2DACEC37D3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300163"/>
            <a:ext cx="1766888" cy="319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4</a:t>
            </a:r>
            <a:endParaRPr kumimoji="0" lang="en-US" altLang="zh-CN" sz="2400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·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·E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 b="1">
                <a:sym typeface="Symbol" panose="05050102010706020507" pitchFamily="18" charset="2"/>
              </a:rPr>
              <a:t> T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·T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 ·T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  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·F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</a:p>
        </p:txBody>
      </p:sp>
      <p:sp>
        <p:nvSpPr>
          <p:cNvPr id="86020" name="Text Box 10">
            <a:extLst>
              <a:ext uri="{FF2B5EF4-FFF2-40B4-BE49-F238E27FC236}">
                <a16:creationId xmlns:a16="http://schemas.microsoft.com/office/drawing/2014/main" id="{1829F3B7-7F35-424B-BFDE-2A842D8AA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262188"/>
            <a:ext cx="407987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action[4, (]=s4, action[4, 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]=s5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Wingdings" panose="05000000000000000000" pitchFamily="2" charset="2"/>
              </a:rPr>
              <a:t>goto[4, E] = 8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Wingdings" panose="05000000000000000000" pitchFamily="2" charset="2"/>
              </a:rPr>
              <a:t>goto[4, T] = 2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Wingdings" panose="05000000000000000000" pitchFamily="2" charset="2"/>
              </a:rPr>
              <a:t>goto[4, F] = 3</a:t>
            </a:r>
          </a:p>
        </p:txBody>
      </p:sp>
      <p:sp>
        <p:nvSpPr>
          <p:cNvPr id="86021" name="Text Box 11">
            <a:extLst>
              <a:ext uri="{FF2B5EF4-FFF2-40B4-BE49-F238E27FC236}">
                <a16:creationId xmlns:a16="http://schemas.microsoft.com/office/drawing/2014/main" id="{3B2FE4BB-ADEC-4E62-B7A2-1B5DEF3E6B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778125"/>
            <a:ext cx="6175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ym typeface="Wingdings" panose="05000000000000000000" pitchFamily="2" charset="2"/>
              </a:rPr>
              <a:t></a:t>
            </a:r>
            <a:endParaRPr kumimoji="0" lang="en-US" altLang="zh-CN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0D80EF0B-D649-4EC2-AA5F-43D2B29457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4.38</a:t>
            </a:r>
            <a:r>
              <a:rPr lang="zh-CN" altLang="en-US"/>
              <a:t>（续）</a:t>
            </a:r>
          </a:p>
        </p:txBody>
      </p:sp>
      <p:sp>
        <p:nvSpPr>
          <p:cNvPr id="87043" name="Text Box 3">
            <a:extLst>
              <a:ext uri="{FF2B5EF4-FFF2-40B4-BE49-F238E27FC236}">
                <a16:creationId xmlns:a16="http://schemas.microsoft.com/office/drawing/2014/main" id="{C15FED00-BC1B-46AD-84A6-CAAA2E7E1A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219200"/>
            <a:ext cx="1154113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5</a:t>
            </a:r>
            <a:endParaRPr kumimoji="0" lang="en-US" altLang="zh-CN" sz="2400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id·</a:t>
            </a:r>
          </a:p>
        </p:txBody>
      </p:sp>
      <p:sp>
        <p:nvSpPr>
          <p:cNvPr id="87044" name="Text Box 4">
            <a:extLst>
              <a:ext uri="{FF2B5EF4-FFF2-40B4-BE49-F238E27FC236}">
                <a16:creationId xmlns:a16="http://schemas.microsoft.com/office/drawing/2014/main" id="{56F07035-EF76-4BB3-8245-4DBAD0666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588" y="1463675"/>
            <a:ext cx="44481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id·</a:t>
            </a:r>
            <a:r>
              <a:rPr kumimoji="0" lang="en-US" altLang="zh-CN" sz="2400" b="1">
                <a:sym typeface="Symbol" panose="05050102010706020507" pitchFamily="18" charset="2"/>
              </a:rPr>
              <a:t>,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FOLLOW(F)={$, +, *, )}</a:t>
            </a:r>
            <a:endParaRPr kumimoji="0" lang="en-US" altLang="zh-CN" sz="24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Wingdings" panose="05000000000000000000" pitchFamily="2" charset="2"/>
              </a:rPr>
              <a:t>action[5, $/+/*/)]=r6</a:t>
            </a:r>
          </a:p>
        </p:txBody>
      </p:sp>
      <p:sp>
        <p:nvSpPr>
          <p:cNvPr id="87045" name="Text Box 5">
            <a:extLst>
              <a:ext uri="{FF2B5EF4-FFF2-40B4-BE49-F238E27FC236}">
                <a16:creationId xmlns:a16="http://schemas.microsoft.com/office/drawing/2014/main" id="{6A9FE44D-6FD8-4F9C-8A2A-78F2536952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274888"/>
            <a:ext cx="1763713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6</a:t>
            </a:r>
            <a:endParaRPr kumimoji="0" lang="en-US" altLang="zh-CN" sz="24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 b="1">
                <a:sym typeface="Symbol" panose="05050102010706020507" pitchFamily="18" charset="2"/>
              </a:rPr>
              <a:t> ·T 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 ·T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  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·F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endParaRPr kumimoji="0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87046" name="Text Box 6">
            <a:extLst>
              <a:ext uri="{FF2B5EF4-FFF2-40B4-BE49-F238E27FC236}">
                <a16:creationId xmlns:a16="http://schemas.microsoft.com/office/drawing/2014/main" id="{2628FD5A-D2AA-4E82-B149-5E2EC09E5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1600" y="1600200"/>
            <a:ext cx="6175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ym typeface="Wingdings" panose="05000000000000000000" pitchFamily="2" charset="2"/>
              </a:rPr>
              <a:t></a:t>
            </a:r>
            <a:endParaRPr kumimoji="0" lang="en-US" altLang="zh-CN"/>
          </a:p>
        </p:txBody>
      </p:sp>
      <p:sp>
        <p:nvSpPr>
          <p:cNvPr id="87047" name="Text Box 7">
            <a:extLst>
              <a:ext uri="{FF2B5EF4-FFF2-40B4-BE49-F238E27FC236}">
                <a16:creationId xmlns:a16="http://schemas.microsoft.com/office/drawing/2014/main" id="{F7CA88FA-6101-41A0-AE39-7362A1B2AB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3144838"/>
            <a:ext cx="407987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action[6, (]=s4, action[6, 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]=s5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Wingdings" panose="05000000000000000000" pitchFamily="2" charset="2"/>
              </a:rPr>
              <a:t>goto[6, T] = 9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Wingdings" panose="05000000000000000000" pitchFamily="2" charset="2"/>
              </a:rPr>
              <a:t>goto[6, F] = 3</a:t>
            </a:r>
            <a:endParaRPr kumimoji="0" lang="en-US" altLang="zh-CN" sz="2400">
              <a:sym typeface="Symbol" panose="05050102010706020507" pitchFamily="18" charset="2"/>
            </a:endParaRPr>
          </a:p>
        </p:txBody>
      </p:sp>
      <p:sp>
        <p:nvSpPr>
          <p:cNvPr id="87048" name="Text Box 8">
            <a:extLst>
              <a:ext uri="{FF2B5EF4-FFF2-40B4-BE49-F238E27FC236}">
                <a16:creationId xmlns:a16="http://schemas.microsoft.com/office/drawing/2014/main" id="{236ABC15-6B2F-4A76-AC90-6370D10100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3321050"/>
            <a:ext cx="6175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ym typeface="Wingdings" panose="05000000000000000000" pitchFamily="2" charset="2"/>
              </a:rPr>
              <a:t></a:t>
            </a:r>
            <a:endParaRPr kumimoji="0" lang="en-US" altLang="zh-CN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F3C1003E-0130-4B31-ADBC-3905EE2BE2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4.38</a:t>
            </a:r>
            <a:r>
              <a:rPr lang="zh-CN" altLang="en-US"/>
              <a:t>（续）</a:t>
            </a:r>
          </a:p>
        </p:txBody>
      </p:sp>
      <p:sp>
        <p:nvSpPr>
          <p:cNvPr id="88067" name="Text Box 9">
            <a:extLst>
              <a:ext uri="{FF2B5EF4-FFF2-40B4-BE49-F238E27FC236}">
                <a16:creationId xmlns:a16="http://schemas.microsoft.com/office/drawing/2014/main" id="{1831217C-6396-440A-A776-0B2D749C7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295400"/>
            <a:ext cx="1766888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7</a:t>
            </a:r>
            <a:r>
              <a:rPr kumimoji="0" lang="en-US" altLang="zh-CN" sz="2400">
                <a:solidFill>
                  <a:srgbClr val="3333CC"/>
                </a:solidFill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 T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·F  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endParaRPr kumimoji="0" lang="en-US" altLang="zh-CN" sz="2400"/>
          </a:p>
        </p:txBody>
      </p:sp>
      <p:sp>
        <p:nvSpPr>
          <p:cNvPr id="88068" name="Text Box 10">
            <a:extLst>
              <a:ext uri="{FF2B5EF4-FFF2-40B4-BE49-F238E27FC236}">
                <a16:creationId xmlns:a16="http://schemas.microsoft.com/office/drawing/2014/main" id="{0CCDF4DB-2335-487B-A493-267D52A80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1435100"/>
            <a:ext cx="40798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action[7, (]=s4, action[7, 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]=s5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Wingdings" panose="05000000000000000000" pitchFamily="2" charset="2"/>
              </a:rPr>
              <a:t>goto[7, F] = 10</a:t>
            </a:r>
          </a:p>
        </p:txBody>
      </p:sp>
      <p:sp>
        <p:nvSpPr>
          <p:cNvPr id="88069" name="Text Box 11">
            <a:extLst>
              <a:ext uri="{FF2B5EF4-FFF2-40B4-BE49-F238E27FC236}">
                <a16:creationId xmlns:a16="http://schemas.microsoft.com/office/drawing/2014/main" id="{E7E71899-2C7D-495E-AFEB-0C153388D8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1554163"/>
            <a:ext cx="6175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ym typeface="Wingdings" panose="05000000000000000000" pitchFamily="2" charset="2"/>
              </a:rPr>
              <a:t></a:t>
            </a:r>
            <a:endParaRPr kumimoji="0" lang="en-US" altLang="zh-CN"/>
          </a:p>
        </p:txBody>
      </p:sp>
      <p:sp>
        <p:nvSpPr>
          <p:cNvPr id="88070" name="Text Box 12">
            <a:extLst>
              <a:ext uri="{FF2B5EF4-FFF2-40B4-BE49-F238E27FC236}">
                <a16:creationId xmlns:a16="http://schemas.microsoft.com/office/drawing/2014/main" id="{2DBE4B4E-C370-4864-A88A-58A6FC46CE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2971800"/>
            <a:ext cx="1728788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8</a:t>
            </a:r>
            <a:endParaRPr kumimoji="0" lang="en-US" altLang="zh-CN" sz="2400">
              <a:solidFill>
                <a:srgbClr val="3333CC"/>
              </a:solidFill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 E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E ·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 b="1">
                <a:sym typeface="Symbol" panose="05050102010706020507" pitchFamily="18" charset="2"/>
              </a:rPr>
              <a:t> T </a:t>
            </a:r>
          </a:p>
        </p:txBody>
      </p:sp>
      <p:sp>
        <p:nvSpPr>
          <p:cNvPr id="88071" name="Text Box 13">
            <a:extLst>
              <a:ext uri="{FF2B5EF4-FFF2-40B4-BE49-F238E27FC236}">
                <a16:creationId xmlns:a16="http://schemas.microsoft.com/office/drawing/2014/main" id="{AB8F915F-11A2-4E42-B241-CDC1AEB7B6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5988" y="3222625"/>
            <a:ext cx="213201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action[8, (]=s11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action[8, +]=s6</a:t>
            </a:r>
          </a:p>
        </p:txBody>
      </p:sp>
      <p:sp>
        <p:nvSpPr>
          <p:cNvPr id="88072" name="Text Box 14">
            <a:extLst>
              <a:ext uri="{FF2B5EF4-FFF2-40B4-BE49-F238E27FC236}">
                <a16:creationId xmlns:a16="http://schemas.microsoft.com/office/drawing/2014/main" id="{C1E2F510-AE69-4CD7-9670-A6E59B3BF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349750"/>
            <a:ext cx="1763713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9</a:t>
            </a:r>
            <a:endParaRPr kumimoji="0" lang="en-US" altLang="zh-CN" sz="2400">
              <a:solidFill>
                <a:srgbClr val="3333CC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 b="1">
                <a:sym typeface="Symbol" panose="05050102010706020507" pitchFamily="18" charset="2"/>
              </a:rPr>
              <a:t> T· 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 T·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 </a:t>
            </a:r>
          </a:p>
        </p:txBody>
      </p:sp>
      <p:sp>
        <p:nvSpPr>
          <p:cNvPr id="88073" name="Text Box 15">
            <a:extLst>
              <a:ext uri="{FF2B5EF4-FFF2-40B4-BE49-F238E27FC236}">
                <a16:creationId xmlns:a16="http://schemas.microsoft.com/office/drawing/2014/main" id="{D72D57A2-67DF-45BE-909E-BBD5CBC50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0" y="3352800"/>
            <a:ext cx="6175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ym typeface="Wingdings" panose="05000000000000000000" pitchFamily="2" charset="2"/>
              </a:rPr>
              <a:t></a:t>
            </a:r>
            <a:endParaRPr kumimoji="0" lang="en-US" altLang="zh-CN"/>
          </a:p>
        </p:txBody>
      </p:sp>
      <p:sp>
        <p:nvSpPr>
          <p:cNvPr id="88074" name="Text Box 16">
            <a:extLst>
              <a:ext uri="{FF2B5EF4-FFF2-40B4-BE49-F238E27FC236}">
                <a16:creationId xmlns:a16="http://schemas.microsoft.com/office/drawing/2014/main" id="{FDCC89DB-0E68-43C2-9912-AADFA162D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451350"/>
            <a:ext cx="465772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 b="1">
                <a:sym typeface="Symbol" panose="05050102010706020507" pitchFamily="18" charset="2"/>
              </a:rPr>
              <a:t> T·</a:t>
            </a:r>
            <a:r>
              <a:rPr kumimoji="0" lang="en-US" altLang="zh-CN" sz="2400">
                <a:sym typeface="Symbol" panose="05050102010706020507" pitchFamily="18" charset="2"/>
              </a:rPr>
              <a:t>, </a:t>
            </a:r>
            <a:r>
              <a:rPr kumimoji="0" lang="en-US" altLang="zh-CN" sz="2400"/>
              <a:t>FOLLOW(E)={$, +, )}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Wingdings" panose="05000000000000000000" pitchFamily="2" charset="2"/>
              </a:rPr>
              <a:t>action[9, $/+/)]=r1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Wingdings" panose="05000000000000000000" pitchFamily="2" charset="2"/>
              </a:rPr>
              <a:t>action[9, *] = 7</a:t>
            </a:r>
          </a:p>
        </p:txBody>
      </p:sp>
      <p:sp>
        <p:nvSpPr>
          <p:cNvPr id="88075" name="Text Box 17">
            <a:extLst>
              <a:ext uri="{FF2B5EF4-FFF2-40B4-BE49-F238E27FC236}">
                <a16:creationId xmlns:a16="http://schemas.microsoft.com/office/drawing/2014/main" id="{F186B882-0F3B-454F-BBD3-DC4B9BCEC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4786313"/>
            <a:ext cx="6175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ym typeface="Wingdings" panose="05000000000000000000" pitchFamily="2" charset="2"/>
              </a:rPr>
              <a:t></a:t>
            </a:r>
            <a:endParaRPr kumimoji="0" lang="en-US" altLang="zh-CN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046D02E0-ED1A-4A61-A221-5E96EB420F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4.38</a:t>
            </a:r>
            <a:r>
              <a:rPr lang="zh-CN" altLang="en-US"/>
              <a:t>（续）</a:t>
            </a:r>
          </a:p>
        </p:txBody>
      </p:sp>
      <p:sp>
        <p:nvSpPr>
          <p:cNvPr id="89091" name="Text Box 9">
            <a:extLst>
              <a:ext uri="{FF2B5EF4-FFF2-40B4-BE49-F238E27FC236}">
                <a16:creationId xmlns:a16="http://schemas.microsoft.com/office/drawing/2014/main" id="{CACB43EB-1807-4D50-A65A-B28F17058A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443038"/>
            <a:ext cx="1766888" cy="858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10</a:t>
            </a:r>
            <a:endParaRPr kumimoji="0" lang="en-US" altLang="zh-CN" sz="2400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 T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F·  </a:t>
            </a:r>
          </a:p>
        </p:txBody>
      </p:sp>
      <p:sp>
        <p:nvSpPr>
          <p:cNvPr id="89092" name="Text Box 10">
            <a:extLst>
              <a:ext uri="{FF2B5EF4-FFF2-40B4-BE49-F238E27FC236}">
                <a16:creationId xmlns:a16="http://schemas.microsoft.com/office/drawing/2014/main" id="{3AFE2C35-F6A1-4DBD-BC9B-C190BAD7C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1539875"/>
            <a:ext cx="49244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T  T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F·</a:t>
            </a:r>
            <a:r>
              <a:rPr kumimoji="0" lang="en-US" altLang="zh-CN" sz="2400">
                <a:sym typeface="Symbol" panose="05050102010706020507" pitchFamily="18" charset="2"/>
              </a:rPr>
              <a:t>, </a:t>
            </a:r>
            <a:r>
              <a:rPr kumimoji="0" lang="en-US" altLang="zh-CN" sz="2400"/>
              <a:t>FOLLOW(T)={</a:t>
            </a:r>
            <a:r>
              <a:rPr kumimoji="0" lang="en-US" altLang="zh-CN" sz="2400">
                <a:sym typeface="Symbol" panose="05050102010706020507" pitchFamily="18" charset="2"/>
              </a:rPr>
              <a:t>$, +, *, )</a:t>
            </a:r>
            <a:r>
              <a:rPr kumimoji="0" lang="en-US" altLang="zh-CN" sz="2400"/>
              <a:t>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Wingdings" panose="05000000000000000000" pitchFamily="2" charset="2"/>
              </a:rPr>
              <a:t>action[10, $/+/*/)]=r3</a:t>
            </a:r>
          </a:p>
        </p:txBody>
      </p:sp>
      <p:sp>
        <p:nvSpPr>
          <p:cNvPr id="89093" name="Text Box 11">
            <a:extLst>
              <a:ext uri="{FF2B5EF4-FFF2-40B4-BE49-F238E27FC236}">
                <a16:creationId xmlns:a16="http://schemas.microsoft.com/office/drawing/2014/main" id="{7D9D46A7-3844-4B8E-AF34-06269F44F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598613"/>
            <a:ext cx="6175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ym typeface="Wingdings" panose="05000000000000000000" pitchFamily="2" charset="2"/>
              </a:rPr>
              <a:t></a:t>
            </a:r>
            <a:endParaRPr kumimoji="0" lang="en-US" altLang="zh-CN"/>
          </a:p>
        </p:txBody>
      </p:sp>
      <p:sp>
        <p:nvSpPr>
          <p:cNvPr id="89094" name="Text Box 12">
            <a:extLst>
              <a:ext uri="{FF2B5EF4-FFF2-40B4-BE49-F238E27FC236}">
                <a16:creationId xmlns:a16="http://schemas.microsoft.com/office/drawing/2014/main" id="{49B40753-A067-4F18-A2F0-6524096B9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738438"/>
            <a:ext cx="1538288" cy="858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11</a:t>
            </a:r>
            <a:endParaRPr kumimoji="0" lang="en-US" altLang="zh-CN" sz="2400">
              <a:solidFill>
                <a:srgbClr val="3333CC"/>
              </a:solidFill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)·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89095" name="Text Box 13">
            <a:extLst>
              <a:ext uri="{FF2B5EF4-FFF2-40B4-BE49-F238E27FC236}">
                <a16:creationId xmlns:a16="http://schemas.microsoft.com/office/drawing/2014/main" id="{DCC0818B-EC33-41CD-A24A-0CF3584F7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2835275"/>
            <a:ext cx="47561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)·</a:t>
            </a:r>
            <a:r>
              <a:rPr kumimoji="0" lang="en-US" altLang="zh-CN" sz="2400">
                <a:sym typeface="Symbol" panose="05050102010706020507" pitchFamily="18" charset="2"/>
              </a:rPr>
              <a:t>, </a:t>
            </a:r>
            <a:r>
              <a:rPr kumimoji="0" lang="en-US" altLang="zh-CN" sz="2400"/>
              <a:t>FOLLOW(F)={</a:t>
            </a:r>
            <a:r>
              <a:rPr kumimoji="0" lang="en-US" altLang="zh-CN" sz="2400">
                <a:sym typeface="Symbol" panose="05050102010706020507" pitchFamily="18" charset="2"/>
              </a:rPr>
              <a:t>$, +, *, )</a:t>
            </a:r>
            <a:r>
              <a:rPr kumimoji="0" lang="en-US" altLang="zh-CN" sz="2400"/>
              <a:t>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Wingdings" panose="05000000000000000000" pitchFamily="2" charset="2"/>
              </a:rPr>
              <a:t>action[11, $/+/*/)]=r5</a:t>
            </a:r>
          </a:p>
        </p:txBody>
      </p:sp>
      <p:sp>
        <p:nvSpPr>
          <p:cNvPr id="89096" name="Text Box 14">
            <a:extLst>
              <a:ext uri="{FF2B5EF4-FFF2-40B4-BE49-F238E27FC236}">
                <a16:creationId xmlns:a16="http://schemas.microsoft.com/office/drawing/2014/main" id="{14C9A6B8-F5C2-4E34-B18A-3D132F499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894013"/>
            <a:ext cx="6175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ym typeface="Wingdings" panose="05000000000000000000" pitchFamily="2" charset="2"/>
              </a:rPr>
              <a:t></a:t>
            </a:r>
            <a:endParaRPr kumimoji="0" lang="en-US" altLang="zh-CN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D7183E01-BA60-4147-B2A9-A83EC00AE9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4.38</a:t>
            </a:r>
            <a:r>
              <a:rPr lang="zh-CN" altLang="en-US"/>
              <a:t>（续）</a:t>
            </a:r>
          </a:p>
        </p:txBody>
      </p:sp>
      <p:sp>
        <p:nvSpPr>
          <p:cNvPr id="90115" name="Line 15">
            <a:extLst>
              <a:ext uri="{FF2B5EF4-FFF2-40B4-BE49-F238E27FC236}">
                <a16:creationId xmlns:a16="http://schemas.microsoft.com/office/drawing/2014/main" id="{5FD9D254-7956-45A8-BDB8-92C2FDDDDF4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1371600"/>
            <a:ext cx="784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16" name="Line 16">
            <a:extLst>
              <a:ext uri="{FF2B5EF4-FFF2-40B4-BE49-F238E27FC236}">
                <a16:creationId xmlns:a16="http://schemas.microsoft.com/office/drawing/2014/main" id="{010BC01E-5926-4AA7-AC6F-563B4CD6BF25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1447800"/>
            <a:ext cx="784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17" name="Line 17">
            <a:extLst>
              <a:ext uri="{FF2B5EF4-FFF2-40B4-BE49-F238E27FC236}">
                <a16:creationId xmlns:a16="http://schemas.microsoft.com/office/drawing/2014/main" id="{6C835CF5-CA65-4579-B156-64FCCAEA892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1828800"/>
            <a:ext cx="71612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18" name="Line 18">
            <a:extLst>
              <a:ext uri="{FF2B5EF4-FFF2-40B4-BE49-F238E27FC236}">
                <a16:creationId xmlns:a16="http://schemas.microsoft.com/office/drawing/2014/main" id="{2B540507-B6A7-4716-AAE5-471FE736C184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2133600"/>
            <a:ext cx="784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19" name="Line 19">
            <a:extLst>
              <a:ext uri="{FF2B5EF4-FFF2-40B4-BE49-F238E27FC236}">
                <a16:creationId xmlns:a16="http://schemas.microsoft.com/office/drawing/2014/main" id="{8484CC04-89B7-450B-8CBB-63B290438E3D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800" y="1371600"/>
            <a:ext cx="0" cy="533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20" name="Line 20">
            <a:extLst>
              <a:ext uri="{FF2B5EF4-FFF2-40B4-BE49-F238E27FC236}">
                <a16:creationId xmlns:a16="http://schemas.microsoft.com/office/drawing/2014/main" id="{978AFDDF-3908-4876-BDE8-22414BB740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1447800"/>
            <a:ext cx="0" cy="525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21" name="Line 21">
            <a:extLst>
              <a:ext uri="{FF2B5EF4-FFF2-40B4-BE49-F238E27FC236}">
                <a16:creationId xmlns:a16="http://schemas.microsoft.com/office/drawing/2014/main" id="{C877D823-EA13-4970-9A22-964C562AF468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1447800"/>
            <a:ext cx="0" cy="525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22" name="Text Box 22">
            <a:extLst>
              <a:ext uri="{FF2B5EF4-FFF2-40B4-BE49-F238E27FC236}">
                <a16:creationId xmlns:a16="http://schemas.microsoft.com/office/drawing/2014/main" id="{FE6982D5-4429-4E0E-8422-8023039A8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600200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状态</a:t>
            </a:r>
          </a:p>
        </p:txBody>
      </p:sp>
      <p:sp>
        <p:nvSpPr>
          <p:cNvPr id="90123" name="Text Box 23">
            <a:extLst>
              <a:ext uri="{FF2B5EF4-FFF2-40B4-BE49-F238E27FC236}">
                <a16:creationId xmlns:a16="http://schemas.microsoft.com/office/drawing/2014/main" id="{37C665B9-B757-45D6-8230-CC2B0E924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14478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action</a:t>
            </a:r>
          </a:p>
        </p:txBody>
      </p:sp>
      <p:sp>
        <p:nvSpPr>
          <p:cNvPr id="90124" name="Text Box 24">
            <a:extLst>
              <a:ext uri="{FF2B5EF4-FFF2-40B4-BE49-F238E27FC236}">
                <a16:creationId xmlns:a16="http://schemas.microsoft.com/office/drawing/2014/main" id="{CCBE3F46-72CA-4324-880A-9C7D15C49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755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id</a:t>
            </a:r>
          </a:p>
        </p:txBody>
      </p:sp>
      <p:sp>
        <p:nvSpPr>
          <p:cNvPr id="90125" name="Text Box 25">
            <a:extLst>
              <a:ext uri="{FF2B5EF4-FFF2-40B4-BE49-F238E27FC236}">
                <a16:creationId xmlns:a16="http://schemas.microsoft.com/office/drawing/2014/main" id="{0830BD12-8947-42E2-8155-68A9BE4AF9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888" y="1755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+</a:t>
            </a:r>
          </a:p>
        </p:txBody>
      </p:sp>
      <p:sp>
        <p:nvSpPr>
          <p:cNvPr id="90126" name="Text Box 26">
            <a:extLst>
              <a:ext uri="{FF2B5EF4-FFF2-40B4-BE49-F238E27FC236}">
                <a16:creationId xmlns:a16="http://schemas.microsoft.com/office/drawing/2014/main" id="{3B1AA6F8-A159-4F78-8CBD-57B0178DA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3963" y="1755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*</a:t>
            </a:r>
          </a:p>
        </p:txBody>
      </p:sp>
      <p:sp>
        <p:nvSpPr>
          <p:cNvPr id="90127" name="Text Box 27">
            <a:extLst>
              <a:ext uri="{FF2B5EF4-FFF2-40B4-BE49-F238E27FC236}">
                <a16:creationId xmlns:a16="http://schemas.microsoft.com/office/drawing/2014/main" id="{92CF495C-7AC7-4A8A-B5B7-7AA4EA3F11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6450" y="1755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(</a:t>
            </a:r>
          </a:p>
        </p:txBody>
      </p:sp>
      <p:sp>
        <p:nvSpPr>
          <p:cNvPr id="90128" name="Text Box 28">
            <a:extLst>
              <a:ext uri="{FF2B5EF4-FFF2-40B4-BE49-F238E27FC236}">
                <a16:creationId xmlns:a16="http://schemas.microsoft.com/office/drawing/2014/main" id="{A0DE7617-D5CE-4C71-8D5C-A721088DB0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0525" y="1755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)</a:t>
            </a:r>
          </a:p>
        </p:txBody>
      </p:sp>
      <p:sp>
        <p:nvSpPr>
          <p:cNvPr id="90129" name="Text Box 29">
            <a:extLst>
              <a:ext uri="{FF2B5EF4-FFF2-40B4-BE49-F238E27FC236}">
                <a16:creationId xmlns:a16="http://schemas.microsoft.com/office/drawing/2014/main" id="{F7FCB6EF-063C-42B7-A8FE-2D194AD0A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1755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$</a:t>
            </a:r>
          </a:p>
        </p:txBody>
      </p:sp>
      <p:sp>
        <p:nvSpPr>
          <p:cNvPr id="90130" name="Text Box 30">
            <a:extLst>
              <a:ext uri="{FF2B5EF4-FFF2-40B4-BE49-F238E27FC236}">
                <a16:creationId xmlns:a16="http://schemas.microsoft.com/office/drawing/2014/main" id="{A7B2250E-FE16-43CF-800C-073E06925D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133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0</a:t>
            </a:r>
          </a:p>
        </p:txBody>
      </p:sp>
      <p:sp>
        <p:nvSpPr>
          <p:cNvPr id="90131" name="Text Box 31">
            <a:extLst>
              <a:ext uri="{FF2B5EF4-FFF2-40B4-BE49-F238E27FC236}">
                <a16:creationId xmlns:a16="http://schemas.microsoft.com/office/drawing/2014/main" id="{96B6B065-6782-4D1E-BDFE-649B5F44A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514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1</a:t>
            </a:r>
          </a:p>
        </p:txBody>
      </p:sp>
      <p:sp>
        <p:nvSpPr>
          <p:cNvPr id="90132" name="Text Box 32">
            <a:extLst>
              <a:ext uri="{FF2B5EF4-FFF2-40B4-BE49-F238E27FC236}">
                <a16:creationId xmlns:a16="http://schemas.microsoft.com/office/drawing/2014/main" id="{A6D775B7-128F-4282-A66D-748EAF579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895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2</a:t>
            </a:r>
          </a:p>
        </p:txBody>
      </p:sp>
      <p:sp>
        <p:nvSpPr>
          <p:cNvPr id="90133" name="Text Box 33">
            <a:extLst>
              <a:ext uri="{FF2B5EF4-FFF2-40B4-BE49-F238E27FC236}">
                <a16:creationId xmlns:a16="http://schemas.microsoft.com/office/drawing/2014/main" id="{73695F69-A7F9-4B99-8639-E8A9A430B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276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3</a:t>
            </a:r>
          </a:p>
        </p:txBody>
      </p:sp>
      <p:sp>
        <p:nvSpPr>
          <p:cNvPr id="90134" name="Text Box 34">
            <a:extLst>
              <a:ext uri="{FF2B5EF4-FFF2-40B4-BE49-F238E27FC236}">
                <a16:creationId xmlns:a16="http://schemas.microsoft.com/office/drawing/2014/main" id="{4F4F12CB-B153-41A3-8015-FF43E1C72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657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4</a:t>
            </a:r>
          </a:p>
        </p:txBody>
      </p:sp>
      <p:sp>
        <p:nvSpPr>
          <p:cNvPr id="90135" name="Line 35">
            <a:extLst>
              <a:ext uri="{FF2B5EF4-FFF2-40B4-BE49-F238E27FC236}">
                <a16:creationId xmlns:a16="http://schemas.microsoft.com/office/drawing/2014/main" id="{C06191BB-9DC6-4516-95D6-57FA7AFFC9AC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1371600"/>
            <a:ext cx="0" cy="533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36" name="Text Box 36">
            <a:extLst>
              <a:ext uri="{FF2B5EF4-FFF2-40B4-BE49-F238E27FC236}">
                <a16:creationId xmlns:a16="http://schemas.microsoft.com/office/drawing/2014/main" id="{3B86CB1A-FEEA-4E02-870A-2FB340397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038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5</a:t>
            </a:r>
          </a:p>
        </p:txBody>
      </p:sp>
      <p:sp>
        <p:nvSpPr>
          <p:cNvPr id="90137" name="Text Box 37">
            <a:extLst>
              <a:ext uri="{FF2B5EF4-FFF2-40B4-BE49-F238E27FC236}">
                <a16:creationId xmlns:a16="http://schemas.microsoft.com/office/drawing/2014/main" id="{4AC4CABD-D477-4079-BB99-D8807BB2A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403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6</a:t>
            </a:r>
          </a:p>
        </p:txBody>
      </p:sp>
      <p:sp>
        <p:nvSpPr>
          <p:cNvPr id="90138" name="Text Box 38">
            <a:extLst>
              <a:ext uri="{FF2B5EF4-FFF2-40B4-BE49-F238E27FC236}">
                <a16:creationId xmlns:a16="http://schemas.microsoft.com/office/drawing/2014/main" id="{6DEAD8FB-5A46-46C4-8D38-E539631C6D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784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7</a:t>
            </a:r>
          </a:p>
        </p:txBody>
      </p:sp>
      <p:sp>
        <p:nvSpPr>
          <p:cNvPr id="90139" name="Text Box 39">
            <a:extLst>
              <a:ext uri="{FF2B5EF4-FFF2-40B4-BE49-F238E27FC236}">
                <a16:creationId xmlns:a16="http://schemas.microsoft.com/office/drawing/2014/main" id="{556E316E-2D02-4D8F-94E6-B91E6DEFC0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5165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8</a:t>
            </a:r>
          </a:p>
        </p:txBody>
      </p:sp>
      <p:sp>
        <p:nvSpPr>
          <p:cNvPr id="90140" name="Text Box 40">
            <a:extLst>
              <a:ext uri="{FF2B5EF4-FFF2-40B4-BE49-F238E27FC236}">
                <a16:creationId xmlns:a16="http://schemas.microsoft.com/office/drawing/2014/main" id="{5D1848E9-CD18-4C22-8889-1082968E8C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5546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9</a:t>
            </a:r>
          </a:p>
        </p:txBody>
      </p:sp>
      <p:sp>
        <p:nvSpPr>
          <p:cNvPr id="90141" name="Text Box 41">
            <a:extLst>
              <a:ext uri="{FF2B5EF4-FFF2-40B4-BE49-F238E27FC236}">
                <a16:creationId xmlns:a16="http://schemas.microsoft.com/office/drawing/2014/main" id="{24E7C405-B8DC-4EB9-927A-FE5BEB9E2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927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10</a:t>
            </a:r>
          </a:p>
        </p:txBody>
      </p:sp>
      <p:sp>
        <p:nvSpPr>
          <p:cNvPr id="90142" name="Line 42">
            <a:extLst>
              <a:ext uri="{FF2B5EF4-FFF2-40B4-BE49-F238E27FC236}">
                <a16:creationId xmlns:a16="http://schemas.microsoft.com/office/drawing/2014/main" id="{BB4E3375-DD8A-4FF7-A6CE-8A0E47C821F3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6689725"/>
            <a:ext cx="784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43" name="Text Box 43">
            <a:extLst>
              <a:ext uri="{FF2B5EF4-FFF2-40B4-BE49-F238E27FC236}">
                <a16:creationId xmlns:a16="http://schemas.microsoft.com/office/drawing/2014/main" id="{54131E1D-D144-4549-AB26-BAD67B3BB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3087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11</a:t>
            </a:r>
          </a:p>
        </p:txBody>
      </p:sp>
      <p:sp>
        <p:nvSpPr>
          <p:cNvPr id="90144" name="Text Box 44">
            <a:extLst>
              <a:ext uri="{FF2B5EF4-FFF2-40B4-BE49-F238E27FC236}">
                <a16:creationId xmlns:a16="http://schemas.microsoft.com/office/drawing/2014/main" id="{9C971C79-92B8-4C90-ADA8-7FA2D1718B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1752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</a:t>
            </a:r>
          </a:p>
        </p:txBody>
      </p:sp>
      <p:sp>
        <p:nvSpPr>
          <p:cNvPr id="90145" name="Text Box 45">
            <a:extLst>
              <a:ext uri="{FF2B5EF4-FFF2-40B4-BE49-F238E27FC236}">
                <a16:creationId xmlns:a16="http://schemas.microsoft.com/office/drawing/2014/main" id="{AF9965DE-78B2-4820-83DA-51AAA39E5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275" y="1752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</a:t>
            </a:r>
          </a:p>
        </p:txBody>
      </p:sp>
      <p:sp>
        <p:nvSpPr>
          <p:cNvPr id="90146" name="Text Box 46">
            <a:extLst>
              <a:ext uri="{FF2B5EF4-FFF2-40B4-BE49-F238E27FC236}">
                <a16:creationId xmlns:a16="http://schemas.microsoft.com/office/drawing/2014/main" id="{24BAEEBE-D1F0-4438-B493-5A2E5223A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1752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</a:t>
            </a:r>
          </a:p>
        </p:txBody>
      </p:sp>
      <p:sp>
        <p:nvSpPr>
          <p:cNvPr id="90147" name="Text Box 47">
            <a:extLst>
              <a:ext uri="{FF2B5EF4-FFF2-40B4-BE49-F238E27FC236}">
                <a16:creationId xmlns:a16="http://schemas.microsoft.com/office/drawing/2014/main" id="{EDF67D6D-4A26-4371-B29A-4E4082759E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14478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goto</a:t>
            </a:r>
          </a:p>
        </p:txBody>
      </p:sp>
      <p:sp>
        <p:nvSpPr>
          <p:cNvPr id="90148" name="Text Box 48">
            <a:extLst>
              <a:ext uri="{FF2B5EF4-FFF2-40B4-BE49-F238E27FC236}">
                <a16:creationId xmlns:a16="http://schemas.microsoft.com/office/drawing/2014/main" id="{44080FC6-2B8A-4D60-8326-2DE5D570D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136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s5</a:t>
            </a:r>
          </a:p>
        </p:txBody>
      </p:sp>
      <p:sp>
        <p:nvSpPr>
          <p:cNvPr id="90149" name="Text Box 49">
            <a:extLst>
              <a:ext uri="{FF2B5EF4-FFF2-40B4-BE49-F238E27FC236}">
                <a16:creationId xmlns:a16="http://schemas.microsoft.com/office/drawing/2014/main" id="{36009A6D-DC59-4A52-8791-871CA3304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2136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</a:p>
        </p:txBody>
      </p:sp>
      <p:sp>
        <p:nvSpPr>
          <p:cNvPr id="90150" name="Text Box 50">
            <a:extLst>
              <a:ext uri="{FF2B5EF4-FFF2-40B4-BE49-F238E27FC236}">
                <a16:creationId xmlns:a16="http://schemas.microsoft.com/office/drawing/2014/main" id="{1597CAD7-CAC3-4350-939A-E0BA4D527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2133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1</a:t>
            </a:r>
          </a:p>
        </p:txBody>
      </p:sp>
      <p:sp>
        <p:nvSpPr>
          <p:cNvPr id="90151" name="Text Box 51">
            <a:extLst>
              <a:ext uri="{FF2B5EF4-FFF2-40B4-BE49-F238E27FC236}">
                <a16:creationId xmlns:a16="http://schemas.microsoft.com/office/drawing/2014/main" id="{97A1E69C-BCEF-4268-AEDB-0DC034686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275" y="2133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2</a:t>
            </a:r>
          </a:p>
        </p:txBody>
      </p:sp>
      <p:sp>
        <p:nvSpPr>
          <p:cNvPr id="90152" name="Text Box 52">
            <a:extLst>
              <a:ext uri="{FF2B5EF4-FFF2-40B4-BE49-F238E27FC236}">
                <a16:creationId xmlns:a16="http://schemas.microsoft.com/office/drawing/2014/main" id="{8C220273-D6D5-48B6-87C7-0E40C586C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2133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3</a:t>
            </a:r>
          </a:p>
        </p:txBody>
      </p:sp>
      <p:sp>
        <p:nvSpPr>
          <p:cNvPr id="90153" name="Text Box 53">
            <a:extLst>
              <a:ext uri="{FF2B5EF4-FFF2-40B4-BE49-F238E27FC236}">
                <a16:creationId xmlns:a16="http://schemas.microsoft.com/office/drawing/2014/main" id="{FD6CF6ED-3D79-4F38-82F7-B44691A312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888" y="2517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s6</a:t>
            </a:r>
          </a:p>
        </p:txBody>
      </p:sp>
      <p:sp>
        <p:nvSpPr>
          <p:cNvPr id="90154" name="Text Box 54">
            <a:extLst>
              <a:ext uri="{FF2B5EF4-FFF2-40B4-BE49-F238E27FC236}">
                <a16:creationId xmlns:a16="http://schemas.microsoft.com/office/drawing/2014/main" id="{DE8BFED6-E983-40D7-8B91-32DCE5FCF7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25177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acc</a:t>
            </a:r>
          </a:p>
        </p:txBody>
      </p:sp>
      <p:sp>
        <p:nvSpPr>
          <p:cNvPr id="90155" name="Text Box 55">
            <a:extLst>
              <a:ext uri="{FF2B5EF4-FFF2-40B4-BE49-F238E27FC236}">
                <a16:creationId xmlns:a16="http://schemas.microsoft.com/office/drawing/2014/main" id="{8D38223C-90A7-4F35-80C6-8AF0D6BA6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888" y="2879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</a:p>
        </p:txBody>
      </p:sp>
      <p:sp>
        <p:nvSpPr>
          <p:cNvPr id="90156" name="Text Box 56">
            <a:extLst>
              <a:ext uri="{FF2B5EF4-FFF2-40B4-BE49-F238E27FC236}">
                <a16:creationId xmlns:a16="http://schemas.microsoft.com/office/drawing/2014/main" id="{586671AD-B503-4F5E-9493-FC6912E60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3963" y="2879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s7</a:t>
            </a:r>
          </a:p>
        </p:txBody>
      </p:sp>
      <p:sp>
        <p:nvSpPr>
          <p:cNvPr id="90157" name="Text Box 57">
            <a:extLst>
              <a:ext uri="{FF2B5EF4-FFF2-40B4-BE49-F238E27FC236}">
                <a16:creationId xmlns:a16="http://schemas.microsoft.com/office/drawing/2014/main" id="{E1943344-0807-4D5E-BC81-D893316BC7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0525" y="2879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</a:p>
        </p:txBody>
      </p:sp>
      <p:sp>
        <p:nvSpPr>
          <p:cNvPr id="90158" name="Text Box 58">
            <a:extLst>
              <a:ext uri="{FF2B5EF4-FFF2-40B4-BE49-F238E27FC236}">
                <a16:creationId xmlns:a16="http://schemas.microsoft.com/office/drawing/2014/main" id="{7C5CE6BF-8DC4-4DDF-8B5B-BB5551ECC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2879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</a:p>
        </p:txBody>
      </p:sp>
      <p:sp>
        <p:nvSpPr>
          <p:cNvPr id="90159" name="Text Box 59">
            <a:extLst>
              <a:ext uri="{FF2B5EF4-FFF2-40B4-BE49-F238E27FC236}">
                <a16:creationId xmlns:a16="http://schemas.microsoft.com/office/drawing/2014/main" id="{02F220D0-D65B-4DFC-86B5-D7E073055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888" y="3260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</a:p>
        </p:txBody>
      </p:sp>
      <p:sp>
        <p:nvSpPr>
          <p:cNvPr id="90160" name="Text Box 60">
            <a:extLst>
              <a:ext uri="{FF2B5EF4-FFF2-40B4-BE49-F238E27FC236}">
                <a16:creationId xmlns:a16="http://schemas.microsoft.com/office/drawing/2014/main" id="{EC36E592-B398-4DA9-80F7-CD7F22E6D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3963" y="3260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</a:p>
        </p:txBody>
      </p:sp>
      <p:sp>
        <p:nvSpPr>
          <p:cNvPr id="90161" name="Text Box 61">
            <a:extLst>
              <a:ext uri="{FF2B5EF4-FFF2-40B4-BE49-F238E27FC236}">
                <a16:creationId xmlns:a16="http://schemas.microsoft.com/office/drawing/2014/main" id="{85235D52-51BD-4B18-9D85-EEB67E3AB4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0525" y="3260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</a:p>
        </p:txBody>
      </p:sp>
      <p:sp>
        <p:nvSpPr>
          <p:cNvPr id="90162" name="Text Box 62">
            <a:extLst>
              <a:ext uri="{FF2B5EF4-FFF2-40B4-BE49-F238E27FC236}">
                <a16:creationId xmlns:a16="http://schemas.microsoft.com/office/drawing/2014/main" id="{71FAE4D2-0BDC-4D09-B7FB-F94D941F3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3260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</a:p>
        </p:txBody>
      </p:sp>
      <p:sp>
        <p:nvSpPr>
          <p:cNvPr id="90163" name="Text Box 63">
            <a:extLst>
              <a:ext uri="{FF2B5EF4-FFF2-40B4-BE49-F238E27FC236}">
                <a16:creationId xmlns:a16="http://schemas.microsoft.com/office/drawing/2014/main" id="{A503FB29-EB8C-4CFE-A7E1-7F2A67324B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3660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s5</a:t>
            </a:r>
          </a:p>
        </p:txBody>
      </p:sp>
      <p:sp>
        <p:nvSpPr>
          <p:cNvPr id="90164" name="Text Box 64">
            <a:extLst>
              <a:ext uri="{FF2B5EF4-FFF2-40B4-BE49-F238E27FC236}">
                <a16:creationId xmlns:a16="http://schemas.microsoft.com/office/drawing/2014/main" id="{5BF24A47-8513-4243-B3DC-BD786D47F2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6450" y="3660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</a:p>
        </p:txBody>
      </p:sp>
      <p:sp>
        <p:nvSpPr>
          <p:cNvPr id="90165" name="Text Box 65">
            <a:extLst>
              <a:ext uri="{FF2B5EF4-FFF2-40B4-BE49-F238E27FC236}">
                <a16:creationId xmlns:a16="http://schemas.microsoft.com/office/drawing/2014/main" id="{54A60637-02C9-4A46-94D7-9A5791CA0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3657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8</a:t>
            </a:r>
          </a:p>
        </p:txBody>
      </p:sp>
      <p:sp>
        <p:nvSpPr>
          <p:cNvPr id="90166" name="Text Box 66">
            <a:extLst>
              <a:ext uri="{FF2B5EF4-FFF2-40B4-BE49-F238E27FC236}">
                <a16:creationId xmlns:a16="http://schemas.microsoft.com/office/drawing/2014/main" id="{837E2FCA-DCED-4503-A20F-BAB1FC153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275" y="3657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2</a:t>
            </a:r>
          </a:p>
        </p:txBody>
      </p:sp>
      <p:sp>
        <p:nvSpPr>
          <p:cNvPr id="90167" name="Text Box 67">
            <a:extLst>
              <a:ext uri="{FF2B5EF4-FFF2-40B4-BE49-F238E27FC236}">
                <a16:creationId xmlns:a16="http://schemas.microsoft.com/office/drawing/2014/main" id="{C65433F8-CDDE-4B27-91ED-E401199F8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3657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3</a:t>
            </a:r>
          </a:p>
        </p:txBody>
      </p:sp>
      <p:sp>
        <p:nvSpPr>
          <p:cNvPr id="90168" name="Text Box 68">
            <a:extLst>
              <a:ext uri="{FF2B5EF4-FFF2-40B4-BE49-F238E27FC236}">
                <a16:creationId xmlns:a16="http://schemas.microsoft.com/office/drawing/2014/main" id="{D3307287-375D-4E51-8018-115D254A2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888" y="4041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r6</a:t>
            </a:r>
          </a:p>
        </p:txBody>
      </p:sp>
      <p:sp>
        <p:nvSpPr>
          <p:cNvPr id="90169" name="Text Box 69">
            <a:extLst>
              <a:ext uri="{FF2B5EF4-FFF2-40B4-BE49-F238E27FC236}">
                <a16:creationId xmlns:a16="http://schemas.microsoft.com/office/drawing/2014/main" id="{82B2EE7B-165F-4394-95BF-6E7B428AE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3963" y="4041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r6</a:t>
            </a:r>
          </a:p>
        </p:txBody>
      </p:sp>
      <p:sp>
        <p:nvSpPr>
          <p:cNvPr id="90170" name="Text Box 70">
            <a:extLst>
              <a:ext uri="{FF2B5EF4-FFF2-40B4-BE49-F238E27FC236}">
                <a16:creationId xmlns:a16="http://schemas.microsoft.com/office/drawing/2014/main" id="{4AE8CECA-D010-4C8D-9D59-85D107BCB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0525" y="4041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r6</a:t>
            </a:r>
          </a:p>
        </p:txBody>
      </p:sp>
      <p:sp>
        <p:nvSpPr>
          <p:cNvPr id="90171" name="Text Box 71">
            <a:extLst>
              <a:ext uri="{FF2B5EF4-FFF2-40B4-BE49-F238E27FC236}">
                <a16:creationId xmlns:a16="http://schemas.microsoft.com/office/drawing/2014/main" id="{0B0E5663-4C6C-45AA-8A0D-FB86DEA9B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4041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r6</a:t>
            </a:r>
          </a:p>
        </p:txBody>
      </p:sp>
      <p:sp>
        <p:nvSpPr>
          <p:cNvPr id="90172" name="Text Box 72">
            <a:extLst>
              <a:ext uri="{FF2B5EF4-FFF2-40B4-BE49-F238E27FC236}">
                <a16:creationId xmlns:a16="http://schemas.microsoft.com/office/drawing/2014/main" id="{09334C7F-D812-4834-A10D-891FF6914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403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s5</a:t>
            </a:r>
          </a:p>
        </p:txBody>
      </p:sp>
      <p:sp>
        <p:nvSpPr>
          <p:cNvPr id="90173" name="Text Box 73">
            <a:extLst>
              <a:ext uri="{FF2B5EF4-FFF2-40B4-BE49-F238E27FC236}">
                <a16:creationId xmlns:a16="http://schemas.microsoft.com/office/drawing/2014/main" id="{1B03B249-A273-4AD0-B168-C716E4857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6450" y="4403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</a:p>
        </p:txBody>
      </p:sp>
      <p:sp>
        <p:nvSpPr>
          <p:cNvPr id="90174" name="Text Box 74">
            <a:extLst>
              <a:ext uri="{FF2B5EF4-FFF2-40B4-BE49-F238E27FC236}">
                <a16:creationId xmlns:a16="http://schemas.microsoft.com/office/drawing/2014/main" id="{7C2BF93B-D742-4ED9-B429-FBC9F0F89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275" y="4400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9</a:t>
            </a:r>
          </a:p>
        </p:txBody>
      </p:sp>
      <p:sp>
        <p:nvSpPr>
          <p:cNvPr id="90175" name="Text Box 75">
            <a:extLst>
              <a:ext uri="{FF2B5EF4-FFF2-40B4-BE49-F238E27FC236}">
                <a16:creationId xmlns:a16="http://schemas.microsoft.com/office/drawing/2014/main" id="{7F4A24EB-382C-4BA8-A1DE-2B0EBBFB6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4400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3</a:t>
            </a:r>
          </a:p>
        </p:txBody>
      </p:sp>
      <p:sp>
        <p:nvSpPr>
          <p:cNvPr id="90176" name="Text Box 76">
            <a:extLst>
              <a:ext uri="{FF2B5EF4-FFF2-40B4-BE49-F238E27FC236}">
                <a16:creationId xmlns:a16="http://schemas.microsoft.com/office/drawing/2014/main" id="{DF406BA6-8123-4957-B871-79EDA7C68C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784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s5</a:t>
            </a:r>
          </a:p>
        </p:txBody>
      </p:sp>
      <p:sp>
        <p:nvSpPr>
          <p:cNvPr id="90177" name="Text Box 77">
            <a:extLst>
              <a:ext uri="{FF2B5EF4-FFF2-40B4-BE49-F238E27FC236}">
                <a16:creationId xmlns:a16="http://schemas.microsoft.com/office/drawing/2014/main" id="{06AA575B-5664-41A5-93EE-0D6C5F6DA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6450" y="4784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</a:p>
        </p:txBody>
      </p:sp>
      <p:sp>
        <p:nvSpPr>
          <p:cNvPr id="90178" name="Text Box 78">
            <a:extLst>
              <a:ext uri="{FF2B5EF4-FFF2-40B4-BE49-F238E27FC236}">
                <a16:creationId xmlns:a16="http://schemas.microsoft.com/office/drawing/2014/main" id="{5BA8DBCE-7C34-491C-A783-BA7D60A09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4781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10</a:t>
            </a:r>
          </a:p>
        </p:txBody>
      </p:sp>
      <p:sp>
        <p:nvSpPr>
          <p:cNvPr id="90179" name="Text Box 79">
            <a:extLst>
              <a:ext uri="{FF2B5EF4-FFF2-40B4-BE49-F238E27FC236}">
                <a16:creationId xmlns:a16="http://schemas.microsoft.com/office/drawing/2014/main" id="{D0F9F629-4315-4D49-8804-2C36DD814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888" y="51466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s6</a:t>
            </a:r>
          </a:p>
        </p:txBody>
      </p:sp>
      <p:sp>
        <p:nvSpPr>
          <p:cNvPr id="90180" name="Text Box 80">
            <a:extLst>
              <a:ext uri="{FF2B5EF4-FFF2-40B4-BE49-F238E27FC236}">
                <a16:creationId xmlns:a16="http://schemas.microsoft.com/office/drawing/2014/main" id="{4F7FCD99-1177-48CA-803D-6BC7B0C7C1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146675"/>
            <a:ext cx="593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s11</a:t>
            </a:r>
          </a:p>
        </p:txBody>
      </p:sp>
      <p:sp>
        <p:nvSpPr>
          <p:cNvPr id="90181" name="Text Box 81">
            <a:extLst>
              <a:ext uri="{FF2B5EF4-FFF2-40B4-BE49-F238E27FC236}">
                <a16:creationId xmlns:a16="http://schemas.microsoft.com/office/drawing/2014/main" id="{03CE797D-DD2C-4C8F-8A05-124C514A2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888" y="55276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r1</a:t>
            </a:r>
          </a:p>
        </p:txBody>
      </p:sp>
      <p:sp>
        <p:nvSpPr>
          <p:cNvPr id="90182" name="Text Box 82">
            <a:extLst>
              <a:ext uri="{FF2B5EF4-FFF2-40B4-BE49-F238E27FC236}">
                <a16:creationId xmlns:a16="http://schemas.microsoft.com/office/drawing/2014/main" id="{F7B1D56E-D116-4884-B616-FBA42AB44A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3963" y="55276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s7</a:t>
            </a:r>
          </a:p>
        </p:txBody>
      </p:sp>
      <p:sp>
        <p:nvSpPr>
          <p:cNvPr id="90183" name="Text Box 83">
            <a:extLst>
              <a:ext uri="{FF2B5EF4-FFF2-40B4-BE49-F238E27FC236}">
                <a16:creationId xmlns:a16="http://schemas.microsoft.com/office/drawing/2014/main" id="{7F9CC0E2-3CD4-4A4F-AA9D-6F0478B343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0525" y="55276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r1</a:t>
            </a:r>
          </a:p>
        </p:txBody>
      </p:sp>
      <p:sp>
        <p:nvSpPr>
          <p:cNvPr id="90184" name="Text Box 84">
            <a:extLst>
              <a:ext uri="{FF2B5EF4-FFF2-40B4-BE49-F238E27FC236}">
                <a16:creationId xmlns:a16="http://schemas.microsoft.com/office/drawing/2014/main" id="{748FCFFE-5DCD-4872-A2B4-00DE6E6E0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55276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r1</a:t>
            </a:r>
          </a:p>
        </p:txBody>
      </p:sp>
      <p:sp>
        <p:nvSpPr>
          <p:cNvPr id="90185" name="Text Box 85">
            <a:extLst>
              <a:ext uri="{FF2B5EF4-FFF2-40B4-BE49-F238E27FC236}">
                <a16:creationId xmlns:a16="http://schemas.microsoft.com/office/drawing/2014/main" id="{287CD21C-359F-45E6-ACA3-19CDAAFC2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888" y="5927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</a:p>
        </p:txBody>
      </p:sp>
      <p:sp>
        <p:nvSpPr>
          <p:cNvPr id="90186" name="Text Box 86">
            <a:extLst>
              <a:ext uri="{FF2B5EF4-FFF2-40B4-BE49-F238E27FC236}">
                <a16:creationId xmlns:a16="http://schemas.microsoft.com/office/drawing/2014/main" id="{041C8D14-7D3C-45EE-9B2D-D9C2B9A3E0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3963" y="5927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</a:p>
        </p:txBody>
      </p:sp>
      <p:sp>
        <p:nvSpPr>
          <p:cNvPr id="90187" name="Text Box 87">
            <a:extLst>
              <a:ext uri="{FF2B5EF4-FFF2-40B4-BE49-F238E27FC236}">
                <a16:creationId xmlns:a16="http://schemas.microsoft.com/office/drawing/2014/main" id="{4C91D427-D003-4752-96F9-6302DEB1C1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0525" y="5927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</a:p>
        </p:txBody>
      </p:sp>
      <p:sp>
        <p:nvSpPr>
          <p:cNvPr id="90188" name="Text Box 88">
            <a:extLst>
              <a:ext uri="{FF2B5EF4-FFF2-40B4-BE49-F238E27FC236}">
                <a16:creationId xmlns:a16="http://schemas.microsoft.com/office/drawing/2014/main" id="{2F3CA9C1-8730-4F83-98CF-641133EBA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5927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</a:p>
        </p:txBody>
      </p:sp>
      <p:sp>
        <p:nvSpPr>
          <p:cNvPr id="90189" name="Text Box 89">
            <a:extLst>
              <a:ext uri="{FF2B5EF4-FFF2-40B4-BE49-F238E27FC236}">
                <a16:creationId xmlns:a16="http://schemas.microsoft.com/office/drawing/2014/main" id="{28B21640-C182-4DD9-841D-7BD105B55B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888" y="6308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r5</a:t>
            </a:r>
          </a:p>
        </p:txBody>
      </p:sp>
      <p:sp>
        <p:nvSpPr>
          <p:cNvPr id="90190" name="Text Box 90">
            <a:extLst>
              <a:ext uri="{FF2B5EF4-FFF2-40B4-BE49-F238E27FC236}">
                <a16:creationId xmlns:a16="http://schemas.microsoft.com/office/drawing/2014/main" id="{89E93695-EA0C-458D-B22A-F40AFA3F5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3963" y="6308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r5</a:t>
            </a:r>
          </a:p>
        </p:txBody>
      </p:sp>
      <p:sp>
        <p:nvSpPr>
          <p:cNvPr id="90191" name="Text Box 91">
            <a:extLst>
              <a:ext uri="{FF2B5EF4-FFF2-40B4-BE49-F238E27FC236}">
                <a16:creationId xmlns:a16="http://schemas.microsoft.com/office/drawing/2014/main" id="{7348F9A5-551E-4686-9A73-3914D1304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0525" y="6308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r5</a:t>
            </a:r>
          </a:p>
        </p:txBody>
      </p:sp>
      <p:sp>
        <p:nvSpPr>
          <p:cNvPr id="90192" name="Text Box 92">
            <a:extLst>
              <a:ext uri="{FF2B5EF4-FFF2-40B4-BE49-F238E27FC236}">
                <a16:creationId xmlns:a16="http://schemas.microsoft.com/office/drawing/2014/main" id="{20902513-DDD2-4230-944D-68BE1D281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6308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3796A109-3CDC-4CC7-9E94-999EDC978D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4.39  SLR(1)</a:t>
            </a:r>
            <a:r>
              <a:rPr lang="zh-CN" altLang="en-US"/>
              <a:t>分析表冲突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8963E4BE-CDF3-4E23-B583-9A1DC9EE28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二义性文法肯定不是</a:t>
            </a:r>
            <a:r>
              <a:rPr lang="en-US" altLang="zh-CN" sz="2800"/>
              <a:t>SLR(1)</a:t>
            </a:r>
            <a:r>
              <a:rPr lang="zh-CN" altLang="en-US" sz="2800"/>
              <a:t>文法，非二义性文法不都是</a:t>
            </a:r>
            <a:r>
              <a:rPr lang="en-US" altLang="zh-CN" sz="2800"/>
              <a:t>SLR(1)</a:t>
            </a:r>
            <a:r>
              <a:rPr lang="zh-CN" altLang="en-US" sz="2800"/>
              <a:t>文法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800"/>
              <a:t>(0)  S’ </a:t>
            </a:r>
            <a:r>
              <a:rPr kumimoji="0" lang="en-US" altLang="zh-CN" sz="2800">
                <a:sym typeface="Symbol" panose="05050102010706020507" pitchFamily="18" charset="2"/>
              </a:rPr>
              <a:t> S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800"/>
              <a:t>(1)  S </a:t>
            </a:r>
            <a:r>
              <a:rPr kumimoji="0" lang="en-US" altLang="zh-CN" sz="2800">
                <a:sym typeface="Symbol" panose="05050102010706020507" pitchFamily="18" charset="2"/>
              </a:rPr>
              <a:t> L </a:t>
            </a:r>
            <a:r>
              <a:rPr kumimoji="0"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=</a:t>
            </a:r>
            <a:r>
              <a:rPr kumimoji="0" lang="en-US" altLang="zh-CN" sz="2800">
                <a:sym typeface="Symbol" panose="05050102010706020507" pitchFamily="18" charset="2"/>
              </a:rPr>
              <a:t> R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800"/>
              <a:t>(2)</a:t>
            </a:r>
            <a:r>
              <a:rPr kumimoji="0" lang="en-US" altLang="zh-CN" sz="2800">
                <a:sym typeface="Symbol" panose="05050102010706020507" pitchFamily="18" charset="2"/>
              </a:rPr>
              <a:t>  </a:t>
            </a:r>
            <a:r>
              <a:rPr kumimoji="0" lang="en-US" altLang="zh-CN" sz="2800"/>
              <a:t>S </a:t>
            </a:r>
            <a:r>
              <a:rPr kumimoji="0" lang="en-US" altLang="zh-CN" sz="2800">
                <a:sym typeface="Symbol" panose="05050102010706020507" pitchFamily="18" charset="2"/>
              </a:rPr>
              <a:t> R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(3)</a:t>
            </a:r>
            <a:r>
              <a:rPr kumimoji="0" lang="en-US" altLang="zh-CN" sz="2800">
                <a:sym typeface="Symbol" panose="05050102010706020507" pitchFamily="18" charset="2"/>
              </a:rPr>
              <a:t>  L  </a:t>
            </a:r>
            <a:r>
              <a:rPr kumimoji="0"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800">
                <a:sym typeface="Symbol" panose="05050102010706020507" pitchFamily="18" charset="2"/>
              </a:rPr>
              <a:t> R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(4)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  </a:t>
            </a:r>
            <a:r>
              <a:rPr kumimoji="0" lang="en-US" altLang="zh-CN" sz="2800">
                <a:sym typeface="Symbol" panose="05050102010706020507" pitchFamily="18" charset="2"/>
              </a:rPr>
              <a:t>L 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 id</a:t>
            </a:r>
            <a:endParaRPr kumimoji="0" lang="en-US" altLang="zh-CN" sz="28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(5)</a:t>
            </a:r>
            <a:r>
              <a:rPr kumimoji="0" lang="en-US" altLang="zh-CN" sz="2800">
                <a:sym typeface="Symbol" panose="05050102010706020507" pitchFamily="18" charset="2"/>
              </a:rPr>
              <a:t>  R  L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701EBEC8-038C-47CC-B587-354475A3E1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4.39  SLR(1)</a:t>
            </a:r>
            <a:r>
              <a:rPr lang="zh-CN" altLang="en-US"/>
              <a:t>分析表冲突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C1479F12-660A-4E39-AE37-E5DA024240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kumimoji="0" lang="en-US" altLang="zh-CN" sz="2400" dirty="0"/>
              <a:t>I</a:t>
            </a:r>
            <a:r>
              <a:rPr kumimoji="0" lang="en-US" altLang="zh-CN" sz="2400" baseline="-25000" dirty="0"/>
              <a:t>0</a:t>
            </a:r>
            <a:r>
              <a:rPr kumimoji="0" lang="en-US" altLang="zh-CN" sz="2400" dirty="0"/>
              <a:t>={</a:t>
            </a:r>
            <a:r>
              <a:rPr kumimoji="0" lang="en-US" altLang="zh-CN" sz="2400" b="1" dirty="0"/>
              <a:t>S’</a:t>
            </a:r>
            <a:r>
              <a:rPr kumimoji="0" lang="en-US" altLang="zh-CN" sz="2400" b="1" dirty="0">
                <a:sym typeface="Symbol" panose="05050102010706020507" pitchFamily="18" charset="2"/>
              </a:rPr>
              <a:t>·S , </a:t>
            </a:r>
            <a:r>
              <a:rPr kumimoji="0" lang="en-US" altLang="zh-CN" sz="2400" b="1" dirty="0"/>
              <a:t>S</a:t>
            </a:r>
            <a:r>
              <a:rPr kumimoji="0" lang="en-US" altLang="zh-CN" sz="2400" b="1" dirty="0">
                <a:sym typeface="Symbol" panose="05050102010706020507" pitchFamily="18" charset="2"/>
              </a:rPr>
              <a:t>·L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=</a:t>
            </a:r>
            <a:r>
              <a:rPr kumimoji="0" lang="en-US" altLang="zh-CN" sz="2400" b="1" dirty="0">
                <a:sym typeface="Symbol" panose="05050102010706020507" pitchFamily="18" charset="2"/>
              </a:rPr>
              <a:t> R , </a:t>
            </a:r>
            <a:r>
              <a:rPr kumimoji="0" lang="en-US" altLang="zh-CN" sz="2400" b="1" dirty="0"/>
              <a:t>S</a:t>
            </a:r>
            <a:r>
              <a:rPr kumimoji="0" lang="en-US" altLang="zh-CN" sz="2400" b="1" dirty="0">
                <a:sym typeface="Symbol" panose="05050102010706020507" pitchFamily="18" charset="2"/>
              </a:rPr>
              <a:t>·R , L·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 dirty="0">
                <a:sym typeface="Symbol" panose="05050102010706020507" pitchFamily="18" charset="2"/>
              </a:rPr>
              <a:t> R , </a:t>
            </a:r>
            <a:br>
              <a:rPr kumimoji="0" lang="en-US" altLang="zh-CN" sz="2400" b="1" dirty="0">
                <a:sym typeface="Symbol" panose="05050102010706020507" pitchFamily="18" charset="2"/>
              </a:rPr>
            </a:br>
            <a:r>
              <a:rPr kumimoji="0" lang="en-US" altLang="zh-CN" sz="2400" b="1" dirty="0">
                <a:sym typeface="Symbol" panose="05050102010706020507" pitchFamily="18" charset="2"/>
              </a:rPr>
              <a:t>		L·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kumimoji="0" lang="en-US" altLang="zh-CN" sz="2400" b="1" dirty="0">
                <a:sym typeface="Symbol" panose="05050102010706020507" pitchFamily="18" charset="2"/>
              </a:rPr>
              <a:t> , R·L</a:t>
            </a:r>
            <a:r>
              <a:rPr kumimoji="0" lang="en-US" altLang="zh-CN" sz="2400" dirty="0"/>
              <a:t>}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kumimoji="0" lang="en-US" altLang="zh-CN" sz="2400" dirty="0"/>
              <a:t>I</a:t>
            </a:r>
            <a:r>
              <a:rPr kumimoji="0" lang="en-US" altLang="zh-CN" sz="2400" baseline="-25000" dirty="0"/>
              <a:t>1</a:t>
            </a:r>
            <a:r>
              <a:rPr kumimoji="0" lang="en-US" altLang="zh-CN" sz="2400" dirty="0"/>
              <a:t> = {</a:t>
            </a:r>
            <a:r>
              <a:rPr kumimoji="0" lang="en-US" altLang="zh-CN" sz="2400" b="1" dirty="0"/>
              <a:t>S’ </a:t>
            </a:r>
            <a:r>
              <a:rPr kumimoji="0" lang="en-US" altLang="zh-CN" sz="2400" b="1" dirty="0">
                <a:sym typeface="Symbol" panose="05050102010706020507" pitchFamily="18" charset="2"/>
              </a:rPr>
              <a:t> S· </a:t>
            </a:r>
            <a:r>
              <a:rPr kumimoji="0" lang="en-US" altLang="zh-CN" sz="2400" dirty="0"/>
              <a:t>}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kumimoji="0" lang="en-US" altLang="zh-CN" sz="2400" dirty="0">
                <a:solidFill>
                  <a:srgbClr val="FF0000"/>
                </a:solidFill>
              </a:rPr>
              <a:t>I</a:t>
            </a:r>
            <a:r>
              <a:rPr kumimoji="0" lang="en-US" altLang="zh-CN" sz="2400" baseline="-25000" dirty="0">
                <a:solidFill>
                  <a:srgbClr val="FF0000"/>
                </a:solidFill>
              </a:rPr>
              <a:t>2</a:t>
            </a:r>
            <a:r>
              <a:rPr kumimoji="0" lang="en-US" altLang="zh-CN" sz="2400" dirty="0">
                <a:solidFill>
                  <a:srgbClr val="FF0000"/>
                </a:solidFill>
              </a:rPr>
              <a:t> = {</a:t>
            </a:r>
            <a:r>
              <a:rPr kumimoji="0" lang="en-US" altLang="zh-CN" sz="2400" b="1" dirty="0">
                <a:solidFill>
                  <a:srgbClr val="FF0000"/>
                </a:solidFill>
              </a:rPr>
              <a:t>S </a:t>
            </a:r>
            <a:r>
              <a:rPr kumimoji="0" lang="en-US" altLang="zh-CN" sz="2400" b="1" dirty="0">
                <a:solidFill>
                  <a:srgbClr val="FF0000"/>
                </a:solidFill>
                <a:sym typeface="Symbol" panose="05050102010706020507" pitchFamily="18" charset="2"/>
              </a:rPr>
              <a:t> L · = R , R  L · </a:t>
            </a:r>
            <a:r>
              <a:rPr kumimoji="0" lang="en-US" altLang="zh-CN" sz="2400" dirty="0">
                <a:solidFill>
                  <a:srgbClr val="FF0000"/>
                </a:solidFill>
              </a:rPr>
              <a:t>}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kumimoji="0" lang="en-US" altLang="zh-CN" sz="2400" dirty="0"/>
              <a:t>I</a:t>
            </a:r>
            <a:r>
              <a:rPr kumimoji="0" lang="en-US" altLang="zh-CN" sz="2400" baseline="-25000" dirty="0"/>
              <a:t>3</a:t>
            </a:r>
            <a:r>
              <a:rPr kumimoji="0" lang="en-US" altLang="zh-CN" sz="2400" dirty="0"/>
              <a:t> = {</a:t>
            </a:r>
            <a:r>
              <a:rPr kumimoji="0" lang="en-US" altLang="zh-CN" sz="2400" b="1" dirty="0"/>
              <a:t>S </a:t>
            </a:r>
            <a:r>
              <a:rPr kumimoji="0" lang="en-US" altLang="zh-CN" sz="2400" b="1" dirty="0">
                <a:sym typeface="Symbol" panose="05050102010706020507" pitchFamily="18" charset="2"/>
              </a:rPr>
              <a:t> R·</a:t>
            </a:r>
            <a:r>
              <a:rPr kumimoji="0" lang="en-US" altLang="zh-CN" sz="2400" dirty="0"/>
              <a:t>}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kumimoji="0" lang="en-US" altLang="zh-CN" sz="2400" dirty="0"/>
              <a:t>I</a:t>
            </a:r>
            <a:r>
              <a:rPr kumimoji="0" lang="en-US" altLang="zh-CN" sz="2400" baseline="-25000" dirty="0"/>
              <a:t>4</a:t>
            </a:r>
            <a:r>
              <a:rPr kumimoji="0" lang="en-US" altLang="zh-CN" sz="2400" dirty="0"/>
              <a:t> = {</a:t>
            </a:r>
            <a:r>
              <a:rPr kumimoji="0" lang="en-US" altLang="zh-CN" sz="2400" b="1" dirty="0"/>
              <a:t>L </a:t>
            </a:r>
            <a:r>
              <a:rPr kumimoji="0" lang="en-US" altLang="zh-CN" sz="2400" b="1" dirty="0">
                <a:sym typeface="Symbol" panose="05050102010706020507" pitchFamily="18" charset="2"/>
              </a:rPr>
              <a:t>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 dirty="0">
                <a:sym typeface="Symbol" panose="05050102010706020507" pitchFamily="18" charset="2"/>
              </a:rPr>
              <a:t>·R , R  ·L , L  ·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 dirty="0">
                <a:sym typeface="Symbol" panose="05050102010706020507" pitchFamily="18" charset="2"/>
              </a:rPr>
              <a:t> R , L ·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kumimoji="0" lang="en-US" altLang="zh-CN" sz="2400" b="1" dirty="0">
                <a:sym typeface="Symbol" panose="05050102010706020507" pitchFamily="18" charset="2"/>
              </a:rPr>
              <a:t> </a:t>
            </a:r>
            <a:r>
              <a:rPr kumimoji="0" lang="en-US" altLang="zh-CN" sz="2400" dirty="0"/>
              <a:t>}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kumimoji="0" lang="en-US" altLang="zh-CN" sz="2400" dirty="0"/>
              <a:t>I</a:t>
            </a:r>
            <a:r>
              <a:rPr kumimoji="0" lang="en-US" altLang="zh-CN" sz="2400" baseline="-25000" dirty="0"/>
              <a:t>5</a:t>
            </a:r>
            <a:r>
              <a:rPr kumimoji="0" lang="en-US" altLang="zh-CN" sz="2400" dirty="0"/>
              <a:t> = {</a:t>
            </a:r>
            <a:r>
              <a:rPr kumimoji="0" lang="en-US" altLang="zh-CN" sz="2400" b="1" dirty="0">
                <a:sym typeface="Symbol" panose="05050102010706020507" pitchFamily="18" charset="2"/>
              </a:rPr>
              <a:t>L 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kumimoji="0" lang="en-US" altLang="zh-CN" sz="2400" b="1" dirty="0">
                <a:sym typeface="Symbol" panose="05050102010706020507" pitchFamily="18" charset="2"/>
              </a:rPr>
              <a:t>· </a:t>
            </a:r>
            <a:r>
              <a:rPr kumimoji="0" lang="en-US" altLang="zh-CN" sz="2400" dirty="0"/>
              <a:t>}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kumimoji="0" lang="en-US" altLang="zh-CN" sz="2400" dirty="0"/>
              <a:t>I</a:t>
            </a:r>
            <a:r>
              <a:rPr kumimoji="0" lang="en-US" altLang="zh-CN" sz="2400" baseline="-25000" dirty="0"/>
              <a:t>6</a:t>
            </a:r>
            <a:r>
              <a:rPr kumimoji="0" lang="en-US" altLang="zh-CN" sz="2400" dirty="0"/>
              <a:t> = {</a:t>
            </a:r>
            <a:r>
              <a:rPr kumimoji="0" lang="en-US" altLang="zh-CN" sz="2400" b="1" dirty="0"/>
              <a:t>S </a:t>
            </a:r>
            <a:r>
              <a:rPr kumimoji="0" lang="en-US" altLang="zh-CN" sz="2400" b="1" dirty="0">
                <a:sym typeface="Symbol" panose="05050102010706020507" pitchFamily="18" charset="2"/>
              </a:rPr>
              <a:t> L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= </a:t>
            </a:r>
            <a:r>
              <a:rPr kumimoji="0" lang="en-US" altLang="zh-CN" sz="2400" b="1" dirty="0">
                <a:sym typeface="Symbol" panose="05050102010706020507" pitchFamily="18" charset="2"/>
              </a:rPr>
              <a:t>· R , R  ·L , L  ·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 dirty="0">
                <a:sym typeface="Symbol" panose="05050102010706020507" pitchFamily="18" charset="2"/>
              </a:rPr>
              <a:t> R , L ·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kumimoji="0" lang="en-US" altLang="zh-CN" sz="2400" b="1" dirty="0">
                <a:sym typeface="Symbol" panose="05050102010706020507" pitchFamily="18" charset="2"/>
              </a:rPr>
              <a:t> </a:t>
            </a:r>
            <a:r>
              <a:rPr kumimoji="0" lang="en-US" altLang="zh-CN" sz="2400" dirty="0"/>
              <a:t>}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kumimoji="0" lang="en-US" altLang="zh-CN" sz="2400" dirty="0"/>
              <a:t>I</a:t>
            </a:r>
            <a:r>
              <a:rPr kumimoji="0" lang="en-US" altLang="zh-CN" sz="2400" baseline="-25000" dirty="0"/>
              <a:t>7</a:t>
            </a:r>
            <a:r>
              <a:rPr kumimoji="0" lang="en-US" altLang="zh-CN" sz="2400" dirty="0"/>
              <a:t> = {</a:t>
            </a:r>
            <a:r>
              <a:rPr kumimoji="0" lang="en-US" altLang="zh-CN" sz="2400" b="1" dirty="0">
                <a:sym typeface="Symbol" panose="05050102010706020507" pitchFamily="18" charset="2"/>
              </a:rPr>
              <a:t>L 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 dirty="0">
                <a:sym typeface="Symbol" panose="05050102010706020507" pitchFamily="18" charset="2"/>
              </a:rPr>
              <a:t> R·</a:t>
            </a:r>
            <a:r>
              <a:rPr kumimoji="0" lang="en-US" altLang="zh-CN" sz="2400" dirty="0"/>
              <a:t>}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kumimoji="0" lang="en-US" altLang="zh-CN" sz="2400" dirty="0"/>
              <a:t>I</a:t>
            </a:r>
            <a:r>
              <a:rPr kumimoji="0" lang="en-US" altLang="zh-CN" sz="2400" baseline="-25000" dirty="0"/>
              <a:t>8</a:t>
            </a:r>
            <a:r>
              <a:rPr kumimoji="0" lang="en-US" altLang="zh-CN" sz="2400" dirty="0"/>
              <a:t> = {</a:t>
            </a:r>
            <a:r>
              <a:rPr kumimoji="0" lang="en-US" altLang="zh-CN" sz="2400" b="1" dirty="0">
                <a:sym typeface="Symbol" panose="05050102010706020507" pitchFamily="18" charset="2"/>
              </a:rPr>
              <a:t>R  L ·</a:t>
            </a:r>
            <a:r>
              <a:rPr kumimoji="0" lang="en-US" altLang="zh-CN" sz="2400" dirty="0"/>
              <a:t>}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kumimoji="0" lang="en-US" altLang="zh-CN" sz="2400" dirty="0"/>
              <a:t>I</a:t>
            </a:r>
            <a:r>
              <a:rPr kumimoji="0" lang="en-US" altLang="zh-CN" sz="2400" baseline="-25000" dirty="0"/>
              <a:t>9</a:t>
            </a:r>
            <a:r>
              <a:rPr kumimoji="0" lang="en-US" altLang="zh-CN" sz="2400" dirty="0"/>
              <a:t> = {</a:t>
            </a:r>
            <a:r>
              <a:rPr kumimoji="0" lang="en-US" altLang="zh-CN" sz="2400" b="1" dirty="0"/>
              <a:t>S</a:t>
            </a:r>
            <a:r>
              <a:rPr kumimoji="0" lang="en-US" altLang="zh-CN" sz="2400" b="1" dirty="0">
                <a:sym typeface="Symbol" panose="05050102010706020507" pitchFamily="18" charset="2"/>
              </a:rPr>
              <a:t>L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=</a:t>
            </a:r>
            <a:r>
              <a:rPr kumimoji="0" lang="en-US" altLang="zh-CN" sz="2400" b="1" dirty="0">
                <a:sym typeface="Symbol" panose="05050102010706020507" pitchFamily="18" charset="2"/>
              </a:rPr>
              <a:t> R·</a:t>
            </a:r>
            <a:r>
              <a:rPr kumimoji="0" lang="en-US" altLang="zh-CN" sz="2400" dirty="0"/>
              <a:t>}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8E99B177-165D-4335-85D6-8B379C4639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4.39  SLR(1)</a:t>
            </a:r>
            <a:r>
              <a:rPr lang="zh-CN" altLang="en-US"/>
              <a:t>分析表冲突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057C06CE-8F9E-46C0-8422-6EB0E9CB65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marL="381000" indent="-381000" eaLnBrk="1" hangingPunct="1"/>
            <a:r>
              <a:rPr kumimoji="0" lang="en-US" altLang="zh-CN" sz="2800" dirty="0"/>
              <a:t>I</a:t>
            </a:r>
            <a:r>
              <a:rPr kumimoji="0" lang="en-US" altLang="zh-CN" sz="2800" baseline="-25000" dirty="0"/>
              <a:t>2</a:t>
            </a:r>
            <a:r>
              <a:rPr kumimoji="0" lang="en-US" altLang="zh-CN" sz="2800" dirty="0"/>
              <a:t> = {</a:t>
            </a:r>
            <a:r>
              <a:rPr kumimoji="0" lang="en-US" altLang="zh-CN" sz="2800" b="1" dirty="0"/>
              <a:t>S </a:t>
            </a:r>
            <a:r>
              <a:rPr kumimoji="0" lang="en-US" altLang="zh-CN" sz="2800" b="1" dirty="0">
                <a:sym typeface="Symbol" panose="05050102010706020507" pitchFamily="18" charset="2"/>
              </a:rPr>
              <a:t> L · </a:t>
            </a:r>
            <a:r>
              <a:rPr kumimoji="0" lang="en-US" altLang="zh-CN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=</a:t>
            </a:r>
            <a:r>
              <a:rPr kumimoji="0" lang="en-US" altLang="zh-CN" sz="2800" b="1" dirty="0">
                <a:sym typeface="Symbol" panose="05050102010706020507" pitchFamily="18" charset="2"/>
              </a:rPr>
              <a:t> R , R  L · </a:t>
            </a:r>
            <a:r>
              <a:rPr kumimoji="0" lang="en-US" altLang="zh-CN" sz="2800" dirty="0"/>
              <a:t>}</a:t>
            </a:r>
          </a:p>
          <a:p>
            <a:pPr marL="857250" lvl="1" eaLnBrk="1" hangingPunct="1"/>
            <a:r>
              <a:rPr kumimoji="0" lang="en-US" altLang="zh-CN" sz="2400" b="1" dirty="0"/>
              <a:t>S </a:t>
            </a:r>
            <a:r>
              <a:rPr kumimoji="0" lang="en-US" altLang="zh-CN" sz="2400" b="1" dirty="0">
                <a:sym typeface="Symbol" panose="05050102010706020507" pitchFamily="18" charset="2"/>
              </a:rPr>
              <a:t> L ·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=</a:t>
            </a:r>
            <a:r>
              <a:rPr kumimoji="0" lang="en-US" altLang="zh-CN" sz="2400" b="1" dirty="0">
                <a:sym typeface="Symbol" panose="05050102010706020507" pitchFamily="18" charset="2"/>
              </a:rPr>
              <a:t> R </a:t>
            </a:r>
            <a:r>
              <a:rPr kumimoji="0" lang="en-US" altLang="zh-CN" sz="2400" dirty="0">
                <a:sym typeface="Wingdings" panose="05000000000000000000" pitchFamily="2" charset="2"/>
              </a:rPr>
              <a:t> action[2, =] = s6</a:t>
            </a:r>
          </a:p>
          <a:p>
            <a:pPr marL="857250" lvl="1" eaLnBrk="1" hangingPunct="1"/>
            <a:r>
              <a:rPr kumimoji="0" lang="en-US" altLang="zh-CN" sz="2400" b="1" dirty="0">
                <a:sym typeface="Symbol" panose="05050102010706020507" pitchFamily="18" charset="2"/>
              </a:rPr>
              <a:t>R  L ·</a:t>
            </a:r>
            <a:r>
              <a:rPr kumimoji="0" lang="en-US" altLang="zh-CN" sz="2400" dirty="0">
                <a:sym typeface="Symbol" panose="05050102010706020507" pitchFamily="18" charset="2"/>
              </a:rPr>
              <a:t>, =</a:t>
            </a:r>
            <a:r>
              <a:rPr kumimoji="0"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∈</a:t>
            </a:r>
            <a:r>
              <a:rPr kumimoji="0" lang="en-US" altLang="zh-CN" sz="2400" dirty="0">
                <a:sym typeface="Symbol" panose="05050102010706020507" pitchFamily="18" charset="2"/>
              </a:rPr>
              <a:t>FOLLOW(R)</a:t>
            </a:r>
            <a:br>
              <a:rPr kumimoji="0" lang="en-US" altLang="zh-CN" sz="2400" dirty="0">
                <a:sym typeface="Symbol" panose="05050102010706020507" pitchFamily="18" charset="2"/>
              </a:rPr>
            </a:br>
            <a:r>
              <a:rPr kumimoji="0" lang="en-US" altLang="zh-CN" sz="2400" dirty="0">
                <a:sym typeface="Wingdings" panose="05000000000000000000" pitchFamily="2" charset="2"/>
              </a:rPr>
              <a:t> action[2, =] = r5</a:t>
            </a:r>
          </a:p>
          <a:p>
            <a:pPr marL="857250" lvl="1" eaLnBrk="1" hangingPunct="1"/>
            <a:r>
              <a:rPr kumimoji="0" lang="zh-CN" altLang="en-US" sz="2400" dirty="0">
                <a:sym typeface="Wingdings" panose="05000000000000000000" pitchFamily="2" charset="2"/>
              </a:rPr>
              <a:t>移进</a:t>
            </a:r>
            <a:r>
              <a:rPr kumimoji="0" lang="en-US" altLang="zh-CN" sz="2400" dirty="0">
                <a:sym typeface="Wingdings" panose="05000000000000000000" pitchFamily="2" charset="2"/>
              </a:rPr>
              <a:t>/</a:t>
            </a:r>
            <a:r>
              <a:rPr kumimoji="0" lang="zh-CN" altLang="en-US" sz="2400" dirty="0">
                <a:sym typeface="Wingdings" panose="05000000000000000000" pitchFamily="2" charset="2"/>
              </a:rPr>
              <a:t>归约冲突</a:t>
            </a:r>
          </a:p>
          <a:p>
            <a:pPr marL="381000" indent="-381000" eaLnBrk="1" hangingPunct="1"/>
            <a:r>
              <a:rPr kumimoji="0" lang="zh-CN" altLang="en-US" sz="2800" dirty="0">
                <a:sym typeface="Symbol" panose="05050102010706020507" pitchFamily="18" charset="2"/>
              </a:rPr>
              <a:t>分析实例： </a:t>
            </a:r>
            <a:r>
              <a:rPr lang="en-US" altLang="zh-CN" sz="2800" b="1" dirty="0">
                <a:solidFill>
                  <a:schemeClr val="accent2"/>
                </a:solidFill>
              </a:rPr>
              <a:t>id=id</a:t>
            </a:r>
          </a:p>
          <a:p>
            <a:pPr marL="381000" indent="-38100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$0				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id=id</a:t>
            </a:r>
            <a:r>
              <a:rPr kumimoji="0" lang="en-US" altLang="zh-CN" sz="2400" b="1" dirty="0"/>
              <a:t>$			s5</a:t>
            </a:r>
          </a:p>
          <a:p>
            <a:pPr marL="381000" indent="-381000"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$0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id</a:t>
            </a:r>
            <a:r>
              <a:rPr kumimoji="0" lang="en-US" altLang="zh-CN" sz="2400" b="1" dirty="0"/>
              <a:t>5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			=id</a:t>
            </a:r>
            <a:r>
              <a:rPr kumimoji="0" lang="en-US" altLang="zh-CN" sz="2400" b="1" dirty="0"/>
              <a:t>$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			</a:t>
            </a:r>
            <a:r>
              <a:rPr kumimoji="0" lang="en-US" altLang="zh-CN" sz="2400" b="1" dirty="0">
                <a:solidFill>
                  <a:srgbClr val="FF3300"/>
                </a:solidFill>
              </a:rPr>
              <a:t>r</a:t>
            </a:r>
            <a:r>
              <a:rPr kumimoji="0" lang="en-US" altLang="zh-CN" sz="2400" b="1" dirty="0"/>
              <a:t> </a:t>
            </a:r>
            <a:r>
              <a:rPr kumimoji="0" lang="en-US" altLang="zh-CN" sz="2400" b="1" dirty="0">
                <a:sym typeface="Symbol" panose="05050102010706020507" pitchFamily="18" charset="2"/>
              </a:rPr>
              <a:t>L 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kumimoji="0" lang="en-US" altLang="zh-CN" sz="2400" b="1" dirty="0">
                <a:sym typeface="Symbol" panose="05050102010706020507" pitchFamily="18" charset="2"/>
              </a:rPr>
              <a:t> </a:t>
            </a:r>
            <a:endParaRPr kumimoji="0" lang="en-US" altLang="zh-CN" sz="2400" b="1" dirty="0"/>
          </a:p>
          <a:p>
            <a:pPr marL="381000" indent="-381000"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$0L2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			=id</a:t>
            </a:r>
            <a:r>
              <a:rPr kumimoji="0" lang="en-US" altLang="zh-CN" sz="2400" b="1" dirty="0"/>
              <a:t>$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			</a:t>
            </a:r>
            <a:r>
              <a:rPr kumimoji="0" lang="zh-CN" altLang="en-US" sz="2400" b="1" dirty="0"/>
              <a:t>冲突</a:t>
            </a:r>
            <a:r>
              <a:rPr kumimoji="0" lang="en-US" altLang="zh-CN" sz="2400" b="1" dirty="0"/>
              <a:t>…</a:t>
            </a:r>
            <a:endParaRPr lang="en-US" altLang="zh-CN" sz="2400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1026">
            <a:extLst>
              <a:ext uri="{FF2B5EF4-FFF2-40B4-BE49-F238E27FC236}">
                <a16:creationId xmlns:a16="http://schemas.microsoft.com/office/drawing/2014/main" id="{F10D3024-5362-4B67-AE7E-D53E53C217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4.39  SLR(1)</a:t>
            </a:r>
            <a:r>
              <a:rPr lang="zh-CN" altLang="en-US"/>
              <a:t>分析表冲突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94211" name="Rectangle 1027">
            <a:extLst>
              <a:ext uri="{FF2B5EF4-FFF2-40B4-BE49-F238E27FC236}">
                <a16:creationId xmlns:a16="http://schemas.microsoft.com/office/drawing/2014/main" id="{8CBF2E23-B9DA-4B15-93DD-30CDDEEDD5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marL="381000" indent="-381000" eaLnBrk="1" hangingPunct="1"/>
            <a:r>
              <a:rPr kumimoji="0" lang="zh-CN" altLang="en-US" sz="2800" dirty="0"/>
              <a:t>应该进行哪个动作？</a:t>
            </a:r>
          </a:p>
          <a:p>
            <a:pPr marL="381000" indent="-381000" eaLnBrk="1" hangingPunct="1"/>
            <a:r>
              <a:rPr kumimoji="0" lang="en-US" altLang="zh-CN" sz="2800" dirty="0"/>
              <a:t>R</a:t>
            </a:r>
            <a:r>
              <a:rPr lang="en-US" altLang="zh-CN" sz="2800" b="1" dirty="0">
                <a:solidFill>
                  <a:schemeClr val="folHlink"/>
                </a:solidFill>
              </a:rPr>
              <a:t>=id</a:t>
            </a:r>
            <a:r>
              <a:rPr lang="zh-CN" altLang="en-US" sz="2800" dirty="0"/>
              <a:t>不是句型！</a:t>
            </a:r>
          </a:p>
          <a:p>
            <a:pPr marL="381000" indent="-381000" eaLnBrk="1" hangingPunct="1"/>
            <a:r>
              <a:rPr lang="en-US" altLang="zh-CN" sz="2800" b="1" dirty="0">
                <a:solidFill>
                  <a:schemeClr val="folHlink"/>
                </a:solidFill>
              </a:rPr>
              <a:t>=</a:t>
            </a:r>
            <a:r>
              <a:rPr lang="zh-CN" altLang="en-US" sz="2800" dirty="0"/>
              <a:t>可在</a:t>
            </a:r>
            <a:r>
              <a:rPr lang="en-US" altLang="zh-CN" sz="2800" dirty="0"/>
              <a:t>R</a:t>
            </a:r>
            <a:r>
              <a:rPr lang="zh-CN" altLang="en-US" sz="2800" dirty="0"/>
              <a:t>之后，但不是这种情况，只有</a:t>
            </a:r>
            <a:r>
              <a:rPr lang="en-US" altLang="zh-CN" sz="2800" dirty="0"/>
              <a:t>R</a:t>
            </a:r>
            <a:r>
              <a:rPr lang="zh-CN" altLang="en-US" sz="2800" dirty="0"/>
              <a:t>在</a:t>
            </a:r>
            <a:r>
              <a:rPr kumimoji="0" lang="zh-CN" altLang="en-US" sz="2800" dirty="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lang="zh-CN" altLang="en-US" sz="2800" dirty="0"/>
              <a:t>之后的情况下才会发生</a:t>
            </a:r>
            <a:r>
              <a:rPr lang="en-US" altLang="zh-CN" sz="2800" dirty="0"/>
              <a:t>——</a:t>
            </a:r>
            <a:r>
              <a:rPr kumimoji="0" lang="en-US" altLang="zh-CN" sz="2800" dirty="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800" dirty="0"/>
              <a:t>R</a:t>
            </a:r>
            <a:r>
              <a:rPr lang="en-US" altLang="zh-CN" sz="2800" b="1" dirty="0">
                <a:solidFill>
                  <a:schemeClr val="folHlink"/>
                </a:solidFill>
              </a:rPr>
              <a:t>=id</a:t>
            </a:r>
          </a:p>
          <a:p>
            <a:pPr marL="381000" indent="-381000" eaLnBrk="1" hangingPunct="1"/>
            <a:r>
              <a:rPr lang="zh-CN" altLang="en-US" sz="2800" dirty="0"/>
              <a:t>冲突原因</a:t>
            </a:r>
            <a:br>
              <a:rPr lang="zh-CN" altLang="en-US" sz="2800" dirty="0"/>
            </a:br>
            <a:r>
              <a:rPr lang="en-US" altLang="zh-CN" sz="2800" dirty="0"/>
              <a:t>SLR</a:t>
            </a:r>
            <a:r>
              <a:rPr lang="zh-CN" altLang="en-US" sz="2800" dirty="0"/>
              <a:t>分析方法</a:t>
            </a:r>
            <a:r>
              <a:rPr lang="en-US" altLang="zh-CN" sz="2800" dirty="0"/>
              <a:t>——LR(0)+FOLLOW</a:t>
            </a:r>
            <a:r>
              <a:rPr lang="zh-CN" altLang="en-US" sz="2800" dirty="0"/>
              <a:t>的方法不够强大</a:t>
            </a:r>
            <a:br>
              <a:rPr lang="zh-CN" altLang="en-US" sz="2800" dirty="0"/>
            </a:br>
            <a:r>
              <a:rPr lang="zh-CN" altLang="en-US" sz="2800" dirty="0"/>
              <a:t>规范</a:t>
            </a:r>
            <a:r>
              <a:rPr lang="en-US" altLang="zh-CN" sz="2800" dirty="0"/>
              <a:t>LR</a:t>
            </a:r>
            <a:r>
              <a:rPr lang="zh-CN" altLang="en-US" sz="2800" dirty="0"/>
              <a:t>和</a:t>
            </a:r>
            <a:r>
              <a:rPr lang="en-US" altLang="zh-CN" sz="2800" dirty="0"/>
              <a:t>LALR</a:t>
            </a:r>
            <a:r>
              <a:rPr lang="zh-CN" altLang="en-US" sz="2800" dirty="0"/>
              <a:t>均可处理此文法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7955261D-7505-4364-8B6D-0AEC3C9AFE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4.7.4  </a:t>
            </a:r>
            <a:r>
              <a:rPr lang="zh-CN" altLang="en-US"/>
              <a:t>构造规范</a:t>
            </a:r>
            <a:r>
              <a:rPr lang="en-US" altLang="zh-CN"/>
              <a:t>LR</a:t>
            </a:r>
            <a:r>
              <a:rPr lang="zh-CN" altLang="en-US"/>
              <a:t>分析表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27BC7669-36F0-410E-B37D-F4FFE667F2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/>
              <a:t>SLR</a:t>
            </a:r>
            <a:r>
              <a:rPr lang="zh-CN" altLang="en-US" sz="2800" dirty="0"/>
              <a:t>：若项目集</a:t>
            </a:r>
            <a:r>
              <a:rPr lang="en-US" altLang="zh-CN" sz="2800" dirty="0" err="1"/>
              <a:t>I</a:t>
            </a:r>
            <a:r>
              <a:rPr lang="en-US" altLang="zh-CN" sz="2800" baseline="-25000" dirty="0" err="1"/>
              <a:t>i</a:t>
            </a:r>
            <a:r>
              <a:rPr lang="zh-CN" altLang="en-US" sz="2800" dirty="0"/>
              <a:t>包含</a:t>
            </a:r>
            <a:r>
              <a:rPr lang="en-US" altLang="zh-CN" sz="2800" dirty="0">
                <a:sym typeface="Symbol" panose="05050102010706020507" pitchFamily="18" charset="2"/>
              </a:rPr>
              <a:t>[A·]</a:t>
            </a:r>
            <a:r>
              <a:rPr lang="zh-CN" altLang="en-US" sz="2800" dirty="0">
                <a:sym typeface="Symbol" panose="05050102010706020507" pitchFamily="18" charset="2"/>
              </a:rPr>
              <a:t>，且</a:t>
            </a:r>
            <a:r>
              <a:rPr lang="en-US" altLang="zh-CN" sz="2800" dirty="0"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sym typeface="Symbol" panose="05050102010706020507" pitchFamily="18" charset="2"/>
              </a:rPr>
              <a:t>在</a:t>
            </a:r>
            <a:r>
              <a:rPr lang="en-US" altLang="zh-CN" sz="2800" dirty="0">
                <a:sym typeface="Symbol" panose="05050102010706020507" pitchFamily="18" charset="2"/>
              </a:rPr>
              <a:t>FOLLOW(A)</a:t>
            </a:r>
            <a:r>
              <a:rPr lang="zh-CN" altLang="en-US" sz="2800" dirty="0">
                <a:sym typeface="Symbol" panose="05050102010706020507" pitchFamily="18" charset="2"/>
              </a:rPr>
              <a:t>中，则状态</a:t>
            </a:r>
            <a:r>
              <a:rPr lang="en-US" altLang="zh-CN" sz="2800" dirty="0" err="1">
                <a:sym typeface="Symbol" panose="05050102010706020507" pitchFamily="18" charset="2"/>
              </a:rPr>
              <a:t>i</a:t>
            </a:r>
            <a:r>
              <a:rPr lang="zh-CN" altLang="en-US" sz="2800" dirty="0">
                <a:sym typeface="Symbol" panose="05050102010706020507" pitchFamily="18" charset="2"/>
              </a:rPr>
              <a:t>进行归约</a:t>
            </a:r>
          </a:p>
          <a:p>
            <a:pPr eaLnBrk="1" hangingPunct="1"/>
            <a:r>
              <a:rPr lang="zh-CN" altLang="en-US" sz="2800" dirty="0">
                <a:sym typeface="Symbol" panose="05050102010706020507" pitchFamily="18" charset="2"/>
              </a:rPr>
              <a:t>但某些情况，当状态</a:t>
            </a:r>
            <a:r>
              <a:rPr lang="en-US" altLang="zh-CN" sz="2800" dirty="0" err="1">
                <a:sym typeface="Symbol" panose="05050102010706020507" pitchFamily="18" charset="2"/>
              </a:rPr>
              <a:t>i</a:t>
            </a:r>
            <a:r>
              <a:rPr lang="zh-CN" altLang="en-US" sz="2800" dirty="0">
                <a:sym typeface="Symbol" panose="05050102010706020507" pitchFamily="18" charset="2"/>
              </a:rPr>
              <a:t>在栈顶，活前缀</a:t>
            </a:r>
            <a:r>
              <a:rPr lang="en-US" altLang="zh-CN" sz="2800" dirty="0" err="1">
                <a:latin typeface="Symbol" panose="05050102010706020507" pitchFamily="18" charset="2"/>
                <a:sym typeface="Symbol" panose="05050102010706020507" pitchFamily="18" charset="2"/>
              </a:rPr>
              <a:t>ba</a:t>
            </a:r>
            <a:r>
              <a:rPr lang="zh-CN" altLang="en-US" sz="2800" dirty="0">
                <a:sym typeface="Symbol" panose="05050102010706020507" pitchFamily="18" charset="2"/>
              </a:rPr>
              <a:t>在栈中时，任何最右句型，都不可能是</a:t>
            </a:r>
            <a:r>
              <a:rPr lang="en-US" altLang="zh-CN" sz="2800" dirty="0">
                <a:sym typeface="Symbol" panose="05050102010706020507" pitchFamily="18" charset="2"/>
              </a:rPr>
              <a:t>…</a:t>
            </a:r>
            <a:r>
              <a:rPr lang="en-US" altLang="zh-CN" sz="2800" dirty="0" err="1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zh-CN" sz="2800" dirty="0" err="1">
                <a:sym typeface="Symbol" panose="05050102010706020507" pitchFamily="18" charset="2"/>
              </a:rPr>
              <a:t>Aa</a:t>
            </a:r>
            <a:r>
              <a:rPr lang="en-US" altLang="zh-CN" sz="2800" dirty="0">
                <a:sym typeface="Symbol" panose="05050102010706020507" pitchFamily="18" charset="2"/>
              </a:rPr>
              <a:t>…</a:t>
            </a:r>
            <a:r>
              <a:rPr lang="zh-CN" altLang="en-US" sz="2800" dirty="0">
                <a:sym typeface="Symbol" panose="05050102010706020507" pitchFamily="18" charset="2"/>
              </a:rPr>
              <a:t>的形式</a:t>
            </a:r>
          </a:p>
          <a:p>
            <a:pPr eaLnBrk="1" hangingPunct="1"/>
            <a:r>
              <a:rPr lang="zh-CN" altLang="en-US" sz="3600" dirty="0">
                <a:solidFill>
                  <a:srgbClr val="3333CC"/>
                </a:solidFill>
                <a:sym typeface="Symbol" panose="05050102010706020507" pitchFamily="18" charset="2"/>
              </a:rPr>
              <a:t>例</a:t>
            </a:r>
            <a:r>
              <a:rPr lang="en-US" altLang="zh-CN" sz="3600" dirty="0">
                <a:solidFill>
                  <a:srgbClr val="3333CC"/>
                </a:solidFill>
                <a:sym typeface="Symbol" panose="05050102010706020507" pitchFamily="18" charset="2"/>
              </a:rPr>
              <a:t>4.40</a:t>
            </a:r>
            <a:r>
              <a:rPr lang="zh-CN" altLang="en-US" sz="3600" dirty="0">
                <a:solidFill>
                  <a:srgbClr val="3333CC"/>
                </a:solidFill>
                <a:sym typeface="Symbol" panose="05050102010706020507" pitchFamily="18" charset="2"/>
              </a:rPr>
              <a:t>：</a:t>
            </a:r>
          </a:p>
          <a:p>
            <a:pPr lvl="1" eaLnBrk="1" hangingPunct="1"/>
            <a:r>
              <a:rPr lang="zh-CN" altLang="en-US" sz="2400" dirty="0">
                <a:sym typeface="Symbol" panose="05050102010706020507" pitchFamily="18" charset="2"/>
              </a:rPr>
              <a:t>如例</a:t>
            </a:r>
            <a:r>
              <a:rPr lang="en-US" altLang="zh-CN" sz="2400" dirty="0">
                <a:sym typeface="Symbol" panose="05050102010706020507" pitchFamily="18" charset="2"/>
              </a:rPr>
              <a:t>4.39</a:t>
            </a:r>
            <a:r>
              <a:rPr lang="zh-CN" altLang="en-US" sz="2400" dirty="0">
                <a:sym typeface="Symbol" panose="05050102010706020507" pitchFamily="18" charset="2"/>
              </a:rPr>
              <a:t>，状态</a:t>
            </a:r>
            <a:r>
              <a:rPr lang="en-US" altLang="zh-CN" sz="2400" dirty="0"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sym typeface="Symbol" panose="05050102010706020507" pitchFamily="18" charset="2"/>
              </a:rPr>
              <a:t>和下一符号</a:t>
            </a:r>
            <a:r>
              <a:rPr lang="en-US" altLang="zh-CN" sz="2400" dirty="0">
                <a:sym typeface="Symbol" panose="05050102010706020507" pitchFamily="18" charset="2"/>
              </a:rPr>
              <a:t>=</a:t>
            </a:r>
            <a:r>
              <a:rPr lang="zh-CN" altLang="en-US" sz="2400" dirty="0">
                <a:sym typeface="Symbol" panose="05050102010706020507" pitchFamily="18" charset="2"/>
              </a:rPr>
              <a:t>，无法确定如何归约，但不存在句型</a:t>
            </a:r>
            <a:r>
              <a:rPr lang="en-US" altLang="zh-CN" sz="2400" dirty="0">
                <a:sym typeface="Symbol" panose="05050102010706020507" pitchFamily="18" charset="2"/>
              </a:rPr>
              <a:t>R=…</a:t>
            </a:r>
            <a:r>
              <a:rPr lang="zh-CN" altLang="en-US" sz="2400" dirty="0">
                <a:sym typeface="Symbol" panose="05050102010706020507" pitchFamily="18" charset="2"/>
              </a:rPr>
              <a:t>，状态</a:t>
            </a:r>
            <a:r>
              <a:rPr lang="en-US" altLang="zh-CN" sz="2400" dirty="0"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sym typeface="Symbol" panose="05050102010706020507" pitchFamily="18" charset="2"/>
              </a:rPr>
              <a:t>只对应活前缀‘</a:t>
            </a:r>
            <a:r>
              <a:rPr lang="en-US" altLang="zh-CN" sz="2400" dirty="0">
                <a:sym typeface="Symbol" panose="05050102010706020507" pitchFamily="18" charset="2"/>
              </a:rPr>
              <a:t>L</a:t>
            </a:r>
            <a:r>
              <a:rPr lang="zh-CN" altLang="en-US" sz="2400" dirty="0">
                <a:sym typeface="Symbol" panose="05050102010706020507" pitchFamily="18" charset="2"/>
              </a:rPr>
              <a:t>’</a:t>
            </a:r>
            <a:endParaRPr lang="en-US" altLang="zh-CN" sz="24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F5725EAF-EA82-43B7-9327-BD24761528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LR(1)</a:t>
            </a:r>
            <a:r>
              <a:rPr lang="zh-CN" altLang="en-US"/>
              <a:t>项目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4BE377F3-5FD1-4EA8-A276-DFD724B9A3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每个项目携带更多信息</a:t>
            </a:r>
          </a:p>
          <a:p>
            <a:pPr lvl="1" eaLnBrk="1" hangingPunct="1"/>
            <a:r>
              <a:rPr lang="zh-CN" altLang="en-US"/>
              <a:t>方法：分离状态</a:t>
            </a:r>
            <a:endParaRPr lang="zh-CN" altLang="en-US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>
                <a:sym typeface="Wingdings" panose="05000000000000000000" pitchFamily="2" charset="2"/>
              </a:rPr>
              <a:t>每个状态明确指出：当哪些符号接在句柄</a:t>
            </a:r>
            <a:r>
              <a:rPr lang="en-US" altLang="zh-CN">
                <a:latin typeface="Symbol" panose="05050102010706020507" pitchFamily="18" charset="2"/>
                <a:sym typeface="Wingdings" panose="05000000000000000000" pitchFamily="2" charset="2"/>
              </a:rPr>
              <a:t>a</a:t>
            </a:r>
            <a:r>
              <a:rPr lang="zh-CN" altLang="en-US">
                <a:sym typeface="Wingdings" panose="05000000000000000000" pitchFamily="2" charset="2"/>
              </a:rPr>
              <a:t>之后，才可进行</a:t>
            </a:r>
            <a:r>
              <a:rPr lang="en-US" altLang="zh-CN">
                <a:latin typeface="Symbol" panose="05050102010706020507" pitchFamily="18" charset="2"/>
                <a:sym typeface="Wingdings" panose="05000000000000000000" pitchFamily="2" charset="2"/>
              </a:rPr>
              <a:t>a</a:t>
            </a:r>
            <a:r>
              <a:rPr lang="zh-CN" altLang="en-US">
                <a:sym typeface="Wingdings" panose="05000000000000000000" pitchFamily="2" charset="2"/>
              </a:rPr>
              <a:t>到</a:t>
            </a:r>
            <a:r>
              <a:rPr lang="en-US" altLang="zh-CN">
                <a:sym typeface="Wingdings" panose="05000000000000000000" pitchFamily="2" charset="2"/>
              </a:rPr>
              <a:t>A</a:t>
            </a:r>
            <a:r>
              <a:rPr lang="zh-CN" altLang="en-US">
                <a:sym typeface="Wingdings" panose="05000000000000000000" pitchFamily="2" charset="2"/>
              </a:rPr>
              <a:t>的归约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6B10535B-D588-4B66-AFA8-1C602D48FA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LR(1)</a:t>
            </a:r>
            <a:r>
              <a:rPr lang="zh-CN" altLang="en-US"/>
              <a:t>项目</a:t>
            </a:r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552C6176-3AD5-4C80-840E-B5696BA843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37125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sym typeface="Wingdings" panose="05000000000000000000" pitchFamily="2" charset="2"/>
              </a:rPr>
              <a:t>LR(1)</a:t>
            </a:r>
            <a:r>
              <a:rPr lang="zh-CN" altLang="en-US" sz="2800" dirty="0">
                <a:sym typeface="Wingdings" panose="05000000000000000000" pitchFamily="2" charset="2"/>
              </a:rPr>
              <a:t>项目：产生式</a:t>
            </a:r>
            <a:r>
              <a:rPr lang="en-US" altLang="zh-CN" sz="2800" dirty="0">
                <a:sym typeface="Wingdings" panose="05000000000000000000" pitchFamily="2" charset="2"/>
              </a:rPr>
              <a:t>+‘·’+</a:t>
            </a:r>
            <a:r>
              <a:rPr lang="zh-CN" altLang="en-US" sz="2800" dirty="0">
                <a:sym typeface="Wingdings" panose="05000000000000000000" pitchFamily="2" charset="2"/>
              </a:rPr>
              <a:t>终结符</a:t>
            </a:r>
            <a:br>
              <a:rPr lang="zh-CN" altLang="en-US" sz="2800" dirty="0">
                <a:sym typeface="Wingdings" panose="05000000000000000000" pitchFamily="2" charset="2"/>
              </a:rPr>
            </a:br>
            <a:r>
              <a:rPr lang="zh-CN" altLang="en-US" sz="2800" dirty="0">
                <a:sym typeface="Wingdings" panose="05000000000000000000" pitchFamily="2" charset="2"/>
              </a:rPr>
              <a:t>如</a:t>
            </a:r>
            <a:r>
              <a:rPr lang="zh-CN" altLang="en-US" dirty="0"/>
              <a:t> </a:t>
            </a:r>
            <a:r>
              <a:rPr lang="en-US" altLang="zh-CN" sz="2800" dirty="0"/>
              <a:t>[S </a:t>
            </a:r>
            <a:r>
              <a:rPr lang="en-US" altLang="zh-CN" sz="2800" dirty="0">
                <a:sym typeface="Symbol" panose="05050102010706020507" pitchFamily="18" charset="2"/>
              </a:rPr>
              <a:t> </a:t>
            </a:r>
            <a:r>
              <a:rPr lang="en-US" altLang="zh-CN" sz="2800" dirty="0" err="1">
                <a:solidFill>
                  <a:schemeClr val="accent2"/>
                </a:solidFill>
                <a:sym typeface="Symbol" panose="05050102010706020507" pitchFamily="18" charset="2"/>
              </a:rPr>
              <a:t>a</a:t>
            </a:r>
            <a:r>
              <a:rPr lang="en-US" altLang="zh-CN" sz="2800" dirty="0" err="1">
                <a:sym typeface="Symbol" panose="05050102010706020507" pitchFamily="18" charset="2"/>
              </a:rPr>
              <a:t>A·B</a:t>
            </a:r>
            <a:r>
              <a:rPr lang="en-US" altLang="zh-CN" sz="2800" dirty="0" err="1">
                <a:solidFill>
                  <a:schemeClr val="accent2"/>
                </a:solidFill>
                <a:sym typeface="Symbol" panose="05050102010706020507" pitchFamily="18" charset="2"/>
              </a:rPr>
              <a:t>e</a:t>
            </a:r>
            <a:r>
              <a:rPr lang="en-US" altLang="zh-CN" sz="2800" dirty="0">
                <a:sym typeface="Symbol" panose="05050102010706020507" pitchFamily="18" charset="2"/>
              </a:rPr>
              <a:t>,</a:t>
            </a:r>
            <a:r>
              <a:rPr lang="en-US" altLang="zh-CN" sz="2800" dirty="0">
                <a:solidFill>
                  <a:schemeClr val="accent2"/>
                </a:solidFill>
                <a:sym typeface="Symbol" panose="05050102010706020507" pitchFamily="18" charset="2"/>
              </a:rPr>
              <a:t> c</a:t>
            </a:r>
            <a:r>
              <a:rPr lang="en-US" altLang="zh-CN" sz="2800" dirty="0"/>
              <a:t>]</a:t>
            </a:r>
          </a:p>
          <a:p>
            <a:pPr lvl="1" eaLnBrk="1" hangingPunct="1"/>
            <a:r>
              <a:rPr lang="zh-CN" altLang="en-US" sz="2400" dirty="0"/>
              <a:t>含义：对一个产生式</a:t>
            </a:r>
          </a:p>
          <a:p>
            <a:pPr lvl="2" eaLnBrk="1" hangingPunct="1"/>
            <a:r>
              <a:rPr lang="zh-CN" altLang="en-US" sz="2000" dirty="0"/>
              <a:t>栈中已形成句柄的哪些部分（</a:t>
            </a:r>
            <a:r>
              <a:rPr lang="en-US" altLang="zh-CN" sz="2000" dirty="0" err="1">
                <a:solidFill>
                  <a:schemeClr val="accent2"/>
                </a:solidFill>
                <a:sym typeface="Symbol" panose="05050102010706020507" pitchFamily="18" charset="2"/>
              </a:rPr>
              <a:t>a</a:t>
            </a:r>
            <a:r>
              <a:rPr lang="en-US" altLang="zh-CN" sz="2000" dirty="0" err="1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zh-CN" altLang="en-US" sz="2000" dirty="0">
                <a:sym typeface="Symbol" panose="05050102010706020507" pitchFamily="18" charset="2"/>
              </a:rPr>
              <a:t>）</a:t>
            </a:r>
            <a:r>
              <a:rPr lang="en-US" altLang="zh-CN" sz="2000" dirty="0">
                <a:sym typeface="Symbol" panose="05050102010706020507" pitchFamily="18" charset="2"/>
              </a:rPr>
              <a:t>+</a:t>
            </a:r>
          </a:p>
          <a:p>
            <a:pPr lvl="2" eaLnBrk="1" hangingPunct="1"/>
            <a:r>
              <a:rPr lang="zh-CN" altLang="en-US" sz="2000" dirty="0">
                <a:sym typeface="Symbol" panose="05050102010706020507" pitchFamily="18" charset="2"/>
              </a:rPr>
              <a:t>期待下一步构造出哪些部分（</a:t>
            </a:r>
            <a:r>
              <a:rPr lang="en-US" altLang="zh-CN" sz="2000" dirty="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n-US" altLang="zh-CN" sz="2000" dirty="0">
                <a:solidFill>
                  <a:schemeClr val="folHlink"/>
                </a:solidFill>
                <a:sym typeface="Symbol" panose="05050102010706020507" pitchFamily="18" charset="2"/>
              </a:rPr>
              <a:t>e</a:t>
            </a:r>
            <a:r>
              <a:rPr lang="zh-CN" altLang="en-US" sz="2000" dirty="0">
                <a:sym typeface="Symbol" panose="05050102010706020507" pitchFamily="18" charset="2"/>
              </a:rPr>
              <a:t>）</a:t>
            </a:r>
            <a:r>
              <a:rPr lang="en-US" altLang="zh-CN" sz="2000" dirty="0">
                <a:sym typeface="Symbol" panose="05050102010706020507" pitchFamily="18" charset="2"/>
              </a:rPr>
              <a:t>+</a:t>
            </a:r>
          </a:p>
          <a:p>
            <a:pPr lvl="2" eaLnBrk="1" hangingPunct="1"/>
            <a:r>
              <a:rPr lang="zh-CN" altLang="en-US" sz="2000" dirty="0">
                <a:sym typeface="Symbol" panose="05050102010706020507" pitchFamily="18" charset="2"/>
              </a:rPr>
              <a:t>向前搜索符</a:t>
            </a:r>
            <a:r>
              <a:rPr lang="en-US" altLang="zh-CN" sz="2000" dirty="0">
                <a:sym typeface="Symbol" panose="05050102010706020507" pitchFamily="18" charset="2"/>
              </a:rPr>
              <a:t>c</a:t>
            </a:r>
            <a:r>
              <a:rPr lang="zh-CN" altLang="en-US" sz="2000" dirty="0">
                <a:sym typeface="Symbol" panose="05050102010706020507" pitchFamily="18" charset="2"/>
              </a:rPr>
              <a:t>：当在栈顶形成句柄</a:t>
            </a:r>
            <a:r>
              <a:rPr lang="en-US" altLang="zh-CN" sz="2000" dirty="0" err="1">
                <a:solidFill>
                  <a:schemeClr val="accent2"/>
                </a:solidFill>
                <a:sym typeface="Symbol" panose="05050102010706020507" pitchFamily="18" charset="2"/>
              </a:rPr>
              <a:t>a</a:t>
            </a:r>
            <a:r>
              <a:rPr lang="en-US" altLang="zh-CN" sz="2000" dirty="0" err="1">
                <a:solidFill>
                  <a:schemeClr val="tx1"/>
                </a:solidFill>
                <a:sym typeface="Symbol" panose="05050102010706020507" pitchFamily="18" charset="2"/>
              </a:rPr>
              <a:t>AB</a:t>
            </a:r>
            <a:r>
              <a:rPr lang="en-US" altLang="zh-CN" sz="2000" dirty="0" err="1">
                <a:solidFill>
                  <a:schemeClr val="folHlink"/>
                </a:solidFill>
                <a:sym typeface="Symbol" panose="05050102010706020507" pitchFamily="18" charset="2"/>
              </a:rPr>
              <a:t>e</a:t>
            </a:r>
            <a:r>
              <a:rPr lang="zh-CN" altLang="en-US" sz="2000" dirty="0">
                <a:sym typeface="Symbol" panose="05050102010706020507" pitchFamily="18" charset="2"/>
              </a:rPr>
              <a:t>，输入缓冲区中首单词（</a:t>
            </a:r>
            <a:r>
              <a:rPr lang="zh-CN" altLang="en-US" sz="2000" dirty="0">
                <a:ea typeface="隶书" panose="02010509060101010101" pitchFamily="49" charset="-122"/>
                <a:sym typeface="Symbol" panose="05050102010706020507" pitchFamily="18" charset="2"/>
              </a:rPr>
              <a:t>跟随符号</a:t>
            </a:r>
            <a:r>
              <a:rPr lang="zh-CN" altLang="en-US" sz="2000" dirty="0">
                <a:sym typeface="Symbol" panose="05050102010706020507" pitchFamily="18" charset="2"/>
              </a:rPr>
              <a:t>）必须是</a:t>
            </a:r>
            <a:r>
              <a:rPr lang="en-US" altLang="zh-CN" sz="2000" dirty="0">
                <a:sym typeface="Symbol" panose="05050102010706020507" pitchFamily="18" charset="2"/>
              </a:rPr>
              <a:t>c</a:t>
            </a:r>
            <a:r>
              <a:rPr lang="zh-CN" altLang="en-US" sz="2000" dirty="0">
                <a:sym typeface="Symbol" panose="05050102010706020507" pitchFamily="18" charset="2"/>
              </a:rPr>
              <a:t>，才可归约为</a:t>
            </a:r>
            <a:r>
              <a:rPr lang="en-US" altLang="zh-CN" sz="2000" dirty="0"/>
              <a:t>S</a:t>
            </a:r>
            <a:endParaRPr lang="zh-CN" altLang="en-US" sz="2000" dirty="0">
              <a:sym typeface="Symbol" panose="05050102010706020507" pitchFamily="18" charset="2"/>
            </a:endParaRPr>
          </a:p>
          <a:p>
            <a:pPr lvl="2" eaLnBrk="1" hangingPunct="1"/>
            <a:r>
              <a:rPr lang="zh-CN" altLang="en-US" sz="2000" dirty="0">
                <a:sym typeface="Symbol" panose="05050102010706020507" pitchFamily="18" charset="2"/>
              </a:rPr>
              <a:t>更好的归约判定</a:t>
            </a:r>
          </a:p>
          <a:p>
            <a:pPr eaLnBrk="1" hangingPunct="1"/>
            <a:r>
              <a:rPr lang="en-US" altLang="zh-CN" sz="2800" dirty="0">
                <a:sym typeface="Symbol" panose="05050102010706020507" pitchFamily="18" charset="2"/>
              </a:rPr>
              <a:t>LR(1)</a:t>
            </a:r>
            <a:r>
              <a:rPr lang="zh-CN" altLang="en-US" sz="2800" dirty="0">
                <a:sym typeface="Symbol" panose="05050102010706020507" pitchFamily="18" charset="2"/>
              </a:rPr>
              <a:t>项目的核</a:t>
            </a:r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en-US" altLang="zh-CN" sz="2800" dirty="0">
                <a:solidFill>
                  <a:srgbClr val="FF3300"/>
                </a:solidFill>
                <a:sym typeface="Symbol" panose="05050102010706020507" pitchFamily="18" charset="2"/>
              </a:rPr>
              <a:t>core</a:t>
            </a:r>
            <a:r>
              <a:rPr lang="en-US" altLang="zh-CN" sz="2800" dirty="0">
                <a:sym typeface="Symbol" panose="05050102010706020507" pitchFamily="18" charset="2"/>
              </a:rPr>
              <a:t>)</a:t>
            </a:r>
            <a:r>
              <a:rPr lang="zh-CN" altLang="en-US" sz="2800" dirty="0">
                <a:sym typeface="Symbol" panose="05050102010706020507" pitchFamily="18" charset="2"/>
              </a:rPr>
              <a:t>：</a:t>
            </a:r>
            <a:r>
              <a:rPr lang="en-US" altLang="zh-CN" sz="2800" dirty="0">
                <a:sym typeface="Symbol" panose="05050102010706020507" pitchFamily="18" charset="2"/>
              </a:rPr>
              <a:t>LR(0)</a:t>
            </a:r>
            <a:r>
              <a:rPr lang="zh-CN" altLang="en-US" sz="2800" dirty="0">
                <a:sym typeface="Symbol" panose="05050102010706020507" pitchFamily="18" charset="2"/>
              </a:rPr>
              <a:t>项目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0B533323-03C6-4201-B1E6-B5D994F883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使用</a:t>
            </a:r>
            <a:r>
              <a:rPr lang="en-US" altLang="zh-CN"/>
              <a:t>LR(1)</a:t>
            </a:r>
            <a:r>
              <a:rPr lang="zh-CN" altLang="en-US"/>
              <a:t>项目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D71ECBCA-A780-43D1-8140-42777345E2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zh-CN" altLang="en-US" sz="2800"/>
              <a:t>只对归约起作用</a:t>
            </a:r>
          </a:p>
          <a:p>
            <a:pPr marL="990600" lvl="1" indent="-533400" eaLnBrk="1" hangingPunct="1"/>
            <a:r>
              <a:rPr lang="zh-CN" altLang="en-US" sz="2400"/>
              <a:t>当状态</a:t>
            </a:r>
            <a:r>
              <a:rPr lang="en-US" altLang="zh-CN" sz="2400"/>
              <a:t>i</a:t>
            </a:r>
            <a:r>
              <a:rPr lang="zh-CN" altLang="en-US" sz="2400"/>
              <a:t>在栈顶，</a:t>
            </a:r>
            <a:r>
              <a:rPr lang="en-US" altLang="zh-CN" sz="2400"/>
              <a:t>a</a:t>
            </a:r>
            <a:r>
              <a:rPr lang="zh-CN" altLang="en-US" sz="2400"/>
              <a:t>为下一输入符号</a:t>
            </a:r>
          </a:p>
          <a:p>
            <a:pPr marL="990600" lvl="1" indent="-533400" eaLnBrk="1" hangingPunct="1"/>
            <a:r>
              <a:rPr lang="zh-CN" altLang="en-US" sz="2400"/>
              <a:t>仅当</a:t>
            </a:r>
            <a:r>
              <a:rPr lang="en-US" altLang="zh-CN" sz="2400"/>
              <a:t>[A</a:t>
            </a:r>
            <a:r>
              <a:rPr lang="en-US" altLang="zh-CN" sz="2400">
                <a:sym typeface="Symbol" panose="05050102010706020507" pitchFamily="18" charset="2"/>
              </a:rPr>
              <a:t>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zh-CN" sz="2400">
                <a:sym typeface="Symbol" panose="05050102010706020507" pitchFamily="18" charset="2"/>
              </a:rPr>
              <a:t>·,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400">
                <a:sym typeface="Symbol" panose="05050102010706020507" pitchFamily="18" charset="2"/>
              </a:rPr>
              <a:t>a</a:t>
            </a:r>
            <a:r>
              <a:rPr lang="en-US" altLang="zh-CN" sz="2400"/>
              <a:t>]</a:t>
            </a:r>
            <a:r>
              <a:rPr lang="en-US" altLang="zh-CN" sz="2400">
                <a:latin typeface="宋体" panose="02010600030101010101" pitchFamily="2" charset="-122"/>
              </a:rPr>
              <a:t>∈</a:t>
            </a:r>
            <a:r>
              <a:rPr lang="en-US" altLang="zh-CN" sz="2400"/>
              <a:t>I</a:t>
            </a:r>
            <a:r>
              <a:rPr lang="en-US" altLang="zh-CN" sz="2400" baseline="-25000"/>
              <a:t>i</a:t>
            </a:r>
            <a:r>
              <a:rPr lang="zh-CN" altLang="en-US" sz="2400"/>
              <a:t>，才进行</a:t>
            </a:r>
            <a:r>
              <a:rPr lang="en-US" altLang="zh-CN" sz="2400"/>
              <a:t>A</a:t>
            </a:r>
            <a:r>
              <a:rPr lang="en-US" altLang="zh-CN" sz="2400">
                <a:sym typeface="Symbol" panose="05050102010706020507" pitchFamily="18" charset="2"/>
              </a:rPr>
              <a:t>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zh-CN" altLang="en-US" sz="2400">
                <a:sym typeface="Symbol" panose="05050102010706020507" pitchFamily="18" charset="2"/>
              </a:rPr>
              <a:t>归约</a:t>
            </a:r>
          </a:p>
          <a:p>
            <a:pPr marL="990600" lvl="1" indent="-533400" eaLnBrk="1" hangingPunct="1"/>
            <a:r>
              <a:rPr lang="en-US" altLang="zh-CN" sz="2400"/>
              <a:t>[A</a:t>
            </a:r>
            <a:r>
              <a:rPr lang="en-US" altLang="zh-CN" sz="2400">
                <a:sym typeface="Symbol" panose="05050102010706020507" pitchFamily="18" charset="2"/>
              </a:rPr>
              <a:t>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zh-CN" sz="2400">
                <a:sym typeface="Symbol" panose="05050102010706020507" pitchFamily="18" charset="2"/>
              </a:rPr>
              <a:t>·, b</a:t>
            </a:r>
            <a:r>
              <a:rPr lang="en-US" altLang="zh-CN" sz="2400"/>
              <a:t>]</a:t>
            </a:r>
            <a:r>
              <a:rPr lang="zh-CN" altLang="en-US" sz="2400"/>
              <a:t>不能指示此情况进行归约</a:t>
            </a:r>
          </a:p>
          <a:p>
            <a:pPr marL="609600" indent="-609600" eaLnBrk="1" hangingPunct="1"/>
            <a:r>
              <a:rPr lang="zh-CN" altLang="en-US" sz="2800"/>
              <a:t>有效的概念发生改变</a:t>
            </a:r>
          </a:p>
          <a:p>
            <a:pPr marL="990600" lvl="1" indent="-533400" eaLnBrk="1" hangingPunct="1"/>
            <a:r>
              <a:rPr lang="en-US" altLang="zh-CN" sz="2400"/>
              <a:t>[A</a:t>
            </a:r>
            <a:r>
              <a:rPr lang="en-US" altLang="zh-CN" sz="2400">
                <a:sym typeface="Symbol" panose="05050102010706020507" pitchFamily="18" charset="2"/>
              </a:rPr>
              <a:t>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zh-CN" sz="2400">
                <a:sym typeface="Symbol" panose="05050102010706020507" pitchFamily="18" charset="2"/>
              </a:rPr>
              <a:t>·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zh-CN" sz="2400">
                <a:sym typeface="Symbol" panose="05050102010706020507" pitchFamily="18" charset="2"/>
              </a:rPr>
              <a:t>,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400">
                <a:sym typeface="Symbol" panose="05050102010706020507" pitchFamily="18" charset="2"/>
              </a:rPr>
              <a:t>a</a:t>
            </a:r>
            <a:r>
              <a:rPr lang="en-US" altLang="zh-CN" sz="2400"/>
              <a:t>]</a:t>
            </a:r>
            <a:r>
              <a:rPr lang="zh-CN" altLang="en-US" sz="2400"/>
              <a:t>对活前缀</a:t>
            </a:r>
            <a:r>
              <a:rPr lang="en-US" altLang="zh-CN" sz="2400">
                <a:latin typeface="Symbol" panose="05050102010706020507" pitchFamily="18" charset="2"/>
              </a:rPr>
              <a:t>g</a:t>
            </a:r>
            <a:r>
              <a:rPr lang="zh-CN" altLang="en-US" sz="2400"/>
              <a:t>有效，仅当存在推导</a:t>
            </a:r>
            <a:r>
              <a:rPr kumimoji="0" lang="en-US" altLang="zh-CN" sz="2400"/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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kumimoji="0" lang="en-US" altLang="zh-CN" sz="2400">
                <a:sym typeface="Symbol" panose="05050102010706020507" pitchFamily="18" charset="2"/>
              </a:rPr>
              <a:t>Aw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da</a:t>
            </a:r>
            <a:r>
              <a:rPr lang="en-US" altLang="zh-CN" sz="2400">
                <a:sym typeface="Symbol" panose="05050102010706020507" pitchFamily="18" charset="2"/>
              </a:rPr>
              <a:t></a:t>
            </a:r>
            <a:r>
              <a:rPr kumimoji="0" lang="en-US" altLang="zh-CN" sz="2400">
                <a:sym typeface="Symbol" panose="05050102010706020507" pitchFamily="18" charset="2"/>
              </a:rPr>
              <a:t>w</a:t>
            </a:r>
            <a:r>
              <a:rPr kumimoji="0" lang="zh-CN" altLang="en-US" sz="2400">
                <a:sym typeface="Symbol" panose="05050102010706020507" pitchFamily="18" charset="2"/>
              </a:rPr>
              <a:t>，其中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rabicPeriod"/>
            </a:pPr>
            <a:r>
              <a:rPr kumimoji="0" lang="en-US" altLang="zh-CN" sz="200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kumimoji="0" lang="en-US" altLang="zh-CN" sz="2000">
                <a:sym typeface="Symbol" panose="05050102010706020507" pitchFamily="18" charset="2"/>
              </a:rPr>
              <a:t>=</a:t>
            </a:r>
            <a:r>
              <a:rPr kumimoji="0" lang="en-US" altLang="zh-CN" sz="2000">
                <a:latin typeface="Symbol" panose="05050102010706020507" pitchFamily="18" charset="2"/>
                <a:sym typeface="Symbol" panose="05050102010706020507" pitchFamily="18" charset="2"/>
              </a:rPr>
              <a:t>da</a:t>
            </a:r>
            <a:r>
              <a:rPr kumimoji="0" lang="zh-CN" altLang="en-US" sz="2000">
                <a:sym typeface="Symbol" panose="05050102010706020507" pitchFamily="18" charset="2"/>
              </a:rPr>
              <a:t>，且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rabicPeriod"/>
            </a:pPr>
            <a:r>
              <a:rPr kumimoji="0" lang="en-US" altLang="zh-CN" sz="2000">
                <a:sym typeface="Symbol" panose="05050102010706020507" pitchFamily="18" charset="2"/>
              </a:rPr>
              <a:t>a</a:t>
            </a:r>
            <a:r>
              <a:rPr kumimoji="0" lang="zh-CN" altLang="en-US" sz="2000">
                <a:sym typeface="Symbol" panose="05050102010706020507" pitchFamily="18" charset="2"/>
              </a:rPr>
              <a:t>为</a:t>
            </a:r>
            <a:r>
              <a:rPr kumimoji="0" lang="en-US" altLang="zh-CN" sz="2000">
                <a:sym typeface="Symbol" panose="05050102010706020507" pitchFamily="18" charset="2"/>
              </a:rPr>
              <a:t>w</a:t>
            </a:r>
            <a:r>
              <a:rPr kumimoji="0" lang="zh-CN" altLang="en-US" sz="2000">
                <a:sym typeface="Symbol" panose="05050102010706020507" pitchFamily="18" charset="2"/>
              </a:rPr>
              <a:t>的第一个符号，或</a:t>
            </a:r>
            <a:r>
              <a:rPr kumimoji="0" lang="en-US" altLang="zh-CN" sz="2000">
                <a:sym typeface="Symbol" panose="05050102010706020507" pitchFamily="18" charset="2"/>
              </a:rPr>
              <a:t>w</a:t>
            </a:r>
            <a:r>
              <a:rPr kumimoji="0" lang="zh-CN" altLang="en-US" sz="2000">
                <a:sym typeface="Symbol" panose="05050102010706020507" pitchFamily="18" charset="2"/>
              </a:rPr>
              <a:t>为</a:t>
            </a:r>
            <a:r>
              <a:rPr kumimoji="0" lang="en-US" altLang="zh-CN" sz="20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sz="2000">
                <a:sym typeface="Symbol" panose="05050102010706020507" pitchFamily="18" charset="2"/>
              </a:rPr>
              <a:t>且</a:t>
            </a:r>
            <a:r>
              <a:rPr kumimoji="0" lang="en-US" altLang="zh-CN" sz="2000">
                <a:sym typeface="Symbol" panose="05050102010706020507" pitchFamily="18" charset="2"/>
              </a:rPr>
              <a:t>a</a:t>
            </a:r>
            <a:r>
              <a:rPr kumimoji="0" lang="zh-CN" altLang="en-US" sz="2000">
                <a:sym typeface="Symbol" panose="05050102010706020507" pitchFamily="18" charset="2"/>
              </a:rPr>
              <a:t>为</a:t>
            </a:r>
            <a:r>
              <a:rPr kumimoji="0" lang="en-US" altLang="zh-CN" sz="2000">
                <a:sym typeface="Symbol" panose="05050102010706020507" pitchFamily="18" charset="2"/>
              </a:rPr>
              <a:t>$</a:t>
            </a:r>
          </a:p>
        </p:txBody>
      </p:sp>
      <p:sp>
        <p:nvSpPr>
          <p:cNvPr id="98308" name="Rectangle 4">
            <a:extLst>
              <a:ext uri="{FF2B5EF4-FFF2-40B4-BE49-F238E27FC236}">
                <a16:creationId xmlns:a16="http://schemas.microsoft.com/office/drawing/2014/main" id="{6296E56F-11E9-4CD4-82E8-BCC11B033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9988" y="40528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/>
              <a:t>*</a:t>
            </a:r>
          </a:p>
        </p:txBody>
      </p:sp>
      <p:sp>
        <p:nvSpPr>
          <p:cNvPr id="98309" name="Rectangle 5">
            <a:extLst>
              <a:ext uri="{FF2B5EF4-FFF2-40B4-BE49-F238E27FC236}">
                <a16:creationId xmlns:a16="http://schemas.microsoft.com/office/drawing/2014/main" id="{8857BF19-24D0-41B6-A6BA-FC4582E59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4281488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/>
              <a:t>rm</a:t>
            </a:r>
          </a:p>
        </p:txBody>
      </p:sp>
      <p:sp>
        <p:nvSpPr>
          <p:cNvPr id="98310" name="Rectangle 6">
            <a:extLst>
              <a:ext uri="{FF2B5EF4-FFF2-40B4-BE49-F238E27FC236}">
                <a16:creationId xmlns:a16="http://schemas.microsoft.com/office/drawing/2014/main" id="{158AED58-85B9-4280-B72E-898493098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9450" y="4281488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/>
              <a:t>rm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C14EC084-0C78-4B37-810D-8B1BBCBEB4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4.41</a:t>
            </a: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46802338-36BC-4722-B87B-5248DC294B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S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BB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BaB | b</a:t>
            </a:r>
            <a:endParaRPr lang="en-US" altLang="zh-CN"/>
          </a:p>
          <a:p>
            <a:pPr eaLnBrk="1" hangingPunct="1"/>
            <a:r>
              <a:rPr lang="zh-CN" altLang="en-US"/>
              <a:t>存在最右推导</a:t>
            </a:r>
            <a:r>
              <a:rPr kumimoji="0" lang="en-US" altLang="zh-CN"/>
              <a:t>S</a:t>
            </a:r>
            <a:r>
              <a:rPr kumimoji="0" lang="en-US" altLang="zh-CN">
                <a:sym typeface="Symbol" panose="05050102010706020507" pitchFamily="18" charset="2"/>
              </a:rPr>
              <a:t>aa</a:t>
            </a:r>
            <a:r>
              <a:rPr kumimoji="0" lang="en-US" altLang="zh-CN">
                <a:solidFill>
                  <a:schemeClr val="hlink"/>
                </a:solidFill>
                <a:sym typeface="Symbol" panose="05050102010706020507" pitchFamily="18" charset="2"/>
              </a:rPr>
              <a:t>B</a:t>
            </a:r>
            <a:r>
              <a:rPr kumimoji="0" lang="en-US" altLang="zh-CN">
                <a:sym typeface="Symbol" panose="05050102010706020507" pitchFamily="18" charset="2"/>
              </a:rPr>
              <a:t>abaa</a:t>
            </a:r>
            <a:r>
              <a:rPr kumimoji="0" lang="en-US" altLang="zh-CN">
                <a:solidFill>
                  <a:schemeClr val="hlink"/>
                </a:solidFill>
                <a:sym typeface="Symbol" panose="05050102010706020507" pitchFamily="18" charset="2"/>
              </a:rPr>
              <a:t>aB</a:t>
            </a:r>
            <a:r>
              <a:rPr kumimoji="0" lang="en-US" altLang="zh-CN">
                <a:sym typeface="Symbol" panose="05050102010706020507" pitchFamily="18" charset="2"/>
              </a:rPr>
              <a:t>ab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zh-CN" altLang="en-US">
                <a:sym typeface="Symbol" panose="05050102010706020507" pitchFamily="18" charset="2"/>
              </a:rPr>
              <a:t>令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kumimoji="0" lang="en-US" altLang="zh-CN">
                <a:sym typeface="Symbol" panose="05050102010706020507" pitchFamily="18" charset="2"/>
              </a:rPr>
              <a:t>=aaa</a:t>
            </a:r>
            <a:r>
              <a:rPr kumimoji="0" lang="zh-CN" altLang="en-US">
                <a:sym typeface="Symbol" panose="05050102010706020507" pitchFamily="18" charset="2"/>
              </a:rPr>
              <a:t>，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kumimoji="0" lang="en-US" altLang="zh-CN">
                <a:sym typeface="Symbol" panose="05050102010706020507" pitchFamily="18" charset="2"/>
              </a:rPr>
              <a:t>=aa</a:t>
            </a:r>
            <a:r>
              <a:rPr kumimoji="0" lang="zh-CN" altLang="en-US">
                <a:sym typeface="Symbol" panose="05050102010706020507" pitchFamily="18" charset="2"/>
              </a:rPr>
              <a:t>，</a:t>
            </a:r>
            <a:r>
              <a:rPr kumimoji="0" lang="en-US" altLang="zh-CN">
                <a:sym typeface="Symbol" panose="05050102010706020507" pitchFamily="18" charset="2"/>
              </a:rPr>
              <a:t>A=B</a:t>
            </a:r>
            <a:r>
              <a:rPr kumimoji="0" lang="zh-CN" altLang="en-US">
                <a:sym typeface="Symbol" panose="05050102010706020507" pitchFamily="18" charset="2"/>
              </a:rPr>
              <a:t>，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kumimoji="0" lang="en-US" altLang="zh-CN">
                <a:sym typeface="Symbol" panose="05050102010706020507" pitchFamily="18" charset="2"/>
              </a:rPr>
              <a:t>=a</a:t>
            </a:r>
            <a:r>
              <a:rPr kumimoji="0" lang="zh-CN" altLang="en-US">
                <a:sym typeface="Symbol" panose="05050102010706020507" pitchFamily="18" charset="2"/>
              </a:rPr>
              <a:t>，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kumimoji="0" lang="en-US" altLang="zh-CN">
                <a:sym typeface="Symbol" panose="05050102010706020507" pitchFamily="18" charset="2"/>
              </a:rPr>
              <a:t>=B</a:t>
            </a:r>
            <a:r>
              <a:rPr kumimoji="0" lang="zh-CN" altLang="en-US">
                <a:sym typeface="Symbol" panose="05050102010706020507" pitchFamily="18" charset="2"/>
              </a:rPr>
              <a:t>，</a:t>
            </a:r>
            <a:r>
              <a:rPr kumimoji="0" lang="en-US" altLang="zh-CN">
                <a:sym typeface="Symbol" panose="05050102010706020507" pitchFamily="18" charset="2"/>
              </a:rPr>
              <a:t>w=ab</a:t>
            </a:r>
            <a:r>
              <a:rPr kumimoji="0" lang="zh-CN" altLang="en-US">
                <a:sym typeface="Symbol" panose="05050102010706020507" pitchFamily="18" charset="2"/>
              </a:rPr>
              <a:t>，则</a:t>
            </a:r>
            <a:r>
              <a:rPr lang="en-US" altLang="zh-CN"/>
              <a:t>[B</a:t>
            </a:r>
            <a:r>
              <a:rPr lang="en-US" altLang="zh-CN">
                <a:sym typeface="Symbol" panose="05050102010706020507" pitchFamily="18" charset="2"/>
              </a:rPr>
              <a:t>a·B,</a:t>
            </a:r>
            <a:r>
              <a:rPr lang="en-US" altLang="zh-CN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>
                <a:sym typeface="Symbol" panose="05050102010706020507" pitchFamily="18" charset="2"/>
              </a:rPr>
              <a:t>a</a:t>
            </a:r>
            <a:r>
              <a:rPr lang="en-US" altLang="zh-CN"/>
              <a:t>]</a:t>
            </a:r>
            <a:r>
              <a:rPr lang="zh-CN" altLang="en-US"/>
              <a:t>对活前缀</a:t>
            </a:r>
            <a:r>
              <a:rPr lang="en-US" altLang="zh-CN"/>
              <a:t>aaa</a:t>
            </a:r>
            <a:r>
              <a:rPr lang="zh-CN" altLang="en-US"/>
              <a:t>有效</a:t>
            </a:r>
          </a:p>
          <a:p>
            <a:pPr eaLnBrk="1" hangingPunct="1"/>
            <a:r>
              <a:rPr lang="zh-CN" altLang="en-US"/>
              <a:t>另存在最右推导</a:t>
            </a:r>
            <a:r>
              <a:rPr kumimoji="0" lang="en-US" altLang="zh-CN"/>
              <a:t>S</a:t>
            </a:r>
            <a:r>
              <a:rPr kumimoji="0" lang="en-US" altLang="zh-CN">
                <a:sym typeface="Symbol" panose="05050102010706020507" pitchFamily="18" charset="2"/>
              </a:rPr>
              <a:t>Ba</a:t>
            </a:r>
            <a:r>
              <a:rPr kumimoji="0" lang="en-US" altLang="zh-CN">
                <a:solidFill>
                  <a:schemeClr val="hlink"/>
                </a:solidFill>
                <a:sym typeface="Symbol" panose="05050102010706020507" pitchFamily="18" charset="2"/>
              </a:rPr>
              <a:t>B</a:t>
            </a:r>
            <a:r>
              <a:rPr kumimoji="0" lang="en-US" altLang="zh-CN">
                <a:sym typeface="Symbol" panose="05050102010706020507" pitchFamily="18" charset="2"/>
              </a:rPr>
              <a:t>Ba</a:t>
            </a:r>
            <a:r>
              <a:rPr kumimoji="0" lang="en-US" altLang="zh-CN">
                <a:solidFill>
                  <a:schemeClr val="hlink"/>
                </a:solidFill>
                <a:sym typeface="Symbol" panose="05050102010706020507" pitchFamily="18" charset="2"/>
              </a:rPr>
              <a:t>aB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[B</a:t>
            </a:r>
            <a:r>
              <a:rPr lang="en-US" altLang="zh-CN">
                <a:sym typeface="Symbol" panose="05050102010706020507" pitchFamily="18" charset="2"/>
              </a:rPr>
              <a:t>a·B,</a:t>
            </a:r>
            <a:r>
              <a:rPr lang="en-US" altLang="zh-CN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>
                <a:sym typeface="Symbol" panose="05050102010706020507" pitchFamily="18" charset="2"/>
              </a:rPr>
              <a:t>$</a:t>
            </a:r>
            <a:r>
              <a:rPr lang="en-US" altLang="zh-CN"/>
              <a:t>]</a:t>
            </a:r>
            <a:r>
              <a:rPr lang="zh-CN" altLang="en-US"/>
              <a:t>对活前缀</a:t>
            </a:r>
            <a:r>
              <a:rPr lang="en-US" altLang="zh-CN"/>
              <a:t>Baa</a:t>
            </a:r>
            <a:r>
              <a:rPr lang="zh-CN" altLang="en-US"/>
              <a:t>是有效的</a:t>
            </a:r>
          </a:p>
        </p:txBody>
      </p:sp>
      <p:sp>
        <p:nvSpPr>
          <p:cNvPr id="99332" name="Rectangle 4">
            <a:extLst>
              <a:ext uri="{FF2B5EF4-FFF2-40B4-BE49-F238E27FC236}">
                <a16:creationId xmlns:a16="http://schemas.microsoft.com/office/drawing/2014/main" id="{8CC5E04D-EBFB-4414-B268-A91A08139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25908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*</a:t>
            </a:r>
          </a:p>
        </p:txBody>
      </p:sp>
      <p:sp>
        <p:nvSpPr>
          <p:cNvPr id="99333" name="Rectangle 5">
            <a:extLst>
              <a:ext uri="{FF2B5EF4-FFF2-40B4-BE49-F238E27FC236}">
                <a16:creationId xmlns:a16="http://schemas.microsoft.com/office/drawing/2014/main" id="{071E7C13-84B0-4D94-9B8B-79E5280D3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9413" y="2803525"/>
            <a:ext cx="465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</a:p>
        </p:txBody>
      </p:sp>
      <p:sp>
        <p:nvSpPr>
          <p:cNvPr id="99334" name="Rectangle 6">
            <a:extLst>
              <a:ext uri="{FF2B5EF4-FFF2-40B4-BE49-F238E27FC236}">
                <a16:creationId xmlns:a16="http://schemas.microsoft.com/office/drawing/2014/main" id="{B09582D4-79CC-4E25-BF31-F83063230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2288" y="2803525"/>
            <a:ext cx="465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</a:p>
        </p:txBody>
      </p:sp>
      <p:sp>
        <p:nvSpPr>
          <p:cNvPr id="99335" name="Rectangle 7">
            <a:extLst>
              <a:ext uri="{FF2B5EF4-FFF2-40B4-BE49-F238E27FC236}">
                <a16:creationId xmlns:a16="http://schemas.microsoft.com/office/drawing/2014/main" id="{A95779BF-824D-4A84-BA1D-71F580218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6775" y="42672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*</a:t>
            </a:r>
          </a:p>
        </p:txBody>
      </p:sp>
      <p:sp>
        <p:nvSpPr>
          <p:cNvPr id="99336" name="Rectangle 8">
            <a:extLst>
              <a:ext uri="{FF2B5EF4-FFF2-40B4-BE49-F238E27FC236}">
                <a16:creationId xmlns:a16="http://schemas.microsoft.com/office/drawing/2014/main" id="{6C9CB0B8-4C8D-42B3-A9B3-3D9E90B0E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8988" y="4479925"/>
            <a:ext cx="465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</a:p>
        </p:txBody>
      </p:sp>
      <p:sp>
        <p:nvSpPr>
          <p:cNvPr id="99337" name="Rectangle 9">
            <a:extLst>
              <a:ext uri="{FF2B5EF4-FFF2-40B4-BE49-F238E27FC236}">
                <a16:creationId xmlns:a16="http://schemas.microsoft.com/office/drawing/2014/main" id="{67B028A5-EF7A-485E-AA79-C32D68DE3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479925"/>
            <a:ext cx="465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DA282B88-DAC9-4536-B776-FD4C7AEC02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构造</a:t>
            </a:r>
            <a:r>
              <a:rPr lang="en-US" altLang="zh-CN"/>
              <a:t>LR(1)</a:t>
            </a:r>
            <a:r>
              <a:rPr lang="zh-CN" altLang="en-US"/>
              <a:t>项目集规范族</a:t>
            </a: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9104A7EB-64A8-4216-99B7-C257A3DD1B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基本方法与</a:t>
            </a:r>
            <a:r>
              <a:rPr lang="en-US" altLang="zh-CN" sz="2800"/>
              <a:t>LR(0)</a:t>
            </a:r>
            <a:r>
              <a:rPr lang="zh-CN" altLang="en-US" sz="2800"/>
              <a:t>项目集规范族构造类似</a:t>
            </a:r>
          </a:p>
          <a:p>
            <a:pPr eaLnBrk="1" hangingPunct="1"/>
            <a:r>
              <a:rPr lang="en-US" altLang="zh-CN" sz="2800"/>
              <a:t>closure</a:t>
            </a:r>
            <a:r>
              <a:rPr lang="zh-CN" altLang="en-US" sz="2800"/>
              <a:t>、</a:t>
            </a:r>
            <a:r>
              <a:rPr lang="en-US" altLang="zh-CN" sz="2800"/>
              <a:t>goto</a:t>
            </a:r>
            <a:r>
              <a:rPr lang="zh-CN" altLang="en-US" sz="2800"/>
              <a:t>的计算有变化</a:t>
            </a:r>
          </a:p>
          <a:p>
            <a:pPr lvl="1" eaLnBrk="1" hangingPunct="1"/>
            <a:r>
              <a:rPr lang="en-US" altLang="zh-CN" sz="2400"/>
              <a:t>[A</a:t>
            </a:r>
            <a:r>
              <a:rPr lang="en-US" altLang="zh-CN" sz="2400">
                <a:sym typeface="Symbol" panose="05050102010706020507" pitchFamily="18" charset="2"/>
              </a:rPr>
              <a:t>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zh-CN" sz="2400">
                <a:sym typeface="Symbol" panose="05050102010706020507" pitchFamily="18" charset="2"/>
              </a:rPr>
              <a:t>·B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zh-CN" sz="2400">
                <a:sym typeface="Symbol" panose="05050102010706020507" pitchFamily="18" charset="2"/>
              </a:rPr>
              <a:t>,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400">
                <a:sym typeface="Symbol" panose="05050102010706020507" pitchFamily="18" charset="2"/>
              </a:rPr>
              <a:t>a</a:t>
            </a:r>
            <a:r>
              <a:rPr lang="en-US" altLang="zh-CN" sz="2400"/>
              <a:t>]</a:t>
            </a:r>
            <a:r>
              <a:rPr lang="zh-CN" altLang="en-US" sz="2400"/>
              <a:t>在项目集中，项目集对活前缀</a:t>
            </a:r>
            <a:r>
              <a:rPr lang="en-US" altLang="zh-CN" sz="2400">
                <a:latin typeface="Symbol" panose="05050102010706020507" pitchFamily="18" charset="2"/>
              </a:rPr>
              <a:t>g</a:t>
            </a:r>
            <a:r>
              <a:rPr lang="zh-CN" altLang="en-US" sz="2400"/>
              <a:t>有效，则存在最右推导</a:t>
            </a:r>
            <a:r>
              <a:rPr kumimoji="0" lang="en-US" altLang="zh-CN" sz="2400"/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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kumimoji="0" lang="en-US" altLang="zh-CN" sz="2400">
                <a:solidFill>
                  <a:schemeClr val="hlink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400">
                <a:sym typeface="Symbol" panose="05050102010706020507" pitchFamily="18" charset="2"/>
              </a:rPr>
              <a:t>ax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kumimoji="0" lang="en-US" altLang="zh-CN" sz="2400">
                <a:solidFill>
                  <a:schemeClr val="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aB</a:t>
            </a:r>
            <a:r>
              <a:rPr lang="en-US" altLang="zh-CN" sz="2400">
                <a:solidFill>
                  <a:schemeClr val="hlink"/>
                </a:solidFill>
                <a:sym typeface="Symbol" panose="05050102010706020507" pitchFamily="18" charset="2"/>
              </a:rPr>
              <a:t></a:t>
            </a:r>
            <a:r>
              <a:rPr lang="en-US" altLang="zh-CN" sz="2400">
                <a:sym typeface="Symbol" panose="05050102010706020507" pitchFamily="18" charset="2"/>
              </a:rPr>
              <a:t>ax</a:t>
            </a:r>
            <a:r>
              <a:rPr lang="zh-CN" altLang="en-US" sz="2400">
                <a:sym typeface="Symbol" panose="05050102010706020507" pitchFamily="18" charset="2"/>
              </a:rPr>
              <a:t>，其中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zh-CN" sz="2400">
                <a:sym typeface="Symbol" panose="05050102010706020507" pitchFamily="18" charset="2"/>
              </a:rPr>
              <a:t>=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da</a:t>
            </a:r>
          </a:p>
          <a:p>
            <a:pPr lvl="1" eaLnBrk="1" hangingPunct="1"/>
            <a:r>
              <a:rPr kumimoji="0" lang="zh-CN" altLang="en-US" sz="2400">
                <a:latin typeface="Symbol" panose="05050102010706020507" pitchFamily="18" charset="2"/>
                <a:sym typeface="Symbol" panose="05050102010706020507" pitchFamily="18" charset="2"/>
              </a:rPr>
              <a:t>假定</a:t>
            </a:r>
            <a:r>
              <a:rPr lang="zh-CN" altLang="en-US" sz="2400">
                <a:sym typeface="Symbol" panose="05050102010706020507" pitchFamily="18" charset="2"/>
              </a:rPr>
              <a:t></a:t>
            </a:r>
            <a:r>
              <a:rPr lang="en-US" altLang="zh-CN" sz="2400">
                <a:sym typeface="Symbol" panose="05050102010706020507" pitchFamily="18" charset="2"/>
              </a:rPr>
              <a:t>ax</a:t>
            </a:r>
            <a:r>
              <a:rPr kumimoji="0" lang="en-US" altLang="zh-CN" sz="2400">
                <a:sym typeface="Symbol" panose="05050102010706020507" pitchFamily="18" charset="2"/>
              </a:rPr>
              <a:t>by</a:t>
            </a:r>
            <a:r>
              <a:rPr kumimoji="0" lang="zh-CN" altLang="en-US" sz="2400">
                <a:sym typeface="Symbol" panose="05050102010706020507" pitchFamily="18" charset="2"/>
              </a:rPr>
              <a:t>，则对产生式</a:t>
            </a:r>
            <a:r>
              <a:rPr kumimoji="0" lang="en-US" altLang="zh-CN" sz="2400">
                <a:sym typeface="Symbol" panose="05050102010706020507" pitchFamily="18" charset="2"/>
              </a:rPr>
              <a:t>B</a:t>
            </a:r>
            <a:r>
              <a:rPr lang="en-US" altLang="zh-CN" sz="2400">
                <a:sym typeface="Symbol" panose="05050102010706020507" pitchFamily="18" charset="2"/>
              </a:rPr>
              <a:t>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h</a:t>
            </a:r>
            <a:r>
              <a:rPr lang="zh-CN" altLang="en-US" sz="2400">
                <a:sym typeface="Symbol" panose="05050102010706020507" pitchFamily="18" charset="2"/>
              </a:rPr>
              <a:t>，存在最右推导</a:t>
            </a:r>
            <a:r>
              <a:rPr kumimoji="0" lang="en-US" altLang="zh-CN" sz="2400"/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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kumimoji="0" lang="en-US" altLang="zh-CN" sz="2400">
                <a:solidFill>
                  <a:schemeClr val="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kumimoji="0" lang="en-US" altLang="zh-CN" sz="2400">
                <a:sym typeface="Symbol" panose="05050102010706020507" pitchFamily="18" charset="2"/>
              </a:rPr>
              <a:t>by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kumimoji="0" lang="en-US" altLang="zh-CN" sz="2400">
                <a:solidFill>
                  <a:schemeClr val="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h</a:t>
            </a:r>
            <a:r>
              <a:rPr kumimoji="0" lang="en-US" altLang="zh-CN" sz="2400">
                <a:sym typeface="Symbol" panose="05050102010706020507" pitchFamily="18" charset="2"/>
              </a:rPr>
              <a:t>by</a:t>
            </a:r>
            <a:r>
              <a:rPr kumimoji="0" lang="zh-CN" altLang="en-US" sz="2400">
                <a:sym typeface="Symbol" panose="05050102010706020507" pitchFamily="18" charset="2"/>
              </a:rPr>
              <a:t>，则</a:t>
            </a:r>
            <a:r>
              <a:rPr lang="en-US" altLang="zh-CN" sz="2400"/>
              <a:t>[B</a:t>
            </a:r>
            <a:r>
              <a:rPr lang="en-US" altLang="zh-CN" sz="2400">
                <a:sym typeface="Symbol" panose="05050102010706020507" pitchFamily="18" charset="2"/>
              </a:rPr>
              <a:t>·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h</a:t>
            </a:r>
            <a:r>
              <a:rPr lang="en-US" altLang="zh-CN" sz="2400">
                <a:sym typeface="Symbol" panose="05050102010706020507" pitchFamily="18" charset="2"/>
              </a:rPr>
              <a:t>,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b</a:t>
            </a:r>
            <a:r>
              <a:rPr lang="en-US" altLang="zh-CN" sz="2400"/>
              <a:t>]</a:t>
            </a:r>
            <a:r>
              <a:rPr lang="zh-CN" altLang="en-US" sz="2400"/>
              <a:t>对</a:t>
            </a:r>
            <a:r>
              <a:rPr lang="en-US" altLang="zh-CN" sz="2400">
                <a:latin typeface="Symbol" panose="05050102010706020507" pitchFamily="18" charset="2"/>
              </a:rPr>
              <a:t>g</a:t>
            </a:r>
            <a:r>
              <a:rPr lang="zh-CN" altLang="en-US" sz="2400"/>
              <a:t>有效</a:t>
            </a:r>
          </a:p>
          <a:p>
            <a:pPr lvl="1" eaLnBrk="1" hangingPunct="1"/>
            <a:r>
              <a:rPr lang="zh-CN" altLang="en-US" sz="2400"/>
              <a:t>因此，对</a:t>
            </a:r>
            <a:r>
              <a:rPr lang="en-US" altLang="zh-CN" sz="2400"/>
              <a:t>FIRST(</a:t>
            </a:r>
            <a:r>
              <a:rPr lang="en-US" altLang="zh-CN" sz="2400">
                <a:sym typeface="Symbol" panose="05050102010706020507" pitchFamily="18" charset="2"/>
              </a:rPr>
              <a:t>a)</a:t>
            </a:r>
            <a:r>
              <a:rPr lang="zh-CN" altLang="en-US" sz="2400">
                <a:sym typeface="Symbol" panose="05050102010706020507" pitchFamily="18" charset="2"/>
              </a:rPr>
              <a:t>中所有终结符</a:t>
            </a:r>
            <a:r>
              <a:rPr lang="en-US" altLang="zh-CN" sz="2400">
                <a:sym typeface="Symbol" panose="05050102010706020507" pitchFamily="18" charset="2"/>
              </a:rPr>
              <a:t>b</a:t>
            </a:r>
            <a:r>
              <a:rPr lang="zh-CN" altLang="en-US" sz="2400">
                <a:sym typeface="Symbol" panose="05050102010706020507" pitchFamily="18" charset="2"/>
              </a:rPr>
              <a:t>，将</a:t>
            </a:r>
            <a:r>
              <a:rPr lang="en-US" altLang="zh-CN" sz="2400"/>
              <a:t>[B</a:t>
            </a:r>
            <a:r>
              <a:rPr lang="en-US" altLang="zh-CN" sz="2400">
                <a:sym typeface="Symbol" panose="05050102010706020507" pitchFamily="18" charset="2"/>
              </a:rPr>
              <a:t>·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h</a:t>
            </a:r>
            <a:r>
              <a:rPr lang="en-US" altLang="zh-CN" sz="2400">
                <a:sym typeface="Symbol" panose="05050102010706020507" pitchFamily="18" charset="2"/>
              </a:rPr>
              <a:t>,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b</a:t>
            </a:r>
            <a:r>
              <a:rPr lang="en-US" altLang="zh-CN" sz="2400"/>
              <a:t>]</a:t>
            </a:r>
            <a:r>
              <a:rPr lang="zh-CN" altLang="en-US" sz="2400"/>
              <a:t>加入项目集</a:t>
            </a:r>
          </a:p>
        </p:txBody>
      </p:sp>
      <p:sp>
        <p:nvSpPr>
          <p:cNvPr id="100356" name="Rectangle 4">
            <a:extLst>
              <a:ext uri="{FF2B5EF4-FFF2-40B4-BE49-F238E27FC236}">
                <a16:creationId xmlns:a16="http://schemas.microsoft.com/office/drawing/2014/main" id="{DA235BF2-DDDA-43FB-895D-91E604E34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2743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/>
              <a:t>*</a:t>
            </a:r>
          </a:p>
        </p:txBody>
      </p:sp>
      <p:sp>
        <p:nvSpPr>
          <p:cNvPr id="100357" name="Rectangle 5">
            <a:extLst>
              <a:ext uri="{FF2B5EF4-FFF2-40B4-BE49-F238E27FC236}">
                <a16:creationId xmlns:a16="http://schemas.microsoft.com/office/drawing/2014/main" id="{9BA43011-D398-4A22-AAF5-E1E313D49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2971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/>
              <a:t>rm</a:t>
            </a:r>
          </a:p>
        </p:txBody>
      </p:sp>
      <p:sp>
        <p:nvSpPr>
          <p:cNvPr id="100358" name="Rectangle 6">
            <a:extLst>
              <a:ext uri="{FF2B5EF4-FFF2-40B4-BE49-F238E27FC236}">
                <a16:creationId xmlns:a16="http://schemas.microsoft.com/office/drawing/2014/main" id="{475267D0-AF76-422B-B524-64022587D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971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/>
              <a:t>rm</a:t>
            </a:r>
          </a:p>
        </p:txBody>
      </p:sp>
      <p:sp>
        <p:nvSpPr>
          <p:cNvPr id="100359" name="Rectangle 7">
            <a:extLst>
              <a:ext uri="{FF2B5EF4-FFF2-40B4-BE49-F238E27FC236}">
                <a16:creationId xmlns:a16="http://schemas.microsoft.com/office/drawing/2014/main" id="{41E7EB54-BA25-4DF6-BF4F-AC16B020D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3200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/>
              <a:t>*</a:t>
            </a:r>
          </a:p>
        </p:txBody>
      </p:sp>
      <p:sp>
        <p:nvSpPr>
          <p:cNvPr id="100360" name="Rectangle 8">
            <a:extLst>
              <a:ext uri="{FF2B5EF4-FFF2-40B4-BE49-F238E27FC236}">
                <a16:creationId xmlns:a16="http://schemas.microsoft.com/office/drawing/2014/main" id="{1FFD862C-703D-4A30-9DC8-66CA5765C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0850" y="3367088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/>
              <a:t>rm</a:t>
            </a:r>
          </a:p>
        </p:txBody>
      </p:sp>
      <p:sp>
        <p:nvSpPr>
          <p:cNvPr id="100361" name="Rectangle 9">
            <a:extLst>
              <a:ext uri="{FF2B5EF4-FFF2-40B4-BE49-F238E27FC236}">
                <a16:creationId xmlns:a16="http://schemas.microsoft.com/office/drawing/2014/main" id="{E19A88D4-7721-4C28-837A-FDB010EAC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3450" y="35194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/>
              <a:t>*</a:t>
            </a:r>
          </a:p>
        </p:txBody>
      </p:sp>
      <p:sp>
        <p:nvSpPr>
          <p:cNvPr id="100362" name="Rectangle 10">
            <a:extLst>
              <a:ext uri="{FF2B5EF4-FFF2-40B4-BE49-F238E27FC236}">
                <a16:creationId xmlns:a16="http://schemas.microsoft.com/office/drawing/2014/main" id="{9711ECC1-759D-40BF-B4E9-A170EDC4C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748088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/>
              <a:t>rm</a:t>
            </a:r>
          </a:p>
        </p:txBody>
      </p:sp>
      <p:sp>
        <p:nvSpPr>
          <p:cNvPr id="100363" name="Rectangle 11">
            <a:extLst>
              <a:ext uri="{FF2B5EF4-FFF2-40B4-BE49-F238E27FC236}">
                <a16:creationId xmlns:a16="http://schemas.microsoft.com/office/drawing/2014/main" id="{E0BAF698-C3BF-4FD9-9289-2FB85083B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3748088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800"/>
              <a:t>rm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FB43A449-945D-45DF-879C-D61D6487B1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0600" y="76200"/>
            <a:ext cx="8153400" cy="1143000"/>
          </a:xfrm>
        </p:spPr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4.9 </a:t>
            </a:r>
            <a:r>
              <a:rPr lang="zh-CN" altLang="en-US"/>
              <a:t>构造</a:t>
            </a:r>
            <a:r>
              <a:rPr lang="en-US" altLang="zh-CN"/>
              <a:t>LR(1)</a:t>
            </a:r>
            <a:r>
              <a:rPr lang="zh-CN" altLang="en-US"/>
              <a:t>项目集规范族</a:t>
            </a:r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980E21C0-7E55-40AE-9162-BE682A62F0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219200"/>
            <a:ext cx="7772400" cy="5486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输入：一个拓广文法</a:t>
            </a:r>
            <a:r>
              <a:rPr lang="en-US" altLang="zh-CN" sz="2400"/>
              <a:t>G’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输出：</a:t>
            </a:r>
            <a:r>
              <a:rPr lang="en-US" altLang="zh-CN" sz="2400"/>
              <a:t>LR(1)</a:t>
            </a:r>
            <a:r>
              <a:rPr lang="zh-CN" altLang="en-US" sz="2400"/>
              <a:t>项目集规范族，项目集对</a:t>
            </a:r>
            <a:r>
              <a:rPr lang="en-US" altLang="zh-CN" sz="2400"/>
              <a:t>G’</a:t>
            </a:r>
            <a:r>
              <a:rPr lang="zh-CN" altLang="en-US" sz="2400"/>
              <a:t>的一个或多个活前缀有效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方法：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function </a:t>
            </a:r>
            <a:r>
              <a:rPr lang="en-US" altLang="zh-CN" sz="2000"/>
              <a:t>closure(I)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</a:t>
            </a:r>
            <a:r>
              <a:rPr lang="en-US" altLang="zh-CN" sz="2000" b="1"/>
              <a:t>repeat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		for </a:t>
            </a:r>
            <a:r>
              <a:rPr lang="en-US" altLang="zh-CN" sz="2000"/>
              <a:t>I</a:t>
            </a:r>
            <a:r>
              <a:rPr lang="zh-CN" altLang="en-US" sz="2000"/>
              <a:t>中每个项目</a:t>
            </a:r>
            <a:r>
              <a:rPr lang="en-US" altLang="zh-CN" sz="2000"/>
              <a:t>[A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zh-CN" sz="2000">
                <a:sym typeface="Symbol" panose="05050102010706020507" pitchFamily="18" charset="2"/>
              </a:rPr>
              <a:t>·B</a:t>
            </a:r>
            <a:r>
              <a:rPr lang="en-US" altLang="zh-CN" sz="200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zh-CN" sz="2000">
                <a:sym typeface="Symbol" panose="05050102010706020507" pitchFamily="18" charset="2"/>
              </a:rPr>
              <a:t>,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000">
                <a:sym typeface="Symbol" panose="05050102010706020507" pitchFamily="18" charset="2"/>
              </a:rPr>
              <a:t>a</a:t>
            </a:r>
            <a:r>
              <a:rPr lang="en-US" altLang="zh-CN" sz="2000"/>
              <a:t>]</a:t>
            </a:r>
            <a:r>
              <a:rPr lang="zh-CN" altLang="en-US" sz="2000"/>
              <a:t>，</a:t>
            </a:r>
            <a:r>
              <a:rPr lang="en-US" altLang="zh-CN" sz="2000"/>
              <a:t>G’</a:t>
            </a:r>
            <a:r>
              <a:rPr lang="zh-CN" altLang="en-US" sz="2000"/>
              <a:t>中每个产生式</a:t>
            </a:r>
            <a:r>
              <a:rPr kumimoji="0" lang="en-US" altLang="zh-CN" sz="2000">
                <a:sym typeface="Symbol" panose="05050102010706020507" pitchFamily="18" charset="2"/>
              </a:rPr>
              <a:t>B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zh-CN" altLang="en-US" sz="2000">
                <a:latin typeface="Symbol" panose="05050102010706020507" pitchFamily="18" charset="2"/>
                <a:sym typeface="Symbol" panose="05050102010706020507" pitchFamily="18" charset="2"/>
              </a:rPr>
              <a:t>，</a:t>
            </a:r>
            <a:br>
              <a:rPr lang="zh-CN" altLang="en-US" sz="2000">
                <a:latin typeface="Symbol" panose="05050102010706020507" pitchFamily="18" charset="2"/>
                <a:sym typeface="Symbol" panose="05050102010706020507" pitchFamily="18" charset="2"/>
              </a:rPr>
            </a:br>
            <a:r>
              <a:rPr lang="zh-CN" altLang="en-US" sz="2000">
                <a:latin typeface="Symbol" panose="05050102010706020507" pitchFamily="18" charset="2"/>
                <a:sym typeface="Symbol" panose="05050102010706020507" pitchFamily="18" charset="2"/>
              </a:rPr>
              <a:t>			</a:t>
            </a:r>
            <a:r>
              <a:rPr lang="zh-CN" altLang="en-US" sz="2000">
                <a:sym typeface="Symbol" panose="05050102010706020507" pitchFamily="18" charset="2"/>
              </a:rPr>
              <a:t>和</a:t>
            </a:r>
            <a:r>
              <a:rPr lang="en-US" altLang="zh-CN" sz="2000">
                <a:sym typeface="Symbol" panose="05050102010706020507" pitchFamily="18" charset="2"/>
              </a:rPr>
              <a:t>FIRST(</a:t>
            </a:r>
            <a:r>
              <a:rPr lang="en-US" altLang="zh-CN" sz="200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zh-CN" sz="2000">
                <a:sym typeface="Symbol" panose="05050102010706020507" pitchFamily="18" charset="2"/>
              </a:rPr>
              <a:t>a)</a:t>
            </a:r>
            <a:r>
              <a:rPr lang="zh-CN" altLang="en-US" sz="2000">
                <a:sym typeface="Symbol" panose="05050102010706020507" pitchFamily="18" charset="2"/>
              </a:rPr>
              <a:t>中每个终结符</a:t>
            </a:r>
            <a:r>
              <a:rPr lang="en-US" altLang="zh-CN" sz="2000">
                <a:sym typeface="Symbol" panose="05050102010706020507" pitchFamily="18" charset="2"/>
              </a:rPr>
              <a:t>b</a:t>
            </a:r>
            <a:r>
              <a:rPr lang="zh-CN" altLang="en-US" sz="2000">
                <a:sym typeface="Symbol" panose="05050102010706020507" pitchFamily="18" charset="2"/>
              </a:rPr>
              <a:t>，</a:t>
            </a:r>
            <a:br>
              <a:rPr lang="zh-CN" altLang="en-US" sz="2000">
                <a:sym typeface="Symbol" panose="05050102010706020507" pitchFamily="18" charset="2"/>
              </a:rPr>
            </a:br>
            <a:r>
              <a:rPr lang="zh-CN" altLang="en-US" sz="2000">
                <a:sym typeface="Symbol" panose="05050102010706020507" pitchFamily="18" charset="2"/>
              </a:rPr>
              <a:t>		若</a:t>
            </a:r>
            <a:r>
              <a:rPr lang="en-US" altLang="zh-CN" sz="2000"/>
              <a:t>[B</a:t>
            </a:r>
            <a:r>
              <a:rPr lang="en-US" altLang="zh-CN" sz="2000">
                <a:sym typeface="Symbol" panose="05050102010706020507" pitchFamily="18" charset="2"/>
              </a:rPr>
              <a:t>·</a:t>
            </a:r>
            <a:r>
              <a:rPr lang="en-US" altLang="zh-CN" sz="200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zh-CN" sz="2000">
                <a:sym typeface="Symbol" panose="05050102010706020507" pitchFamily="18" charset="2"/>
              </a:rPr>
              <a:t>,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000">
                <a:sym typeface="Symbol" panose="05050102010706020507" pitchFamily="18" charset="2"/>
              </a:rPr>
              <a:t>b</a:t>
            </a:r>
            <a:r>
              <a:rPr lang="en-US" altLang="zh-CN" sz="2000"/>
              <a:t>]</a:t>
            </a:r>
            <a:r>
              <a:rPr lang="zh-CN" altLang="en-US" sz="2000"/>
              <a:t>不在</a:t>
            </a:r>
            <a:r>
              <a:rPr lang="en-US" altLang="zh-CN" sz="2000"/>
              <a:t>I</a:t>
            </a:r>
            <a:r>
              <a:rPr lang="zh-CN" altLang="en-US" sz="2000"/>
              <a:t>中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/>
              <a:t>				将</a:t>
            </a:r>
            <a:r>
              <a:rPr lang="en-US" altLang="zh-CN" sz="2000"/>
              <a:t>[B</a:t>
            </a:r>
            <a:r>
              <a:rPr lang="en-US" altLang="zh-CN" sz="2000">
                <a:sym typeface="Symbol" panose="05050102010706020507" pitchFamily="18" charset="2"/>
              </a:rPr>
              <a:t>·</a:t>
            </a:r>
            <a:r>
              <a:rPr lang="en-US" altLang="zh-CN" sz="200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zh-CN" sz="2000">
                <a:sym typeface="Symbol" panose="05050102010706020507" pitchFamily="18" charset="2"/>
              </a:rPr>
              <a:t>,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000">
                <a:sym typeface="Symbol" panose="05050102010706020507" pitchFamily="18" charset="2"/>
              </a:rPr>
              <a:t>b</a:t>
            </a:r>
            <a:r>
              <a:rPr lang="en-US" altLang="zh-CN" sz="2000"/>
              <a:t>]</a:t>
            </a:r>
            <a:r>
              <a:rPr lang="zh-CN" altLang="en-US" sz="2000"/>
              <a:t>加入</a:t>
            </a:r>
            <a:r>
              <a:rPr lang="en-US" altLang="zh-CN" sz="2000"/>
              <a:t>I;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until </a:t>
            </a:r>
            <a:r>
              <a:rPr lang="zh-CN" altLang="en-US" sz="2000"/>
              <a:t>没有新的项目加入</a:t>
            </a:r>
            <a:r>
              <a:rPr lang="en-US" altLang="zh-CN" sz="2000"/>
              <a:t>I;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return I;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}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23186531-39CC-4900-B6B7-7E631CBB9D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4.9 </a:t>
            </a:r>
            <a:r>
              <a:rPr lang="zh-CN" altLang="en-US"/>
              <a:t>（续）</a:t>
            </a:r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0418B48B-72E4-4B89-989A-4502175600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219200"/>
            <a:ext cx="7772400" cy="5638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function </a:t>
            </a:r>
            <a:r>
              <a:rPr lang="en-US" altLang="zh-CN" sz="2000"/>
              <a:t>goto(I, X)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</a:t>
            </a:r>
            <a:r>
              <a:rPr lang="zh-CN" altLang="en-US" sz="2000"/>
              <a:t>令</a:t>
            </a:r>
            <a:r>
              <a:rPr lang="en-US" altLang="zh-CN" sz="2000"/>
              <a:t>J</a:t>
            </a:r>
            <a:r>
              <a:rPr lang="zh-CN" altLang="en-US" sz="2000"/>
              <a:t>为项目</a:t>
            </a:r>
            <a:r>
              <a:rPr lang="en-US" altLang="zh-CN" sz="2000"/>
              <a:t>[A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zh-CN" sz="2000">
                <a:sym typeface="Symbol" panose="05050102010706020507" pitchFamily="18" charset="2"/>
              </a:rPr>
              <a:t>X·</a:t>
            </a:r>
            <a:r>
              <a:rPr lang="en-US" altLang="zh-CN" sz="200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zh-CN" sz="2000">
                <a:sym typeface="Symbol" panose="05050102010706020507" pitchFamily="18" charset="2"/>
              </a:rPr>
              <a:t>,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000">
                <a:sym typeface="Symbol" panose="05050102010706020507" pitchFamily="18" charset="2"/>
              </a:rPr>
              <a:t>a</a:t>
            </a:r>
            <a:r>
              <a:rPr lang="en-US" altLang="zh-CN" sz="2000"/>
              <a:t>]</a:t>
            </a:r>
            <a:r>
              <a:rPr lang="zh-CN" altLang="en-US" sz="2000"/>
              <a:t>的集合，</a:t>
            </a:r>
            <a:r>
              <a:rPr lang="zh-CN" altLang="en-US" sz="2000">
                <a:sym typeface="Symbol" panose="05050102010706020507" pitchFamily="18" charset="2"/>
              </a:rPr>
              <a:t>其中</a:t>
            </a:r>
            <a:r>
              <a:rPr lang="en-US" altLang="zh-CN" sz="2000"/>
              <a:t>[A</a:t>
            </a:r>
            <a:r>
              <a:rPr lang="en-US" altLang="zh-CN" sz="2000">
                <a:sym typeface="Symbol" panose="05050102010706020507" pitchFamily="18" charset="2"/>
              </a:rPr>
              <a:t></a:t>
            </a:r>
            <a:r>
              <a:rPr lang="en-US" altLang="zh-CN" sz="2000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zh-CN" sz="2000">
                <a:sym typeface="Symbol" panose="05050102010706020507" pitchFamily="18" charset="2"/>
              </a:rPr>
              <a:t>·X</a:t>
            </a:r>
            <a:r>
              <a:rPr lang="en-US" altLang="zh-CN" sz="200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zh-CN" sz="2000">
                <a:sym typeface="Symbol" panose="05050102010706020507" pitchFamily="18" charset="2"/>
              </a:rPr>
              <a:t>,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000">
                <a:sym typeface="Symbol" panose="05050102010706020507" pitchFamily="18" charset="2"/>
              </a:rPr>
              <a:t>a</a:t>
            </a:r>
            <a:r>
              <a:rPr lang="en-US" altLang="zh-CN" sz="2000"/>
              <a:t>]</a:t>
            </a:r>
            <a:r>
              <a:rPr lang="zh-CN" altLang="en-US" sz="2000">
                <a:sym typeface="Symbol" panose="05050102010706020507" pitchFamily="18" charset="2"/>
              </a:rPr>
              <a:t>在</a:t>
            </a:r>
            <a:r>
              <a:rPr lang="en-US" altLang="zh-CN" sz="2000"/>
              <a:t>I</a:t>
            </a:r>
            <a:r>
              <a:rPr lang="zh-CN" altLang="en-US" sz="2000"/>
              <a:t>中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/>
              <a:t>	</a:t>
            </a:r>
            <a:r>
              <a:rPr lang="en-US" altLang="zh-CN" sz="2000"/>
              <a:t>return closure(J);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function </a:t>
            </a:r>
            <a:r>
              <a:rPr lang="en-US" altLang="zh-CN" sz="2000"/>
              <a:t>items(G’)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C = {closure({[S’</a:t>
            </a:r>
            <a:r>
              <a:rPr lang="en-US" altLang="zh-CN" sz="2000">
                <a:sym typeface="Symbol" panose="05050102010706020507" pitchFamily="18" charset="2"/>
              </a:rPr>
              <a:t>·S,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000">
                <a:sym typeface="Symbol" panose="05050102010706020507" pitchFamily="18" charset="2"/>
              </a:rPr>
              <a:t>$</a:t>
            </a:r>
            <a:r>
              <a:rPr lang="en-US" altLang="zh-CN" sz="2000"/>
              <a:t>]})};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</a:t>
            </a:r>
            <a:r>
              <a:rPr lang="en-US" altLang="zh-CN" sz="2000" b="1"/>
              <a:t>repeat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</a:t>
            </a:r>
            <a:r>
              <a:rPr lang="en-US" altLang="zh-CN" sz="2000" b="1"/>
              <a:t>for</a:t>
            </a:r>
            <a:r>
              <a:rPr lang="en-US" altLang="zh-CN" sz="2000"/>
              <a:t> C</a:t>
            </a:r>
            <a:r>
              <a:rPr lang="zh-CN" altLang="en-US" sz="2000"/>
              <a:t>中每个项目集</a:t>
            </a:r>
            <a:r>
              <a:rPr lang="en-US" altLang="zh-CN" sz="2000"/>
              <a:t>I</a:t>
            </a:r>
            <a:r>
              <a:rPr lang="zh-CN" altLang="en-US" sz="2000"/>
              <a:t>，每个文法符号</a:t>
            </a:r>
            <a:r>
              <a:rPr lang="en-US" altLang="zh-CN" sz="2000"/>
              <a:t>X</a:t>
            </a:r>
            <a:r>
              <a:rPr lang="zh-CN" altLang="en-US" sz="2000"/>
              <a:t>，</a:t>
            </a:r>
            <a:r>
              <a:rPr lang="en-US" altLang="zh-CN" sz="2000"/>
              <a:t>goto(I, X)	      </a:t>
            </a:r>
            <a:r>
              <a:rPr lang="zh-CN" altLang="en-US" sz="2000"/>
              <a:t>不空且不在</a:t>
            </a:r>
            <a:r>
              <a:rPr lang="en-US" altLang="zh-CN" sz="2000"/>
              <a:t>C</a:t>
            </a:r>
            <a:r>
              <a:rPr lang="zh-CN" altLang="en-US" sz="2000"/>
              <a:t>中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/>
              <a:t>			将</a:t>
            </a:r>
            <a:r>
              <a:rPr lang="en-US" altLang="zh-CN" sz="2000"/>
              <a:t>goto(I, X)</a:t>
            </a:r>
            <a:r>
              <a:rPr lang="zh-CN" altLang="en-US" sz="2000"/>
              <a:t>加入</a:t>
            </a:r>
            <a:r>
              <a:rPr lang="en-US" altLang="zh-CN" sz="2000"/>
              <a:t>C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</a:t>
            </a:r>
            <a:r>
              <a:rPr lang="en-US" altLang="zh-CN" sz="2000" b="1"/>
              <a:t>until</a:t>
            </a:r>
            <a:r>
              <a:rPr lang="en-US" altLang="zh-CN" sz="2000"/>
              <a:t> </a:t>
            </a:r>
            <a:r>
              <a:rPr lang="zh-CN" altLang="en-US" sz="2000"/>
              <a:t>没有新的项目集加入</a:t>
            </a:r>
            <a:r>
              <a:rPr lang="en-US" altLang="zh-CN" sz="2000"/>
              <a:t>C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}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5DF56982-9189-495C-BA7B-C513D29C0F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4.42</a:t>
            </a:r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7E3C39E3-3793-4CF6-AC4C-337EC5BD21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S’ </a:t>
            </a:r>
            <a:r>
              <a:rPr lang="en-US" altLang="zh-CN" sz="2400">
                <a:sym typeface="Symbol" panose="05050102010706020507" pitchFamily="18" charset="2"/>
              </a:rPr>
              <a:t> 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S  CC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C  cC | d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I</a:t>
            </a:r>
            <a:r>
              <a:rPr lang="en-US" altLang="zh-CN" sz="2400" baseline="-25000">
                <a:sym typeface="Symbol" panose="05050102010706020507" pitchFamily="18" charset="2"/>
              </a:rPr>
              <a:t>0</a:t>
            </a:r>
            <a:r>
              <a:rPr lang="en-US" altLang="zh-CN" sz="2400">
                <a:sym typeface="Symbol" panose="05050102010706020507" pitchFamily="18" charset="2"/>
              </a:rPr>
              <a:t> = closure({[S’·S, $]}) = {[S’·S, $],</a:t>
            </a:r>
            <a:br>
              <a:rPr lang="en-US" altLang="zh-CN" sz="2400">
                <a:sym typeface="Symbol" panose="05050102010706020507" pitchFamily="18" charset="2"/>
              </a:rPr>
            </a:br>
            <a:r>
              <a:rPr lang="en-US" altLang="zh-CN" sz="2400">
                <a:sym typeface="Symbol" panose="05050102010706020507" pitchFamily="18" charset="2"/>
              </a:rPr>
              <a:t>	[S ·CC, $], [C ·cC, c/d], [C ·d, c/d]}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I</a:t>
            </a:r>
            <a:r>
              <a:rPr lang="en-US" altLang="zh-CN" sz="2400" baseline="-25000">
                <a:sym typeface="Symbol" panose="05050102010706020507" pitchFamily="18" charset="2"/>
              </a:rPr>
              <a:t>1</a:t>
            </a:r>
            <a:r>
              <a:rPr lang="en-US" altLang="zh-CN" sz="2400">
                <a:sym typeface="Symbol" panose="05050102010706020507" pitchFamily="18" charset="2"/>
              </a:rPr>
              <a:t>=goto(I</a:t>
            </a:r>
            <a:r>
              <a:rPr lang="en-US" altLang="zh-CN" sz="2400" baseline="-25000">
                <a:sym typeface="Symbol" panose="05050102010706020507" pitchFamily="18" charset="2"/>
              </a:rPr>
              <a:t>0</a:t>
            </a:r>
            <a:r>
              <a:rPr lang="en-US" altLang="zh-CN" sz="2400">
                <a:sym typeface="Symbol" panose="05050102010706020507" pitchFamily="18" charset="2"/>
              </a:rPr>
              <a:t>, S)={[S’S·, $]}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I</a:t>
            </a:r>
            <a:r>
              <a:rPr lang="en-US" altLang="zh-CN" sz="2400" baseline="-25000">
                <a:sym typeface="Symbol" panose="05050102010706020507" pitchFamily="18" charset="2"/>
              </a:rPr>
              <a:t>2</a:t>
            </a:r>
            <a:r>
              <a:rPr lang="en-US" altLang="zh-CN" sz="2400">
                <a:sym typeface="Symbol" panose="05050102010706020507" pitchFamily="18" charset="2"/>
              </a:rPr>
              <a:t>=goto(I</a:t>
            </a:r>
            <a:r>
              <a:rPr lang="en-US" altLang="zh-CN" sz="2400" baseline="-25000">
                <a:sym typeface="Symbol" panose="05050102010706020507" pitchFamily="18" charset="2"/>
              </a:rPr>
              <a:t>0</a:t>
            </a:r>
            <a:r>
              <a:rPr lang="en-US" altLang="zh-CN" sz="2400">
                <a:sym typeface="Symbol" panose="05050102010706020507" pitchFamily="18" charset="2"/>
              </a:rPr>
              <a:t>, C)={[S C·C, $], [C ·cC, $], [C ·d, $]}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I</a:t>
            </a:r>
            <a:r>
              <a:rPr lang="en-US" altLang="zh-CN" sz="2400" baseline="-25000">
                <a:sym typeface="Symbol" panose="05050102010706020507" pitchFamily="18" charset="2"/>
              </a:rPr>
              <a:t>3</a:t>
            </a:r>
            <a:r>
              <a:rPr lang="en-US" altLang="zh-CN" sz="2400">
                <a:sym typeface="Symbol" panose="05050102010706020507" pitchFamily="18" charset="2"/>
              </a:rPr>
              <a:t>=goto(I</a:t>
            </a:r>
            <a:r>
              <a:rPr lang="en-US" altLang="zh-CN" sz="2400" baseline="-25000">
                <a:sym typeface="Symbol" panose="05050102010706020507" pitchFamily="18" charset="2"/>
              </a:rPr>
              <a:t>0</a:t>
            </a:r>
            <a:r>
              <a:rPr lang="en-US" altLang="zh-CN" sz="2400">
                <a:sym typeface="Symbol" panose="05050102010706020507" pitchFamily="18" charset="2"/>
              </a:rPr>
              <a:t>, c)={[C c·C, c/d] , [C ·cC, c/d], [C ·d, c/d]}</a:t>
            </a:r>
          </a:p>
        </p:txBody>
      </p:sp>
      <p:sp>
        <p:nvSpPr>
          <p:cNvPr id="103428" name="Text Box 4">
            <a:extLst>
              <a:ext uri="{FF2B5EF4-FFF2-40B4-BE49-F238E27FC236}">
                <a16:creationId xmlns:a16="http://schemas.microsoft.com/office/drawing/2014/main" id="{A1E81370-FDED-4305-9A5B-3E197FDD91A0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4356100" y="1341438"/>
            <a:ext cx="360045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FIRST(S) = FIRST(C) = {c, d}</a:t>
            </a: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FOLLOW(S)={$}</a:t>
            </a: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FOLLOW(C)={$,c,d}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80636B94-D6C1-4AD7-B816-86ED34AD3F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4.42</a:t>
            </a:r>
            <a:r>
              <a:rPr lang="zh-CN" altLang="en-US"/>
              <a:t>（续）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BB6A443F-C4D9-46DD-AD7C-63C65A3AD4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I</a:t>
            </a:r>
            <a:r>
              <a:rPr lang="en-US" altLang="zh-CN" sz="2400" baseline="-25000">
                <a:sym typeface="Symbol" panose="05050102010706020507" pitchFamily="18" charset="2"/>
              </a:rPr>
              <a:t>4</a:t>
            </a:r>
            <a:r>
              <a:rPr lang="en-US" altLang="zh-CN" sz="2400">
                <a:sym typeface="Symbol" panose="05050102010706020507" pitchFamily="18" charset="2"/>
              </a:rPr>
              <a:t>=goto(I</a:t>
            </a:r>
            <a:r>
              <a:rPr lang="en-US" altLang="zh-CN" sz="2400" baseline="-25000">
                <a:sym typeface="Symbol" panose="05050102010706020507" pitchFamily="18" charset="2"/>
              </a:rPr>
              <a:t>0</a:t>
            </a:r>
            <a:r>
              <a:rPr lang="en-US" altLang="zh-CN" sz="2400">
                <a:sym typeface="Symbol" panose="05050102010706020507" pitchFamily="18" charset="2"/>
              </a:rPr>
              <a:t>, d)={[C d·, c/d]}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I</a:t>
            </a:r>
            <a:r>
              <a:rPr lang="en-US" altLang="zh-CN" sz="2400" baseline="-25000">
                <a:sym typeface="Symbol" panose="05050102010706020507" pitchFamily="18" charset="2"/>
              </a:rPr>
              <a:t>5</a:t>
            </a:r>
            <a:r>
              <a:rPr lang="en-US" altLang="zh-CN" sz="2400">
                <a:sym typeface="Symbol" panose="05050102010706020507" pitchFamily="18" charset="2"/>
              </a:rPr>
              <a:t>=goto(I</a:t>
            </a:r>
            <a:r>
              <a:rPr lang="en-US" altLang="zh-CN" sz="2400" baseline="-25000">
                <a:sym typeface="Symbol" panose="05050102010706020507" pitchFamily="18" charset="2"/>
              </a:rPr>
              <a:t>2</a:t>
            </a:r>
            <a:r>
              <a:rPr lang="en-US" altLang="zh-CN" sz="2400">
                <a:sym typeface="Symbol" panose="05050102010706020507" pitchFamily="18" charset="2"/>
              </a:rPr>
              <a:t>, C)={[S CC·, $]}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I</a:t>
            </a:r>
            <a:r>
              <a:rPr lang="en-US" altLang="zh-CN" sz="2400" baseline="-25000">
                <a:sym typeface="Symbol" panose="05050102010706020507" pitchFamily="18" charset="2"/>
              </a:rPr>
              <a:t>6</a:t>
            </a:r>
            <a:r>
              <a:rPr lang="en-US" altLang="zh-CN" sz="2400">
                <a:sym typeface="Symbol" panose="05050102010706020507" pitchFamily="18" charset="2"/>
              </a:rPr>
              <a:t>=goto(I</a:t>
            </a:r>
            <a:r>
              <a:rPr lang="en-US" altLang="zh-CN" sz="2400" baseline="-25000">
                <a:sym typeface="Symbol" panose="05050102010706020507" pitchFamily="18" charset="2"/>
              </a:rPr>
              <a:t>2</a:t>
            </a:r>
            <a:r>
              <a:rPr lang="en-US" altLang="zh-CN" sz="2400">
                <a:sym typeface="Symbol" panose="05050102010706020507" pitchFamily="18" charset="2"/>
              </a:rPr>
              <a:t>, c)={[C c·C, $], [C ·cC, $], [C ·d, $]}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I</a:t>
            </a:r>
            <a:r>
              <a:rPr lang="en-US" altLang="zh-CN" sz="2400" baseline="-25000">
                <a:sym typeface="Symbol" panose="05050102010706020507" pitchFamily="18" charset="2"/>
              </a:rPr>
              <a:t>7</a:t>
            </a:r>
            <a:r>
              <a:rPr lang="en-US" altLang="zh-CN" sz="2400">
                <a:sym typeface="Symbol" panose="05050102010706020507" pitchFamily="18" charset="2"/>
              </a:rPr>
              <a:t>=goto(I</a:t>
            </a:r>
            <a:r>
              <a:rPr lang="en-US" altLang="zh-CN" sz="2400" baseline="-25000">
                <a:sym typeface="Symbol" panose="05050102010706020507" pitchFamily="18" charset="2"/>
              </a:rPr>
              <a:t>2</a:t>
            </a:r>
            <a:r>
              <a:rPr lang="en-US" altLang="zh-CN" sz="2400">
                <a:sym typeface="Symbol" panose="05050102010706020507" pitchFamily="18" charset="2"/>
              </a:rPr>
              <a:t>, d)={[C d·, $]}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I</a:t>
            </a:r>
            <a:r>
              <a:rPr lang="en-US" altLang="zh-CN" sz="2400" baseline="-25000">
                <a:sym typeface="Symbol" panose="05050102010706020507" pitchFamily="18" charset="2"/>
              </a:rPr>
              <a:t>8</a:t>
            </a:r>
            <a:r>
              <a:rPr lang="en-US" altLang="zh-CN" sz="2400">
                <a:sym typeface="Symbol" panose="05050102010706020507" pitchFamily="18" charset="2"/>
              </a:rPr>
              <a:t>=goto(I</a:t>
            </a:r>
            <a:r>
              <a:rPr lang="en-US" altLang="zh-CN" sz="2400" baseline="-25000">
                <a:sym typeface="Symbol" panose="05050102010706020507" pitchFamily="18" charset="2"/>
              </a:rPr>
              <a:t>3</a:t>
            </a:r>
            <a:r>
              <a:rPr lang="en-US" altLang="zh-CN" sz="2400">
                <a:sym typeface="Symbol" panose="05050102010706020507" pitchFamily="18" charset="2"/>
              </a:rPr>
              <a:t>, C)={[C cC·, c/d]}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goto(I</a:t>
            </a:r>
            <a:r>
              <a:rPr lang="en-US" altLang="zh-CN" sz="2400" baseline="-25000">
                <a:sym typeface="Symbol" panose="05050102010706020507" pitchFamily="18" charset="2"/>
              </a:rPr>
              <a:t>3</a:t>
            </a:r>
            <a:r>
              <a:rPr lang="en-US" altLang="zh-CN" sz="2400">
                <a:sym typeface="Symbol" panose="05050102010706020507" pitchFamily="18" charset="2"/>
              </a:rPr>
              <a:t>, c)=I</a:t>
            </a:r>
            <a:r>
              <a:rPr lang="en-US" altLang="zh-CN" sz="2400" baseline="-25000">
                <a:sym typeface="Symbol" panose="05050102010706020507" pitchFamily="18" charset="2"/>
              </a:rPr>
              <a:t>3</a:t>
            </a:r>
            <a:r>
              <a:rPr lang="en-US" altLang="zh-CN" sz="2400">
                <a:sym typeface="Symbol" panose="05050102010706020507" pitchFamily="18" charset="2"/>
              </a:rPr>
              <a:t>, goto(I</a:t>
            </a:r>
            <a:r>
              <a:rPr lang="en-US" altLang="zh-CN" sz="2400" baseline="-25000">
                <a:sym typeface="Symbol" panose="05050102010706020507" pitchFamily="18" charset="2"/>
              </a:rPr>
              <a:t>3</a:t>
            </a:r>
            <a:r>
              <a:rPr lang="en-US" altLang="zh-CN" sz="2400">
                <a:sym typeface="Symbol" panose="05050102010706020507" pitchFamily="18" charset="2"/>
              </a:rPr>
              <a:t>, d)=I</a:t>
            </a:r>
            <a:r>
              <a:rPr lang="en-US" altLang="zh-CN" sz="2400" baseline="-25000">
                <a:sym typeface="Symbol" panose="05050102010706020507" pitchFamily="18" charset="2"/>
              </a:rPr>
              <a:t>4</a:t>
            </a:r>
            <a:endParaRPr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I</a:t>
            </a:r>
            <a:r>
              <a:rPr lang="en-US" altLang="zh-CN" sz="2400" baseline="-25000">
                <a:sym typeface="Symbol" panose="05050102010706020507" pitchFamily="18" charset="2"/>
              </a:rPr>
              <a:t>9</a:t>
            </a:r>
            <a:r>
              <a:rPr lang="en-US" altLang="zh-CN" sz="2400">
                <a:sym typeface="Symbol" panose="05050102010706020507" pitchFamily="18" charset="2"/>
              </a:rPr>
              <a:t>=goto(I</a:t>
            </a:r>
            <a:r>
              <a:rPr lang="en-US" altLang="zh-CN" sz="2400" baseline="-25000">
                <a:sym typeface="Symbol" panose="05050102010706020507" pitchFamily="18" charset="2"/>
              </a:rPr>
              <a:t>6</a:t>
            </a:r>
            <a:r>
              <a:rPr lang="en-US" altLang="zh-CN" sz="2400">
                <a:sym typeface="Symbol" panose="05050102010706020507" pitchFamily="18" charset="2"/>
              </a:rPr>
              <a:t>, C)={[C cC·, $]}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goto(I</a:t>
            </a:r>
            <a:r>
              <a:rPr lang="en-US" altLang="zh-CN" sz="2400" baseline="-25000">
                <a:sym typeface="Symbol" panose="05050102010706020507" pitchFamily="18" charset="2"/>
              </a:rPr>
              <a:t>6</a:t>
            </a:r>
            <a:r>
              <a:rPr lang="en-US" altLang="zh-CN" sz="2400">
                <a:sym typeface="Symbol" panose="05050102010706020507" pitchFamily="18" charset="2"/>
              </a:rPr>
              <a:t>, c)=I</a:t>
            </a:r>
            <a:r>
              <a:rPr lang="en-US" altLang="zh-CN" sz="2400" baseline="-25000">
                <a:sym typeface="Symbol" panose="05050102010706020507" pitchFamily="18" charset="2"/>
              </a:rPr>
              <a:t>6</a:t>
            </a:r>
            <a:r>
              <a:rPr lang="en-US" altLang="zh-CN" sz="2400">
                <a:sym typeface="Symbol" panose="05050102010706020507" pitchFamily="18" charset="2"/>
              </a:rPr>
              <a:t>, goto(I</a:t>
            </a:r>
            <a:r>
              <a:rPr lang="en-US" altLang="zh-CN" sz="2400" baseline="-25000">
                <a:sym typeface="Symbol" panose="05050102010706020507" pitchFamily="18" charset="2"/>
              </a:rPr>
              <a:t>6</a:t>
            </a:r>
            <a:r>
              <a:rPr lang="en-US" altLang="zh-CN" sz="2400">
                <a:sym typeface="Symbol" panose="05050102010706020507" pitchFamily="18" charset="2"/>
              </a:rPr>
              <a:t>, d)=I</a:t>
            </a:r>
            <a:r>
              <a:rPr lang="en-US" altLang="zh-CN" sz="2400" baseline="-25000">
                <a:sym typeface="Symbol" panose="05050102010706020507" pitchFamily="18" charset="2"/>
              </a:rPr>
              <a:t>7</a:t>
            </a:r>
            <a:endParaRPr lang="en-US" altLang="zh-CN" sz="24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7DE7D75D-021D-4ADA-9C93-E40C866CD8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4.42</a:t>
            </a:r>
            <a:r>
              <a:rPr lang="zh-CN" altLang="en-US"/>
              <a:t>（续）</a:t>
            </a:r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76892F3B-97D1-4706-96E1-EB70598C32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zh-CN" dirty="0"/>
          </a:p>
        </p:txBody>
      </p:sp>
      <p:pic>
        <p:nvPicPr>
          <p:cNvPr id="105476" name="Picture 6" descr="clr">
            <a:extLst>
              <a:ext uri="{FF2B5EF4-FFF2-40B4-BE49-F238E27FC236}">
                <a16:creationId xmlns:a16="http://schemas.microsoft.com/office/drawing/2014/main" id="{9560C828-2AA1-43BB-8DE3-7AA68D403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8" y="1295400"/>
            <a:ext cx="5815012" cy="542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477" name="Text Box 8">
            <a:extLst>
              <a:ext uri="{FF2B5EF4-FFF2-40B4-BE49-F238E27FC236}">
                <a16:creationId xmlns:a16="http://schemas.microsoft.com/office/drawing/2014/main" id="{265ED666-91B6-4778-933D-D24A17C0A358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6705600" y="3657600"/>
            <a:ext cx="2209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chemeClr val="hlink"/>
                </a:solidFill>
                <a:latin typeface="Tahoma" panose="020B0604030504040204" pitchFamily="34" charset="0"/>
              </a:rPr>
              <a:t>这里为什么是</a:t>
            </a: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$</a:t>
            </a:r>
          </a:p>
        </p:txBody>
      </p:sp>
      <p:sp>
        <p:nvSpPr>
          <p:cNvPr id="105478" name="Line 9">
            <a:extLst>
              <a:ext uri="{FF2B5EF4-FFF2-40B4-BE49-F238E27FC236}">
                <a16:creationId xmlns:a16="http://schemas.microsoft.com/office/drawing/2014/main" id="{0BF8F304-56ED-4169-B0B6-D1ABAD2DB47E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6400800" y="3733800"/>
            <a:ext cx="5334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79" name="Line 13">
            <a:extLst>
              <a:ext uri="{FF2B5EF4-FFF2-40B4-BE49-F238E27FC236}">
                <a16:creationId xmlns:a16="http://schemas.microsoft.com/office/drawing/2014/main" id="{6720B3E8-FCD4-44CA-AE1B-541E089FAAEF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4876800" y="3886200"/>
            <a:ext cx="1981200" cy="762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80" name="Text Box 14">
            <a:extLst>
              <a:ext uri="{FF2B5EF4-FFF2-40B4-BE49-F238E27FC236}">
                <a16:creationId xmlns:a16="http://schemas.microsoft.com/office/drawing/2014/main" id="{430B6EE9-5B32-4E66-AA33-64920770AD4C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5015442" y="5304472"/>
            <a:ext cx="3928533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hlink"/>
                </a:solidFill>
                <a:latin typeface="Tahoma" panose="020B0604030504040204" pitchFamily="34" charset="0"/>
              </a:rPr>
              <a:t>要向“前”看</a:t>
            </a:r>
            <a:br>
              <a:rPr lang="en-US" altLang="zh-CN" sz="1800" dirty="0">
                <a:solidFill>
                  <a:schemeClr val="hlink"/>
                </a:solidFill>
                <a:latin typeface="Tahoma" panose="020B0604030504040204" pitchFamily="34" charset="0"/>
              </a:rPr>
            </a:br>
            <a:r>
              <a:rPr lang="zh-CN" altLang="en-US" sz="1800" dirty="0">
                <a:solidFill>
                  <a:schemeClr val="hlink"/>
                </a:solidFill>
                <a:latin typeface="Tahoma" panose="020B0604030504040204" pitchFamily="34" charset="0"/>
              </a:rPr>
              <a:t>上面项目里的</a:t>
            </a:r>
            <a:r>
              <a:rPr lang="en-US" altLang="zh-CN" sz="1800" dirty="0">
                <a:solidFill>
                  <a:schemeClr val="hlink"/>
                </a:solidFill>
                <a:latin typeface="Tahoma" panose="020B0604030504040204" pitchFamily="34" charset="0"/>
              </a:rPr>
              <a:t>C</a:t>
            </a:r>
            <a:r>
              <a:rPr lang="zh-CN" altLang="en-US" sz="1800" dirty="0">
                <a:solidFill>
                  <a:schemeClr val="hlink"/>
                </a:solidFill>
                <a:latin typeface="Tahoma" panose="020B0604030504040204" pitchFamily="34" charset="0"/>
              </a:rPr>
              <a:t>来自</a:t>
            </a:r>
            <a:r>
              <a:rPr lang="en-US" altLang="zh-CN" sz="1800" dirty="0">
                <a:solidFill>
                  <a:schemeClr val="hlink"/>
                </a:solidFill>
                <a:latin typeface="Tahoma" panose="020B0604030504040204" pitchFamily="34" charset="0"/>
              </a:rPr>
              <a:t>S-&gt;CC</a:t>
            </a:r>
            <a:r>
              <a:rPr lang="zh-CN" altLang="en-US" sz="1800" dirty="0">
                <a:solidFill>
                  <a:schemeClr val="hlink"/>
                </a:solidFill>
                <a:latin typeface="Tahoma" panose="020B0604030504040204" pitchFamily="34" charset="0"/>
              </a:rPr>
              <a:t>的第二个</a:t>
            </a:r>
            <a:r>
              <a:rPr lang="en-US" altLang="zh-CN" sz="1800" dirty="0">
                <a:solidFill>
                  <a:schemeClr val="hlink"/>
                </a:solidFill>
                <a:latin typeface="Tahoma" panose="020B0604030504040204" pitchFamily="34" charset="0"/>
              </a:rPr>
              <a:t>C</a:t>
            </a:r>
            <a:r>
              <a:rPr lang="zh-CN" altLang="en-US" sz="1800" dirty="0">
                <a:solidFill>
                  <a:schemeClr val="hlink"/>
                </a:solidFill>
                <a:latin typeface="Tahoma" panose="020B0604030504040204" pitchFamily="34" charset="0"/>
              </a:rPr>
              <a:t>，后面只可能跟随</a:t>
            </a:r>
            <a:r>
              <a:rPr lang="en-US" altLang="zh-CN" sz="1800" dirty="0">
                <a:solidFill>
                  <a:schemeClr val="hlink"/>
                </a:solidFill>
                <a:latin typeface="Tahoma" panose="020B0604030504040204" pitchFamily="34" charset="0"/>
              </a:rPr>
              <a:t>$</a:t>
            </a:r>
            <a:br>
              <a:rPr lang="en-US" altLang="zh-CN" sz="1800" dirty="0">
                <a:solidFill>
                  <a:schemeClr val="hlink"/>
                </a:solidFill>
                <a:latin typeface="Tahoma" panose="020B0604030504040204" pitchFamily="34" charset="0"/>
              </a:rPr>
            </a:br>
            <a:r>
              <a:rPr lang="zh-CN" altLang="en-US" sz="1800" dirty="0">
                <a:solidFill>
                  <a:schemeClr val="hlink"/>
                </a:solidFill>
                <a:latin typeface="Tahoma" panose="020B0604030504040204" pitchFamily="34" charset="0"/>
              </a:rPr>
              <a:t>下面的</a:t>
            </a:r>
            <a:r>
              <a:rPr lang="en-US" altLang="zh-CN" sz="1800" dirty="0">
                <a:solidFill>
                  <a:schemeClr val="hlink"/>
                </a:solidFill>
                <a:latin typeface="Tahoma" panose="020B0604030504040204" pitchFamily="34" charset="0"/>
              </a:rPr>
              <a:t>C</a:t>
            </a:r>
            <a:r>
              <a:rPr lang="zh-CN" altLang="en-US" sz="1800" dirty="0">
                <a:solidFill>
                  <a:schemeClr val="hlink"/>
                </a:solidFill>
                <a:latin typeface="Tahoma" panose="020B0604030504040204" pitchFamily="34" charset="0"/>
              </a:rPr>
              <a:t>来自来自</a:t>
            </a:r>
            <a:r>
              <a:rPr lang="en-US" altLang="zh-CN" sz="1800" dirty="0">
                <a:solidFill>
                  <a:schemeClr val="hlink"/>
                </a:solidFill>
                <a:latin typeface="Tahoma" panose="020B0604030504040204" pitchFamily="34" charset="0"/>
              </a:rPr>
              <a:t>S-&gt;CC</a:t>
            </a:r>
            <a:r>
              <a:rPr lang="zh-CN" altLang="en-US" sz="1800" dirty="0">
                <a:solidFill>
                  <a:schemeClr val="hlink"/>
                </a:solidFill>
                <a:latin typeface="Tahoma" panose="020B0604030504040204" pitchFamily="34" charset="0"/>
              </a:rPr>
              <a:t>的第一个</a:t>
            </a:r>
            <a:r>
              <a:rPr lang="en-US" altLang="zh-CN" sz="1800" dirty="0">
                <a:solidFill>
                  <a:schemeClr val="hlink"/>
                </a:solidFill>
                <a:latin typeface="Tahoma" panose="020B0604030504040204" pitchFamily="34" charset="0"/>
              </a:rPr>
              <a:t>C</a:t>
            </a:r>
            <a:r>
              <a:rPr lang="zh-CN" altLang="en-US" sz="1800" dirty="0">
                <a:solidFill>
                  <a:schemeClr val="hlink"/>
                </a:solidFill>
                <a:latin typeface="Tahoma" panose="020B0604030504040204" pitchFamily="34" charset="0"/>
              </a:rPr>
              <a:t>，只会跟随</a:t>
            </a:r>
            <a:r>
              <a:rPr lang="en-US" altLang="zh-CN" sz="1800" dirty="0">
                <a:solidFill>
                  <a:schemeClr val="hlink"/>
                </a:solidFill>
                <a:latin typeface="Tahoma" panose="020B0604030504040204" pitchFamily="34" charset="0"/>
              </a:rPr>
              <a:t>c</a:t>
            </a:r>
            <a:r>
              <a:rPr lang="zh-CN" altLang="en-US" sz="1800" dirty="0">
                <a:solidFill>
                  <a:schemeClr val="hlink"/>
                </a:solidFill>
                <a:latin typeface="Tahoma" panose="020B0604030504040204" pitchFamily="34" charset="0"/>
              </a:rPr>
              <a:t>、</a:t>
            </a:r>
            <a:r>
              <a:rPr lang="en-US" altLang="zh-CN" sz="1800" dirty="0">
                <a:solidFill>
                  <a:schemeClr val="hlink"/>
                </a:solidFill>
                <a:latin typeface="Tahoma" panose="020B0604030504040204" pitchFamily="34" charset="0"/>
              </a:rPr>
              <a:t>d</a:t>
            </a:r>
            <a:r>
              <a:rPr lang="zh-CN" altLang="en-US" sz="1800" dirty="0">
                <a:solidFill>
                  <a:schemeClr val="hlink"/>
                </a:solidFill>
                <a:latin typeface="Tahoma" panose="020B0604030504040204" pitchFamily="34" charset="0"/>
              </a:rPr>
              <a:t>（</a:t>
            </a:r>
            <a:r>
              <a:rPr lang="en-US" altLang="zh-CN" sz="1800" dirty="0">
                <a:solidFill>
                  <a:schemeClr val="hlink"/>
                </a:solidFill>
                <a:latin typeface="Tahoma" panose="020B0604030504040204" pitchFamily="34" charset="0"/>
              </a:rPr>
              <a:t>FIRST(C)</a:t>
            </a:r>
            <a:r>
              <a:rPr lang="zh-CN" altLang="en-US" sz="1800" dirty="0">
                <a:solidFill>
                  <a:schemeClr val="hlink"/>
                </a:solidFill>
                <a:latin typeface="Tahoma" panose="020B0604030504040204" pitchFamily="34" charset="0"/>
              </a:rPr>
              <a:t>）</a:t>
            </a:r>
            <a:endParaRPr lang="en-US" altLang="zh-CN" sz="1800" dirty="0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105481" name="Line 15">
            <a:extLst>
              <a:ext uri="{FF2B5EF4-FFF2-40B4-BE49-F238E27FC236}">
                <a16:creationId xmlns:a16="http://schemas.microsoft.com/office/drawing/2014/main" id="{A334287B-61A2-4151-9BDD-10C3CA5DE29A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4876800" y="4403725"/>
            <a:ext cx="1219200" cy="10064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82" name="Line 16">
            <a:extLst>
              <a:ext uri="{FF2B5EF4-FFF2-40B4-BE49-F238E27FC236}">
                <a16:creationId xmlns:a16="http://schemas.microsoft.com/office/drawing/2014/main" id="{FBEE71AB-780E-4339-BD6A-742244C30177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3352800" y="4403725"/>
            <a:ext cx="2601912" cy="19208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6DBE463-842B-DB4B-8835-98A5F1ED8FF0}"/>
              </a:ext>
            </a:extLst>
          </p:cNvPr>
          <p:cNvSpPr txBox="1"/>
          <p:nvPr/>
        </p:nvSpPr>
        <p:spPr>
          <a:xfrm>
            <a:off x="6083300" y="4169847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hlink"/>
                </a:solidFill>
                <a:latin typeface="Tahoma" panose="020B0604030504040204" pitchFamily="34" charset="0"/>
              </a:rPr>
              <a:t>这里又为什么是</a:t>
            </a:r>
            <a:r>
              <a:rPr lang="en-US" altLang="zh-CN" sz="1800" dirty="0">
                <a:solidFill>
                  <a:schemeClr val="hlink"/>
                </a:solidFill>
                <a:latin typeface="Tahoma" panose="020B0604030504040204" pitchFamily="34" charset="0"/>
              </a:rPr>
              <a:t>c/d</a:t>
            </a: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/>
      <p:bldP spid="105478" grpId="0" animBg="1"/>
      <p:bldP spid="105479" grpId="0" animBg="1"/>
      <p:bldP spid="105480" grpId="0"/>
      <p:bldP spid="105481" grpId="0" animBg="1"/>
      <p:bldP spid="105482" grpId="0" animBg="1"/>
      <p:bldP spid="12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643F0505-A450-4DD2-91C9-3E5409A9F6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4.10 </a:t>
            </a:r>
            <a:r>
              <a:rPr lang="zh-CN" altLang="en-US"/>
              <a:t>规范</a:t>
            </a:r>
            <a:r>
              <a:rPr lang="en-US" altLang="zh-CN"/>
              <a:t>LR</a:t>
            </a:r>
            <a:r>
              <a:rPr lang="zh-CN" altLang="en-US"/>
              <a:t>分析表的构造</a:t>
            </a:r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34185339-3370-43B8-8062-D501B4906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输入：一个拓广文法</a:t>
            </a:r>
            <a:r>
              <a:rPr lang="en-US" altLang="zh-CN" sz="2400"/>
              <a:t>G’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输出：</a:t>
            </a:r>
            <a:r>
              <a:rPr lang="en-US" altLang="zh-CN" sz="2400"/>
              <a:t>G’</a:t>
            </a:r>
            <a:r>
              <a:rPr lang="zh-CN" altLang="en-US" sz="2400"/>
              <a:t>的规范</a:t>
            </a:r>
            <a:r>
              <a:rPr lang="en-US" altLang="zh-CN" sz="2400"/>
              <a:t>LR</a:t>
            </a:r>
            <a:r>
              <a:rPr lang="zh-CN" altLang="en-US" sz="2400"/>
              <a:t>分析表，函数</a:t>
            </a:r>
            <a:r>
              <a:rPr lang="en-US" altLang="zh-CN" sz="2400"/>
              <a:t>action</a:t>
            </a:r>
            <a:r>
              <a:rPr lang="zh-CN" altLang="en-US" sz="2400"/>
              <a:t>和</a:t>
            </a:r>
            <a:r>
              <a:rPr lang="en-US" altLang="zh-CN" sz="2400"/>
              <a:t>goto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方法：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构造</a:t>
            </a:r>
            <a:r>
              <a:rPr lang="en-US" altLang="zh-CN" sz="2400"/>
              <a:t>LR(1)</a:t>
            </a:r>
            <a:r>
              <a:rPr lang="zh-CN" altLang="en-US" sz="2400"/>
              <a:t>项目集规范族</a:t>
            </a:r>
            <a:r>
              <a:rPr lang="en-US" altLang="zh-CN" sz="2400"/>
              <a:t>C={I</a:t>
            </a:r>
            <a:r>
              <a:rPr lang="en-US" altLang="zh-CN" sz="2400" baseline="-25000"/>
              <a:t>0</a:t>
            </a:r>
            <a:r>
              <a:rPr lang="en-US" altLang="zh-CN" sz="2400"/>
              <a:t>, I</a:t>
            </a:r>
            <a:r>
              <a:rPr lang="en-US" altLang="zh-CN" sz="2400" baseline="-25000"/>
              <a:t>1</a:t>
            </a:r>
            <a:r>
              <a:rPr lang="en-US" altLang="zh-CN" sz="2400"/>
              <a:t>, …, I</a:t>
            </a:r>
            <a:r>
              <a:rPr lang="en-US" altLang="zh-CN" sz="2400" baseline="-25000"/>
              <a:t>n</a:t>
            </a:r>
            <a:r>
              <a:rPr lang="en-US" altLang="zh-CN" sz="2400"/>
              <a:t>}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由</a:t>
            </a:r>
            <a:r>
              <a:rPr lang="en-US" altLang="zh-CN" sz="2400"/>
              <a:t>I</a:t>
            </a:r>
            <a:r>
              <a:rPr lang="en-US" altLang="zh-CN" sz="2400" baseline="-25000"/>
              <a:t>i</a:t>
            </a:r>
            <a:r>
              <a:rPr lang="zh-CN" altLang="en-US" sz="2400"/>
              <a:t>构造状态</a:t>
            </a:r>
            <a:r>
              <a:rPr lang="en-US" altLang="zh-CN" sz="2400"/>
              <a:t>i</a:t>
            </a:r>
            <a:r>
              <a:rPr lang="zh-CN" altLang="en-US" sz="2400"/>
              <a:t>：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lphaLcParenR"/>
            </a:pPr>
            <a:r>
              <a:rPr lang="zh-CN" altLang="en-US" sz="2400"/>
              <a:t>若</a:t>
            </a:r>
            <a:r>
              <a:rPr lang="en-US" altLang="zh-CN" sz="2400"/>
              <a:t>[A</a:t>
            </a:r>
            <a:r>
              <a:rPr lang="en-US" altLang="zh-CN" sz="2400">
                <a:sym typeface="Symbol" panose="05050102010706020507" pitchFamily="18" charset="2"/>
              </a:rPr>
              <a:t>·a, b</a:t>
            </a:r>
            <a:r>
              <a:rPr lang="en-US" altLang="zh-CN" sz="2400"/>
              <a:t>]</a:t>
            </a:r>
            <a:r>
              <a:rPr lang="zh-CN" altLang="en-US" sz="2400"/>
              <a:t>在</a:t>
            </a:r>
            <a:r>
              <a:rPr lang="en-US" altLang="zh-CN" sz="2400"/>
              <a:t>I</a:t>
            </a:r>
            <a:r>
              <a:rPr lang="en-US" altLang="zh-CN" sz="2400" baseline="-25000"/>
              <a:t>i</a:t>
            </a:r>
            <a:r>
              <a:rPr lang="zh-CN" altLang="en-US" sz="2400"/>
              <a:t>中，且</a:t>
            </a:r>
            <a:r>
              <a:rPr lang="en-US" altLang="zh-CN" sz="2400"/>
              <a:t>goto(I</a:t>
            </a:r>
            <a:r>
              <a:rPr lang="en-US" altLang="zh-CN" sz="2400" baseline="-25000"/>
              <a:t>i</a:t>
            </a:r>
            <a:r>
              <a:rPr lang="en-US" altLang="zh-CN" sz="2400"/>
              <a:t>, a)=I</a:t>
            </a:r>
            <a:r>
              <a:rPr lang="en-US" altLang="zh-CN" sz="2400" baseline="-25000"/>
              <a:t>j</a:t>
            </a:r>
            <a:r>
              <a:rPr lang="zh-CN" altLang="en-US" sz="2400"/>
              <a:t>，令</a:t>
            </a:r>
            <a:r>
              <a:rPr lang="en-US" altLang="zh-CN" sz="2400"/>
              <a:t>action[i, a]=“</a:t>
            </a:r>
            <a:r>
              <a:rPr lang="zh-CN" altLang="en-US" sz="2400"/>
              <a:t>移进</a:t>
            </a:r>
            <a:r>
              <a:rPr lang="en-US" altLang="zh-CN" sz="2400"/>
              <a:t>j”</a:t>
            </a:r>
            <a:r>
              <a:rPr lang="zh-CN" altLang="en-US" sz="2400"/>
              <a:t>，此处</a:t>
            </a:r>
            <a:r>
              <a:rPr lang="en-US" altLang="zh-CN" sz="2400"/>
              <a:t>a</a:t>
            </a:r>
            <a:r>
              <a:rPr lang="zh-CN" altLang="en-US" sz="2400"/>
              <a:t>为终结符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lphaLcParenR"/>
            </a:pPr>
            <a:r>
              <a:rPr lang="zh-CN" altLang="en-US" sz="2400"/>
              <a:t>若</a:t>
            </a:r>
            <a:r>
              <a:rPr lang="en-US" altLang="zh-CN" sz="2400"/>
              <a:t>[A</a:t>
            </a:r>
            <a:r>
              <a:rPr lang="en-US" altLang="zh-CN" sz="2400">
                <a:sym typeface="Symbol" panose="05050102010706020507" pitchFamily="18" charset="2"/>
              </a:rPr>
              <a:t>·, a</a:t>
            </a:r>
            <a:r>
              <a:rPr lang="en-US" altLang="zh-CN" sz="2400"/>
              <a:t>]</a:t>
            </a:r>
            <a:r>
              <a:rPr lang="zh-CN" altLang="en-US" sz="2400"/>
              <a:t>在</a:t>
            </a:r>
            <a:r>
              <a:rPr lang="en-US" altLang="zh-CN" sz="2400"/>
              <a:t>I</a:t>
            </a:r>
            <a:r>
              <a:rPr lang="en-US" altLang="zh-CN" sz="2400" baseline="-25000"/>
              <a:t>i</a:t>
            </a:r>
            <a:r>
              <a:rPr lang="zh-CN" altLang="en-US" sz="2400"/>
              <a:t>中，</a:t>
            </a:r>
            <a:r>
              <a:rPr lang="en-US" altLang="zh-CN" sz="2400"/>
              <a:t>A</a:t>
            </a:r>
            <a:r>
              <a:rPr lang="en-US" altLang="zh-CN" sz="2400">
                <a:ea typeface="Arial Unicode MS" pitchFamily="34" charset="-122"/>
              </a:rPr>
              <a:t>≠</a:t>
            </a:r>
            <a:r>
              <a:rPr lang="en-US" altLang="zh-CN" sz="2400"/>
              <a:t>S’</a:t>
            </a:r>
            <a:r>
              <a:rPr lang="zh-CN" altLang="en-US" sz="2400"/>
              <a:t>，则令</a:t>
            </a:r>
            <a:br>
              <a:rPr lang="zh-CN" altLang="en-US" sz="2400"/>
            </a:br>
            <a:r>
              <a:rPr lang="en-US" altLang="zh-CN" sz="2400"/>
              <a:t>action[i, a] = “</a:t>
            </a:r>
            <a:r>
              <a:rPr lang="zh-CN" altLang="en-US" sz="2400"/>
              <a:t>归约</a:t>
            </a:r>
            <a:r>
              <a:rPr lang="en-US" altLang="zh-CN" sz="2400"/>
              <a:t>A</a:t>
            </a:r>
            <a:r>
              <a:rPr lang="en-US" altLang="zh-CN" sz="2400">
                <a:sym typeface="Symbol" panose="05050102010706020507" pitchFamily="18" charset="2"/>
              </a:rPr>
              <a:t>”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3C403731-7693-478E-9FA2-B65305372D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4.10 </a:t>
            </a:r>
            <a:r>
              <a:rPr lang="zh-CN" altLang="en-US"/>
              <a:t>（续）</a:t>
            </a:r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464E778A-DF78-444B-9B25-D4FCAF06FD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990600" lvl="1" indent="-533400" eaLnBrk="1" hangingPunct="1">
              <a:buFont typeface="Wingdings" panose="05000000000000000000" pitchFamily="2" charset="2"/>
              <a:buAutoNum type="alphaLcParenR" startAt="3"/>
            </a:pPr>
            <a:r>
              <a:rPr lang="zh-CN" altLang="en-US" dirty="0"/>
              <a:t>若</a:t>
            </a:r>
            <a:r>
              <a:rPr lang="en-US" altLang="zh-CN" dirty="0"/>
              <a:t>[S’</a:t>
            </a:r>
            <a:r>
              <a:rPr lang="en-US" altLang="zh-CN" dirty="0">
                <a:sym typeface="Symbol" panose="05050102010706020507" pitchFamily="18" charset="2"/>
              </a:rPr>
              <a:t>S· , $</a:t>
            </a:r>
            <a:r>
              <a:rPr lang="en-US" altLang="zh-CN" dirty="0"/>
              <a:t>]</a:t>
            </a:r>
            <a:r>
              <a:rPr lang="zh-CN" altLang="en-US" dirty="0"/>
              <a:t>在</a:t>
            </a:r>
            <a:r>
              <a:rPr lang="en-US" altLang="zh-CN" dirty="0"/>
              <a:t>I</a:t>
            </a:r>
            <a:r>
              <a:rPr lang="en-US" altLang="zh-CN" baseline="-25000" dirty="0"/>
              <a:t>i</a:t>
            </a:r>
            <a:r>
              <a:rPr lang="zh-CN" altLang="en-US" dirty="0"/>
              <a:t>中，则令</a:t>
            </a:r>
            <a:br>
              <a:rPr lang="zh-CN" altLang="en-US" dirty="0"/>
            </a:br>
            <a:r>
              <a:rPr lang="en-US" altLang="zh-CN" dirty="0"/>
              <a:t>action[</a:t>
            </a:r>
            <a:r>
              <a:rPr lang="en-US" altLang="zh-CN" dirty="0" err="1"/>
              <a:t>i</a:t>
            </a:r>
            <a:r>
              <a:rPr lang="en-US" altLang="zh-CN" dirty="0"/>
              <a:t>, $] = </a:t>
            </a:r>
            <a:r>
              <a:rPr lang="zh-CN" altLang="en-US" dirty="0"/>
              <a:t>“接受</a:t>
            </a:r>
            <a:r>
              <a:rPr lang="zh-CN" altLang="en-US" dirty="0">
                <a:sym typeface="Symbol" panose="05050102010706020507" pitchFamily="18" charset="2"/>
              </a:rPr>
              <a:t>”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 startAt="3"/>
            </a:pPr>
            <a:r>
              <a:rPr lang="zh-CN" altLang="en-US" dirty="0">
                <a:sym typeface="Symbol" panose="05050102010706020507" pitchFamily="18" charset="2"/>
              </a:rPr>
              <a:t>若</a:t>
            </a:r>
            <a:r>
              <a:rPr lang="en-US" altLang="zh-CN" dirty="0" err="1">
                <a:sym typeface="Symbol" panose="05050102010706020507" pitchFamily="18" charset="2"/>
              </a:rPr>
              <a:t>goto</a:t>
            </a:r>
            <a:r>
              <a:rPr lang="en-US" altLang="zh-CN" dirty="0">
                <a:sym typeface="Symbol" panose="05050102010706020507" pitchFamily="18" charset="2"/>
              </a:rPr>
              <a:t>(I</a:t>
            </a:r>
            <a:r>
              <a:rPr lang="en-US" altLang="zh-CN" baseline="-25000" dirty="0">
                <a:sym typeface="Symbol" panose="05050102010706020507" pitchFamily="18" charset="2"/>
              </a:rPr>
              <a:t>i</a:t>
            </a:r>
            <a:r>
              <a:rPr lang="en-US" altLang="zh-CN" dirty="0">
                <a:sym typeface="Symbol" panose="05050102010706020507" pitchFamily="18" charset="2"/>
              </a:rPr>
              <a:t>, A)=</a:t>
            </a:r>
            <a:r>
              <a:rPr lang="en-US" altLang="zh-CN" dirty="0" err="1">
                <a:sym typeface="Symbol" panose="05050102010706020507" pitchFamily="18" charset="2"/>
              </a:rPr>
              <a:t>I</a:t>
            </a:r>
            <a:r>
              <a:rPr lang="en-US" altLang="zh-CN" baseline="-25000" dirty="0" err="1">
                <a:sym typeface="Symbol" panose="05050102010706020507" pitchFamily="18" charset="2"/>
              </a:rPr>
              <a:t>j</a:t>
            </a:r>
            <a:r>
              <a:rPr lang="zh-CN" altLang="en-US" dirty="0">
                <a:sym typeface="Symbol" panose="05050102010706020507" pitchFamily="18" charset="2"/>
              </a:rPr>
              <a:t>，则</a:t>
            </a:r>
            <a:r>
              <a:rPr lang="en-US" altLang="zh-CN" dirty="0" err="1">
                <a:sym typeface="Symbol" panose="05050102010706020507" pitchFamily="18" charset="2"/>
              </a:rPr>
              <a:t>goto</a:t>
            </a:r>
            <a:r>
              <a:rPr lang="en-US" altLang="zh-CN" dirty="0">
                <a:sym typeface="Symbol" panose="05050102010706020507" pitchFamily="18" charset="2"/>
              </a:rPr>
              <a:t>[I</a:t>
            </a:r>
            <a:r>
              <a:rPr lang="en-US" altLang="zh-CN" baseline="-25000" dirty="0">
                <a:sym typeface="Symbol" panose="05050102010706020507" pitchFamily="18" charset="2"/>
              </a:rPr>
              <a:t>i</a:t>
            </a:r>
            <a:r>
              <a:rPr lang="en-US" altLang="zh-CN" dirty="0">
                <a:sym typeface="Symbol" panose="05050102010706020507" pitchFamily="18" charset="2"/>
              </a:rPr>
              <a:t>, A]=j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 startAt="3"/>
            </a:pPr>
            <a:r>
              <a:rPr lang="zh-CN" altLang="en-US" dirty="0">
                <a:sym typeface="Symbol" panose="05050102010706020507" pitchFamily="18" charset="2"/>
              </a:rPr>
              <a:t>所有</a:t>
            </a:r>
            <a:r>
              <a:rPr lang="en-US" altLang="zh-CN" dirty="0">
                <a:sym typeface="Symbol" panose="05050102010706020507" pitchFamily="18" charset="2"/>
              </a:rPr>
              <a:t>2</a:t>
            </a:r>
            <a:r>
              <a:rPr lang="zh-CN" altLang="en-US" dirty="0">
                <a:sym typeface="Symbol" panose="05050102010706020507" pitchFamily="18" charset="2"/>
              </a:rPr>
              <a:t>、</a:t>
            </a:r>
            <a:r>
              <a:rPr lang="en-US" altLang="zh-CN" dirty="0">
                <a:sym typeface="Symbol" panose="05050102010706020507" pitchFamily="18" charset="2"/>
              </a:rPr>
              <a:t>3</a:t>
            </a:r>
            <a:r>
              <a:rPr lang="zh-CN" altLang="en-US" dirty="0">
                <a:sym typeface="Symbol" panose="05050102010706020507" pitchFamily="18" charset="2"/>
              </a:rPr>
              <a:t>未定义的项为错误项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 startAt="3"/>
            </a:pPr>
            <a:r>
              <a:rPr lang="zh-CN" altLang="en-US" dirty="0">
                <a:sym typeface="Symbol" panose="05050102010706020507" pitchFamily="18" charset="2"/>
              </a:rPr>
              <a:t>分析器的初态设定为</a:t>
            </a:r>
            <a:r>
              <a:rPr lang="en-US" altLang="zh-CN" dirty="0"/>
              <a:t>[S’</a:t>
            </a:r>
            <a:r>
              <a:rPr lang="en-US" altLang="zh-CN" dirty="0">
                <a:sym typeface="Symbol" panose="05050102010706020507" pitchFamily="18" charset="2"/>
              </a:rPr>
              <a:t>·S , $</a:t>
            </a:r>
            <a:r>
              <a:rPr lang="en-US" altLang="zh-CN" dirty="0"/>
              <a:t>]</a:t>
            </a:r>
            <a:r>
              <a:rPr lang="zh-CN" altLang="en-US" dirty="0"/>
              <a:t>所在项目集</a:t>
            </a:r>
            <a:r>
              <a:rPr lang="en-US" altLang="zh-CN" dirty="0"/>
              <a:t>I</a:t>
            </a:r>
            <a:r>
              <a:rPr lang="en-US" altLang="zh-CN" baseline="-25000" dirty="0"/>
              <a:t>0</a:t>
            </a:r>
            <a:endParaRPr lang="en-US" altLang="zh-CN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ABE1BC39-3085-4AFC-941F-D6169FED50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4.43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4A121464-2ECB-49B0-B651-848D6D9F9A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295400"/>
            <a:ext cx="7772400" cy="609600"/>
          </a:xfrm>
        </p:spPr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4.42</a:t>
            </a:r>
            <a:r>
              <a:rPr lang="zh-CN" altLang="en-US"/>
              <a:t>文法规范</a:t>
            </a:r>
            <a:r>
              <a:rPr lang="en-US" altLang="zh-CN"/>
              <a:t>LR(1)</a:t>
            </a:r>
            <a:r>
              <a:rPr lang="zh-CN" altLang="en-US"/>
              <a:t>分析表如下所示</a:t>
            </a:r>
          </a:p>
        </p:txBody>
      </p:sp>
      <p:sp>
        <p:nvSpPr>
          <p:cNvPr id="108548" name="Line 4">
            <a:extLst>
              <a:ext uri="{FF2B5EF4-FFF2-40B4-BE49-F238E27FC236}">
                <a16:creationId xmlns:a16="http://schemas.microsoft.com/office/drawing/2014/main" id="{32578321-A82F-49DF-A39B-E2898EDD932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2057400"/>
            <a:ext cx="4648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49" name="Line 5">
            <a:extLst>
              <a:ext uri="{FF2B5EF4-FFF2-40B4-BE49-F238E27FC236}">
                <a16:creationId xmlns:a16="http://schemas.microsoft.com/office/drawing/2014/main" id="{4031D208-B644-4B88-9B69-A7793135BE9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2133600"/>
            <a:ext cx="4648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50" name="Line 6">
            <a:extLst>
              <a:ext uri="{FF2B5EF4-FFF2-40B4-BE49-F238E27FC236}">
                <a16:creationId xmlns:a16="http://schemas.microsoft.com/office/drawing/2014/main" id="{A6CBEE1D-8C49-4913-9826-D6AE4C9A042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2514600"/>
            <a:ext cx="396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51" name="Line 7">
            <a:extLst>
              <a:ext uri="{FF2B5EF4-FFF2-40B4-BE49-F238E27FC236}">
                <a16:creationId xmlns:a16="http://schemas.microsoft.com/office/drawing/2014/main" id="{D2C44078-7B75-4C32-94B5-4399D1C746D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2819400"/>
            <a:ext cx="4648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52" name="Line 8">
            <a:extLst>
              <a:ext uri="{FF2B5EF4-FFF2-40B4-BE49-F238E27FC236}">
                <a16:creationId xmlns:a16="http://schemas.microsoft.com/office/drawing/2014/main" id="{0C9C9C10-2E45-4EF8-82F2-527BAB1E1EF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2057400"/>
            <a:ext cx="0" cy="449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53" name="Line 9">
            <a:extLst>
              <a:ext uri="{FF2B5EF4-FFF2-40B4-BE49-F238E27FC236}">
                <a16:creationId xmlns:a16="http://schemas.microsoft.com/office/drawing/2014/main" id="{4ABA8D3D-D027-46A4-A587-B6517E0AAA8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2133600"/>
            <a:ext cx="0" cy="441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54" name="Line 10">
            <a:extLst>
              <a:ext uri="{FF2B5EF4-FFF2-40B4-BE49-F238E27FC236}">
                <a16:creationId xmlns:a16="http://schemas.microsoft.com/office/drawing/2014/main" id="{AD64CDD6-C1F3-41C0-AAFF-77C00A7EE48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2133600"/>
            <a:ext cx="0" cy="441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55" name="Text Box 11">
            <a:extLst>
              <a:ext uri="{FF2B5EF4-FFF2-40B4-BE49-F238E27FC236}">
                <a16:creationId xmlns:a16="http://schemas.microsoft.com/office/drawing/2014/main" id="{96504B11-B692-42EB-8F23-BCF119936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286000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状态</a:t>
            </a:r>
          </a:p>
        </p:txBody>
      </p:sp>
      <p:sp>
        <p:nvSpPr>
          <p:cNvPr id="108556" name="Text Box 12">
            <a:extLst>
              <a:ext uri="{FF2B5EF4-FFF2-40B4-BE49-F238E27FC236}">
                <a16:creationId xmlns:a16="http://schemas.microsoft.com/office/drawing/2014/main" id="{01858663-288E-4567-A5FF-1FC2FD6DB8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action</a:t>
            </a:r>
          </a:p>
        </p:txBody>
      </p:sp>
      <p:sp>
        <p:nvSpPr>
          <p:cNvPr id="108557" name="Text Box 13">
            <a:extLst>
              <a:ext uri="{FF2B5EF4-FFF2-40B4-BE49-F238E27FC236}">
                <a16:creationId xmlns:a16="http://schemas.microsoft.com/office/drawing/2014/main" id="{19A8EF61-ED55-40DD-92FE-E61A7345C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24415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c</a:t>
            </a:r>
          </a:p>
        </p:txBody>
      </p:sp>
      <p:sp>
        <p:nvSpPr>
          <p:cNvPr id="108558" name="Text Box 14">
            <a:extLst>
              <a:ext uri="{FF2B5EF4-FFF2-40B4-BE49-F238E27FC236}">
                <a16:creationId xmlns:a16="http://schemas.microsoft.com/office/drawing/2014/main" id="{B4FBE259-4F0F-49BE-B875-02DD2A7AD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0488" y="24415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d</a:t>
            </a:r>
          </a:p>
        </p:txBody>
      </p:sp>
      <p:sp>
        <p:nvSpPr>
          <p:cNvPr id="108559" name="Text Box 15">
            <a:extLst>
              <a:ext uri="{FF2B5EF4-FFF2-40B4-BE49-F238E27FC236}">
                <a16:creationId xmlns:a16="http://schemas.microsoft.com/office/drawing/2014/main" id="{B38A9919-7640-4164-A65B-6144DD3A5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4563" y="24415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$</a:t>
            </a:r>
          </a:p>
        </p:txBody>
      </p:sp>
      <p:sp>
        <p:nvSpPr>
          <p:cNvPr id="108560" name="Text Box 19">
            <a:extLst>
              <a:ext uri="{FF2B5EF4-FFF2-40B4-BE49-F238E27FC236}">
                <a16:creationId xmlns:a16="http://schemas.microsoft.com/office/drawing/2014/main" id="{633705E8-2131-4B7E-918B-510C590CE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8194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0</a:t>
            </a:r>
          </a:p>
        </p:txBody>
      </p:sp>
      <p:sp>
        <p:nvSpPr>
          <p:cNvPr id="108561" name="Text Box 20">
            <a:extLst>
              <a:ext uri="{FF2B5EF4-FFF2-40B4-BE49-F238E27FC236}">
                <a16:creationId xmlns:a16="http://schemas.microsoft.com/office/drawing/2014/main" id="{C8272223-9EEE-4AC6-8A6D-76AF7A2C1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2004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1</a:t>
            </a:r>
          </a:p>
        </p:txBody>
      </p:sp>
      <p:sp>
        <p:nvSpPr>
          <p:cNvPr id="108562" name="Text Box 21">
            <a:extLst>
              <a:ext uri="{FF2B5EF4-FFF2-40B4-BE49-F238E27FC236}">
                <a16:creationId xmlns:a16="http://schemas.microsoft.com/office/drawing/2014/main" id="{8C616382-C8A0-4236-BF37-655551CA1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5814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2</a:t>
            </a:r>
          </a:p>
        </p:txBody>
      </p:sp>
      <p:sp>
        <p:nvSpPr>
          <p:cNvPr id="108563" name="Text Box 22">
            <a:extLst>
              <a:ext uri="{FF2B5EF4-FFF2-40B4-BE49-F238E27FC236}">
                <a16:creationId xmlns:a16="http://schemas.microsoft.com/office/drawing/2014/main" id="{EDC707DC-D9CE-43CC-9903-FFE2AF082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9624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3</a:t>
            </a:r>
          </a:p>
        </p:txBody>
      </p:sp>
      <p:sp>
        <p:nvSpPr>
          <p:cNvPr id="108564" name="Text Box 23">
            <a:extLst>
              <a:ext uri="{FF2B5EF4-FFF2-40B4-BE49-F238E27FC236}">
                <a16:creationId xmlns:a16="http://schemas.microsoft.com/office/drawing/2014/main" id="{0E0696DF-08A7-46CC-9CC3-E858A558C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3434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4</a:t>
            </a:r>
          </a:p>
        </p:txBody>
      </p:sp>
      <p:sp>
        <p:nvSpPr>
          <p:cNvPr id="108565" name="Line 24">
            <a:extLst>
              <a:ext uri="{FF2B5EF4-FFF2-40B4-BE49-F238E27FC236}">
                <a16:creationId xmlns:a16="http://schemas.microsoft.com/office/drawing/2014/main" id="{D8457261-4138-49B6-8D3D-9B84E73E95A6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2057400"/>
            <a:ext cx="0" cy="449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66" name="Text Box 25">
            <a:extLst>
              <a:ext uri="{FF2B5EF4-FFF2-40B4-BE49-F238E27FC236}">
                <a16:creationId xmlns:a16="http://schemas.microsoft.com/office/drawing/2014/main" id="{EE134E10-463D-48B4-94CF-1DAFD8BA5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7244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5</a:t>
            </a:r>
          </a:p>
        </p:txBody>
      </p:sp>
      <p:sp>
        <p:nvSpPr>
          <p:cNvPr id="108567" name="Text Box 26">
            <a:extLst>
              <a:ext uri="{FF2B5EF4-FFF2-40B4-BE49-F238E27FC236}">
                <a16:creationId xmlns:a16="http://schemas.microsoft.com/office/drawing/2014/main" id="{3BC41792-4547-4420-BE7C-E41396D72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0895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6</a:t>
            </a:r>
          </a:p>
        </p:txBody>
      </p:sp>
      <p:sp>
        <p:nvSpPr>
          <p:cNvPr id="108568" name="Text Box 27">
            <a:extLst>
              <a:ext uri="{FF2B5EF4-FFF2-40B4-BE49-F238E27FC236}">
                <a16:creationId xmlns:a16="http://schemas.microsoft.com/office/drawing/2014/main" id="{CB8090A2-A28E-4C7D-A66A-B70A2093C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4705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7</a:t>
            </a:r>
          </a:p>
        </p:txBody>
      </p:sp>
      <p:sp>
        <p:nvSpPr>
          <p:cNvPr id="108569" name="Text Box 28">
            <a:extLst>
              <a:ext uri="{FF2B5EF4-FFF2-40B4-BE49-F238E27FC236}">
                <a16:creationId xmlns:a16="http://schemas.microsoft.com/office/drawing/2014/main" id="{1309C51F-96B3-4869-997D-E148FC910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515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8</a:t>
            </a:r>
          </a:p>
        </p:txBody>
      </p:sp>
      <p:sp>
        <p:nvSpPr>
          <p:cNvPr id="108570" name="Text Box 29">
            <a:extLst>
              <a:ext uri="{FF2B5EF4-FFF2-40B4-BE49-F238E27FC236}">
                <a16:creationId xmlns:a16="http://schemas.microsoft.com/office/drawing/2014/main" id="{AFC95593-215E-417F-AA55-EB95C8A08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62325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9</a:t>
            </a:r>
          </a:p>
        </p:txBody>
      </p:sp>
      <p:sp>
        <p:nvSpPr>
          <p:cNvPr id="108571" name="Line 31">
            <a:extLst>
              <a:ext uri="{FF2B5EF4-FFF2-40B4-BE49-F238E27FC236}">
                <a16:creationId xmlns:a16="http://schemas.microsoft.com/office/drawing/2014/main" id="{0BCF1E67-5A8E-421B-BC38-8CCB719079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6537325"/>
            <a:ext cx="4648200" cy="158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72" name="Text Box 33">
            <a:extLst>
              <a:ext uri="{FF2B5EF4-FFF2-40B4-BE49-F238E27FC236}">
                <a16:creationId xmlns:a16="http://schemas.microsoft.com/office/drawing/2014/main" id="{28A3B212-DAC5-4894-924E-21BDA095F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4384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S</a:t>
            </a:r>
          </a:p>
        </p:txBody>
      </p:sp>
      <p:sp>
        <p:nvSpPr>
          <p:cNvPr id="108573" name="Text Box 34">
            <a:extLst>
              <a:ext uri="{FF2B5EF4-FFF2-40B4-BE49-F238E27FC236}">
                <a16:creationId xmlns:a16="http://schemas.microsoft.com/office/drawing/2014/main" id="{56EFAE7D-4FEA-469D-A4E4-B5817DC802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4275" y="24384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C</a:t>
            </a:r>
          </a:p>
        </p:txBody>
      </p:sp>
      <p:sp>
        <p:nvSpPr>
          <p:cNvPr id="108574" name="Text Box 36">
            <a:extLst>
              <a:ext uri="{FF2B5EF4-FFF2-40B4-BE49-F238E27FC236}">
                <a16:creationId xmlns:a16="http://schemas.microsoft.com/office/drawing/2014/main" id="{C8AB11AD-F509-4947-BA14-168FADD31B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21336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goto</a:t>
            </a:r>
          </a:p>
        </p:txBody>
      </p:sp>
      <p:sp>
        <p:nvSpPr>
          <p:cNvPr id="108575" name="Text Box 37">
            <a:extLst>
              <a:ext uri="{FF2B5EF4-FFF2-40B4-BE49-F238E27FC236}">
                <a16:creationId xmlns:a16="http://schemas.microsoft.com/office/drawing/2014/main" id="{CF743631-7F35-41F9-B92E-7611DEAC53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28225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s3</a:t>
            </a:r>
          </a:p>
        </p:txBody>
      </p:sp>
      <p:sp>
        <p:nvSpPr>
          <p:cNvPr id="108576" name="Text Box 38">
            <a:extLst>
              <a:ext uri="{FF2B5EF4-FFF2-40B4-BE49-F238E27FC236}">
                <a16:creationId xmlns:a16="http://schemas.microsoft.com/office/drawing/2014/main" id="{67C8D810-3C09-4DD0-B1FE-E058F766F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28225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</a:p>
        </p:txBody>
      </p:sp>
      <p:sp>
        <p:nvSpPr>
          <p:cNvPr id="108577" name="Text Box 39">
            <a:extLst>
              <a:ext uri="{FF2B5EF4-FFF2-40B4-BE49-F238E27FC236}">
                <a16:creationId xmlns:a16="http://schemas.microsoft.com/office/drawing/2014/main" id="{3A1B576D-6097-47BD-9CEF-F2B5598DD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8194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1</a:t>
            </a:r>
          </a:p>
        </p:txBody>
      </p:sp>
      <p:sp>
        <p:nvSpPr>
          <p:cNvPr id="108578" name="Text Box 40">
            <a:extLst>
              <a:ext uri="{FF2B5EF4-FFF2-40B4-BE49-F238E27FC236}">
                <a16:creationId xmlns:a16="http://schemas.microsoft.com/office/drawing/2014/main" id="{704E3294-3F96-4462-BFAD-42101122B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4275" y="28194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2</a:t>
            </a:r>
          </a:p>
        </p:txBody>
      </p:sp>
      <p:sp>
        <p:nvSpPr>
          <p:cNvPr id="108579" name="Text Box 43">
            <a:extLst>
              <a:ext uri="{FF2B5EF4-FFF2-40B4-BE49-F238E27FC236}">
                <a16:creationId xmlns:a16="http://schemas.microsoft.com/office/drawing/2014/main" id="{23F7FBED-9470-480B-8B88-6265FFAC63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2035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acc</a:t>
            </a:r>
          </a:p>
        </p:txBody>
      </p:sp>
      <p:sp>
        <p:nvSpPr>
          <p:cNvPr id="108580" name="Text Box 44">
            <a:extLst>
              <a:ext uri="{FF2B5EF4-FFF2-40B4-BE49-F238E27FC236}">
                <a16:creationId xmlns:a16="http://schemas.microsoft.com/office/drawing/2014/main" id="{FEA03528-2FF7-4AA1-9AC8-1C65179476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2125" y="35655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s6</a:t>
            </a:r>
          </a:p>
        </p:txBody>
      </p:sp>
      <p:sp>
        <p:nvSpPr>
          <p:cNvPr id="108581" name="Text Box 45">
            <a:extLst>
              <a:ext uri="{FF2B5EF4-FFF2-40B4-BE49-F238E27FC236}">
                <a16:creationId xmlns:a16="http://schemas.microsoft.com/office/drawing/2014/main" id="{CD5485B1-0A90-4AA2-B509-B0A11CFD48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35655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s7</a:t>
            </a:r>
          </a:p>
        </p:txBody>
      </p:sp>
      <p:sp>
        <p:nvSpPr>
          <p:cNvPr id="108582" name="Text Box 52">
            <a:extLst>
              <a:ext uri="{FF2B5EF4-FFF2-40B4-BE49-F238E27FC236}">
                <a16:creationId xmlns:a16="http://schemas.microsoft.com/office/drawing/2014/main" id="{3468A1EF-272D-4AF7-B799-366C72053C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43465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</a:p>
        </p:txBody>
      </p:sp>
      <p:sp>
        <p:nvSpPr>
          <p:cNvPr id="108583" name="Text Box 53">
            <a:extLst>
              <a:ext uri="{FF2B5EF4-FFF2-40B4-BE49-F238E27FC236}">
                <a16:creationId xmlns:a16="http://schemas.microsoft.com/office/drawing/2014/main" id="{50F6EA14-2778-47CC-9F31-59079FE55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3465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</a:p>
        </p:txBody>
      </p:sp>
      <p:sp>
        <p:nvSpPr>
          <p:cNvPr id="108584" name="Text Box 54">
            <a:extLst>
              <a:ext uri="{FF2B5EF4-FFF2-40B4-BE49-F238E27FC236}">
                <a16:creationId xmlns:a16="http://schemas.microsoft.com/office/drawing/2014/main" id="{9868F3DC-0417-439E-80E2-109377C99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35814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5</a:t>
            </a:r>
          </a:p>
        </p:txBody>
      </p:sp>
      <p:sp>
        <p:nvSpPr>
          <p:cNvPr id="108585" name="Text Box 55">
            <a:extLst>
              <a:ext uri="{FF2B5EF4-FFF2-40B4-BE49-F238E27FC236}">
                <a16:creationId xmlns:a16="http://schemas.microsoft.com/office/drawing/2014/main" id="{F531131F-DBF4-4ED2-BEB2-85C7C92BE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39624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8</a:t>
            </a:r>
          </a:p>
        </p:txBody>
      </p:sp>
      <p:sp>
        <p:nvSpPr>
          <p:cNvPr id="108586" name="Text Box 58">
            <a:extLst>
              <a:ext uri="{FF2B5EF4-FFF2-40B4-BE49-F238E27FC236}">
                <a16:creationId xmlns:a16="http://schemas.microsoft.com/office/drawing/2014/main" id="{EE7F6968-B8F4-44E1-A3D0-A1A4BC0E2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4563" y="47275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r1</a:t>
            </a:r>
          </a:p>
        </p:txBody>
      </p:sp>
      <p:sp>
        <p:nvSpPr>
          <p:cNvPr id="108587" name="Text Box 63">
            <a:extLst>
              <a:ext uri="{FF2B5EF4-FFF2-40B4-BE49-F238E27FC236}">
                <a16:creationId xmlns:a16="http://schemas.microsoft.com/office/drawing/2014/main" id="{ED4E7CF6-7725-4F5D-AC24-0C16884AE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4275" y="50863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9</a:t>
            </a:r>
          </a:p>
        </p:txBody>
      </p:sp>
      <p:sp>
        <p:nvSpPr>
          <p:cNvPr id="108588" name="Text Box 65">
            <a:extLst>
              <a:ext uri="{FF2B5EF4-FFF2-40B4-BE49-F238E27FC236}">
                <a16:creationId xmlns:a16="http://schemas.microsoft.com/office/drawing/2014/main" id="{5842C53B-D382-4956-B1BF-D1465D37C4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54705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</a:p>
        </p:txBody>
      </p:sp>
      <p:sp>
        <p:nvSpPr>
          <p:cNvPr id="108589" name="Text Box 70">
            <a:extLst>
              <a:ext uri="{FF2B5EF4-FFF2-40B4-BE49-F238E27FC236}">
                <a16:creationId xmlns:a16="http://schemas.microsoft.com/office/drawing/2014/main" id="{AB4F32FA-2152-464C-A9AE-C9509B62E5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62134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</a:p>
        </p:txBody>
      </p:sp>
      <p:sp>
        <p:nvSpPr>
          <p:cNvPr id="108590" name="Text Box 82">
            <a:extLst>
              <a:ext uri="{FF2B5EF4-FFF2-40B4-BE49-F238E27FC236}">
                <a16:creationId xmlns:a16="http://schemas.microsoft.com/office/drawing/2014/main" id="{3C940938-6256-4129-A56D-74EF667CB6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9624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s3</a:t>
            </a:r>
          </a:p>
        </p:txBody>
      </p:sp>
      <p:sp>
        <p:nvSpPr>
          <p:cNvPr id="108591" name="Text Box 83">
            <a:extLst>
              <a:ext uri="{FF2B5EF4-FFF2-40B4-BE49-F238E27FC236}">
                <a16:creationId xmlns:a16="http://schemas.microsoft.com/office/drawing/2014/main" id="{0CA7E305-D9DD-48CD-8231-2CEA600D2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39624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</a:p>
        </p:txBody>
      </p:sp>
      <p:sp>
        <p:nvSpPr>
          <p:cNvPr id="108592" name="Text Box 84">
            <a:extLst>
              <a:ext uri="{FF2B5EF4-FFF2-40B4-BE49-F238E27FC236}">
                <a16:creationId xmlns:a16="http://schemas.microsoft.com/office/drawing/2014/main" id="{8CB4F60D-C0A7-454F-9B16-55D8B8773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2125" y="50895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s6</a:t>
            </a:r>
          </a:p>
        </p:txBody>
      </p:sp>
      <p:sp>
        <p:nvSpPr>
          <p:cNvPr id="108593" name="Text Box 85">
            <a:extLst>
              <a:ext uri="{FF2B5EF4-FFF2-40B4-BE49-F238E27FC236}">
                <a16:creationId xmlns:a16="http://schemas.microsoft.com/office/drawing/2014/main" id="{19E3899E-F031-4F2E-801A-6B80CF034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50895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s7</a:t>
            </a:r>
          </a:p>
        </p:txBody>
      </p:sp>
      <p:sp>
        <p:nvSpPr>
          <p:cNvPr id="108594" name="Text Box 86">
            <a:extLst>
              <a:ext uri="{FF2B5EF4-FFF2-40B4-BE49-F238E27FC236}">
                <a16:creationId xmlns:a16="http://schemas.microsoft.com/office/drawing/2014/main" id="{7CE030D6-91E3-4EFB-BFF4-14848F13F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58515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</a:p>
        </p:txBody>
      </p:sp>
      <p:sp>
        <p:nvSpPr>
          <p:cNvPr id="108595" name="Text Box 87">
            <a:extLst>
              <a:ext uri="{FF2B5EF4-FFF2-40B4-BE49-F238E27FC236}">
                <a16:creationId xmlns:a16="http://schemas.microsoft.com/office/drawing/2014/main" id="{07B1CEA9-9B45-4E3C-BF45-F4B672805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58515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A5BD4FCB-D98A-479E-AB0B-D7E65882AD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4.7.5  </a:t>
            </a:r>
            <a:r>
              <a:rPr lang="zh-CN" altLang="en-US"/>
              <a:t>构造</a:t>
            </a:r>
            <a:r>
              <a:rPr lang="en-US" altLang="zh-CN"/>
              <a:t>LALR</a:t>
            </a:r>
            <a:r>
              <a:rPr lang="zh-CN" altLang="en-US"/>
              <a:t>分析表</a:t>
            </a:r>
          </a:p>
        </p:txBody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675A4243-04D3-4502-982F-416BC8D9FB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chemeClr val="hlink"/>
                </a:solidFill>
              </a:rPr>
              <a:t>lookahead LR</a:t>
            </a:r>
          </a:p>
          <a:p>
            <a:pPr eaLnBrk="1" hangingPunct="1"/>
            <a:r>
              <a:rPr lang="zh-CN" altLang="en-US"/>
              <a:t>比规范</a:t>
            </a:r>
            <a:r>
              <a:rPr lang="en-US" altLang="zh-CN"/>
              <a:t>LR</a:t>
            </a:r>
            <a:r>
              <a:rPr lang="zh-CN" altLang="en-US"/>
              <a:t>分析表小，但对应程序设计语言的翻译，其描述能力足够</a:t>
            </a:r>
          </a:p>
          <a:p>
            <a:pPr eaLnBrk="1" hangingPunct="1"/>
            <a:r>
              <a:rPr lang="zh-CN" altLang="en-US"/>
              <a:t>状态数与</a:t>
            </a:r>
            <a:r>
              <a:rPr lang="en-US" altLang="zh-CN"/>
              <a:t>SLR</a:t>
            </a:r>
            <a:r>
              <a:rPr lang="zh-CN" altLang="en-US"/>
              <a:t>相同</a:t>
            </a:r>
          </a:p>
          <a:p>
            <a:pPr lvl="1" eaLnBrk="1" hangingPunct="1"/>
            <a:r>
              <a:rPr lang="en-US" altLang="zh-CN"/>
              <a:t>Pascal</a:t>
            </a:r>
            <a:r>
              <a:rPr lang="zh-CN" altLang="en-US"/>
              <a:t>语言，几百个</a:t>
            </a:r>
          </a:p>
          <a:p>
            <a:pPr lvl="1" eaLnBrk="1" hangingPunct="1"/>
            <a:r>
              <a:rPr lang="zh-CN" altLang="en-US"/>
              <a:t>规范</a:t>
            </a:r>
            <a:r>
              <a:rPr lang="en-US" altLang="zh-CN"/>
              <a:t>LR</a:t>
            </a:r>
            <a:r>
              <a:rPr lang="zh-CN" altLang="en-US"/>
              <a:t>，几千个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D652DE34-9C36-4661-A81E-49F30431E1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“同心”</a:t>
            </a: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D91E6E71-94FA-453C-8D10-63D2932759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/>
            <a:r>
              <a:rPr lang="zh-CN" altLang="en-US"/>
              <a:t>考虑同心（</a:t>
            </a:r>
            <a:r>
              <a:rPr lang="en-US" altLang="zh-CN">
                <a:solidFill>
                  <a:schemeClr val="hlink"/>
                </a:solidFill>
              </a:rPr>
              <a:t>core</a:t>
            </a:r>
            <a:r>
              <a:rPr lang="zh-CN" altLang="en-US"/>
              <a:t>，</a:t>
            </a:r>
            <a:r>
              <a:rPr lang="en-US" altLang="zh-CN"/>
              <a:t>LR(0)</a:t>
            </a:r>
            <a:r>
              <a:rPr lang="zh-CN" altLang="en-US"/>
              <a:t>项目集）的</a:t>
            </a:r>
            <a:r>
              <a:rPr lang="en-US" altLang="zh-CN"/>
              <a:t>LR(1)</a:t>
            </a:r>
            <a:r>
              <a:rPr lang="zh-CN" altLang="en-US"/>
              <a:t>项目集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S’ </a:t>
            </a:r>
            <a:r>
              <a:rPr lang="en-US" altLang="zh-CN">
                <a:sym typeface="Symbol" panose="05050102010706020507" pitchFamily="18" charset="2"/>
              </a:rPr>
              <a:t> 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S  CC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C  cC | d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I</a:t>
            </a:r>
            <a:r>
              <a:rPr lang="en-US" altLang="zh-CN" baseline="-25000">
                <a:sym typeface="Symbol" panose="05050102010706020507" pitchFamily="18" charset="2"/>
              </a:rPr>
              <a:t>4</a:t>
            </a:r>
            <a:r>
              <a:rPr lang="zh-CN" altLang="en-US">
                <a:sym typeface="Symbol" panose="05050102010706020507" pitchFamily="18" charset="2"/>
              </a:rPr>
              <a:t>和</a:t>
            </a:r>
            <a:r>
              <a:rPr lang="en-US" altLang="zh-CN">
                <a:sym typeface="Symbol" panose="05050102010706020507" pitchFamily="18" charset="2"/>
              </a:rPr>
              <a:t>I</a:t>
            </a:r>
            <a:r>
              <a:rPr lang="en-US" altLang="zh-CN" baseline="-25000">
                <a:sym typeface="Symbol" panose="05050102010706020507" pitchFamily="18" charset="2"/>
              </a:rPr>
              <a:t>7</a:t>
            </a:r>
            <a:r>
              <a:rPr lang="zh-CN" altLang="en-US">
                <a:sym typeface="Symbol" panose="05050102010706020507" pitchFamily="18" charset="2"/>
              </a:rPr>
              <a:t>，心</a:t>
            </a:r>
            <a:r>
              <a:rPr lang="en-US" altLang="zh-CN">
                <a:sym typeface="Symbol" panose="05050102010706020507" pitchFamily="18" charset="2"/>
              </a:rPr>
              <a:t>C d·</a:t>
            </a:r>
            <a:r>
              <a:rPr lang="zh-CN" altLang="en-US">
                <a:sym typeface="Symbol" panose="05050102010706020507" pitchFamily="18" charset="2"/>
              </a:rPr>
              <a:t>相同，仅搜索符不同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4442C633-C6CF-441E-B71D-1644DF5F16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同心集合并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57C1610F-29FA-4F21-81B7-66FBE00178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57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sym typeface="Symbol" panose="05050102010706020507" pitchFamily="18" charset="2"/>
              </a:rPr>
              <a:t>I</a:t>
            </a:r>
            <a:r>
              <a:rPr lang="en-US" altLang="zh-CN" sz="2800" baseline="-25000" dirty="0">
                <a:sym typeface="Symbol" panose="05050102010706020507" pitchFamily="18" charset="2"/>
              </a:rPr>
              <a:t>4</a:t>
            </a:r>
            <a:r>
              <a:rPr lang="zh-CN" altLang="en-US" sz="2800" dirty="0">
                <a:sym typeface="Symbol" panose="05050102010706020507" pitchFamily="18" charset="2"/>
              </a:rPr>
              <a:t>和</a:t>
            </a:r>
            <a:r>
              <a:rPr lang="en-US" altLang="zh-CN" sz="2800" dirty="0">
                <a:sym typeface="Symbol" panose="05050102010706020507" pitchFamily="18" charset="2"/>
              </a:rPr>
              <a:t>I</a:t>
            </a:r>
            <a:r>
              <a:rPr lang="en-US" altLang="zh-CN" sz="2800" baseline="-25000" dirty="0">
                <a:sym typeface="Symbol" panose="05050102010706020507" pitchFamily="18" charset="2"/>
              </a:rPr>
              <a:t>7</a:t>
            </a:r>
            <a:r>
              <a:rPr lang="zh-CN" altLang="en-US" sz="2800" dirty="0">
                <a:sym typeface="Symbol" panose="05050102010706020507" pitchFamily="18" charset="2"/>
              </a:rPr>
              <a:t>区别？</a:t>
            </a:r>
          </a:p>
          <a:p>
            <a:pPr lvl="1" eaLnBrk="1" hangingPunct="1"/>
            <a:r>
              <a:rPr lang="zh-CN" altLang="en-US" sz="2400" dirty="0">
                <a:sym typeface="Symbol" panose="05050102010706020507" pitchFamily="18" charset="2"/>
              </a:rPr>
              <a:t>文法生成正规式</a:t>
            </a:r>
            <a:r>
              <a:rPr lang="en-US" altLang="zh-CN" sz="2400" dirty="0">
                <a:sym typeface="Symbol" panose="05050102010706020507" pitchFamily="18" charset="2"/>
              </a:rPr>
              <a:t>c</a:t>
            </a:r>
            <a:r>
              <a:rPr lang="en-US" altLang="zh-CN" sz="2400" baseline="30000" dirty="0">
                <a:sym typeface="Symbol" panose="05050102010706020507" pitchFamily="18" charset="2"/>
              </a:rPr>
              <a:t>*</a:t>
            </a:r>
            <a:r>
              <a:rPr lang="en-US" altLang="zh-CN" sz="2400" dirty="0">
                <a:sym typeface="Symbol" panose="05050102010706020507" pitchFamily="18" charset="2"/>
              </a:rPr>
              <a:t>dc</a:t>
            </a:r>
            <a:r>
              <a:rPr lang="en-US" altLang="zh-CN" sz="2400" baseline="30000" dirty="0">
                <a:sym typeface="Symbol" panose="05050102010706020507" pitchFamily="18" charset="2"/>
              </a:rPr>
              <a:t>*</a:t>
            </a:r>
            <a:r>
              <a:rPr lang="en-US" altLang="zh-CN" sz="2400" dirty="0">
                <a:sym typeface="Symbol" panose="05050102010706020507" pitchFamily="18" charset="2"/>
              </a:rPr>
              <a:t>d</a:t>
            </a:r>
          </a:p>
          <a:p>
            <a:pPr lvl="1" eaLnBrk="1" hangingPunct="1"/>
            <a:r>
              <a:rPr lang="en-US" altLang="zh-CN" sz="2400" dirty="0">
                <a:sym typeface="Symbol" panose="05050102010706020507" pitchFamily="18" charset="2"/>
              </a:rPr>
              <a:t>I</a:t>
            </a:r>
            <a:r>
              <a:rPr lang="en-US" altLang="zh-CN" sz="2400" baseline="-25000" dirty="0">
                <a:sym typeface="Symbol" panose="05050102010706020507" pitchFamily="18" charset="2"/>
              </a:rPr>
              <a:t>4</a:t>
            </a:r>
            <a:r>
              <a:rPr lang="zh-CN" altLang="en-US" sz="2400" dirty="0">
                <a:sym typeface="Symbol" panose="05050102010706020507" pitchFamily="18" charset="2"/>
              </a:rPr>
              <a:t>：</a:t>
            </a:r>
            <a:r>
              <a:rPr lang="zh-CN" altLang="en-US" sz="2400" dirty="0"/>
              <a:t>“</a:t>
            </a:r>
            <a:r>
              <a:rPr lang="zh-CN" altLang="en-US" sz="2400" dirty="0">
                <a:sym typeface="Symbol" panose="05050102010706020507" pitchFamily="18" charset="2"/>
              </a:rPr>
              <a:t>第一个</a:t>
            </a:r>
            <a:r>
              <a:rPr lang="en-US" altLang="zh-CN" sz="2400" dirty="0">
                <a:sym typeface="Symbol" panose="05050102010706020507" pitchFamily="18" charset="2"/>
              </a:rPr>
              <a:t>d</a:t>
            </a:r>
            <a:r>
              <a:rPr lang="zh-CN" altLang="en-US" sz="2400" dirty="0">
                <a:sym typeface="Symbol" panose="05050102010706020507" pitchFamily="18" charset="2"/>
              </a:rPr>
              <a:t>”，后面需接</a:t>
            </a:r>
            <a:r>
              <a:rPr lang="en-US" altLang="zh-CN" sz="2400" dirty="0">
                <a:sym typeface="Symbol" panose="05050102010706020507" pitchFamily="18" charset="2"/>
              </a:rPr>
              <a:t>c</a:t>
            </a:r>
            <a:r>
              <a:rPr lang="zh-CN" altLang="en-US" sz="2400" dirty="0">
                <a:sym typeface="Symbol" panose="05050102010706020507" pitchFamily="18" charset="2"/>
              </a:rPr>
              <a:t>、</a:t>
            </a:r>
            <a:r>
              <a:rPr lang="en-US" altLang="zh-CN" sz="2400" dirty="0">
                <a:sym typeface="Symbol" panose="05050102010706020507" pitchFamily="18" charset="2"/>
              </a:rPr>
              <a:t>d</a:t>
            </a:r>
            <a:r>
              <a:rPr lang="zh-CN" altLang="en-US" sz="2400" dirty="0">
                <a:sym typeface="Symbol" panose="05050102010706020507" pitchFamily="18" charset="2"/>
              </a:rPr>
              <a:t>，不能接</a:t>
            </a:r>
            <a:r>
              <a:rPr lang="en-US" altLang="zh-CN" sz="2400" dirty="0">
                <a:sym typeface="Symbol" panose="05050102010706020507" pitchFamily="18" charset="2"/>
              </a:rPr>
              <a:t>$</a:t>
            </a:r>
          </a:p>
          <a:p>
            <a:pPr lvl="1" eaLnBrk="1" hangingPunct="1"/>
            <a:r>
              <a:rPr lang="en-US" altLang="zh-CN" sz="2400" dirty="0">
                <a:sym typeface="Symbol" panose="05050102010706020507" pitchFamily="18" charset="2"/>
              </a:rPr>
              <a:t>I</a:t>
            </a:r>
            <a:r>
              <a:rPr lang="en-US" altLang="zh-CN" sz="2400" baseline="-25000" dirty="0">
                <a:sym typeface="Symbol" panose="05050102010706020507" pitchFamily="18" charset="2"/>
              </a:rPr>
              <a:t>7</a:t>
            </a:r>
            <a:r>
              <a:rPr lang="zh-CN" altLang="en-US" sz="2400" dirty="0">
                <a:sym typeface="Symbol" panose="05050102010706020507" pitchFamily="18" charset="2"/>
              </a:rPr>
              <a:t>：</a:t>
            </a:r>
            <a:r>
              <a:rPr lang="zh-CN" altLang="en-US" sz="2400" dirty="0"/>
              <a:t>“</a:t>
            </a:r>
            <a:r>
              <a:rPr lang="zh-CN" altLang="en-US" sz="2400" dirty="0">
                <a:sym typeface="Symbol" panose="05050102010706020507" pitchFamily="18" charset="2"/>
              </a:rPr>
              <a:t>第二个</a:t>
            </a:r>
            <a:r>
              <a:rPr lang="en-US" altLang="zh-CN" sz="2400" dirty="0">
                <a:sym typeface="Symbol" panose="05050102010706020507" pitchFamily="18" charset="2"/>
              </a:rPr>
              <a:t>d</a:t>
            </a:r>
            <a:r>
              <a:rPr lang="zh-CN" altLang="en-US" sz="2400" dirty="0">
                <a:sym typeface="Symbol" panose="05050102010706020507" pitchFamily="18" charset="2"/>
              </a:rPr>
              <a:t>”，接受，后接</a:t>
            </a:r>
            <a:r>
              <a:rPr lang="en-US" altLang="zh-CN" sz="2400" dirty="0">
                <a:sym typeface="Symbol" panose="05050102010706020507" pitchFamily="18" charset="2"/>
              </a:rPr>
              <a:t>$</a:t>
            </a:r>
          </a:p>
          <a:p>
            <a:pPr lvl="1" eaLnBrk="1" hangingPunct="1"/>
            <a:r>
              <a:rPr lang="zh-CN" altLang="en-US" sz="2400" dirty="0">
                <a:sym typeface="Symbol" panose="05050102010706020507" pitchFamily="18" charset="2"/>
              </a:rPr>
              <a:t>合并</a:t>
            </a:r>
            <a:r>
              <a:rPr lang="en-US" altLang="zh-CN" sz="2400" dirty="0">
                <a:sym typeface="Symbol" panose="05050102010706020507" pitchFamily="18" charset="2"/>
              </a:rPr>
              <a:t>:I</a:t>
            </a:r>
            <a:r>
              <a:rPr lang="en-US" altLang="zh-CN" sz="2400" baseline="-25000" dirty="0">
                <a:sym typeface="Symbol" panose="05050102010706020507" pitchFamily="18" charset="2"/>
              </a:rPr>
              <a:t>47</a:t>
            </a:r>
            <a:r>
              <a:rPr lang="en-US" altLang="zh-CN" sz="2400" dirty="0">
                <a:sym typeface="Symbol" panose="05050102010706020507" pitchFamily="18" charset="2"/>
              </a:rPr>
              <a:t>={[C d·, c/d/$]}</a:t>
            </a:r>
            <a:r>
              <a:rPr lang="zh-CN" altLang="en-US" sz="2400" dirty="0">
                <a:sym typeface="Symbol" panose="05050102010706020507" pitchFamily="18" charset="2"/>
              </a:rPr>
              <a:t>，</a:t>
            </a:r>
            <a:r>
              <a:rPr lang="en-US" altLang="zh-CN" sz="2400" dirty="0" err="1">
                <a:sym typeface="Symbol" panose="05050102010706020507" pitchFamily="18" charset="2"/>
              </a:rPr>
              <a:t>goto</a:t>
            </a:r>
            <a:r>
              <a:rPr lang="en-US" altLang="zh-CN" sz="2400" dirty="0">
                <a:sym typeface="Symbol" panose="05050102010706020507" pitchFamily="18" charset="2"/>
              </a:rPr>
              <a:t>(I</a:t>
            </a:r>
            <a:r>
              <a:rPr lang="en-US" altLang="zh-CN" sz="2400" baseline="-25000" dirty="0">
                <a:sym typeface="Symbol" panose="05050102010706020507" pitchFamily="18" charset="2"/>
              </a:rPr>
              <a:t>0/3/2/6</a:t>
            </a:r>
            <a:r>
              <a:rPr lang="en-US" altLang="zh-CN" sz="2400" dirty="0">
                <a:sym typeface="Symbol" panose="05050102010706020507" pitchFamily="18" charset="2"/>
              </a:rPr>
              <a:t>, d)=I</a:t>
            </a:r>
            <a:r>
              <a:rPr lang="en-US" altLang="zh-CN" sz="2400" baseline="-25000" dirty="0">
                <a:sym typeface="Symbol" panose="05050102010706020507" pitchFamily="18" charset="2"/>
              </a:rPr>
              <a:t>47</a:t>
            </a:r>
          </a:p>
          <a:p>
            <a:pPr lvl="1" eaLnBrk="1" hangingPunct="1"/>
            <a:r>
              <a:rPr lang="en-US" altLang="zh-CN" sz="2400" dirty="0">
                <a:sym typeface="Symbol" panose="05050102010706020507" pitchFamily="18" charset="2"/>
              </a:rPr>
              <a:t>I</a:t>
            </a:r>
            <a:r>
              <a:rPr lang="en-US" altLang="zh-CN" sz="2400" baseline="-25000" dirty="0">
                <a:sym typeface="Symbol" panose="05050102010706020507" pitchFamily="18" charset="2"/>
              </a:rPr>
              <a:t>47</a:t>
            </a:r>
            <a:r>
              <a:rPr lang="zh-CN" altLang="en-US" sz="2400" dirty="0">
                <a:sym typeface="Symbol" panose="05050102010706020507" pitchFamily="18" charset="2"/>
              </a:rPr>
              <a:t>对任何输入符号都进行归约</a:t>
            </a:r>
            <a:r>
              <a:rPr lang="en-US" altLang="zh-CN" sz="2400" dirty="0">
                <a:sym typeface="Symbol" panose="05050102010706020507" pitchFamily="18" charset="2"/>
              </a:rPr>
              <a:t>——</a:t>
            </a:r>
            <a:r>
              <a:rPr lang="zh-CN" altLang="en-US" sz="2400" dirty="0">
                <a:sym typeface="Symbol" panose="05050102010706020507" pitchFamily="18" charset="2"/>
              </a:rPr>
              <a:t>错误不会遗漏，</a:t>
            </a:r>
            <a:r>
              <a:rPr lang="en-US" altLang="zh-CN" sz="2400" dirty="0" err="1">
                <a:sym typeface="Symbol" panose="05050102010706020507" pitchFamily="18" charset="2"/>
              </a:rPr>
              <a:t>ccd</a:t>
            </a:r>
            <a:r>
              <a:rPr lang="zh-CN" altLang="en-US" sz="2400" dirty="0">
                <a:sym typeface="Symbol" panose="05050102010706020507" pitchFamily="18" charset="2"/>
              </a:rPr>
              <a:t>、</a:t>
            </a:r>
            <a:r>
              <a:rPr lang="en-US" altLang="zh-CN" sz="2400" dirty="0" err="1">
                <a:sym typeface="Symbol" panose="05050102010706020507" pitchFamily="18" charset="2"/>
              </a:rPr>
              <a:t>cdcdc</a:t>
            </a:r>
            <a:r>
              <a:rPr lang="zh-CN" altLang="en-US" sz="2400" dirty="0">
                <a:sym typeface="Symbol" panose="05050102010706020507" pitchFamily="18" charset="2"/>
              </a:rPr>
              <a:t>，延迟</a:t>
            </a:r>
            <a:r>
              <a:rPr lang="en-US" altLang="zh-CN" sz="2400" dirty="0">
                <a:sym typeface="Symbol" panose="05050102010706020507" pitchFamily="18" charset="2"/>
              </a:rPr>
              <a:t>——</a:t>
            </a:r>
            <a:r>
              <a:rPr lang="zh-CN" altLang="en-US" sz="2400" dirty="0">
                <a:sym typeface="Symbol" panose="05050102010706020507" pitchFamily="18" charset="2"/>
              </a:rPr>
              <a:t>下个移进时捕捉到</a:t>
            </a:r>
          </a:p>
          <a:p>
            <a:pPr lvl="1" eaLnBrk="1" hangingPunct="1"/>
            <a:r>
              <a:rPr lang="zh-CN" altLang="en-US" sz="2400" dirty="0">
                <a:sym typeface="Symbol" panose="05050102010706020507" pitchFamily="18" charset="2"/>
              </a:rPr>
              <a:t>同心集合并，</a:t>
            </a:r>
            <a:r>
              <a:rPr lang="en-US" altLang="zh-CN" sz="2400" dirty="0">
                <a:sym typeface="Symbol" panose="05050102010706020507" pitchFamily="18" charset="2"/>
              </a:rPr>
              <a:t>I</a:t>
            </a:r>
            <a:r>
              <a:rPr lang="en-US" altLang="zh-CN" sz="2400" baseline="-25000" dirty="0">
                <a:sym typeface="Symbol" panose="05050102010706020507" pitchFamily="18" charset="2"/>
              </a:rPr>
              <a:t>36</a:t>
            </a:r>
            <a:r>
              <a:rPr lang="zh-CN" altLang="en-US" sz="2400" dirty="0">
                <a:sym typeface="Symbol" panose="05050102010706020507" pitchFamily="18" charset="2"/>
              </a:rPr>
              <a:t>，</a:t>
            </a:r>
            <a:r>
              <a:rPr lang="en-US" altLang="zh-CN" sz="2400" dirty="0">
                <a:sym typeface="Symbol" panose="05050102010706020507" pitchFamily="18" charset="2"/>
              </a:rPr>
              <a:t>I</a:t>
            </a:r>
            <a:r>
              <a:rPr lang="en-US" altLang="zh-CN" sz="2400" baseline="-25000" dirty="0">
                <a:sym typeface="Symbol" panose="05050102010706020507" pitchFamily="18" charset="2"/>
              </a:rPr>
              <a:t>89</a:t>
            </a:r>
            <a:endParaRPr lang="en-US" altLang="zh-CN" sz="24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33F3B3B9-3825-4774-9F66-54733F0869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合并后的</a:t>
            </a:r>
            <a:r>
              <a:rPr lang="en-US" altLang="zh-CN"/>
              <a:t>action</a:t>
            </a:r>
            <a:r>
              <a:rPr lang="zh-CN" altLang="en-US"/>
              <a:t>和</a:t>
            </a:r>
            <a:r>
              <a:rPr lang="en-US" altLang="zh-CN"/>
              <a:t>goto</a:t>
            </a: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069DA033-26D0-455F-9DCA-F875C2C1A2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goto</a:t>
            </a:r>
            <a:r>
              <a:rPr lang="zh-CN" altLang="en-US"/>
              <a:t>仅依赖心，自然合并，没有问题</a:t>
            </a:r>
          </a:p>
          <a:p>
            <a:pPr eaLnBrk="1" hangingPunct="1"/>
            <a:r>
              <a:rPr lang="zh-CN" altLang="en-US"/>
              <a:t>原</a:t>
            </a:r>
            <a:r>
              <a:rPr lang="en-US" altLang="zh-CN"/>
              <a:t>LR(1)</a:t>
            </a:r>
            <a:r>
              <a:rPr lang="zh-CN" altLang="en-US"/>
              <a:t>分析表无冲突，合并后</a:t>
            </a:r>
            <a:r>
              <a:rPr lang="en-US" altLang="zh-CN"/>
              <a:t>action</a:t>
            </a:r>
            <a:r>
              <a:rPr lang="zh-CN" altLang="en-US"/>
              <a:t>会产生新的冲突吗？</a:t>
            </a:r>
          </a:p>
          <a:p>
            <a:pPr lvl="1" eaLnBrk="1" hangingPunct="1"/>
            <a:r>
              <a:rPr lang="zh-CN" altLang="en-US"/>
              <a:t>假定产生移进</a:t>
            </a:r>
            <a:r>
              <a:rPr lang="en-US" altLang="zh-CN"/>
              <a:t>/</a:t>
            </a:r>
            <a:r>
              <a:rPr lang="zh-CN" altLang="en-US"/>
              <a:t>归约冲突</a:t>
            </a:r>
          </a:p>
          <a:p>
            <a:pPr lvl="2" eaLnBrk="1" hangingPunct="1"/>
            <a:r>
              <a:rPr lang="en-US" altLang="zh-CN">
                <a:sym typeface="Symbol" panose="05050102010706020507" pitchFamily="18" charset="2"/>
              </a:rPr>
              <a:t>{ [B 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zh-CN">
                <a:sym typeface="Symbol" panose="05050102010706020507" pitchFamily="18" charset="2"/>
              </a:rPr>
              <a:t>·a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zh-CN">
                <a:sym typeface="Symbol" panose="05050102010706020507" pitchFamily="18" charset="2"/>
              </a:rPr>
              <a:t>, b], [A 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zh-CN">
                <a:sym typeface="Symbol" panose="05050102010706020507" pitchFamily="18" charset="2"/>
              </a:rPr>
              <a:t>·, a], </a:t>
            </a:r>
            <a:r>
              <a:rPr lang="en-US" altLang="zh-CN">
                <a:sym typeface="Wingdings" panose="05000000000000000000" pitchFamily="2" charset="2"/>
              </a:rPr>
              <a:t>… }</a:t>
            </a:r>
          </a:p>
          <a:p>
            <a:pPr lvl="2" eaLnBrk="1" hangingPunct="1"/>
            <a:r>
              <a:rPr lang="zh-CN" altLang="en-US">
                <a:sym typeface="Wingdings" panose="05000000000000000000" pitchFamily="2" charset="2"/>
              </a:rPr>
              <a:t>原项目集：</a:t>
            </a:r>
            <a:r>
              <a:rPr lang="en-US" altLang="zh-CN">
                <a:sym typeface="Wingdings" panose="05000000000000000000" pitchFamily="2" charset="2"/>
              </a:rPr>
              <a:t>{</a:t>
            </a:r>
            <a:r>
              <a:rPr lang="en-US" altLang="zh-CN">
                <a:sym typeface="Symbol" panose="05050102010706020507" pitchFamily="18" charset="2"/>
              </a:rPr>
              <a:t>[A 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zh-CN">
                <a:sym typeface="Symbol" panose="05050102010706020507" pitchFamily="18" charset="2"/>
              </a:rPr>
              <a:t>·, a], [B 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zh-CN">
                <a:sym typeface="Symbol" panose="05050102010706020507" pitchFamily="18" charset="2"/>
              </a:rPr>
              <a:t>·a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zh-CN">
                <a:sym typeface="Symbol" panose="05050102010706020507" pitchFamily="18" charset="2"/>
              </a:rPr>
              <a:t>, c], …}</a:t>
            </a:r>
          </a:p>
          <a:p>
            <a:pPr lvl="2" eaLnBrk="1" hangingPunct="1"/>
            <a:r>
              <a:rPr lang="zh-CN" altLang="en-US">
                <a:sym typeface="Symbol" panose="05050102010706020507" pitchFamily="18" charset="2"/>
              </a:rPr>
              <a:t>原</a:t>
            </a:r>
            <a:r>
              <a:rPr lang="en-US" altLang="zh-CN">
                <a:sym typeface="Symbol" panose="05050102010706020507" pitchFamily="18" charset="2"/>
              </a:rPr>
              <a:t>LR(1)</a:t>
            </a:r>
            <a:r>
              <a:rPr lang="zh-CN" altLang="en-US">
                <a:sym typeface="Symbol" panose="05050102010706020507" pitchFamily="18" charset="2"/>
              </a:rPr>
              <a:t>也有分析表冲突！不可能</a:t>
            </a:r>
          </a:p>
          <a:p>
            <a:pPr lvl="1" eaLnBrk="1" hangingPunct="1"/>
            <a:r>
              <a:rPr lang="zh-CN" altLang="en-US">
                <a:sym typeface="Symbol" panose="05050102010706020507" pitchFamily="18" charset="2"/>
              </a:rPr>
              <a:t>可能产生归约</a:t>
            </a:r>
            <a:r>
              <a:rPr lang="en-US" altLang="zh-CN">
                <a:sym typeface="Symbol" panose="05050102010706020507" pitchFamily="18" charset="2"/>
              </a:rPr>
              <a:t>/</a:t>
            </a:r>
            <a:r>
              <a:rPr lang="zh-CN" altLang="en-US">
                <a:sym typeface="Symbol" panose="05050102010706020507" pitchFamily="18" charset="2"/>
              </a:rPr>
              <a:t>归约冲突</a:t>
            </a:r>
          </a:p>
        </p:txBody>
      </p:sp>
      <p:sp>
        <p:nvSpPr>
          <p:cNvPr id="112644" name="Text Box 4">
            <a:extLst>
              <a:ext uri="{FF2B5EF4-FFF2-40B4-BE49-F238E27FC236}">
                <a16:creationId xmlns:a16="http://schemas.microsoft.com/office/drawing/2014/main" id="{AD6EDA67-E640-4DCF-B8F7-5B69E4D4D6B1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5867400" y="2971800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移进	归约</a:t>
            </a:r>
          </a:p>
        </p:txBody>
      </p:sp>
      <p:sp>
        <p:nvSpPr>
          <p:cNvPr id="112645" name="Line 5">
            <a:extLst>
              <a:ext uri="{FF2B5EF4-FFF2-40B4-BE49-F238E27FC236}">
                <a16:creationId xmlns:a16="http://schemas.microsoft.com/office/drawing/2014/main" id="{A2914EDF-3BDA-4973-BFD5-B591EB4E0E7F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3505200" y="3352800"/>
            <a:ext cx="2895600" cy="304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46" name="Line 6">
            <a:extLst>
              <a:ext uri="{FF2B5EF4-FFF2-40B4-BE49-F238E27FC236}">
                <a16:creationId xmlns:a16="http://schemas.microsoft.com/office/drawing/2014/main" id="{D18879A2-E27F-4DEF-8269-248CCE6A771C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5105400" y="3352800"/>
            <a:ext cx="2209800" cy="304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47" name="Text Box 7">
            <a:extLst>
              <a:ext uri="{FF2B5EF4-FFF2-40B4-BE49-F238E27FC236}">
                <a16:creationId xmlns:a16="http://schemas.microsoft.com/office/drawing/2014/main" id="{F1EF41BD-EC72-486A-850D-9861A1F53395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6629400" y="4876800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移进	归约</a:t>
            </a:r>
          </a:p>
        </p:txBody>
      </p:sp>
      <p:sp>
        <p:nvSpPr>
          <p:cNvPr id="112648" name="Line 8">
            <a:extLst>
              <a:ext uri="{FF2B5EF4-FFF2-40B4-BE49-F238E27FC236}">
                <a16:creationId xmlns:a16="http://schemas.microsoft.com/office/drawing/2014/main" id="{8E4B392F-4E51-4A99-BE4E-4E3D154F3384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6781800" y="4419600"/>
            <a:ext cx="228600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49" name="Line 9">
            <a:extLst>
              <a:ext uri="{FF2B5EF4-FFF2-40B4-BE49-F238E27FC236}">
                <a16:creationId xmlns:a16="http://schemas.microsoft.com/office/drawing/2014/main" id="{6F8F0F7F-D86E-4AE6-9DE5-F239003881FB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5410200" y="4343400"/>
            <a:ext cx="2590800" cy="6096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4EAE3B8D-017B-426A-911A-B6B35D797D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4.44</a:t>
            </a:r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D4DC72D6-AFE8-4126-B474-8748E2D12B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pPr eaLnBrk="1" hangingPunct="1"/>
            <a:r>
              <a:rPr lang="zh-CN" altLang="en-US" sz="2800"/>
              <a:t>考虑文法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   </a:t>
            </a:r>
            <a:r>
              <a:rPr lang="en-US" altLang="zh-CN" sz="2400"/>
              <a:t>S’ </a:t>
            </a:r>
            <a:r>
              <a:rPr lang="en-US" altLang="zh-CN" sz="2400">
                <a:sym typeface="Symbol" panose="05050102010706020507" pitchFamily="18" charset="2"/>
              </a:rPr>
              <a:t> S</a:t>
            </a:r>
            <a:br>
              <a:rPr lang="en-US" altLang="zh-CN" sz="2400">
                <a:sym typeface="Symbol" panose="05050102010706020507" pitchFamily="18" charset="2"/>
              </a:rPr>
            </a:br>
            <a:r>
              <a:rPr lang="en-US" altLang="zh-CN" sz="2400">
                <a:sym typeface="Symbol" panose="05050102010706020507" pitchFamily="18" charset="2"/>
              </a:rPr>
              <a:t>S  aAd | bBd | aBe | bAe</a:t>
            </a:r>
            <a:br>
              <a:rPr lang="en-US" altLang="zh-CN" sz="2400">
                <a:sym typeface="Symbol" panose="05050102010706020507" pitchFamily="18" charset="2"/>
              </a:rPr>
            </a:br>
            <a:r>
              <a:rPr lang="en-US" altLang="zh-CN" sz="2400">
                <a:sym typeface="Symbol" panose="05050102010706020507" pitchFamily="18" charset="2"/>
              </a:rPr>
              <a:t>A  c</a:t>
            </a:r>
            <a:br>
              <a:rPr lang="en-US" altLang="zh-CN" sz="2400">
                <a:sym typeface="Symbol" panose="05050102010706020507" pitchFamily="18" charset="2"/>
              </a:rPr>
            </a:br>
            <a:r>
              <a:rPr lang="en-US" altLang="zh-CN" sz="2400">
                <a:sym typeface="Symbol" panose="05050102010706020507" pitchFamily="18" charset="2"/>
              </a:rPr>
              <a:t>B  c		</a:t>
            </a:r>
            <a:r>
              <a:rPr lang="zh-CN" altLang="en-US" sz="2400">
                <a:sym typeface="Symbol" panose="05050102010706020507" pitchFamily="18" charset="2"/>
              </a:rPr>
              <a:t>产生符号串</a:t>
            </a:r>
            <a:r>
              <a:rPr lang="en-US" altLang="zh-CN" sz="2400">
                <a:sym typeface="Symbol" panose="05050102010706020507" pitchFamily="18" charset="2"/>
              </a:rPr>
              <a:t>acd, ace, bcd, bce</a:t>
            </a:r>
          </a:p>
          <a:p>
            <a:pPr eaLnBrk="1" hangingPunct="1"/>
            <a:r>
              <a:rPr lang="zh-CN" altLang="en-US" sz="2800"/>
              <a:t>构造</a:t>
            </a:r>
            <a:r>
              <a:rPr lang="en-US" altLang="zh-CN" sz="2800"/>
              <a:t>LR(1)</a:t>
            </a:r>
            <a:r>
              <a:rPr lang="zh-CN" altLang="en-US" sz="2800"/>
              <a:t>项目集</a:t>
            </a:r>
          </a:p>
          <a:p>
            <a:pPr lvl="1" eaLnBrk="1" hangingPunct="1"/>
            <a:r>
              <a:rPr lang="en-US" altLang="zh-CN" sz="2400"/>
              <a:t>{[</a:t>
            </a:r>
            <a:r>
              <a:rPr lang="en-US" altLang="zh-CN" sz="2400">
                <a:sym typeface="Symbol" panose="05050102010706020507" pitchFamily="18" charset="2"/>
              </a:rPr>
              <a:t>A  c·, d], </a:t>
            </a:r>
            <a:r>
              <a:rPr lang="en-US" altLang="zh-CN" sz="2400"/>
              <a:t>[</a:t>
            </a:r>
            <a:r>
              <a:rPr lang="en-US" altLang="zh-CN" sz="2400">
                <a:sym typeface="Symbol" panose="05050102010706020507" pitchFamily="18" charset="2"/>
              </a:rPr>
              <a:t>B  c·, e]}</a:t>
            </a:r>
            <a:r>
              <a:rPr lang="zh-CN" altLang="en-US" sz="2400">
                <a:sym typeface="Symbol" panose="05050102010706020507" pitchFamily="18" charset="2"/>
              </a:rPr>
              <a:t>对活前缀</a:t>
            </a:r>
            <a:r>
              <a:rPr lang="en-US" altLang="zh-CN" sz="2400">
                <a:sym typeface="Symbol" panose="05050102010706020507" pitchFamily="18" charset="2"/>
              </a:rPr>
              <a:t>ac</a:t>
            </a:r>
            <a:r>
              <a:rPr lang="zh-CN" altLang="en-US" sz="2400">
                <a:sym typeface="Symbol" panose="05050102010706020507" pitchFamily="18" charset="2"/>
              </a:rPr>
              <a:t>有效</a:t>
            </a:r>
          </a:p>
          <a:p>
            <a:pPr lvl="1" eaLnBrk="1" hangingPunct="1"/>
            <a:r>
              <a:rPr lang="en-US" altLang="zh-CN" sz="2400"/>
              <a:t>{[</a:t>
            </a:r>
            <a:r>
              <a:rPr lang="en-US" altLang="zh-CN" sz="2400">
                <a:sym typeface="Symbol" panose="05050102010706020507" pitchFamily="18" charset="2"/>
              </a:rPr>
              <a:t>A  c·, e], </a:t>
            </a:r>
            <a:r>
              <a:rPr lang="en-US" altLang="zh-CN" sz="2400"/>
              <a:t>[</a:t>
            </a:r>
            <a:r>
              <a:rPr lang="en-US" altLang="zh-CN" sz="2400">
                <a:sym typeface="Symbol" panose="05050102010706020507" pitchFamily="18" charset="2"/>
              </a:rPr>
              <a:t>B  c·, d]}</a:t>
            </a:r>
            <a:r>
              <a:rPr lang="zh-CN" altLang="en-US" sz="2400">
                <a:sym typeface="Symbol" panose="05050102010706020507" pitchFamily="18" charset="2"/>
              </a:rPr>
              <a:t>对活前缀</a:t>
            </a:r>
            <a:r>
              <a:rPr lang="en-US" altLang="zh-CN" sz="2400">
                <a:sym typeface="Symbol" panose="05050102010706020507" pitchFamily="18" charset="2"/>
              </a:rPr>
              <a:t>bc</a:t>
            </a:r>
            <a:r>
              <a:rPr lang="zh-CN" altLang="en-US" sz="2400">
                <a:sym typeface="Symbol" panose="05050102010706020507" pitchFamily="18" charset="2"/>
              </a:rPr>
              <a:t>有效</a:t>
            </a:r>
          </a:p>
          <a:p>
            <a:pPr lvl="1" eaLnBrk="1" hangingPunct="1"/>
            <a:r>
              <a:rPr lang="zh-CN" altLang="en-US" sz="2400">
                <a:sym typeface="Symbol" panose="05050102010706020507" pitchFamily="18" charset="2"/>
              </a:rPr>
              <a:t>无冲突，合并</a:t>
            </a:r>
            <a:r>
              <a:rPr lang="en-US" altLang="zh-CN" sz="2400"/>
              <a:t>{[</a:t>
            </a:r>
            <a:r>
              <a:rPr lang="en-US" altLang="zh-CN" sz="2400">
                <a:sym typeface="Symbol" panose="05050102010706020507" pitchFamily="18" charset="2"/>
              </a:rPr>
              <a:t>A  c·, d/e], </a:t>
            </a:r>
            <a:r>
              <a:rPr lang="en-US" altLang="zh-CN" sz="2400"/>
              <a:t>[</a:t>
            </a:r>
            <a:r>
              <a:rPr lang="en-US" altLang="zh-CN" sz="2400">
                <a:sym typeface="Symbol" panose="05050102010706020507" pitchFamily="18" charset="2"/>
              </a:rPr>
              <a:t>B  c·, d/e]}</a:t>
            </a:r>
            <a:r>
              <a:rPr lang="zh-CN" altLang="en-US" sz="2400">
                <a:sym typeface="Symbol" panose="05050102010706020507" pitchFamily="18" charset="2"/>
              </a:rPr>
              <a:t>，产生归约</a:t>
            </a:r>
            <a:r>
              <a:rPr lang="en-US" altLang="zh-CN" sz="2400">
                <a:sym typeface="Symbol" panose="05050102010706020507" pitchFamily="18" charset="2"/>
              </a:rPr>
              <a:t>/</a:t>
            </a:r>
            <a:r>
              <a:rPr lang="zh-CN" altLang="en-US" sz="2400">
                <a:sym typeface="Symbol" panose="05050102010706020507" pitchFamily="18" charset="2"/>
              </a:rPr>
              <a:t>归约冲突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E5D8FBD4-33EE-457F-B726-10E07C7D12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4.11 LALR</a:t>
            </a:r>
            <a:r>
              <a:rPr lang="zh-CN" altLang="en-US"/>
              <a:t>分析表构造算法</a:t>
            </a: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FBF3DA31-D793-4C46-B27A-82CC2B7D9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340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输入：一个拓广文法</a:t>
            </a:r>
            <a:r>
              <a:rPr lang="en-US" altLang="zh-CN" sz="2400"/>
              <a:t>G’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输出：</a:t>
            </a:r>
            <a:r>
              <a:rPr lang="en-US" altLang="zh-CN" sz="2400"/>
              <a:t>G’</a:t>
            </a:r>
            <a:r>
              <a:rPr lang="zh-CN" altLang="en-US" sz="2400"/>
              <a:t>的</a:t>
            </a:r>
            <a:r>
              <a:rPr lang="en-US" altLang="zh-CN" sz="2400"/>
              <a:t>LALR</a:t>
            </a:r>
            <a:r>
              <a:rPr lang="zh-CN" altLang="en-US" sz="2400"/>
              <a:t>分析表，</a:t>
            </a:r>
            <a:r>
              <a:rPr lang="en-US" altLang="zh-CN" sz="2400"/>
              <a:t>action</a:t>
            </a:r>
            <a:r>
              <a:rPr lang="zh-CN" altLang="en-US" sz="2400"/>
              <a:t>和</a:t>
            </a:r>
            <a:r>
              <a:rPr lang="en-US" altLang="zh-CN" sz="2400"/>
              <a:t>goto</a:t>
            </a:r>
            <a:r>
              <a:rPr lang="zh-CN" altLang="en-US" sz="2400"/>
              <a:t>函数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方法：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构造</a:t>
            </a:r>
            <a:r>
              <a:rPr lang="en-US" altLang="zh-CN" sz="2400"/>
              <a:t>LR(1)</a:t>
            </a:r>
            <a:r>
              <a:rPr lang="zh-CN" altLang="en-US" sz="2400"/>
              <a:t>项目集规范族</a:t>
            </a:r>
            <a:r>
              <a:rPr lang="en-US" altLang="zh-CN" sz="2400"/>
              <a:t>C={I</a:t>
            </a:r>
            <a:r>
              <a:rPr lang="en-US" altLang="zh-CN" sz="2400" baseline="-25000"/>
              <a:t>0</a:t>
            </a:r>
            <a:r>
              <a:rPr lang="en-US" altLang="zh-CN" sz="2400"/>
              <a:t>, I</a:t>
            </a:r>
            <a:r>
              <a:rPr lang="en-US" altLang="zh-CN" sz="2400" baseline="-25000"/>
              <a:t>1</a:t>
            </a:r>
            <a:r>
              <a:rPr lang="en-US" altLang="zh-CN" sz="2400"/>
              <a:t>, …, I</a:t>
            </a:r>
            <a:r>
              <a:rPr lang="en-US" altLang="zh-CN" sz="2400" baseline="-25000"/>
              <a:t>n</a:t>
            </a:r>
            <a:r>
              <a:rPr lang="en-US" altLang="zh-CN" sz="2400"/>
              <a:t>}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将同心集合并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令</a:t>
            </a:r>
            <a:r>
              <a:rPr lang="en-US" altLang="zh-CN" sz="2400"/>
              <a:t>C’={J</a:t>
            </a:r>
            <a:r>
              <a:rPr lang="en-US" altLang="zh-CN" sz="2400" baseline="-25000"/>
              <a:t>0</a:t>
            </a:r>
            <a:r>
              <a:rPr lang="en-US" altLang="zh-CN" sz="2400"/>
              <a:t>, J</a:t>
            </a:r>
            <a:r>
              <a:rPr lang="en-US" altLang="zh-CN" sz="2400" baseline="-25000"/>
              <a:t>1</a:t>
            </a:r>
            <a:r>
              <a:rPr lang="en-US" altLang="zh-CN" sz="2400"/>
              <a:t>, …, J</a:t>
            </a:r>
            <a:r>
              <a:rPr lang="en-US" altLang="zh-CN" sz="2400" baseline="-25000"/>
              <a:t>m</a:t>
            </a:r>
            <a:r>
              <a:rPr lang="en-US" altLang="zh-CN" sz="2400"/>
              <a:t>}</a:t>
            </a:r>
            <a:r>
              <a:rPr lang="zh-CN" altLang="en-US" sz="2400"/>
              <a:t>为合并后项目集，</a:t>
            </a:r>
            <a:r>
              <a:rPr lang="en-US" altLang="zh-CN" sz="2400"/>
              <a:t>action</a:t>
            </a:r>
            <a:r>
              <a:rPr lang="zh-CN" altLang="en-US" sz="2400"/>
              <a:t>函数的构造同算法</a:t>
            </a:r>
            <a:r>
              <a:rPr lang="en-US" altLang="zh-CN" sz="2400"/>
              <a:t>4.10</a:t>
            </a:r>
            <a:r>
              <a:rPr lang="zh-CN" altLang="en-US" sz="2400"/>
              <a:t>，若有冲突，失败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令</a:t>
            </a:r>
            <a:r>
              <a:rPr lang="en-US" altLang="zh-CN" sz="2400"/>
              <a:t>J=I</a:t>
            </a:r>
            <a:r>
              <a:rPr lang="en-US" altLang="zh-CN" sz="2400" baseline="-25000"/>
              <a:t>1</a:t>
            </a:r>
            <a:r>
              <a:rPr lang="en-US" altLang="zh-CN" sz="2400"/>
              <a:t>∪I</a:t>
            </a:r>
            <a:r>
              <a:rPr lang="en-US" altLang="zh-CN" sz="2400" baseline="-25000"/>
              <a:t>2</a:t>
            </a:r>
            <a:r>
              <a:rPr lang="en-US" altLang="zh-CN" sz="2400"/>
              <a:t>∪…∪I</a:t>
            </a:r>
            <a:r>
              <a:rPr lang="en-US" altLang="zh-CN" sz="2400" baseline="-25000"/>
              <a:t>k</a:t>
            </a:r>
            <a:r>
              <a:rPr lang="zh-CN" altLang="en-US" sz="2400"/>
              <a:t>，</a:t>
            </a:r>
            <a:r>
              <a:rPr lang="en-US" altLang="zh-CN" sz="2400"/>
              <a:t>I</a:t>
            </a:r>
            <a:r>
              <a:rPr lang="en-US" altLang="zh-CN" sz="2400" baseline="-25000"/>
              <a:t>1</a:t>
            </a:r>
            <a:r>
              <a:rPr lang="en-US" altLang="zh-CN" sz="2400"/>
              <a:t>,I</a:t>
            </a:r>
            <a:r>
              <a:rPr lang="en-US" altLang="zh-CN" sz="2400" baseline="-25000"/>
              <a:t>2</a:t>
            </a:r>
            <a:r>
              <a:rPr lang="en-US" altLang="zh-CN" sz="2400"/>
              <a:t>,…,I</a:t>
            </a:r>
            <a:r>
              <a:rPr lang="en-US" altLang="zh-CN" sz="2400" baseline="-25000"/>
              <a:t>k</a:t>
            </a:r>
            <a:r>
              <a:rPr lang="zh-CN" altLang="en-US" sz="2400"/>
              <a:t>心相同，因此</a:t>
            </a:r>
            <a:r>
              <a:rPr lang="en-US" altLang="zh-CN" sz="2400"/>
              <a:t>goto(I</a:t>
            </a:r>
            <a:r>
              <a:rPr lang="en-US" altLang="zh-CN" sz="2400" baseline="-25000"/>
              <a:t>1</a:t>
            </a:r>
            <a:r>
              <a:rPr lang="en-US" altLang="zh-CN" sz="2400"/>
              <a:t>,X), goto(I</a:t>
            </a:r>
            <a:r>
              <a:rPr lang="en-US" altLang="zh-CN" sz="2400" baseline="-25000"/>
              <a:t>2</a:t>
            </a:r>
            <a:r>
              <a:rPr lang="en-US" altLang="zh-CN" sz="2400"/>
              <a:t>,X),…,goto(I</a:t>
            </a:r>
            <a:r>
              <a:rPr lang="en-US" altLang="zh-CN" sz="2400" baseline="-25000"/>
              <a:t>k</a:t>
            </a:r>
            <a:r>
              <a:rPr lang="en-US" altLang="zh-CN" sz="2400"/>
              <a:t>,X)</a:t>
            </a:r>
            <a:r>
              <a:rPr lang="zh-CN" altLang="en-US" sz="2400"/>
              <a:t>心也相同，令它们合并结果为</a:t>
            </a:r>
            <a:r>
              <a:rPr lang="en-US" altLang="zh-CN" sz="2400"/>
              <a:t>K</a:t>
            </a:r>
            <a:r>
              <a:rPr lang="zh-CN" altLang="en-US" sz="2400"/>
              <a:t>，则</a:t>
            </a:r>
            <a:r>
              <a:rPr lang="en-US" altLang="zh-CN" sz="2400"/>
              <a:t>goto(J, X)=K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C765629A-A302-4561-9208-EAF913FD31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4.45</a:t>
            </a:r>
          </a:p>
        </p:txBody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34B1500D-7C10-43F6-B6C4-B71F0B2455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4.42</a:t>
            </a:r>
            <a:r>
              <a:rPr lang="zh-CN" altLang="en-US"/>
              <a:t>文法，三对项目集合并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I</a:t>
            </a:r>
            <a:r>
              <a:rPr lang="en-US" altLang="zh-CN" sz="2400" baseline="-25000">
                <a:sym typeface="Symbol" panose="05050102010706020507" pitchFamily="18" charset="2"/>
              </a:rPr>
              <a:t>36</a:t>
            </a:r>
            <a:r>
              <a:rPr lang="en-US" altLang="zh-CN" sz="2400">
                <a:sym typeface="Symbol" panose="05050102010706020507" pitchFamily="18" charset="2"/>
              </a:rPr>
              <a:t>={[C c·C, c/d/$], [C ·cC, c/d/$],[C ·d, c/d/$]}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I</a:t>
            </a:r>
            <a:r>
              <a:rPr lang="en-US" altLang="zh-CN" sz="2400" baseline="-25000">
                <a:sym typeface="Symbol" panose="05050102010706020507" pitchFamily="18" charset="2"/>
              </a:rPr>
              <a:t>47</a:t>
            </a:r>
            <a:r>
              <a:rPr lang="en-US" altLang="zh-CN" sz="2400">
                <a:sym typeface="Symbol" panose="05050102010706020507" pitchFamily="18" charset="2"/>
              </a:rPr>
              <a:t>={[C d·, c/d/$]}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I</a:t>
            </a:r>
            <a:r>
              <a:rPr lang="en-US" altLang="zh-CN" sz="2400" baseline="-25000">
                <a:sym typeface="Symbol" panose="05050102010706020507" pitchFamily="18" charset="2"/>
              </a:rPr>
              <a:t>89</a:t>
            </a:r>
            <a:r>
              <a:rPr lang="en-US" altLang="zh-CN" sz="2400">
                <a:sym typeface="Symbol" panose="05050102010706020507" pitchFamily="18" charset="2"/>
              </a:rPr>
              <a:t>={[C cC·, c/d/$]}</a:t>
            </a:r>
          </a:p>
        </p:txBody>
      </p:sp>
      <p:sp>
        <p:nvSpPr>
          <p:cNvPr id="115716" name="Line 4">
            <a:extLst>
              <a:ext uri="{FF2B5EF4-FFF2-40B4-BE49-F238E27FC236}">
                <a16:creationId xmlns:a16="http://schemas.microsoft.com/office/drawing/2014/main" id="{6967B0F3-220B-4574-B49F-242BAB9566F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0875" y="2438400"/>
            <a:ext cx="4648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17" name="Line 5">
            <a:extLst>
              <a:ext uri="{FF2B5EF4-FFF2-40B4-BE49-F238E27FC236}">
                <a16:creationId xmlns:a16="http://schemas.microsoft.com/office/drawing/2014/main" id="{CB5FAAE1-27BB-4BAE-A89B-FF37CA6258D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0875" y="2514600"/>
            <a:ext cx="4648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18" name="Line 6">
            <a:extLst>
              <a:ext uri="{FF2B5EF4-FFF2-40B4-BE49-F238E27FC236}">
                <a16:creationId xmlns:a16="http://schemas.microsoft.com/office/drawing/2014/main" id="{73DEF159-9E5E-4D71-AEBA-849D9878016B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6675" y="2895600"/>
            <a:ext cx="396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19" name="Line 7">
            <a:extLst>
              <a:ext uri="{FF2B5EF4-FFF2-40B4-BE49-F238E27FC236}">
                <a16:creationId xmlns:a16="http://schemas.microsoft.com/office/drawing/2014/main" id="{8C2730CE-D851-4A42-A33B-973E45746C4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0875" y="3200400"/>
            <a:ext cx="4648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20" name="Line 8">
            <a:extLst>
              <a:ext uri="{FF2B5EF4-FFF2-40B4-BE49-F238E27FC236}">
                <a16:creationId xmlns:a16="http://schemas.microsoft.com/office/drawing/2014/main" id="{BEA0FD44-00C5-4C29-A811-738771088AF0}"/>
              </a:ext>
            </a:extLst>
          </p:cNvPr>
          <p:cNvSpPr>
            <a:spLocks noChangeShapeType="1"/>
          </p:cNvSpPr>
          <p:nvPr/>
        </p:nvSpPr>
        <p:spPr bwMode="auto">
          <a:xfrm>
            <a:off x="9109075" y="2438400"/>
            <a:ext cx="0" cy="3352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21" name="Line 9">
            <a:extLst>
              <a:ext uri="{FF2B5EF4-FFF2-40B4-BE49-F238E27FC236}">
                <a16:creationId xmlns:a16="http://schemas.microsoft.com/office/drawing/2014/main" id="{10E1C95E-6564-4CBD-A15A-CFEE09B91F9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6675" y="2514600"/>
            <a:ext cx="0" cy="3276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22" name="Line 10">
            <a:extLst>
              <a:ext uri="{FF2B5EF4-FFF2-40B4-BE49-F238E27FC236}">
                <a16:creationId xmlns:a16="http://schemas.microsoft.com/office/drawing/2014/main" id="{51A21224-2AEF-4714-9013-57C64371A61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37475" y="2514600"/>
            <a:ext cx="0" cy="3276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23" name="Text Box 11">
            <a:extLst>
              <a:ext uri="{FF2B5EF4-FFF2-40B4-BE49-F238E27FC236}">
                <a16:creationId xmlns:a16="http://schemas.microsoft.com/office/drawing/2014/main" id="{3D0C2B0D-CEF7-4183-B2B2-6CB729A61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0875" y="2667000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状态</a:t>
            </a:r>
          </a:p>
        </p:txBody>
      </p:sp>
      <p:sp>
        <p:nvSpPr>
          <p:cNvPr id="115724" name="Text Box 12">
            <a:extLst>
              <a:ext uri="{FF2B5EF4-FFF2-40B4-BE49-F238E27FC236}">
                <a16:creationId xmlns:a16="http://schemas.microsoft.com/office/drawing/2014/main" id="{8957C75C-7B6B-4E98-8C9C-65054725E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75" y="25146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action</a:t>
            </a:r>
          </a:p>
        </p:txBody>
      </p:sp>
      <p:sp>
        <p:nvSpPr>
          <p:cNvPr id="115725" name="Text Box 13">
            <a:extLst>
              <a:ext uri="{FF2B5EF4-FFF2-40B4-BE49-F238E27FC236}">
                <a16:creationId xmlns:a16="http://schemas.microsoft.com/office/drawing/2014/main" id="{030FF288-B3F6-483D-B4E8-2E1499DEE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9075" y="28225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c</a:t>
            </a:r>
          </a:p>
        </p:txBody>
      </p:sp>
      <p:sp>
        <p:nvSpPr>
          <p:cNvPr id="115726" name="Text Box 14">
            <a:extLst>
              <a:ext uri="{FF2B5EF4-FFF2-40B4-BE49-F238E27FC236}">
                <a16:creationId xmlns:a16="http://schemas.microsoft.com/office/drawing/2014/main" id="{00D49C81-AA6D-4CFD-B53F-8447B0B27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1563" y="28225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d</a:t>
            </a:r>
          </a:p>
        </p:txBody>
      </p:sp>
      <p:sp>
        <p:nvSpPr>
          <p:cNvPr id="115727" name="Text Box 15">
            <a:extLst>
              <a:ext uri="{FF2B5EF4-FFF2-40B4-BE49-F238E27FC236}">
                <a16:creationId xmlns:a16="http://schemas.microsoft.com/office/drawing/2014/main" id="{75161F8E-8EB8-431E-9C97-A8ADDCC1E7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5638" y="28225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$</a:t>
            </a:r>
          </a:p>
        </p:txBody>
      </p:sp>
      <p:sp>
        <p:nvSpPr>
          <p:cNvPr id="115728" name="Text Box 16">
            <a:extLst>
              <a:ext uri="{FF2B5EF4-FFF2-40B4-BE49-F238E27FC236}">
                <a16:creationId xmlns:a16="http://schemas.microsoft.com/office/drawing/2014/main" id="{16536F50-F226-4E09-8BB9-29A653A5F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3275" y="32004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0</a:t>
            </a:r>
          </a:p>
        </p:txBody>
      </p:sp>
      <p:sp>
        <p:nvSpPr>
          <p:cNvPr id="115729" name="Text Box 17">
            <a:extLst>
              <a:ext uri="{FF2B5EF4-FFF2-40B4-BE49-F238E27FC236}">
                <a16:creationId xmlns:a16="http://schemas.microsoft.com/office/drawing/2014/main" id="{D856C3C5-ED43-4DAE-9599-473DCAD4A0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3275" y="35814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1</a:t>
            </a:r>
          </a:p>
        </p:txBody>
      </p:sp>
      <p:sp>
        <p:nvSpPr>
          <p:cNvPr id="115730" name="Text Box 18">
            <a:extLst>
              <a:ext uri="{FF2B5EF4-FFF2-40B4-BE49-F238E27FC236}">
                <a16:creationId xmlns:a16="http://schemas.microsoft.com/office/drawing/2014/main" id="{2E29C3B4-2189-4939-92AE-C54C5085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3275" y="39624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2</a:t>
            </a:r>
          </a:p>
        </p:txBody>
      </p:sp>
      <p:sp>
        <p:nvSpPr>
          <p:cNvPr id="115731" name="Text Box 19">
            <a:extLst>
              <a:ext uri="{FF2B5EF4-FFF2-40B4-BE49-F238E27FC236}">
                <a16:creationId xmlns:a16="http://schemas.microsoft.com/office/drawing/2014/main" id="{30E844E6-5A40-48D5-A4D5-A9649B67B0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7075" y="43434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36</a:t>
            </a:r>
          </a:p>
        </p:txBody>
      </p:sp>
      <p:sp>
        <p:nvSpPr>
          <p:cNvPr id="115732" name="Text Box 20">
            <a:extLst>
              <a:ext uri="{FF2B5EF4-FFF2-40B4-BE49-F238E27FC236}">
                <a16:creationId xmlns:a16="http://schemas.microsoft.com/office/drawing/2014/main" id="{2367A731-8F26-4B4F-A8C9-4D78465D99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9450" y="4724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47</a:t>
            </a:r>
          </a:p>
        </p:txBody>
      </p:sp>
      <p:sp>
        <p:nvSpPr>
          <p:cNvPr id="115733" name="Line 21">
            <a:extLst>
              <a:ext uri="{FF2B5EF4-FFF2-40B4-BE49-F238E27FC236}">
                <a16:creationId xmlns:a16="http://schemas.microsoft.com/office/drawing/2014/main" id="{864A05E0-5EC7-46CE-A715-E34C1168654F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0875" y="2438400"/>
            <a:ext cx="0" cy="3352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34" name="Text Box 22">
            <a:extLst>
              <a:ext uri="{FF2B5EF4-FFF2-40B4-BE49-F238E27FC236}">
                <a16:creationId xmlns:a16="http://schemas.microsoft.com/office/drawing/2014/main" id="{A132C1AA-B146-44F1-A793-F342F7701C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3275" y="51054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5</a:t>
            </a:r>
          </a:p>
        </p:txBody>
      </p:sp>
      <p:sp>
        <p:nvSpPr>
          <p:cNvPr id="115735" name="Text Box 25">
            <a:extLst>
              <a:ext uri="{FF2B5EF4-FFF2-40B4-BE49-F238E27FC236}">
                <a16:creationId xmlns:a16="http://schemas.microsoft.com/office/drawing/2014/main" id="{EBFD7437-251F-457B-8E20-0436ED9C2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8025" y="54102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89</a:t>
            </a:r>
          </a:p>
        </p:txBody>
      </p:sp>
      <p:sp>
        <p:nvSpPr>
          <p:cNvPr id="115736" name="Line 27">
            <a:extLst>
              <a:ext uri="{FF2B5EF4-FFF2-40B4-BE49-F238E27FC236}">
                <a16:creationId xmlns:a16="http://schemas.microsoft.com/office/drawing/2014/main" id="{961C731E-578C-4058-B06F-953229C08F4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0875" y="5791200"/>
            <a:ext cx="4648200" cy="158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37" name="Text Box 28">
            <a:extLst>
              <a:ext uri="{FF2B5EF4-FFF2-40B4-BE49-F238E27FC236}">
                <a16:creationId xmlns:a16="http://schemas.microsoft.com/office/drawing/2014/main" id="{4570DAF3-124A-4A04-BA45-6AA18B3A5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3675" y="28194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S</a:t>
            </a:r>
          </a:p>
        </p:txBody>
      </p:sp>
      <p:sp>
        <p:nvSpPr>
          <p:cNvPr id="115738" name="Text Box 29">
            <a:extLst>
              <a:ext uri="{FF2B5EF4-FFF2-40B4-BE49-F238E27FC236}">
                <a16:creationId xmlns:a16="http://schemas.microsoft.com/office/drawing/2014/main" id="{B50C74BF-3EB7-47E5-99D5-7250B10FD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5350" y="28194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C</a:t>
            </a:r>
          </a:p>
        </p:txBody>
      </p:sp>
      <p:sp>
        <p:nvSpPr>
          <p:cNvPr id="115739" name="Text Box 30">
            <a:extLst>
              <a:ext uri="{FF2B5EF4-FFF2-40B4-BE49-F238E27FC236}">
                <a16:creationId xmlns:a16="http://schemas.microsoft.com/office/drawing/2014/main" id="{5E54B124-8EE1-4908-B3F0-5751915B8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8475" y="25146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goto</a:t>
            </a:r>
          </a:p>
        </p:txBody>
      </p:sp>
      <p:sp>
        <p:nvSpPr>
          <p:cNvPr id="115740" name="Text Box 31">
            <a:extLst>
              <a:ext uri="{FF2B5EF4-FFF2-40B4-BE49-F238E27FC236}">
                <a16:creationId xmlns:a16="http://schemas.microsoft.com/office/drawing/2014/main" id="{2734CE80-589B-464C-9162-FC6095E63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2875" y="32035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s36</a:t>
            </a:r>
          </a:p>
        </p:txBody>
      </p:sp>
      <p:sp>
        <p:nvSpPr>
          <p:cNvPr id="115741" name="Text Box 32">
            <a:extLst>
              <a:ext uri="{FF2B5EF4-FFF2-40B4-BE49-F238E27FC236}">
                <a16:creationId xmlns:a16="http://schemas.microsoft.com/office/drawing/2014/main" id="{D1B6F39A-D77B-40BA-A2BF-C27AF95C6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1075" y="32035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s47</a:t>
            </a:r>
          </a:p>
        </p:txBody>
      </p:sp>
      <p:sp>
        <p:nvSpPr>
          <p:cNvPr id="115742" name="Text Box 33">
            <a:extLst>
              <a:ext uri="{FF2B5EF4-FFF2-40B4-BE49-F238E27FC236}">
                <a16:creationId xmlns:a16="http://schemas.microsoft.com/office/drawing/2014/main" id="{128A37A8-5DC8-4A18-8834-1F784FF2F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3675" y="32004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1</a:t>
            </a:r>
          </a:p>
        </p:txBody>
      </p:sp>
      <p:sp>
        <p:nvSpPr>
          <p:cNvPr id="115743" name="Text Box 34">
            <a:extLst>
              <a:ext uri="{FF2B5EF4-FFF2-40B4-BE49-F238E27FC236}">
                <a16:creationId xmlns:a16="http://schemas.microsoft.com/office/drawing/2014/main" id="{D5D725A6-1441-4521-89C8-A15D612C7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5350" y="32004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2</a:t>
            </a:r>
          </a:p>
        </p:txBody>
      </p:sp>
      <p:sp>
        <p:nvSpPr>
          <p:cNvPr id="115744" name="Text Box 35">
            <a:extLst>
              <a:ext uri="{FF2B5EF4-FFF2-40B4-BE49-F238E27FC236}">
                <a16:creationId xmlns:a16="http://schemas.microsoft.com/office/drawing/2014/main" id="{8511C8FA-B110-47F0-94C3-94CB1B0C4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9275" y="35845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acc</a:t>
            </a:r>
          </a:p>
        </p:txBody>
      </p:sp>
      <p:sp>
        <p:nvSpPr>
          <p:cNvPr id="115745" name="Text Box 36">
            <a:extLst>
              <a:ext uri="{FF2B5EF4-FFF2-40B4-BE49-F238E27FC236}">
                <a16:creationId xmlns:a16="http://schemas.microsoft.com/office/drawing/2014/main" id="{E137A18B-280E-4203-977D-2F900E0AB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8750" y="3946525"/>
            <a:ext cx="593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s36</a:t>
            </a:r>
          </a:p>
        </p:txBody>
      </p:sp>
      <p:sp>
        <p:nvSpPr>
          <p:cNvPr id="115746" name="Text Box 37">
            <a:extLst>
              <a:ext uri="{FF2B5EF4-FFF2-40B4-BE49-F238E27FC236}">
                <a16:creationId xmlns:a16="http://schemas.microsoft.com/office/drawing/2014/main" id="{BF480B25-040C-49DD-9AF2-B66B5CA9E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1075" y="394652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s47</a:t>
            </a:r>
          </a:p>
        </p:txBody>
      </p:sp>
      <p:sp>
        <p:nvSpPr>
          <p:cNvPr id="115747" name="Text Box 39">
            <a:extLst>
              <a:ext uri="{FF2B5EF4-FFF2-40B4-BE49-F238E27FC236}">
                <a16:creationId xmlns:a16="http://schemas.microsoft.com/office/drawing/2014/main" id="{47048200-691E-4590-929B-743EB45D88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9075" y="47275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</a:p>
        </p:txBody>
      </p:sp>
      <p:sp>
        <p:nvSpPr>
          <p:cNvPr id="115748" name="Text Box 40">
            <a:extLst>
              <a:ext uri="{FF2B5EF4-FFF2-40B4-BE49-F238E27FC236}">
                <a16:creationId xmlns:a16="http://schemas.microsoft.com/office/drawing/2014/main" id="{03FA960F-935A-4016-9D8B-A060779DF7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7275" y="47275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</a:p>
        </p:txBody>
      </p:sp>
      <p:sp>
        <p:nvSpPr>
          <p:cNvPr id="115749" name="Text Box 41">
            <a:extLst>
              <a:ext uri="{FF2B5EF4-FFF2-40B4-BE49-F238E27FC236}">
                <a16:creationId xmlns:a16="http://schemas.microsoft.com/office/drawing/2014/main" id="{A6065A24-BADA-4D1B-A2AE-F1D1E8B5F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9475" y="39624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5</a:t>
            </a:r>
          </a:p>
        </p:txBody>
      </p:sp>
      <p:sp>
        <p:nvSpPr>
          <p:cNvPr id="115750" name="Text Box 42">
            <a:extLst>
              <a:ext uri="{FF2B5EF4-FFF2-40B4-BE49-F238E27FC236}">
                <a16:creationId xmlns:a16="http://schemas.microsoft.com/office/drawing/2014/main" id="{60EAF111-D3D8-4273-80CB-76126BEEA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9475" y="43434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89</a:t>
            </a:r>
          </a:p>
        </p:txBody>
      </p:sp>
      <p:sp>
        <p:nvSpPr>
          <p:cNvPr id="115751" name="Text Box 43">
            <a:extLst>
              <a:ext uri="{FF2B5EF4-FFF2-40B4-BE49-F238E27FC236}">
                <a16:creationId xmlns:a16="http://schemas.microsoft.com/office/drawing/2014/main" id="{B0DEA079-2041-4C22-A955-634134144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5638" y="51085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r1</a:t>
            </a:r>
          </a:p>
        </p:txBody>
      </p:sp>
      <p:sp>
        <p:nvSpPr>
          <p:cNvPr id="115752" name="Text Box 46">
            <a:extLst>
              <a:ext uri="{FF2B5EF4-FFF2-40B4-BE49-F238E27FC236}">
                <a16:creationId xmlns:a16="http://schemas.microsoft.com/office/drawing/2014/main" id="{DB8D5728-12E6-4925-90B9-A454062192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5475" y="54102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</a:p>
        </p:txBody>
      </p:sp>
      <p:sp>
        <p:nvSpPr>
          <p:cNvPr id="115753" name="Text Box 47">
            <a:extLst>
              <a:ext uri="{FF2B5EF4-FFF2-40B4-BE49-F238E27FC236}">
                <a16:creationId xmlns:a16="http://schemas.microsoft.com/office/drawing/2014/main" id="{FCEFEB07-94DF-4DAD-8F04-110864FD30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2875" y="43434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s36</a:t>
            </a:r>
          </a:p>
        </p:txBody>
      </p:sp>
      <p:sp>
        <p:nvSpPr>
          <p:cNvPr id="115754" name="Text Box 48">
            <a:extLst>
              <a:ext uri="{FF2B5EF4-FFF2-40B4-BE49-F238E27FC236}">
                <a16:creationId xmlns:a16="http://schemas.microsoft.com/office/drawing/2014/main" id="{2FFE6793-A285-4335-BDB2-77F68B7F9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1075" y="43434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s47</a:t>
            </a:r>
          </a:p>
        </p:txBody>
      </p:sp>
      <p:sp>
        <p:nvSpPr>
          <p:cNvPr id="115755" name="Text Box 51">
            <a:extLst>
              <a:ext uri="{FF2B5EF4-FFF2-40B4-BE49-F238E27FC236}">
                <a16:creationId xmlns:a16="http://schemas.microsoft.com/office/drawing/2014/main" id="{A4DF5769-85A5-4CD7-877E-7E5E6C248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9075" y="54102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</a:p>
        </p:txBody>
      </p:sp>
      <p:sp>
        <p:nvSpPr>
          <p:cNvPr id="115756" name="Text Box 52">
            <a:extLst>
              <a:ext uri="{FF2B5EF4-FFF2-40B4-BE49-F238E27FC236}">
                <a16:creationId xmlns:a16="http://schemas.microsoft.com/office/drawing/2014/main" id="{FEC2A9B3-1EC3-42B4-9CE6-923710721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7275" y="54102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</a:p>
        </p:txBody>
      </p:sp>
      <p:sp>
        <p:nvSpPr>
          <p:cNvPr id="115757" name="Text Box 53">
            <a:extLst>
              <a:ext uri="{FF2B5EF4-FFF2-40B4-BE49-F238E27FC236}">
                <a16:creationId xmlns:a16="http://schemas.microsoft.com/office/drawing/2014/main" id="{787FBB7A-9D15-4743-A025-1A465B2A5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5475" y="47244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</a:p>
        </p:txBody>
      </p:sp>
      <p:sp>
        <p:nvSpPr>
          <p:cNvPr id="115758" name="Line 4">
            <a:extLst>
              <a:ext uri="{FF2B5EF4-FFF2-40B4-BE49-F238E27FC236}">
                <a16:creationId xmlns:a16="http://schemas.microsoft.com/office/drawing/2014/main" id="{5C1AF8D7-6542-4D69-8879-E72911919AF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25" y="3300413"/>
            <a:ext cx="42433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59" name="Line 5">
            <a:extLst>
              <a:ext uri="{FF2B5EF4-FFF2-40B4-BE49-F238E27FC236}">
                <a16:creationId xmlns:a16="http://schemas.microsoft.com/office/drawing/2014/main" id="{54B8FB0E-25EF-4FAF-87A8-9DAFA569051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25" y="3376613"/>
            <a:ext cx="42592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60" name="Line 6">
            <a:extLst>
              <a:ext uri="{FF2B5EF4-FFF2-40B4-BE49-F238E27FC236}">
                <a16:creationId xmlns:a16="http://schemas.microsoft.com/office/drawing/2014/main" id="{17586457-C597-4B60-8EFC-C387E190112B}"/>
              </a:ext>
            </a:extLst>
          </p:cNvPr>
          <p:cNvSpPr>
            <a:spLocks noChangeShapeType="1"/>
          </p:cNvSpPr>
          <p:nvPr/>
        </p:nvSpPr>
        <p:spPr bwMode="auto">
          <a:xfrm>
            <a:off x="720725" y="3757613"/>
            <a:ext cx="3552825" cy="3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61" name="Line 7">
            <a:extLst>
              <a:ext uri="{FF2B5EF4-FFF2-40B4-BE49-F238E27FC236}">
                <a16:creationId xmlns:a16="http://schemas.microsoft.com/office/drawing/2014/main" id="{CA92300C-77BD-4460-AA28-56E61F9724E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25" y="4062413"/>
            <a:ext cx="4238625" cy="63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62" name="Line 8">
            <a:extLst>
              <a:ext uri="{FF2B5EF4-FFF2-40B4-BE49-F238E27FC236}">
                <a16:creationId xmlns:a16="http://schemas.microsoft.com/office/drawing/2014/main" id="{41EC295B-9C2B-4078-8930-371ADF698E3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4663" y="3300413"/>
            <a:ext cx="0" cy="3352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63" name="Line 9">
            <a:extLst>
              <a:ext uri="{FF2B5EF4-FFF2-40B4-BE49-F238E27FC236}">
                <a16:creationId xmlns:a16="http://schemas.microsoft.com/office/drawing/2014/main" id="{D934F68B-FEEA-472E-BFD6-CE673823FC51}"/>
              </a:ext>
            </a:extLst>
          </p:cNvPr>
          <p:cNvSpPr>
            <a:spLocks noChangeShapeType="1"/>
          </p:cNvSpPr>
          <p:nvPr/>
        </p:nvSpPr>
        <p:spPr bwMode="auto">
          <a:xfrm>
            <a:off x="720725" y="3376613"/>
            <a:ext cx="0" cy="3276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64" name="Line 10">
            <a:extLst>
              <a:ext uri="{FF2B5EF4-FFF2-40B4-BE49-F238E27FC236}">
                <a16:creationId xmlns:a16="http://schemas.microsoft.com/office/drawing/2014/main" id="{9B8CCFFC-72B8-480F-B3CE-F8E9C596FE46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9113" y="3376613"/>
            <a:ext cx="0" cy="3276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65" name="Text Box 11">
            <a:extLst>
              <a:ext uri="{FF2B5EF4-FFF2-40B4-BE49-F238E27FC236}">
                <a16:creationId xmlns:a16="http://schemas.microsoft.com/office/drawing/2014/main" id="{8185B475-B120-4B04-87E2-7C4DC28F4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3529013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状态</a:t>
            </a:r>
          </a:p>
        </p:txBody>
      </p:sp>
      <p:sp>
        <p:nvSpPr>
          <p:cNvPr id="115766" name="Text Box 12">
            <a:extLst>
              <a:ext uri="{FF2B5EF4-FFF2-40B4-BE49-F238E27FC236}">
                <a16:creationId xmlns:a16="http://schemas.microsoft.com/office/drawing/2014/main" id="{F04089D5-33D5-4264-B61E-6F91945B7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8925" y="3376613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action</a:t>
            </a:r>
          </a:p>
        </p:txBody>
      </p:sp>
      <p:sp>
        <p:nvSpPr>
          <p:cNvPr id="115767" name="Text Box 13">
            <a:extLst>
              <a:ext uri="{FF2B5EF4-FFF2-40B4-BE49-F238E27FC236}">
                <a16:creationId xmlns:a16="http://schemas.microsoft.com/office/drawing/2014/main" id="{7C0AD86A-1299-4ADA-9ACB-A6EAE6576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25" y="3684588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c</a:t>
            </a:r>
          </a:p>
        </p:txBody>
      </p:sp>
      <p:sp>
        <p:nvSpPr>
          <p:cNvPr id="115768" name="Text Box 14">
            <a:extLst>
              <a:ext uri="{FF2B5EF4-FFF2-40B4-BE49-F238E27FC236}">
                <a16:creationId xmlns:a16="http://schemas.microsoft.com/office/drawing/2014/main" id="{73866101-E8E9-4E6E-8FEE-728A30553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5613" y="3684588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d</a:t>
            </a:r>
          </a:p>
        </p:txBody>
      </p:sp>
      <p:sp>
        <p:nvSpPr>
          <p:cNvPr id="115769" name="Text Box 15">
            <a:extLst>
              <a:ext uri="{FF2B5EF4-FFF2-40B4-BE49-F238E27FC236}">
                <a16:creationId xmlns:a16="http://schemas.microsoft.com/office/drawing/2014/main" id="{F199BB8A-956E-48AF-98F9-6ED089AE0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9688" y="3684588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$</a:t>
            </a:r>
          </a:p>
        </p:txBody>
      </p:sp>
      <p:sp>
        <p:nvSpPr>
          <p:cNvPr id="115770" name="Text Box 16">
            <a:extLst>
              <a:ext uri="{FF2B5EF4-FFF2-40B4-BE49-F238E27FC236}">
                <a16:creationId xmlns:a16="http://schemas.microsoft.com/office/drawing/2014/main" id="{FAD982F7-AD74-4018-AEA5-8F8EFD311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325" y="4062413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0</a:t>
            </a:r>
          </a:p>
        </p:txBody>
      </p:sp>
      <p:sp>
        <p:nvSpPr>
          <p:cNvPr id="115771" name="Text Box 17">
            <a:extLst>
              <a:ext uri="{FF2B5EF4-FFF2-40B4-BE49-F238E27FC236}">
                <a16:creationId xmlns:a16="http://schemas.microsoft.com/office/drawing/2014/main" id="{B7ABEC53-8E0B-448F-B3F6-DF7C25EF74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325" y="4443413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1</a:t>
            </a:r>
          </a:p>
        </p:txBody>
      </p:sp>
      <p:sp>
        <p:nvSpPr>
          <p:cNvPr id="115772" name="Text Box 18">
            <a:extLst>
              <a:ext uri="{FF2B5EF4-FFF2-40B4-BE49-F238E27FC236}">
                <a16:creationId xmlns:a16="http://schemas.microsoft.com/office/drawing/2014/main" id="{9F086B61-1396-4760-926D-86D836393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325" y="4824413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2</a:t>
            </a:r>
          </a:p>
        </p:txBody>
      </p:sp>
      <p:sp>
        <p:nvSpPr>
          <p:cNvPr id="115773" name="Text Box 19">
            <a:extLst>
              <a:ext uri="{FF2B5EF4-FFF2-40B4-BE49-F238E27FC236}">
                <a16:creationId xmlns:a16="http://schemas.microsoft.com/office/drawing/2014/main" id="{FC0BD19C-A851-469F-9619-B1AC04BD1E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25" y="5205413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3</a:t>
            </a:r>
          </a:p>
        </p:txBody>
      </p:sp>
      <p:sp>
        <p:nvSpPr>
          <p:cNvPr id="115774" name="Text Box 20">
            <a:extLst>
              <a:ext uri="{FF2B5EF4-FFF2-40B4-BE49-F238E27FC236}">
                <a16:creationId xmlns:a16="http://schemas.microsoft.com/office/drawing/2014/main" id="{BD6F8AF0-42E7-47E0-9DE3-B5E776A3E3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" y="558641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4</a:t>
            </a:r>
          </a:p>
        </p:txBody>
      </p:sp>
      <p:sp>
        <p:nvSpPr>
          <p:cNvPr id="115775" name="Line 21">
            <a:extLst>
              <a:ext uri="{FF2B5EF4-FFF2-40B4-BE49-F238E27FC236}">
                <a16:creationId xmlns:a16="http://schemas.microsoft.com/office/drawing/2014/main" id="{444ED9FE-E40E-4B24-9271-AA860F134BD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25" y="3300413"/>
            <a:ext cx="0" cy="3352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76" name="Text Box 22">
            <a:extLst>
              <a:ext uri="{FF2B5EF4-FFF2-40B4-BE49-F238E27FC236}">
                <a16:creationId xmlns:a16="http://schemas.microsoft.com/office/drawing/2014/main" id="{DD09BEEA-8482-41AD-989B-5F80791C1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325" y="5967413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5</a:t>
            </a:r>
          </a:p>
        </p:txBody>
      </p:sp>
      <p:sp>
        <p:nvSpPr>
          <p:cNvPr id="115777" name="Text Box 25">
            <a:extLst>
              <a:ext uri="{FF2B5EF4-FFF2-40B4-BE49-F238E27FC236}">
                <a16:creationId xmlns:a16="http://schemas.microsoft.com/office/drawing/2014/main" id="{F08DB7D2-BEE4-4392-BE97-07E4F7DDC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75" y="6272213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6</a:t>
            </a:r>
          </a:p>
        </p:txBody>
      </p:sp>
      <p:sp>
        <p:nvSpPr>
          <p:cNvPr id="115778" name="Line 27">
            <a:extLst>
              <a:ext uri="{FF2B5EF4-FFF2-40B4-BE49-F238E27FC236}">
                <a16:creationId xmlns:a16="http://schemas.microsoft.com/office/drawing/2014/main" id="{8E0E8613-6718-4D5F-86B5-DFA946921E3E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25" y="6653213"/>
            <a:ext cx="4249738" cy="158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79" name="Text Box 28">
            <a:extLst>
              <a:ext uri="{FF2B5EF4-FFF2-40B4-BE49-F238E27FC236}">
                <a16:creationId xmlns:a16="http://schemas.microsoft.com/office/drawing/2014/main" id="{DBA838E9-1272-425C-9461-88241DC91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113" y="3681413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S</a:t>
            </a:r>
          </a:p>
        </p:txBody>
      </p:sp>
      <p:sp>
        <p:nvSpPr>
          <p:cNvPr id="115780" name="Text Box 29">
            <a:extLst>
              <a:ext uri="{FF2B5EF4-FFF2-40B4-BE49-F238E27FC236}">
                <a16:creationId xmlns:a16="http://schemas.microsoft.com/office/drawing/2014/main" id="{3158FF81-82E4-4F73-91C1-962A529C5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0788" y="3681413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C</a:t>
            </a:r>
          </a:p>
        </p:txBody>
      </p:sp>
      <p:sp>
        <p:nvSpPr>
          <p:cNvPr id="115781" name="Text Box 30">
            <a:extLst>
              <a:ext uri="{FF2B5EF4-FFF2-40B4-BE49-F238E27FC236}">
                <a16:creationId xmlns:a16="http://schemas.microsoft.com/office/drawing/2014/main" id="{C97265CB-E38F-4EC3-8301-1B48F0E57D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3913" y="3376613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goto</a:t>
            </a:r>
          </a:p>
        </p:txBody>
      </p:sp>
      <p:sp>
        <p:nvSpPr>
          <p:cNvPr id="115782" name="Text Box 31">
            <a:extLst>
              <a:ext uri="{FF2B5EF4-FFF2-40B4-BE49-F238E27FC236}">
                <a16:creationId xmlns:a16="http://schemas.microsoft.com/office/drawing/2014/main" id="{C3458C1B-579A-4F97-B68C-B5DC6B499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925" y="4065588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s3</a:t>
            </a:r>
          </a:p>
        </p:txBody>
      </p:sp>
      <p:sp>
        <p:nvSpPr>
          <p:cNvPr id="115783" name="Text Box 32">
            <a:extLst>
              <a:ext uri="{FF2B5EF4-FFF2-40B4-BE49-F238E27FC236}">
                <a16:creationId xmlns:a16="http://schemas.microsoft.com/office/drawing/2014/main" id="{93C7243F-F29F-40B9-B0C6-EDDE2B6B0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125" y="4065588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</a:p>
        </p:txBody>
      </p:sp>
      <p:sp>
        <p:nvSpPr>
          <p:cNvPr id="115784" name="Text Box 33">
            <a:extLst>
              <a:ext uri="{FF2B5EF4-FFF2-40B4-BE49-F238E27FC236}">
                <a16:creationId xmlns:a16="http://schemas.microsoft.com/office/drawing/2014/main" id="{DD794607-7876-4F0E-BF48-DE1168C22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113" y="4062413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1</a:t>
            </a:r>
          </a:p>
        </p:txBody>
      </p:sp>
      <p:sp>
        <p:nvSpPr>
          <p:cNvPr id="115785" name="Text Box 34">
            <a:extLst>
              <a:ext uri="{FF2B5EF4-FFF2-40B4-BE49-F238E27FC236}">
                <a16:creationId xmlns:a16="http://schemas.microsoft.com/office/drawing/2014/main" id="{95DBEE3E-7106-45FE-A5E3-434E5C142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0788" y="4062413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2</a:t>
            </a:r>
          </a:p>
        </p:txBody>
      </p:sp>
      <p:sp>
        <p:nvSpPr>
          <p:cNvPr id="115786" name="Text Box 35">
            <a:extLst>
              <a:ext uri="{FF2B5EF4-FFF2-40B4-BE49-F238E27FC236}">
                <a16:creationId xmlns:a16="http://schemas.microsoft.com/office/drawing/2014/main" id="{5F9213A9-CCBD-46B0-A54E-559B9401AB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3325" y="4446588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acc</a:t>
            </a:r>
          </a:p>
        </p:txBody>
      </p:sp>
      <p:sp>
        <p:nvSpPr>
          <p:cNvPr id="115787" name="Text Box 36">
            <a:extLst>
              <a:ext uri="{FF2B5EF4-FFF2-40B4-BE49-F238E27FC236}">
                <a16:creationId xmlns:a16="http://schemas.microsoft.com/office/drawing/2014/main" id="{7A21F75C-4181-4945-A92D-49F50A3D3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800" y="4808538"/>
            <a:ext cx="593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s3</a:t>
            </a:r>
          </a:p>
        </p:txBody>
      </p:sp>
      <p:sp>
        <p:nvSpPr>
          <p:cNvPr id="115788" name="Text Box 37">
            <a:extLst>
              <a:ext uri="{FF2B5EF4-FFF2-40B4-BE49-F238E27FC236}">
                <a16:creationId xmlns:a16="http://schemas.microsoft.com/office/drawing/2014/main" id="{67F0EE18-93C5-41FF-82D4-50E510650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125" y="4808538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</a:p>
        </p:txBody>
      </p:sp>
      <p:sp>
        <p:nvSpPr>
          <p:cNvPr id="115789" name="Text Box 39">
            <a:extLst>
              <a:ext uri="{FF2B5EF4-FFF2-40B4-BE49-F238E27FC236}">
                <a16:creationId xmlns:a16="http://schemas.microsoft.com/office/drawing/2014/main" id="{5D18AF3C-6A7A-4003-B423-C693F097D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25" y="5589588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</a:p>
        </p:txBody>
      </p:sp>
      <p:sp>
        <p:nvSpPr>
          <p:cNvPr id="115790" name="Text Box 40">
            <a:extLst>
              <a:ext uri="{FF2B5EF4-FFF2-40B4-BE49-F238E27FC236}">
                <a16:creationId xmlns:a16="http://schemas.microsoft.com/office/drawing/2014/main" id="{75C8261F-9052-40A6-95EC-23B8E34B7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1325" y="5589588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</a:p>
        </p:txBody>
      </p:sp>
      <p:sp>
        <p:nvSpPr>
          <p:cNvPr id="115791" name="Text Box 41">
            <a:extLst>
              <a:ext uri="{FF2B5EF4-FFF2-40B4-BE49-F238E27FC236}">
                <a16:creationId xmlns:a16="http://schemas.microsoft.com/office/drawing/2014/main" id="{68EEDFE8-35EE-4A15-A9B9-B98727E72E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4913" y="4824413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5</a:t>
            </a:r>
          </a:p>
        </p:txBody>
      </p:sp>
      <p:sp>
        <p:nvSpPr>
          <p:cNvPr id="115792" name="Text Box 42">
            <a:extLst>
              <a:ext uri="{FF2B5EF4-FFF2-40B4-BE49-F238E27FC236}">
                <a16:creationId xmlns:a16="http://schemas.microsoft.com/office/drawing/2014/main" id="{85F812C5-7FFC-45DA-B9D4-62E7C7949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4913" y="5205413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6</a:t>
            </a:r>
          </a:p>
        </p:txBody>
      </p:sp>
      <p:sp>
        <p:nvSpPr>
          <p:cNvPr id="115793" name="Text Box 43">
            <a:extLst>
              <a:ext uri="{FF2B5EF4-FFF2-40B4-BE49-F238E27FC236}">
                <a16:creationId xmlns:a16="http://schemas.microsoft.com/office/drawing/2014/main" id="{70D46935-46BC-4062-8926-FACEC330BF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9688" y="5970588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r1</a:t>
            </a:r>
          </a:p>
        </p:txBody>
      </p:sp>
      <p:sp>
        <p:nvSpPr>
          <p:cNvPr id="115794" name="Text Box 46">
            <a:extLst>
              <a:ext uri="{FF2B5EF4-FFF2-40B4-BE49-F238E27FC236}">
                <a16:creationId xmlns:a16="http://schemas.microsoft.com/office/drawing/2014/main" id="{6AF4B508-D0F2-4938-AE3E-FD6629355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9525" y="6272213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</a:p>
        </p:txBody>
      </p:sp>
      <p:sp>
        <p:nvSpPr>
          <p:cNvPr id="115795" name="Text Box 47">
            <a:extLst>
              <a:ext uri="{FF2B5EF4-FFF2-40B4-BE49-F238E27FC236}">
                <a16:creationId xmlns:a16="http://schemas.microsoft.com/office/drawing/2014/main" id="{07085CDD-27B2-4AFA-AC3E-35BA3715A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925" y="5205413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s3</a:t>
            </a:r>
          </a:p>
        </p:txBody>
      </p:sp>
      <p:sp>
        <p:nvSpPr>
          <p:cNvPr id="115796" name="Text Box 48">
            <a:extLst>
              <a:ext uri="{FF2B5EF4-FFF2-40B4-BE49-F238E27FC236}">
                <a16:creationId xmlns:a16="http://schemas.microsoft.com/office/drawing/2014/main" id="{2887E945-C64E-4BB7-9D93-C487B0F3D7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125" y="5205413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</a:p>
        </p:txBody>
      </p:sp>
      <p:sp>
        <p:nvSpPr>
          <p:cNvPr id="115797" name="Text Box 51">
            <a:extLst>
              <a:ext uri="{FF2B5EF4-FFF2-40B4-BE49-F238E27FC236}">
                <a16:creationId xmlns:a16="http://schemas.microsoft.com/office/drawing/2014/main" id="{DE4669BD-11A0-4A60-B772-39E78355F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25" y="6272213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</a:p>
        </p:txBody>
      </p:sp>
      <p:sp>
        <p:nvSpPr>
          <p:cNvPr id="115798" name="Text Box 52">
            <a:extLst>
              <a:ext uri="{FF2B5EF4-FFF2-40B4-BE49-F238E27FC236}">
                <a16:creationId xmlns:a16="http://schemas.microsoft.com/office/drawing/2014/main" id="{5F5D9D86-48AF-418A-80FF-686F8C0551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1325" y="6272213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</a:p>
        </p:txBody>
      </p:sp>
      <p:sp>
        <p:nvSpPr>
          <p:cNvPr id="115799" name="Text Box 53">
            <a:extLst>
              <a:ext uri="{FF2B5EF4-FFF2-40B4-BE49-F238E27FC236}">
                <a16:creationId xmlns:a16="http://schemas.microsoft.com/office/drawing/2014/main" id="{4C807F35-D995-48E0-9C14-3CA0D4B4CB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9525" y="5586413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F0326A61-D2C0-4D52-AE79-C719660924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分析过程</a:t>
            </a:r>
          </a:p>
        </p:txBody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597CAEA1-239F-4BDE-80BF-10EA5A5F14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对正确输入，</a:t>
            </a:r>
            <a:r>
              <a:rPr lang="en-US" altLang="zh-CN" sz="2800" dirty="0"/>
              <a:t>LALR</a:t>
            </a:r>
            <a:r>
              <a:rPr lang="zh-CN" altLang="en-US" sz="2800" dirty="0"/>
              <a:t>分析器与规范</a:t>
            </a:r>
            <a:r>
              <a:rPr lang="en-US" altLang="zh-CN" sz="2800" dirty="0"/>
              <a:t>LR</a:t>
            </a:r>
            <a:r>
              <a:rPr lang="zh-CN" altLang="en-US" sz="2800" dirty="0"/>
              <a:t>分析器分析过程完全一样</a:t>
            </a:r>
          </a:p>
          <a:p>
            <a:pPr eaLnBrk="1" hangingPunct="1"/>
            <a:r>
              <a:rPr lang="zh-CN" altLang="en-US" sz="2800" dirty="0"/>
              <a:t>对错误输入，</a:t>
            </a:r>
            <a:r>
              <a:rPr lang="en-US" altLang="zh-CN" sz="2800" dirty="0"/>
              <a:t>LALR</a:t>
            </a:r>
            <a:r>
              <a:rPr lang="zh-CN" altLang="en-US" sz="2800" dirty="0"/>
              <a:t>会延迟报告错误</a:t>
            </a:r>
          </a:p>
          <a:p>
            <a:pPr lvl="1" eaLnBrk="1" hangingPunct="1"/>
            <a:r>
              <a:rPr lang="zh-CN" altLang="en-US" sz="2400" dirty="0"/>
              <a:t>例</a:t>
            </a:r>
            <a:r>
              <a:rPr lang="en-US" altLang="zh-CN" sz="2400" dirty="0"/>
              <a:t>4.42</a:t>
            </a:r>
            <a:r>
              <a:rPr lang="zh-CN" altLang="en-US" sz="2400" dirty="0"/>
              <a:t>文法，输入串</a:t>
            </a:r>
            <a:r>
              <a:rPr lang="en-US" altLang="zh-CN" sz="2400" dirty="0" err="1"/>
              <a:t>ccd</a:t>
            </a:r>
            <a:r>
              <a:rPr lang="en-US" altLang="zh-CN" sz="2400" dirty="0"/>
              <a:t>$</a:t>
            </a:r>
          </a:p>
          <a:p>
            <a:pPr lvl="1" eaLnBrk="1" hangingPunct="1"/>
            <a:r>
              <a:rPr lang="zh-CN" altLang="en-US" sz="2400" dirty="0"/>
              <a:t>规范</a:t>
            </a:r>
            <a:r>
              <a:rPr lang="en-US" altLang="zh-CN" sz="2400" dirty="0"/>
              <a:t>LR</a:t>
            </a:r>
            <a:r>
              <a:rPr lang="zh-CN" altLang="en-US" sz="2400" dirty="0"/>
              <a:t>：</a:t>
            </a:r>
            <a:r>
              <a:rPr lang="en-US" altLang="zh-CN" sz="2400" dirty="0"/>
              <a:t>0 c 3 c 3 d 4</a:t>
            </a:r>
            <a:r>
              <a:rPr lang="zh-CN" altLang="en-US" sz="2400" dirty="0"/>
              <a:t>，状态</a:t>
            </a:r>
            <a:r>
              <a:rPr lang="en-US" altLang="zh-CN" sz="2400" dirty="0"/>
              <a:t>4</a:t>
            </a:r>
            <a:r>
              <a:rPr lang="zh-CN" altLang="en-US" sz="2400" dirty="0"/>
              <a:t>发现错误</a:t>
            </a:r>
          </a:p>
          <a:p>
            <a:pPr lvl="1" eaLnBrk="1" hangingPunct="1"/>
            <a:r>
              <a:rPr lang="en-US" altLang="zh-CN" sz="2400" dirty="0"/>
              <a:t>LALR</a:t>
            </a:r>
            <a:br>
              <a:rPr lang="en-US" altLang="zh-CN" sz="2400" dirty="0"/>
            </a:br>
            <a:r>
              <a:rPr lang="en-US" altLang="zh-CN" sz="2400" dirty="0"/>
              <a:t>0 c 36 c 36 d 47</a:t>
            </a:r>
            <a:r>
              <a:rPr lang="en-US" altLang="zh-CN" sz="2400" dirty="0">
                <a:sym typeface="Wingdings" panose="05000000000000000000" pitchFamily="2" charset="2"/>
              </a:rPr>
              <a:t>0 c 36 c 36 C 89</a:t>
            </a:r>
            <a:br>
              <a:rPr lang="en-US" altLang="zh-CN" sz="2400" dirty="0">
                <a:sym typeface="Wingdings" panose="05000000000000000000" pitchFamily="2" charset="2"/>
              </a:rPr>
            </a:br>
            <a:r>
              <a:rPr lang="en-US" altLang="zh-CN" sz="2400" dirty="0">
                <a:sym typeface="Wingdings" panose="05000000000000000000" pitchFamily="2" charset="2"/>
              </a:rPr>
              <a:t>0 c 36 C 890 C 2</a:t>
            </a:r>
            <a:br>
              <a:rPr lang="en-US" altLang="zh-CN" sz="2400" dirty="0">
                <a:sym typeface="Wingdings" panose="05000000000000000000" pitchFamily="2" charset="2"/>
              </a:rPr>
            </a:br>
            <a:r>
              <a:rPr lang="zh-CN" altLang="en-US" sz="2400" dirty="0">
                <a:sym typeface="Wingdings" panose="05000000000000000000" pitchFamily="2" charset="2"/>
              </a:rPr>
              <a:t>状态</a:t>
            </a:r>
            <a:r>
              <a:rPr lang="en-US" altLang="zh-CN" sz="2400" dirty="0">
                <a:sym typeface="Wingdings" panose="05000000000000000000" pitchFamily="2" charset="2"/>
              </a:rPr>
              <a:t>2</a:t>
            </a:r>
            <a:r>
              <a:rPr lang="zh-CN" altLang="en-US" sz="2400" dirty="0">
                <a:sym typeface="Wingdings" panose="05000000000000000000" pitchFamily="2" charset="2"/>
              </a:rPr>
              <a:t>发现错误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659ED849-64E1-46DA-87BA-6C840D8B59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4.7.6  LALR</a:t>
            </a:r>
            <a:r>
              <a:rPr lang="zh-CN" altLang="en-US" sz="3600"/>
              <a:t>分析表的高效构造方法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736DAAAE-F1EC-44B0-8ED0-5242C4EBDA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/>
            <a:r>
              <a:rPr lang="zh-CN" altLang="en-US"/>
              <a:t>状态集</a:t>
            </a:r>
            <a:r>
              <a:rPr lang="en-US" altLang="zh-CN"/>
              <a:t>I</a:t>
            </a:r>
            <a:r>
              <a:rPr lang="zh-CN" altLang="en-US"/>
              <a:t>可用其中的核项目表示</a:t>
            </a:r>
          </a:p>
          <a:p>
            <a:pPr eaLnBrk="1" hangingPunct="1"/>
            <a:r>
              <a:rPr lang="zh-CN" altLang="en-US"/>
              <a:t>分析表的计算可仅依赖核项目</a:t>
            </a:r>
          </a:p>
          <a:p>
            <a:pPr lvl="1" eaLnBrk="1" hangingPunct="1"/>
            <a:r>
              <a:rPr lang="en-US" altLang="zh-CN"/>
              <a:t>action</a:t>
            </a:r>
          </a:p>
          <a:p>
            <a:pPr lvl="2" eaLnBrk="1" hangingPunct="1"/>
            <a:r>
              <a:rPr lang="zh-CN" altLang="en-US">
                <a:sym typeface="Symbol" panose="05050102010706020507" pitchFamily="18" charset="2"/>
              </a:rPr>
              <a:t>归约</a:t>
            </a:r>
            <a:r>
              <a:rPr lang="en-US" altLang="zh-CN">
                <a:sym typeface="Symbol" panose="05050102010706020507" pitchFamily="18" charset="2"/>
              </a:rPr>
              <a:t>A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zh-CN" altLang="en-US">
                <a:sym typeface="Symbol" panose="05050102010706020507" pitchFamily="18" charset="2"/>
              </a:rPr>
              <a:t>，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zh-CN">
                <a:ea typeface="Arial Unicode MS" pitchFamily="34" charset="-122"/>
                <a:sym typeface="Symbol" panose="05050102010706020507" pitchFamily="18" charset="2"/>
              </a:rPr>
              <a:t>≠ 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zh-CN" altLang="en-US">
                <a:sym typeface="Symbol" panose="05050102010706020507" pitchFamily="18" charset="2"/>
              </a:rPr>
              <a:t>，必为核项目</a:t>
            </a:r>
          </a:p>
          <a:p>
            <a:pPr lvl="2" eaLnBrk="1" hangingPunct="1"/>
            <a:r>
              <a:rPr lang="zh-CN" altLang="en-US">
                <a:sym typeface="Symbol" panose="05050102010706020507" pitchFamily="18" charset="2"/>
              </a:rPr>
              <a:t>对输入符号</a:t>
            </a:r>
            <a:r>
              <a:rPr lang="en-US" altLang="zh-CN">
                <a:sym typeface="Symbol" panose="05050102010706020507" pitchFamily="18" charset="2"/>
              </a:rPr>
              <a:t>a</a:t>
            </a:r>
            <a:r>
              <a:rPr lang="zh-CN" altLang="en-US">
                <a:sym typeface="Symbol" panose="05050102010706020507" pitchFamily="18" charset="2"/>
              </a:rPr>
              <a:t>归约</a:t>
            </a:r>
            <a:r>
              <a:rPr lang="en-US" altLang="zh-CN">
                <a:sym typeface="Symbol" panose="05050102010706020507" pitchFamily="18" charset="2"/>
              </a:rPr>
              <a:t>A 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zh-CN" altLang="en-US">
                <a:sym typeface="Symbol" panose="05050102010706020507" pitchFamily="18" charset="2"/>
              </a:rPr>
              <a:t>，当且仅当有核项目</a:t>
            </a:r>
            <a:r>
              <a:rPr lang="en-US" altLang="zh-CN">
                <a:sym typeface="Symbol" panose="05050102010706020507" pitchFamily="18" charset="2"/>
              </a:rPr>
              <a:t>[B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zh-CN">
                <a:sym typeface="Symbol" panose="05050102010706020507" pitchFamily="18" charset="2"/>
              </a:rPr>
              <a:t>·C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lang="en-US" altLang="zh-CN">
                <a:sym typeface="Symbol" panose="05050102010706020507" pitchFamily="18" charset="2"/>
              </a:rPr>
              <a:t>, b]</a:t>
            </a:r>
            <a:r>
              <a:rPr lang="zh-CN" altLang="en-US">
                <a:sym typeface="Symbol" panose="05050102010706020507" pitchFamily="18" charset="2"/>
              </a:rPr>
              <a:t>， </a:t>
            </a:r>
            <a:r>
              <a:rPr lang="en-US" altLang="zh-CN">
                <a:sym typeface="Symbol" panose="05050102010706020507" pitchFamily="18" charset="2"/>
              </a:rPr>
              <a:t>C</a:t>
            </a:r>
            <a:r>
              <a:rPr kumimoji="0" lang="en-US" altLang="zh-CN">
                <a:sym typeface="Symbol" panose="05050102010706020507" pitchFamily="18" charset="2"/>
              </a:rPr>
              <a:t>A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h</a:t>
            </a:r>
            <a:r>
              <a:rPr kumimoji="0" lang="zh-CN" altLang="en-US">
                <a:sym typeface="Symbol" panose="05050102010706020507" pitchFamily="18" charset="2"/>
              </a:rPr>
              <a:t>，且</a:t>
            </a:r>
            <a:r>
              <a:rPr kumimoji="0" lang="en-US" altLang="zh-CN">
                <a:sym typeface="Symbol" panose="05050102010706020507" pitchFamily="18" charset="2"/>
              </a:rPr>
              <a:t>a</a:t>
            </a:r>
            <a:r>
              <a:rPr kumimoji="0"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∈</a:t>
            </a:r>
            <a:r>
              <a:rPr kumimoji="0" lang="en-US" altLang="zh-CN">
                <a:sym typeface="Symbol" panose="05050102010706020507" pitchFamily="18" charset="2"/>
              </a:rPr>
              <a:t>FIRST(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hd</a:t>
            </a:r>
            <a:r>
              <a:rPr kumimoji="0" lang="en-US" altLang="zh-CN">
                <a:sym typeface="Symbol" panose="05050102010706020507" pitchFamily="18" charset="2"/>
              </a:rPr>
              <a:t>b)</a:t>
            </a:r>
          </a:p>
          <a:p>
            <a:pPr lvl="2" eaLnBrk="1" hangingPunct="1"/>
            <a:r>
              <a:rPr kumimoji="0" lang="zh-CN" altLang="en-US">
                <a:sym typeface="Symbol" panose="05050102010706020507" pitchFamily="18" charset="2"/>
              </a:rPr>
              <a:t>若有核项目</a:t>
            </a:r>
            <a:r>
              <a:rPr lang="en-US" altLang="zh-CN">
                <a:sym typeface="Symbol" panose="05050102010706020507" pitchFamily="18" charset="2"/>
              </a:rPr>
              <a:t>[B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zh-CN">
                <a:sym typeface="Symbol" panose="05050102010706020507" pitchFamily="18" charset="2"/>
              </a:rPr>
              <a:t>·C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lang="en-US" altLang="zh-CN">
                <a:sym typeface="Symbol" panose="05050102010706020507" pitchFamily="18" charset="2"/>
              </a:rPr>
              <a:t>, b]</a:t>
            </a:r>
            <a:r>
              <a:rPr lang="zh-CN" altLang="en-US">
                <a:sym typeface="Symbol" panose="05050102010706020507" pitchFamily="18" charset="2"/>
              </a:rPr>
              <a:t>，存在推导</a:t>
            </a:r>
            <a:r>
              <a:rPr lang="en-US" altLang="zh-CN">
                <a:sym typeface="Symbol" panose="05050102010706020507" pitchFamily="18" charset="2"/>
              </a:rPr>
              <a:t>C</a:t>
            </a:r>
            <a:r>
              <a:rPr kumimoji="0" lang="en-US" altLang="zh-CN">
                <a:sym typeface="Symbol" panose="05050102010706020507" pitchFamily="18" charset="2"/>
              </a:rPr>
              <a:t>ax</a:t>
            </a:r>
            <a:r>
              <a:rPr kumimoji="0" lang="zh-CN" altLang="en-US">
                <a:sym typeface="Symbol" panose="05050102010706020507" pitchFamily="18" charset="2"/>
              </a:rPr>
              <a:t>，其最后一步不使用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lang="zh-CN" altLang="en-US">
                <a:sym typeface="Symbol" panose="05050102010706020507" pitchFamily="18" charset="2"/>
              </a:rPr>
              <a:t>产生式</a:t>
            </a:r>
            <a:r>
              <a:rPr lang="zh-CN" altLang="en-US">
                <a:sym typeface="Wingdings" panose="05000000000000000000" pitchFamily="2" charset="2"/>
              </a:rPr>
              <a:t>移进</a:t>
            </a:r>
            <a:r>
              <a:rPr lang="en-US" altLang="zh-CN">
                <a:sym typeface="Wingdings" panose="05000000000000000000" pitchFamily="2" charset="2"/>
              </a:rPr>
              <a:t>a</a:t>
            </a:r>
          </a:p>
          <a:p>
            <a:pPr lvl="1" eaLnBrk="1" hangingPunct="1"/>
            <a:r>
              <a:rPr lang="en-US" altLang="zh-CN">
                <a:sym typeface="Wingdings" panose="05000000000000000000" pitchFamily="2" charset="2"/>
              </a:rPr>
              <a:t>goto</a:t>
            </a:r>
          </a:p>
          <a:p>
            <a:pPr lvl="2" eaLnBrk="1" hangingPunct="1"/>
            <a:r>
              <a:rPr lang="en-US" altLang="zh-CN">
                <a:sym typeface="Symbol" panose="05050102010706020507" pitchFamily="18" charset="2"/>
              </a:rPr>
              <a:t>[B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zh-CN">
                <a:sym typeface="Symbol" panose="05050102010706020507" pitchFamily="18" charset="2"/>
              </a:rPr>
              <a:t>·X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lang="en-US" altLang="zh-CN">
                <a:sym typeface="Symbol" panose="05050102010706020507" pitchFamily="18" charset="2"/>
              </a:rPr>
              <a:t>, b]—I</a:t>
            </a:r>
            <a:r>
              <a:rPr lang="zh-CN" altLang="en-US">
                <a:sym typeface="Symbol" panose="05050102010706020507" pitchFamily="18" charset="2"/>
              </a:rPr>
              <a:t>的核</a:t>
            </a:r>
            <a:r>
              <a:rPr lang="en-US" altLang="zh-CN">
                <a:latin typeface="Tahoma" panose="020B0604030504040204" pitchFamily="34" charset="0"/>
                <a:sym typeface="Symbol" panose="05050102010706020507" pitchFamily="18" charset="2"/>
              </a:rPr>
              <a:t>———</a:t>
            </a:r>
            <a:r>
              <a:rPr lang="en-US" altLang="zh-CN">
                <a:sym typeface="Wingdings" panose="05000000000000000000" pitchFamily="2" charset="2"/>
              </a:rPr>
              <a:t></a:t>
            </a:r>
            <a:r>
              <a:rPr lang="en-US" altLang="zh-CN">
                <a:sym typeface="Symbol" panose="05050102010706020507" pitchFamily="18" charset="2"/>
              </a:rPr>
              <a:t>[B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zh-CN">
                <a:sym typeface="Symbol" panose="05050102010706020507" pitchFamily="18" charset="2"/>
              </a:rPr>
              <a:t>X·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lang="en-US" altLang="zh-CN">
                <a:sym typeface="Symbol" panose="05050102010706020507" pitchFamily="18" charset="2"/>
              </a:rPr>
              <a:t>, b]—</a:t>
            </a:r>
            <a:r>
              <a:rPr lang="zh-CN" altLang="en-US">
                <a:sym typeface="Symbol" panose="05050102010706020507" pitchFamily="18" charset="2"/>
              </a:rPr>
              <a:t>核</a:t>
            </a:r>
          </a:p>
          <a:p>
            <a:pPr lvl="2" eaLnBrk="1" hangingPunct="1"/>
            <a:r>
              <a:rPr lang="en-US" altLang="zh-CN">
                <a:sym typeface="Symbol" panose="05050102010706020507" pitchFamily="18" charset="2"/>
              </a:rPr>
              <a:t>[B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zh-CN">
                <a:sym typeface="Symbol" panose="05050102010706020507" pitchFamily="18" charset="2"/>
              </a:rPr>
              <a:t>·C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lang="en-US" altLang="zh-CN">
                <a:sym typeface="Symbol" panose="05050102010706020507" pitchFamily="18" charset="2"/>
              </a:rPr>
              <a:t>, b], C</a:t>
            </a:r>
            <a:r>
              <a:rPr kumimoji="0" lang="en-US" altLang="zh-CN">
                <a:sym typeface="Symbol" panose="05050102010706020507" pitchFamily="18" charset="2"/>
              </a:rPr>
              <a:t>A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h</a:t>
            </a:r>
            <a:r>
              <a:rPr lang="en-US" altLang="zh-CN">
                <a:latin typeface="Tahoma" panose="020B0604030504040204" pitchFamily="34" charset="0"/>
                <a:sym typeface="Symbol" panose="05050102010706020507" pitchFamily="18" charset="2"/>
              </a:rPr>
              <a:t>———</a:t>
            </a:r>
            <a:r>
              <a:rPr lang="en-US" altLang="zh-CN">
                <a:sym typeface="Wingdings" panose="05000000000000000000" pitchFamily="2" charset="2"/>
              </a:rPr>
              <a:t></a:t>
            </a:r>
            <a:r>
              <a:rPr lang="en-US" altLang="zh-CN">
                <a:sym typeface="Symbol" panose="05050102010706020507" pitchFamily="18" charset="2"/>
              </a:rPr>
              <a:t>[AX·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zh-CN">
                <a:sym typeface="Symbol" panose="05050102010706020507" pitchFamily="18" charset="2"/>
              </a:rPr>
              <a:t>, a]</a:t>
            </a:r>
          </a:p>
        </p:txBody>
      </p:sp>
      <p:sp>
        <p:nvSpPr>
          <p:cNvPr id="117764" name="Rectangle 4">
            <a:extLst>
              <a:ext uri="{FF2B5EF4-FFF2-40B4-BE49-F238E27FC236}">
                <a16:creationId xmlns:a16="http://schemas.microsoft.com/office/drawing/2014/main" id="{CA14EA4B-CDCF-4BFC-ABC6-B73893FED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794125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*</a:t>
            </a:r>
          </a:p>
        </p:txBody>
      </p:sp>
      <p:sp>
        <p:nvSpPr>
          <p:cNvPr id="117765" name="Rectangle 5">
            <a:extLst>
              <a:ext uri="{FF2B5EF4-FFF2-40B4-BE49-F238E27FC236}">
                <a16:creationId xmlns:a16="http://schemas.microsoft.com/office/drawing/2014/main" id="{CA49D179-3EF2-4F0A-B7E1-B56D2921D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022725"/>
            <a:ext cx="465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</a:p>
        </p:txBody>
      </p:sp>
      <p:sp>
        <p:nvSpPr>
          <p:cNvPr id="117766" name="Rectangle 6">
            <a:extLst>
              <a:ext uri="{FF2B5EF4-FFF2-40B4-BE49-F238E27FC236}">
                <a16:creationId xmlns:a16="http://schemas.microsoft.com/office/drawing/2014/main" id="{F2CE48BA-6B82-4546-991E-031D0EE14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7725" y="4238625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*</a:t>
            </a:r>
          </a:p>
        </p:txBody>
      </p:sp>
      <p:sp>
        <p:nvSpPr>
          <p:cNvPr id="117767" name="Rectangle 7">
            <a:extLst>
              <a:ext uri="{FF2B5EF4-FFF2-40B4-BE49-F238E27FC236}">
                <a16:creationId xmlns:a16="http://schemas.microsoft.com/office/drawing/2014/main" id="{5BBEEA3B-1F11-4E5B-ADDB-530127821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479925"/>
            <a:ext cx="465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</a:p>
        </p:txBody>
      </p:sp>
      <p:sp>
        <p:nvSpPr>
          <p:cNvPr id="117768" name="Rectangle 8">
            <a:extLst>
              <a:ext uri="{FF2B5EF4-FFF2-40B4-BE49-F238E27FC236}">
                <a16:creationId xmlns:a16="http://schemas.microsoft.com/office/drawing/2014/main" id="{40AB468B-F4AD-47D7-8747-75E471455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5" y="54864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folHlink"/>
                </a:solidFill>
              </a:rPr>
              <a:t>goto(I,X)</a:t>
            </a:r>
          </a:p>
        </p:txBody>
      </p:sp>
      <p:sp>
        <p:nvSpPr>
          <p:cNvPr id="117769" name="Rectangle 9">
            <a:extLst>
              <a:ext uri="{FF2B5EF4-FFF2-40B4-BE49-F238E27FC236}">
                <a16:creationId xmlns:a16="http://schemas.microsoft.com/office/drawing/2014/main" id="{203922A4-86B9-4939-87B0-D710536A5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0700" y="5976938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*</a:t>
            </a:r>
          </a:p>
        </p:txBody>
      </p:sp>
      <p:sp>
        <p:nvSpPr>
          <p:cNvPr id="117770" name="Rectangle 10">
            <a:extLst>
              <a:ext uri="{FF2B5EF4-FFF2-40B4-BE49-F238E27FC236}">
                <a16:creationId xmlns:a16="http://schemas.microsoft.com/office/drawing/2014/main" id="{ABEE3A26-D97A-4253-8966-1722B6270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6189663"/>
            <a:ext cx="465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</a:p>
        </p:txBody>
      </p:sp>
      <p:sp>
        <p:nvSpPr>
          <p:cNvPr id="117771" name="Rectangle 11">
            <a:extLst>
              <a:ext uri="{FF2B5EF4-FFF2-40B4-BE49-F238E27FC236}">
                <a16:creationId xmlns:a16="http://schemas.microsoft.com/office/drawing/2014/main" id="{C1378412-74EF-4C3B-A2B5-E1846B396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5915025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solidFill>
                  <a:schemeClr val="folHlink"/>
                </a:solidFill>
              </a:rPr>
              <a:t>goto(I,X)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439FD6F9-25B7-402D-9985-78D99E3307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4.46</a:t>
            </a:r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7768B2B6-D816-4581-A47B-3BC8DF78CA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9000"/>
              </a:lnSpc>
              <a:spcBef>
                <a:spcPct val="10000"/>
              </a:spcBef>
            </a:pPr>
            <a:r>
              <a:rPr kumimoji="0" lang="zh-CN" altLang="en-US"/>
              <a:t>考虑文法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/>
              <a:t>(0)  S’ </a:t>
            </a:r>
            <a:r>
              <a:rPr kumimoji="0" lang="en-US" altLang="zh-CN">
                <a:sym typeface="Symbol" panose="05050102010706020507" pitchFamily="18" charset="2"/>
              </a:rPr>
              <a:t> S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/>
              <a:t>(1)  S </a:t>
            </a:r>
            <a:r>
              <a:rPr kumimoji="0" lang="en-US" altLang="zh-CN">
                <a:sym typeface="Symbol" panose="05050102010706020507" pitchFamily="18" charset="2"/>
              </a:rPr>
              <a:t> L </a:t>
            </a:r>
            <a:r>
              <a:rPr kumimoji="0" lang="en-US" altLang="zh-CN">
                <a:solidFill>
                  <a:schemeClr val="accent2"/>
                </a:solidFill>
                <a:sym typeface="Symbol" panose="05050102010706020507" pitchFamily="18" charset="2"/>
              </a:rPr>
              <a:t>=</a:t>
            </a:r>
            <a:r>
              <a:rPr kumimoji="0" lang="en-US" altLang="zh-CN">
                <a:sym typeface="Symbol" panose="05050102010706020507" pitchFamily="18" charset="2"/>
              </a:rPr>
              <a:t> R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/>
              <a:t>(2)</a:t>
            </a:r>
            <a:r>
              <a:rPr kumimoji="0" lang="en-US" altLang="zh-CN">
                <a:sym typeface="Symbol" panose="05050102010706020507" pitchFamily="18" charset="2"/>
              </a:rPr>
              <a:t>  </a:t>
            </a:r>
            <a:r>
              <a:rPr kumimoji="0" lang="en-US" altLang="zh-CN"/>
              <a:t>S </a:t>
            </a:r>
            <a:r>
              <a:rPr kumimoji="0" lang="en-US" altLang="zh-CN">
                <a:sym typeface="Symbol" panose="05050102010706020507" pitchFamily="18" charset="2"/>
              </a:rPr>
              <a:t> R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/>
              <a:t>(3)</a:t>
            </a:r>
            <a:r>
              <a:rPr kumimoji="0" lang="en-US" altLang="zh-CN">
                <a:sym typeface="Symbol" panose="05050102010706020507" pitchFamily="18" charset="2"/>
              </a:rPr>
              <a:t>  L  </a:t>
            </a:r>
            <a:r>
              <a:rPr kumimoji="0" lang="en-US" altLang="zh-CN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>
                <a:sym typeface="Symbol" panose="05050102010706020507" pitchFamily="18" charset="2"/>
              </a:rPr>
              <a:t> R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/>
              <a:t>(4)</a:t>
            </a:r>
            <a:r>
              <a:rPr kumimoji="0" lang="en-US" altLang="zh-CN" b="1">
                <a:solidFill>
                  <a:schemeClr val="accent2"/>
                </a:solidFill>
                <a:sym typeface="Symbol" panose="05050102010706020507" pitchFamily="18" charset="2"/>
              </a:rPr>
              <a:t>  </a:t>
            </a:r>
            <a:r>
              <a:rPr kumimoji="0" lang="en-US" altLang="zh-CN">
                <a:sym typeface="Symbol" panose="05050102010706020507" pitchFamily="18" charset="2"/>
              </a:rPr>
              <a:t>L </a:t>
            </a:r>
            <a:r>
              <a:rPr kumimoji="0" lang="en-US" altLang="zh-CN" b="1">
                <a:solidFill>
                  <a:schemeClr val="accent2"/>
                </a:solidFill>
                <a:sym typeface="Symbol" panose="05050102010706020507" pitchFamily="18" charset="2"/>
              </a:rPr>
              <a:t> id</a:t>
            </a:r>
            <a:endParaRPr kumimoji="0" lang="en-US" altLang="zh-CN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/>
              <a:t>(5)</a:t>
            </a:r>
            <a:r>
              <a:rPr kumimoji="0" lang="en-US" altLang="zh-CN">
                <a:sym typeface="Symbol" panose="05050102010706020507" pitchFamily="18" charset="2"/>
              </a:rPr>
              <a:t>  R  L</a:t>
            </a:r>
            <a:endParaRPr lang="en-US" altLang="zh-CN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BAEDEA46-A322-41FB-973E-5F2B220060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4.46 </a:t>
            </a:r>
            <a:r>
              <a:rPr lang="zh-CN" altLang="en-US"/>
              <a:t>（续）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ADD2BAD3-A06D-45E2-A58F-8FC178C140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/>
              <a:t>LR(0)</a:t>
            </a:r>
            <a:r>
              <a:rPr kumimoji="0" lang="zh-CN" altLang="en-US" sz="2400"/>
              <a:t>项目集的核，这些核项目的搜索符怎么得到？考察搜索符的产生方式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/>
              <a:t>I</a:t>
            </a:r>
            <a:r>
              <a:rPr kumimoji="0" lang="en-US" altLang="zh-CN" sz="2400" baseline="-25000"/>
              <a:t>0</a:t>
            </a:r>
            <a:r>
              <a:rPr kumimoji="0" lang="en-US" altLang="zh-CN" sz="2400"/>
              <a:t>={</a:t>
            </a:r>
            <a:r>
              <a:rPr kumimoji="0" lang="en-US" altLang="zh-CN" sz="2400" b="1"/>
              <a:t>S’</a:t>
            </a:r>
            <a:r>
              <a:rPr kumimoji="0" lang="en-US" altLang="zh-CN" sz="2400" b="1">
                <a:sym typeface="Symbol" panose="05050102010706020507" pitchFamily="18" charset="2"/>
              </a:rPr>
              <a:t>·S</a:t>
            </a:r>
            <a:r>
              <a:rPr kumimoji="0" lang="en-US" altLang="zh-CN" sz="2400"/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/>
              <a:t>I</a:t>
            </a:r>
            <a:r>
              <a:rPr kumimoji="0" lang="en-US" altLang="zh-CN" sz="2400" baseline="-25000"/>
              <a:t>1</a:t>
            </a:r>
            <a:r>
              <a:rPr kumimoji="0" lang="en-US" altLang="zh-CN" sz="2400"/>
              <a:t> = {</a:t>
            </a:r>
            <a:r>
              <a:rPr kumimoji="0" lang="en-US" altLang="zh-CN" sz="2400" b="1"/>
              <a:t>S’ </a:t>
            </a:r>
            <a:r>
              <a:rPr kumimoji="0" lang="en-US" altLang="zh-CN" sz="2400" b="1">
                <a:sym typeface="Symbol" panose="05050102010706020507" pitchFamily="18" charset="2"/>
              </a:rPr>
              <a:t> S· </a:t>
            </a:r>
            <a:r>
              <a:rPr kumimoji="0" lang="en-US" altLang="zh-CN" sz="2400"/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/>
              <a:t>I</a:t>
            </a:r>
            <a:r>
              <a:rPr kumimoji="0" lang="en-US" altLang="zh-CN" sz="2400" baseline="-25000"/>
              <a:t>2</a:t>
            </a:r>
            <a:r>
              <a:rPr kumimoji="0" lang="en-US" altLang="zh-CN" sz="2400"/>
              <a:t> = {</a:t>
            </a:r>
            <a:r>
              <a:rPr kumimoji="0" lang="en-US" altLang="zh-CN" sz="2400" b="1"/>
              <a:t>S </a:t>
            </a:r>
            <a:r>
              <a:rPr kumimoji="0" lang="en-US" altLang="zh-CN" sz="2400" b="1">
                <a:sym typeface="Symbol" panose="05050102010706020507" pitchFamily="18" charset="2"/>
              </a:rPr>
              <a:t> L ·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=</a:t>
            </a:r>
            <a:r>
              <a:rPr kumimoji="0" lang="en-US" altLang="zh-CN" sz="2400" b="1">
                <a:sym typeface="Symbol" panose="05050102010706020507" pitchFamily="18" charset="2"/>
              </a:rPr>
              <a:t> R , R  L · </a:t>
            </a:r>
            <a:r>
              <a:rPr kumimoji="0" lang="en-US" altLang="zh-CN" sz="2400"/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/>
              <a:t>I</a:t>
            </a:r>
            <a:r>
              <a:rPr kumimoji="0" lang="en-US" altLang="zh-CN" sz="2400" baseline="-25000"/>
              <a:t>3</a:t>
            </a:r>
            <a:r>
              <a:rPr kumimoji="0" lang="en-US" altLang="zh-CN" sz="2400"/>
              <a:t> = {</a:t>
            </a:r>
            <a:r>
              <a:rPr kumimoji="0" lang="en-US" altLang="zh-CN" sz="2400" b="1"/>
              <a:t>S </a:t>
            </a:r>
            <a:r>
              <a:rPr kumimoji="0" lang="en-US" altLang="zh-CN" sz="2400" b="1">
                <a:sym typeface="Symbol" panose="05050102010706020507" pitchFamily="18" charset="2"/>
              </a:rPr>
              <a:t> R·</a:t>
            </a:r>
            <a:r>
              <a:rPr kumimoji="0" lang="en-US" altLang="zh-CN" sz="2400"/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/>
              <a:t>I</a:t>
            </a:r>
            <a:r>
              <a:rPr kumimoji="0" lang="en-US" altLang="zh-CN" sz="2400" baseline="-25000"/>
              <a:t>4</a:t>
            </a:r>
            <a:r>
              <a:rPr kumimoji="0" lang="en-US" altLang="zh-CN" sz="2400"/>
              <a:t> = {</a:t>
            </a:r>
            <a:r>
              <a:rPr kumimoji="0" lang="en-US" altLang="zh-CN" sz="2400" b="1"/>
              <a:t>L </a:t>
            </a:r>
            <a:r>
              <a:rPr kumimoji="0" lang="en-US" altLang="zh-CN" sz="2400" b="1">
                <a:sym typeface="Symbol" panose="05050102010706020507" pitchFamily="18" charset="2"/>
              </a:rPr>
              <a:t>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·R </a:t>
            </a:r>
            <a:r>
              <a:rPr kumimoji="0" lang="en-US" altLang="zh-CN" sz="2400"/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/>
              <a:t>I</a:t>
            </a:r>
            <a:r>
              <a:rPr kumimoji="0" lang="en-US" altLang="zh-CN" sz="2400" baseline="-25000"/>
              <a:t>5</a:t>
            </a:r>
            <a:r>
              <a:rPr kumimoji="0" lang="en-US" altLang="zh-CN" sz="2400"/>
              <a:t> = {</a:t>
            </a:r>
            <a:r>
              <a:rPr kumimoji="0" lang="en-US" altLang="zh-CN" sz="2400" b="1">
                <a:sym typeface="Symbol" panose="05050102010706020507" pitchFamily="18" charset="2"/>
              </a:rPr>
              <a:t>L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kumimoji="0" lang="en-US" altLang="zh-CN" sz="2400" b="1">
                <a:sym typeface="Symbol" panose="05050102010706020507" pitchFamily="18" charset="2"/>
              </a:rPr>
              <a:t>· </a:t>
            </a:r>
            <a:r>
              <a:rPr kumimoji="0" lang="en-US" altLang="zh-CN" sz="2400"/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/>
              <a:t>I</a:t>
            </a:r>
            <a:r>
              <a:rPr kumimoji="0" lang="en-US" altLang="zh-CN" sz="2400" baseline="-25000"/>
              <a:t>6</a:t>
            </a:r>
            <a:r>
              <a:rPr kumimoji="0" lang="en-US" altLang="zh-CN" sz="2400"/>
              <a:t> = {</a:t>
            </a:r>
            <a:r>
              <a:rPr kumimoji="0" lang="en-US" altLang="zh-CN" sz="2400" b="1"/>
              <a:t>S </a:t>
            </a:r>
            <a:r>
              <a:rPr kumimoji="0" lang="en-US" altLang="zh-CN" sz="2400" b="1">
                <a:sym typeface="Symbol" panose="05050102010706020507" pitchFamily="18" charset="2"/>
              </a:rPr>
              <a:t> L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= </a:t>
            </a:r>
            <a:r>
              <a:rPr kumimoji="0" lang="en-US" altLang="zh-CN" sz="2400" b="1">
                <a:sym typeface="Symbol" panose="05050102010706020507" pitchFamily="18" charset="2"/>
              </a:rPr>
              <a:t>· R</a:t>
            </a:r>
            <a:r>
              <a:rPr kumimoji="0" lang="en-US" altLang="zh-CN" sz="2400"/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/>
              <a:t>I</a:t>
            </a:r>
            <a:r>
              <a:rPr kumimoji="0" lang="en-US" altLang="zh-CN" sz="2400" baseline="-25000"/>
              <a:t>7</a:t>
            </a:r>
            <a:r>
              <a:rPr kumimoji="0" lang="en-US" altLang="zh-CN" sz="2400"/>
              <a:t> = {</a:t>
            </a:r>
            <a:r>
              <a:rPr kumimoji="0" lang="en-US" altLang="zh-CN" sz="2400" b="1">
                <a:sym typeface="Symbol" panose="05050102010706020507" pitchFamily="18" charset="2"/>
              </a:rPr>
              <a:t>L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R·</a:t>
            </a:r>
            <a:r>
              <a:rPr kumimoji="0" lang="en-US" altLang="zh-CN" sz="2400"/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/>
              <a:t>I</a:t>
            </a:r>
            <a:r>
              <a:rPr kumimoji="0" lang="en-US" altLang="zh-CN" sz="2400" baseline="-25000"/>
              <a:t>8</a:t>
            </a:r>
            <a:r>
              <a:rPr kumimoji="0" lang="en-US" altLang="zh-CN" sz="2400"/>
              <a:t> = {</a:t>
            </a:r>
            <a:r>
              <a:rPr kumimoji="0" lang="en-US" altLang="zh-CN" sz="2400" b="1">
                <a:sym typeface="Symbol" panose="05050102010706020507" pitchFamily="18" charset="2"/>
              </a:rPr>
              <a:t>R  L ·</a:t>
            </a:r>
            <a:r>
              <a:rPr kumimoji="0" lang="en-US" altLang="zh-CN" sz="2400"/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/>
              <a:t>I</a:t>
            </a:r>
            <a:r>
              <a:rPr kumimoji="0" lang="en-US" altLang="zh-CN" sz="2400" baseline="-25000"/>
              <a:t>9</a:t>
            </a:r>
            <a:r>
              <a:rPr kumimoji="0" lang="en-US" altLang="zh-CN" sz="2400"/>
              <a:t> = {</a:t>
            </a:r>
            <a:r>
              <a:rPr kumimoji="0" lang="en-US" altLang="zh-CN" sz="2400" b="1"/>
              <a:t>S</a:t>
            </a:r>
            <a:r>
              <a:rPr kumimoji="0" lang="en-US" altLang="zh-CN" sz="2400" b="1">
                <a:sym typeface="Symbol" panose="05050102010706020507" pitchFamily="18" charset="2"/>
              </a:rPr>
              <a:t>L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=</a:t>
            </a:r>
            <a:r>
              <a:rPr kumimoji="0" lang="en-US" altLang="zh-CN" sz="2400" b="1">
                <a:sym typeface="Symbol" panose="05050102010706020507" pitchFamily="18" charset="2"/>
              </a:rPr>
              <a:t> R·</a:t>
            </a:r>
            <a:r>
              <a:rPr kumimoji="0" lang="en-US" altLang="zh-CN" sz="2400"/>
              <a:t>}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7098A452-710E-42F7-A032-8C7C5BB3D4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4.46 </a:t>
            </a:r>
            <a:r>
              <a:rPr lang="zh-CN" altLang="en-US"/>
              <a:t>（续）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6C017CB6-B5FC-44FE-8FDC-C6C5EB4505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eaLnBrk="1" hangingPunct="1"/>
            <a:r>
              <a:rPr kumimoji="0" lang="zh-CN" altLang="en-US"/>
              <a:t>扩展搜索符，搜索符如何“传播”？</a:t>
            </a:r>
          </a:p>
          <a:p>
            <a:pPr lvl="1" eaLnBrk="1" hangingPunct="1"/>
            <a:r>
              <a:rPr kumimoji="0" lang="zh-CN" altLang="en-US"/>
              <a:t>对</a:t>
            </a:r>
            <a:r>
              <a:rPr kumimoji="0" lang="en-US" altLang="zh-CN"/>
              <a:t>LR(0)</a:t>
            </a:r>
            <a:r>
              <a:rPr kumimoji="0" lang="zh-CN" altLang="en-US"/>
              <a:t>项目，若</a:t>
            </a:r>
            <a:r>
              <a:rPr lang="en-US" altLang="zh-CN">
                <a:sym typeface="Symbol" panose="05050102010706020507" pitchFamily="18" charset="2"/>
              </a:rPr>
              <a:t>B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zh-CN">
                <a:sym typeface="Symbol" panose="05050102010706020507" pitchFamily="18" charset="2"/>
              </a:rPr>
              <a:t>·C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lang="zh-CN" altLang="en-US">
                <a:latin typeface="Symbol" panose="05050102010706020507" pitchFamily="18" charset="2"/>
                <a:sym typeface="Symbol" panose="05050102010706020507" pitchFamily="18" charset="2"/>
              </a:rPr>
              <a:t>在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I</a:t>
            </a:r>
            <a:r>
              <a:rPr lang="zh-CN" altLang="en-US">
                <a:latin typeface="Symbol" panose="05050102010706020507" pitchFamily="18" charset="2"/>
                <a:sym typeface="Symbol" panose="05050102010706020507" pitchFamily="18" charset="2"/>
              </a:rPr>
              <a:t>中，</a:t>
            </a:r>
            <a:r>
              <a:rPr lang="en-US" altLang="zh-CN">
                <a:sym typeface="Symbol" panose="05050102010706020507" pitchFamily="18" charset="2"/>
              </a:rPr>
              <a:t>C</a:t>
            </a:r>
            <a:r>
              <a:rPr kumimoji="0" lang="en-US" altLang="zh-CN">
                <a:sym typeface="Symbol" panose="05050102010706020507" pitchFamily="18" charset="2"/>
              </a:rPr>
              <a:t>A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h</a:t>
            </a:r>
            <a:r>
              <a:rPr kumimoji="0" lang="zh-CN" altLang="en-US">
                <a:latin typeface="Symbol" panose="05050102010706020507" pitchFamily="18" charset="2"/>
                <a:sym typeface="Symbol" panose="05050102010706020507" pitchFamily="18" charset="2"/>
              </a:rPr>
              <a:t>， 存在</a:t>
            </a:r>
            <a:r>
              <a:rPr lang="en-US" altLang="zh-CN">
                <a:sym typeface="Symbol" panose="05050102010706020507" pitchFamily="18" charset="2"/>
              </a:rPr>
              <a:t>AX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zh-CN" altLang="en-US">
                <a:latin typeface="Symbol" panose="05050102010706020507" pitchFamily="18" charset="2"/>
                <a:sym typeface="Symbol" panose="05050102010706020507" pitchFamily="18" charset="2"/>
              </a:rPr>
              <a:t>，则</a:t>
            </a:r>
            <a:r>
              <a:rPr lang="en-US" altLang="zh-CN">
                <a:sym typeface="Symbol" panose="05050102010706020507" pitchFamily="18" charset="2"/>
              </a:rPr>
              <a:t>AX·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zh-CN" altLang="en-US">
                <a:latin typeface="Symbol" panose="05050102010706020507" pitchFamily="18" charset="2"/>
                <a:sym typeface="Symbol" panose="05050102010706020507" pitchFamily="18" charset="2"/>
              </a:rPr>
              <a:t>在</a:t>
            </a:r>
            <a:r>
              <a:rPr lang="en-US" altLang="zh-CN">
                <a:sym typeface="Symbol" panose="05050102010706020507" pitchFamily="18" charset="2"/>
              </a:rPr>
              <a:t>goto(I, X)</a:t>
            </a:r>
            <a:r>
              <a:rPr lang="zh-CN" altLang="en-US">
                <a:sym typeface="Symbol" panose="05050102010706020507" pitchFamily="18" charset="2"/>
              </a:rPr>
              <a:t>中</a:t>
            </a:r>
          </a:p>
          <a:p>
            <a:pPr lvl="1" eaLnBrk="1" hangingPunct="1"/>
            <a:r>
              <a:rPr lang="zh-CN" altLang="en-US">
                <a:sym typeface="Symbol" panose="05050102010706020507" pitchFamily="18" charset="2"/>
              </a:rPr>
              <a:t>考虑</a:t>
            </a:r>
            <a:r>
              <a:rPr lang="en-US" altLang="zh-CN">
                <a:sym typeface="Symbol" panose="05050102010706020507" pitchFamily="18" charset="2"/>
              </a:rPr>
              <a:t>LR(1)</a:t>
            </a:r>
            <a:r>
              <a:rPr lang="zh-CN" altLang="en-US">
                <a:sym typeface="Symbol" panose="05050102010706020507" pitchFamily="18" charset="2"/>
              </a:rPr>
              <a:t>项目， </a:t>
            </a:r>
            <a:r>
              <a:rPr lang="en-US" altLang="zh-CN">
                <a:sym typeface="Symbol" panose="05050102010706020507" pitchFamily="18" charset="2"/>
              </a:rPr>
              <a:t>[B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zh-CN">
                <a:sym typeface="Symbol" panose="05050102010706020507" pitchFamily="18" charset="2"/>
              </a:rPr>
              <a:t>·C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d, </a:t>
            </a:r>
            <a:r>
              <a:rPr lang="en-US" altLang="zh-CN">
                <a:sym typeface="Symbol" panose="05050102010706020507" pitchFamily="18" charset="2"/>
              </a:rPr>
              <a:t>b]</a:t>
            </a:r>
            <a:r>
              <a:rPr lang="zh-CN" altLang="en-US">
                <a:sym typeface="Symbol" panose="05050102010706020507" pitchFamily="18" charset="2"/>
              </a:rPr>
              <a:t>在</a:t>
            </a:r>
            <a:r>
              <a:rPr lang="en-US" altLang="zh-CN">
                <a:sym typeface="Symbol" panose="05050102010706020507" pitchFamily="18" charset="2"/>
              </a:rPr>
              <a:t>I</a:t>
            </a:r>
            <a:r>
              <a:rPr lang="zh-CN" altLang="en-US">
                <a:sym typeface="Symbol" panose="05050102010706020507" pitchFamily="18" charset="2"/>
              </a:rPr>
              <a:t>中，什么样的搜索符</a:t>
            </a:r>
            <a:r>
              <a:rPr lang="en-US" altLang="zh-CN">
                <a:sym typeface="Symbol" panose="05050102010706020507" pitchFamily="18" charset="2"/>
              </a:rPr>
              <a:t>a</a:t>
            </a:r>
            <a:r>
              <a:rPr lang="zh-CN" altLang="en-US">
                <a:sym typeface="Symbol" panose="05050102010706020507" pitchFamily="18" charset="2"/>
              </a:rPr>
              <a:t>，使</a:t>
            </a:r>
            <a:r>
              <a:rPr lang="en-US" altLang="zh-CN">
                <a:sym typeface="Symbol" panose="05050102010706020507" pitchFamily="18" charset="2"/>
              </a:rPr>
              <a:t>[AX·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b, </a:t>
            </a:r>
            <a:r>
              <a:rPr lang="en-US" altLang="zh-CN">
                <a:sym typeface="Symbol" panose="05050102010706020507" pitchFamily="18" charset="2"/>
              </a:rPr>
              <a:t>a]</a:t>
            </a:r>
            <a:r>
              <a:rPr lang="zh-CN" altLang="en-US">
                <a:sym typeface="Symbol" panose="05050102010706020507" pitchFamily="18" charset="2"/>
              </a:rPr>
              <a:t>在</a:t>
            </a:r>
            <a:r>
              <a:rPr lang="en-US" altLang="zh-CN">
                <a:sym typeface="Symbol" panose="05050102010706020507" pitchFamily="18" charset="2"/>
              </a:rPr>
              <a:t>goto(I, X)</a:t>
            </a:r>
            <a:r>
              <a:rPr lang="zh-CN" altLang="en-US">
                <a:sym typeface="Symbol" panose="05050102010706020507" pitchFamily="18" charset="2"/>
              </a:rPr>
              <a:t>中</a:t>
            </a:r>
          </a:p>
          <a:p>
            <a:pPr lvl="2" eaLnBrk="1" hangingPunct="1"/>
            <a:r>
              <a:rPr lang="en-US" altLang="zh-CN" sz="2800">
                <a:sym typeface="Symbol" panose="05050102010706020507" pitchFamily="18" charset="2"/>
              </a:rPr>
              <a:t>a</a:t>
            </a:r>
            <a:r>
              <a:rPr lang="en-US" altLang="zh-CN" sz="2800">
                <a:latin typeface="宋体" panose="02010600030101010101" pitchFamily="2" charset="-122"/>
                <a:sym typeface="Symbol" panose="05050102010706020507" pitchFamily="18" charset="2"/>
              </a:rPr>
              <a:t>∈</a:t>
            </a:r>
            <a:r>
              <a:rPr lang="en-US" altLang="zh-CN" sz="2800">
                <a:sym typeface="Symbol" panose="05050102010706020507" pitchFamily="18" charset="2"/>
              </a:rPr>
              <a:t>FIRST(</a:t>
            </a:r>
            <a:r>
              <a:rPr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hd</a:t>
            </a:r>
            <a:r>
              <a:rPr lang="en-US" altLang="zh-CN" sz="2800">
                <a:sym typeface="Symbol" panose="05050102010706020507" pitchFamily="18" charset="2"/>
              </a:rPr>
              <a:t>)</a:t>
            </a:r>
            <a:r>
              <a:rPr lang="zh-CN" altLang="en-US" sz="2800">
                <a:sym typeface="Symbol" panose="05050102010706020507" pitchFamily="18" charset="2"/>
              </a:rPr>
              <a:t>，自生的（</a:t>
            </a:r>
            <a:r>
              <a:rPr lang="en-US" altLang="zh-CN" sz="2800">
                <a:sym typeface="Symbol" panose="05050102010706020507" pitchFamily="18" charset="2"/>
              </a:rPr>
              <a:t>spontaneously</a:t>
            </a:r>
            <a:r>
              <a:rPr lang="zh-CN" altLang="en-US" sz="2800">
                <a:sym typeface="Symbol" panose="05050102010706020507" pitchFamily="18" charset="2"/>
              </a:rPr>
              <a:t>）</a:t>
            </a:r>
          </a:p>
          <a:p>
            <a:pPr lvl="2" eaLnBrk="1" hangingPunct="1"/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hd</a:t>
            </a:r>
            <a:r>
              <a:rPr kumimoji="0" lang="en-US" altLang="zh-CN" sz="2800">
                <a:sym typeface="Symbol" panose="05050102010706020507" pitchFamily="18" charset="2"/>
              </a:rPr>
              <a:t> 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lang="en-US" altLang="zh-CN" sz="2800">
                <a:sym typeface="Symbol" panose="05050102010706020507" pitchFamily="18" charset="2"/>
              </a:rPr>
              <a:t> </a:t>
            </a:r>
            <a:r>
              <a:rPr lang="zh-CN" altLang="en-US" sz="2800">
                <a:sym typeface="Symbol" panose="05050102010706020507" pitchFamily="18" charset="2"/>
              </a:rPr>
              <a:t>，则</a:t>
            </a:r>
            <a:r>
              <a:rPr lang="en-US" altLang="zh-CN" sz="2800">
                <a:sym typeface="Symbol" panose="05050102010706020507" pitchFamily="18" charset="2"/>
              </a:rPr>
              <a:t>a=b</a:t>
            </a:r>
            <a:r>
              <a:rPr lang="zh-CN" altLang="en-US" sz="2800">
                <a:sym typeface="Symbol" panose="05050102010706020507" pitchFamily="18" charset="2"/>
              </a:rPr>
              <a:t>，传播的（</a:t>
            </a:r>
            <a:r>
              <a:rPr lang="en-US" altLang="zh-CN" sz="2800">
                <a:sym typeface="Symbol" panose="05050102010706020507" pitchFamily="18" charset="2"/>
              </a:rPr>
              <a:t>propagate</a:t>
            </a:r>
            <a:r>
              <a:rPr lang="zh-CN" altLang="en-US" sz="2800">
                <a:sym typeface="Symbol" panose="05050102010706020507" pitchFamily="18" charset="2"/>
              </a:rPr>
              <a:t>）</a:t>
            </a:r>
          </a:p>
        </p:txBody>
      </p:sp>
      <p:sp>
        <p:nvSpPr>
          <p:cNvPr id="120836" name="Rectangle 4">
            <a:extLst>
              <a:ext uri="{FF2B5EF4-FFF2-40B4-BE49-F238E27FC236}">
                <a16:creationId xmlns:a16="http://schemas.microsoft.com/office/drawing/2014/main" id="{732FA162-434D-4F9F-A44B-690F8C85C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850" y="1938338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*</a:t>
            </a:r>
          </a:p>
        </p:txBody>
      </p:sp>
      <p:sp>
        <p:nvSpPr>
          <p:cNvPr id="120837" name="Rectangle 5">
            <a:extLst>
              <a:ext uri="{FF2B5EF4-FFF2-40B4-BE49-F238E27FC236}">
                <a16:creationId xmlns:a16="http://schemas.microsoft.com/office/drawing/2014/main" id="{99E9878D-6EA2-44EE-95BC-4A014664F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1063" y="2151063"/>
            <a:ext cx="465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/>
              <a:t>rm</a:t>
            </a:r>
          </a:p>
        </p:txBody>
      </p:sp>
      <p:sp>
        <p:nvSpPr>
          <p:cNvPr id="120838" name="Rectangle 6">
            <a:extLst>
              <a:ext uri="{FF2B5EF4-FFF2-40B4-BE49-F238E27FC236}">
                <a16:creationId xmlns:a16="http://schemas.microsoft.com/office/drawing/2014/main" id="{EF5E6306-FD45-4F1F-81CC-E053AC11B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3434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chemeClr val="hlink"/>
                </a:solidFill>
              </a:rPr>
              <a:t>*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55865458-79D9-41DD-84E0-3C41D558AF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4.46 </a:t>
            </a:r>
            <a:r>
              <a:rPr lang="zh-CN" altLang="en-US"/>
              <a:t>（续）</a:t>
            </a:r>
          </a:p>
        </p:txBody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3F03BB48-E228-4D61-8898-46E98AAFA3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3810000" cy="4876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 b="1"/>
              <a:t>{[S’</a:t>
            </a:r>
            <a:r>
              <a:rPr kumimoji="0" lang="en-US" altLang="zh-CN" sz="2800" b="1">
                <a:sym typeface="Symbol" panose="05050102010706020507" pitchFamily="18" charset="2"/>
              </a:rPr>
              <a:t>·S, $]</a:t>
            </a:r>
            <a:r>
              <a:rPr kumimoji="0" lang="en-US" altLang="zh-CN" sz="2800" b="1"/>
              <a:t>}</a:t>
            </a:r>
          </a:p>
          <a:p>
            <a:pPr eaLnBrk="1" hangingPunct="1"/>
            <a:endParaRPr kumimoji="0" lang="en-US" altLang="zh-CN" sz="2800"/>
          </a:p>
          <a:p>
            <a:pPr eaLnBrk="1" hangingPunct="1"/>
            <a:endParaRPr kumimoji="0" lang="en-US" altLang="zh-CN" sz="2800"/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 b="1"/>
              <a:t>{…</a:t>
            </a:r>
            <a:r>
              <a:rPr kumimoji="0" lang="en-US" altLang="zh-CN" sz="2800" b="1">
                <a:sym typeface="Symbol" panose="05050102010706020507" pitchFamily="18" charset="2"/>
              </a:rPr>
              <a:t>, [</a:t>
            </a:r>
            <a:r>
              <a:rPr kumimoji="0" lang="en-US" altLang="zh-CN" sz="2800" b="1"/>
              <a:t>S</a:t>
            </a:r>
            <a:r>
              <a:rPr kumimoji="0" lang="en-US" altLang="zh-CN" sz="2800" b="1">
                <a:sym typeface="Symbol" panose="05050102010706020507" pitchFamily="18" charset="2"/>
              </a:rPr>
              <a:t>·L = R, $], …</a:t>
            </a:r>
            <a:r>
              <a:rPr kumimoji="0" lang="en-US" altLang="zh-CN" sz="2800" b="1"/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kumimoji="0" lang="en-US" altLang="zh-CN" sz="2800" b="1"/>
          </a:p>
          <a:p>
            <a:pPr eaLnBrk="1" hangingPunct="1">
              <a:buFont typeface="Wingdings" panose="05000000000000000000" pitchFamily="2" charset="2"/>
              <a:buNone/>
            </a:pPr>
            <a:endParaRPr kumimoji="0" lang="en-US" altLang="zh-CN" sz="2800" b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 b="1"/>
              <a:t>{…</a:t>
            </a:r>
            <a:r>
              <a:rPr kumimoji="0" lang="en-US" altLang="zh-CN" sz="2800" b="1">
                <a:sym typeface="Symbol" panose="05050102010706020507" pitchFamily="18" charset="2"/>
              </a:rPr>
              <a:t>, [</a:t>
            </a:r>
            <a:r>
              <a:rPr kumimoji="0" lang="en-US" altLang="zh-CN" sz="2800" b="1"/>
              <a:t>S</a:t>
            </a:r>
            <a:r>
              <a:rPr kumimoji="0" lang="en-US" altLang="zh-CN" sz="2800" b="1">
                <a:sym typeface="Symbol" panose="05050102010706020507" pitchFamily="18" charset="2"/>
              </a:rPr>
              <a:t>L · = R, $], …</a:t>
            </a:r>
            <a:r>
              <a:rPr kumimoji="0" lang="en-US" altLang="zh-CN" sz="2800" b="1"/>
              <a:t>}</a:t>
            </a:r>
          </a:p>
        </p:txBody>
      </p:sp>
      <p:sp>
        <p:nvSpPr>
          <p:cNvPr id="121860" name="Rectangle 7">
            <a:extLst>
              <a:ext uri="{FF2B5EF4-FFF2-40B4-BE49-F238E27FC236}">
                <a16:creationId xmlns:a16="http://schemas.microsoft.com/office/drawing/2014/main" id="{DD66C521-A1CA-4C67-93F4-01192BE68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1371600"/>
            <a:ext cx="38100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 b="1"/>
              <a:t>{[S’</a:t>
            </a:r>
            <a:r>
              <a:rPr kumimoji="0" lang="en-US" altLang="zh-CN" sz="2800" b="1">
                <a:sym typeface="Symbol" panose="05050102010706020507" pitchFamily="18" charset="2"/>
              </a:rPr>
              <a:t>·S, $]</a:t>
            </a:r>
            <a:r>
              <a:rPr kumimoji="0" lang="en-US" altLang="zh-CN" sz="2800" b="1"/>
              <a:t>}</a:t>
            </a:r>
          </a:p>
          <a:p>
            <a:pPr eaLnBrk="1" hangingPunct="1"/>
            <a:endParaRPr kumimoji="0" lang="en-US" altLang="zh-CN" sz="2800"/>
          </a:p>
          <a:p>
            <a:pPr eaLnBrk="1" hangingPunct="1"/>
            <a:endParaRPr kumimoji="0" lang="en-US" altLang="zh-CN" sz="2800"/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 b="1"/>
              <a:t>{…</a:t>
            </a:r>
            <a:r>
              <a:rPr kumimoji="0" lang="en-US" altLang="zh-CN" sz="2800" b="1">
                <a:sym typeface="Symbol" panose="05050102010706020507" pitchFamily="18" charset="2"/>
              </a:rPr>
              <a:t>, [</a:t>
            </a:r>
            <a:r>
              <a:rPr kumimoji="0" lang="en-US" altLang="zh-CN" sz="2800" b="1"/>
              <a:t>S</a:t>
            </a:r>
            <a:r>
              <a:rPr kumimoji="0" lang="en-US" altLang="zh-CN" sz="2800" b="1">
                <a:sym typeface="Symbol" panose="05050102010706020507" pitchFamily="18" charset="2"/>
              </a:rPr>
              <a:t>·L = R, $], …,</a:t>
            </a:r>
            <a:br>
              <a:rPr kumimoji="0" lang="en-US" altLang="zh-CN" sz="2800" b="1">
                <a:sym typeface="Symbol" panose="05050102010706020507" pitchFamily="18" charset="2"/>
              </a:rPr>
            </a:br>
            <a:r>
              <a:rPr kumimoji="0" lang="en-US" altLang="zh-CN" sz="2800" b="1">
                <a:sym typeface="Symbol" panose="05050102010706020507" pitchFamily="18" charset="2"/>
              </a:rPr>
              <a:t>[</a:t>
            </a:r>
            <a:r>
              <a:rPr kumimoji="0" lang="en-US" altLang="zh-CN" sz="2800" b="1"/>
              <a:t>L</a:t>
            </a:r>
            <a:r>
              <a:rPr kumimoji="0" lang="en-US" altLang="zh-CN" sz="2800" b="1">
                <a:sym typeface="Symbol" panose="05050102010706020507" pitchFamily="18" charset="2"/>
              </a:rPr>
              <a:t>· * R, =], …</a:t>
            </a:r>
            <a:r>
              <a:rPr kumimoji="0" lang="en-US" altLang="zh-CN" sz="2800" b="1"/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kumimoji="0" lang="en-US" altLang="zh-CN" sz="2800" b="1"/>
          </a:p>
          <a:p>
            <a:pPr eaLnBrk="1" hangingPunct="1">
              <a:buFont typeface="Wingdings" panose="05000000000000000000" pitchFamily="2" charset="2"/>
              <a:buNone/>
            </a:pPr>
            <a:endParaRPr kumimoji="0" lang="en-US" altLang="zh-CN" sz="2800" b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 b="1"/>
              <a:t>{…</a:t>
            </a:r>
            <a:r>
              <a:rPr kumimoji="0" lang="en-US" altLang="zh-CN" sz="2800" b="1">
                <a:sym typeface="Symbol" panose="05050102010706020507" pitchFamily="18" charset="2"/>
              </a:rPr>
              <a:t>, [</a:t>
            </a:r>
            <a:r>
              <a:rPr kumimoji="0" lang="en-US" altLang="zh-CN" sz="2800" b="1"/>
              <a:t>L</a:t>
            </a:r>
            <a:r>
              <a:rPr kumimoji="0" lang="en-US" altLang="zh-CN" sz="2800" b="1">
                <a:sym typeface="Symbol" panose="05050102010706020507" pitchFamily="18" charset="2"/>
              </a:rPr>
              <a:t>* · R, =], …</a:t>
            </a:r>
            <a:r>
              <a:rPr kumimoji="0" lang="en-US" altLang="zh-CN" sz="2800" b="1"/>
              <a:t>}</a:t>
            </a:r>
          </a:p>
        </p:txBody>
      </p:sp>
      <p:sp>
        <p:nvSpPr>
          <p:cNvPr id="121861" name="AutoShape 8">
            <a:extLst>
              <a:ext uri="{FF2B5EF4-FFF2-40B4-BE49-F238E27FC236}">
                <a16:creationId xmlns:a16="http://schemas.microsoft.com/office/drawing/2014/main" id="{7F5C41D8-73E0-41E9-8730-537F5684413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91000" y="1752600"/>
            <a:ext cx="533400" cy="1219200"/>
          </a:xfrm>
          <a:prstGeom prst="downArrow">
            <a:avLst>
              <a:gd name="adj1" fmla="val 50000"/>
              <a:gd name="adj2" fmla="val 57143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  <a:latin typeface="Tahoma" panose="020B0604030504040204" pitchFamily="34" charset="0"/>
              </a:rPr>
              <a:t>closure</a:t>
            </a:r>
          </a:p>
        </p:txBody>
      </p:sp>
      <p:sp>
        <p:nvSpPr>
          <p:cNvPr id="121862" name="AutoShape 9">
            <a:extLst>
              <a:ext uri="{FF2B5EF4-FFF2-40B4-BE49-F238E27FC236}">
                <a16:creationId xmlns:a16="http://schemas.microsoft.com/office/drawing/2014/main" id="{44FAB785-891A-4526-9D94-1007E18C4FA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91000" y="3429000"/>
            <a:ext cx="533400" cy="1219200"/>
          </a:xfrm>
          <a:prstGeom prst="downArrow">
            <a:avLst>
              <a:gd name="adj1" fmla="val 50000"/>
              <a:gd name="adj2" fmla="val 57143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  <a:latin typeface="Tahoma" panose="020B0604030504040204" pitchFamily="34" charset="0"/>
              </a:rPr>
              <a:t>goto(I, L)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  <a:latin typeface="Tahoma" panose="020B0604030504040204" pitchFamily="34" charset="0"/>
              </a:rPr>
              <a:t>goto(I, *)</a:t>
            </a:r>
          </a:p>
        </p:txBody>
      </p:sp>
      <p:sp>
        <p:nvSpPr>
          <p:cNvPr id="121863" name="Line 10">
            <a:extLst>
              <a:ext uri="{FF2B5EF4-FFF2-40B4-BE49-F238E27FC236}">
                <a16:creationId xmlns:a16="http://schemas.microsoft.com/office/drawing/2014/main" id="{FD40201C-09C4-4592-BEF0-DDD3DE1C83CA}"/>
              </a:ext>
            </a:extLst>
          </p:cNvPr>
          <p:cNvSpPr>
            <a:spLocks noChangeShapeType="1"/>
          </p:cNvSpPr>
          <p:nvPr/>
        </p:nvSpPr>
        <p:spPr bwMode="ltGray">
          <a:xfrm>
            <a:off x="1295400" y="1752600"/>
            <a:ext cx="990600" cy="1371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64" name="Line 11">
            <a:extLst>
              <a:ext uri="{FF2B5EF4-FFF2-40B4-BE49-F238E27FC236}">
                <a16:creationId xmlns:a16="http://schemas.microsoft.com/office/drawing/2014/main" id="{E288A435-28FF-4B5E-8840-3B41CD66F909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2057400" y="3276600"/>
            <a:ext cx="228600" cy="1371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65" name="Rectangle 12">
            <a:extLst>
              <a:ext uri="{FF2B5EF4-FFF2-40B4-BE49-F238E27FC236}">
                <a16:creationId xmlns:a16="http://schemas.microsoft.com/office/drawing/2014/main" id="{13D44960-D58B-48A9-BD2B-DD7C19EA95B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47738" y="3492500"/>
            <a:ext cx="79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chemeClr val="hlink"/>
                </a:solidFill>
                <a:latin typeface="Tahoma" panose="020B0604030504040204" pitchFamily="34" charset="0"/>
              </a:rPr>
              <a:t>传播</a:t>
            </a:r>
          </a:p>
        </p:txBody>
      </p:sp>
      <p:sp>
        <p:nvSpPr>
          <p:cNvPr id="121866" name="Line 13">
            <a:extLst>
              <a:ext uri="{FF2B5EF4-FFF2-40B4-BE49-F238E27FC236}">
                <a16:creationId xmlns:a16="http://schemas.microsoft.com/office/drawing/2014/main" id="{41681549-5394-42AC-8BFF-C682B7D0C0B9}"/>
              </a:ext>
            </a:extLst>
          </p:cNvPr>
          <p:cNvSpPr>
            <a:spLocks noChangeShapeType="1"/>
          </p:cNvSpPr>
          <p:nvPr/>
        </p:nvSpPr>
        <p:spPr bwMode="ltGray">
          <a:xfrm>
            <a:off x="5867400" y="1752600"/>
            <a:ext cx="838200" cy="1752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67" name="Line 14">
            <a:extLst>
              <a:ext uri="{FF2B5EF4-FFF2-40B4-BE49-F238E27FC236}">
                <a16:creationId xmlns:a16="http://schemas.microsoft.com/office/drawing/2014/main" id="{BDA73422-6F59-47DF-B668-652C8FDFE344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6324600" y="3733800"/>
            <a:ext cx="228600" cy="1371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68" name="Rectangle 15">
            <a:extLst>
              <a:ext uri="{FF2B5EF4-FFF2-40B4-BE49-F238E27FC236}">
                <a16:creationId xmlns:a16="http://schemas.microsoft.com/office/drawing/2014/main" id="{9BE9BAB0-E7E6-4FDF-82B8-37277EF0506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6858000" y="3810000"/>
            <a:ext cx="79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chemeClr val="hlink"/>
                </a:solidFill>
                <a:latin typeface="Tahoma" panose="020B0604030504040204" pitchFamily="34" charset="0"/>
              </a:rPr>
              <a:t>自生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78938819-640E-4D95-8779-23965A56E2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4.12  </a:t>
            </a:r>
            <a:r>
              <a:rPr lang="zh-CN" altLang="en-US"/>
              <a:t>判定自生</a:t>
            </a:r>
            <a:r>
              <a:rPr lang="en-US" altLang="zh-CN"/>
              <a:t>/</a:t>
            </a:r>
            <a:r>
              <a:rPr lang="zh-CN" altLang="en-US"/>
              <a:t>传播</a:t>
            </a:r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29B5CB66-1CF3-435E-9BDB-BB15AC2B39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/>
              <a:t>输入：</a:t>
            </a:r>
            <a:r>
              <a:rPr lang="en-US" altLang="zh-CN" sz="2800"/>
              <a:t>LR(0)</a:t>
            </a:r>
            <a:r>
              <a:rPr lang="zh-CN" altLang="en-US" sz="2800"/>
              <a:t>项目集</a:t>
            </a:r>
            <a:r>
              <a:rPr lang="en-US" altLang="zh-CN" sz="2800"/>
              <a:t>I</a:t>
            </a:r>
            <a:r>
              <a:rPr lang="zh-CN" altLang="en-US" sz="2800"/>
              <a:t>的核</a:t>
            </a:r>
            <a:r>
              <a:rPr lang="en-US" altLang="zh-CN" sz="2800"/>
              <a:t>K</a:t>
            </a:r>
            <a:r>
              <a:rPr lang="zh-CN" altLang="en-US" sz="2800"/>
              <a:t>，文法符号</a:t>
            </a:r>
            <a:r>
              <a:rPr lang="en-US" altLang="zh-CN" sz="2800"/>
              <a:t>X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/>
              <a:t>输出：</a:t>
            </a:r>
            <a:r>
              <a:rPr lang="en-US" altLang="zh-CN" sz="2800"/>
              <a:t>goto(I, X)</a:t>
            </a:r>
            <a:r>
              <a:rPr lang="zh-CN" altLang="en-US" sz="2800"/>
              <a:t>的自生搜索符和传播搜索符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/>
              <a:t>方法：</a:t>
            </a:r>
            <a:r>
              <a:rPr lang="en-US" altLang="zh-CN" sz="2800"/>
              <a:t>#</a:t>
            </a:r>
            <a:r>
              <a:rPr lang="zh-CN" altLang="en-US" sz="2800"/>
              <a:t>为伪搜索符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for  K</a:t>
            </a:r>
            <a:r>
              <a:rPr lang="zh-CN" altLang="en-US" sz="2400"/>
              <a:t>中每个项目</a:t>
            </a:r>
            <a:r>
              <a:rPr lang="en-US" altLang="zh-CN" sz="2400">
                <a:sym typeface="Symbol" panose="05050102010706020507" pitchFamily="18" charset="2"/>
              </a:rPr>
              <a:t>B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zh-CN" sz="2400">
                <a:sym typeface="Symbol" panose="05050102010706020507" pitchFamily="18" charset="2"/>
              </a:rPr>
              <a:t>·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lang="en-US" altLang="zh-CN" sz="2400">
                <a:sym typeface="Symbol" panose="05050102010706020507" pitchFamily="18" charset="2"/>
              </a:rPr>
              <a:t> 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	J’=closure({[B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zh-CN" sz="2400">
                <a:sym typeface="Symbol" panose="05050102010706020507" pitchFamily="18" charset="2"/>
              </a:rPr>
              <a:t>·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lang="en-US" altLang="zh-CN" sz="2400">
                <a:sym typeface="Symbol" panose="05050102010706020507" pitchFamily="18" charset="2"/>
              </a:rPr>
              <a:t>, #]});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	if  ([A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zh-CN" sz="2400">
                <a:sym typeface="Symbol" panose="05050102010706020507" pitchFamily="18" charset="2"/>
              </a:rPr>
              <a:t>·X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zh-CN" sz="2400">
                <a:sym typeface="Symbol" panose="05050102010706020507" pitchFamily="18" charset="2"/>
              </a:rPr>
              <a:t>, a]</a:t>
            </a:r>
            <a:r>
              <a:rPr lang="zh-CN" altLang="en-US" sz="2400">
                <a:sym typeface="Symbol" panose="05050102010706020507" pitchFamily="18" charset="2"/>
              </a:rPr>
              <a:t>在</a:t>
            </a:r>
            <a:r>
              <a:rPr lang="en-US" altLang="zh-CN" sz="2400">
                <a:sym typeface="Symbol" panose="05050102010706020507" pitchFamily="18" charset="2"/>
              </a:rPr>
              <a:t>J’</a:t>
            </a:r>
            <a:r>
              <a:rPr lang="zh-CN" altLang="en-US" sz="2400">
                <a:sym typeface="Symbol" panose="05050102010706020507" pitchFamily="18" charset="2"/>
              </a:rPr>
              <a:t>中，而</a:t>
            </a:r>
            <a:r>
              <a:rPr lang="en-US" altLang="zh-CN" sz="2400">
                <a:sym typeface="Symbol" panose="05050102010706020507" pitchFamily="18" charset="2"/>
              </a:rPr>
              <a:t>a</a:t>
            </a:r>
            <a:r>
              <a:rPr lang="en-US" altLang="zh-CN" sz="2400">
                <a:ea typeface="Arial Unicode MS" pitchFamily="34" charset="-122"/>
                <a:sym typeface="Symbol" panose="05050102010706020507" pitchFamily="18" charset="2"/>
              </a:rPr>
              <a:t>≠</a:t>
            </a:r>
            <a:r>
              <a:rPr lang="en-US" altLang="zh-CN" sz="2400">
                <a:sym typeface="Symbol" panose="05050102010706020507" pitchFamily="18" charset="2"/>
              </a:rPr>
              <a:t>#)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		a</a:t>
            </a:r>
            <a:r>
              <a:rPr lang="zh-CN" altLang="en-US" sz="2400">
                <a:sym typeface="Symbol" panose="05050102010706020507" pitchFamily="18" charset="2"/>
              </a:rPr>
              <a:t>为</a:t>
            </a:r>
            <a:r>
              <a:rPr lang="en-US" altLang="zh-CN" sz="2400">
                <a:sym typeface="Symbol" panose="05050102010706020507" pitchFamily="18" charset="2"/>
              </a:rPr>
              <a:t>goto(I, X)</a:t>
            </a:r>
            <a:r>
              <a:rPr lang="zh-CN" altLang="en-US" sz="2400">
                <a:sym typeface="Symbol" panose="05050102010706020507" pitchFamily="18" charset="2"/>
              </a:rPr>
              <a:t>中项目</a:t>
            </a:r>
            <a:r>
              <a:rPr lang="en-US" altLang="zh-CN" sz="2400">
                <a:sym typeface="Symbol" panose="05050102010706020507" pitchFamily="18" charset="2"/>
              </a:rPr>
              <a:t>A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zh-CN" sz="2400">
                <a:sym typeface="Symbol" panose="05050102010706020507" pitchFamily="18" charset="2"/>
              </a:rPr>
              <a:t>X·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zh-CN" altLang="en-US" sz="2400">
                <a:latin typeface="Symbol" panose="05050102010706020507" pitchFamily="18" charset="2"/>
                <a:sym typeface="Symbol" panose="05050102010706020507" pitchFamily="18" charset="2"/>
              </a:rPr>
              <a:t>的自生搜索符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	</a:t>
            </a:r>
            <a:r>
              <a:rPr lang="en-US" altLang="zh-CN" sz="2400">
                <a:sym typeface="Symbol" panose="05050102010706020507" pitchFamily="18" charset="2"/>
              </a:rPr>
              <a:t>if  ([A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zh-CN" sz="2400">
                <a:sym typeface="Symbol" panose="05050102010706020507" pitchFamily="18" charset="2"/>
              </a:rPr>
              <a:t>·X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zh-CN" sz="2400">
                <a:sym typeface="Symbol" panose="05050102010706020507" pitchFamily="18" charset="2"/>
              </a:rPr>
              <a:t>, #]</a:t>
            </a:r>
            <a:r>
              <a:rPr lang="zh-CN" altLang="en-US" sz="2400">
                <a:sym typeface="Symbol" panose="05050102010706020507" pitchFamily="18" charset="2"/>
              </a:rPr>
              <a:t>在</a:t>
            </a:r>
            <a:r>
              <a:rPr lang="en-US" altLang="zh-CN" sz="2400">
                <a:sym typeface="Symbol" panose="05050102010706020507" pitchFamily="18" charset="2"/>
              </a:rPr>
              <a:t>J’</a:t>
            </a:r>
            <a:r>
              <a:rPr lang="zh-CN" altLang="en-US" sz="2400">
                <a:sym typeface="Symbol" panose="05050102010706020507" pitchFamily="18" charset="2"/>
              </a:rPr>
              <a:t>中</a:t>
            </a:r>
            <a:r>
              <a:rPr lang="en-US" altLang="zh-CN" sz="2400">
                <a:sym typeface="Symbol" panose="05050102010706020507" pitchFamily="18" charset="2"/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		</a:t>
            </a:r>
            <a:r>
              <a:rPr lang="zh-CN" altLang="en-US" sz="2400">
                <a:sym typeface="Symbol" panose="05050102010706020507" pitchFamily="18" charset="2"/>
              </a:rPr>
              <a:t>搜索符从</a:t>
            </a:r>
            <a:r>
              <a:rPr lang="en-US" altLang="zh-CN" sz="2400">
                <a:sym typeface="Symbol" panose="05050102010706020507" pitchFamily="18" charset="2"/>
              </a:rPr>
              <a:t>I</a:t>
            </a:r>
            <a:r>
              <a:rPr lang="zh-CN" altLang="en-US" sz="2400">
                <a:sym typeface="Symbol" panose="05050102010706020507" pitchFamily="18" charset="2"/>
              </a:rPr>
              <a:t>中</a:t>
            </a:r>
            <a:r>
              <a:rPr lang="en-US" altLang="zh-CN" sz="2400">
                <a:sym typeface="Symbol" panose="05050102010706020507" pitchFamily="18" charset="2"/>
              </a:rPr>
              <a:t>B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  <a:r>
              <a:rPr lang="en-US" altLang="zh-CN" sz="2400">
                <a:sym typeface="Symbol" panose="05050102010706020507" pitchFamily="18" charset="2"/>
              </a:rPr>
              <a:t>·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lang="zh-CN" altLang="en-US" sz="2400">
                <a:latin typeface="Symbol" panose="05050102010706020507" pitchFamily="18" charset="2"/>
                <a:sym typeface="Symbol" panose="05050102010706020507" pitchFamily="18" charset="2"/>
              </a:rPr>
              <a:t>传播到</a:t>
            </a:r>
            <a:r>
              <a:rPr lang="en-US" altLang="zh-CN" sz="2400">
                <a:sym typeface="Symbol" panose="05050102010706020507" pitchFamily="18" charset="2"/>
              </a:rPr>
              <a:t>goto(I, X)</a:t>
            </a:r>
            <a:r>
              <a:rPr lang="zh-CN" altLang="en-US" sz="2400">
                <a:sym typeface="Symbol" panose="05050102010706020507" pitchFamily="18" charset="2"/>
              </a:rPr>
              <a:t>中</a:t>
            </a:r>
            <a:r>
              <a:rPr lang="en-US" altLang="zh-CN" sz="2400">
                <a:sym typeface="Symbol" panose="05050102010706020507" pitchFamily="18" charset="2"/>
              </a:rPr>
              <a:t>A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zh-CN" sz="2400">
                <a:sym typeface="Symbol" panose="05050102010706020507" pitchFamily="18" charset="2"/>
              </a:rPr>
              <a:t>X·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}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C8D375C7-15FF-4281-99CF-333665EE04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计算搜索符</a:t>
            </a:r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5D7ED87F-A672-4F24-A39B-6221E9DFA6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LR(0)</a:t>
            </a:r>
            <a:r>
              <a:rPr lang="zh-CN" altLang="en-US"/>
              <a:t>初态集核项目</a:t>
            </a:r>
            <a:r>
              <a:rPr kumimoji="0" lang="en-US" altLang="zh-CN"/>
              <a:t>S’</a:t>
            </a:r>
            <a:r>
              <a:rPr kumimoji="0" lang="en-US" altLang="zh-CN">
                <a:sym typeface="Symbol" panose="05050102010706020507" pitchFamily="18" charset="2"/>
              </a:rPr>
              <a:t>·S</a:t>
            </a:r>
            <a:r>
              <a:rPr kumimoji="0" lang="zh-CN" altLang="en-US">
                <a:sym typeface="Symbol" panose="05050102010706020507" pitchFamily="18" charset="2"/>
              </a:rPr>
              <a:t>具有搜索符</a:t>
            </a:r>
            <a:r>
              <a:rPr kumimoji="0" lang="en-US" altLang="zh-CN">
                <a:sym typeface="Symbol" panose="05050102010706020507" pitchFamily="18" charset="2"/>
              </a:rPr>
              <a:t>$</a:t>
            </a:r>
          </a:p>
          <a:p>
            <a:pPr eaLnBrk="1" hangingPunct="1"/>
            <a:r>
              <a:rPr kumimoji="0" lang="zh-CN" altLang="en-US">
                <a:sym typeface="Symbol" panose="05050102010706020507" pitchFamily="18" charset="2"/>
              </a:rPr>
              <a:t>利用算法</a:t>
            </a:r>
            <a:r>
              <a:rPr kumimoji="0" lang="en-US" altLang="zh-CN">
                <a:sym typeface="Symbol" panose="05050102010706020507" pitchFamily="18" charset="2"/>
              </a:rPr>
              <a:t>4.12</a:t>
            </a:r>
            <a:r>
              <a:rPr kumimoji="0" lang="zh-CN" altLang="en-US">
                <a:sym typeface="Symbol" panose="05050102010706020507" pitchFamily="18" charset="2"/>
              </a:rPr>
              <a:t>生成所有自生搜索符</a:t>
            </a:r>
          </a:p>
          <a:p>
            <a:pPr eaLnBrk="1" hangingPunct="1"/>
            <a:r>
              <a:rPr kumimoji="0" lang="zh-CN" altLang="en-US">
                <a:sym typeface="Symbol" panose="05050102010706020507" pitchFamily="18" charset="2"/>
              </a:rPr>
              <a:t>将自生搜索符进行传播，直到无法继续传播为止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4900A3EB-D503-4A67-AA4A-7F4BB24E27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4.13</a:t>
            </a:r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EEDFEEA2-7E78-4261-8F2A-32E0F4EB29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zh-CN" altLang="en-US"/>
              <a:t>构造</a:t>
            </a:r>
            <a:r>
              <a:rPr lang="en-US" altLang="zh-CN"/>
              <a:t>LALR(1)</a:t>
            </a:r>
            <a:r>
              <a:rPr lang="zh-CN" altLang="en-US"/>
              <a:t>项目集规范族的核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800"/>
              <a:t>输入：拓广文法</a:t>
            </a:r>
            <a:r>
              <a:rPr lang="en-US" altLang="zh-CN" sz="2800"/>
              <a:t>G’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800"/>
              <a:t>输出：</a:t>
            </a:r>
            <a:r>
              <a:rPr lang="en-US" altLang="zh-CN" sz="2800"/>
              <a:t>G’</a:t>
            </a:r>
            <a:r>
              <a:rPr lang="zh-CN" altLang="en-US" sz="2800"/>
              <a:t>的</a:t>
            </a:r>
            <a:r>
              <a:rPr lang="en-US" altLang="zh-CN" sz="2800"/>
              <a:t>LALR(1)</a:t>
            </a:r>
            <a:r>
              <a:rPr lang="zh-CN" altLang="en-US" sz="2800"/>
              <a:t>项目集规范族的核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800"/>
              <a:t>方法：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构造</a:t>
            </a:r>
            <a:r>
              <a:rPr lang="en-US" altLang="zh-CN" sz="2800"/>
              <a:t>LR(0)</a:t>
            </a:r>
            <a:r>
              <a:rPr lang="zh-CN" altLang="en-US" sz="2800"/>
              <a:t>项目集的核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利用算法</a:t>
            </a:r>
            <a:r>
              <a:rPr lang="en-US" altLang="zh-CN" sz="2800"/>
              <a:t>4.12</a:t>
            </a:r>
            <a:r>
              <a:rPr lang="zh-CN" altLang="en-US" sz="2800"/>
              <a:t>，对每个</a:t>
            </a:r>
            <a:r>
              <a:rPr lang="en-US" altLang="zh-CN" sz="2800"/>
              <a:t>LR(0)</a:t>
            </a:r>
            <a:r>
              <a:rPr lang="zh-CN" altLang="en-US" sz="2800"/>
              <a:t>项目</a:t>
            </a:r>
            <a:r>
              <a:rPr lang="en-US" altLang="zh-CN" sz="2800"/>
              <a:t>I</a:t>
            </a:r>
            <a:r>
              <a:rPr lang="zh-CN" altLang="en-US" sz="2800"/>
              <a:t>的核</a:t>
            </a:r>
            <a:r>
              <a:rPr lang="en-US" altLang="zh-CN" sz="2800"/>
              <a:t>K</a:t>
            </a:r>
            <a:r>
              <a:rPr lang="zh-CN" altLang="en-US" sz="2800"/>
              <a:t>和每个文法符号</a:t>
            </a:r>
            <a:r>
              <a:rPr lang="en-US" altLang="zh-CN" sz="2800"/>
              <a:t>X</a:t>
            </a:r>
            <a:r>
              <a:rPr lang="zh-CN" altLang="en-US" sz="2800"/>
              <a:t>，确定</a:t>
            </a:r>
            <a:r>
              <a:rPr lang="en-US" altLang="zh-CN" sz="2800"/>
              <a:t>goto(I, X)</a:t>
            </a:r>
            <a:r>
              <a:rPr lang="zh-CN" altLang="en-US" sz="2800"/>
              <a:t>的核项目的所有自生搜索符，以及</a:t>
            </a:r>
            <a:r>
              <a:rPr lang="en-US" altLang="zh-CN" sz="2800"/>
              <a:t>K</a:t>
            </a:r>
            <a:r>
              <a:rPr lang="zh-CN" altLang="en-US" sz="2800"/>
              <a:t>中哪些项目传播搜索符到</a:t>
            </a:r>
            <a:r>
              <a:rPr lang="en-US" altLang="zh-CN" sz="2800"/>
              <a:t>goto(I, X)</a:t>
            </a:r>
            <a:r>
              <a:rPr lang="zh-CN" altLang="en-US" sz="2800"/>
              <a:t>的核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7880BF3E-8323-4830-85D1-9E8A96D4BF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4.13</a:t>
            </a:r>
            <a:r>
              <a:rPr lang="zh-CN" altLang="en-US"/>
              <a:t>（续）</a:t>
            </a:r>
          </a:p>
        </p:txBody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23F63DC2-29E1-4FFC-A183-8FFF12955A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 startAt="3"/>
            </a:pPr>
            <a:r>
              <a:rPr lang="zh-CN" altLang="en-US" sz="2800"/>
              <a:t>初始化搜索符表</a:t>
            </a:r>
            <a:r>
              <a:rPr lang="en-US" altLang="zh-CN" sz="2800"/>
              <a:t>——</a:t>
            </a:r>
            <a:r>
              <a:rPr lang="zh-CN" altLang="en-US" sz="2800"/>
              <a:t>表示每个项目集的核项目对应哪些搜索符，初始为自生搜索符集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 startAt="3"/>
            </a:pPr>
            <a:r>
              <a:rPr lang="zh-CN" altLang="en-US" sz="2800"/>
              <a:t>重复在核项目间传播搜索符：对每个项目</a:t>
            </a:r>
            <a:r>
              <a:rPr lang="en-US" altLang="zh-CN" sz="2800"/>
              <a:t>i</a:t>
            </a:r>
            <a:r>
              <a:rPr lang="zh-CN" altLang="en-US" sz="2800"/>
              <a:t>，根据</a:t>
            </a:r>
            <a:r>
              <a:rPr lang="en-US" altLang="zh-CN" sz="2800"/>
              <a:t>2</a:t>
            </a:r>
            <a:r>
              <a:rPr lang="zh-CN" altLang="en-US" sz="2800"/>
              <a:t>得出它应向哪些项目传播搜索符，将它当前搜索符集并入传播目标项目的搜索符集。重复此过程，直至没有新的传播为止。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89DE79CC-4A27-4781-8F22-D31FA59361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4.47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8798B43C-B779-4699-B1F4-535E7EFC66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/>
            <a:r>
              <a:rPr lang="zh-CN" altLang="en-US"/>
              <a:t>考虑例</a:t>
            </a:r>
            <a:r>
              <a:rPr lang="en-US" altLang="zh-CN"/>
              <a:t>4.46</a:t>
            </a:r>
            <a:r>
              <a:rPr lang="zh-CN" altLang="en-US"/>
              <a:t>文法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closure({[</a:t>
            </a:r>
            <a:r>
              <a:rPr kumimoji="0" lang="en-US" altLang="zh-CN" sz="2400"/>
              <a:t>S’</a:t>
            </a:r>
            <a:r>
              <a:rPr kumimoji="0" lang="en-US" altLang="zh-CN" sz="2400">
                <a:sym typeface="Symbol" panose="05050102010706020507" pitchFamily="18" charset="2"/>
              </a:rPr>
              <a:t>·S,#]})={[</a:t>
            </a:r>
            <a:r>
              <a:rPr kumimoji="0" lang="en-US" altLang="zh-CN" sz="2400"/>
              <a:t>S’</a:t>
            </a:r>
            <a:r>
              <a:rPr kumimoji="0" lang="en-US" altLang="zh-CN" sz="2400">
                <a:sym typeface="Symbol" panose="05050102010706020507" pitchFamily="18" charset="2"/>
              </a:rPr>
              <a:t>·S, #], [</a:t>
            </a:r>
            <a:r>
              <a:rPr kumimoji="0" lang="en-US" altLang="zh-CN" sz="2400"/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·L = R, #],</a:t>
            </a:r>
            <a:br>
              <a:rPr kumimoji="0" lang="en-US" altLang="zh-CN" sz="2400">
                <a:sym typeface="Symbol" panose="05050102010706020507" pitchFamily="18" charset="2"/>
              </a:rPr>
            </a:br>
            <a:r>
              <a:rPr kumimoji="0" lang="en-US" altLang="zh-CN" sz="2400">
                <a:sym typeface="Symbol" panose="05050102010706020507" pitchFamily="18" charset="2"/>
              </a:rPr>
              <a:t>	[</a:t>
            </a:r>
            <a:r>
              <a:rPr kumimoji="0" lang="en-US" altLang="zh-CN" sz="2400"/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·R, #], [L·* R, =/#], [L·id, =/#], [R·L, #]}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[L·* R, =]</a:t>
            </a:r>
            <a:r>
              <a:rPr kumimoji="0" lang="zh-CN" altLang="en-US" sz="2400">
                <a:sym typeface="Symbol" panose="05050102010706020507" pitchFamily="18" charset="2"/>
              </a:rPr>
              <a:t>导致</a:t>
            </a:r>
            <a:r>
              <a:rPr kumimoji="0" lang="en-US" altLang="zh-CN" sz="2400">
                <a:sym typeface="Symbol" panose="05050102010706020507" pitchFamily="18" charset="2"/>
              </a:rPr>
              <a:t>I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4</a:t>
            </a:r>
            <a:r>
              <a:rPr kumimoji="0" lang="zh-CN" altLang="en-US" sz="2400">
                <a:sym typeface="Symbol" panose="05050102010706020507" pitchFamily="18" charset="2"/>
              </a:rPr>
              <a:t>中</a:t>
            </a:r>
            <a:r>
              <a:rPr kumimoji="0" lang="en-US" altLang="zh-CN" sz="2400">
                <a:sym typeface="Symbol" panose="05050102010706020507" pitchFamily="18" charset="2"/>
              </a:rPr>
              <a:t>L*·R</a:t>
            </a:r>
            <a:r>
              <a:rPr kumimoji="0" lang="zh-CN" altLang="en-US" sz="2400">
                <a:sym typeface="Symbol" panose="05050102010706020507" pitchFamily="18" charset="2"/>
              </a:rPr>
              <a:t>的自生搜索符</a:t>
            </a:r>
            <a:r>
              <a:rPr kumimoji="0" lang="en-US" altLang="zh-CN" sz="2400">
                <a:sym typeface="Symbol" panose="05050102010706020507" pitchFamily="18" charset="2"/>
              </a:rPr>
              <a:t>=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[L·id, =]</a:t>
            </a:r>
            <a:r>
              <a:rPr kumimoji="0" lang="zh-CN" altLang="en-US" sz="2400">
                <a:sym typeface="Symbol" panose="05050102010706020507" pitchFamily="18" charset="2"/>
              </a:rPr>
              <a:t>导致</a:t>
            </a:r>
            <a:r>
              <a:rPr kumimoji="0" lang="en-US" altLang="zh-CN" sz="2400">
                <a:sym typeface="Symbol" panose="05050102010706020507" pitchFamily="18" charset="2"/>
              </a:rPr>
              <a:t>I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5</a:t>
            </a:r>
            <a:r>
              <a:rPr kumimoji="0" lang="zh-CN" altLang="en-US" sz="2400">
                <a:sym typeface="Symbol" panose="05050102010706020507" pitchFamily="18" charset="2"/>
              </a:rPr>
              <a:t>中</a:t>
            </a:r>
            <a:r>
              <a:rPr kumimoji="0" lang="en-US" altLang="zh-CN" sz="2400">
                <a:sym typeface="Symbol" panose="05050102010706020507" pitchFamily="18" charset="2"/>
              </a:rPr>
              <a:t>Lid·</a:t>
            </a:r>
            <a:r>
              <a:rPr kumimoji="0" lang="zh-CN" altLang="en-US" sz="2400">
                <a:sym typeface="Symbol" panose="05050102010706020507" pitchFamily="18" charset="2"/>
              </a:rPr>
              <a:t>的自生搜索符</a:t>
            </a:r>
            <a:r>
              <a:rPr kumimoji="0" lang="en-US" altLang="zh-CN" sz="2400">
                <a:sym typeface="Symbol" panose="05050102010706020507" pitchFamily="18" charset="2"/>
              </a:rPr>
              <a:t>=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zh-CN" altLang="en-US" sz="2400">
                <a:sym typeface="Symbol" panose="05050102010706020507" pitchFamily="18" charset="2"/>
              </a:rPr>
              <a:t>传播： </a:t>
            </a:r>
            <a:r>
              <a:rPr kumimoji="0" lang="en-US" altLang="zh-CN" sz="2400"/>
              <a:t>S’</a:t>
            </a:r>
            <a:r>
              <a:rPr kumimoji="0" lang="en-US" altLang="zh-CN" sz="2400">
                <a:sym typeface="Symbol" panose="05050102010706020507" pitchFamily="18" charset="2"/>
              </a:rPr>
              <a:t>S·</a:t>
            </a:r>
            <a:r>
              <a:rPr kumimoji="0" lang="en-US" altLang="zh-CN" sz="2400">
                <a:solidFill>
                  <a:srgbClr val="FF3300"/>
                </a:solidFill>
                <a:sym typeface="Symbol" panose="05050102010706020507" pitchFamily="18" charset="2"/>
              </a:rPr>
              <a:t>:I</a:t>
            </a:r>
            <a:r>
              <a:rPr kumimoji="0" lang="en-US" altLang="zh-CN" sz="2400" baseline="-25000">
                <a:solidFill>
                  <a:srgbClr val="FF3300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,   </a:t>
            </a:r>
            <a:r>
              <a:rPr kumimoji="0" lang="en-US" altLang="zh-CN" sz="2400"/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L·=R</a:t>
            </a:r>
            <a:r>
              <a:rPr kumimoji="0" lang="en-US" altLang="zh-CN" sz="2400">
                <a:solidFill>
                  <a:srgbClr val="FF3300"/>
                </a:solidFill>
                <a:sym typeface="Symbol" panose="05050102010706020507" pitchFamily="18" charset="2"/>
              </a:rPr>
              <a:t>:I</a:t>
            </a:r>
            <a:r>
              <a:rPr kumimoji="0" lang="en-US" altLang="zh-CN" sz="2400" baseline="-25000">
                <a:solidFill>
                  <a:srgbClr val="FF3300"/>
                </a:solidFill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,   RL·</a:t>
            </a:r>
            <a:r>
              <a:rPr kumimoji="0" lang="en-US" altLang="zh-CN" sz="2400">
                <a:solidFill>
                  <a:srgbClr val="FF3300"/>
                </a:solidFill>
                <a:sym typeface="Symbol" panose="05050102010706020507" pitchFamily="18" charset="2"/>
              </a:rPr>
              <a:t>:I</a:t>
            </a:r>
            <a:r>
              <a:rPr kumimoji="0" lang="en-US" altLang="zh-CN" sz="2400" baseline="-25000">
                <a:solidFill>
                  <a:srgbClr val="FF3300"/>
                </a:solidFill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,   </a:t>
            </a:r>
            <a:r>
              <a:rPr kumimoji="0" lang="en-US" altLang="zh-CN" sz="2400"/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R·</a:t>
            </a:r>
            <a:r>
              <a:rPr kumimoji="0" lang="en-US" altLang="zh-CN" sz="2400">
                <a:solidFill>
                  <a:srgbClr val="FF3300"/>
                </a:solidFill>
                <a:sym typeface="Symbol" panose="05050102010706020507" pitchFamily="18" charset="2"/>
              </a:rPr>
              <a:t>:I</a:t>
            </a:r>
            <a:r>
              <a:rPr kumimoji="0" lang="en-US" altLang="zh-CN" sz="2400" baseline="-25000">
                <a:solidFill>
                  <a:srgbClr val="FF3300"/>
                </a:solidFill>
                <a:sym typeface="Symbol" panose="05050102010706020507" pitchFamily="18" charset="2"/>
              </a:rPr>
              <a:t>3</a:t>
            </a:r>
            <a:r>
              <a:rPr kumimoji="0" lang="en-US" altLang="zh-CN" sz="2400">
                <a:sym typeface="Symbol" panose="05050102010706020507" pitchFamily="18" charset="2"/>
              </a:rPr>
              <a:t>,</a:t>
            </a:r>
            <a:br>
              <a:rPr kumimoji="0" lang="en-US" altLang="zh-CN" sz="2400">
                <a:sym typeface="Symbol" panose="05050102010706020507" pitchFamily="18" charset="2"/>
              </a:rPr>
            </a:br>
            <a:r>
              <a:rPr kumimoji="0" lang="en-US" altLang="zh-CN" sz="2400">
                <a:sym typeface="Symbol" panose="05050102010706020507" pitchFamily="18" charset="2"/>
              </a:rPr>
              <a:t>	 L*·R</a:t>
            </a:r>
            <a:r>
              <a:rPr kumimoji="0" lang="en-US" altLang="zh-CN" sz="2400">
                <a:solidFill>
                  <a:srgbClr val="FF3300"/>
                </a:solidFill>
                <a:sym typeface="Symbol" panose="05050102010706020507" pitchFamily="18" charset="2"/>
              </a:rPr>
              <a:t>:I</a:t>
            </a:r>
            <a:r>
              <a:rPr kumimoji="0" lang="en-US" altLang="zh-CN" sz="2400" baseline="-25000">
                <a:solidFill>
                  <a:srgbClr val="FF3300"/>
                </a:solidFill>
                <a:sym typeface="Symbol" panose="05050102010706020507" pitchFamily="18" charset="2"/>
              </a:rPr>
              <a:t>4</a:t>
            </a:r>
            <a:r>
              <a:rPr kumimoji="0" lang="en-US" altLang="zh-CN" sz="2400">
                <a:sym typeface="Symbol" panose="05050102010706020507" pitchFamily="18" charset="2"/>
              </a:rPr>
              <a:t>,   Lid·</a:t>
            </a:r>
            <a:r>
              <a:rPr kumimoji="0" lang="en-US" altLang="zh-CN" sz="2400">
                <a:solidFill>
                  <a:srgbClr val="FF3300"/>
                </a:solidFill>
                <a:sym typeface="Symbol" panose="05050102010706020507" pitchFamily="18" charset="2"/>
              </a:rPr>
              <a:t>:I</a:t>
            </a:r>
            <a:r>
              <a:rPr kumimoji="0" lang="en-US" altLang="zh-CN" sz="2400" baseline="-25000">
                <a:solidFill>
                  <a:srgbClr val="FF3300"/>
                </a:solidFill>
                <a:sym typeface="Symbol" panose="05050102010706020507" pitchFamily="18" charset="2"/>
              </a:rPr>
              <a:t>5</a:t>
            </a:r>
            <a:endParaRPr kumimoji="0" lang="en-US" altLang="zh-CN" sz="2400">
              <a:solidFill>
                <a:srgbClr val="FF3300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64239024-E0CB-475D-9D45-09D7F228CF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4.47 </a:t>
            </a:r>
            <a:r>
              <a:rPr lang="zh-CN" altLang="en-US"/>
              <a:t>（续）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4725DF5F-0BDF-4315-9611-BCB0510E45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closure({[</a:t>
            </a:r>
            <a:r>
              <a:rPr kumimoji="0" lang="en-US" altLang="zh-CN" sz="2400"/>
              <a:t>S </a:t>
            </a:r>
            <a:r>
              <a:rPr kumimoji="0" lang="en-US" altLang="zh-CN" sz="2400">
                <a:sym typeface="Symbol" panose="05050102010706020507" pitchFamily="18" charset="2"/>
              </a:rPr>
              <a:t> L · = R, #]})= {[</a:t>
            </a:r>
            <a:r>
              <a:rPr kumimoji="0" lang="en-US" altLang="zh-CN" sz="2400"/>
              <a:t>S </a:t>
            </a:r>
            <a:r>
              <a:rPr kumimoji="0" lang="en-US" altLang="zh-CN" sz="2400">
                <a:sym typeface="Symbol" panose="05050102010706020507" pitchFamily="18" charset="2"/>
              </a:rPr>
              <a:t> L · = R, #]}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closure({[</a:t>
            </a:r>
            <a:r>
              <a:rPr kumimoji="0" lang="en-US" altLang="zh-CN" sz="2400"/>
              <a:t>L </a:t>
            </a:r>
            <a:r>
              <a:rPr kumimoji="0" lang="en-US" altLang="zh-CN" sz="2400">
                <a:sym typeface="Symbol" panose="05050102010706020507" pitchFamily="18" charset="2"/>
              </a:rPr>
              <a:t> *·R , #]})={[</a:t>
            </a:r>
            <a:r>
              <a:rPr kumimoji="0" lang="en-US" altLang="zh-CN" sz="2400"/>
              <a:t>L </a:t>
            </a:r>
            <a:r>
              <a:rPr kumimoji="0" lang="en-US" altLang="zh-CN" sz="2400">
                <a:sym typeface="Symbol" panose="05050102010706020507" pitchFamily="18" charset="2"/>
              </a:rPr>
              <a:t> *·R,#] , [R  ·L, #] , </a:t>
            </a:r>
            <a:br>
              <a:rPr kumimoji="0" lang="en-US" altLang="zh-CN" sz="2400">
                <a:sym typeface="Symbol" panose="05050102010706020507" pitchFamily="18" charset="2"/>
              </a:rPr>
            </a:br>
            <a:r>
              <a:rPr kumimoji="0" lang="en-US" altLang="zh-CN" sz="2400">
                <a:sym typeface="Symbol" panose="05050102010706020507" pitchFamily="18" charset="2"/>
              </a:rPr>
              <a:t>[L  ·* R, #] , [L · id, #]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closure({[</a:t>
            </a:r>
            <a:r>
              <a:rPr kumimoji="0" lang="en-US" altLang="zh-CN" sz="2400"/>
              <a:t>S </a:t>
            </a:r>
            <a:r>
              <a:rPr kumimoji="0" lang="en-US" altLang="zh-CN" sz="2400">
                <a:sym typeface="Symbol" panose="05050102010706020507" pitchFamily="18" charset="2"/>
              </a:rPr>
              <a:t> L = · R,  #]})={[</a:t>
            </a:r>
            <a:r>
              <a:rPr kumimoji="0" lang="en-US" altLang="zh-CN" sz="2400"/>
              <a:t>S </a:t>
            </a:r>
            <a:r>
              <a:rPr kumimoji="0" lang="en-US" altLang="zh-CN" sz="2400">
                <a:sym typeface="Symbol" panose="05050102010706020507" pitchFamily="18" charset="2"/>
              </a:rPr>
              <a:t> L = · R, #] , [R  ·L, #] , [L  ·* R, #] , [L · id, #]} 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A845E6BB-9664-41ED-9C07-B9A959C87F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4.47 </a:t>
            </a:r>
            <a:r>
              <a:rPr lang="zh-CN" altLang="en-US"/>
              <a:t>（续）</a:t>
            </a:r>
          </a:p>
        </p:txBody>
      </p:sp>
      <p:sp>
        <p:nvSpPr>
          <p:cNvPr id="129027" name="Line 5">
            <a:extLst>
              <a:ext uri="{FF2B5EF4-FFF2-40B4-BE49-F238E27FC236}">
                <a16:creationId xmlns:a16="http://schemas.microsoft.com/office/drawing/2014/main" id="{4C88D70D-48D1-4ABD-8286-F98CAAEB56C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1371600"/>
            <a:ext cx="617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28" name="Line 6">
            <a:extLst>
              <a:ext uri="{FF2B5EF4-FFF2-40B4-BE49-F238E27FC236}">
                <a16:creationId xmlns:a16="http://schemas.microsoft.com/office/drawing/2014/main" id="{971D5268-0F36-4DEF-AC2C-80C852CE559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1447800"/>
            <a:ext cx="617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29" name="Line 7">
            <a:extLst>
              <a:ext uri="{FF2B5EF4-FFF2-40B4-BE49-F238E27FC236}">
                <a16:creationId xmlns:a16="http://schemas.microsoft.com/office/drawing/2014/main" id="{CE16C85D-BAC3-4A01-B5E2-CB527A89E7D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1828800"/>
            <a:ext cx="617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30" name="Line 8">
            <a:extLst>
              <a:ext uri="{FF2B5EF4-FFF2-40B4-BE49-F238E27FC236}">
                <a16:creationId xmlns:a16="http://schemas.microsoft.com/office/drawing/2014/main" id="{5D37F571-8997-47EB-8FFA-72C49288FA6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6781800"/>
            <a:ext cx="609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31" name="Line 10">
            <a:extLst>
              <a:ext uri="{FF2B5EF4-FFF2-40B4-BE49-F238E27FC236}">
                <a16:creationId xmlns:a16="http://schemas.microsoft.com/office/drawing/2014/main" id="{AAA3AF5C-AF6B-44C3-BC32-847E8E4549E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1447800"/>
            <a:ext cx="0" cy="53260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32" name="Text Box 11">
            <a:extLst>
              <a:ext uri="{FF2B5EF4-FFF2-40B4-BE49-F238E27FC236}">
                <a16:creationId xmlns:a16="http://schemas.microsoft.com/office/drawing/2014/main" id="{D6273DEB-E083-4B95-906F-F95CB238F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752600"/>
            <a:ext cx="2438400" cy="405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0</a:t>
            </a:r>
            <a:r>
              <a:rPr kumimoji="0" lang="en-US" altLang="zh-CN" sz="2000" b="1"/>
              <a:t>: 	S’</a:t>
            </a:r>
            <a:r>
              <a:rPr kumimoji="0" lang="en-US" altLang="zh-CN" sz="2000" b="1">
                <a:sym typeface="Symbol" panose="05050102010706020507" pitchFamily="18" charset="2"/>
              </a:rPr>
              <a:t>·S </a:t>
            </a:r>
            <a:endParaRPr kumimoji="0" lang="en-US" altLang="zh-CN" sz="2000" b="1"/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2</a:t>
            </a:r>
            <a:r>
              <a:rPr kumimoji="0" lang="en-US" altLang="zh-CN" sz="2000" b="1"/>
              <a:t>: 	S </a:t>
            </a:r>
            <a:r>
              <a:rPr kumimoji="0" lang="en-US" altLang="zh-CN" sz="2000" b="1">
                <a:sym typeface="Symbol" panose="05050102010706020507" pitchFamily="18" charset="2"/>
              </a:rPr>
              <a:t> L · = R </a:t>
            </a: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4</a:t>
            </a:r>
            <a:r>
              <a:rPr kumimoji="0" lang="en-US" altLang="zh-CN" sz="2000" b="1"/>
              <a:t>: 	L </a:t>
            </a:r>
            <a:r>
              <a:rPr kumimoji="0" lang="en-US" altLang="zh-CN" sz="2000" b="1">
                <a:sym typeface="Symbol" panose="05050102010706020507" pitchFamily="18" charset="2"/>
              </a:rPr>
              <a:t> *·R </a:t>
            </a: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6</a:t>
            </a:r>
            <a:r>
              <a:rPr kumimoji="0" lang="en-US" altLang="zh-CN" sz="2000" b="1"/>
              <a:t>: 	S </a:t>
            </a:r>
            <a:r>
              <a:rPr kumimoji="0" lang="en-US" altLang="zh-CN" sz="2000" b="1">
                <a:sym typeface="Symbol" panose="05050102010706020507" pitchFamily="18" charset="2"/>
              </a:rPr>
              <a:t> L = · R </a:t>
            </a:r>
          </a:p>
        </p:txBody>
      </p:sp>
      <p:sp>
        <p:nvSpPr>
          <p:cNvPr id="129033" name="Text Box 12">
            <a:extLst>
              <a:ext uri="{FF2B5EF4-FFF2-40B4-BE49-F238E27FC236}">
                <a16:creationId xmlns:a16="http://schemas.microsoft.com/office/drawing/2014/main" id="{BC8029C2-FE66-430A-B995-19DA9EA26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1752600"/>
            <a:ext cx="3657600" cy="502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1</a:t>
            </a:r>
            <a:r>
              <a:rPr kumimoji="0" lang="en-US" altLang="zh-CN" sz="2000" b="1"/>
              <a:t>: 	 S’ </a:t>
            </a:r>
            <a:r>
              <a:rPr kumimoji="0" lang="en-US" altLang="zh-CN" sz="2000" b="1">
                <a:sym typeface="Symbol" panose="05050102010706020507" pitchFamily="18" charset="2"/>
              </a:rPr>
              <a:t> S· </a:t>
            </a:r>
            <a:endParaRPr kumimoji="0" lang="en-US" altLang="zh-CN" sz="20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2</a:t>
            </a:r>
            <a:r>
              <a:rPr kumimoji="0" lang="en-US" altLang="zh-CN" sz="2000" b="1"/>
              <a:t>: 	 S </a:t>
            </a:r>
            <a:r>
              <a:rPr kumimoji="0" lang="en-US" altLang="zh-CN" sz="2000" b="1">
                <a:sym typeface="Symbol" panose="05050102010706020507" pitchFamily="18" charset="2"/>
              </a:rPr>
              <a:t> L · = R</a:t>
            </a:r>
            <a:r>
              <a:rPr kumimoji="0" lang="en-US" altLang="zh-CN" sz="2000" b="1"/>
              <a:t> </a:t>
            </a:r>
            <a:br>
              <a:rPr kumimoji="0" lang="en-US" altLang="zh-CN" sz="2000" b="1"/>
            </a:b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2</a:t>
            </a:r>
            <a:r>
              <a:rPr kumimoji="0" lang="en-US" altLang="zh-CN" sz="2000" b="1"/>
              <a:t>: 	 </a:t>
            </a:r>
            <a:r>
              <a:rPr kumimoji="0" lang="en-US" altLang="zh-CN" sz="2000" b="1">
                <a:sym typeface="Symbol" panose="05050102010706020507" pitchFamily="18" charset="2"/>
              </a:rPr>
              <a:t>R  L · </a:t>
            </a: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3</a:t>
            </a:r>
            <a:r>
              <a:rPr kumimoji="0" lang="en-US" altLang="zh-CN" sz="2000" b="1"/>
              <a:t>: 	 S </a:t>
            </a:r>
            <a:r>
              <a:rPr kumimoji="0" lang="en-US" altLang="zh-CN" sz="2000" b="1">
                <a:sym typeface="Symbol" panose="05050102010706020507" pitchFamily="18" charset="2"/>
              </a:rPr>
              <a:t> R·</a:t>
            </a: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4</a:t>
            </a:r>
            <a:r>
              <a:rPr kumimoji="0" lang="en-US" altLang="zh-CN" sz="2000" b="1"/>
              <a:t>: 	 L </a:t>
            </a:r>
            <a:r>
              <a:rPr kumimoji="0" lang="en-US" altLang="zh-CN" sz="2000" b="1">
                <a:sym typeface="Symbol" panose="05050102010706020507" pitchFamily="18" charset="2"/>
              </a:rPr>
              <a:t> *·R </a:t>
            </a: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5</a:t>
            </a:r>
            <a:r>
              <a:rPr kumimoji="0" lang="en-US" altLang="zh-CN" sz="2000" b="1"/>
              <a:t>: 	 </a:t>
            </a:r>
            <a:r>
              <a:rPr kumimoji="0" lang="en-US" altLang="zh-CN" sz="2000" b="1">
                <a:sym typeface="Symbol" panose="05050102010706020507" pitchFamily="18" charset="2"/>
              </a:rPr>
              <a:t>L  id· </a:t>
            </a: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6</a:t>
            </a:r>
            <a:r>
              <a:rPr kumimoji="0" lang="en-US" altLang="zh-CN" sz="2000" b="1"/>
              <a:t>: 	 S </a:t>
            </a:r>
            <a:r>
              <a:rPr kumimoji="0" lang="en-US" altLang="zh-CN" sz="2000" b="1">
                <a:sym typeface="Symbol" panose="05050102010706020507" pitchFamily="18" charset="2"/>
              </a:rPr>
              <a:t> L = · R </a:t>
            </a: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4</a:t>
            </a:r>
            <a:r>
              <a:rPr kumimoji="0" lang="en-US" altLang="zh-CN" sz="2000" b="1"/>
              <a:t>: 	 L </a:t>
            </a:r>
            <a:r>
              <a:rPr kumimoji="0" lang="en-US" altLang="zh-CN" sz="2000" b="1">
                <a:sym typeface="Symbol" panose="05050102010706020507" pitchFamily="18" charset="2"/>
              </a:rPr>
              <a:t> *·R </a:t>
            </a: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5</a:t>
            </a:r>
            <a:r>
              <a:rPr kumimoji="0" lang="en-US" altLang="zh-CN" sz="2000" b="1"/>
              <a:t>: 	 </a:t>
            </a:r>
            <a:r>
              <a:rPr kumimoji="0" lang="en-US" altLang="zh-CN" sz="2000" b="1">
                <a:sym typeface="Symbol" panose="05050102010706020507" pitchFamily="18" charset="2"/>
              </a:rPr>
              <a:t>L  id· </a:t>
            </a: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7</a:t>
            </a:r>
            <a:r>
              <a:rPr kumimoji="0" lang="en-US" altLang="zh-CN" sz="2000" b="1"/>
              <a:t>: 	 </a:t>
            </a:r>
            <a:r>
              <a:rPr kumimoji="0" lang="en-US" altLang="zh-CN" sz="2000" b="1">
                <a:sym typeface="Symbol" panose="05050102010706020507" pitchFamily="18" charset="2"/>
              </a:rPr>
              <a:t>L  * R·</a:t>
            </a: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8</a:t>
            </a:r>
            <a:r>
              <a:rPr kumimoji="0" lang="en-US" altLang="zh-CN" sz="2000" b="1"/>
              <a:t>: 	 </a:t>
            </a:r>
            <a:r>
              <a:rPr kumimoji="0" lang="en-US" altLang="zh-CN" sz="2000" b="1">
                <a:sym typeface="Symbol" panose="05050102010706020507" pitchFamily="18" charset="2"/>
              </a:rPr>
              <a:t>R  L ·</a:t>
            </a: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4</a:t>
            </a:r>
            <a:r>
              <a:rPr kumimoji="0" lang="en-US" altLang="zh-CN" sz="2000" b="1"/>
              <a:t>: 	 L </a:t>
            </a:r>
            <a:r>
              <a:rPr kumimoji="0" lang="en-US" altLang="zh-CN" sz="2000" b="1">
                <a:sym typeface="Symbol" panose="05050102010706020507" pitchFamily="18" charset="2"/>
              </a:rPr>
              <a:t> *·R </a:t>
            </a: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5</a:t>
            </a:r>
            <a:r>
              <a:rPr kumimoji="0" lang="en-US" altLang="zh-CN" sz="2000" b="1"/>
              <a:t>: 	 </a:t>
            </a:r>
            <a:r>
              <a:rPr kumimoji="0" lang="en-US" altLang="zh-CN" sz="2000" b="1">
                <a:sym typeface="Symbol" panose="05050102010706020507" pitchFamily="18" charset="2"/>
              </a:rPr>
              <a:t>L  id· </a:t>
            </a: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8</a:t>
            </a:r>
            <a:r>
              <a:rPr kumimoji="0" lang="en-US" altLang="zh-CN" sz="2000" b="1"/>
              <a:t>: 	 </a:t>
            </a:r>
            <a:r>
              <a:rPr kumimoji="0" lang="en-US" altLang="zh-CN" sz="2000" b="1">
                <a:sym typeface="Symbol" panose="05050102010706020507" pitchFamily="18" charset="2"/>
              </a:rPr>
              <a:t>R  L ·</a:t>
            </a:r>
            <a:endParaRPr kumimoji="0" lang="en-US" altLang="zh-CN" sz="20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</a:t>
            </a:r>
            <a:r>
              <a:rPr kumimoji="0" lang="en-US" altLang="zh-CN" sz="2000" b="1" baseline="-25000"/>
              <a:t>9</a:t>
            </a:r>
            <a:r>
              <a:rPr kumimoji="0" lang="en-US" altLang="zh-CN" sz="2000" b="1"/>
              <a:t>: 	 S</a:t>
            </a:r>
            <a:r>
              <a:rPr kumimoji="0" lang="en-US" altLang="zh-CN" sz="2000" b="1">
                <a:sym typeface="Symbol" panose="05050102010706020507" pitchFamily="18" charset="2"/>
              </a:rPr>
              <a:t>L = R·</a:t>
            </a:r>
            <a:r>
              <a:rPr kumimoji="0" lang="en-US" altLang="zh-CN" sz="2000" b="1"/>
              <a:t> 	 </a:t>
            </a:r>
          </a:p>
        </p:txBody>
      </p:sp>
      <p:sp>
        <p:nvSpPr>
          <p:cNvPr id="129034" name="Text Box 13">
            <a:extLst>
              <a:ext uri="{FF2B5EF4-FFF2-40B4-BE49-F238E27FC236}">
                <a16:creationId xmlns:a16="http://schemas.microsoft.com/office/drawing/2014/main" id="{B4E43E70-D95F-4554-B516-4CA4722C9F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7526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400" b="1"/>
          </a:p>
        </p:txBody>
      </p:sp>
      <p:sp>
        <p:nvSpPr>
          <p:cNvPr id="129035" name="Text Box 14">
            <a:extLst>
              <a:ext uri="{FF2B5EF4-FFF2-40B4-BE49-F238E27FC236}">
                <a16:creationId xmlns:a16="http://schemas.microsoft.com/office/drawing/2014/main" id="{4C10FA4D-FA57-4ED0-86A5-6A5421262E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3716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FROM</a:t>
            </a:r>
          </a:p>
        </p:txBody>
      </p:sp>
      <p:sp>
        <p:nvSpPr>
          <p:cNvPr id="129036" name="Text Box 15">
            <a:extLst>
              <a:ext uri="{FF2B5EF4-FFF2-40B4-BE49-F238E27FC236}">
                <a16:creationId xmlns:a16="http://schemas.microsoft.com/office/drawing/2014/main" id="{5AF143ED-DF04-46F3-B49A-96DA9405B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13716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TO</a:t>
            </a:r>
          </a:p>
        </p:txBody>
      </p:sp>
      <p:sp>
        <p:nvSpPr>
          <p:cNvPr id="129037" name="Line 18">
            <a:extLst>
              <a:ext uri="{FF2B5EF4-FFF2-40B4-BE49-F238E27FC236}">
                <a16:creationId xmlns:a16="http://schemas.microsoft.com/office/drawing/2014/main" id="{76011030-DA63-4A79-AD3A-E4B0E236F0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3781425"/>
            <a:ext cx="617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38" name="Line 19">
            <a:extLst>
              <a:ext uri="{FF2B5EF4-FFF2-40B4-BE49-F238E27FC236}">
                <a16:creationId xmlns:a16="http://schemas.microsoft.com/office/drawing/2014/main" id="{C77F856C-174D-4220-9650-8F1E0882F4D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4129088"/>
            <a:ext cx="617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39" name="Line 20">
            <a:extLst>
              <a:ext uri="{FF2B5EF4-FFF2-40B4-BE49-F238E27FC236}">
                <a16:creationId xmlns:a16="http://schemas.microsoft.com/office/drawing/2014/main" id="{A79460A0-FC28-4381-BBE9-E1D197F4DCD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5457825"/>
            <a:ext cx="617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0F90D6FF-D7C3-4330-9EA4-9E0210CF21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4.47 </a:t>
            </a:r>
            <a:r>
              <a:rPr lang="zh-CN" altLang="en-US"/>
              <a:t>（续）</a:t>
            </a:r>
          </a:p>
        </p:txBody>
      </p:sp>
      <p:sp>
        <p:nvSpPr>
          <p:cNvPr id="130051" name="Line 3">
            <a:extLst>
              <a:ext uri="{FF2B5EF4-FFF2-40B4-BE49-F238E27FC236}">
                <a16:creationId xmlns:a16="http://schemas.microsoft.com/office/drawing/2014/main" id="{BC8DB630-0D42-4BF8-BC38-AC30918E05C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1371600"/>
            <a:ext cx="617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52" name="Line 4">
            <a:extLst>
              <a:ext uri="{FF2B5EF4-FFF2-40B4-BE49-F238E27FC236}">
                <a16:creationId xmlns:a16="http://schemas.microsoft.com/office/drawing/2014/main" id="{EE8CFF53-ED3B-47AB-8F83-0B75FD3A9E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1447800"/>
            <a:ext cx="617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53" name="Line 5">
            <a:extLst>
              <a:ext uri="{FF2B5EF4-FFF2-40B4-BE49-F238E27FC236}">
                <a16:creationId xmlns:a16="http://schemas.microsoft.com/office/drawing/2014/main" id="{A0DF9FDF-9146-4743-A971-3F92A50CAC3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2265363"/>
            <a:ext cx="617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54" name="Line 6">
            <a:extLst>
              <a:ext uri="{FF2B5EF4-FFF2-40B4-BE49-F238E27FC236}">
                <a16:creationId xmlns:a16="http://schemas.microsoft.com/office/drawing/2014/main" id="{5591F35C-5079-41DA-BF48-8C75A23F007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6781800"/>
            <a:ext cx="609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55" name="Line 7">
            <a:extLst>
              <a:ext uri="{FF2B5EF4-FFF2-40B4-BE49-F238E27FC236}">
                <a16:creationId xmlns:a16="http://schemas.microsoft.com/office/drawing/2014/main" id="{3C408673-1428-41C6-8C69-CCE6FBA5A6D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447800"/>
            <a:ext cx="0" cy="53260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56" name="Text Box 9">
            <a:extLst>
              <a:ext uri="{FF2B5EF4-FFF2-40B4-BE49-F238E27FC236}">
                <a16:creationId xmlns:a16="http://schemas.microsoft.com/office/drawing/2014/main" id="{012BEB39-C8AF-45BC-8FB1-7CE6D1C96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265363"/>
            <a:ext cx="2362200" cy="436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I</a:t>
            </a:r>
            <a:r>
              <a:rPr kumimoji="0" lang="en-US" altLang="zh-CN" sz="2400" b="1" baseline="-25000"/>
              <a:t>0</a:t>
            </a:r>
            <a:r>
              <a:rPr kumimoji="0" lang="en-US" altLang="zh-CN" sz="2400" b="1"/>
              <a:t>:   S’ </a:t>
            </a:r>
            <a:r>
              <a:rPr kumimoji="0" lang="en-US" altLang="zh-CN" sz="2400" b="1">
                <a:sym typeface="Symbol" panose="05050102010706020507" pitchFamily="18" charset="2"/>
              </a:rPr>
              <a:t> ·S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kumimoji="0" lang="en-US" altLang="zh-CN" sz="2400" b="1"/>
              <a:t>I</a:t>
            </a:r>
            <a:r>
              <a:rPr kumimoji="0" lang="en-US" altLang="zh-CN" sz="2400" b="1" baseline="-25000"/>
              <a:t>1</a:t>
            </a:r>
            <a:r>
              <a:rPr kumimoji="0" lang="en-US" altLang="zh-CN" sz="2400" b="1"/>
              <a:t>:   S’ </a:t>
            </a:r>
            <a:r>
              <a:rPr kumimoji="0" lang="en-US" altLang="zh-CN" sz="2400" b="1">
                <a:sym typeface="Symbol" panose="05050102010706020507" pitchFamily="18" charset="2"/>
              </a:rPr>
              <a:t> S·</a:t>
            </a:r>
            <a:endParaRPr kumimoji="0" lang="en-US" altLang="zh-CN" sz="24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I</a:t>
            </a:r>
            <a:r>
              <a:rPr kumimoji="0" lang="en-US" altLang="zh-CN" sz="2400" b="1" baseline="-25000"/>
              <a:t>2</a:t>
            </a:r>
            <a:r>
              <a:rPr kumimoji="0" lang="en-US" altLang="zh-CN" sz="2400" b="1"/>
              <a:t>:   S </a:t>
            </a:r>
            <a:r>
              <a:rPr kumimoji="0" lang="en-US" altLang="zh-CN" sz="2400" b="1">
                <a:sym typeface="Symbol" panose="05050102010706020507" pitchFamily="18" charset="2"/>
              </a:rPr>
              <a:t> L · = R</a:t>
            </a:r>
            <a:r>
              <a:rPr kumimoji="0" lang="en-US" altLang="zh-CN" sz="2400" b="1"/>
              <a:t> </a:t>
            </a:r>
            <a:br>
              <a:rPr kumimoji="0" lang="en-US" altLang="zh-CN" sz="2400" b="1"/>
            </a:br>
            <a:r>
              <a:rPr kumimoji="0" lang="en-US" altLang="zh-CN" sz="2400" b="1"/>
              <a:t>I</a:t>
            </a:r>
            <a:r>
              <a:rPr kumimoji="0" lang="en-US" altLang="zh-CN" sz="2400" b="1" baseline="-25000"/>
              <a:t>2</a:t>
            </a:r>
            <a:r>
              <a:rPr kumimoji="0" lang="en-US" altLang="zh-CN" sz="2400" b="1"/>
              <a:t>:   </a:t>
            </a:r>
            <a:r>
              <a:rPr kumimoji="0" lang="en-US" altLang="zh-CN" sz="2400" b="1">
                <a:sym typeface="Symbol" panose="05050102010706020507" pitchFamily="18" charset="2"/>
              </a:rPr>
              <a:t>R  L · 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I</a:t>
            </a:r>
            <a:r>
              <a:rPr kumimoji="0" lang="en-US" altLang="zh-CN" sz="2400" b="1" baseline="-25000"/>
              <a:t>3</a:t>
            </a:r>
            <a:r>
              <a:rPr kumimoji="0" lang="en-US" altLang="zh-CN" sz="2400" b="1"/>
              <a:t>:   S </a:t>
            </a:r>
            <a:r>
              <a:rPr kumimoji="0" lang="en-US" altLang="zh-CN" sz="2400" b="1">
                <a:sym typeface="Symbol" panose="05050102010706020507" pitchFamily="18" charset="2"/>
              </a:rPr>
              <a:t> R·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I</a:t>
            </a:r>
            <a:r>
              <a:rPr kumimoji="0" lang="en-US" altLang="zh-CN" sz="2400" b="1" baseline="-25000"/>
              <a:t>4</a:t>
            </a:r>
            <a:r>
              <a:rPr kumimoji="0" lang="en-US" altLang="zh-CN" sz="2400" b="1"/>
              <a:t>:   L </a:t>
            </a:r>
            <a:r>
              <a:rPr kumimoji="0" lang="en-US" altLang="zh-CN" sz="2400" b="1">
                <a:sym typeface="Symbol" panose="05050102010706020507" pitchFamily="18" charset="2"/>
              </a:rPr>
              <a:t> *·R 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I</a:t>
            </a:r>
            <a:r>
              <a:rPr kumimoji="0" lang="en-US" altLang="zh-CN" sz="2400" b="1" baseline="-25000"/>
              <a:t>5</a:t>
            </a:r>
            <a:r>
              <a:rPr kumimoji="0" lang="en-US" altLang="zh-CN" sz="2400" b="1"/>
              <a:t>:   </a:t>
            </a:r>
            <a:r>
              <a:rPr kumimoji="0" lang="en-US" altLang="zh-CN" sz="2400" b="1">
                <a:sym typeface="Symbol" panose="05050102010706020507" pitchFamily="18" charset="2"/>
              </a:rPr>
              <a:t>L  id· 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I</a:t>
            </a:r>
            <a:r>
              <a:rPr kumimoji="0" lang="en-US" altLang="zh-CN" sz="2400" b="1" baseline="-25000"/>
              <a:t>6</a:t>
            </a:r>
            <a:r>
              <a:rPr kumimoji="0" lang="en-US" altLang="zh-CN" sz="2400" b="1"/>
              <a:t>:   S </a:t>
            </a:r>
            <a:r>
              <a:rPr kumimoji="0" lang="en-US" altLang="zh-CN" sz="2400" b="1">
                <a:sym typeface="Symbol" panose="05050102010706020507" pitchFamily="18" charset="2"/>
              </a:rPr>
              <a:t> L = · R 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I</a:t>
            </a:r>
            <a:r>
              <a:rPr kumimoji="0" lang="en-US" altLang="zh-CN" sz="2400" b="1" baseline="-25000"/>
              <a:t>7</a:t>
            </a:r>
            <a:r>
              <a:rPr kumimoji="0" lang="en-US" altLang="zh-CN" sz="2400" b="1"/>
              <a:t>:   </a:t>
            </a:r>
            <a:r>
              <a:rPr kumimoji="0" lang="en-US" altLang="zh-CN" sz="2400" b="1">
                <a:sym typeface="Symbol" panose="05050102010706020507" pitchFamily="18" charset="2"/>
              </a:rPr>
              <a:t>L  * R·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I</a:t>
            </a:r>
            <a:r>
              <a:rPr kumimoji="0" lang="en-US" altLang="zh-CN" sz="2400" b="1" baseline="-25000"/>
              <a:t>8</a:t>
            </a:r>
            <a:r>
              <a:rPr kumimoji="0" lang="en-US" altLang="zh-CN" sz="2400" b="1"/>
              <a:t>:   </a:t>
            </a:r>
            <a:r>
              <a:rPr kumimoji="0" lang="en-US" altLang="zh-CN" sz="2400" b="1">
                <a:sym typeface="Symbol" panose="05050102010706020507" pitchFamily="18" charset="2"/>
              </a:rPr>
              <a:t>R  L ·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I</a:t>
            </a:r>
            <a:r>
              <a:rPr kumimoji="0" lang="en-US" altLang="zh-CN" sz="2400" b="1" baseline="-25000"/>
              <a:t>9</a:t>
            </a:r>
            <a:r>
              <a:rPr kumimoji="0" lang="en-US" altLang="zh-CN" sz="2400" b="1"/>
              <a:t>:   S</a:t>
            </a:r>
            <a:r>
              <a:rPr kumimoji="0" lang="en-US" altLang="zh-CN" sz="2400" b="1">
                <a:sym typeface="Symbol" panose="05050102010706020507" pitchFamily="18" charset="2"/>
              </a:rPr>
              <a:t>L = R·</a:t>
            </a:r>
            <a:r>
              <a:rPr kumimoji="0" lang="en-US" altLang="zh-CN" sz="2400" b="1"/>
              <a:t>  </a:t>
            </a:r>
          </a:p>
        </p:txBody>
      </p:sp>
      <p:sp>
        <p:nvSpPr>
          <p:cNvPr id="130057" name="Text Box 10">
            <a:extLst>
              <a:ext uri="{FF2B5EF4-FFF2-40B4-BE49-F238E27FC236}">
                <a16:creationId xmlns:a16="http://schemas.microsoft.com/office/drawing/2014/main" id="{C3CD8DA3-7D3F-45F7-9396-EFE203671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7526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400" b="1"/>
          </a:p>
        </p:txBody>
      </p:sp>
      <p:sp>
        <p:nvSpPr>
          <p:cNvPr id="130058" name="Text Box 12">
            <a:extLst>
              <a:ext uri="{FF2B5EF4-FFF2-40B4-BE49-F238E27FC236}">
                <a16:creationId xmlns:a16="http://schemas.microsoft.com/office/drawing/2014/main" id="{834C4D72-FDE6-46D3-B99A-CA1257360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8288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项目</a:t>
            </a:r>
          </a:p>
        </p:txBody>
      </p:sp>
      <p:sp>
        <p:nvSpPr>
          <p:cNvPr id="130059" name="Text Box 16">
            <a:extLst>
              <a:ext uri="{FF2B5EF4-FFF2-40B4-BE49-F238E27FC236}">
                <a16:creationId xmlns:a16="http://schemas.microsoft.com/office/drawing/2014/main" id="{D645F750-18FB-451E-B543-EB119E0A4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2265363"/>
            <a:ext cx="609600" cy="436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endParaRPr kumimoji="0" lang="en-US" altLang="zh-CN" sz="24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br>
              <a:rPr kumimoji="0" lang="en-US" altLang="zh-CN" sz="2400" b="1"/>
            </a:b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=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=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 </a:t>
            </a:r>
          </a:p>
        </p:txBody>
      </p:sp>
      <p:sp>
        <p:nvSpPr>
          <p:cNvPr id="130060" name="Text Box 17">
            <a:extLst>
              <a:ext uri="{FF2B5EF4-FFF2-40B4-BE49-F238E27FC236}">
                <a16:creationId xmlns:a16="http://schemas.microsoft.com/office/drawing/2014/main" id="{BCA3240A-3B80-4814-804C-EA9E67F09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18288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初始</a:t>
            </a:r>
          </a:p>
        </p:txBody>
      </p:sp>
      <p:sp>
        <p:nvSpPr>
          <p:cNvPr id="130061" name="Text Box 18">
            <a:extLst>
              <a:ext uri="{FF2B5EF4-FFF2-40B4-BE49-F238E27FC236}">
                <a16:creationId xmlns:a16="http://schemas.microsoft.com/office/drawing/2014/main" id="{F7BD5BDB-5A40-42D5-8BAE-6E7FF105A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8400" y="2265363"/>
            <a:ext cx="609600" cy="436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kumimoji="0" lang="en-US" altLang="zh-CN" sz="2400" b="1">
                <a:sym typeface="Symbol" panose="05050102010706020507" pitchFamily="18" charset="2"/>
              </a:rPr>
              <a:t>$</a:t>
            </a:r>
            <a:endParaRPr kumimoji="0" lang="en-US" altLang="zh-CN" sz="24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$</a:t>
            </a:r>
            <a:br>
              <a:rPr kumimoji="0" lang="en-US" altLang="zh-CN" sz="2400" b="1"/>
            </a:br>
            <a:r>
              <a:rPr kumimoji="0" lang="en-US" altLang="zh-CN" sz="2400" b="1"/>
              <a:t>$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=/$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=/$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=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=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 </a:t>
            </a:r>
          </a:p>
        </p:txBody>
      </p:sp>
      <p:sp>
        <p:nvSpPr>
          <p:cNvPr id="130062" name="Text Box 19">
            <a:extLst>
              <a:ext uri="{FF2B5EF4-FFF2-40B4-BE49-F238E27FC236}">
                <a16:creationId xmlns:a16="http://schemas.microsoft.com/office/drawing/2014/main" id="{2C9C1C4C-6AF1-49E3-99E6-F3AC9F6B0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8288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第一遍</a:t>
            </a:r>
          </a:p>
        </p:txBody>
      </p:sp>
      <p:sp>
        <p:nvSpPr>
          <p:cNvPr id="130063" name="Text Box 20">
            <a:extLst>
              <a:ext uri="{FF2B5EF4-FFF2-40B4-BE49-F238E27FC236}">
                <a16:creationId xmlns:a16="http://schemas.microsoft.com/office/drawing/2014/main" id="{75C68A21-6A71-4097-8467-52CCFA13C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4400" y="2265363"/>
            <a:ext cx="609600" cy="436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kumimoji="0" lang="en-US" altLang="zh-CN" sz="2400" b="1">
                <a:sym typeface="Symbol" panose="05050102010706020507" pitchFamily="18" charset="2"/>
              </a:rPr>
              <a:t>$</a:t>
            </a:r>
            <a:endParaRPr kumimoji="0" lang="en-US" altLang="zh-CN" sz="24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$</a:t>
            </a:r>
            <a:br>
              <a:rPr kumimoji="0" lang="en-US" altLang="zh-CN" sz="2400" b="1"/>
            </a:br>
            <a:r>
              <a:rPr kumimoji="0" lang="en-US" altLang="zh-CN" sz="2400" b="1"/>
              <a:t>$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=/$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=/$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$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=/$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=/$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 </a:t>
            </a:r>
          </a:p>
        </p:txBody>
      </p:sp>
      <p:sp>
        <p:nvSpPr>
          <p:cNvPr id="130064" name="Text Box 21">
            <a:extLst>
              <a:ext uri="{FF2B5EF4-FFF2-40B4-BE49-F238E27FC236}">
                <a16:creationId xmlns:a16="http://schemas.microsoft.com/office/drawing/2014/main" id="{BFEA7274-87DE-4382-8FAF-2DB3DDA1D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8000" y="18288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第二遍</a:t>
            </a:r>
          </a:p>
        </p:txBody>
      </p:sp>
      <p:sp>
        <p:nvSpPr>
          <p:cNvPr id="130065" name="Text Box 22">
            <a:extLst>
              <a:ext uri="{FF2B5EF4-FFF2-40B4-BE49-F238E27FC236}">
                <a16:creationId xmlns:a16="http://schemas.microsoft.com/office/drawing/2014/main" id="{84C41217-A5C8-46A6-A6E7-9EBF59FFA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2265363"/>
            <a:ext cx="609600" cy="436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kumimoji="0" lang="en-US" altLang="zh-CN" sz="2400" b="1">
                <a:sym typeface="Symbol" panose="05050102010706020507" pitchFamily="18" charset="2"/>
              </a:rPr>
              <a:t>$</a:t>
            </a:r>
            <a:endParaRPr kumimoji="0" lang="en-US" altLang="zh-CN" sz="24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$</a:t>
            </a:r>
            <a:br>
              <a:rPr kumimoji="0" lang="en-US" altLang="zh-CN" sz="2400" b="1"/>
            </a:br>
            <a:r>
              <a:rPr kumimoji="0" lang="en-US" altLang="zh-CN" sz="2400" b="1"/>
              <a:t>$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$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=/$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=/$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 $</a:t>
            </a:r>
            <a:endParaRPr kumimoji="0" lang="en-US" altLang="zh-CN" sz="2400" b="1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=/$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=/$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 $</a:t>
            </a:r>
          </a:p>
        </p:txBody>
      </p:sp>
      <p:sp>
        <p:nvSpPr>
          <p:cNvPr id="130066" name="Text Box 23">
            <a:extLst>
              <a:ext uri="{FF2B5EF4-FFF2-40B4-BE49-F238E27FC236}">
                <a16:creationId xmlns:a16="http://schemas.microsoft.com/office/drawing/2014/main" id="{F86C4D82-32AF-4D5E-BADA-E6F0404B4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0" y="18288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第三遍</a:t>
            </a:r>
          </a:p>
        </p:txBody>
      </p:sp>
      <p:sp>
        <p:nvSpPr>
          <p:cNvPr id="130067" name="Line 24">
            <a:extLst>
              <a:ext uri="{FF2B5EF4-FFF2-40B4-BE49-F238E27FC236}">
                <a16:creationId xmlns:a16="http://schemas.microsoft.com/office/drawing/2014/main" id="{93B2C37B-578F-4495-A038-15B4938EF9D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828800"/>
            <a:ext cx="388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068" name="Text Box 26">
            <a:extLst>
              <a:ext uri="{FF2B5EF4-FFF2-40B4-BE49-F238E27FC236}">
                <a16:creationId xmlns:a16="http://schemas.microsoft.com/office/drawing/2014/main" id="{DE2D20D0-4B9C-438D-A9CA-234B4629D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13716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搜索符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E39C2F0E-807F-4664-8224-D1D32DF2D4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4.47 </a:t>
            </a:r>
            <a:r>
              <a:rPr lang="zh-CN" altLang="en-US"/>
              <a:t>（续）</a:t>
            </a:r>
          </a:p>
        </p:txBody>
      </p:sp>
      <p:sp>
        <p:nvSpPr>
          <p:cNvPr id="131075" name="Line 21">
            <a:extLst>
              <a:ext uri="{FF2B5EF4-FFF2-40B4-BE49-F238E27FC236}">
                <a16:creationId xmlns:a16="http://schemas.microsoft.com/office/drawing/2014/main" id="{6C8DBF07-70F8-4F97-9E81-3996D8AD9F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57400" y="1752600"/>
            <a:ext cx="563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76" name="Line 22">
            <a:extLst>
              <a:ext uri="{FF2B5EF4-FFF2-40B4-BE49-F238E27FC236}">
                <a16:creationId xmlns:a16="http://schemas.microsoft.com/office/drawing/2014/main" id="{2D9BD290-918E-4E03-8E63-8370DC6529B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1828800"/>
            <a:ext cx="563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77" name="Line 23">
            <a:extLst>
              <a:ext uri="{FF2B5EF4-FFF2-40B4-BE49-F238E27FC236}">
                <a16:creationId xmlns:a16="http://schemas.microsoft.com/office/drawing/2014/main" id="{5B626B38-7D38-4886-B57F-40A302449A6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2209800"/>
            <a:ext cx="4953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78" name="Line 24">
            <a:extLst>
              <a:ext uri="{FF2B5EF4-FFF2-40B4-BE49-F238E27FC236}">
                <a16:creationId xmlns:a16="http://schemas.microsoft.com/office/drawing/2014/main" id="{BF0382C5-D73C-432C-82DD-D93FDE7203C4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2514600"/>
            <a:ext cx="563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79" name="Line 25">
            <a:extLst>
              <a:ext uri="{FF2B5EF4-FFF2-40B4-BE49-F238E27FC236}">
                <a16:creationId xmlns:a16="http://schemas.microsoft.com/office/drawing/2014/main" id="{0D87C252-08A7-4444-ACF6-BBEA2D623BEF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1752600"/>
            <a:ext cx="0" cy="449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80" name="Line 26">
            <a:extLst>
              <a:ext uri="{FF2B5EF4-FFF2-40B4-BE49-F238E27FC236}">
                <a16:creationId xmlns:a16="http://schemas.microsoft.com/office/drawing/2014/main" id="{1C77893E-0762-4269-801B-6CB30F2DE3E4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828800"/>
            <a:ext cx="0" cy="441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81" name="Line 27">
            <a:extLst>
              <a:ext uri="{FF2B5EF4-FFF2-40B4-BE49-F238E27FC236}">
                <a16:creationId xmlns:a16="http://schemas.microsoft.com/office/drawing/2014/main" id="{04EA2C69-E4BF-4AA9-BE67-928C6BD48092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1828800"/>
            <a:ext cx="0" cy="441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82" name="Text Box 28">
            <a:extLst>
              <a:ext uri="{FF2B5EF4-FFF2-40B4-BE49-F238E27FC236}">
                <a16:creationId xmlns:a16="http://schemas.microsoft.com/office/drawing/2014/main" id="{07125A09-D2B4-4BBC-8087-0A29ECAA6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981200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状态</a:t>
            </a:r>
          </a:p>
        </p:txBody>
      </p:sp>
      <p:sp>
        <p:nvSpPr>
          <p:cNvPr id="131083" name="Text Box 29">
            <a:extLst>
              <a:ext uri="{FF2B5EF4-FFF2-40B4-BE49-F238E27FC236}">
                <a16:creationId xmlns:a16="http://schemas.microsoft.com/office/drawing/2014/main" id="{9ED87030-D09A-41D3-856F-B3C1B6A73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18288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action</a:t>
            </a:r>
          </a:p>
        </p:txBody>
      </p:sp>
      <p:sp>
        <p:nvSpPr>
          <p:cNvPr id="131084" name="Text Box 30">
            <a:extLst>
              <a:ext uri="{FF2B5EF4-FFF2-40B4-BE49-F238E27FC236}">
                <a16:creationId xmlns:a16="http://schemas.microsoft.com/office/drawing/2014/main" id="{88B854E6-6DAD-4EE7-BBE1-EAAB1496A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136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*</a:t>
            </a:r>
          </a:p>
        </p:txBody>
      </p:sp>
      <p:sp>
        <p:nvSpPr>
          <p:cNvPr id="131085" name="Text Box 31">
            <a:extLst>
              <a:ext uri="{FF2B5EF4-FFF2-40B4-BE49-F238E27FC236}">
                <a16:creationId xmlns:a16="http://schemas.microsoft.com/office/drawing/2014/main" id="{2443C99D-14F7-4AA7-9E2A-A40B511DC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7125" y="2136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=</a:t>
            </a:r>
          </a:p>
        </p:txBody>
      </p:sp>
      <p:sp>
        <p:nvSpPr>
          <p:cNvPr id="131086" name="Text Box 32">
            <a:extLst>
              <a:ext uri="{FF2B5EF4-FFF2-40B4-BE49-F238E27FC236}">
                <a16:creationId xmlns:a16="http://schemas.microsoft.com/office/drawing/2014/main" id="{9BC6EB47-1639-4BC5-AE25-CC3C0083A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8650" y="2136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id</a:t>
            </a:r>
          </a:p>
        </p:txBody>
      </p:sp>
      <p:sp>
        <p:nvSpPr>
          <p:cNvPr id="131087" name="Text Box 33">
            <a:extLst>
              <a:ext uri="{FF2B5EF4-FFF2-40B4-BE49-F238E27FC236}">
                <a16:creationId xmlns:a16="http://schemas.microsoft.com/office/drawing/2014/main" id="{9C3EB899-0BE4-4329-908E-399E8BCCA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514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0</a:t>
            </a:r>
          </a:p>
        </p:txBody>
      </p:sp>
      <p:sp>
        <p:nvSpPr>
          <p:cNvPr id="131088" name="Text Box 34">
            <a:extLst>
              <a:ext uri="{FF2B5EF4-FFF2-40B4-BE49-F238E27FC236}">
                <a16:creationId xmlns:a16="http://schemas.microsoft.com/office/drawing/2014/main" id="{2CA96C09-472A-4034-A27A-16BE007BFA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895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1</a:t>
            </a:r>
          </a:p>
        </p:txBody>
      </p:sp>
      <p:sp>
        <p:nvSpPr>
          <p:cNvPr id="131089" name="Text Box 35">
            <a:extLst>
              <a:ext uri="{FF2B5EF4-FFF2-40B4-BE49-F238E27FC236}">
                <a16:creationId xmlns:a16="http://schemas.microsoft.com/office/drawing/2014/main" id="{CE98FAF4-8ED1-4462-A907-8B85B8DC6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276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2</a:t>
            </a:r>
          </a:p>
        </p:txBody>
      </p:sp>
      <p:sp>
        <p:nvSpPr>
          <p:cNvPr id="131090" name="Text Box 36">
            <a:extLst>
              <a:ext uri="{FF2B5EF4-FFF2-40B4-BE49-F238E27FC236}">
                <a16:creationId xmlns:a16="http://schemas.microsoft.com/office/drawing/2014/main" id="{825FB71E-08D0-4290-9B88-C04F4A2B67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657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3</a:t>
            </a:r>
          </a:p>
        </p:txBody>
      </p:sp>
      <p:sp>
        <p:nvSpPr>
          <p:cNvPr id="131091" name="Text Box 37">
            <a:extLst>
              <a:ext uri="{FF2B5EF4-FFF2-40B4-BE49-F238E27FC236}">
                <a16:creationId xmlns:a16="http://schemas.microsoft.com/office/drawing/2014/main" id="{63B3387A-71CF-4BE1-B9AB-B214F94F8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4038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4</a:t>
            </a:r>
          </a:p>
        </p:txBody>
      </p:sp>
      <p:sp>
        <p:nvSpPr>
          <p:cNvPr id="131092" name="Line 38">
            <a:extLst>
              <a:ext uri="{FF2B5EF4-FFF2-40B4-BE49-F238E27FC236}">
                <a16:creationId xmlns:a16="http://schemas.microsoft.com/office/drawing/2014/main" id="{3E454201-C1D4-4B59-8864-CCE2B9F497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1752600"/>
            <a:ext cx="0" cy="449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93" name="Text Box 39">
            <a:extLst>
              <a:ext uri="{FF2B5EF4-FFF2-40B4-BE49-F238E27FC236}">
                <a16:creationId xmlns:a16="http://schemas.microsoft.com/office/drawing/2014/main" id="{B7742C96-68A9-44CB-A43D-744B2BBBA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4419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5</a:t>
            </a:r>
          </a:p>
        </p:txBody>
      </p:sp>
      <p:sp>
        <p:nvSpPr>
          <p:cNvPr id="131094" name="Text Box 40">
            <a:extLst>
              <a:ext uri="{FF2B5EF4-FFF2-40B4-BE49-F238E27FC236}">
                <a16:creationId xmlns:a16="http://schemas.microsoft.com/office/drawing/2014/main" id="{663EE06D-3E36-4F04-8DFF-494078D01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4784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6</a:t>
            </a:r>
          </a:p>
        </p:txBody>
      </p:sp>
      <p:sp>
        <p:nvSpPr>
          <p:cNvPr id="131095" name="Text Box 41">
            <a:extLst>
              <a:ext uri="{FF2B5EF4-FFF2-40B4-BE49-F238E27FC236}">
                <a16:creationId xmlns:a16="http://schemas.microsoft.com/office/drawing/2014/main" id="{23873D83-992C-4BB8-A53B-7166DA1262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165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7</a:t>
            </a:r>
          </a:p>
        </p:txBody>
      </p:sp>
      <p:sp>
        <p:nvSpPr>
          <p:cNvPr id="131096" name="Text Box 42">
            <a:extLst>
              <a:ext uri="{FF2B5EF4-FFF2-40B4-BE49-F238E27FC236}">
                <a16:creationId xmlns:a16="http://schemas.microsoft.com/office/drawing/2014/main" id="{79D06669-2096-43FD-92E3-2D44AE3C8D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546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8</a:t>
            </a:r>
          </a:p>
        </p:txBody>
      </p:sp>
      <p:sp>
        <p:nvSpPr>
          <p:cNvPr id="131097" name="Text Box 43">
            <a:extLst>
              <a:ext uri="{FF2B5EF4-FFF2-40B4-BE49-F238E27FC236}">
                <a16:creationId xmlns:a16="http://schemas.microsoft.com/office/drawing/2014/main" id="{0F66F7C6-F775-4646-8BA4-63B9889016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927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9</a:t>
            </a:r>
          </a:p>
        </p:txBody>
      </p:sp>
      <p:sp>
        <p:nvSpPr>
          <p:cNvPr id="131098" name="Line 44">
            <a:extLst>
              <a:ext uri="{FF2B5EF4-FFF2-40B4-BE49-F238E27FC236}">
                <a16:creationId xmlns:a16="http://schemas.microsoft.com/office/drawing/2014/main" id="{66A8ECDE-F959-4E98-BC9E-514541705879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6232525"/>
            <a:ext cx="5638800" cy="158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99" name="Text Box 45">
            <a:extLst>
              <a:ext uri="{FF2B5EF4-FFF2-40B4-BE49-F238E27FC236}">
                <a16:creationId xmlns:a16="http://schemas.microsoft.com/office/drawing/2014/main" id="{4576350D-C6B6-4F62-B786-BF61FFB61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2133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S</a:t>
            </a:r>
          </a:p>
        </p:txBody>
      </p:sp>
      <p:sp>
        <p:nvSpPr>
          <p:cNvPr id="131100" name="Text Box 46">
            <a:extLst>
              <a:ext uri="{FF2B5EF4-FFF2-40B4-BE49-F238E27FC236}">
                <a16:creationId xmlns:a16="http://schemas.microsoft.com/office/drawing/2014/main" id="{D018BC7D-0BC9-4E8E-8644-84E08FF2E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6675" y="2133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L</a:t>
            </a:r>
          </a:p>
        </p:txBody>
      </p:sp>
      <p:sp>
        <p:nvSpPr>
          <p:cNvPr id="131101" name="Text Box 47">
            <a:extLst>
              <a:ext uri="{FF2B5EF4-FFF2-40B4-BE49-F238E27FC236}">
                <a16:creationId xmlns:a16="http://schemas.microsoft.com/office/drawing/2014/main" id="{AC93A888-E2EA-4E1A-BC41-4248FA936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18288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goto</a:t>
            </a:r>
          </a:p>
        </p:txBody>
      </p:sp>
      <p:sp>
        <p:nvSpPr>
          <p:cNvPr id="131102" name="Text Box 48">
            <a:extLst>
              <a:ext uri="{FF2B5EF4-FFF2-40B4-BE49-F238E27FC236}">
                <a16:creationId xmlns:a16="http://schemas.microsoft.com/office/drawing/2014/main" id="{9F626E3E-0972-4E45-A645-7CA2126D4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517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</a:p>
        </p:txBody>
      </p:sp>
      <p:sp>
        <p:nvSpPr>
          <p:cNvPr id="131103" name="Text Box 49">
            <a:extLst>
              <a:ext uri="{FF2B5EF4-FFF2-40B4-BE49-F238E27FC236}">
                <a16:creationId xmlns:a16="http://schemas.microsoft.com/office/drawing/2014/main" id="{C7943AC4-C7A5-419C-880E-E33192762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2517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s5</a:t>
            </a:r>
          </a:p>
        </p:txBody>
      </p:sp>
      <p:sp>
        <p:nvSpPr>
          <p:cNvPr id="131104" name="Text Box 50">
            <a:extLst>
              <a:ext uri="{FF2B5EF4-FFF2-40B4-BE49-F238E27FC236}">
                <a16:creationId xmlns:a16="http://schemas.microsoft.com/office/drawing/2014/main" id="{4888CA19-794B-48D3-863F-5A737FB8B8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2514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1</a:t>
            </a:r>
          </a:p>
        </p:txBody>
      </p:sp>
      <p:sp>
        <p:nvSpPr>
          <p:cNvPr id="131105" name="Text Box 51">
            <a:extLst>
              <a:ext uri="{FF2B5EF4-FFF2-40B4-BE49-F238E27FC236}">
                <a16:creationId xmlns:a16="http://schemas.microsoft.com/office/drawing/2014/main" id="{A323D348-464D-4EDD-B251-303BA23E4E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6675" y="2514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2</a:t>
            </a:r>
          </a:p>
        </p:txBody>
      </p:sp>
      <p:sp>
        <p:nvSpPr>
          <p:cNvPr id="131106" name="Text Box 53">
            <a:extLst>
              <a:ext uri="{FF2B5EF4-FFF2-40B4-BE49-F238E27FC236}">
                <a16:creationId xmlns:a16="http://schemas.microsoft.com/office/drawing/2014/main" id="{F9F62CD0-78E4-452C-80E4-DD1AF178EB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3260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s6</a:t>
            </a:r>
          </a:p>
        </p:txBody>
      </p:sp>
      <p:sp>
        <p:nvSpPr>
          <p:cNvPr id="131107" name="Text Box 54">
            <a:extLst>
              <a:ext uri="{FF2B5EF4-FFF2-40B4-BE49-F238E27FC236}">
                <a16:creationId xmlns:a16="http://schemas.microsoft.com/office/drawing/2014/main" id="{5D63837D-1437-400E-94E7-06A774FA6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3260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r5</a:t>
            </a:r>
          </a:p>
        </p:txBody>
      </p:sp>
      <p:sp>
        <p:nvSpPr>
          <p:cNvPr id="131108" name="Text Box 55">
            <a:extLst>
              <a:ext uri="{FF2B5EF4-FFF2-40B4-BE49-F238E27FC236}">
                <a16:creationId xmlns:a16="http://schemas.microsoft.com/office/drawing/2014/main" id="{F14CB29A-5F7D-4C94-8AD9-9B4B72422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041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</a:p>
        </p:txBody>
      </p:sp>
      <p:sp>
        <p:nvSpPr>
          <p:cNvPr id="131109" name="Text Box 56">
            <a:extLst>
              <a:ext uri="{FF2B5EF4-FFF2-40B4-BE49-F238E27FC236}">
                <a16:creationId xmlns:a16="http://schemas.microsoft.com/office/drawing/2014/main" id="{3758F197-8265-44FC-968B-865DBB8BA8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4041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s5</a:t>
            </a:r>
          </a:p>
        </p:txBody>
      </p:sp>
      <p:sp>
        <p:nvSpPr>
          <p:cNvPr id="131110" name="Text Box 58">
            <a:extLst>
              <a:ext uri="{FF2B5EF4-FFF2-40B4-BE49-F238E27FC236}">
                <a16:creationId xmlns:a16="http://schemas.microsoft.com/office/drawing/2014/main" id="{C0FF707E-E711-4EDC-BC7D-D8DBFAD93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4038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8</a:t>
            </a:r>
          </a:p>
        </p:txBody>
      </p:sp>
      <p:sp>
        <p:nvSpPr>
          <p:cNvPr id="131111" name="Text Box 59">
            <a:extLst>
              <a:ext uri="{FF2B5EF4-FFF2-40B4-BE49-F238E27FC236}">
                <a16:creationId xmlns:a16="http://schemas.microsoft.com/office/drawing/2014/main" id="{8D81BD8C-D67B-44D2-A8C2-8553EE229D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422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</a:p>
        </p:txBody>
      </p:sp>
      <p:sp>
        <p:nvSpPr>
          <p:cNvPr id="131112" name="Text Box 60">
            <a:extLst>
              <a:ext uri="{FF2B5EF4-FFF2-40B4-BE49-F238E27FC236}">
                <a16:creationId xmlns:a16="http://schemas.microsoft.com/office/drawing/2014/main" id="{EC59BC1C-E74F-4132-8A40-A195B7B937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6675" y="4781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8</a:t>
            </a:r>
          </a:p>
        </p:txBody>
      </p:sp>
      <p:sp>
        <p:nvSpPr>
          <p:cNvPr id="131113" name="Text Box 61">
            <a:extLst>
              <a:ext uri="{FF2B5EF4-FFF2-40B4-BE49-F238E27FC236}">
                <a16:creationId xmlns:a16="http://schemas.microsoft.com/office/drawing/2014/main" id="{3CD71A51-6DBF-40D4-92F3-68E022CFE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165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</a:p>
        </p:txBody>
      </p:sp>
      <p:sp>
        <p:nvSpPr>
          <p:cNvPr id="131114" name="Text Box 64">
            <a:extLst>
              <a:ext uri="{FF2B5EF4-FFF2-40B4-BE49-F238E27FC236}">
                <a16:creationId xmlns:a16="http://schemas.microsoft.com/office/drawing/2014/main" id="{CE4EA3BA-D8D4-4135-9EBD-A9F36F0F8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3657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</a:p>
        </p:txBody>
      </p:sp>
      <p:sp>
        <p:nvSpPr>
          <p:cNvPr id="131115" name="Text Box 65">
            <a:extLst>
              <a:ext uri="{FF2B5EF4-FFF2-40B4-BE49-F238E27FC236}">
                <a16:creationId xmlns:a16="http://schemas.microsoft.com/office/drawing/2014/main" id="{3AF1950E-699E-45A9-9F45-75695BF0F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725" y="4784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</a:p>
        </p:txBody>
      </p:sp>
      <p:sp>
        <p:nvSpPr>
          <p:cNvPr id="131116" name="Text Box 66">
            <a:extLst>
              <a:ext uri="{FF2B5EF4-FFF2-40B4-BE49-F238E27FC236}">
                <a16:creationId xmlns:a16="http://schemas.microsoft.com/office/drawing/2014/main" id="{5F459EC8-F9AC-48AC-8C91-B0EBABF38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4784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s5</a:t>
            </a:r>
          </a:p>
        </p:txBody>
      </p:sp>
      <p:sp>
        <p:nvSpPr>
          <p:cNvPr id="131117" name="Text Box 67">
            <a:extLst>
              <a:ext uri="{FF2B5EF4-FFF2-40B4-BE49-F238E27FC236}">
                <a16:creationId xmlns:a16="http://schemas.microsoft.com/office/drawing/2014/main" id="{395A8238-5085-4BB8-9675-05CF747CF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546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r5</a:t>
            </a:r>
          </a:p>
        </p:txBody>
      </p:sp>
      <p:sp>
        <p:nvSpPr>
          <p:cNvPr id="131118" name="Text Box 68">
            <a:extLst>
              <a:ext uri="{FF2B5EF4-FFF2-40B4-BE49-F238E27FC236}">
                <a16:creationId xmlns:a16="http://schemas.microsoft.com/office/drawing/2014/main" id="{18C78A09-6259-49DD-9399-43B444787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5546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r5</a:t>
            </a:r>
          </a:p>
        </p:txBody>
      </p:sp>
      <p:sp>
        <p:nvSpPr>
          <p:cNvPr id="131119" name="Text Box 69">
            <a:extLst>
              <a:ext uri="{FF2B5EF4-FFF2-40B4-BE49-F238E27FC236}">
                <a16:creationId xmlns:a16="http://schemas.microsoft.com/office/drawing/2014/main" id="{38910DAB-9B8E-4033-BCD3-50EAEA133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1763" y="2133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$</a:t>
            </a:r>
          </a:p>
        </p:txBody>
      </p:sp>
      <p:sp>
        <p:nvSpPr>
          <p:cNvPr id="131120" name="Text Box 70">
            <a:extLst>
              <a:ext uri="{FF2B5EF4-FFF2-40B4-BE49-F238E27FC236}">
                <a16:creationId xmlns:a16="http://schemas.microsoft.com/office/drawing/2014/main" id="{95D88067-EFCE-4B16-86C9-D01990166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28956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acc</a:t>
            </a:r>
          </a:p>
        </p:txBody>
      </p:sp>
      <p:sp>
        <p:nvSpPr>
          <p:cNvPr id="131121" name="Text Box 71">
            <a:extLst>
              <a:ext uri="{FF2B5EF4-FFF2-40B4-BE49-F238E27FC236}">
                <a16:creationId xmlns:a16="http://schemas.microsoft.com/office/drawing/2014/main" id="{B37B55F8-2C23-43A3-87C4-4C5554D40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1763" y="4419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</a:p>
        </p:txBody>
      </p:sp>
      <p:sp>
        <p:nvSpPr>
          <p:cNvPr id="131122" name="Text Box 72">
            <a:extLst>
              <a:ext uri="{FF2B5EF4-FFF2-40B4-BE49-F238E27FC236}">
                <a16:creationId xmlns:a16="http://schemas.microsoft.com/office/drawing/2014/main" id="{F912A3EC-5A2B-4F99-A599-3D4ED73F19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5162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</a:p>
        </p:txBody>
      </p:sp>
      <p:sp>
        <p:nvSpPr>
          <p:cNvPr id="131123" name="Text Box 73">
            <a:extLst>
              <a:ext uri="{FF2B5EF4-FFF2-40B4-BE49-F238E27FC236}">
                <a16:creationId xmlns:a16="http://schemas.microsoft.com/office/drawing/2014/main" id="{C1FF23C3-AF63-4AD6-9396-9592BC6125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59055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r1</a:t>
            </a:r>
          </a:p>
        </p:txBody>
      </p:sp>
      <p:sp>
        <p:nvSpPr>
          <p:cNvPr id="131124" name="Text Box 74">
            <a:extLst>
              <a:ext uri="{FF2B5EF4-FFF2-40B4-BE49-F238E27FC236}">
                <a16:creationId xmlns:a16="http://schemas.microsoft.com/office/drawing/2014/main" id="{514C464C-80A2-4E1B-8E94-25AEBFC68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2133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R</a:t>
            </a:r>
          </a:p>
        </p:txBody>
      </p:sp>
      <p:sp>
        <p:nvSpPr>
          <p:cNvPr id="131125" name="Text Box 75">
            <a:extLst>
              <a:ext uri="{FF2B5EF4-FFF2-40B4-BE49-F238E27FC236}">
                <a16:creationId xmlns:a16="http://schemas.microsoft.com/office/drawing/2014/main" id="{CBB72836-B4CA-46D0-8F8B-1681B283F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2514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3</a:t>
            </a:r>
          </a:p>
        </p:txBody>
      </p:sp>
      <p:sp>
        <p:nvSpPr>
          <p:cNvPr id="131126" name="Text Box 77">
            <a:extLst>
              <a:ext uri="{FF2B5EF4-FFF2-40B4-BE49-F238E27FC236}">
                <a16:creationId xmlns:a16="http://schemas.microsoft.com/office/drawing/2014/main" id="{CABB9CD1-9A8A-4ECC-91A7-681228A33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6925" y="4038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7</a:t>
            </a:r>
          </a:p>
        </p:txBody>
      </p:sp>
      <p:sp>
        <p:nvSpPr>
          <p:cNvPr id="131127" name="Text Box 78">
            <a:extLst>
              <a:ext uri="{FF2B5EF4-FFF2-40B4-BE49-F238E27FC236}">
                <a16:creationId xmlns:a16="http://schemas.microsoft.com/office/drawing/2014/main" id="{916C7526-E058-42E7-B48E-8BDDD83ED5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4781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9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EA3912F6-12AA-4985-A55B-1E0518E87B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4.7.7  LR</a:t>
            </a:r>
            <a:r>
              <a:rPr lang="zh-CN" altLang="en-US"/>
              <a:t>分析表的压缩</a:t>
            </a:r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BADAECF5-7C28-47A8-B3BB-427BFD5108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/>
            <a:r>
              <a:rPr lang="en-US" altLang="zh-CN"/>
              <a:t>LALR</a:t>
            </a:r>
            <a:r>
              <a:rPr lang="zh-CN" altLang="en-US"/>
              <a:t>分析表规模</a:t>
            </a:r>
          </a:p>
          <a:p>
            <a:pPr lvl="1" eaLnBrk="1" hangingPunct="1"/>
            <a:r>
              <a:rPr lang="zh-CN" altLang="en-US"/>
              <a:t>对于程序设计语言的翻译，其文法规模大致为</a:t>
            </a:r>
            <a:r>
              <a:rPr lang="en-US" altLang="zh-CN"/>
              <a:t>50</a:t>
            </a:r>
            <a:r>
              <a:rPr lang="zh-CN" altLang="en-US"/>
              <a:t>－</a:t>
            </a:r>
            <a:r>
              <a:rPr lang="en-US" altLang="zh-CN"/>
              <a:t>100</a:t>
            </a:r>
            <a:r>
              <a:rPr lang="zh-CN" altLang="en-US"/>
              <a:t>个终结符，</a:t>
            </a:r>
            <a:r>
              <a:rPr lang="en-US" altLang="zh-CN"/>
              <a:t>100</a:t>
            </a:r>
            <a:r>
              <a:rPr lang="zh-CN" altLang="en-US"/>
              <a:t>个产生式</a:t>
            </a:r>
          </a:p>
          <a:p>
            <a:pPr lvl="1" eaLnBrk="1" hangingPunct="1"/>
            <a:r>
              <a:rPr lang="zh-CN" altLang="en-US"/>
              <a:t>得到的</a:t>
            </a:r>
            <a:r>
              <a:rPr lang="en-US" altLang="zh-CN"/>
              <a:t>LALR</a:t>
            </a:r>
            <a:r>
              <a:rPr lang="zh-CN" altLang="en-US"/>
              <a:t>分析表规模大致为几百个状态，</a:t>
            </a:r>
            <a:r>
              <a:rPr lang="en-US" altLang="zh-CN"/>
              <a:t>20000</a:t>
            </a:r>
            <a:r>
              <a:rPr lang="zh-CN" altLang="en-US"/>
              <a:t>个</a:t>
            </a:r>
            <a:r>
              <a:rPr lang="en-US" altLang="zh-CN"/>
              <a:t>action</a:t>
            </a:r>
            <a:r>
              <a:rPr lang="zh-CN" altLang="en-US"/>
              <a:t>函数项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9E23C2DC-24F6-4E48-9CE3-827C633C5F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action</a:t>
            </a:r>
            <a:r>
              <a:rPr lang="zh-CN" altLang="en-US"/>
              <a:t>表的压缩</a:t>
            </a:r>
          </a:p>
        </p:txBody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3FE6EBD0-4D08-4A18-8BC7-9057FDA815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/>
            <a:r>
              <a:rPr lang="en-US" altLang="zh-CN"/>
              <a:t>[</a:t>
            </a:r>
            <a:r>
              <a:rPr lang="zh-CN" altLang="en-US"/>
              <a:t>状态</a:t>
            </a:r>
            <a:r>
              <a:rPr lang="en-US" altLang="zh-CN"/>
              <a:t>, </a:t>
            </a:r>
            <a:r>
              <a:rPr lang="zh-CN" altLang="en-US"/>
              <a:t>终结符</a:t>
            </a:r>
            <a:r>
              <a:rPr lang="en-US" altLang="zh-CN"/>
              <a:t>]——</a:t>
            </a:r>
            <a:r>
              <a:rPr lang="zh-CN" altLang="en-US"/>
              <a:t>二维数组</a:t>
            </a:r>
          </a:p>
          <a:p>
            <a:pPr eaLnBrk="1" hangingPunct="1"/>
            <a:r>
              <a:rPr lang="zh-CN" altLang="en-US"/>
              <a:t>很多行（列表）是相同的</a:t>
            </a:r>
          </a:p>
          <a:p>
            <a:pPr eaLnBrk="1" hangingPunct="1"/>
            <a:r>
              <a:rPr lang="zh-CN" altLang="en-US">
                <a:sym typeface="Wingdings" panose="05000000000000000000" pitchFamily="2" charset="2"/>
              </a:rPr>
              <a:t>状态指针数组，指向一维数组（行）</a:t>
            </a:r>
          </a:p>
          <a:p>
            <a:pPr eaLnBrk="1" hangingPunct="1"/>
            <a:r>
              <a:rPr lang="zh-CN" altLang="en-US">
                <a:sym typeface="Wingdings" panose="05000000000000000000" pitchFamily="2" charset="2"/>
              </a:rPr>
              <a:t>行列表</a:t>
            </a:r>
            <a:r>
              <a:rPr lang="en-US" altLang="zh-CN">
                <a:sym typeface="Wingdings" panose="05000000000000000000" pitchFamily="2" charset="2"/>
              </a:rPr>
              <a:t>——</a:t>
            </a:r>
            <a:r>
              <a:rPr lang="zh-CN" altLang="en-US">
                <a:sym typeface="Wingdings" panose="05000000000000000000" pitchFamily="2" charset="2"/>
              </a:rPr>
              <a:t>每个状态一个列表</a:t>
            </a:r>
          </a:p>
          <a:p>
            <a:pPr lvl="1" eaLnBrk="1" hangingPunct="1"/>
            <a:r>
              <a:rPr lang="en-US" altLang="zh-CN"/>
              <a:t>(</a:t>
            </a:r>
            <a:r>
              <a:rPr lang="zh-CN" altLang="en-US"/>
              <a:t>终结符</a:t>
            </a:r>
            <a:r>
              <a:rPr lang="en-US" altLang="zh-CN"/>
              <a:t>, </a:t>
            </a:r>
            <a:r>
              <a:rPr lang="zh-CN" altLang="en-US"/>
              <a:t>动作</a:t>
            </a:r>
            <a:r>
              <a:rPr lang="en-US" altLang="zh-CN"/>
              <a:t>)</a:t>
            </a:r>
            <a:r>
              <a:rPr lang="zh-CN" altLang="en-US"/>
              <a:t>，发生频率</a:t>
            </a:r>
            <a:r>
              <a:rPr lang="en-US" altLang="zh-CN"/>
              <a:t>——</a:t>
            </a:r>
            <a:r>
              <a:rPr lang="zh-CN" altLang="en-US"/>
              <a:t>位置</a:t>
            </a:r>
          </a:p>
          <a:p>
            <a:pPr lvl="1" eaLnBrk="1" hangingPunct="1"/>
            <a:r>
              <a:rPr lang="en-US" altLang="zh-CN"/>
              <a:t>any—</a:t>
            </a:r>
            <a:r>
              <a:rPr lang="zh-CN" altLang="en-US"/>
              <a:t>列表中未列出的任何其他终结符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67FE1DA8-3CE7-4D23-8E98-30672E56C9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4.48</a:t>
            </a:r>
          </a:p>
        </p:txBody>
      </p:sp>
      <p:sp>
        <p:nvSpPr>
          <p:cNvPr id="134147" name="Line 4">
            <a:extLst>
              <a:ext uri="{FF2B5EF4-FFF2-40B4-BE49-F238E27FC236}">
                <a16:creationId xmlns:a16="http://schemas.microsoft.com/office/drawing/2014/main" id="{97FF3719-A9E3-4B39-B3A2-82CD2B4C59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1371600"/>
            <a:ext cx="784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48" name="Line 5">
            <a:extLst>
              <a:ext uri="{FF2B5EF4-FFF2-40B4-BE49-F238E27FC236}">
                <a16:creationId xmlns:a16="http://schemas.microsoft.com/office/drawing/2014/main" id="{3DB12BD3-A439-48F5-9309-4854A58CDD62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1447800"/>
            <a:ext cx="784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49" name="Line 6">
            <a:extLst>
              <a:ext uri="{FF2B5EF4-FFF2-40B4-BE49-F238E27FC236}">
                <a16:creationId xmlns:a16="http://schemas.microsoft.com/office/drawing/2014/main" id="{26F8B14D-BFE8-4450-B5EC-A90DF6E92F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1828800"/>
            <a:ext cx="71612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50" name="Line 7">
            <a:extLst>
              <a:ext uri="{FF2B5EF4-FFF2-40B4-BE49-F238E27FC236}">
                <a16:creationId xmlns:a16="http://schemas.microsoft.com/office/drawing/2014/main" id="{95AF8D00-0971-4656-8680-C4E996115E03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2133600"/>
            <a:ext cx="784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51" name="Line 8">
            <a:extLst>
              <a:ext uri="{FF2B5EF4-FFF2-40B4-BE49-F238E27FC236}">
                <a16:creationId xmlns:a16="http://schemas.microsoft.com/office/drawing/2014/main" id="{4E4A7492-13ED-4ECB-8504-F532A0F59976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800" y="1371600"/>
            <a:ext cx="0" cy="533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52" name="Line 9">
            <a:extLst>
              <a:ext uri="{FF2B5EF4-FFF2-40B4-BE49-F238E27FC236}">
                <a16:creationId xmlns:a16="http://schemas.microsoft.com/office/drawing/2014/main" id="{D7EA3551-8737-458B-BA27-5CE450452A7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1447800"/>
            <a:ext cx="0" cy="525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53" name="Line 10">
            <a:extLst>
              <a:ext uri="{FF2B5EF4-FFF2-40B4-BE49-F238E27FC236}">
                <a16:creationId xmlns:a16="http://schemas.microsoft.com/office/drawing/2014/main" id="{52F4CEB4-074A-4AB3-BBA1-A88D1EE31A1B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1447800"/>
            <a:ext cx="0" cy="525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54" name="Text Box 11">
            <a:extLst>
              <a:ext uri="{FF2B5EF4-FFF2-40B4-BE49-F238E27FC236}">
                <a16:creationId xmlns:a16="http://schemas.microsoft.com/office/drawing/2014/main" id="{940140E4-5E8A-4004-A012-7DB0C0E8A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600200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状态</a:t>
            </a:r>
          </a:p>
        </p:txBody>
      </p:sp>
      <p:sp>
        <p:nvSpPr>
          <p:cNvPr id="134155" name="Text Box 12">
            <a:extLst>
              <a:ext uri="{FF2B5EF4-FFF2-40B4-BE49-F238E27FC236}">
                <a16:creationId xmlns:a16="http://schemas.microsoft.com/office/drawing/2014/main" id="{FA93FF95-298F-4F80-BD05-3592A6F28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14478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action</a:t>
            </a:r>
          </a:p>
        </p:txBody>
      </p:sp>
      <p:sp>
        <p:nvSpPr>
          <p:cNvPr id="134156" name="Text Box 13">
            <a:extLst>
              <a:ext uri="{FF2B5EF4-FFF2-40B4-BE49-F238E27FC236}">
                <a16:creationId xmlns:a16="http://schemas.microsoft.com/office/drawing/2014/main" id="{00120B9F-83AD-4229-9ECA-70B77C11AC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755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id</a:t>
            </a:r>
          </a:p>
        </p:txBody>
      </p:sp>
      <p:sp>
        <p:nvSpPr>
          <p:cNvPr id="134157" name="Text Box 14">
            <a:extLst>
              <a:ext uri="{FF2B5EF4-FFF2-40B4-BE49-F238E27FC236}">
                <a16:creationId xmlns:a16="http://schemas.microsoft.com/office/drawing/2014/main" id="{B0C83FAD-A238-4305-8713-1CB5FED689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888" y="1755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+</a:t>
            </a:r>
          </a:p>
        </p:txBody>
      </p:sp>
      <p:sp>
        <p:nvSpPr>
          <p:cNvPr id="134158" name="Text Box 15">
            <a:extLst>
              <a:ext uri="{FF2B5EF4-FFF2-40B4-BE49-F238E27FC236}">
                <a16:creationId xmlns:a16="http://schemas.microsoft.com/office/drawing/2014/main" id="{762E54D6-A06E-4C1D-9E5F-BC34999DE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3963" y="1755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*</a:t>
            </a:r>
          </a:p>
        </p:txBody>
      </p:sp>
      <p:sp>
        <p:nvSpPr>
          <p:cNvPr id="134159" name="Text Box 16">
            <a:extLst>
              <a:ext uri="{FF2B5EF4-FFF2-40B4-BE49-F238E27FC236}">
                <a16:creationId xmlns:a16="http://schemas.microsoft.com/office/drawing/2014/main" id="{CDB4B0D2-CDFA-4E6A-8B5F-D56BC5AEB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6450" y="1755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(</a:t>
            </a:r>
          </a:p>
        </p:txBody>
      </p:sp>
      <p:sp>
        <p:nvSpPr>
          <p:cNvPr id="134160" name="Text Box 17">
            <a:extLst>
              <a:ext uri="{FF2B5EF4-FFF2-40B4-BE49-F238E27FC236}">
                <a16:creationId xmlns:a16="http://schemas.microsoft.com/office/drawing/2014/main" id="{AA6F629F-9EE1-4DE0-A86E-A704AD33B8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0525" y="1755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)</a:t>
            </a:r>
          </a:p>
        </p:txBody>
      </p:sp>
      <p:sp>
        <p:nvSpPr>
          <p:cNvPr id="134161" name="Text Box 18">
            <a:extLst>
              <a:ext uri="{FF2B5EF4-FFF2-40B4-BE49-F238E27FC236}">
                <a16:creationId xmlns:a16="http://schemas.microsoft.com/office/drawing/2014/main" id="{3B728171-58AA-4AC2-BAE1-0010BACF36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1755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$</a:t>
            </a:r>
          </a:p>
        </p:txBody>
      </p:sp>
      <p:sp>
        <p:nvSpPr>
          <p:cNvPr id="134162" name="Text Box 19">
            <a:extLst>
              <a:ext uri="{FF2B5EF4-FFF2-40B4-BE49-F238E27FC236}">
                <a16:creationId xmlns:a16="http://schemas.microsoft.com/office/drawing/2014/main" id="{A5A005E7-2B68-4CB1-A7D6-EF603E9678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133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0</a:t>
            </a:r>
          </a:p>
        </p:txBody>
      </p:sp>
      <p:sp>
        <p:nvSpPr>
          <p:cNvPr id="134163" name="Text Box 20">
            <a:extLst>
              <a:ext uri="{FF2B5EF4-FFF2-40B4-BE49-F238E27FC236}">
                <a16:creationId xmlns:a16="http://schemas.microsoft.com/office/drawing/2014/main" id="{EBEA227F-2AFE-4003-9DEC-46DBAC8ABA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514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1</a:t>
            </a:r>
          </a:p>
        </p:txBody>
      </p:sp>
      <p:sp>
        <p:nvSpPr>
          <p:cNvPr id="134164" name="Text Box 21">
            <a:extLst>
              <a:ext uri="{FF2B5EF4-FFF2-40B4-BE49-F238E27FC236}">
                <a16:creationId xmlns:a16="http://schemas.microsoft.com/office/drawing/2014/main" id="{988BBFE2-E951-42AE-8767-242C9DB02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895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2</a:t>
            </a:r>
          </a:p>
        </p:txBody>
      </p:sp>
      <p:sp>
        <p:nvSpPr>
          <p:cNvPr id="134165" name="Text Box 22">
            <a:extLst>
              <a:ext uri="{FF2B5EF4-FFF2-40B4-BE49-F238E27FC236}">
                <a16:creationId xmlns:a16="http://schemas.microsoft.com/office/drawing/2014/main" id="{21B6ED55-F659-492B-AB53-0D92A3FBF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276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3</a:t>
            </a:r>
          </a:p>
        </p:txBody>
      </p:sp>
      <p:sp>
        <p:nvSpPr>
          <p:cNvPr id="134166" name="Text Box 23">
            <a:extLst>
              <a:ext uri="{FF2B5EF4-FFF2-40B4-BE49-F238E27FC236}">
                <a16:creationId xmlns:a16="http://schemas.microsoft.com/office/drawing/2014/main" id="{DE961B98-36DA-4854-A625-8513693B5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657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4</a:t>
            </a:r>
          </a:p>
        </p:txBody>
      </p:sp>
      <p:sp>
        <p:nvSpPr>
          <p:cNvPr id="134167" name="Line 24">
            <a:extLst>
              <a:ext uri="{FF2B5EF4-FFF2-40B4-BE49-F238E27FC236}">
                <a16:creationId xmlns:a16="http://schemas.microsoft.com/office/drawing/2014/main" id="{2C4618E1-9EBB-4551-8CD2-A6C7104A1A02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1371600"/>
            <a:ext cx="0" cy="533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68" name="Text Box 25">
            <a:extLst>
              <a:ext uri="{FF2B5EF4-FFF2-40B4-BE49-F238E27FC236}">
                <a16:creationId xmlns:a16="http://schemas.microsoft.com/office/drawing/2014/main" id="{0F925ADA-F55C-4865-978E-684F1B424A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038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5</a:t>
            </a:r>
          </a:p>
        </p:txBody>
      </p:sp>
      <p:sp>
        <p:nvSpPr>
          <p:cNvPr id="134169" name="Text Box 26">
            <a:extLst>
              <a:ext uri="{FF2B5EF4-FFF2-40B4-BE49-F238E27FC236}">
                <a16:creationId xmlns:a16="http://schemas.microsoft.com/office/drawing/2014/main" id="{0D9FC6CA-194A-4086-86F1-F32C0A0830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403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6</a:t>
            </a:r>
          </a:p>
        </p:txBody>
      </p:sp>
      <p:sp>
        <p:nvSpPr>
          <p:cNvPr id="134170" name="Text Box 27">
            <a:extLst>
              <a:ext uri="{FF2B5EF4-FFF2-40B4-BE49-F238E27FC236}">
                <a16:creationId xmlns:a16="http://schemas.microsoft.com/office/drawing/2014/main" id="{8441850A-83BF-4C40-9014-BFD18E383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784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7</a:t>
            </a:r>
          </a:p>
        </p:txBody>
      </p:sp>
      <p:sp>
        <p:nvSpPr>
          <p:cNvPr id="134171" name="Text Box 28">
            <a:extLst>
              <a:ext uri="{FF2B5EF4-FFF2-40B4-BE49-F238E27FC236}">
                <a16:creationId xmlns:a16="http://schemas.microsoft.com/office/drawing/2014/main" id="{94F197F5-761A-4A5B-9C26-42CA525A4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5165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8</a:t>
            </a:r>
          </a:p>
        </p:txBody>
      </p:sp>
      <p:sp>
        <p:nvSpPr>
          <p:cNvPr id="134172" name="Text Box 29">
            <a:extLst>
              <a:ext uri="{FF2B5EF4-FFF2-40B4-BE49-F238E27FC236}">
                <a16:creationId xmlns:a16="http://schemas.microsoft.com/office/drawing/2014/main" id="{5B8CAEB7-F1F8-4905-8D6F-3BDA0824D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5546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9</a:t>
            </a:r>
          </a:p>
        </p:txBody>
      </p:sp>
      <p:sp>
        <p:nvSpPr>
          <p:cNvPr id="134173" name="Text Box 30">
            <a:extLst>
              <a:ext uri="{FF2B5EF4-FFF2-40B4-BE49-F238E27FC236}">
                <a16:creationId xmlns:a16="http://schemas.microsoft.com/office/drawing/2014/main" id="{BCFE82D0-A1A6-4FE8-AD97-471A0E7FC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927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10</a:t>
            </a:r>
          </a:p>
        </p:txBody>
      </p:sp>
      <p:sp>
        <p:nvSpPr>
          <p:cNvPr id="134174" name="Line 31">
            <a:extLst>
              <a:ext uri="{FF2B5EF4-FFF2-40B4-BE49-F238E27FC236}">
                <a16:creationId xmlns:a16="http://schemas.microsoft.com/office/drawing/2014/main" id="{E154DE98-B165-40E8-BE19-758692B42A2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6689725"/>
            <a:ext cx="784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75" name="Text Box 32">
            <a:extLst>
              <a:ext uri="{FF2B5EF4-FFF2-40B4-BE49-F238E27FC236}">
                <a16:creationId xmlns:a16="http://schemas.microsoft.com/office/drawing/2014/main" id="{93A78E40-63CD-4BCD-BBEA-4EEB99F6E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3087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11</a:t>
            </a:r>
          </a:p>
        </p:txBody>
      </p:sp>
      <p:sp>
        <p:nvSpPr>
          <p:cNvPr id="134176" name="Text Box 33">
            <a:extLst>
              <a:ext uri="{FF2B5EF4-FFF2-40B4-BE49-F238E27FC236}">
                <a16:creationId xmlns:a16="http://schemas.microsoft.com/office/drawing/2014/main" id="{54F42684-9A4D-40F9-BB4D-6B04675F52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1752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</a:t>
            </a:r>
          </a:p>
        </p:txBody>
      </p:sp>
      <p:sp>
        <p:nvSpPr>
          <p:cNvPr id="134177" name="Text Box 34">
            <a:extLst>
              <a:ext uri="{FF2B5EF4-FFF2-40B4-BE49-F238E27FC236}">
                <a16:creationId xmlns:a16="http://schemas.microsoft.com/office/drawing/2014/main" id="{ECB943FE-F7AA-4D80-99AE-0370A523C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275" y="1752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T</a:t>
            </a:r>
          </a:p>
        </p:txBody>
      </p:sp>
      <p:sp>
        <p:nvSpPr>
          <p:cNvPr id="134178" name="Text Box 35">
            <a:extLst>
              <a:ext uri="{FF2B5EF4-FFF2-40B4-BE49-F238E27FC236}">
                <a16:creationId xmlns:a16="http://schemas.microsoft.com/office/drawing/2014/main" id="{D4798C39-E2D5-4304-8061-9F1C5D334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1752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F</a:t>
            </a:r>
          </a:p>
        </p:txBody>
      </p:sp>
      <p:sp>
        <p:nvSpPr>
          <p:cNvPr id="134179" name="Text Box 36">
            <a:extLst>
              <a:ext uri="{FF2B5EF4-FFF2-40B4-BE49-F238E27FC236}">
                <a16:creationId xmlns:a16="http://schemas.microsoft.com/office/drawing/2014/main" id="{603A90FC-A052-45EF-863A-FBADC415AD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14478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goto</a:t>
            </a:r>
          </a:p>
        </p:txBody>
      </p:sp>
      <p:sp>
        <p:nvSpPr>
          <p:cNvPr id="134180" name="Text Box 37">
            <a:extLst>
              <a:ext uri="{FF2B5EF4-FFF2-40B4-BE49-F238E27FC236}">
                <a16:creationId xmlns:a16="http://schemas.microsoft.com/office/drawing/2014/main" id="{15FAFEF7-736F-4E2B-BF76-DAB1F4AB6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136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s5</a:t>
            </a:r>
          </a:p>
        </p:txBody>
      </p:sp>
      <p:sp>
        <p:nvSpPr>
          <p:cNvPr id="134181" name="Text Box 38">
            <a:extLst>
              <a:ext uri="{FF2B5EF4-FFF2-40B4-BE49-F238E27FC236}">
                <a16:creationId xmlns:a16="http://schemas.microsoft.com/office/drawing/2014/main" id="{7AEF2518-068B-4555-8743-FF6659ADE1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2136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</a:p>
        </p:txBody>
      </p:sp>
      <p:sp>
        <p:nvSpPr>
          <p:cNvPr id="134182" name="Text Box 39">
            <a:extLst>
              <a:ext uri="{FF2B5EF4-FFF2-40B4-BE49-F238E27FC236}">
                <a16:creationId xmlns:a16="http://schemas.microsoft.com/office/drawing/2014/main" id="{0FD1A8E9-5818-4327-AE7F-F5CC3586C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2133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1</a:t>
            </a:r>
          </a:p>
        </p:txBody>
      </p:sp>
      <p:sp>
        <p:nvSpPr>
          <p:cNvPr id="134183" name="Text Box 40">
            <a:extLst>
              <a:ext uri="{FF2B5EF4-FFF2-40B4-BE49-F238E27FC236}">
                <a16:creationId xmlns:a16="http://schemas.microsoft.com/office/drawing/2014/main" id="{7C3F116E-6635-421F-8EE8-04A057B5A9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275" y="2133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2</a:t>
            </a:r>
          </a:p>
        </p:txBody>
      </p:sp>
      <p:sp>
        <p:nvSpPr>
          <p:cNvPr id="134184" name="Text Box 41">
            <a:extLst>
              <a:ext uri="{FF2B5EF4-FFF2-40B4-BE49-F238E27FC236}">
                <a16:creationId xmlns:a16="http://schemas.microsoft.com/office/drawing/2014/main" id="{3E2D6608-4ADB-4992-AA5E-89769104C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2133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3</a:t>
            </a:r>
          </a:p>
        </p:txBody>
      </p:sp>
      <p:sp>
        <p:nvSpPr>
          <p:cNvPr id="134185" name="Text Box 42">
            <a:extLst>
              <a:ext uri="{FF2B5EF4-FFF2-40B4-BE49-F238E27FC236}">
                <a16:creationId xmlns:a16="http://schemas.microsoft.com/office/drawing/2014/main" id="{EA0B3ADC-D57B-4506-869E-2F6531B5D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888" y="2517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s6</a:t>
            </a:r>
          </a:p>
        </p:txBody>
      </p:sp>
      <p:sp>
        <p:nvSpPr>
          <p:cNvPr id="134186" name="Text Box 43">
            <a:extLst>
              <a:ext uri="{FF2B5EF4-FFF2-40B4-BE49-F238E27FC236}">
                <a16:creationId xmlns:a16="http://schemas.microsoft.com/office/drawing/2014/main" id="{AA9DE5B6-0D72-4175-9474-F1C332187E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25177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acc</a:t>
            </a:r>
          </a:p>
        </p:txBody>
      </p:sp>
      <p:sp>
        <p:nvSpPr>
          <p:cNvPr id="134187" name="Text Box 44">
            <a:extLst>
              <a:ext uri="{FF2B5EF4-FFF2-40B4-BE49-F238E27FC236}">
                <a16:creationId xmlns:a16="http://schemas.microsoft.com/office/drawing/2014/main" id="{786B11C8-3A6D-42D2-982C-6B5B3FB1D7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888" y="2879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</a:p>
        </p:txBody>
      </p:sp>
      <p:sp>
        <p:nvSpPr>
          <p:cNvPr id="134188" name="Text Box 45">
            <a:extLst>
              <a:ext uri="{FF2B5EF4-FFF2-40B4-BE49-F238E27FC236}">
                <a16:creationId xmlns:a16="http://schemas.microsoft.com/office/drawing/2014/main" id="{49AFE66C-019C-495A-825B-A151BEBCD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3963" y="2879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s7</a:t>
            </a:r>
          </a:p>
        </p:txBody>
      </p:sp>
      <p:sp>
        <p:nvSpPr>
          <p:cNvPr id="134189" name="Text Box 46">
            <a:extLst>
              <a:ext uri="{FF2B5EF4-FFF2-40B4-BE49-F238E27FC236}">
                <a16:creationId xmlns:a16="http://schemas.microsoft.com/office/drawing/2014/main" id="{F40C860A-7488-464E-A6C8-71F0ACCE8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0525" y="2879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</a:p>
        </p:txBody>
      </p:sp>
      <p:sp>
        <p:nvSpPr>
          <p:cNvPr id="134190" name="Text Box 47">
            <a:extLst>
              <a:ext uri="{FF2B5EF4-FFF2-40B4-BE49-F238E27FC236}">
                <a16:creationId xmlns:a16="http://schemas.microsoft.com/office/drawing/2014/main" id="{04033DA8-3A6B-4093-8462-C767888F15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2879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</a:p>
        </p:txBody>
      </p:sp>
      <p:sp>
        <p:nvSpPr>
          <p:cNvPr id="134191" name="Text Box 48">
            <a:extLst>
              <a:ext uri="{FF2B5EF4-FFF2-40B4-BE49-F238E27FC236}">
                <a16:creationId xmlns:a16="http://schemas.microsoft.com/office/drawing/2014/main" id="{1028141B-B6C0-4948-8580-277B07460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888" y="3260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</a:p>
        </p:txBody>
      </p:sp>
      <p:sp>
        <p:nvSpPr>
          <p:cNvPr id="134192" name="Text Box 49">
            <a:extLst>
              <a:ext uri="{FF2B5EF4-FFF2-40B4-BE49-F238E27FC236}">
                <a16:creationId xmlns:a16="http://schemas.microsoft.com/office/drawing/2014/main" id="{09B67CD6-B348-4CF0-8842-B20523E8FB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3963" y="3260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</a:p>
        </p:txBody>
      </p:sp>
      <p:sp>
        <p:nvSpPr>
          <p:cNvPr id="134193" name="Text Box 50">
            <a:extLst>
              <a:ext uri="{FF2B5EF4-FFF2-40B4-BE49-F238E27FC236}">
                <a16:creationId xmlns:a16="http://schemas.microsoft.com/office/drawing/2014/main" id="{359959F0-9F73-4010-A928-AEFB2B9BFC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0525" y="3260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</a:p>
        </p:txBody>
      </p:sp>
      <p:sp>
        <p:nvSpPr>
          <p:cNvPr id="134194" name="Text Box 51">
            <a:extLst>
              <a:ext uri="{FF2B5EF4-FFF2-40B4-BE49-F238E27FC236}">
                <a16:creationId xmlns:a16="http://schemas.microsoft.com/office/drawing/2014/main" id="{F86E09F7-E9C4-4E42-A82A-4BAA0F91CA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3260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</a:p>
        </p:txBody>
      </p:sp>
      <p:sp>
        <p:nvSpPr>
          <p:cNvPr id="134195" name="Text Box 52">
            <a:extLst>
              <a:ext uri="{FF2B5EF4-FFF2-40B4-BE49-F238E27FC236}">
                <a16:creationId xmlns:a16="http://schemas.microsoft.com/office/drawing/2014/main" id="{096B41FF-FD27-4673-9DEB-A8D51A5107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3660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s5</a:t>
            </a:r>
          </a:p>
        </p:txBody>
      </p:sp>
      <p:sp>
        <p:nvSpPr>
          <p:cNvPr id="134196" name="Text Box 53">
            <a:extLst>
              <a:ext uri="{FF2B5EF4-FFF2-40B4-BE49-F238E27FC236}">
                <a16:creationId xmlns:a16="http://schemas.microsoft.com/office/drawing/2014/main" id="{4A727013-E1FF-47AF-AD50-882A5749E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6450" y="3660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</a:p>
        </p:txBody>
      </p:sp>
      <p:sp>
        <p:nvSpPr>
          <p:cNvPr id="134197" name="Text Box 54">
            <a:extLst>
              <a:ext uri="{FF2B5EF4-FFF2-40B4-BE49-F238E27FC236}">
                <a16:creationId xmlns:a16="http://schemas.microsoft.com/office/drawing/2014/main" id="{9FFD305B-2A48-4166-B1E2-9E312CC8B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3657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8</a:t>
            </a:r>
          </a:p>
        </p:txBody>
      </p:sp>
      <p:sp>
        <p:nvSpPr>
          <p:cNvPr id="134198" name="Text Box 55">
            <a:extLst>
              <a:ext uri="{FF2B5EF4-FFF2-40B4-BE49-F238E27FC236}">
                <a16:creationId xmlns:a16="http://schemas.microsoft.com/office/drawing/2014/main" id="{61FEF925-605A-461E-966C-F47E036A8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275" y="3657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2</a:t>
            </a:r>
          </a:p>
        </p:txBody>
      </p:sp>
      <p:sp>
        <p:nvSpPr>
          <p:cNvPr id="134199" name="Text Box 56">
            <a:extLst>
              <a:ext uri="{FF2B5EF4-FFF2-40B4-BE49-F238E27FC236}">
                <a16:creationId xmlns:a16="http://schemas.microsoft.com/office/drawing/2014/main" id="{935CD384-ECAE-4D24-B344-D9BC81525F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3657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3</a:t>
            </a:r>
          </a:p>
        </p:txBody>
      </p:sp>
      <p:sp>
        <p:nvSpPr>
          <p:cNvPr id="134200" name="Text Box 57">
            <a:extLst>
              <a:ext uri="{FF2B5EF4-FFF2-40B4-BE49-F238E27FC236}">
                <a16:creationId xmlns:a16="http://schemas.microsoft.com/office/drawing/2014/main" id="{376A97EB-7C39-48E3-A510-FA8538E719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888" y="4041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r6</a:t>
            </a:r>
          </a:p>
        </p:txBody>
      </p:sp>
      <p:sp>
        <p:nvSpPr>
          <p:cNvPr id="134201" name="Text Box 58">
            <a:extLst>
              <a:ext uri="{FF2B5EF4-FFF2-40B4-BE49-F238E27FC236}">
                <a16:creationId xmlns:a16="http://schemas.microsoft.com/office/drawing/2014/main" id="{777BB6FB-722D-43B8-A0A1-88936BCB5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3963" y="4041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r6</a:t>
            </a:r>
          </a:p>
        </p:txBody>
      </p:sp>
      <p:sp>
        <p:nvSpPr>
          <p:cNvPr id="134202" name="Text Box 59">
            <a:extLst>
              <a:ext uri="{FF2B5EF4-FFF2-40B4-BE49-F238E27FC236}">
                <a16:creationId xmlns:a16="http://schemas.microsoft.com/office/drawing/2014/main" id="{0B80D0EE-4C5E-4ECF-9A8A-11A974A5A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0525" y="4041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r6</a:t>
            </a:r>
          </a:p>
        </p:txBody>
      </p:sp>
      <p:sp>
        <p:nvSpPr>
          <p:cNvPr id="134203" name="Text Box 60">
            <a:extLst>
              <a:ext uri="{FF2B5EF4-FFF2-40B4-BE49-F238E27FC236}">
                <a16:creationId xmlns:a16="http://schemas.microsoft.com/office/drawing/2014/main" id="{74592C93-DE52-42CF-BE0D-6FD0BFF44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4041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r6</a:t>
            </a:r>
          </a:p>
        </p:txBody>
      </p:sp>
      <p:sp>
        <p:nvSpPr>
          <p:cNvPr id="134204" name="Text Box 61">
            <a:extLst>
              <a:ext uri="{FF2B5EF4-FFF2-40B4-BE49-F238E27FC236}">
                <a16:creationId xmlns:a16="http://schemas.microsoft.com/office/drawing/2014/main" id="{E4B3F0C6-1EFB-4816-B667-B91568867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403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s5</a:t>
            </a:r>
          </a:p>
        </p:txBody>
      </p:sp>
      <p:sp>
        <p:nvSpPr>
          <p:cNvPr id="134205" name="Text Box 62">
            <a:extLst>
              <a:ext uri="{FF2B5EF4-FFF2-40B4-BE49-F238E27FC236}">
                <a16:creationId xmlns:a16="http://schemas.microsoft.com/office/drawing/2014/main" id="{8ADDF4E4-8185-4F1F-8B36-74973A36B6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6450" y="4403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</a:p>
        </p:txBody>
      </p:sp>
      <p:sp>
        <p:nvSpPr>
          <p:cNvPr id="134206" name="Text Box 63">
            <a:extLst>
              <a:ext uri="{FF2B5EF4-FFF2-40B4-BE49-F238E27FC236}">
                <a16:creationId xmlns:a16="http://schemas.microsoft.com/office/drawing/2014/main" id="{5EED7422-C30B-4472-A9E9-B4AC9F9A9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275" y="4400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9</a:t>
            </a:r>
          </a:p>
        </p:txBody>
      </p:sp>
      <p:sp>
        <p:nvSpPr>
          <p:cNvPr id="134207" name="Text Box 64">
            <a:extLst>
              <a:ext uri="{FF2B5EF4-FFF2-40B4-BE49-F238E27FC236}">
                <a16:creationId xmlns:a16="http://schemas.microsoft.com/office/drawing/2014/main" id="{58FC30F2-31DB-4C60-9C44-8D050D8B0D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4400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3</a:t>
            </a:r>
          </a:p>
        </p:txBody>
      </p:sp>
      <p:sp>
        <p:nvSpPr>
          <p:cNvPr id="134208" name="Text Box 65">
            <a:extLst>
              <a:ext uri="{FF2B5EF4-FFF2-40B4-BE49-F238E27FC236}">
                <a16:creationId xmlns:a16="http://schemas.microsoft.com/office/drawing/2014/main" id="{B04B1C8D-78AA-4B62-9D1A-2ABD80E5B8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784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s5</a:t>
            </a:r>
          </a:p>
        </p:txBody>
      </p:sp>
      <p:sp>
        <p:nvSpPr>
          <p:cNvPr id="134209" name="Text Box 66">
            <a:extLst>
              <a:ext uri="{FF2B5EF4-FFF2-40B4-BE49-F238E27FC236}">
                <a16:creationId xmlns:a16="http://schemas.microsoft.com/office/drawing/2014/main" id="{640B9AE0-C308-41EF-87EE-B5760571B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6450" y="4784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</a:p>
        </p:txBody>
      </p:sp>
      <p:sp>
        <p:nvSpPr>
          <p:cNvPr id="134210" name="Text Box 67">
            <a:extLst>
              <a:ext uri="{FF2B5EF4-FFF2-40B4-BE49-F238E27FC236}">
                <a16:creationId xmlns:a16="http://schemas.microsoft.com/office/drawing/2014/main" id="{75C81E88-8E55-4793-820F-2D2E8B758D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4781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10</a:t>
            </a:r>
          </a:p>
        </p:txBody>
      </p:sp>
      <p:sp>
        <p:nvSpPr>
          <p:cNvPr id="134211" name="Text Box 68">
            <a:extLst>
              <a:ext uri="{FF2B5EF4-FFF2-40B4-BE49-F238E27FC236}">
                <a16:creationId xmlns:a16="http://schemas.microsoft.com/office/drawing/2014/main" id="{FA840F23-432D-4B02-8D04-8D643AE42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888" y="51466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s6</a:t>
            </a:r>
          </a:p>
        </p:txBody>
      </p:sp>
      <p:sp>
        <p:nvSpPr>
          <p:cNvPr id="134212" name="Text Box 69">
            <a:extLst>
              <a:ext uri="{FF2B5EF4-FFF2-40B4-BE49-F238E27FC236}">
                <a16:creationId xmlns:a16="http://schemas.microsoft.com/office/drawing/2014/main" id="{4FDD4950-948C-4485-9A57-7D55A9EB37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146675"/>
            <a:ext cx="593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s11</a:t>
            </a:r>
          </a:p>
        </p:txBody>
      </p:sp>
      <p:sp>
        <p:nvSpPr>
          <p:cNvPr id="134213" name="Text Box 70">
            <a:extLst>
              <a:ext uri="{FF2B5EF4-FFF2-40B4-BE49-F238E27FC236}">
                <a16:creationId xmlns:a16="http://schemas.microsoft.com/office/drawing/2014/main" id="{10BF355F-69F5-434E-8117-2D414BCC1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888" y="55276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r1</a:t>
            </a:r>
          </a:p>
        </p:txBody>
      </p:sp>
      <p:sp>
        <p:nvSpPr>
          <p:cNvPr id="134214" name="Text Box 71">
            <a:extLst>
              <a:ext uri="{FF2B5EF4-FFF2-40B4-BE49-F238E27FC236}">
                <a16:creationId xmlns:a16="http://schemas.microsoft.com/office/drawing/2014/main" id="{0BA21D59-6CC1-4AE3-A99B-39A1519EA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3963" y="55276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s7</a:t>
            </a:r>
          </a:p>
        </p:txBody>
      </p:sp>
      <p:sp>
        <p:nvSpPr>
          <p:cNvPr id="134215" name="Text Box 72">
            <a:extLst>
              <a:ext uri="{FF2B5EF4-FFF2-40B4-BE49-F238E27FC236}">
                <a16:creationId xmlns:a16="http://schemas.microsoft.com/office/drawing/2014/main" id="{7E04D617-33BC-4CF4-9249-DE75E85C11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0525" y="55276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r1</a:t>
            </a:r>
          </a:p>
        </p:txBody>
      </p:sp>
      <p:sp>
        <p:nvSpPr>
          <p:cNvPr id="134216" name="Text Box 73">
            <a:extLst>
              <a:ext uri="{FF2B5EF4-FFF2-40B4-BE49-F238E27FC236}">
                <a16:creationId xmlns:a16="http://schemas.microsoft.com/office/drawing/2014/main" id="{C1F20E7D-828A-467C-818E-A31784A75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55276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r1</a:t>
            </a:r>
          </a:p>
        </p:txBody>
      </p:sp>
      <p:sp>
        <p:nvSpPr>
          <p:cNvPr id="134217" name="Text Box 74">
            <a:extLst>
              <a:ext uri="{FF2B5EF4-FFF2-40B4-BE49-F238E27FC236}">
                <a16:creationId xmlns:a16="http://schemas.microsoft.com/office/drawing/2014/main" id="{DE45B337-EEB7-4153-85B2-949157DEB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888" y="5927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</a:p>
        </p:txBody>
      </p:sp>
      <p:sp>
        <p:nvSpPr>
          <p:cNvPr id="134218" name="Text Box 75">
            <a:extLst>
              <a:ext uri="{FF2B5EF4-FFF2-40B4-BE49-F238E27FC236}">
                <a16:creationId xmlns:a16="http://schemas.microsoft.com/office/drawing/2014/main" id="{23A57250-012E-433C-9156-52B9B27C7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3963" y="5927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</a:p>
        </p:txBody>
      </p:sp>
      <p:sp>
        <p:nvSpPr>
          <p:cNvPr id="134219" name="Text Box 76">
            <a:extLst>
              <a:ext uri="{FF2B5EF4-FFF2-40B4-BE49-F238E27FC236}">
                <a16:creationId xmlns:a16="http://schemas.microsoft.com/office/drawing/2014/main" id="{FF1666BA-DF2B-4B5C-A64A-2061CDA13E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0525" y="5927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</a:p>
        </p:txBody>
      </p:sp>
      <p:sp>
        <p:nvSpPr>
          <p:cNvPr id="134220" name="Text Box 77">
            <a:extLst>
              <a:ext uri="{FF2B5EF4-FFF2-40B4-BE49-F238E27FC236}">
                <a16:creationId xmlns:a16="http://schemas.microsoft.com/office/drawing/2014/main" id="{E6536FB8-B559-4327-85E0-8BC5B8170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5927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</a:p>
        </p:txBody>
      </p:sp>
      <p:sp>
        <p:nvSpPr>
          <p:cNvPr id="134221" name="Text Box 78">
            <a:extLst>
              <a:ext uri="{FF2B5EF4-FFF2-40B4-BE49-F238E27FC236}">
                <a16:creationId xmlns:a16="http://schemas.microsoft.com/office/drawing/2014/main" id="{0238623C-9B9B-47DA-99E0-CACAAC556A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888" y="6308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r5</a:t>
            </a:r>
          </a:p>
        </p:txBody>
      </p:sp>
      <p:sp>
        <p:nvSpPr>
          <p:cNvPr id="134222" name="Text Box 79">
            <a:extLst>
              <a:ext uri="{FF2B5EF4-FFF2-40B4-BE49-F238E27FC236}">
                <a16:creationId xmlns:a16="http://schemas.microsoft.com/office/drawing/2014/main" id="{15EB483D-8BA0-40A1-943E-C0356E781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3963" y="6308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r5</a:t>
            </a:r>
          </a:p>
        </p:txBody>
      </p:sp>
      <p:sp>
        <p:nvSpPr>
          <p:cNvPr id="134223" name="Text Box 80">
            <a:extLst>
              <a:ext uri="{FF2B5EF4-FFF2-40B4-BE49-F238E27FC236}">
                <a16:creationId xmlns:a16="http://schemas.microsoft.com/office/drawing/2014/main" id="{2B2D6FDC-83C9-482D-BAF7-C1DF95A79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0525" y="6308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r5</a:t>
            </a:r>
          </a:p>
        </p:txBody>
      </p:sp>
      <p:sp>
        <p:nvSpPr>
          <p:cNvPr id="134224" name="Text Box 81">
            <a:extLst>
              <a:ext uri="{FF2B5EF4-FFF2-40B4-BE49-F238E27FC236}">
                <a16:creationId xmlns:a16="http://schemas.microsoft.com/office/drawing/2014/main" id="{AB24B22D-E301-47B5-8754-53329143F9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6308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r5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86D4E172-092E-4917-9AC3-A583323E03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4.48  </a:t>
            </a:r>
            <a:r>
              <a:rPr lang="zh-CN" altLang="en-US"/>
              <a:t>（续）</a:t>
            </a:r>
          </a:p>
        </p:txBody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99F7474E-B287-4FE5-B5AF-BC1CCA1201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状态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  <a:r>
              <a:rPr lang="zh-CN" altLang="en-US" dirty="0"/>
              <a:t>，</a:t>
            </a:r>
            <a:r>
              <a:rPr lang="en-US" altLang="zh-CN" dirty="0"/>
              <a:t>7</a:t>
            </a:r>
            <a:r>
              <a:rPr lang="zh-CN" altLang="en-US" dirty="0"/>
              <a:t>的</a:t>
            </a:r>
            <a:r>
              <a:rPr lang="en-US" altLang="zh-CN" dirty="0"/>
              <a:t>action</a:t>
            </a:r>
            <a:r>
              <a:rPr lang="zh-CN" altLang="en-US" dirty="0"/>
              <a:t>行相同</a:t>
            </a:r>
          </a:p>
          <a:p>
            <a:pPr lvl="1" eaLnBrk="1" hangingPunct="1"/>
            <a:r>
              <a:rPr lang="zh-CN" altLang="en-US" dirty="0"/>
              <a:t>列表：</a:t>
            </a:r>
            <a:r>
              <a:rPr lang="en-US" altLang="zh-CN" dirty="0"/>
              <a:t>(</a:t>
            </a:r>
            <a:r>
              <a:rPr lang="en-US" altLang="zh-CN" b="1" dirty="0"/>
              <a:t>id</a:t>
            </a:r>
            <a:r>
              <a:rPr lang="en-US" altLang="zh-CN" dirty="0"/>
              <a:t>, s5), ( (, s4), (any, error)</a:t>
            </a:r>
          </a:p>
          <a:p>
            <a:pPr eaLnBrk="1" hangingPunct="1"/>
            <a:r>
              <a:rPr lang="zh-CN" altLang="en-US" dirty="0"/>
              <a:t>状态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sz="2800" dirty="0">
                <a:solidFill>
                  <a:srgbClr val="3333CC"/>
                </a:solidFill>
              </a:rPr>
              <a:t>(+, s6), ($, acc), (any, error)</a:t>
            </a:r>
          </a:p>
          <a:p>
            <a:pPr eaLnBrk="1" hangingPunct="1"/>
            <a:r>
              <a:rPr lang="en-US" altLang="zh-CN" dirty="0">
                <a:sym typeface="Wingdings" panose="05000000000000000000" pitchFamily="2" charset="2"/>
              </a:rPr>
              <a:t>8</a:t>
            </a:r>
            <a:r>
              <a:rPr lang="zh-CN" altLang="en-US" dirty="0">
                <a:sym typeface="Wingdings" panose="05000000000000000000" pitchFamily="2" charset="2"/>
              </a:rPr>
              <a:t>：</a:t>
            </a:r>
            <a:r>
              <a:rPr lang="en-US" altLang="zh-CN" sz="2800" dirty="0">
                <a:solidFill>
                  <a:srgbClr val="3333CC"/>
                </a:solidFill>
                <a:sym typeface="Wingdings" panose="05000000000000000000" pitchFamily="2" charset="2"/>
              </a:rPr>
              <a:t>(+, s6), ( ), s11), (any, error)</a:t>
            </a:r>
          </a:p>
          <a:p>
            <a:pPr eaLnBrk="1" hangingPunct="1"/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error</a:t>
            </a:r>
            <a:r>
              <a:rPr lang="en-US" altLang="zh-CN" dirty="0">
                <a:sym typeface="Wingdings" panose="05000000000000000000" pitchFamily="2" charset="2"/>
              </a:rPr>
              <a:t>r2</a:t>
            </a:r>
            <a:r>
              <a:rPr lang="zh-CN" altLang="en-US" dirty="0">
                <a:sym typeface="Wingdings" panose="05000000000000000000" pitchFamily="2" charset="2"/>
              </a:rPr>
              <a:t>，错误推迟，</a:t>
            </a:r>
            <a:r>
              <a:rPr lang="en-US" altLang="zh-CN" sz="2800" dirty="0">
                <a:solidFill>
                  <a:srgbClr val="3333CC"/>
                </a:solidFill>
              </a:rPr>
              <a:t>(*, s7), (any, r2)</a:t>
            </a:r>
          </a:p>
          <a:p>
            <a:pPr eaLnBrk="1" hangingPunct="1"/>
            <a:r>
              <a:rPr lang="en-US" altLang="zh-CN" dirty="0">
                <a:sym typeface="Wingdings" panose="05000000000000000000" pitchFamily="2" charset="2"/>
              </a:rPr>
              <a:t>9</a:t>
            </a:r>
            <a:r>
              <a:rPr lang="zh-CN" altLang="en-US" dirty="0">
                <a:sym typeface="Wingdings" panose="05000000000000000000" pitchFamily="2" charset="2"/>
              </a:rPr>
              <a:t>：</a:t>
            </a:r>
            <a:r>
              <a:rPr lang="en-US" altLang="zh-CN" sz="2800" dirty="0">
                <a:solidFill>
                  <a:srgbClr val="3333CC"/>
                </a:solidFill>
                <a:sym typeface="Wingdings" panose="05000000000000000000" pitchFamily="2" charset="2"/>
              </a:rPr>
              <a:t>(*, s7), (any, r1)</a:t>
            </a:r>
          </a:p>
          <a:p>
            <a:pPr eaLnBrk="1" hangingPunct="1"/>
            <a:r>
              <a:rPr lang="en-US" altLang="zh-CN" dirty="0"/>
              <a:t>3</a:t>
            </a:r>
            <a:r>
              <a:rPr lang="zh-CN" altLang="en-US" dirty="0"/>
              <a:t>：</a:t>
            </a:r>
            <a:r>
              <a:rPr lang="en-US" altLang="zh-CN" dirty="0"/>
              <a:t>error</a:t>
            </a:r>
            <a:r>
              <a:rPr lang="en-US" altLang="zh-CN" dirty="0">
                <a:sym typeface="Wingdings" panose="05000000000000000000" pitchFamily="2" charset="2"/>
              </a:rPr>
              <a:t>r4</a:t>
            </a:r>
            <a:r>
              <a:rPr lang="zh-CN" altLang="en-US" dirty="0">
                <a:sym typeface="Wingdings" panose="05000000000000000000" pitchFamily="2" charset="2"/>
              </a:rPr>
              <a:t>，</a:t>
            </a:r>
            <a:r>
              <a:rPr lang="en-US" altLang="zh-CN" sz="2800" dirty="0">
                <a:solidFill>
                  <a:srgbClr val="3333CC"/>
                </a:solidFill>
                <a:sym typeface="Wingdings" panose="05000000000000000000" pitchFamily="2" charset="2"/>
              </a:rPr>
              <a:t>(any, r4)</a:t>
            </a:r>
            <a:r>
              <a:rPr lang="zh-CN" altLang="en-US" dirty="0">
                <a:sym typeface="Wingdings" panose="05000000000000000000" pitchFamily="2" charset="2"/>
              </a:rPr>
              <a:t>，</a:t>
            </a:r>
            <a:r>
              <a:rPr lang="en-US" altLang="zh-CN" dirty="0">
                <a:sym typeface="Wingdings" panose="05000000000000000000" pitchFamily="2" charset="2"/>
              </a:rPr>
              <a:t>5</a:t>
            </a:r>
            <a:r>
              <a:rPr lang="zh-CN" altLang="en-US" dirty="0">
                <a:sym typeface="Wingdings" panose="05000000000000000000" pitchFamily="2" charset="2"/>
              </a:rPr>
              <a:t>、</a:t>
            </a:r>
            <a:r>
              <a:rPr lang="en-US" altLang="zh-CN" dirty="0">
                <a:sym typeface="Wingdings" panose="05000000000000000000" pitchFamily="2" charset="2"/>
              </a:rPr>
              <a:t>10</a:t>
            </a:r>
            <a:r>
              <a:rPr lang="zh-CN" altLang="en-US" dirty="0">
                <a:sym typeface="Wingdings" panose="05000000000000000000" pitchFamily="2" charset="2"/>
              </a:rPr>
              <a:t>、</a:t>
            </a:r>
            <a:r>
              <a:rPr lang="en-US" altLang="zh-CN" dirty="0">
                <a:sym typeface="Wingdings" panose="05000000000000000000" pitchFamily="2" charset="2"/>
              </a:rPr>
              <a:t>11</a:t>
            </a:r>
            <a:r>
              <a:rPr lang="zh-CN" altLang="en-US" dirty="0">
                <a:sym typeface="Wingdings" panose="05000000000000000000" pitchFamily="2" charset="2"/>
              </a:rPr>
              <a:t>类似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>
            <a:extLst>
              <a:ext uri="{FF2B5EF4-FFF2-40B4-BE49-F238E27FC236}">
                <a16:creationId xmlns:a16="http://schemas.microsoft.com/office/drawing/2014/main" id="{85BDEC0A-C4F2-4D25-AFFE-326929BBA0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goto</a:t>
            </a:r>
            <a:r>
              <a:rPr lang="zh-CN" altLang="en-US"/>
              <a:t>表的压缩</a:t>
            </a:r>
          </a:p>
        </p:txBody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CEED99AF-9041-47D5-8B9D-CE2E8AFBDC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00600"/>
          </a:xfrm>
        </p:spPr>
        <p:txBody>
          <a:bodyPr/>
          <a:lstStyle/>
          <a:p>
            <a:pPr eaLnBrk="1" hangingPunct="1"/>
            <a:r>
              <a:rPr lang="zh-CN" altLang="en-US"/>
              <a:t>与</a:t>
            </a:r>
            <a:r>
              <a:rPr lang="en-US" altLang="zh-CN"/>
              <a:t>action</a:t>
            </a:r>
            <a:r>
              <a:rPr lang="zh-CN" altLang="en-US"/>
              <a:t>表不同，按列压缩，表的每列</a:t>
            </a:r>
            <a:r>
              <a:rPr lang="zh-CN" altLang="en-US">
                <a:sym typeface="Wingdings" panose="05000000000000000000" pitchFamily="2" charset="2"/>
              </a:rPr>
              <a:t>用列表存储，即每个非终结符一个列表</a:t>
            </a:r>
          </a:p>
          <a:p>
            <a:pPr lvl="1" eaLnBrk="1" hangingPunct="1"/>
            <a:r>
              <a:rPr lang="zh-CN" altLang="en-US"/>
              <a:t>若非终结符</a:t>
            </a:r>
            <a:r>
              <a:rPr lang="en-US" altLang="zh-CN"/>
              <a:t>A</a:t>
            </a:r>
            <a:r>
              <a:rPr lang="zh-CN" altLang="en-US"/>
              <a:t>的列表的某个表项为：</a:t>
            </a:r>
            <a:br>
              <a:rPr lang="zh-CN" altLang="en-US"/>
            </a:br>
            <a:r>
              <a:rPr lang="en-US" altLang="zh-CN"/>
              <a:t>(current_state, next_state)</a:t>
            </a:r>
            <a:br>
              <a:rPr lang="en-US" altLang="zh-CN">
                <a:sym typeface="Wingdings" panose="05000000000000000000" pitchFamily="2" charset="2"/>
              </a:rPr>
            </a:br>
            <a:r>
              <a:rPr lang="zh-CN" altLang="en-US">
                <a:sym typeface="Wingdings" panose="05000000000000000000" pitchFamily="2" charset="2"/>
              </a:rPr>
              <a:t>表示在</a:t>
            </a:r>
            <a:r>
              <a:rPr lang="en-US" altLang="zh-CN">
                <a:sym typeface="Wingdings" panose="05000000000000000000" pitchFamily="2" charset="2"/>
              </a:rPr>
              <a:t>goto</a:t>
            </a:r>
            <a:r>
              <a:rPr lang="zh-CN" altLang="en-US">
                <a:sym typeface="Wingdings" panose="05000000000000000000" pitchFamily="2" charset="2"/>
              </a:rPr>
              <a:t>表中</a:t>
            </a:r>
            <a:br>
              <a:rPr lang="zh-CN" altLang="en-US">
                <a:sym typeface="Wingdings" panose="05000000000000000000" pitchFamily="2" charset="2"/>
              </a:rPr>
            </a:br>
            <a:r>
              <a:rPr lang="en-US" altLang="zh-CN">
                <a:sym typeface="Wingdings" panose="05000000000000000000" pitchFamily="2" charset="2"/>
              </a:rPr>
              <a:t>goto[current_state, A] = next_state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E3544FFB-0AA5-4071-8081-E012726B7F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goto</a:t>
            </a:r>
            <a:r>
              <a:rPr lang="zh-CN" altLang="en-US"/>
              <a:t>表的压缩方法的设计思路</a:t>
            </a:r>
          </a:p>
        </p:txBody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415C32B2-A126-41D6-B378-6C16F35974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648200"/>
          </a:xfrm>
        </p:spPr>
        <p:txBody>
          <a:bodyPr/>
          <a:lstStyle/>
          <a:p>
            <a:pPr eaLnBrk="1" hangingPunct="1"/>
            <a:r>
              <a:rPr lang="zh-CN" altLang="en-US" sz="2800"/>
              <a:t>每列表项（状态）很少</a:t>
            </a:r>
          </a:p>
          <a:p>
            <a:pPr eaLnBrk="1" hangingPunct="1"/>
            <a:r>
              <a:rPr lang="en-US" altLang="zh-CN" sz="2800"/>
              <a:t>goto(I</a:t>
            </a:r>
            <a:r>
              <a:rPr lang="en-US" altLang="zh-CN" sz="2800" baseline="-25000"/>
              <a:t>i</a:t>
            </a:r>
            <a:r>
              <a:rPr lang="en-US" altLang="zh-CN" sz="2800"/>
              <a:t>, A)=I</a:t>
            </a:r>
            <a:r>
              <a:rPr lang="en-US" altLang="zh-CN" sz="2800" baseline="-25000"/>
              <a:t>j</a:t>
            </a:r>
            <a:r>
              <a:rPr lang="zh-CN" altLang="en-US" sz="2800"/>
              <a:t>，</a:t>
            </a:r>
            <a:r>
              <a:rPr lang="en-US" altLang="zh-CN" sz="2800"/>
              <a:t>I</a:t>
            </a:r>
            <a:r>
              <a:rPr lang="en-US" altLang="zh-CN" sz="2800" baseline="-25000"/>
              <a:t>j</a:t>
            </a:r>
            <a:r>
              <a:rPr lang="zh-CN" altLang="en-US" sz="2800"/>
              <a:t>某些项目中，</a:t>
            </a:r>
            <a:r>
              <a:rPr lang="en-US" altLang="zh-CN" sz="2800"/>
              <a:t>A</a:t>
            </a:r>
            <a:r>
              <a:rPr lang="zh-CN" altLang="en-US" sz="2800"/>
              <a:t>紧挨在</a:t>
            </a:r>
            <a:r>
              <a:rPr lang="en-US" altLang="zh-CN" sz="2800"/>
              <a:t>·</a:t>
            </a:r>
            <a:r>
              <a:rPr lang="zh-CN" altLang="en-US" sz="2800"/>
              <a:t>左边</a:t>
            </a:r>
            <a:br>
              <a:rPr lang="zh-CN" altLang="en-US" sz="2800"/>
            </a:br>
            <a:r>
              <a:rPr lang="zh-CN" altLang="en-US" sz="2800"/>
              <a:t>状态</a:t>
            </a:r>
            <a:r>
              <a:rPr lang="en-US" altLang="zh-CN" sz="2800"/>
              <a:t>j</a:t>
            </a:r>
            <a:r>
              <a:rPr lang="zh-CN" altLang="en-US" sz="2800"/>
              <a:t>出现在第</a:t>
            </a:r>
            <a:r>
              <a:rPr lang="en-US" altLang="zh-CN" sz="2800"/>
              <a:t>i</a:t>
            </a:r>
            <a:r>
              <a:rPr lang="zh-CN" altLang="en-US" sz="2800"/>
              <a:t>行第</a:t>
            </a:r>
            <a:r>
              <a:rPr lang="en-US" altLang="zh-CN" sz="2800"/>
              <a:t>A</a:t>
            </a:r>
            <a:r>
              <a:rPr lang="zh-CN" altLang="en-US" sz="2800"/>
              <a:t>列</a:t>
            </a:r>
            <a:br>
              <a:rPr lang="zh-CN" altLang="en-US" sz="2800"/>
            </a:br>
            <a:r>
              <a:rPr lang="zh-CN" altLang="en-US" sz="2800"/>
              <a:t>不存在项目集，对</a:t>
            </a:r>
            <a:r>
              <a:rPr lang="en-US" altLang="zh-CN" sz="2800"/>
              <a:t>X</a:t>
            </a:r>
            <a:r>
              <a:rPr lang="en-US" altLang="zh-CN" sz="2800">
                <a:ea typeface="Arial Unicode MS" pitchFamily="34" charset="-122"/>
              </a:rPr>
              <a:t>≠</a:t>
            </a:r>
            <a:r>
              <a:rPr lang="en-US" altLang="zh-CN" sz="2800"/>
              <a:t>Y</a:t>
            </a:r>
            <a:r>
              <a:rPr lang="zh-CN" altLang="en-US" sz="2800"/>
              <a:t>，既有项目</a:t>
            </a:r>
            <a:r>
              <a:rPr lang="en-US" altLang="zh-CN" sz="2800"/>
              <a:t>X</a:t>
            </a:r>
            <a:r>
              <a:rPr lang="zh-CN" altLang="en-US" sz="2800"/>
              <a:t>在</a:t>
            </a:r>
            <a:r>
              <a:rPr lang="en-US" altLang="zh-CN" sz="2800"/>
              <a:t>·</a:t>
            </a:r>
            <a:r>
              <a:rPr lang="zh-CN" altLang="en-US" sz="2800"/>
              <a:t>左边，也有项目</a:t>
            </a:r>
            <a:r>
              <a:rPr lang="en-US" altLang="zh-CN" sz="2800"/>
              <a:t>Y</a:t>
            </a:r>
            <a:r>
              <a:rPr lang="zh-CN" altLang="en-US" sz="2800"/>
              <a:t>在</a:t>
            </a:r>
            <a:r>
              <a:rPr lang="en-US" altLang="zh-CN" sz="2800"/>
              <a:t>·</a:t>
            </a:r>
            <a:r>
              <a:rPr lang="zh-CN" altLang="en-US" sz="2800"/>
              <a:t>左边</a:t>
            </a:r>
            <a:br>
              <a:rPr lang="zh-CN" altLang="en-US" sz="2800"/>
            </a:br>
            <a:r>
              <a:rPr lang="zh-CN" altLang="en-US" sz="2800">
                <a:sym typeface="Wingdings" panose="05000000000000000000" pitchFamily="2" charset="2"/>
              </a:rPr>
              <a:t></a:t>
            </a:r>
            <a:r>
              <a:rPr lang="zh-CN" altLang="en-US" sz="2800"/>
              <a:t>每个状态只在一列中出现</a:t>
            </a:r>
          </a:p>
          <a:p>
            <a:pPr eaLnBrk="1" hangingPunct="1"/>
            <a:r>
              <a:rPr lang="zh-CN" altLang="en-US" sz="2800"/>
              <a:t>正常项替换</a:t>
            </a:r>
            <a:r>
              <a:rPr lang="en-US" altLang="zh-CN" sz="2800"/>
              <a:t>error</a:t>
            </a:r>
            <a:r>
              <a:rPr lang="zh-CN" altLang="en-US" sz="2800"/>
              <a:t>项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>
            <a:extLst>
              <a:ext uri="{FF2B5EF4-FFF2-40B4-BE49-F238E27FC236}">
                <a16:creationId xmlns:a16="http://schemas.microsoft.com/office/drawing/2014/main" id="{22CEFAB8-0F9C-4744-83E5-13FF74ADB1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4.49</a:t>
            </a:r>
          </a:p>
        </p:txBody>
      </p:sp>
      <p:sp>
        <p:nvSpPr>
          <p:cNvPr id="138243" name="Rectangle 3">
            <a:extLst>
              <a:ext uri="{FF2B5EF4-FFF2-40B4-BE49-F238E27FC236}">
                <a16:creationId xmlns:a16="http://schemas.microsoft.com/office/drawing/2014/main" id="{60502807-2149-40D8-BF42-6722F6392A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</a:t>
            </a:r>
            <a:r>
              <a:rPr lang="zh-CN" altLang="en-US"/>
              <a:t>：</a:t>
            </a:r>
            <a:r>
              <a:rPr lang="en-US" altLang="zh-CN">
                <a:solidFill>
                  <a:srgbClr val="3333CC"/>
                </a:solidFill>
              </a:rPr>
              <a:t>(7, 10), (any, 3)</a:t>
            </a:r>
          </a:p>
          <a:p>
            <a:pPr eaLnBrk="1" hangingPunct="1"/>
            <a:r>
              <a:rPr lang="en-US" altLang="zh-CN"/>
              <a:t>T</a:t>
            </a:r>
            <a:r>
              <a:rPr lang="zh-CN" altLang="en-US"/>
              <a:t>：</a:t>
            </a:r>
            <a:r>
              <a:rPr lang="en-US" altLang="zh-CN">
                <a:solidFill>
                  <a:srgbClr val="3333CC"/>
                </a:solidFill>
              </a:rPr>
              <a:t>(6, 9), (any, 2)</a:t>
            </a:r>
          </a:p>
          <a:p>
            <a:pPr eaLnBrk="1" hangingPunct="1"/>
            <a:r>
              <a:rPr lang="en-US" altLang="zh-CN"/>
              <a:t>E</a:t>
            </a:r>
            <a:r>
              <a:rPr lang="zh-CN" altLang="en-US"/>
              <a:t>：</a:t>
            </a:r>
            <a:r>
              <a:rPr lang="en-US" altLang="zh-CN">
                <a:solidFill>
                  <a:srgbClr val="3333CC"/>
                </a:solidFill>
              </a:rPr>
              <a:t>(4, 8), (any, 1)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>
            <a:extLst>
              <a:ext uri="{FF2B5EF4-FFF2-40B4-BE49-F238E27FC236}">
                <a16:creationId xmlns:a16="http://schemas.microsoft.com/office/drawing/2014/main" id="{B77BE9B7-4DF4-43B2-8472-9E4883EEDF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4.8  </a:t>
            </a:r>
            <a:r>
              <a:rPr lang="zh-CN" altLang="en-US"/>
              <a:t>使用二义性文法</a:t>
            </a:r>
          </a:p>
        </p:txBody>
      </p:sp>
      <p:sp>
        <p:nvSpPr>
          <p:cNvPr id="139267" name="Rectangle 3">
            <a:extLst>
              <a:ext uri="{FF2B5EF4-FFF2-40B4-BE49-F238E27FC236}">
                <a16:creationId xmlns:a16="http://schemas.microsoft.com/office/drawing/2014/main" id="{DA1D981B-F033-44AA-ACE8-7AC2F63FD0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不适合</a:t>
            </a:r>
            <a:r>
              <a:rPr lang="en-US" altLang="zh-CN"/>
              <a:t>LR</a:t>
            </a:r>
            <a:r>
              <a:rPr lang="zh-CN" altLang="en-US"/>
              <a:t>，冲突：移进</a:t>
            </a:r>
            <a:r>
              <a:rPr lang="en-US" altLang="zh-CN"/>
              <a:t>/</a:t>
            </a:r>
            <a:r>
              <a:rPr lang="zh-CN" altLang="en-US"/>
              <a:t>归约</a:t>
            </a:r>
            <a:r>
              <a:rPr lang="en-US" altLang="zh-CN"/>
              <a:t>, </a:t>
            </a:r>
            <a:r>
              <a:rPr lang="zh-CN" altLang="en-US"/>
              <a:t>归约</a:t>
            </a:r>
            <a:r>
              <a:rPr lang="en-US" altLang="zh-CN"/>
              <a:t>/</a:t>
            </a:r>
            <a:r>
              <a:rPr lang="zh-CN" altLang="en-US"/>
              <a:t>归约</a:t>
            </a:r>
          </a:p>
          <a:p>
            <a:pPr eaLnBrk="1" hangingPunct="1"/>
            <a:r>
              <a:rPr lang="zh-CN" altLang="en-US"/>
              <a:t>某些情况下是有用的</a:t>
            </a:r>
          </a:p>
          <a:p>
            <a:pPr lvl="1" eaLnBrk="1" hangingPunct="1"/>
            <a:r>
              <a:rPr lang="zh-CN" altLang="en-US"/>
              <a:t>表达式，更简洁、更自然</a:t>
            </a:r>
          </a:p>
          <a:p>
            <a:pPr lvl="1" eaLnBrk="1" hangingPunct="1"/>
            <a:r>
              <a:rPr lang="zh-CN" altLang="en-US"/>
              <a:t>区分普通语法结构和特殊优化情况</a:t>
            </a:r>
          </a:p>
          <a:p>
            <a:pPr eaLnBrk="1" hangingPunct="1"/>
            <a:r>
              <a:rPr lang="zh-CN" altLang="en-US"/>
              <a:t>特殊方法使二义性文法可以使用</a:t>
            </a:r>
          </a:p>
          <a:p>
            <a:pPr eaLnBrk="1" hangingPunct="1"/>
            <a:r>
              <a:rPr lang="zh-CN" altLang="en-US"/>
              <a:t>文法二义性，语言描述无歧义</a:t>
            </a:r>
          </a:p>
          <a:p>
            <a:pPr lvl="1" eaLnBrk="1" hangingPunct="1"/>
            <a:r>
              <a:rPr lang="zh-CN" altLang="en-US"/>
              <a:t>消除歧义规则</a:t>
            </a:r>
            <a:r>
              <a:rPr lang="zh-CN" altLang="en-US">
                <a:sym typeface="Wingdings" panose="05000000000000000000" pitchFamily="2" charset="2"/>
              </a:rPr>
              <a:t>唯一语法树</a:t>
            </a:r>
            <a:endParaRPr lang="zh-CN" altLang="en-US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>
            <a:extLst>
              <a:ext uri="{FF2B5EF4-FFF2-40B4-BE49-F238E27FC236}">
                <a16:creationId xmlns:a16="http://schemas.microsoft.com/office/drawing/2014/main" id="{9E226E64-4AAD-4BBA-BD23-2ED1278366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4.8.1  </a:t>
            </a:r>
            <a:r>
              <a:rPr lang="zh-CN" altLang="en-US"/>
              <a:t>使用优先级和结合率</a:t>
            </a:r>
          </a:p>
        </p:txBody>
      </p:sp>
      <p:sp>
        <p:nvSpPr>
          <p:cNvPr id="140291" name="Rectangle 4">
            <a:extLst>
              <a:ext uri="{FF2B5EF4-FFF2-40B4-BE49-F238E27FC236}">
                <a16:creationId xmlns:a16="http://schemas.microsoft.com/office/drawing/2014/main" id="{ED460BDF-FA77-4197-97C1-D6D600149B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marL="0" indent="0" eaLnBrk="1" hangingPunct="1">
              <a:lnSpc>
                <a:spcPct val="8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400" b="1"/>
              <a:t>E’ </a:t>
            </a:r>
            <a:r>
              <a:rPr kumimoji="0" lang="en-US" altLang="zh-CN" sz="2400" b="1">
                <a:sym typeface="Symbol" panose="05050102010706020507" pitchFamily="18" charset="2"/>
              </a:rPr>
              <a:t> E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kumimoji="0" lang="en-US" altLang="zh-CN" sz="2400" b="1"/>
              <a:t>E </a:t>
            </a:r>
            <a:r>
              <a:rPr kumimoji="0" lang="en-US" altLang="zh-CN" sz="2400" b="1">
                <a:sym typeface="Symbol" panose="05050102010706020507" pitchFamily="18" charset="2"/>
              </a:rPr>
              <a:t>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 b="1">
                <a:sym typeface="Symbol" panose="05050102010706020507" pitchFamily="18" charset="2"/>
              </a:rPr>
              <a:t> T  |  T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kumimoji="0" lang="en-US" altLang="zh-CN" sz="2400" b="1">
                <a:sym typeface="Symbol" panose="05050102010706020507" pitchFamily="18" charset="2"/>
              </a:rPr>
              <a:t>T  T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kumimoji="0" lang="en-US" altLang="zh-CN" sz="2400" b="1">
                <a:sym typeface="Symbol" panose="05050102010706020507" pitchFamily="18" charset="2"/>
              </a:rPr>
              <a:t> F  |  F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kumimoji="0" lang="en-US" altLang="zh-CN" sz="2400" b="1">
                <a:sym typeface="Symbol" panose="05050102010706020507" pitchFamily="18" charset="2"/>
              </a:rPr>
              <a:t>F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b="1">
                <a:sym typeface="Symbol" panose="05050102010706020507" pitchFamily="18" charset="2"/>
              </a:rPr>
              <a:t> E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 b="1">
                <a:sym typeface="Symbol" panose="05050102010706020507" pitchFamily="18" charset="2"/>
              </a:rPr>
              <a:t>  | 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</a:p>
          <a:p>
            <a:pPr marL="0" indent="0" eaLnBrk="1" hangingPunct="1"/>
            <a:r>
              <a:rPr lang="zh-CN" altLang="en-US"/>
              <a:t>原始文法为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1. E 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zh-CN" sz="2400" b="1">
                <a:sym typeface="Symbol" panose="05050102010706020507" pitchFamily="18" charset="2"/>
              </a:rPr>
              <a:t>E 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2. E 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lang="en-US" altLang="zh-CN" sz="2400" b="1">
                <a:sym typeface="Symbol" panose="05050102010706020507" pitchFamily="18" charset="2"/>
              </a:rPr>
              <a:t>E 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3. E 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zh-CN" sz="2400" b="1">
                <a:sym typeface="Symbol" panose="05050102010706020507" pitchFamily="18" charset="2"/>
              </a:rPr>
              <a:t>E)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4. E 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endParaRPr lang="en-US" altLang="zh-CN"/>
          </a:p>
        </p:txBody>
      </p:sp>
      <p:sp>
        <p:nvSpPr>
          <p:cNvPr id="140292" name="Rectangle 5">
            <a:extLst>
              <a:ext uri="{FF2B5EF4-FFF2-40B4-BE49-F238E27FC236}">
                <a16:creationId xmlns:a16="http://schemas.microsoft.com/office/drawing/2014/main" id="{A0F37BCD-4821-4A1C-9938-CB0E5D0EBE1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886200" y="2486025"/>
            <a:ext cx="45720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hlink"/>
                </a:solidFill>
              </a:rPr>
              <a:t>优点：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hlink"/>
                </a:solidFill>
              </a:rPr>
              <a:t>容易改变运算符优先级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hlink"/>
                </a:solidFill>
              </a:rPr>
              <a:t>无</a:t>
            </a:r>
            <a:r>
              <a:rPr kumimoji="0" lang="en-US" altLang="zh-CN" sz="2400">
                <a:solidFill>
                  <a:schemeClr val="hlink"/>
                </a:solidFill>
              </a:rPr>
              <a:t>E</a:t>
            </a:r>
            <a:r>
              <a:rPr kumimoji="0" lang="en-US" altLang="zh-CN" sz="2400">
                <a:solidFill>
                  <a:schemeClr val="hlink"/>
                </a:solidFill>
                <a:sym typeface="Symbol" panose="05050102010706020507" pitchFamily="18" charset="2"/>
              </a:rPr>
              <a:t>T</a:t>
            </a:r>
            <a:r>
              <a:rPr kumimoji="0" lang="zh-CN" altLang="en-US" sz="2400">
                <a:solidFill>
                  <a:schemeClr val="hlink"/>
                </a:solidFill>
                <a:sym typeface="Symbol" panose="05050102010706020507" pitchFamily="18" charset="2"/>
              </a:rPr>
              <a:t>、</a:t>
            </a:r>
            <a:r>
              <a:rPr kumimoji="0" lang="en-US" altLang="zh-CN" sz="2400">
                <a:solidFill>
                  <a:schemeClr val="hlink"/>
                </a:solidFill>
              </a:rPr>
              <a:t>E</a:t>
            </a:r>
            <a:r>
              <a:rPr kumimoji="0" lang="en-US" altLang="zh-CN" sz="2400">
                <a:solidFill>
                  <a:schemeClr val="hlink"/>
                </a:solidFill>
                <a:sym typeface="Symbol" panose="05050102010706020507" pitchFamily="18" charset="2"/>
              </a:rPr>
              <a:t>T</a:t>
            </a:r>
            <a:r>
              <a:rPr kumimoji="0" lang="zh-CN" altLang="en-US" sz="2400">
                <a:solidFill>
                  <a:schemeClr val="hlink"/>
                </a:solidFill>
                <a:sym typeface="Symbol" panose="05050102010706020507" pitchFamily="18" charset="2"/>
              </a:rPr>
              <a:t>额外归约时间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922C3648-C17C-48D2-8F8D-BA833CE560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LR(0)</a:t>
            </a:r>
            <a:r>
              <a:rPr lang="zh-CN" altLang="en-US"/>
              <a:t>项目集规范族</a:t>
            </a:r>
          </a:p>
        </p:txBody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E7187D2A-6B31-4C00-8E78-0EACA3EDE8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I</a:t>
            </a:r>
            <a:r>
              <a:rPr lang="en-US" altLang="zh-CN" sz="2400" baseline="-25000"/>
              <a:t>0</a:t>
            </a:r>
            <a:r>
              <a:rPr lang="en-US" altLang="zh-CN" sz="2400"/>
              <a:t> 			I</a:t>
            </a:r>
            <a:r>
              <a:rPr lang="en-US" altLang="zh-CN" sz="2400" baseline="-25000"/>
              <a:t>2		</a:t>
            </a:r>
            <a:r>
              <a:rPr lang="en-US" altLang="zh-CN" sz="2400"/>
              <a:t>I</a:t>
            </a:r>
            <a:r>
              <a:rPr lang="en-US" altLang="zh-CN" sz="2400" baseline="-25000"/>
              <a:t>5		</a:t>
            </a:r>
            <a:r>
              <a:rPr lang="en-US" altLang="zh-CN" sz="2400"/>
              <a:t>I</a:t>
            </a:r>
            <a:r>
              <a:rPr lang="en-US" altLang="zh-CN" sz="2400" baseline="-25000"/>
              <a:t>8</a:t>
            </a:r>
            <a:endParaRPr lang="en-US" altLang="zh-CN" sz="2400"/>
          </a:p>
          <a:p>
            <a:pPr marL="533400" indent="-5334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E’ </a:t>
            </a:r>
            <a:r>
              <a:rPr lang="en-US" altLang="zh-CN" sz="2000">
                <a:sym typeface="Symbol" panose="05050102010706020507" pitchFamily="18" charset="2"/>
              </a:rPr>
              <a:t> .E		E  .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zh-CN" sz="2000">
                <a:sym typeface="Symbol" panose="05050102010706020507" pitchFamily="18" charset="2"/>
              </a:rPr>
              <a:t> E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lang="en-US" altLang="zh-CN" sz="2000">
                <a:sym typeface="Symbol" panose="05050102010706020507" pitchFamily="18" charset="2"/>
              </a:rPr>
              <a:t> 	E  E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* </a:t>
            </a:r>
            <a:r>
              <a:rPr lang="en-US" altLang="zh-CN" sz="2000">
                <a:sym typeface="Symbol" panose="05050102010706020507" pitchFamily="18" charset="2"/>
              </a:rPr>
              <a:t>. E 	</a:t>
            </a:r>
            <a:r>
              <a:rPr lang="en-US" altLang="zh-CN" sz="2000"/>
              <a:t>E </a:t>
            </a:r>
            <a:r>
              <a:rPr lang="en-US" altLang="zh-CN" sz="2000">
                <a:sym typeface="Symbol" panose="05050102010706020507" pitchFamily="18" charset="2"/>
              </a:rPr>
              <a:t> E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lang="en-US" altLang="zh-CN" sz="2000">
                <a:sym typeface="Symbol" panose="05050102010706020507" pitchFamily="18" charset="2"/>
              </a:rPr>
              <a:t> E .</a:t>
            </a:r>
          </a:p>
          <a:p>
            <a:pPr marL="533400" indent="-5334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E </a:t>
            </a:r>
            <a:r>
              <a:rPr lang="en-US" altLang="zh-CN" sz="2000">
                <a:sym typeface="Symbol" panose="05050102010706020507" pitchFamily="18" charset="2"/>
              </a:rPr>
              <a:t> .E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>
                <a:sym typeface="Symbol" panose="05050102010706020507" pitchFamily="18" charset="2"/>
              </a:rPr>
              <a:t> E	E  .E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>
                <a:sym typeface="Symbol" panose="05050102010706020507" pitchFamily="18" charset="2"/>
              </a:rPr>
              <a:t> E	 E  .E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>
                <a:sym typeface="Symbol" panose="05050102010706020507" pitchFamily="18" charset="2"/>
              </a:rPr>
              <a:t> E	</a:t>
            </a:r>
            <a:r>
              <a:rPr lang="en-US" altLang="zh-CN" sz="2000"/>
              <a:t>E </a:t>
            </a:r>
            <a:r>
              <a:rPr lang="en-US" altLang="zh-CN" sz="2000">
                <a:sym typeface="Symbol" panose="05050102010706020507" pitchFamily="18" charset="2"/>
              </a:rPr>
              <a:t> E .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>
                <a:sym typeface="Symbol" panose="05050102010706020507" pitchFamily="18" charset="2"/>
              </a:rPr>
              <a:t> E 	</a:t>
            </a:r>
          </a:p>
          <a:p>
            <a:pPr marL="533400" indent="-5334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ym typeface="Symbol" panose="05050102010706020507" pitchFamily="18" charset="2"/>
              </a:rPr>
              <a:t>E  .E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lang="en-US" altLang="zh-CN" sz="2000">
                <a:sym typeface="Symbol" panose="05050102010706020507" pitchFamily="18" charset="2"/>
              </a:rPr>
              <a:t> E  	E  .E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lang="en-US" altLang="zh-CN" sz="2000">
                <a:sym typeface="Symbol" panose="05050102010706020507" pitchFamily="18" charset="2"/>
              </a:rPr>
              <a:t> E 	 E  .E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lang="en-US" altLang="zh-CN" sz="2000">
                <a:sym typeface="Symbol" panose="05050102010706020507" pitchFamily="18" charset="2"/>
              </a:rPr>
              <a:t> E 	</a:t>
            </a:r>
            <a:r>
              <a:rPr lang="en-US" altLang="zh-CN" sz="2000"/>
              <a:t>E </a:t>
            </a:r>
            <a:r>
              <a:rPr lang="en-US" altLang="zh-CN" sz="2000">
                <a:sym typeface="Symbol" panose="05050102010706020507" pitchFamily="18" charset="2"/>
              </a:rPr>
              <a:t> E .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lang="en-US" altLang="zh-CN" sz="2000">
                <a:sym typeface="Symbol" panose="05050102010706020507" pitchFamily="18" charset="2"/>
              </a:rPr>
              <a:t> E</a:t>
            </a:r>
          </a:p>
          <a:p>
            <a:pPr marL="533400" indent="-533400"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ym typeface="Symbol" panose="05050102010706020507" pitchFamily="18" charset="2"/>
              </a:rPr>
              <a:t>E  .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zh-CN" sz="2000">
                <a:sym typeface="Symbol" panose="05050102010706020507" pitchFamily="18" charset="2"/>
              </a:rPr>
              <a:t> E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lang="en-US" altLang="zh-CN" sz="2000">
                <a:sym typeface="Symbol" panose="05050102010706020507" pitchFamily="18" charset="2"/>
              </a:rPr>
              <a:t>	E  .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zh-CN" sz="2000">
                <a:sym typeface="Symbol" panose="05050102010706020507" pitchFamily="18" charset="2"/>
              </a:rPr>
              <a:t> E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)	 </a:t>
            </a:r>
            <a:r>
              <a:rPr lang="en-US" altLang="zh-CN" sz="2000">
                <a:sym typeface="Symbol" panose="05050102010706020507" pitchFamily="18" charset="2"/>
              </a:rPr>
              <a:t>E  .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zh-CN" sz="2000">
                <a:sym typeface="Symbol" panose="05050102010706020507" pitchFamily="18" charset="2"/>
              </a:rPr>
              <a:t> E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) 	</a:t>
            </a:r>
            <a:endParaRPr lang="en-US" altLang="zh-CN" sz="2000">
              <a:sym typeface="Symbol" panose="05050102010706020507" pitchFamily="18" charset="2"/>
            </a:endParaRPr>
          </a:p>
          <a:p>
            <a:pPr marL="533400" indent="-533400"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ym typeface="Symbol" panose="05050102010706020507" pitchFamily="18" charset="2"/>
              </a:rPr>
              <a:t>E  .</a:t>
            </a:r>
            <a:r>
              <a:rPr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		</a:t>
            </a:r>
            <a:r>
              <a:rPr lang="en-US" altLang="zh-CN" sz="2000">
                <a:sym typeface="Symbol" panose="05050102010706020507" pitchFamily="18" charset="2"/>
              </a:rPr>
              <a:t>E  .</a:t>
            </a:r>
            <a:r>
              <a:rPr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		 </a:t>
            </a:r>
            <a:r>
              <a:rPr lang="en-US" altLang="zh-CN" sz="2000">
                <a:sym typeface="Symbol" panose="05050102010706020507" pitchFamily="18" charset="2"/>
              </a:rPr>
              <a:t>E  .</a:t>
            </a:r>
            <a:r>
              <a:rPr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	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4CDE3455-2F3F-4246-A1A2-75528D2480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LR(0)</a:t>
            </a:r>
            <a:r>
              <a:rPr lang="zh-CN" altLang="en-US"/>
              <a:t>项目集规范族</a:t>
            </a:r>
          </a:p>
        </p:txBody>
      </p:sp>
      <p:sp>
        <p:nvSpPr>
          <p:cNvPr id="142339" name="Rectangle 3">
            <a:extLst>
              <a:ext uri="{FF2B5EF4-FFF2-40B4-BE49-F238E27FC236}">
                <a16:creationId xmlns:a16="http://schemas.microsoft.com/office/drawing/2014/main" id="{60693628-DA53-4C37-B965-54EEFE146C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marL="533400" indent="-533400"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I</a:t>
            </a:r>
            <a:r>
              <a:rPr lang="en-US" altLang="zh-CN" sz="2400" baseline="-25000"/>
              <a:t>1</a:t>
            </a:r>
            <a:r>
              <a:rPr lang="en-US" altLang="zh-CN" sz="2400"/>
              <a:t> 			I</a:t>
            </a:r>
            <a:r>
              <a:rPr lang="en-US" altLang="zh-CN" sz="2400" baseline="-25000"/>
              <a:t>3		</a:t>
            </a:r>
            <a:r>
              <a:rPr lang="en-US" altLang="zh-CN" sz="2400"/>
              <a:t>I</a:t>
            </a:r>
            <a:r>
              <a:rPr lang="en-US" altLang="zh-CN" sz="2400" baseline="-25000"/>
              <a:t>6		 </a:t>
            </a:r>
            <a:r>
              <a:rPr lang="en-US" altLang="zh-CN" sz="2400"/>
              <a:t>I</a:t>
            </a:r>
            <a:r>
              <a:rPr lang="en-US" altLang="zh-CN" sz="2400" baseline="-25000"/>
              <a:t>9</a:t>
            </a:r>
            <a:endParaRPr lang="en-US" altLang="zh-CN" sz="2400"/>
          </a:p>
          <a:p>
            <a:pPr marL="533400" indent="-5334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E’ </a:t>
            </a:r>
            <a:r>
              <a:rPr lang="en-US" altLang="zh-CN" sz="2000">
                <a:sym typeface="Symbol" panose="05050102010706020507" pitchFamily="18" charset="2"/>
              </a:rPr>
              <a:t> E.		E  </a:t>
            </a:r>
            <a:r>
              <a:rPr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.</a:t>
            </a:r>
            <a:r>
              <a:rPr lang="en-US" altLang="zh-CN" sz="2000">
                <a:sym typeface="Symbol" panose="05050102010706020507" pitchFamily="18" charset="2"/>
              </a:rPr>
              <a:t>		 E 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zh-CN" sz="2000">
                <a:sym typeface="Symbol" panose="05050102010706020507" pitchFamily="18" charset="2"/>
              </a:rPr>
              <a:t> E .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lang="en-US" altLang="zh-CN" sz="2000">
                <a:sym typeface="Symbol" panose="05050102010706020507" pitchFamily="18" charset="2"/>
              </a:rPr>
              <a:t> 	 E 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zh-CN" sz="2000">
                <a:sym typeface="Symbol" panose="05050102010706020507" pitchFamily="18" charset="2"/>
              </a:rPr>
              <a:t> E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lang="en-US" altLang="zh-CN" sz="2000">
                <a:sym typeface="Symbol" panose="05050102010706020507" pitchFamily="18" charset="2"/>
              </a:rPr>
              <a:t> . 	</a:t>
            </a:r>
          </a:p>
          <a:p>
            <a:pPr marL="533400" indent="-5334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E </a:t>
            </a:r>
            <a:r>
              <a:rPr lang="en-US" altLang="zh-CN" sz="2000">
                <a:sym typeface="Symbol" panose="05050102010706020507" pitchFamily="18" charset="2"/>
              </a:rPr>
              <a:t> E .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>
                <a:sym typeface="Symbol" panose="05050102010706020507" pitchFamily="18" charset="2"/>
              </a:rPr>
              <a:t> E 			 </a:t>
            </a:r>
            <a:r>
              <a:rPr lang="en-US" altLang="zh-CN" sz="2000"/>
              <a:t>E </a:t>
            </a:r>
            <a:r>
              <a:rPr lang="en-US" altLang="zh-CN" sz="2000">
                <a:sym typeface="Symbol" panose="05050102010706020507" pitchFamily="18" charset="2"/>
              </a:rPr>
              <a:t> E .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>
                <a:sym typeface="Symbol" panose="05050102010706020507" pitchFamily="18" charset="2"/>
              </a:rPr>
              <a:t> E 			</a:t>
            </a:r>
          </a:p>
          <a:p>
            <a:pPr marL="533400" indent="-5334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E </a:t>
            </a:r>
            <a:r>
              <a:rPr lang="en-US" altLang="zh-CN" sz="2000">
                <a:sym typeface="Symbol" panose="05050102010706020507" pitchFamily="18" charset="2"/>
              </a:rPr>
              <a:t> E .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lang="en-US" altLang="zh-CN" sz="2000">
                <a:sym typeface="Symbol" panose="05050102010706020507" pitchFamily="18" charset="2"/>
              </a:rPr>
              <a:t> E 	</a:t>
            </a:r>
            <a:r>
              <a:rPr lang="en-US" altLang="zh-CN" sz="2400">
                <a:sym typeface="Symbol" panose="05050102010706020507" pitchFamily="18" charset="2"/>
              </a:rPr>
              <a:t>I</a:t>
            </a:r>
            <a:r>
              <a:rPr lang="en-US" altLang="zh-CN" sz="2000" baseline="-25000">
                <a:sym typeface="Symbol" panose="05050102010706020507" pitchFamily="18" charset="2"/>
              </a:rPr>
              <a:t>4		 </a:t>
            </a:r>
            <a:r>
              <a:rPr lang="en-US" altLang="zh-CN" sz="2000"/>
              <a:t>E </a:t>
            </a:r>
            <a:r>
              <a:rPr lang="en-US" altLang="zh-CN" sz="2000">
                <a:sym typeface="Symbol" panose="05050102010706020507" pitchFamily="18" charset="2"/>
              </a:rPr>
              <a:t> E .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lang="en-US" altLang="zh-CN" sz="2000">
                <a:sym typeface="Symbol" panose="05050102010706020507" pitchFamily="18" charset="2"/>
              </a:rPr>
              <a:t> E</a:t>
            </a:r>
          </a:p>
          <a:p>
            <a:pPr marL="533400" indent="-5334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ym typeface="Symbol" panose="05050102010706020507" pitchFamily="18" charset="2"/>
              </a:rPr>
              <a:t>			</a:t>
            </a:r>
            <a:r>
              <a:rPr lang="en-US" altLang="zh-CN" sz="2000"/>
              <a:t>E </a:t>
            </a:r>
            <a:r>
              <a:rPr lang="en-US" altLang="zh-CN" sz="2000">
                <a:sym typeface="Symbol" panose="05050102010706020507" pitchFamily="18" charset="2"/>
              </a:rPr>
              <a:t> E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>
                <a:sym typeface="Symbol" panose="05050102010706020507" pitchFamily="18" charset="2"/>
              </a:rPr>
              <a:t> . E </a:t>
            </a:r>
          </a:p>
          <a:p>
            <a:pPr marL="533400" indent="-5334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ym typeface="Symbol" panose="05050102010706020507" pitchFamily="18" charset="2"/>
              </a:rPr>
              <a:t>			</a:t>
            </a:r>
            <a:r>
              <a:rPr lang="en-US" altLang="zh-CN" sz="2000"/>
              <a:t>E </a:t>
            </a:r>
            <a:r>
              <a:rPr lang="en-US" altLang="zh-CN" sz="2000">
                <a:sym typeface="Symbol" panose="05050102010706020507" pitchFamily="18" charset="2"/>
              </a:rPr>
              <a:t> .E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>
                <a:sym typeface="Symbol" panose="05050102010706020507" pitchFamily="18" charset="2"/>
              </a:rPr>
              <a:t> E	</a:t>
            </a:r>
            <a:r>
              <a:rPr lang="en-US" altLang="zh-CN" sz="2400">
                <a:sym typeface="Symbol" panose="05050102010706020507" pitchFamily="18" charset="2"/>
              </a:rPr>
              <a:t>I</a:t>
            </a:r>
            <a:r>
              <a:rPr lang="en-US" altLang="zh-CN" sz="2000" baseline="-25000">
                <a:sym typeface="Symbol" panose="05050102010706020507" pitchFamily="18" charset="2"/>
              </a:rPr>
              <a:t>7</a:t>
            </a:r>
            <a:endParaRPr lang="en-US" altLang="zh-CN" sz="2000">
              <a:sym typeface="Symbol" panose="05050102010706020507" pitchFamily="18" charset="2"/>
            </a:endParaRPr>
          </a:p>
          <a:p>
            <a:pPr marL="533400" indent="-5334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ym typeface="Symbol" panose="05050102010706020507" pitchFamily="18" charset="2"/>
              </a:rPr>
              <a:t>			E  .E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lang="en-US" altLang="zh-CN" sz="2000">
                <a:sym typeface="Symbol" panose="05050102010706020507" pitchFamily="18" charset="2"/>
              </a:rPr>
              <a:t> E 	</a:t>
            </a:r>
            <a:r>
              <a:rPr lang="en-US" altLang="zh-CN" sz="2000"/>
              <a:t>E </a:t>
            </a:r>
            <a:r>
              <a:rPr lang="en-US" altLang="zh-CN" sz="2000">
                <a:sym typeface="Symbol" panose="05050102010706020507" pitchFamily="18" charset="2"/>
              </a:rPr>
              <a:t> E 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>
                <a:sym typeface="Symbol" panose="05050102010706020507" pitchFamily="18" charset="2"/>
              </a:rPr>
              <a:t> E . </a:t>
            </a:r>
          </a:p>
          <a:p>
            <a:pPr marL="533400" indent="-5334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ym typeface="Symbol" panose="05050102010706020507" pitchFamily="18" charset="2"/>
              </a:rPr>
              <a:t>			E  .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zh-CN" sz="2000">
                <a:sym typeface="Symbol" panose="05050102010706020507" pitchFamily="18" charset="2"/>
              </a:rPr>
              <a:t> E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)	</a:t>
            </a:r>
            <a:r>
              <a:rPr lang="en-US" altLang="zh-CN" sz="2000"/>
              <a:t>E </a:t>
            </a:r>
            <a:r>
              <a:rPr lang="en-US" altLang="zh-CN" sz="2000">
                <a:sym typeface="Symbol" panose="05050102010706020507" pitchFamily="18" charset="2"/>
              </a:rPr>
              <a:t> E .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>
                <a:sym typeface="Symbol" panose="05050102010706020507" pitchFamily="18" charset="2"/>
              </a:rPr>
              <a:t> E</a:t>
            </a:r>
          </a:p>
          <a:p>
            <a:pPr marL="533400" indent="-533400"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ym typeface="Symbol" panose="05050102010706020507" pitchFamily="18" charset="2"/>
              </a:rPr>
              <a:t>			E  .</a:t>
            </a:r>
            <a:r>
              <a:rPr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 		</a:t>
            </a:r>
            <a:r>
              <a:rPr lang="en-US" altLang="zh-CN" sz="2000"/>
              <a:t>E </a:t>
            </a:r>
            <a:r>
              <a:rPr lang="en-US" altLang="zh-CN" sz="2000">
                <a:sym typeface="Symbol" panose="05050102010706020507" pitchFamily="18" charset="2"/>
              </a:rPr>
              <a:t> E .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*</a:t>
            </a:r>
            <a:r>
              <a:rPr lang="en-US" altLang="zh-CN" sz="2000">
                <a:sym typeface="Symbol" panose="05050102010706020507" pitchFamily="18" charset="2"/>
              </a:rPr>
              <a:t> E</a:t>
            </a:r>
          </a:p>
        </p:txBody>
      </p:sp>
      <p:sp>
        <p:nvSpPr>
          <p:cNvPr id="142340" name="Text Box 4">
            <a:extLst>
              <a:ext uri="{FF2B5EF4-FFF2-40B4-BE49-F238E27FC236}">
                <a16:creationId xmlns:a16="http://schemas.microsoft.com/office/drawing/2014/main" id="{B3B7393D-0B7F-48D9-AB24-FF1479B1F1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2667000"/>
            <a:ext cx="218598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chemeClr val="accent2"/>
                </a:solidFill>
              </a:rPr>
              <a:t>Follow(E’)=$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chemeClr val="accent2"/>
                </a:solidFill>
              </a:rPr>
              <a:t>Follow(E)=+*)$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>
            <a:extLst>
              <a:ext uri="{FF2B5EF4-FFF2-40B4-BE49-F238E27FC236}">
                <a16:creationId xmlns:a16="http://schemas.microsoft.com/office/drawing/2014/main" id="{4CEE85D7-A57F-407E-A82F-18CA8360E1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SLR</a:t>
            </a:r>
            <a:r>
              <a:rPr lang="zh-CN" altLang="en-US"/>
              <a:t>分析表</a:t>
            </a:r>
          </a:p>
        </p:txBody>
      </p:sp>
      <p:sp>
        <p:nvSpPr>
          <p:cNvPr id="143363" name="Rectangle 3">
            <a:extLst>
              <a:ext uri="{FF2B5EF4-FFF2-40B4-BE49-F238E27FC236}">
                <a16:creationId xmlns:a16="http://schemas.microsoft.com/office/drawing/2014/main" id="{06A5679A-FA98-4CD3-A74F-AED73DBB31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34000"/>
          </a:xfrm>
        </p:spPr>
        <p:txBody>
          <a:bodyPr/>
          <a:lstStyle/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US" altLang="zh-CN" sz="2000" u="sng"/>
              <a:t>	id	+	*	(	)	$	</a:t>
            </a:r>
            <a:r>
              <a:rPr lang="en-US" altLang="zh-CN" sz="2000" i="1" u="sng"/>
              <a:t>E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0	s3			s2			1	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1		s4	s5			acc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2	s3			s2			6</a:t>
            </a:r>
            <a:endParaRPr lang="en-US" altLang="zh-CN" sz="2000" i="1"/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3		r4	r4		r4	r4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4	s3			s2			7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5	s3			s2			8</a:t>
            </a:r>
            <a:endParaRPr lang="en-US" altLang="zh-CN" sz="2000" i="1"/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6		s4	s5		s9		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7		s4/</a:t>
            </a:r>
            <a:r>
              <a:rPr lang="en-US" altLang="zh-CN" sz="2000" u="sng"/>
              <a:t>r1</a:t>
            </a:r>
            <a:r>
              <a:rPr lang="en-US" altLang="zh-CN" sz="2000"/>
              <a:t>	</a:t>
            </a:r>
            <a:r>
              <a:rPr lang="en-US" altLang="zh-CN" sz="2000" u="sng"/>
              <a:t>s5</a:t>
            </a:r>
            <a:r>
              <a:rPr lang="en-US" altLang="zh-CN" sz="2000"/>
              <a:t>/r1		r1	r1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8		s4/</a:t>
            </a:r>
            <a:r>
              <a:rPr lang="en-US" altLang="zh-CN" sz="2000" u="sng"/>
              <a:t>r2</a:t>
            </a:r>
            <a:r>
              <a:rPr lang="en-US" altLang="zh-CN" sz="2000"/>
              <a:t>	s5/</a:t>
            </a:r>
            <a:r>
              <a:rPr lang="en-US" altLang="zh-CN" sz="2000" u="sng"/>
              <a:t>r2</a:t>
            </a:r>
            <a:r>
              <a:rPr lang="en-US" altLang="zh-CN" sz="2000"/>
              <a:t>		r2	r2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9		r3	r3		r3	r3</a:t>
            </a:r>
          </a:p>
        </p:txBody>
      </p:sp>
      <p:sp>
        <p:nvSpPr>
          <p:cNvPr id="143364" name="Rectangle 4">
            <a:extLst>
              <a:ext uri="{FF2B5EF4-FFF2-40B4-BE49-F238E27FC236}">
                <a16:creationId xmlns:a16="http://schemas.microsoft.com/office/drawing/2014/main" id="{99CEB0FE-A6D7-4B9F-8594-028A3B6A3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2688" y="5373688"/>
            <a:ext cx="7772400" cy="1255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  <a:sym typeface="Symbol" panose="05050102010706020507" pitchFamily="18" charset="2"/>
              </a:rPr>
              <a:t>I</a:t>
            </a:r>
            <a:r>
              <a:rPr lang="en-US" altLang="zh-CN" sz="2000" baseline="-25000">
                <a:solidFill>
                  <a:schemeClr val="hlink"/>
                </a:solidFill>
                <a:sym typeface="Symbol" panose="05050102010706020507" pitchFamily="18" charset="2"/>
              </a:rPr>
              <a:t>7				</a:t>
            </a:r>
            <a:r>
              <a:rPr lang="en-US" altLang="zh-CN" sz="2000">
                <a:solidFill>
                  <a:schemeClr val="hlink"/>
                </a:solidFill>
                <a:sym typeface="Symbol" panose="05050102010706020507" pitchFamily="18" charset="2"/>
              </a:rPr>
              <a:t>I</a:t>
            </a:r>
            <a:r>
              <a:rPr lang="en-US" altLang="zh-CN" sz="2000" baseline="-25000">
                <a:solidFill>
                  <a:schemeClr val="hlink"/>
                </a:solidFill>
                <a:sym typeface="Symbol" panose="05050102010706020507" pitchFamily="18" charset="2"/>
              </a:rPr>
              <a:t>8</a:t>
            </a:r>
            <a:endParaRPr lang="en-US" altLang="zh-CN" sz="2000">
              <a:solidFill>
                <a:schemeClr val="hlink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hlink"/>
                </a:solidFill>
              </a:rPr>
              <a:t>E </a:t>
            </a:r>
            <a:r>
              <a:rPr lang="en-US" altLang="zh-CN" sz="2000">
                <a:solidFill>
                  <a:schemeClr val="hlink"/>
                </a:solidFill>
                <a:sym typeface="Symbol" panose="05050102010706020507" pitchFamily="18" charset="2"/>
              </a:rPr>
              <a:t> E  + E . 		E  E * E 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hlink"/>
                </a:solidFill>
              </a:rPr>
              <a:t>E </a:t>
            </a:r>
            <a:r>
              <a:rPr lang="en-US" altLang="zh-CN" sz="2000">
                <a:solidFill>
                  <a:schemeClr val="hlink"/>
                </a:solidFill>
                <a:sym typeface="Symbol" panose="05050102010706020507" pitchFamily="18" charset="2"/>
              </a:rPr>
              <a:t> E . + E		E  E . + E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hlink"/>
                </a:solidFill>
              </a:rPr>
              <a:t>E </a:t>
            </a:r>
            <a:r>
              <a:rPr lang="en-US" altLang="zh-CN" sz="2000">
                <a:solidFill>
                  <a:schemeClr val="hlink"/>
                </a:solidFill>
                <a:sym typeface="Symbol" panose="05050102010706020507" pitchFamily="18" charset="2"/>
              </a:rPr>
              <a:t> E . * E		E  E . * E</a:t>
            </a:r>
          </a:p>
        </p:txBody>
      </p:sp>
      <p:sp>
        <p:nvSpPr>
          <p:cNvPr id="371717" name="Oval 5">
            <a:extLst>
              <a:ext uri="{FF2B5EF4-FFF2-40B4-BE49-F238E27FC236}">
                <a16:creationId xmlns:a16="http://schemas.microsoft.com/office/drawing/2014/main" id="{797C54F5-B5E0-4709-8133-D746378FD1F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413000" y="4365625"/>
            <a:ext cx="287338" cy="287338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ahoma" panose="020B0604030504040204" pitchFamily="34" charset="0"/>
            </a:endParaRPr>
          </a:p>
        </p:txBody>
      </p:sp>
      <p:sp>
        <p:nvSpPr>
          <p:cNvPr id="371718" name="Oval 6">
            <a:extLst>
              <a:ext uri="{FF2B5EF4-FFF2-40B4-BE49-F238E27FC236}">
                <a16:creationId xmlns:a16="http://schemas.microsoft.com/office/drawing/2014/main" id="{A4B5A248-3E60-43AF-9A72-92A931A0DF8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070225" y="4365625"/>
            <a:ext cx="287338" cy="287338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ahoma" panose="020B0604030504040204" pitchFamily="34" charset="0"/>
            </a:endParaRPr>
          </a:p>
        </p:txBody>
      </p:sp>
      <p:sp>
        <p:nvSpPr>
          <p:cNvPr id="371719" name="Oval 7">
            <a:extLst>
              <a:ext uri="{FF2B5EF4-FFF2-40B4-BE49-F238E27FC236}">
                <a16:creationId xmlns:a16="http://schemas.microsoft.com/office/drawing/2014/main" id="{87E17A5B-8BE0-4DB9-A103-9B2F727FC0B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435225" y="4724400"/>
            <a:ext cx="287338" cy="287338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ahoma" panose="020B0604030504040204" pitchFamily="34" charset="0"/>
            </a:endParaRPr>
          </a:p>
        </p:txBody>
      </p:sp>
      <p:sp>
        <p:nvSpPr>
          <p:cNvPr id="371720" name="Oval 8">
            <a:extLst>
              <a:ext uri="{FF2B5EF4-FFF2-40B4-BE49-F238E27FC236}">
                <a16:creationId xmlns:a16="http://schemas.microsoft.com/office/drawing/2014/main" id="{35FA7271-3449-477C-95AC-4BD3BCC9222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348038" y="4724400"/>
            <a:ext cx="287337" cy="287338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717" grpId="0" animBg="1"/>
      <p:bldP spid="371718" grpId="0" animBg="1"/>
      <p:bldP spid="371719" grpId="0" animBg="1"/>
      <p:bldP spid="371720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>
            <a:extLst>
              <a:ext uri="{FF2B5EF4-FFF2-40B4-BE49-F238E27FC236}">
                <a16:creationId xmlns:a16="http://schemas.microsoft.com/office/drawing/2014/main" id="{7AD0251C-5193-417A-B47C-11B1A95806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冲突解决方法</a:t>
            </a:r>
          </a:p>
        </p:txBody>
      </p:sp>
      <p:sp>
        <p:nvSpPr>
          <p:cNvPr id="144387" name="Rectangle 3">
            <a:extLst>
              <a:ext uri="{FF2B5EF4-FFF2-40B4-BE49-F238E27FC236}">
                <a16:creationId xmlns:a16="http://schemas.microsoft.com/office/drawing/2014/main" id="{8F88504B-8082-4ACB-A324-C01FB1EDD9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考虑输入</a:t>
            </a:r>
            <a:r>
              <a:rPr lang="en-US" altLang="zh-CN" sz="2800" b="1"/>
              <a:t>id</a:t>
            </a:r>
            <a:r>
              <a:rPr lang="en-US" altLang="zh-CN" sz="2800"/>
              <a:t>+</a:t>
            </a:r>
            <a:r>
              <a:rPr lang="en-US" altLang="zh-CN" sz="2800" b="1"/>
              <a:t>id</a:t>
            </a:r>
            <a:r>
              <a:rPr lang="en-US" altLang="zh-CN" sz="2800"/>
              <a:t>*</a:t>
            </a:r>
            <a:r>
              <a:rPr lang="en-US" altLang="zh-CN" sz="2800" b="1"/>
              <a:t>id</a:t>
            </a:r>
          </a:p>
          <a:p>
            <a:pPr lvl="1" eaLnBrk="1" hangingPunct="1"/>
            <a:r>
              <a:rPr lang="zh-CN" altLang="en-US" sz="2400"/>
              <a:t>分析后</a:t>
            </a:r>
            <a:r>
              <a:rPr lang="en-US" altLang="zh-CN" sz="2400" b="1"/>
              <a:t>id</a:t>
            </a:r>
            <a:r>
              <a:rPr lang="en-US" altLang="zh-CN" sz="2400"/>
              <a:t>+</a:t>
            </a:r>
            <a:r>
              <a:rPr lang="en-US" altLang="zh-CN" sz="2400" b="1"/>
              <a:t>id</a:t>
            </a:r>
            <a:r>
              <a:rPr lang="zh-CN" altLang="en-US" sz="2400"/>
              <a:t>栈和输入</a:t>
            </a:r>
            <a:r>
              <a:rPr lang="en-US" altLang="zh-CN" sz="2400"/>
              <a:t>($ 0 E 1 + 4 E 7, * </a:t>
            </a:r>
            <a:r>
              <a:rPr lang="en-US" altLang="zh-CN" sz="2400" b="1"/>
              <a:t>id </a:t>
            </a:r>
            <a:r>
              <a:rPr lang="en-US" altLang="zh-CN" sz="2400"/>
              <a:t>$)</a:t>
            </a:r>
          </a:p>
          <a:p>
            <a:pPr lvl="1" eaLnBrk="1" hangingPunct="1"/>
            <a:r>
              <a:rPr lang="zh-CN" altLang="en-US" sz="2400"/>
              <a:t>移进</a:t>
            </a:r>
            <a:r>
              <a:rPr lang="en-US" altLang="zh-CN" sz="2400"/>
              <a:t>/</a:t>
            </a:r>
            <a:r>
              <a:rPr lang="zh-CN" altLang="en-US" sz="2400"/>
              <a:t>归约（</a:t>
            </a:r>
            <a:r>
              <a:rPr lang="en-US" altLang="zh-CN" sz="2400"/>
              <a:t>action[7, *]</a:t>
            </a:r>
            <a:r>
              <a:rPr lang="zh-CN" altLang="en-US" sz="2400"/>
              <a:t>）？</a:t>
            </a:r>
          </a:p>
          <a:p>
            <a:pPr lvl="1" eaLnBrk="1" hangingPunct="1"/>
            <a:r>
              <a:rPr lang="zh-CN" altLang="en-US" sz="2400"/>
              <a:t>*优先级高，移进；反之，归约</a:t>
            </a:r>
          </a:p>
          <a:p>
            <a:pPr eaLnBrk="1" hangingPunct="1"/>
            <a:r>
              <a:rPr lang="zh-CN" altLang="en-US" sz="2800"/>
              <a:t>考虑输入</a:t>
            </a:r>
            <a:r>
              <a:rPr lang="en-US" altLang="zh-CN" sz="2800" b="1"/>
              <a:t>id</a:t>
            </a:r>
            <a:r>
              <a:rPr lang="en-US" altLang="zh-CN" sz="2800"/>
              <a:t>+</a:t>
            </a:r>
            <a:r>
              <a:rPr lang="en-US" altLang="zh-CN" sz="2800" b="1"/>
              <a:t>id</a:t>
            </a:r>
            <a:r>
              <a:rPr lang="en-US" altLang="zh-CN" sz="2800"/>
              <a:t>+</a:t>
            </a:r>
            <a:r>
              <a:rPr lang="en-US" altLang="zh-CN" sz="2800" b="1"/>
              <a:t>id</a:t>
            </a:r>
          </a:p>
          <a:p>
            <a:pPr lvl="1" eaLnBrk="1" hangingPunct="1"/>
            <a:r>
              <a:rPr lang="zh-CN" altLang="en-US" sz="2400"/>
              <a:t>分析后</a:t>
            </a:r>
            <a:r>
              <a:rPr lang="en-US" altLang="zh-CN" sz="2400" b="1"/>
              <a:t>id</a:t>
            </a:r>
            <a:r>
              <a:rPr lang="en-US" altLang="zh-CN" sz="2400"/>
              <a:t>+</a:t>
            </a:r>
            <a:r>
              <a:rPr lang="en-US" altLang="zh-CN" sz="2400" b="1"/>
              <a:t>id</a:t>
            </a:r>
            <a:r>
              <a:rPr lang="zh-CN" altLang="en-US" sz="2400"/>
              <a:t>栈和输入</a:t>
            </a:r>
            <a:r>
              <a:rPr lang="en-US" altLang="zh-CN" sz="2400"/>
              <a:t>($ 0 E 1 + 4 E 7, + </a:t>
            </a:r>
            <a:r>
              <a:rPr lang="en-US" altLang="zh-CN" sz="2400" b="1"/>
              <a:t>id </a:t>
            </a:r>
            <a:r>
              <a:rPr lang="en-US" altLang="zh-CN" sz="2400"/>
              <a:t>$)</a:t>
            </a:r>
          </a:p>
          <a:p>
            <a:pPr lvl="1" eaLnBrk="1" hangingPunct="1"/>
            <a:r>
              <a:rPr lang="zh-CN" altLang="en-US" sz="2400"/>
              <a:t>移进</a:t>
            </a:r>
            <a:r>
              <a:rPr lang="en-US" altLang="zh-CN" sz="2400"/>
              <a:t>/</a:t>
            </a:r>
            <a:r>
              <a:rPr lang="zh-CN" altLang="en-US" sz="2400"/>
              <a:t>归约（</a:t>
            </a:r>
            <a:r>
              <a:rPr lang="en-US" altLang="zh-CN" sz="2400"/>
              <a:t>action[7, +]</a:t>
            </a:r>
            <a:r>
              <a:rPr lang="zh-CN" altLang="en-US" sz="2400"/>
              <a:t>）？</a:t>
            </a:r>
          </a:p>
          <a:p>
            <a:pPr lvl="1" eaLnBrk="1" hangingPunct="1"/>
            <a:r>
              <a:rPr lang="en-US" altLang="zh-CN" sz="2400"/>
              <a:t>+</a:t>
            </a:r>
            <a:r>
              <a:rPr lang="zh-CN" altLang="en-US" sz="2400"/>
              <a:t>左结合，归约；反之，归约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>
            <a:extLst>
              <a:ext uri="{FF2B5EF4-FFF2-40B4-BE49-F238E27FC236}">
                <a16:creationId xmlns:a16="http://schemas.microsoft.com/office/drawing/2014/main" id="{3F397DD8-4866-4D93-A593-9D2BD60AAF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一般性方法</a:t>
            </a:r>
          </a:p>
        </p:txBody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115E81F3-8A40-4AD3-96AB-DAC267D5F2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若栈中包含</a:t>
            </a:r>
            <a:r>
              <a:rPr lang="en-US" altLang="zh-CN"/>
              <a:t>E </a:t>
            </a:r>
            <a:r>
              <a:rPr lang="en-US" altLang="zh-CN">
                <a:sym typeface="Symbol" panose="05050102010706020507" pitchFamily="18" charset="2"/>
              </a:rPr>
              <a:t> </a:t>
            </a:r>
            <a:r>
              <a:rPr lang="en-US" altLang="zh-CN"/>
              <a:t>E </a:t>
            </a:r>
            <a:r>
              <a:rPr lang="en-US" altLang="zh-CN">
                <a:solidFill>
                  <a:srgbClr val="3333CC"/>
                </a:solidFill>
              </a:rPr>
              <a:t>op</a:t>
            </a:r>
            <a:r>
              <a:rPr lang="en-US" altLang="zh-CN"/>
              <a:t> E</a:t>
            </a:r>
            <a:r>
              <a:rPr lang="zh-CN" altLang="en-US"/>
              <a:t>，当前输入符号</a:t>
            </a:r>
            <a:r>
              <a:rPr lang="en-US" altLang="zh-CN">
                <a:solidFill>
                  <a:srgbClr val="3333CC"/>
                </a:solidFill>
              </a:rPr>
              <a:t>op</a:t>
            </a:r>
            <a:endParaRPr lang="en-US" altLang="zh-CN"/>
          </a:p>
          <a:p>
            <a:pPr lvl="1" eaLnBrk="1" hangingPunct="1"/>
            <a:r>
              <a:rPr lang="zh-CN" altLang="en-US"/>
              <a:t>若</a:t>
            </a:r>
            <a:r>
              <a:rPr lang="en-US" altLang="zh-CN"/>
              <a:t>op</a:t>
            </a:r>
            <a:r>
              <a:rPr lang="zh-CN" altLang="en-US"/>
              <a:t>为左结合，归约</a:t>
            </a:r>
            <a:r>
              <a:rPr lang="en-US" altLang="zh-CN"/>
              <a:t>E </a:t>
            </a:r>
            <a:r>
              <a:rPr lang="en-US" altLang="zh-CN">
                <a:sym typeface="Symbol" panose="05050102010706020507" pitchFamily="18" charset="2"/>
              </a:rPr>
              <a:t> E  </a:t>
            </a:r>
            <a:r>
              <a:rPr lang="en-US" altLang="zh-CN">
                <a:solidFill>
                  <a:schemeClr val="accent2"/>
                </a:solidFill>
                <a:sym typeface="Symbol" panose="05050102010706020507" pitchFamily="18" charset="2"/>
              </a:rPr>
              <a:t>op</a:t>
            </a:r>
            <a:r>
              <a:rPr lang="en-US" altLang="zh-CN">
                <a:sym typeface="Symbol" panose="05050102010706020507" pitchFamily="18" charset="2"/>
              </a:rPr>
              <a:t> E</a:t>
            </a:r>
          </a:p>
          <a:p>
            <a:pPr lvl="1" eaLnBrk="1" hangingPunct="1"/>
            <a:r>
              <a:rPr lang="zh-CN" altLang="en-US">
                <a:sym typeface="Symbol" panose="05050102010706020507" pitchFamily="18" charset="2"/>
              </a:rPr>
              <a:t>若</a:t>
            </a:r>
            <a:r>
              <a:rPr lang="en-US" altLang="zh-CN">
                <a:sym typeface="Symbol" panose="05050102010706020507" pitchFamily="18" charset="2"/>
              </a:rPr>
              <a:t>op</a:t>
            </a:r>
            <a:r>
              <a:rPr lang="zh-CN" altLang="en-US">
                <a:sym typeface="Symbol" panose="05050102010706020507" pitchFamily="18" charset="2"/>
              </a:rPr>
              <a:t>为右结合，移进</a:t>
            </a:r>
          </a:p>
          <a:p>
            <a:pPr eaLnBrk="1" hangingPunct="1"/>
            <a:r>
              <a:rPr lang="zh-CN" altLang="en-US">
                <a:sym typeface="Symbol" panose="05050102010706020507" pitchFamily="18" charset="2"/>
              </a:rPr>
              <a:t>若栈中包含</a:t>
            </a:r>
            <a:r>
              <a:rPr lang="en-US" altLang="zh-CN"/>
              <a:t>E </a:t>
            </a:r>
            <a:r>
              <a:rPr lang="en-US" altLang="zh-CN">
                <a:sym typeface="Symbol" panose="05050102010706020507" pitchFamily="18" charset="2"/>
              </a:rPr>
              <a:t> </a:t>
            </a:r>
            <a:r>
              <a:rPr lang="en-US" altLang="zh-CN"/>
              <a:t>E </a:t>
            </a:r>
            <a:r>
              <a:rPr lang="en-US" altLang="zh-CN">
                <a:solidFill>
                  <a:srgbClr val="3333CC"/>
                </a:solidFill>
              </a:rPr>
              <a:t>op</a:t>
            </a:r>
            <a:r>
              <a:rPr lang="en-US" altLang="zh-CN"/>
              <a:t> E</a:t>
            </a:r>
            <a:r>
              <a:rPr lang="zh-CN" altLang="en-US"/>
              <a:t>，当前输入</a:t>
            </a:r>
            <a:r>
              <a:rPr lang="en-US" altLang="zh-CN">
                <a:solidFill>
                  <a:srgbClr val="3333CC"/>
                </a:solidFill>
              </a:rPr>
              <a:t>op’</a:t>
            </a:r>
          </a:p>
          <a:p>
            <a:pPr lvl="1" eaLnBrk="1" hangingPunct="1"/>
            <a:r>
              <a:rPr lang="zh-CN" altLang="en-US"/>
              <a:t>若</a:t>
            </a:r>
            <a:r>
              <a:rPr lang="en-US" altLang="zh-CN"/>
              <a:t>op</a:t>
            </a:r>
            <a:r>
              <a:rPr lang="zh-CN" altLang="en-US"/>
              <a:t>优先级高于</a:t>
            </a:r>
            <a:r>
              <a:rPr lang="en-US" altLang="zh-CN"/>
              <a:t>op’</a:t>
            </a:r>
            <a:r>
              <a:rPr lang="zh-CN" altLang="en-US"/>
              <a:t>，归约</a:t>
            </a:r>
            <a:r>
              <a:rPr lang="en-US" altLang="zh-CN"/>
              <a:t>E </a:t>
            </a:r>
            <a:r>
              <a:rPr lang="en-US" altLang="zh-CN">
                <a:sym typeface="Symbol" panose="05050102010706020507" pitchFamily="18" charset="2"/>
              </a:rPr>
              <a:t> </a:t>
            </a:r>
            <a:r>
              <a:rPr lang="en-US" altLang="zh-CN"/>
              <a:t>E op E</a:t>
            </a:r>
          </a:p>
          <a:p>
            <a:pPr lvl="1" eaLnBrk="1" hangingPunct="1"/>
            <a:r>
              <a:rPr lang="zh-CN" altLang="en-US"/>
              <a:t>若</a:t>
            </a:r>
            <a:r>
              <a:rPr lang="en-US" altLang="zh-CN"/>
              <a:t>op’</a:t>
            </a:r>
            <a:r>
              <a:rPr lang="zh-CN" altLang="en-US"/>
              <a:t>优先级高于</a:t>
            </a:r>
            <a:r>
              <a:rPr lang="en-US" altLang="zh-CN"/>
              <a:t>op </a:t>
            </a:r>
            <a:r>
              <a:rPr lang="zh-CN" altLang="en-US"/>
              <a:t>，移进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>
            <a:extLst>
              <a:ext uri="{FF2B5EF4-FFF2-40B4-BE49-F238E27FC236}">
                <a16:creationId xmlns:a16="http://schemas.microsoft.com/office/drawing/2014/main" id="{F24AEC9F-8C70-436E-AAA3-B833D0D2AF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4.8.2  “</a:t>
            </a:r>
            <a:r>
              <a:rPr lang="zh-CN" altLang="en-US"/>
              <a:t>虚悬</a:t>
            </a:r>
            <a:r>
              <a:rPr lang="en-US" altLang="zh-CN"/>
              <a:t>else”</a:t>
            </a:r>
            <a:r>
              <a:rPr lang="zh-CN" altLang="en-US"/>
              <a:t>二义性</a:t>
            </a:r>
          </a:p>
        </p:txBody>
      </p:sp>
      <p:sp>
        <p:nvSpPr>
          <p:cNvPr id="146435" name="Rectangle 3">
            <a:extLst>
              <a:ext uri="{FF2B5EF4-FFF2-40B4-BE49-F238E27FC236}">
                <a16:creationId xmlns:a16="http://schemas.microsoft.com/office/drawing/2014/main" id="{24962375-CF69-4C3D-A81E-C37A124E42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/>
              <a:t>stmt</a:t>
            </a:r>
            <a:r>
              <a:rPr kumimoji="0" lang="en-US" altLang="zh-CN" sz="2400"/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if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 i="1">
                <a:sym typeface="Symbol" panose="05050102010706020507" pitchFamily="18" charset="2"/>
              </a:rPr>
              <a:t>expr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then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 i="1">
                <a:sym typeface="Symbol" panose="05050102010706020507" pitchFamily="18" charset="2"/>
              </a:rPr>
              <a:t>stmt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       | 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if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 i="1">
                <a:sym typeface="Symbol" panose="05050102010706020507" pitchFamily="18" charset="2"/>
              </a:rPr>
              <a:t>expr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then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 i="1">
                <a:sym typeface="Symbol" panose="05050102010706020507" pitchFamily="18" charset="2"/>
              </a:rPr>
              <a:t>stmt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else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 i="1">
                <a:sym typeface="Symbol" panose="05050102010706020507" pitchFamily="18" charset="2"/>
              </a:rPr>
              <a:t>stmt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       | 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other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 (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any other statement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endParaRPr lang="en-US" altLang="zh-CN" sz="2400"/>
          </a:p>
          <a:p>
            <a:pPr eaLnBrk="1" hangingPunct="1"/>
            <a:r>
              <a:rPr lang="zh-CN" altLang="en-US"/>
              <a:t>可改写为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S’ </a:t>
            </a:r>
            <a:r>
              <a:rPr lang="en-US" altLang="zh-CN" sz="2800">
                <a:sym typeface="Symbol" panose="05050102010706020507" pitchFamily="18" charset="2"/>
              </a:rPr>
              <a:t> S</a:t>
            </a:r>
            <a:endParaRPr lang="en-US" altLang="zh-CN" sz="28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S </a:t>
            </a:r>
            <a:r>
              <a:rPr lang="en-US" altLang="zh-CN" sz="2800">
                <a:sym typeface="Symbol" panose="05050102010706020507" pitchFamily="18" charset="2"/>
              </a:rPr>
              <a:t> </a:t>
            </a:r>
            <a:r>
              <a:rPr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i</a:t>
            </a:r>
            <a:r>
              <a:rPr lang="en-US" altLang="zh-CN" sz="2800">
                <a:sym typeface="Symbol" panose="05050102010706020507" pitchFamily="18" charset="2"/>
              </a:rPr>
              <a:t>S</a:t>
            </a:r>
            <a:r>
              <a:rPr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e</a:t>
            </a:r>
            <a:r>
              <a:rPr lang="en-US" altLang="zh-CN" sz="2800">
                <a:sym typeface="Symbol" panose="05050102010706020507" pitchFamily="18" charset="2"/>
              </a:rPr>
              <a:t>S | </a:t>
            </a:r>
            <a:r>
              <a:rPr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i</a:t>
            </a:r>
            <a:r>
              <a:rPr lang="en-US" altLang="zh-CN" sz="2800">
                <a:sym typeface="Symbol" panose="05050102010706020507" pitchFamily="18" charset="2"/>
              </a:rPr>
              <a:t>S | </a:t>
            </a:r>
            <a:r>
              <a:rPr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a</a:t>
            </a:r>
            <a:endParaRPr lang="en-US" altLang="zh-CN" sz="2800"/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>
            <a:extLst>
              <a:ext uri="{FF2B5EF4-FFF2-40B4-BE49-F238E27FC236}">
                <a16:creationId xmlns:a16="http://schemas.microsoft.com/office/drawing/2014/main" id="{1042ED0B-757E-4DBA-8C05-3CCC327C0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LR(0)</a:t>
            </a:r>
            <a:r>
              <a:rPr lang="zh-CN" altLang="en-US"/>
              <a:t>项目集规范族</a:t>
            </a:r>
          </a:p>
        </p:txBody>
      </p:sp>
      <p:sp>
        <p:nvSpPr>
          <p:cNvPr id="147459" name="Rectangle 3">
            <a:extLst>
              <a:ext uri="{FF2B5EF4-FFF2-40B4-BE49-F238E27FC236}">
                <a16:creationId xmlns:a16="http://schemas.microsoft.com/office/drawing/2014/main" id="{A93D1E29-A843-4AD6-897A-556CD43C2B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I</a:t>
            </a:r>
            <a:r>
              <a:rPr lang="en-US" altLang="zh-CN" sz="2400" baseline="-25000"/>
              <a:t>0</a:t>
            </a:r>
            <a:r>
              <a:rPr lang="en-US" altLang="zh-CN" sz="2400"/>
              <a:t> 				I</a:t>
            </a:r>
            <a:r>
              <a:rPr lang="en-US" altLang="zh-CN" sz="2400" baseline="-25000"/>
              <a:t>3</a:t>
            </a:r>
            <a:endParaRPr lang="en-US" altLang="zh-CN" sz="24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/>
              <a:t>S’ </a:t>
            </a:r>
            <a:r>
              <a:rPr lang="en-US" altLang="zh-CN" sz="2000" b="1">
                <a:sym typeface="Symbol" panose="05050102010706020507" pitchFamily="18" charset="2"/>
              </a:rPr>
              <a:t> .S			 </a:t>
            </a:r>
            <a:r>
              <a:rPr lang="en-US" altLang="zh-CN" sz="2000" b="1"/>
              <a:t>S </a:t>
            </a:r>
            <a:r>
              <a:rPr lang="en-US" altLang="zh-CN" sz="2000" b="1">
                <a:sym typeface="Symbol" panose="05050102010706020507" pitchFamily="18" charset="2"/>
              </a:rPr>
              <a:t> a.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/>
              <a:t>S </a:t>
            </a:r>
            <a:r>
              <a:rPr lang="en-US" altLang="zh-CN" sz="2000" b="1">
                <a:sym typeface="Symbol" panose="05050102010706020507" pitchFamily="18" charset="2"/>
              </a:rPr>
              <a:t> .iSeS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/>
              <a:t>S </a:t>
            </a:r>
            <a:r>
              <a:rPr lang="en-US" altLang="zh-CN" sz="2000" b="1">
                <a:sym typeface="Symbol" panose="05050102010706020507" pitchFamily="18" charset="2"/>
              </a:rPr>
              <a:t> .iS			</a:t>
            </a:r>
            <a:r>
              <a:rPr lang="en-US" altLang="zh-CN" sz="2000">
                <a:sym typeface="Symbol" panose="05050102010706020507" pitchFamily="18" charset="2"/>
              </a:rPr>
              <a:t>I</a:t>
            </a:r>
            <a:r>
              <a:rPr lang="en-US" altLang="zh-CN" sz="2000" baseline="-25000">
                <a:sym typeface="Symbol" panose="05050102010706020507" pitchFamily="18" charset="2"/>
              </a:rPr>
              <a:t>4</a:t>
            </a:r>
            <a:endParaRPr lang="en-US" altLang="zh-CN" sz="20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sym typeface="Symbol" panose="05050102010706020507" pitchFamily="18" charset="2"/>
              </a:rPr>
              <a:t>S  .a			</a:t>
            </a:r>
            <a:r>
              <a:rPr lang="en-US" altLang="zh-CN" sz="2000" b="1"/>
              <a:t>S </a:t>
            </a:r>
            <a:r>
              <a:rPr lang="en-US" altLang="zh-CN" sz="2000" b="1">
                <a:sym typeface="Symbol" panose="05050102010706020507" pitchFamily="18" charset="2"/>
              </a:rPr>
              <a:t> iS.eS 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				</a:t>
            </a:r>
            <a:r>
              <a:rPr lang="en-US" altLang="zh-CN" sz="2000" b="1"/>
              <a:t>S </a:t>
            </a:r>
            <a:r>
              <a:rPr lang="en-US" altLang="zh-CN" sz="2000" b="1">
                <a:sym typeface="Symbol" panose="05050102010706020507" pitchFamily="18" charset="2"/>
              </a:rPr>
              <a:t> iS.</a:t>
            </a:r>
            <a:endParaRPr lang="en-US" altLang="zh-CN" sz="2400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I</a:t>
            </a:r>
            <a:r>
              <a:rPr lang="en-US" altLang="zh-CN" sz="2400" baseline="-25000"/>
              <a:t>1</a:t>
            </a:r>
            <a:endParaRPr lang="en-US" altLang="zh-CN" sz="2400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/>
              <a:t>S’ </a:t>
            </a:r>
            <a:r>
              <a:rPr lang="en-US" altLang="zh-CN" sz="2000" b="1">
                <a:sym typeface="Symbol" panose="05050102010706020507" pitchFamily="18" charset="2"/>
              </a:rPr>
              <a:t>S.			</a:t>
            </a:r>
            <a:r>
              <a:rPr lang="en-US" altLang="zh-CN" sz="2000">
                <a:sym typeface="Symbol" panose="05050102010706020507" pitchFamily="18" charset="2"/>
              </a:rPr>
              <a:t>I</a:t>
            </a:r>
            <a:r>
              <a:rPr lang="en-US" altLang="zh-CN" sz="2000" baseline="-25000">
                <a:sym typeface="Symbol" panose="05050102010706020507" pitchFamily="18" charset="2"/>
              </a:rPr>
              <a:t>5</a:t>
            </a:r>
            <a:endParaRPr lang="en-US" altLang="zh-CN" sz="20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sym typeface="Symbol" panose="05050102010706020507" pitchFamily="18" charset="2"/>
              </a:rPr>
              <a:t>				</a:t>
            </a:r>
            <a:r>
              <a:rPr lang="en-US" altLang="zh-CN" sz="2000" b="1"/>
              <a:t>S </a:t>
            </a:r>
            <a:r>
              <a:rPr lang="en-US" altLang="zh-CN" sz="2000" b="1">
                <a:sym typeface="Symbol" panose="05050102010706020507" pitchFamily="18" charset="2"/>
              </a:rPr>
              <a:t> iSe.S 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ym typeface="Symbol" panose="05050102010706020507" pitchFamily="18" charset="2"/>
              </a:rPr>
              <a:t>I</a:t>
            </a:r>
            <a:r>
              <a:rPr lang="en-US" altLang="zh-CN" sz="2000" baseline="-25000">
                <a:sym typeface="Symbol" panose="05050102010706020507" pitchFamily="18" charset="2"/>
              </a:rPr>
              <a:t>2				</a:t>
            </a:r>
            <a:r>
              <a:rPr lang="en-US" altLang="zh-CN" sz="2000" b="1"/>
              <a:t>S </a:t>
            </a:r>
            <a:r>
              <a:rPr lang="en-US" altLang="zh-CN" sz="2000" b="1">
                <a:sym typeface="Symbol" panose="05050102010706020507" pitchFamily="18" charset="2"/>
              </a:rPr>
              <a:t> .iSeS </a:t>
            </a:r>
            <a:endParaRPr lang="en-US" altLang="zh-CN" sz="2000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/>
              <a:t>S </a:t>
            </a:r>
            <a:r>
              <a:rPr lang="en-US" altLang="zh-CN" sz="2000" b="1">
                <a:sym typeface="Symbol" panose="05050102010706020507" pitchFamily="18" charset="2"/>
              </a:rPr>
              <a:t> i.SeS		</a:t>
            </a:r>
            <a:r>
              <a:rPr lang="en-US" altLang="zh-CN" sz="2000" b="1"/>
              <a:t>S </a:t>
            </a:r>
            <a:r>
              <a:rPr lang="en-US" altLang="zh-CN" sz="2000" b="1">
                <a:sym typeface="Symbol" panose="05050102010706020507" pitchFamily="18" charset="2"/>
              </a:rPr>
              <a:t> .iS</a:t>
            </a:r>
            <a:endParaRPr lang="en-US" altLang="zh-CN" sz="20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/>
              <a:t>S </a:t>
            </a:r>
            <a:r>
              <a:rPr lang="en-US" altLang="zh-CN" sz="2000" b="1">
                <a:sym typeface="Symbol" panose="05050102010706020507" pitchFamily="18" charset="2"/>
              </a:rPr>
              <a:t> i.S 			S  .a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/>
              <a:t>S </a:t>
            </a:r>
            <a:r>
              <a:rPr lang="en-US" altLang="zh-CN" sz="2000" b="1">
                <a:sym typeface="Symbol" panose="05050102010706020507" pitchFamily="18" charset="2"/>
              </a:rPr>
              <a:t> .iSeS</a:t>
            </a:r>
            <a:endParaRPr lang="en-US" altLang="zh-CN" sz="2000"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/>
              <a:t>S </a:t>
            </a:r>
            <a:r>
              <a:rPr lang="en-US" altLang="zh-CN" sz="2000" b="1">
                <a:sym typeface="Symbol" panose="05050102010706020507" pitchFamily="18" charset="2"/>
              </a:rPr>
              <a:t> .iS			</a:t>
            </a:r>
            <a:r>
              <a:rPr lang="en-US" altLang="zh-CN" sz="2000">
                <a:sym typeface="Symbol" panose="05050102010706020507" pitchFamily="18" charset="2"/>
              </a:rPr>
              <a:t>I</a:t>
            </a:r>
            <a:r>
              <a:rPr lang="en-US" altLang="zh-CN" sz="2000" baseline="-25000">
                <a:sym typeface="Symbol" panose="05050102010706020507" pitchFamily="18" charset="2"/>
              </a:rPr>
              <a:t>6</a:t>
            </a:r>
            <a:endParaRPr lang="en-US" altLang="zh-CN" sz="2000" b="1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sym typeface="Symbol" panose="05050102010706020507" pitchFamily="18" charset="2"/>
              </a:rPr>
              <a:t>S  .a			S  iSeS.</a:t>
            </a:r>
            <a:endParaRPr lang="en-US" altLang="zh-CN" sz="2800"/>
          </a:p>
        </p:txBody>
      </p:sp>
      <p:sp>
        <p:nvSpPr>
          <p:cNvPr id="147460" name="Text Box 4">
            <a:extLst>
              <a:ext uri="{FF2B5EF4-FFF2-40B4-BE49-F238E27FC236}">
                <a16:creationId xmlns:a16="http://schemas.microsoft.com/office/drawing/2014/main" id="{5468D5CD-9F2C-447B-95D5-86A58FE69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8325" y="3546475"/>
            <a:ext cx="203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chemeClr val="accent2"/>
                </a:solidFill>
              </a:rPr>
              <a:t>Follow(S)= $,e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>
            <a:extLst>
              <a:ext uri="{FF2B5EF4-FFF2-40B4-BE49-F238E27FC236}">
                <a16:creationId xmlns:a16="http://schemas.microsoft.com/office/drawing/2014/main" id="{6FB3ECE1-7BD5-4353-B13D-D1283237D4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分析表</a:t>
            </a:r>
          </a:p>
        </p:txBody>
      </p:sp>
      <p:sp>
        <p:nvSpPr>
          <p:cNvPr id="148483" name="Rectangle 3">
            <a:extLst>
              <a:ext uri="{FF2B5EF4-FFF2-40B4-BE49-F238E27FC236}">
                <a16:creationId xmlns:a16="http://schemas.microsoft.com/office/drawing/2014/main" id="{42C02344-3770-4017-9BD1-BC19389048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34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u="sng"/>
              <a:t>	i	e	a	$	</a:t>
            </a:r>
            <a:r>
              <a:rPr lang="en-US" altLang="zh-CN" sz="2000" i="1" u="sng"/>
              <a:t>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0	s2		s3		</a:t>
            </a:r>
            <a:r>
              <a:rPr lang="en-US" altLang="zh-CN" sz="2000" i="1"/>
              <a:t>1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1				acc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2	s2		s3		</a:t>
            </a:r>
            <a:r>
              <a:rPr lang="en-US" altLang="zh-CN" sz="2000" i="1"/>
              <a:t>4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3		r3		r3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4		</a:t>
            </a:r>
            <a:r>
              <a:rPr lang="en-US" altLang="zh-CN" sz="2000">
                <a:solidFill>
                  <a:srgbClr val="FF3300"/>
                </a:solidFill>
              </a:rPr>
              <a:t>s5/r2</a:t>
            </a:r>
            <a:r>
              <a:rPr lang="en-US" altLang="zh-CN" sz="2000"/>
              <a:t>		r2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5	s2		s3		</a:t>
            </a:r>
            <a:r>
              <a:rPr lang="en-US" altLang="zh-CN" sz="2000" i="1"/>
              <a:t>6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6		r1		r1</a:t>
            </a:r>
          </a:p>
          <a:p>
            <a:pPr eaLnBrk="1" hangingPunct="1"/>
            <a:r>
              <a:rPr lang="en-US" altLang="zh-CN" sz="2800"/>
              <a:t>action[4, e]</a:t>
            </a:r>
            <a:r>
              <a:rPr lang="zh-CN" altLang="en-US" sz="2800"/>
              <a:t>，移进</a:t>
            </a:r>
            <a:r>
              <a:rPr lang="en-US" altLang="zh-CN" sz="2800"/>
              <a:t>/</a:t>
            </a:r>
            <a:r>
              <a:rPr lang="zh-CN" altLang="en-US" sz="2800"/>
              <a:t>归约冲突</a:t>
            </a:r>
          </a:p>
          <a:p>
            <a:pPr eaLnBrk="1" hangingPunct="1"/>
            <a:r>
              <a:rPr lang="en-US" altLang="zh-CN" sz="2800"/>
              <a:t>else</a:t>
            </a:r>
            <a:r>
              <a:rPr lang="zh-CN" altLang="en-US" sz="2800"/>
              <a:t>跟随之前最近的</a:t>
            </a:r>
            <a:r>
              <a:rPr lang="en-US" altLang="zh-CN" sz="2800"/>
              <a:t>if</a:t>
            </a:r>
            <a:r>
              <a:rPr lang="zh-CN" altLang="en-US" sz="2800"/>
              <a:t>，选择移进！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>
            <a:extLst>
              <a:ext uri="{FF2B5EF4-FFF2-40B4-BE49-F238E27FC236}">
                <a16:creationId xmlns:a16="http://schemas.microsoft.com/office/drawing/2014/main" id="{501D852C-D022-44B8-94D5-B2101EA0BD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4.8.3  </a:t>
            </a:r>
            <a:r>
              <a:rPr lang="zh-CN" altLang="en-US"/>
              <a:t>特殊产生式二义性</a:t>
            </a:r>
          </a:p>
        </p:txBody>
      </p:sp>
      <p:sp>
        <p:nvSpPr>
          <p:cNvPr id="149507" name="Rectangle 3">
            <a:extLst>
              <a:ext uri="{FF2B5EF4-FFF2-40B4-BE49-F238E27FC236}">
                <a16:creationId xmlns:a16="http://schemas.microsoft.com/office/drawing/2014/main" id="{59274960-1D69-4118-82D4-CDC4AAFFE3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1. E 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2. E 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3. E 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4. E 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{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5. E 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c</a:t>
            </a:r>
            <a:endParaRPr lang="en-US" altLang="zh-CN"/>
          </a:p>
          <a:p>
            <a:pPr eaLnBrk="1" hangingPunct="1"/>
            <a:r>
              <a:rPr lang="zh-CN" altLang="en-US"/>
              <a:t>产生式</a:t>
            </a:r>
            <a:r>
              <a:rPr lang="en-US" altLang="zh-CN"/>
              <a:t>1</a:t>
            </a:r>
            <a:r>
              <a:rPr lang="zh-CN" altLang="en-US"/>
              <a:t>为特殊情况：   ，而不是</a:t>
            </a:r>
          </a:p>
        </p:txBody>
      </p:sp>
      <p:graphicFrame>
        <p:nvGraphicFramePr>
          <p:cNvPr id="149508" name="Object 4">
            <a:extLst>
              <a:ext uri="{FF2B5EF4-FFF2-40B4-BE49-F238E27FC236}">
                <a16:creationId xmlns:a16="http://schemas.microsoft.com/office/drawing/2014/main" id="{D3E1302B-8F27-4195-A789-78726EFAA5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0" y="3505200"/>
          <a:ext cx="533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92" name="Equation" r:id="rId3" imgW="177646" imgH="241091" progId="Equation.3">
                  <p:embed/>
                </p:oleObj>
              </mc:Choice>
              <mc:Fallback>
                <p:oleObj name="Equation" r:id="rId3" imgW="177646" imgH="24109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505200"/>
                        <a:ext cx="5334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09" name="Object 5">
            <a:extLst>
              <a:ext uri="{FF2B5EF4-FFF2-40B4-BE49-F238E27FC236}">
                <a16:creationId xmlns:a16="http://schemas.microsoft.com/office/drawing/2014/main" id="{30F8837E-025D-4A4D-9FC6-F98767A1CE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15200" y="3467100"/>
          <a:ext cx="6096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93" name="Equation" r:id="rId5" imgW="203024" imgH="253780" progId="Equation.3">
                  <p:embed/>
                </p:oleObj>
              </mc:Choice>
              <mc:Fallback>
                <p:oleObj name="Equation" r:id="rId5" imgW="203024" imgH="2537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3467100"/>
                        <a:ext cx="6096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>
            <a:extLst>
              <a:ext uri="{FF2B5EF4-FFF2-40B4-BE49-F238E27FC236}">
                <a16:creationId xmlns:a16="http://schemas.microsoft.com/office/drawing/2014/main" id="{6812399C-8164-4EC2-A61C-38537D86B6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LR(0)</a:t>
            </a:r>
            <a:r>
              <a:rPr lang="zh-CN" altLang="en-US"/>
              <a:t>项目集规范族</a:t>
            </a:r>
          </a:p>
        </p:txBody>
      </p:sp>
      <p:sp>
        <p:nvSpPr>
          <p:cNvPr id="150531" name="Text Box 4">
            <a:extLst>
              <a:ext uri="{FF2B5EF4-FFF2-40B4-BE49-F238E27FC236}">
                <a16:creationId xmlns:a16="http://schemas.microsoft.com/office/drawing/2014/main" id="{7D02ADF7-096F-4CD3-99FC-7494339E9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174750"/>
            <a:ext cx="2438400" cy="294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0</a:t>
            </a:r>
            <a:r>
              <a:rPr kumimoji="0" lang="en-US" altLang="zh-CN" sz="2400"/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E’ </a:t>
            </a:r>
            <a:r>
              <a:rPr kumimoji="0" lang="en-US" altLang="zh-CN" sz="2400" b="1">
                <a:sym typeface="Symbol" panose="05050102010706020507" pitchFamily="18" charset="2"/>
              </a:rPr>
              <a:t> ·E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lang="en-US" altLang="zh-CN" sz="2400" b="1">
                <a:sym typeface="Symbol" panose="05050102010706020507" pitchFamily="18" charset="2"/>
              </a:rPr>
              <a:t>E ·E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{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c</a:t>
            </a:r>
          </a:p>
        </p:txBody>
      </p:sp>
      <p:sp>
        <p:nvSpPr>
          <p:cNvPr id="150532" name="Text Box 5">
            <a:extLst>
              <a:ext uri="{FF2B5EF4-FFF2-40B4-BE49-F238E27FC236}">
                <a16:creationId xmlns:a16="http://schemas.microsoft.com/office/drawing/2014/main" id="{BEB215BB-D78D-4974-80EB-11EA779DCD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1725" y="1174750"/>
            <a:ext cx="2378075" cy="206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1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0</a:t>
            </a:r>
            <a:r>
              <a:rPr kumimoji="0" lang="en-US" altLang="zh-CN" sz="2400">
                <a:solidFill>
                  <a:srgbClr val="3333CC"/>
                </a:solidFill>
              </a:rPr>
              <a:t>, E)</a:t>
            </a:r>
            <a:r>
              <a:rPr kumimoji="0" lang="en-US" altLang="zh-CN" sz="2400"/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/>
              <a:t>E’ </a:t>
            </a:r>
            <a:r>
              <a:rPr kumimoji="0" lang="en-US" altLang="zh-CN" sz="2400" b="1">
                <a:sym typeface="Symbol" panose="05050102010706020507" pitchFamily="18" charset="2"/>
              </a:rPr>
              <a:t> E·</a:t>
            </a:r>
            <a:br>
              <a:rPr kumimoji="0" lang="en-US" altLang="zh-CN" sz="2400" b="1">
                <a:sym typeface="Symbol" panose="05050102010706020507" pitchFamily="18" charset="2"/>
              </a:rPr>
            </a:br>
            <a:r>
              <a:rPr lang="en-US" altLang="zh-CN" sz="2400" b="1">
                <a:sym typeface="Symbol" panose="05050102010706020507" pitchFamily="18" charset="2"/>
              </a:rPr>
              <a:t>E E·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50533" name="Text Box 6">
            <a:extLst>
              <a:ext uri="{FF2B5EF4-FFF2-40B4-BE49-F238E27FC236}">
                <a16:creationId xmlns:a16="http://schemas.microsoft.com/office/drawing/2014/main" id="{72A590F3-3F93-4B87-9340-38A187487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174750"/>
            <a:ext cx="2368550" cy="250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2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0</a:t>
            </a:r>
            <a:r>
              <a:rPr kumimoji="0" lang="en-US" altLang="zh-CN" sz="2400">
                <a:solidFill>
                  <a:srgbClr val="3333CC"/>
                </a:solidFill>
              </a:rPr>
              <a:t>, ()</a:t>
            </a:r>
            <a:br>
              <a:rPr kumimoji="0" lang="en-US" altLang="zh-CN" sz="2400"/>
            </a:br>
            <a:r>
              <a:rPr lang="en-US" altLang="zh-CN" sz="2400" b="1">
                <a:sym typeface="Symbol" panose="05050102010706020507" pitchFamily="18" charset="2"/>
              </a:rPr>
              <a:t>E 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{·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c</a:t>
            </a:r>
            <a:r>
              <a:rPr kumimoji="0" lang="en-US" altLang="zh-CN" sz="2400" b="1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150534" name="Text Box 7">
            <a:extLst>
              <a:ext uri="{FF2B5EF4-FFF2-40B4-BE49-F238E27FC236}">
                <a16:creationId xmlns:a16="http://schemas.microsoft.com/office/drawing/2014/main" id="{37C26A40-6239-4C72-A172-F8338FA18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968875"/>
            <a:ext cx="20224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3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0</a:t>
            </a:r>
            <a:r>
              <a:rPr kumimoji="0" lang="en-US" altLang="zh-CN" sz="2400">
                <a:solidFill>
                  <a:srgbClr val="3333CC"/>
                </a:solidFill>
              </a:rPr>
              <a:t>, c)</a:t>
            </a:r>
            <a:r>
              <a:rPr kumimoji="0" lang="en-US" altLang="zh-CN" sz="2400"/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c·</a:t>
            </a:r>
          </a:p>
        </p:txBody>
      </p:sp>
      <p:sp>
        <p:nvSpPr>
          <p:cNvPr id="150535" name="Text Box 8">
            <a:extLst>
              <a:ext uri="{FF2B5EF4-FFF2-40B4-BE49-F238E27FC236}">
                <a16:creationId xmlns:a16="http://schemas.microsoft.com/office/drawing/2014/main" id="{A5BF4FD4-71ED-48FE-B339-6C5D8A88C8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6963" y="3403600"/>
            <a:ext cx="2368550" cy="337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4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1</a:t>
            </a:r>
            <a:r>
              <a:rPr kumimoji="0" lang="en-US" altLang="zh-CN" sz="2400">
                <a:solidFill>
                  <a:srgbClr val="3333CC"/>
                </a:solidFill>
              </a:rPr>
              <a:t>, </a:t>
            </a:r>
            <a:r>
              <a:rPr kumimoji="0" lang="en-US" altLang="zh-CN" sz="2400" b="1">
                <a:solidFill>
                  <a:srgbClr val="3333CC"/>
                </a:solidFill>
              </a:rPr>
              <a:t>sub</a:t>
            </a:r>
            <a:r>
              <a:rPr kumimoji="0" lang="en-US" altLang="zh-CN" sz="2400">
                <a:solidFill>
                  <a:srgbClr val="3333CC"/>
                </a:solidFill>
              </a:rPr>
              <a:t>)</a:t>
            </a:r>
            <a:r>
              <a:rPr kumimoji="0" lang="en-US" altLang="zh-CN" sz="2400"/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sub·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sub·</a:t>
            </a:r>
            <a:r>
              <a:rPr lang="en-US" altLang="zh-CN" sz="2400" b="1">
                <a:sym typeface="Symbol" panose="05050102010706020507" pitchFamily="18" charset="2"/>
              </a:rPr>
              <a:t>E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{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c</a:t>
            </a:r>
          </a:p>
        </p:txBody>
      </p:sp>
      <p:sp>
        <p:nvSpPr>
          <p:cNvPr id="150536" name="Text Box 11">
            <a:extLst>
              <a:ext uri="{FF2B5EF4-FFF2-40B4-BE49-F238E27FC236}">
                <a16:creationId xmlns:a16="http://schemas.microsoft.com/office/drawing/2014/main" id="{EA2A3230-1682-4EE7-88CC-C9BC687BB2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768725"/>
            <a:ext cx="2368550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5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1</a:t>
            </a:r>
            <a:r>
              <a:rPr kumimoji="0" lang="en-US" altLang="zh-CN" sz="2400">
                <a:solidFill>
                  <a:srgbClr val="3333CC"/>
                </a:solidFill>
              </a:rPr>
              <a:t>, </a:t>
            </a:r>
            <a:r>
              <a:rPr kumimoji="0" lang="en-US" altLang="zh-CN" sz="2400" b="1">
                <a:solidFill>
                  <a:srgbClr val="3333CC"/>
                </a:solidFill>
              </a:rPr>
              <a:t>sup</a:t>
            </a:r>
            <a:r>
              <a:rPr kumimoji="0" lang="en-US" altLang="zh-CN" sz="2400">
                <a:solidFill>
                  <a:srgbClr val="3333CC"/>
                </a:solidFill>
              </a:rPr>
              <a:t>)</a:t>
            </a:r>
            <a:r>
              <a:rPr kumimoji="0" lang="en-US" altLang="zh-CN" sz="2400"/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sup·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{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c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>
            <a:extLst>
              <a:ext uri="{FF2B5EF4-FFF2-40B4-BE49-F238E27FC236}">
                <a16:creationId xmlns:a16="http://schemas.microsoft.com/office/drawing/2014/main" id="{E7B1589C-DCF1-4A50-808E-E90DB42A26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LR(0)</a:t>
            </a:r>
            <a:r>
              <a:rPr lang="zh-CN" altLang="en-US"/>
              <a:t>项目集规范族（续）</a:t>
            </a:r>
          </a:p>
        </p:txBody>
      </p:sp>
      <p:sp>
        <p:nvSpPr>
          <p:cNvPr id="151555" name="Text Box 4">
            <a:extLst>
              <a:ext uri="{FF2B5EF4-FFF2-40B4-BE49-F238E27FC236}">
                <a16:creationId xmlns:a16="http://schemas.microsoft.com/office/drawing/2014/main" id="{7884C8B3-1D2E-4480-95DF-27F7F2C2A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1725" y="1174750"/>
            <a:ext cx="2378075" cy="250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7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4</a:t>
            </a:r>
            <a:r>
              <a:rPr kumimoji="0" lang="en-US" altLang="zh-CN" sz="2400">
                <a:solidFill>
                  <a:srgbClr val="3333CC"/>
                </a:solidFill>
              </a:rPr>
              <a:t>, E)</a:t>
            </a:r>
            <a:r>
              <a:rPr kumimoji="0" lang="en-US" altLang="zh-CN" sz="2400"/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E·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51556" name="Text Box 5">
            <a:extLst>
              <a:ext uri="{FF2B5EF4-FFF2-40B4-BE49-F238E27FC236}">
                <a16:creationId xmlns:a16="http://schemas.microsoft.com/office/drawing/2014/main" id="{466563C4-4F58-4928-82CC-13FB5B6BF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9050" y="1174750"/>
            <a:ext cx="2368550" cy="206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6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2</a:t>
            </a:r>
            <a:r>
              <a:rPr kumimoji="0" lang="en-US" altLang="zh-CN" sz="2400">
                <a:solidFill>
                  <a:srgbClr val="3333CC"/>
                </a:solidFill>
              </a:rPr>
              <a:t>, E)</a:t>
            </a:r>
            <a:br>
              <a:rPr kumimoji="0" lang="en-US" altLang="zh-CN" sz="2400"/>
            </a:br>
            <a:r>
              <a:rPr lang="en-US" altLang="zh-CN" sz="2400" b="1">
                <a:sym typeface="Symbol" panose="05050102010706020507" pitchFamily="18" charset="2"/>
              </a:rPr>
              <a:t>E E·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{</a:t>
            </a:r>
            <a:r>
              <a:rPr lang="en-US" altLang="zh-CN" sz="2400" b="1">
                <a:sym typeface="Symbol" panose="05050102010706020507" pitchFamily="18" charset="2"/>
              </a:rPr>
              <a:t>E·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}</a:t>
            </a:r>
          </a:p>
        </p:txBody>
      </p:sp>
      <p:sp>
        <p:nvSpPr>
          <p:cNvPr id="151557" name="Text Box 6">
            <a:extLst>
              <a:ext uri="{FF2B5EF4-FFF2-40B4-BE49-F238E27FC236}">
                <a16:creationId xmlns:a16="http://schemas.microsoft.com/office/drawing/2014/main" id="{589852DB-4D08-4FF5-B342-72F70C78DC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8550" y="4495800"/>
            <a:ext cx="203358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9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6</a:t>
            </a:r>
            <a:r>
              <a:rPr kumimoji="0" lang="en-US" altLang="zh-CN" sz="2400">
                <a:solidFill>
                  <a:srgbClr val="3333CC"/>
                </a:solidFill>
              </a:rPr>
              <a:t>, })</a:t>
            </a:r>
            <a:r>
              <a:rPr kumimoji="0" lang="en-US" altLang="zh-CN" sz="2400"/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{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}·</a:t>
            </a:r>
          </a:p>
        </p:txBody>
      </p:sp>
      <p:sp>
        <p:nvSpPr>
          <p:cNvPr id="151558" name="Text Box 7">
            <a:extLst>
              <a:ext uri="{FF2B5EF4-FFF2-40B4-BE49-F238E27FC236}">
                <a16:creationId xmlns:a16="http://schemas.microsoft.com/office/drawing/2014/main" id="{0A538B95-2339-4287-81A9-93BDA74F1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0638" y="3403600"/>
            <a:ext cx="2447925" cy="337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10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7</a:t>
            </a:r>
            <a:r>
              <a:rPr kumimoji="0" lang="en-US" altLang="zh-CN" sz="2400">
                <a:solidFill>
                  <a:srgbClr val="3333CC"/>
                </a:solidFill>
              </a:rPr>
              <a:t>, </a:t>
            </a:r>
            <a:r>
              <a:rPr kumimoji="0" lang="en-US" altLang="zh-CN" sz="2400" b="1">
                <a:solidFill>
                  <a:srgbClr val="3333CC"/>
                </a:solidFill>
              </a:rPr>
              <a:t>sup</a:t>
            </a:r>
            <a:r>
              <a:rPr kumimoji="0" lang="en-US" altLang="zh-CN" sz="2400">
                <a:solidFill>
                  <a:srgbClr val="3333CC"/>
                </a:solidFill>
              </a:rPr>
              <a:t>)</a:t>
            </a:r>
            <a:r>
              <a:rPr kumimoji="0" lang="en-US" altLang="zh-CN" sz="2400"/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sup·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sup·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{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c</a:t>
            </a:r>
          </a:p>
        </p:txBody>
      </p:sp>
      <p:sp>
        <p:nvSpPr>
          <p:cNvPr id="151559" name="Text Box 8">
            <a:extLst>
              <a:ext uri="{FF2B5EF4-FFF2-40B4-BE49-F238E27FC236}">
                <a16:creationId xmlns:a16="http://schemas.microsoft.com/office/drawing/2014/main" id="{F5E2ECFC-6582-45F1-99E9-C938D2FEF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768725"/>
            <a:ext cx="2368550" cy="250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11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10</a:t>
            </a:r>
            <a:r>
              <a:rPr kumimoji="0" lang="en-US" altLang="zh-CN" sz="2400">
                <a:solidFill>
                  <a:srgbClr val="3333CC"/>
                </a:solidFill>
              </a:rPr>
              <a:t>, </a:t>
            </a:r>
            <a:r>
              <a:rPr kumimoji="0" lang="en-US" altLang="zh-CN" sz="2400" b="1">
                <a:solidFill>
                  <a:srgbClr val="3333CC"/>
                </a:solidFill>
              </a:rPr>
              <a:t>E</a:t>
            </a:r>
            <a:r>
              <a:rPr kumimoji="0" lang="en-US" altLang="zh-CN" sz="2400">
                <a:solidFill>
                  <a:srgbClr val="3333CC"/>
                </a:solidFill>
              </a:rPr>
              <a:t>)</a:t>
            </a:r>
            <a:r>
              <a:rPr kumimoji="0" lang="en-US" altLang="zh-CN" sz="2400"/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E·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E·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51560" name="Text Box 9">
            <a:extLst>
              <a:ext uri="{FF2B5EF4-FFF2-40B4-BE49-F238E27FC236}">
                <a16:creationId xmlns:a16="http://schemas.microsoft.com/office/drawing/2014/main" id="{FBB01418-4AB0-4C1D-AC80-0D7DCE4D1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0125" y="1155700"/>
            <a:ext cx="2378075" cy="213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8</a:t>
            </a:r>
            <a:r>
              <a:rPr kumimoji="0" lang="en-US" altLang="zh-CN" sz="2400">
                <a:solidFill>
                  <a:srgbClr val="3333CC"/>
                </a:solidFill>
              </a:rPr>
              <a:t> = goto(I</a:t>
            </a:r>
            <a:r>
              <a:rPr kumimoji="0" lang="en-US" altLang="zh-CN" sz="2400" baseline="-25000">
                <a:solidFill>
                  <a:srgbClr val="3333CC"/>
                </a:solidFill>
              </a:rPr>
              <a:t>5</a:t>
            </a:r>
            <a:r>
              <a:rPr kumimoji="0" lang="en-US" altLang="zh-CN" sz="2400">
                <a:solidFill>
                  <a:srgbClr val="3333CC"/>
                </a:solidFill>
              </a:rPr>
              <a:t>, E)</a:t>
            </a:r>
            <a:r>
              <a:rPr kumimoji="0" lang="en-US" altLang="zh-CN" sz="2400"/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lang="en-US" altLang="zh-CN" sz="2400" b="1">
                <a:sym typeface="Symbol" panose="05050102010706020507" pitchFamily="18" charset="2"/>
              </a:rPr>
              <a:t>E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E·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sym typeface="Symbol" panose="05050102010706020507" pitchFamily="18" charset="2"/>
              </a:rPr>
              <a:t>E E</a:t>
            </a:r>
            <a:r>
              <a:rPr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 sz="2400" b="1">
                <a:sym typeface="Symbol" panose="05050102010706020507" pitchFamily="18" charset="2"/>
              </a:rPr>
              <a:t>E·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>
            <a:extLst>
              <a:ext uri="{FF2B5EF4-FFF2-40B4-BE49-F238E27FC236}">
                <a16:creationId xmlns:a16="http://schemas.microsoft.com/office/drawing/2014/main" id="{E161A350-C2EF-4EFA-99F7-C98B354D3D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冲突解决方法</a:t>
            </a:r>
          </a:p>
        </p:txBody>
      </p:sp>
      <p:sp>
        <p:nvSpPr>
          <p:cNvPr id="152579" name="Rectangle 3">
            <a:extLst>
              <a:ext uri="{FF2B5EF4-FFF2-40B4-BE49-F238E27FC236}">
                <a16:creationId xmlns:a16="http://schemas.microsoft.com/office/drawing/2014/main" id="{7109D5F7-A889-42C6-8590-552C2CBB0A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I</a:t>
            </a:r>
            <a:r>
              <a:rPr lang="en-US" altLang="zh-CN" baseline="-25000"/>
              <a:t>7</a:t>
            </a:r>
            <a:r>
              <a:rPr lang="en-US" altLang="zh-CN"/>
              <a:t>, I</a:t>
            </a:r>
            <a:r>
              <a:rPr lang="en-US" altLang="zh-CN" baseline="-25000"/>
              <a:t>8</a:t>
            </a:r>
            <a:r>
              <a:rPr lang="en-US" altLang="zh-CN"/>
              <a:t>, I</a:t>
            </a:r>
            <a:r>
              <a:rPr lang="en-US" altLang="zh-CN" baseline="-25000"/>
              <a:t>11</a:t>
            </a:r>
            <a:r>
              <a:rPr lang="zh-CN" altLang="en-US"/>
              <a:t>，对</a:t>
            </a:r>
            <a:r>
              <a:rPr lang="en-US" altLang="zh-CN" b="1"/>
              <a:t>sub</a:t>
            </a:r>
            <a:r>
              <a:rPr lang="zh-CN" altLang="en-US"/>
              <a:t>和</a:t>
            </a:r>
            <a:r>
              <a:rPr lang="en-US" altLang="zh-CN" b="1"/>
              <a:t>sup</a:t>
            </a:r>
            <a:r>
              <a:rPr lang="zh-CN" altLang="en-US"/>
              <a:t>，移进</a:t>
            </a:r>
            <a:r>
              <a:rPr lang="en-US" altLang="zh-CN"/>
              <a:t>/</a:t>
            </a:r>
            <a:r>
              <a:rPr lang="zh-CN" altLang="en-US"/>
              <a:t>归约冲突</a:t>
            </a:r>
          </a:p>
          <a:p>
            <a:pPr lvl="1" eaLnBrk="1" hangingPunct="1"/>
            <a:r>
              <a:rPr lang="en-US" altLang="zh-CN"/>
              <a:t>sub</a:t>
            </a:r>
            <a:r>
              <a:rPr lang="zh-CN" altLang="en-US"/>
              <a:t>和</a:t>
            </a:r>
            <a:r>
              <a:rPr lang="en-US" altLang="zh-CN"/>
              <a:t>sup</a:t>
            </a:r>
            <a:r>
              <a:rPr lang="zh-CN" altLang="en-US"/>
              <a:t>的优先级和结合率未指定</a:t>
            </a:r>
          </a:p>
          <a:p>
            <a:pPr lvl="1" eaLnBrk="1" hangingPunct="1"/>
            <a:r>
              <a:rPr lang="zh-CN" altLang="en-US"/>
              <a:t>优先级相等，右结合，移进！</a:t>
            </a:r>
          </a:p>
          <a:p>
            <a:pPr eaLnBrk="1" hangingPunct="1"/>
            <a:r>
              <a:rPr lang="en-US" altLang="zh-CN"/>
              <a:t>I</a:t>
            </a:r>
            <a:r>
              <a:rPr lang="en-US" altLang="zh-CN" baseline="-25000"/>
              <a:t>11</a:t>
            </a:r>
            <a:r>
              <a:rPr lang="zh-CN" altLang="en-US"/>
              <a:t>对</a:t>
            </a:r>
            <a:r>
              <a:rPr lang="en-US" altLang="zh-CN"/>
              <a:t>}</a:t>
            </a:r>
            <a:r>
              <a:rPr lang="zh-CN" altLang="en-US"/>
              <a:t>和</a:t>
            </a:r>
            <a:r>
              <a:rPr lang="en-US" altLang="zh-CN"/>
              <a:t>$</a:t>
            </a:r>
            <a:r>
              <a:rPr lang="zh-CN" altLang="en-US"/>
              <a:t>，归约</a:t>
            </a:r>
            <a:r>
              <a:rPr lang="en-US" altLang="zh-CN"/>
              <a:t>/</a:t>
            </a:r>
            <a:r>
              <a:rPr lang="zh-CN" altLang="en-US"/>
              <a:t>归约冲突</a:t>
            </a:r>
          </a:p>
          <a:p>
            <a:pPr lvl="1" eaLnBrk="1" hangingPunct="1"/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E E </a:t>
            </a:r>
            <a:r>
              <a:rPr lang="en-US" altLang="zh-CN" b="1">
                <a:solidFill>
                  <a:schemeClr val="accent2"/>
                </a:solidFill>
                <a:sym typeface="Symbol" panose="05050102010706020507" pitchFamily="18" charset="2"/>
              </a:rPr>
              <a:t>sub 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E </a:t>
            </a:r>
            <a:r>
              <a:rPr lang="en-US" altLang="zh-CN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E</a:t>
            </a:r>
            <a:r>
              <a:rPr lang="zh-CN" altLang="en-US">
                <a:solidFill>
                  <a:schemeClr val="tx1"/>
                </a:solidFill>
                <a:sym typeface="Symbol" panose="05050102010706020507" pitchFamily="18" charset="2"/>
              </a:rPr>
              <a:t>？ 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E E </a:t>
            </a:r>
            <a:r>
              <a:rPr lang="en-US" altLang="zh-CN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E</a:t>
            </a:r>
            <a:r>
              <a:rPr lang="zh-CN" altLang="en-US">
                <a:solidFill>
                  <a:schemeClr val="tx1"/>
                </a:solidFill>
                <a:sym typeface="Symbol" panose="05050102010706020507" pitchFamily="18" charset="2"/>
              </a:rPr>
              <a:t>？</a:t>
            </a:r>
          </a:p>
          <a:p>
            <a:pPr lvl="1" eaLnBrk="1" hangingPunct="1"/>
            <a:r>
              <a:rPr lang="zh-CN" altLang="en-US">
                <a:solidFill>
                  <a:schemeClr val="tx1"/>
                </a:solidFill>
                <a:sym typeface="Symbol" panose="05050102010706020507" pitchFamily="18" charset="2"/>
              </a:rPr>
              <a:t>产生式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zh-CN" altLang="en-US">
                <a:solidFill>
                  <a:schemeClr val="tx1"/>
                </a:solidFill>
                <a:sym typeface="Symbol" panose="05050102010706020507" pitchFamily="18" charset="2"/>
              </a:rPr>
              <a:t>为特殊情况，优先考虑</a:t>
            </a:r>
          </a:p>
          <a:p>
            <a:pPr lvl="1" eaLnBrk="1" hangingPunct="1"/>
            <a:r>
              <a:rPr lang="zh-CN" altLang="en-US">
                <a:solidFill>
                  <a:schemeClr val="tx1"/>
                </a:solidFill>
                <a:sym typeface="Symbol" panose="05050102010706020507" pitchFamily="18" charset="2"/>
              </a:rPr>
              <a:t>归约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E E </a:t>
            </a:r>
            <a:r>
              <a:rPr lang="en-US" altLang="zh-CN" b="1">
                <a:solidFill>
                  <a:schemeClr val="accent2"/>
                </a:solidFill>
                <a:sym typeface="Symbol" panose="05050102010706020507" pitchFamily="18" charset="2"/>
              </a:rPr>
              <a:t>sub 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E </a:t>
            </a:r>
            <a:r>
              <a:rPr lang="en-US" altLang="zh-CN" b="1">
                <a:solidFill>
                  <a:schemeClr val="accent2"/>
                </a:solidFill>
                <a:sym typeface="Symbol" panose="05050102010706020507" pitchFamily="18" charset="2"/>
              </a:rPr>
              <a:t>sup</a:t>
            </a:r>
            <a:r>
              <a:rPr lang="en-US" altLang="zh-CN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chemeClr val="tx1"/>
                </a:solidFill>
                <a:sym typeface="Symbol" panose="05050102010706020507" pitchFamily="18" charset="2"/>
              </a:rPr>
              <a:t>E</a:t>
            </a:r>
            <a:r>
              <a:rPr lang="zh-CN" altLang="en-US">
                <a:solidFill>
                  <a:schemeClr val="tx1"/>
                </a:solidFill>
                <a:sym typeface="Symbol" panose="05050102010706020507" pitchFamily="18" charset="2"/>
              </a:rPr>
              <a:t>！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222D3801-0907-4634-86B2-5ED4FB2EE7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分析表</a:t>
            </a:r>
          </a:p>
        </p:txBody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2383B36E-A4FE-4846-B2C2-D225529FAC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u="sng"/>
              <a:t>	 </a:t>
            </a:r>
            <a:r>
              <a:rPr lang="en-US" altLang="zh-CN" sz="2400" b="1" u="sng"/>
              <a:t>sub</a:t>
            </a:r>
            <a:r>
              <a:rPr lang="en-US" altLang="zh-CN" sz="2400" u="sng"/>
              <a:t>	</a:t>
            </a:r>
            <a:r>
              <a:rPr lang="en-US" altLang="zh-CN" sz="2400" b="1" u="sng"/>
              <a:t>sup</a:t>
            </a:r>
            <a:r>
              <a:rPr lang="en-US" altLang="zh-CN" sz="2400" u="sng"/>
              <a:t>	{	}	c	$	</a:t>
            </a:r>
            <a:r>
              <a:rPr lang="en-US" altLang="zh-CN" sz="2400" i="1" u="sng"/>
              <a:t>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0			s2		s3		</a:t>
            </a:r>
            <a:r>
              <a:rPr lang="en-US" altLang="zh-CN" sz="2400" i="1"/>
              <a:t>1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1	 s4	s5				acc	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2			s2		s3		</a:t>
            </a:r>
            <a:r>
              <a:rPr lang="en-US" altLang="zh-CN" sz="2400" i="1"/>
              <a:t>6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3	 r5	r5		r5		r5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4			s2		s3		</a:t>
            </a:r>
            <a:r>
              <a:rPr lang="en-US" altLang="zh-CN" sz="2400" i="1"/>
              <a:t>7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5			s2		s3		</a:t>
            </a:r>
            <a:r>
              <a:rPr lang="en-US" altLang="zh-CN" sz="2400" i="1"/>
              <a:t>8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6	 s4	s5		s9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7	 s4	s10		r2		r2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8	 s4	s5		r3		r3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9	 r4	r4		r4		r4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10	 		s2		s3		</a:t>
            </a:r>
            <a:r>
              <a:rPr lang="en-US" altLang="zh-CN" sz="2400" i="1"/>
              <a:t>11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11	 s4	s5		r1		r1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>
            <a:extLst>
              <a:ext uri="{FF2B5EF4-FFF2-40B4-BE49-F238E27FC236}">
                <a16:creationId xmlns:a16="http://schemas.microsoft.com/office/drawing/2014/main" id="{4B527931-B681-4682-86C4-8FF1C3BC04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4.8.4  LR</a:t>
            </a:r>
            <a:r>
              <a:rPr lang="zh-CN" altLang="en-US" dirty="0"/>
              <a:t>分析器错误处理</a:t>
            </a:r>
          </a:p>
        </p:txBody>
      </p:sp>
      <p:sp>
        <p:nvSpPr>
          <p:cNvPr id="154627" name="Rectangle 3">
            <a:extLst>
              <a:ext uri="{FF2B5EF4-FFF2-40B4-BE49-F238E27FC236}">
                <a16:creationId xmlns:a16="http://schemas.microsoft.com/office/drawing/2014/main" id="{842E6216-953D-48BF-B00C-1C5E7ED8F3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分析表中空位</a:t>
            </a:r>
          </a:p>
          <a:p>
            <a:pPr eaLnBrk="1" hangingPunct="1"/>
            <a:r>
              <a:rPr lang="en-US" altLang="zh-CN" dirty="0"/>
              <a:t>LR</a:t>
            </a:r>
            <a:r>
              <a:rPr lang="zh-CN" altLang="en-US" dirty="0"/>
              <a:t>分析器一发现不能继续，就报告错误</a:t>
            </a:r>
          </a:p>
          <a:p>
            <a:pPr eaLnBrk="1" hangingPunct="1"/>
            <a:r>
              <a:rPr lang="zh-CN" altLang="en-US" dirty="0"/>
              <a:t>规范</a:t>
            </a:r>
            <a:r>
              <a:rPr lang="en-US" altLang="zh-CN" dirty="0"/>
              <a:t>LR</a:t>
            </a:r>
            <a:r>
              <a:rPr lang="zh-CN" altLang="en-US" dirty="0"/>
              <a:t>分析器在错误发生后，立即报告</a:t>
            </a:r>
          </a:p>
          <a:p>
            <a:pPr eaLnBrk="1" hangingPunct="1"/>
            <a:r>
              <a:rPr lang="en-US" altLang="zh-CN" dirty="0"/>
              <a:t>SLR</a:t>
            </a:r>
            <a:r>
              <a:rPr lang="zh-CN" altLang="en-US" dirty="0"/>
              <a:t>和</a:t>
            </a:r>
            <a:r>
              <a:rPr lang="en-US" altLang="zh-CN" dirty="0"/>
              <a:t>LALR</a:t>
            </a:r>
            <a:r>
              <a:rPr lang="zh-CN" altLang="en-US" dirty="0"/>
              <a:t>分析器可能会进行若干归约后报告，但不会继续移进符号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>
            <a:extLst>
              <a:ext uri="{FF2B5EF4-FFF2-40B4-BE49-F238E27FC236}">
                <a16:creationId xmlns:a16="http://schemas.microsoft.com/office/drawing/2014/main" id="{DB6E8BB4-2400-4FA7-9AF0-5EB3DD702C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Panic</a:t>
            </a:r>
            <a:r>
              <a:rPr lang="zh-CN" altLang="en-US"/>
              <a:t>模式的实现</a:t>
            </a:r>
          </a:p>
        </p:txBody>
      </p:sp>
      <p:sp>
        <p:nvSpPr>
          <p:cNvPr id="155651" name="Rectangle 3">
            <a:extLst>
              <a:ext uri="{FF2B5EF4-FFF2-40B4-BE49-F238E27FC236}">
                <a16:creationId xmlns:a16="http://schemas.microsoft.com/office/drawing/2014/main" id="{6BA82293-08F4-4411-97D7-3A5CAB444E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向下扫描栈，对某个特定非终结符</a:t>
            </a:r>
            <a:r>
              <a:rPr lang="en-US" altLang="zh-CN" sz="2800" dirty="0"/>
              <a:t>A</a:t>
            </a:r>
            <a:r>
              <a:rPr lang="zh-CN" altLang="en-US" sz="2800" dirty="0"/>
              <a:t>，找到一个状态</a:t>
            </a:r>
            <a:r>
              <a:rPr lang="en-US" altLang="zh-CN" sz="2800" dirty="0"/>
              <a:t>s</a:t>
            </a:r>
            <a:r>
              <a:rPr lang="zh-CN" altLang="en-US" sz="2800" dirty="0"/>
              <a:t>，对于</a:t>
            </a:r>
            <a:r>
              <a:rPr lang="en-US" altLang="zh-CN" sz="2800" dirty="0"/>
              <a:t>A</a:t>
            </a:r>
            <a:r>
              <a:rPr lang="zh-CN" altLang="en-US" sz="2800" dirty="0"/>
              <a:t>有</a:t>
            </a:r>
            <a:r>
              <a:rPr lang="en-US" altLang="zh-CN" sz="2800" dirty="0" err="1"/>
              <a:t>goto</a:t>
            </a:r>
            <a:r>
              <a:rPr lang="zh-CN" altLang="en-US" sz="2800" dirty="0"/>
              <a:t>函数</a:t>
            </a:r>
          </a:p>
          <a:p>
            <a:pPr eaLnBrk="1" hangingPunct="1"/>
            <a:r>
              <a:rPr lang="zh-CN" altLang="en-US" sz="2800" dirty="0"/>
              <a:t>丢弃输入符号，直至遇到</a:t>
            </a:r>
            <a:r>
              <a:rPr lang="en-US" altLang="zh-CN" sz="2800" dirty="0" err="1"/>
              <a:t>a</a:t>
            </a:r>
            <a:r>
              <a:rPr lang="en-US" altLang="zh-CN" sz="2800" dirty="0" err="1">
                <a:latin typeface="宋体" panose="02010600030101010101" pitchFamily="2" charset="-122"/>
              </a:rPr>
              <a:t>∈</a:t>
            </a:r>
            <a:r>
              <a:rPr lang="en-US" altLang="zh-CN" sz="2800" dirty="0" err="1"/>
              <a:t>FOLLOW</a:t>
            </a:r>
            <a:r>
              <a:rPr lang="en-US" altLang="zh-CN" sz="2800" dirty="0"/>
              <a:t>(A)</a:t>
            </a:r>
          </a:p>
          <a:p>
            <a:pPr eaLnBrk="1" hangingPunct="1"/>
            <a:r>
              <a:rPr lang="zh-CN" altLang="en-US" sz="2800" dirty="0"/>
              <a:t>将</a:t>
            </a:r>
            <a:r>
              <a:rPr lang="en-US" altLang="zh-CN" sz="2800" dirty="0" err="1"/>
              <a:t>goto</a:t>
            </a:r>
            <a:r>
              <a:rPr lang="en-US" altLang="zh-CN" sz="2800" dirty="0"/>
              <a:t>[s, A]</a:t>
            </a:r>
            <a:r>
              <a:rPr lang="zh-CN" altLang="en-US" sz="2800" dirty="0"/>
              <a:t>压栈，继续</a:t>
            </a:r>
          </a:p>
          <a:p>
            <a:pPr eaLnBrk="1" hangingPunct="1"/>
            <a:r>
              <a:rPr lang="en-US" altLang="zh-CN" sz="2800" dirty="0"/>
              <a:t>A</a:t>
            </a:r>
            <a:r>
              <a:rPr lang="zh-CN" altLang="en-US" sz="2800" dirty="0"/>
              <a:t>：表示语法结构，表达式、语句</a:t>
            </a:r>
            <a:r>
              <a:rPr lang="en-US" altLang="zh-CN" sz="2800" dirty="0"/>
              <a:t>…</a:t>
            </a:r>
          </a:p>
          <a:p>
            <a:pPr eaLnBrk="1" hangingPunct="1"/>
            <a:r>
              <a:rPr lang="zh-CN" altLang="en-US" sz="2800" dirty="0"/>
              <a:t>含义：</a:t>
            </a:r>
          </a:p>
          <a:p>
            <a:pPr lvl="1" eaLnBrk="1" hangingPunct="1"/>
            <a:r>
              <a:rPr lang="zh-CN" altLang="en-US" sz="2400" dirty="0"/>
              <a:t>某个语法结构</a:t>
            </a:r>
            <a:r>
              <a:rPr lang="en-US" altLang="zh-CN" sz="2400" dirty="0"/>
              <a:t>A</a:t>
            </a:r>
            <a:r>
              <a:rPr lang="zh-CN" altLang="en-US" sz="2400" dirty="0"/>
              <a:t>分析了一部分，遇到错误</a:t>
            </a:r>
          </a:p>
          <a:p>
            <a:pPr lvl="1" eaLnBrk="1" hangingPunct="1"/>
            <a:r>
              <a:rPr lang="zh-CN" altLang="en-US" sz="2400" dirty="0"/>
              <a:t>丢弃已分析部分（栈），未分析部分（输入）</a:t>
            </a:r>
          </a:p>
          <a:p>
            <a:pPr lvl="1" eaLnBrk="1" hangingPunct="1"/>
            <a:r>
              <a:rPr lang="zh-CN" altLang="en-US" sz="2400" dirty="0"/>
              <a:t>假装已找到</a:t>
            </a:r>
            <a:r>
              <a:rPr lang="en-US" altLang="zh-CN" sz="2400" dirty="0"/>
              <a:t>A</a:t>
            </a:r>
            <a:r>
              <a:rPr lang="zh-CN" altLang="en-US" sz="2400" dirty="0"/>
              <a:t>的一个实例，继续分析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>
            <a:extLst>
              <a:ext uri="{FF2B5EF4-FFF2-40B4-BE49-F238E27FC236}">
                <a16:creationId xmlns:a16="http://schemas.microsoft.com/office/drawing/2014/main" id="{980E024C-20A1-477A-8BBF-6FB839FACA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短语级模式的实现</a:t>
            </a:r>
          </a:p>
        </p:txBody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43E79CB1-9525-4287-B6DD-3D6532102F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对分析表每个错误项，根据语言使用特性分析错误原因，设计恢复函数</a:t>
            </a:r>
          </a:p>
          <a:p>
            <a:pPr eaLnBrk="1" hangingPunct="1"/>
            <a:r>
              <a:rPr lang="zh-CN" altLang="en-US" dirty="0"/>
              <a:t>与算符优先分析器比较</a:t>
            </a:r>
          </a:p>
          <a:p>
            <a:pPr lvl="1" eaLnBrk="1" hangingPunct="1"/>
            <a:r>
              <a:rPr lang="zh-CN" altLang="en-US" dirty="0"/>
              <a:t>容易实现，无需考虑错误归约</a:t>
            </a:r>
          </a:p>
          <a:p>
            <a:pPr lvl="1" eaLnBrk="1" hangingPunct="1"/>
            <a:r>
              <a:rPr lang="zh-CN" altLang="en-US" dirty="0"/>
              <a:t>分析表空项填入错误处理函数即可</a:t>
            </a:r>
          </a:p>
          <a:p>
            <a:pPr lvl="1" eaLnBrk="1" hangingPunct="1"/>
            <a:r>
              <a:rPr lang="zh-CN" altLang="en-US" dirty="0"/>
              <a:t>错误处理函数插入、删除、替换栈和输入</a:t>
            </a:r>
          </a:p>
          <a:p>
            <a:pPr lvl="1" eaLnBrk="1" hangingPunct="1"/>
            <a:r>
              <a:rPr lang="zh-CN" altLang="en-US" dirty="0"/>
              <a:t>也要避免无限循环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>
            <a:extLst>
              <a:ext uri="{FF2B5EF4-FFF2-40B4-BE49-F238E27FC236}">
                <a16:creationId xmlns:a16="http://schemas.microsoft.com/office/drawing/2014/main" id="{D813FF37-AD6A-4CD3-BE59-C68BB16529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4.50</a:t>
            </a:r>
          </a:p>
        </p:txBody>
      </p:sp>
      <p:sp>
        <p:nvSpPr>
          <p:cNvPr id="157699" name="Rectangle 3">
            <a:extLst>
              <a:ext uri="{FF2B5EF4-FFF2-40B4-BE49-F238E27FC236}">
                <a16:creationId xmlns:a16="http://schemas.microsoft.com/office/drawing/2014/main" id="{4E23698E-7ECF-448F-B163-2E3DD3A6BF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609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/>
              <a:t>E </a:t>
            </a:r>
            <a:r>
              <a:rPr kumimoji="0" lang="en-US" altLang="zh-CN" sz="2800">
                <a:sym typeface="Symbol" panose="05050102010706020507" pitchFamily="18" charset="2"/>
              </a:rPr>
              <a:t> E + E	| E * E | (E) |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</a:p>
        </p:txBody>
      </p:sp>
      <p:sp>
        <p:nvSpPr>
          <p:cNvPr id="157700" name="Line 4">
            <a:extLst>
              <a:ext uri="{FF2B5EF4-FFF2-40B4-BE49-F238E27FC236}">
                <a16:creationId xmlns:a16="http://schemas.microsoft.com/office/drawing/2014/main" id="{12A121C7-E519-4907-AFB6-18F71A669F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1981200"/>
            <a:ext cx="64055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01" name="Line 5">
            <a:extLst>
              <a:ext uri="{FF2B5EF4-FFF2-40B4-BE49-F238E27FC236}">
                <a16:creationId xmlns:a16="http://schemas.microsoft.com/office/drawing/2014/main" id="{4F3C287C-6238-4673-BC3B-9283DF4CDF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2057400"/>
            <a:ext cx="64055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02" name="Line 6">
            <a:extLst>
              <a:ext uri="{FF2B5EF4-FFF2-40B4-BE49-F238E27FC236}">
                <a16:creationId xmlns:a16="http://schemas.microsoft.com/office/drawing/2014/main" id="{8BE33FDB-4FCF-4147-9786-A90D8E971160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2362200"/>
            <a:ext cx="571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03" name="Line 7">
            <a:extLst>
              <a:ext uri="{FF2B5EF4-FFF2-40B4-BE49-F238E27FC236}">
                <a16:creationId xmlns:a16="http://schemas.microsoft.com/office/drawing/2014/main" id="{BE4B4433-AEE1-443A-8140-BF1C44FEE3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2619375"/>
            <a:ext cx="64055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04" name="Line 8">
            <a:extLst>
              <a:ext uri="{FF2B5EF4-FFF2-40B4-BE49-F238E27FC236}">
                <a16:creationId xmlns:a16="http://schemas.microsoft.com/office/drawing/2014/main" id="{BD75FF2E-5287-4FEE-9C75-C4E8660E750E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1981200"/>
            <a:ext cx="0" cy="42830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05" name="Line 9">
            <a:extLst>
              <a:ext uri="{FF2B5EF4-FFF2-40B4-BE49-F238E27FC236}">
                <a16:creationId xmlns:a16="http://schemas.microsoft.com/office/drawing/2014/main" id="{BE11021F-BC7C-408D-A74B-65B6F0A09B83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1981200"/>
            <a:ext cx="0" cy="42830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06" name="Line 10">
            <a:extLst>
              <a:ext uri="{FF2B5EF4-FFF2-40B4-BE49-F238E27FC236}">
                <a16:creationId xmlns:a16="http://schemas.microsoft.com/office/drawing/2014/main" id="{01CEC8F7-3DA3-4DC8-82F8-010CC6BE171F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1981200"/>
            <a:ext cx="0" cy="42830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07" name="Text Box 11">
            <a:extLst>
              <a:ext uri="{FF2B5EF4-FFF2-40B4-BE49-F238E27FC236}">
                <a16:creationId xmlns:a16="http://schemas.microsoft.com/office/drawing/2014/main" id="{62C98915-ACF8-4F0E-9291-6BDEBECCD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133600"/>
            <a:ext cx="76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状态</a:t>
            </a:r>
          </a:p>
        </p:txBody>
      </p:sp>
      <p:sp>
        <p:nvSpPr>
          <p:cNvPr id="157708" name="Text Box 12">
            <a:extLst>
              <a:ext uri="{FF2B5EF4-FFF2-40B4-BE49-F238E27FC236}">
                <a16:creationId xmlns:a16="http://schemas.microsoft.com/office/drawing/2014/main" id="{425C9A68-CCDC-4BC8-88A8-29BD97C8C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9812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action</a:t>
            </a:r>
          </a:p>
        </p:txBody>
      </p:sp>
      <p:sp>
        <p:nvSpPr>
          <p:cNvPr id="157709" name="Text Box 13">
            <a:extLst>
              <a:ext uri="{FF2B5EF4-FFF2-40B4-BE49-F238E27FC236}">
                <a16:creationId xmlns:a16="http://schemas.microsoft.com/office/drawing/2014/main" id="{C4E6C664-9BA7-46C6-AF69-878952B03A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2891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id</a:t>
            </a:r>
          </a:p>
        </p:txBody>
      </p:sp>
      <p:sp>
        <p:nvSpPr>
          <p:cNvPr id="157710" name="Text Box 14">
            <a:extLst>
              <a:ext uri="{FF2B5EF4-FFF2-40B4-BE49-F238E27FC236}">
                <a16:creationId xmlns:a16="http://schemas.microsoft.com/office/drawing/2014/main" id="{3B37CCE9-2AD6-4082-BCEA-58535DF4B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3688" y="22891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+</a:t>
            </a:r>
          </a:p>
        </p:txBody>
      </p:sp>
      <p:sp>
        <p:nvSpPr>
          <p:cNvPr id="157711" name="Text Box 15">
            <a:extLst>
              <a:ext uri="{FF2B5EF4-FFF2-40B4-BE49-F238E27FC236}">
                <a16:creationId xmlns:a16="http://schemas.microsoft.com/office/drawing/2014/main" id="{660E66B2-2483-46EB-9B64-699E583FE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7763" y="22891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*</a:t>
            </a:r>
          </a:p>
        </p:txBody>
      </p:sp>
      <p:sp>
        <p:nvSpPr>
          <p:cNvPr id="157712" name="Text Box 16">
            <a:extLst>
              <a:ext uri="{FF2B5EF4-FFF2-40B4-BE49-F238E27FC236}">
                <a16:creationId xmlns:a16="http://schemas.microsoft.com/office/drawing/2014/main" id="{C5747DA3-17CD-4366-BFA2-88F573896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0250" y="22891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(</a:t>
            </a:r>
          </a:p>
        </p:txBody>
      </p:sp>
      <p:sp>
        <p:nvSpPr>
          <p:cNvPr id="157713" name="Text Box 17">
            <a:extLst>
              <a:ext uri="{FF2B5EF4-FFF2-40B4-BE49-F238E27FC236}">
                <a16:creationId xmlns:a16="http://schemas.microsoft.com/office/drawing/2014/main" id="{622DAC5B-CE88-41C9-B79C-51FCBA8BA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4325" y="22891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)</a:t>
            </a:r>
          </a:p>
        </p:txBody>
      </p:sp>
      <p:sp>
        <p:nvSpPr>
          <p:cNvPr id="157714" name="Text Box 18">
            <a:extLst>
              <a:ext uri="{FF2B5EF4-FFF2-40B4-BE49-F238E27FC236}">
                <a16:creationId xmlns:a16="http://schemas.microsoft.com/office/drawing/2014/main" id="{D42D09AA-3B51-4A35-87C8-2891F336E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22891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$</a:t>
            </a:r>
          </a:p>
        </p:txBody>
      </p:sp>
      <p:sp>
        <p:nvSpPr>
          <p:cNvPr id="157715" name="Text Box 19">
            <a:extLst>
              <a:ext uri="{FF2B5EF4-FFF2-40B4-BE49-F238E27FC236}">
                <a16:creationId xmlns:a16="http://schemas.microsoft.com/office/drawing/2014/main" id="{534EA7CC-39D4-4BC4-B391-83FD2A8E1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514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0</a:t>
            </a:r>
          </a:p>
        </p:txBody>
      </p:sp>
      <p:sp>
        <p:nvSpPr>
          <p:cNvPr id="157716" name="Text Box 20">
            <a:extLst>
              <a:ext uri="{FF2B5EF4-FFF2-40B4-BE49-F238E27FC236}">
                <a16:creationId xmlns:a16="http://schemas.microsoft.com/office/drawing/2014/main" id="{382221FD-8224-4221-9B32-F0D37FBAC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895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1</a:t>
            </a:r>
          </a:p>
        </p:txBody>
      </p:sp>
      <p:sp>
        <p:nvSpPr>
          <p:cNvPr id="157717" name="Text Box 21">
            <a:extLst>
              <a:ext uri="{FF2B5EF4-FFF2-40B4-BE49-F238E27FC236}">
                <a16:creationId xmlns:a16="http://schemas.microsoft.com/office/drawing/2014/main" id="{9F121F63-685A-4934-98BB-30C3F5B8B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276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2</a:t>
            </a:r>
          </a:p>
        </p:txBody>
      </p:sp>
      <p:sp>
        <p:nvSpPr>
          <p:cNvPr id="157718" name="Text Box 22">
            <a:extLst>
              <a:ext uri="{FF2B5EF4-FFF2-40B4-BE49-F238E27FC236}">
                <a16:creationId xmlns:a16="http://schemas.microsoft.com/office/drawing/2014/main" id="{4B0C467B-871F-4609-A019-2D62B1280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657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3</a:t>
            </a:r>
          </a:p>
        </p:txBody>
      </p:sp>
      <p:sp>
        <p:nvSpPr>
          <p:cNvPr id="157719" name="Text Box 23">
            <a:extLst>
              <a:ext uri="{FF2B5EF4-FFF2-40B4-BE49-F238E27FC236}">
                <a16:creationId xmlns:a16="http://schemas.microsoft.com/office/drawing/2014/main" id="{D0BF7E1B-77FE-4A84-B96F-51EE4D482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038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4</a:t>
            </a:r>
          </a:p>
        </p:txBody>
      </p:sp>
      <p:sp>
        <p:nvSpPr>
          <p:cNvPr id="157720" name="Line 24">
            <a:extLst>
              <a:ext uri="{FF2B5EF4-FFF2-40B4-BE49-F238E27FC236}">
                <a16:creationId xmlns:a16="http://schemas.microsoft.com/office/drawing/2014/main" id="{9F514B82-C0E6-4E3A-B5B4-EA81764E5BFB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1981200"/>
            <a:ext cx="0" cy="42830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21" name="Text Box 25">
            <a:extLst>
              <a:ext uri="{FF2B5EF4-FFF2-40B4-BE49-F238E27FC236}">
                <a16:creationId xmlns:a16="http://schemas.microsoft.com/office/drawing/2014/main" id="{C71F0EA5-67C0-4091-97BB-642FD1A92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419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5</a:t>
            </a:r>
          </a:p>
        </p:txBody>
      </p:sp>
      <p:sp>
        <p:nvSpPr>
          <p:cNvPr id="157722" name="Text Box 26">
            <a:extLst>
              <a:ext uri="{FF2B5EF4-FFF2-40B4-BE49-F238E27FC236}">
                <a16:creationId xmlns:a16="http://schemas.microsoft.com/office/drawing/2014/main" id="{4D0FB339-EFE2-4008-8089-8466A6177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784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6</a:t>
            </a:r>
          </a:p>
        </p:txBody>
      </p:sp>
      <p:sp>
        <p:nvSpPr>
          <p:cNvPr id="157723" name="Text Box 27">
            <a:extLst>
              <a:ext uri="{FF2B5EF4-FFF2-40B4-BE49-F238E27FC236}">
                <a16:creationId xmlns:a16="http://schemas.microsoft.com/office/drawing/2014/main" id="{D82B8C84-64CB-4D94-B349-82AECA10B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165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7</a:t>
            </a:r>
          </a:p>
        </p:txBody>
      </p:sp>
      <p:sp>
        <p:nvSpPr>
          <p:cNvPr id="157724" name="Text Box 28">
            <a:extLst>
              <a:ext uri="{FF2B5EF4-FFF2-40B4-BE49-F238E27FC236}">
                <a16:creationId xmlns:a16="http://schemas.microsoft.com/office/drawing/2014/main" id="{8E753FA1-5CFF-49C5-84F0-4CC6771EB9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546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8</a:t>
            </a:r>
          </a:p>
        </p:txBody>
      </p:sp>
      <p:sp>
        <p:nvSpPr>
          <p:cNvPr id="157725" name="Text Box 29">
            <a:extLst>
              <a:ext uri="{FF2B5EF4-FFF2-40B4-BE49-F238E27FC236}">
                <a16:creationId xmlns:a16="http://schemas.microsoft.com/office/drawing/2014/main" id="{71FF0BB2-750D-4527-B330-D600F9296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927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9</a:t>
            </a:r>
          </a:p>
        </p:txBody>
      </p:sp>
      <p:sp>
        <p:nvSpPr>
          <p:cNvPr id="157726" name="Line 31">
            <a:extLst>
              <a:ext uri="{FF2B5EF4-FFF2-40B4-BE49-F238E27FC236}">
                <a16:creationId xmlns:a16="http://schemas.microsoft.com/office/drawing/2014/main" id="{FB64DAAB-8ADF-45A9-820B-9E36F0FF184F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6248400"/>
            <a:ext cx="64055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27" name="Text Box 33">
            <a:extLst>
              <a:ext uri="{FF2B5EF4-FFF2-40B4-BE49-F238E27FC236}">
                <a16:creationId xmlns:a16="http://schemas.microsoft.com/office/drawing/2014/main" id="{84E7136C-E19D-4AAE-9BCE-E1BD1B34C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22860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E</a:t>
            </a:r>
          </a:p>
        </p:txBody>
      </p:sp>
      <p:sp>
        <p:nvSpPr>
          <p:cNvPr id="157728" name="Text Box 36">
            <a:extLst>
              <a:ext uri="{FF2B5EF4-FFF2-40B4-BE49-F238E27FC236}">
                <a16:creationId xmlns:a16="http://schemas.microsoft.com/office/drawing/2014/main" id="{C6900771-45F5-464F-8566-2F9C03DA1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6575" y="19812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/>
              <a:t>goto</a:t>
            </a:r>
          </a:p>
        </p:txBody>
      </p:sp>
      <p:sp>
        <p:nvSpPr>
          <p:cNvPr id="157729" name="Text Box 37">
            <a:extLst>
              <a:ext uri="{FF2B5EF4-FFF2-40B4-BE49-F238E27FC236}">
                <a16:creationId xmlns:a16="http://schemas.microsoft.com/office/drawing/2014/main" id="{69AB60A2-A8C9-4668-9923-870276DD4C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517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s3</a:t>
            </a:r>
          </a:p>
        </p:txBody>
      </p:sp>
      <p:sp>
        <p:nvSpPr>
          <p:cNvPr id="157730" name="Text Box 38">
            <a:extLst>
              <a:ext uri="{FF2B5EF4-FFF2-40B4-BE49-F238E27FC236}">
                <a16:creationId xmlns:a16="http://schemas.microsoft.com/office/drawing/2014/main" id="{197E5DE5-07A8-45CF-98AB-F18BD3BD99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517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s2</a:t>
            </a:r>
          </a:p>
        </p:txBody>
      </p:sp>
      <p:sp>
        <p:nvSpPr>
          <p:cNvPr id="157731" name="Text Box 39">
            <a:extLst>
              <a:ext uri="{FF2B5EF4-FFF2-40B4-BE49-F238E27FC236}">
                <a16:creationId xmlns:a16="http://schemas.microsoft.com/office/drawing/2014/main" id="{10CB3EB0-DB20-42D0-BD29-817ACB4D86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2514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1</a:t>
            </a:r>
          </a:p>
        </p:txBody>
      </p:sp>
      <p:sp>
        <p:nvSpPr>
          <p:cNvPr id="157732" name="Text Box 54">
            <a:extLst>
              <a:ext uri="{FF2B5EF4-FFF2-40B4-BE49-F238E27FC236}">
                <a16:creationId xmlns:a16="http://schemas.microsoft.com/office/drawing/2014/main" id="{6ECB4EF3-2494-4952-98CF-5358E69E0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4038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7</a:t>
            </a:r>
          </a:p>
        </p:txBody>
      </p:sp>
      <p:sp>
        <p:nvSpPr>
          <p:cNvPr id="157733" name="Text Box 82">
            <a:extLst>
              <a:ext uri="{FF2B5EF4-FFF2-40B4-BE49-F238E27FC236}">
                <a16:creationId xmlns:a16="http://schemas.microsoft.com/office/drawing/2014/main" id="{7B4B2224-151F-4347-9ED2-FB5B5CCC77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514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e1</a:t>
            </a:r>
          </a:p>
        </p:txBody>
      </p:sp>
      <p:sp>
        <p:nvSpPr>
          <p:cNvPr id="157734" name="Text Box 83">
            <a:extLst>
              <a:ext uri="{FF2B5EF4-FFF2-40B4-BE49-F238E27FC236}">
                <a16:creationId xmlns:a16="http://schemas.microsoft.com/office/drawing/2014/main" id="{81F89AAA-1607-442C-9AF8-EF28703D01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2514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e1</a:t>
            </a:r>
          </a:p>
        </p:txBody>
      </p:sp>
      <p:sp>
        <p:nvSpPr>
          <p:cNvPr id="157735" name="Text Box 84">
            <a:extLst>
              <a:ext uri="{FF2B5EF4-FFF2-40B4-BE49-F238E27FC236}">
                <a16:creationId xmlns:a16="http://schemas.microsoft.com/office/drawing/2014/main" id="{ED18D500-2C81-48DB-A5F8-C7B284E3A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25" y="2514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e2</a:t>
            </a:r>
          </a:p>
        </p:txBody>
      </p:sp>
      <p:sp>
        <p:nvSpPr>
          <p:cNvPr id="157736" name="Text Box 85">
            <a:extLst>
              <a:ext uri="{FF2B5EF4-FFF2-40B4-BE49-F238E27FC236}">
                <a16:creationId xmlns:a16="http://schemas.microsoft.com/office/drawing/2014/main" id="{925B5AAE-299E-4672-8A2B-6F83B14299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25146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e1</a:t>
            </a:r>
          </a:p>
        </p:txBody>
      </p:sp>
      <p:sp>
        <p:nvSpPr>
          <p:cNvPr id="157737" name="Text Box 86">
            <a:extLst>
              <a:ext uri="{FF2B5EF4-FFF2-40B4-BE49-F238E27FC236}">
                <a16:creationId xmlns:a16="http://schemas.microsoft.com/office/drawing/2014/main" id="{BD40746A-EB4E-4037-AE8B-5385F33BE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879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e3</a:t>
            </a:r>
          </a:p>
        </p:txBody>
      </p:sp>
      <p:sp>
        <p:nvSpPr>
          <p:cNvPr id="157738" name="Text Box 87">
            <a:extLst>
              <a:ext uri="{FF2B5EF4-FFF2-40B4-BE49-F238E27FC236}">
                <a16:creationId xmlns:a16="http://schemas.microsoft.com/office/drawing/2014/main" id="{D6E9AA0E-FBA7-429F-A82E-BF64EE895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879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e3</a:t>
            </a:r>
          </a:p>
        </p:txBody>
      </p:sp>
      <p:sp>
        <p:nvSpPr>
          <p:cNvPr id="157739" name="Text Box 88">
            <a:extLst>
              <a:ext uri="{FF2B5EF4-FFF2-40B4-BE49-F238E27FC236}">
                <a16:creationId xmlns:a16="http://schemas.microsoft.com/office/drawing/2014/main" id="{B12E3C6C-B7FB-40ED-ACDC-004A669A9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3260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6</a:t>
            </a:r>
          </a:p>
        </p:txBody>
      </p:sp>
      <p:sp>
        <p:nvSpPr>
          <p:cNvPr id="157740" name="Text Box 89">
            <a:extLst>
              <a:ext uri="{FF2B5EF4-FFF2-40B4-BE49-F238E27FC236}">
                <a16:creationId xmlns:a16="http://schemas.microsoft.com/office/drawing/2014/main" id="{C9B7558C-B7BE-4C26-BFA8-5C40C267F3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876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</a:p>
        </p:txBody>
      </p:sp>
      <p:sp>
        <p:nvSpPr>
          <p:cNvPr id="157741" name="Text Box 90">
            <a:extLst>
              <a:ext uri="{FF2B5EF4-FFF2-40B4-BE49-F238E27FC236}">
                <a16:creationId xmlns:a16="http://schemas.microsoft.com/office/drawing/2014/main" id="{306535FB-DCC5-4332-9912-B43D771BA0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2876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s5</a:t>
            </a:r>
          </a:p>
        </p:txBody>
      </p:sp>
      <p:sp>
        <p:nvSpPr>
          <p:cNvPr id="157742" name="Text Box 91">
            <a:extLst>
              <a:ext uri="{FF2B5EF4-FFF2-40B4-BE49-F238E27FC236}">
                <a16:creationId xmlns:a16="http://schemas.microsoft.com/office/drawing/2014/main" id="{A18CB171-0CD0-45CB-8E5A-FCF4DE1C6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25" y="2876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e2</a:t>
            </a:r>
          </a:p>
        </p:txBody>
      </p:sp>
      <p:sp>
        <p:nvSpPr>
          <p:cNvPr id="157743" name="Text Box 92">
            <a:extLst>
              <a:ext uri="{FF2B5EF4-FFF2-40B4-BE49-F238E27FC236}">
                <a16:creationId xmlns:a16="http://schemas.microsoft.com/office/drawing/2014/main" id="{9E51E939-FFEE-438E-B80D-DD542A96F1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2876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e1</a:t>
            </a:r>
          </a:p>
        </p:txBody>
      </p:sp>
      <p:sp>
        <p:nvSpPr>
          <p:cNvPr id="157744" name="Text Box 93">
            <a:extLst>
              <a:ext uri="{FF2B5EF4-FFF2-40B4-BE49-F238E27FC236}">
                <a16:creationId xmlns:a16="http://schemas.microsoft.com/office/drawing/2014/main" id="{69432454-14DF-4906-A1C3-CA8DF91962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260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s3</a:t>
            </a:r>
          </a:p>
        </p:txBody>
      </p:sp>
      <p:sp>
        <p:nvSpPr>
          <p:cNvPr id="157745" name="Text Box 94">
            <a:extLst>
              <a:ext uri="{FF2B5EF4-FFF2-40B4-BE49-F238E27FC236}">
                <a16:creationId xmlns:a16="http://schemas.microsoft.com/office/drawing/2014/main" id="{294EBC05-F1DF-466F-B0B9-6A2F51900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260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s2</a:t>
            </a:r>
          </a:p>
        </p:txBody>
      </p:sp>
      <p:sp>
        <p:nvSpPr>
          <p:cNvPr id="157746" name="Text Box 95">
            <a:extLst>
              <a:ext uri="{FF2B5EF4-FFF2-40B4-BE49-F238E27FC236}">
                <a16:creationId xmlns:a16="http://schemas.microsoft.com/office/drawing/2014/main" id="{78457188-8AA3-4AF7-A50D-0153BFB36A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257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e1</a:t>
            </a:r>
          </a:p>
        </p:txBody>
      </p:sp>
      <p:sp>
        <p:nvSpPr>
          <p:cNvPr id="157747" name="Text Box 96">
            <a:extLst>
              <a:ext uri="{FF2B5EF4-FFF2-40B4-BE49-F238E27FC236}">
                <a16:creationId xmlns:a16="http://schemas.microsoft.com/office/drawing/2014/main" id="{16019A37-9D9F-4C0A-9567-CE7352F17B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3257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e1</a:t>
            </a:r>
          </a:p>
        </p:txBody>
      </p:sp>
      <p:sp>
        <p:nvSpPr>
          <p:cNvPr id="157748" name="Text Box 97">
            <a:extLst>
              <a:ext uri="{FF2B5EF4-FFF2-40B4-BE49-F238E27FC236}">
                <a16:creationId xmlns:a16="http://schemas.microsoft.com/office/drawing/2014/main" id="{00665179-7770-425A-87CB-7B09EF464A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25" y="3257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e2</a:t>
            </a:r>
          </a:p>
        </p:txBody>
      </p:sp>
      <p:sp>
        <p:nvSpPr>
          <p:cNvPr id="157749" name="Text Box 98">
            <a:extLst>
              <a:ext uri="{FF2B5EF4-FFF2-40B4-BE49-F238E27FC236}">
                <a16:creationId xmlns:a16="http://schemas.microsoft.com/office/drawing/2014/main" id="{98CA70EE-FFC0-42AB-911D-6A5C93D47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3257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e1</a:t>
            </a:r>
          </a:p>
        </p:txBody>
      </p:sp>
      <p:sp>
        <p:nvSpPr>
          <p:cNvPr id="157750" name="Text Box 99">
            <a:extLst>
              <a:ext uri="{FF2B5EF4-FFF2-40B4-BE49-F238E27FC236}">
                <a16:creationId xmlns:a16="http://schemas.microsoft.com/office/drawing/2014/main" id="{49714EF8-1997-4076-8308-994E0E642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641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</a:p>
        </p:txBody>
      </p:sp>
      <p:sp>
        <p:nvSpPr>
          <p:cNvPr id="157751" name="Text Box 100">
            <a:extLst>
              <a:ext uri="{FF2B5EF4-FFF2-40B4-BE49-F238E27FC236}">
                <a16:creationId xmlns:a16="http://schemas.microsoft.com/office/drawing/2014/main" id="{A9766C8D-2502-460F-ADBF-2AC2F79D7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641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</a:p>
        </p:txBody>
      </p:sp>
      <p:sp>
        <p:nvSpPr>
          <p:cNvPr id="157752" name="Text Box 101">
            <a:extLst>
              <a:ext uri="{FF2B5EF4-FFF2-40B4-BE49-F238E27FC236}">
                <a16:creationId xmlns:a16="http://schemas.microsoft.com/office/drawing/2014/main" id="{2150CED9-3AE0-4229-A62D-E481DB6346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638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</a:p>
        </p:txBody>
      </p:sp>
      <p:sp>
        <p:nvSpPr>
          <p:cNvPr id="157753" name="Text Box 102">
            <a:extLst>
              <a:ext uri="{FF2B5EF4-FFF2-40B4-BE49-F238E27FC236}">
                <a16:creationId xmlns:a16="http://schemas.microsoft.com/office/drawing/2014/main" id="{F2FDAE36-A396-40C6-82CD-A8040CB165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3638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</a:p>
        </p:txBody>
      </p:sp>
      <p:sp>
        <p:nvSpPr>
          <p:cNvPr id="157754" name="Text Box 103">
            <a:extLst>
              <a:ext uri="{FF2B5EF4-FFF2-40B4-BE49-F238E27FC236}">
                <a16:creationId xmlns:a16="http://schemas.microsoft.com/office/drawing/2014/main" id="{A8094A5C-5129-4AC2-99B6-AD96E506C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25" y="3638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</a:p>
        </p:txBody>
      </p:sp>
      <p:sp>
        <p:nvSpPr>
          <p:cNvPr id="157755" name="Text Box 104">
            <a:extLst>
              <a:ext uri="{FF2B5EF4-FFF2-40B4-BE49-F238E27FC236}">
                <a16:creationId xmlns:a16="http://schemas.microsoft.com/office/drawing/2014/main" id="{4F5BC1DE-32B5-44D5-AF9B-DD7A2B003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3638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r4</a:t>
            </a:r>
          </a:p>
        </p:txBody>
      </p:sp>
      <p:sp>
        <p:nvSpPr>
          <p:cNvPr id="157756" name="Text Box 105">
            <a:extLst>
              <a:ext uri="{FF2B5EF4-FFF2-40B4-BE49-F238E27FC236}">
                <a16:creationId xmlns:a16="http://schemas.microsoft.com/office/drawing/2014/main" id="{1A1034C3-3D4D-4E20-98C7-4C718B16E1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4022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s3</a:t>
            </a:r>
          </a:p>
        </p:txBody>
      </p:sp>
      <p:sp>
        <p:nvSpPr>
          <p:cNvPr id="157757" name="Text Box 106">
            <a:extLst>
              <a:ext uri="{FF2B5EF4-FFF2-40B4-BE49-F238E27FC236}">
                <a16:creationId xmlns:a16="http://schemas.microsoft.com/office/drawing/2014/main" id="{067B357A-09F9-48A9-B1D3-998E8CF61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022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s2</a:t>
            </a:r>
          </a:p>
        </p:txBody>
      </p:sp>
      <p:sp>
        <p:nvSpPr>
          <p:cNvPr id="157758" name="Text Box 107">
            <a:extLst>
              <a:ext uri="{FF2B5EF4-FFF2-40B4-BE49-F238E27FC236}">
                <a16:creationId xmlns:a16="http://schemas.microsoft.com/office/drawing/2014/main" id="{4907A6D6-6BF9-44D1-AFAF-90B91784B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019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e1</a:t>
            </a:r>
          </a:p>
        </p:txBody>
      </p:sp>
      <p:sp>
        <p:nvSpPr>
          <p:cNvPr id="157759" name="Text Box 108">
            <a:extLst>
              <a:ext uri="{FF2B5EF4-FFF2-40B4-BE49-F238E27FC236}">
                <a16:creationId xmlns:a16="http://schemas.microsoft.com/office/drawing/2014/main" id="{6922270D-6AFC-4B79-9A02-F5DEF1ACD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019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e1</a:t>
            </a:r>
          </a:p>
        </p:txBody>
      </p:sp>
      <p:sp>
        <p:nvSpPr>
          <p:cNvPr id="157760" name="Text Box 109">
            <a:extLst>
              <a:ext uri="{FF2B5EF4-FFF2-40B4-BE49-F238E27FC236}">
                <a16:creationId xmlns:a16="http://schemas.microsoft.com/office/drawing/2014/main" id="{F935980C-D874-4EBA-8B61-07ABA9AFF2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25" y="4019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e2</a:t>
            </a:r>
          </a:p>
        </p:txBody>
      </p:sp>
      <p:sp>
        <p:nvSpPr>
          <p:cNvPr id="157761" name="Text Box 110">
            <a:extLst>
              <a:ext uri="{FF2B5EF4-FFF2-40B4-BE49-F238E27FC236}">
                <a16:creationId xmlns:a16="http://schemas.microsoft.com/office/drawing/2014/main" id="{330A397C-FEA5-481D-AC43-581B7FFEA0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019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e1</a:t>
            </a:r>
          </a:p>
        </p:txBody>
      </p:sp>
      <p:sp>
        <p:nvSpPr>
          <p:cNvPr id="157762" name="Text Box 111">
            <a:extLst>
              <a:ext uri="{FF2B5EF4-FFF2-40B4-BE49-F238E27FC236}">
                <a16:creationId xmlns:a16="http://schemas.microsoft.com/office/drawing/2014/main" id="{F631DC3C-902C-4DA9-9B44-8ACA91077F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4403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s3</a:t>
            </a:r>
          </a:p>
        </p:txBody>
      </p:sp>
      <p:sp>
        <p:nvSpPr>
          <p:cNvPr id="157763" name="Text Box 112">
            <a:extLst>
              <a:ext uri="{FF2B5EF4-FFF2-40B4-BE49-F238E27FC236}">
                <a16:creationId xmlns:a16="http://schemas.microsoft.com/office/drawing/2014/main" id="{27C035EA-654F-4226-8F34-7A5249A69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403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s2</a:t>
            </a:r>
          </a:p>
        </p:txBody>
      </p:sp>
      <p:sp>
        <p:nvSpPr>
          <p:cNvPr id="157764" name="Text Box 113">
            <a:extLst>
              <a:ext uri="{FF2B5EF4-FFF2-40B4-BE49-F238E27FC236}">
                <a16:creationId xmlns:a16="http://schemas.microsoft.com/office/drawing/2014/main" id="{AE80BCE9-1BC1-49E4-B397-4F24BDF2C4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400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e1</a:t>
            </a:r>
          </a:p>
        </p:txBody>
      </p:sp>
      <p:sp>
        <p:nvSpPr>
          <p:cNvPr id="157765" name="Text Box 114">
            <a:extLst>
              <a:ext uri="{FF2B5EF4-FFF2-40B4-BE49-F238E27FC236}">
                <a16:creationId xmlns:a16="http://schemas.microsoft.com/office/drawing/2014/main" id="{0DA99C8E-0055-4FC3-80BF-CCE03FF115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400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e1</a:t>
            </a:r>
          </a:p>
        </p:txBody>
      </p:sp>
      <p:sp>
        <p:nvSpPr>
          <p:cNvPr id="157766" name="Text Box 115">
            <a:extLst>
              <a:ext uri="{FF2B5EF4-FFF2-40B4-BE49-F238E27FC236}">
                <a16:creationId xmlns:a16="http://schemas.microsoft.com/office/drawing/2014/main" id="{88E008D9-7AEB-4BA6-A23A-9B497F16A7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25" y="4400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e2</a:t>
            </a:r>
          </a:p>
        </p:txBody>
      </p:sp>
      <p:sp>
        <p:nvSpPr>
          <p:cNvPr id="157767" name="Text Box 116">
            <a:extLst>
              <a:ext uri="{FF2B5EF4-FFF2-40B4-BE49-F238E27FC236}">
                <a16:creationId xmlns:a16="http://schemas.microsoft.com/office/drawing/2014/main" id="{55CDE4C0-4D85-4930-8DDC-1BC13D146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400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e1</a:t>
            </a:r>
          </a:p>
        </p:txBody>
      </p:sp>
      <p:sp>
        <p:nvSpPr>
          <p:cNvPr id="157768" name="Text Box 117">
            <a:extLst>
              <a:ext uri="{FF2B5EF4-FFF2-40B4-BE49-F238E27FC236}">
                <a16:creationId xmlns:a16="http://schemas.microsoft.com/office/drawing/2014/main" id="{678DEA20-A6E7-408E-9287-48BEB0E4BD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4784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e3</a:t>
            </a:r>
          </a:p>
        </p:txBody>
      </p:sp>
      <p:sp>
        <p:nvSpPr>
          <p:cNvPr id="157769" name="Text Box 118">
            <a:extLst>
              <a:ext uri="{FF2B5EF4-FFF2-40B4-BE49-F238E27FC236}">
                <a16:creationId xmlns:a16="http://schemas.microsoft.com/office/drawing/2014/main" id="{2064DCB3-CB33-4433-9271-5536DA5F8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784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e3</a:t>
            </a:r>
          </a:p>
        </p:txBody>
      </p:sp>
      <p:sp>
        <p:nvSpPr>
          <p:cNvPr id="157770" name="Text Box 119">
            <a:extLst>
              <a:ext uri="{FF2B5EF4-FFF2-40B4-BE49-F238E27FC236}">
                <a16:creationId xmlns:a16="http://schemas.microsoft.com/office/drawing/2014/main" id="{F4C1F2FD-F298-4976-99FF-735509201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781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s4</a:t>
            </a:r>
          </a:p>
        </p:txBody>
      </p:sp>
      <p:sp>
        <p:nvSpPr>
          <p:cNvPr id="157771" name="Text Box 120">
            <a:extLst>
              <a:ext uri="{FF2B5EF4-FFF2-40B4-BE49-F238E27FC236}">
                <a16:creationId xmlns:a16="http://schemas.microsoft.com/office/drawing/2014/main" id="{950C9BC6-71F8-4E77-A9A4-B1184F177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781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s5</a:t>
            </a:r>
          </a:p>
        </p:txBody>
      </p:sp>
      <p:sp>
        <p:nvSpPr>
          <p:cNvPr id="157772" name="Text Box 121">
            <a:extLst>
              <a:ext uri="{FF2B5EF4-FFF2-40B4-BE49-F238E27FC236}">
                <a16:creationId xmlns:a16="http://schemas.microsoft.com/office/drawing/2014/main" id="{2186C986-5DA1-4830-A694-D46E7783E5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25" y="4781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s9</a:t>
            </a:r>
          </a:p>
        </p:txBody>
      </p:sp>
      <p:sp>
        <p:nvSpPr>
          <p:cNvPr id="157773" name="Text Box 122">
            <a:extLst>
              <a:ext uri="{FF2B5EF4-FFF2-40B4-BE49-F238E27FC236}">
                <a16:creationId xmlns:a16="http://schemas.microsoft.com/office/drawing/2014/main" id="{C9EFED6A-1887-488C-83BC-0048DF1957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781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e4</a:t>
            </a:r>
          </a:p>
        </p:txBody>
      </p:sp>
      <p:sp>
        <p:nvSpPr>
          <p:cNvPr id="157774" name="Text Box 123">
            <a:extLst>
              <a:ext uri="{FF2B5EF4-FFF2-40B4-BE49-F238E27FC236}">
                <a16:creationId xmlns:a16="http://schemas.microsoft.com/office/drawing/2014/main" id="{788660DD-1FFD-468D-90B8-5577495F09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165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r1</a:t>
            </a:r>
          </a:p>
        </p:txBody>
      </p:sp>
      <p:sp>
        <p:nvSpPr>
          <p:cNvPr id="157775" name="Text Box 124">
            <a:extLst>
              <a:ext uri="{FF2B5EF4-FFF2-40B4-BE49-F238E27FC236}">
                <a16:creationId xmlns:a16="http://schemas.microsoft.com/office/drawing/2014/main" id="{B79887C5-056B-4926-BE50-606CBE00C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165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r1</a:t>
            </a:r>
          </a:p>
        </p:txBody>
      </p:sp>
      <p:sp>
        <p:nvSpPr>
          <p:cNvPr id="157776" name="Text Box 125">
            <a:extLst>
              <a:ext uri="{FF2B5EF4-FFF2-40B4-BE49-F238E27FC236}">
                <a16:creationId xmlns:a16="http://schemas.microsoft.com/office/drawing/2014/main" id="{86708C7B-BBB5-40AA-B475-67079BBE0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5162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r1</a:t>
            </a:r>
          </a:p>
        </p:txBody>
      </p:sp>
      <p:sp>
        <p:nvSpPr>
          <p:cNvPr id="157777" name="Text Box 126">
            <a:extLst>
              <a:ext uri="{FF2B5EF4-FFF2-40B4-BE49-F238E27FC236}">
                <a16:creationId xmlns:a16="http://schemas.microsoft.com/office/drawing/2014/main" id="{7214FE8D-7F69-4F20-80AB-9769210D6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162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s5</a:t>
            </a:r>
          </a:p>
        </p:txBody>
      </p:sp>
      <p:sp>
        <p:nvSpPr>
          <p:cNvPr id="157778" name="Text Box 127">
            <a:extLst>
              <a:ext uri="{FF2B5EF4-FFF2-40B4-BE49-F238E27FC236}">
                <a16:creationId xmlns:a16="http://schemas.microsoft.com/office/drawing/2014/main" id="{F8E1BF59-1DBA-415B-87B7-9E3BEECC8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25" y="5162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r1</a:t>
            </a:r>
          </a:p>
        </p:txBody>
      </p:sp>
      <p:sp>
        <p:nvSpPr>
          <p:cNvPr id="157779" name="Text Box 128">
            <a:extLst>
              <a:ext uri="{FF2B5EF4-FFF2-40B4-BE49-F238E27FC236}">
                <a16:creationId xmlns:a16="http://schemas.microsoft.com/office/drawing/2014/main" id="{98814438-64DE-4E57-BAE5-F76AD61AB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5162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r1</a:t>
            </a:r>
          </a:p>
        </p:txBody>
      </p:sp>
      <p:sp>
        <p:nvSpPr>
          <p:cNvPr id="157780" name="Text Box 129">
            <a:extLst>
              <a:ext uri="{FF2B5EF4-FFF2-40B4-BE49-F238E27FC236}">
                <a16:creationId xmlns:a16="http://schemas.microsoft.com/office/drawing/2014/main" id="{24DA3135-EBA8-42B9-8CCB-4DA067133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546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</a:p>
        </p:txBody>
      </p:sp>
      <p:sp>
        <p:nvSpPr>
          <p:cNvPr id="157781" name="Text Box 130">
            <a:extLst>
              <a:ext uri="{FF2B5EF4-FFF2-40B4-BE49-F238E27FC236}">
                <a16:creationId xmlns:a16="http://schemas.microsoft.com/office/drawing/2014/main" id="{012A0CAB-3609-4F0D-B519-27B19E927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546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</a:p>
        </p:txBody>
      </p:sp>
      <p:sp>
        <p:nvSpPr>
          <p:cNvPr id="157782" name="Text Box 131">
            <a:extLst>
              <a:ext uri="{FF2B5EF4-FFF2-40B4-BE49-F238E27FC236}">
                <a16:creationId xmlns:a16="http://schemas.microsoft.com/office/drawing/2014/main" id="{41ADB51B-B228-4865-9494-8A240082C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5543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</a:p>
        </p:txBody>
      </p:sp>
      <p:sp>
        <p:nvSpPr>
          <p:cNvPr id="157783" name="Text Box 132">
            <a:extLst>
              <a:ext uri="{FF2B5EF4-FFF2-40B4-BE49-F238E27FC236}">
                <a16:creationId xmlns:a16="http://schemas.microsoft.com/office/drawing/2014/main" id="{FD2E401A-4590-4429-8978-07E9D229EA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543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</a:p>
        </p:txBody>
      </p:sp>
      <p:sp>
        <p:nvSpPr>
          <p:cNvPr id="157784" name="Text Box 133">
            <a:extLst>
              <a:ext uri="{FF2B5EF4-FFF2-40B4-BE49-F238E27FC236}">
                <a16:creationId xmlns:a16="http://schemas.microsoft.com/office/drawing/2014/main" id="{76920C9F-312D-4506-865D-3369C929D0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25" y="5543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</a:p>
        </p:txBody>
      </p:sp>
      <p:sp>
        <p:nvSpPr>
          <p:cNvPr id="157785" name="Text Box 134">
            <a:extLst>
              <a:ext uri="{FF2B5EF4-FFF2-40B4-BE49-F238E27FC236}">
                <a16:creationId xmlns:a16="http://schemas.microsoft.com/office/drawing/2014/main" id="{690003B6-5436-4328-BAA1-CA3F61D2BD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5543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r2</a:t>
            </a:r>
          </a:p>
        </p:txBody>
      </p:sp>
      <p:sp>
        <p:nvSpPr>
          <p:cNvPr id="157786" name="Text Box 135">
            <a:extLst>
              <a:ext uri="{FF2B5EF4-FFF2-40B4-BE49-F238E27FC236}">
                <a16:creationId xmlns:a16="http://schemas.microsoft.com/office/drawing/2014/main" id="{1EB0A6A4-9EA5-4AFA-A1D6-043CD4E0B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927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</a:p>
        </p:txBody>
      </p:sp>
      <p:sp>
        <p:nvSpPr>
          <p:cNvPr id="157787" name="Text Box 136">
            <a:extLst>
              <a:ext uri="{FF2B5EF4-FFF2-40B4-BE49-F238E27FC236}">
                <a16:creationId xmlns:a16="http://schemas.microsoft.com/office/drawing/2014/main" id="{F8C2A5CB-274F-489A-8E63-153CEC5A37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927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</a:p>
        </p:txBody>
      </p:sp>
      <p:sp>
        <p:nvSpPr>
          <p:cNvPr id="157788" name="Text Box 137">
            <a:extLst>
              <a:ext uri="{FF2B5EF4-FFF2-40B4-BE49-F238E27FC236}">
                <a16:creationId xmlns:a16="http://schemas.microsoft.com/office/drawing/2014/main" id="{315F8B2E-779D-442F-9A7A-C09BFEFD0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5924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</a:p>
        </p:txBody>
      </p:sp>
      <p:sp>
        <p:nvSpPr>
          <p:cNvPr id="157789" name="Text Box 138">
            <a:extLst>
              <a:ext uri="{FF2B5EF4-FFF2-40B4-BE49-F238E27FC236}">
                <a16:creationId xmlns:a16="http://schemas.microsoft.com/office/drawing/2014/main" id="{6158C5B1-3FA6-4FE7-B969-5BBA2CA45B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924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</a:p>
        </p:txBody>
      </p:sp>
      <p:sp>
        <p:nvSpPr>
          <p:cNvPr id="157790" name="Text Box 139">
            <a:extLst>
              <a:ext uri="{FF2B5EF4-FFF2-40B4-BE49-F238E27FC236}">
                <a16:creationId xmlns:a16="http://schemas.microsoft.com/office/drawing/2014/main" id="{7EFB2CFA-5326-4710-89B4-8DC120E9B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25" y="5924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</a:p>
        </p:txBody>
      </p:sp>
      <p:sp>
        <p:nvSpPr>
          <p:cNvPr id="157791" name="Text Box 140">
            <a:extLst>
              <a:ext uri="{FF2B5EF4-FFF2-40B4-BE49-F238E27FC236}">
                <a16:creationId xmlns:a16="http://schemas.microsoft.com/office/drawing/2014/main" id="{8A29B8D6-7D74-4AEF-9FEC-1CC3AF75E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592455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r3</a:t>
            </a:r>
          </a:p>
        </p:txBody>
      </p:sp>
      <p:sp>
        <p:nvSpPr>
          <p:cNvPr id="157792" name="Text Box 141">
            <a:extLst>
              <a:ext uri="{FF2B5EF4-FFF2-40B4-BE49-F238E27FC236}">
                <a16:creationId xmlns:a16="http://schemas.microsoft.com/office/drawing/2014/main" id="{494EA139-D02D-43DE-8460-39D8DE5B3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44037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8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>
            <a:extLst>
              <a:ext uri="{FF2B5EF4-FFF2-40B4-BE49-F238E27FC236}">
                <a16:creationId xmlns:a16="http://schemas.microsoft.com/office/drawing/2014/main" id="{78B7872D-520B-4289-9C7B-58FAE9A560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4.50</a:t>
            </a:r>
            <a:r>
              <a:rPr lang="zh-CN" altLang="en-US"/>
              <a:t>（续）</a:t>
            </a:r>
          </a:p>
        </p:txBody>
      </p:sp>
      <p:sp>
        <p:nvSpPr>
          <p:cNvPr id="158723" name="Rectangle 3">
            <a:extLst>
              <a:ext uri="{FF2B5EF4-FFF2-40B4-BE49-F238E27FC236}">
                <a16:creationId xmlns:a16="http://schemas.microsoft.com/office/drawing/2014/main" id="{2C29D31C-AE84-45EB-9631-F91FE4D8B0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3333CC"/>
                </a:solidFill>
              </a:rPr>
              <a:t>e1</a:t>
            </a:r>
            <a:r>
              <a:rPr lang="zh-CN" altLang="en-US" sz="2800" dirty="0">
                <a:solidFill>
                  <a:srgbClr val="3333CC"/>
                </a:solidFill>
              </a:rPr>
              <a:t>：状态</a:t>
            </a:r>
            <a:r>
              <a:rPr lang="en-US" altLang="zh-CN" sz="2800" dirty="0">
                <a:solidFill>
                  <a:srgbClr val="3333CC"/>
                </a:solidFill>
              </a:rPr>
              <a:t>0, 2, 4, 5</a:t>
            </a:r>
            <a:r>
              <a:rPr lang="zh-CN" altLang="en-US" sz="2800" dirty="0">
                <a:solidFill>
                  <a:srgbClr val="3333CC"/>
                </a:solidFill>
              </a:rPr>
              <a:t>期待运算数，但遇到</a:t>
            </a:r>
            <a:r>
              <a:rPr lang="en-US" altLang="zh-CN" sz="2800" dirty="0">
                <a:solidFill>
                  <a:srgbClr val="3333CC"/>
                </a:solidFill>
              </a:rPr>
              <a:t>+</a:t>
            </a:r>
            <a:r>
              <a:rPr lang="zh-CN" altLang="en-US" sz="2800" dirty="0">
                <a:solidFill>
                  <a:srgbClr val="3333CC"/>
                </a:solidFill>
              </a:rPr>
              <a:t>、*或</a:t>
            </a:r>
            <a:r>
              <a:rPr lang="en-US" altLang="zh-CN" sz="2800" dirty="0">
                <a:solidFill>
                  <a:srgbClr val="3333CC"/>
                </a:solidFill>
              </a:rPr>
              <a:t>$</a:t>
            </a:r>
            <a:br>
              <a:rPr lang="en-US" altLang="zh-CN" sz="2800" dirty="0">
                <a:solidFill>
                  <a:srgbClr val="3333CC"/>
                </a:solidFill>
              </a:rPr>
            </a:br>
            <a:r>
              <a:rPr lang="zh-CN" altLang="en-US" sz="2800" dirty="0">
                <a:solidFill>
                  <a:srgbClr val="3333CC"/>
                </a:solidFill>
              </a:rPr>
              <a:t>压栈</a:t>
            </a:r>
            <a:r>
              <a:rPr lang="en-US" altLang="zh-CN" sz="2800" b="1" dirty="0">
                <a:solidFill>
                  <a:srgbClr val="3333CC"/>
                </a:solidFill>
              </a:rPr>
              <a:t>id</a:t>
            </a:r>
            <a:r>
              <a:rPr lang="zh-CN" altLang="en-US" sz="2800" dirty="0">
                <a:solidFill>
                  <a:srgbClr val="3333CC"/>
                </a:solidFill>
              </a:rPr>
              <a:t>和状态</a:t>
            </a:r>
            <a:r>
              <a:rPr lang="en-US" altLang="zh-CN" sz="2800" dirty="0">
                <a:solidFill>
                  <a:srgbClr val="3333CC"/>
                </a:solidFill>
              </a:rPr>
              <a:t>3</a:t>
            </a:r>
            <a:r>
              <a:rPr lang="zh-CN" altLang="en-US" sz="2800" dirty="0">
                <a:solidFill>
                  <a:srgbClr val="3333CC"/>
                </a:solidFill>
              </a:rPr>
              <a:t>（</a:t>
            </a:r>
            <a:r>
              <a:rPr lang="en-US" altLang="zh-CN" sz="2800" dirty="0" err="1">
                <a:solidFill>
                  <a:srgbClr val="3333CC"/>
                </a:solidFill>
              </a:rPr>
              <a:t>goto</a:t>
            </a:r>
            <a:r>
              <a:rPr lang="en-US" altLang="zh-CN" sz="2800" dirty="0">
                <a:solidFill>
                  <a:srgbClr val="3333CC"/>
                </a:solidFill>
              </a:rPr>
              <a:t>[0/2/4/5, id]</a:t>
            </a:r>
            <a:r>
              <a:rPr lang="zh-CN" altLang="en-US" sz="2800" dirty="0">
                <a:solidFill>
                  <a:srgbClr val="3333CC"/>
                </a:solidFill>
              </a:rPr>
              <a:t>），</a:t>
            </a:r>
            <a:br>
              <a:rPr lang="zh-CN" altLang="en-US" sz="2800" dirty="0">
                <a:solidFill>
                  <a:srgbClr val="3333CC"/>
                </a:solidFill>
              </a:rPr>
            </a:br>
            <a:r>
              <a:rPr lang="zh-CN" altLang="en-US" sz="2800" dirty="0">
                <a:solidFill>
                  <a:srgbClr val="3333CC"/>
                </a:solidFill>
              </a:rPr>
              <a:t>输出错误信息“缺少运算数”</a:t>
            </a:r>
          </a:p>
          <a:p>
            <a:pPr eaLnBrk="1" hangingPunct="1">
              <a:buNone/>
            </a:pPr>
            <a:r>
              <a:rPr lang="en-US" altLang="zh-CN" sz="2800" dirty="0">
                <a:solidFill>
                  <a:srgbClr val="3333CC"/>
                </a:solidFill>
              </a:rPr>
              <a:t>e2</a:t>
            </a:r>
            <a:r>
              <a:rPr lang="zh-CN" altLang="en-US" sz="2800" dirty="0">
                <a:solidFill>
                  <a:srgbClr val="3333CC"/>
                </a:solidFill>
              </a:rPr>
              <a:t>：状态</a:t>
            </a:r>
            <a:r>
              <a:rPr lang="en-US" altLang="zh-CN" sz="2800" dirty="0">
                <a:solidFill>
                  <a:srgbClr val="3333CC"/>
                </a:solidFill>
              </a:rPr>
              <a:t>0, 2, 4, 5</a:t>
            </a:r>
            <a:r>
              <a:rPr lang="zh-CN" altLang="en-US" sz="2800" dirty="0">
                <a:solidFill>
                  <a:srgbClr val="3333CC"/>
                </a:solidFill>
              </a:rPr>
              <a:t>遇到‘</a:t>
            </a:r>
            <a:r>
              <a:rPr lang="en-US" altLang="zh-CN" sz="2800" dirty="0">
                <a:solidFill>
                  <a:srgbClr val="3333CC"/>
                </a:solidFill>
              </a:rPr>
              <a:t>)</a:t>
            </a:r>
            <a:r>
              <a:rPr lang="zh-CN" altLang="en-US" sz="2800" dirty="0">
                <a:solidFill>
                  <a:srgbClr val="3333CC"/>
                </a:solidFill>
              </a:rPr>
              <a:t>’</a:t>
            </a:r>
            <a:br>
              <a:rPr lang="en-US" altLang="zh-CN" sz="2800" dirty="0">
                <a:solidFill>
                  <a:srgbClr val="3333CC"/>
                </a:solidFill>
              </a:rPr>
            </a:br>
            <a:r>
              <a:rPr lang="zh-CN" altLang="en-US" sz="2800" dirty="0">
                <a:solidFill>
                  <a:srgbClr val="3333CC"/>
                </a:solidFill>
              </a:rPr>
              <a:t>删除‘</a:t>
            </a:r>
            <a:r>
              <a:rPr lang="en-US" altLang="zh-CN" sz="2800" dirty="0">
                <a:solidFill>
                  <a:srgbClr val="3333CC"/>
                </a:solidFill>
              </a:rPr>
              <a:t>)</a:t>
            </a:r>
            <a:r>
              <a:rPr lang="zh-CN" altLang="en-US" sz="2800" dirty="0">
                <a:solidFill>
                  <a:srgbClr val="3333CC"/>
                </a:solidFill>
              </a:rPr>
              <a:t>’，输出错误信息“不匹配的右括号”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3333CC"/>
                </a:solidFill>
              </a:rPr>
              <a:t>e3</a:t>
            </a:r>
            <a:r>
              <a:rPr lang="zh-CN" altLang="en-US" sz="2800" dirty="0">
                <a:solidFill>
                  <a:srgbClr val="3333CC"/>
                </a:solidFill>
              </a:rPr>
              <a:t>：状态</a:t>
            </a:r>
            <a:r>
              <a:rPr lang="en-US" altLang="zh-CN" sz="2800" dirty="0">
                <a:solidFill>
                  <a:srgbClr val="3333CC"/>
                </a:solidFill>
              </a:rPr>
              <a:t>1, 6</a:t>
            </a:r>
            <a:r>
              <a:rPr lang="zh-CN" altLang="en-US" sz="2800" dirty="0">
                <a:solidFill>
                  <a:srgbClr val="3333CC"/>
                </a:solidFill>
              </a:rPr>
              <a:t>期待运算符，但遇到</a:t>
            </a:r>
            <a:r>
              <a:rPr lang="en-US" altLang="zh-CN" sz="2800" dirty="0">
                <a:solidFill>
                  <a:srgbClr val="3333CC"/>
                </a:solidFill>
              </a:rPr>
              <a:t>id</a:t>
            </a:r>
            <a:r>
              <a:rPr lang="zh-CN" altLang="en-US" sz="2800" dirty="0">
                <a:solidFill>
                  <a:srgbClr val="3333CC"/>
                </a:solidFill>
              </a:rPr>
              <a:t>或</a:t>
            </a:r>
            <a:r>
              <a:rPr lang="en-US" altLang="zh-CN" sz="2800" dirty="0">
                <a:solidFill>
                  <a:srgbClr val="3333CC"/>
                </a:solidFill>
              </a:rPr>
              <a:t>(</a:t>
            </a:r>
            <a:br>
              <a:rPr lang="en-US" altLang="zh-CN" sz="2800" dirty="0">
                <a:solidFill>
                  <a:srgbClr val="3333CC"/>
                </a:solidFill>
              </a:rPr>
            </a:br>
            <a:r>
              <a:rPr lang="zh-CN" altLang="en-US" sz="2800" dirty="0">
                <a:solidFill>
                  <a:srgbClr val="3333CC"/>
                </a:solidFill>
              </a:rPr>
              <a:t>压栈</a:t>
            </a:r>
            <a:r>
              <a:rPr lang="en-US" altLang="zh-CN" sz="2800" dirty="0">
                <a:solidFill>
                  <a:srgbClr val="3333CC"/>
                </a:solidFill>
              </a:rPr>
              <a:t>+</a:t>
            </a:r>
            <a:r>
              <a:rPr lang="zh-CN" altLang="en-US" sz="2800" dirty="0">
                <a:solidFill>
                  <a:srgbClr val="3333CC"/>
                </a:solidFill>
              </a:rPr>
              <a:t>和状态</a:t>
            </a:r>
            <a:r>
              <a:rPr lang="en-US" altLang="zh-CN" sz="2800" dirty="0">
                <a:solidFill>
                  <a:srgbClr val="3333CC"/>
                </a:solidFill>
              </a:rPr>
              <a:t>4</a:t>
            </a:r>
            <a:r>
              <a:rPr lang="zh-CN" altLang="en-US" sz="2800" dirty="0">
                <a:solidFill>
                  <a:srgbClr val="3333CC"/>
                </a:solidFill>
              </a:rPr>
              <a:t>，输出错误信息“缺少运算符”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3333CC"/>
                </a:solidFill>
              </a:rPr>
              <a:t>e4</a:t>
            </a:r>
            <a:r>
              <a:rPr lang="zh-CN" altLang="en-US" sz="2800" dirty="0">
                <a:solidFill>
                  <a:srgbClr val="3333CC"/>
                </a:solidFill>
              </a:rPr>
              <a:t>：状态</a:t>
            </a:r>
            <a:r>
              <a:rPr lang="en-US" altLang="zh-CN" sz="2800" dirty="0">
                <a:solidFill>
                  <a:srgbClr val="3333CC"/>
                </a:solidFill>
              </a:rPr>
              <a:t>6</a:t>
            </a:r>
            <a:r>
              <a:rPr lang="zh-CN" altLang="en-US" sz="2800" dirty="0">
                <a:solidFill>
                  <a:srgbClr val="3333CC"/>
                </a:solidFill>
              </a:rPr>
              <a:t>期待运算符或</a:t>
            </a:r>
            <a:r>
              <a:rPr lang="en-US" altLang="zh-CN" sz="2800" dirty="0">
                <a:solidFill>
                  <a:srgbClr val="3333CC"/>
                </a:solidFill>
              </a:rPr>
              <a:t>)</a:t>
            </a:r>
            <a:r>
              <a:rPr lang="zh-CN" altLang="en-US" sz="2800" dirty="0">
                <a:solidFill>
                  <a:srgbClr val="3333CC"/>
                </a:solidFill>
              </a:rPr>
              <a:t>，但遇到</a:t>
            </a:r>
            <a:r>
              <a:rPr lang="en-US" altLang="zh-CN" sz="2800" dirty="0">
                <a:solidFill>
                  <a:srgbClr val="3333CC"/>
                </a:solidFill>
              </a:rPr>
              <a:t>$</a:t>
            </a:r>
            <a:br>
              <a:rPr lang="en-US" altLang="zh-CN" sz="2800" dirty="0">
                <a:solidFill>
                  <a:srgbClr val="3333CC"/>
                </a:solidFill>
              </a:rPr>
            </a:br>
            <a:r>
              <a:rPr lang="zh-CN" altLang="en-US" sz="2800" dirty="0">
                <a:solidFill>
                  <a:srgbClr val="3333CC"/>
                </a:solidFill>
              </a:rPr>
              <a:t>压栈</a:t>
            </a:r>
            <a:r>
              <a:rPr lang="en-US" altLang="zh-CN" sz="2800" dirty="0">
                <a:solidFill>
                  <a:srgbClr val="3333CC"/>
                </a:solidFill>
              </a:rPr>
              <a:t>)</a:t>
            </a:r>
            <a:r>
              <a:rPr lang="zh-CN" altLang="en-US" sz="2800" dirty="0">
                <a:solidFill>
                  <a:srgbClr val="3333CC"/>
                </a:solidFill>
              </a:rPr>
              <a:t>和状态</a:t>
            </a:r>
            <a:r>
              <a:rPr lang="en-US" altLang="zh-CN" sz="2800" dirty="0">
                <a:solidFill>
                  <a:srgbClr val="3333CC"/>
                </a:solidFill>
              </a:rPr>
              <a:t>9</a:t>
            </a:r>
            <a:r>
              <a:rPr lang="zh-CN" altLang="en-US" sz="2800" dirty="0">
                <a:solidFill>
                  <a:srgbClr val="3333CC"/>
                </a:solidFill>
              </a:rPr>
              <a:t>，输出错误信息“缺少</a:t>
            </a:r>
            <a:r>
              <a:rPr lang="en-US" altLang="zh-CN" sz="2800" dirty="0">
                <a:solidFill>
                  <a:srgbClr val="3333CC"/>
                </a:solidFill>
              </a:rPr>
              <a:t>)</a:t>
            </a:r>
            <a:r>
              <a:rPr lang="zh-CN" altLang="en-US" sz="2800" dirty="0">
                <a:solidFill>
                  <a:srgbClr val="3333CC"/>
                </a:solidFill>
              </a:rPr>
              <a:t>”</a:t>
            </a:r>
            <a:endParaRPr lang="en-US" altLang="zh-CN" sz="2800" dirty="0">
              <a:solidFill>
                <a:srgbClr val="3333CC"/>
              </a:solidFill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>
            <a:extLst>
              <a:ext uri="{FF2B5EF4-FFF2-40B4-BE49-F238E27FC236}">
                <a16:creationId xmlns:a16="http://schemas.microsoft.com/office/drawing/2014/main" id="{59183CB4-7A0B-4FC2-8C2A-0F16CB39AA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4.50</a:t>
            </a:r>
            <a:r>
              <a:rPr lang="zh-CN" altLang="en-US"/>
              <a:t>（续）</a:t>
            </a:r>
          </a:p>
        </p:txBody>
      </p:sp>
      <p:sp>
        <p:nvSpPr>
          <p:cNvPr id="159747" name="Line 30">
            <a:extLst>
              <a:ext uri="{FF2B5EF4-FFF2-40B4-BE49-F238E27FC236}">
                <a16:creationId xmlns:a16="http://schemas.microsoft.com/office/drawing/2014/main" id="{1C65E15B-0400-4EE5-A4FB-DBF130580FB7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1371600"/>
            <a:ext cx="7197725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9748" name="Line 31">
            <a:extLst>
              <a:ext uri="{FF2B5EF4-FFF2-40B4-BE49-F238E27FC236}">
                <a16:creationId xmlns:a16="http://schemas.microsoft.com/office/drawing/2014/main" id="{BF4DD1BF-2FD5-4CE0-BA41-FB2BA1F202BC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1447800"/>
            <a:ext cx="7197725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9749" name="Line 32">
            <a:extLst>
              <a:ext uri="{FF2B5EF4-FFF2-40B4-BE49-F238E27FC236}">
                <a16:creationId xmlns:a16="http://schemas.microsoft.com/office/drawing/2014/main" id="{5105C693-C3D2-425A-B98E-CB7F266AAAE7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1752600"/>
            <a:ext cx="7197725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9750" name="Line 33">
            <a:extLst>
              <a:ext uri="{FF2B5EF4-FFF2-40B4-BE49-F238E27FC236}">
                <a16:creationId xmlns:a16="http://schemas.microsoft.com/office/drawing/2014/main" id="{113B4DB7-06F4-4D84-A464-4F95F1683E4A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5943600"/>
            <a:ext cx="7197725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9751" name="Line 34">
            <a:extLst>
              <a:ext uri="{FF2B5EF4-FFF2-40B4-BE49-F238E27FC236}">
                <a16:creationId xmlns:a16="http://schemas.microsoft.com/office/drawing/2014/main" id="{DCA64BE2-9F96-456A-895E-CC2C0352E12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1447800"/>
            <a:ext cx="1588" cy="4498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9752" name="Line 35">
            <a:extLst>
              <a:ext uri="{FF2B5EF4-FFF2-40B4-BE49-F238E27FC236}">
                <a16:creationId xmlns:a16="http://schemas.microsoft.com/office/drawing/2014/main" id="{FB4EEB52-AE84-4884-9073-47B763E401BF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3613" y="1447800"/>
            <a:ext cx="1587" cy="4498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9753" name="Text Box 36">
            <a:extLst>
              <a:ext uri="{FF2B5EF4-FFF2-40B4-BE49-F238E27FC236}">
                <a16:creationId xmlns:a16="http://schemas.microsoft.com/office/drawing/2014/main" id="{436CCAC8-7D3D-4B65-8172-E2D69791EC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828800"/>
            <a:ext cx="7086600" cy="4097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$0		   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id + )</a:t>
            </a:r>
            <a:r>
              <a:rPr kumimoji="0" lang="en-US" altLang="zh-CN" sz="2400" b="1" dirty="0"/>
              <a:t>$	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$0 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id </a:t>
            </a:r>
            <a:r>
              <a:rPr kumimoji="0" lang="en-US" altLang="zh-CN" sz="2400" b="1" dirty="0"/>
              <a:t>3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		        + )</a:t>
            </a:r>
            <a:r>
              <a:rPr kumimoji="0" lang="en-US" altLang="zh-CN" sz="2400" b="1" dirty="0"/>
              <a:t>$	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$0 E 1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		        + )</a:t>
            </a:r>
            <a:r>
              <a:rPr kumimoji="0" lang="en-US" altLang="zh-CN" sz="2400" b="1" dirty="0"/>
              <a:t>$	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$0 E 1 </a:t>
            </a:r>
            <a:r>
              <a:rPr kumimoji="0" lang="en-US" altLang="zh-CN" sz="2400" b="1" dirty="0">
                <a:solidFill>
                  <a:srgbClr val="3333CC"/>
                </a:solidFill>
              </a:rPr>
              <a:t>+</a:t>
            </a:r>
            <a:r>
              <a:rPr kumimoji="0" lang="en-US" altLang="zh-CN" sz="2400" b="1" dirty="0"/>
              <a:t> 4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	           )</a:t>
            </a:r>
            <a:r>
              <a:rPr kumimoji="0" lang="en-US" altLang="zh-CN" sz="2400" b="1" dirty="0"/>
              <a:t>$	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$0 E 1 </a:t>
            </a:r>
            <a:r>
              <a:rPr kumimoji="0" lang="en-US" altLang="zh-CN" sz="2400" b="1" dirty="0">
                <a:solidFill>
                  <a:srgbClr val="3333CC"/>
                </a:solidFill>
              </a:rPr>
              <a:t>+</a:t>
            </a:r>
            <a:r>
              <a:rPr kumimoji="0" lang="en-US" altLang="zh-CN" sz="2400" b="1" dirty="0"/>
              <a:t> 4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	             </a:t>
            </a:r>
            <a:r>
              <a:rPr kumimoji="0" lang="en-US" altLang="zh-CN" sz="2400" b="1" dirty="0"/>
              <a:t>$	e2:</a:t>
            </a:r>
            <a:r>
              <a:rPr kumimoji="0" lang="zh-CN" altLang="en-US" sz="2400" b="1" dirty="0"/>
              <a:t>“未匹配右括号”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dirty="0">
                <a:solidFill>
                  <a:schemeClr val="accent2"/>
                </a:solidFill>
              </a:rPr>
              <a:t> 		         	</a:t>
            </a:r>
            <a:r>
              <a:rPr kumimoji="0" lang="zh-CN" altLang="en-US" sz="2400" b="1" dirty="0"/>
              <a:t>	将其删除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$0 E 1 </a:t>
            </a:r>
            <a:r>
              <a:rPr kumimoji="0" lang="en-US" altLang="zh-CN" sz="2400" b="1" dirty="0">
                <a:solidFill>
                  <a:srgbClr val="3333CC"/>
                </a:solidFill>
              </a:rPr>
              <a:t>+</a:t>
            </a:r>
            <a:r>
              <a:rPr kumimoji="0" lang="en-US" altLang="zh-CN" sz="2400" b="1" dirty="0"/>
              <a:t> 4 </a:t>
            </a:r>
            <a:r>
              <a:rPr kumimoji="0" lang="en-US" altLang="zh-CN" sz="2400" b="1" dirty="0">
                <a:solidFill>
                  <a:srgbClr val="3333CC"/>
                </a:solidFill>
              </a:rPr>
              <a:t>id</a:t>
            </a:r>
            <a:r>
              <a:rPr kumimoji="0" lang="en-US" altLang="zh-CN" sz="2400" b="1" dirty="0"/>
              <a:t> 3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            </a:t>
            </a:r>
            <a:r>
              <a:rPr kumimoji="0" lang="en-US" altLang="zh-CN" sz="2400" b="1" dirty="0"/>
              <a:t>$	e1:</a:t>
            </a:r>
            <a:r>
              <a:rPr kumimoji="0" lang="zh-CN" altLang="en-US" sz="2400" b="1" dirty="0"/>
              <a:t>“缺少运算数”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 dirty="0"/>
              <a:t> </a:t>
            </a:r>
            <a:r>
              <a:rPr kumimoji="0" lang="zh-CN" altLang="en-US" sz="2400" b="1" dirty="0">
                <a:solidFill>
                  <a:schemeClr val="accent2"/>
                </a:solidFill>
              </a:rPr>
              <a:t> 		           	</a:t>
            </a:r>
            <a:r>
              <a:rPr kumimoji="0" lang="zh-CN" altLang="en-US" sz="2400" b="1" dirty="0"/>
              <a:t>	压栈</a:t>
            </a:r>
            <a:r>
              <a:rPr kumimoji="0" lang="en-US" altLang="zh-CN" sz="2400" b="1" dirty="0"/>
              <a:t>id</a:t>
            </a:r>
            <a:r>
              <a:rPr kumimoji="0" lang="zh-CN" altLang="en-US" sz="2400" b="1" dirty="0"/>
              <a:t>和状态</a:t>
            </a:r>
            <a:r>
              <a:rPr kumimoji="0" lang="en-US" altLang="zh-CN" sz="2400" b="1" dirty="0"/>
              <a:t>3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$0 E 1 </a:t>
            </a:r>
            <a:r>
              <a:rPr kumimoji="0" lang="en-US" altLang="zh-CN" sz="2400" b="1" dirty="0">
                <a:solidFill>
                  <a:srgbClr val="3333CC"/>
                </a:solidFill>
              </a:rPr>
              <a:t>+</a:t>
            </a:r>
            <a:r>
              <a:rPr kumimoji="0" lang="en-US" altLang="zh-CN" sz="2400" b="1" dirty="0"/>
              <a:t> 4 E 7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            </a:t>
            </a:r>
            <a:r>
              <a:rPr kumimoji="0" lang="en-US" altLang="zh-CN" sz="2400" b="1" dirty="0"/>
              <a:t>$	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$0 E 1	 </a:t>
            </a:r>
            <a:r>
              <a:rPr kumimoji="0" lang="en-US" altLang="zh-CN" sz="2400" b="1" dirty="0">
                <a:solidFill>
                  <a:schemeClr val="accent2"/>
                </a:solidFill>
              </a:rPr>
              <a:t>	            </a:t>
            </a:r>
            <a:r>
              <a:rPr kumimoji="0" lang="en-US" altLang="zh-CN" sz="2400" b="1" dirty="0"/>
              <a:t>$	</a:t>
            </a:r>
          </a:p>
        </p:txBody>
      </p:sp>
      <p:sp>
        <p:nvSpPr>
          <p:cNvPr id="159754" name="Text Box 37">
            <a:extLst>
              <a:ext uri="{FF2B5EF4-FFF2-40B4-BE49-F238E27FC236}">
                <a16:creationId xmlns:a16="http://schemas.microsoft.com/office/drawing/2014/main" id="{BB178FED-A349-4AE4-9352-D72EEC2F1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828800"/>
            <a:ext cx="152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1600" b="1"/>
          </a:p>
        </p:txBody>
      </p:sp>
      <p:sp>
        <p:nvSpPr>
          <p:cNvPr id="159755" name="Text Box 38">
            <a:extLst>
              <a:ext uri="{FF2B5EF4-FFF2-40B4-BE49-F238E27FC236}">
                <a16:creationId xmlns:a16="http://schemas.microsoft.com/office/drawing/2014/main" id="{64BFECFC-7F0C-477C-BD25-7FC729B709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3716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STACK</a:t>
            </a:r>
          </a:p>
        </p:txBody>
      </p:sp>
      <p:sp>
        <p:nvSpPr>
          <p:cNvPr id="159756" name="Text Box 39">
            <a:extLst>
              <a:ext uri="{FF2B5EF4-FFF2-40B4-BE49-F238E27FC236}">
                <a16:creationId xmlns:a16="http://schemas.microsoft.com/office/drawing/2014/main" id="{8778B360-CCF6-4234-8C21-BF78DF8F85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13716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INPUT</a:t>
            </a:r>
          </a:p>
        </p:txBody>
      </p:sp>
      <p:sp>
        <p:nvSpPr>
          <p:cNvPr id="159757" name="Text Box 40">
            <a:extLst>
              <a:ext uri="{FF2B5EF4-FFF2-40B4-BE49-F238E27FC236}">
                <a16:creationId xmlns:a16="http://schemas.microsoft.com/office/drawing/2014/main" id="{59F0D081-C833-4408-88D6-73A3B655B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13716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Remark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FD1"/>
      </a:accent5>
      <a:accent6>
        <a:srgbClr val="2D2DB9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F0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F0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lends 2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Designs\Blends.pot</Template>
  <TotalTime>13192</TotalTime>
  <Words>14722</Words>
  <Application>Microsoft Office PowerPoint</Application>
  <PresentationFormat>全屏显示(4:3)</PresentationFormat>
  <Paragraphs>2089</Paragraphs>
  <Slides>153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153</vt:i4>
      </vt:variant>
    </vt:vector>
  </HeadingPairs>
  <TitlesOfParts>
    <vt:vector size="165" baseType="lpstr">
      <vt:lpstr>Arial Unicode MS</vt:lpstr>
      <vt:lpstr>黑体</vt:lpstr>
      <vt:lpstr>隶书</vt:lpstr>
      <vt:lpstr>宋体</vt:lpstr>
      <vt:lpstr>Courier New</vt:lpstr>
      <vt:lpstr>Lucida Sans Unicode</vt:lpstr>
      <vt:lpstr>Symbol</vt:lpstr>
      <vt:lpstr>Tahoma</vt:lpstr>
      <vt:lpstr>Times New Roman</vt:lpstr>
      <vt:lpstr>Wingdings</vt:lpstr>
      <vt:lpstr>Blends</vt:lpstr>
      <vt:lpstr>Equation</vt:lpstr>
      <vt:lpstr>4.5 自底向上语法分析</vt:lpstr>
      <vt:lpstr>例4.21</vt:lpstr>
      <vt:lpstr>4.5.1  句柄（Handle）</vt:lpstr>
      <vt:lpstr>例4.22</vt:lpstr>
      <vt:lpstr>4.5.2 句柄剪枝(Handle Pruning)</vt:lpstr>
      <vt:lpstr>例4.23</vt:lpstr>
      <vt:lpstr>4.5.3  移进－归约分析的实现</vt:lpstr>
      <vt:lpstr>例4.24</vt:lpstr>
      <vt:lpstr>基本操作</vt:lpstr>
      <vt:lpstr>基本操作</vt:lpstr>
      <vt:lpstr>句柄必然在栈顶？</vt:lpstr>
      <vt:lpstr>4.5.4  活前缀</vt:lpstr>
      <vt:lpstr>4.5.5  冲突（例4.25）</vt:lpstr>
      <vt:lpstr>例4.26</vt:lpstr>
      <vt:lpstr>4.6  算符优先分析方法</vt:lpstr>
      <vt:lpstr>算符优先分析方法的特点</vt:lpstr>
      <vt:lpstr>优先级</vt:lpstr>
      <vt:lpstr>使用算法计算优先关系</vt:lpstr>
      <vt:lpstr>例</vt:lpstr>
      <vt:lpstr>4.6.1  使用算符优先关系</vt:lpstr>
      <vt:lpstr>使用算符优先关系（续）</vt:lpstr>
      <vt:lpstr>寻找句柄</vt:lpstr>
      <vt:lpstr>算法4.5  算符优先分析算法</vt:lpstr>
      <vt:lpstr>算法4.5（续）</vt:lpstr>
      <vt:lpstr>例</vt:lpstr>
      <vt:lpstr>4.6.2 直接构造算符优先关系(表)</vt:lpstr>
      <vt:lpstr>例4.28</vt:lpstr>
      <vt:lpstr>4.6.3  处理一元算符</vt:lpstr>
      <vt:lpstr>4.6.4  优先级函数</vt:lpstr>
      <vt:lpstr>例4.29</vt:lpstr>
      <vt:lpstr>算法4.6  构造优先级函数</vt:lpstr>
      <vt:lpstr>算法4.6 （续）</vt:lpstr>
      <vt:lpstr>例4.30</vt:lpstr>
      <vt:lpstr>4.6.5  算符优先分析的错误处理</vt:lpstr>
      <vt:lpstr>处理归约错误</vt:lpstr>
      <vt:lpstr>难点</vt:lpstr>
      <vt:lpstr>例4.31</vt:lpstr>
      <vt:lpstr>例4.31</vt:lpstr>
      <vt:lpstr>处理移进/归约错误</vt:lpstr>
      <vt:lpstr>例4.32</vt:lpstr>
      <vt:lpstr>例4.32（续）</vt:lpstr>
      <vt:lpstr>算符优先错误处理例</vt:lpstr>
      <vt:lpstr>4.7  LR分析方法</vt:lpstr>
      <vt:lpstr>移进/归约分析过程</vt:lpstr>
      <vt:lpstr>何时移进？何时归约？</vt:lpstr>
      <vt:lpstr>LR分析方法</vt:lpstr>
      <vt:lpstr>4.7.1  LR分析算法</vt:lpstr>
      <vt:lpstr>action表</vt:lpstr>
      <vt:lpstr>goto表</vt:lpstr>
      <vt:lpstr>分析器运行方式</vt:lpstr>
      <vt:lpstr>算法4.7  LR分析算法</vt:lpstr>
      <vt:lpstr>算法4.7  LR分析算法（续）</vt:lpstr>
      <vt:lpstr>例4.33</vt:lpstr>
      <vt:lpstr>例4.33  分析表</vt:lpstr>
      <vt:lpstr>例4.33  分析实例</vt:lpstr>
      <vt:lpstr>4.7.2  LR文法</vt:lpstr>
      <vt:lpstr>4.7.3  SLR分析</vt:lpstr>
      <vt:lpstr>项目的含义</vt:lpstr>
      <vt:lpstr>构造SLR分析表</vt:lpstr>
      <vt:lpstr>识别活前缀的NFA</vt:lpstr>
      <vt:lpstr>示例文法的NFA</vt:lpstr>
      <vt:lpstr>利用NFA进行LR分析</vt:lpstr>
      <vt:lpstr>项目——状态的NFA</vt:lpstr>
      <vt:lpstr>closure函数的计算</vt:lpstr>
      <vt:lpstr>closure函数</vt:lpstr>
      <vt:lpstr>例4.34</vt:lpstr>
      <vt:lpstr>核心（kernel）项目</vt:lpstr>
      <vt:lpstr>goto函数的计算</vt:lpstr>
      <vt:lpstr>LR(0)项目集规范族的构造</vt:lpstr>
      <vt:lpstr>例4.36</vt:lpstr>
      <vt:lpstr>例4.36</vt:lpstr>
      <vt:lpstr>例4.36（续）</vt:lpstr>
      <vt:lpstr>例4.36（续）</vt:lpstr>
      <vt:lpstr>有效项目（valid items）</vt:lpstr>
      <vt:lpstr>有效项目（valid items）</vt:lpstr>
      <vt:lpstr>例4.37</vt:lpstr>
      <vt:lpstr>算法4.8：构造SLR分析表</vt:lpstr>
      <vt:lpstr>算法4.8：构造SLR分析表(续)</vt:lpstr>
      <vt:lpstr>例4.38</vt:lpstr>
      <vt:lpstr>例4.38（续）</vt:lpstr>
      <vt:lpstr>例4.38（续）</vt:lpstr>
      <vt:lpstr>例4.38（续）</vt:lpstr>
      <vt:lpstr>例4.38（续）</vt:lpstr>
      <vt:lpstr>例4.38（续）</vt:lpstr>
      <vt:lpstr>例4.38（续）</vt:lpstr>
      <vt:lpstr>例4.39  SLR(1)分析表冲突</vt:lpstr>
      <vt:lpstr>例4.39  SLR(1)分析表冲突(续)</vt:lpstr>
      <vt:lpstr>例4.39  SLR(1)分析表冲突(续)</vt:lpstr>
      <vt:lpstr>例4.39  SLR(1)分析表冲突(续)</vt:lpstr>
      <vt:lpstr>4.7.4  构造规范LR分析表</vt:lpstr>
      <vt:lpstr>LR(1)项目</vt:lpstr>
      <vt:lpstr>LR(1)项目</vt:lpstr>
      <vt:lpstr>使用LR(1)项目</vt:lpstr>
      <vt:lpstr>例4.41</vt:lpstr>
      <vt:lpstr>构造LR(1)项目集规范族</vt:lpstr>
      <vt:lpstr>算法4.9 构造LR(1)项目集规范族</vt:lpstr>
      <vt:lpstr>算法4.9 （续）</vt:lpstr>
      <vt:lpstr>例4.42</vt:lpstr>
      <vt:lpstr>例4.42（续）</vt:lpstr>
      <vt:lpstr>例4.42（续）</vt:lpstr>
      <vt:lpstr>算法4.10 规范LR分析表的构造</vt:lpstr>
      <vt:lpstr>算法4.10 （续）</vt:lpstr>
      <vt:lpstr>例4.43</vt:lpstr>
      <vt:lpstr>4.7.5  构造LALR分析表</vt:lpstr>
      <vt:lpstr>“同心”</vt:lpstr>
      <vt:lpstr>同心集合并</vt:lpstr>
      <vt:lpstr>合并后的action和goto</vt:lpstr>
      <vt:lpstr>例4.44</vt:lpstr>
      <vt:lpstr>算法4.11 LALR分析表构造算法</vt:lpstr>
      <vt:lpstr>例4.45</vt:lpstr>
      <vt:lpstr>分析过程</vt:lpstr>
      <vt:lpstr>4.7.6  LALR分析表的高效构造方法</vt:lpstr>
      <vt:lpstr>例4.46</vt:lpstr>
      <vt:lpstr>例4.46 （续）</vt:lpstr>
      <vt:lpstr>例4.46 （续）</vt:lpstr>
      <vt:lpstr>例4.46 （续）</vt:lpstr>
      <vt:lpstr>算法4.12  判定自生/传播</vt:lpstr>
      <vt:lpstr>计算搜索符</vt:lpstr>
      <vt:lpstr>算法4.13</vt:lpstr>
      <vt:lpstr>算法4.13（续）</vt:lpstr>
      <vt:lpstr>例4.47</vt:lpstr>
      <vt:lpstr>例4.47 （续）</vt:lpstr>
      <vt:lpstr>例4.47 （续）</vt:lpstr>
      <vt:lpstr>例4.47 （续）</vt:lpstr>
      <vt:lpstr>例4.47 （续）</vt:lpstr>
      <vt:lpstr>4.7.7  LR分析表的压缩</vt:lpstr>
      <vt:lpstr>action表的压缩</vt:lpstr>
      <vt:lpstr>例4.48</vt:lpstr>
      <vt:lpstr>例4.48  （续）</vt:lpstr>
      <vt:lpstr>goto表的压缩</vt:lpstr>
      <vt:lpstr>goto表的压缩方法的设计思路</vt:lpstr>
      <vt:lpstr>例4.49</vt:lpstr>
      <vt:lpstr>4.8  使用二义性文法</vt:lpstr>
      <vt:lpstr>4.8.1  使用优先级和结合率</vt:lpstr>
      <vt:lpstr>LR(0)项目集规范族</vt:lpstr>
      <vt:lpstr>LR(0)项目集规范族</vt:lpstr>
      <vt:lpstr>SLR分析表</vt:lpstr>
      <vt:lpstr>冲突解决方法</vt:lpstr>
      <vt:lpstr>一般性方法</vt:lpstr>
      <vt:lpstr>4.8.2  “虚悬else”二义性</vt:lpstr>
      <vt:lpstr>LR(0)项目集规范族</vt:lpstr>
      <vt:lpstr>分析表</vt:lpstr>
      <vt:lpstr>4.8.3  特殊产生式二义性</vt:lpstr>
      <vt:lpstr>LR(0)项目集规范族</vt:lpstr>
      <vt:lpstr>LR(0)项目集规范族（续）</vt:lpstr>
      <vt:lpstr>冲突解决方法</vt:lpstr>
      <vt:lpstr>分析表</vt:lpstr>
      <vt:lpstr>4.8.4  LR分析器错误处理</vt:lpstr>
      <vt:lpstr>Panic模式的实现</vt:lpstr>
      <vt:lpstr>短语级模式的实现</vt:lpstr>
      <vt:lpstr>例4.50</vt:lpstr>
      <vt:lpstr>例4.50（续）</vt:lpstr>
      <vt:lpstr>例4.50（续）</vt:lpstr>
    </vt:vector>
  </TitlesOfParts>
  <Company>南开大学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介绍</dc:title>
  <dc:creator>王刚</dc:creator>
  <cp:lastModifiedBy>Administrator</cp:lastModifiedBy>
  <cp:revision>1671</cp:revision>
  <dcterms:created xsi:type="dcterms:W3CDTF">2003-06-05T11:51:39Z</dcterms:created>
  <dcterms:modified xsi:type="dcterms:W3CDTF">2025-10-17T12:53:51Z</dcterms:modified>
</cp:coreProperties>
</file>