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5715000" cy="9144000" type="screen16x10"/>
  <p:notesSz cx="6858000" cy="9144000"/>
  <p:defaultTextStyle>
    <a:defPPr>
      <a:defRPr lang="zh-CN"/>
    </a:defPPr>
    <a:lvl1pPr marL="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1pPr>
    <a:lvl2pPr marL="35687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2pPr>
    <a:lvl3pPr marL="71310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3pPr>
    <a:lvl4pPr marL="106997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4pPr>
    <a:lvl5pPr marL="142621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6pPr>
    <a:lvl7pPr marL="213995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7pPr>
    <a:lvl8pPr marL="249618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8pPr>
    <a:lvl9pPr marL="285305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1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6080" rtl="0" eaLnBrk="1" latinLnBrk="0" hangingPunct="1">
        <a:lnSpc>
          <a:spcPct val="90000"/>
        </a:lnSpc>
        <a:spcBef>
          <a:spcPct val="0"/>
        </a:spcBef>
        <a:buNone/>
        <a:defRPr sz="18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520" indent="-96520" algn="l" defTabSz="386080" rtl="0" eaLnBrk="1" latinLnBrk="0" hangingPunct="1">
        <a:lnSpc>
          <a:spcPct val="90000"/>
        </a:lnSpc>
        <a:spcBef>
          <a:spcPts val="420"/>
        </a:spcBef>
        <a:buFont typeface="Arial" panose="020B070402020209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1pPr>
      <a:lvl2pPr marL="28956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48196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845" kern="1200">
          <a:solidFill>
            <a:schemeClr val="tx1"/>
          </a:solidFill>
          <a:latin typeface="+mn-lt"/>
          <a:ea typeface="+mn-ea"/>
          <a:cs typeface="+mn-cs"/>
        </a:defRPr>
      </a:lvl3pPr>
      <a:lvl4pPr marL="67500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804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108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49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53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57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304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608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48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56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60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01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hyperlink" Target="https://yundongxiaoyang.top/wiki/latex-equation/" TargetMode="External"/><Relationship Id="rId20" Type="http://schemas.openxmlformats.org/officeDocument/2006/relationships/slideLayout" Target="../slideLayouts/slideLayout2.xml"/><Relationship Id="rId2" Type="http://schemas.openxmlformats.org/officeDocument/2006/relationships/hyperlink" Target="https://www.overleaf.com/read/hnsjbjyknbdj&#8212;&#8212;" TargetMode="External"/><Relationship Id="rId19" Type="http://schemas.openxmlformats.org/officeDocument/2006/relationships/tags" Target="../tags/tag18.xml"/><Relationship Id="rId18" Type="http://schemas.openxmlformats.org/officeDocument/2006/relationships/image" Target="../media/image1.png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dirty="0"/>
              <a:t>预备工作</a:t>
            </a:r>
            <a:br>
              <a:rPr lang="en-US" altLang="zh-CN" dirty="0"/>
            </a:br>
            <a:r>
              <a:rPr lang="zh-CN" altLang="zh-CN" dirty="0"/>
              <a:t>了解你的编译器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LLVM</a:t>
            </a:r>
            <a:r>
              <a:rPr lang="zh-CN" altLang="en-US" dirty="0"/>
              <a:t> </a:t>
            </a:r>
            <a:r>
              <a:rPr lang="en-US" altLang="zh-CN" dirty="0"/>
              <a:t>IR</a:t>
            </a:r>
            <a:r>
              <a:rPr lang="zh-CN" altLang="en-US" dirty="0"/>
              <a:t>编程</a:t>
            </a:r>
            <a:br>
              <a:rPr lang="en-US" altLang="zh-CN" dirty="0"/>
            </a:br>
            <a:r>
              <a:rPr lang="en-US" altLang="zh-CN" dirty="0"/>
              <a:t>&amp; </a:t>
            </a:r>
            <a:r>
              <a:rPr lang="zh-CN" altLang="en-US" dirty="0"/>
              <a:t>汇编编程</a:t>
            </a:r>
            <a:br>
              <a:rPr lang="en-US" altLang="zh-CN" dirty="0"/>
            </a:br>
            <a:r>
              <a:rPr lang="zh-CN" altLang="en-US" dirty="0"/>
              <a:t>（小组合作）</a:t>
            </a:r>
            <a:endParaRPr lang="zh-CN" alt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</a:rPr>
              <a:t>总分</a:t>
            </a:r>
            <a:r>
              <a:rPr lang="en-US" altLang="zh-CN" sz="2000" dirty="0">
                <a:solidFill>
                  <a:srgbClr val="000000"/>
                </a:solidFill>
              </a:rPr>
              <a:t>: 5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400" b="1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*</a:t>
            </a:r>
            <a:r>
              <a:rPr lang="zh-CN" altLang="en-US" sz="1400" b="1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首先确定上机作业两人分组</a:t>
            </a:r>
            <a:r>
              <a:rPr lang="en-US" altLang="zh-CN" sz="1400" b="1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—</a:t>
            </a:r>
            <a:r>
              <a:rPr lang="zh-CN" altLang="en-US" sz="1400" b="1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可跨班，报告助教备案，之后不应改变</a:t>
            </a:r>
            <a:endParaRPr lang="en-US" altLang="zh-CN" sz="1400" b="1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pPr marL="34290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以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GCC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（或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LLVM/Clang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等你常用的、熟悉的编译工具）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为研究对象，更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深入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地探究语言处理系统的完整工作过程：预处理器做了什么？编译器做了什么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（包括更细致的编译器各阶段的功能） 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？汇编器做了什么？链接器做了什么？</a:t>
            </a:r>
            <a:endParaRPr lang="en-US" altLang="zh-CN" sz="14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熟悉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LLVM IR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中间语言和汇编语言：设计</a:t>
            </a:r>
            <a:r>
              <a:rPr lang="en-US" altLang="zh-CN" sz="1400" kern="100" dirty="0" err="1">
                <a:latin typeface="等线" panose="02010600030101010101" pitchFamily="2" charset="-122"/>
                <a:cs typeface="Times New Roman" panose="02020803070505020304" pitchFamily="18" charset="0"/>
              </a:rPr>
              <a:t>SysY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示例程序涵盖编译器要支持的语言特性（各种数值运算，赋值、条件分支、循环等语句，函数，以及其他进阶特性），编写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LLVM IR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程序以及</a:t>
            </a:r>
            <a:r>
              <a:rPr lang="en-US" altLang="zh-CN" sz="1400" dirty="0"/>
              <a:t>ARM</a:t>
            </a:r>
            <a:r>
              <a:rPr lang="zh-CN" altLang="en-US" sz="1400" dirty="0"/>
              <a:t>或</a:t>
            </a:r>
            <a:r>
              <a:rPr lang="en-US" altLang="zh-CN" sz="1400" dirty="0"/>
              <a:t>RISC-V</a:t>
            </a:r>
            <a:r>
              <a:rPr lang="zh-CN" altLang="zh-CN" sz="1400" dirty="0"/>
              <a:t>汇编程序</a:t>
            </a:r>
            <a:r>
              <a:rPr lang="zh-CN" altLang="en-US" sz="1400" dirty="0"/>
              <a:t>，与</a:t>
            </a:r>
            <a:r>
              <a:rPr lang="en-US" altLang="zh-CN" sz="1400" dirty="0" err="1"/>
              <a:t>SysY</a:t>
            </a:r>
            <a:r>
              <a:rPr lang="zh-CN" altLang="en-US" sz="1400" dirty="0"/>
              <a:t>源程序等价、且能链接</a:t>
            </a:r>
            <a:r>
              <a:rPr lang="en-US" altLang="zh-CN" sz="1400" dirty="0" err="1"/>
              <a:t>SysY</a:t>
            </a:r>
            <a:r>
              <a:rPr lang="zh-CN" altLang="en-US" sz="1400" dirty="0"/>
              <a:t>运行库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，用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LLVM/Clang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、汇编器编译成成目标程序，验证运行结果是否正确。</a:t>
            </a:r>
            <a:endParaRPr lang="en-US" altLang="zh-CN" sz="14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要求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：</a:t>
            </a:r>
            <a:endParaRPr lang="zh-CN" altLang="zh-CN" sz="14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1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、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以一个简单的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C/C++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源程序为例（如下面的阶乘程序、斐波那契程序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等，做一个即可，做多个但只是重复相同工作不会给更高分数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）利用编译器的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命令行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选项获得各阶段的输出，研究它们与源程序的关系。</a:t>
            </a:r>
            <a:endParaRPr lang="zh-CN" altLang="zh-CN" sz="14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2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、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撰写调研报告（符合科技论文写作规范，包含完整结构：题目、摘要、关键字、引言、你的工作和结果的具体介绍、结论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及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参考文献，文字、图、表符合格式规范）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，必须提交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pdf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格式，建议用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latex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撰写（可基于此模板</a:t>
            </a:r>
            <a:r>
              <a:rPr lang="en-US" altLang="zh-CN" sz="1400" dirty="0">
                <a:hlinkClick r:id="rId2"/>
              </a:rPr>
              <a:t>https://www.overleaf.com/read/</a:t>
            </a:r>
            <a:r>
              <a:rPr lang="en-US" altLang="zh-CN" sz="1400" dirty="0" err="1">
                <a:hlinkClick r:id="rId2"/>
              </a:rPr>
              <a:t>hnsjbjyknbdj</a:t>
            </a:r>
            <a:r>
              <a:rPr lang="en-US" altLang="zh-CN" sz="1400" dirty="0">
                <a:hlinkClick r:id="rId2"/>
              </a:rPr>
              <a:t>——</a:t>
            </a:r>
            <a:r>
              <a:rPr lang="zh-CN" altLang="en-US" sz="1400" dirty="0"/>
              <a:t>这是一个很流行的</a:t>
            </a:r>
            <a:r>
              <a:rPr lang="en-US" altLang="zh-CN" sz="1400" dirty="0"/>
              <a:t>latex</a:t>
            </a:r>
            <a:r>
              <a:rPr lang="zh-CN" altLang="en-US" sz="1400" dirty="0"/>
              <a:t>文档协同编辑网站，</a:t>
            </a:r>
            <a:r>
              <a:rPr lang="en-US" altLang="zh-CN" sz="1400" dirty="0"/>
              <a:t>copy</a:t>
            </a:r>
            <a:r>
              <a:rPr lang="zh-CN" altLang="en-US" sz="1400" dirty="0"/>
              <a:t>此</a:t>
            </a:r>
            <a:r>
              <a:rPr lang="en-US" altLang="zh-CN" sz="1400" dirty="0"/>
              <a:t>project</a:t>
            </a:r>
            <a:r>
              <a:rPr lang="zh-CN" altLang="en-US" sz="1400" dirty="0"/>
              <a:t>即可成为自己的项目，在其上编辑即可，更多</a:t>
            </a:r>
            <a:r>
              <a:rPr lang="en-US" altLang="zh-CN" sz="1400" dirty="0"/>
              <a:t>latex</a:t>
            </a:r>
            <a:r>
              <a:rPr lang="zh-CN" altLang="en-US" sz="1400" dirty="0"/>
              <a:t>参考资料：</a:t>
            </a:r>
            <a:endParaRPr lang="en-US" altLang="zh-CN" sz="1400" dirty="0"/>
          </a:p>
          <a:p>
            <a:pPr algn="just">
              <a:spcAft>
                <a:spcPts val="0"/>
              </a:spcAft>
            </a:pPr>
            <a:r>
              <a:rPr lang="en-US" altLang="zh-CN" sz="1400" dirty="0"/>
              <a:t>LaTeX</a:t>
            </a:r>
            <a:r>
              <a:rPr lang="zh-CN" altLang="en-US" sz="1400" dirty="0"/>
              <a:t>入门：</a:t>
            </a:r>
            <a:r>
              <a:rPr lang="en-US" altLang="zh-CN" sz="1400" dirty="0"/>
              <a:t>https://liam.page/2014/09/08/latex-introduction/</a:t>
            </a:r>
            <a:endParaRPr lang="en-US" altLang="zh-CN" sz="1400" dirty="0"/>
          </a:p>
          <a:p>
            <a:pPr algn="just">
              <a:spcAft>
                <a:spcPts val="0"/>
              </a:spcAft>
            </a:pPr>
            <a:r>
              <a:rPr lang="en-US" altLang="zh-CN" sz="1400" dirty="0"/>
              <a:t>LaTeX</a:t>
            </a:r>
            <a:r>
              <a:rPr lang="zh-CN" altLang="en-US" sz="1400" dirty="0"/>
              <a:t>命令与符号汇总：</a:t>
            </a:r>
            <a:endParaRPr lang="en-US" altLang="zh-CN" sz="1400" dirty="0"/>
          </a:p>
          <a:p>
            <a:pPr algn="just">
              <a:spcAft>
                <a:spcPts val="0"/>
              </a:spcAft>
            </a:pPr>
            <a:r>
              <a:rPr lang="en-US" altLang="zh-CN" sz="1400" dirty="0"/>
              <a:t>https://blog.csdn.net/garfielder007/article/details/51646604</a:t>
            </a:r>
            <a:endParaRPr lang="en-US" altLang="zh-CN" sz="1400" dirty="0"/>
          </a:p>
          <a:p>
            <a:pPr algn="just">
              <a:spcAft>
                <a:spcPts val="0"/>
              </a:spcAft>
            </a:pPr>
            <a:r>
              <a:rPr lang="en-US" altLang="zh-CN" sz="1400" dirty="0"/>
              <a:t>LaTeX</a:t>
            </a:r>
            <a:r>
              <a:rPr lang="zh-CN" altLang="en-US" sz="1400" dirty="0"/>
              <a:t>数学公式等符号书写：</a:t>
            </a:r>
            <a:endParaRPr lang="en-US" altLang="zh-CN" sz="1400" dirty="0"/>
          </a:p>
          <a:p>
            <a:pPr algn="just">
              <a:spcAft>
                <a:spcPts val="0"/>
              </a:spcAft>
            </a:pPr>
            <a:r>
              <a:rPr lang="en-US" altLang="zh-CN" sz="1400" dirty="0">
                <a:hlinkClick r:id="rId3"/>
              </a:rPr>
              <a:t>https://yundongxiaoyang.top/wiki/latex-equation/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）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。</a:t>
            </a:r>
            <a:endParaRPr lang="en-US" altLang="zh-CN" sz="14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3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、小组合作完成作业，分工和报告撰写、提交如下。</a:t>
            </a:r>
            <a:endParaRPr lang="en-US" altLang="zh-CN" sz="14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en-US" sz="1400" b="1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分工：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小题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1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两人独立完成，小题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2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的两个任务两人各负责一个。</a:t>
            </a:r>
            <a:endParaRPr lang="en-US" altLang="zh-CN" sz="14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en-US" sz="1400" b="1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报告撰写：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整体框架两人共同构建；小题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1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根据各自完成情况独立撰写；小题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2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根据分工分别撰写自己所负责的任务；其他部分共同撰写；在报告开始描述清楚两人分工。</a:t>
            </a:r>
            <a:endParaRPr lang="en-US" altLang="zh-CN" sz="14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en-US" sz="1400" b="1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报告独立提交：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报告内容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=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共同撰写部分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+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独立撰写的小题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1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实验结果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+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分别撰写的小题</a:t>
            </a:r>
            <a:r>
              <a:rPr lang="en-US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2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的两个实验的结果。</a:t>
            </a:r>
            <a:endParaRPr lang="zh-CN" altLang="zh-CN" sz="14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zh-CN" altLang="zh-CN" sz="1400" b="1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期望不要当作“命题作文”，更多发挥主观能动性，做更多探索。例如：</a:t>
            </a:r>
            <a:r>
              <a:rPr lang="zh-CN" altLang="zh-CN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细微修改程序，观察各阶段输出的变化，从而更清楚地了解编译器的工作；调整编译器程序的选项，例如加入调试选项、优化选项等，观察输出变化、了解编译器；尝试更深入的内容，例如令编译器做自动并行化，观察输出变化、了解编译器；</a:t>
            </a:r>
            <a:r>
              <a:rPr lang="zh-CN" altLang="en-US" sz="1400" kern="100" dirty="0">
                <a:latin typeface="等线" panose="02010600030101010101" pitchFamily="2" charset="-122"/>
                <a:cs typeface="Times New Roman" panose="02020803070505020304" pitchFamily="18" charset="0"/>
              </a:rPr>
              <a:t>与优化问题相结合等等。</a:t>
            </a:r>
            <a:endParaRPr lang="en-US" altLang="zh-CN" sz="16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endParaRPr lang="en-US" altLang="zh-CN" dirty="0"/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0" y="8646730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5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 hidden="1"/>
          <p:cNvSpPr/>
          <p:nvPr>
            <p:custDataLst>
              <p:tags r:id="rId5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/>
          <p:cNvSpPr txBox="1"/>
          <p:nvPr>
            <p:custDataLst>
              <p:tags r:id="rId6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文本框 17" hidden="1"/>
          <p:cNvSpPr txBox="1"/>
          <p:nvPr>
            <p:custDataLst>
              <p:tags r:id="rId7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 hidden="1"/>
          <p:cNvGrpSpPr/>
          <p:nvPr>
            <p:custDataLst>
              <p:tags r:id="rId8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/>
            <p:cNvSpPr/>
            <p:nvPr>
              <p:custDataLst>
                <p:tags r:id="rId9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/>
            <p:cNvSpPr/>
            <p:nvPr>
              <p:custDataLst>
                <p:tags r:id="rId10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/>
            <p:cNvSpPr txBox="1"/>
            <p:nvPr>
              <p:custDataLst>
                <p:tags r:id="rId11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lvl="0"/>
            <a:r>
              <a:rPr lang="zh-CN" altLang="zh-CN" dirty="0"/>
              <a:t>阶乘</a:t>
            </a:r>
            <a:endParaRPr lang="zh-CN" altLang="zh-CN" dirty="0"/>
          </a:p>
          <a:p>
            <a:r>
              <a:rPr lang="en-US" altLang="zh-CN" dirty="0"/>
              <a:t>main()</a:t>
            </a:r>
            <a:endParaRPr lang="zh-CN" altLang="zh-CN" dirty="0"/>
          </a:p>
          <a:p>
            <a:r>
              <a:rPr lang="en-US" altLang="zh-CN" dirty="0"/>
              <a:t>{</a:t>
            </a:r>
            <a:endParaRPr lang="zh-CN" altLang="zh-CN" dirty="0"/>
          </a:p>
          <a:p>
            <a:r>
              <a:rPr lang="en-US" altLang="zh-CN" dirty="0"/>
              <a:t>	int </a:t>
            </a:r>
            <a:r>
              <a:rPr lang="en-US" altLang="zh-CN" dirty="0" err="1"/>
              <a:t>i</a:t>
            </a:r>
            <a:r>
              <a:rPr lang="en-US" altLang="zh-CN" dirty="0"/>
              <a:t>, n, f;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cin</a:t>
            </a:r>
            <a:r>
              <a:rPr lang="en-US" altLang="zh-CN" dirty="0"/>
              <a:t> &gt;&gt; n;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i</a:t>
            </a:r>
            <a:r>
              <a:rPr lang="en-US" altLang="zh-CN" dirty="0"/>
              <a:t> = 2;</a:t>
            </a:r>
            <a:endParaRPr lang="zh-CN" altLang="zh-CN" dirty="0"/>
          </a:p>
          <a:p>
            <a:r>
              <a:rPr lang="en-US" altLang="zh-CN" dirty="0"/>
              <a:t>	f = 1;</a:t>
            </a:r>
            <a:endParaRPr lang="zh-CN" altLang="zh-CN" dirty="0"/>
          </a:p>
          <a:p>
            <a:r>
              <a:rPr lang="en-US" altLang="zh-CN" dirty="0"/>
              <a:t>	while (</a:t>
            </a:r>
            <a:r>
              <a:rPr lang="en-US" altLang="zh-CN" dirty="0" err="1"/>
              <a:t>i</a:t>
            </a:r>
            <a:r>
              <a:rPr lang="en-US" altLang="zh-CN" dirty="0"/>
              <a:t> &lt;= n)</a:t>
            </a:r>
            <a:endParaRPr lang="zh-CN" altLang="zh-CN" dirty="0"/>
          </a:p>
          <a:p>
            <a:r>
              <a:rPr lang="en-US" altLang="zh-CN" dirty="0"/>
              <a:t>	{</a:t>
            </a:r>
            <a:endParaRPr lang="zh-CN" altLang="zh-CN" dirty="0"/>
          </a:p>
          <a:p>
            <a:r>
              <a:rPr lang="en-US" altLang="zh-CN" dirty="0"/>
              <a:t>		f = f *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i</a:t>
            </a:r>
            <a:r>
              <a:rPr lang="en-US" altLang="zh-CN" dirty="0"/>
              <a:t> + 1;</a:t>
            </a:r>
            <a:endParaRPr lang="zh-CN" altLang="zh-CN" dirty="0"/>
          </a:p>
          <a:p>
            <a:r>
              <a:rPr lang="en-US" altLang="zh-CN" dirty="0"/>
              <a:t>	}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f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}</a:t>
            </a:r>
            <a:endParaRPr lang="zh-CN" altLang="zh-CN" dirty="0"/>
          </a:p>
          <a:p>
            <a:pPr lvl="0" algn="just">
              <a:spcAft>
                <a:spcPts val="0"/>
              </a:spcAft>
            </a:pPr>
            <a:endParaRPr lang="en-US" altLang="zh-CN" sz="14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pPr lvl="0" algn="just">
              <a:spcAft>
                <a:spcPts val="0"/>
              </a:spcAft>
            </a:pPr>
            <a:endParaRPr lang="en-US" altLang="zh-CN" sz="14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pPr lvl="0"/>
            <a:r>
              <a:rPr lang="zh-CN" altLang="zh-CN" dirty="0"/>
              <a:t>斐波那契数列</a:t>
            </a:r>
            <a:endParaRPr lang="zh-CN" altLang="zh-CN" dirty="0"/>
          </a:p>
          <a:p>
            <a:r>
              <a:rPr lang="en-US" altLang="zh-CN" dirty="0"/>
              <a:t>main()</a:t>
            </a:r>
            <a:endParaRPr lang="zh-CN" altLang="zh-CN" dirty="0"/>
          </a:p>
          <a:p>
            <a:r>
              <a:rPr lang="en-US" altLang="zh-CN" dirty="0"/>
              <a:t>{</a:t>
            </a:r>
            <a:endParaRPr lang="zh-CN" altLang="zh-CN" dirty="0"/>
          </a:p>
          <a:p>
            <a:r>
              <a:rPr lang="en-US" altLang="zh-CN" dirty="0"/>
              <a:t>	int a, b, </a:t>
            </a:r>
            <a:r>
              <a:rPr lang="en-US" altLang="zh-CN" dirty="0" err="1"/>
              <a:t>i</a:t>
            </a:r>
            <a:r>
              <a:rPr lang="en-US" altLang="zh-CN" dirty="0"/>
              <a:t>, t, n;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r>
              <a:rPr lang="en-US" altLang="zh-CN" dirty="0"/>
              <a:t>	a = 0;</a:t>
            </a:r>
            <a:endParaRPr lang="zh-CN" altLang="zh-CN" dirty="0"/>
          </a:p>
          <a:p>
            <a:r>
              <a:rPr lang="en-US" altLang="zh-CN" dirty="0"/>
              <a:t>	b = 1;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i</a:t>
            </a:r>
            <a:r>
              <a:rPr lang="en-US" altLang="zh-CN" dirty="0"/>
              <a:t> = 1;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cin</a:t>
            </a:r>
            <a:r>
              <a:rPr lang="en-US" altLang="zh-CN" dirty="0"/>
              <a:t> &gt;&gt; n;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a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b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	while (</a:t>
            </a:r>
            <a:r>
              <a:rPr lang="en-US" altLang="zh-CN" dirty="0" err="1"/>
              <a:t>i</a:t>
            </a:r>
            <a:r>
              <a:rPr lang="en-US" altLang="zh-CN" dirty="0"/>
              <a:t> &lt; n)</a:t>
            </a:r>
            <a:endParaRPr lang="zh-CN" altLang="zh-CN" dirty="0"/>
          </a:p>
          <a:p>
            <a:r>
              <a:rPr lang="en-US" altLang="zh-CN" dirty="0"/>
              <a:t>	{</a:t>
            </a:r>
            <a:endParaRPr lang="zh-CN" altLang="zh-CN" dirty="0"/>
          </a:p>
          <a:p>
            <a:r>
              <a:rPr lang="en-US" altLang="zh-CN" dirty="0"/>
              <a:t>		t = b;</a:t>
            </a:r>
            <a:endParaRPr lang="zh-CN" altLang="zh-CN" dirty="0"/>
          </a:p>
          <a:p>
            <a:r>
              <a:rPr lang="en-US" altLang="zh-CN" dirty="0"/>
              <a:t>		b = a + b;</a:t>
            </a:r>
            <a:endParaRPr lang="zh-CN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cout</a:t>
            </a:r>
            <a:r>
              <a:rPr lang="en-US" altLang="zh-CN" dirty="0"/>
              <a:t> &lt;&lt; b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zh-CN" altLang="zh-CN" dirty="0"/>
          </a:p>
          <a:p>
            <a:r>
              <a:rPr lang="en-US" altLang="zh-CN" dirty="0"/>
              <a:t>		a = t;</a:t>
            </a:r>
            <a:endParaRPr lang="zh-CN" altLang="zh-CN" dirty="0"/>
          </a:p>
          <a:p>
            <a:r>
              <a:rPr lang="en-US" altLang="zh-CN" dirty="0"/>
              <a:t>		</a:t>
            </a: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i</a:t>
            </a:r>
            <a:r>
              <a:rPr lang="en-US" altLang="zh-CN" dirty="0"/>
              <a:t> + 1;</a:t>
            </a:r>
            <a:endParaRPr lang="zh-CN" altLang="zh-CN" dirty="0"/>
          </a:p>
          <a:p>
            <a:r>
              <a:rPr lang="en-US" altLang="zh-CN" dirty="0"/>
              <a:t>	}</a:t>
            </a:r>
            <a:endParaRPr lang="zh-CN" altLang="zh-CN" dirty="0"/>
          </a:p>
          <a:p>
            <a:r>
              <a:rPr lang="en-US" altLang="zh-CN" dirty="0"/>
              <a:t>}</a:t>
            </a:r>
            <a:endParaRPr lang="zh-CN" altLang="zh-CN" dirty="0"/>
          </a:p>
          <a:p>
            <a:pPr lvl="0" algn="just">
              <a:spcAft>
                <a:spcPts val="0"/>
              </a:spcAft>
            </a:pPr>
            <a:endParaRPr lang="zh-CN" altLang="zh-CN" sz="14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pPr marL="269875" algn="just">
              <a:spcAft>
                <a:spcPts val="0"/>
              </a:spcAft>
            </a:pPr>
            <a:endParaRPr lang="en-US" altLang="zh-CN" sz="16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AINPAPER" val="PaperScore"/>
</p:tagLst>
</file>

<file path=ppt/tags/tag2.xml><?xml version="1.0" encoding="utf-8"?>
<p:tagLst xmlns:p="http://schemas.openxmlformats.org/presentationml/2006/main">
  <p:tag name="RAINPAPER" val="PaperTitle"/>
</p:tagLst>
</file>

<file path=ppt/tags/tag3.xml><?xml version="1.0" encoding="utf-8"?>
<p:tagLst xmlns:p="http://schemas.openxmlformats.org/presentationml/2006/main">
  <p:tag name="RAINPROBLEM" val="ProblemBody"/>
</p:tagLst>
</file>

<file path=ppt/tags/tag4.xml><?xml version="1.0" encoding="utf-8"?>
<p:tagLst xmlns:p="http://schemas.openxmlformats.org/presentationml/2006/main">
  <p:tag name="PRODUCTVERSIONTIP" val="PRODUCTVERSIONTIP"/>
</p:tagLst>
</file>

<file path=ppt/tags/tag5.xml><?xml version="1.0" encoding="utf-8"?>
<p:tagLst xmlns:p="http://schemas.openxmlformats.org/presentationml/2006/main">
  <p:tag name="RAINPROBLEM" val="ProblemRemarkBoard"/>
</p:tagLst>
</file>

<file path=ppt/tags/tag6.xml><?xml version="1.0" encoding="utf-8"?>
<p:tagLst xmlns:p="http://schemas.openxmlformats.org/presentationml/2006/main">
  <p:tag name="PROBLEMREMARKTITLE" val="ProblemRemarkBoardTip"/>
</p:tagLst>
</file>

<file path=ppt/tags/tag7.xml><?xml version="1.0" encoding="utf-8"?>
<p:tagLst xmlns:p="http://schemas.openxmlformats.org/presentationml/2006/main">
  <p:tag name="RAINPROBLEM" val="ProblemRemark"/>
</p:tagLst>
</file>

<file path=ppt/tags/tag8.xml><?xml version="1.0" encoding="utf-8"?>
<p:tagLst xmlns:p="http://schemas.openxmlformats.org/presentationml/2006/main">
  <p:tag name="PROBLEMREMARKTITLE" val="ProblemRemarkBoardTitle"/>
</p:tagLst>
</file>

<file path=ppt/tags/tag9.xml><?xml version="1.0" encoding="utf-8"?>
<p:tagLst xmlns:p="http://schemas.openxmlformats.org/presentationml/2006/main">
  <p:tag name="PROBLEMREMARKTITLE" val="ProblemRemarkBoardTitle"/>
</p:tagLst>
</file>

<file path=ppt/tags/tag10.xml><?xml version="1.0" encoding="utf-8"?>
<p:tagLst xmlns:p="http://schemas.openxmlformats.org/presentationml/2006/main">
  <p:tag name="PROBLEMREMARKTITLE" val="ProblemRemarkBoardTitle"/>
</p:tagLst>
</file>

<file path=ppt/tags/tag11.xml><?xml version="1.0" encoding="utf-8"?>
<p:tagLst xmlns:p="http://schemas.openxmlformats.org/presentationml/2006/main">
  <p:tag name="PROBLEMREMARKTITLE" val="ProblemRemarkBoardTitle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" val="ProblemSetting"/>
  <p:tag name="RAINPROBLEMTYPE" val="ShortAnswer"/>
</p:tagLst>
</file>

<file path=ppt/tags/tag18.xml><?xml version="1.0" encoding="utf-8"?>
<p:tagLst xmlns:p="http://schemas.openxmlformats.org/presentationml/2006/main">
  <p:tag name="RAINPROBLEM" val="ShortAnswer"/>
  <p:tag name="PROBLEMHASREMARK" val="False"/>
  <p:tag name="PROBLEMVOICEALLOWED" val="False"/>
  <p:tag name="PROBLEMSCORE" val="5.0"/>
</p:tagLst>
</file>

<file path=ppt/tags/tag19.xml><?xml version="1.0" encoding="utf-8"?>
<p:tagLst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1594</Words>
  <Application>WPS 演示</Application>
  <PresentationFormat>全屏显示(16:10)</PresentationFormat>
  <Paragraphs>77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等线</vt:lpstr>
      <vt:lpstr>Times New Roman</vt:lpstr>
      <vt:lpstr>Microsoft Yahei</vt:lpstr>
      <vt:lpstr>等线 Light</vt:lpstr>
      <vt:lpstr>微软雅黑</vt:lpstr>
      <vt:lpstr>宋体</vt:lpstr>
      <vt:lpstr>Arial Unicode MS</vt:lpstr>
      <vt:lpstr>Calibri</vt:lpstr>
      <vt:lpstr>Helvetica Neue</vt:lpstr>
      <vt:lpstr>汉仪书宋二KW</vt:lpstr>
      <vt:lpstr>Office 主题​​</vt:lpstr>
      <vt:lpstr>预备工作 了解你的编译器 &amp; LLVM IR编程 &amp; 汇编编程 （小组合作）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林晖鹏</cp:lastModifiedBy>
  <cp:revision>34</cp:revision>
  <dcterms:created xsi:type="dcterms:W3CDTF">2025-09-29T08:20:30Z</dcterms:created>
  <dcterms:modified xsi:type="dcterms:W3CDTF">2025-09-29T08:20:30Z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32B00480979FEB64CC7FD6688DB41857_42</vt:lpwstr>
  </property>
  <property fmtid="{D5CDD505-2E9C-101B-9397-08002B2CF9AE}" pid="3" name="KSOProductBuildVer">
    <vt:lpwstr>2052-7.2.2.8955</vt:lpwstr>
  </property>
</Properties>
</file>