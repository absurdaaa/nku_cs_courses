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6" r:id="rId3"/>
    <p:sldId id="475" r:id="rId5"/>
    <p:sldId id="497" r:id="rId6"/>
    <p:sldId id="505" r:id="rId7"/>
    <p:sldId id="504" r:id="rId8"/>
    <p:sldId id="507" r:id="rId9"/>
    <p:sldId id="508" r:id="rId10"/>
    <p:sldId id="500" r:id="rId11"/>
    <p:sldId id="522" r:id="rId12"/>
    <p:sldId id="531" r:id="rId13"/>
    <p:sldId id="523" r:id="rId14"/>
    <p:sldId id="524" r:id="rId15"/>
    <p:sldId id="525" r:id="rId16"/>
    <p:sldId id="526" r:id="rId17"/>
    <p:sldId id="527" r:id="rId18"/>
    <p:sldId id="528" r:id="rId19"/>
    <p:sldId id="529" r:id="rId20"/>
    <p:sldId id="502" r:id="rId21"/>
    <p:sldId id="503" r:id="rId22"/>
    <p:sldId id="511" r:id="rId23"/>
    <p:sldId id="530" r:id="rId24"/>
    <p:sldId id="273" r:id="rId25"/>
  </p:sldIdLst>
  <p:sldSz cx="12192000" cy="6858000"/>
  <p:notesSz cx="6858000" cy="9144000"/>
  <p:custDataLst>
    <p:tags r:id="rId3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9F3355E-B905-4F87-9F6E-E9E7A84A9EB7}">
          <p14:sldIdLst>
            <p14:sldId id="256"/>
            <p14:sldId id="475"/>
            <p14:sldId id="497"/>
            <p14:sldId id="505"/>
            <p14:sldId id="504"/>
            <p14:sldId id="507"/>
            <p14:sldId id="508"/>
            <p14:sldId id="500"/>
            <p14:sldId id="522"/>
            <p14:sldId id="531"/>
            <p14:sldId id="523"/>
            <p14:sldId id="524"/>
            <p14:sldId id="525"/>
            <p14:sldId id="526"/>
            <p14:sldId id="527"/>
            <p14:sldId id="528"/>
            <p14:sldId id="529"/>
            <p14:sldId id="502"/>
            <p14:sldId id="503"/>
            <p14:sldId id="511"/>
            <p14:sldId id="530"/>
          </p14:sldIdLst>
        </p14:section>
        <p14:section name="无标题节" id="{5CF61D1C-DF32-4442-88B5-DBADC241F394}">
          <p14:sldIdLst>
            <p14:sldId id="27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ku_liusz@outlook.com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4F4F2"/>
    <a:srgbClr val="E3F2D9"/>
    <a:srgbClr val="FFFFCC"/>
    <a:srgbClr val="4C216D"/>
    <a:srgbClr val="95729E"/>
    <a:srgbClr val="D94B4E"/>
    <a:srgbClr val="E17175"/>
    <a:srgbClr val="FF7E79"/>
    <a:srgbClr val="E53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95" autoAdjust="0"/>
    <p:restoredTop sz="90816" autoAdjust="0"/>
  </p:normalViewPr>
  <p:slideViewPr>
    <p:cSldViewPr snapToGrid="0">
      <p:cViewPr varScale="1">
        <p:scale>
          <a:sx n="102" d="100"/>
          <a:sy n="102" d="100"/>
        </p:scale>
        <p:origin x="15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148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39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ED4D1CC-F54F-4126-A0D3-44A8CB682C6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E6EEB1C3-EA76-4747-85DB-3DCDE47F233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3E21285-7E04-4426-9E25-948953FA62CF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二级</a:t>
            </a:r>
            <a:endParaRPr lang="zh-CN" altLang="en-US" noProof="0"/>
          </a:p>
          <a:p>
            <a:pPr lvl="2"/>
            <a:r>
              <a:rPr lang="zh-CN" altLang="en-US" noProof="0"/>
              <a:t>三级</a:t>
            </a:r>
            <a:endParaRPr lang="zh-CN" altLang="en-US" noProof="0"/>
          </a:p>
          <a:p>
            <a:pPr lvl="3"/>
            <a:r>
              <a:rPr lang="zh-CN" altLang="en-US" noProof="0"/>
              <a:t>四级</a:t>
            </a:r>
            <a:endParaRPr lang="zh-CN" altLang="en-US" noProof="0"/>
          </a:p>
          <a:p>
            <a:pPr lvl="4"/>
            <a:r>
              <a:rPr lang="zh-CN" altLang="en-US" noProof="0"/>
              <a:t>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2FC4138F-90EE-451D-B09A-09675EB544BB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4138F-90EE-451D-B09A-09675EB544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1" b="24139"/>
          <a:stretch>
            <a:fillRect/>
          </a:stretch>
        </p:blipFill>
        <p:spPr bwMode="auto">
          <a:xfrm>
            <a:off x="9230866" y="16073"/>
            <a:ext cx="2565400" cy="101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392113" y="6283325"/>
            <a:ext cx="587375" cy="319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 eaLnBrk="1" hangingPunct="1"/>
            <a:fld id="{565313EB-AF00-469D-A555-F780E7DACD25}" type="slidenum">
              <a:rPr lang="en-US" altLang="zh-CN" b="1">
                <a:solidFill>
                  <a:srgbClr val="4C216D"/>
                </a:solidFill>
              </a:rPr>
            </a:fld>
            <a:endParaRPr kumimoji="1" lang="zh-CN" altLang="en-US" b="1" dirty="0">
              <a:solidFill>
                <a:srgbClr val="4C216D"/>
              </a:solidFill>
            </a:endParaRPr>
          </a:p>
        </p:txBody>
      </p:sp>
      <p:pic>
        <p:nvPicPr>
          <p:cNvPr id="7" name="图片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" t="23637" r="15987" b="72299"/>
          <a:stretch>
            <a:fillRect/>
          </a:stretch>
        </p:blipFill>
        <p:spPr bwMode="auto">
          <a:xfrm>
            <a:off x="587375" y="1009650"/>
            <a:ext cx="11604625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0" y="1009650"/>
            <a:ext cx="528638" cy="163513"/>
          </a:xfrm>
          <a:prstGeom prst="rect">
            <a:avLst/>
          </a:prstGeom>
          <a:solidFill>
            <a:srgbClr val="9D4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7828" y="1499763"/>
            <a:ext cx="10994571" cy="472312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Clr>
                <a:srgbClr val="823884"/>
              </a:buClr>
              <a:buSzPct val="98000"/>
              <a:buFont typeface="Wingdings 2" panose="05020102010507070707" pitchFamily="18" charset="2"/>
              <a:buChar char=""/>
              <a:defRPr sz="2400">
                <a:latin typeface="Arial" panose="020B0704020202090204" pitchFamily="34" charset="0"/>
                <a:ea typeface="Arial" panose="020B0704020202090204" pitchFamily="34" charset="0"/>
                <a:cs typeface="Arial" panose="020B0704020202090204" pitchFamily="34" charset="0"/>
              </a:defRPr>
            </a:lvl1pPr>
            <a:lvl2pPr marL="685800" indent="-228600">
              <a:lnSpc>
                <a:spcPct val="100000"/>
              </a:lnSpc>
              <a:buClr>
                <a:srgbClr val="823884"/>
              </a:buClr>
              <a:buFont typeface=".AppleSystemUIFont" charset="-120"/>
              <a:buChar char="-"/>
              <a:defRPr sz="2200">
                <a:latin typeface="Arial" panose="020B0704020202090204" pitchFamily="34" charset="0"/>
                <a:ea typeface="Arial" panose="020B0704020202090204" pitchFamily="34" charset="0"/>
                <a:cs typeface="Arial" panose="020B0704020202090204" pitchFamily="34" charset="0"/>
              </a:defRPr>
            </a:lvl2pPr>
            <a:lvl3pPr>
              <a:lnSpc>
                <a:spcPct val="100000"/>
              </a:lnSpc>
              <a:buClr>
                <a:srgbClr val="823884"/>
              </a:buClr>
              <a:defRPr sz="2000">
                <a:latin typeface="Arial" panose="020B0704020202090204" pitchFamily="34" charset="0"/>
                <a:ea typeface="Arial" panose="020B0704020202090204" pitchFamily="34" charset="0"/>
                <a:cs typeface="Arial" panose="020B0704020202090204" pitchFamily="34" charset="0"/>
              </a:defRPr>
            </a:lvl3pPr>
            <a:lvl4pPr>
              <a:defRPr>
                <a:latin typeface="+mn-lt"/>
                <a:ea typeface="微软雅黑" panose="020B0503020204020204" pitchFamily="34" charset="-122"/>
              </a:defRPr>
            </a:lvl4pPr>
            <a:lvl5pPr>
              <a:defRPr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928915" y="255231"/>
            <a:ext cx="8781142" cy="744335"/>
          </a:xfrm>
          <a:prstGeom prst="rect">
            <a:avLst/>
          </a:prstGeom>
        </p:spPr>
        <p:txBody>
          <a:bodyPr anchor="ctr"/>
          <a:lstStyle>
            <a:lvl1pPr>
              <a:defRPr sz="4400">
                <a:latin typeface="+mj-lt"/>
                <a:ea typeface="等线 Light" panose="02010600030101010101" pitchFamily="2" charset="-122"/>
                <a:cs typeface="Arial" panose="020B0704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" y="3"/>
            <a:ext cx="12200467" cy="1003934"/>
            <a:chOff x="0" y="0"/>
            <a:chExt cx="9150350" cy="1003935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0"/>
              <a:ext cx="9150350" cy="892810"/>
            </a:xfrm>
            <a:prstGeom prst="rect">
              <a:avLst/>
            </a:prstGeom>
            <a:solidFill>
              <a:srgbClr val="752B81"/>
            </a:solidFill>
            <a:ln>
              <a:noFill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2000" b="1" strike="noStrike" kern="1500" spc="50" baseline="0">
                <a:latin typeface="+mj-lt"/>
                <a:ea typeface="微软雅黑 Light" panose="020B0502040204020203" pitchFamily="34" charset="-122"/>
              </a:endParaRPr>
            </a:p>
          </p:txBody>
        </p:sp>
        <p:sp>
          <p:nvSpPr>
            <p:cNvPr id="59" name="矩形 58"/>
            <p:cNvSpPr/>
            <p:nvPr userDrawn="1"/>
          </p:nvSpPr>
          <p:spPr>
            <a:xfrm>
              <a:off x="0" y="914400"/>
              <a:ext cx="9126855" cy="9017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TextBox 9"/>
          <p:cNvSpPr txBox="1">
            <a:spLocks noChangeArrowheads="1"/>
          </p:cNvSpPr>
          <p:nvPr userDrawn="1"/>
        </p:nvSpPr>
        <p:spPr bwMode="auto">
          <a:xfrm>
            <a:off x="10231967" y="6581777"/>
            <a:ext cx="1968500" cy="276999"/>
          </a:xfrm>
          <a:prstGeom prst="rect">
            <a:avLst/>
          </a:prstGeom>
          <a:solidFill>
            <a:srgbClr val="823884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90204" pitchFamily="34" charset="0"/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90204" pitchFamily="34" charset="0"/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90204" pitchFamily="34" charset="0"/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90204" pitchFamily="34" charset="0"/>
              <a:defRPr>
                <a:solidFill>
                  <a:schemeClr val="tx1"/>
                </a:solidFill>
                <a:latin typeface="Arial" panose="020B07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6" name="TextBox 12"/>
          <p:cNvSpPr txBox="1">
            <a:spLocks noChangeArrowheads="1"/>
          </p:cNvSpPr>
          <p:nvPr userDrawn="1"/>
        </p:nvSpPr>
        <p:spPr bwMode="auto">
          <a:xfrm>
            <a:off x="3" y="6581776"/>
            <a:ext cx="10232813" cy="276999"/>
          </a:xfrm>
          <a:prstGeom prst="rect">
            <a:avLst/>
          </a:prstGeom>
          <a:solidFill>
            <a:srgbClr val="5C1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 b="0" cap="none" dirty="0">
                <a:solidFill>
                  <a:schemeClr val="bg1"/>
                </a:solidFill>
                <a:latin typeface="Arial" panose="020B0704020202090204" pitchFamily="34" charset="0"/>
                <a:ea typeface="Arial" panose="020B0704020202090204" pitchFamily="34" charset="0"/>
              </a:rPr>
              <a:t>图像复杂度分析报告</a:t>
            </a:r>
            <a:endParaRPr lang="ko-KR" altLang="en-US" sz="1200" b="0" cap="none" dirty="0">
              <a:solidFill>
                <a:schemeClr val="bg1"/>
              </a:solidFill>
              <a:latin typeface="Arial" panose="020B0704020202090204" pitchFamily="34" charset="0"/>
              <a:ea typeface="Arial" panose="020B0704020202090204" pitchFamily="34" charset="0"/>
            </a:endParaRPr>
          </a:p>
        </p:txBody>
      </p:sp>
      <p:sp>
        <p:nvSpPr>
          <p:cNvPr id="8" name="TextBox 11"/>
          <p:cNvSpPr txBox="1">
            <a:spLocks noChangeArrowheads="1"/>
          </p:cNvSpPr>
          <p:nvPr userDrawn="1"/>
        </p:nvSpPr>
        <p:spPr bwMode="auto">
          <a:xfrm>
            <a:off x="10231971" y="6581776"/>
            <a:ext cx="19397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B9320F77-B9A0-41C5-862A-B4B631284C64}" type="slidenum">
              <a:rPr lang="en-US" altLang="ko-KR" sz="1200" b="0" cap="none" dirty="0" smtClean="0">
                <a:solidFill>
                  <a:schemeClr val="bg1"/>
                </a:solidFill>
                <a:latin typeface="Arial" panose="020B0704020202090204" pitchFamily="34" charset="0"/>
                <a:ea typeface="Arial" panose="020B0704020202090204" pitchFamily="34" charset="0"/>
              </a:rPr>
            </a:fld>
            <a:r>
              <a:rPr lang="en-US" altLang="ko-KR" sz="1200" b="0" cap="none" dirty="0">
                <a:solidFill>
                  <a:schemeClr val="bg1"/>
                </a:solidFill>
                <a:latin typeface="Arial" panose="020B0704020202090204" pitchFamily="34" charset="0"/>
                <a:ea typeface="Arial" panose="020B0704020202090204" pitchFamily="34" charset="0"/>
              </a:rPr>
              <a:t> / 54</a:t>
            </a:r>
            <a:endParaRPr lang="ko-KR" altLang="en-US" sz="1200" b="0" cap="none" dirty="0">
              <a:solidFill>
                <a:schemeClr val="bg1"/>
              </a:solidFill>
              <a:latin typeface="Arial" panose="020B0704020202090204" pitchFamily="34" charset="0"/>
              <a:ea typeface="Arial" panose="020B0704020202090204" pitchFamily="34" charset="0"/>
            </a:endParaRPr>
          </a:p>
        </p:txBody>
      </p:sp>
      <p:sp>
        <p:nvSpPr>
          <p:cNvPr id="56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4550" y="1225551"/>
            <a:ext cx="11355493" cy="4951729"/>
          </a:xfrm>
        </p:spPr>
        <p:txBody>
          <a:bodyPr/>
          <a:lstStyle>
            <a:lvl1pPr marL="228600" indent="-228600">
              <a:lnSpc>
                <a:spcPct val="100000"/>
              </a:lnSpc>
              <a:buClr>
                <a:srgbClr val="823884"/>
              </a:buClr>
              <a:buSzPct val="98000"/>
              <a:buFont typeface="Wingdings 2" panose="05020102010507070707" pitchFamily="18" charset="2"/>
              <a:buChar char=""/>
              <a:defRPr sz="2400">
                <a:latin typeface="+mn-lt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buClr>
                <a:srgbClr val="823884"/>
              </a:buClr>
              <a:defRPr sz="2000">
                <a:latin typeface="+mn-lt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buClr>
                <a:srgbClr val="823884"/>
              </a:buClr>
              <a:defRPr sz="1800">
                <a:latin typeface="+mn-lt"/>
                <a:ea typeface="微软雅黑" panose="020B0503020204020204" pitchFamily="34" charset="-122"/>
              </a:defRPr>
            </a:lvl3pPr>
            <a:lvl4pPr>
              <a:defRPr>
                <a:latin typeface="+mn-lt"/>
                <a:ea typeface="微软雅黑" panose="020B0503020204020204" pitchFamily="34" charset="-122"/>
              </a:defRPr>
            </a:lvl4pPr>
            <a:lvl5pPr>
              <a:defRPr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 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 第二级</a:t>
            </a:r>
            <a:endParaRPr lang="zh-CN" altLang="en-US" noProof="1"/>
          </a:p>
          <a:p>
            <a:pPr lvl="2"/>
            <a:r>
              <a:rPr lang="zh-CN" altLang="en-US" noProof="1"/>
              <a:t> 第三级</a:t>
            </a:r>
            <a:endParaRPr lang="zh-CN" altLang="en-US" noProof="1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 hasCustomPrompt="1"/>
          </p:nvPr>
        </p:nvSpPr>
        <p:spPr>
          <a:xfrm>
            <a:off x="1265770" y="159386"/>
            <a:ext cx="7733453" cy="574040"/>
          </a:xfrm>
        </p:spPr>
        <p:txBody>
          <a:bodyPr anchor="ctr"/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等腰三角形 2"/>
          <p:cNvSpPr/>
          <p:nvPr userDrawn="1"/>
        </p:nvSpPr>
        <p:spPr>
          <a:xfrm rot="5400000">
            <a:off x="806029" y="315068"/>
            <a:ext cx="228600" cy="263313"/>
          </a:xfrm>
          <a:prstGeom prst="triangl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7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13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5" b="-7245"/>
          <a:stretch>
            <a:fillRect/>
          </a:stretch>
        </p:blipFill>
        <p:spPr>
          <a:xfrm>
            <a:off x="0" y="0"/>
            <a:ext cx="12192000" cy="681126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0"/>
            <a:ext cx="12192000" cy="6046470"/>
          </a:xfrm>
          <a:prstGeom prst="rect">
            <a:avLst/>
          </a:prstGeom>
          <a:solidFill>
            <a:schemeClr val="bg2">
              <a:lumMod val="10000"/>
              <a:alpha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66675" y="1693545"/>
            <a:ext cx="12125325" cy="23164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en-US" altLang="zh-CN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Calibri" panose="020F0502020204030204" pitchFamily="34" charset="0"/>
              </a:rPr>
              <a:t>Llumnix</a:t>
            </a:r>
            <a:r>
              <a:rPr lang="zh-CN" alt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Calibri" panose="020F0502020204030204" pitchFamily="34" charset="0"/>
              </a:rPr>
              <a:t>：面向</a:t>
            </a:r>
            <a:r>
              <a:rPr lang="en-US" altLang="zh-CN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Calibri" panose="020F0502020204030204" pitchFamily="34" charset="0"/>
              </a:rPr>
              <a:t> LLM </a:t>
            </a:r>
            <a:r>
              <a:rPr lang="zh-CN" altLang="en-US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Calibri" panose="020F0502020204030204" pitchFamily="34" charset="0"/>
              </a:rPr>
              <a:t>服务的跨实例动态调度系统</a:t>
            </a:r>
            <a:endParaRPr lang="zh-CN" alt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5313986"/>
            <a:ext cx="12192000" cy="149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2" name="图片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01" b="24139"/>
          <a:stretch>
            <a:fillRect/>
          </a:stretch>
        </p:blipFill>
        <p:spPr bwMode="auto">
          <a:xfrm>
            <a:off x="4131013" y="5418400"/>
            <a:ext cx="3184525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99491" y="1812961"/>
            <a:ext cx="10095270" cy="4161090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 sz="32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研究</a:t>
            </a:r>
            <a:r>
              <a:rPr lang="zh-CN" altLang="en-US" sz="32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背景</a:t>
            </a:r>
            <a:endParaRPr lang="zh-CN" altLang="en-US" sz="32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32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面临</a:t>
            </a:r>
            <a:r>
              <a:rPr lang="zh-CN" altLang="en-US" sz="32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挑战</a:t>
            </a:r>
            <a:endParaRPr lang="zh-CN" altLang="en-US" sz="32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32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相关工作</a:t>
            </a:r>
            <a:endParaRPr lang="zh-CN" altLang="en-US" sz="32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32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方法</a:t>
            </a:r>
            <a:endParaRPr lang="zh-CN" altLang="en-US" sz="32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32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实验</a:t>
            </a:r>
            <a:endParaRPr lang="zh-CN" altLang="en-US" sz="32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32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局限-思考</a:t>
            </a:r>
            <a:endParaRPr lang="zh-CN" altLang="en-US" sz="32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0" indent="0">
              <a:buNone/>
            </a:pPr>
            <a:endParaRPr lang="zh-CN" altLang="en-US" sz="32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666365" y="1175385"/>
            <a:ext cx="11055171" cy="5863288"/>
            <a:chOff x="8123" y="3926"/>
            <a:chExt cx="17410" cy="9234"/>
          </a:xfrm>
        </p:grpSpPr>
        <p:pic>
          <p:nvPicPr>
            <p:cNvPr id="2" name="图片 1" descr="upload_post_object_v2_21214317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2" y="3926"/>
              <a:ext cx="16441" cy="9234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8123" y="3926"/>
              <a:ext cx="16441" cy="9217"/>
            </a:xfrm>
            <a:prstGeom prst="rect">
              <a:avLst/>
            </a:prstGeom>
            <a:gradFill>
              <a:gsLst>
                <a:gs pos="91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chemeClr val="bg1"/>
                </a:gs>
                <a:gs pos="0">
                  <a:schemeClr val="bg1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0" scaled="0"/>
            </a:gradFill>
            <a:ln w="12700" cmpd="sng">
              <a:noFill/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09550" y="1553845"/>
            <a:ext cx="3105150" cy="4526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大语言模型</a:t>
            </a:r>
            <a:r>
              <a:rPr lang="en-US" altLang="zh-CN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LLMs</a:t>
            </a:r>
            <a:r>
              <a:rPr lang="zh-CN" altLang="en-US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的推理服务在基于大语言模型的服务中起着关键作用，已成为数据中心的一项核心工作负载。</a:t>
            </a:r>
            <a:endParaRPr lang="zh-CN" altLang="en-US" sz="20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indent="457200"/>
            <a:r>
              <a:rPr lang="zh-CN" altLang="en-US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这类服务通常由部署在</a:t>
            </a:r>
            <a:r>
              <a:rPr lang="en-US" altLang="zh-CN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GPU</a:t>
            </a:r>
            <a:r>
              <a:rPr lang="zh-CN" altLang="en-US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集群上的多个大语言模型实例提供支持。</a:t>
            </a:r>
            <a:endParaRPr lang="zh-CN" altLang="en-US" sz="20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indent="457200"/>
            <a:r>
              <a:rPr lang="zh-CN" altLang="en-US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实际</a:t>
            </a:r>
            <a:r>
              <a:rPr lang="zh-CN" altLang="en-US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中面临诸多问题</a:t>
            </a:r>
            <a:r>
              <a:rPr lang="en-US" altLang="zh-CN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，</a:t>
            </a:r>
            <a:r>
              <a:rPr lang="zh-CN" altLang="en-US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本文提出一个基于</a:t>
            </a:r>
            <a:r>
              <a:rPr lang="en-US" altLang="zh-CN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GPU</a:t>
            </a:r>
            <a:r>
              <a:rPr lang="zh-CN" altLang="en-US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集群中大语言模型使用场景下的</a:t>
            </a:r>
            <a:r>
              <a:rPr lang="zh-CN" altLang="en-US" sz="2000" u="sng">
                <a:solidFill>
                  <a:srgbClr val="00B0F0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动态调度系统</a:t>
            </a:r>
            <a:r>
              <a:rPr lang="en-US" altLang="zh-CN" sz="20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。</a:t>
            </a:r>
            <a:endParaRPr lang="zh-CN" altLang="en-US" sz="20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indent="457200"/>
            <a:endParaRPr lang="zh-CN" altLang="en-US" sz="20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面临挑战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1-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工作负载异质性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 descr="生成论文讲解图片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285" y="2782570"/>
            <a:ext cx="8105140" cy="45567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000" y="1633220"/>
            <a:ext cx="106019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00B0F0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请求的多样性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：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</a:endParaRPr>
          </a:p>
          <a:p>
            <a:pPr marL="800100" lvl="1" indent="-342900">
              <a:buFont typeface="Arial" panose="020B0704020202090204" pitchFamily="34" charset="0"/>
              <a:buChar char="•"/>
            </a:pP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不同应用场景导致请求在输入输出的长度存在差异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。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</a:endParaRPr>
          </a:p>
          <a:p>
            <a:pPr marL="800100" lvl="1" indent="-342900">
              <a:buFont typeface="Arial" panose="020B0704020202090204" pitchFamily="34" charset="0"/>
              <a:buChar char="•"/>
            </a:pP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不同请求的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SLO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不同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。（SLO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服务等级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目标是服务为满足用户体验而设定的可量化性能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标准性能标准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）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面临挑战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执行不可预测性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1158875"/>
            <a:ext cx="103111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 </a:t>
            </a:r>
            <a:r>
              <a:rPr lang="zh-CN" altLang="en-US" sz="2400">
                <a:solidFill>
                  <a:srgbClr val="00B0F0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执行不可预测性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：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</a:endParaRPr>
          </a:p>
          <a:p>
            <a:pPr indent="457200"/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LLM 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采用自回归生成方式，输出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 token 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数量未知，导致请求的执行时间和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 GPU 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内存需求难以预判。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</a:endParaRPr>
          </a:p>
          <a:p>
            <a:pPr indent="457200"/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所以在先前的工作中提出动态分配内存的抢占机制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。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  <p:pic>
        <p:nvPicPr>
          <p:cNvPr id="6" name="图片 5" descr="preempt-cr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75" y="2806700"/>
            <a:ext cx="10177780" cy="3956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面临挑战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执行不可预测性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1158875"/>
            <a:ext cx="103111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 </a:t>
            </a:r>
            <a:r>
              <a:rPr lang="zh-CN" altLang="en-US" sz="2400">
                <a:solidFill>
                  <a:srgbClr val="00B0F0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执行不可预测性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：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</a:endParaRPr>
          </a:p>
          <a:p>
            <a:pPr indent="457200"/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本文做了一个小实验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，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发现在这样的动态分配抢占机制下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，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仍出现</a:t>
            </a:r>
            <a:r>
              <a:rPr lang="en-US" altLang="zh-CN" sz="2400">
                <a:solidFill>
                  <a:srgbClr val="FF0000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8%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的抢占率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！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解码延迟和抢占停滞时间很长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！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  <p:pic>
        <p:nvPicPr>
          <p:cNvPr id="4" name="图片 3" descr="motivation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57755"/>
            <a:ext cx="12192000" cy="4766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面临挑战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3-GPU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计算与内存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0" y="1377315"/>
            <a:ext cx="103111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 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请求越多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、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请求所需内存越大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，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带来的性能干扰越大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-&gt;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希望</a:t>
            </a:r>
            <a:r>
              <a:rPr lang="zh-CN" altLang="en-US" sz="24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负载均衡</a:t>
            </a:r>
            <a:endParaRPr lang="zh-CN" altLang="en-US" sz="2400">
              <a:solidFill>
                <a:schemeClr val="accent5"/>
              </a:solidFill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  <p:pic>
        <p:nvPicPr>
          <p:cNvPr id="5" name="图片 4" descr="motivation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1837690"/>
            <a:ext cx="7004685" cy="473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相关工作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9670" y="1830070"/>
            <a:ext cx="87325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现有方案局限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：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</a:endParaRPr>
          </a:p>
          <a:p>
            <a:pPr marL="342900" indent="-342900">
              <a:buFont typeface="Arial" panose="020B0704020202090204" pitchFamily="34" charset="0"/>
              <a:buChar char="•"/>
            </a:pP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仅关注单实例内优化（如批量调度、内存管理）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</a:endParaRPr>
          </a:p>
          <a:p>
            <a:pPr marL="342900" indent="-342900">
              <a:buFont typeface="Arial" panose="020B0704020202090204" pitchFamily="34" charset="0"/>
              <a:buChar char="•"/>
            </a:pP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跨实例调度仍沿用传统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</a:rPr>
              <a:t> DNN 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</a:rPr>
              <a:t>的静态分发策略（如轮询、简单负载均衡）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01115" y="3514090"/>
            <a:ext cx="86004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本文目标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：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indent="457200"/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希望借鉴操作系统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 "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上下文切换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" 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思想，引入跨实例请求重调度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indent="457200"/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通过动态重调度，统一解决</a:t>
            </a:r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负载均衡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、</a:t>
            </a:r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碎片整理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、</a:t>
            </a:r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优先级保障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、</a:t>
            </a:r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弹性伸缩适配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四大场景需求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LLM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请求的实时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0" y="1792605"/>
            <a:ext cx="6280785" cy="32734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99440" y="1341120"/>
            <a:ext cx="50095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 latinLnBrk="0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KV Cache 特性：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0" indent="0" algn="l" latinLnBrk="0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LLM 推理中，KV cache 只追加、不修改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0" indent="0" algn="l" latinLnBrk="0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每次迭代将新 KV 状态追加到已有 KV cache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0" indent="0" algn="l" latinLnBrk="0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先前迭代生成的 KV cache 始终保持不变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9440" y="3094355"/>
            <a:ext cx="50088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l" latinLnBrk="0">
              <a:lnSpc>
                <a:spcPct val="150000"/>
              </a:lnSpc>
              <a:buClrTx/>
              <a:buSzTx/>
              <a:buFontTx/>
            </a:pPr>
            <a:r>
              <a:rPr lang="zh-CN" altLang="en-US" sz="1800" b="1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利用KV Cache的特性可以进行一边复制旧KV Cache一边计算新token的KV Cache。</a:t>
            </a:r>
            <a:endParaRPr lang="zh-CN" altLang="en-US" sz="1800" b="1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99440" y="3890645"/>
            <a:ext cx="537718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latinLnBrk="0">
              <a:lnSpc>
                <a:spcPct val="150000"/>
              </a:lnSpc>
              <a:buClrTx/>
              <a:buSzTx/>
              <a:buNone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迁移过程：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0" indent="0" algn="l" latinLnBrk="0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阶段 0：复制已完成的 KV 块，同时继续计算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pPr marL="0" indent="0" algn="l" latinLnBrk="0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完成后，再生成少量新块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pPr marL="0" indent="0" algn="l" latinLnBrk="0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阶段 1</a:t>
            </a:r>
            <a:r>
              <a:rPr lang="en-US" altLang="zh-CN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~</a:t>
            </a: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N：复制上一阶段生成的新 KV 块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pPr marL="0" indent="0" algn="l" latinLnBrk="0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仅需在最后暂停 1 次迭代 的计算来复制最终块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pPr marL="0" indent="0" algn="l" latinLnBrk="0">
              <a:lnSpc>
                <a:spcPct val="150000"/>
              </a:lnSpc>
              <a:buClrTx/>
              <a:buSzTx/>
              <a:buAutoNum type="arabicPeriod"/>
            </a:pPr>
            <a:r>
              <a:rPr lang="zh-CN" altLang="en-US" sz="1800">
                <a:solidFill>
                  <a:schemeClr val="tx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请求在目标实例继续执行</a:t>
            </a:r>
            <a:endParaRPr lang="zh-CN" altLang="en-US" sz="1800">
              <a:solidFill>
                <a:schemeClr val="tx1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94755" y="510476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0">
              <a:lnSpc>
                <a:spcPct val="150000"/>
              </a:lnSpc>
            </a:pPr>
            <a:r>
              <a:rPr lang="zh-CN" altLang="en-US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一边传输已有</a:t>
            </a:r>
            <a:r>
              <a:rPr lang="en-US" altLang="zh-CN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KV</a:t>
            </a:r>
            <a:r>
              <a:rPr lang="zh-CN" altLang="en-US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缓存</a:t>
            </a:r>
            <a:r>
              <a:rPr lang="en-US" altLang="zh-CN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，</a:t>
            </a:r>
            <a:r>
              <a:rPr lang="zh-CN" altLang="en-US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一边进行计算产生新的</a:t>
            </a:r>
            <a:r>
              <a:rPr lang="en-US" altLang="zh-CN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KV</a:t>
            </a:r>
            <a:r>
              <a:rPr lang="zh-CN" altLang="en-US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缓存</a:t>
            </a:r>
            <a:endParaRPr lang="zh-CN" altLang="en-US" sz="1800">
              <a:solidFill>
                <a:schemeClr val="accent5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0" indent="0" latinLnBrk="0">
              <a:lnSpc>
                <a:spcPct val="150000"/>
              </a:lnSpc>
            </a:pPr>
            <a:r>
              <a:rPr lang="zh-CN" altLang="en-US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分阶段</a:t>
            </a:r>
            <a:r>
              <a:rPr lang="en-US" altLang="zh-CN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！</a:t>
            </a:r>
            <a:r>
              <a:rPr lang="zh-CN" altLang="en-US" sz="1800">
                <a:solidFill>
                  <a:schemeClr val="accent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每次握手确保能继续</a:t>
            </a:r>
            <a:endParaRPr lang="zh-CN" altLang="en-US" sz="1800">
              <a:solidFill>
                <a:schemeClr val="accent5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 descr="migration-ca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65" y="1170940"/>
            <a:ext cx="9775825" cy="46589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60500" y="6002020"/>
            <a:ext cx="1560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负载均衡</a:t>
            </a:r>
            <a:endParaRPr lang="zh-CN" altLang="en-US" sz="2400">
              <a:solidFill>
                <a:schemeClr val="accent1"/>
              </a:solidFill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82440" y="6002020"/>
            <a:ext cx="1560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去</a:t>
            </a:r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碎片化</a:t>
            </a:r>
            <a:endParaRPr lang="zh-CN" altLang="en-US" sz="2400">
              <a:solidFill>
                <a:schemeClr val="accent1"/>
              </a:solidFill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49415" y="6002020"/>
            <a:ext cx="1560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优先级</a:t>
            </a:r>
            <a:endParaRPr lang="zh-CN" altLang="en-US" sz="2400">
              <a:solidFill>
                <a:schemeClr val="accent1"/>
              </a:solidFill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42705" y="6002020"/>
            <a:ext cx="23196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</a:rPr>
              <a:t>自动扩展</a:t>
            </a:r>
            <a:endParaRPr lang="zh-CN" altLang="en-US" sz="2400">
              <a:solidFill>
                <a:schemeClr val="accent1"/>
              </a:solidFill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分布式调度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upload_post_object_v2_10652152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00" y="1426210"/>
            <a:ext cx="5008245" cy="3873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0570" y="1426210"/>
            <a:ext cx="5917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Llumnix 架构由两层调度器构成，分别为</a:t>
            </a:r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全局调度器</a:t>
            </a: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以及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实例级调度器</a:t>
            </a: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（llumlet）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0570" y="22225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全局调度器：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不直接跟踪具体请求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仅基于“实例负载”作决策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负责新请求的分发、触发跨实例迁移以及实例自动扩缩容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570" y="3850005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实例级调度器（llumlet）：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本地调度器：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pPr marL="800100" lvl="1" indent="-342900">
              <a:buFont typeface="Arial" panose="020B0704020202090204" pitchFamily="34" charset="0"/>
              <a:buChar char="•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队列、批处理、block 管理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pPr marL="800100" lvl="1" indent="-342900">
              <a:buFont typeface="Arial" panose="020B0704020202090204" pitchFamily="34" charset="0"/>
              <a:buChar char="•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新任务：计算实例内存负载使用“虚拟使用量”而非物理内存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buFont typeface="Arial" panose="020B0704020202090204" pitchFamily="34" charset="0"/>
              <a:buChar char="•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决定具体要迁移的请求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0" indent="-342900">
              <a:buFont typeface="Arial" panose="020B0704020202090204" pitchFamily="34" charset="0"/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迁移协调器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>
              <a:buFont typeface="Arial" panose="020B0704020202090204" pitchFamily="34" charset="0"/>
              <a:buChar char="•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与本地调度器以及对方实例协同迁移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pPr marL="742950" lvl="1" indent="-285750">
              <a:buFont typeface="Arial" panose="020B0704020202090204" pitchFamily="34" charset="0"/>
              <a:buChar char="•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指挥执行器进行底层内存复制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68135" y="5505450"/>
            <a:ext cx="5172075" cy="1188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Llumnix 将复杂的请求管理</a:t>
            </a:r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下沉到实例</a:t>
            </a: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，用全局只关注实例负载的轻量化调度，从而保持了与无动态调度系统相似的</a:t>
            </a:r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可扩展性</a:t>
            </a: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。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虚拟使用量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vm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20" y="1988185"/>
            <a:ext cx="5645785" cy="28822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44195" y="3211830"/>
            <a:ext cx="54965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latinLnBrk="0">
              <a:lnSpc>
                <a:spcPct val="150000"/>
              </a:lnSpc>
              <a:buNone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正常请求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虚拟使用量等于物理内存使用量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用于</a:t>
            </a:r>
            <a:r>
              <a:rPr lang="zh-CN" altLang="en-US" sz="1800" b="1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常规负载均衡</a:t>
            </a:r>
            <a:endParaRPr lang="zh-CN" altLang="en-US" sz="1800" b="1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保证实例负载合理分布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示例（图 9(a)）：请求按实际内存占用计算虚拟使用量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4195" y="1444625"/>
            <a:ext cx="568642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0">
              <a:lnSpc>
                <a:spcPct val="150000"/>
              </a:lnSpc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虚拟使用量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algn="l" latinLnBrk="0">
              <a:lnSpc>
                <a:spcPct val="150000"/>
              </a:lnSpc>
              <a:buClrTx/>
              <a:buSzTx/>
              <a:buFontTx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Llumnix 引入了虚拟使用量，并且将调度的场景分为两类：负载均衡以及在某个实例上创造空闲空间（碎片整理、优先级管理和清空实例）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pPr marL="0" algn="l" latinLnBrk="0">
              <a:lnSpc>
                <a:spcPct val="150000"/>
              </a:lnSpc>
              <a:buClrTx/>
              <a:buSzTx/>
              <a:buFontTx/>
            </a:pP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虚拟使用量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vm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270" y="1988185"/>
            <a:ext cx="5645785" cy="28822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9440" y="1444625"/>
            <a:ext cx="568833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atinLnBrk="0">
              <a:lnSpc>
                <a:spcPct val="150000"/>
              </a:lnSpc>
            </a:pPr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排队</a:t>
            </a: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请求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队首排队请求的物理使用量为0，但虚拟使用量&gt;0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反映请求的资源需求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增加实例总虚拟使用量 -&gt; </a:t>
            </a:r>
            <a:r>
              <a:rPr lang="zh-CN" altLang="en-US" sz="1800" b="1">
                <a:solidFill>
                  <a:srgbClr val="94B6D9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触发负载均衡迁移</a:t>
            </a:r>
            <a:endParaRPr lang="zh-CN" altLang="en-US" sz="1800" b="1">
              <a:solidFill>
                <a:srgbClr val="94B6D9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有效减少排队延迟，同时保持负载均衡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示例(图 9(b))：排队请求虚拟使用量增加，引发迁移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虚拟使用量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vm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80" y="1988185"/>
            <a:ext cx="5645785" cy="28822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9440" y="1444625"/>
            <a:ext cx="57048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atinLnBrk="0">
              <a:lnSpc>
                <a:spcPct val="150000"/>
              </a:lnSpc>
            </a:pPr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高优先级</a:t>
            </a: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请求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虚拟使用量 = 物理使用量 + 额外内存空间（headroom）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en-US" altLang="zh-CN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 </a:t>
            </a:r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headroom</a:t>
            </a: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 保证理想解码速度，无明显干扰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多个高优先级请求 -&gt; headroom 均分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总虚拟使用量过高 -&gt; 普通请求被迁移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latinLnBrk="0">
              <a:lnSpc>
                <a:spcPct val="150000"/>
              </a:lnSpc>
              <a:buClrTx/>
              <a:buSzTx/>
              <a:buFontTx/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示例（图 9(c)）：高优先级请求占用额外空间，</a:t>
            </a:r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触发负载均衡</a:t>
            </a:r>
            <a:endParaRPr lang="zh-CN" altLang="en-US" sz="1800" b="1">
              <a:solidFill>
                <a:srgbClr val="5B9BD5"/>
              </a:solidFill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虚拟使用量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vm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520" y="1987550"/>
            <a:ext cx="5645785" cy="28822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9440" y="1444625"/>
            <a:ext cx="54959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atinLnBrk="0">
              <a:lnSpc>
                <a:spcPct val="150000"/>
              </a:lnSpc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实例的启动与终止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新实例启动：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800100" lvl="1" indent="-342900" latinLnBrk="0">
              <a:lnSpc>
                <a:spcPct val="150000"/>
              </a:lnSpc>
              <a:buFont typeface="Arial" panose="020B0704020202090204" pitchFamily="34" charset="0"/>
              <a:buChar char="•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负载均衡策略迁移请求，使新实例快速饱和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0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实例终止：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latinLnBrk="0">
              <a:lnSpc>
                <a:spcPct val="150000"/>
              </a:lnSpc>
              <a:buFont typeface="Arial" panose="020B0704020202090204" pitchFamily="34" charset="0"/>
              <a:buChar char="•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添加虚拟使用量为无穷大的伪请求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800100" lvl="1" indent="-342900" latinLnBrk="0">
              <a:lnSpc>
                <a:spcPct val="150000"/>
              </a:lnSpc>
              <a:buFont typeface="Arial" panose="020B0704020202090204" pitchFamily="34" charset="0"/>
              <a:buChar char="•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剩余请求迁移到其他实例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 latinLnBrk="0">
              <a:lnSpc>
                <a:spcPct val="150000"/>
              </a:lnSpc>
              <a:buAutoNum type="arabicPeriod" startAt="2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示例（图 9(d)）：新实例接收迁移请求 / 终止实例迁移剩余请求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动态调度策略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845" y="1706880"/>
            <a:ext cx="4942840" cy="39833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9440" y="1444625"/>
            <a:ext cx="64408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请求类型判断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800100" lvl="1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排队请求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57300" lvl="2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队首请求 -&gt; 虚拟使用量 = 实际需求</a:t>
            </a:r>
            <a:endParaRPr lang="zh-CN" altLang="en-US" sz="18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1257300" lvl="2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其他排队请求 -&gt; 虚拟使用量 = 0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伪请求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57300" lvl="2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虚拟使用量 = 无穷大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普通/高优先级请求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57300" lvl="2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虚拟使用量 = 物理使用量 + Headroom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计算实例总虚拟使用量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遍历实例中所有请求，累加虚拟使用量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如果实例正在终止 -&gt; 添加伪请求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0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计算</a:t>
            </a:r>
            <a:r>
              <a:rPr lang="zh-CN" altLang="en-US" sz="1800" b="1">
                <a:solidFill>
                  <a:srgbClr val="5B9BD5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实例空闲度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F &gt; 0 -&gt; 实例可用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buAutoNum type="arabicPeriod"/>
            </a:pPr>
            <a:r>
              <a:rPr lang="zh-CN" altLang="en-US" sz="18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F &lt; 0 -&gt; 实例过载 -&gt; 触发迁移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buAutoNum type="arabicPeriod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96035" y="5450205"/>
          <a:ext cx="2027555" cy="86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1016000" imgH="431800" progId="Equation.KSEE3">
                  <p:embed/>
                </p:oleObj>
              </mc:Choice>
              <mc:Fallback>
                <p:oleObj name="" r:id="rId4" imgW="10160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96035" y="5450205"/>
                        <a:ext cx="2027555" cy="861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实例空闲度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9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88230" y="1636395"/>
          <a:ext cx="2027555" cy="86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016000" imgH="431800" progId="Equation.KSEE3">
                  <p:embed/>
                </p:oleObj>
              </mc:Choice>
              <mc:Fallback>
                <p:oleObj name="" r:id="rId3" imgW="10160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8230" y="1636395"/>
                        <a:ext cx="2027555" cy="861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465070" y="2582545"/>
            <a:ext cx="77019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总内存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-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内存使用量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：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体现剩余空间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algn="ctr"/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/B：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体现请求数量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84345" y="41802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800"/>
              <a:t>用来量化负载均衡</a:t>
            </a:r>
            <a:r>
              <a:rPr lang="en-US" altLang="zh-CN" sz="1800"/>
              <a:t>，</a:t>
            </a:r>
            <a:r>
              <a:rPr lang="zh-CN" altLang="en-US" sz="1800"/>
              <a:t>选择迁移的</a:t>
            </a:r>
            <a:r>
              <a:rPr lang="zh-CN" altLang="en-US" sz="1800"/>
              <a:t>实例</a:t>
            </a:r>
            <a:endParaRPr lang="zh-CN" altLang="en-US" sz="1800"/>
          </a:p>
          <a:p>
            <a:pPr algn="ctr"/>
            <a:r>
              <a:rPr lang="zh-CN" altLang="en-US" sz="1800"/>
              <a:t>平均空闲度来选择是否扩展</a:t>
            </a:r>
            <a:r>
              <a:rPr lang="en-US" altLang="zh-CN" sz="1800"/>
              <a:t>or</a:t>
            </a:r>
            <a:r>
              <a:rPr lang="zh-CN" altLang="en-US" sz="1800"/>
              <a:t>关闭</a:t>
            </a:r>
            <a:r>
              <a:rPr lang="zh-CN" altLang="en-US" sz="1800"/>
              <a:t>实例</a:t>
            </a:r>
            <a:endParaRPr lang="zh-CN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microbench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820" y="2572385"/>
            <a:ext cx="9465310" cy="38741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4865" y="1233805"/>
            <a:ext cx="6040120" cy="957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左图可见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，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停机延迟几乎为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0。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右图揭示对解码延迟没有影响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。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evaluation1_n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925" y="1323975"/>
            <a:ext cx="6723380" cy="51828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4865" y="222186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可以看到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，</a:t>
            </a:r>
            <a:r>
              <a:rPr lang="en-US" altLang="zh-CN" sz="2400">
                <a:solidFill>
                  <a:schemeClr val="accent2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Linmnix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的解码延迟和抢占损耗大多为最小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。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可以说明服务性能对比现有的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INFaaS++，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是更优的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。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96106" y="105748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53820" y="1746885"/>
            <a:ext cx="94284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在设置优先级之后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，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对比没有设置优先级的</a:t>
            </a:r>
            <a:r>
              <a:rPr lang="en-US" altLang="zh-CN" sz="2400">
                <a:solidFill>
                  <a:schemeClr val="accent1"/>
                </a:solidFill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Liumnix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，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在常规请求的服务性能没有变差情况下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，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对于高优先级的服务性能明显提高</a:t>
            </a:r>
            <a:r>
              <a:rPr lang="en-US" altLang="zh-CN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。</a:t>
            </a:r>
            <a:endParaRPr lang="en-US" altLang="zh-CN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  <p:pic>
        <p:nvPicPr>
          <p:cNvPr id="5" name="图片 4" descr="evaluation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3380105"/>
            <a:ext cx="10841990" cy="28486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生成相关图片"/>
          <p:cNvPicPr>
            <a:picLocks noChangeAspect="1"/>
          </p:cNvPicPr>
          <p:nvPr/>
        </p:nvPicPr>
        <p:blipFill>
          <a:blip r:embed="rId1"/>
          <a:srcRect t="8989" r="73"/>
          <a:stretch>
            <a:fillRect/>
          </a:stretch>
        </p:blipFill>
        <p:spPr>
          <a:xfrm>
            <a:off x="-892810" y="1182370"/>
            <a:ext cx="13910310" cy="712279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1182370"/>
            <a:ext cx="12241530" cy="61233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00000"/>
                </a:schemeClr>
              </a:gs>
              <a:gs pos="35000">
                <a:srgbClr val="FBFCFE">
                  <a:alpha val="100000"/>
                </a:srgbClr>
              </a:gs>
              <a:gs pos="85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/>
          </a:p>
        </p:txBody>
      </p:sp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局限</a:t>
            </a:r>
            <a:r>
              <a:rPr kumimoji="1" lang="en-US" altLang="zh-CN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思考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96106" y="1444835"/>
            <a:ext cx="4117974" cy="626745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3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976851" y="1444835"/>
            <a:ext cx="4190064" cy="6267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>
            <a:lvl1pPr marL="0" indent="-43180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p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9750" indent="-360045" algn="just" defTabSz="91440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lvl="1" indent="0">
              <a:lnSpc>
                <a:spcPct val="120000"/>
              </a:lnSpc>
              <a:spcAft>
                <a:spcPts val="0"/>
              </a:spcAft>
              <a:buNone/>
            </a:pPr>
            <a:endParaRPr lang="zh-CN" altLang="en-US" sz="5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54137" y="4745358"/>
            <a:ext cx="4001770" cy="1335614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9440" y="1444625"/>
            <a:ext cx="45173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过于简单的启发式策略：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当前的排队请求的虚拟使用量直接设为实际需求，可能过度优先解碎片化，</a:t>
            </a:r>
            <a:r>
              <a:rPr lang="zh-CN" altLang="en-US" sz="2400" b="1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忽略负载均衡的长期影响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。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  <a:p>
            <a:pPr marL="342900" indent="-342900">
              <a:buAutoNum type="arabicPeriod"/>
            </a:pP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高优先级请求的headroom（定义为保持理想解码速度所需的余裕）</a:t>
            </a:r>
            <a:r>
              <a:rPr lang="zh-CN" altLang="en-US" sz="2400" b="1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依赖离线性能分析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</a:rPr>
              <a:t>，无法自适应动态负载变化。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21755" y="1444625"/>
            <a:ext cx="4530725" cy="3735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相关思考：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  <a:p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当前Llumnix基于实例的当前负载做迁移决策，但它无法预见一个请求还需要生成多少token。我们可以引入基于</a:t>
            </a:r>
            <a:r>
              <a:rPr lang="zh-CN" altLang="en-US" sz="2400" b="1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强化学习</a:t>
            </a:r>
            <a:r>
              <a:rPr lang="zh-CN" altLang="en-US" sz="2400">
                <a:latin typeface="Source Han Sans CN Regular" panose="020B0800000000000000" charset="-122"/>
                <a:ea typeface="Source Han Sans CN Regular" panose="020B0800000000000000" charset="-122"/>
                <a:cs typeface="Source Han Sans CN Regular" panose="020B0800000000000000" charset="-122"/>
                <a:sym typeface="+mn-ea"/>
              </a:rPr>
              <a:t>的调度器来提前判断那些请求值得迁移或者不必迁移。</a:t>
            </a:r>
            <a:endParaRPr lang="zh-CN" altLang="en-US" sz="2400">
              <a:latin typeface="Source Han Sans CN Regular" panose="020B0800000000000000" charset="-122"/>
              <a:ea typeface="Source Han Sans CN Regular" panose="020B0800000000000000" charset="-122"/>
              <a:cs typeface="Source Han Sans CN Regular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15615" y="1704340"/>
            <a:ext cx="6180455" cy="5154295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dwardian Script ITC" panose="030303020407070D0804" pitchFamily="66" charset="0"/>
                <a:ea typeface="+mn-ea"/>
              </a:rPr>
              <a:t>Thank you</a:t>
            </a:r>
            <a:endParaRPr lang="en-US" sz="13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Edwardian Script ITC" panose="030303020407070D0804" pitchFamily="66" charset="0"/>
              <a:ea typeface="+mn-ea"/>
            </a:endParaRPr>
          </a:p>
        </p:txBody>
      </p:sp>
      <p:sp>
        <p:nvSpPr>
          <p:cNvPr id="3" name="标题 2"/>
          <p:cNvSpPr>
            <a:spLocks noGrp="1" noChangeArrowheads="1"/>
          </p:cNvSpPr>
          <p:nvPr>
            <p:ph type="title"/>
          </p:nvPr>
        </p:nvSpPr>
        <p:spPr bwMode="auto">
          <a:xfrm>
            <a:off x="599440" y="317500"/>
            <a:ext cx="8163560" cy="626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欢迎</a:t>
            </a:r>
            <a:r>
              <a:rPr kumimoji="1" lang="zh-CN" altLang="en-US" sz="32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探讨</a:t>
            </a:r>
            <a:endParaRPr kumimoji="1" lang="zh-CN" altLang="en-US" sz="32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4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5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6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7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8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9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0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1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2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3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4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5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6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7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8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19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0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1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2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3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4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5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6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7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8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29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0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1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2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3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4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5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6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7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8.xml><?xml version="1.0" encoding="utf-8"?>
<p:tagLst xmlns:p="http://schemas.openxmlformats.org/presentationml/2006/main">
  <p:tag name="KSO_WM_DIAGRAM_VIRTUALLY_FRAME" val="{&quot;height&quot;:407.55,&quot;left&quot;:21,&quot;top&quot;:126,&quot;width&quot;:674.8}"/>
</p:tagLst>
</file>

<file path=ppt/tags/tag39.xml><?xml version="1.0" encoding="utf-8"?>
<p:tagLst xmlns:p="http://schemas.openxmlformats.org/presentationml/2006/main">
  <p:tag name="KSO_WPP_MARK_KEY" val="eb7068c3-0341-4498-a1cb-92fed0136025"/>
  <p:tag name="COMMONDATA" val="eyJoZGlkIjoiNzBjZDgwNzY0YzQ1OWVhMjFiZDE0YzdkYTg0N2RjOG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2408</Words>
  <Application>WPS 演示</Application>
  <PresentationFormat>宽屏</PresentationFormat>
  <Paragraphs>268</Paragraphs>
  <Slides>22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Helvetica Neue</vt:lpstr>
      <vt:lpstr>汉仪书宋二KW</vt:lpstr>
      <vt:lpstr>Wingdings 2</vt:lpstr>
      <vt:lpstr>.AppleSystemUIFont</vt:lpstr>
      <vt:lpstr>苹方-简</vt:lpstr>
      <vt:lpstr>微软雅黑</vt:lpstr>
      <vt:lpstr>等线 Light</vt:lpstr>
      <vt:lpstr>微软雅黑 Light</vt:lpstr>
      <vt:lpstr>等线</vt:lpstr>
      <vt:lpstr>Source Han Sans CN Regular</vt:lpstr>
      <vt:lpstr>宋体</vt:lpstr>
      <vt:lpstr>Arial Unicode MS</vt:lpstr>
      <vt:lpstr>DengXian</vt:lpstr>
      <vt:lpstr>Edwardian Script ITC</vt:lpstr>
      <vt:lpstr>汉仪中黑KW</vt:lpstr>
      <vt:lpstr>Office 主题​​</vt:lpstr>
      <vt:lpstr>Equation.KSEE3</vt:lpstr>
      <vt:lpstr>Equation.KSEE3</vt:lpstr>
      <vt:lpstr>PowerPoint 演示文稿</vt:lpstr>
      <vt:lpstr>目录</vt:lpstr>
      <vt:lpstr>研究背景</vt:lpstr>
      <vt:lpstr>面临挑战1-工作负载异质性</vt:lpstr>
      <vt:lpstr>面临挑战2-执行不可预测性</vt:lpstr>
      <vt:lpstr>面临挑战2-执行不可预测性</vt:lpstr>
      <vt:lpstr>面临挑战3-GPU计算与内存竞争</vt:lpstr>
      <vt:lpstr>相关工作</vt:lpstr>
      <vt:lpstr>方法    LLM请求的实时迁移</vt:lpstr>
      <vt:lpstr>方法    LLM请求的实时迁移</vt:lpstr>
      <vt:lpstr>方法    分布式调度架构</vt:lpstr>
      <vt:lpstr>方法    虚拟使用量</vt:lpstr>
      <vt:lpstr>方法    虚拟使用量</vt:lpstr>
      <vt:lpstr>方法    虚拟使用量</vt:lpstr>
      <vt:lpstr>方法    虚拟使用量</vt:lpstr>
      <vt:lpstr>方法    动态调度策略  </vt:lpstr>
      <vt:lpstr>方法    实例空闲度  </vt:lpstr>
      <vt:lpstr>实验-迁移效率</vt:lpstr>
      <vt:lpstr>实验-服务性能</vt:lpstr>
      <vt:lpstr>实验-优先级优势</vt:lpstr>
      <vt:lpstr>局限-思考</vt:lpstr>
      <vt:lpstr>欢迎探讨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Weakly Supervised Coupled Networks  for Visual Sentiment Analysis</dc:title>
  <dc:creator>折栋宇</dc:creator>
  <cp:lastModifiedBy>林晖鹏</cp:lastModifiedBy>
  <cp:revision>10</cp:revision>
  <dcterms:created xsi:type="dcterms:W3CDTF">2025-12-09T04:44:46Z</dcterms:created>
  <dcterms:modified xsi:type="dcterms:W3CDTF">2025-12-09T04:44:46Z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B24C1223CFB4473B82089D88A43493A2_13</vt:lpwstr>
  </property>
  <property fmtid="{D5CDD505-2E9C-101B-9397-08002B2CF9AE}" pid="3" name="KSOProductBuildVer">
    <vt:lpwstr>2052-12.1.23540.23540</vt:lpwstr>
  </property>
</Properties>
</file>