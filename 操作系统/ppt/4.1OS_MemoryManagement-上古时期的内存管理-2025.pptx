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6.xml" ContentType="application/vnd.openxmlformats-officedocument.presentationml.notesSlide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56" r:id="rId1"/>
    <p:sldMasterId id="2147484070" r:id="rId2"/>
  </p:sldMasterIdLst>
  <p:notesMasterIdLst>
    <p:notesMasterId r:id="rId35"/>
  </p:notesMasterIdLst>
  <p:handoutMasterIdLst>
    <p:handoutMasterId r:id="rId36"/>
  </p:handoutMasterIdLst>
  <p:sldIdLst>
    <p:sldId id="2686" r:id="rId3"/>
    <p:sldId id="1962" r:id="rId4"/>
    <p:sldId id="611" r:id="rId5"/>
    <p:sldId id="612" r:id="rId6"/>
    <p:sldId id="634" r:id="rId7"/>
    <p:sldId id="478" r:id="rId8"/>
    <p:sldId id="430" r:id="rId9"/>
    <p:sldId id="506" r:id="rId10"/>
    <p:sldId id="591" r:id="rId11"/>
    <p:sldId id="592" r:id="rId12"/>
    <p:sldId id="594" r:id="rId13"/>
    <p:sldId id="507" r:id="rId14"/>
    <p:sldId id="2687" r:id="rId15"/>
    <p:sldId id="508" r:id="rId16"/>
    <p:sldId id="509" r:id="rId17"/>
    <p:sldId id="510" r:id="rId18"/>
    <p:sldId id="445" r:id="rId19"/>
    <p:sldId id="440" r:id="rId20"/>
    <p:sldId id="479" r:id="rId21"/>
    <p:sldId id="486" r:id="rId22"/>
    <p:sldId id="487" r:id="rId23"/>
    <p:sldId id="481" r:id="rId24"/>
    <p:sldId id="600" r:id="rId25"/>
    <p:sldId id="601" r:id="rId26"/>
    <p:sldId id="602" r:id="rId27"/>
    <p:sldId id="613" r:id="rId28"/>
    <p:sldId id="615" r:id="rId29"/>
    <p:sldId id="616" r:id="rId30"/>
    <p:sldId id="614" r:id="rId31"/>
    <p:sldId id="488" r:id="rId32"/>
    <p:sldId id="627" r:id="rId33"/>
    <p:sldId id="281" r:id="rId34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12355"/>
    <a:srgbClr val="CC0099"/>
    <a:srgbClr val="FF0000"/>
    <a:srgbClr val="003366"/>
    <a:srgbClr val="CCECFF"/>
    <a:srgbClr val="FFFFCC"/>
    <a:srgbClr val="F5ED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01" autoAdjust="0"/>
    <p:restoredTop sz="73214" autoAdjust="0"/>
  </p:normalViewPr>
  <p:slideViewPr>
    <p:cSldViewPr>
      <p:cViewPr varScale="1">
        <p:scale>
          <a:sx n="85" d="100"/>
          <a:sy n="85" d="100"/>
        </p:scale>
        <p:origin x="1387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2318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94" d="100"/>
          <a:sy n="94" d="100"/>
        </p:scale>
        <p:origin x="1003" y="8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5B18CB66-2F65-4973-9002-BF88F70AB341}" type="datetimeFigureOut">
              <a:rPr lang="zh-CN" altLang="en-US"/>
              <a:pPr>
                <a:defRPr/>
              </a:pPr>
              <a:t>2025/9/28</a:t>
            </a:fld>
            <a:endParaRPr lang="en-US" altLang="zh-CN"/>
          </a:p>
        </p:txBody>
      </p:sp>
      <p:sp>
        <p:nvSpPr>
          <p:cNvPr id="440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40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00F97A47-B2A6-4190-9D19-0F14C7E059A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09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50EFE24-54F8-4216-9AD5-1A75C4943EC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126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766C3B3-0D2C-455F-ACA1-331DE9F28929}" type="slidenum">
              <a:rPr lang="zh-CN" altLang="en-US" smtClean="0">
                <a:latin typeface="Arial" panose="020B0604020202020204" pitchFamily="34" charset="0"/>
              </a:rPr>
              <a:pPr/>
              <a:t>7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741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741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1687170-C846-41E9-BD66-5C97D7672F66}" type="slidenum">
              <a:rPr lang="zh-CN" altLang="en-US" smtClean="0">
                <a:latin typeface="Arial" panose="020B0604020202020204" pitchFamily="34" charset="0"/>
              </a:rPr>
              <a:pPr/>
              <a:t>8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457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458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EA6119C-4F5B-4C5A-972B-F72438A09A65}" type="slidenum">
              <a:rPr lang="zh-CN" altLang="en-US" smtClean="0">
                <a:latin typeface="Arial" panose="020B0604020202020204" pitchFamily="34" charset="0"/>
              </a:rPr>
              <a:pPr/>
              <a:t>9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96450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662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662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9D33975-70EB-434D-B894-98FBC96DB575}" type="slidenum">
              <a:rPr lang="zh-CN" altLang="en-US" smtClean="0">
                <a:latin typeface="Arial" panose="020B0604020202020204" pitchFamily="34" charset="0"/>
              </a:rPr>
              <a:pPr/>
              <a:t>10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58578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1F67785-6B02-4A82-B727-3BF8AC10A602}" type="slidenum">
              <a:rPr lang="zh-CN" altLang="en-US" smtClean="0">
                <a:latin typeface="Arial" panose="020B0604020202020204" pitchFamily="34" charset="0"/>
              </a:rPr>
              <a:pPr/>
              <a:t>11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4411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50EFE24-54F8-4216-9AD5-1A75C4943EC4}" type="slidenum">
              <a:rPr lang="zh-CN" altLang="en-US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954434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50EFE24-54F8-4216-9AD5-1A75C4943EC4}" type="slidenum">
              <a:rPr lang="zh-CN" altLang="en-US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279941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892670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993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43B0E2E-6AEC-46B2-B5FA-BDB632BA368D}" type="slidenum">
              <a:rPr lang="zh-CN" altLang="en-US" smtClean="0">
                <a:latin typeface="Arial" panose="020B0604020202020204" pitchFamily="34" charset="0"/>
              </a:rPr>
              <a:pPr/>
              <a:t>19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标题幻灯片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EEC4110-0674-257C-1C16-B9DF709C7896}"/>
              </a:ext>
            </a:extLst>
          </p:cNvPr>
          <p:cNvSpPr/>
          <p:nvPr userDrawn="1"/>
        </p:nvSpPr>
        <p:spPr>
          <a:xfrm>
            <a:off x="0" y="6538324"/>
            <a:ext cx="12192000" cy="324646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EFE5488-1327-9634-2B4F-D2EC75B0B6F7}"/>
              </a:ext>
            </a:extLst>
          </p:cNvPr>
          <p:cNvSpPr/>
          <p:nvPr userDrawn="1"/>
        </p:nvSpPr>
        <p:spPr>
          <a:xfrm>
            <a:off x="-26035" y="-635"/>
            <a:ext cx="12217400" cy="688975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29336F8-01E4-49EF-9310-408407D944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4432" y="-20935"/>
            <a:ext cx="3131418" cy="690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053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>
            <a:extLst>
              <a:ext uri="{FF2B5EF4-FFF2-40B4-BE49-F238E27FC236}">
                <a16:creationId xmlns:a16="http://schemas.microsoft.com/office/drawing/2014/main" id="{E39AD132-9025-B649-2FF7-C791B47D0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95655"/>
            <a:ext cx="10544054" cy="688976"/>
          </a:xfrm>
          <a:prstGeom prst="rect">
            <a:avLst/>
          </a:prstGeom>
        </p:spPr>
        <p:txBody>
          <a:bodyPr anchor="ctr"/>
          <a:lstStyle>
            <a:lvl1pPr algn="l">
              <a:defRPr sz="3600" b="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48FA0D2-0551-6F69-A21B-0E0742C82111}"/>
              </a:ext>
            </a:extLst>
          </p:cNvPr>
          <p:cNvSpPr/>
          <p:nvPr userDrawn="1"/>
        </p:nvSpPr>
        <p:spPr>
          <a:xfrm>
            <a:off x="0" y="6538324"/>
            <a:ext cx="12192000" cy="324646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B2DB9FD-33AE-137C-506F-DF8415209A89}"/>
              </a:ext>
            </a:extLst>
          </p:cNvPr>
          <p:cNvSpPr/>
          <p:nvPr userDrawn="1"/>
        </p:nvSpPr>
        <p:spPr>
          <a:xfrm>
            <a:off x="-26035" y="-635"/>
            <a:ext cx="12217400" cy="688975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AFA3FBFE-CDD0-DEDD-A515-0F780B1E4329}"/>
              </a:ext>
            </a:extLst>
          </p:cNvPr>
          <p:cNvGrpSpPr/>
          <p:nvPr userDrawn="1"/>
        </p:nvGrpSpPr>
        <p:grpSpPr>
          <a:xfrm>
            <a:off x="0" y="980758"/>
            <a:ext cx="633730" cy="406400"/>
            <a:chOff x="56" y="2009"/>
            <a:chExt cx="998" cy="640"/>
          </a:xfrm>
        </p:grpSpPr>
        <p:sp>
          <p:nvSpPr>
            <p:cNvPr id="12" name="任意多边形: 形状 7">
              <a:extLst>
                <a:ext uri="{FF2B5EF4-FFF2-40B4-BE49-F238E27FC236}">
                  <a16:creationId xmlns:a16="http://schemas.microsoft.com/office/drawing/2014/main" id="{4A4D3142-22D6-E8B7-F2FA-F359659A88B3}"/>
                </a:ext>
              </a:extLst>
            </p:cNvPr>
            <p:cNvSpPr/>
            <p:nvPr/>
          </p:nvSpPr>
          <p:spPr>
            <a:xfrm>
              <a:off x="56" y="2009"/>
              <a:ext cx="999" cy="641"/>
            </a:xfrm>
            <a:custGeom>
              <a:avLst/>
              <a:gdLst>
                <a:gd name="connsiteX0" fmla="*/ 0 w 999"/>
                <a:gd name="connsiteY0" fmla="*/ 2 h 641"/>
                <a:gd name="connsiteX1" fmla="*/ 761 w 999"/>
                <a:gd name="connsiteY1" fmla="*/ 0 h 641"/>
                <a:gd name="connsiteX2" fmla="*/ 999 w 999"/>
                <a:gd name="connsiteY2" fmla="*/ 321 h 641"/>
                <a:gd name="connsiteX3" fmla="*/ 750 w 999"/>
                <a:gd name="connsiteY3" fmla="*/ 641 h 641"/>
                <a:gd name="connsiteX4" fmla="*/ 0 w 999"/>
                <a:gd name="connsiteY4" fmla="*/ 639 h 641"/>
                <a:gd name="connsiteX5" fmla="*/ 0 w 999"/>
                <a:gd name="connsiteY5" fmla="*/ 2 h 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9" h="641">
                  <a:moveTo>
                    <a:pt x="0" y="2"/>
                  </a:moveTo>
                  <a:lnTo>
                    <a:pt x="761" y="0"/>
                  </a:lnTo>
                  <a:cubicBezTo>
                    <a:pt x="864" y="0"/>
                    <a:pt x="999" y="145"/>
                    <a:pt x="999" y="321"/>
                  </a:cubicBezTo>
                  <a:cubicBezTo>
                    <a:pt x="999" y="496"/>
                    <a:pt x="853" y="641"/>
                    <a:pt x="750" y="641"/>
                  </a:cubicBezTo>
                  <a:lnTo>
                    <a:pt x="0" y="639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7123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0">
              <a:noAutofit/>
            </a:bodyPr>
            <a:lstStyle/>
            <a:p>
              <a:pPr algn="ctr"/>
              <a:endParaRPr lang="zh-CN" altLang="en-US" dirty="0">
                <a:latin typeface="喵呜黑体" panose="02000503000000000000" charset="-122"/>
                <a:ea typeface="喵呜黑体" panose="02000503000000000000" charset="-122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3A38D73E-7364-BC91-D18F-FC11D9C7013C}"/>
                </a:ext>
              </a:extLst>
            </p:cNvPr>
            <p:cNvSpPr/>
            <p:nvPr/>
          </p:nvSpPr>
          <p:spPr>
            <a:xfrm>
              <a:off x="488" y="2111"/>
              <a:ext cx="437" cy="43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 lang="zh-CN" altLang="en-US" dirty="0">
                <a:latin typeface="喵呜黑体" panose="02000503000000000000" charset="-122"/>
                <a:ea typeface="喵呜黑体" panose="02000503000000000000" charset="-122"/>
              </a:endParaRPr>
            </a:p>
          </p:txBody>
        </p:sp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76DBD43D-B56E-4507-9AEE-484DC2A77C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4432" y="-20935"/>
            <a:ext cx="3131418" cy="690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094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5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6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E57937-D044-40D3-B149-FE790039ADA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71882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1" y="304801"/>
            <a:ext cx="10369551" cy="8921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295400" y="1371600"/>
            <a:ext cx="5274733" cy="4953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773334" y="1371600"/>
            <a:ext cx="5274733" cy="4953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6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901C8D-F48E-4B3B-A82A-9DF190D291F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5939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8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9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30555A-678E-4120-AD32-FAA365076FD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88792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1" y="304801"/>
            <a:ext cx="10369551" cy="8921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4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5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7C86CC-E29A-4B7F-9161-8455BE71F50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22191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3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4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FA544E-9D50-4332-8923-0BA5321B5C8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00231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6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856BEB-C95B-4C0B-94DA-EDA643827E1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13834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6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2A88C7-09FF-4FD1-87DF-99F417C2D25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16043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1" y="304801"/>
            <a:ext cx="10369551" cy="8921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95400" y="1371600"/>
            <a:ext cx="10752667" cy="50101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5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6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DA0300-CF50-42F2-9EBF-81970CF2F99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02448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359901" y="304800"/>
            <a:ext cx="2688167" cy="60198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95401" y="304800"/>
            <a:ext cx="7861300" cy="60198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5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6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FAE246-102D-4E7D-8EA8-59F249E1F40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226257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1" y="304801"/>
            <a:ext cx="10369551" cy="8921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295400" y="1371600"/>
            <a:ext cx="5274733" cy="4953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773334" y="1371600"/>
            <a:ext cx="5274733" cy="4953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6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7B9FA4-E30C-4290-9AC0-61F4C6186E7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715133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0" y="6538324"/>
            <a:ext cx="12192000" cy="324646"/>
          </a:xfrm>
          <a:prstGeom prst="rect">
            <a:avLst/>
          </a:prstGeom>
          <a:solidFill>
            <a:srgbClr val="71235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538595"/>
            <a:ext cx="2743200" cy="31623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F013260-E2F6-48C8-BC23-506F661997E7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538595"/>
            <a:ext cx="4114800" cy="31623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538595"/>
            <a:ext cx="2743200" cy="31623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884160" y="57791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-26035" y="-635"/>
            <a:ext cx="12217400" cy="688975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988A0CF-08D8-447A-8BF3-EEA532954A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4432" y="-20935"/>
            <a:ext cx="3131418" cy="690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6020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76682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2193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0101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79433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03729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66940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23279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35448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44515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9208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4069" r:id="rId1"/>
    <p:sldLayoutId id="2147484047" r:id="rId2"/>
    <p:sldLayoutId id="2147484048" r:id="rId3"/>
    <p:sldLayoutId id="2147484049" r:id="rId4"/>
    <p:sldLayoutId id="2147484050" r:id="rId5"/>
    <p:sldLayoutId id="2147484051" r:id="rId6"/>
    <p:sldLayoutId id="2147484052" r:id="rId7"/>
    <p:sldLayoutId id="2147484053" r:id="rId8"/>
    <p:sldLayoutId id="2147484054" r:id="rId9"/>
    <p:sldLayoutId id="2147484055" r:id="rId10"/>
    <p:sldLayoutId id="2147484056" r:id="rId11"/>
    <p:sldLayoutId id="2147484057" r:id="rId12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Font typeface="Wingdings" panose="05000000000000000000" pitchFamily="2" charset="2"/>
        <a:buChar char="¢"/>
        <a:defRPr sz="28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013260-E2F6-48C8-BC23-506F661997E7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561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1" r:id="rId1"/>
    <p:sldLayoutId id="2147484072" r:id="rId2"/>
    <p:sldLayoutId id="2147484073" r:id="rId3"/>
    <p:sldLayoutId id="2147484074" r:id="rId4"/>
    <p:sldLayoutId id="2147484075" r:id="rId5"/>
    <p:sldLayoutId id="2147484076" r:id="rId6"/>
    <p:sldLayoutId id="2147484077" r:id="rId7"/>
    <p:sldLayoutId id="2147484078" r:id="rId8"/>
    <p:sldLayoutId id="2147484079" r:id="rId9"/>
    <p:sldLayoutId id="2147484080" r:id="rId10"/>
    <p:sldLayoutId id="214748408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notesSlide" Target="../notesSlides/notesSlide4.xml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oleObject" Target="../embeddings/oleObject7.bin"/><Relationship Id="rId5" Type="http://schemas.openxmlformats.org/officeDocument/2006/relationships/image" Target="../media/image10.emf"/><Relationship Id="rId10" Type="http://schemas.openxmlformats.org/officeDocument/2006/relationships/oleObject" Target="../embeddings/oleObject6.bin"/><Relationship Id="rId4" Type="http://schemas.openxmlformats.org/officeDocument/2006/relationships/oleObject" Target="../embeddings/oleObject1.bin"/><Relationship Id="rId9" Type="http://schemas.openxmlformats.org/officeDocument/2006/relationships/oleObject" Target="../embeddings/oleObject5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1.emf"/><Relationship Id="rId4" Type="http://schemas.openxmlformats.org/officeDocument/2006/relationships/oleObject" Target="../embeddings/oleObject8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12.jpe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2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37.png"/><Relationship Id="rId5" Type="http://schemas.openxmlformats.org/officeDocument/2006/relationships/image" Target="../media/image33.png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38.png"/><Relationship Id="rId5" Type="http://schemas.openxmlformats.org/officeDocument/2006/relationships/image" Target="../media/image34.png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"/>
            <a:lum/>
          </a:blip>
          <a:srcRect/>
          <a:stretch>
            <a:fillRect l="22000" t="5000" r="22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2330450"/>
            <a:ext cx="12192000" cy="1192530"/>
          </a:xfrm>
        </p:spPr>
        <p:txBody>
          <a:bodyPr>
            <a:normAutofit/>
          </a:bodyPr>
          <a:lstStyle/>
          <a:p>
            <a:pPr algn="ctr"/>
            <a:r>
              <a:rPr lang="zh-CN" altLang="en-US" b="1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操作系统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991497" y="3880332"/>
            <a:ext cx="8607212" cy="192370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宫晓利、蒲凌君、张久武、李浩然    </a:t>
            </a:r>
            <a:endParaRPr lang="en-US" altLang="zh-CN" sz="2400" b="1" dirty="0">
              <a:solidFill>
                <a:srgbClr val="7123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2400" b="1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gongxiaoli@nankai.edu.cn</a:t>
            </a:r>
            <a:r>
              <a:rPr lang="zh-CN" altLang="en-US" sz="2400" b="1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、pulingjun</a:t>
            </a:r>
            <a:r>
              <a:rPr lang="en-US" altLang="zh-CN" b="1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@nankai.edu.cn</a:t>
            </a:r>
            <a:r>
              <a:rPr lang="zh-CN" altLang="en-US" b="1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b="1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zhangjiuwu@nankai.edu.cn wanch_lhr@nankai.edu.cn</a:t>
            </a:r>
            <a:endParaRPr lang="zh-CN" altLang="en-US" sz="2400" b="1" dirty="0">
              <a:solidFill>
                <a:srgbClr val="7123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r>
              <a:rPr lang="zh-CN" altLang="en-US" sz="2400" b="1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b="1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南开大学 计算机学院  密码与网络空间安全学院</a:t>
            </a:r>
            <a:endParaRPr lang="en-US" altLang="zh-CN" b="1" dirty="0">
              <a:solidFill>
                <a:srgbClr val="7123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endParaRPr lang="zh-CN" altLang="en-US" sz="2400" b="1" dirty="0">
              <a:solidFill>
                <a:srgbClr val="7123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圆角矩形 6"/>
          <p:cNvSpPr/>
          <p:nvPr/>
        </p:nvSpPr>
        <p:spPr>
          <a:xfrm flipV="1">
            <a:off x="2133974" y="3701853"/>
            <a:ext cx="8322258" cy="45719"/>
          </a:xfrm>
          <a:prstGeom prst="round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98895" y="12338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189"/>
    </mc:Choice>
    <mc:Fallback xmlns="">
      <p:transition spd="slow" advTm="1518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"/>
            <a:lum/>
          </a:blip>
          <a:srcRect/>
          <a:stretch>
            <a:fillRect l="22000" t="5000" r="22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0" y="2492826"/>
            <a:ext cx="12192000" cy="1192212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zh-CN" altLang="en-US" sz="6000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章节</a:t>
            </a:r>
            <a:r>
              <a:rPr lang="en-US" altLang="zh-CN" sz="6000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6000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：内存管理</a:t>
            </a:r>
            <a:endParaRPr lang="en-US" altLang="zh-CN" sz="6000" dirty="0">
              <a:solidFill>
                <a:srgbClr val="7123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圆角矩形 6"/>
          <p:cNvSpPr/>
          <p:nvPr/>
        </p:nvSpPr>
        <p:spPr>
          <a:xfrm flipV="1">
            <a:off x="2133974" y="3701853"/>
            <a:ext cx="8322258" cy="45719"/>
          </a:xfrm>
          <a:prstGeom prst="round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98895" y="12338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189"/>
    </mc:Choice>
    <mc:Fallback xmlns="">
      <p:transition spd="slow" advTm="1518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 descr="内存1.jpg"/>
          <p:cNvPicPr>
            <a:picLocks noGrp="1" noChangeAspect="1"/>
          </p:cNvPicPr>
          <p:nvPr>
            <p:ph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03512" y="1916832"/>
            <a:ext cx="4260850" cy="2395538"/>
          </a:xfrm>
          <a:prstGeom prst="rect">
            <a:avLst/>
          </a:prstGeom>
        </p:spPr>
      </p:pic>
      <p:pic>
        <p:nvPicPr>
          <p:cNvPr id="5" name="图片 4" descr="内存2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357364"/>
            <a:ext cx="5224462" cy="3910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ADDEE3E4-5428-E72B-2C45-70ED4FC6806F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3" name="标题 6">
            <a:extLst>
              <a:ext uri="{FF2B5EF4-FFF2-40B4-BE49-F238E27FC236}">
                <a16:creationId xmlns:a16="http://schemas.microsoft.com/office/drawing/2014/main" id="{8F68F906-94FC-7DFD-3A4D-E242DBF20362}"/>
              </a:ext>
            </a:extLst>
          </p:cNvPr>
          <p:cNvSpPr>
            <a:spLocks noGrp="1"/>
          </p:cNvSpPr>
          <p:nvPr/>
        </p:nvSpPr>
        <p:spPr>
          <a:xfrm>
            <a:off x="731520" y="795655"/>
            <a:ext cx="9144000" cy="7778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什么是内存？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1B811B1B-CA41-86C2-1791-F1E382AFE536}"/>
              </a:ext>
            </a:extLst>
          </p:cNvPr>
          <p:cNvGrpSpPr/>
          <p:nvPr/>
        </p:nvGrpSpPr>
        <p:grpSpPr>
          <a:xfrm>
            <a:off x="0" y="980758"/>
            <a:ext cx="633730" cy="406400"/>
            <a:chOff x="56" y="2009"/>
            <a:chExt cx="998" cy="640"/>
          </a:xfrm>
        </p:grpSpPr>
        <p:sp>
          <p:nvSpPr>
            <p:cNvPr id="7" name="任意多边形: 形状 7">
              <a:extLst>
                <a:ext uri="{FF2B5EF4-FFF2-40B4-BE49-F238E27FC236}">
                  <a16:creationId xmlns:a16="http://schemas.microsoft.com/office/drawing/2014/main" id="{C22D4100-72F5-F83C-8DA4-E742EDA9D9EB}"/>
                </a:ext>
              </a:extLst>
            </p:cNvPr>
            <p:cNvSpPr/>
            <p:nvPr/>
          </p:nvSpPr>
          <p:spPr>
            <a:xfrm>
              <a:off x="56" y="2009"/>
              <a:ext cx="999" cy="641"/>
            </a:xfrm>
            <a:custGeom>
              <a:avLst/>
              <a:gdLst>
                <a:gd name="connsiteX0" fmla="*/ 0 w 999"/>
                <a:gd name="connsiteY0" fmla="*/ 2 h 641"/>
                <a:gd name="connsiteX1" fmla="*/ 761 w 999"/>
                <a:gd name="connsiteY1" fmla="*/ 0 h 641"/>
                <a:gd name="connsiteX2" fmla="*/ 999 w 999"/>
                <a:gd name="connsiteY2" fmla="*/ 321 h 641"/>
                <a:gd name="connsiteX3" fmla="*/ 750 w 999"/>
                <a:gd name="connsiteY3" fmla="*/ 641 h 641"/>
                <a:gd name="connsiteX4" fmla="*/ 0 w 999"/>
                <a:gd name="connsiteY4" fmla="*/ 639 h 641"/>
                <a:gd name="connsiteX5" fmla="*/ 0 w 999"/>
                <a:gd name="connsiteY5" fmla="*/ 2 h 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9" h="641">
                  <a:moveTo>
                    <a:pt x="0" y="2"/>
                  </a:moveTo>
                  <a:lnTo>
                    <a:pt x="761" y="0"/>
                  </a:lnTo>
                  <a:cubicBezTo>
                    <a:pt x="864" y="0"/>
                    <a:pt x="999" y="145"/>
                    <a:pt x="999" y="321"/>
                  </a:cubicBezTo>
                  <a:cubicBezTo>
                    <a:pt x="999" y="496"/>
                    <a:pt x="853" y="641"/>
                    <a:pt x="750" y="641"/>
                  </a:cubicBezTo>
                  <a:lnTo>
                    <a:pt x="0" y="639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7123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0">
              <a:noAutofit/>
            </a:bodyPr>
            <a:lstStyle/>
            <a:p>
              <a:pPr algn="ctr"/>
              <a:endParaRPr lang="zh-CN" altLang="en-US" dirty="0">
                <a:latin typeface="喵呜黑体" panose="02000503000000000000" charset="-122"/>
                <a:ea typeface="喵呜黑体" panose="02000503000000000000" charset="-122"/>
              </a:endParaRP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68900FCC-74FC-5982-C6F8-0ADA6B2F978C}"/>
                </a:ext>
              </a:extLst>
            </p:cNvPr>
            <p:cNvSpPr/>
            <p:nvPr/>
          </p:nvSpPr>
          <p:spPr>
            <a:xfrm>
              <a:off x="488" y="2111"/>
              <a:ext cx="437" cy="43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 lang="zh-CN" altLang="en-US" dirty="0">
                <a:latin typeface="喵呜黑体" panose="02000503000000000000" charset="-122"/>
                <a:ea typeface="喵呜黑体" panose="02000503000000000000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27966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3" name="内容占位符 8"/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84526" y="1606933"/>
            <a:ext cx="8059737" cy="4308475"/>
          </a:xfrm>
          <a:prstGeom prst="rect">
            <a:avLst/>
          </a:prstGeom>
        </p:spPr>
      </p:pic>
      <p:sp>
        <p:nvSpPr>
          <p:cNvPr id="12291" name="文本框 4"/>
          <p:cNvSpPr txBox="1">
            <a:spLocks noChangeArrowheads="1"/>
          </p:cNvSpPr>
          <p:nvPr/>
        </p:nvSpPr>
        <p:spPr bwMode="auto">
          <a:xfrm>
            <a:off x="4591050" y="6057362"/>
            <a:ext cx="3009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dirty="0"/>
              <a:t>冯诺伊曼体系结构</a:t>
            </a:r>
          </a:p>
        </p:txBody>
      </p:sp>
      <p:sp>
        <p:nvSpPr>
          <p:cNvPr id="12292" name="文本框 5"/>
          <p:cNvSpPr txBox="1">
            <a:spLocks noChangeArrowheads="1"/>
          </p:cNvSpPr>
          <p:nvPr/>
        </p:nvSpPr>
        <p:spPr bwMode="auto">
          <a:xfrm>
            <a:off x="10293350" y="6464300"/>
            <a:ext cx="33214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olidFill>
                  <a:schemeClr val="bg1"/>
                </a:solidFill>
              </a:rPr>
              <a:t>1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CBB00FD-6B80-78CF-B7A4-9CEEF4A5D4B2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8" name="标题 6">
            <a:extLst>
              <a:ext uri="{FF2B5EF4-FFF2-40B4-BE49-F238E27FC236}">
                <a16:creationId xmlns:a16="http://schemas.microsoft.com/office/drawing/2014/main" id="{E6C4AC1E-8205-74D4-E831-5D0E123091A3}"/>
              </a:ext>
            </a:extLst>
          </p:cNvPr>
          <p:cNvSpPr>
            <a:spLocks noGrp="1"/>
          </p:cNvSpPr>
          <p:nvPr/>
        </p:nvSpPr>
        <p:spPr>
          <a:xfrm>
            <a:off x="731520" y="795655"/>
            <a:ext cx="9144000" cy="7778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什么是内存？</a:t>
            </a:r>
          </a:p>
        </p:txBody>
      </p:sp>
    </p:spTree>
    <p:extLst>
      <p:ext uri="{BB962C8B-B14F-4D97-AF65-F5344CB8AC3E}">
        <p14:creationId xmlns:p14="http://schemas.microsoft.com/office/powerpoint/2010/main" val="3905335576"/>
      </p:ext>
    </p:extLst>
  </p:cSld>
  <p:clrMapOvr>
    <a:masterClrMapping/>
  </p:clrMapOvr>
  <p:transition spd="slow" advTm="339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F5E08B-38C0-49C8-9280-2F8637A2021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27478" y="1574801"/>
            <a:ext cx="10752137" cy="4302472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内存太多，用不完又不想浪费？</a:t>
            </a:r>
            <a:endParaRPr lang="en-US" altLang="zh-CN" dirty="0"/>
          </a:p>
          <a:p>
            <a:r>
              <a:rPr lang="zh-CN" altLang="en-US" dirty="0"/>
              <a:t>内存太少，闪转腾挪以支撑更多的任务？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5CB3735-E7D3-F53E-F07B-ABB1C2F09698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DB907273-4828-CA85-6CF1-3E162ADDA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为什么要做内存管理</a:t>
            </a:r>
          </a:p>
        </p:txBody>
      </p:sp>
    </p:spTree>
    <p:extLst>
      <p:ext uri="{BB962C8B-B14F-4D97-AF65-F5344CB8AC3E}">
        <p14:creationId xmlns:p14="http://schemas.microsoft.com/office/powerpoint/2010/main" val="3436038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34517" y="1570372"/>
            <a:ext cx="8101012" cy="4678362"/>
          </a:xfrm>
          <a:prstGeom prst="rect">
            <a:avLst/>
          </a:prstGeo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kumimoji="1"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程序员期望的存储器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存储量－－－大</a:t>
            </a:r>
          </a:p>
          <a:p>
            <a:pPr lvl="1" eaLnBrk="1" hangingPunct="1">
              <a:lnSpc>
                <a:spcPct val="90000"/>
              </a:lnSpc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访问速度－－－快</a:t>
            </a:r>
          </a:p>
          <a:p>
            <a:pPr lvl="1" eaLnBrk="1" hangingPunct="1">
              <a:lnSpc>
                <a:spcPct val="90000"/>
              </a:lnSpc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存储内容－－－不易失</a:t>
            </a:r>
          </a:p>
          <a:p>
            <a:pPr lvl="1" eaLnBrk="1" hangingPunct="1">
              <a:lnSpc>
                <a:spcPct val="90000"/>
              </a:lnSpc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统一的访问方式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系统存储结构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少量快速、昂贵存储器－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cache 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一些中级速度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价格适中的主存器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大量低速的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便宜的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仅供批量访问的磁盘存储器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A60F4B0-F358-07C2-3097-9E963BD058D5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3" name="标题 8">
            <a:extLst>
              <a:ext uri="{FF2B5EF4-FFF2-40B4-BE49-F238E27FC236}">
                <a16:creationId xmlns:a16="http://schemas.microsoft.com/office/drawing/2014/main" id="{BEE9A0B1-2F52-DD88-E14B-97C1281F486B}"/>
              </a:ext>
            </a:extLst>
          </p:cNvPr>
          <p:cNvSpPr txBox="1">
            <a:spLocks/>
          </p:cNvSpPr>
          <p:nvPr/>
        </p:nvSpPr>
        <p:spPr>
          <a:xfrm>
            <a:off x="731520" y="795655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zh-CN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Introduction to Memory Management</a:t>
            </a:r>
            <a:endParaRPr lang="zh-CN" altLang="en-US" b="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6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1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1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61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61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61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8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6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626" y="1643063"/>
            <a:ext cx="860742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6" name="Text Box 8"/>
          <p:cNvSpPr txBox="1">
            <a:spLocks noChangeArrowheads="1"/>
          </p:cNvSpPr>
          <p:nvPr/>
        </p:nvSpPr>
        <p:spPr bwMode="auto">
          <a:xfrm>
            <a:off x="731520" y="5516564"/>
            <a:ext cx="9684960" cy="8679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ClrTx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如何利用高速存储提高整个存储的访问速度？</a:t>
            </a:r>
          </a:p>
          <a:p>
            <a:pPr>
              <a:lnSpc>
                <a:spcPct val="80000"/>
              </a:lnSpc>
              <a:spcBef>
                <a:spcPct val="50000"/>
              </a:spcBef>
              <a:buClrTx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如何利用有限的高速存储提供极至的使用体验？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0E76F6C-E146-1663-F53B-47702F8444A6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3" name="标题 8">
            <a:extLst>
              <a:ext uri="{FF2B5EF4-FFF2-40B4-BE49-F238E27FC236}">
                <a16:creationId xmlns:a16="http://schemas.microsoft.com/office/drawing/2014/main" id="{1089F139-EFC1-95D9-4832-FD7CEE01CE3B}"/>
              </a:ext>
            </a:extLst>
          </p:cNvPr>
          <p:cNvSpPr txBox="1">
            <a:spLocks/>
          </p:cNvSpPr>
          <p:nvPr/>
        </p:nvSpPr>
        <p:spPr>
          <a:xfrm>
            <a:off x="731520" y="795655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zh-CN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Memory hierarchy-</a:t>
            </a:r>
            <a:r>
              <a:rPr lang="zh-CN" altLang="en-US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为什么要管理内存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7788276" y="3789364"/>
            <a:ext cx="13382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内存的地址</a:t>
            </a:r>
          </a:p>
        </p:txBody>
      </p:sp>
      <p:sp>
        <p:nvSpPr>
          <p:cNvPr id="16389" name="Text Box 17"/>
          <p:cNvSpPr txBox="1">
            <a:spLocks noChangeArrowheads="1"/>
          </p:cNvSpPr>
          <p:nvPr/>
        </p:nvSpPr>
        <p:spPr bwMode="auto">
          <a:xfrm>
            <a:off x="2782888" y="3444875"/>
            <a:ext cx="863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总线</a:t>
            </a:r>
          </a:p>
        </p:txBody>
      </p:sp>
      <p:sp>
        <p:nvSpPr>
          <p:cNvPr id="16390" name="矩形 5"/>
          <p:cNvSpPr>
            <a:spLocks noChangeArrowheads="1"/>
          </p:cNvSpPr>
          <p:nvPr/>
        </p:nvSpPr>
        <p:spPr bwMode="auto">
          <a:xfrm>
            <a:off x="2805113" y="4592639"/>
            <a:ext cx="5445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400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</a:t>
            </a:r>
          </a:p>
        </p:txBody>
      </p:sp>
      <p:cxnSp>
        <p:nvCxnSpPr>
          <p:cNvPr id="7" name="直接箭头连接符 6"/>
          <p:cNvCxnSpPr/>
          <p:nvPr/>
        </p:nvCxnSpPr>
        <p:spPr>
          <a:xfrm>
            <a:off x="3317875" y="3627438"/>
            <a:ext cx="4470400" cy="0"/>
          </a:xfrm>
          <a:prstGeom prst="straightConnector1">
            <a:avLst/>
          </a:prstGeom>
          <a:ln w="101600">
            <a:solidFill>
              <a:srgbClr val="FFC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V="1">
            <a:off x="4013200" y="3030538"/>
            <a:ext cx="0" cy="544512"/>
          </a:xfrm>
          <a:prstGeom prst="straightConnector1">
            <a:avLst/>
          </a:prstGeom>
          <a:ln w="76200">
            <a:solidFill>
              <a:srgbClr val="FFC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V="1">
            <a:off x="4419600" y="3694114"/>
            <a:ext cx="0" cy="871537"/>
          </a:xfrm>
          <a:prstGeom prst="straightConnector1">
            <a:avLst/>
          </a:prstGeom>
          <a:ln w="76200">
            <a:solidFill>
              <a:srgbClr val="FFC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V="1">
            <a:off x="5675313" y="3038476"/>
            <a:ext cx="0" cy="542925"/>
          </a:xfrm>
          <a:prstGeom prst="straightConnector1">
            <a:avLst/>
          </a:prstGeom>
          <a:ln w="76200">
            <a:solidFill>
              <a:srgbClr val="FFC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395" name="图片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5800" y="1887539"/>
            <a:ext cx="1563688" cy="115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6" name="矩形 12"/>
          <p:cNvSpPr>
            <a:spLocks noChangeArrowheads="1"/>
          </p:cNvSpPr>
          <p:nvPr/>
        </p:nvSpPr>
        <p:spPr bwMode="auto">
          <a:xfrm>
            <a:off x="3290889" y="1976438"/>
            <a:ext cx="528637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3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ALU</a:t>
            </a:r>
            <a:endParaRPr lang="zh-CN" altLang="en-US" sz="13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397" name="矩形 13"/>
          <p:cNvSpPr>
            <a:spLocks noChangeArrowheads="1"/>
          </p:cNvSpPr>
          <p:nvPr/>
        </p:nvSpPr>
        <p:spPr bwMode="auto">
          <a:xfrm>
            <a:off x="3370263" y="2368550"/>
            <a:ext cx="685800" cy="29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3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</a:t>
            </a:r>
          </a:p>
        </p:txBody>
      </p:sp>
      <p:sp>
        <p:nvSpPr>
          <p:cNvPr id="16398" name="矩形 14"/>
          <p:cNvSpPr>
            <a:spLocks noChangeArrowheads="1"/>
          </p:cNvSpPr>
          <p:nvPr/>
        </p:nvSpPr>
        <p:spPr bwMode="auto">
          <a:xfrm>
            <a:off x="3621088" y="2720975"/>
            <a:ext cx="850900" cy="29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3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高速缓存</a:t>
            </a:r>
          </a:p>
        </p:txBody>
      </p:sp>
      <p:sp>
        <p:nvSpPr>
          <p:cNvPr id="16399" name="矩形 16"/>
          <p:cNvSpPr>
            <a:spLocks noChangeArrowheads="1"/>
          </p:cNvSpPr>
          <p:nvPr/>
        </p:nvSpPr>
        <p:spPr bwMode="auto">
          <a:xfrm>
            <a:off x="4164013" y="2103439"/>
            <a:ext cx="608012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1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控制器</a:t>
            </a:r>
          </a:p>
        </p:txBody>
      </p:sp>
      <p:grpSp>
        <p:nvGrpSpPr>
          <p:cNvPr id="16400" name="组合 18"/>
          <p:cNvGrpSpPr>
            <a:grpSpLocks/>
          </p:cNvGrpSpPr>
          <p:nvPr/>
        </p:nvGrpSpPr>
        <p:grpSpPr bwMode="auto">
          <a:xfrm>
            <a:off x="5227638" y="2584451"/>
            <a:ext cx="893762" cy="485775"/>
            <a:chOff x="7497779" y="2557344"/>
            <a:chExt cx="892996" cy="485244"/>
          </a:xfrm>
        </p:grpSpPr>
        <p:pic>
          <p:nvPicPr>
            <p:cNvPr id="16409" name="图片 19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97779" y="2557344"/>
              <a:ext cx="892996" cy="485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10" name="矩形 20"/>
            <p:cNvSpPr>
              <a:spLocks noChangeArrowheads="1"/>
            </p:cNvSpPr>
            <p:nvPr/>
          </p:nvSpPr>
          <p:spPr bwMode="auto">
            <a:xfrm>
              <a:off x="7764236" y="2623561"/>
              <a:ext cx="47801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1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mic Sans MS" panose="030F0702030302020204" pitchFamily="66" charset="0"/>
                </a:rPr>
                <a:t>I/O</a:t>
              </a:r>
              <a:endParaRPr lang="zh-CN" altLang="en-US" sz="1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6401" name="矩形 28"/>
          <p:cNvSpPr>
            <a:spLocks noChangeArrowheads="1"/>
          </p:cNvSpPr>
          <p:nvPr/>
        </p:nvSpPr>
        <p:spPr bwMode="auto">
          <a:xfrm>
            <a:off x="4840288" y="1844676"/>
            <a:ext cx="5635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400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omic Sans MS" panose="030F0702030302020204" pitchFamily="66" charset="0"/>
              </a:rPr>
              <a:t>CPU</a:t>
            </a:r>
            <a:endParaRPr lang="zh-CN" altLang="en-US" sz="1400" b="1">
              <a:solidFill>
                <a:srgbClr val="1157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402" name="图片 3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1463" y="4702176"/>
            <a:ext cx="20383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" name="矩形 39"/>
          <p:cNvSpPr>
            <a:spLocks noChangeArrowheads="1"/>
          </p:cNvSpPr>
          <p:nvPr/>
        </p:nvSpPr>
        <p:spPr bwMode="auto">
          <a:xfrm>
            <a:off x="3248025" y="5087939"/>
            <a:ext cx="9525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400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起始地址（</a:t>
            </a:r>
            <a:r>
              <a:rPr lang="en-US" altLang="zh-CN" sz="1400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0x00</a:t>
            </a:r>
            <a:r>
              <a:rPr lang="zh-CN" altLang="en-US" sz="1400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42" name="矩形 41"/>
          <p:cNvSpPr>
            <a:spLocks noChangeArrowheads="1"/>
          </p:cNvSpPr>
          <p:nvPr/>
        </p:nvSpPr>
        <p:spPr bwMode="auto">
          <a:xfrm>
            <a:off x="6061076" y="4479926"/>
            <a:ext cx="10191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400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omic Sans MS" panose="030F0702030302020204" pitchFamily="66" charset="0"/>
              </a:rPr>
              <a:t>结束</a:t>
            </a:r>
            <a:r>
              <a:rPr lang="zh-CN" altLang="en-US" sz="1600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omic Sans MS" panose="030F0702030302020204" pitchFamily="66" charset="0"/>
              </a:rPr>
              <a:t>地址</a:t>
            </a:r>
            <a:endParaRPr lang="zh-CN" altLang="en-US" sz="2000">
              <a:solidFill>
                <a:srgbClr val="1157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Rectangle 1"/>
          <p:cNvSpPr>
            <a:spLocks noChangeArrowheads="1"/>
          </p:cNvSpPr>
          <p:nvPr/>
        </p:nvSpPr>
        <p:spPr bwMode="auto">
          <a:xfrm>
            <a:off x="7762876" y="4152900"/>
            <a:ext cx="197326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mov %AH $0x5</a:t>
            </a:r>
          </a:p>
          <a:p>
            <a:pPr eaLnBrk="1" hangingPunct="1"/>
            <a:r>
              <a:rPr lang="en-US" altLang="zh-CN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mov %BH $0x7</a:t>
            </a:r>
          </a:p>
          <a:p>
            <a:pPr eaLnBrk="1" hangingPunct="1"/>
            <a:r>
              <a:rPr lang="en-US" altLang="zh-CN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add  %AH %BH</a:t>
            </a:r>
          </a:p>
          <a:p>
            <a:pPr eaLnBrk="1" hangingPunct="1"/>
            <a:r>
              <a:rPr lang="en-US" altLang="zh-CN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mov $0x9 %AH</a:t>
            </a:r>
            <a:endParaRPr lang="zh-CN" altLang="en-US" b="1">
              <a:solidFill>
                <a:srgbClr val="11576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4945063" y="5010150"/>
            <a:ext cx="150812" cy="13335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5" name="矩形 44"/>
          <p:cNvSpPr/>
          <p:nvPr/>
        </p:nvSpPr>
        <p:spPr>
          <a:xfrm>
            <a:off x="5275263" y="5014913"/>
            <a:ext cx="152400" cy="13176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5618163" y="5016500"/>
            <a:ext cx="150812" cy="12858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1D49E3F-9E61-C0FE-1586-5BCE29C0565F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15" name="标题 14">
            <a:extLst>
              <a:ext uri="{FF2B5EF4-FFF2-40B4-BE49-F238E27FC236}">
                <a16:creationId xmlns:a16="http://schemas.microsoft.com/office/drawing/2014/main" id="{54C3CDF7-C02C-74A8-A226-EB07D35DA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地址的形成</a:t>
            </a:r>
          </a:p>
        </p:txBody>
      </p:sp>
    </p:spTree>
    <p:custDataLst>
      <p:tags r:id="rId1"/>
    </p:custDataLst>
  </p:cSld>
  <p:clrMapOvr>
    <a:masterClrMapping/>
  </p:clrMapOvr>
  <p:transition spd="slow" advTm="138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0" grpId="0"/>
      <p:bldP spid="42" grpId="0"/>
      <p:bldP spid="43" grpId="0"/>
      <p:bldP spid="44" grpId="0" animBg="1"/>
      <p:bldP spid="45" grpId="0" animBg="1"/>
      <p:bldP spid="4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内容占位符 2"/>
          <p:cNvSpPr>
            <a:spLocks noGrp="1"/>
          </p:cNvSpPr>
          <p:nvPr>
            <p:ph idx="4294967295"/>
          </p:nvPr>
        </p:nvSpPr>
        <p:spPr>
          <a:xfrm>
            <a:off x="731520" y="1618459"/>
            <a:ext cx="9293544" cy="20574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Description</a:t>
            </a:r>
          </a:p>
          <a:p>
            <a:pPr lvl="1">
              <a:lnSpc>
                <a:spcPct val="80000"/>
              </a:lnSpc>
            </a:pPr>
            <a:r>
              <a:rPr lang="zh-CN" altLang="en-US" sz="2000" dirty="0">
                <a:ea typeface="宋体" panose="02010600030101010101" pitchFamily="2" charset="-122"/>
              </a:rPr>
              <a:t>操作系统一次完整的加载一个程序，并为其提供服务，直到其退出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Analysis of this model</a:t>
            </a:r>
            <a:endParaRPr lang="en-US" altLang="zh-CN" sz="24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</a:pPr>
            <a:r>
              <a:rPr lang="zh-CN" altLang="en-US" sz="2000" dirty="0">
                <a:ea typeface="宋体" panose="02010600030101010101" pitchFamily="2" charset="-122"/>
              </a:rPr>
              <a:t>操作系统与应用程序使用同一个地址空间，</a:t>
            </a:r>
            <a:r>
              <a:rPr lang="en-US" altLang="zh-CN" sz="2000" dirty="0">
                <a:ea typeface="宋体" panose="02010600030101010101" pitchFamily="2" charset="-122"/>
              </a:rPr>
              <a:t>Simple, but naive</a:t>
            </a:r>
          </a:p>
          <a:p>
            <a:pPr lvl="1">
              <a:lnSpc>
                <a:spcPct val="8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Efficiency and reasonability: low performance</a:t>
            </a:r>
          </a:p>
          <a:p>
            <a:pPr lvl="1">
              <a:lnSpc>
                <a:spcPct val="8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Recycling: embedded systems</a:t>
            </a: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2752726" y="3676033"/>
            <a:ext cx="1368425" cy="1540493"/>
            <a:chOff x="567" y="2024"/>
            <a:chExt cx="862" cy="1089"/>
          </a:xfrm>
        </p:grpSpPr>
        <p:sp>
          <p:nvSpPr>
            <p:cNvPr id="23571" name="Rectangle 5"/>
            <p:cNvSpPr>
              <a:spLocks noChangeArrowheads="1"/>
            </p:cNvSpPr>
            <p:nvPr/>
          </p:nvSpPr>
          <p:spPr bwMode="auto">
            <a:xfrm>
              <a:off x="567" y="2024"/>
              <a:ext cx="862" cy="81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 b="1">
                  <a:solidFill>
                    <a:srgbClr val="FF0000"/>
                  </a:solidFill>
                </a:rPr>
                <a:t>User </a:t>
              </a:r>
            </a:p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 b="1">
                  <a:solidFill>
                    <a:srgbClr val="FF0000"/>
                  </a:solidFill>
                </a:rPr>
                <a:t>Program</a:t>
              </a:r>
              <a:endParaRPr lang="zh-CN" altLang="en-US" sz="1800" b="1">
                <a:solidFill>
                  <a:srgbClr val="FF0000"/>
                </a:solidFill>
              </a:endParaRPr>
            </a:p>
          </p:txBody>
        </p:sp>
        <p:sp>
          <p:nvSpPr>
            <p:cNvPr id="23572" name="Rectangle 6"/>
            <p:cNvSpPr>
              <a:spLocks noChangeArrowheads="1"/>
            </p:cNvSpPr>
            <p:nvPr/>
          </p:nvSpPr>
          <p:spPr bwMode="auto">
            <a:xfrm>
              <a:off x="567" y="2840"/>
              <a:ext cx="862" cy="273"/>
            </a:xfrm>
            <a:prstGeom prst="rect">
              <a:avLst/>
            </a:prstGeom>
            <a:solidFill>
              <a:srgbClr val="FF66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chemeClr val="bg1"/>
                  </a:solidFill>
                </a:rPr>
                <a:t>OS in RAM</a:t>
              </a:r>
            </a:p>
          </p:txBody>
        </p:sp>
      </p:grp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5487989" y="3675858"/>
            <a:ext cx="1368425" cy="1539079"/>
            <a:chOff x="2290" y="2024"/>
            <a:chExt cx="862" cy="1088"/>
          </a:xfrm>
        </p:grpSpPr>
        <p:sp>
          <p:nvSpPr>
            <p:cNvPr id="23569" name="Rectangle 7"/>
            <p:cNvSpPr>
              <a:spLocks noChangeArrowheads="1"/>
            </p:cNvSpPr>
            <p:nvPr/>
          </p:nvSpPr>
          <p:spPr bwMode="auto">
            <a:xfrm>
              <a:off x="2290" y="2296"/>
              <a:ext cx="862" cy="81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 b="1">
                  <a:solidFill>
                    <a:srgbClr val="FF0000"/>
                  </a:solidFill>
                </a:rPr>
                <a:t>User </a:t>
              </a:r>
            </a:p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 b="1">
                  <a:solidFill>
                    <a:srgbClr val="FF0000"/>
                  </a:solidFill>
                </a:rPr>
                <a:t>Program</a:t>
              </a:r>
              <a:endParaRPr lang="zh-CN" altLang="en-US" sz="1800" b="1">
                <a:solidFill>
                  <a:srgbClr val="FF0000"/>
                </a:solidFill>
              </a:endParaRPr>
            </a:p>
          </p:txBody>
        </p:sp>
        <p:sp>
          <p:nvSpPr>
            <p:cNvPr id="23570" name="Rectangle 8"/>
            <p:cNvSpPr>
              <a:spLocks noChangeArrowheads="1"/>
            </p:cNvSpPr>
            <p:nvPr/>
          </p:nvSpPr>
          <p:spPr bwMode="auto">
            <a:xfrm>
              <a:off x="2290" y="2024"/>
              <a:ext cx="862" cy="27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chemeClr val="tx1"/>
                  </a:solidFill>
                </a:rPr>
                <a:t>OS in ROM</a:t>
              </a:r>
            </a:p>
          </p:txBody>
        </p:sp>
      </p:grpSp>
      <p:grpSp>
        <p:nvGrpSpPr>
          <p:cNvPr id="7" name="Group 14"/>
          <p:cNvGrpSpPr>
            <a:grpSpLocks/>
          </p:cNvGrpSpPr>
          <p:nvPr/>
        </p:nvGrpSpPr>
        <p:grpSpPr bwMode="auto">
          <a:xfrm>
            <a:off x="8585201" y="3612376"/>
            <a:ext cx="1368425" cy="1604150"/>
            <a:chOff x="4241" y="1979"/>
            <a:chExt cx="862" cy="1134"/>
          </a:xfrm>
        </p:grpSpPr>
        <p:sp>
          <p:nvSpPr>
            <p:cNvPr id="23566" name="Rectangle 9"/>
            <p:cNvSpPr>
              <a:spLocks noChangeArrowheads="1"/>
            </p:cNvSpPr>
            <p:nvPr/>
          </p:nvSpPr>
          <p:spPr bwMode="auto">
            <a:xfrm>
              <a:off x="4241" y="2251"/>
              <a:ext cx="862" cy="58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 b="1">
                  <a:solidFill>
                    <a:srgbClr val="FF0000"/>
                  </a:solidFill>
                </a:rPr>
                <a:t>User </a:t>
              </a:r>
            </a:p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 b="1">
                  <a:solidFill>
                    <a:srgbClr val="FF0000"/>
                  </a:solidFill>
                </a:rPr>
                <a:t>Program</a:t>
              </a:r>
              <a:endParaRPr lang="zh-CN" altLang="en-US" sz="1800" b="1">
                <a:solidFill>
                  <a:srgbClr val="FF0000"/>
                </a:solidFill>
              </a:endParaRPr>
            </a:p>
          </p:txBody>
        </p:sp>
        <p:sp>
          <p:nvSpPr>
            <p:cNvPr id="23567" name="Rectangle 10"/>
            <p:cNvSpPr>
              <a:spLocks noChangeArrowheads="1"/>
            </p:cNvSpPr>
            <p:nvPr/>
          </p:nvSpPr>
          <p:spPr bwMode="auto">
            <a:xfrm>
              <a:off x="4241" y="2840"/>
              <a:ext cx="862" cy="273"/>
            </a:xfrm>
            <a:prstGeom prst="rect">
              <a:avLst/>
            </a:prstGeom>
            <a:solidFill>
              <a:srgbClr val="FF66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chemeClr val="bg1"/>
                  </a:solidFill>
                </a:rPr>
                <a:t>OS in RAM</a:t>
              </a:r>
            </a:p>
          </p:txBody>
        </p:sp>
        <p:sp>
          <p:nvSpPr>
            <p:cNvPr id="23568" name="Rectangle 11"/>
            <p:cNvSpPr>
              <a:spLocks noChangeArrowheads="1"/>
            </p:cNvSpPr>
            <p:nvPr/>
          </p:nvSpPr>
          <p:spPr bwMode="auto">
            <a:xfrm>
              <a:off x="4241" y="1979"/>
              <a:ext cx="862" cy="27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chemeClr val="tx1"/>
                  </a:solidFill>
                </a:rPr>
                <a:t>DEV in ROM</a:t>
              </a:r>
            </a:p>
          </p:txBody>
        </p:sp>
      </p:grpSp>
      <p:sp>
        <p:nvSpPr>
          <p:cNvPr id="30" name="Text Box 15"/>
          <p:cNvSpPr txBox="1">
            <a:spLocks noChangeArrowheads="1"/>
          </p:cNvSpPr>
          <p:nvPr/>
        </p:nvSpPr>
        <p:spPr bwMode="auto">
          <a:xfrm>
            <a:off x="2667001" y="5287964"/>
            <a:ext cx="1401763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1600" b="1" dirty="0">
                <a:solidFill>
                  <a:schemeClr val="accent5">
                    <a:lumMod val="50000"/>
                  </a:schemeClr>
                </a:solidFill>
              </a:rPr>
              <a:t>Mainframe</a:t>
            </a:r>
            <a:endParaRPr lang="zh-CN" altLang="en-US" sz="16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1" name="Text Box 16"/>
          <p:cNvSpPr txBox="1">
            <a:spLocks noChangeArrowheads="1"/>
          </p:cNvSpPr>
          <p:nvPr/>
        </p:nvSpPr>
        <p:spPr bwMode="auto">
          <a:xfrm>
            <a:off x="4954759" y="5249485"/>
            <a:ext cx="2586012" cy="486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1600" b="1" dirty="0">
                <a:solidFill>
                  <a:schemeClr val="accent5">
                    <a:lumMod val="50000"/>
                  </a:schemeClr>
                </a:solidFill>
              </a:rPr>
              <a:t>Palm OS and Embedded systems</a:t>
            </a:r>
            <a:endParaRPr lang="zh-CN" altLang="en-US" sz="16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2" name="Text Box 17"/>
          <p:cNvSpPr txBox="1">
            <a:spLocks noChangeArrowheads="1"/>
          </p:cNvSpPr>
          <p:nvPr/>
        </p:nvSpPr>
        <p:spPr bwMode="auto">
          <a:xfrm>
            <a:off x="8585201" y="5249485"/>
            <a:ext cx="1439863" cy="53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1600" b="1" dirty="0">
                <a:solidFill>
                  <a:schemeClr val="accent5">
                    <a:lumMod val="50000"/>
                  </a:schemeClr>
                </a:solidFill>
              </a:rPr>
              <a:t>Earlier PC</a:t>
            </a:r>
          </a:p>
          <a:p>
            <a:pPr algn="ctr">
              <a:lnSpc>
                <a:spcPct val="8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1600" b="1" dirty="0">
                <a:solidFill>
                  <a:schemeClr val="accent5">
                    <a:lumMod val="50000"/>
                  </a:schemeClr>
                </a:solidFill>
              </a:rPr>
              <a:t>(MS-DOS)</a:t>
            </a:r>
          </a:p>
        </p:txBody>
      </p:sp>
      <p:sp>
        <p:nvSpPr>
          <p:cNvPr id="12309" name="Text Box 21"/>
          <p:cNvSpPr txBox="1">
            <a:spLocks noChangeArrowheads="1"/>
          </p:cNvSpPr>
          <p:nvPr/>
        </p:nvSpPr>
        <p:spPr bwMode="auto">
          <a:xfrm>
            <a:off x="731520" y="5788373"/>
            <a:ext cx="8388350" cy="585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marL="285750" indent="-285750">
              <a:lnSpc>
                <a:spcPct val="80000"/>
              </a:lnSpc>
              <a:buClrTx/>
              <a:buFont typeface="Wingdings" panose="05000000000000000000" pitchFamily="2" charset="2"/>
              <a:buChar char="p"/>
            </a:pPr>
            <a:r>
              <a:rPr kumimoji="1"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优点：易于管理</a:t>
            </a:r>
            <a:r>
              <a:rPr kumimoji="1"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kumimoji="1"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软硬件支持需要少。</a:t>
            </a:r>
          </a:p>
          <a:p>
            <a:pPr marL="285750" indent="-285750">
              <a:lnSpc>
                <a:spcPct val="80000"/>
              </a:lnSpc>
              <a:buClrTx/>
              <a:buFont typeface="Wingdings" panose="05000000000000000000" pitchFamily="2" charset="2"/>
              <a:buChar char="p"/>
            </a:pPr>
            <a:r>
              <a:rPr kumimoji="1"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缺点：内存浪费大；不必要的内存占用</a:t>
            </a:r>
            <a:r>
              <a:rPr kumimoji="1"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r>
              <a:rPr kumimoji="1"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程序及数据共享性差</a:t>
            </a:r>
            <a:r>
              <a:rPr kumimoji="1"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r>
              <a:rPr kumimoji="1"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系统安全性差。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5B0CE91-9D90-EE68-8E9C-6B8FD67B9339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28837EC3-C0DF-C23A-6AE0-CE9082A67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95655"/>
            <a:ext cx="10544054" cy="688976"/>
          </a:xfrm>
        </p:spPr>
        <p:txBody>
          <a:bodyPr/>
          <a:lstStyle/>
          <a:p>
            <a:r>
              <a:rPr lang="zh-CN" altLang="en-US" b="0" dirty="0"/>
              <a:t>单道程序</a:t>
            </a:r>
          </a:p>
        </p:txBody>
      </p:sp>
    </p:spTree>
    <p:extLst>
      <p:ext uri="{BB962C8B-B14F-4D97-AF65-F5344CB8AC3E}">
        <p14:creationId xmlns:p14="http://schemas.microsoft.com/office/powerpoint/2010/main" val="25655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  <p:bldP spid="1230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内容占位符 2"/>
          <p:cNvSpPr>
            <a:spLocks noGrp="1"/>
          </p:cNvSpPr>
          <p:nvPr>
            <p:ph idx="4294967295"/>
          </p:nvPr>
        </p:nvSpPr>
        <p:spPr>
          <a:xfrm>
            <a:off x="731520" y="1530267"/>
            <a:ext cx="8064500" cy="1700213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Description</a:t>
            </a:r>
          </a:p>
          <a:p>
            <a:pPr lvl="1">
              <a:lnSpc>
                <a:spcPct val="80000"/>
              </a:lnSpc>
            </a:pPr>
            <a:r>
              <a:rPr lang="zh-CN" altLang="en-US" sz="2000" dirty="0">
                <a:ea typeface="宋体" panose="02010600030101010101" pitchFamily="2" charset="-122"/>
              </a:rPr>
              <a:t>单道程序在内存扩展后的衍生品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</a:pPr>
            <a:r>
              <a:rPr lang="zh-CN" altLang="en-US" sz="2000" dirty="0">
                <a:ea typeface="宋体" panose="02010600030101010101" pitchFamily="2" charset="-122"/>
              </a:rPr>
              <a:t>将内存分成固定大小的块，并加载适合大小的应用程序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Analysis of this model</a:t>
            </a:r>
            <a:endParaRPr lang="en-US" altLang="zh-CN" sz="24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Basement of multiprogramming</a:t>
            </a:r>
          </a:p>
          <a:p>
            <a:pPr lvl="1">
              <a:lnSpc>
                <a:spcPct val="8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serious performance problems</a:t>
            </a:r>
          </a:p>
        </p:txBody>
      </p:sp>
      <p:graphicFrame>
        <p:nvGraphicFramePr>
          <p:cNvPr id="20" name="Group 12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64202701"/>
              </p:ext>
            </p:extLst>
          </p:nvPr>
        </p:nvGraphicFramePr>
        <p:xfrm>
          <a:off x="7320136" y="4074690"/>
          <a:ext cx="3111500" cy="1096968"/>
        </p:xfrm>
        <a:graphic>
          <a:graphicData uri="http://schemas.openxmlformats.org/drawingml/2006/table">
            <a:tbl>
              <a:tblPr/>
              <a:tblGrid>
                <a:gridCol w="8941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85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0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85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Partition</a:t>
                      </a: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1444" marR="91444" marT="45681" marB="456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BA</a:t>
                      </a: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1444" marR="91444" marT="45681" marB="456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EA</a:t>
                      </a: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1444" marR="91444" marT="45681" marB="456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Size</a:t>
                      </a: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1444" marR="91444" marT="45681" marB="456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2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Part 1</a:t>
                      </a:r>
                    </a:p>
                  </a:txBody>
                  <a:tcPr marL="91444" marR="91444" marT="45681" marB="456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100K</a:t>
                      </a:r>
                    </a:p>
                  </a:txBody>
                  <a:tcPr marL="91444" marR="91444" marT="45681" marB="456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200K</a:t>
                      </a:r>
                    </a:p>
                  </a:txBody>
                  <a:tcPr marL="91444" marR="91444" marT="45681" marB="456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100K</a:t>
                      </a:r>
                    </a:p>
                  </a:txBody>
                  <a:tcPr marL="91444" marR="91444" marT="45681" marB="456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2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Part 2</a:t>
                      </a:r>
                    </a:p>
                  </a:txBody>
                  <a:tcPr marL="91444" marR="91444" marT="45681" marB="456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200K</a:t>
                      </a:r>
                    </a:p>
                  </a:txBody>
                  <a:tcPr marL="91444" marR="91444" marT="45681" marB="456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400K</a:t>
                      </a:r>
                    </a:p>
                  </a:txBody>
                  <a:tcPr marL="91444" marR="91444" marT="45681" marB="456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200K</a:t>
                      </a:r>
                    </a:p>
                  </a:txBody>
                  <a:tcPr marL="91444" marR="91444" marT="45681" marB="456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2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Part 3</a:t>
                      </a:r>
                    </a:p>
                  </a:txBody>
                  <a:tcPr marL="91444" marR="91444" marT="45681" marB="456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400K</a:t>
                      </a:r>
                    </a:p>
                  </a:txBody>
                  <a:tcPr marL="91444" marR="91444" marT="45681" marB="456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700K</a:t>
                      </a:r>
                    </a:p>
                  </a:txBody>
                  <a:tcPr marL="91444" marR="91444" marT="45681" marB="456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300K</a:t>
                      </a:r>
                    </a:p>
                  </a:txBody>
                  <a:tcPr marL="91444" marR="91444" marT="45681" marB="456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Text Box 15"/>
          <p:cNvSpPr txBox="1">
            <a:spLocks noChangeArrowheads="1"/>
          </p:cNvSpPr>
          <p:nvPr/>
        </p:nvSpPr>
        <p:spPr bwMode="auto">
          <a:xfrm>
            <a:off x="5099224" y="6092403"/>
            <a:ext cx="12446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1600" b="1" dirty="0">
                <a:solidFill>
                  <a:schemeClr val="accent5">
                    <a:lumMod val="50000"/>
                  </a:schemeClr>
                </a:solidFill>
              </a:rPr>
              <a:t>Memory</a:t>
            </a:r>
            <a:endParaRPr lang="zh-CN" altLang="en-US" sz="16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2" name="Text Box 17"/>
          <p:cNvSpPr txBox="1">
            <a:spLocks noChangeArrowheads="1"/>
          </p:cNvSpPr>
          <p:nvPr/>
        </p:nvSpPr>
        <p:spPr bwMode="auto">
          <a:xfrm>
            <a:off x="7618587" y="5371678"/>
            <a:ext cx="2232025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lnSpc>
                <a:spcPct val="80000"/>
              </a:lnSpc>
              <a:buClrTx/>
              <a:buFont typeface="Wingdings" panose="05000000000000000000" pitchFamily="2" charset="2"/>
              <a:buChar char="•"/>
            </a:pPr>
            <a:r>
              <a:rPr lang="en-US" altLang="zh-CN" sz="1600" b="1">
                <a:solidFill>
                  <a:schemeClr val="bg1"/>
                </a:solidFill>
              </a:rPr>
              <a:t>OS</a:t>
            </a:r>
            <a:r>
              <a:rPr lang="zh-CN" altLang="en-US" sz="1600" b="1">
                <a:solidFill>
                  <a:schemeClr val="bg1"/>
                </a:solidFill>
              </a:rPr>
              <a:t>维护的固定分区表</a:t>
            </a:r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5026200" y="3642890"/>
            <a:ext cx="1368425" cy="2233612"/>
            <a:chOff x="748" y="2069"/>
            <a:chExt cx="862" cy="1407"/>
          </a:xfrm>
        </p:grpSpPr>
        <p:sp>
          <p:nvSpPr>
            <p:cNvPr id="25649" name="Rectangle 6"/>
            <p:cNvSpPr>
              <a:spLocks noChangeArrowheads="1"/>
            </p:cNvSpPr>
            <p:nvPr/>
          </p:nvSpPr>
          <p:spPr bwMode="auto">
            <a:xfrm>
              <a:off x="748" y="2931"/>
              <a:ext cx="862" cy="27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 b="1">
                  <a:solidFill>
                    <a:srgbClr val="FF0000"/>
                  </a:solidFill>
                </a:rPr>
                <a:t>Partition1</a:t>
              </a:r>
            </a:p>
          </p:txBody>
        </p:sp>
        <p:sp>
          <p:nvSpPr>
            <p:cNvPr id="25650" name="Rectangle 7"/>
            <p:cNvSpPr>
              <a:spLocks noChangeArrowheads="1"/>
            </p:cNvSpPr>
            <p:nvPr/>
          </p:nvSpPr>
          <p:spPr bwMode="auto">
            <a:xfrm>
              <a:off x="748" y="3203"/>
              <a:ext cx="862" cy="273"/>
            </a:xfrm>
            <a:prstGeom prst="rect">
              <a:avLst/>
            </a:prstGeom>
            <a:solidFill>
              <a:srgbClr val="FF66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chemeClr val="bg1"/>
                  </a:solidFill>
                </a:rPr>
                <a:t>OS in RAM</a:t>
              </a:r>
            </a:p>
          </p:txBody>
        </p:sp>
        <p:sp>
          <p:nvSpPr>
            <p:cNvPr id="25651" name="Rectangle 18"/>
            <p:cNvSpPr>
              <a:spLocks noChangeArrowheads="1"/>
            </p:cNvSpPr>
            <p:nvPr/>
          </p:nvSpPr>
          <p:spPr bwMode="auto">
            <a:xfrm>
              <a:off x="748" y="2523"/>
              <a:ext cx="862" cy="40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 b="1">
                  <a:solidFill>
                    <a:srgbClr val="FF0000"/>
                  </a:solidFill>
                </a:rPr>
                <a:t>Partition 2</a:t>
              </a:r>
            </a:p>
          </p:txBody>
        </p:sp>
        <p:sp>
          <p:nvSpPr>
            <p:cNvPr id="25652" name="Rectangle 19"/>
            <p:cNvSpPr>
              <a:spLocks noChangeArrowheads="1"/>
            </p:cNvSpPr>
            <p:nvPr/>
          </p:nvSpPr>
          <p:spPr bwMode="auto">
            <a:xfrm>
              <a:off x="748" y="2069"/>
              <a:ext cx="862" cy="45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 b="1">
                  <a:solidFill>
                    <a:srgbClr val="FF0000"/>
                  </a:solidFill>
                </a:rPr>
                <a:t>Partition 3</a:t>
              </a:r>
            </a:p>
          </p:txBody>
        </p:sp>
      </p:grpSp>
      <p:grpSp>
        <p:nvGrpSpPr>
          <p:cNvPr id="3" name="Group 136"/>
          <p:cNvGrpSpPr>
            <a:grpSpLocks/>
          </p:cNvGrpSpPr>
          <p:nvPr/>
        </p:nvGrpSpPr>
        <p:grpSpPr bwMode="auto">
          <a:xfrm>
            <a:off x="2649711" y="4074690"/>
            <a:ext cx="590550" cy="1598612"/>
            <a:chOff x="748" y="2341"/>
            <a:chExt cx="372" cy="1007"/>
          </a:xfrm>
        </p:grpSpPr>
        <p:graphicFrame>
          <p:nvGraphicFramePr>
            <p:cNvPr id="25641" name="Object 2"/>
            <p:cNvGraphicFramePr>
              <a:graphicFrameLocks noChangeAspect="1"/>
            </p:cNvGraphicFramePr>
            <p:nvPr/>
          </p:nvGraphicFramePr>
          <p:xfrm>
            <a:off x="748" y="2341"/>
            <a:ext cx="145" cy="1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4" name="Visio" r:id="rId4" imgW="229743" imgH="229616" progId="Visio.Drawing.11">
                    <p:embed/>
                  </p:oleObj>
                </mc:Choice>
                <mc:Fallback>
                  <p:oleObj name="Visio" r:id="rId4" imgW="229743" imgH="229616" progId="Visio.Drawing.11">
                    <p:embed/>
                    <p:pic>
                      <p:nvPicPr>
                        <p:cNvPr id="25641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8" y="2341"/>
                          <a:ext cx="145" cy="1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42" name="Object 3"/>
            <p:cNvGraphicFramePr>
              <a:graphicFrameLocks noChangeAspect="1"/>
            </p:cNvGraphicFramePr>
            <p:nvPr/>
          </p:nvGraphicFramePr>
          <p:xfrm>
            <a:off x="748" y="2659"/>
            <a:ext cx="145" cy="1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5" name="Visio" r:id="rId6" imgW="229743" imgH="229616" progId="Visio.Drawing.11">
                    <p:embed/>
                  </p:oleObj>
                </mc:Choice>
                <mc:Fallback>
                  <p:oleObj name="Visio" r:id="rId6" imgW="229743" imgH="229616" progId="Visio.Drawing.11">
                    <p:embed/>
                    <p:pic>
                      <p:nvPicPr>
                        <p:cNvPr id="25642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8" y="2659"/>
                          <a:ext cx="145" cy="1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43" name="Object 4"/>
            <p:cNvGraphicFramePr>
              <a:graphicFrameLocks noChangeAspect="1"/>
            </p:cNvGraphicFramePr>
            <p:nvPr/>
          </p:nvGraphicFramePr>
          <p:xfrm>
            <a:off x="748" y="2931"/>
            <a:ext cx="145" cy="1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6" name="Visio" r:id="rId7" imgW="229743" imgH="229616" progId="Visio.Drawing.11">
                    <p:embed/>
                  </p:oleObj>
                </mc:Choice>
                <mc:Fallback>
                  <p:oleObj name="Visio" r:id="rId7" imgW="229743" imgH="229616" progId="Visio.Drawing.11">
                    <p:embed/>
                    <p:pic>
                      <p:nvPicPr>
                        <p:cNvPr id="25643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8" y="2931"/>
                          <a:ext cx="145" cy="1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44" name="Object 5"/>
            <p:cNvGraphicFramePr>
              <a:graphicFrameLocks noChangeAspect="1"/>
            </p:cNvGraphicFramePr>
            <p:nvPr/>
          </p:nvGraphicFramePr>
          <p:xfrm>
            <a:off x="748" y="3203"/>
            <a:ext cx="145" cy="1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7" name="Visio" r:id="rId8" imgW="229743" imgH="229616" progId="Visio.Drawing.11">
                    <p:embed/>
                  </p:oleObj>
                </mc:Choice>
                <mc:Fallback>
                  <p:oleObj name="Visio" r:id="rId8" imgW="229743" imgH="229616" progId="Visio.Drawing.11">
                    <p:embed/>
                    <p:pic>
                      <p:nvPicPr>
                        <p:cNvPr id="25644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8" y="3203"/>
                          <a:ext cx="145" cy="1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45" name="Object 6"/>
            <p:cNvGraphicFramePr>
              <a:graphicFrameLocks noChangeAspect="1"/>
            </p:cNvGraphicFramePr>
            <p:nvPr/>
          </p:nvGraphicFramePr>
          <p:xfrm>
            <a:off x="975" y="2931"/>
            <a:ext cx="145" cy="1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8" name="Visio" r:id="rId9" imgW="229743" imgH="229616" progId="Visio.Drawing.11">
                    <p:embed/>
                  </p:oleObj>
                </mc:Choice>
                <mc:Fallback>
                  <p:oleObj name="Visio" r:id="rId9" imgW="229743" imgH="229616" progId="Visio.Drawing.11">
                    <p:embed/>
                    <p:pic>
                      <p:nvPicPr>
                        <p:cNvPr id="25645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5" y="2931"/>
                          <a:ext cx="145" cy="1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46" name="Object 7"/>
            <p:cNvGraphicFramePr>
              <a:graphicFrameLocks noChangeAspect="1"/>
            </p:cNvGraphicFramePr>
            <p:nvPr/>
          </p:nvGraphicFramePr>
          <p:xfrm>
            <a:off x="975" y="3203"/>
            <a:ext cx="145" cy="1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9" name="Visio" r:id="rId10" imgW="229743" imgH="229616" progId="Visio.Drawing.11">
                    <p:embed/>
                  </p:oleObj>
                </mc:Choice>
                <mc:Fallback>
                  <p:oleObj name="Visio" r:id="rId10" imgW="229743" imgH="229616" progId="Visio.Drawing.11">
                    <p:embed/>
                    <p:pic>
                      <p:nvPicPr>
                        <p:cNvPr id="25646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5" y="3203"/>
                          <a:ext cx="145" cy="1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47" name="Object 8"/>
            <p:cNvGraphicFramePr>
              <a:graphicFrameLocks noChangeAspect="1"/>
            </p:cNvGraphicFramePr>
            <p:nvPr/>
          </p:nvGraphicFramePr>
          <p:xfrm>
            <a:off x="975" y="2659"/>
            <a:ext cx="145" cy="1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0" name="Visio" r:id="rId11" imgW="229743" imgH="229616" progId="Visio.Drawing.11">
                    <p:embed/>
                  </p:oleObj>
                </mc:Choice>
                <mc:Fallback>
                  <p:oleObj name="Visio" r:id="rId11" imgW="229743" imgH="229616" progId="Visio.Drawing.11">
                    <p:embed/>
                    <p:pic>
                      <p:nvPicPr>
                        <p:cNvPr id="25647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5" y="2659"/>
                          <a:ext cx="145" cy="1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48" name="Object 9"/>
            <p:cNvGraphicFramePr>
              <a:graphicFrameLocks noChangeAspect="1"/>
            </p:cNvGraphicFramePr>
            <p:nvPr/>
          </p:nvGraphicFramePr>
          <p:xfrm>
            <a:off x="975" y="2341"/>
            <a:ext cx="145" cy="1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1" name="Visio" r:id="rId11" imgW="229743" imgH="229616" progId="Visio.Drawing.11">
                    <p:embed/>
                  </p:oleObj>
                </mc:Choice>
                <mc:Fallback>
                  <p:oleObj name="Visio" r:id="rId11" imgW="229743" imgH="229616" progId="Visio.Drawing.11">
                    <p:embed/>
                    <p:pic>
                      <p:nvPicPr>
                        <p:cNvPr id="25648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5" y="2341"/>
                          <a:ext cx="145" cy="1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" name="Text Box 137"/>
          <p:cNvSpPr txBox="1">
            <a:spLocks noChangeArrowheads="1"/>
          </p:cNvSpPr>
          <p:nvPr/>
        </p:nvSpPr>
        <p:spPr bwMode="auto">
          <a:xfrm>
            <a:off x="2248074" y="5803477"/>
            <a:ext cx="1409700" cy="53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1600" b="1" dirty="0">
                <a:solidFill>
                  <a:schemeClr val="accent5">
                    <a:lumMod val="50000"/>
                  </a:schemeClr>
                </a:solidFill>
              </a:rPr>
              <a:t>Process</a:t>
            </a:r>
          </a:p>
          <a:p>
            <a:pPr>
              <a:lnSpc>
                <a:spcPct val="8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1600" b="1" dirty="0">
                <a:solidFill>
                  <a:schemeClr val="accent5">
                    <a:lumMod val="50000"/>
                  </a:schemeClr>
                </a:solidFill>
              </a:rPr>
              <a:t>sequence</a:t>
            </a:r>
            <a:endParaRPr lang="zh-CN" altLang="en-US" sz="16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1" name="AutoShape 138"/>
          <p:cNvSpPr>
            <a:spLocks noChangeArrowheads="1"/>
          </p:cNvSpPr>
          <p:nvPr/>
        </p:nvSpPr>
        <p:spPr bwMode="auto">
          <a:xfrm>
            <a:off x="3802236" y="4723978"/>
            <a:ext cx="647700" cy="358775"/>
          </a:xfrm>
          <a:prstGeom prst="rightArrow">
            <a:avLst>
              <a:gd name="adj1" fmla="val 50000"/>
              <a:gd name="adj2" fmla="val 45133"/>
            </a:avLst>
          </a:prstGeom>
          <a:solidFill>
            <a:schemeClr val="hlink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lnSpc>
                <a:spcPct val="80000"/>
              </a:lnSpc>
              <a:buClrTx/>
              <a:buFont typeface="Wingdings" panose="05000000000000000000" pitchFamily="2" charset="2"/>
              <a:buChar char="•"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2" name="AutoShape 139"/>
          <p:cNvSpPr>
            <a:spLocks noChangeArrowheads="1"/>
          </p:cNvSpPr>
          <p:nvPr/>
        </p:nvSpPr>
        <p:spPr bwMode="auto">
          <a:xfrm>
            <a:off x="6610524" y="4508078"/>
            <a:ext cx="576262" cy="358775"/>
          </a:xfrm>
          <a:prstGeom prst="leftArrow">
            <a:avLst>
              <a:gd name="adj1" fmla="val 50000"/>
              <a:gd name="adj2" fmla="val 40155"/>
            </a:avLst>
          </a:prstGeom>
          <a:solidFill>
            <a:schemeClr val="hlink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lnSpc>
                <a:spcPct val="80000"/>
              </a:lnSpc>
              <a:buClrTx/>
              <a:buFont typeface="Wingdings" panose="05000000000000000000" pitchFamily="2" charset="2"/>
              <a:buChar char="•"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A974E96-9889-8AA0-2406-CD13B3C9541E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7" name="标题 8">
            <a:extLst>
              <a:ext uri="{FF2B5EF4-FFF2-40B4-BE49-F238E27FC236}">
                <a16:creationId xmlns:a16="http://schemas.microsoft.com/office/drawing/2014/main" id="{A0BA8C37-55C3-744F-5618-0B769571B9ED}"/>
              </a:ext>
            </a:extLst>
          </p:cNvPr>
          <p:cNvSpPr txBox="1">
            <a:spLocks/>
          </p:cNvSpPr>
          <p:nvPr/>
        </p:nvSpPr>
        <p:spPr>
          <a:xfrm>
            <a:off x="731520" y="795655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多道程序</a:t>
            </a:r>
            <a:r>
              <a:rPr lang="en-US" altLang="zh-CN" b="0" kern="0" dirty="0"/>
              <a:t> (</a:t>
            </a:r>
            <a:r>
              <a:rPr lang="zh-CN" altLang="en-US" b="0" kern="0" dirty="0"/>
              <a:t>分区固定</a:t>
            </a:r>
            <a:r>
              <a:rPr lang="en-US" altLang="zh-CN" b="0" kern="0" dirty="0"/>
              <a:t>)</a:t>
            </a:r>
            <a:endParaRPr lang="zh-CN" altLang="en-US" b="0" kern="0" dirty="0"/>
          </a:p>
        </p:txBody>
      </p:sp>
    </p:spTree>
    <p:extLst>
      <p:ext uri="{BB962C8B-B14F-4D97-AF65-F5344CB8AC3E}">
        <p14:creationId xmlns:p14="http://schemas.microsoft.com/office/powerpoint/2010/main" val="2962055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40" grpId="0"/>
      <p:bldP spid="41" grpId="0" animBg="1"/>
      <p:bldP spid="4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5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4931893"/>
              </p:ext>
            </p:extLst>
          </p:nvPr>
        </p:nvGraphicFramePr>
        <p:xfrm>
          <a:off x="2855640" y="1502805"/>
          <a:ext cx="6350719" cy="48560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Chart" r:id="rId4" imgW="6185798" imgH="4736652" progId="Excel.Chart.8">
                  <p:embed/>
                </p:oleObj>
              </mc:Choice>
              <mc:Fallback>
                <p:oleObj name="Chart" r:id="rId4" imgW="6185798" imgH="4736652" progId="Excel.Chart.8">
                  <p:embed/>
                  <p:pic>
                    <p:nvPicPr>
                      <p:cNvPr id="2765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640" y="1502805"/>
                        <a:ext cx="6350719" cy="48560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F47B3F75-3A6A-0981-CD6F-BB3631985AAE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3" name="标题 8">
            <a:extLst>
              <a:ext uri="{FF2B5EF4-FFF2-40B4-BE49-F238E27FC236}">
                <a16:creationId xmlns:a16="http://schemas.microsoft.com/office/drawing/2014/main" id="{4A088D0D-A4BA-6BB8-FAC8-FFD09E05EA0C}"/>
              </a:ext>
            </a:extLst>
          </p:cNvPr>
          <p:cNvSpPr txBox="1">
            <a:spLocks/>
          </p:cNvSpPr>
          <p:nvPr/>
        </p:nvSpPr>
        <p:spPr>
          <a:xfrm>
            <a:off x="731520" y="836712"/>
            <a:ext cx="11269136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多道程序存在的合理性（充分利用</a:t>
            </a:r>
            <a:r>
              <a:rPr lang="en-US" altLang="zh-CN" b="0" kern="0" dirty="0"/>
              <a:t>IO</a:t>
            </a:r>
            <a:r>
              <a:rPr lang="zh-CN" altLang="en-US" b="0" kern="0" dirty="0"/>
              <a:t>操作的</a:t>
            </a:r>
            <a:r>
              <a:rPr lang="en-US" altLang="zh-CN" b="0" kern="0" dirty="0"/>
              <a:t>CPU</a:t>
            </a:r>
            <a:r>
              <a:rPr lang="zh-CN" altLang="en-US" b="0" kern="0" dirty="0"/>
              <a:t>时间）</a:t>
            </a:r>
          </a:p>
        </p:txBody>
      </p:sp>
    </p:spTree>
    <p:extLst>
      <p:ext uri="{BB962C8B-B14F-4D97-AF65-F5344CB8AC3E}">
        <p14:creationId xmlns:p14="http://schemas.microsoft.com/office/powerpoint/2010/main" val="3037541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OleChart spid="2765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1"/>
          <p:cNvSpPr>
            <a:spLocks noChangeArrowheads="1"/>
          </p:cNvSpPr>
          <p:nvPr/>
        </p:nvSpPr>
        <p:spPr bwMode="auto">
          <a:xfrm>
            <a:off x="7788276" y="3786189"/>
            <a:ext cx="18002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内存的地址变换</a:t>
            </a:r>
          </a:p>
        </p:txBody>
      </p:sp>
      <p:sp>
        <p:nvSpPr>
          <p:cNvPr id="18437" name="Text Box 17"/>
          <p:cNvSpPr txBox="1">
            <a:spLocks noChangeArrowheads="1"/>
          </p:cNvSpPr>
          <p:nvPr/>
        </p:nvSpPr>
        <p:spPr bwMode="auto">
          <a:xfrm>
            <a:off x="2782888" y="3443289"/>
            <a:ext cx="863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总线</a:t>
            </a:r>
          </a:p>
        </p:txBody>
      </p:sp>
      <p:sp>
        <p:nvSpPr>
          <p:cNvPr id="18438" name="矩形 5"/>
          <p:cNvSpPr>
            <a:spLocks noChangeArrowheads="1"/>
          </p:cNvSpPr>
          <p:nvPr/>
        </p:nvSpPr>
        <p:spPr bwMode="auto">
          <a:xfrm>
            <a:off x="2805113" y="4256089"/>
            <a:ext cx="5445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400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</a:t>
            </a:r>
          </a:p>
        </p:txBody>
      </p:sp>
      <p:cxnSp>
        <p:nvCxnSpPr>
          <p:cNvPr id="7" name="直接箭头连接符 6"/>
          <p:cNvCxnSpPr/>
          <p:nvPr/>
        </p:nvCxnSpPr>
        <p:spPr>
          <a:xfrm>
            <a:off x="3317875" y="3624263"/>
            <a:ext cx="4470400" cy="0"/>
          </a:xfrm>
          <a:prstGeom prst="straightConnector1">
            <a:avLst/>
          </a:prstGeom>
          <a:ln w="101600">
            <a:solidFill>
              <a:srgbClr val="FFC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V="1">
            <a:off x="4013200" y="3028951"/>
            <a:ext cx="0" cy="542925"/>
          </a:xfrm>
          <a:prstGeom prst="straightConnector1">
            <a:avLst/>
          </a:prstGeom>
          <a:ln w="76200">
            <a:solidFill>
              <a:srgbClr val="FFC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V="1">
            <a:off x="4419600" y="3692526"/>
            <a:ext cx="0" cy="542925"/>
          </a:xfrm>
          <a:prstGeom prst="straightConnector1">
            <a:avLst/>
          </a:prstGeom>
          <a:ln w="76200">
            <a:solidFill>
              <a:srgbClr val="FFC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V="1">
            <a:off x="5675313" y="3035301"/>
            <a:ext cx="0" cy="544513"/>
          </a:xfrm>
          <a:prstGeom prst="straightConnector1">
            <a:avLst/>
          </a:prstGeom>
          <a:ln w="76200">
            <a:solidFill>
              <a:srgbClr val="FFC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443" name="图片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5800" y="1885950"/>
            <a:ext cx="1563688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44" name="矩形 12"/>
          <p:cNvSpPr>
            <a:spLocks noChangeArrowheads="1"/>
          </p:cNvSpPr>
          <p:nvPr/>
        </p:nvSpPr>
        <p:spPr bwMode="auto">
          <a:xfrm>
            <a:off x="3290889" y="1974850"/>
            <a:ext cx="528637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3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ALU</a:t>
            </a:r>
            <a:endParaRPr lang="zh-CN" altLang="en-US" sz="13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445" name="矩形 13"/>
          <p:cNvSpPr>
            <a:spLocks noChangeArrowheads="1"/>
          </p:cNvSpPr>
          <p:nvPr/>
        </p:nvSpPr>
        <p:spPr bwMode="auto">
          <a:xfrm>
            <a:off x="3370263" y="2366963"/>
            <a:ext cx="68580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3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</a:t>
            </a:r>
          </a:p>
        </p:txBody>
      </p:sp>
      <p:sp>
        <p:nvSpPr>
          <p:cNvPr id="18446" name="矩形 14"/>
          <p:cNvSpPr>
            <a:spLocks noChangeArrowheads="1"/>
          </p:cNvSpPr>
          <p:nvPr/>
        </p:nvSpPr>
        <p:spPr bwMode="auto">
          <a:xfrm>
            <a:off x="3621088" y="2719388"/>
            <a:ext cx="85090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3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高速缓存</a:t>
            </a:r>
          </a:p>
        </p:txBody>
      </p:sp>
      <p:sp>
        <p:nvSpPr>
          <p:cNvPr id="18447" name="矩形 16"/>
          <p:cNvSpPr>
            <a:spLocks noChangeArrowheads="1"/>
          </p:cNvSpPr>
          <p:nvPr/>
        </p:nvSpPr>
        <p:spPr bwMode="auto">
          <a:xfrm>
            <a:off x="4164013" y="2101850"/>
            <a:ext cx="608012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1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控制器</a:t>
            </a:r>
          </a:p>
        </p:txBody>
      </p:sp>
      <p:grpSp>
        <p:nvGrpSpPr>
          <p:cNvPr id="18448" name="组合 18"/>
          <p:cNvGrpSpPr>
            <a:grpSpLocks/>
          </p:cNvGrpSpPr>
          <p:nvPr/>
        </p:nvGrpSpPr>
        <p:grpSpPr bwMode="auto">
          <a:xfrm>
            <a:off x="5227638" y="2582864"/>
            <a:ext cx="893762" cy="484187"/>
            <a:chOff x="7497779" y="2557344"/>
            <a:chExt cx="892996" cy="485244"/>
          </a:xfrm>
        </p:grpSpPr>
        <p:pic>
          <p:nvPicPr>
            <p:cNvPr id="18465" name="图片 19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97779" y="2557344"/>
              <a:ext cx="892996" cy="485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66" name="矩形 20"/>
            <p:cNvSpPr>
              <a:spLocks noChangeArrowheads="1"/>
            </p:cNvSpPr>
            <p:nvPr/>
          </p:nvSpPr>
          <p:spPr bwMode="auto">
            <a:xfrm>
              <a:off x="7764236" y="2623561"/>
              <a:ext cx="47801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1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mic Sans MS" panose="030F0702030302020204" pitchFamily="66" charset="0"/>
                </a:rPr>
                <a:t>I/O</a:t>
              </a:r>
              <a:endParaRPr lang="zh-CN" altLang="en-US" sz="1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8449" name="矩形 28"/>
          <p:cNvSpPr>
            <a:spLocks noChangeArrowheads="1"/>
          </p:cNvSpPr>
          <p:nvPr/>
        </p:nvSpPr>
        <p:spPr bwMode="auto">
          <a:xfrm>
            <a:off x="4840288" y="1843089"/>
            <a:ext cx="5635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400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omic Sans MS" panose="030F0702030302020204" pitchFamily="66" charset="0"/>
              </a:rPr>
              <a:t>CPU</a:t>
            </a:r>
            <a:endParaRPr lang="zh-CN" altLang="en-US" sz="1400" b="1">
              <a:solidFill>
                <a:srgbClr val="1157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1463" y="4260851"/>
            <a:ext cx="2038350" cy="46196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</p:pic>
      <p:pic>
        <p:nvPicPr>
          <p:cNvPr id="18451" name="图片 3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1463" y="4700588"/>
            <a:ext cx="20383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Rectangle 1"/>
          <p:cNvSpPr>
            <a:spLocks noChangeArrowheads="1"/>
          </p:cNvSpPr>
          <p:nvPr/>
        </p:nvSpPr>
        <p:spPr bwMode="auto">
          <a:xfrm>
            <a:off x="7762876" y="4151313"/>
            <a:ext cx="197326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mov %AH $0x5</a:t>
            </a:r>
          </a:p>
          <a:p>
            <a:pPr eaLnBrk="1" hangingPunct="1"/>
            <a:r>
              <a:rPr lang="en-US" altLang="zh-CN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mov %BH $0x7</a:t>
            </a:r>
          </a:p>
          <a:p>
            <a:pPr eaLnBrk="1" hangingPunct="1"/>
            <a:r>
              <a:rPr lang="en-US" altLang="zh-CN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add  %AH %BH</a:t>
            </a:r>
          </a:p>
          <a:p>
            <a:pPr eaLnBrk="1" hangingPunct="1"/>
            <a:r>
              <a:rPr lang="en-US" altLang="zh-CN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mov $0x9 %AH</a:t>
            </a:r>
            <a:endParaRPr lang="zh-CN" altLang="en-US" b="1">
              <a:solidFill>
                <a:srgbClr val="11576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1463" y="5137151"/>
            <a:ext cx="2038350" cy="46196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1463" y="5575301"/>
            <a:ext cx="2038350" cy="4619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</p:pic>
      <p:pic>
        <p:nvPicPr>
          <p:cNvPr id="31" name="图片 7" descr="疑问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039" y="4770438"/>
            <a:ext cx="1208087" cy="161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组合 10"/>
          <p:cNvGrpSpPr>
            <a:grpSpLocks/>
          </p:cNvGrpSpPr>
          <p:nvPr/>
        </p:nvGrpSpPr>
        <p:grpSpPr bwMode="auto">
          <a:xfrm>
            <a:off x="4938714" y="5008563"/>
            <a:ext cx="828675" cy="1008062"/>
            <a:chOff x="2448757" y="4823993"/>
            <a:chExt cx="829038" cy="1008682"/>
          </a:xfrm>
        </p:grpSpPr>
        <p:sp>
          <p:nvSpPr>
            <p:cNvPr id="44" name="矩形 43"/>
            <p:cNvSpPr/>
            <p:nvPr/>
          </p:nvSpPr>
          <p:spPr>
            <a:xfrm>
              <a:off x="2450345" y="4823993"/>
              <a:ext cx="150879" cy="130255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45" name="矩形 44"/>
            <p:cNvSpPr/>
            <p:nvPr/>
          </p:nvSpPr>
          <p:spPr>
            <a:xfrm>
              <a:off x="2790219" y="4825581"/>
              <a:ext cx="150879" cy="13025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3123740" y="4825581"/>
              <a:ext cx="152467" cy="13025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3" name="矩形 32"/>
            <p:cNvSpPr/>
            <p:nvPr/>
          </p:nvSpPr>
          <p:spPr>
            <a:xfrm>
              <a:off x="2448757" y="5702420"/>
              <a:ext cx="150878" cy="130255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4" name="矩形 33"/>
            <p:cNvSpPr/>
            <p:nvPr/>
          </p:nvSpPr>
          <p:spPr>
            <a:xfrm>
              <a:off x="2788631" y="5702420"/>
              <a:ext cx="150878" cy="128667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3126916" y="5702420"/>
              <a:ext cx="150879" cy="128667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36" name="矩形 35"/>
          <p:cNvSpPr>
            <a:spLocks noChangeArrowheads="1"/>
          </p:cNvSpPr>
          <p:nvPr/>
        </p:nvSpPr>
        <p:spPr bwMode="auto">
          <a:xfrm>
            <a:off x="3248025" y="5849939"/>
            <a:ext cx="9525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400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起始地址（</a:t>
            </a:r>
            <a:r>
              <a:rPr lang="en-US" altLang="zh-CN" sz="1400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0x00</a:t>
            </a:r>
            <a:r>
              <a:rPr lang="zh-CN" altLang="en-US" sz="1400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37" name="矩形 36"/>
          <p:cNvSpPr>
            <a:spLocks noChangeArrowheads="1"/>
          </p:cNvSpPr>
          <p:nvPr/>
        </p:nvSpPr>
        <p:spPr bwMode="auto">
          <a:xfrm>
            <a:off x="6061076" y="4127500"/>
            <a:ext cx="10191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400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omic Sans MS" panose="030F0702030302020204" pitchFamily="66" charset="0"/>
              </a:rPr>
              <a:t>结束</a:t>
            </a:r>
            <a:r>
              <a:rPr lang="zh-CN" altLang="en-US" sz="1600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omic Sans MS" panose="030F0702030302020204" pitchFamily="66" charset="0"/>
              </a:rPr>
              <a:t>地址</a:t>
            </a:r>
            <a:endParaRPr lang="zh-CN" altLang="en-US" sz="2000">
              <a:solidFill>
                <a:srgbClr val="1157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B25E284-4722-3560-E623-9935360B310F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3" name="标题 8">
            <a:extLst>
              <a:ext uri="{FF2B5EF4-FFF2-40B4-BE49-F238E27FC236}">
                <a16:creationId xmlns:a16="http://schemas.microsoft.com/office/drawing/2014/main" id="{BD6415DA-660D-60DA-5E21-C403E8903108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多道程序对应的地址问题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39264970"/>
      </p:ext>
    </p:extLst>
  </p:cSld>
  <p:clrMapOvr>
    <a:masterClrMapping/>
  </p:clrMapOvr>
  <p:transition spd="slow" advTm="664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36" grpId="0"/>
      <p:bldP spid="3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7DFF026-1B68-BB1B-0682-4CEBD54E7D6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31520" y="1556792"/>
            <a:ext cx="11460480" cy="5256584"/>
          </a:xfrm>
          <a:prstGeom prst="rect">
            <a:avLst/>
          </a:prstGeom>
        </p:spPr>
        <p:txBody>
          <a:bodyPr>
            <a:normAutofit fontScale="85000" lnSpcReduction="10000"/>
          </a:bodyPr>
          <a:lstStyle/>
          <a:p>
            <a:pPr eaLnBrk="1" hangingPunct="1"/>
            <a:r>
              <a:rPr lang="zh-CN" altLang="en-US" dirty="0"/>
              <a:t>进程调度：时机，</a:t>
            </a:r>
            <a:r>
              <a:rPr lang="zh-CN" altLang="en-US" dirty="0">
                <a:solidFill>
                  <a:srgbClr val="FF0000"/>
                </a:solidFill>
              </a:rPr>
              <a:t>抢占</a:t>
            </a:r>
            <a:r>
              <a:rPr lang="zh-CN" altLang="en-US" dirty="0"/>
              <a:t>与非抢占</a:t>
            </a:r>
            <a:endParaRPr lang="en-US" altLang="zh-CN" dirty="0"/>
          </a:p>
          <a:p>
            <a:pPr eaLnBrk="1" hangingPunct="1"/>
            <a:r>
              <a:rPr lang="zh-CN" altLang="en-US" dirty="0"/>
              <a:t>进程调度：目标，提升利用率 </a:t>
            </a:r>
            <a:r>
              <a:rPr lang="en-US" altLang="zh-CN" dirty="0"/>
              <a:t>vs </a:t>
            </a:r>
            <a:r>
              <a:rPr lang="zh-CN" altLang="en-US" dirty="0">
                <a:solidFill>
                  <a:srgbClr val="FF0000"/>
                </a:solidFill>
              </a:rPr>
              <a:t>提升交互性，</a:t>
            </a:r>
            <a:r>
              <a:rPr lang="zh-CN" altLang="en-US" dirty="0"/>
              <a:t>多种指标的设计，</a:t>
            </a:r>
            <a:r>
              <a:rPr lang="zh-CN" altLang="en-US" dirty="0">
                <a:solidFill>
                  <a:srgbClr val="FF0000"/>
                </a:solidFill>
              </a:rPr>
              <a:t>高吞吐与低延迟</a:t>
            </a:r>
            <a:endParaRPr lang="en-US" altLang="zh-CN" dirty="0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 dirty="0"/>
              <a:t>进程调度：典型调度算法</a:t>
            </a:r>
            <a:r>
              <a:rPr lang="en-US" altLang="zh-CN" dirty="0"/>
              <a:t>(FCFS, </a:t>
            </a:r>
            <a:r>
              <a:rPr lang="zh-CN" altLang="en-US" dirty="0"/>
              <a:t>短任务优先，</a:t>
            </a:r>
            <a:r>
              <a:rPr lang="zh-CN" altLang="en-US" dirty="0">
                <a:solidFill>
                  <a:srgbClr val="FF0000"/>
                </a:solidFill>
              </a:rPr>
              <a:t>时间片轮转</a:t>
            </a:r>
            <a:r>
              <a:rPr lang="zh-CN" altLang="en-US" dirty="0"/>
              <a:t>、优先级，多队列）</a:t>
            </a:r>
            <a:endParaRPr lang="en-US" altLang="zh-CN" dirty="0"/>
          </a:p>
          <a:p>
            <a:pPr eaLnBrk="1" hangingPunct="1"/>
            <a:r>
              <a:rPr lang="zh-CN" altLang="en-US" dirty="0"/>
              <a:t>进程调度：如何设定指标，如何测量指标，针对指标的改进，如何评估有效性。特别注意的是，方案确定后的参数选择，如时间片大小设定，优先级设定等</a:t>
            </a:r>
            <a:endParaRPr lang="en-US" altLang="zh-CN" dirty="0"/>
          </a:p>
          <a:p>
            <a:pPr eaLnBrk="1" hangingPunct="1"/>
            <a:r>
              <a:rPr lang="zh-CN" altLang="en-US" dirty="0"/>
              <a:t>多处理器调度：</a:t>
            </a:r>
            <a:r>
              <a:rPr lang="en-US" altLang="zh-CN" dirty="0">
                <a:solidFill>
                  <a:srgbClr val="FF0000"/>
                </a:solidFill>
              </a:rPr>
              <a:t>CPU</a:t>
            </a:r>
            <a:r>
              <a:rPr lang="zh-CN" altLang="en-US" dirty="0">
                <a:solidFill>
                  <a:srgbClr val="FF0000"/>
                </a:solidFill>
              </a:rPr>
              <a:t>间负载均衡</a:t>
            </a:r>
            <a:r>
              <a:rPr lang="zh-CN" altLang="en-US" dirty="0"/>
              <a:t>，如何衡量负载，如何评估能耗</a:t>
            </a:r>
            <a:endParaRPr lang="en-US" altLang="zh-CN" dirty="0"/>
          </a:p>
          <a:p>
            <a:pPr eaLnBrk="1" hangingPunct="1"/>
            <a:r>
              <a:rPr lang="zh-CN" altLang="en-US"/>
              <a:t>内存管理：内存器件的原理简析</a:t>
            </a:r>
            <a:endParaRPr lang="en-US" altLang="zh-CN"/>
          </a:p>
          <a:p>
            <a:pPr eaLnBrk="1" hangingPunct="1"/>
            <a:r>
              <a:rPr lang="zh-CN" altLang="en-US" dirty="0"/>
              <a:t>内存管理：单道程序，多道（分区）程序</a:t>
            </a:r>
            <a:endParaRPr lang="en-US" altLang="zh-CN" dirty="0"/>
          </a:p>
          <a:p>
            <a:pPr eaLnBrk="1" hangingPunct="1"/>
            <a:r>
              <a:rPr lang="zh-CN" altLang="en-US" dirty="0"/>
              <a:t>局限于编程能力和编程工具，程序可以控制的内存区域小于（或等于）计算机的物理内存，程序在运行前已预知其所需内存的上限</a:t>
            </a:r>
            <a:endParaRPr lang="en-US" altLang="zh-CN" dirty="0"/>
          </a:p>
          <a:p>
            <a:pPr eaLnBrk="1" hangingPunct="1"/>
            <a:r>
              <a:rPr lang="zh-CN" altLang="en-US" dirty="0"/>
              <a:t>所需内存在程序启动时</a:t>
            </a:r>
            <a:r>
              <a:rPr lang="zh-CN" altLang="en-US" dirty="0">
                <a:solidFill>
                  <a:srgbClr val="FF0000"/>
                </a:solidFill>
              </a:rPr>
              <a:t>一次性分配</a:t>
            </a:r>
            <a:r>
              <a:rPr lang="zh-CN" altLang="en-US" dirty="0"/>
              <a:t>，不再动态变化</a:t>
            </a:r>
            <a:endParaRPr lang="en-US" altLang="zh-CN" dirty="0"/>
          </a:p>
          <a:p>
            <a:pPr eaLnBrk="1" hangingPunct="1"/>
            <a:r>
              <a:rPr lang="zh-CN" altLang="en-US" dirty="0"/>
              <a:t>内存扩充后，可通过</a:t>
            </a:r>
            <a:r>
              <a:rPr lang="zh-CN" altLang="en-US" dirty="0">
                <a:solidFill>
                  <a:srgbClr val="FF0000"/>
                </a:solidFill>
              </a:rPr>
              <a:t>分区</a:t>
            </a:r>
            <a:r>
              <a:rPr lang="zh-CN" altLang="en-US" dirty="0"/>
              <a:t>分块（</a:t>
            </a:r>
            <a:r>
              <a:rPr lang="en-US" altLang="zh-CN" dirty="0"/>
              <a:t>partition)</a:t>
            </a:r>
            <a:r>
              <a:rPr lang="zh-CN" altLang="en-US" dirty="0"/>
              <a:t>的方式支持多个程序同时加载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程序开发时无法确定自己的加载位置，需要找到地址相关的指令，修改指令中的地址来实现</a:t>
            </a:r>
            <a:endParaRPr lang="en-US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BCFC9E9-5348-D179-D583-A06E0820E001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8" name="标题 8">
            <a:extLst>
              <a:ext uri="{FF2B5EF4-FFF2-40B4-BE49-F238E27FC236}">
                <a16:creationId xmlns:a16="http://schemas.microsoft.com/office/drawing/2014/main" id="{6474462C-1233-1C60-91A3-5342851AE95B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前情提要</a:t>
            </a:r>
          </a:p>
        </p:txBody>
      </p:sp>
    </p:spTree>
    <p:extLst>
      <p:ext uri="{BB962C8B-B14F-4D97-AF65-F5344CB8AC3E}">
        <p14:creationId xmlns:p14="http://schemas.microsoft.com/office/powerpoint/2010/main" val="4034290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>
            <a:grpSpLocks/>
          </p:cNvGrpSpPr>
          <p:nvPr/>
        </p:nvGrpSpPr>
        <p:grpSpPr bwMode="auto">
          <a:xfrm>
            <a:off x="1885950" y="2928938"/>
            <a:ext cx="1447800" cy="1795462"/>
            <a:chOff x="362494" y="2071684"/>
            <a:chExt cx="1447346" cy="1795276"/>
          </a:xfrm>
        </p:grpSpPr>
        <p:pic>
          <p:nvPicPr>
            <p:cNvPr id="21541" name="图片 4" descr="5-1.png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2494" y="2071684"/>
              <a:ext cx="1106426" cy="1795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42" name="矩形 5"/>
            <p:cNvSpPr>
              <a:spLocks noChangeArrowheads="1"/>
            </p:cNvSpPr>
            <p:nvPr/>
          </p:nvSpPr>
          <p:spPr bwMode="auto">
            <a:xfrm>
              <a:off x="381096" y="2222042"/>
              <a:ext cx="1428744" cy="14927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SzPct val="100000"/>
              </a:pPr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urier New" panose="02070309020205020404" pitchFamily="49" charset="0"/>
                </a:rPr>
                <a:t>prog P</a:t>
              </a:r>
            </a:p>
            <a:p>
              <a:pPr>
                <a:buSzPct val="100000"/>
              </a:pPr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urier New" panose="02070309020205020404" pitchFamily="49" charset="0"/>
                </a:rPr>
                <a:t>   :</a:t>
              </a:r>
            </a:p>
            <a:p>
              <a:pPr>
                <a:buSzPct val="100000"/>
              </a:pPr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urier New" panose="02070309020205020404" pitchFamily="49" charset="0"/>
                </a:rPr>
                <a:t>   :</a:t>
              </a:r>
            </a:p>
            <a:p>
              <a:pPr>
                <a:buSzPct val="100000"/>
              </a:pPr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urier New" panose="02070309020205020404" pitchFamily="49" charset="0"/>
                </a:rPr>
                <a:t>  foo()</a:t>
              </a:r>
            </a:p>
            <a:p>
              <a:pPr>
                <a:buSzPct val="100000"/>
              </a:pPr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urier New" panose="02070309020205020404" pitchFamily="49" charset="0"/>
                </a:rPr>
                <a:t>   :</a:t>
              </a:r>
            </a:p>
            <a:p>
              <a:pPr>
                <a:buSzPct val="100000"/>
              </a:pPr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urier New" panose="02070309020205020404" pitchFamily="49" charset="0"/>
                </a:rPr>
                <a:t>   :</a:t>
              </a:r>
            </a:p>
            <a:p>
              <a:pPr>
                <a:buSzPct val="100000"/>
              </a:pPr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urier New" panose="02070309020205020404" pitchFamily="49" charset="0"/>
                </a:rPr>
                <a:t>end P</a:t>
              </a:r>
              <a:endParaRPr lang="zh-CN" altLang="en-US" sz="13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3194051" y="2928938"/>
            <a:ext cx="1700213" cy="1795462"/>
            <a:chOff x="1670412" y="2071684"/>
            <a:chExt cx="1699377" cy="1795276"/>
          </a:xfrm>
        </p:grpSpPr>
        <p:pic>
          <p:nvPicPr>
            <p:cNvPr id="21539" name="图片 7" descr="5-2.png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0412" y="2071684"/>
              <a:ext cx="1283211" cy="1795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40" name="矩形 8"/>
            <p:cNvSpPr>
              <a:spLocks noChangeArrowheads="1"/>
            </p:cNvSpPr>
            <p:nvPr/>
          </p:nvSpPr>
          <p:spPr bwMode="auto">
            <a:xfrm>
              <a:off x="1726731" y="2222042"/>
              <a:ext cx="1643058" cy="14727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SzPct val="100000"/>
              </a:pPr>
              <a:r>
                <a:rPr lang="zh-CN" altLang="en-US" sz="13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urier New" panose="02070309020205020404" pitchFamily="49" charset="0"/>
                </a:rPr>
                <a:t>P:</a:t>
              </a:r>
            </a:p>
            <a:p>
              <a:pPr>
                <a:buSzPct val="100000"/>
              </a:pPr>
              <a:r>
                <a:rPr lang="zh-CN" altLang="en-US" sz="13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urier New" panose="02070309020205020404" pitchFamily="49" charset="0"/>
                </a:rPr>
                <a:t>    :</a:t>
              </a:r>
            </a:p>
            <a:p>
              <a:pPr>
                <a:lnSpc>
                  <a:spcPct val="90000"/>
                </a:lnSpc>
                <a:buSzPct val="100000"/>
              </a:pPr>
              <a:r>
                <a:rPr lang="zh-CN" altLang="en-US" sz="13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urier New" panose="02070309020205020404" pitchFamily="49" charset="0"/>
                </a:rPr>
                <a:t>push ...</a:t>
              </a:r>
            </a:p>
            <a:p>
              <a:pPr>
                <a:buSzPct val="100000"/>
              </a:pPr>
              <a:r>
                <a:rPr lang="zh-CN" altLang="en-US" sz="13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urier New" panose="02070309020205020404" pitchFamily="49" charset="0"/>
                </a:rPr>
                <a:t>inc SP, x</a:t>
              </a:r>
            </a:p>
            <a:p>
              <a:pPr>
                <a:buSzPct val="100000"/>
              </a:pPr>
              <a:r>
                <a:rPr lang="zh-CN" altLang="en-US" sz="13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urier New" panose="02070309020205020404" pitchFamily="49" charset="0"/>
                </a:rPr>
                <a:t>jmp _foo</a:t>
              </a:r>
            </a:p>
            <a:p>
              <a:pPr>
                <a:buSzPct val="100000"/>
              </a:pPr>
              <a:r>
                <a:rPr lang="zh-CN" altLang="en-US" sz="13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urier New" panose="02070309020205020404" pitchFamily="49" charset="0"/>
                </a:rPr>
                <a:t>    :</a:t>
              </a:r>
            </a:p>
            <a:p>
              <a:pPr>
                <a:buSzPct val="100000"/>
              </a:pPr>
              <a:r>
                <a:rPr lang="zh-CN" altLang="en-US" sz="13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urier New" panose="02070309020205020404" pitchFamily="49" charset="0"/>
                </a:rPr>
                <a:t>foo: ...</a:t>
              </a:r>
              <a:endParaRPr lang="zh-CN" altLang="en-US" sz="13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" name="组合 9"/>
          <p:cNvGrpSpPr>
            <a:grpSpLocks/>
          </p:cNvGrpSpPr>
          <p:nvPr/>
        </p:nvGrpSpPr>
        <p:grpSpPr bwMode="auto">
          <a:xfrm>
            <a:off x="4614863" y="2857501"/>
            <a:ext cx="1885950" cy="1852613"/>
            <a:chOff x="3091517" y="2000246"/>
            <a:chExt cx="1885533" cy="1852649"/>
          </a:xfrm>
        </p:grpSpPr>
        <p:pic>
          <p:nvPicPr>
            <p:cNvPr id="21535" name="图片 10" descr="5-3.png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01277" y="2060667"/>
              <a:ext cx="1402083" cy="1792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36" name="矩形 11"/>
            <p:cNvSpPr>
              <a:spLocks noChangeArrowheads="1"/>
            </p:cNvSpPr>
            <p:nvPr/>
          </p:nvSpPr>
          <p:spPr bwMode="auto">
            <a:xfrm>
              <a:off x="3476868" y="2293480"/>
              <a:ext cx="1500182" cy="12726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SzPct val="100000"/>
              </a:pPr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urier New" panose="02070309020205020404" pitchFamily="49" charset="0"/>
                </a:rPr>
                <a:t>  :</a:t>
              </a:r>
            </a:p>
            <a:p>
              <a:pPr>
                <a:lnSpc>
                  <a:spcPct val="90000"/>
                </a:lnSpc>
                <a:buSzPct val="100000"/>
              </a:pPr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urier New" panose="02070309020205020404" pitchFamily="49" charset="0"/>
                </a:rPr>
                <a:t>push ...</a:t>
              </a:r>
            </a:p>
            <a:p>
              <a:pPr>
                <a:buSzPct val="100000"/>
              </a:pPr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urier New" panose="02070309020205020404" pitchFamily="49" charset="0"/>
                </a:rPr>
                <a:t>inc SP, 4</a:t>
              </a:r>
            </a:p>
            <a:p>
              <a:pPr>
                <a:buSzPct val="100000"/>
              </a:pPr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urier New" panose="02070309020205020404" pitchFamily="49" charset="0"/>
                </a:rPr>
                <a:t>jmp 75</a:t>
              </a:r>
            </a:p>
            <a:p>
              <a:pPr>
                <a:buSzPct val="100000"/>
              </a:pPr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urier New" panose="02070309020205020404" pitchFamily="49" charset="0"/>
                </a:rPr>
                <a:t>  :</a:t>
              </a:r>
            </a:p>
            <a:p>
              <a:pPr>
                <a:buSzPct val="100000"/>
              </a:pPr>
              <a:r>
                <a:rPr lang="zh-CN" altLang="en-US" sz="13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urier New" panose="02070309020205020404" pitchFamily="49" charset="0"/>
                </a:rPr>
                <a:t>  ...</a:t>
              </a:r>
              <a:endParaRPr lang="zh-CN" altLang="en-US" sz="13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537" name="Rectangle 10"/>
            <p:cNvSpPr>
              <a:spLocks noChangeArrowheads="1"/>
            </p:cNvSpPr>
            <p:nvPr/>
          </p:nvSpPr>
          <p:spPr bwMode="auto">
            <a:xfrm>
              <a:off x="3091517" y="2000246"/>
              <a:ext cx="387669" cy="289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SzPct val="100000"/>
              </a:pPr>
              <a:r>
                <a:rPr lang="en-US" altLang="zh-CN" sz="1300" b="1" dirty="0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urier New" panose="02070309020205020404" pitchFamily="49" charset="0"/>
                </a:rPr>
                <a:t>75</a:t>
              </a:r>
              <a:endParaRPr lang="zh-CN" altLang="en-US" sz="1300" b="1" dirty="0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538" name="Rectangle 11"/>
            <p:cNvSpPr>
              <a:spLocks noChangeArrowheads="1"/>
            </p:cNvSpPr>
            <p:nvPr/>
          </p:nvSpPr>
          <p:spPr bwMode="auto">
            <a:xfrm>
              <a:off x="3152755" y="3549646"/>
              <a:ext cx="285077" cy="289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SzPct val="100000"/>
              </a:pPr>
              <a:r>
                <a:rPr lang="en-US" altLang="zh-CN" sz="13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urier New" panose="02070309020205020404" pitchFamily="49" charset="0"/>
                </a:rPr>
                <a:t>0</a:t>
              </a:r>
              <a:endParaRPr lang="zh-CN" altLang="en-US" sz="1300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Rectangle 29"/>
          <p:cNvSpPr>
            <a:spLocks noChangeArrowheads="1"/>
          </p:cNvSpPr>
          <p:nvPr/>
        </p:nvSpPr>
        <p:spPr bwMode="auto">
          <a:xfrm>
            <a:off x="2767014" y="5176838"/>
            <a:ext cx="593725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60" tIns="44280" rIns="90360" bIns="4428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Pct val="100000"/>
            </a:pPr>
            <a:r>
              <a:rPr lang="zh-CN" altLang="en-US" sz="1600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omic Sans MS" panose="030F0702030302020204" pitchFamily="66" charset="0"/>
              </a:rPr>
              <a:t>编译</a:t>
            </a:r>
            <a:endParaRPr lang="zh-CN" altLang="en-US" sz="1600" b="1">
              <a:solidFill>
                <a:srgbClr val="1157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ectangle 30"/>
          <p:cNvSpPr>
            <a:spLocks noChangeArrowheads="1"/>
          </p:cNvSpPr>
          <p:nvPr/>
        </p:nvSpPr>
        <p:spPr bwMode="auto">
          <a:xfrm>
            <a:off x="4408489" y="5176838"/>
            <a:ext cx="593725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60" tIns="44280" rIns="90360" bIns="4428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Pct val="100000"/>
            </a:pPr>
            <a:r>
              <a:rPr lang="zh-CN" altLang="en-US" sz="1600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</a:t>
            </a:r>
          </a:p>
        </p:txBody>
      </p:sp>
      <p:sp>
        <p:nvSpPr>
          <p:cNvPr id="17" name="Rectangle 31"/>
          <p:cNvSpPr>
            <a:spLocks noChangeArrowheads="1"/>
          </p:cNvSpPr>
          <p:nvPr/>
        </p:nvSpPr>
        <p:spPr bwMode="auto">
          <a:xfrm>
            <a:off x="6240464" y="5176838"/>
            <a:ext cx="592137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60" tIns="44280" rIns="90360" bIns="4428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Pct val="100000"/>
            </a:pPr>
            <a:r>
              <a:rPr lang="zh-CN" altLang="en-US" sz="1600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</a:t>
            </a:r>
          </a:p>
        </p:txBody>
      </p:sp>
      <p:sp>
        <p:nvSpPr>
          <p:cNvPr id="18" name="Rectangle 32"/>
          <p:cNvSpPr>
            <a:spLocks noChangeArrowheads="1"/>
          </p:cNvSpPr>
          <p:nvPr/>
        </p:nvSpPr>
        <p:spPr bwMode="auto">
          <a:xfrm>
            <a:off x="7685089" y="5176838"/>
            <a:ext cx="1412875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60" tIns="44280" rIns="90360" bIns="4428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Pct val="100000"/>
            </a:pPr>
            <a:r>
              <a:rPr lang="zh-CN" altLang="en-US" sz="1600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程序加载运行</a:t>
            </a:r>
          </a:p>
        </p:txBody>
      </p:sp>
      <p:sp>
        <p:nvSpPr>
          <p:cNvPr id="19" name="Text Box 41"/>
          <p:cNvSpPr>
            <a:spLocks noChangeArrowheads="1"/>
          </p:cNvSpPr>
          <p:nvPr/>
        </p:nvSpPr>
        <p:spPr bwMode="auto">
          <a:xfrm>
            <a:off x="7832726" y="5464176"/>
            <a:ext cx="957263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Pct val="100000"/>
            </a:pPr>
            <a:r>
              <a:rPr lang="zh-CN" altLang="en-US" sz="1600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omic Sans MS" panose="030F0702030302020204" pitchFamily="66" charset="0"/>
              </a:rPr>
              <a:t>(重定位)</a:t>
            </a:r>
          </a:p>
        </p:txBody>
      </p:sp>
      <p:grpSp>
        <p:nvGrpSpPr>
          <p:cNvPr id="20" name="组合 19"/>
          <p:cNvGrpSpPr>
            <a:grpSpLocks/>
          </p:cNvGrpSpPr>
          <p:nvPr/>
        </p:nvGrpSpPr>
        <p:grpSpPr bwMode="auto">
          <a:xfrm>
            <a:off x="6329364" y="2112964"/>
            <a:ext cx="1900237" cy="2670175"/>
            <a:chOff x="4805837" y="1255446"/>
            <a:chExt cx="1898979" cy="2670214"/>
          </a:xfrm>
        </p:grpSpPr>
        <p:pic>
          <p:nvPicPr>
            <p:cNvPr id="21529" name="图片 20" descr="5-4.png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5302733" y="1340951"/>
              <a:ext cx="1402083" cy="25847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30" name="矩形 21"/>
            <p:cNvSpPr>
              <a:spLocks noChangeArrowheads="1"/>
            </p:cNvSpPr>
            <p:nvPr/>
          </p:nvSpPr>
          <p:spPr bwMode="auto">
            <a:xfrm>
              <a:off x="5353154" y="1623948"/>
              <a:ext cx="1285884" cy="12526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SzPct val="100000"/>
              </a:pPr>
              <a:r>
                <a:rPr lang="zh-CN" altLang="en-US" sz="13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urier New" panose="02070309020205020404" pitchFamily="49" charset="0"/>
                </a:rPr>
                <a:t>  :</a:t>
              </a:r>
            </a:p>
            <a:p>
              <a:pPr>
                <a:lnSpc>
                  <a:spcPct val="90000"/>
                </a:lnSpc>
                <a:buSzPct val="100000"/>
              </a:pPr>
              <a:r>
                <a:rPr lang="zh-CN" altLang="en-US" sz="13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urier New" panose="02070309020205020404" pitchFamily="49" charset="0"/>
                </a:rPr>
                <a:t>  :</a:t>
              </a:r>
            </a:p>
            <a:p>
              <a:pPr>
                <a:lnSpc>
                  <a:spcPct val="90000"/>
                </a:lnSpc>
                <a:buSzPct val="100000"/>
              </a:pPr>
              <a:r>
                <a:rPr lang="zh-CN" altLang="en-US" sz="13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urier New" panose="02070309020205020404" pitchFamily="49" charset="0"/>
                </a:rPr>
                <a:t>  :</a:t>
              </a:r>
            </a:p>
            <a:p>
              <a:pPr>
                <a:buSzPct val="100000"/>
              </a:pPr>
              <a:r>
                <a:rPr lang="zh-CN" altLang="en-US" sz="13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urier New" panose="02070309020205020404" pitchFamily="49" charset="0"/>
                </a:rPr>
                <a:t>jmp 175</a:t>
              </a:r>
            </a:p>
            <a:p>
              <a:pPr>
                <a:buSzPct val="100000"/>
              </a:pPr>
              <a:r>
                <a:rPr lang="zh-CN" altLang="en-US" sz="13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urier New" panose="02070309020205020404" pitchFamily="49" charset="0"/>
                </a:rPr>
                <a:t>  :</a:t>
              </a:r>
            </a:p>
            <a:p>
              <a:pPr>
                <a:buSzPct val="100000"/>
              </a:pPr>
              <a:r>
                <a:rPr lang="zh-CN" altLang="en-US" sz="13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urier New" panose="02070309020205020404" pitchFamily="49" charset="0"/>
                </a:rPr>
                <a:t>  ...</a:t>
              </a:r>
              <a:endParaRPr lang="zh-CN" altLang="en-US" sz="13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531" name="Rectangle 16"/>
            <p:cNvSpPr>
              <a:spLocks noChangeArrowheads="1"/>
            </p:cNvSpPr>
            <p:nvPr/>
          </p:nvSpPr>
          <p:spPr bwMode="auto">
            <a:xfrm>
              <a:off x="4805837" y="1255446"/>
              <a:ext cx="490261" cy="289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SzPct val="100000"/>
              </a:pPr>
              <a:r>
                <a:rPr lang="zh-CN" altLang="en-US" sz="1300" b="1" dirty="0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urier New" panose="02070309020205020404" pitchFamily="49" charset="0"/>
                </a:rPr>
                <a:t>175</a:t>
              </a:r>
              <a:endParaRPr lang="zh-CN" altLang="en-US" sz="1300" b="1" dirty="0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532" name="Rectangle 18"/>
            <p:cNvSpPr>
              <a:spLocks noChangeArrowheads="1"/>
            </p:cNvSpPr>
            <p:nvPr/>
          </p:nvSpPr>
          <p:spPr bwMode="auto">
            <a:xfrm>
              <a:off x="4972467" y="3577880"/>
              <a:ext cx="285077" cy="289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SzPct val="100000"/>
              </a:pPr>
              <a:r>
                <a:rPr lang="zh-CN" altLang="en-US" sz="13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urier New" panose="02070309020205020404" pitchFamily="49" charset="0"/>
                </a:rPr>
                <a:t>0</a:t>
              </a:r>
              <a:endParaRPr lang="zh-CN" altLang="en-US" sz="1300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533" name="Rectangle 19"/>
            <p:cNvSpPr>
              <a:spLocks noChangeArrowheads="1"/>
            </p:cNvSpPr>
            <p:nvPr/>
          </p:nvSpPr>
          <p:spPr bwMode="auto">
            <a:xfrm>
              <a:off x="4831994" y="2876599"/>
              <a:ext cx="490261" cy="289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SzPct val="100000"/>
              </a:pPr>
              <a:r>
                <a:rPr lang="zh-CN" altLang="en-US" sz="13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urier New" panose="02070309020205020404" pitchFamily="49" charset="0"/>
                </a:rPr>
                <a:t>100</a:t>
              </a:r>
              <a:endParaRPr lang="zh-CN" altLang="en-US" sz="1300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534" name="Rectangle 15"/>
            <p:cNvSpPr>
              <a:spLocks noChangeArrowheads="1"/>
            </p:cNvSpPr>
            <p:nvPr/>
          </p:nvSpPr>
          <p:spPr bwMode="auto">
            <a:xfrm>
              <a:off x="5405038" y="3298448"/>
              <a:ext cx="1003543" cy="366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SzPct val="100000"/>
              </a:pPr>
              <a:r>
                <a:rPr lang="en-US" altLang="zh-CN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urier New" panose="02070309020205020404" pitchFamily="49" charset="0"/>
                </a:rPr>
                <a:t>Library</a:t>
              </a:r>
              <a:endParaRPr lang="zh-CN" altLang="en-US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7" name="组合 26"/>
          <p:cNvGrpSpPr>
            <a:grpSpLocks/>
          </p:cNvGrpSpPr>
          <p:nvPr/>
        </p:nvGrpSpPr>
        <p:grpSpPr bwMode="auto">
          <a:xfrm>
            <a:off x="8213726" y="1646238"/>
            <a:ext cx="2049463" cy="3700462"/>
            <a:chOff x="6689075" y="788662"/>
            <a:chExt cx="2050267" cy="3700280"/>
          </a:xfrm>
        </p:grpSpPr>
        <p:pic>
          <p:nvPicPr>
            <p:cNvPr id="21523" name="图片 27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7249649" y="788662"/>
              <a:ext cx="1420371" cy="3700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24" name="矩形 28"/>
            <p:cNvSpPr>
              <a:spLocks noChangeArrowheads="1"/>
            </p:cNvSpPr>
            <p:nvPr/>
          </p:nvSpPr>
          <p:spPr bwMode="auto">
            <a:xfrm>
              <a:off x="7382004" y="1563254"/>
              <a:ext cx="1357338" cy="12526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SzPct val="100000"/>
              </a:pPr>
              <a:r>
                <a:rPr lang="zh-CN" altLang="en-US" sz="13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urier New" panose="02070309020205020404" pitchFamily="49" charset="0"/>
                </a:rPr>
                <a:t>  :</a:t>
              </a:r>
            </a:p>
            <a:p>
              <a:pPr>
                <a:lnSpc>
                  <a:spcPct val="90000"/>
                </a:lnSpc>
                <a:buSzPct val="100000"/>
              </a:pPr>
              <a:r>
                <a:rPr lang="zh-CN" altLang="en-US" sz="13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urier New" panose="02070309020205020404" pitchFamily="49" charset="0"/>
                </a:rPr>
                <a:t>  :</a:t>
              </a:r>
            </a:p>
            <a:p>
              <a:pPr>
                <a:lnSpc>
                  <a:spcPct val="90000"/>
                </a:lnSpc>
                <a:buSzPct val="100000"/>
              </a:pPr>
              <a:r>
                <a:rPr lang="zh-CN" altLang="en-US" sz="13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urier New" panose="02070309020205020404" pitchFamily="49" charset="0"/>
                </a:rPr>
                <a:t>  :</a:t>
              </a:r>
            </a:p>
            <a:p>
              <a:pPr>
                <a:buSzPct val="100000"/>
              </a:pPr>
              <a:r>
                <a:rPr lang="zh-CN" altLang="en-US" sz="13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urier New" panose="02070309020205020404" pitchFamily="49" charset="0"/>
                </a:rPr>
                <a:t>jmp 1175</a:t>
              </a:r>
            </a:p>
            <a:p>
              <a:pPr>
                <a:buSzPct val="100000"/>
              </a:pPr>
              <a:r>
                <a:rPr lang="zh-CN" altLang="en-US" sz="13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urier New" panose="02070309020205020404" pitchFamily="49" charset="0"/>
                </a:rPr>
                <a:t>  :</a:t>
              </a:r>
            </a:p>
            <a:p>
              <a:pPr>
                <a:buSzPct val="100000"/>
              </a:pPr>
              <a:r>
                <a:rPr lang="zh-CN" altLang="en-US" sz="13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urier New" panose="02070309020205020404" pitchFamily="49" charset="0"/>
                </a:rPr>
                <a:t>  ...</a:t>
              </a:r>
              <a:endParaRPr lang="zh-CN" altLang="en-US" sz="13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525" name="Rectangle 12"/>
            <p:cNvSpPr>
              <a:spLocks noChangeArrowheads="1"/>
            </p:cNvSpPr>
            <p:nvPr/>
          </p:nvSpPr>
          <p:spPr bwMode="auto">
            <a:xfrm>
              <a:off x="6689075" y="2870522"/>
              <a:ext cx="592854" cy="289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SzPct val="100000"/>
              </a:pPr>
              <a:r>
                <a:rPr lang="zh-CN" altLang="en-US" sz="13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urier New" panose="02070309020205020404" pitchFamily="49" charset="0"/>
                </a:rPr>
                <a:t>1100</a:t>
              </a:r>
              <a:endParaRPr lang="zh-CN" altLang="en-US" sz="1300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526" name="Rectangle 13"/>
            <p:cNvSpPr>
              <a:spLocks noChangeArrowheads="1"/>
            </p:cNvSpPr>
            <p:nvPr/>
          </p:nvSpPr>
          <p:spPr bwMode="auto">
            <a:xfrm>
              <a:off x="6689075" y="1263370"/>
              <a:ext cx="592854" cy="289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SzPct val="100000"/>
              </a:pPr>
              <a:r>
                <a:rPr lang="zh-CN" altLang="en-US" sz="13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urier New" panose="02070309020205020404" pitchFamily="49" charset="0"/>
                </a:rPr>
                <a:t>1175</a:t>
              </a:r>
              <a:endParaRPr lang="zh-CN" altLang="en-US" sz="1300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527" name="Rectangle 15"/>
            <p:cNvSpPr>
              <a:spLocks noChangeArrowheads="1"/>
            </p:cNvSpPr>
            <p:nvPr/>
          </p:nvSpPr>
          <p:spPr bwMode="auto">
            <a:xfrm>
              <a:off x="7426643" y="3299092"/>
              <a:ext cx="1003543" cy="366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SzPct val="100000"/>
              </a:pPr>
              <a:r>
                <a:rPr lang="en-US" altLang="zh-CN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urier New" panose="02070309020205020404" pitchFamily="49" charset="0"/>
                </a:rPr>
                <a:t>Library</a:t>
              </a:r>
              <a:endParaRPr lang="zh-CN" altLang="en-US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528" name="Rectangle 12"/>
            <p:cNvSpPr>
              <a:spLocks noChangeArrowheads="1"/>
            </p:cNvSpPr>
            <p:nvPr/>
          </p:nvSpPr>
          <p:spPr bwMode="auto">
            <a:xfrm>
              <a:off x="6711450" y="3619231"/>
              <a:ext cx="592854" cy="289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SzPct val="100000"/>
              </a:pPr>
              <a:r>
                <a:rPr lang="zh-CN" altLang="en-US" sz="13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urier New" panose="02070309020205020404" pitchFamily="49" charset="0"/>
                </a:rPr>
                <a:t>1</a:t>
              </a:r>
              <a:r>
                <a:rPr lang="en-US" altLang="zh-CN" sz="13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urier New" panose="02070309020205020404" pitchFamily="49" charset="0"/>
                </a:rPr>
                <a:t>0</a:t>
              </a:r>
              <a:r>
                <a:rPr lang="zh-CN" altLang="en-US" sz="13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urier New" panose="02070309020205020404" pitchFamily="49" charset="0"/>
                </a:rPr>
                <a:t>00</a:t>
              </a:r>
              <a:endParaRPr lang="zh-CN" altLang="en-US" sz="1300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4" name="下弧形箭头 33"/>
          <p:cNvSpPr/>
          <p:nvPr/>
        </p:nvSpPr>
        <p:spPr>
          <a:xfrm>
            <a:off x="2749550" y="4730751"/>
            <a:ext cx="725488" cy="354013"/>
          </a:xfrm>
          <a:prstGeom prst="curvedUpArrow">
            <a:avLst/>
          </a:prstGeom>
          <a:solidFill>
            <a:srgbClr val="FFFF00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5" name="下弧形箭头 34"/>
          <p:cNvSpPr/>
          <p:nvPr/>
        </p:nvSpPr>
        <p:spPr>
          <a:xfrm>
            <a:off x="4367214" y="4745038"/>
            <a:ext cx="725487" cy="354012"/>
          </a:xfrm>
          <a:prstGeom prst="curvedUpArrow">
            <a:avLst/>
          </a:prstGeom>
          <a:solidFill>
            <a:srgbClr val="FFFF00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6" name="下弧形箭头 35"/>
          <p:cNvSpPr/>
          <p:nvPr/>
        </p:nvSpPr>
        <p:spPr>
          <a:xfrm>
            <a:off x="6249989" y="4787901"/>
            <a:ext cx="725487" cy="354013"/>
          </a:xfrm>
          <a:prstGeom prst="curvedUpArrow">
            <a:avLst/>
          </a:prstGeom>
          <a:solidFill>
            <a:srgbClr val="FFFF00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7" name="下弧形箭头 36"/>
          <p:cNvSpPr/>
          <p:nvPr/>
        </p:nvSpPr>
        <p:spPr>
          <a:xfrm>
            <a:off x="8078789" y="4795838"/>
            <a:ext cx="725487" cy="354012"/>
          </a:xfrm>
          <a:prstGeom prst="curvedUpArrow">
            <a:avLst/>
          </a:prstGeom>
          <a:solidFill>
            <a:srgbClr val="FFFF00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522" name="文本框 38"/>
          <p:cNvSpPr txBox="1">
            <a:spLocks noChangeArrowheads="1"/>
          </p:cNvSpPr>
          <p:nvPr/>
        </p:nvSpPr>
        <p:spPr bwMode="auto">
          <a:xfrm>
            <a:off x="10293350" y="6464300"/>
            <a:ext cx="33214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solidFill>
                  <a:schemeClr val="bg1"/>
                </a:solidFill>
              </a:rPr>
              <a:t>4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80C72AB-89E1-4909-ACD9-4B984B6E513F}"/>
              </a:ext>
            </a:extLst>
          </p:cNvPr>
          <p:cNvSpPr txBox="1"/>
          <p:nvPr/>
        </p:nvSpPr>
        <p:spPr>
          <a:xfrm>
            <a:off x="4079777" y="5885051"/>
            <a:ext cx="57616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基于软件的重定位技术：修改指令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8A2A8DC-5415-695C-B3EC-880AAEC25DCA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5" name="标题 8">
            <a:extLst>
              <a:ext uri="{FF2B5EF4-FFF2-40B4-BE49-F238E27FC236}">
                <a16:creationId xmlns:a16="http://schemas.microsoft.com/office/drawing/2014/main" id="{DC286F3B-1371-26EC-EF2E-44D3F2F9E323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逻辑地址与物理地址</a:t>
            </a:r>
          </a:p>
        </p:txBody>
      </p:sp>
    </p:spTree>
    <p:custDataLst>
      <p:tags r:id="rId1"/>
    </p:custDataLst>
  </p:cSld>
  <p:clrMapOvr>
    <a:masterClrMapping/>
  </p:clrMapOvr>
  <p:transition spd="slow" advTm="14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19" grpId="0"/>
      <p:bldP spid="34" grpId="0" animBg="1"/>
      <p:bldP spid="35" grpId="0" animBg="1"/>
      <p:bldP spid="36" grpId="0" animBg="1"/>
      <p:bldP spid="3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组合 265"/>
          <p:cNvGrpSpPr>
            <a:grpSpLocks/>
          </p:cNvGrpSpPr>
          <p:nvPr/>
        </p:nvGrpSpPr>
        <p:grpSpPr bwMode="auto">
          <a:xfrm>
            <a:off x="3001964" y="5389564"/>
            <a:ext cx="2390775" cy="306387"/>
            <a:chOff x="1909409" y="865238"/>
            <a:chExt cx="2390714" cy="307777"/>
          </a:xfrm>
        </p:grpSpPr>
        <p:pic>
          <p:nvPicPr>
            <p:cNvPr id="22580" name="图片 26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09409" y="875401"/>
              <a:ext cx="2390714" cy="2874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581" name="矩形 267"/>
            <p:cNvSpPr>
              <a:spLocks noChangeArrowheads="1"/>
            </p:cNvSpPr>
            <p:nvPr/>
          </p:nvSpPr>
          <p:spPr bwMode="auto">
            <a:xfrm>
              <a:off x="2644543" y="865238"/>
              <a:ext cx="92044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14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urier New" panose="02070309020205020404" pitchFamily="49" charset="0"/>
                </a:rPr>
                <a:t>jmp</a:t>
              </a:r>
              <a:r>
                <a:rPr lang="zh-CN" altLang="en-US" sz="14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urier New" panose="02070309020205020404" pitchFamily="49" charset="0"/>
                </a:rPr>
                <a:t> </a:t>
              </a:r>
              <a:r>
                <a:rPr lang="en-US" altLang="zh-CN" sz="14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urier New" panose="02070309020205020404" pitchFamily="49" charset="0"/>
                </a:rPr>
                <a:t>175</a:t>
              </a:r>
              <a:endParaRPr lang="zh-CN" altLang="en-US" sz="1400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ourier New" panose="02070309020205020404" pitchFamily="49" charset="0"/>
              </a:endParaRPr>
            </a:p>
          </p:txBody>
        </p:sp>
      </p:grpSp>
      <p:pic>
        <p:nvPicPr>
          <p:cNvPr id="22532" name="图片 26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1838" y="4332288"/>
            <a:ext cx="1871662" cy="881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3" name="图片 26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4438" y="3449638"/>
            <a:ext cx="908050" cy="88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4" name="图片 27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1438" y="2711451"/>
            <a:ext cx="652462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5" name="图片 27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988" y="2859088"/>
            <a:ext cx="3556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6" name="图片 27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7088" y="2859088"/>
            <a:ext cx="3556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4" name="矩形 273"/>
          <p:cNvSpPr/>
          <p:nvPr/>
        </p:nvSpPr>
        <p:spPr>
          <a:xfrm>
            <a:off x="9367838" y="2740025"/>
            <a:ext cx="939800" cy="11049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22538" name="图片 274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1613" y="1781175"/>
            <a:ext cx="1397000" cy="3665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9" name="Rectangle 2"/>
          <p:cNvSpPr>
            <a:spLocks noChangeArrowheads="1"/>
          </p:cNvSpPr>
          <p:nvPr/>
        </p:nvSpPr>
        <p:spPr bwMode="auto">
          <a:xfrm>
            <a:off x="9053514" y="5132389"/>
            <a:ext cx="301625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60" tIns="44280" rIns="90360" bIns="4428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Pct val="100000"/>
            </a:pPr>
            <a:r>
              <a:rPr lang="zh-CN" altLang="en-US" sz="1500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ourier New" panose="02070309020205020404" pitchFamily="49" charset="0"/>
              </a:rPr>
              <a:t>0</a:t>
            </a:r>
            <a:endParaRPr lang="zh-CN" altLang="en-US" sz="1500" b="1">
              <a:solidFill>
                <a:srgbClr val="1157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540" name="Rectangle 22"/>
          <p:cNvSpPr>
            <a:spLocks noChangeArrowheads="1"/>
          </p:cNvSpPr>
          <p:nvPr/>
        </p:nvSpPr>
        <p:spPr bwMode="auto">
          <a:xfrm>
            <a:off x="8408988" y="1700214"/>
            <a:ext cx="8572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60" tIns="44280" rIns="90360" bIns="4428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Pct val="100000"/>
            </a:pPr>
            <a:r>
              <a:rPr lang="zh-CN" altLang="en-US" sz="1500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ourier New" panose="02070309020205020404" pitchFamily="49" charset="0"/>
              </a:rPr>
              <a:t>MAX</a:t>
            </a:r>
            <a:r>
              <a:rPr lang="zh-CN" altLang="en-US" sz="1500" b="1" i="1" baseline="-25000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ourier New" panose="02070309020205020404" pitchFamily="49" charset="0"/>
              </a:rPr>
              <a:t>sys</a:t>
            </a:r>
            <a:endParaRPr lang="zh-CN" altLang="en-US" sz="1500" b="1" i="1">
              <a:solidFill>
                <a:srgbClr val="1157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541" name="Rectangle 30"/>
          <p:cNvSpPr>
            <a:spLocks noChangeArrowheads="1"/>
          </p:cNvSpPr>
          <p:nvPr/>
        </p:nvSpPr>
        <p:spPr bwMode="auto">
          <a:xfrm>
            <a:off x="8431214" y="3684589"/>
            <a:ext cx="657225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60" tIns="44280" rIns="90360" bIns="4428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Pct val="100000"/>
            </a:pPr>
            <a:r>
              <a:rPr lang="zh-CN" altLang="en-US" sz="1500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ourier New" panose="02070309020205020404" pitchFamily="49" charset="0"/>
              </a:rPr>
              <a:t>1000</a:t>
            </a:r>
            <a:endParaRPr lang="zh-CN" altLang="en-US" sz="1500" b="1">
              <a:solidFill>
                <a:srgbClr val="1157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542" name="Rectangle 31"/>
          <p:cNvSpPr>
            <a:spLocks noChangeArrowheads="1"/>
          </p:cNvSpPr>
          <p:nvPr/>
        </p:nvSpPr>
        <p:spPr bwMode="auto">
          <a:xfrm>
            <a:off x="8431214" y="2555876"/>
            <a:ext cx="657225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60" tIns="44280" rIns="90360" bIns="4428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Pct val="100000"/>
            </a:pPr>
            <a:r>
              <a:rPr lang="zh-CN" altLang="en-US" sz="1500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ourier New" panose="02070309020205020404" pitchFamily="49" charset="0"/>
              </a:rPr>
              <a:t>1500</a:t>
            </a:r>
            <a:endParaRPr lang="zh-CN" altLang="en-US" sz="1500" b="1">
              <a:solidFill>
                <a:srgbClr val="1157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543" name="Rectangle 23"/>
          <p:cNvSpPr>
            <a:spLocks noChangeArrowheads="1"/>
          </p:cNvSpPr>
          <p:nvPr/>
        </p:nvSpPr>
        <p:spPr bwMode="auto">
          <a:xfrm>
            <a:off x="9482138" y="2660651"/>
            <a:ext cx="698500" cy="127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360" tIns="44280" rIns="90360" bIns="4428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10000"/>
              </a:lnSpc>
              <a:buSzPct val="100000"/>
            </a:pPr>
            <a:r>
              <a:rPr lang="zh-CN" altLang="en-US" sz="1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</a:t>
            </a:r>
            <a:endParaRPr lang="en-US" altLang="zh-CN" sz="14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10000"/>
              </a:lnSpc>
              <a:buSzPct val="100000"/>
            </a:pPr>
            <a:r>
              <a:rPr lang="en-US" altLang="zh-CN" sz="1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1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endParaRPr lang="en-US" altLang="zh-CN" sz="14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10000"/>
              </a:lnSpc>
              <a:buSzPct val="100000"/>
            </a:pPr>
            <a:r>
              <a:rPr lang="zh-CN" altLang="en-US" sz="1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</a:t>
            </a:r>
            <a:endParaRPr lang="en-US" altLang="zh-CN" sz="14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10000"/>
              </a:lnSpc>
              <a:buSzPct val="100000"/>
            </a:pPr>
            <a:r>
              <a:rPr lang="zh-CN" altLang="en-US" sz="1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endParaRPr lang="en-US" altLang="zh-CN" sz="14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10000"/>
              </a:lnSpc>
              <a:buSzPct val="100000"/>
            </a:pPr>
            <a:r>
              <a:rPr lang="zh-CN" altLang="en-US" sz="1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</a:t>
            </a:r>
          </a:p>
        </p:txBody>
      </p:sp>
      <p:sp>
        <p:nvSpPr>
          <p:cNvPr id="22544" name="Rectangle 28"/>
          <p:cNvSpPr>
            <a:spLocks noChangeArrowheads="1"/>
          </p:cNvSpPr>
          <p:nvPr/>
        </p:nvSpPr>
        <p:spPr bwMode="auto">
          <a:xfrm>
            <a:off x="2855914" y="4975226"/>
            <a:ext cx="301625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60" tIns="44280" rIns="90360" bIns="4428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Pct val="100000"/>
            </a:pPr>
            <a:r>
              <a:rPr lang="zh-CN" altLang="en-US" sz="1500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omic Sans MS" panose="030F0702030302020204" pitchFamily="66" charset="0"/>
              </a:rPr>
              <a:t>0</a:t>
            </a:r>
            <a:endParaRPr lang="zh-CN" altLang="en-US" sz="1500" b="1">
              <a:solidFill>
                <a:srgbClr val="1157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545" name="Rectangle 29"/>
          <p:cNvSpPr>
            <a:spLocks noChangeArrowheads="1"/>
          </p:cNvSpPr>
          <p:nvPr/>
        </p:nvSpPr>
        <p:spPr bwMode="auto">
          <a:xfrm>
            <a:off x="2351089" y="4298951"/>
            <a:ext cx="968375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60" tIns="44280" rIns="90360" bIns="4428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Pct val="100000"/>
            </a:pPr>
            <a:r>
              <a:rPr lang="zh-CN" altLang="en-US" sz="1500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ourier New" panose="02070309020205020404" pitchFamily="49" charset="0"/>
              </a:rPr>
              <a:t>MAX</a:t>
            </a:r>
            <a:r>
              <a:rPr lang="zh-CN" altLang="en-US" sz="1500" b="1" i="1" baseline="-25000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ourier New" panose="02070309020205020404" pitchFamily="49" charset="0"/>
              </a:rPr>
              <a:t>prog</a:t>
            </a:r>
            <a:endParaRPr lang="zh-CN" altLang="en-US" sz="1500" b="1" i="1" baseline="-25000">
              <a:solidFill>
                <a:srgbClr val="1157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546" name="Rectangle 37"/>
          <p:cNvSpPr>
            <a:spLocks noChangeArrowheads="1"/>
          </p:cNvSpPr>
          <p:nvPr/>
        </p:nvSpPr>
        <p:spPr bwMode="auto">
          <a:xfrm>
            <a:off x="7051675" y="4197350"/>
            <a:ext cx="642938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60" tIns="44280" rIns="90360" bIns="4428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SzPct val="100000"/>
            </a:pPr>
            <a:r>
              <a:rPr lang="zh-CN" altLang="en-US" sz="1200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段基址</a:t>
            </a:r>
            <a:endParaRPr lang="en-US" altLang="zh-CN" sz="1200" b="1">
              <a:solidFill>
                <a:srgbClr val="11576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ctr">
              <a:buSzPct val="100000"/>
            </a:pPr>
            <a:r>
              <a:rPr lang="zh-CN" altLang="en-US" sz="1200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寄存器</a:t>
            </a:r>
            <a:endParaRPr lang="zh-CN" altLang="en-US" sz="1200" b="1">
              <a:solidFill>
                <a:srgbClr val="1157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547" name="Rectangle 40"/>
          <p:cNvSpPr>
            <a:spLocks noChangeArrowheads="1"/>
          </p:cNvSpPr>
          <p:nvPr/>
        </p:nvSpPr>
        <p:spPr bwMode="auto">
          <a:xfrm>
            <a:off x="4808539" y="2501901"/>
            <a:ext cx="568325" cy="550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60" tIns="44280" rIns="90360" bIns="4428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SzPct val="100000"/>
            </a:pPr>
            <a:r>
              <a:rPr lang="zh-CN" altLang="en-US" sz="1500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逻辑</a:t>
            </a:r>
          </a:p>
          <a:p>
            <a:pPr algn="ctr">
              <a:buSzPct val="100000"/>
            </a:pPr>
            <a:r>
              <a:rPr lang="zh-CN" altLang="en-US" sz="1500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地址</a:t>
            </a:r>
            <a:endParaRPr lang="zh-CN" altLang="en-US" sz="1500" b="1">
              <a:solidFill>
                <a:srgbClr val="1157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548" name="Rectangle 45"/>
          <p:cNvSpPr>
            <a:spLocks noChangeArrowheads="1"/>
          </p:cNvSpPr>
          <p:nvPr/>
        </p:nvSpPr>
        <p:spPr bwMode="auto">
          <a:xfrm>
            <a:off x="5702301" y="4184650"/>
            <a:ext cx="644525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60" tIns="44280" rIns="90360" bIns="4428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SzPct val="100000"/>
            </a:pPr>
            <a:r>
              <a:rPr lang="zh-CN" altLang="en-US" sz="1200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段长度</a:t>
            </a:r>
          </a:p>
          <a:p>
            <a:pPr algn="ctr">
              <a:buSzPct val="100000"/>
            </a:pPr>
            <a:r>
              <a:rPr lang="zh-CN" altLang="en-US" sz="1200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寄存器</a:t>
            </a:r>
            <a:endParaRPr lang="zh-CN" altLang="en-US" sz="1200" b="1">
              <a:solidFill>
                <a:srgbClr val="1157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549" name="Rectangle 47"/>
          <p:cNvSpPr>
            <a:spLocks noChangeArrowheads="1"/>
          </p:cNvSpPr>
          <p:nvPr/>
        </p:nvSpPr>
        <p:spPr bwMode="auto">
          <a:xfrm>
            <a:off x="5292726" y="1939926"/>
            <a:ext cx="152876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360" tIns="44280" rIns="90360" bIns="4428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SzPct val="100000"/>
            </a:pPr>
            <a:r>
              <a:rPr lang="zh-CN" altLang="en-US" sz="1500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Verdana" panose="020B0604030504040204" pitchFamily="34" charset="0"/>
              </a:rPr>
              <a:t>内存异常</a:t>
            </a:r>
            <a:endParaRPr lang="zh-CN" altLang="en-US" sz="1500" b="1">
              <a:solidFill>
                <a:srgbClr val="1157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550" name="Rectangle 49"/>
          <p:cNvSpPr>
            <a:spLocks noChangeArrowheads="1"/>
          </p:cNvSpPr>
          <p:nvPr/>
        </p:nvSpPr>
        <p:spPr bwMode="auto">
          <a:xfrm>
            <a:off x="7715250" y="2501901"/>
            <a:ext cx="566738" cy="550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60" tIns="44280" rIns="90360" bIns="4428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SzPct val="100000"/>
            </a:pPr>
            <a:r>
              <a:rPr lang="zh-CN" altLang="en-US" sz="1500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物理</a:t>
            </a:r>
          </a:p>
          <a:p>
            <a:pPr algn="ctr">
              <a:buSzPct val="100000"/>
            </a:pPr>
            <a:r>
              <a:rPr lang="zh-CN" altLang="en-US" sz="1500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地址</a:t>
            </a:r>
            <a:endParaRPr lang="zh-CN" altLang="en-US" sz="1500" b="1">
              <a:solidFill>
                <a:srgbClr val="1157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551" name="Text Box 52"/>
          <p:cNvSpPr>
            <a:spLocks noChangeArrowheads="1"/>
          </p:cNvSpPr>
          <p:nvPr/>
        </p:nvSpPr>
        <p:spPr bwMode="auto">
          <a:xfrm>
            <a:off x="3957639" y="3822701"/>
            <a:ext cx="541337" cy="30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SzPct val="100000"/>
            </a:pPr>
            <a:r>
              <a:rPr lang="zh-CN" altLang="en-US" sz="1400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</a:p>
        </p:txBody>
      </p:sp>
      <p:sp>
        <p:nvSpPr>
          <p:cNvPr id="22552" name="Rectangle 50"/>
          <p:cNvSpPr>
            <a:spLocks noChangeArrowheads="1"/>
          </p:cNvSpPr>
          <p:nvPr/>
        </p:nvSpPr>
        <p:spPr bwMode="auto">
          <a:xfrm>
            <a:off x="6327775" y="2979739"/>
            <a:ext cx="496888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60" tIns="44280" rIns="90360" bIns="4428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Pct val="100000"/>
            </a:pPr>
            <a:r>
              <a:rPr lang="zh-CN" altLang="en-US" sz="1500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yes</a:t>
            </a:r>
            <a:endParaRPr lang="zh-CN" altLang="en-US" sz="1500" b="1">
              <a:solidFill>
                <a:srgbClr val="1157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553" name="Rectangle 51"/>
          <p:cNvSpPr>
            <a:spLocks noChangeArrowheads="1"/>
          </p:cNvSpPr>
          <p:nvPr/>
        </p:nvSpPr>
        <p:spPr bwMode="auto">
          <a:xfrm>
            <a:off x="5967414" y="2516189"/>
            <a:ext cx="433387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60" tIns="44280" rIns="90360" bIns="4428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Pct val="100000"/>
            </a:pPr>
            <a:r>
              <a:rPr lang="zh-CN" altLang="en-US" sz="1500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no</a:t>
            </a:r>
            <a:endParaRPr lang="zh-CN" altLang="en-US" sz="1500" b="1">
              <a:solidFill>
                <a:srgbClr val="1157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2554" name="组合 290"/>
          <p:cNvGrpSpPr>
            <a:grpSpLocks/>
          </p:cNvGrpSpPr>
          <p:nvPr/>
        </p:nvGrpSpPr>
        <p:grpSpPr bwMode="auto">
          <a:xfrm>
            <a:off x="5686426" y="3827463"/>
            <a:ext cx="720725" cy="334962"/>
            <a:chOff x="3514416" y="2898184"/>
            <a:chExt cx="720080" cy="334727"/>
          </a:xfrm>
        </p:grpSpPr>
        <p:pic>
          <p:nvPicPr>
            <p:cNvPr id="22578" name="图片 291"/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14416" y="2898186"/>
              <a:ext cx="720080" cy="334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579" name="Rectangle 31"/>
            <p:cNvSpPr>
              <a:spLocks noChangeArrowheads="1"/>
            </p:cNvSpPr>
            <p:nvPr/>
          </p:nvSpPr>
          <p:spPr bwMode="auto">
            <a:xfrm>
              <a:off x="3605988" y="2898184"/>
              <a:ext cx="538351" cy="320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SzPct val="100000"/>
              </a:pPr>
              <a:r>
                <a:rPr lang="zh-CN" altLang="en-US" sz="15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urier New" panose="02070309020205020404" pitchFamily="49" charset="0"/>
                </a:rPr>
                <a:t>500</a:t>
              </a:r>
              <a:endParaRPr lang="zh-CN" altLang="en-US" sz="1500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2555" name="组合 293"/>
          <p:cNvGrpSpPr>
            <a:grpSpLocks/>
          </p:cNvGrpSpPr>
          <p:nvPr/>
        </p:nvGrpSpPr>
        <p:grpSpPr bwMode="auto">
          <a:xfrm>
            <a:off x="6994526" y="3827463"/>
            <a:ext cx="720725" cy="334962"/>
            <a:chOff x="4822354" y="2898185"/>
            <a:chExt cx="720080" cy="334725"/>
          </a:xfrm>
        </p:grpSpPr>
        <p:pic>
          <p:nvPicPr>
            <p:cNvPr id="22576" name="图片 294"/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22354" y="2898185"/>
              <a:ext cx="720080" cy="334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577" name="Rectangle 31"/>
            <p:cNvSpPr>
              <a:spLocks noChangeArrowheads="1"/>
            </p:cNvSpPr>
            <p:nvPr/>
          </p:nvSpPr>
          <p:spPr bwMode="auto">
            <a:xfrm>
              <a:off x="4839867" y="2905448"/>
              <a:ext cx="656974" cy="320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SzPct val="100000"/>
              </a:pPr>
              <a:r>
                <a:rPr lang="en-US" altLang="zh-CN" sz="15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urier New" panose="02070309020205020404" pitchFamily="49" charset="0"/>
                </a:rPr>
                <a:t>10</a:t>
              </a:r>
              <a:r>
                <a:rPr lang="zh-CN" altLang="en-US" sz="15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urier New" panose="02070309020205020404" pitchFamily="49" charset="0"/>
                </a:rPr>
                <a:t>00</a:t>
              </a:r>
              <a:endParaRPr lang="zh-CN" altLang="en-US" sz="1500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2556" name="矩形 296"/>
          <p:cNvSpPr>
            <a:spLocks noChangeArrowheads="1"/>
          </p:cNvSpPr>
          <p:nvPr/>
        </p:nvSpPr>
        <p:spPr bwMode="auto">
          <a:xfrm>
            <a:off x="3433764" y="4421188"/>
            <a:ext cx="15716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SzPct val="100000"/>
            </a:pPr>
            <a:r>
              <a:rPr lang="zh-CN" altLang="en-US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omic Sans MS" panose="030F0702030302020204" pitchFamily="66" charset="0"/>
              </a:rPr>
              <a:t>进程</a:t>
            </a:r>
            <a:r>
              <a:rPr lang="en-US" alt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omic Sans MS" panose="030F0702030302020204" pitchFamily="66" charset="0"/>
              </a:rPr>
              <a:t>P</a:t>
            </a:r>
          </a:p>
          <a:p>
            <a:pPr algn="ctr">
              <a:buSzPct val="100000"/>
            </a:pPr>
            <a:r>
              <a:rPr lang="zh-CN" altLang="en-US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omic Sans MS" panose="030F0702030302020204" pitchFamily="66" charset="0"/>
              </a:rPr>
              <a:t>逻辑地址空间</a:t>
            </a:r>
            <a:endParaRPr lang="zh-CN" altLang="en-US" b="1" i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Comic Sans MS" panose="030F0702030302020204" pitchFamily="66" charset="0"/>
            </a:endParaRPr>
          </a:p>
        </p:txBody>
      </p:sp>
      <p:sp>
        <p:nvSpPr>
          <p:cNvPr id="22557" name="Rectangle 40"/>
          <p:cNvSpPr>
            <a:spLocks noChangeArrowheads="1"/>
          </p:cNvSpPr>
          <p:nvPr/>
        </p:nvSpPr>
        <p:spPr bwMode="auto">
          <a:xfrm>
            <a:off x="3914776" y="2881314"/>
            <a:ext cx="587375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60" tIns="44280" rIns="90360" bIns="4428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SzPct val="100000"/>
            </a:pPr>
            <a:r>
              <a:rPr lang="en-US" altLang="zh-CN" sz="15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endParaRPr lang="zh-CN" altLang="en-US" sz="15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99" name="直接箭头连接符 298"/>
          <p:cNvCxnSpPr/>
          <p:nvPr/>
        </p:nvCxnSpPr>
        <p:spPr>
          <a:xfrm>
            <a:off x="4598988" y="3046413"/>
            <a:ext cx="1179512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直接箭头连接符 299"/>
          <p:cNvCxnSpPr/>
          <p:nvPr/>
        </p:nvCxnSpPr>
        <p:spPr>
          <a:xfrm>
            <a:off x="6327776" y="3041651"/>
            <a:ext cx="817563" cy="476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直接箭头连接符 300"/>
          <p:cNvCxnSpPr/>
          <p:nvPr/>
        </p:nvCxnSpPr>
        <p:spPr>
          <a:xfrm flipV="1">
            <a:off x="7543800" y="3041650"/>
            <a:ext cx="1722438" cy="158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直接箭头连接符 301"/>
          <p:cNvCxnSpPr/>
          <p:nvPr/>
        </p:nvCxnSpPr>
        <p:spPr>
          <a:xfrm flipH="1" flipV="1">
            <a:off x="6026151" y="2224089"/>
            <a:ext cx="3175" cy="62547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直接箭头连接符 302"/>
          <p:cNvCxnSpPr/>
          <p:nvPr/>
        </p:nvCxnSpPr>
        <p:spPr>
          <a:xfrm flipH="1" flipV="1">
            <a:off x="6040439" y="3214688"/>
            <a:ext cx="3175" cy="62706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直接箭头连接符 303"/>
          <p:cNvCxnSpPr/>
          <p:nvPr/>
        </p:nvCxnSpPr>
        <p:spPr>
          <a:xfrm flipH="1" flipV="1">
            <a:off x="7353301" y="3208339"/>
            <a:ext cx="3175" cy="62547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64" name="Rectangle 50"/>
          <p:cNvSpPr>
            <a:spLocks noChangeArrowheads="1"/>
          </p:cNvSpPr>
          <p:nvPr/>
        </p:nvSpPr>
        <p:spPr bwMode="auto">
          <a:xfrm>
            <a:off x="5878513" y="2859089"/>
            <a:ext cx="328612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60" tIns="44280" rIns="90360" bIns="4428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Pct val="100000"/>
            </a:pPr>
            <a:r>
              <a:rPr lang="zh-CN" altLang="en-US" sz="15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≤</a:t>
            </a:r>
          </a:p>
        </p:txBody>
      </p:sp>
      <p:sp>
        <p:nvSpPr>
          <p:cNvPr id="22565" name="Rectangle 50"/>
          <p:cNvSpPr>
            <a:spLocks noChangeArrowheads="1"/>
          </p:cNvSpPr>
          <p:nvPr/>
        </p:nvSpPr>
        <p:spPr bwMode="auto">
          <a:xfrm>
            <a:off x="7194551" y="2859089"/>
            <a:ext cx="327025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60" tIns="44280" rIns="90360" bIns="4428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Pct val="100000"/>
            </a:pPr>
            <a:r>
              <a:rPr lang="en-US" altLang="zh-CN" sz="15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15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11" name="组合 310"/>
          <p:cNvGrpSpPr>
            <a:grpSpLocks/>
          </p:cNvGrpSpPr>
          <p:nvPr/>
        </p:nvGrpSpPr>
        <p:grpSpPr bwMode="auto">
          <a:xfrm>
            <a:off x="3659189" y="3411538"/>
            <a:ext cx="1081087" cy="901700"/>
            <a:chOff x="1929246" y="2751523"/>
            <a:chExt cx="1081524" cy="902738"/>
          </a:xfrm>
        </p:grpSpPr>
        <p:sp>
          <p:nvSpPr>
            <p:cNvPr id="312" name="上箭头 311"/>
            <p:cNvSpPr/>
            <p:nvPr/>
          </p:nvSpPr>
          <p:spPr>
            <a:xfrm>
              <a:off x="1929246" y="2751523"/>
              <a:ext cx="1081524" cy="902738"/>
            </a:xfrm>
            <a:prstGeom prst="upArrow">
              <a:avLst/>
            </a:prstGeom>
            <a:solidFill>
              <a:srgbClr val="FFFF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2575" name="Text Box 52"/>
            <p:cNvSpPr>
              <a:spLocks noChangeArrowheads="1"/>
            </p:cNvSpPr>
            <p:nvPr/>
          </p:nvSpPr>
          <p:spPr bwMode="auto">
            <a:xfrm>
              <a:off x="2186089" y="3192652"/>
              <a:ext cx="592127" cy="3407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SzPct val="100000"/>
              </a:pPr>
              <a:r>
                <a:rPr lang="zh-CN" altLang="en-US" sz="1600" b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指令</a:t>
              </a:r>
            </a:p>
          </p:txBody>
        </p:sp>
      </p:grpSp>
      <p:cxnSp>
        <p:nvCxnSpPr>
          <p:cNvPr id="314" name="直接箭头连接符 313"/>
          <p:cNvCxnSpPr/>
          <p:nvPr/>
        </p:nvCxnSpPr>
        <p:spPr>
          <a:xfrm>
            <a:off x="4546601" y="3040063"/>
            <a:ext cx="1304925" cy="0"/>
          </a:xfrm>
          <a:prstGeom prst="straightConnector1">
            <a:avLst/>
          </a:prstGeom>
          <a:ln w="76200">
            <a:solidFill>
              <a:srgbClr val="D6009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直接箭头连接符 314"/>
          <p:cNvCxnSpPr/>
          <p:nvPr/>
        </p:nvCxnSpPr>
        <p:spPr>
          <a:xfrm flipV="1">
            <a:off x="6027738" y="2130426"/>
            <a:ext cx="12700" cy="728663"/>
          </a:xfrm>
          <a:prstGeom prst="straightConnector1">
            <a:avLst/>
          </a:prstGeom>
          <a:ln w="76200">
            <a:solidFill>
              <a:srgbClr val="D6009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直接箭头连接符 315"/>
          <p:cNvCxnSpPr/>
          <p:nvPr/>
        </p:nvCxnSpPr>
        <p:spPr>
          <a:xfrm>
            <a:off x="6272213" y="3041650"/>
            <a:ext cx="900112" cy="12700"/>
          </a:xfrm>
          <a:prstGeom prst="straightConnector1">
            <a:avLst/>
          </a:prstGeom>
          <a:ln w="76200">
            <a:solidFill>
              <a:srgbClr val="D6009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直接箭头连接符 316"/>
          <p:cNvCxnSpPr/>
          <p:nvPr/>
        </p:nvCxnSpPr>
        <p:spPr>
          <a:xfrm>
            <a:off x="7543800" y="3041650"/>
            <a:ext cx="1809750" cy="0"/>
          </a:xfrm>
          <a:prstGeom prst="straightConnector1">
            <a:avLst/>
          </a:prstGeom>
          <a:ln w="76200">
            <a:solidFill>
              <a:srgbClr val="D6009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8" name="组合 317"/>
          <p:cNvGrpSpPr>
            <a:grpSpLocks/>
          </p:cNvGrpSpPr>
          <p:nvPr/>
        </p:nvGrpSpPr>
        <p:grpSpPr bwMode="auto">
          <a:xfrm>
            <a:off x="7826375" y="3186114"/>
            <a:ext cx="1422400" cy="307975"/>
            <a:chOff x="1909409" y="865238"/>
            <a:chExt cx="2390714" cy="307777"/>
          </a:xfrm>
        </p:grpSpPr>
        <p:pic>
          <p:nvPicPr>
            <p:cNvPr id="22572" name="图片 318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09409" y="875401"/>
              <a:ext cx="2390714" cy="2874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573" name="矩形 319"/>
            <p:cNvSpPr>
              <a:spLocks noChangeArrowheads="1"/>
            </p:cNvSpPr>
            <p:nvPr/>
          </p:nvSpPr>
          <p:spPr bwMode="auto">
            <a:xfrm>
              <a:off x="2238250" y="865238"/>
              <a:ext cx="173303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14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urier New" panose="02070309020205020404" pitchFamily="49" charset="0"/>
                </a:rPr>
                <a:t>jmp 1175</a:t>
              </a:r>
              <a:endParaRPr lang="zh-CN" altLang="en-US" sz="1400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ourier New" panose="02070309020205020404" pitchFamily="49" charset="0"/>
              </a:endParaRPr>
            </a:p>
          </p:txBody>
        </p:sp>
      </p:grpSp>
      <p:sp>
        <p:nvSpPr>
          <p:cNvPr id="54" name="文本框 53">
            <a:extLst>
              <a:ext uri="{FF2B5EF4-FFF2-40B4-BE49-F238E27FC236}">
                <a16:creationId xmlns:a16="http://schemas.microsoft.com/office/drawing/2014/main" id="{7A341351-9C76-4F73-8C24-CB7EA3D72A16}"/>
              </a:ext>
            </a:extLst>
          </p:cNvPr>
          <p:cNvSpPr txBox="1"/>
          <p:nvPr/>
        </p:nvSpPr>
        <p:spPr>
          <a:xfrm>
            <a:off x="5616434" y="4702176"/>
            <a:ext cx="371965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基于硬件的重定位技术：每一个访存指令都必须（自动）进行加法和边界判断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C415A584-C77B-4314-8845-DA535F9CC54D}"/>
              </a:ext>
            </a:extLst>
          </p:cNvPr>
          <p:cNvGrpSpPr>
            <a:grpSpLocks/>
          </p:cNvGrpSpPr>
          <p:nvPr/>
        </p:nvGrpSpPr>
        <p:grpSpPr bwMode="auto">
          <a:xfrm>
            <a:off x="3001963" y="6075956"/>
            <a:ext cx="2390775" cy="306387"/>
            <a:chOff x="1909409" y="865238"/>
            <a:chExt cx="2390714" cy="307777"/>
          </a:xfrm>
        </p:grpSpPr>
        <p:pic>
          <p:nvPicPr>
            <p:cNvPr id="57" name="图片 266">
              <a:extLst>
                <a:ext uri="{FF2B5EF4-FFF2-40B4-BE49-F238E27FC236}">
                  <a16:creationId xmlns:a16="http://schemas.microsoft.com/office/drawing/2014/main" id="{4A9B72FB-2E22-47A8-8934-6E4B0FCA38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09409" y="875401"/>
              <a:ext cx="2390714" cy="2874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8" name="矩形 267">
              <a:extLst>
                <a:ext uri="{FF2B5EF4-FFF2-40B4-BE49-F238E27FC236}">
                  <a16:creationId xmlns:a16="http://schemas.microsoft.com/office/drawing/2014/main" id="{CBBA5375-63F1-4F16-B82D-4BFF39A4FA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1198" y="865238"/>
              <a:ext cx="143806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1400" b="1" dirty="0" err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urier New" panose="02070309020205020404" pitchFamily="49" charset="0"/>
                </a:rPr>
                <a:t>jmp</a:t>
              </a:r>
              <a:r>
                <a:rPr lang="zh-CN" altLang="en-US" sz="1400" b="1" dirty="0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urier New" panose="02070309020205020404" pitchFamily="49" charset="0"/>
                </a:rPr>
                <a:t> </a:t>
              </a:r>
              <a:r>
                <a:rPr lang="en-US" altLang="zh-CN" sz="1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urier New" panose="02070309020205020404" pitchFamily="49" charset="0"/>
                </a:rPr>
                <a:t>CS:</a:t>
              </a:r>
              <a:r>
                <a:rPr lang="en-US" altLang="zh-CN" sz="1400" b="1" dirty="0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urier New" panose="02070309020205020404" pitchFamily="49" charset="0"/>
                </a:rPr>
                <a:t>175</a:t>
              </a:r>
              <a:endParaRPr lang="zh-CN" altLang="en-US" sz="1400" b="1" dirty="0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ourier New" panose="02070309020205020404" pitchFamily="49" charset="0"/>
              </a:endParaRPr>
            </a:p>
          </p:txBody>
        </p: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DF98E58F-2CBA-4016-8D34-1F2C1E964A12}"/>
              </a:ext>
            </a:extLst>
          </p:cNvPr>
          <p:cNvGrpSpPr>
            <a:grpSpLocks/>
          </p:cNvGrpSpPr>
          <p:nvPr/>
        </p:nvGrpSpPr>
        <p:grpSpPr bwMode="auto">
          <a:xfrm>
            <a:off x="1837532" y="2184899"/>
            <a:ext cx="2390775" cy="306387"/>
            <a:chOff x="1909409" y="865238"/>
            <a:chExt cx="2390714" cy="307777"/>
          </a:xfrm>
        </p:grpSpPr>
        <p:pic>
          <p:nvPicPr>
            <p:cNvPr id="60" name="图片 266">
              <a:extLst>
                <a:ext uri="{FF2B5EF4-FFF2-40B4-BE49-F238E27FC236}">
                  <a16:creationId xmlns:a16="http://schemas.microsoft.com/office/drawing/2014/main" id="{B7808EE6-FDAB-48EF-B2AA-90F373E532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09409" y="875401"/>
              <a:ext cx="2390714" cy="2874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1" name="矩形 267">
              <a:extLst>
                <a:ext uri="{FF2B5EF4-FFF2-40B4-BE49-F238E27FC236}">
                  <a16:creationId xmlns:a16="http://schemas.microsoft.com/office/drawing/2014/main" id="{C382245C-5E00-4D8A-830C-6FF28D0AC2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1198" y="865238"/>
              <a:ext cx="143806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1400" b="1" dirty="0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urier New" panose="02070309020205020404" pitchFamily="49" charset="0"/>
                </a:rPr>
                <a:t>set</a:t>
              </a:r>
              <a:r>
                <a:rPr lang="zh-CN" altLang="en-US" sz="1400" b="1" dirty="0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urier New" panose="02070309020205020404" pitchFamily="49" charset="0"/>
                </a:rPr>
                <a:t> </a:t>
              </a:r>
              <a:r>
                <a:rPr lang="en-US" altLang="zh-CN" sz="1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urier New" panose="02070309020205020404" pitchFamily="49" charset="0"/>
                </a:rPr>
                <a:t>CS=1000</a:t>
              </a:r>
              <a:endParaRPr lang="zh-CN" altLang="en-US" sz="1400" b="1" dirty="0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ourier New" panose="02070309020205020404" pitchFamily="49" charset="0"/>
              </a:endParaRPr>
            </a:p>
          </p:txBody>
        </p: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A4E6E163-09AC-4ECB-8FC7-643CC674291C}"/>
              </a:ext>
            </a:extLst>
          </p:cNvPr>
          <p:cNvGrpSpPr>
            <a:grpSpLocks/>
          </p:cNvGrpSpPr>
          <p:nvPr/>
        </p:nvGrpSpPr>
        <p:grpSpPr bwMode="auto">
          <a:xfrm>
            <a:off x="7543801" y="2147344"/>
            <a:ext cx="1837713" cy="307777"/>
            <a:chOff x="2014734" y="866010"/>
            <a:chExt cx="2390714" cy="309173"/>
          </a:xfrm>
        </p:grpSpPr>
        <p:pic>
          <p:nvPicPr>
            <p:cNvPr id="63" name="图片 266">
              <a:extLst>
                <a:ext uri="{FF2B5EF4-FFF2-40B4-BE49-F238E27FC236}">
                  <a16:creationId xmlns:a16="http://schemas.microsoft.com/office/drawing/2014/main" id="{F6903513-FFC0-4A3E-8CF0-3762FFA3C3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14734" y="876872"/>
              <a:ext cx="2390714" cy="2874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4" name="矩形 267">
              <a:extLst>
                <a:ext uri="{FF2B5EF4-FFF2-40B4-BE49-F238E27FC236}">
                  <a16:creationId xmlns:a16="http://schemas.microsoft.com/office/drawing/2014/main" id="{889A49FF-1B95-4540-B2EE-59C7F8781C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3968" y="866010"/>
              <a:ext cx="1692245" cy="309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1400" b="1" dirty="0" err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urier New" panose="02070309020205020404" pitchFamily="49" charset="0"/>
                </a:rPr>
                <a:t>jmp</a:t>
              </a:r>
              <a:r>
                <a:rPr lang="en-US" altLang="zh-CN" sz="1400" b="1" dirty="0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urier New" panose="02070309020205020404" pitchFamily="49" charset="0"/>
                </a:rPr>
                <a:t> </a:t>
              </a:r>
              <a:r>
                <a:rPr lang="en-US" altLang="zh-CN" sz="1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urier New" panose="02070309020205020404" pitchFamily="49" charset="0"/>
                </a:rPr>
                <a:t>CS+175</a:t>
              </a:r>
              <a:endParaRPr lang="zh-CN" altLang="en-US" sz="1400" b="1" dirty="0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ourier New" panose="02070309020205020404" pitchFamily="49" charset="0"/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B0150265-5C63-9B1A-207E-7616A9E0BB43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3" name="标题 8">
            <a:extLst>
              <a:ext uri="{FF2B5EF4-FFF2-40B4-BE49-F238E27FC236}">
                <a16:creationId xmlns:a16="http://schemas.microsoft.com/office/drawing/2014/main" id="{1749DFC4-B0D6-999D-A935-5E2540FE512C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地址转换过程</a:t>
            </a:r>
            <a:r>
              <a:rPr lang="en-US" altLang="zh-CN" b="0" kern="0" dirty="0"/>
              <a:t>-</a:t>
            </a:r>
            <a:r>
              <a:rPr lang="zh-CN" altLang="en-US" b="0" kern="0" dirty="0"/>
              <a:t>硬件辅助的动态重定位法</a:t>
            </a:r>
          </a:p>
        </p:txBody>
      </p:sp>
    </p:spTree>
    <p:custDataLst>
      <p:tags r:id="rId1"/>
    </p:custDataLst>
  </p:cSld>
  <p:clrMapOvr>
    <a:masterClrMapping/>
  </p:clrMapOvr>
  <p:transition spd="slow" advTm="21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 tmFilter="0, 0; .2, .5; .8, .5; 1, 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250" autoRev="1" fill="hold"/>
                                        <p:tgtEl>
                                          <p:spTgt spid="3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"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3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1"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 tmFilter="0, 0; .2, .5; .8, .5; 1, 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3" dur="250" autoRev="1" fill="hold"/>
                                        <p:tgtEl>
                                          <p:spTgt spid="3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 tmFilter="0, 0; .2, .5; .8, .5; 1, 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6" dur="250" autoRev="1" fill="hold"/>
                                        <p:tgtEl>
                                          <p:spTgt spid="3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0"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3"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 tmFilter="0, 0; .2, .5; .8, .5; 1, 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2" dur="250" autoRev="1" fill="hold"/>
                                        <p:tgtEl>
                                          <p:spTgt spid="3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 descr="9-2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6226" y="3070573"/>
            <a:ext cx="1484313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8" name="组合 47"/>
          <p:cNvGrpSpPr>
            <a:grpSpLocks/>
          </p:cNvGrpSpPr>
          <p:nvPr/>
        </p:nvGrpSpPr>
        <p:grpSpPr bwMode="auto">
          <a:xfrm>
            <a:off x="8577264" y="2387948"/>
            <a:ext cx="1285875" cy="557213"/>
            <a:chOff x="7073724" y="932190"/>
            <a:chExt cx="1285696" cy="557383"/>
          </a:xfrm>
        </p:grpSpPr>
        <p:sp>
          <p:nvSpPr>
            <p:cNvPr id="51" name="矩形 50"/>
            <p:cNvSpPr/>
            <p:nvPr/>
          </p:nvSpPr>
          <p:spPr>
            <a:xfrm>
              <a:off x="7203881" y="992533"/>
              <a:ext cx="1025382" cy="49704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1784" name="矩形 51"/>
            <p:cNvSpPr>
              <a:spLocks noChangeArrowheads="1"/>
            </p:cNvSpPr>
            <p:nvPr/>
          </p:nvSpPr>
          <p:spPr bwMode="auto">
            <a:xfrm>
              <a:off x="7073724" y="932190"/>
              <a:ext cx="1285696" cy="344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10000"/>
                </a:lnSpc>
                <a:buSzPct val="100000"/>
              </a:pPr>
              <a:r>
                <a:rPr lang="zh-CN" altLang="en-US" sz="1600" b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mic Sans MS" panose="030F0702030302020204" pitchFamily="66" charset="0"/>
                </a:rPr>
                <a:t>进程</a:t>
              </a:r>
              <a:r>
                <a:rPr lang="zh-CN" altLang="en-US" sz="1600" b="1" i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mic Sans MS" panose="030F0702030302020204" pitchFamily="66" charset="0"/>
                </a:rPr>
                <a:t>P</a:t>
              </a:r>
              <a:r>
                <a:rPr lang="en-US" altLang="zh-CN" sz="1600" b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mic Sans MS" panose="030F0702030302020204" pitchFamily="66" charset="0"/>
                </a:rPr>
                <a:t>5</a:t>
              </a:r>
              <a:endParaRPr lang="zh-CN" altLang="en-US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3" name="组合 52"/>
          <p:cNvGrpSpPr>
            <a:grpSpLocks/>
          </p:cNvGrpSpPr>
          <p:nvPr/>
        </p:nvGrpSpPr>
        <p:grpSpPr bwMode="auto">
          <a:xfrm>
            <a:off x="8574089" y="3826223"/>
            <a:ext cx="1285875" cy="344325"/>
            <a:chOff x="7073724" y="932190"/>
            <a:chExt cx="1285696" cy="343982"/>
          </a:xfrm>
        </p:grpSpPr>
        <p:sp>
          <p:nvSpPr>
            <p:cNvPr id="54" name="矩形 53"/>
            <p:cNvSpPr/>
            <p:nvPr/>
          </p:nvSpPr>
          <p:spPr>
            <a:xfrm>
              <a:off x="7203881" y="992455"/>
              <a:ext cx="1025382" cy="245818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1782" name="矩形 54"/>
            <p:cNvSpPr>
              <a:spLocks noChangeArrowheads="1"/>
            </p:cNvSpPr>
            <p:nvPr/>
          </p:nvSpPr>
          <p:spPr bwMode="auto">
            <a:xfrm>
              <a:off x="7073724" y="932190"/>
              <a:ext cx="1285696" cy="3439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10000"/>
                </a:lnSpc>
                <a:buSzPct val="100000"/>
              </a:pPr>
              <a:r>
                <a:rPr lang="zh-CN" altLang="en-US" sz="1600" b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mic Sans MS" panose="030F0702030302020204" pitchFamily="66" charset="0"/>
                </a:rPr>
                <a:t>进程</a:t>
              </a:r>
              <a:r>
                <a:rPr lang="zh-CN" altLang="en-US" sz="1600" b="1" i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mic Sans MS" panose="030F0702030302020204" pitchFamily="66" charset="0"/>
                </a:rPr>
                <a:t>P</a:t>
              </a:r>
              <a:r>
                <a:rPr lang="en-US" altLang="zh-CN" sz="1600" b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mic Sans MS" panose="030F0702030302020204" pitchFamily="66" charset="0"/>
                </a:rPr>
                <a:t>3</a:t>
              </a:r>
              <a:endParaRPr lang="zh-CN" altLang="en-US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" name="组合 3"/>
          <p:cNvGrpSpPr>
            <a:grpSpLocks/>
          </p:cNvGrpSpPr>
          <p:nvPr/>
        </p:nvGrpSpPr>
        <p:grpSpPr bwMode="auto">
          <a:xfrm>
            <a:off x="8570914" y="1892648"/>
            <a:ext cx="1284287" cy="557213"/>
            <a:chOff x="7073724" y="932190"/>
            <a:chExt cx="1285696" cy="557383"/>
          </a:xfrm>
        </p:grpSpPr>
        <p:sp>
          <p:nvSpPr>
            <p:cNvPr id="32" name="矩形 31"/>
            <p:cNvSpPr/>
            <p:nvPr/>
          </p:nvSpPr>
          <p:spPr>
            <a:xfrm>
              <a:off x="7204042" y="992533"/>
              <a:ext cx="1025060" cy="49704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1780" name="矩形 77"/>
            <p:cNvSpPr>
              <a:spLocks noChangeArrowheads="1"/>
            </p:cNvSpPr>
            <p:nvPr/>
          </p:nvSpPr>
          <p:spPr bwMode="auto">
            <a:xfrm>
              <a:off x="7073724" y="932190"/>
              <a:ext cx="1285696" cy="344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10000"/>
                </a:lnSpc>
                <a:buSzPct val="100000"/>
              </a:pPr>
              <a:r>
                <a:rPr lang="zh-CN" altLang="en-US" sz="1600" b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mic Sans MS" panose="030F0702030302020204" pitchFamily="66" charset="0"/>
                </a:rPr>
                <a:t>进程</a:t>
              </a:r>
              <a:r>
                <a:rPr lang="zh-CN" altLang="en-US" sz="1600" b="1" i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mic Sans MS" panose="030F0702030302020204" pitchFamily="66" charset="0"/>
                </a:rPr>
                <a:t>P</a:t>
              </a:r>
              <a:r>
                <a:rPr lang="en-US" altLang="zh-CN" sz="1600" b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mic Sans MS" panose="030F0702030302020204" pitchFamily="66" charset="0"/>
                </a:rPr>
                <a:t>6</a:t>
              </a:r>
              <a:endParaRPr lang="zh-CN" altLang="en-US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" name="组合 4"/>
          <p:cNvGrpSpPr>
            <a:grpSpLocks/>
          </p:cNvGrpSpPr>
          <p:nvPr/>
        </p:nvGrpSpPr>
        <p:grpSpPr bwMode="auto">
          <a:xfrm>
            <a:off x="8597901" y="2941985"/>
            <a:ext cx="1285875" cy="920750"/>
            <a:chOff x="7073724" y="1981429"/>
            <a:chExt cx="1285696" cy="921427"/>
          </a:xfrm>
        </p:grpSpPr>
        <p:sp>
          <p:nvSpPr>
            <p:cNvPr id="33" name="矩形 32"/>
            <p:cNvSpPr/>
            <p:nvPr/>
          </p:nvSpPr>
          <p:spPr>
            <a:xfrm>
              <a:off x="7188008" y="1981429"/>
              <a:ext cx="1023795" cy="92142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1778" name="矩形 34"/>
            <p:cNvSpPr>
              <a:spLocks noChangeArrowheads="1"/>
            </p:cNvSpPr>
            <p:nvPr/>
          </p:nvSpPr>
          <p:spPr bwMode="auto">
            <a:xfrm>
              <a:off x="7073724" y="2134117"/>
              <a:ext cx="1285696" cy="3445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10000"/>
                </a:lnSpc>
                <a:buSzPct val="100000"/>
              </a:pPr>
              <a:r>
                <a:rPr lang="zh-CN" altLang="en-US" sz="1600" b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mic Sans MS" panose="030F0702030302020204" pitchFamily="66" charset="0"/>
                </a:rPr>
                <a:t>进程</a:t>
              </a:r>
              <a:r>
                <a:rPr lang="zh-CN" altLang="en-US" sz="1600" b="1" i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mic Sans MS" panose="030F0702030302020204" pitchFamily="66" charset="0"/>
                </a:rPr>
                <a:t>P</a:t>
              </a:r>
              <a:r>
                <a:rPr lang="en-US" altLang="zh-CN" sz="1600" b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mic Sans MS" panose="030F0702030302020204" pitchFamily="66" charset="0"/>
                </a:rPr>
                <a:t>4</a:t>
              </a:r>
              <a:endParaRPr lang="zh-CN" altLang="en-US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" name="组合 5"/>
          <p:cNvGrpSpPr>
            <a:grpSpLocks/>
          </p:cNvGrpSpPr>
          <p:nvPr/>
        </p:nvGrpSpPr>
        <p:grpSpPr bwMode="auto">
          <a:xfrm>
            <a:off x="8588376" y="4145311"/>
            <a:ext cx="1285875" cy="949325"/>
            <a:chOff x="7064444" y="3157356"/>
            <a:chExt cx="1285696" cy="949294"/>
          </a:xfrm>
        </p:grpSpPr>
        <p:sp>
          <p:nvSpPr>
            <p:cNvPr id="34" name="矩形 33"/>
            <p:cNvSpPr/>
            <p:nvPr/>
          </p:nvSpPr>
          <p:spPr>
            <a:xfrm>
              <a:off x="7188252" y="3157356"/>
              <a:ext cx="1023795" cy="949294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1776" name="矩形 36"/>
            <p:cNvSpPr>
              <a:spLocks noChangeArrowheads="1"/>
            </p:cNvSpPr>
            <p:nvPr/>
          </p:nvSpPr>
          <p:spPr bwMode="auto">
            <a:xfrm>
              <a:off x="7064444" y="3334557"/>
              <a:ext cx="1285696" cy="3443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10000"/>
                </a:lnSpc>
                <a:buSzPct val="100000"/>
              </a:pPr>
              <a:r>
                <a:rPr lang="zh-CN" altLang="en-US" sz="1600" b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mic Sans MS" panose="030F0702030302020204" pitchFamily="66" charset="0"/>
                </a:rPr>
                <a:t>进程</a:t>
              </a:r>
              <a:r>
                <a:rPr lang="zh-CN" altLang="en-US" sz="1600" b="1" i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mic Sans MS" panose="030F0702030302020204" pitchFamily="66" charset="0"/>
                </a:rPr>
                <a:t>P</a:t>
              </a:r>
              <a:r>
                <a:rPr lang="en-US" altLang="zh-CN" sz="1600" b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mic Sans MS" panose="030F0702030302020204" pitchFamily="66" charset="0"/>
                </a:rPr>
                <a:t>2</a:t>
              </a:r>
              <a:endParaRPr lang="zh-CN" altLang="en-US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8588376" y="5077172"/>
            <a:ext cx="1285875" cy="673100"/>
            <a:chOff x="7064444" y="4089493"/>
            <a:chExt cx="1285696" cy="672790"/>
          </a:xfrm>
        </p:grpSpPr>
        <p:sp>
          <p:nvSpPr>
            <p:cNvPr id="50" name="矩形 49"/>
            <p:cNvSpPr/>
            <p:nvPr/>
          </p:nvSpPr>
          <p:spPr>
            <a:xfrm>
              <a:off x="7188252" y="4089493"/>
              <a:ext cx="1023795" cy="67279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1774" name="矩形 48"/>
            <p:cNvSpPr>
              <a:spLocks noChangeArrowheads="1"/>
            </p:cNvSpPr>
            <p:nvPr/>
          </p:nvSpPr>
          <p:spPr bwMode="auto">
            <a:xfrm>
              <a:off x="7064444" y="4283851"/>
              <a:ext cx="1285696" cy="344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10000"/>
                </a:lnSpc>
                <a:buSzPct val="100000"/>
              </a:pPr>
              <a:r>
                <a:rPr lang="zh-CN" altLang="en-US" sz="1600" b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mic Sans MS" panose="030F0702030302020204" pitchFamily="66" charset="0"/>
                </a:rPr>
                <a:t>进程</a:t>
              </a:r>
              <a:r>
                <a:rPr lang="zh-CN" altLang="en-US" sz="1600" b="1" i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mic Sans MS" panose="030F0702030302020204" pitchFamily="66" charset="0"/>
                </a:rPr>
                <a:t>P</a:t>
              </a:r>
              <a:r>
                <a:rPr lang="en-US" altLang="zh-CN" sz="1600" b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mic Sans MS" panose="030F0702030302020204" pitchFamily="66" charset="0"/>
                </a:rPr>
                <a:t>1</a:t>
              </a:r>
              <a:endParaRPr lang="zh-CN" altLang="en-US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2363789" y="1940272"/>
            <a:ext cx="4884737" cy="1320800"/>
            <a:chOff x="694777" y="952131"/>
            <a:chExt cx="4884937" cy="1321171"/>
          </a:xfrm>
        </p:grpSpPr>
        <p:sp>
          <p:nvSpPr>
            <p:cNvPr id="31767" name="矩形 8"/>
            <p:cNvSpPr>
              <a:spLocks noChangeArrowheads="1"/>
            </p:cNvSpPr>
            <p:nvPr/>
          </p:nvSpPr>
          <p:spPr bwMode="auto">
            <a:xfrm>
              <a:off x="694777" y="952131"/>
              <a:ext cx="324141" cy="3694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b="1">
                  <a:solidFill>
                    <a:srgbClr val="11576A"/>
                  </a:solidFill>
                  <a:latin typeface="张海山锐谐体2.0-授权联系：Samtype@QQ.com"/>
                  <a:ea typeface="张海山锐谐体2.0-授权联系：Samtype@QQ.com"/>
                  <a:cs typeface="张海山锐谐体2.0-授权联系：Samtype@QQ.com"/>
                </a:rPr>
                <a:t>■</a:t>
              </a:r>
              <a:endParaRPr lang="zh-CN" altLang="en-US" b="1">
                <a:solidFill>
                  <a:srgbClr val="11576A"/>
                </a:solidFill>
                <a:latin typeface="Calibri" panose="020F0502020204030204" pitchFamily="34" charset="0"/>
              </a:endParaRPr>
            </a:p>
          </p:txBody>
        </p:sp>
        <p:pic>
          <p:nvPicPr>
            <p:cNvPr id="31768" name="图片 8" descr="小点1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6032" y="1361815"/>
              <a:ext cx="149225" cy="149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769" name="图片 8" descr="小点1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6032" y="1984892"/>
              <a:ext cx="149225" cy="149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770" name="矩形 14"/>
            <p:cNvSpPr>
              <a:spLocks noChangeArrowheads="1"/>
            </p:cNvSpPr>
            <p:nvPr/>
          </p:nvSpPr>
          <p:spPr bwMode="auto">
            <a:xfrm>
              <a:off x="1028217" y="956937"/>
              <a:ext cx="172354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0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Times New Roman" panose="02020603050405020304" pitchFamily="18" charset="0"/>
                </a:rPr>
                <a:t>动态分区分配</a:t>
              </a:r>
              <a:endParaRPr lang="zh-CN" altLang="en-US" sz="2000"/>
            </a:p>
          </p:txBody>
        </p:sp>
        <p:sp>
          <p:nvSpPr>
            <p:cNvPr id="31771" name="矩形 15"/>
            <p:cNvSpPr>
              <a:spLocks noChangeArrowheads="1"/>
            </p:cNvSpPr>
            <p:nvPr/>
          </p:nvSpPr>
          <p:spPr bwMode="auto">
            <a:xfrm>
              <a:off x="1314909" y="1242501"/>
              <a:ext cx="4264805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0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Times New Roman" panose="02020603050405020304" pitchFamily="18" charset="0"/>
                </a:rPr>
                <a:t>当程序被加载执行时，分配一个进程指定大小可变的分区</a:t>
              </a:r>
              <a:r>
                <a:rPr lang="en-US" altLang="zh-CN" sz="20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Times New Roman" panose="02020603050405020304" pitchFamily="18" charset="0"/>
                </a:rPr>
                <a:t>(</a:t>
              </a:r>
              <a:r>
                <a:rPr lang="zh-CN" altLang="en-US" sz="20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Times New Roman" panose="02020603050405020304" pitchFamily="18" charset="0"/>
                </a:rPr>
                <a:t>块、内存块</a:t>
              </a:r>
              <a:r>
                <a:rPr lang="en-US" altLang="zh-CN" sz="20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Times New Roman" panose="02020603050405020304" pitchFamily="18" charset="0"/>
                </a:rPr>
                <a:t>)</a:t>
              </a:r>
              <a:endParaRPr lang="zh-CN" altLang="en-US" sz="2000"/>
            </a:p>
          </p:txBody>
        </p:sp>
        <p:sp>
          <p:nvSpPr>
            <p:cNvPr id="31772" name="矩形 16"/>
            <p:cNvSpPr>
              <a:spLocks noChangeArrowheads="1"/>
            </p:cNvSpPr>
            <p:nvPr/>
          </p:nvSpPr>
          <p:spPr bwMode="auto">
            <a:xfrm>
              <a:off x="1243283" y="1873192"/>
              <a:ext cx="25699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lvl="1" eaLnBrk="1" hangingPunct="1">
                <a:buClr>
                  <a:srgbClr val="000099"/>
                </a:buClr>
                <a:buSzPct val="100000"/>
              </a:pPr>
              <a:r>
                <a:rPr lang="zh-CN" altLang="en-US" sz="20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Times New Roman" panose="02020603050405020304" pitchFamily="18" charset="0"/>
                </a:rPr>
                <a:t> 分区的地址是连续的</a:t>
              </a:r>
            </a:p>
          </p:txBody>
        </p:sp>
      </p:grpSp>
      <p:grpSp>
        <p:nvGrpSpPr>
          <p:cNvPr id="13" name="组合 12"/>
          <p:cNvGrpSpPr>
            <a:grpSpLocks/>
          </p:cNvGrpSpPr>
          <p:nvPr/>
        </p:nvGrpSpPr>
        <p:grpSpPr bwMode="auto">
          <a:xfrm>
            <a:off x="2363789" y="3332511"/>
            <a:ext cx="4714875" cy="1031875"/>
            <a:chOff x="694777" y="2344338"/>
            <a:chExt cx="4714876" cy="1031929"/>
          </a:xfrm>
        </p:grpSpPr>
        <p:sp>
          <p:nvSpPr>
            <p:cNvPr id="31760" name="矩形 18"/>
            <p:cNvSpPr>
              <a:spLocks noChangeArrowheads="1"/>
            </p:cNvSpPr>
            <p:nvPr/>
          </p:nvSpPr>
          <p:spPr bwMode="auto">
            <a:xfrm>
              <a:off x="837653" y="2690405"/>
              <a:ext cx="4572000" cy="3744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800100" indent="-3429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lvl="1">
                <a:lnSpc>
                  <a:spcPct val="90000"/>
                </a:lnSpc>
                <a:buSzPct val="100000"/>
              </a:pPr>
              <a:r>
                <a:rPr lang="zh-CN" altLang="en-US" sz="20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Times New Roman" panose="02020603050405020304" pitchFamily="18" charset="0"/>
                </a:rPr>
                <a:t>所有进程的已分配分区</a:t>
              </a:r>
              <a:endParaRPr lang="en-US" altLang="zh-CN" sz="2000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grpSp>
          <p:nvGrpSpPr>
            <p:cNvPr id="31761" name="组合 7"/>
            <p:cNvGrpSpPr>
              <a:grpSpLocks/>
            </p:cNvGrpSpPr>
            <p:nvPr/>
          </p:nvGrpSpPr>
          <p:grpSpPr bwMode="auto">
            <a:xfrm>
              <a:off x="694777" y="2344338"/>
              <a:ext cx="3852352" cy="1031929"/>
              <a:chOff x="694777" y="2344338"/>
              <a:chExt cx="3852352" cy="1031929"/>
            </a:xfrm>
          </p:grpSpPr>
          <p:sp>
            <p:nvSpPr>
              <p:cNvPr id="31762" name="矩形 8"/>
              <p:cNvSpPr>
                <a:spLocks noChangeArrowheads="1"/>
              </p:cNvSpPr>
              <p:nvPr/>
            </p:nvSpPr>
            <p:spPr bwMode="auto">
              <a:xfrm>
                <a:off x="694777" y="2356401"/>
                <a:ext cx="324128" cy="3693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zh-CN" altLang="en-US" b="1">
                    <a:solidFill>
                      <a:srgbClr val="11576A"/>
                    </a:solidFill>
                    <a:latin typeface="张海山锐谐体2.0-授权联系：Samtype@QQ.com"/>
                    <a:ea typeface="张海山锐谐体2.0-授权联系：Samtype@QQ.com"/>
                    <a:cs typeface="张海山锐谐体2.0-授权联系：Samtype@QQ.com"/>
                  </a:rPr>
                  <a:t>■</a:t>
                </a:r>
                <a:endParaRPr lang="zh-CN" altLang="en-US" b="1">
                  <a:solidFill>
                    <a:srgbClr val="11576A"/>
                  </a:solidFill>
                  <a:latin typeface="Calibri" panose="020F0502020204030204" pitchFamily="34" charset="0"/>
                </a:endParaRPr>
              </a:p>
            </p:txBody>
          </p:sp>
          <p:pic>
            <p:nvPicPr>
              <p:cNvPr id="31763" name="图片 8" descr="小点1.png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31766" y="2799940"/>
                <a:ext cx="149225" cy="149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1764" name="图片 8" descr="小点1.png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36032" y="3095095"/>
                <a:ext cx="149225" cy="149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1765" name="矩形 17"/>
              <p:cNvSpPr>
                <a:spLocks noChangeArrowheads="1"/>
              </p:cNvSpPr>
              <p:nvPr/>
            </p:nvSpPr>
            <p:spPr bwMode="auto">
              <a:xfrm>
                <a:off x="1028217" y="2344338"/>
                <a:ext cx="3518912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buSzPct val="100000"/>
                </a:pPr>
                <a:r>
                  <a:rPr lang="zh-CN" altLang="en-US" sz="2000" b="1">
                    <a:solidFill>
                      <a:srgbClr val="1157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Times New Roman" panose="02020603050405020304" pitchFamily="18" charset="0"/>
                  </a:rPr>
                  <a:t>操作系统需要维护的数据结构</a:t>
                </a:r>
              </a:p>
            </p:txBody>
          </p:sp>
          <p:sp>
            <p:nvSpPr>
              <p:cNvPr id="31766" name="矩形 19"/>
              <p:cNvSpPr>
                <a:spLocks noChangeArrowheads="1"/>
              </p:cNvSpPr>
              <p:nvPr/>
            </p:nvSpPr>
            <p:spPr bwMode="auto">
              <a:xfrm>
                <a:off x="1290971" y="2976157"/>
                <a:ext cx="3171061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zh-CN" altLang="en-US" sz="2000" b="1">
                    <a:solidFill>
                      <a:srgbClr val="1157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Times New Roman" panose="02020603050405020304" pitchFamily="18" charset="0"/>
                  </a:rPr>
                  <a:t>空闲分区</a:t>
                </a:r>
                <a:r>
                  <a:rPr lang="en-US" altLang="zh-CN" sz="2000" b="1">
                    <a:solidFill>
                      <a:srgbClr val="1157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Times New Roman" panose="02020603050405020304" pitchFamily="18" charset="0"/>
                  </a:rPr>
                  <a:t>(</a:t>
                </a:r>
                <a:r>
                  <a:rPr lang="zh-CN" altLang="en-US" sz="2000" b="1">
                    <a:solidFill>
                      <a:srgbClr val="1157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Times New Roman" panose="02020603050405020304" pitchFamily="18" charset="0"/>
                  </a:rPr>
                  <a:t>Empty-blocks</a:t>
                </a:r>
                <a:r>
                  <a:rPr lang="en-US" altLang="zh-CN" sz="2000" b="1">
                    <a:solidFill>
                      <a:srgbClr val="1157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Times New Roman" panose="02020603050405020304" pitchFamily="18" charset="0"/>
                  </a:rPr>
                  <a:t>)</a:t>
                </a:r>
                <a:endParaRPr lang="zh-CN" altLang="en-US" sz="2000"/>
              </a:p>
            </p:txBody>
          </p:sp>
        </p:grpSp>
      </p:grpSp>
      <p:grpSp>
        <p:nvGrpSpPr>
          <p:cNvPr id="3" name="组合 2"/>
          <p:cNvGrpSpPr>
            <a:grpSpLocks/>
          </p:cNvGrpSpPr>
          <p:nvPr/>
        </p:nvGrpSpPr>
        <p:grpSpPr bwMode="auto">
          <a:xfrm>
            <a:off x="7945438" y="1833910"/>
            <a:ext cx="1784350" cy="4043362"/>
            <a:chOff x="5385992" y="817121"/>
            <a:chExt cx="1784631" cy="4042888"/>
          </a:xfrm>
        </p:grpSpPr>
        <p:sp>
          <p:nvSpPr>
            <p:cNvPr id="31757" name="矩形 75"/>
            <p:cNvSpPr>
              <a:spLocks noChangeArrowheads="1"/>
            </p:cNvSpPr>
            <p:nvPr/>
          </p:nvSpPr>
          <p:spPr bwMode="auto">
            <a:xfrm>
              <a:off x="5385992" y="817121"/>
              <a:ext cx="75693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SzPct val="100000"/>
              </a:pPr>
              <a:r>
                <a:rPr lang="zh-CN" altLang="en-US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urier New" panose="02070309020205020404" pitchFamily="49" charset="0"/>
                </a:rPr>
                <a:t>MAX</a:t>
              </a:r>
              <a:endParaRPr lang="zh-CN" altLang="en-US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758" name="矩形 76"/>
            <p:cNvSpPr>
              <a:spLocks noChangeArrowheads="1"/>
            </p:cNvSpPr>
            <p:nvPr/>
          </p:nvSpPr>
          <p:spPr bwMode="auto">
            <a:xfrm>
              <a:off x="5829395" y="4490677"/>
              <a:ext cx="32733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SzPct val="100000"/>
              </a:pPr>
              <a:r>
                <a:rPr lang="zh-CN" altLang="en-US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urier New" panose="02070309020205020404" pitchFamily="49" charset="0"/>
                </a:rPr>
                <a:t>0</a:t>
              </a:r>
              <a:endParaRPr lang="zh-CN" altLang="en-US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31759" name="图片 2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46213" y="907079"/>
              <a:ext cx="1024410" cy="38558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812BCE82-B6D2-0AF8-9FEA-F06A3BA4EB7D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10" name="标题 8">
            <a:extLst>
              <a:ext uri="{FF2B5EF4-FFF2-40B4-BE49-F238E27FC236}">
                <a16:creationId xmlns:a16="http://schemas.microsoft.com/office/drawing/2014/main" id="{1994B41E-5CDB-4F24-C06E-D53D9760AEFA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连续内存分配：动态分区分配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1.85185E-6 L -0.17565 -0.40717 " pathEditMode="relative" rAng="0" ptsTypes="AA">
                                      <p:cBhvr>
                                        <p:cTn id="22" dur="2000" spd="-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789" y="-20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1.11111E-6 L -0.18594 -0.24653 " pathEditMode="relative" rAng="0" ptsTypes="AA">
                                      <p:cBhvr>
                                        <p:cTn id="28" dur="200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297" y="-1233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3.7037E-7 L -0.18438 -0.13634 " pathEditMode="relative" rAng="0" ptsTypes="AA">
                                      <p:cBhvr>
                                        <p:cTn id="34" dur="2000" spd="-100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219" y="-68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4.81481E-6 L -0.17851 -0.01666 " pathEditMode="relative" rAng="0" ptsTypes="AA">
                                      <p:cBhvr>
                                        <p:cTn id="40" dur="2000" spd="-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932" y="-8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2.59259E-6 L -0.17617 0.12014 " pathEditMode="relative" rAng="0" ptsTypes="AA">
                                      <p:cBhvr>
                                        <p:cTn id="46" dur="2000" spd="-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815" y="59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4.81481E-6 L -0.17774 0.21782 " pathEditMode="relative" rAng="0" ptsTypes="AA">
                                      <p:cBhvr>
                                        <p:cTn id="52" dur="2000" spd="-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893" y="108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62"/>
          <p:cNvGrpSpPr>
            <a:grpSpLocks/>
          </p:cNvGrpSpPr>
          <p:nvPr/>
        </p:nvGrpSpPr>
        <p:grpSpPr bwMode="auto">
          <a:xfrm>
            <a:off x="2881313" y="1714501"/>
            <a:ext cx="2857500" cy="3929063"/>
            <a:chOff x="1142975" y="1857364"/>
            <a:chExt cx="2857521" cy="3929090"/>
          </a:xfrm>
        </p:grpSpPr>
        <p:sp>
          <p:nvSpPr>
            <p:cNvPr id="52253" name="Rectangle 6"/>
            <p:cNvSpPr>
              <a:spLocks noChangeArrowheads="1"/>
            </p:cNvSpPr>
            <p:nvPr/>
          </p:nvSpPr>
          <p:spPr bwMode="auto">
            <a:xfrm>
              <a:off x="1142976" y="4138620"/>
              <a:ext cx="1152525" cy="122079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endParaRPr lang="en-US" altLang="zh-CN" sz="1800">
                <a:solidFill>
                  <a:srgbClr val="FF0000"/>
                </a:solidFill>
              </a:endParaRPr>
            </a:p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endParaRPr lang="en-US" altLang="zh-CN" sz="1800">
                <a:solidFill>
                  <a:srgbClr val="FF0000"/>
                </a:solidFill>
              </a:endParaRPr>
            </a:p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endParaRPr lang="en-US" altLang="zh-CN" sz="1800">
                <a:solidFill>
                  <a:srgbClr val="FF0000"/>
                </a:solidFill>
              </a:endParaRPr>
            </a:p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rgbClr val="FF0000"/>
                  </a:solidFill>
                </a:rPr>
                <a:t>Proc A</a:t>
              </a:r>
            </a:p>
          </p:txBody>
        </p:sp>
        <p:sp>
          <p:nvSpPr>
            <p:cNvPr id="52254" name="Rectangle 7"/>
            <p:cNvSpPr>
              <a:spLocks noChangeArrowheads="1"/>
            </p:cNvSpPr>
            <p:nvPr/>
          </p:nvSpPr>
          <p:spPr bwMode="auto">
            <a:xfrm>
              <a:off x="1142976" y="5353066"/>
              <a:ext cx="1152525" cy="433388"/>
            </a:xfrm>
            <a:prstGeom prst="rect">
              <a:avLst/>
            </a:prstGeom>
            <a:solidFill>
              <a:srgbClr val="FF66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chemeClr val="bg1"/>
                  </a:solidFill>
                </a:rPr>
                <a:t>OS</a:t>
              </a:r>
              <a:endParaRPr lang="zh-CN" altLang="en-US" sz="1800">
                <a:solidFill>
                  <a:schemeClr val="bg1"/>
                </a:solidFill>
              </a:endParaRPr>
            </a:p>
          </p:txBody>
        </p:sp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>
              <a:off x="1142975" y="3500438"/>
              <a:ext cx="1152533" cy="642941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solidFill>
                    <a:schemeClr val="accent5">
                      <a:lumMod val="50000"/>
                    </a:schemeClr>
                  </a:solidFill>
                </a:rPr>
                <a:t>Free </a:t>
              </a:r>
            </a:p>
            <a:p>
              <a:pPr algn="ctr">
                <a:lnSpc>
                  <a:spcPct val="80000"/>
                </a:lnSpc>
                <a:spcBef>
                  <a:spcPct val="2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dirty="0" err="1">
                  <a:solidFill>
                    <a:schemeClr val="accent5">
                      <a:lumMod val="50000"/>
                    </a:schemeClr>
                  </a:solidFill>
                </a:rPr>
                <a:t>mem</a:t>
              </a:r>
              <a:endParaRPr lang="zh-CN" altLang="en-US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52256" name="Rectangle 6"/>
            <p:cNvSpPr>
              <a:spLocks noChangeArrowheads="1"/>
            </p:cNvSpPr>
            <p:nvPr/>
          </p:nvSpPr>
          <p:spPr bwMode="auto">
            <a:xfrm>
              <a:off x="1142976" y="1857364"/>
              <a:ext cx="1152525" cy="16494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endParaRPr lang="en-US" altLang="zh-CN" sz="1800">
                <a:solidFill>
                  <a:srgbClr val="FF0000"/>
                </a:solidFill>
              </a:endParaRPr>
            </a:p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endParaRPr lang="en-US" altLang="zh-CN" sz="1800">
                <a:solidFill>
                  <a:srgbClr val="FF0000"/>
                </a:solidFill>
              </a:endParaRPr>
            </a:p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endParaRPr lang="en-US" altLang="zh-CN" sz="1800">
                <a:solidFill>
                  <a:srgbClr val="FF0000"/>
                </a:solidFill>
              </a:endParaRPr>
            </a:p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rgbClr val="FF0000"/>
                  </a:solidFill>
                </a:rPr>
                <a:t>Proc B</a:t>
              </a:r>
            </a:p>
          </p:txBody>
        </p:sp>
        <p:cxnSp>
          <p:nvCxnSpPr>
            <p:cNvPr id="52257" name="直接连接符 13"/>
            <p:cNvCxnSpPr>
              <a:cxnSpLocks noChangeShapeType="1"/>
              <a:stCxn id="52253" idx="1"/>
              <a:endCxn id="52253" idx="3"/>
            </p:cNvCxnSpPr>
            <p:nvPr/>
          </p:nvCxnSpPr>
          <p:spPr bwMode="auto">
            <a:xfrm rot="10800000" flipH="1">
              <a:off x="1142975" y="4749015"/>
              <a:ext cx="1152525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258" name="直接连接符 14"/>
            <p:cNvCxnSpPr>
              <a:cxnSpLocks noChangeShapeType="1"/>
            </p:cNvCxnSpPr>
            <p:nvPr/>
          </p:nvCxnSpPr>
          <p:spPr bwMode="auto">
            <a:xfrm rot="10800000" flipH="1">
              <a:off x="1142976" y="2786058"/>
              <a:ext cx="1152525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259" name="直接箭头连接符 16"/>
            <p:cNvCxnSpPr>
              <a:cxnSpLocks noChangeShapeType="1"/>
            </p:cNvCxnSpPr>
            <p:nvPr/>
          </p:nvCxnSpPr>
          <p:spPr bwMode="auto">
            <a:xfrm rot="5400000" flipH="1" flipV="1">
              <a:off x="1500166" y="4500570"/>
              <a:ext cx="429422" cy="794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260" name="直接箭头连接符 18"/>
            <p:cNvCxnSpPr>
              <a:cxnSpLocks noChangeShapeType="1"/>
            </p:cNvCxnSpPr>
            <p:nvPr/>
          </p:nvCxnSpPr>
          <p:spPr bwMode="auto">
            <a:xfrm rot="5400000" flipH="1" flipV="1">
              <a:off x="1500166" y="2571744"/>
              <a:ext cx="429422" cy="794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2261" name="右大括号 19"/>
            <p:cNvSpPr>
              <a:spLocks/>
            </p:cNvSpPr>
            <p:nvPr/>
          </p:nvSpPr>
          <p:spPr bwMode="auto">
            <a:xfrm>
              <a:off x="2357422" y="1857364"/>
              <a:ext cx="285752" cy="857256"/>
            </a:xfrm>
            <a:prstGeom prst="rightBrace">
              <a:avLst>
                <a:gd name="adj1" fmla="val 8333"/>
                <a:gd name="adj2" fmla="val 50000"/>
              </a:avLst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2262" name="右大括号 20"/>
            <p:cNvSpPr>
              <a:spLocks/>
            </p:cNvSpPr>
            <p:nvPr/>
          </p:nvSpPr>
          <p:spPr bwMode="auto">
            <a:xfrm>
              <a:off x="2357422" y="2786058"/>
              <a:ext cx="285752" cy="714380"/>
            </a:xfrm>
            <a:prstGeom prst="rightBrace">
              <a:avLst>
                <a:gd name="adj1" fmla="val 8333"/>
                <a:gd name="adj2" fmla="val 50000"/>
              </a:avLst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2263" name="右大括号 21"/>
            <p:cNvSpPr>
              <a:spLocks/>
            </p:cNvSpPr>
            <p:nvPr/>
          </p:nvSpPr>
          <p:spPr bwMode="auto">
            <a:xfrm>
              <a:off x="2357422" y="4143380"/>
              <a:ext cx="285752" cy="571504"/>
            </a:xfrm>
            <a:prstGeom prst="rightBrace">
              <a:avLst>
                <a:gd name="adj1" fmla="val 8333"/>
                <a:gd name="adj2" fmla="val 50000"/>
              </a:avLst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2264" name="右大括号 22"/>
            <p:cNvSpPr>
              <a:spLocks/>
            </p:cNvSpPr>
            <p:nvPr/>
          </p:nvSpPr>
          <p:spPr bwMode="auto">
            <a:xfrm>
              <a:off x="2357422" y="4786322"/>
              <a:ext cx="285752" cy="500066"/>
            </a:xfrm>
            <a:prstGeom prst="rightBrace">
              <a:avLst>
                <a:gd name="adj1" fmla="val 8337"/>
                <a:gd name="adj2" fmla="val 50000"/>
              </a:avLst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2265" name="TextBox 23"/>
            <p:cNvSpPr txBox="1">
              <a:spLocks noChangeArrowheads="1"/>
            </p:cNvSpPr>
            <p:nvPr/>
          </p:nvSpPr>
          <p:spPr bwMode="auto">
            <a:xfrm>
              <a:off x="2643174" y="4822295"/>
              <a:ext cx="1214445" cy="5355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chemeClr val="tx1"/>
                  </a:solidFill>
                </a:rPr>
                <a:t>Actually in use</a:t>
              </a: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2266" name="TextBox 25"/>
            <p:cNvSpPr txBox="1">
              <a:spLocks noChangeArrowheads="1"/>
            </p:cNvSpPr>
            <p:nvPr/>
          </p:nvSpPr>
          <p:spPr bwMode="auto">
            <a:xfrm>
              <a:off x="2643174" y="4214818"/>
              <a:ext cx="1357322" cy="5355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chemeClr val="tx1"/>
                  </a:solidFill>
                </a:rPr>
                <a:t>Room for growth</a:t>
              </a: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2267" name="TextBox 26"/>
            <p:cNvSpPr txBox="1">
              <a:spLocks noChangeArrowheads="1"/>
            </p:cNvSpPr>
            <p:nvPr/>
          </p:nvSpPr>
          <p:spPr bwMode="auto">
            <a:xfrm>
              <a:off x="2643174" y="2000240"/>
              <a:ext cx="1357322" cy="5355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chemeClr val="tx1"/>
                  </a:solidFill>
                </a:rPr>
                <a:t>Room for growth</a:t>
              </a: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2268" name="TextBox 27"/>
            <p:cNvSpPr txBox="1">
              <a:spLocks noChangeArrowheads="1"/>
            </p:cNvSpPr>
            <p:nvPr/>
          </p:nvSpPr>
          <p:spPr bwMode="auto">
            <a:xfrm>
              <a:off x="2643174" y="2928934"/>
              <a:ext cx="1214445" cy="5355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chemeClr val="tx1"/>
                  </a:solidFill>
                </a:rPr>
                <a:t>Actually in use</a:t>
              </a: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3" name="组合 61"/>
          <p:cNvGrpSpPr>
            <a:grpSpLocks/>
          </p:cNvGrpSpPr>
          <p:nvPr/>
        </p:nvGrpSpPr>
        <p:grpSpPr bwMode="auto">
          <a:xfrm>
            <a:off x="7096126" y="1785938"/>
            <a:ext cx="3000375" cy="3929062"/>
            <a:chOff x="4786314" y="1785926"/>
            <a:chExt cx="3000396" cy="3929090"/>
          </a:xfrm>
        </p:grpSpPr>
        <p:sp>
          <p:nvSpPr>
            <p:cNvPr id="52233" name="Rectangle 6"/>
            <p:cNvSpPr>
              <a:spLocks noChangeArrowheads="1"/>
            </p:cNvSpPr>
            <p:nvPr/>
          </p:nvSpPr>
          <p:spPr bwMode="auto">
            <a:xfrm>
              <a:off x="4786314" y="4067182"/>
              <a:ext cx="1152525" cy="122079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endParaRPr lang="en-US" altLang="zh-CN" sz="1800">
                <a:solidFill>
                  <a:srgbClr val="FF0000"/>
                </a:solidFill>
              </a:endParaRPr>
            </a:p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endParaRPr lang="en-US" altLang="zh-CN" sz="1800">
                <a:solidFill>
                  <a:srgbClr val="FF0000"/>
                </a:solidFill>
              </a:endParaRPr>
            </a:p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endParaRPr lang="en-US" altLang="zh-CN" sz="1800">
                <a:solidFill>
                  <a:srgbClr val="FF0000"/>
                </a:solidFill>
              </a:endParaRPr>
            </a:p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endParaRPr lang="en-US" altLang="zh-CN" sz="1800">
                <a:solidFill>
                  <a:srgbClr val="FF0000"/>
                </a:solidFill>
              </a:endParaRPr>
            </a:p>
          </p:txBody>
        </p:sp>
        <p:sp>
          <p:nvSpPr>
            <p:cNvPr id="52234" name="Rectangle 7"/>
            <p:cNvSpPr>
              <a:spLocks noChangeArrowheads="1"/>
            </p:cNvSpPr>
            <p:nvPr/>
          </p:nvSpPr>
          <p:spPr bwMode="auto">
            <a:xfrm>
              <a:off x="4786314" y="5281628"/>
              <a:ext cx="1152525" cy="433388"/>
            </a:xfrm>
            <a:prstGeom prst="rect">
              <a:avLst/>
            </a:prstGeom>
            <a:solidFill>
              <a:srgbClr val="FF66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chemeClr val="bg1"/>
                  </a:solidFill>
                </a:rPr>
                <a:t>OS</a:t>
              </a:r>
              <a:endParaRPr lang="zh-CN" altLang="en-US" sz="1800">
                <a:solidFill>
                  <a:schemeClr val="bg1"/>
                </a:solidFill>
              </a:endParaRPr>
            </a:p>
          </p:txBody>
        </p:sp>
        <p:sp>
          <p:nvSpPr>
            <p:cNvPr id="39" name="Rectangle 11"/>
            <p:cNvSpPr>
              <a:spLocks noChangeArrowheads="1"/>
            </p:cNvSpPr>
            <p:nvPr/>
          </p:nvSpPr>
          <p:spPr bwMode="auto">
            <a:xfrm>
              <a:off x="4786314" y="3429000"/>
              <a:ext cx="1152533" cy="64294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solidFill>
                    <a:schemeClr val="accent5">
                      <a:lumMod val="50000"/>
                    </a:schemeClr>
                  </a:solidFill>
                </a:rPr>
                <a:t>Free </a:t>
              </a:r>
            </a:p>
            <a:p>
              <a:pPr algn="ctr">
                <a:lnSpc>
                  <a:spcPct val="80000"/>
                </a:lnSpc>
                <a:spcBef>
                  <a:spcPct val="2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dirty="0" err="1">
                  <a:solidFill>
                    <a:schemeClr val="accent5">
                      <a:lumMod val="50000"/>
                    </a:schemeClr>
                  </a:solidFill>
                </a:rPr>
                <a:t>mem</a:t>
              </a:r>
              <a:endParaRPr lang="zh-CN" altLang="en-US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52236" name="Rectangle 6"/>
            <p:cNvSpPr>
              <a:spLocks noChangeArrowheads="1"/>
            </p:cNvSpPr>
            <p:nvPr/>
          </p:nvSpPr>
          <p:spPr bwMode="auto">
            <a:xfrm>
              <a:off x="4786314" y="1785926"/>
              <a:ext cx="1152525" cy="16494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endParaRPr lang="en-US" altLang="zh-CN" sz="1800">
                <a:solidFill>
                  <a:srgbClr val="FF0000"/>
                </a:solidFill>
              </a:endParaRPr>
            </a:p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endParaRPr lang="en-US" altLang="zh-CN" sz="1800">
                <a:solidFill>
                  <a:srgbClr val="FF0000"/>
                </a:solidFill>
              </a:endParaRPr>
            </a:p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endParaRPr lang="en-US" altLang="zh-CN" sz="1800">
                <a:solidFill>
                  <a:srgbClr val="FF0000"/>
                </a:solidFill>
              </a:endParaRPr>
            </a:p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endParaRPr lang="en-US" altLang="zh-CN" sz="1800">
                <a:solidFill>
                  <a:srgbClr val="FF0000"/>
                </a:solidFill>
              </a:endParaRPr>
            </a:p>
          </p:txBody>
        </p:sp>
        <p:cxnSp>
          <p:nvCxnSpPr>
            <p:cNvPr id="52237" name="直接连接符 40"/>
            <p:cNvCxnSpPr>
              <a:cxnSpLocks noChangeShapeType="1"/>
            </p:cNvCxnSpPr>
            <p:nvPr/>
          </p:nvCxnSpPr>
          <p:spPr bwMode="auto">
            <a:xfrm rot="10800000" flipH="1">
              <a:off x="4786314" y="4929198"/>
              <a:ext cx="1152525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238" name="直接连接符 41"/>
            <p:cNvCxnSpPr>
              <a:cxnSpLocks noChangeShapeType="1"/>
            </p:cNvCxnSpPr>
            <p:nvPr/>
          </p:nvCxnSpPr>
          <p:spPr bwMode="auto">
            <a:xfrm rot="10800000" flipH="1">
              <a:off x="4786314" y="2928934"/>
              <a:ext cx="1152525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239" name="直接箭头连接符 42"/>
            <p:cNvCxnSpPr>
              <a:cxnSpLocks noChangeShapeType="1"/>
            </p:cNvCxnSpPr>
            <p:nvPr/>
          </p:nvCxnSpPr>
          <p:spPr bwMode="auto">
            <a:xfrm rot="5400000" flipH="1" flipV="1">
              <a:off x="5035950" y="4822438"/>
              <a:ext cx="215108" cy="1588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240" name="直接箭头连接符 43"/>
            <p:cNvCxnSpPr>
              <a:cxnSpLocks noChangeShapeType="1"/>
            </p:cNvCxnSpPr>
            <p:nvPr/>
          </p:nvCxnSpPr>
          <p:spPr bwMode="auto">
            <a:xfrm rot="5400000" flipH="1" flipV="1">
              <a:off x="5000231" y="2786455"/>
              <a:ext cx="286546" cy="1588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241" name="直接连接符 45"/>
            <p:cNvCxnSpPr>
              <a:cxnSpLocks noChangeShapeType="1"/>
            </p:cNvCxnSpPr>
            <p:nvPr/>
          </p:nvCxnSpPr>
          <p:spPr bwMode="auto">
            <a:xfrm rot="10800000" flipH="1">
              <a:off x="4786314" y="4429132"/>
              <a:ext cx="1152525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242" name="直接连接符 47"/>
            <p:cNvCxnSpPr>
              <a:cxnSpLocks noChangeShapeType="1"/>
            </p:cNvCxnSpPr>
            <p:nvPr/>
          </p:nvCxnSpPr>
          <p:spPr bwMode="auto">
            <a:xfrm rot="10800000" flipH="1">
              <a:off x="4786314" y="2285992"/>
              <a:ext cx="1152525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243" name="直接箭头连接符 48"/>
            <p:cNvCxnSpPr>
              <a:cxnSpLocks noChangeShapeType="1"/>
            </p:cNvCxnSpPr>
            <p:nvPr/>
          </p:nvCxnSpPr>
          <p:spPr bwMode="auto">
            <a:xfrm rot="16200000" flipH="1">
              <a:off x="5287174" y="2499512"/>
              <a:ext cx="285752" cy="1588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244" name="直接箭头连接符 51"/>
            <p:cNvCxnSpPr>
              <a:cxnSpLocks noChangeShapeType="1"/>
            </p:cNvCxnSpPr>
            <p:nvPr/>
          </p:nvCxnSpPr>
          <p:spPr bwMode="auto">
            <a:xfrm rot="16200000" flipH="1">
              <a:off x="5287174" y="4642652"/>
              <a:ext cx="285752" cy="1588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2245" name="TextBox 52"/>
            <p:cNvSpPr txBox="1">
              <a:spLocks noChangeArrowheads="1"/>
            </p:cNvSpPr>
            <p:nvPr/>
          </p:nvSpPr>
          <p:spPr bwMode="auto">
            <a:xfrm>
              <a:off x="4857752" y="4929198"/>
              <a:ext cx="1071569" cy="313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chemeClr val="tx1"/>
                  </a:solidFill>
                </a:rPr>
                <a:t>A Data</a:t>
              </a: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2246" name="TextBox 54"/>
            <p:cNvSpPr txBox="1">
              <a:spLocks noChangeArrowheads="1"/>
            </p:cNvSpPr>
            <p:nvPr/>
          </p:nvSpPr>
          <p:spPr bwMode="auto">
            <a:xfrm>
              <a:off x="4786314" y="4071942"/>
              <a:ext cx="1071569" cy="313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chemeClr val="tx1"/>
                  </a:solidFill>
                </a:rPr>
                <a:t>A Stack</a:t>
              </a: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2247" name="TextBox 55"/>
            <p:cNvSpPr txBox="1">
              <a:spLocks noChangeArrowheads="1"/>
            </p:cNvSpPr>
            <p:nvPr/>
          </p:nvSpPr>
          <p:spPr bwMode="auto">
            <a:xfrm>
              <a:off x="4857752" y="1857364"/>
              <a:ext cx="1071569" cy="313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chemeClr val="tx1"/>
                  </a:solidFill>
                </a:rPr>
                <a:t>B Stack</a:t>
              </a: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2248" name="TextBox 56"/>
            <p:cNvSpPr txBox="1">
              <a:spLocks noChangeArrowheads="1"/>
            </p:cNvSpPr>
            <p:nvPr/>
          </p:nvSpPr>
          <p:spPr bwMode="auto">
            <a:xfrm>
              <a:off x="4857752" y="3000372"/>
              <a:ext cx="1071569" cy="313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chemeClr val="tx1"/>
                  </a:solidFill>
                </a:rPr>
                <a:t>B Data</a:t>
              </a: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2249" name="右大括号 57"/>
            <p:cNvSpPr>
              <a:spLocks/>
            </p:cNvSpPr>
            <p:nvPr/>
          </p:nvSpPr>
          <p:spPr bwMode="auto">
            <a:xfrm>
              <a:off x="6000760" y="2285992"/>
              <a:ext cx="357190" cy="642942"/>
            </a:xfrm>
            <a:prstGeom prst="rightBrace">
              <a:avLst>
                <a:gd name="adj1" fmla="val 8333"/>
                <a:gd name="adj2" fmla="val 50000"/>
              </a:avLst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2250" name="右大括号 58"/>
            <p:cNvSpPr>
              <a:spLocks/>
            </p:cNvSpPr>
            <p:nvPr/>
          </p:nvSpPr>
          <p:spPr bwMode="auto">
            <a:xfrm>
              <a:off x="6000760" y="4429132"/>
              <a:ext cx="357190" cy="500066"/>
            </a:xfrm>
            <a:prstGeom prst="rightBrace">
              <a:avLst>
                <a:gd name="adj1" fmla="val 8335"/>
                <a:gd name="adj2" fmla="val 50000"/>
              </a:avLst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2251" name="TextBox 59"/>
            <p:cNvSpPr txBox="1">
              <a:spLocks noChangeArrowheads="1"/>
            </p:cNvSpPr>
            <p:nvPr/>
          </p:nvSpPr>
          <p:spPr bwMode="auto">
            <a:xfrm>
              <a:off x="6429388" y="2357430"/>
              <a:ext cx="1357322" cy="5355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chemeClr val="tx1"/>
                  </a:solidFill>
                </a:rPr>
                <a:t>Room for growth</a:t>
              </a: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2252" name="TextBox 60"/>
            <p:cNvSpPr txBox="1">
              <a:spLocks noChangeArrowheads="1"/>
            </p:cNvSpPr>
            <p:nvPr/>
          </p:nvSpPr>
          <p:spPr bwMode="auto">
            <a:xfrm>
              <a:off x="6429388" y="4357694"/>
              <a:ext cx="1357322" cy="5355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chemeClr val="tx1"/>
                  </a:solidFill>
                </a:rPr>
                <a:t>Room for growth</a:t>
              </a: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pic>
        <p:nvPicPr>
          <p:cNvPr id="20525" name="Picture 5" descr="4-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0014" y="1614883"/>
            <a:ext cx="7488237" cy="47664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EF1C046-C5C7-EF5F-CBFA-14361C7BE33E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7" name="标题 8">
            <a:extLst>
              <a:ext uri="{FF2B5EF4-FFF2-40B4-BE49-F238E27FC236}">
                <a16:creationId xmlns:a16="http://schemas.microsoft.com/office/drawing/2014/main" id="{96C5FC3D-794B-D5EF-233F-85321CE80533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zh-CN" b="0" kern="0" dirty="0"/>
              <a:t>Memory dynamic growth</a:t>
            </a:r>
            <a:endParaRPr lang="zh-CN" altLang="en-US" b="0" kern="0" dirty="0"/>
          </a:p>
        </p:txBody>
      </p:sp>
    </p:spTree>
    <p:extLst>
      <p:ext uri="{BB962C8B-B14F-4D97-AF65-F5344CB8AC3E}">
        <p14:creationId xmlns:p14="http://schemas.microsoft.com/office/powerpoint/2010/main" val="1565783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5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5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2856061" y="2204864"/>
            <a:ext cx="1152525" cy="3097213"/>
            <a:chOff x="567" y="2069"/>
            <a:chExt cx="862" cy="1951"/>
          </a:xfrm>
        </p:grpSpPr>
        <p:sp>
          <p:nvSpPr>
            <p:cNvPr id="32806" name="Rectangle 6"/>
            <p:cNvSpPr>
              <a:spLocks noChangeArrowheads="1"/>
            </p:cNvSpPr>
            <p:nvPr/>
          </p:nvSpPr>
          <p:spPr bwMode="auto">
            <a:xfrm>
              <a:off x="567" y="3158"/>
              <a:ext cx="862" cy="58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rgbClr val="FF0000"/>
                  </a:solidFill>
                </a:rPr>
                <a:t>Proc A</a:t>
              </a:r>
            </a:p>
          </p:txBody>
        </p:sp>
        <p:sp>
          <p:nvSpPr>
            <p:cNvPr id="32807" name="Rectangle 7"/>
            <p:cNvSpPr>
              <a:spLocks noChangeArrowheads="1"/>
            </p:cNvSpPr>
            <p:nvPr/>
          </p:nvSpPr>
          <p:spPr bwMode="auto">
            <a:xfrm>
              <a:off x="567" y="3747"/>
              <a:ext cx="862" cy="273"/>
            </a:xfrm>
            <a:prstGeom prst="rect">
              <a:avLst/>
            </a:prstGeom>
            <a:solidFill>
              <a:srgbClr val="FF66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chemeClr val="bg1"/>
                  </a:solidFill>
                </a:rPr>
                <a:t>OS</a:t>
              </a:r>
              <a:endParaRPr lang="zh-CN" altLang="en-US" sz="1800">
                <a:solidFill>
                  <a:schemeClr val="bg1"/>
                </a:solidFill>
              </a:endParaRPr>
            </a:p>
          </p:txBody>
        </p:sp>
        <p:sp>
          <p:nvSpPr>
            <p:cNvPr id="23" name="Rectangle 11"/>
            <p:cNvSpPr>
              <a:spLocks noChangeArrowheads="1"/>
            </p:cNvSpPr>
            <p:nvPr/>
          </p:nvSpPr>
          <p:spPr bwMode="auto">
            <a:xfrm>
              <a:off x="567" y="2069"/>
              <a:ext cx="862" cy="109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solidFill>
                    <a:schemeClr val="accent5">
                      <a:lumMod val="50000"/>
                    </a:schemeClr>
                  </a:solidFill>
                </a:rPr>
                <a:t>Free </a:t>
              </a:r>
            </a:p>
            <a:p>
              <a:pPr algn="ctr">
                <a:lnSpc>
                  <a:spcPct val="80000"/>
                </a:lnSpc>
                <a:spcBef>
                  <a:spcPct val="2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dirty="0" err="1">
                  <a:solidFill>
                    <a:schemeClr val="accent5">
                      <a:lumMod val="50000"/>
                    </a:schemeClr>
                  </a:solidFill>
                </a:rPr>
                <a:t>mem</a:t>
              </a:r>
              <a:endParaRPr lang="zh-CN" altLang="en-US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</p:grp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4224485" y="2204864"/>
            <a:ext cx="1079500" cy="3097213"/>
            <a:chOff x="1701" y="2069"/>
            <a:chExt cx="862" cy="1951"/>
          </a:xfrm>
        </p:grpSpPr>
        <p:sp>
          <p:nvSpPr>
            <p:cNvPr id="32802" name="Rectangle 14"/>
            <p:cNvSpPr>
              <a:spLocks noChangeArrowheads="1"/>
            </p:cNvSpPr>
            <p:nvPr/>
          </p:nvSpPr>
          <p:spPr bwMode="auto">
            <a:xfrm>
              <a:off x="1701" y="3158"/>
              <a:ext cx="862" cy="58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rgbClr val="FF0000"/>
                  </a:solidFill>
                </a:rPr>
                <a:t>Proc A</a:t>
              </a:r>
            </a:p>
          </p:txBody>
        </p:sp>
        <p:sp>
          <p:nvSpPr>
            <p:cNvPr id="32803" name="Rectangle 15"/>
            <p:cNvSpPr>
              <a:spLocks noChangeArrowheads="1"/>
            </p:cNvSpPr>
            <p:nvPr/>
          </p:nvSpPr>
          <p:spPr bwMode="auto">
            <a:xfrm>
              <a:off x="1701" y="3747"/>
              <a:ext cx="862" cy="273"/>
            </a:xfrm>
            <a:prstGeom prst="rect">
              <a:avLst/>
            </a:prstGeom>
            <a:solidFill>
              <a:srgbClr val="FF66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chemeClr val="bg1"/>
                  </a:solidFill>
                </a:rPr>
                <a:t>OS</a:t>
              </a:r>
              <a:endParaRPr lang="zh-CN" altLang="en-US" sz="1800">
                <a:solidFill>
                  <a:schemeClr val="bg1"/>
                </a:solidFill>
              </a:endParaRPr>
            </a:p>
          </p:txBody>
        </p:sp>
        <p:sp>
          <p:nvSpPr>
            <p:cNvPr id="27" name="Rectangle 16"/>
            <p:cNvSpPr>
              <a:spLocks noChangeArrowheads="1"/>
            </p:cNvSpPr>
            <p:nvPr/>
          </p:nvSpPr>
          <p:spPr bwMode="auto">
            <a:xfrm>
              <a:off x="1701" y="2069"/>
              <a:ext cx="862" cy="726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solidFill>
                    <a:schemeClr val="accent5">
                      <a:lumMod val="50000"/>
                    </a:schemeClr>
                  </a:solidFill>
                </a:rPr>
                <a:t>Free </a:t>
              </a:r>
            </a:p>
            <a:p>
              <a:pPr algn="ctr">
                <a:lnSpc>
                  <a:spcPct val="80000"/>
                </a:lnSpc>
                <a:spcBef>
                  <a:spcPct val="2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dirty="0" err="1">
                  <a:solidFill>
                    <a:schemeClr val="accent5">
                      <a:lumMod val="50000"/>
                    </a:schemeClr>
                  </a:solidFill>
                </a:rPr>
                <a:t>mem</a:t>
              </a:r>
              <a:endParaRPr lang="zh-CN" altLang="en-US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32805" name="Rectangle 17"/>
            <p:cNvSpPr>
              <a:spLocks noChangeArrowheads="1"/>
            </p:cNvSpPr>
            <p:nvPr/>
          </p:nvSpPr>
          <p:spPr bwMode="auto">
            <a:xfrm>
              <a:off x="1701" y="2795"/>
              <a:ext cx="862" cy="3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rgbClr val="FF0000"/>
                  </a:solidFill>
                </a:rPr>
                <a:t>Proc B</a:t>
              </a:r>
            </a:p>
          </p:txBody>
        </p:sp>
      </p:grpSp>
      <p:grpSp>
        <p:nvGrpSpPr>
          <p:cNvPr id="7" name="Group 25"/>
          <p:cNvGrpSpPr>
            <a:grpSpLocks/>
          </p:cNvGrpSpPr>
          <p:nvPr/>
        </p:nvGrpSpPr>
        <p:grpSpPr bwMode="auto">
          <a:xfrm>
            <a:off x="5519885" y="2204864"/>
            <a:ext cx="1081088" cy="3097213"/>
            <a:chOff x="2290" y="2069"/>
            <a:chExt cx="862" cy="1951"/>
          </a:xfrm>
        </p:grpSpPr>
        <p:sp>
          <p:nvSpPr>
            <p:cNvPr id="32797" name="Rectangle 20"/>
            <p:cNvSpPr>
              <a:spLocks noChangeArrowheads="1"/>
            </p:cNvSpPr>
            <p:nvPr/>
          </p:nvSpPr>
          <p:spPr bwMode="auto">
            <a:xfrm>
              <a:off x="2290" y="3158"/>
              <a:ext cx="862" cy="58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rgbClr val="FF0000"/>
                  </a:solidFill>
                </a:rPr>
                <a:t>Proc A</a:t>
              </a:r>
            </a:p>
          </p:txBody>
        </p:sp>
        <p:sp>
          <p:nvSpPr>
            <p:cNvPr id="32798" name="Rectangle 21"/>
            <p:cNvSpPr>
              <a:spLocks noChangeArrowheads="1"/>
            </p:cNvSpPr>
            <p:nvPr/>
          </p:nvSpPr>
          <p:spPr bwMode="auto">
            <a:xfrm>
              <a:off x="2290" y="3747"/>
              <a:ext cx="862" cy="273"/>
            </a:xfrm>
            <a:prstGeom prst="rect">
              <a:avLst/>
            </a:prstGeom>
            <a:solidFill>
              <a:srgbClr val="FF66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chemeClr val="bg1"/>
                  </a:solidFill>
                </a:rPr>
                <a:t>OS</a:t>
              </a:r>
              <a:endParaRPr lang="zh-CN" altLang="en-US" sz="1800">
                <a:solidFill>
                  <a:schemeClr val="bg1"/>
                </a:solidFill>
              </a:endParaRPr>
            </a:p>
          </p:txBody>
        </p:sp>
        <p:sp>
          <p:nvSpPr>
            <p:cNvPr id="35" name="Rectangle 22"/>
            <p:cNvSpPr>
              <a:spLocks noChangeArrowheads="1"/>
            </p:cNvSpPr>
            <p:nvPr/>
          </p:nvSpPr>
          <p:spPr bwMode="auto">
            <a:xfrm>
              <a:off x="2290" y="2069"/>
              <a:ext cx="862" cy="454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solidFill>
                    <a:schemeClr val="accent5">
                      <a:lumMod val="50000"/>
                    </a:schemeClr>
                  </a:solidFill>
                </a:rPr>
                <a:t>Free</a:t>
              </a:r>
            </a:p>
            <a:p>
              <a:pPr algn="ctr">
                <a:lnSpc>
                  <a:spcPct val="80000"/>
                </a:lnSpc>
                <a:spcBef>
                  <a:spcPct val="2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dirty="0" err="1">
                  <a:solidFill>
                    <a:schemeClr val="accent5">
                      <a:lumMod val="50000"/>
                    </a:schemeClr>
                  </a:solidFill>
                </a:rPr>
                <a:t>mem</a:t>
              </a:r>
              <a:endParaRPr lang="zh-CN" altLang="en-US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32800" name="Rectangle 23"/>
            <p:cNvSpPr>
              <a:spLocks noChangeArrowheads="1"/>
            </p:cNvSpPr>
            <p:nvPr/>
          </p:nvSpPr>
          <p:spPr bwMode="auto">
            <a:xfrm>
              <a:off x="2290" y="2795"/>
              <a:ext cx="862" cy="3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rgbClr val="FF0000"/>
                  </a:solidFill>
                </a:rPr>
                <a:t>Proc B</a:t>
              </a:r>
            </a:p>
          </p:txBody>
        </p:sp>
        <p:sp>
          <p:nvSpPr>
            <p:cNvPr id="32801" name="Rectangle 24"/>
            <p:cNvSpPr>
              <a:spLocks noChangeArrowheads="1"/>
            </p:cNvSpPr>
            <p:nvPr/>
          </p:nvSpPr>
          <p:spPr bwMode="auto">
            <a:xfrm>
              <a:off x="2290" y="2523"/>
              <a:ext cx="862" cy="2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rgbClr val="FF0000"/>
                  </a:solidFill>
                </a:rPr>
                <a:t>Proc C</a:t>
              </a:r>
            </a:p>
          </p:txBody>
        </p:sp>
      </p:grpSp>
      <p:grpSp>
        <p:nvGrpSpPr>
          <p:cNvPr id="8" name="Group 32"/>
          <p:cNvGrpSpPr>
            <a:grpSpLocks/>
          </p:cNvGrpSpPr>
          <p:nvPr/>
        </p:nvGrpSpPr>
        <p:grpSpPr bwMode="auto">
          <a:xfrm>
            <a:off x="6743849" y="2204864"/>
            <a:ext cx="1152525" cy="3097213"/>
            <a:chOff x="2290" y="2069"/>
            <a:chExt cx="862" cy="1951"/>
          </a:xfrm>
        </p:grpSpPr>
        <p:sp>
          <p:nvSpPr>
            <p:cNvPr id="39" name="Rectangle 33"/>
            <p:cNvSpPr>
              <a:spLocks noChangeArrowheads="1"/>
            </p:cNvSpPr>
            <p:nvPr/>
          </p:nvSpPr>
          <p:spPr bwMode="auto">
            <a:xfrm>
              <a:off x="2290" y="3158"/>
              <a:ext cx="862" cy="589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solidFill>
                    <a:schemeClr val="accent5">
                      <a:lumMod val="50000"/>
                    </a:schemeClr>
                  </a:solidFill>
                </a:rPr>
                <a:t>Free </a:t>
              </a:r>
            </a:p>
            <a:p>
              <a:pPr algn="ctr">
                <a:lnSpc>
                  <a:spcPct val="80000"/>
                </a:lnSpc>
                <a:spcBef>
                  <a:spcPct val="2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dirty="0" err="1">
                  <a:solidFill>
                    <a:schemeClr val="accent5">
                      <a:lumMod val="50000"/>
                    </a:schemeClr>
                  </a:solidFill>
                </a:rPr>
                <a:t>mem</a:t>
              </a:r>
              <a:endParaRPr lang="zh-CN" altLang="en-US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32793" name="Rectangle 34"/>
            <p:cNvSpPr>
              <a:spLocks noChangeArrowheads="1"/>
            </p:cNvSpPr>
            <p:nvPr/>
          </p:nvSpPr>
          <p:spPr bwMode="auto">
            <a:xfrm>
              <a:off x="2290" y="3747"/>
              <a:ext cx="862" cy="273"/>
            </a:xfrm>
            <a:prstGeom prst="rect">
              <a:avLst/>
            </a:prstGeom>
            <a:solidFill>
              <a:srgbClr val="FF66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chemeClr val="bg1"/>
                  </a:solidFill>
                </a:rPr>
                <a:t>OS</a:t>
              </a:r>
              <a:endParaRPr lang="zh-CN" altLang="en-US" sz="1800">
                <a:solidFill>
                  <a:schemeClr val="bg1"/>
                </a:solidFill>
              </a:endParaRPr>
            </a:p>
          </p:txBody>
        </p:sp>
        <p:sp>
          <p:nvSpPr>
            <p:cNvPr id="41" name="Rectangle 35"/>
            <p:cNvSpPr>
              <a:spLocks noChangeArrowheads="1"/>
            </p:cNvSpPr>
            <p:nvPr/>
          </p:nvSpPr>
          <p:spPr bwMode="auto">
            <a:xfrm>
              <a:off x="2290" y="2069"/>
              <a:ext cx="862" cy="454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solidFill>
                    <a:schemeClr val="accent5">
                      <a:lumMod val="50000"/>
                    </a:schemeClr>
                  </a:solidFill>
                </a:rPr>
                <a:t>Free</a:t>
              </a:r>
            </a:p>
            <a:p>
              <a:pPr algn="ctr">
                <a:lnSpc>
                  <a:spcPct val="80000"/>
                </a:lnSpc>
                <a:spcBef>
                  <a:spcPct val="2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dirty="0" err="1">
                  <a:solidFill>
                    <a:schemeClr val="accent5">
                      <a:lumMod val="50000"/>
                    </a:schemeClr>
                  </a:solidFill>
                </a:rPr>
                <a:t>mem</a:t>
              </a:r>
              <a:endParaRPr lang="zh-CN" altLang="en-US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32795" name="Rectangle 36"/>
            <p:cNvSpPr>
              <a:spLocks noChangeArrowheads="1"/>
            </p:cNvSpPr>
            <p:nvPr/>
          </p:nvSpPr>
          <p:spPr bwMode="auto">
            <a:xfrm>
              <a:off x="2290" y="2795"/>
              <a:ext cx="862" cy="3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rgbClr val="FF0000"/>
                  </a:solidFill>
                </a:rPr>
                <a:t>Proc B</a:t>
              </a:r>
            </a:p>
          </p:txBody>
        </p:sp>
        <p:sp>
          <p:nvSpPr>
            <p:cNvPr id="32796" name="Rectangle 37"/>
            <p:cNvSpPr>
              <a:spLocks noChangeArrowheads="1"/>
            </p:cNvSpPr>
            <p:nvPr/>
          </p:nvSpPr>
          <p:spPr bwMode="auto">
            <a:xfrm>
              <a:off x="2290" y="2523"/>
              <a:ext cx="862" cy="2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rgbClr val="FF0000"/>
                  </a:solidFill>
                </a:rPr>
                <a:t>Proc C</a:t>
              </a:r>
            </a:p>
          </p:txBody>
        </p:sp>
      </p:grpSp>
      <p:grpSp>
        <p:nvGrpSpPr>
          <p:cNvPr id="9" name="Group 45"/>
          <p:cNvGrpSpPr>
            <a:grpSpLocks/>
          </p:cNvGrpSpPr>
          <p:nvPr/>
        </p:nvGrpSpPr>
        <p:grpSpPr bwMode="auto">
          <a:xfrm>
            <a:off x="7967811" y="2204864"/>
            <a:ext cx="1152525" cy="3097213"/>
            <a:chOff x="4241" y="2069"/>
            <a:chExt cx="726" cy="1951"/>
          </a:xfrm>
        </p:grpSpPr>
        <p:sp>
          <p:nvSpPr>
            <p:cNvPr id="45" name="Rectangle 39"/>
            <p:cNvSpPr>
              <a:spLocks noChangeArrowheads="1"/>
            </p:cNvSpPr>
            <p:nvPr/>
          </p:nvSpPr>
          <p:spPr bwMode="auto">
            <a:xfrm>
              <a:off x="4241" y="3158"/>
              <a:ext cx="726" cy="181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solidFill>
                    <a:schemeClr val="accent5">
                      <a:lumMod val="50000"/>
                    </a:schemeClr>
                  </a:solidFill>
                </a:rPr>
                <a:t>Free</a:t>
              </a:r>
              <a:endParaRPr lang="zh-CN" altLang="en-US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32787" name="Rectangle 40"/>
            <p:cNvSpPr>
              <a:spLocks noChangeArrowheads="1"/>
            </p:cNvSpPr>
            <p:nvPr/>
          </p:nvSpPr>
          <p:spPr bwMode="auto">
            <a:xfrm>
              <a:off x="4241" y="3747"/>
              <a:ext cx="726" cy="273"/>
            </a:xfrm>
            <a:prstGeom prst="rect">
              <a:avLst/>
            </a:prstGeom>
            <a:solidFill>
              <a:srgbClr val="FF66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chemeClr val="bg1"/>
                  </a:solidFill>
                </a:rPr>
                <a:t>OS</a:t>
              </a:r>
              <a:endParaRPr lang="zh-CN" altLang="en-US" sz="1800">
                <a:solidFill>
                  <a:schemeClr val="bg1"/>
                </a:solidFill>
              </a:endParaRPr>
            </a:p>
          </p:txBody>
        </p:sp>
        <p:sp>
          <p:nvSpPr>
            <p:cNvPr id="47" name="Rectangle 41"/>
            <p:cNvSpPr>
              <a:spLocks noChangeArrowheads="1"/>
            </p:cNvSpPr>
            <p:nvPr/>
          </p:nvSpPr>
          <p:spPr bwMode="auto">
            <a:xfrm>
              <a:off x="4241" y="2069"/>
              <a:ext cx="726" cy="454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solidFill>
                    <a:schemeClr val="accent5">
                      <a:lumMod val="50000"/>
                    </a:schemeClr>
                  </a:solidFill>
                </a:rPr>
                <a:t>Free </a:t>
              </a:r>
            </a:p>
            <a:p>
              <a:pPr algn="ctr">
                <a:lnSpc>
                  <a:spcPct val="80000"/>
                </a:lnSpc>
                <a:spcBef>
                  <a:spcPct val="2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dirty="0" err="1">
                  <a:solidFill>
                    <a:schemeClr val="accent5">
                      <a:lumMod val="50000"/>
                    </a:schemeClr>
                  </a:solidFill>
                </a:rPr>
                <a:t>mem</a:t>
              </a:r>
              <a:endParaRPr lang="zh-CN" altLang="en-US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32789" name="Rectangle 42"/>
            <p:cNvSpPr>
              <a:spLocks noChangeArrowheads="1"/>
            </p:cNvSpPr>
            <p:nvPr/>
          </p:nvSpPr>
          <p:spPr bwMode="auto">
            <a:xfrm>
              <a:off x="4241" y="2795"/>
              <a:ext cx="726" cy="3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rgbClr val="FF0000"/>
                  </a:solidFill>
                </a:rPr>
                <a:t>Proc B</a:t>
              </a:r>
            </a:p>
          </p:txBody>
        </p:sp>
        <p:sp>
          <p:nvSpPr>
            <p:cNvPr id="32790" name="Rectangle 43"/>
            <p:cNvSpPr>
              <a:spLocks noChangeArrowheads="1"/>
            </p:cNvSpPr>
            <p:nvPr/>
          </p:nvSpPr>
          <p:spPr bwMode="auto">
            <a:xfrm>
              <a:off x="4241" y="2523"/>
              <a:ext cx="726" cy="2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rgbClr val="FF0000"/>
                  </a:solidFill>
                </a:rPr>
                <a:t>Proc C</a:t>
              </a:r>
            </a:p>
          </p:txBody>
        </p:sp>
        <p:sp>
          <p:nvSpPr>
            <p:cNvPr id="32791" name="Rectangle 44"/>
            <p:cNvSpPr>
              <a:spLocks noChangeArrowheads="1"/>
            </p:cNvSpPr>
            <p:nvPr/>
          </p:nvSpPr>
          <p:spPr bwMode="auto">
            <a:xfrm>
              <a:off x="4241" y="3339"/>
              <a:ext cx="726" cy="40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rgbClr val="FF0000"/>
                  </a:solidFill>
                </a:rPr>
                <a:t>Proc D</a:t>
              </a: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F7688B97-619D-6254-DB95-E0F0883BF322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11" name="标题 8">
            <a:extLst>
              <a:ext uri="{FF2B5EF4-FFF2-40B4-BE49-F238E27FC236}">
                <a16:creationId xmlns:a16="http://schemas.microsoft.com/office/drawing/2014/main" id="{CDDD4E07-70E4-95F8-1C10-7A20319D4E78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程序运行后的内存布局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5"/>
          <p:cNvSpPr txBox="1">
            <a:spLocks noGrp="1"/>
          </p:cNvSpPr>
          <p:nvPr/>
        </p:nvSpPr>
        <p:spPr bwMode="auto">
          <a:xfrm>
            <a:off x="9659938" y="6438900"/>
            <a:ext cx="919162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48216480-E272-4099-8B16-C4976B08B287}" type="slidenum">
              <a:rPr lang="zh-CN" altLang="en-US" sz="1400">
                <a:solidFill>
                  <a:schemeClr val="tx1"/>
                </a:solidFill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95400" y="4614026"/>
            <a:ext cx="7772400" cy="1752600"/>
          </a:xfrm>
          <a:prstGeom prst="rect">
            <a:avLst/>
          </a:prstGeo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有３个空闲区５个进程区的内存管理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>
                <a:ea typeface="宋体" panose="02010600030101010101" pitchFamily="2" charset="-122"/>
              </a:rPr>
              <a:t>刻度表示分配的单位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>
                <a:ea typeface="宋体" panose="02010600030101010101" pitchFamily="2" charset="-122"/>
              </a:rPr>
              <a:t>阴影部分是空闲区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b)</a:t>
            </a:r>
            <a:r>
              <a:rPr lang="zh-CN" altLang="en-US" dirty="0">
                <a:ea typeface="宋体" panose="02010600030101010101" pitchFamily="2" charset="-122"/>
              </a:rPr>
              <a:t>部分是管理内存的位图</a:t>
            </a:r>
            <a:endParaRPr lang="zh-CN" altLang="en-US" sz="1800" dirty="0">
              <a:ea typeface="宋体" panose="02010600030101010101" pitchFamily="2" charset="-122"/>
            </a:endParaRPr>
          </a:p>
        </p:txBody>
      </p:sp>
      <p:pic>
        <p:nvPicPr>
          <p:cNvPr id="38917" name="Picture 7" descr="4-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3805" y="1684338"/>
            <a:ext cx="6718300" cy="290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8" name="Rectangle 7"/>
          <p:cNvSpPr>
            <a:spLocks noChangeArrowheads="1"/>
          </p:cNvSpPr>
          <p:nvPr/>
        </p:nvSpPr>
        <p:spPr bwMode="auto">
          <a:xfrm>
            <a:off x="4007768" y="2692401"/>
            <a:ext cx="6119813" cy="18002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lnSpc>
                <a:spcPct val="80000"/>
              </a:lnSpc>
              <a:buClrTx/>
              <a:buFont typeface="Wingdings" panose="05000000000000000000" pitchFamily="2" charset="2"/>
              <a:buChar char="•"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BC522BA-3885-1539-C733-84AE6120A3DB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4" name="标题 8">
            <a:extLst>
              <a:ext uri="{FF2B5EF4-FFF2-40B4-BE49-F238E27FC236}">
                <a16:creationId xmlns:a16="http://schemas.microsoft.com/office/drawing/2014/main" id="{B6EA49D0-A93A-E943-5330-8CB75356840F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zh-CN" b="0" kern="0" dirty="0"/>
              <a:t>1. </a:t>
            </a:r>
            <a:r>
              <a:rPr lang="zh-CN" altLang="en-US" b="0" kern="0" dirty="0"/>
              <a:t>使用位图的存储管理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9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9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4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4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灯片编号占位符 5"/>
          <p:cNvSpPr txBox="1">
            <a:spLocks noGrp="1"/>
          </p:cNvSpPr>
          <p:nvPr/>
        </p:nvSpPr>
        <p:spPr bwMode="auto">
          <a:xfrm>
            <a:off x="9659938" y="6438900"/>
            <a:ext cx="919162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6EA4D2D-AB09-4D94-9D2C-45677E488EC9}" type="slidenum">
              <a:rPr lang="zh-CN" altLang="en-US" sz="1400">
                <a:solidFill>
                  <a:schemeClr val="tx1"/>
                </a:solidFill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22531" name="Rectangle 7"/>
          <p:cNvSpPr>
            <a:spLocks noGrp="1" noChangeArrowheads="1"/>
          </p:cNvSpPr>
          <p:nvPr>
            <p:ph type="body" idx="4294967295"/>
          </p:nvPr>
        </p:nvSpPr>
        <p:spPr>
          <a:xfrm>
            <a:off x="731520" y="1556792"/>
            <a:ext cx="7772400" cy="1538287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每个链表由４部分构成</a:t>
            </a:r>
          </a:p>
        </p:txBody>
      </p:sp>
      <p:grpSp>
        <p:nvGrpSpPr>
          <p:cNvPr id="44036" name="Group 21"/>
          <p:cNvGrpSpPr>
            <a:grpSpLocks/>
          </p:cNvGrpSpPr>
          <p:nvPr/>
        </p:nvGrpSpPr>
        <p:grpSpPr bwMode="auto">
          <a:xfrm>
            <a:off x="6205099" y="954335"/>
            <a:ext cx="5070475" cy="914400"/>
            <a:chOff x="1191" y="2252"/>
            <a:chExt cx="3194" cy="576"/>
          </a:xfrm>
        </p:grpSpPr>
        <p:sp>
          <p:nvSpPr>
            <p:cNvPr id="44038" name="Rectangle 12"/>
            <p:cNvSpPr>
              <a:spLocks noChangeArrowheads="1"/>
            </p:cNvSpPr>
            <p:nvPr/>
          </p:nvSpPr>
          <p:spPr bwMode="auto">
            <a:xfrm>
              <a:off x="1191" y="2252"/>
              <a:ext cx="3194" cy="5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endParaRPr lang="zh-CN" altLang="en-US" sz="1600">
                <a:solidFill>
                  <a:schemeClr val="tx1"/>
                </a:solidFill>
                <a:latin typeface="Helvetica" panose="020B0604020202020204" pitchFamily="34" charset="0"/>
              </a:endParaRPr>
            </a:p>
          </p:txBody>
        </p:sp>
        <p:sp>
          <p:nvSpPr>
            <p:cNvPr id="44039" name="Line 13"/>
            <p:cNvSpPr>
              <a:spLocks noChangeShapeType="1"/>
            </p:cNvSpPr>
            <p:nvPr/>
          </p:nvSpPr>
          <p:spPr bwMode="auto">
            <a:xfrm>
              <a:off x="1951" y="2252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0" name="Line 14"/>
            <p:cNvSpPr>
              <a:spLocks noChangeShapeType="1"/>
            </p:cNvSpPr>
            <p:nvPr/>
          </p:nvSpPr>
          <p:spPr bwMode="auto">
            <a:xfrm>
              <a:off x="2762" y="2252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1" name="Line 15"/>
            <p:cNvSpPr>
              <a:spLocks noChangeShapeType="1"/>
            </p:cNvSpPr>
            <p:nvPr/>
          </p:nvSpPr>
          <p:spPr bwMode="auto">
            <a:xfrm>
              <a:off x="3588" y="2252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2" name="Text Box 16"/>
            <p:cNvSpPr txBox="1">
              <a:spLocks noChangeArrowheads="1"/>
            </p:cNvSpPr>
            <p:nvPr/>
          </p:nvSpPr>
          <p:spPr bwMode="auto">
            <a:xfrm>
              <a:off x="1243" y="2448"/>
              <a:ext cx="615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1400">
                  <a:solidFill>
                    <a:schemeClr val="tx1"/>
                  </a:solidFill>
                  <a:latin typeface="Helvetica" panose="020B0604020202020204" pitchFamily="34" charset="0"/>
                </a:rPr>
                <a:t>Ｈ／Ｐ</a:t>
              </a:r>
            </a:p>
          </p:txBody>
        </p:sp>
        <p:sp>
          <p:nvSpPr>
            <p:cNvPr id="44043" name="Text Box 17"/>
            <p:cNvSpPr txBox="1">
              <a:spLocks noChangeArrowheads="1"/>
            </p:cNvSpPr>
            <p:nvPr/>
          </p:nvSpPr>
          <p:spPr bwMode="auto">
            <a:xfrm>
              <a:off x="2029" y="2461"/>
              <a:ext cx="681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1400">
                  <a:solidFill>
                    <a:schemeClr val="tx1"/>
                  </a:solidFill>
                  <a:latin typeface="Helvetica" panose="020B0604020202020204" pitchFamily="34" charset="0"/>
                </a:rPr>
                <a:t>起始地址</a:t>
              </a:r>
            </a:p>
          </p:txBody>
        </p:sp>
        <p:sp>
          <p:nvSpPr>
            <p:cNvPr id="44044" name="Text Box 18"/>
            <p:cNvSpPr txBox="1">
              <a:spLocks noChangeArrowheads="1"/>
            </p:cNvSpPr>
            <p:nvPr/>
          </p:nvSpPr>
          <p:spPr bwMode="auto">
            <a:xfrm>
              <a:off x="2828" y="2448"/>
              <a:ext cx="641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1600">
                  <a:solidFill>
                    <a:schemeClr val="tx1"/>
                  </a:solidFill>
                  <a:latin typeface="Helvetica" panose="020B0604020202020204" pitchFamily="34" charset="0"/>
                </a:rPr>
                <a:t>长度</a:t>
              </a:r>
            </a:p>
          </p:txBody>
        </p:sp>
        <p:sp>
          <p:nvSpPr>
            <p:cNvPr id="44045" name="Text Box 19"/>
            <p:cNvSpPr txBox="1">
              <a:spLocks noChangeArrowheads="1"/>
            </p:cNvSpPr>
            <p:nvPr/>
          </p:nvSpPr>
          <p:spPr bwMode="auto">
            <a:xfrm>
              <a:off x="3665" y="2448"/>
              <a:ext cx="629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1400">
                  <a:solidFill>
                    <a:schemeClr val="tx1"/>
                  </a:solidFill>
                  <a:latin typeface="Helvetica" panose="020B0604020202020204" pitchFamily="34" charset="0"/>
                </a:rPr>
                <a:t>下个链针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B775E18A-F8F9-2B5D-90DF-93241E966FB6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3" name="标题 8">
            <a:extLst>
              <a:ext uri="{FF2B5EF4-FFF2-40B4-BE49-F238E27FC236}">
                <a16:creationId xmlns:a16="http://schemas.microsoft.com/office/drawing/2014/main" id="{5B70BA99-A00A-CB6F-DC00-CB430A74B1E9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zh-CN" b="0" kern="0" dirty="0"/>
              <a:t>2. </a:t>
            </a:r>
            <a:r>
              <a:rPr lang="zh-CN" altLang="en-US" b="0" kern="0" dirty="0"/>
              <a:t>使用链表的存储管理</a:t>
            </a:r>
          </a:p>
        </p:txBody>
      </p:sp>
      <p:pic>
        <p:nvPicPr>
          <p:cNvPr id="15" name="图片 14" descr="bitmap&amp;List.jpg">
            <a:extLst>
              <a:ext uri="{FF2B5EF4-FFF2-40B4-BE49-F238E27FC236}">
                <a16:creationId xmlns:a16="http://schemas.microsoft.com/office/drawing/2014/main" id="{51D45D28-280F-4FC5-B7DD-D389057CD0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1547" y="2664240"/>
            <a:ext cx="9144000" cy="343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灯片编号占位符 4"/>
          <p:cNvSpPr txBox="1">
            <a:spLocks noGrp="1"/>
          </p:cNvSpPr>
          <p:nvPr/>
        </p:nvSpPr>
        <p:spPr bwMode="auto">
          <a:xfrm>
            <a:off x="9659938" y="6438900"/>
            <a:ext cx="919162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65F34729-8803-44C2-AFF1-1DF5020BAC02}" type="slidenum">
              <a:rPr lang="zh-CN" altLang="en-US" sz="1400">
                <a:solidFill>
                  <a:schemeClr val="tx1"/>
                </a:solidFill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zh-CN" sz="1400">
              <a:solidFill>
                <a:schemeClr val="tx1"/>
              </a:solidFill>
            </a:endParaRPr>
          </a:p>
        </p:txBody>
      </p:sp>
      <p:pic>
        <p:nvPicPr>
          <p:cNvPr id="45059" name="Picture 7" descr="4-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1063" y="2035176"/>
            <a:ext cx="8032750" cy="330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0" name="Text Box 8"/>
          <p:cNvSpPr txBox="1">
            <a:spLocks noChangeArrowheads="1"/>
          </p:cNvSpPr>
          <p:nvPr/>
        </p:nvSpPr>
        <p:spPr bwMode="auto">
          <a:xfrm>
            <a:off x="731520" y="1556792"/>
            <a:ext cx="72723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chemeClr val="tx1"/>
                </a:solidFill>
                <a:latin typeface="Helvetica" panose="020B0604020202020204" pitchFamily="34" charset="0"/>
              </a:rPr>
              <a:t>使用链表方式管理分区内存时，分区回收有四种控制情况：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17729D7-7FD7-DC40-CBCE-33ED0F8F3941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3" name="标题 8">
            <a:extLst>
              <a:ext uri="{FF2B5EF4-FFF2-40B4-BE49-F238E27FC236}">
                <a16:creationId xmlns:a16="http://schemas.microsoft.com/office/drawing/2014/main" id="{8A6F9A4B-EFBF-9DA6-21F1-9BCD1B2AF27E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zh-CN" b="0" kern="0" dirty="0"/>
              <a:t>2. </a:t>
            </a:r>
            <a:r>
              <a:rPr lang="zh-CN" altLang="en-US" b="0" kern="0" dirty="0"/>
              <a:t>使用链表的存储管理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灯片编号占位符 4"/>
          <p:cNvSpPr txBox="1">
            <a:spLocks noGrp="1"/>
          </p:cNvSpPr>
          <p:nvPr/>
        </p:nvSpPr>
        <p:spPr bwMode="auto">
          <a:xfrm>
            <a:off x="9659938" y="6438900"/>
            <a:ext cx="919162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32962873-A321-472C-A883-11109EC832DA}" type="slidenum">
              <a:rPr lang="zh-CN" altLang="en-US" sz="1400">
                <a:solidFill>
                  <a:schemeClr val="tx1"/>
                </a:solidFill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46084" name="Text Box 5"/>
          <p:cNvSpPr txBox="1">
            <a:spLocks noChangeArrowheads="1"/>
          </p:cNvSpPr>
          <p:nvPr/>
        </p:nvSpPr>
        <p:spPr bwMode="auto">
          <a:xfrm>
            <a:off x="697944" y="1556792"/>
            <a:ext cx="11014680" cy="2492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Wingdings" panose="05000000000000000000" pitchFamily="2" charset="2"/>
              <a:buNone/>
            </a:pPr>
            <a:r>
              <a:rPr kumimoji="1" lang="zh-CN" altLang="en-US" sz="2400" dirty="0"/>
              <a:t>分区分配算法主要完成：</a:t>
            </a:r>
          </a:p>
          <a:p>
            <a:pPr eaLnBrk="1" hangingPunct="1">
              <a:spcBef>
                <a:spcPct val="50000"/>
              </a:spcBef>
              <a:buClrTx/>
              <a:buFont typeface="Wingdings" panose="05000000000000000000" pitchFamily="2" charset="2"/>
              <a:buNone/>
            </a:pPr>
            <a:r>
              <a:rPr kumimoji="1" lang="zh-CN" altLang="en-US" sz="2400" dirty="0">
                <a:solidFill>
                  <a:srgbClr val="000000"/>
                </a:solidFill>
              </a:rPr>
              <a:t>分配时：寻找空闲分区，分区大小应大于或等于请求进程的要求：若大于，则将该分区分割成两个，其中一个标记为“占用”，而另一个标记为“空闲”。</a:t>
            </a:r>
            <a:endParaRPr kumimoji="1" lang="en-US" altLang="zh-CN" sz="2400" dirty="0">
              <a:solidFill>
                <a:srgbClr val="000000"/>
              </a:solidFill>
            </a:endParaRPr>
          </a:p>
          <a:p>
            <a:pPr eaLnBrk="1" hangingPunct="1">
              <a:spcBef>
                <a:spcPct val="50000"/>
              </a:spcBef>
              <a:buClrTx/>
              <a:buFont typeface="Wingdings" panose="05000000000000000000" pitchFamily="2" charset="2"/>
              <a:buNone/>
            </a:pPr>
            <a:r>
              <a:rPr kumimoji="1" lang="zh-CN" altLang="en-US" sz="2400" dirty="0"/>
              <a:t>分区回收算法主要完成：</a:t>
            </a:r>
          </a:p>
          <a:p>
            <a:pPr eaLnBrk="1" hangingPunct="1">
              <a:spcBef>
                <a:spcPct val="50000"/>
              </a:spcBef>
              <a:buClrTx/>
              <a:buFont typeface="Wingdings" panose="05000000000000000000" pitchFamily="2" charset="2"/>
              <a:buNone/>
            </a:pPr>
            <a:r>
              <a:rPr kumimoji="1" lang="zh-CN" altLang="en-US" sz="2400" dirty="0">
                <a:solidFill>
                  <a:srgbClr val="000000"/>
                </a:solidFill>
              </a:rPr>
              <a:t>回收时：查阅当前分区状况，完成不同的回收操作（结合上面的４种控制情况）。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9996F40-154E-5128-8CB5-8A1A13D477C5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4" name="标题 8">
            <a:extLst>
              <a:ext uri="{FF2B5EF4-FFF2-40B4-BE49-F238E27FC236}">
                <a16:creationId xmlns:a16="http://schemas.microsoft.com/office/drawing/2014/main" id="{0F2C44DF-C563-276C-AD82-D8CF99E8FE90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分区管理分配算法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右箭头 3"/>
          <p:cNvSpPr/>
          <p:nvPr/>
        </p:nvSpPr>
        <p:spPr>
          <a:xfrm>
            <a:off x="8112228" y="3360351"/>
            <a:ext cx="432048" cy="360040"/>
          </a:xfrm>
          <a:prstGeom prst="rightArrow">
            <a:avLst/>
          </a:prstGeom>
          <a:solidFill>
            <a:srgbClr val="FFFF00"/>
          </a:solidFill>
          <a:ln>
            <a:solidFill>
              <a:srgbClr val="1157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8685539" y="1999957"/>
            <a:ext cx="1365595" cy="3258764"/>
            <a:chOff x="6586188" y="1056060"/>
            <a:chExt cx="1365595" cy="3258764"/>
          </a:xfrm>
        </p:grpSpPr>
        <p:grpSp>
          <p:nvGrpSpPr>
            <p:cNvPr id="6" name="组合 5"/>
            <p:cNvGrpSpPr/>
            <p:nvPr/>
          </p:nvGrpSpPr>
          <p:grpSpPr>
            <a:xfrm>
              <a:off x="6586188" y="1056060"/>
              <a:ext cx="1365595" cy="3258764"/>
              <a:chOff x="6586188" y="1056060"/>
              <a:chExt cx="1365595" cy="3258764"/>
            </a:xfrm>
          </p:grpSpPr>
          <p:pic>
            <p:nvPicPr>
              <p:cNvPr id="8" name="图片 7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588224" y="1059582"/>
                <a:ext cx="1363559" cy="3255242"/>
              </a:xfrm>
              <a:prstGeom prst="rect">
                <a:avLst/>
              </a:prstGeom>
            </p:spPr>
          </p:pic>
          <p:pic>
            <p:nvPicPr>
              <p:cNvPr id="9" name="图片 8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588224" y="2034821"/>
                <a:ext cx="1363559" cy="600408"/>
              </a:xfrm>
              <a:prstGeom prst="rect">
                <a:avLst/>
              </a:prstGeom>
            </p:spPr>
          </p:pic>
          <p:sp>
            <p:nvSpPr>
              <p:cNvPr id="10" name="Rectangle 17"/>
              <p:cNvSpPr>
                <a:spLocks noChangeArrowheads="1"/>
              </p:cNvSpPr>
              <p:nvPr/>
            </p:nvSpPr>
            <p:spPr bwMode="auto">
              <a:xfrm>
                <a:off x="6675489" y="2143782"/>
                <a:ext cx="1189023" cy="3700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160" tIns="46080" rIns="92160" bIns="46080">
                <a:spAutoFit/>
              </a:bodyPr>
              <a:lstStyle/>
              <a:p>
                <a:pPr>
                  <a:buSzPct val="10000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zh-CN" altLang="en-US" b="1" dirty="0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sym typeface="Comic Sans MS" charset="0"/>
                  </a:rPr>
                  <a:t>2K bytes</a:t>
                </a:r>
                <a:endParaRPr lang="zh-CN" altLang="en-US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pic>
            <p:nvPicPr>
              <p:cNvPr id="11" name="图片 10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586188" y="1056060"/>
                <a:ext cx="1363559" cy="458116"/>
              </a:xfrm>
              <a:prstGeom prst="rect">
                <a:avLst/>
              </a:prstGeom>
            </p:spPr>
          </p:pic>
          <p:sp>
            <p:nvSpPr>
              <p:cNvPr id="12" name="Rectangle 10"/>
              <p:cNvSpPr>
                <a:spLocks noChangeArrowheads="1"/>
              </p:cNvSpPr>
              <p:nvPr/>
            </p:nvSpPr>
            <p:spPr bwMode="auto">
              <a:xfrm>
                <a:off x="6670600" y="1099272"/>
                <a:ext cx="1189023" cy="3700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160" tIns="46080" rIns="92160" bIns="46080">
                <a:spAutoFit/>
              </a:bodyPr>
              <a:lstStyle/>
              <a:p>
                <a:pPr>
                  <a:buSzPct val="10000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zh-CN" altLang="en-US" b="1" dirty="0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sym typeface="Comic Sans MS" charset="0"/>
                  </a:rPr>
                  <a:t>1K bytes</a:t>
                </a:r>
                <a:endParaRPr lang="zh-CN" altLang="en-US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88223" y="3723879"/>
              <a:ext cx="1363559" cy="94212"/>
            </a:xfrm>
            <a:prstGeom prst="rect">
              <a:avLst/>
            </a:prstGeom>
          </p:spPr>
        </p:pic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1706" y="2005612"/>
            <a:ext cx="1363559" cy="3255242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1706" y="2980851"/>
            <a:ext cx="1363559" cy="600408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1705" y="2007745"/>
            <a:ext cx="1363559" cy="458116"/>
          </a:xfrm>
          <a:prstGeom prst="rect">
            <a:avLst/>
          </a:prstGeom>
        </p:spPr>
      </p:pic>
      <p:grpSp>
        <p:nvGrpSpPr>
          <p:cNvPr id="16" name="组合 15"/>
          <p:cNvGrpSpPr/>
          <p:nvPr/>
        </p:nvGrpSpPr>
        <p:grpSpPr>
          <a:xfrm>
            <a:off x="6541705" y="4421839"/>
            <a:ext cx="1363559" cy="370059"/>
            <a:chOff x="4442354" y="3477941"/>
            <a:chExt cx="1363559" cy="370059"/>
          </a:xfrm>
        </p:grpSpPr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42354" y="3509986"/>
              <a:ext cx="1363559" cy="310237"/>
            </a:xfrm>
            <a:prstGeom prst="rect">
              <a:avLst/>
            </a:prstGeom>
          </p:spPr>
        </p:pic>
        <p:sp>
          <p:nvSpPr>
            <p:cNvPr id="18" name="Rectangle 9"/>
            <p:cNvSpPr>
              <a:spLocks noChangeArrowheads="1"/>
            </p:cNvSpPr>
            <p:nvPr/>
          </p:nvSpPr>
          <p:spPr bwMode="auto">
            <a:xfrm>
              <a:off x="4474473" y="3477941"/>
              <a:ext cx="1314057" cy="3700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160" tIns="46080" rIns="92160" bIns="46080">
              <a:spAutoFit/>
            </a:bodyPr>
            <a:lstStyle/>
            <a:p>
              <a:pPr>
                <a:buSzPct val="10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sym typeface="Comic Sans MS" charset="0"/>
                </a:rPr>
                <a:t>500 bytes</a:t>
              </a:r>
              <a:endParaRPr lang="zh-CN" altLang="en-US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9" name="Rectangle 10"/>
          <p:cNvSpPr>
            <a:spLocks noChangeArrowheads="1"/>
          </p:cNvSpPr>
          <p:nvPr/>
        </p:nvSpPr>
        <p:spPr bwMode="auto">
          <a:xfrm>
            <a:off x="6626117" y="2050958"/>
            <a:ext cx="1189023" cy="370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160" tIns="46080" rIns="92160" bIns="46080">
            <a:spAutoFit/>
          </a:bodyPr>
          <a:lstStyle/>
          <a:p>
            <a:pPr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Comic Sans MS" charset="0"/>
              </a:rPr>
              <a:t>1K bytes</a:t>
            </a:r>
            <a:endParaRPr lang="zh-CN" altLang="en-US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Rectangle 11"/>
          <p:cNvSpPr>
            <a:spLocks noChangeArrowheads="1"/>
          </p:cNvSpPr>
          <p:nvPr/>
        </p:nvSpPr>
        <p:spPr bwMode="auto">
          <a:xfrm>
            <a:off x="6630179" y="3095468"/>
            <a:ext cx="1189023" cy="370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160" tIns="46080" rIns="92160" bIns="46080">
            <a:spAutoFit/>
          </a:bodyPr>
          <a:lstStyle/>
          <a:p>
            <a:pPr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Comic Sans MS" charset="0"/>
              </a:rPr>
              <a:t>2K bytes</a:t>
            </a:r>
            <a:endParaRPr lang="zh-CN" altLang="en-US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Text Box 2"/>
          <p:cNvSpPr>
            <a:spLocks noChangeArrowheads="1"/>
          </p:cNvSpPr>
          <p:nvPr/>
        </p:nvSpPr>
        <p:spPr bwMode="auto">
          <a:xfrm>
            <a:off x="2496970" y="2359997"/>
            <a:ext cx="3454301" cy="7762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160" tIns="46080" rIns="92160" bIns="46080"/>
          <a:lstStyle/>
          <a:p>
            <a:pPr eaLnBrk="1" hangingPunct="1">
              <a:spcBef>
                <a:spcPts val="700"/>
              </a:spcBef>
              <a:buSzPct val="100000"/>
            </a:pPr>
            <a:r>
              <a: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Times New Roman" charset="0"/>
              </a:rPr>
              <a:t>思路：</a:t>
            </a:r>
            <a:endParaRPr lang="en-US" altLang="zh-CN" sz="20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sym typeface="Times New Roman" charset="0"/>
            </a:endParaRPr>
          </a:p>
          <a:p>
            <a:pPr eaLnBrk="1" hangingPunct="1">
              <a:spcBef>
                <a:spcPts val="700"/>
              </a:spcBef>
              <a:buSzPct val="100000"/>
            </a:pPr>
            <a:r>
              <a: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Times New Roman" charset="0"/>
              </a:rPr>
              <a:t>分配</a:t>
            </a:r>
            <a:r>
              <a:rPr 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Times New Roman" charset="0"/>
              </a:rPr>
              <a:t>n</a:t>
            </a:r>
            <a:r>
              <a: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Times New Roman" charset="0"/>
              </a:rPr>
              <a:t>字节分区时， 查找并使用不小于</a:t>
            </a:r>
            <a:r>
              <a:rPr 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Times New Roman" charset="0"/>
              </a:rPr>
              <a:t>n</a:t>
            </a:r>
            <a:r>
              <a: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Times New Roman" charset="0"/>
              </a:rPr>
              <a:t>的最小空闲分区</a:t>
            </a:r>
            <a:endParaRPr lang="zh-CN" altLang="en-US" sz="20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Rectangle 3"/>
          <p:cNvSpPr>
            <a:spLocks noChangeArrowheads="1"/>
          </p:cNvSpPr>
          <p:nvPr/>
        </p:nvSpPr>
        <p:spPr bwMode="auto">
          <a:xfrm>
            <a:off x="2495600" y="3991854"/>
            <a:ext cx="3455670" cy="1016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160" tIns="46080" rIns="92160" bIns="46080">
            <a:spAutoFit/>
          </a:bodyPr>
          <a:lstStyle/>
          <a:p>
            <a:pPr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Times New Roman" charset="0"/>
              </a:rPr>
              <a:t>示例：</a:t>
            </a:r>
            <a:endParaRPr lang="en-US" altLang="zh-CN" sz="20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sym typeface="Times New Roman" charset="0"/>
            </a:endParaRPr>
          </a:p>
          <a:p>
            <a:pPr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Times New Roman" charset="0"/>
              </a:rPr>
              <a:t>分配</a:t>
            </a:r>
            <a:r>
              <a:rPr 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Times New Roman" charset="0"/>
              </a:rPr>
              <a:t>400</a:t>
            </a:r>
            <a:r>
              <a: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Times New Roman" charset="0"/>
              </a:rPr>
              <a:t>字节， 使用第</a:t>
            </a:r>
            <a:r>
              <a:rPr 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Times New Roman" charset="0"/>
              </a:rPr>
              <a:t>3</a:t>
            </a:r>
            <a:r>
              <a: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Times New Roman" charset="0"/>
              </a:rPr>
              <a:t>个空闲块</a:t>
            </a:r>
            <a:r>
              <a:rPr 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Times New Roman" charset="0"/>
              </a:rPr>
              <a:t>(</a:t>
            </a:r>
            <a:r>
              <a: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Times New Roman" charset="0"/>
              </a:rPr>
              <a:t>最小</a:t>
            </a:r>
            <a:r>
              <a:rPr 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Times New Roman" charset="0"/>
              </a:rPr>
              <a:t>)</a:t>
            </a:r>
            <a:endParaRPr lang="zh-CN" altLang="en-US" sz="20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Rectangle 3"/>
          <p:cNvSpPr>
            <a:spLocks noChangeArrowheads="1"/>
          </p:cNvSpPr>
          <p:nvPr/>
        </p:nvSpPr>
        <p:spPr bwMode="auto">
          <a:xfrm>
            <a:off x="7108169" y="5386646"/>
            <a:ext cx="1415407" cy="370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160" tIns="46080" rIns="92160" bIns="46080">
            <a:spAutoFit/>
          </a:bodyPr>
          <a:lstStyle/>
          <a:p>
            <a:pPr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b="1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为空闲块</a:t>
            </a: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9696" y="5447478"/>
            <a:ext cx="633703" cy="276922"/>
          </a:xfrm>
          <a:prstGeom prst="rect">
            <a:avLst/>
          </a:prstGeom>
        </p:spPr>
      </p:pic>
      <p:sp>
        <p:nvSpPr>
          <p:cNvPr id="25" name="矩形 24"/>
          <p:cNvSpPr/>
          <p:nvPr/>
        </p:nvSpPr>
        <p:spPr>
          <a:xfrm>
            <a:off x="8685537" y="4453883"/>
            <a:ext cx="1363560" cy="21893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67EC008-43CC-CA0A-89C1-6AEAED385567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27" name="标题 8">
            <a:extLst>
              <a:ext uri="{FF2B5EF4-FFF2-40B4-BE49-F238E27FC236}">
                <a16:creationId xmlns:a16="http://schemas.microsoft.com/office/drawing/2014/main" id="{87F73969-BBEB-05AB-BE1A-99395D63E221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/>
              <a:t>最佳匹配</a:t>
            </a:r>
            <a:endParaRPr lang="zh-CN" altLang="en-US" b="0" kern="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53889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6"/>
    </mc:Choice>
    <mc:Fallback xmlns="">
      <p:transition spd="slow" advTm="14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5" presetClass="emph" presetSubtype="0" repeatCount="indefinite" fill="hold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6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35" presetClass="emph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3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1" grpId="0"/>
      <p:bldP spid="22" grpId="0"/>
      <p:bldP spid="25" grpId="0" animBg="1"/>
      <p:bldP spid="25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右箭头 3"/>
          <p:cNvSpPr/>
          <p:nvPr/>
        </p:nvSpPr>
        <p:spPr>
          <a:xfrm>
            <a:off x="7901511" y="3528225"/>
            <a:ext cx="432048" cy="360040"/>
          </a:xfrm>
          <a:prstGeom prst="rightArrow">
            <a:avLst/>
          </a:prstGeom>
          <a:solidFill>
            <a:srgbClr val="FFFF00"/>
          </a:solidFill>
          <a:ln>
            <a:solidFill>
              <a:srgbClr val="1157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8476856" y="2171353"/>
            <a:ext cx="1363560" cy="3255242"/>
            <a:chOff x="6516215" y="1131590"/>
            <a:chExt cx="1363560" cy="3255242"/>
          </a:xfrm>
        </p:grpSpPr>
        <p:grpSp>
          <p:nvGrpSpPr>
            <p:cNvPr id="6" name="组合 5"/>
            <p:cNvGrpSpPr/>
            <p:nvPr/>
          </p:nvGrpSpPr>
          <p:grpSpPr>
            <a:xfrm>
              <a:off x="6516215" y="1131590"/>
              <a:ext cx="1363560" cy="3255242"/>
              <a:chOff x="6516215" y="1131590"/>
              <a:chExt cx="1363560" cy="3255242"/>
            </a:xfrm>
          </p:grpSpPr>
          <p:pic>
            <p:nvPicPr>
              <p:cNvPr id="8" name="图片 7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516216" y="1131590"/>
                <a:ext cx="1363559" cy="3255242"/>
              </a:xfrm>
              <a:prstGeom prst="rect">
                <a:avLst/>
              </a:prstGeom>
            </p:spPr>
          </p:pic>
          <p:pic>
            <p:nvPicPr>
              <p:cNvPr id="9" name="图片 8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516215" y="3579861"/>
                <a:ext cx="1363559" cy="310237"/>
              </a:xfrm>
              <a:prstGeom prst="rect">
                <a:avLst/>
              </a:prstGeom>
            </p:spPr>
          </p:pic>
          <p:pic>
            <p:nvPicPr>
              <p:cNvPr id="10" name="图片 9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516216" y="2106829"/>
                <a:ext cx="1363559" cy="600408"/>
              </a:xfrm>
              <a:prstGeom prst="rect">
                <a:avLst/>
              </a:prstGeom>
            </p:spPr>
          </p:pic>
          <p:sp>
            <p:nvSpPr>
              <p:cNvPr id="11" name="Rectangle 17"/>
              <p:cNvSpPr>
                <a:spLocks noChangeArrowheads="1"/>
              </p:cNvSpPr>
              <p:nvPr/>
            </p:nvSpPr>
            <p:spPr bwMode="auto">
              <a:xfrm>
                <a:off x="6603481" y="2215790"/>
                <a:ext cx="1189023" cy="3700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160" tIns="46080" rIns="92160" bIns="46080">
                <a:spAutoFit/>
              </a:bodyPr>
              <a:lstStyle/>
              <a:p>
                <a:pPr>
                  <a:buSzPct val="10000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zh-CN" altLang="en-US" b="1" dirty="0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sym typeface="Comic Sans MS" charset="0"/>
                  </a:rPr>
                  <a:t>2K bytes</a:t>
                </a:r>
                <a:endParaRPr lang="zh-CN" altLang="en-US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2" name="Rectangle 19"/>
              <p:cNvSpPr>
                <a:spLocks noChangeArrowheads="1"/>
              </p:cNvSpPr>
              <p:nvPr/>
            </p:nvSpPr>
            <p:spPr bwMode="auto">
              <a:xfrm>
                <a:off x="6540965" y="3555469"/>
                <a:ext cx="1314057" cy="3700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160" tIns="46080" rIns="92160" bIns="46080">
                <a:spAutoFit/>
              </a:bodyPr>
              <a:lstStyle/>
              <a:p>
                <a:pPr>
                  <a:buSzPct val="10000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zh-CN" altLang="en-US" b="1" dirty="0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sym typeface="Comic Sans MS" charset="0"/>
                  </a:rPr>
                  <a:t>500 bytes</a:t>
                </a:r>
                <a:endParaRPr lang="zh-CN" altLang="en-US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16215" y="1382569"/>
              <a:ext cx="1363559" cy="209270"/>
            </a:xfrm>
            <a:prstGeom prst="rect">
              <a:avLst/>
            </a:prstGeom>
          </p:spPr>
        </p:pic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0989" y="2173486"/>
            <a:ext cx="1363559" cy="3255242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0988" y="4621758"/>
            <a:ext cx="1363559" cy="310237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0989" y="3148725"/>
            <a:ext cx="1363559" cy="600408"/>
          </a:xfrm>
          <a:prstGeom prst="rect">
            <a:avLst/>
          </a:prstGeom>
        </p:spPr>
      </p:pic>
      <p:sp>
        <p:nvSpPr>
          <p:cNvPr id="16" name="Text Box 2"/>
          <p:cNvSpPr>
            <a:spLocks noChangeArrowheads="1"/>
          </p:cNvSpPr>
          <p:nvPr/>
        </p:nvSpPr>
        <p:spPr bwMode="auto">
          <a:xfrm>
            <a:off x="2594600" y="2263209"/>
            <a:ext cx="2641587" cy="10001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160" tIns="46080" rIns="92160" bIns="46080"/>
          <a:lstStyle/>
          <a:p>
            <a:pPr eaLnBrk="1" hangingPunct="1">
              <a:spcBef>
                <a:spcPts val="700"/>
              </a:spcBef>
              <a:buSzPct val="100000"/>
            </a:pPr>
            <a:r>
              <a: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Times New Roman" charset="0"/>
              </a:rPr>
              <a:t>思路：</a:t>
            </a:r>
            <a:endParaRPr lang="en-US" altLang="zh-CN" sz="20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sym typeface="Times New Roman" charset="0"/>
            </a:endParaRPr>
          </a:p>
          <a:p>
            <a:pPr eaLnBrk="1" hangingPunct="1">
              <a:spcBef>
                <a:spcPts val="700"/>
              </a:spcBef>
              <a:buSzPct val="100000"/>
            </a:pPr>
            <a:r>
              <a: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Times New Roman" charset="0"/>
              </a:rPr>
              <a:t>分配</a:t>
            </a:r>
            <a:r>
              <a:rPr 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Times New Roman" charset="0"/>
              </a:rPr>
              <a:t>n</a:t>
            </a:r>
            <a:r>
              <a: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Times New Roman" charset="0"/>
              </a:rPr>
              <a:t>个字节，使用第一个可用的空间比</a:t>
            </a:r>
            <a:r>
              <a:rPr 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Times New Roman" charset="0"/>
              </a:rPr>
              <a:t>n</a:t>
            </a:r>
            <a:r>
              <a: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Times New Roman" charset="0"/>
              </a:rPr>
              <a:t>大的空闲块。 </a:t>
            </a:r>
            <a:endParaRPr lang="zh-CN" altLang="en-US" sz="20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Rectangle 3"/>
          <p:cNvSpPr>
            <a:spLocks noChangeArrowheads="1"/>
          </p:cNvSpPr>
          <p:nvPr/>
        </p:nvSpPr>
        <p:spPr bwMode="auto">
          <a:xfrm>
            <a:off x="2594599" y="3996277"/>
            <a:ext cx="2954080" cy="1016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160" tIns="46080" rIns="92160" bIns="46080">
            <a:spAutoFit/>
          </a:bodyPr>
          <a:lstStyle/>
          <a:p>
            <a:pPr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Times New Roman" charset="0"/>
              </a:rPr>
              <a:t>示例：</a:t>
            </a:r>
            <a:endParaRPr lang="en-US" altLang="zh-CN" sz="20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sym typeface="Times New Roman" charset="0"/>
            </a:endParaRPr>
          </a:p>
          <a:p>
            <a:pPr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Times New Roman" charset="0"/>
              </a:rPr>
              <a:t>分配</a:t>
            </a:r>
            <a:r>
              <a:rPr 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Times New Roman" charset="0"/>
              </a:rPr>
              <a:t>400</a:t>
            </a:r>
            <a:r>
              <a: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Times New Roman" charset="0"/>
              </a:rPr>
              <a:t>字节，使用第一个</a:t>
            </a:r>
            <a:r>
              <a:rPr lang="en-US" altLang="zh-CN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Times New Roman" charset="0"/>
              </a:rPr>
              <a:t>1KB</a:t>
            </a:r>
            <a:r>
              <a: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Times New Roman" charset="0"/>
              </a:rPr>
              <a:t>的空闲块。</a:t>
            </a:r>
            <a:endParaRPr lang="zh-CN" altLang="en-US" sz="20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Rectangle 3"/>
          <p:cNvSpPr>
            <a:spLocks noChangeArrowheads="1"/>
          </p:cNvSpPr>
          <p:nvPr/>
        </p:nvSpPr>
        <p:spPr bwMode="auto">
          <a:xfrm>
            <a:off x="6969460" y="5482512"/>
            <a:ext cx="1415407" cy="370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160" tIns="46080" rIns="92160" bIns="46080">
            <a:spAutoFit/>
          </a:bodyPr>
          <a:lstStyle/>
          <a:p>
            <a:pPr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b="1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为空闲块</a:t>
            </a:r>
          </a:p>
        </p:txBody>
      </p:sp>
      <p:sp>
        <p:nvSpPr>
          <p:cNvPr id="19" name="Rectangle 9"/>
          <p:cNvSpPr>
            <a:spLocks noChangeArrowheads="1"/>
          </p:cNvSpPr>
          <p:nvPr/>
        </p:nvSpPr>
        <p:spPr bwMode="auto">
          <a:xfrm>
            <a:off x="6363107" y="4589713"/>
            <a:ext cx="1314057" cy="370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160" tIns="46080" rIns="92160" bIns="46080">
            <a:spAutoFit/>
          </a:bodyPr>
          <a:lstStyle/>
          <a:p>
            <a:pPr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Comic Sans MS" charset="0"/>
              </a:rPr>
              <a:t>500 bytes</a:t>
            </a:r>
            <a:endParaRPr lang="zh-CN" altLang="en-US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Rectangle 11"/>
          <p:cNvSpPr>
            <a:spLocks noChangeArrowheads="1"/>
          </p:cNvSpPr>
          <p:nvPr/>
        </p:nvSpPr>
        <p:spPr bwMode="auto">
          <a:xfrm>
            <a:off x="6419462" y="3263342"/>
            <a:ext cx="1189023" cy="370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160" tIns="46080" rIns="92160" bIns="46080">
            <a:spAutoFit/>
          </a:bodyPr>
          <a:lstStyle/>
          <a:p>
            <a:pPr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Comic Sans MS" charset="0"/>
              </a:rPr>
              <a:t>2K bytes</a:t>
            </a:r>
            <a:endParaRPr lang="zh-CN" altLang="en-US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0987" y="5543344"/>
            <a:ext cx="633703" cy="276922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8476855" y="2171354"/>
            <a:ext cx="1363560" cy="25097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3" name="组合 22"/>
          <p:cNvGrpSpPr/>
          <p:nvPr/>
        </p:nvGrpSpPr>
        <p:grpSpPr>
          <a:xfrm>
            <a:off x="6330988" y="2175619"/>
            <a:ext cx="1363559" cy="458116"/>
            <a:chOff x="4370346" y="1135856"/>
            <a:chExt cx="1363559" cy="458116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0346" y="1135856"/>
              <a:ext cx="1363559" cy="458116"/>
            </a:xfrm>
            <a:prstGeom prst="rect">
              <a:avLst/>
            </a:prstGeom>
          </p:spPr>
        </p:pic>
        <p:sp>
          <p:nvSpPr>
            <p:cNvPr id="25" name="Rectangle 10"/>
            <p:cNvSpPr>
              <a:spLocks noChangeArrowheads="1"/>
            </p:cNvSpPr>
            <p:nvPr/>
          </p:nvSpPr>
          <p:spPr bwMode="auto">
            <a:xfrm>
              <a:off x="4454758" y="1179068"/>
              <a:ext cx="1189023" cy="3700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160" tIns="46080" rIns="92160" bIns="46080">
              <a:spAutoFit/>
            </a:bodyPr>
            <a:lstStyle/>
            <a:p>
              <a:pPr>
                <a:buSzPct val="10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sym typeface="Comic Sans MS" charset="0"/>
                </a:rPr>
                <a:t>1K bytes</a:t>
              </a:r>
              <a:endParaRPr lang="zh-CN" altLang="en-US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87AC887-A0E0-FE4B-0EAD-2628471ECB50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27" name="标题 8">
            <a:extLst>
              <a:ext uri="{FF2B5EF4-FFF2-40B4-BE49-F238E27FC236}">
                <a16:creationId xmlns:a16="http://schemas.microsoft.com/office/drawing/2014/main" id="{37302E21-AF7A-0051-F9A1-AD5A12999E33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最先匹配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63732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"/>
    </mc:Choice>
    <mc:Fallback xmlns="">
      <p:transition spd="slow" advTm="46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8476856" y="2250999"/>
            <a:ext cx="1363560" cy="3256712"/>
            <a:chOff x="6588223" y="1130120"/>
            <a:chExt cx="1363560" cy="3256712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88224" y="1131590"/>
              <a:ext cx="1363559" cy="3255242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88223" y="3579861"/>
              <a:ext cx="1363559" cy="310237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88223" y="1130120"/>
              <a:ext cx="1363559" cy="458116"/>
            </a:xfrm>
            <a:prstGeom prst="rect">
              <a:avLst/>
            </a:prstGeom>
          </p:spPr>
        </p:pic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6672635" y="1173332"/>
              <a:ext cx="1189023" cy="3700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160" tIns="46080" rIns="92160" bIns="46080">
              <a:spAutoFit/>
            </a:bodyPr>
            <a:lstStyle/>
            <a:p>
              <a:pPr>
                <a:buSzPct val="10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sym typeface="Comic Sans MS" charset="0"/>
                </a:rPr>
                <a:t>1K bytes</a:t>
              </a:r>
              <a:endParaRPr lang="zh-CN" altLang="en-US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9" name="Text Box 2"/>
          <p:cNvSpPr>
            <a:spLocks noChangeArrowheads="1"/>
          </p:cNvSpPr>
          <p:nvPr/>
        </p:nvSpPr>
        <p:spPr bwMode="auto">
          <a:xfrm>
            <a:off x="2603905" y="2441826"/>
            <a:ext cx="3064640" cy="1335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160" tIns="46080" rIns="92160" bIns="46080"/>
          <a:lstStyle/>
          <a:p>
            <a:pPr>
              <a:spcBef>
                <a:spcPts val="600"/>
              </a:spcBef>
              <a:buSzPct val="100000"/>
            </a:pPr>
            <a:r>
              <a: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Times New Roman" charset="0"/>
              </a:rPr>
              <a:t>思路：</a:t>
            </a:r>
            <a:endParaRPr lang="en-US" altLang="zh-CN" sz="20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sym typeface="Times New Roman" charset="0"/>
            </a:endParaRPr>
          </a:p>
          <a:p>
            <a:pPr eaLnBrk="1" hangingPunct="1">
              <a:spcBef>
                <a:spcPts val="600"/>
              </a:spcBef>
              <a:buSzPct val="100000"/>
            </a:pPr>
            <a:r>
              <a: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Times New Roman" charset="0"/>
              </a:rPr>
              <a:t>分配</a:t>
            </a:r>
            <a:r>
              <a:rPr 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Times New Roman" charset="0"/>
              </a:rPr>
              <a:t>n</a:t>
            </a:r>
            <a:r>
              <a: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Times New Roman" charset="0"/>
              </a:rPr>
              <a:t>字节，使用尺寸不小于</a:t>
            </a:r>
            <a:r>
              <a:rPr 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Times New Roman" charset="0"/>
              </a:rPr>
              <a:t>n</a:t>
            </a:r>
            <a:r>
              <a: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Times New Roman" charset="0"/>
              </a:rPr>
              <a:t>的最大空闲分区</a:t>
            </a:r>
            <a:endParaRPr lang="zh-CN" altLang="en-US" sz="20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2598855" y="3994587"/>
            <a:ext cx="2825746" cy="1016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160" tIns="46080" rIns="92160" bIns="46080">
            <a:spAutoFit/>
          </a:bodyPr>
          <a:lstStyle/>
          <a:p>
            <a:pPr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Times New Roman" charset="0"/>
              </a:rPr>
              <a:t>示例：</a:t>
            </a:r>
            <a:endParaRPr lang="en-US" altLang="zh-CN" sz="20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sym typeface="Times New Roman" charset="0"/>
            </a:endParaRPr>
          </a:p>
          <a:p>
            <a:pPr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Times New Roman" charset="0"/>
              </a:rPr>
              <a:t>分配</a:t>
            </a:r>
            <a:r>
              <a:rPr 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Times New Roman" charset="0"/>
              </a:rPr>
              <a:t>400</a:t>
            </a:r>
            <a:r>
              <a: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Times New Roman" charset="0"/>
              </a:rPr>
              <a:t>字节，使用第</a:t>
            </a:r>
            <a:r>
              <a:rPr 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Times New Roman" charset="0"/>
              </a:rPr>
              <a:t>2</a:t>
            </a:r>
            <a:r>
              <a: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Times New Roman" charset="0"/>
              </a:rPr>
              <a:t>个空闲块（最大）</a:t>
            </a:r>
            <a:endParaRPr lang="zh-CN" altLang="en-US" sz="20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7901511" y="3609341"/>
            <a:ext cx="432048" cy="360040"/>
          </a:xfrm>
          <a:prstGeom prst="rightArrow">
            <a:avLst/>
          </a:prstGeom>
          <a:solidFill>
            <a:srgbClr val="FFFF00"/>
          </a:solidFill>
          <a:ln>
            <a:solidFill>
              <a:srgbClr val="1157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6858" y="3489278"/>
            <a:ext cx="1363559" cy="338838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0989" y="2254602"/>
            <a:ext cx="1363559" cy="3255242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0988" y="4702874"/>
            <a:ext cx="1363559" cy="310237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0988" y="2256735"/>
            <a:ext cx="1363559" cy="458116"/>
          </a:xfrm>
          <a:prstGeom prst="rect">
            <a:avLst/>
          </a:prstGeom>
        </p:spPr>
      </p:pic>
      <p:sp>
        <p:nvSpPr>
          <p:cNvPr id="16" name="Rectangle 9"/>
          <p:cNvSpPr>
            <a:spLocks noChangeArrowheads="1"/>
          </p:cNvSpPr>
          <p:nvPr/>
        </p:nvSpPr>
        <p:spPr bwMode="auto">
          <a:xfrm>
            <a:off x="6363107" y="4670829"/>
            <a:ext cx="1314057" cy="370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160" tIns="46080" rIns="92160" bIns="46080">
            <a:spAutoFit/>
          </a:bodyPr>
          <a:lstStyle/>
          <a:p>
            <a:pPr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Comic Sans MS" charset="0"/>
              </a:rPr>
              <a:t>500 bytes</a:t>
            </a:r>
            <a:endParaRPr lang="zh-CN" altLang="en-US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Rectangle 10"/>
          <p:cNvSpPr>
            <a:spLocks noChangeArrowheads="1"/>
          </p:cNvSpPr>
          <p:nvPr/>
        </p:nvSpPr>
        <p:spPr bwMode="auto">
          <a:xfrm>
            <a:off x="6415400" y="2299948"/>
            <a:ext cx="1189023" cy="370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160" tIns="46080" rIns="92160" bIns="46080">
            <a:spAutoFit/>
          </a:bodyPr>
          <a:lstStyle/>
          <a:p>
            <a:pPr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Comic Sans MS" charset="0"/>
              </a:rPr>
              <a:t>1K bytes</a:t>
            </a:r>
            <a:endParaRPr lang="zh-CN" altLang="en-US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6330989" y="3229841"/>
            <a:ext cx="1363559" cy="600408"/>
            <a:chOff x="4442355" y="2108962"/>
            <a:chExt cx="1363559" cy="600408"/>
          </a:xfrm>
        </p:grpSpPr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42355" y="2108962"/>
              <a:ext cx="1363559" cy="600408"/>
            </a:xfrm>
            <a:prstGeom prst="rect">
              <a:avLst/>
            </a:prstGeom>
          </p:spPr>
        </p:pic>
        <p:sp>
          <p:nvSpPr>
            <p:cNvPr id="20" name="Rectangle 11"/>
            <p:cNvSpPr>
              <a:spLocks noChangeArrowheads="1"/>
            </p:cNvSpPr>
            <p:nvPr/>
          </p:nvSpPr>
          <p:spPr bwMode="auto">
            <a:xfrm>
              <a:off x="4530828" y="2223578"/>
              <a:ext cx="1189023" cy="3700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160" tIns="46080" rIns="92160" bIns="46080">
              <a:spAutoFit/>
            </a:bodyPr>
            <a:lstStyle/>
            <a:p>
              <a:pPr>
                <a:buSzPct val="10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sym typeface="Comic Sans MS" charset="0"/>
                </a:rPr>
                <a:t>2K bytes</a:t>
              </a:r>
              <a:endParaRPr lang="zh-CN" altLang="en-US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6897452" y="5563628"/>
            <a:ext cx="1415407" cy="370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160" tIns="46080" rIns="92160" bIns="46080">
            <a:spAutoFit/>
          </a:bodyPr>
          <a:lstStyle/>
          <a:p>
            <a:pPr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b="1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为空闲块</a:t>
            </a: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8979" y="5624460"/>
            <a:ext cx="633703" cy="276922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8476856" y="3229841"/>
            <a:ext cx="1363560" cy="25870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330D4BA-2790-D93F-9AD6-CD277937D639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25" name="标题 8">
            <a:extLst>
              <a:ext uri="{FF2B5EF4-FFF2-40B4-BE49-F238E27FC236}">
                <a16:creationId xmlns:a16="http://schemas.microsoft.com/office/drawing/2014/main" id="{D06AD438-87DE-2FEA-ADD4-4D9E8290C708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最差匹配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92689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"/>
    </mc:Choice>
    <mc:Fallback xmlns="">
      <p:transition spd="slow" advTm="64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灯片编号占位符 3"/>
          <p:cNvSpPr txBox="1">
            <a:spLocks noGrp="1"/>
          </p:cNvSpPr>
          <p:nvPr/>
        </p:nvSpPr>
        <p:spPr bwMode="auto">
          <a:xfrm>
            <a:off x="9659938" y="6438900"/>
            <a:ext cx="919162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D1B646A8-56B1-401B-9B0A-C31B88CE3003}" type="slidenum">
              <a:rPr lang="zh-CN" altLang="en-US" sz="1400">
                <a:solidFill>
                  <a:schemeClr val="tx1"/>
                </a:solidFill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47107" name="Rectangle 5"/>
          <p:cNvSpPr>
            <a:spLocks noChangeArrowheads="1"/>
          </p:cNvSpPr>
          <p:nvPr/>
        </p:nvSpPr>
        <p:spPr bwMode="auto">
          <a:xfrm>
            <a:off x="731520" y="1555750"/>
            <a:ext cx="10728960" cy="4883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kumimoji="1"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１）最先匹配法</a:t>
            </a:r>
            <a:r>
              <a:rPr kumimoji="1"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(first-fit)</a:t>
            </a:r>
            <a:r>
              <a:rPr kumimoji="1"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：按分区的先后次序，  从头查找，找到符合要求的第一个分区就分配。</a:t>
            </a: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分配和释放的时间性能较好，较大的空闲分区可以被保留在内存高端。</a:t>
            </a: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但随着低端分区不断划分而产生较多小分区，每次分配时查找时间开销会增大。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endParaRPr kumimoji="1"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endParaRPr kumimoji="1"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D65FC37-8BB5-483E-69FF-AE27E253A4AF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3" name="标题 8">
            <a:extLst>
              <a:ext uri="{FF2B5EF4-FFF2-40B4-BE49-F238E27FC236}">
                <a16:creationId xmlns:a16="http://schemas.microsoft.com/office/drawing/2014/main" id="{657D2146-1143-FDEC-667C-1CE4D669AB3F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分配算法描述</a:t>
            </a:r>
          </a:p>
        </p:txBody>
      </p:sp>
    </p:spTree>
    <p:extLst>
      <p:ext uri="{BB962C8B-B14F-4D97-AF65-F5344CB8AC3E}">
        <p14:creationId xmlns:p14="http://schemas.microsoft.com/office/powerpoint/2010/main" val="40568479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灯片编号占位符 3"/>
          <p:cNvSpPr txBox="1">
            <a:spLocks noGrp="1"/>
          </p:cNvSpPr>
          <p:nvPr/>
        </p:nvSpPr>
        <p:spPr bwMode="auto">
          <a:xfrm>
            <a:off x="9659938" y="6438900"/>
            <a:ext cx="919162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52AB8F73-DC9F-46CB-93BE-2C022D174048}" type="slidenum">
              <a:rPr lang="zh-CN" altLang="en-US" sz="1400">
                <a:solidFill>
                  <a:schemeClr val="tx1"/>
                </a:solidFill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49155" name="Text Box 4"/>
          <p:cNvSpPr txBox="1">
            <a:spLocks noChangeArrowheads="1"/>
          </p:cNvSpPr>
          <p:nvPr/>
        </p:nvSpPr>
        <p:spPr bwMode="auto">
          <a:xfrm>
            <a:off x="731520" y="1556792"/>
            <a:ext cx="10693072" cy="1689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kumimoji="1"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）最佳匹配法</a:t>
            </a:r>
            <a:r>
              <a:rPr kumimoji="1"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(best-fit)</a:t>
            </a:r>
            <a:r>
              <a:rPr kumimoji="1"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：将分区按小大顺序组织</a:t>
            </a:r>
            <a:r>
              <a:rPr kumimoji="1"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kumimoji="1"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找到的第一个适应分区是大小与要求相差最小的空闲分区</a:t>
            </a:r>
            <a:r>
              <a:rPr kumimoji="1"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kumimoji="1"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kumimoji="1"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个别来看，外碎片较小，整体来看，会形成较多外碎片。但较大的空闲分区可以被保留。</a:t>
            </a:r>
          </a:p>
        </p:txBody>
      </p:sp>
      <p:sp>
        <p:nvSpPr>
          <p:cNvPr id="2" name="标题 8">
            <a:extLst>
              <a:ext uri="{FF2B5EF4-FFF2-40B4-BE49-F238E27FC236}">
                <a16:creationId xmlns:a16="http://schemas.microsoft.com/office/drawing/2014/main" id="{18AA59C4-B766-E6AD-CCBB-8868C273F118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分配算法描述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492E062-39FF-2FEB-4FE7-A9A6B10A5FC8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</p:spTree>
    <p:extLst>
      <p:ext uri="{BB962C8B-B14F-4D97-AF65-F5344CB8AC3E}">
        <p14:creationId xmlns:p14="http://schemas.microsoft.com/office/powerpoint/2010/main" val="22717367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灯片编号占位符 3"/>
          <p:cNvSpPr txBox="1">
            <a:spLocks noGrp="1"/>
          </p:cNvSpPr>
          <p:nvPr/>
        </p:nvSpPr>
        <p:spPr bwMode="auto">
          <a:xfrm>
            <a:off x="9659938" y="6438900"/>
            <a:ext cx="919162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8815A850-42A0-4DCB-ACD0-E8A29C87E563}" type="slidenum">
              <a:rPr lang="zh-CN" altLang="en-US" sz="1400">
                <a:solidFill>
                  <a:schemeClr val="tx1"/>
                </a:solidFill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50179" name="Text Box 4"/>
          <p:cNvSpPr txBox="1">
            <a:spLocks noChangeArrowheads="1"/>
          </p:cNvSpPr>
          <p:nvPr/>
        </p:nvSpPr>
        <p:spPr bwMode="auto">
          <a:xfrm>
            <a:off x="731520" y="1556792"/>
            <a:ext cx="10621064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kumimoji="1"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1"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）最坏匹配法</a:t>
            </a:r>
            <a:r>
              <a:rPr kumimoji="1"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(worst-fit)</a:t>
            </a:r>
            <a:r>
              <a:rPr kumimoji="1"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：将分区按大小顺序组织，查找到的第一个大于需求的分区就分配，找到的是最大的空闲分区</a:t>
            </a:r>
            <a:r>
              <a:rPr kumimoji="1"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基本不留下小空闲分区，但较大的空闲分区不会被保留。</a:t>
            </a:r>
          </a:p>
          <a:p>
            <a:pPr eaLnBrk="1" hangingPunct="1">
              <a:spcBef>
                <a:spcPct val="50000"/>
              </a:spcBef>
              <a:buClrTx/>
              <a:buFont typeface="Wingdings" panose="05000000000000000000" pitchFamily="2" charset="2"/>
              <a:buNone/>
            </a:pPr>
            <a:endParaRPr kumimoji="1"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011AF1C-D5E0-C5A6-B917-CFD739F99703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3" name="标题 8">
            <a:extLst>
              <a:ext uri="{FF2B5EF4-FFF2-40B4-BE49-F238E27FC236}">
                <a16:creationId xmlns:a16="http://schemas.microsoft.com/office/drawing/2014/main" id="{1EE57F4D-EC60-2961-6810-F2953384F12E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分配算法描述</a:t>
            </a:r>
          </a:p>
        </p:txBody>
      </p:sp>
    </p:spTree>
    <p:extLst>
      <p:ext uri="{BB962C8B-B14F-4D97-AF65-F5344CB8AC3E}">
        <p14:creationId xmlns:p14="http://schemas.microsoft.com/office/powerpoint/2010/main" val="18416271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灯片编号占位符 3"/>
          <p:cNvSpPr txBox="1">
            <a:spLocks noGrp="1"/>
          </p:cNvSpPr>
          <p:nvPr/>
        </p:nvSpPr>
        <p:spPr bwMode="auto">
          <a:xfrm>
            <a:off x="9659938" y="6438900"/>
            <a:ext cx="919162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CAFC37CD-72BB-4577-9418-72C2E3B181FF}" type="slidenum">
              <a:rPr lang="zh-CN" altLang="en-US" sz="1400">
                <a:solidFill>
                  <a:schemeClr val="tx1"/>
                </a:solidFill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48131" name="Rectangle 4"/>
          <p:cNvSpPr>
            <a:spLocks noChangeArrowheads="1"/>
          </p:cNvSpPr>
          <p:nvPr/>
        </p:nvSpPr>
        <p:spPr bwMode="auto">
          <a:xfrm>
            <a:off x="731520" y="1556792"/>
            <a:ext cx="10728960" cy="2838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50000"/>
              </a:spcBef>
              <a:buClrTx/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）下次匹配法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(next-fit)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：按分区的先后次序，从上次分配的分区起查找（到最后分区时再回到开头），找到符合要求的第一个分区就分配。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 eaLnBrk="1" hangingPunct="1">
              <a:lnSpc>
                <a:spcPct val="150000"/>
              </a:lnSpc>
              <a:spcBef>
                <a:spcPct val="50000"/>
              </a:spcBef>
              <a:buClrTx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该算法的分配和释放的时间性能较好，使空闲分区分布得更均匀，但很难保证稳定的性能，每次运行的效果受前面遗留的空洞分布影响很大。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 eaLnBrk="1" hangingPunct="1">
              <a:lnSpc>
                <a:spcPct val="150000"/>
              </a:lnSpc>
              <a:spcBef>
                <a:spcPct val="50000"/>
              </a:spcBef>
              <a:buClrTx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这是一个很有“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OS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风格”的技术方案，实现简单且效果不会太差</a:t>
            </a:r>
          </a:p>
        </p:txBody>
      </p:sp>
      <p:sp>
        <p:nvSpPr>
          <p:cNvPr id="2" name="标题 8">
            <a:extLst>
              <a:ext uri="{FF2B5EF4-FFF2-40B4-BE49-F238E27FC236}">
                <a16:creationId xmlns:a16="http://schemas.microsoft.com/office/drawing/2014/main" id="{2819FE1D-1AA7-DEB7-7B08-E95CD30F0FD2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分配算法描述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E260A21-79AE-DC17-E562-E10C1A720AD8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</p:spTree>
    <p:extLst>
      <p:ext uri="{BB962C8B-B14F-4D97-AF65-F5344CB8AC3E}">
        <p14:creationId xmlns:p14="http://schemas.microsoft.com/office/powerpoint/2010/main" val="36610367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5" name="Text Box 6"/>
          <p:cNvSpPr txBox="1">
            <a:spLocks noChangeArrowheads="1"/>
          </p:cNvSpPr>
          <p:nvPr/>
        </p:nvSpPr>
        <p:spPr bwMode="auto">
          <a:xfrm>
            <a:off x="9097715" y="3354388"/>
            <a:ext cx="2081212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Wingdings" panose="05000000000000000000" pitchFamily="2" charset="2"/>
              <a:buNone/>
            </a:pP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显然：使用不同算法会找到不同的空闲区</a:t>
            </a:r>
          </a:p>
        </p:txBody>
      </p:sp>
      <p:sp>
        <p:nvSpPr>
          <p:cNvPr id="51206" name="Text Box 7"/>
          <p:cNvSpPr txBox="1">
            <a:spLocks noChangeArrowheads="1"/>
          </p:cNvSpPr>
          <p:nvPr/>
        </p:nvSpPr>
        <p:spPr bwMode="auto">
          <a:xfrm>
            <a:off x="4419600" y="2632907"/>
            <a:ext cx="1676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Wingdings" panose="05000000000000000000" pitchFamily="2" charset="2"/>
              <a:buNone/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现请求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16k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244301B-E29D-7C63-164D-3CD7884A060A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3" name="标题 8">
            <a:extLst>
              <a:ext uri="{FF2B5EF4-FFF2-40B4-BE49-F238E27FC236}">
                <a16:creationId xmlns:a16="http://schemas.microsoft.com/office/drawing/2014/main" id="{52D6C0E5-E1BA-3CDA-B066-EDA182333560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分配示例</a:t>
            </a:r>
          </a:p>
        </p:txBody>
      </p:sp>
      <p:sp>
        <p:nvSpPr>
          <p:cNvPr id="9" name="Rectangle 148">
            <a:extLst>
              <a:ext uri="{FF2B5EF4-FFF2-40B4-BE49-F238E27FC236}">
                <a16:creationId xmlns:a16="http://schemas.microsoft.com/office/drawing/2014/main" id="{78038975-71D2-BE57-F85F-3E9BB9C22B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4988" y="1736726"/>
            <a:ext cx="558800" cy="239713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Rectangle 149">
            <a:extLst>
              <a:ext uri="{FF2B5EF4-FFF2-40B4-BE49-F238E27FC236}">
                <a16:creationId xmlns:a16="http://schemas.microsoft.com/office/drawing/2014/main" id="{1D835528-B9A0-39BC-94D1-33FF39FA3F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4988" y="2135188"/>
            <a:ext cx="558800" cy="160338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" name="Rectangle 150">
            <a:extLst>
              <a:ext uri="{FF2B5EF4-FFF2-40B4-BE49-F238E27FC236}">
                <a16:creationId xmlns:a16="http://schemas.microsoft.com/office/drawing/2014/main" id="{81139517-DD7A-BD5A-13B2-0A8FA88A03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4988" y="2695576"/>
            <a:ext cx="558800" cy="239713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" name="Rectangle 151">
            <a:extLst>
              <a:ext uri="{FF2B5EF4-FFF2-40B4-BE49-F238E27FC236}">
                <a16:creationId xmlns:a16="http://schemas.microsoft.com/office/drawing/2014/main" id="{594FF3A5-4D9F-5E5C-2747-517209F59F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4988" y="3254376"/>
            <a:ext cx="558800" cy="479425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" name="Line 152">
            <a:extLst>
              <a:ext uri="{FF2B5EF4-FFF2-40B4-BE49-F238E27FC236}">
                <a16:creationId xmlns:a16="http://schemas.microsoft.com/office/drawing/2014/main" id="{1BE8C405-42D3-5F91-D82F-A8C9E5229A53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6576" y="3494088"/>
            <a:ext cx="557213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" name="Rectangle 153">
            <a:extLst>
              <a:ext uri="{FF2B5EF4-FFF2-40B4-BE49-F238E27FC236}">
                <a16:creationId xmlns:a16="http://schemas.microsoft.com/office/drawing/2014/main" id="{35BD919B-A68B-F07C-6F5D-416FA8C9AE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4988" y="3894138"/>
            <a:ext cx="558800" cy="158750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5" name="Rectangle 154">
            <a:extLst>
              <a:ext uri="{FF2B5EF4-FFF2-40B4-BE49-F238E27FC236}">
                <a16:creationId xmlns:a16="http://schemas.microsoft.com/office/drawing/2014/main" id="{D06B86BB-15AF-9322-0882-1122E75994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4988" y="4133851"/>
            <a:ext cx="558800" cy="717550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" name="Rectangle 155">
            <a:extLst>
              <a:ext uri="{FF2B5EF4-FFF2-40B4-BE49-F238E27FC236}">
                <a16:creationId xmlns:a16="http://schemas.microsoft.com/office/drawing/2014/main" id="{E5DE0C40-D39F-B10A-C9A3-5C0BDED37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4988" y="5091113"/>
            <a:ext cx="558800" cy="320675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" name="Line 156">
            <a:extLst>
              <a:ext uri="{FF2B5EF4-FFF2-40B4-BE49-F238E27FC236}">
                <a16:creationId xmlns:a16="http://schemas.microsoft.com/office/drawing/2014/main" id="{B47219FA-D392-8AD9-4BE6-8C9FF2101F1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74988" y="1577976"/>
            <a:ext cx="0" cy="15875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" name="Line 157">
            <a:extLst>
              <a:ext uri="{FF2B5EF4-FFF2-40B4-BE49-F238E27FC236}">
                <a16:creationId xmlns:a16="http://schemas.microsoft.com/office/drawing/2014/main" id="{463F1BF4-C1DD-624C-294B-668D337C2586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6576" y="1576388"/>
            <a:ext cx="557213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" name="Line 158">
            <a:extLst>
              <a:ext uri="{FF2B5EF4-FFF2-40B4-BE49-F238E27FC236}">
                <a16:creationId xmlns:a16="http://schemas.microsoft.com/office/drawing/2014/main" id="{D28CE316-64A0-1790-AD39-69A25B7749E5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3788" y="1577976"/>
            <a:ext cx="0" cy="15875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" name="Line 159">
            <a:extLst>
              <a:ext uri="{FF2B5EF4-FFF2-40B4-BE49-F238E27FC236}">
                <a16:creationId xmlns:a16="http://schemas.microsoft.com/office/drawing/2014/main" id="{97770FE7-99F3-F669-33E0-47AF0C807BF5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4988" y="1978026"/>
            <a:ext cx="0" cy="157163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" name="Line 160">
            <a:extLst>
              <a:ext uri="{FF2B5EF4-FFF2-40B4-BE49-F238E27FC236}">
                <a16:creationId xmlns:a16="http://schemas.microsoft.com/office/drawing/2014/main" id="{0F44C3CE-7C57-C33B-83CA-0BF140165062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3788" y="1978026"/>
            <a:ext cx="0" cy="157163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" name="Line 161">
            <a:extLst>
              <a:ext uri="{FF2B5EF4-FFF2-40B4-BE49-F238E27FC236}">
                <a16:creationId xmlns:a16="http://schemas.microsoft.com/office/drawing/2014/main" id="{50FD78A5-F322-2C01-AA32-D203A202250F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4988" y="2297113"/>
            <a:ext cx="0" cy="398463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" name="Line 162">
            <a:extLst>
              <a:ext uri="{FF2B5EF4-FFF2-40B4-BE49-F238E27FC236}">
                <a16:creationId xmlns:a16="http://schemas.microsoft.com/office/drawing/2014/main" id="{18F6DF24-A66A-2D84-848B-54D7CF622C8E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3788" y="2297113"/>
            <a:ext cx="0" cy="398463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" name="Line 163">
            <a:extLst>
              <a:ext uri="{FF2B5EF4-FFF2-40B4-BE49-F238E27FC236}">
                <a16:creationId xmlns:a16="http://schemas.microsoft.com/office/drawing/2014/main" id="{AE0EC102-27AE-633F-323F-CD316A899E0B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4988" y="2936876"/>
            <a:ext cx="0" cy="3175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" name="Line 164">
            <a:extLst>
              <a:ext uri="{FF2B5EF4-FFF2-40B4-BE49-F238E27FC236}">
                <a16:creationId xmlns:a16="http://schemas.microsoft.com/office/drawing/2014/main" id="{865FA728-B509-5452-6687-33B212F53650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3788" y="2936876"/>
            <a:ext cx="0" cy="3175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6" name="Line 165">
            <a:extLst>
              <a:ext uri="{FF2B5EF4-FFF2-40B4-BE49-F238E27FC236}">
                <a16:creationId xmlns:a16="http://schemas.microsoft.com/office/drawing/2014/main" id="{4E803B1C-C9C7-6D0A-CCC6-2B4272122460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4988" y="3735388"/>
            <a:ext cx="0" cy="15875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7" name="Line 166">
            <a:extLst>
              <a:ext uri="{FF2B5EF4-FFF2-40B4-BE49-F238E27FC236}">
                <a16:creationId xmlns:a16="http://schemas.microsoft.com/office/drawing/2014/main" id="{76007B84-148C-9F56-2A9D-5E9405F88B63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3788" y="3735388"/>
            <a:ext cx="0" cy="15875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8" name="Line 167">
            <a:extLst>
              <a:ext uri="{FF2B5EF4-FFF2-40B4-BE49-F238E27FC236}">
                <a16:creationId xmlns:a16="http://schemas.microsoft.com/office/drawing/2014/main" id="{509A12A9-772E-7CAF-E225-2A20B6201EBD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4988" y="4054476"/>
            <a:ext cx="0" cy="79375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9" name="Line 168">
            <a:extLst>
              <a:ext uri="{FF2B5EF4-FFF2-40B4-BE49-F238E27FC236}">
                <a16:creationId xmlns:a16="http://schemas.microsoft.com/office/drawing/2014/main" id="{6C6FA530-08D2-85DB-2DAF-B11F547F92FE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3788" y="4054476"/>
            <a:ext cx="0" cy="79375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" name="Line 169">
            <a:extLst>
              <a:ext uri="{FF2B5EF4-FFF2-40B4-BE49-F238E27FC236}">
                <a16:creationId xmlns:a16="http://schemas.microsoft.com/office/drawing/2014/main" id="{086276E1-AA18-E4B3-18D3-971C44F815AD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4988" y="4854576"/>
            <a:ext cx="0" cy="236538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1" name="Line 170">
            <a:extLst>
              <a:ext uri="{FF2B5EF4-FFF2-40B4-BE49-F238E27FC236}">
                <a16:creationId xmlns:a16="http://schemas.microsoft.com/office/drawing/2014/main" id="{94F744AE-4DEB-5EC8-E453-A2A80BB264FB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3788" y="4854576"/>
            <a:ext cx="0" cy="236538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00" name="Line 171">
            <a:extLst>
              <a:ext uri="{FF2B5EF4-FFF2-40B4-BE49-F238E27FC236}">
                <a16:creationId xmlns:a16="http://schemas.microsoft.com/office/drawing/2014/main" id="{343221C6-A7AC-5583-F9CA-933D58BB8EB2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4988" y="5413376"/>
            <a:ext cx="0" cy="636588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01" name="Line 172">
            <a:extLst>
              <a:ext uri="{FF2B5EF4-FFF2-40B4-BE49-F238E27FC236}">
                <a16:creationId xmlns:a16="http://schemas.microsoft.com/office/drawing/2014/main" id="{925CB08A-9A7C-4A13-3F0D-4640C3047958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6576" y="6049963"/>
            <a:ext cx="557213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07" name="Line 173">
            <a:extLst>
              <a:ext uri="{FF2B5EF4-FFF2-40B4-BE49-F238E27FC236}">
                <a16:creationId xmlns:a16="http://schemas.microsoft.com/office/drawing/2014/main" id="{39DF2823-D4EB-5984-07C0-E8B4377D087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33788" y="5413376"/>
            <a:ext cx="0" cy="636588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08" name="Line 174">
            <a:extLst>
              <a:ext uri="{FF2B5EF4-FFF2-40B4-BE49-F238E27FC236}">
                <a16:creationId xmlns:a16="http://schemas.microsoft.com/office/drawing/2014/main" id="{A609E526-7E46-9589-E477-B3F12F7AEB15}"/>
              </a:ext>
            </a:extLst>
          </p:cNvPr>
          <p:cNvSpPr>
            <a:spLocks noChangeShapeType="1"/>
          </p:cNvSpPr>
          <p:nvPr/>
        </p:nvSpPr>
        <p:spPr bwMode="auto">
          <a:xfrm>
            <a:off x="2278063" y="3416301"/>
            <a:ext cx="0" cy="238125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09" name="Line 175">
            <a:extLst>
              <a:ext uri="{FF2B5EF4-FFF2-40B4-BE49-F238E27FC236}">
                <a16:creationId xmlns:a16="http://schemas.microsoft.com/office/drawing/2014/main" id="{CB3A6C46-F9C0-B61B-B2B9-AA4737953D10}"/>
              </a:ext>
            </a:extLst>
          </p:cNvPr>
          <p:cNvSpPr>
            <a:spLocks noChangeShapeType="1"/>
          </p:cNvSpPr>
          <p:nvPr/>
        </p:nvSpPr>
        <p:spPr bwMode="auto">
          <a:xfrm>
            <a:off x="2279651" y="3654426"/>
            <a:ext cx="722313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10" name="Freeform 176">
            <a:extLst>
              <a:ext uri="{FF2B5EF4-FFF2-40B4-BE49-F238E27FC236}">
                <a16:creationId xmlns:a16="http://schemas.microsoft.com/office/drawing/2014/main" id="{9B8BA02B-E080-6707-91F0-9138AF7216B3}"/>
              </a:ext>
            </a:extLst>
          </p:cNvPr>
          <p:cNvSpPr>
            <a:spLocks/>
          </p:cNvSpPr>
          <p:nvPr/>
        </p:nvSpPr>
        <p:spPr bwMode="auto">
          <a:xfrm>
            <a:off x="2963863" y="3598863"/>
            <a:ext cx="111125" cy="111125"/>
          </a:xfrm>
          <a:custGeom>
            <a:avLst/>
            <a:gdLst>
              <a:gd name="T0" fmla="*/ 0 w 70"/>
              <a:gd name="T1" fmla="*/ 70 h 70"/>
              <a:gd name="T2" fmla="*/ 70 w 70"/>
              <a:gd name="T3" fmla="*/ 35 h 70"/>
              <a:gd name="T4" fmla="*/ 0 w 70"/>
              <a:gd name="T5" fmla="*/ 0 h 70"/>
              <a:gd name="T6" fmla="*/ 22 w 70"/>
              <a:gd name="T7" fmla="*/ 35 h 70"/>
              <a:gd name="T8" fmla="*/ 0 w 70"/>
              <a:gd name="T9" fmla="*/ 70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" h="70">
                <a:moveTo>
                  <a:pt x="0" y="70"/>
                </a:moveTo>
                <a:lnTo>
                  <a:pt x="70" y="35"/>
                </a:lnTo>
                <a:lnTo>
                  <a:pt x="0" y="0"/>
                </a:lnTo>
                <a:lnTo>
                  <a:pt x="22" y="35"/>
                </a:lnTo>
                <a:lnTo>
                  <a:pt x="0" y="7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11" name="Rectangle 177">
            <a:extLst>
              <a:ext uri="{FF2B5EF4-FFF2-40B4-BE49-F238E27FC236}">
                <a16:creationId xmlns:a16="http://schemas.microsoft.com/office/drawing/2014/main" id="{07959B90-0948-004D-10CB-24E3227961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3501" y="4532313"/>
            <a:ext cx="158750" cy="160338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12" name="Rectangle 178">
            <a:extLst>
              <a:ext uri="{FF2B5EF4-FFF2-40B4-BE49-F238E27FC236}">
                <a16:creationId xmlns:a16="http://schemas.microsoft.com/office/drawing/2014/main" id="{4FF523AD-2CAE-18A2-CC5C-7D01750D2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7717" y="1765800"/>
            <a:ext cx="558800" cy="239713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13" name="Rectangle 179">
            <a:extLst>
              <a:ext uri="{FF2B5EF4-FFF2-40B4-BE49-F238E27FC236}">
                <a16:creationId xmlns:a16="http://schemas.microsoft.com/office/drawing/2014/main" id="{A6DC66D8-1F20-E802-3956-9D56540A45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7717" y="2164262"/>
            <a:ext cx="558800" cy="160338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14" name="Rectangle 180">
            <a:extLst>
              <a:ext uri="{FF2B5EF4-FFF2-40B4-BE49-F238E27FC236}">
                <a16:creationId xmlns:a16="http://schemas.microsoft.com/office/drawing/2014/main" id="{84456F33-8107-1049-CA85-3642BD2620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7717" y="2724650"/>
            <a:ext cx="558800" cy="239713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15" name="Rectangle 181">
            <a:extLst>
              <a:ext uri="{FF2B5EF4-FFF2-40B4-BE49-F238E27FC236}">
                <a16:creationId xmlns:a16="http://schemas.microsoft.com/office/drawing/2014/main" id="{1AE61580-A11D-E965-54EF-807F57BFF5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7717" y="3204075"/>
            <a:ext cx="558800" cy="558800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16" name="Rectangle 182">
            <a:extLst>
              <a:ext uri="{FF2B5EF4-FFF2-40B4-BE49-F238E27FC236}">
                <a16:creationId xmlns:a16="http://schemas.microsoft.com/office/drawing/2014/main" id="{552BDF4C-CB21-F0C4-FA1F-66F5F92350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7717" y="3923212"/>
            <a:ext cx="558800" cy="158750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17" name="Rectangle 183">
            <a:extLst>
              <a:ext uri="{FF2B5EF4-FFF2-40B4-BE49-F238E27FC236}">
                <a16:creationId xmlns:a16="http://schemas.microsoft.com/office/drawing/2014/main" id="{CC81B72E-BA63-F77B-E6D2-035367002B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7717" y="4162925"/>
            <a:ext cx="558800" cy="717550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18" name="Rectangle 184">
            <a:extLst>
              <a:ext uri="{FF2B5EF4-FFF2-40B4-BE49-F238E27FC236}">
                <a16:creationId xmlns:a16="http://schemas.microsoft.com/office/drawing/2014/main" id="{95DD4448-6BF6-6BFE-51C8-E422236F31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7717" y="5120187"/>
            <a:ext cx="558800" cy="320675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19" name="Rectangle 185">
            <a:extLst>
              <a:ext uri="{FF2B5EF4-FFF2-40B4-BE49-F238E27FC236}">
                <a16:creationId xmlns:a16="http://schemas.microsoft.com/office/drawing/2014/main" id="{AA1CB967-0450-71FC-9DE7-723C1B535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7717" y="2324600"/>
            <a:ext cx="558800" cy="319088"/>
          </a:xfrm>
          <a:prstGeom prst="rect">
            <a:avLst/>
          </a:prstGeom>
          <a:solidFill>
            <a:srgbClr val="B2B2B2"/>
          </a:solidFill>
          <a:ln w="12700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20" name="Rectangle 186">
            <a:extLst>
              <a:ext uri="{FF2B5EF4-FFF2-40B4-BE49-F238E27FC236}">
                <a16:creationId xmlns:a16="http://schemas.microsoft.com/office/drawing/2014/main" id="{F0684A82-34CF-6325-A626-1BFB2D3E67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7717" y="2964362"/>
            <a:ext cx="558800" cy="239713"/>
          </a:xfrm>
          <a:prstGeom prst="rect">
            <a:avLst/>
          </a:prstGeom>
          <a:solidFill>
            <a:srgbClr val="B2B2B2"/>
          </a:solidFill>
          <a:ln w="12700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21" name="Rectangle 187">
            <a:extLst>
              <a:ext uri="{FF2B5EF4-FFF2-40B4-BE49-F238E27FC236}">
                <a16:creationId xmlns:a16="http://schemas.microsoft.com/office/drawing/2014/main" id="{C6049352-D1D2-066A-E870-3E023ECA6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7717" y="5440862"/>
            <a:ext cx="558800" cy="319088"/>
          </a:xfrm>
          <a:prstGeom prst="rect">
            <a:avLst/>
          </a:prstGeom>
          <a:solidFill>
            <a:srgbClr val="B2B2B2"/>
          </a:solidFill>
          <a:ln w="12700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22" name="Line 188">
            <a:extLst>
              <a:ext uri="{FF2B5EF4-FFF2-40B4-BE49-F238E27FC236}">
                <a16:creationId xmlns:a16="http://schemas.microsoft.com/office/drawing/2014/main" id="{CF0EE6B3-62F6-69B7-B3EA-B2A555943BE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87717" y="1607050"/>
            <a:ext cx="0" cy="15875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23" name="Line 189">
            <a:extLst>
              <a:ext uri="{FF2B5EF4-FFF2-40B4-BE49-F238E27FC236}">
                <a16:creationId xmlns:a16="http://schemas.microsoft.com/office/drawing/2014/main" id="{29ED1577-555B-BDC1-1A14-C55C9137B13B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9305" y="1605462"/>
            <a:ext cx="557213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24" name="Line 190">
            <a:extLst>
              <a:ext uri="{FF2B5EF4-FFF2-40B4-BE49-F238E27FC236}">
                <a16:creationId xmlns:a16="http://schemas.microsoft.com/office/drawing/2014/main" id="{B2007103-C2D4-0F88-3D14-9358DA91318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46517" y="1607050"/>
            <a:ext cx="0" cy="15875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25" name="Line 191">
            <a:extLst>
              <a:ext uri="{FF2B5EF4-FFF2-40B4-BE49-F238E27FC236}">
                <a16:creationId xmlns:a16="http://schemas.microsoft.com/office/drawing/2014/main" id="{898B5982-0887-2AB8-5756-A629623C5654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7717" y="2007100"/>
            <a:ext cx="0" cy="157163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26" name="Line 192">
            <a:extLst>
              <a:ext uri="{FF2B5EF4-FFF2-40B4-BE49-F238E27FC236}">
                <a16:creationId xmlns:a16="http://schemas.microsoft.com/office/drawing/2014/main" id="{BB063851-01D1-EBB9-5B4C-F27E7DF72DDF}"/>
              </a:ext>
            </a:extLst>
          </p:cNvPr>
          <p:cNvSpPr>
            <a:spLocks noChangeShapeType="1"/>
          </p:cNvSpPr>
          <p:nvPr/>
        </p:nvSpPr>
        <p:spPr bwMode="auto">
          <a:xfrm>
            <a:off x="8046517" y="2007100"/>
            <a:ext cx="0" cy="157163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27" name="Line 193">
            <a:extLst>
              <a:ext uri="{FF2B5EF4-FFF2-40B4-BE49-F238E27FC236}">
                <a16:creationId xmlns:a16="http://schemas.microsoft.com/office/drawing/2014/main" id="{AEB6904C-977B-9985-7686-2FCAB3BE8C37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7717" y="2645275"/>
            <a:ext cx="0" cy="79375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28" name="Line 194">
            <a:extLst>
              <a:ext uri="{FF2B5EF4-FFF2-40B4-BE49-F238E27FC236}">
                <a16:creationId xmlns:a16="http://schemas.microsoft.com/office/drawing/2014/main" id="{650879F3-480B-231B-EBBB-F644E5942831}"/>
              </a:ext>
            </a:extLst>
          </p:cNvPr>
          <p:cNvSpPr>
            <a:spLocks noChangeShapeType="1"/>
          </p:cNvSpPr>
          <p:nvPr/>
        </p:nvSpPr>
        <p:spPr bwMode="auto">
          <a:xfrm>
            <a:off x="8046517" y="2645275"/>
            <a:ext cx="0" cy="79375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29" name="Line 195">
            <a:extLst>
              <a:ext uri="{FF2B5EF4-FFF2-40B4-BE49-F238E27FC236}">
                <a16:creationId xmlns:a16="http://schemas.microsoft.com/office/drawing/2014/main" id="{790E2C01-7E27-C433-FD42-4C623441F201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7717" y="3764462"/>
            <a:ext cx="0" cy="15875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30" name="Line 196">
            <a:extLst>
              <a:ext uri="{FF2B5EF4-FFF2-40B4-BE49-F238E27FC236}">
                <a16:creationId xmlns:a16="http://schemas.microsoft.com/office/drawing/2014/main" id="{5C03B358-D12C-6C47-5C12-3E0650BD8D04}"/>
              </a:ext>
            </a:extLst>
          </p:cNvPr>
          <p:cNvSpPr>
            <a:spLocks noChangeShapeType="1"/>
          </p:cNvSpPr>
          <p:nvPr/>
        </p:nvSpPr>
        <p:spPr bwMode="auto">
          <a:xfrm>
            <a:off x="8046517" y="3764462"/>
            <a:ext cx="0" cy="15875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31" name="Line 197">
            <a:extLst>
              <a:ext uri="{FF2B5EF4-FFF2-40B4-BE49-F238E27FC236}">
                <a16:creationId xmlns:a16="http://schemas.microsoft.com/office/drawing/2014/main" id="{4B491E27-FCF4-4D82-9ADC-ADF7490A7BAD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7717" y="4083550"/>
            <a:ext cx="0" cy="79375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32" name="Line 198">
            <a:extLst>
              <a:ext uri="{FF2B5EF4-FFF2-40B4-BE49-F238E27FC236}">
                <a16:creationId xmlns:a16="http://schemas.microsoft.com/office/drawing/2014/main" id="{D571C465-4B1A-ED4F-11F2-D71B6834A283}"/>
              </a:ext>
            </a:extLst>
          </p:cNvPr>
          <p:cNvSpPr>
            <a:spLocks noChangeShapeType="1"/>
          </p:cNvSpPr>
          <p:nvPr/>
        </p:nvSpPr>
        <p:spPr bwMode="auto">
          <a:xfrm>
            <a:off x="8046517" y="4083550"/>
            <a:ext cx="0" cy="79375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33" name="Line 199">
            <a:extLst>
              <a:ext uri="{FF2B5EF4-FFF2-40B4-BE49-F238E27FC236}">
                <a16:creationId xmlns:a16="http://schemas.microsoft.com/office/drawing/2014/main" id="{D89BDABF-62D8-AF50-61CB-B6CB90AC5F1D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7717" y="4883650"/>
            <a:ext cx="0" cy="236538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34" name="Line 200">
            <a:extLst>
              <a:ext uri="{FF2B5EF4-FFF2-40B4-BE49-F238E27FC236}">
                <a16:creationId xmlns:a16="http://schemas.microsoft.com/office/drawing/2014/main" id="{AE25EAE2-4166-281C-F13E-38ED3E480D12}"/>
              </a:ext>
            </a:extLst>
          </p:cNvPr>
          <p:cNvSpPr>
            <a:spLocks noChangeShapeType="1"/>
          </p:cNvSpPr>
          <p:nvPr/>
        </p:nvSpPr>
        <p:spPr bwMode="auto">
          <a:xfrm>
            <a:off x="8046517" y="4883650"/>
            <a:ext cx="0" cy="236538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35" name="Line 201">
            <a:extLst>
              <a:ext uri="{FF2B5EF4-FFF2-40B4-BE49-F238E27FC236}">
                <a16:creationId xmlns:a16="http://schemas.microsoft.com/office/drawing/2014/main" id="{2EB6BBF2-0E6E-F8D1-D140-32A343286401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7717" y="5761537"/>
            <a:ext cx="0" cy="3175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36" name="Line 202">
            <a:extLst>
              <a:ext uri="{FF2B5EF4-FFF2-40B4-BE49-F238E27FC236}">
                <a16:creationId xmlns:a16="http://schemas.microsoft.com/office/drawing/2014/main" id="{0684EB14-61A7-E487-95E6-9C1F81262507}"/>
              </a:ext>
            </a:extLst>
          </p:cNvPr>
          <p:cNvSpPr>
            <a:spLocks noChangeShapeType="1"/>
          </p:cNvSpPr>
          <p:nvPr/>
        </p:nvSpPr>
        <p:spPr bwMode="auto">
          <a:xfrm>
            <a:off x="8046517" y="5761537"/>
            <a:ext cx="0" cy="3175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37" name="Line 203">
            <a:extLst>
              <a:ext uri="{FF2B5EF4-FFF2-40B4-BE49-F238E27FC236}">
                <a16:creationId xmlns:a16="http://schemas.microsoft.com/office/drawing/2014/main" id="{32959217-29EB-0593-D098-82E0145DB11C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9305" y="6079037"/>
            <a:ext cx="557213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38" name="Line 204">
            <a:extLst>
              <a:ext uri="{FF2B5EF4-FFF2-40B4-BE49-F238E27FC236}">
                <a16:creationId xmlns:a16="http://schemas.microsoft.com/office/drawing/2014/main" id="{38D60B21-35ED-C057-0186-52C47A27898A}"/>
              </a:ext>
            </a:extLst>
          </p:cNvPr>
          <p:cNvSpPr>
            <a:spLocks noChangeShapeType="1"/>
          </p:cNvSpPr>
          <p:nvPr/>
        </p:nvSpPr>
        <p:spPr bwMode="auto">
          <a:xfrm>
            <a:off x="6609830" y="5442450"/>
            <a:ext cx="0" cy="157163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39" name="Line 205">
            <a:extLst>
              <a:ext uri="{FF2B5EF4-FFF2-40B4-BE49-F238E27FC236}">
                <a16:creationId xmlns:a16="http://schemas.microsoft.com/office/drawing/2014/main" id="{7127002C-41F7-053E-91D4-40AD5E3497AC}"/>
              </a:ext>
            </a:extLst>
          </p:cNvPr>
          <p:cNvSpPr>
            <a:spLocks noChangeShapeType="1"/>
          </p:cNvSpPr>
          <p:nvPr/>
        </p:nvSpPr>
        <p:spPr bwMode="auto">
          <a:xfrm>
            <a:off x="6611417" y="5599612"/>
            <a:ext cx="7239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40" name="Freeform 206">
            <a:extLst>
              <a:ext uri="{FF2B5EF4-FFF2-40B4-BE49-F238E27FC236}">
                <a16:creationId xmlns:a16="http://schemas.microsoft.com/office/drawing/2014/main" id="{C23A284D-E426-A02E-3221-C75FA5B4D8C5}"/>
              </a:ext>
            </a:extLst>
          </p:cNvPr>
          <p:cNvSpPr>
            <a:spLocks/>
          </p:cNvSpPr>
          <p:nvPr/>
        </p:nvSpPr>
        <p:spPr bwMode="auto">
          <a:xfrm>
            <a:off x="7297217" y="5545637"/>
            <a:ext cx="111125" cy="111125"/>
          </a:xfrm>
          <a:custGeom>
            <a:avLst/>
            <a:gdLst>
              <a:gd name="T0" fmla="*/ 0 w 70"/>
              <a:gd name="T1" fmla="*/ 70 h 70"/>
              <a:gd name="T2" fmla="*/ 70 w 70"/>
              <a:gd name="T3" fmla="*/ 34 h 70"/>
              <a:gd name="T4" fmla="*/ 0 w 70"/>
              <a:gd name="T5" fmla="*/ 0 h 70"/>
              <a:gd name="T6" fmla="*/ 22 w 70"/>
              <a:gd name="T7" fmla="*/ 34 h 70"/>
              <a:gd name="T8" fmla="*/ 0 w 70"/>
              <a:gd name="T9" fmla="*/ 70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" h="70">
                <a:moveTo>
                  <a:pt x="0" y="70"/>
                </a:moveTo>
                <a:lnTo>
                  <a:pt x="70" y="34"/>
                </a:lnTo>
                <a:lnTo>
                  <a:pt x="0" y="0"/>
                </a:lnTo>
                <a:lnTo>
                  <a:pt x="22" y="34"/>
                </a:lnTo>
                <a:lnTo>
                  <a:pt x="0" y="7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41" name="Line 207">
            <a:extLst>
              <a:ext uri="{FF2B5EF4-FFF2-40B4-BE49-F238E27FC236}">
                <a16:creationId xmlns:a16="http://schemas.microsoft.com/office/drawing/2014/main" id="{ADF6DE4F-2442-673C-FF1D-99266163C379}"/>
              </a:ext>
            </a:extLst>
          </p:cNvPr>
          <p:cNvSpPr>
            <a:spLocks noChangeShapeType="1"/>
          </p:cNvSpPr>
          <p:nvPr/>
        </p:nvSpPr>
        <p:spPr bwMode="auto">
          <a:xfrm>
            <a:off x="6609830" y="2884987"/>
            <a:ext cx="0" cy="238125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42" name="Line 208">
            <a:extLst>
              <a:ext uri="{FF2B5EF4-FFF2-40B4-BE49-F238E27FC236}">
                <a16:creationId xmlns:a16="http://schemas.microsoft.com/office/drawing/2014/main" id="{900B6DD8-CDB0-4CB9-7895-4095F6E5029D}"/>
              </a:ext>
            </a:extLst>
          </p:cNvPr>
          <p:cNvSpPr>
            <a:spLocks noChangeShapeType="1"/>
          </p:cNvSpPr>
          <p:nvPr/>
        </p:nvSpPr>
        <p:spPr bwMode="auto">
          <a:xfrm>
            <a:off x="6611417" y="3123112"/>
            <a:ext cx="7239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43" name="Freeform 209">
            <a:extLst>
              <a:ext uri="{FF2B5EF4-FFF2-40B4-BE49-F238E27FC236}">
                <a16:creationId xmlns:a16="http://schemas.microsoft.com/office/drawing/2014/main" id="{B74CA4A6-809A-D4AA-3F75-42BF1995F780}"/>
              </a:ext>
            </a:extLst>
          </p:cNvPr>
          <p:cNvSpPr>
            <a:spLocks/>
          </p:cNvSpPr>
          <p:nvPr/>
        </p:nvSpPr>
        <p:spPr bwMode="auto">
          <a:xfrm>
            <a:off x="7297217" y="3069137"/>
            <a:ext cx="111125" cy="111125"/>
          </a:xfrm>
          <a:custGeom>
            <a:avLst/>
            <a:gdLst>
              <a:gd name="T0" fmla="*/ 0 w 70"/>
              <a:gd name="T1" fmla="*/ 70 h 70"/>
              <a:gd name="T2" fmla="*/ 70 w 70"/>
              <a:gd name="T3" fmla="*/ 34 h 70"/>
              <a:gd name="T4" fmla="*/ 0 w 70"/>
              <a:gd name="T5" fmla="*/ 0 h 70"/>
              <a:gd name="T6" fmla="*/ 22 w 70"/>
              <a:gd name="T7" fmla="*/ 34 h 70"/>
              <a:gd name="T8" fmla="*/ 0 w 70"/>
              <a:gd name="T9" fmla="*/ 70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" h="70">
                <a:moveTo>
                  <a:pt x="0" y="70"/>
                </a:moveTo>
                <a:lnTo>
                  <a:pt x="70" y="34"/>
                </a:lnTo>
                <a:lnTo>
                  <a:pt x="0" y="0"/>
                </a:lnTo>
                <a:lnTo>
                  <a:pt x="22" y="34"/>
                </a:lnTo>
                <a:lnTo>
                  <a:pt x="0" y="7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44" name="Line 210">
            <a:extLst>
              <a:ext uri="{FF2B5EF4-FFF2-40B4-BE49-F238E27FC236}">
                <a16:creationId xmlns:a16="http://schemas.microsoft.com/office/drawing/2014/main" id="{9082052C-72FD-A67E-16AC-89B8B0BDB8B2}"/>
              </a:ext>
            </a:extLst>
          </p:cNvPr>
          <p:cNvSpPr>
            <a:spLocks noChangeShapeType="1"/>
          </p:cNvSpPr>
          <p:nvPr/>
        </p:nvSpPr>
        <p:spPr bwMode="auto">
          <a:xfrm>
            <a:off x="6609830" y="2246812"/>
            <a:ext cx="0" cy="238125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45" name="Line 211">
            <a:extLst>
              <a:ext uri="{FF2B5EF4-FFF2-40B4-BE49-F238E27FC236}">
                <a16:creationId xmlns:a16="http://schemas.microsoft.com/office/drawing/2014/main" id="{97DA3B49-BFF7-DC32-8676-AF7D23CD1DAC}"/>
              </a:ext>
            </a:extLst>
          </p:cNvPr>
          <p:cNvSpPr>
            <a:spLocks noChangeShapeType="1"/>
          </p:cNvSpPr>
          <p:nvPr/>
        </p:nvSpPr>
        <p:spPr bwMode="auto">
          <a:xfrm>
            <a:off x="6611417" y="2484937"/>
            <a:ext cx="7239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46" name="Freeform 212">
            <a:extLst>
              <a:ext uri="{FF2B5EF4-FFF2-40B4-BE49-F238E27FC236}">
                <a16:creationId xmlns:a16="http://schemas.microsoft.com/office/drawing/2014/main" id="{C8BCDA8B-8105-403F-6A9E-C4BB4FE8AD61}"/>
              </a:ext>
            </a:extLst>
          </p:cNvPr>
          <p:cNvSpPr>
            <a:spLocks/>
          </p:cNvSpPr>
          <p:nvPr/>
        </p:nvSpPr>
        <p:spPr bwMode="auto">
          <a:xfrm>
            <a:off x="7297217" y="2429375"/>
            <a:ext cx="111125" cy="111125"/>
          </a:xfrm>
          <a:custGeom>
            <a:avLst/>
            <a:gdLst>
              <a:gd name="T0" fmla="*/ 0 w 70"/>
              <a:gd name="T1" fmla="*/ 70 h 70"/>
              <a:gd name="T2" fmla="*/ 70 w 70"/>
              <a:gd name="T3" fmla="*/ 35 h 70"/>
              <a:gd name="T4" fmla="*/ 0 w 70"/>
              <a:gd name="T5" fmla="*/ 0 h 70"/>
              <a:gd name="T6" fmla="*/ 22 w 70"/>
              <a:gd name="T7" fmla="*/ 35 h 70"/>
              <a:gd name="T8" fmla="*/ 0 w 70"/>
              <a:gd name="T9" fmla="*/ 70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" h="70">
                <a:moveTo>
                  <a:pt x="0" y="70"/>
                </a:moveTo>
                <a:lnTo>
                  <a:pt x="70" y="35"/>
                </a:lnTo>
                <a:lnTo>
                  <a:pt x="0" y="0"/>
                </a:lnTo>
                <a:lnTo>
                  <a:pt x="22" y="35"/>
                </a:lnTo>
                <a:lnTo>
                  <a:pt x="0" y="7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47" name="Rectangle 213">
            <a:extLst>
              <a:ext uri="{FF2B5EF4-FFF2-40B4-BE49-F238E27FC236}">
                <a16:creationId xmlns:a16="http://schemas.microsoft.com/office/drawing/2014/main" id="{9978F70A-6615-2C2B-C6E3-C823C3C565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63" y="2695576"/>
            <a:ext cx="995363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48" name="Rectangle 214">
            <a:extLst>
              <a:ext uri="{FF2B5EF4-FFF2-40B4-BE49-F238E27FC236}">
                <a16:creationId xmlns:a16="http://schemas.microsoft.com/office/drawing/2014/main" id="{D82BCE61-6B24-B49C-BA58-469EFA642F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6101" y="2749551"/>
            <a:ext cx="379413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Last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49" name="Rectangle 215">
            <a:extLst>
              <a:ext uri="{FF2B5EF4-FFF2-40B4-BE49-F238E27FC236}">
                <a16:creationId xmlns:a16="http://schemas.microsoft.com/office/drawing/2014/main" id="{3B5C8CE1-41C7-C30F-7BEF-E1ECDDFE51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6101" y="2940051"/>
            <a:ext cx="701675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allocated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50" name="Rectangle 216">
            <a:extLst>
              <a:ext uri="{FF2B5EF4-FFF2-40B4-BE49-F238E27FC236}">
                <a16:creationId xmlns:a16="http://schemas.microsoft.com/office/drawing/2014/main" id="{86FE92DA-1A95-88B1-94D9-A970BA1C43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6101" y="3132138"/>
            <a:ext cx="900113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block (14K)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51" name="Rectangle 217">
            <a:extLst>
              <a:ext uri="{FF2B5EF4-FFF2-40B4-BE49-F238E27FC236}">
                <a16:creationId xmlns:a16="http://schemas.microsoft.com/office/drawing/2014/main" id="{3EEE087E-68B8-5CAE-FC7A-911865C9F0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4988" y="6049963"/>
            <a:ext cx="646113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52" name="Rectangle 218">
            <a:extLst>
              <a:ext uri="{FF2B5EF4-FFF2-40B4-BE49-F238E27FC236}">
                <a16:creationId xmlns:a16="http://schemas.microsoft.com/office/drawing/2014/main" id="{E25A6DB9-E45B-1E93-7633-B3EB781A6E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1826" y="6103938"/>
            <a:ext cx="534988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Before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53" name="Rectangle 219">
            <a:extLst>
              <a:ext uri="{FF2B5EF4-FFF2-40B4-BE49-F238E27FC236}">
                <a16:creationId xmlns:a16="http://schemas.microsoft.com/office/drawing/2014/main" id="{D387CC78-D1DD-1199-6EB6-0F34D4E92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7688" y="6130926"/>
            <a:ext cx="557213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54" name="Rectangle 220">
            <a:extLst>
              <a:ext uri="{FF2B5EF4-FFF2-40B4-BE49-F238E27FC236}">
                <a16:creationId xmlns:a16="http://schemas.microsoft.com/office/drawing/2014/main" id="{30C495E8-81D8-F722-230D-7EFA55F471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0685" y="6098976"/>
            <a:ext cx="442913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After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55" name="Rectangle 221">
            <a:extLst>
              <a:ext uri="{FF2B5EF4-FFF2-40B4-BE49-F238E27FC236}">
                <a16:creationId xmlns:a16="http://schemas.microsoft.com/office/drawing/2014/main" id="{CBFE3C9C-D9AC-950F-71D9-B9AB69CDDC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3501" y="4851401"/>
            <a:ext cx="158750" cy="16033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56" name="Rectangle 222">
            <a:extLst>
              <a:ext uri="{FF2B5EF4-FFF2-40B4-BE49-F238E27FC236}">
                <a16:creationId xmlns:a16="http://schemas.microsoft.com/office/drawing/2014/main" id="{53D3729D-AF66-FD47-7F00-3F2271623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7488" y="1497013"/>
            <a:ext cx="39687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57" name="Rectangle 223">
            <a:extLst>
              <a:ext uri="{FF2B5EF4-FFF2-40B4-BE49-F238E27FC236}">
                <a16:creationId xmlns:a16="http://schemas.microsoft.com/office/drawing/2014/main" id="{BCD025C8-C6CE-867D-1A84-A91A195AC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4326" y="1550988"/>
            <a:ext cx="1524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8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58" name="Rectangle 224">
            <a:extLst>
              <a:ext uri="{FF2B5EF4-FFF2-40B4-BE49-F238E27FC236}">
                <a16:creationId xmlns:a16="http://schemas.microsoft.com/office/drawing/2014/main" id="{0E387604-CC68-7583-ECA7-3CAF4819D4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3701" y="1550988"/>
            <a:ext cx="19685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59" name="Rectangle 225">
            <a:extLst>
              <a:ext uri="{FF2B5EF4-FFF2-40B4-BE49-F238E27FC236}">
                <a16:creationId xmlns:a16="http://schemas.microsoft.com/office/drawing/2014/main" id="{30712441-8E5B-4553-CA93-6F44CA2B5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8630" y="1526087"/>
            <a:ext cx="39687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60" name="Rectangle 226">
            <a:extLst>
              <a:ext uri="{FF2B5EF4-FFF2-40B4-BE49-F238E27FC236}">
                <a16:creationId xmlns:a16="http://schemas.microsoft.com/office/drawing/2014/main" id="{14659FCF-50F0-37AC-8749-9D2F68022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5467" y="1580062"/>
            <a:ext cx="1524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8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61" name="Rectangle 227">
            <a:extLst>
              <a:ext uri="{FF2B5EF4-FFF2-40B4-BE49-F238E27FC236}">
                <a16:creationId xmlns:a16="http://schemas.microsoft.com/office/drawing/2014/main" id="{5F230BA9-4C70-16E3-C70A-C4297FA00B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4842" y="1580062"/>
            <a:ext cx="19685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62" name="Rectangle 228">
            <a:extLst>
              <a:ext uri="{FF2B5EF4-FFF2-40B4-BE49-F238E27FC236}">
                <a16:creationId xmlns:a16="http://schemas.microsoft.com/office/drawing/2014/main" id="{4D0841B1-44B2-5753-A56F-891C1895B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8113" y="1927226"/>
            <a:ext cx="4762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63" name="Rectangle 229">
            <a:extLst>
              <a:ext uri="{FF2B5EF4-FFF2-40B4-BE49-F238E27FC236}">
                <a16:creationId xmlns:a16="http://schemas.microsoft.com/office/drawing/2014/main" id="{572AF24F-AB61-A45E-38BA-8FBA22B78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4951" y="1981201"/>
            <a:ext cx="233363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12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64" name="Rectangle 230">
            <a:extLst>
              <a:ext uri="{FF2B5EF4-FFF2-40B4-BE49-F238E27FC236}">
                <a16:creationId xmlns:a16="http://schemas.microsoft.com/office/drawing/2014/main" id="{9169C10E-B7DA-8F78-7060-C55B34D387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3701" y="1981201"/>
            <a:ext cx="19685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65" name="Rectangle 231">
            <a:extLst>
              <a:ext uri="{FF2B5EF4-FFF2-40B4-BE49-F238E27FC236}">
                <a16:creationId xmlns:a16="http://schemas.microsoft.com/office/drawing/2014/main" id="{BB95AFBC-FE5F-898C-3EF0-E661C91D57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0842" y="1956300"/>
            <a:ext cx="4762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66" name="Rectangle 232">
            <a:extLst>
              <a:ext uri="{FF2B5EF4-FFF2-40B4-BE49-F238E27FC236}">
                <a16:creationId xmlns:a16="http://schemas.microsoft.com/office/drawing/2014/main" id="{452B7099-2E30-7DC5-BA7B-7CF14EF808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7680" y="2010275"/>
            <a:ext cx="233363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12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67" name="Rectangle 233">
            <a:extLst>
              <a:ext uri="{FF2B5EF4-FFF2-40B4-BE49-F238E27FC236}">
                <a16:creationId xmlns:a16="http://schemas.microsoft.com/office/drawing/2014/main" id="{A046FBBD-0294-FB90-54C6-4F6C359741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6430" y="2010275"/>
            <a:ext cx="19685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68" name="Rectangle 234">
            <a:extLst>
              <a:ext uri="{FF2B5EF4-FFF2-40B4-BE49-F238E27FC236}">
                <a16:creationId xmlns:a16="http://schemas.microsoft.com/office/drawing/2014/main" id="{964A0FC3-5E15-E1F5-8E1B-62E671ECA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8113" y="2327276"/>
            <a:ext cx="47625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69" name="Rectangle 235">
            <a:extLst>
              <a:ext uri="{FF2B5EF4-FFF2-40B4-BE49-F238E27FC236}">
                <a16:creationId xmlns:a16="http://schemas.microsoft.com/office/drawing/2014/main" id="{751D2846-D01C-C7DB-E511-9EAA022AF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4951" y="2381251"/>
            <a:ext cx="233363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22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70" name="Rectangle 236">
            <a:extLst>
              <a:ext uri="{FF2B5EF4-FFF2-40B4-BE49-F238E27FC236}">
                <a16:creationId xmlns:a16="http://schemas.microsoft.com/office/drawing/2014/main" id="{AC79F150-C3DF-280F-A558-4078BF2C93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3701" y="2381251"/>
            <a:ext cx="19685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71" name="Rectangle 237">
            <a:extLst>
              <a:ext uri="{FF2B5EF4-FFF2-40B4-BE49-F238E27FC236}">
                <a16:creationId xmlns:a16="http://schemas.microsoft.com/office/drawing/2014/main" id="{B3B8FE75-0D9D-611A-1B8C-96EE102F25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8113" y="2935288"/>
            <a:ext cx="47625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72" name="Rectangle 238">
            <a:extLst>
              <a:ext uri="{FF2B5EF4-FFF2-40B4-BE49-F238E27FC236}">
                <a16:creationId xmlns:a16="http://schemas.microsoft.com/office/drawing/2014/main" id="{7EA55FBD-06C5-7688-41ED-4B1084FBA4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4951" y="2989263"/>
            <a:ext cx="233363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18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73" name="Rectangle 239">
            <a:extLst>
              <a:ext uri="{FF2B5EF4-FFF2-40B4-BE49-F238E27FC236}">
                <a16:creationId xmlns:a16="http://schemas.microsoft.com/office/drawing/2014/main" id="{5A1C2562-5057-BCBC-7CE7-88ADA0280F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3701" y="2989263"/>
            <a:ext cx="19685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74" name="Rectangle 240">
            <a:extLst>
              <a:ext uri="{FF2B5EF4-FFF2-40B4-BE49-F238E27FC236}">
                <a16:creationId xmlns:a16="http://schemas.microsoft.com/office/drawing/2014/main" id="{6ACD48DE-A5C3-E4DA-F2C9-924570EAF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2413" y="3973513"/>
            <a:ext cx="361950" cy="25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75" name="Rectangle 241">
            <a:extLst>
              <a:ext uri="{FF2B5EF4-FFF2-40B4-BE49-F238E27FC236}">
                <a16:creationId xmlns:a16="http://schemas.microsoft.com/office/drawing/2014/main" id="{8433D60A-FCE4-455B-34B4-498B33A97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9251" y="4027488"/>
            <a:ext cx="128588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6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76" name="Rectangle 242">
            <a:extLst>
              <a:ext uri="{FF2B5EF4-FFF2-40B4-BE49-F238E27FC236}">
                <a16:creationId xmlns:a16="http://schemas.microsoft.com/office/drawing/2014/main" id="{F31F5642-AB11-2B7C-1C5F-49DF9E725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5926" y="4027488"/>
            <a:ext cx="166688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77" name="Rectangle 243">
            <a:extLst>
              <a:ext uri="{FF2B5EF4-FFF2-40B4-BE49-F238E27FC236}">
                <a16:creationId xmlns:a16="http://schemas.microsoft.com/office/drawing/2014/main" id="{348FB7CA-6A61-DA7D-FBD3-F64545A25C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5767" y="4002587"/>
            <a:ext cx="361950" cy="25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78" name="Rectangle 244">
            <a:extLst>
              <a:ext uri="{FF2B5EF4-FFF2-40B4-BE49-F238E27FC236}">
                <a16:creationId xmlns:a16="http://schemas.microsoft.com/office/drawing/2014/main" id="{C73B1841-2404-A655-BA00-F608D4DD4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2605" y="4056562"/>
            <a:ext cx="128588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6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79" name="Rectangle 245">
            <a:extLst>
              <a:ext uri="{FF2B5EF4-FFF2-40B4-BE49-F238E27FC236}">
                <a16:creationId xmlns:a16="http://schemas.microsoft.com/office/drawing/2014/main" id="{DD2DCC4A-3427-49BC-7760-8755BB7A0E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7692" y="4056562"/>
            <a:ext cx="166688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80" name="Rectangle 246">
            <a:extLst>
              <a:ext uri="{FF2B5EF4-FFF2-40B4-BE49-F238E27FC236}">
                <a16:creationId xmlns:a16="http://schemas.microsoft.com/office/drawing/2014/main" id="{8B7040AD-C0F6-863D-D125-820445FF5D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5901" y="3686176"/>
            <a:ext cx="39687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81" name="Rectangle 247">
            <a:extLst>
              <a:ext uri="{FF2B5EF4-FFF2-40B4-BE49-F238E27FC236}">
                <a16:creationId xmlns:a16="http://schemas.microsoft.com/office/drawing/2014/main" id="{8BC32F23-FED3-EBBB-58F4-1A738BA7D9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3738563"/>
            <a:ext cx="1524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8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82" name="Rectangle 248">
            <a:extLst>
              <a:ext uri="{FF2B5EF4-FFF2-40B4-BE49-F238E27FC236}">
                <a16:creationId xmlns:a16="http://schemas.microsoft.com/office/drawing/2014/main" id="{47E1966C-992D-0084-D7A4-DC3E774149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2113" y="3738563"/>
            <a:ext cx="19685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83" name="Rectangle 249">
            <a:extLst>
              <a:ext uri="{FF2B5EF4-FFF2-40B4-BE49-F238E27FC236}">
                <a16:creationId xmlns:a16="http://schemas.microsoft.com/office/drawing/2014/main" id="{E9F4B1A4-AC06-34EB-1821-C31D0A1B1C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8630" y="3683500"/>
            <a:ext cx="39687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84" name="Rectangle 250">
            <a:extLst>
              <a:ext uri="{FF2B5EF4-FFF2-40B4-BE49-F238E27FC236}">
                <a16:creationId xmlns:a16="http://schemas.microsoft.com/office/drawing/2014/main" id="{1631FEFB-EB6E-6F7E-43C2-D395CDB4F6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5467" y="3735887"/>
            <a:ext cx="1524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8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85" name="Rectangle 251">
            <a:extLst>
              <a:ext uri="{FF2B5EF4-FFF2-40B4-BE49-F238E27FC236}">
                <a16:creationId xmlns:a16="http://schemas.microsoft.com/office/drawing/2014/main" id="{1580100C-3DFE-6DA9-130A-60007BEEC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4842" y="3735887"/>
            <a:ext cx="19685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86" name="Rectangle 252">
            <a:extLst>
              <a:ext uri="{FF2B5EF4-FFF2-40B4-BE49-F238E27FC236}">
                <a16:creationId xmlns:a16="http://schemas.microsoft.com/office/drawing/2014/main" id="{3D85FBD4-1635-669C-43A2-E3552CC907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8113" y="4803776"/>
            <a:ext cx="47625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87" name="Rectangle 253">
            <a:extLst>
              <a:ext uri="{FF2B5EF4-FFF2-40B4-BE49-F238E27FC236}">
                <a16:creationId xmlns:a16="http://schemas.microsoft.com/office/drawing/2014/main" id="{1912BD70-4B65-A2C7-E3A5-F51F01FE8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4951" y="4857751"/>
            <a:ext cx="233363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14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88" name="Rectangle 254">
            <a:extLst>
              <a:ext uri="{FF2B5EF4-FFF2-40B4-BE49-F238E27FC236}">
                <a16:creationId xmlns:a16="http://schemas.microsoft.com/office/drawing/2014/main" id="{CEED4A9E-C866-F6E0-F8BD-A661D34DDD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3701" y="4857751"/>
            <a:ext cx="19685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89" name="Rectangle 255">
            <a:extLst>
              <a:ext uri="{FF2B5EF4-FFF2-40B4-BE49-F238E27FC236}">
                <a16:creationId xmlns:a16="http://schemas.microsoft.com/office/drawing/2014/main" id="{E5404FD0-F1AC-A2CC-9C15-A39257F122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9880" y="4832850"/>
            <a:ext cx="47625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90" name="Rectangle 256">
            <a:extLst>
              <a:ext uri="{FF2B5EF4-FFF2-40B4-BE49-F238E27FC236}">
                <a16:creationId xmlns:a16="http://schemas.microsoft.com/office/drawing/2014/main" id="{097E6E50-AE48-062D-389D-8053A6DEA4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5130" y="4886825"/>
            <a:ext cx="233363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14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91" name="Rectangle 257">
            <a:extLst>
              <a:ext uri="{FF2B5EF4-FFF2-40B4-BE49-F238E27FC236}">
                <a16:creationId xmlns:a16="http://schemas.microsoft.com/office/drawing/2014/main" id="{1E762422-8AF3-3398-09CE-AB9BE8005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5467" y="4886825"/>
            <a:ext cx="19685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92" name="Rectangle 258">
            <a:extLst>
              <a:ext uri="{FF2B5EF4-FFF2-40B4-BE49-F238E27FC236}">
                <a16:creationId xmlns:a16="http://schemas.microsoft.com/office/drawing/2014/main" id="{D8A49F53-90DD-83D3-A634-3761C430E6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5767" y="2564312"/>
            <a:ext cx="36195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93" name="Rectangle 259">
            <a:extLst>
              <a:ext uri="{FF2B5EF4-FFF2-40B4-BE49-F238E27FC236}">
                <a16:creationId xmlns:a16="http://schemas.microsoft.com/office/drawing/2014/main" id="{B0A5E487-A3EE-1FDD-1CAC-EEF08D7B44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2605" y="2618287"/>
            <a:ext cx="128588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6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94" name="Rectangle 260">
            <a:extLst>
              <a:ext uri="{FF2B5EF4-FFF2-40B4-BE49-F238E27FC236}">
                <a16:creationId xmlns:a16="http://schemas.microsoft.com/office/drawing/2014/main" id="{698264BB-514C-CE97-21AA-DD9C6A9594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7692" y="2618287"/>
            <a:ext cx="166688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95" name="Rectangle 261">
            <a:extLst>
              <a:ext uri="{FF2B5EF4-FFF2-40B4-BE49-F238E27FC236}">
                <a16:creationId xmlns:a16="http://schemas.microsoft.com/office/drawing/2014/main" id="{3EF9E5E5-2CF5-6E11-A582-BBF070FA09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8630" y="3123112"/>
            <a:ext cx="3968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96" name="Rectangle 262">
            <a:extLst>
              <a:ext uri="{FF2B5EF4-FFF2-40B4-BE49-F238E27FC236}">
                <a16:creationId xmlns:a16="http://schemas.microsoft.com/office/drawing/2014/main" id="{1FDB1D03-7727-FD49-39CD-F7741F57A0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5467" y="3177087"/>
            <a:ext cx="1524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97" name="Rectangle 263">
            <a:extLst>
              <a:ext uri="{FF2B5EF4-FFF2-40B4-BE49-F238E27FC236}">
                <a16:creationId xmlns:a16="http://schemas.microsoft.com/office/drawing/2014/main" id="{738D1B72-EA9A-4979-E1A7-1864E8D79D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4842" y="3177087"/>
            <a:ext cx="19685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98" name="Rectangle 264">
            <a:extLst>
              <a:ext uri="{FF2B5EF4-FFF2-40B4-BE49-F238E27FC236}">
                <a16:creationId xmlns:a16="http://schemas.microsoft.com/office/drawing/2014/main" id="{55D629E8-AA87-ECC9-150D-DC946D8C7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8113" y="5602288"/>
            <a:ext cx="4762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99" name="Rectangle 265">
            <a:extLst>
              <a:ext uri="{FF2B5EF4-FFF2-40B4-BE49-F238E27FC236}">
                <a16:creationId xmlns:a16="http://schemas.microsoft.com/office/drawing/2014/main" id="{ED9A4077-17D4-AF6E-119E-834CC0DBBD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4951" y="5656263"/>
            <a:ext cx="233363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36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300" name="Rectangle 266">
            <a:extLst>
              <a:ext uri="{FF2B5EF4-FFF2-40B4-BE49-F238E27FC236}">
                <a16:creationId xmlns:a16="http://schemas.microsoft.com/office/drawing/2014/main" id="{BF4E06B8-EF82-9F0A-9174-1B9A09F8B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3701" y="5656263"/>
            <a:ext cx="19685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301" name="Rectangle 267">
            <a:extLst>
              <a:ext uri="{FF2B5EF4-FFF2-40B4-BE49-F238E27FC236}">
                <a16:creationId xmlns:a16="http://schemas.microsoft.com/office/drawing/2014/main" id="{43B9E6CD-71AF-AEA1-AB07-4F2A3BC4E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1467" y="5759950"/>
            <a:ext cx="47625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302" name="Rectangle 268">
            <a:extLst>
              <a:ext uri="{FF2B5EF4-FFF2-40B4-BE49-F238E27FC236}">
                <a16:creationId xmlns:a16="http://schemas.microsoft.com/office/drawing/2014/main" id="{76733256-FCC2-E00D-F1B7-72B0782E20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6717" y="5813925"/>
            <a:ext cx="233363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20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303" name="Rectangle 269">
            <a:extLst>
              <a:ext uri="{FF2B5EF4-FFF2-40B4-BE49-F238E27FC236}">
                <a16:creationId xmlns:a16="http://schemas.microsoft.com/office/drawing/2014/main" id="{E33F1E49-905D-4E88-D4CC-F397A1BC0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7055" y="5813925"/>
            <a:ext cx="19685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304" name="Rectangle 270">
            <a:extLst>
              <a:ext uri="{FF2B5EF4-FFF2-40B4-BE49-F238E27FC236}">
                <a16:creationId xmlns:a16="http://schemas.microsoft.com/office/drawing/2014/main" id="{5E5C0799-1348-51F0-2C7B-4D5B6FF5E8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1338" y="5122863"/>
            <a:ext cx="747713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305" name="Rectangle 271">
            <a:extLst>
              <a:ext uri="{FF2B5EF4-FFF2-40B4-BE49-F238E27FC236}">
                <a16:creationId xmlns:a16="http://schemas.microsoft.com/office/drawing/2014/main" id="{AF54CB75-EE92-6312-AF3C-62415DA80E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8205" y="5205912"/>
            <a:ext cx="644525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Next Fit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306" name="Rectangle 272">
            <a:extLst>
              <a:ext uri="{FF2B5EF4-FFF2-40B4-BE49-F238E27FC236}">
                <a16:creationId xmlns:a16="http://schemas.microsoft.com/office/drawing/2014/main" id="{B7599049-8F11-765B-3222-697927DE5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3513" y="4772026"/>
            <a:ext cx="9175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307" name="Rectangle 273">
            <a:extLst>
              <a:ext uri="{FF2B5EF4-FFF2-40B4-BE49-F238E27FC236}">
                <a16:creationId xmlns:a16="http://schemas.microsoft.com/office/drawing/2014/main" id="{3135C6FB-B492-2173-3FF2-4F35F8A084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0351" y="4826001"/>
            <a:ext cx="815975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Free block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308" name="Rectangle 274">
            <a:extLst>
              <a:ext uri="{FF2B5EF4-FFF2-40B4-BE49-F238E27FC236}">
                <a16:creationId xmlns:a16="http://schemas.microsoft.com/office/drawing/2014/main" id="{E477696C-42DC-8B3A-F486-16D886A2B9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76" y="4452938"/>
            <a:ext cx="1252538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309" name="Rectangle 275">
            <a:extLst>
              <a:ext uri="{FF2B5EF4-FFF2-40B4-BE49-F238E27FC236}">
                <a16:creationId xmlns:a16="http://schemas.microsoft.com/office/drawing/2014/main" id="{7F579CEE-A6A7-142D-3381-143CA3F31D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9713" y="4506913"/>
            <a:ext cx="1163638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Allocated block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310" name="Rectangle 276">
            <a:extLst>
              <a:ext uri="{FF2B5EF4-FFF2-40B4-BE49-F238E27FC236}">
                <a16:creationId xmlns:a16="http://schemas.microsoft.com/office/drawing/2014/main" id="{78BA5376-7390-DFF6-3A86-9AFCAE6FE1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0742" y="2643687"/>
            <a:ext cx="722313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311" name="Rectangle 277">
            <a:extLst>
              <a:ext uri="{FF2B5EF4-FFF2-40B4-BE49-F238E27FC236}">
                <a16:creationId xmlns:a16="http://schemas.microsoft.com/office/drawing/2014/main" id="{469D023D-5C8D-ECA1-BFDC-E4E952BE0B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7580" y="2697662"/>
            <a:ext cx="61595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Best Fit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312" name="Rectangle 278">
            <a:extLst>
              <a:ext uri="{FF2B5EF4-FFF2-40B4-BE49-F238E27FC236}">
                <a16:creationId xmlns:a16="http://schemas.microsoft.com/office/drawing/2014/main" id="{97A1995C-8701-085B-4EA8-F59621315A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0742" y="2005512"/>
            <a:ext cx="75882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313" name="Rectangle 279">
            <a:extLst>
              <a:ext uri="{FF2B5EF4-FFF2-40B4-BE49-F238E27FC236}">
                <a16:creationId xmlns:a16="http://schemas.microsoft.com/office/drawing/2014/main" id="{A55F84CD-6A17-E64D-903C-1B9283EABC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7580" y="2059487"/>
            <a:ext cx="65405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First Fit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314" name="箭头: 右 51313">
            <a:extLst>
              <a:ext uri="{FF2B5EF4-FFF2-40B4-BE49-F238E27FC236}">
                <a16:creationId xmlns:a16="http://schemas.microsoft.com/office/drawing/2014/main" id="{7D24E62E-6E2E-1E64-D5D8-4148E2E68B7B}"/>
              </a:ext>
            </a:extLst>
          </p:cNvPr>
          <p:cNvSpPr/>
          <p:nvPr/>
        </p:nvSpPr>
        <p:spPr bwMode="auto">
          <a:xfrm>
            <a:off x="4478338" y="3288212"/>
            <a:ext cx="1334567" cy="287338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7DFF026-1B68-BB1B-0682-4CEBD54E7D6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31520" y="1556792"/>
            <a:ext cx="10728960" cy="501015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zh-CN" altLang="en-US" dirty="0"/>
              <a:t>局限于编程能力和编程工具，程序可以控制的内存区域小于（或等于）计算机的物理内存</a:t>
            </a:r>
            <a:endParaRPr lang="en-US" altLang="zh-CN" dirty="0"/>
          </a:p>
          <a:p>
            <a:r>
              <a:rPr lang="zh-CN" altLang="en-US" dirty="0"/>
              <a:t>程序在运行前已预知其所需内存的上限</a:t>
            </a:r>
            <a:endParaRPr lang="en-US" altLang="zh-CN" dirty="0"/>
          </a:p>
          <a:p>
            <a:r>
              <a:rPr lang="zh-CN" altLang="en-US" dirty="0"/>
              <a:t>所需内存在程序启动时一次性分配，不再动态变化</a:t>
            </a:r>
            <a:endParaRPr lang="en-US" altLang="zh-CN" dirty="0"/>
          </a:p>
          <a:p>
            <a:pPr lvl="1"/>
            <a:r>
              <a:rPr lang="zh-CN" altLang="en-US" dirty="0"/>
              <a:t>数据与栈区相向发展，以满足内存上限的确定性</a:t>
            </a:r>
            <a:endParaRPr lang="en-US" altLang="zh-CN" dirty="0"/>
          </a:p>
          <a:p>
            <a:r>
              <a:rPr lang="zh-CN" altLang="en-US" dirty="0"/>
              <a:t>内存扩充后，可通过分区分块（</a:t>
            </a:r>
            <a:r>
              <a:rPr lang="en-US" altLang="zh-CN" dirty="0"/>
              <a:t>partition)</a:t>
            </a:r>
            <a:r>
              <a:rPr lang="zh-CN" altLang="en-US" dirty="0"/>
              <a:t>的方式支持多个程序同时加载</a:t>
            </a:r>
            <a:endParaRPr lang="en-US" altLang="zh-CN" dirty="0"/>
          </a:p>
          <a:p>
            <a:pPr lvl="1"/>
            <a:r>
              <a:rPr lang="zh-CN" altLang="en-US" dirty="0"/>
              <a:t>程序开发时无法确定自己的加载位置，通过分段机制（段基地址寄存器</a:t>
            </a:r>
            <a:r>
              <a:rPr lang="en-US" altLang="zh-CN" dirty="0"/>
              <a:t>+</a:t>
            </a:r>
            <a:r>
              <a:rPr lang="zh-CN" altLang="en-US" dirty="0"/>
              <a:t>长度寄存器）以支持动态调整加载地址</a:t>
            </a:r>
            <a:endParaRPr lang="en-US" altLang="zh-CN" dirty="0"/>
          </a:p>
          <a:p>
            <a:pPr lvl="1"/>
            <a:r>
              <a:rPr lang="zh-CN" altLang="en-US" dirty="0"/>
              <a:t>设计位图、链表等数据结构以记录内存的分配和使用情况，设计多种分配方式（最先、最差、最优、下次等）以期得到更少的碎片，更高的利用率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BCFC9E9-5348-D179-D583-A06E0820E001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8" name="标题 8">
            <a:extLst>
              <a:ext uri="{FF2B5EF4-FFF2-40B4-BE49-F238E27FC236}">
                <a16:creationId xmlns:a16="http://schemas.microsoft.com/office/drawing/2014/main" id="{6474462C-1233-1C60-91A3-5342851AE95B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内存管理的“上古时代”</a:t>
            </a:r>
          </a:p>
        </p:txBody>
      </p:sp>
    </p:spTree>
    <p:extLst>
      <p:ext uri="{BB962C8B-B14F-4D97-AF65-F5344CB8AC3E}">
        <p14:creationId xmlns:p14="http://schemas.microsoft.com/office/powerpoint/2010/main" val="3876524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07419" y="2348880"/>
            <a:ext cx="7777162" cy="2016497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altLang="zh-CN" sz="5400" i="1" dirty="0">
                <a:solidFill>
                  <a:srgbClr val="993300"/>
                </a:solidFill>
                <a:ea typeface="宋体" panose="02010600030101010101" pitchFamily="2" charset="-122"/>
              </a:rPr>
              <a:t>Thanks for your time!</a:t>
            </a:r>
            <a:br>
              <a:rPr lang="en-US" altLang="zh-CN" sz="5400" i="1" dirty="0">
                <a:solidFill>
                  <a:srgbClr val="993300"/>
                </a:solidFill>
                <a:ea typeface="宋体" panose="02010600030101010101" pitchFamily="2" charset="-122"/>
              </a:rPr>
            </a:br>
            <a:r>
              <a:rPr lang="en-US" altLang="zh-CN" sz="5400" i="1" dirty="0">
                <a:solidFill>
                  <a:srgbClr val="993300"/>
                </a:solidFill>
                <a:ea typeface="宋体" panose="02010600030101010101" pitchFamily="2" charset="-122"/>
              </a:rPr>
              <a:t>Questions &amp; Answers</a:t>
            </a:r>
            <a:endParaRPr lang="en-US" altLang="ko-KR" sz="5400" i="1" dirty="0">
              <a:solidFill>
                <a:srgbClr val="993300"/>
              </a:solidFill>
              <a:ea typeface="굴림" pitchFamily="34" charset="-127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|0.2|0.1|0.2|0.2|0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|0|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0|0|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0.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0.4"/>
</p:tagLst>
</file>

<file path=ppt/theme/theme1.xml><?xml version="1.0" encoding="utf-8"?>
<a:theme xmlns:a="http://schemas.openxmlformats.org/drawingml/2006/main" name="psh3_Print">
  <a:themeElements>
    <a:clrScheme name="psh3_Print 2">
      <a:dk1>
        <a:srgbClr val="000000"/>
      </a:dk1>
      <a:lt1>
        <a:srgbClr val="FFFFFF"/>
      </a:lt1>
      <a:dk2>
        <a:srgbClr val="003366"/>
      </a:dk2>
      <a:lt2>
        <a:srgbClr val="CCCCCC"/>
      </a:lt2>
      <a:accent1>
        <a:srgbClr val="C0C9F6"/>
      </a:accent1>
      <a:accent2>
        <a:srgbClr val="A1B67A"/>
      </a:accent2>
      <a:accent3>
        <a:srgbClr val="FFFFFF"/>
      </a:accent3>
      <a:accent4>
        <a:srgbClr val="000000"/>
      </a:accent4>
      <a:accent5>
        <a:srgbClr val="DCE1FA"/>
      </a:accent5>
      <a:accent6>
        <a:srgbClr val="91A56E"/>
      </a:accent6>
      <a:hlink>
        <a:srgbClr val="789ED0"/>
      </a:hlink>
      <a:folHlink>
        <a:srgbClr val="B2B2B2"/>
      </a:folHlink>
    </a:clrScheme>
    <a:fontScheme name="自定义 2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psh3_Print 1">
        <a:dk1>
          <a:srgbClr val="5F5F5F"/>
        </a:dk1>
        <a:lt1>
          <a:srgbClr val="FFFFFF"/>
        </a:lt1>
        <a:dk2>
          <a:srgbClr val="000000"/>
        </a:dk2>
        <a:lt2>
          <a:srgbClr val="DDDDDD"/>
        </a:lt2>
        <a:accent1>
          <a:srgbClr val="C0C0C0"/>
        </a:accent1>
        <a:accent2>
          <a:srgbClr val="EAEAEA"/>
        </a:accent2>
        <a:accent3>
          <a:srgbClr val="FFFFFF"/>
        </a:accent3>
        <a:accent4>
          <a:srgbClr val="505050"/>
        </a:accent4>
        <a:accent5>
          <a:srgbClr val="DCDCDC"/>
        </a:accent5>
        <a:accent6>
          <a:srgbClr val="D4D4D4"/>
        </a:accent6>
        <a:hlink>
          <a:srgbClr val="4D4D4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sh3_Print 2">
        <a:dk1>
          <a:srgbClr val="000000"/>
        </a:dk1>
        <a:lt1>
          <a:srgbClr val="FFFFFF"/>
        </a:lt1>
        <a:dk2>
          <a:srgbClr val="003366"/>
        </a:dk2>
        <a:lt2>
          <a:srgbClr val="CCCCCC"/>
        </a:lt2>
        <a:accent1>
          <a:srgbClr val="C0C9F6"/>
        </a:accent1>
        <a:accent2>
          <a:srgbClr val="A1B67A"/>
        </a:accent2>
        <a:accent3>
          <a:srgbClr val="FFFFFF"/>
        </a:accent3>
        <a:accent4>
          <a:srgbClr val="000000"/>
        </a:accent4>
        <a:accent5>
          <a:srgbClr val="DCE1FA"/>
        </a:accent5>
        <a:accent6>
          <a:srgbClr val="91A56E"/>
        </a:accent6>
        <a:hlink>
          <a:srgbClr val="789ED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sh3_Print 3">
        <a:dk1>
          <a:srgbClr val="384868"/>
        </a:dk1>
        <a:lt1>
          <a:srgbClr val="FFFFFF"/>
        </a:lt1>
        <a:dk2>
          <a:srgbClr val="000000"/>
        </a:dk2>
        <a:lt2>
          <a:srgbClr val="CCCCCC"/>
        </a:lt2>
        <a:accent1>
          <a:srgbClr val="C0C9F6"/>
        </a:accent1>
        <a:accent2>
          <a:srgbClr val="A1B67A"/>
        </a:accent2>
        <a:accent3>
          <a:srgbClr val="FFFFFF"/>
        </a:accent3>
        <a:accent4>
          <a:srgbClr val="2E3C58"/>
        </a:accent4>
        <a:accent5>
          <a:srgbClr val="DCE1FA"/>
        </a:accent5>
        <a:accent6>
          <a:srgbClr val="91A56E"/>
        </a:accent6>
        <a:hlink>
          <a:srgbClr val="789ED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psh3_Print</Template>
  <TotalTime>0</TotalTime>
  <Words>2048</Words>
  <Application>Microsoft Office PowerPoint</Application>
  <PresentationFormat>宽屏</PresentationFormat>
  <Paragraphs>451</Paragraphs>
  <Slides>32</Slides>
  <Notes>10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32</vt:i4>
      </vt:variant>
    </vt:vector>
  </HeadingPairs>
  <TitlesOfParts>
    <vt:vector size="52" baseType="lpstr">
      <vt:lpstr>굴림</vt:lpstr>
      <vt:lpstr>等线</vt:lpstr>
      <vt:lpstr>等线 Light</vt:lpstr>
      <vt:lpstr>喵呜黑体</vt:lpstr>
      <vt:lpstr>宋体</vt:lpstr>
      <vt:lpstr>微软雅黑</vt:lpstr>
      <vt:lpstr>张海山锐谐体2.0-授权联系：Samtype@QQ.com</vt:lpstr>
      <vt:lpstr>Arial</vt:lpstr>
      <vt:lpstr>Calibri</vt:lpstr>
      <vt:lpstr>Comic Sans MS</vt:lpstr>
      <vt:lpstr>Courier New</vt:lpstr>
      <vt:lpstr>Helvetica</vt:lpstr>
      <vt:lpstr>Tahoma</vt:lpstr>
      <vt:lpstr>Times New Roman</vt:lpstr>
      <vt:lpstr>Verdana</vt:lpstr>
      <vt:lpstr>Wingdings</vt:lpstr>
      <vt:lpstr>psh3_Print</vt:lpstr>
      <vt:lpstr>Office 主题​​</vt:lpstr>
      <vt:lpstr>Visio</vt:lpstr>
      <vt:lpstr>Chart</vt:lpstr>
      <vt:lpstr>操作系统</vt:lpstr>
      <vt:lpstr>章节4：内存管理</vt:lpstr>
      <vt:lpstr>PowerPoint 演示文稿</vt:lpstr>
      <vt:lpstr>PowerPoint 演示文稿</vt:lpstr>
      <vt:lpstr>为什么要做内存管理</vt:lpstr>
      <vt:lpstr>PowerPoint 演示文稿</vt:lpstr>
      <vt:lpstr>PowerPoint 演示文稿</vt:lpstr>
      <vt:lpstr>地址的形成</vt:lpstr>
      <vt:lpstr>单道程序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Thanks for your time! Questions &amp; Answers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2023-10-09T05:17:59Z</dcterms:created>
  <dcterms:modified xsi:type="dcterms:W3CDTF">2025-09-28T11:44:20Z</dcterms:modified>
</cp:coreProperties>
</file>