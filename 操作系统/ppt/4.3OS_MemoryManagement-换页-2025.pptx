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6" r:id="rId1"/>
    <p:sldMasterId id="2147484070" r:id="rId2"/>
    <p:sldMasterId id="2147484084" r:id="rId3"/>
    <p:sldMasterId id="2147484097" r:id="rId4"/>
  </p:sldMasterIdLst>
  <p:notesMasterIdLst>
    <p:notesMasterId r:id="rId78"/>
  </p:notesMasterIdLst>
  <p:handoutMasterIdLst>
    <p:handoutMasterId r:id="rId79"/>
  </p:handoutMasterIdLst>
  <p:sldIdLst>
    <p:sldId id="2686" r:id="rId5"/>
    <p:sldId id="1962" r:id="rId6"/>
    <p:sldId id="535" r:id="rId7"/>
    <p:sldId id="629" r:id="rId8"/>
    <p:sldId id="1971" r:id="rId9"/>
    <p:sldId id="1978" r:id="rId10"/>
    <p:sldId id="1975" r:id="rId11"/>
    <p:sldId id="1976" r:id="rId12"/>
    <p:sldId id="1977" r:id="rId13"/>
    <p:sldId id="1972" r:id="rId14"/>
    <p:sldId id="552" r:id="rId15"/>
    <p:sldId id="526" r:id="rId16"/>
    <p:sldId id="553" r:id="rId17"/>
    <p:sldId id="554" r:id="rId18"/>
    <p:sldId id="555" r:id="rId19"/>
    <p:sldId id="556" r:id="rId20"/>
    <p:sldId id="558" r:id="rId21"/>
    <p:sldId id="557" r:id="rId22"/>
    <p:sldId id="560" r:id="rId23"/>
    <p:sldId id="561" r:id="rId24"/>
    <p:sldId id="559" r:id="rId25"/>
    <p:sldId id="562" r:id="rId26"/>
    <p:sldId id="563" r:id="rId27"/>
    <p:sldId id="564" r:id="rId28"/>
    <p:sldId id="565" r:id="rId29"/>
    <p:sldId id="630" r:id="rId30"/>
    <p:sldId id="596" r:id="rId31"/>
    <p:sldId id="566" r:id="rId32"/>
    <p:sldId id="567" r:id="rId33"/>
    <p:sldId id="625" r:id="rId34"/>
    <p:sldId id="568" r:id="rId35"/>
    <p:sldId id="572" r:id="rId36"/>
    <p:sldId id="573" r:id="rId37"/>
    <p:sldId id="569" r:id="rId38"/>
    <p:sldId id="570" r:id="rId39"/>
    <p:sldId id="571" r:id="rId40"/>
    <p:sldId id="574" r:id="rId41"/>
    <p:sldId id="576" r:id="rId42"/>
    <p:sldId id="575" r:id="rId43"/>
    <p:sldId id="578" r:id="rId44"/>
    <p:sldId id="1973" r:id="rId45"/>
    <p:sldId id="579" r:id="rId46"/>
    <p:sldId id="580" r:id="rId47"/>
    <p:sldId id="581" r:id="rId48"/>
    <p:sldId id="582" r:id="rId49"/>
    <p:sldId id="590" r:id="rId50"/>
    <p:sldId id="465" r:id="rId51"/>
    <p:sldId id="583" r:id="rId52"/>
    <p:sldId id="584" r:id="rId53"/>
    <p:sldId id="585" r:id="rId54"/>
    <p:sldId id="586" r:id="rId55"/>
    <p:sldId id="1969" r:id="rId56"/>
    <p:sldId id="466" r:id="rId57"/>
    <p:sldId id="2687" r:id="rId58"/>
    <p:sldId id="468" r:id="rId59"/>
    <p:sldId id="650" r:id="rId60"/>
    <p:sldId id="1965" r:id="rId61"/>
    <p:sldId id="525" r:id="rId62"/>
    <p:sldId id="536" r:id="rId63"/>
    <p:sldId id="537" r:id="rId64"/>
    <p:sldId id="538" r:id="rId65"/>
    <p:sldId id="470" r:id="rId66"/>
    <p:sldId id="498" r:id="rId67"/>
    <p:sldId id="539" r:id="rId68"/>
    <p:sldId id="540" r:id="rId69"/>
    <p:sldId id="472" r:id="rId70"/>
    <p:sldId id="473" r:id="rId71"/>
    <p:sldId id="541" r:id="rId72"/>
    <p:sldId id="542" r:id="rId73"/>
    <p:sldId id="477" r:id="rId74"/>
    <p:sldId id="599" r:id="rId75"/>
    <p:sldId id="281" r:id="rId76"/>
    <p:sldId id="1974" r:id="rId7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2355"/>
    <a:srgbClr val="CC0099"/>
    <a:srgbClr val="FF0000"/>
    <a:srgbClr val="003366"/>
    <a:srgbClr val="CCECFF"/>
    <a:srgbClr val="FFFFCC"/>
    <a:srgbClr val="F5ED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01" autoAdjust="0"/>
    <p:restoredTop sz="83986" autoAdjust="0"/>
  </p:normalViewPr>
  <p:slideViewPr>
    <p:cSldViewPr>
      <p:cViewPr varScale="1">
        <p:scale>
          <a:sx n="70" d="100"/>
          <a:sy n="70" d="100"/>
        </p:scale>
        <p:origin x="459" y="66"/>
      </p:cViewPr>
      <p:guideLst>
        <p:guide orient="horz" pos="2160"/>
        <p:guide pos="3840"/>
      </p:guideLst>
    </p:cSldViewPr>
  </p:slideViewPr>
  <p:outlineViewPr>
    <p:cViewPr>
      <p:scale>
        <a:sx n="33" d="100"/>
        <a:sy n="33" d="100"/>
      </p:scale>
      <p:origin x="0" y="23184"/>
    </p:cViewPr>
  </p:outlineViewPr>
  <p:notesTextViewPr>
    <p:cViewPr>
      <p:scale>
        <a:sx n="100" d="100"/>
        <a:sy n="100" d="100"/>
      </p:scale>
      <p:origin x="0" y="0"/>
    </p:cViewPr>
  </p:notesTextViewPr>
  <p:notesViewPr>
    <p:cSldViewPr>
      <p:cViewPr varScale="1">
        <p:scale>
          <a:sx n="94" d="100"/>
          <a:sy n="94" d="100"/>
        </p:scale>
        <p:origin x="1003" y="8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zh-CN" altLang="en-US"/>
          </a:p>
        </p:txBody>
      </p:sp>
      <p:sp>
        <p:nvSpPr>
          <p:cNvPr id="4403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200">
                <a:latin typeface="Times New Roman" pitchFamily="18" charset="0"/>
              </a:defRPr>
            </a:lvl1pPr>
          </a:lstStyle>
          <a:p>
            <a:pPr>
              <a:defRPr/>
            </a:pPr>
            <a:fld id="{5B18CB66-2F65-4973-9002-BF88F70AB341}" type="datetimeFigureOut">
              <a:rPr lang="zh-CN" altLang="en-US"/>
              <a:pPr>
                <a:defRPr/>
              </a:pPr>
              <a:t>2025/9/30</a:t>
            </a:fld>
            <a:endParaRPr lang="en-US" altLang="zh-CN"/>
          </a:p>
        </p:txBody>
      </p:sp>
      <p:sp>
        <p:nvSpPr>
          <p:cNvPr id="4403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SzTx/>
              <a:buFontTx/>
              <a:buNone/>
              <a:defRPr sz="1200">
                <a:latin typeface="Times New Roman" pitchFamily="18" charset="0"/>
              </a:defRPr>
            </a:lvl1pPr>
          </a:lstStyle>
          <a:p>
            <a:pPr>
              <a:defRPr/>
            </a:pPr>
            <a:endParaRPr lang="en-US" altLang="zh-CN"/>
          </a:p>
        </p:txBody>
      </p:sp>
      <p:sp>
        <p:nvSpPr>
          <p:cNvPr id="4403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SzTx/>
              <a:buFontTx/>
              <a:buNone/>
              <a:defRPr sz="1200">
                <a:latin typeface="Times New Roman" panose="02020603050405020304" pitchFamily="18" charset="0"/>
              </a:defRPr>
            </a:lvl1pPr>
          </a:lstStyle>
          <a:p>
            <a:pPr>
              <a:defRPr/>
            </a:pPr>
            <a:fld id="{00F97A47-B2A6-4190-9D19-0F14C7E059AF}"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zh-CN" altLang="en-US"/>
          </a:p>
        </p:txBody>
      </p:sp>
      <p:sp>
        <p:nvSpPr>
          <p:cNvPr id="40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0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SzTx/>
              <a:buFontTx/>
              <a:buNone/>
              <a:defRPr sz="1200">
                <a:latin typeface="Arial" charset="0"/>
                <a:ea typeface="+mn-ea"/>
              </a:defRPr>
            </a:lvl1pPr>
          </a:lstStyle>
          <a:p>
            <a:pPr>
              <a:defRPr/>
            </a:pPr>
            <a:endParaRPr lang="en-US" altLang="zh-CN"/>
          </a:p>
        </p:txBody>
      </p:sp>
      <p:sp>
        <p:nvSpPr>
          <p:cNvPr id="40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SzTx/>
              <a:buFontTx/>
              <a:buNone/>
              <a:defRPr sz="1200">
                <a:latin typeface="Arial" panose="020B0604020202020204" pitchFamily="34" charset="0"/>
              </a:defRPr>
            </a:lvl1pPr>
          </a:lstStyle>
          <a:p>
            <a:pPr>
              <a:defRPr/>
            </a:pPr>
            <a:fld id="{550EFE24-54F8-4216-9AD5-1A75C4943EC4}"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50EFE24-54F8-4216-9AD5-1A75C4943EC4}" type="slidenum">
              <a:rPr lang="zh-CN" altLang="en-US" smtClean="0"/>
              <a:pPr>
                <a:defRPr/>
              </a:pPr>
              <a:t>5</a:t>
            </a:fld>
            <a:endParaRPr lang="en-US" altLang="zh-CN"/>
          </a:p>
        </p:txBody>
      </p:sp>
    </p:spTree>
    <p:extLst>
      <p:ext uri="{BB962C8B-B14F-4D97-AF65-F5344CB8AC3E}">
        <p14:creationId xmlns:p14="http://schemas.microsoft.com/office/powerpoint/2010/main" val="1046258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pPr/>
              <a:t>15</a:t>
            </a:fld>
            <a:endParaRPr lang="zh-CN" altLang="en-US"/>
          </a:p>
        </p:txBody>
      </p:sp>
    </p:spTree>
    <p:extLst>
      <p:ext uri="{BB962C8B-B14F-4D97-AF65-F5344CB8AC3E}">
        <p14:creationId xmlns:p14="http://schemas.microsoft.com/office/powerpoint/2010/main" val="2087218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pPr/>
              <a:t>17</a:t>
            </a:fld>
            <a:endParaRPr lang="zh-CN" altLang="en-US"/>
          </a:p>
        </p:txBody>
      </p:sp>
    </p:spTree>
    <p:extLst>
      <p:ext uri="{BB962C8B-B14F-4D97-AF65-F5344CB8AC3E}">
        <p14:creationId xmlns:p14="http://schemas.microsoft.com/office/powerpoint/2010/main" val="2166212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50EFE24-54F8-4216-9AD5-1A75C4943EC4}" type="slidenum">
              <a:rPr lang="zh-CN" altLang="en-US" smtClean="0"/>
              <a:pPr>
                <a:defRPr/>
              </a:pPr>
              <a:t>21</a:t>
            </a:fld>
            <a:endParaRPr lang="en-US" altLang="zh-CN"/>
          </a:p>
        </p:txBody>
      </p:sp>
    </p:spTree>
    <p:extLst>
      <p:ext uri="{BB962C8B-B14F-4D97-AF65-F5344CB8AC3E}">
        <p14:creationId xmlns:p14="http://schemas.microsoft.com/office/powerpoint/2010/main" val="2420243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pPr/>
              <a:t>23</a:t>
            </a:fld>
            <a:endParaRPr lang="zh-CN" altLang="en-US"/>
          </a:p>
        </p:txBody>
      </p:sp>
    </p:spTree>
    <p:extLst>
      <p:ext uri="{BB962C8B-B14F-4D97-AF65-F5344CB8AC3E}">
        <p14:creationId xmlns:p14="http://schemas.microsoft.com/office/powerpoint/2010/main" val="1315748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pPr/>
              <a:t>25</a:t>
            </a:fld>
            <a:endParaRPr lang="zh-CN" altLang="en-US"/>
          </a:p>
        </p:txBody>
      </p:sp>
    </p:spTree>
    <p:extLst>
      <p:ext uri="{BB962C8B-B14F-4D97-AF65-F5344CB8AC3E}">
        <p14:creationId xmlns:p14="http://schemas.microsoft.com/office/powerpoint/2010/main" val="1840188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pPr/>
              <a:t>29</a:t>
            </a:fld>
            <a:endParaRPr lang="zh-CN" altLang="en-US"/>
          </a:p>
        </p:txBody>
      </p:sp>
    </p:spTree>
    <p:extLst>
      <p:ext uri="{BB962C8B-B14F-4D97-AF65-F5344CB8AC3E}">
        <p14:creationId xmlns:p14="http://schemas.microsoft.com/office/powerpoint/2010/main" val="2720776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50EFE24-54F8-4216-9AD5-1A75C4943EC4}" type="slidenum">
              <a:rPr lang="zh-CN" altLang="en-US" smtClean="0"/>
              <a:pPr>
                <a:defRPr/>
              </a:pPr>
              <a:t>30</a:t>
            </a:fld>
            <a:endParaRPr lang="en-US" altLang="zh-CN"/>
          </a:p>
        </p:txBody>
      </p:sp>
    </p:spTree>
    <p:extLst>
      <p:ext uri="{BB962C8B-B14F-4D97-AF65-F5344CB8AC3E}">
        <p14:creationId xmlns:p14="http://schemas.microsoft.com/office/powerpoint/2010/main" val="2608549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pPr/>
              <a:t>34</a:t>
            </a:fld>
            <a:endParaRPr lang="zh-CN" altLang="en-US"/>
          </a:p>
        </p:txBody>
      </p:sp>
    </p:spTree>
    <p:extLst>
      <p:ext uri="{BB962C8B-B14F-4D97-AF65-F5344CB8AC3E}">
        <p14:creationId xmlns:p14="http://schemas.microsoft.com/office/powerpoint/2010/main" val="1255654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9079FEAC-2858-416F-A4F6-E1735B752296}" type="slidenum">
              <a:rPr lang="zh-CN" altLang="en-US" smtClean="0"/>
              <a:pPr/>
              <a:t>36</a:t>
            </a:fld>
            <a:endParaRPr lang="zh-CN" altLang="en-US"/>
          </a:p>
        </p:txBody>
      </p:sp>
    </p:spTree>
    <p:extLst>
      <p:ext uri="{BB962C8B-B14F-4D97-AF65-F5344CB8AC3E}">
        <p14:creationId xmlns:p14="http://schemas.microsoft.com/office/powerpoint/2010/main" val="181688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9079FEAC-2858-416F-A4F6-E1735B752296}" type="slidenum">
              <a:rPr lang="zh-CN" altLang="en-US" smtClean="0"/>
              <a:pPr/>
              <a:t>40</a:t>
            </a:fld>
            <a:endParaRPr lang="zh-CN" altLang="en-US"/>
          </a:p>
        </p:txBody>
      </p:sp>
    </p:spTree>
    <p:extLst>
      <p:ext uri="{BB962C8B-B14F-4D97-AF65-F5344CB8AC3E}">
        <p14:creationId xmlns:p14="http://schemas.microsoft.com/office/powerpoint/2010/main" val="3701533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50EFE24-54F8-4216-9AD5-1A75C4943EC4}" type="slidenum">
              <a:rPr lang="zh-CN" altLang="en-US" smtClean="0"/>
              <a:pPr>
                <a:defRPr/>
              </a:pPr>
              <a:t>51</a:t>
            </a:fld>
            <a:endParaRPr lang="en-US" altLang="zh-CN"/>
          </a:p>
        </p:txBody>
      </p:sp>
    </p:spTree>
    <p:extLst>
      <p:ext uri="{BB962C8B-B14F-4D97-AF65-F5344CB8AC3E}">
        <p14:creationId xmlns:p14="http://schemas.microsoft.com/office/powerpoint/2010/main" val="227894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50EFE24-54F8-4216-9AD5-1A75C4943EC4}" type="slidenum">
              <a:rPr lang="zh-CN" altLang="en-US" smtClean="0"/>
              <a:pPr>
                <a:defRPr/>
              </a:pPr>
              <a:t>52</a:t>
            </a:fld>
            <a:endParaRPr lang="en-US" altLang="zh-CN"/>
          </a:p>
        </p:txBody>
      </p:sp>
    </p:spTree>
    <p:extLst>
      <p:ext uri="{BB962C8B-B14F-4D97-AF65-F5344CB8AC3E}">
        <p14:creationId xmlns:p14="http://schemas.microsoft.com/office/powerpoint/2010/main" val="2716019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C6DA-7821-A45C-DCC6-973F5C9D3B83}"/>
            </a:ext>
          </a:extLst>
        </p:cNvPr>
        <p:cNvGrpSpPr/>
        <p:nvPr/>
      </p:nvGrpSpPr>
      <p:grpSpPr>
        <a:xfrm>
          <a:off x="0" y="0"/>
          <a:ext cx="0" cy="0"/>
          <a:chOff x="0" y="0"/>
          <a:chExt cx="0" cy="0"/>
        </a:xfrm>
      </p:grpSpPr>
      <p:sp>
        <p:nvSpPr>
          <p:cNvPr id="111618" name="Rectangle 2">
            <a:extLst>
              <a:ext uri="{FF2B5EF4-FFF2-40B4-BE49-F238E27FC236}">
                <a16:creationId xmlns:a16="http://schemas.microsoft.com/office/drawing/2014/main" id="{2823B250-F96C-543B-B113-BE5FDD75DD34}"/>
              </a:ext>
            </a:extLst>
          </p:cNvPr>
          <p:cNvSpPr>
            <a:spLocks noGrp="1" noRot="1" noChangeAspect="1" noChangeArrowheads="1" noTextEdit="1"/>
          </p:cNvSpPr>
          <p:nvPr>
            <p:ph type="sldImg"/>
          </p:nvPr>
        </p:nvSpPr>
        <p:spPr>
          <a:xfrm>
            <a:off x="381000" y="685800"/>
            <a:ext cx="6096000" cy="3429000"/>
          </a:xfrm>
          <a:ln/>
        </p:spPr>
      </p:sp>
      <p:sp>
        <p:nvSpPr>
          <p:cNvPr id="111619" name="Rectangle 3">
            <a:extLst>
              <a:ext uri="{FF2B5EF4-FFF2-40B4-BE49-F238E27FC236}">
                <a16:creationId xmlns:a16="http://schemas.microsoft.com/office/drawing/2014/main" id="{34371B19-C3B4-7DB7-1DE4-BA712C1BCA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2688373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381000" y="685800"/>
            <a:ext cx="6096000" cy="3429000"/>
          </a:xfrm>
          <a:ln/>
        </p:spPr>
      </p:sp>
      <p:sp>
        <p:nvSpPr>
          <p:cNvPr id="1116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485128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基于时钟算法做硬件层面的信息采集</a:t>
            </a:r>
            <a:endParaRPr lang="en-US" altLang="zh-CN" dirty="0"/>
          </a:p>
          <a:p>
            <a:r>
              <a:rPr lang="zh-CN" altLang="en-US" dirty="0"/>
              <a:t>红色的页表上进行时钟扫描，也就是虚拟地址空间扫描，用来找到哪些页被访问了</a:t>
            </a:r>
            <a:endParaRPr lang="en-US" altLang="zh-CN" dirty="0"/>
          </a:p>
          <a:p>
            <a:endParaRPr lang="en-US" altLang="zh-CN" dirty="0"/>
          </a:p>
          <a:p>
            <a:r>
              <a:rPr lang="en-US" altLang="zh-CN" dirty="0"/>
              <a:t>%</a:t>
            </a:r>
            <a:r>
              <a:rPr lang="zh-CN" altLang="en-US" dirty="0"/>
              <a:t>黑色的在</a:t>
            </a:r>
            <a:r>
              <a:rPr lang="en-US" altLang="zh-CN" dirty="0"/>
              <a:t>page-list</a:t>
            </a:r>
            <a:r>
              <a:rPr lang="zh-CN" altLang="en-US" dirty="0"/>
              <a:t>上传，找哪些页可以被踢出了。需要有一个</a:t>
            </a:r>
            <a:r>
              <a:rPr lang="en-US" altLang="zh-CN" dirty="0" err="1"/>
              <a:t>Rmap</a:t>
            </a:r>
            <a:r>
              <a:rPr lang="zh-CN" altLang="en-US" dirty="0"/>
              <a:t>，记录</a:t>
            </a:r>
            <a:r>
              <a:rPr lang="en-US" altLang="zh-CN" dirty="0"/>
              <a:t>page-list</a:t>
            </a:r>
            <a:r>
              <a:rPr lang="zh-CN" altLang="en-US" dirty="0"/>
              <a:t>中的单元在</a:t>
            </a:r>
            <a:r>
              <a:rPr lang="en-US" altLang="zh-CN" dirty="0"/>
              <a:t>page table</a:t>
            </a:r>
            <a:r>
              <a:rPr lang="zh-CN" altLang="en-US" dirty="0"/>
              <a:t>中的位置，这样才能找到</a:t>
            </a:r>
            <a:r>
              <a:rPr lang="en-US" altLang="zh-CN" dirty="0"/>
              <a:t>access bit</a:t>
            </a:r>
          </a:p>
          <a:p>
            <a:endParaRPr lang="en-US" altLang="zh-CN" dirty="0"/>
          </a:p>
          <a:p>
            <a:r>
              <a:rPr lang="zh-CN" altLang="en-US" dirty="0"/>
              <a:t>逆时针转动，刚刚划过</a:t>
            </a:r>
            <a:r>
              <a:rPr lang="en-US" altLang="zh-CN" dirty="0"/>
              <a:t>T2</a:t>
            </a:r>
            <a:r>
              <a:rPr lang="zh-CN" altLang="en-US" dirty="0"/>
              <a:t>，所以</a:t>
            </a:r>
            <a:r>
              <a:rPr lang="en-US" altLang="zh-CN" dirty="0"/>
              <a:t>T2 </a:t>
            </a:r>
            <a:r>
              <a:rPr lang="zh-CN" altLang="en-US" dirty="0"/>
              <a:t>最年轻，</a:t>
            </a:r>
            <a:r>
              <a:rPr lang="en-US" altLang="zh-CN" dirty="0"/>
              <a:t>T1</a:t>
            </a:r>
            <a:r>
              <a:rPr lang="zh-CN" altLang="en-US" dirty="0"/>
              <a:t>次之，现在</a:t>
            </a:r>
            <a:r>
              <a:rPr lang="en-US" altLang="zh-CN" dirty="0"/>
              <a:t>T0</a:t>
            </a:r>
            <a:r>
              <a:rPr lang="zh-CN" altLang="en-US" dirty="0"/>
              <a:t>是最老的，但是马上要被访问了</a:t>
            </a:r>
            <a:endParaRPr lang="en-US" altLang="zh-CN" dirty="0"/>
          </a:p>
          <a:p>
            <a:r>
              <a:rPr lang="en-US" altLang="zh-CN" dirty="0"/>
              <a:t>Aging</a:t>
            </a:r>
            <a:r>
              <a:rPr lang="zh-CN" altLang="en-US" dirty="0"/>
              <a:t>负责扫描在过去的时间里面有没有访问发生，如果有，就提升到最年轻的，如果没有，就把年龄加</a:t>
            </a:r>
            <a:r>
              <a:rPr lang="en-US" altLang="zh-CN" dirty="0"/>
              <a:t>1</a:t>
            </a:r>
          </a:p>
          <a:p>
            <a:r>
              <a:rPr lang="en-US" altLang="zh-CN" dirty="0"/>
              <a:t>Eviction</a:t>
            </a:r>
            <a:r>
              <a:rPr lang="zh-CN" altLang="en-US" dirty="0"/>
              <a:t>负责扫描并整理这些链表，把年龄相同的汇在一起，然后把最冷的那一波页面写回到磁盘里</a:t>
            </a:r>
            <a:endParaRPr lang="en-US" altLang="zh-CN" dirty="0"/>
          </a:p>
          <a:p>
            <a:endParaRPr lang="en-US" altLang="zh-CN" dirty="0"/>
          </a:p>
          <a:p>
            <a:r>
              <a:rPr lang="zh-CN" altLang="en-US" dirty="0"/>
              <a:t>这里的贡献体现在两个方面，一个是增加了更多的代系，把页面做了不同的分类，另一个是解耦合，让写回和老化分处不同的线程中</a:t>
            </a:r>
          </a:p>
        </p:txBody>
      </p:sp>
      <p:sp>
        <p:nvSpPr>
          <p:cNvPr id="4" name="灯片编号占位符 3"/>
          <p:cNvSpPr>
            <a:spLocks noGrp="1"/>
          </p:cNvSpPr>
          <p:nvPr>
            <p:ph type="sldNum" sz="quarter" idx="5"/>
          </p:nvPr>
        </p:nvSpPr>
        <p:spPr/>
        <p:txBody>
          <a:bodyPr/>
          <a:lstStyle/>
          <a:p>
            <a:pPr>
              <a:defRPr/>
            </a:pPr>
            <a:fld id="{550EFE24-54F8-4216-9AD5-1A75C4943EC4}" type="slidenum">
              <a:rPr lang="zh-CN" altLang="en-US" smtClean="0"/>
              <a:pPr>
                <a:defRPr/>
              </a:pPr>
              <a:t>57</a:t>
            </a:fld>
            <a:endParaRPr lang="en-US" altLang="zh-CN"/>
          </a:p>
        </p:txBody>
      </p:sp>
    </p:spTree>
    <p:extLst>
      <p:ext uri="{BB962C8B-B14F-4D97-AF65-F5344CB8AC3E}">
        <p14:creationId xmlns:p14="http://schemas.microsoft.com/office/powerpoint/2010/main" val="3449671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50EFE24-54F8-4216-9AD5-1A75C4943EC4}" type="slidenum">
              <a:rPr lang="zh-CN" altLang="en-US" smtClean="0"/>
              <a:pPr>
                <a:defRPr/>
              </a:pPr>
              <a:t>61</a:t>
            </a:fld>
            <a:endParaRPr lang="en-US" altLang="zh-CN"/>
          </a:p>
        </p:txBody>
      </p:sp>
    </p:spTree>
    <p:extLst>
      <p:ext uri="{BB962C8B-B14F-4D97-AF65-F5344CB8AC3E}">
        <p14:creationId xmlns:p14="http://schemas.microsoft.com/office/powerpoint/2010/main" val="1869986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xfrm>
            <a:off x="381000" y="685800"/>
            <a:ext cx="6096000" cy="3429000"/>
          </a:xfrm>
          <a:ln/>
        </p:spPr>
      </p:sp>
      <p:sp>
        <p:nvSpPr>
          <p:cNvPr id="1208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r>
              <a:rPr lang="zh-CN" altLang="en-US" dirty="0"/>
              <a:t>软件不够，硬件来凑</a:t>
            </a:r>
          </a:p>
        </p:txBody>
      </p:sp>
      <p:sp>
        <p:nvSpPr>
          <p:cNvPr id="4" name="灯片编号占位符 3"/>
          <p:cNvSpPr>
            <a:spLocks noGrp="1"/>
          </p:cNvSpPr>
          <p:nvPr>
            <p:ph type="sldNum" sz="quarter" idx="10"/>
          </p:nvPr>
        </p:nvSpPr>
        <p:spPr/>
        <p:txBody>
          <a:bodyPr/>
          <a:lstStyle/>
          <a:p>
            <a:pPr>
              <a:defRPr/>
            </a:pPr>
            <a:fld id="{AA0CA78E-3178-45F2-B646-C921AF438848}" type="slidenum">
              <a:rPr lang="zh-CN" altLang="en-US" smtClean="0"/>
              <a:pPr>
                <a:defRPr/>
              </a:pPr>
              <a:t>68</a:t>
            </a:fld>
            <a:endParaRPr lang="zh-CN" altLang="en-US"/>
          </a:p>
        </p:txBody>
      </p:sp>
    </p:spTree>
    <p:extLst>
      <p:ext uri="{BB962C8B-B14F-4D97-AF65-F5344CB8AC3E}">
        <p14:creationId xmlns:p14="http://schemas.microsoft.com/office/powerpoint/2010/main" val="25125671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EEC4110-0674-257C-1C16-B9DF709C7896}"/>
              </a:ext>
            </a:extLst>
          </p:cNvPr>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1" name="矩形 10">
            <a:extLst>
              <a:ext uri="{FF2B5EF4-FFF2-40B4-BE49-F238E27FC236}">
                <a16:creationId xmlns:a16="http://schemas.microsoft.com/office/drawing/2014/main" id="{7EFE5488-1327-9634-2B4F-D2EC75B0B6F7}"/>
              </a:ext>
            </a:extLst>
          </p:cNvPr>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4" name="图片 3">
            <a:extLst>
              <a:ext uri="{FF2B5EF4-FFF2-40B4-BE49-F238E27FC236}">
                <a16:creationId xmlns:a16="http://schemas.microsoft.com/office/drawing/2014/main" id="{47D98C6E-E76B-4DA4-9A67-49868FFCDD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416" y="-635"/>
            <a:ext cx="3024336" cy="667133"/>
          </a:xfrm>
          <a:prstGeom prst="rect">
            <a:avLst/>
          </a:prstGeom>
        </p:spPr>
      </p:pic>
    </p:spTree>
    <p:extLst>
      <p:ext uri="{BB962C8B-B14F-4D97-AF65-F5344CB8AC3E}">
        <p14:creationId xmlns:p14="http://schemas.microsoft.com/office/powerpoint/2010/main" val="3274053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E39AD132-9025-B649-2FF7-C791B47D0929}"/>
              </a:ext>
            </a:extLst>
          </p:cNvPr>
          <p:cNvSpPr>
            <a:spLocks noGrp="1"/>
          </p:cNvSpPr>
          <p:nvPr>
            <p:ph type="title"/>
          </p:nvPr>
        </p:nvSpPr>
        <p:spPr>
          <a:xfrm>
            <a:off x="731520" y="795655"/>
            <a:ext cx="10544054" cy="688976"/>
          </a:xfrm>
          <a:prstGeom prst="rect">
            <a:avLst/>
          </a:prstGeom>
        </p:spPr>
        <p:txBody>
          <a:bodyPr anchor="ctr"/>
          <a:lstStyle>
            <a:lvl1pPr algn="l">
              <a:defRPr sz="3600" b="0"/>
            </a:lvl1pPr>
          </a:lstStyle>
          <a:p>
            <a:r>
              <a:rPr lang="zh-CN" altLang="en-US" dirty="0"/>
              <a:t>单击此处编辑母版标题样式</a:t>
            </a:r>
          </a:p>
        </p:txBody>
      </p:sp>
      <p:sp>
        <p:nvSpPr>
          <p:cNvPr id="7" name="矩形 6">
            <a:extLst>
              <a:ext uri="{FF2B5EF4-FFF2-40B4-BE49-F238E27FC236}">
                <a16:creationId xmlns:a16="http://schemas.microsoft.com/office/drawing/2014/main" id="{448FA0D2-0551-6F69-A21B-0E0742C82111}"/>
              </a:ext>
            </a:extLst>
          </p:cNvPr>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8" name="矩形 7">
            <a:extLst>
              <a:ext uri="{FF2B5EF4-FFF2-40B4-BE49-F238E27FC236}">
                <a16:creationId xmlns:a16="http://schemas.microsoft.com/office/drawing/2014/main" id="{9B2DB9FD-33AE-137C-506F-DF8415209A89}"/>
              </a:ext>
            </a:extLst>
          </p:cNvPr>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grpSp>
        <p:nvGrpSpPr>
          <p:cNvPr id="11" name="组合 10">
            <a:extLst>
              <a:ext uri="{FF2B5EF4-FFF2-40B4-BE49-F238E27FC236}">
                <a16:creationId xmlns:a16="http://schemas.microsoft.com/office/drawing/2014/main" id="{AFA3FBFE-CDD0-DEDD-A515-0F780B1E4329}"/>
              </a:ext>
            </a:extLst>
          </p:cNvPr>
          <p:cNvGrpSpPr/>
          <p:nvPr userDrawn="1"/>
        </p:nvGrpSpPr>
        <p:grpSpPr>
          <a:xfrm>
            <a:off x="0" y="980758"/>
            <a:ext cx="633730" cy="406400"/>
            <a:chOff x="56" y="2009"/>
            <a:chExt cx="998" cy="640"/>
          </a:xfrm>
        </p:grpSpPr>
        <p:sp>
          <p:nvSpPr>
            <p:cNvPr id="12" name="任意多边形: 形状 7">
              <a:extLst>
                <a:ext uri="{FF2B5EF4-FFF2-40B4-BE49-F238E27FC236}">
                  <a16:creationId xmlns:a16="http://schemas.microsoft.com/office/drawing/2014/main" id="{4A4D3142-22D6-E8B7-F2FA-F359659A88B3}"/>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3" name="椭圆 12">
              <a:extLst>
                <a:ext uri="{FF2B5EF4-FFF2-40B4-BE49-F238E27FC236}">
                  <a16:creationId xmlns:a16="http://schemas.microsoft.com/office/drawing/2014/main" id="{3A38D73E-7364-BC91-D18F-FC11D9C7013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3" name="图片 2">
            <a:extLst>
              <a:ext uri="{FF2B5EF4-FFF2-40B4-BE49-F238E27FC236}">
                <a16:creationId xmlns:a16="http://schemas.microsoft.com/office/drawing/2014/main" id="{F8271DD1-CC8C-4EE4-8400-05789B2703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8408" y="-13336"/>
            <a:ext cx="3238500" cy="714375"/>
          </a:xfrm>
          <a:prstGeom prst="rect">
            <a:avLst/>
          </a:prstGeom>
        </p:spPr>
      </p:pic>
    </p:spTree>
    <p:extLst>
      <p:ext uri="{BB962C8B-B14F-4D97-AF65-F5344CB8AC3E}">
        <p14:creationId xmlns:p14="http://schemas.microsoft.com/office/powerpoint/2010/main" val="86609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A5E57937-D044-40D3-B149-FE790039ADAC}" type="slidenum">
              <a:rPr lang="en-US" altLang="ko-KR"/>
              <a:pPr>
                <a:defRPr/>
              </a:pPr>
              <a:t>‹#›</a:t>
            </a:fld>
            <a:endParaRPr lang="en-US" altLang="ko-KR"/>
          </a:p>
        </p:txBody>
      </p:sp>
    </p:spTree>
    <p:extLst>
      <p:ext uri="{BB962C8B-B14F-4D97-AF65-F5344CB8AC3E}">
        <p14:creationId xmlns:p14="http://schemas.microsoft.com/office/powerpoint/2010/main" val="3171882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95400"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5F901C8D-F48E-4B3B-A82A-9DF190D291F1}" type="slidenum">
              <a:rPr lang="en-US" altLang="ko-KR"/>
              <a:pPr>
                <a:defRPr/>
              </a:pPr>
              <a:t>‹#›</a:t>
            </a:fld>
            <a:endParaRPr lang="en-US" altLang="ko-KR"/>
          </a:p>
        </p:txBody>
      </p:sp>
    </p:spTree>
    <p:extLst>
      <p:ext uri="{BB962C8B-B14F-4D97-AF65-F5344CB8AC3E}">
        <p14:creationId xmlns:p14="http://schemas.microsoft.com/office/powerpoint/2010/main" val="305939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8"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9"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4530555A-678E-4120-AD32-FAA365076FD1}" type="slidenum">
              <a:rPr lang="en-US" altLang="ko-KR"/>
              <a:pPr>
                <a:defRPr/>
              </a:pPr>
              <a:t>‹#›</a:t>
            </a:fld>
            <a:endParaRPr lang="en-US" altLang="ko-KR"/>
          </a:p>
        </p:txBody>
      </p:sp>
    </p:spTree>
    <p:extLst>
      <p:ext uri="{BB962C8B-B14F-4D97-AF65-F5344CB8AC3E}">
        <p14:creationId xmlns:p14="http://schemas.microsoft.com/office/powerpoint/2010/main" val="208879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4"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5"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387C86CC-E29A-4B7F-9161-8455BE71F507}" type="slidenum">
              <a:rPr lang="en-US" altLang="ko-KR"/>
              <a:pPr>
                <a:defRPr/>
              </a:pPr>
              <a:t>‹#›</a:t>
            </a:fld>
            <a:endParaRPr lang="en-US" altLang="ko-KR"/>
          </a:p>
        </p:txBody>
      </p:sp>
    </p:spTree>
    <p:extLst>
      <p:ext uri="{BB962C8B-B14F-4D97-AF65-F5344CB8AC3E}">
        <p14:creationId xmlns:p14="http://schemas.microsoft.com/office/powerpoint/2010/main" val="2822191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3"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4"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B8FA544E-9D50-4332-8923-0BA5321B5C8F}" type="slidenum">
              <a:rPr lang="en-US" altLang="ko-KR"/>
              <a:pPr>
                <a:defRPr/>
              </a:pPr>
              <a:t>‹#›</a:t>
            </a:fld>
            <a:endParaRPr lang="en-US" altLang="ko-KR"/>
          </a:p>
        </p:txBody>
      </p:sp>
    </p:spTree>
    <p:extLst>
      <p:ext uri="{BB962C8B-B14F-4D97-AF65-F5344CB8AC3E}">
        <p14:creationId xmlns:p14="http://schemas.microsoft.com/office/powerpoint/2010/main" val="3700231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78856BEB-C95B-4C0B-94DA-EDA643827E19}" type="slidenum">
              <a:rPr lang="en-US" altLang="ko-KR"/>
              <a:pPr>
                <a:defRPr/>
              </a:pPr>
              <a:t>‹#›</a:t>
            </a:fld>
            <a:endParaRPr lang="en-US" altLang="ko-KR"/>
          </a:p>
        </p:txBody>
      </p:sp>
    </p:spTree>
    <p:extLst>
      <p:ext uri="{BB962C8B-B14F-4D97-AF65-F5344CB8AC3E}">
        <p14:creationId xmlns:p14="http://schemas.microsoft.com/office/powerpoint/2010/main" val="1213834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6A2A88C7-09FF-4FD1-87DF-99F417C2D25B}" type="slidenum">
              <a:rPr lang="en-US" altLang="ko-KR"/>
              <a:pPr>
                <a:defRPr/>
              </a:pPr>
              <a:t>‹#›</a:t>
            </a:fld>
            <a:endParaRPr lang="en-US" altLang="ko-KR"/>
          </a:p>
        </p:txBody>
      </p:sp>
    </p:spTree>
    <p:extLst>
      <p:ext uri="{BB962C8B-B14F-4D97-AF65-F5344CB8AC3E}">
        <p14:creationId xmlns:p14="http://schemas.microsoft.com/office/powerpoint/2010/main" val="3216043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1295400" y="1371600"/>
            <a:ext cx="10752667" cy="50101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10DA0300-CF50-42F2-9EBF-81970CF2F995}" type="slidenum">
              <a:rPr lang="en-US" altLang="ko-KR"/>
              <a:pPr>
                <a:defRPr/>
              </a:pPr>
              <a:t>‹#›</a:t>
            </a:fld>
            <a:endParaRPr lang="en-US" altLang="ko-KR"/>
          </a:p>
        </p:txBody>
      </p:sp>
    </p:spTree>
    <p:extLst>
      <p:ext uri="{BB962C8B-B14F-4D97-AF65-F5344CB8AC3E}">
        <p14:creationId xmlns:p14="http://schemas.microsoft.com/office/powerpoint/2010/main" val="2502448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59901" y="304800"/>
            <a:ext cx="2688167" cy="6019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295401" y="304800"/>
            <a:ext cx="7861300" cy="6019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5"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6"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33FAE246-102D-4E7D-8EA8-59F249E1F408}" type="slidenum">
              <a:rPr lang="en-US" altLang="ko-KR"/>
              <a:pPr>
                <a:defRPr/>
              </a:pPr>
              <a:t>‹#›</a:t>
            </a:fld>
            <a:endParaRPr lang="en-US" altLang="ko-KR"/>
          </a:p>
        </p:txBody>
      </p:sp>
    </p:spTree>
    <p:extLst>
      <p:ext uri="{BB962C8B-B14F-4D97-AF65-F5344CB8AC3E}">
        <p14:creationId xmlns:p14="http://schemas.microsoft.com/office/powerpoint/2010/main" val="1722625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95401" y="304801"/>
            <a:ext cx="10369551" cy="892175"/>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295400"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773334" y="1371600"/>
            <a:ext cx="5274733" cy="49530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3"/>
          <p:cNvSpPr>
            <a:spLocks noGrp="1" noChangeArrowheads="1"/>
          </p:cNvSpPr>
          <p:nvPr>
            <p:ph type="dt" sz="half" idx="10"/>
          </p:nvPr>
        </p:nvSpPr>
        <p:spPr>
          <a:xfrm>
            <a:off x="1303867" y="6508750"/>
            <a:ext cx="3352800" cy="304800"/>
          </a:xfrm>
          <a:prstGeom prst="rect">
            <a:avLst/>
          </a:prstGeom>
          <a:ln/>
        </p:spPr>
        <p:txBody>
          <a:bodyPr/>
          <a:lstStyle>
            <a:lvl1pPr>
              <a:defRPr/>
            </a:lvl1pPr>
          </a:lstStyle>
          <a:p>
            <a:pPr>
              <a:defRPr/>
            </a:pPr>
            <a:r>
              <a:rPr lang="en-US" altLang="zh-CN"/>
              <a:t>Operating System</a:t>
            </a:r>
            <a:endParaRPr lang="en-US" altLang="ko-KR"/>
          </a:p>
        </p:txBody>
      </p:sp>
      <p:sp>
        <p:nvSpPr>
          <p:cNvPr id="6" name="Rectangle 24"/>
          <p:cNvSpPr>
            <a:spLocks noGrp="1" noChangeArrowheads="1"/>
          </p:cNvSpPr>
          <p:nvPr>
            <p:ph type="ftr" sz="quarter" idx="11"/>
          </p:nvPr>
        </p:nvSpPr>
        <p:spPr>
          <a:xfrm>
            <a:off x="7924800" y="6508750"/>
            <a:ext cx="3860800" cy="304800"/>
          </a:xfrm>
          <a:prstGeom prst="rect">
            <a:avLst/>
          </a:prstGeom>
          <a:ln/>
        </p:spPr>
        <p:txBody>
          <a:bodyPr/>
          <a:lstStyle>
            <a:lvl1pPr>
              <a:defRPr/>
            </a:lvl1pPr>
          </a:lstStyle>
          <a:p>
            <a:pPr>
              <a:defRPr/>
            </a:pPr>
            <a:r>
              <a:rPr lang="en-US" altLang="zh-CN"/>
              <a:t>CITS, NanKai University</a:t>
            </a:r>
            <a:endParaRPr lang="en-US" altLang="ko-KR"/>
          </a:p>
        </p:txBody>
      </p:sp>
      <p:sp>
        <p:nvSpPr>
          <p:cNvPr id="7" name="Rectangle 25"/>
          <p:cNvSpPr>
            <a:spLocks noGrp="1" noChangeArrowheads="1"/>
          </p:cNvSpPr>
          <p:nvPr>
            <p:ph type="sldNum" sz="quarter" idx="12"/>
          </p:nvPr>
        </p:nvSpPr>
        <p:spPr>
          <a:xfrm>
            <a:off x="4883151" y="6508750"/>
            <a:ext cx="2844800" cy="304800"/>
          </a:xfrm>
          <a:prstGeom prst="rect">
            <a:avLst/>
          </a:prstGeom>
          <a:ln/>
        </p:spPr>
        <p:txBody>
          <a:bodyPr/>
          <a:lstStyle>
            <a:lvl1pPr>
              <a:defRPr/>
            </a:lvl1pPr>
          </a:lstStyle>
          <a:p>
            <a:pPr>
              <a:defRPr/>
            </a:pPr>
            <a:fld id="{817B9FA4-E30C-4290-9AC0-61F4C6186E7B}" type="slidenum">
              <a:rPr lang="en-US" altLang="ko-KR"/>
              <a:pPr>
                <a:defRPr/>
              </a:pPr>
              <a:t>‹#›</a:t>
            </a:fld>
            <a:endParaRPr lang="en-US" altLang="ko-KR"/>
          </a:p>
        </p:txBody>
      </p:sp>
    </p:spTree>
    <p:extLst>
      <p:ext uri="{BB962C8B-B14F-4D97-AF65-F5344CB8AC3E}">
        <p14:creationId xmlns:p14="http://schemas.microsoft.com/office/powerpoint/2010/main" val="871513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9448800" y="6525344"/>
            <a:ext cx="2743200" cy="332656"/>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9" name="标题占位符 1"/>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13" name="文本占位符 2"/>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grpSp>
        <p:nvGrpSpPr>
          <p:cNvPr id="14" name="组合 13"/>
          <p:cNvGrpSpPr/>
          <p:nvPr userDrawn="1"/>
        </p:nvGrpSpPr>
        <p:grpSpPr>
          <a:xfrm>
            <a:off x="0" y="980758"/>
            <a:ext cx="633730" cy="406400"/>
            <a:chOff x="56" y="2009"/>
            <a:chExt cx="998" cy="640"/>
          </a:xfrm>
        </p:grpSpPr>
        <p:sp>
          <p:nvSpPr>
            <p:cNvPr id="15" name="任意多边形: 形状 7"/>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6" name="椭圆 15"/>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2" name="文本框 1"/>
          <p:cNvSpPr txBox="1"/>
          <p:nvPr userDrawn="1"/>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Tree>
    <p:extLst>
      <p:ext uri="{BB962C8B-B14F-4D97-AF65-F5344CB8AC3E}">
        <p14:creationId xmlns:p14="http://schemas.microsoft.com/office/powerpoint/2010/main" val="13802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randombar(horizontal)">
                                      <p:cBhvr>
                                        <p:cTn id="12" dur="500"/>
                                        <p:tgtEl>
                                          <p:spTgt spid="13">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13">
                                            <p:txEl>
                                              <p:pRg st="2" end="2"/>
                                            </p:txEl>
                                          </p:spTgt>
                                        </p:tgtEl>
                                        <p:attrNameLst>
                                          <p:attrName>style.visibility</p:attrName>
                                        </p:attrNameLst>
                                      </p:cBhvr>
                                      <p:to>
                                        <p:strVal val="visible"/>
                                      </p:to>
                                    </p:set>
                                    <p:animEffect transition="in" filter="randombar(horizontal)">
                                      <p:cBhvr>
                                        <p:cTn id="16" dur="500"/>
                                        <p:tgtEl>
                                          <p:spTgt spid="13">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13">
                                            <p:txEl>
                                              <p:pRg st="3" end="3"/>
                                            </p:txEl>
                                          </p:spTgt>
                                        </p:tgtEl>
                                        <p:attrNameLst>
                                          <p:attrName>style.visibility</p:attrName>
                                        </p:attrNameLst>
                                      </p:cBhvr>
                                      <p:to>
                                        <p:strVal val="visible"/>
                                      </p:to>
                                    </p:set>
                                    <p:animEffect transition="in" filter="randombar(horizontal)">
                                      <p:cBhvr>
                                        <p:cTn id="20" dur="500"/>
                                        <p:tgtEl>
                                          <p:spTgt spid="13">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13">
                                            <p:txEl>
                                              <p:pRg st="4" end="4"/>
                                            </p:txEl>
                                          </p:spTgt>
                                        </p:tgtEl>
                                        <p:attrNameLst>
                                          <p:attrName>style.visibility</p:attrName>
                                        </p:attrNameLst>
                                      </p:cBhvr>
                                      <p:to>
                                        <p:strVal val="visible"/>
                                      </p:to>
                                    </p:set>
                                    <p:animEffect transition="in" filter="randombar(horizontal)">
                                      <p:cBhvr>
                                        <p:cTn id="24"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tmplLst>
          <p:tmpl lvl="1">
            <p:tnLst>
              <p:par>
                <p:cTn presetID="2" presetClass="entr" presetSubtype="4" fill="hold" nodeType="click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Lst>
      </p:bldP>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95399" y="1569767"/>
            <a:ext cx="108012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灯片编号占位符 5">
            <a:extLst>
              <a:ext uri="{FF2B5EF4-FFF2-40B4-BE49-F238E27FC236}">
                <a16:creationId xmlns:a16="http://schemas.microsoft.com/office/drawing/2014/main" id="{53340531-0A3B-1E26-C710-927E5751B1FF}"/>
              </a:ext>
            </a:extLst>
          </p:cNvPr>
          <p:cNvSpPr>
            <a:spLocks noGrp="1"/>
          </p:cNvSpPr>
          <p:nvPr>
            <p:ph type="sldNum" sz="quarter" idx="12"/>
          </p:nvPr>
        </p:nvSpPr>
        <p:spPr>
          <a:xfrm>
            <a:off x="9448800" y="6525344"/>
            <a:ext cx="2743200" cy="332656"/>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8" name="文本框 7">
            <a:extLst>
              <a:ext uri="{FF2B5EF4-FFF2-40B4-BE49-F238E27FC236}">
                <a16:creationId xmlns:a16="http://schemas.microsoft.com/office/drawing/2014/main" id="{40AAA8FD-D60E-16A4-CD42-CDCC8BC35BA8}"/>
              </a:ext>
            </a:extLst>
          </p:cNvPr>
          <p:cNvSpPr txBox="1"/>
          <p:nvPr userDrawn="1"/>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Tree>
    <p:extLst>
      <p:ext uri="{BB962C8B-B14F-4D97-AF65-F5344CB8AC3E}">
        <p14:creationId xmlns:p14="http://schemas.microsoft.com/office/powerpoint/2010/main" val="1648117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页脚占位符 4"/>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231084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页脚占位符 5"/>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7" name="灯片编号占位符 6"/>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20074587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8" name="页脚占位符 7"/>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9" name="灯片编号占位符 8"/>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40012828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4" name="页脚占位符 3"/>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灯片编号占位符 4"/>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3297117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3" name="页脚占位符 2"/>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4" name="灯片编号占位符 3"/>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5636035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页脚占位符 5"/>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7" name="灯片编号占位符 6"/>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2975702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页脚占位符 5"/>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7" name="灯片编号占位符 6"/>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9566439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95399" y="1569767"/>
            <a:ext cx="108012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页脚占位符 4"/>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28518882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页脚占位符 4"/>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417489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showMasterPhAnim="0" userDrawn="1">
  <p:cSld name="1_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1" name="矩形 10"/>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77980F02-FAF1-419F-BB3A-8909B08BAA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8408" y="-13336"/>
            <a:ext cx="3238500" cy="714375"/>
          </a:xfrm>
          <a:prstGeom prst="rect">
            <a:avLst/>
          </a:prstGeom>
        </p:spPr>
      </p:pic>
    </p:spTree>
    <p:extLst>
      <p:ext uri="{BB962C8B-B14F-4D97-AF65-F5344CB8AC3E}">
        <p14:creationId xmlns:p14="http://schemas.microsoft.com/office/powerpoint/2010/main" val="25127913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E39AD132-9025-B649-2FF7-C791B47D0929}"/>
              </a:ext>
            </a:extLst>
          </p:cNvPr>
          <p:cNvSpPr>
            <a:spLocks noGrp="1"/>
          </p:cNvSpPr>
          <p:nvPr>
            <p:ph type="title"/>
          </p:nvPr>
        </p:nvSpPr>
        <p:spPr>
          <a:xfrm>
            <a:off x="731520" y="795655"/>
            <a:ext cx="10544054" cy="688976"/>
          </a:xfrm>
          <a:prstGeom prst="rect">
            <a:avLst/>
          </a:prstGeom>
        </p:spPr>
        <p:txBody>
          <a:bodyPr anchor="ctr"/>
          <a:lstStyle>
            <a:lvl1pPr algn="l">
              <a:defRPr sz="3600" b="0"/>
            </a:lvl1pPr>
          </a:lstStyle>
          <a:p>
            <a:r>
              <a:rPr lang="zh-CN" altLang="en-US" dirty="0"/>
              <a:t>单击此处编辑母版标题样式</a:t>
            </a:r>
          </a:p>
        </p:txBody>
      </p:sp>
      <p:sp>
        <p:nvSpPr>
          <p:cNvPr id="7" name="矩形 6">
            <a:extLst>
              <a:ext uri="{FF2B5EF4-FFF2-40B4-BE49-F238E27FC236}">
                <a16:creationId xmlns:a16="http://schemas.microsoft.com/office/drawing/2014/main" id="{448FA0D2-0551-6F69-A21B-0E0742C82111}"/>
              </a:ext>
            </a:extLst>
          </p:cNvPr>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8" name="矩形 7">
            <a:extLst>
              <a:ext uri="{FF2B5EF4-FFF2-40B4-BE49-F238E27FC236}">
                <a16:creationId xmlns:a16="http://schemas.microsoft.com/office/drawing/2014/main" id="{9B2DB9FD-33AE-137C-506F-DF8415209A89}"/>
              </a:ext>
            </a:extLst>
          </p:cNvPr>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grpSp>
        <p:nvGrpSpPr>
          <p:cNvPr id="11" name="组合 10">
            <a:extLst>
              <a:ext uri="{FF2B5EF4-FFF2-40B4-BE49-F238E27FC236}">
                <a16:creationId xmlns:a16="http://schemas.microsoft.com/office/drawing/2014/main" id="{AFA3FBFE-CDD0-DEDD-A515-0F780B1E4329}"/>
              </a:ext>
            </a:extLst>
          </p:cNvPr>
          <p:cNvGrpSpPr/>
          <p:nvPr userDrawn="1"/>
        </p:nvGrpSpPr>
        <p:grpSpPr>
          <a:xfrm>
            <a:off x="0" y="980758"/>
            <a:ext cx="633730" cy="406400"/>
            <a:chOff x="56" y="2009"/>
            <a:chExt cx="998" cy="640"/>
          </a:xfrm>
        </p:grpSpPr>
        <p:sp>
          <p:nvSpPr>
            <p:cNvPr id="12" name="任意多边形: 形状 7">
              <a:extLst>
                <a:ext uri="{FF2B5EF4-FFF2-40B4-BE49-F238E27FC236}">
                  <a16:creationId xmlns:a16="http://schemas.microsoft.com/office/drawing/2014/main" id="{4A4D3142-22D6-E8B7-F2FA-F359659A88B3}"/>
                </a:ext>
              </a:extLst>
            </p:cNvPr>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3" name="椭圆 12">
              <a:extLst>
                <a:ext uri="{FF2B5EF4-FFF2-40B4-BE49-F238E27FC236}">
                  <a16:creationId xmlns:a16="http://schemas.microsoft.com/office/drawing/2014/main" id="{3A38D73E-7364-BC91-D18F-FC11D9C7013C}"/>
                </a:ext>
              </a:extLst>
            </p:cNvPr>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pic>
        <p:nvPicPr>
          <p:cNvPr id="10" name="图片 9">
            <a:extLst>
              <a:ext uri="{FF2B5EF4-FFF2-40B4-BE49-F238E27FC236}">
                <a16:creationId xmlns:a16="http://schemas.microsoft.com/office/drawing/2014/main" id="{B5B13CEE-8A67-4F7D-A92C-678A4D90E3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8408" y="-13336"/>
            <a:ext cx="3238500" cy="714375"/>
          </a:xfrm>
          <a:prstGeom prst="rect">
            <a:avLst/>
          </a:prstGeom>
        </p:spPr>
      </p:pic>
    </p:spTree>
    <p:extLst>
      <p:ext uri="{BB962C8B-B14F-4D97-AF65-F5344CB8AC3E}">
        <p14:creationId xmlns:p14="http://schemas.microsoft.com/office/powerpoint/2010/main" val="1586963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9448800" y="6525344"/>
            <a:ext cx="2743200" cy="332656"/>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9" name="标题占位符 1"/>
          <p:cNvSpPr>
            <a:spLocks noGrp="1"/>
          </p:cNvSpPr>
          <p:nvPr>
            <p:ph type="title"/>
          </p:nvPr>
        </p:nvSpPr>
        <p:spPr>
          <a:xfrm>
            <a:off x="695400" y="871855"/>
            <a:ext cx="10801200" cy="68040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13" name="文本占位符 2"/>
          <p:cNvSpPr>
            <a:spLocks noGrp="1"/>
          </p:cNvSpPr>
          <p:nvPr>
            <p:ph idx="1"/>
          </p:nvPr>
        </p:nvSpPr>
        <p:spPr>
          <a:xfrm>
            <a:off x="695399" y="1569767"/>
            <a:ext cx="10801200" cy="4351338"/>
          </a:xfrm>
          <a:prstGeom prst="rect">
            <a:avLst/>
          </a:prstGeom>
        </p:spPr>
        <p:txBody>
          <a:bodyPr vert="horz" lIns="91440" tIns="45720" rIns="91440" bIns="45720" rtlCol="0">
            <a:normAutofit/>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342900" lvl="0" indent="-342900" algn="l" defTabSz="914400" rtl="0" eaLnBrk="0" fontAlgn="base" hangingPunct="0">
              <a:spcBef>
                <a:spcPct val="20000"/>
              </a:spcBef>
              <a:spcAft>
                <a:spcPct val="0"/>
              </a:spcAft>
              <a:buClr>
                <a:srgbClr val="000000"/>
              </a:buClr>
              <a:buSzPct val="80000"/>
              <a:buFont typeface="Wingdings" panose="05000000000000000000" pitchFamily="2" charset="2"/>
              <a:buChar char="¢"/>
            </a:pPr>
            <a:r>
              <a:rPr lang="zh-CN" altLang="en-US" dirty="0"/>
              <a:t>单击此处编辑母版文本样式</a:t>
            </a:r>
          </a:p>
          <a:p>
            <a:pPr marL="742950" lvl="1" indent="-285750" algn="l" defTabSz="914400" rtl="0" eaLnBrk="0" fontAlgn="base" hangingPunct="0">
              <a:spcBef>
                <a:spcPct val="20000"/>
              </a:spcBef>
              <a:spcAft>
                <a:spcPct val="0"/>
              </a:spcAft>
              <a:buClr>
                <a:srgbClr val="C0C9F6"/>
              </a:buClr>
              <a:buSzPct val="80000"/>
              <a:buFont typeface="Wingdings" panose="05000000000000000000" pitchFamily="2" charset="2"/>
              <a:buChar char="l"/>
            </a:pPr>
            <a:r>
              <a:rPr lang="zh-CN" altLang="en-US" dirty="0"/>
              <a:t>二级</a:t>
            </a:r>
          </a:p>
          <a:p>
            <a:pPr lvl="2"/>
            <a:r>
              <a:rPr lang="zh-CN" altLang="en-US" dirty="0"/>
              <a:t>三级</a:t>
            </a:r>
          </a:p>
          <a:p>
            <a:pPr lvl="3"/>
            <a:r>
              <a:rPr lang="zh-CN" altLang="en-US" dirty="0"/>
              <a:t>四级</a:t>
            </a:r>
          </a:p>
          <a:p>
            <a:pPr lvl="4"/>
            <a:r>
              <a:rPr lang="zh-CN" altLang="en-US" dirty="0"/>
              <a:t>五级</a:t>
            </a:r>
          </a:p>
        </p:txBody>
      </p:sp>
      <p:grpSp>
        <p:nvGrpSpPr>
          <p:cNvPr id="14" name="组合 13"/>
          <p:cNvGrpSpPr/>
          <p:nvPr userDrawn="1"/>
        </p:nvGrpSpPr>
        <p:grpSpPr>
          <a:xfrm>
            <a:off x="0" y="980758"/>
            <a:ext cx="633730" cy="406400"/>
            <a:chOff x="56" y="2009"/>
            <a:chExt cx="998" cy="640"/>
          </a:xfrm>
        </p:grpSpPr>
        <p:sp>
          <p:nvSpPr>
            <p:cNvPr id="15" name="任意多边形: 形状 7"/>
            <p:cNvSpPr/>
            <p:nvPr/>
          </p:nvSpPr>
          <p:spPr>
            <a:xfrm>
              <a:off x="56" y="2009"/>
              <a:ext cx="999" cy="641"/>
            </a:xfrm>
            <a:custGeom>
              <a:avLst/>
              <a:gdLst>
                <a:gd name="connsiteX0" fmla="*/ 0 w 999"/>
                <a:gd name="connsiteY0" fmla="*/ 2 h 641"/>
                <a:gd name="connsiteX1" fmla="*/ 761 w 999"/>
                <a:gd name="connsiteY1" fmla="*/ 0 h 641"/>
                <a:gd name="connsiteX2" fmla="*/ 999 w 999"/>
                <a:gd name="connsiteY2" fmla="*/ 321 h 641"/>
                <a:gd name="connsiteX3" fmla="*/ 750 w 999"/>
                <a:gd name="connsiteY3" fmla="*/ 641 h 641"/>
                <a:gd name="connsiteX4" fmla="*/ 0 w 999"/>
                <a:gd name="connsiteY4" fmla="*/ 639 h 641"/>
                <a:gd name="connsiteX5" fmla="*/ 0 w 999"/>
                <a:gd name="connsiteY5" fmla="*/ 2 h 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 h="641">
                  <a:moveTo>
                    <a:pt x="0" y="2"/>
                  </a:moveTo>
                  <a:lnTo>
                    <a:pt x="761" y="0"/>
                  </a:lnTo>
                  <a:cubicBezTo>
                    <a:pt x="864" y="0"/>
                    <a:pt x="999" y="145"/>
                    <a:pt x="999" y="321"/>
                  </a:cubicBezTo>
                  <a:cubicBezTo>
                    <a:pt x="999" y="496"/>
                    <a:pt x="853" y="641"/>
                    <a:pt x="750" y="641"/>
                  </a:cubicBezTo>
                  <a:lnTo>
                    <a:pt x="0" y="639"/>
                  </a:lnTo>
                  <a:lnTo>
                    <a:pt x="0" y="2"/>
                  </a:lnTo>
                  <a:close/>
                </a:path>
              </a:pathLst>
            </a:cu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dirty="0">
                <a:latin typeface="喵呜黑体" panose="02000503000000000000" charset="-122"/>
                <a:ea typeface="喵呜黑体" panose="02000503000000000000" charset="-122"/>
              </a:endParaRPr>
            </a:p>
          </p:txBody>
        </p:sp>
        <p:sp>
          <p:nvSpPr>
            <p:cNvPr id="16" name="椭圆 15"/>
            <p:cNvSpPr/>
            <p:nvPr/>
          </p:nvSpPr>
          <p:spPr>
            <a:xfrm>
              <a:off x="488" y="2111"/>
              <a:ext cx="437" cy="4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dirty="0">
                <a:latin typeface="喵呜黑体" panose="02000503000000000000" charset="-122"/>
                <a:ea typeface="喵呜黑体" panose="02000503000000000000" charset="-122"/>
              </a:endParaRPr>
            </a:p>
          </p:txBody>
        </p:sp>
      </p:grpSp>
      <p:sp>
        <p:nvSpPr>
          <p:cNvPr id="2" name="文本框 1"/>
          <p:cNvSpPr txBox="1"/>
          <p:nvPr userDrawn="1"/>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：内存管理</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续</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89151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randombar(horizontal)">
                                      <p:cBhvr>
                                        <p:cTn id="12" dur="500"/>
                                        <p:tgtEl>
                                          <p:spTgt spid="13">
                                            <p:txEl>
                                              <p:pRg st="1" end="1"/>
                                            </p:txEl>
                                          </p:spTgt>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13">
                                            <p:txEl>
                                              <p:pRg st="2" end="2"/>
                                            </p:txEl>
                                          </p:spTgt>
                                        </p:tgtEl>
                                        <p:attrNameLst>
                                          <p:attrName>style.visibility</p:attrName>
                                        </p:attrNameLst>
                                      </p:cBhvr>
                                      <p:to>
                                        <p:strVal val="visible"/>
                                      </p:to>
                                    </p:set>
                                    <p:animEffect transition="in" filter="randombar(horizontal)">
                                      <p:cBhvr>
                                        <p:cTn id="16" dur="500"/>
                                        <p:tgtEl>
                                          <p:spTgt spid="13">
                                            <p:txEl>
                                              <p:pRg st="2" end="2"/>
                                            </p:txEl>
                                          </p:spTgt>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13">
                                            <p:txEl>
                                              <p:pRg st="3" end="3"/>
                                            </p:txEl>
                                          </p:spTgt>
                                        </p:tgtEl>
                                        <p:attrNameLst>
                                          <p:attrName>style.visibility</p:attrName>
                                        </p:attrNameLst>
                                      </p:cBhvr>
                                      <p:to>
                                        <p:strVal val="visible"/>
                                      </p:to>
                                    </p:set>
                                    <p:animEffect transition="in" filter="randombar(horizontal)">
                                      <p:cBhvr>
                                        <p:cTn id="20" dur="500"/>
                                        <p:tgtEl>
                                          <p:spTgt spid="13">
                                            <p:txEl>
                                              <p:pRg st="3" end="3"/>
                                            </p:txEl>
                                          </p:spTgt>
                                        </p:tgtEl>
                                      </p:cBhvr>
                                    </p:animEffect>
                                  </p:childTnLst>
                                </p:cTn>
                              </p:par>
                            </p:childTnLst>
                          </p:cTn>
                        </p:par>
                        <p:par>
                          <p:cTn id="21" fill="hold">
                            <p:stCondLst>
                              <p:cond delay="2000"/>
                            </p:stCondLst>
                            <p:childTnLst>
                              <p:par>
                                <p:cTn id="22" presetID="14" presetClass="entr" presetSubtype="10" fill="hold" grpId="0" nodeType="afterEffect">
                                  <p:stCondLst>
                                    <p:cond delay="0"/>
                                  </p:stCondLst>
                                  <p:childTnLst>
                                    <p:set>
                                      <p:cBhvr>
                                        <p:cTn id="23" dur="1" fill="hold">
                                          <p:stCondLst>
                                            <p:cond delay="0"/>
                                          </p:stCondLst>
                                        </p:cTn>
                                        <p:tgtEl>
                                          <p:spTgt spid="13">
                                            <p:txEl>
                                              <p:pRg st="4" end="4"/>
                                            </p:txEl>
                                          </p:spTgt>
                                        </p:tgtEl>
                                        <p:attrNameLst>
                                          <p:attrName>style.visibility</p:attrName>
                                        </p:attrNameLst>
                                      </p:cBhvr>
                                      <p:to>
                                        <p:strVal val="visible"/>
                                      </p:to>
                                    </p:set>
                                    <p:animEffect transition="in" filter="randombar(horizontal)">
                                      <p:cBhvr>
                                        <p:cTn id="24"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tmplLst>
          <p:tmpl lvl="1">
            <p:tnLst>
              <p:par>
                <p:cTn presetID="2" presetClass="entr" presetSubtype="4" fill="hold" nodeType="click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 lvl="2">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 lvl="3">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 lvl="4">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 lvl="5">
            <p:tnLst>
              <p:par>
                <p:cTn presetID="14" presetClass="entr" presetSubtype="1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randombar(horizontal)">
                      <p:cBhvr>
                        <p:cTn dur="500"/>
                        <p:tgtEl>
                          <p:spTgt spid="13"/>
                        </p:tgtEl>
                      </p:cBhvr>
                    </p:animEffect>
                  </p:childTnLst>
                </p:cTn>
              </p:par>
            </p:tnLst>
          </p:tmpl>
        </p:tmplLst>
      </p:bldP>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95399" y="1569767"/>
            <a:ext cx="108012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灯片编号占位符 5">
            <a:extLst>
              <a:ext uri="{FF2B5EF4-FFF2-40B4-BE49-F238E27FC236}">
                <a16:creationId xmlns:a16="http://schemas.microsoft.com/office/drawing/2014/main" id="{53340531-0A3B-1E26-C710-927E5751B1FF}"/>
              </a:ext>
            </a:extLst>
          </p:cNvPr>
          <p:cNvSpPr>
            <a:spLocks noGrp="1"/>
          </p:cNvSpPr>
          <p:nvPr>
            <p:ph type="sldNum" sz="quarter" idx="12"/>
          </p:nvPr>
        </p:nvSpPr>
        <p:spPr>
          <a:xfrm>
            <a:off x="9448800" y="6525344"/>
            <a:ext cx="2743200" cy="332656"/>
          </a:xfrm>
          <a:prstGeom prst="rect">
            <a:avLst/>
          </a:prstGeom>
        </p:spPr>
        <p:txBody>
          <a:bodyPr anchor="ctr"/>
          <a:lstStyle>
            <a:lvl1pPr algn="r">
              <a:defRPr sz="1600" b="1">
                <a:solidFill>
                  <a:schemeClr val="bg1"/>
                </a:solidFill>
                <a:latin typeface="微软雅黑" panose="020B0503020204020204" pitchFamily="34" charset="-122"/>
                <a:ea typeface="微软雅黑" panose="020B0503020204020204" pitchFamily="34" charset="-122"/>
              </a:defRPr>
            </a:lvl1pPr>
          </a:lstStyle>
          <a:p>
            <a:fld id="{7209BB76-661F-4F23-A2E6-DCF093FEDF36}" type="slidenum">
              <a:rPr lang="zh-CN" altLang="en-US" smtClean="0"/>
              <a:pPr/>
              <a:t>‹#›</a:t>
            </a:fld>
            <a:endParaRPr lang="zh-CN" altLang="en-US" dirty="0"/>
          </a:p>
        </p:txBody>
      </p:sp>
      <p:sp>
        <p:nvSpPr>
          <p:cNvPr id="8" name="文本框 7">
            <a:extLst>
              <a:ext uri="{FF2B5EF4-FFF2-40B4-BE49-F238E27FC236}">
                <a16:creationId xmlns:a16="http://schemas.microsoft.com/office/drawing/2014/main" id="{40AAA8FD-D60E-16A4-CD42-CDCC8BC35BA8}"/>
              </a:ext>
            </a:extLst>
          </p:cNvPr>
          <p:cNvSpPr txBox="1"/>
          <p:nvPr userDrawn="1"/>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：内存管理</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续</a:t>
            </a:r>
            <a:r>
              <a:rPr lang="en-US" altLang="zh-CN"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28691634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页脚占位符 4"/>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7197180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页脚占位符 5"/>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7" name="灯片编号占位符 6"/>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9486877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8" name="页脚占位符 7"/>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9" name="灯片编号占位符 8"/>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24623396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4" name="页脚占位符 3"/>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灯片编号占位符 4"/>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22959885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3" name="页脚占位符 2"/>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4" name="灯片编号占位符 3"/>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5663961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页脚占位符 5"/>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7" name="灯片编号占位符 6"/>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6627277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页脚占位符 5"/>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7" name="灯片编号占位符 6"/>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11400424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95400" y="871855"/>
            <a:ext cx="10801200" cy="68040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95399" y="1569767"/>
            <a:ext cx="108012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页脚占位符 4"/>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4213159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525344"/>
            <a:ext cx="2743200" cy="365125"/>
          </a:xfrm>
          <a:prstGeom prst="rect">
            <a:avLst/>
          </a:prstGeom>
        </p:spPr>
        <p:txBody>
          <a:bodyPr/>
          <a:lstStyle>
            <a:lvl1pPr>
              <a:defRPr>
                <a:ea typeface="微软雅黑" panose="020B0503020204020204" pitchFamily="34" charset="-122"/>
              </a:defRPr>
            </a:lvl1pPr>
          </a:lstStyle>
          <a:p>
            <a:endParaRPr lang="zh-CN" altLang="en-US"/>
          </a:p>
        </p:txBody>
      </p:sp>
      <p:sp>
        <p:nvSpPr>
          <p:cNvPr id="5" name="页脚占位符 4"/>
          <p:cNvSpPr>
            <a:spLocks noGrp="1"/>
          </p:cNvSpPr>
          <p:nvPr>
            <p:ph type="ftr" sz="quarter" idx="11"/>
          </p:nvPr>
        </p:nvSpPr>
        <p:spPr>
          <a:xfrm>
            <a:off x="4038600" y="6525344"/>
            <a:ext cx="4114800" cy="365125"/>
          </a:xfrm>
          <a:prstGeom prst="rect">
            <a:avLst/>
          </a:prstGeom>
        </p:spPr>
        <p:txBody>
          <a:bodyPr/>
          <a:lstStyle>
            <a:lvl1pPr>
              <a:defRPr>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a:xfrm>
            <a:off x="8610600" y="6525344"/>
            <a:ext cx="2743200" cy="365125"/>
          </a:xfrm>
          <a:prstGeom prst="rect">
            <a:avLst/>
          </a:prstGeom>
        </p:spPr>
        <p:txBody>
          <a:bodyPr/>
          <a:lstStyle>
            <a:lvl1pPr>
              <a:defRPr>
                <a:ea typeface="微软雅黑" panose="020B0503020204020204" pitchFamily="34" charset="-122"/>
              </a:defRPr>
            </a:lvl1pPr>
          </a:lstStyle>
          <a:p>
            <a:fld id="{7209BB76-661F-4F23-A2E6-DCF093FEDF36}" type="slidenum">
              <a:rPr lang="zh-CN" altLang="en-US" smtClean="0"/>
              <a:t>‹#›</a:t>
            </a:fld>
            <a:endParaRPr lang="zh-CN" altLang="en-US"/>
          </a:p>
        </p:txBody>
      </p:sp>
    </p:spTree>
    <p:extLst>
      <p:ext uri="{BB962C8B-B14F-4D97-AF65-F5344CB8AC3E}">
        <p14:creationId xmlns:p14="http://schemas.microsoft.com/office/powerpoint/2010/main" val="17664113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showMasterPhAnim="0" userDrawn="1">
  <p:cSld name="1_标题幻灯片">
    <p:bg bwMode="gray">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11" name="矩形 10"/>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0922AC32-4F6C-461D-B24F-4B55580019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8408" y="-13336"/>
            <a:ext cx="3238500" cy="714375"/>
          </a:xfrm>
          <a:prstGeom prst="rect">
            <a:avLst/>
          </a:prstGeom>
        </p:spPr>
      </p:pic>
    </p:spTree>
    <p:extLst>
      <p:ext uri="{BB962C8B-B14F-4D97-AF65-F5344CB8AC3E}">
        <p14:creationId xmlns:p14="http://schemas.microsoft.com/office/powerpoint/2010/main" val="41367318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 name="矩形 9"/>
          <p:cNvSpPr/>
          <p:nvPr userDrawn="1"/>
        </p:nvSpPr>
        <p:spPr>
          <a:xfrm>
            <a:off x="0" y="6538324"/>
            <a:ext cx="12192000" cy="324646"/>
          </a:xfrm>
          <a:prstGeom prst="rect">
            <a:avLst/>
          </a:prstGeom>
          <a:solidFill>
            <a:srgbClr val="7123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538595"/>
            <a:ext cx="2743200" cy="316230"/>
          </a:xfrm>
        </p:spPr>
        <p:txBody>
          <a:bodyPr/>
          <a:lstStyle>
            <a:lvl1pPr>
              <a:defRPr>
                <a:solidFill>
                  <a:schemeClr val="bg1"/>
                </a:solidFill>
              </a:defRPr>
            </a:lvl1pPr>
          </a:lstStyle>
          <a:p>
            <a:fld id="{5F013260-E2F6-48C8-BC23-506F661997E7}" type="datetimeFigureOut">
              <a:rPr lang="zh-CN" altLang="en-US" smtClean="0"/>
              <a:t>2025/9/30</a:t>
            </a:fld>
            <a:endParaRPr lang="zh-CN" altLang="en-US"/>
          </a:p>
        </p:txBody>
      </p:sp>
      <p:sp>
        <p:nvSpPr>
          <p:cNvPr id="5" name="页脚占位符 4"/>
          <p:cNvSpPr>
            <a:spLocks noGrp="1"/>
          </p:cNvSpPr>
          <p:nvPr>
            <p:ph type="ftr" sz="quarter" idx="11"/>
          </p:nvPr>
        </p:nvSpPr>
        <p:spPr>
          <a:xfrm>
            <a:off x="4038600" y="6538595"/>
            <a:ext cx="4114800" cy="316230"/>
          </a:xfrm>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nvPr>
        </p:nvSpPr>
        <p:spPr>
          <a:xfrm>
            <a:off x="8610600" y="6538595"/>
            <a:ext cx="2743200" cy="316230"/>
          </a:xfrm>
        </p:spPr>
        <p:txBody>
          <a:bodyPr/>
          <a:lstStyle>
            <a:lvl1pPr>
              <a:defRPr>
                <a:solidFill>
                  <a:schemeClr val="bg1"/>
                </a:solidFill>
              </a:defRPr>
            </a:lvl1pPr>
          </a:lstStyle>
          <a:p>
            <a:fld id="{DE68AD4E-5105-4F1B-8C66-A07DA4A33142}" type="slidenum">
              <a:rPr lang="zh-CN" altLang="en-US" smtClean="0"/>
              <a:t>‹#›</a:t>
            </a:fld>
            <a:endParaRPr lang="zh-CN" altLang="en-US"/>
          </a:p>
        </p:txBody>
      </p:sp>
      <p:sp>
        <p:nvSpPr>
          <p:cNvPr id="7" name="文本框 6"/>
          <p:cNvSpPr txBox="1"/>
          <p:nvPr userDrawn="1"/>
        </p:nvSpPr>
        <p:spPr>
          <a:xfrm>
            <a:off x="7884160" y="5779135"/>
            <a:ext cx="4064000" cy="368300"/>
          </a:xfrm>
          <a:prstGeom prst="rect">
            <a:avLst/>
          </a:prstGeom>
          <a:noFill/>
        </p:spPr>
        <p:txBody>
          <a:bodyPr wrap="square" rtlCol="0">
            <a:spAutoFit/>
          </a:bodyPr>
          <a:lstStyle/>
          <a:p>
            <a:endParaRPr lang="zh-CN" altLang="en-US"/>
          </a:p>
        </p:txBody>
      </p:sp>
      <p:sp>
        <p:nvSpPr>
          <p:cNvPr id="8" name="矩形 7"/>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11" name="图片 10">
            <a:extLst>
              <a:ext uri="{FF2B5EF4-FFF2-40B4-BE49-F238E27FC236}">
                <a16:creationId xmlns:a16="http://schemas.microsoft.com/office/drawing/2014/main" id="{A988A0CF-08D8-447A-8BF3-EEA532954A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84432" y="-20935"/>
            <a:ext cx="3131418" cy="690754"/>
          </a:xfrm>
          <a:prstGeom prst="rect">
            <a:avLst/>
          </a:prstGeom>
        </p:spPr>
      </p:pic>
    </p:spTree>
    <p:extLst>
      <p:ext uri="{BB962C8B-B14F-4D97-AF65-F5344CB8AC3E}">
        <p14:creationId xmlns:p14="http://schemas.microsoft.com/office/powerpoint/2010/main" val="4278551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38688058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9891143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9223468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0649632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9189749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3113555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41119638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3503742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435525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F013260-E2F6-48C8-BC23-506F661997E7}" type="datetimeFigureOut">
              <a:rPr lang="zh-CN" altLang="en-US" smtClean="0"/>
              <a:t>2025/9/30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196554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69"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Lst>
  <p:hf hdr="0"/>
  <p:txStyles>
    <p:titleStyle>
      <a:lvl1pPr algn="ctr" rtl="0" eaLnBrk="0" fontAlgn="base" hangingPunct="0">
        <a:spcBef>
          <a:spcPct val="0"/>
        </a:spcBef>
        <a:spcAft>
          <a:spcPct val="0"/>
        </a:spcAft>
        <a:defRPr sz="40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p:titleStyle>
    <p:bodyStyle>
      <a:lvl1pPr marL="342900" indent="-342900" algn="l" rtl="0" eaLnBrk="0" fontAlgn="base" hangingPunct="0">
        <a:spcBef>
          <a:spcPct val="20000"/>
        </a:spcBef>
        <a:spcAft>
          <a:spcPct val="0"/>
        </a:spcAft>
        <a:buClr>
          <a:schemeClr val="tx1"/>
        </a:buClr>
        <a:buSzPct val="80000"/>
        <a:buFont typeface="Wingdings" panose="05000000000000000000" pitchFamily="2" charset="2"/>
        <a:buChar char="¢"/>
        <a:defRPr sz="28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80000"/>
        <a:buFont typeface="Wingdings" panose="05000000000000000000" pitchFamily="2" charset="2"/>
        <a:buChar char="l"/>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70000"/>
        <a:buFont typeface="Wingdings" panose="05000000000000000000"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l"/>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6pPr>
      <a:lvl7pPr marL="29718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7pPr>
      <a:lvl8pPr marL="34290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8pPr>
      <a:lvl9pPr marL="3886200" indent="-228600" algn="l" rtl="0" fontAlgn="base">
        <a:spcBef>
          <a:spcPct val="20000"/>
        </a:spcBef>
        <a:spcAft>
          <a:spcPct val="0"/>
        </a:spcAft>
        <a:buClr>
          <a:schemeClr val="hlink"/>
        </a:buClr>
        <a:buSzPct val="50000"/>
        <a:buFont typeface="Wingdings" pitchFamily="2" charset="2"/>
        <a:buChar char="l"/>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8" name="矩形 7"/>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AB4FD91A-9C05-4143-802F-252A263833F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768408" y="-13336"/>
            <a:ext cx="3238500" cy="714375"/>
          </a:xfrm>
          <a:prstGeom prst="rect">
            <a:avLst/>
          </a:prstGeom>
        </p:spPr>
      </p:pic>
    </p:spTree>
    <p:extLst>
      <p:ext uri="{BB962C8B-B14F-4D97-AF65-F5344CB8AC3E}">
        <p14:creationId xmlns:p14="http://schemas.microsoft.com/office/powerpoint/2010/main" val="1764699361"/>
      </p:ext>
    </p:extLst>
  </p:cSld>
  <p:clrMap bg1="lt1" tx1="dk1" bg2="lt2" tx2="dk2" accent1="accent1" accent2="accent2" accent3="accent3" accent4="accent4" accent5="accent5" accent6="accent6" hlink="hlink" folHlink="folHlink"/>
  <p:sldLayoutIdLst>
    <p:sldLayoutId id="2147484071" r:id="rId1"/>
    <p:sldLayoutId id="2147484072" r:id="rId2"/>
    <p:sldLayoutId id="2147484073" r:id="rId3"/>
    <p:sldLayoutId id="2147484074" r:id="rId4"/>
    <p:sldLayoutId id="2147484075" r:id="rId5"/>
    <p:sldLayoutId id="2147484076" r:id="rId6"/>
    <p:sldLayoutId id="2147484077" r:id="rId7"/>
    <p:sldLayoutId id="2147484078" r:id="rId8"/>
    <p:sldLayoutId id="2147484079" r:id="rId9"/>
    <p:sldLayoutId id="2147484080" r:id="rId10"/>
    <p:sldLayoutId id="2147484081" r:id="rId11"/>
    <p:sldLayoutId id="2147484082" r:id="rId12"/>
    <p:sldLayoutId id="2147484083" r:id="rId13"/>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400" kern="0" dirty="0" smtClean="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2000" kern="0" dirty="0" smtClean="0">
          <a:solidFill>
            <a:srgbClr val="000000"/>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a:off x="0" y="6538324"/>
            <a:ext cx="12192000" cy="324646"/>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sp>
        <p:nvSpPr>
          <p:cNvPr id="8" name="矩形 7"/>
          <p:cNvSpPr/>
          <p:nvPr userDrawn="1"/>
        </p:nvSpPr>
        <p:spPr>
          <a:xfrm>
            <a:off x="-26035" y="-635"/>
            <a:ext cx="12217400" cy="688975"/>
          </a:xfrm>
          <a:prstGeom prst="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712355"/>
              </a:solidFill>
            </a:endParaRPr>
          </a:p>
        </p:txBody>
      </p:sp>
      <p:pic>
        <p:nvPicPr>
          <p:cNvPr id="5" name="图片 4">
            <a:extLst>
              <a:ext uri="{FF2B5EF4-FFF2-40B4-BE49-F238E27FC236}">
                <a16:creationId xmlns:a16="http://schemas.microsoft.com/office/drawing/2014/main" id="{9BDA96A3-FB64-4862-8DC3-722D178EF25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768408" y="-13336"/>
            <a:ext cx="3238500" cy="714375"/>
          </a:xfrm>
          <a:prstGeom prst="rect">
            <a:avLst/>
          </a:prstGeom>
        </p:spPr>
      </p:pic>
    </p:spTree>
    <p:extLst>
      <p:ext uri="{BB962C8B-B14F-4D97-AF65-F5344CB8AC3E}">
        <p14:creationId xmlns:p14="http://schemas.microsoft.com/office/powerpoint/2010/main" val="3374567640"/>
      </p:ext>
    </p:extLst>
  </p:cSld>
  <p:clrMap bg1="lt1" tx1="dk1" bg2="lt2" tx2="dk2" accent1="accent1" accent2="accent2" accent3="accent3" accent4="accent4" accent5="accent5" accent6="accent6" hlink="hlink" folHlink="folHlink"/>
  <p:sldLayoutIdLst>
    <p:sldLayoutId id="2147484085" r:id="rId1"/>
    <p:sldLayoutId id="2147484086" r:id="rId2"/>
    <p:sldLayoutId id="2147484087" r:id="rId3"/>
    <p:sldLayoutId id="2147484088" r:id="rId4"/>
    <p:sldLayoutId id="2147484089" r:id="rId5"/>
    <p:sldLayoutId id="2147484090" r:id="rId6"/>
    <p:sldLayoutId id="2147484091" r:id="rId7"/>
    <p:sldLayoutId id="2147484092" r:id="rId8"/>
    <p:sldLayoutId id="2147484093" r:id="rId9"/>
    <p:sldLayoutId id="2147484094" r:id="rId10"/>
    <p:sldLayoutId id="2147484095" r:id="rId11"/>
    <p:sldLayoutId id="2147484096" r:id="rId12"/>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zh-CN" altLang="en-US" sz="2400" kern="0" dirty="0" smtClean="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2000" kern="0" dirty="0" smtClean="0">
          <a:solidFill>
            <a:srgbClr val="000000"/>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013260-E2F6-48C8-BC23-506F661997E7}" type="datetimeFigureOut">
              <a:rPr lang="zh-CN" altLang="en-US" smtClean="0"/>
              <a:t>2025/9/30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68AD4E-5105-4F1B-8C66-A07DA4A33142}" type="slidenum">
              <a:rPr lang="zh-CN" altLang="en-US" smtClean="0"/>
              <a:t>‹#›</a:t>
            </a:fld>
            <a:endParaRPr lang="zh-CN" altLang="en-US"/>
          </a:p>
        </p:txBody>
      </p:sp>
    </p:spTree>
    <p:extLst>
      <p:ext uri="{BB962C8B-B14F-4D97-AF65-F5344CB8AC3E}">
        <p14:creationId xmlns:p14="http://schemas.microsoft.com/office/powerpoint/2010/main" val="2457617926"/>
      </p:ext>
    </p:extLst>
  </p:cSld>
  <p:clrMap bg1="lt1" tx1="dk1" bg2="lt2" tx2="dk2" accent1="accent1" accent2="accent2" accent3="accent3" accent4="accent4" accent5="accent5" accent6="accent6" hlink="hlink" folHlink="folHlink"/>
  <p:sldLayoutIdLst>
    <p:sldLayoutId id="2147484098" r:id="rId1"/>
    <p:sldLayoutId id="2147484099" r:id="rId2"/>
    <p:sldLayoutId id="2147484100" r:id="rId3"/>
    <p:sldLayoutId id="2147484101" r:id="rId4"/>
    <p:sldLayoutId id="2147484102" r:id="rId5"/>
    <p:sldLayoutId id="2147484103" r:id="rId6"/>
    <p:sldLayoutId id="2147484104" r:id="rId7"/>
    <p:sldLayoutId id="2147484105" r:id="rId8"/>
    <p:sldLayoutId id="2147484106" r:id="rId9"/>
    <p:sldLayoutId id="2147484107" r:id="rId10"/>
    <p:sldLayoutId id="21474841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l.acm.org/doi/10.1145/3445814.3446714"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www.sohu.com/a/280207137_610499" TargetMode="External"/><Relationship Id="rId2" Type="http://schemas.openxmlformats.org/officeDocument/2006/relationships/hyperlink" Target="http://www.hpts.ws/papers/2013/allwrong.pdf"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0" y="2330450"/>
            <a:ext cx="12192000" cy="1192530"/>
          </a:xfrm>
        </p:spPr>
        <p:txBody>
          <a:bodyPr>
            <a:normAutofit/>
          </a:bodyPr>
          <a:lstStyle/>
          <a:p>
            <a:pPr algn="ctr"/>
            <a:r>
              <a:rPr lang="zh-CN" altLang="en-US" b="1" dirty="0">
                <a:solidFill>
                  <a:srgbClr val="712355"/>
                </a:solidFill>
                <a:latin typeface="微软雅黑" panose="020B0503020204020204" pitchFamily="34" charset="-122"/>
                <a:ea typeface="微软雅黑" panose="020B0503020204020204" pitchFamily="34" charset="-122"/>
              </a:rPr>
              <a:t>操作系统</a:t>
            </a:r>
          </a:p>
        </p:txBody>
      </p:sp>
      <p:sp>
        <p:nvSpPr>
          <p:cNvPr id="3" name="副标题 2"/>
          <p:cNvSpPr>
            <a:spLocks noGrp="1"/>
          </p:cNvSpPr>
          <p:nvPr>
            <p:ph type="subTitle" idx="1"/>
          </p:nvPr>
        </p:nvSpPr>
        <p:spPr>
          <a:xfrm>
            <a:off x="1991497" y="3880332"/>
            <a:ext cx="8607212" cy="1923701"/>
          </a:xfrm>
        </p:spPr>
        <p:txBody>
          <a:bodyPr>
            <a:normAutofit/>
          </a:bodyPr>
          <a:lstStyle/>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宫晓利、蒲凌君、张久武、李浩然    </a:t>
            </a:r>
            <a:endPar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gongxiaoli@nankai.edu.cn</a:t>
            </a: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、pulingjun</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@nankai.edu.cn</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sym typeface="+mn-ea"/>
              </a:rPr>
              <a:t>zhangjiuwu@nankai.edu.cn wanch_lhr@nankai.edu.cn</a:t>
            </a: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r>
              <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rPr>
              <a:t>南开大学 计算机学院  密码与网络空间安全学院</a:t>
            </a:r>
            <a:endParaRPr lang="en-US" altLang="zh-CN"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sz="2400" b="1" dirty="0">
              <a:solidFill>
                <a:srgbClr val="712355"/>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 name="文本框 7"/>
          <p:cNvSpPr txBox="1"/>
          <p:nvPr/>
        </p:nvSpPr>
        <p:spPr>
          <a:xfrm>
            <a:off x="6398895" y="1233805"/>
            <a:ext cx="4064000" cy="3683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
            <a:lum/>
          </a:blip>
          <a:srcRect/>
          <a:stretch>
            <a:fillRect l="22000" t="5000" r="22000" b="-1000"/>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0" y="2492826"/>
            <a:ext cx="12192000" cy="1192212"/>
          </a:xfrm>
          <a:prstGeom prst="rect">
            <a:avLst/>
          </a:prstGeom>
        </p:spPr>
        <p:txBody>
          <a:bodyPr>
            <a:normAutofit/>
          </a:bodyPr>
          <a:lstStyle/>
          <a:p>
            <a:pPr algn="ctr"/>
            <a:r>
              <a:rPr lang="zh-CN" altLang="en-US" sz="6000" dirty="0">
                <a:solidFill>
                  <a:srgbClr val="712355"/>
                </a:solidFill>
                <a:latin typeface="微软雅黑" panose="020B0503020204020204" pitchFamily="34" charset="-122"/>
                <a:ea typeface="微软雅黑" panose="020B0503020204020204" pitchFamily="34" charset="-122"/>
              </a:rPr>
              <a:t>章节</a:t>
            </a:r>
            <a:r>
              <a:rPr lang="en-US" altLang="zh-CN" sz="6000" dirty="0">
                <a:solidFill>
                  <a:srgbClr val="712355"/>
                </a:solidFill>
                <a:latin typeface="微软雅黑" panose="020B0503020204020204" pitchFamily="34" charset="-122"/>
                <a:ea typeface="微软雅黑" panose="020B0503020204020204" pitchFamily="34" charset="-122"/>
              </a:rPr>
              <a:t>4</a:t>
            </a:r>
            <a:r>
              <a:rPr lang="zh-CN" altLang="en-US" sz="6000" dirty="0">
                <a:solidFill>
                  <a:srgbClr val="712355"/>
                </a:solidFill>
                <a:latin typeface="微软雅黑" panose="020B0503020204020204" pitchFamily="34" charset="-122"/>
                <a:ea typeface="微软雅黑" panose="020B0503020204020204" pitchFamily="34" charset="-122"/>
              </a:rPr>
              <a:t>：内存管理</a:t>
            </a:r>
            <a:endParaRPr lang="en-US" altLang="zh-CN" sz="6000" dirty="0">
              <a:solidFill>
                <a:srgbClr val="712355"/>
              </a:solidFill>
              <a:latin typeface="微软雅黑" panose="020B0503020204020204" pitchFamily="34" charset="-122"/>
              <a:ea typeface="微软雅黑" panose="020B0503020204020204" pitchFamily="34" charset="-122"/>
            </a:endParaRPr>
          </a:p>
        </p:txBody>
      </p:sp>
      <p:sp>
        <p:nvSpPr>
          <p:cNvPr id="7" name="圆角矩形 6"/>
          <p:cNvSpPr/>
          <p:nvPr/>
        </p:nvSpPr>
        <p:spPr>
          <a:xfrm flipV="1">
            <a:off x="2133974" y="3701853"/>
            <a:ext cx="8322258" cy="45719"/>
          </a:xfrm>
          <a:prstGeom prst="roundRect">
            <a:avLst/>
          </a:prstGeom>
          <a:solidFill>
            <a:srgbClr val="7123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 name="文本框 7"/>
          <p:cNvSpPr txBox="1"/>
          <p:nvPr/>
        </p:nvSpPr>
        <p:spPr>
          <a:xfrm>
            <a:off x="6398895" y="1233805"/>
            <a:ext cx="4064000" cy="3683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Tm="15189"/>
    </mc:Choice>
    <mc:Fallback xmlns="">
      <p:transition spd="slow" advTm="1518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4662205" y="2943433"/>
            <a:ext cx="1980806" cy="2366126"/>
            <a:chOff x="2859909" y="1989587"/>
            <a:chExt cx="1980806" cy="2366126"/>
          </a:xfrm>
        </p:grpSpPr>
        <p:sp>
          <p:nvSpPr>
            <p:cNvPr id="5" name="Line 58"/>
            <p:cNvSpPr>
              <a:spLocks noChangeShapeType="1"/>
            </p:cNvSpPr>
            <p:nvPr/>
          </p:nvSpPr>
          <p:spPr bwMode="auto">
            <a:xfrm>
              <a:off x="2859909" y="1989587"/>
              <a:ext cx="1980806" cy="817389"/>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6" name="Line 59"/>
            <p:cNvSpPr>
              <a:spLocks noChangeShapeType="1"/>
            </p:cNvSpPr>
            <p:nvPr/>
          </p:nvSpPr>
          <p:spPr bwMode="auto">
            <a:xfrm>
              <a:off x="2859909" y="2419792"/>
              <a:ext cx="1980806" cy="860409"/>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7" name="Line 60"/>
            <p:cNvSpPr>
              <a:spLocks noChangeShapeType="1"/>
            </p:cNvSpPr>
            <p:nvPr/>
          </p:nvSpPr>
          <p:spPr bwMode="auto">
            <a:xfrm>
              <a:off x="2859909" y="3280201"/>
              <a:ext cx="1980806" cy="430205"/>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8" name="Line 61"/>
            <p:cNvSpPr>
              <a:spLocks noChangeShapeType="1"/>
            </p:cNvSpPr>
            <p:nvPr/>
          </p:nvSpPr>
          <p:spPr bwMode="auto">
            <a:xfrm>
              <a:off x="2859909" y="3538324"/>
              <a:ext cx="1980806" cy="0"/>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9" name="Line 62"/>
            <p:cNvSpPr>
              <a:spLocks noChangeShapeType="1"/>
            </p:cNvSpPr>
            <p:nvPr/>
          </p:nvSpPr>
          <p:spPr bwMode="auto">
            <a:xfrm>
              <a:off x="2859909" y="3710406"/>
              <a:ext cx="1980806" cy="645307"/>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0" name="Line 63"/>
            <p:cNvSpPr>
              <a:spLocks noChangeShapeType="1"/>
            </p:cNvSpPr>
            <p:nvPr/>
          </p:nvSpPr>
          <p:spPr bwMode="auto">
            <a:xfrm>
              <a:off x="2859909" y="4140611"/>
              <a:ext cx="1980806" cy="0"/>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1" name="Line 64"/>
            <p:cNvSpPr>
              <a:spLocks noChangeShapeType="1"/>
            </p:cNvSpPr>
            <p:nvPr/>
          </p:nvSpPr>
          <p:spPr bwMode="auto">
            <a:xfrm flipV="1">
              <a:off x="2859909" y="3925508"/>
              <a:ext cx="1980806" cy="430205"/>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sp>
          <p:nvSpPr>
            <p:cNvPr id="12" name="Line 65"/>
            <p:cNvSpPr>
              <a:spLocks noChangeShapeType="1"/>
            </p:cNvSpPr>
            <p:nvPr/>
          </p:nvSpPr>
          <p:spPr bwMode="auto">
            <a:xfrm flipV="1">
              <a:off x="2859909" y="3065099"/>
              <a:ext cx="1980806" cy="903430"/>
            </a:xfrm>
            <a:prstGeom prst="line">
              <a:avLst/>
            </a:prstGeom>
            <a:noFill/>
            <a:ln w="28575" cmpd="sng">
              <a:solidFill>
                <a:srgbClr val="C00000"/>
              </a:solidFill>
              <a:prstDash val="sysDash"/>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zh-CN" altLang="en-US"/>
            </a:p>
          </p:txBody>
        </p:sp>
      </p:grpSp>
      <p:grpSp>
        <p:nvGrpSpPr>
          <p:cNvPr id="14" name="组合 13"/>
          <p:cNvGrpSpPr/>
          <p:nvPr/>
        </p:nvGrpSpPr>
        <p:grpSpPr>
          <a:xfrm>
            <a:off x="2053817" y="1916832"/>
            <a:ext cx="2584673" cy="3560994"/>
            <a:chOff x="251520" y="962986"/>
            <a:chExt cx="2584673" cy="3560994"/>
          </a:xfrm>
        </p:grpSpPr>
        <p:grpSp>
          <p:nvGrpSpPr>
            <p:cNvPr id="15" name="Group 4"/>
            <p:cNvGrpSpPr>
              <a:grpSpLocks/>
            </p:cNvGrpSpPr>
            <p:nvPr/>
          </p:nvGrpSpPr>
          <p:grpSpPr bwMode="auto">
            <a:xfrm>
              <a:off x="1869862" y="1021627"/>
              <a:ext cx="966331" cy="3414751"/>
              <a:chOff x="254" y="14"/>
              <a:chExt cx="562" cy="3810"/>
            </a:xfrm>
            <a:gradFill>
              <a:gsLst>
                <a:gs pos="100000">
                  <a:srgbClr val="33FFFF"/>
                </a:gs>
                <a:gs pos="0">
                  <a:srgbClr val="99FFFF"/>
                </a:gs>
                <a:gs pos="100000">
                  <a:schemeClr val="accent1">
                    <a:tint val="23500"/>
                    <a:satMod val="160000"/>
                  </a:schemeClr>
                </a:gs>
              </a:gsLst>
              <a:lin ang="5400000" scaled="0"/>
            </a:gradFill>
          </p:grpSpPr>
          <p:sp>
            <p:nvSpPr>
              <p:cNvPr id="49" name="Rectangle 5"/>
              <p:cNvSpPr>
                <a:spLocks noChangeArrowheads="1"/>
              </p:cNvSpPr>
              <p:nvPr/>
            </p:nvSpPr>
            <p:spPr bwMode="auto">
              <a:xfrm>
                <a:off x="254" y="14"/>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0" name="Rectangle 6"/>
              <p:cNvSpPr>
                <a:spLocks noChangeArrowheads="1"/>
              </p:cNvSpPr>
              <p:nvPr/>
            </p:nvSpPr>
            <p:spPr bwMode="auto">
              <a:xfrm>
                <a:off x="254" y="256"/>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1" name="Rectangle 7"/>
              <p:cNvSpPr>
                <a:spLocks noChangeArrowheads="1"/>
              </p:cNvSpPr>
              <p:nvPr/>
            </p:nvSpPr>
            <p:spPr bwMode="auto">
              <a:xfrm>
                <a:off x="254" y="496"/>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2" name="Rectangle 8"/>
              <p:cNvSpPr>
                <a:spLocks noChangeArrowheads="1"/>
              </p:cNvSpPr>
              <p:nvPr/>
            </p:nvSpPr>
            <p:spPr bwMode="auto">
              <a:xfrm>
                <a:off x="254" y="737"/>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3" name="Rectangle 9"/>
              <p:cNvSpPr>
                <a:spLocks noChangeArrowheads="1"/>
              </p:cNvSpPr>
              <p:nvPr/>
            </p:nvSpPr>
            <p:spPr bwMode="auto">
              <a:xfrm>
                <a:off x="254" y="967"/>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4" name="Rectangle 10"/>
              <p:cNvSpPr>
                <a:spLocks noChangeArrowheads="1"/>
              </p:cNvSpPr>
              <p:nvPr/>
            </p:nvSpPr>
            <p:spPr bwMode="auto">
              <a:xfrm>
                <a:off x="254" y="1207"/>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5" name="Rectangle 11"/>
              <p:cNvSpPr>
                <a:spLocks noChangeArrowheads="1"/>
              </p:cNvSpPr>
              <p:nvPr/>
            </p:nvSpPr>
            <p:spPr bwMode="auto">
              <a:xfrm>
                <a:off x="254" y="1447"/>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6" name="Rectangle 12"/>
              <p:cNvSpPr>
                <a:spLocks noChangeArrowheads="1"/>
              </p:cNvSpPr>
              <p:nvPr/>
            </p:nvSpPr>
            <p:spPr bwMode="auto">
              <a:xfrm>
                <a:off x="254" y="1677"/>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7" name="Rectangle 13"/>
              <p:cNvSpPr>
                <a:spLocks noChangeArrowheads="1"/>
              </p:cNvSpPr>
              <p:nvPr/>
            </p:nvSpPr>
            <p:spPr bwMode="auto">
              <a:xfrm>
                <a:off x="254" y="1921"/>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8" name="Rectangle 14"/>
              <p:cNvSpPr>
                <a:spLocks noChangeArrowheads="1"/>
              </p:cNvSpPr>
              <p:nvPr/>
            </p:nvSpPr>
            <p:spPr bwMode="auto">
              <a:xfrm>
                <a:off x="254" y="2163"/>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59" name="Rectangle 15"/>
              <p:cNvSpPr>
                <a:spLocks noChangeArrowheads="1"/>
              </p:cNvSpPr>
              <p:nvPr/>
            </p:nvSpPr>
            <p:spPr bwMode="auto">
              <a:xfrm>
                <a:off x="254" y="2403"/>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60" name="Rectangle 16"/>
              <p:cNvSpPr>
                <a:spLocks noChangeArrowheads="1"/>
              </p:cNvSpPr>
              <p:nvPr/>
            </p:nvSpPr>
            <p:spPr bwMode="auto">
              <a:xfrm>
                <a:off x="254" y="2644"/>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61" name="Rectangle 17"/>
              <p:cNvSpPr>
                <a:spLocks noChangeArrowheads="1"/>
              </p:cNvSpPr>
              <p:nvPr/>
            </p:nvSpPr>
            <p:spPr bwMode="auto">
              <a:xfrm>
                <a:off x="254" y="2874"/>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62" name="Rectangle 18"/>
              <p:cNvSpPr>
                <a:spLocks noChangeArrowheads="1"/>
              </p:cNvSpPr>
              <p:nvPr/>
            </p:nvSpPr>
            <p:spPr bwMode="auto">
              <a:xfrm>
                <a:off x="254" y="3114"/>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63" name="Rectangle 19"/>
              <p:cNvSpPr>
                <a:spLocks noChangeArrowheads="1"/>
              </p:cNvSpPr>
              <p:nvPr/>
            </p:nvSpPr>
            <p:spPr bwMode="auto">
              <a:xfrm>
                <a:off x="254" y="3354"/>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64" name="Rectangle 20"/>
              <p:cNvSpPr>
                <a:spLocks noChangeArrowheads="1"/>
              </p:cNvSpPr>
              <p:nvPr/>
            </p:nvSpPr>
            <p:spPr bwMode="auto">
              <a:xfrm>
                <a:off x="254" y="3584"/>
                <a:ext cx="562" cy="240"/>
              </a:xfrm>
              <a:prstGeom prst="rect">
                <a:avLst/>
              </a:prstGeom>
              <a:grp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grpSp>
        <p:sp>
          <p:nvSpPr>
            <p:cNvPr id="16" name="Text Box 22"/>
            <p:cNvSpPr txBox="1">
              <a:spLocks noChangeArrowheads="1"/>
            </p:cNvSpPr>
            <p:nvPr/>
          </p:nvSpPr>
          <p:spPr bwMode="auto">
            <a:xfrm>
              <a:off x="721060" y="962986"/>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60K-64K</a:t>
              </a:r>
            </a:p>
          </p:txBody>
        </p:sp>
        <p:sp>
          <p:nvSpPr>
            <p:cNvPr id="17" name="Text Box 23"/>
            <p:cNvSpPr txBox="1">
              <a:spLocks noChangeArrowheads="1"/>
            </p:cNvSpPr>
            <p:nvPr/>
          </p:nvSpPr>
          <p:spPr bwMode="auto">
            <a:xfrm>
              <a:off x="724499" y="1196014"/>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56K-60K</a:t>
              </a:r>
            </a:p>
          </p:txBody>
        </p:sp>
        <p:sp>
          <p:nvSpPr>
            <p:cNvPr id="18" name="Text Box 24"/>
            <p:cNvSpPr txBox="1">
              <a:spLocks noChangeArrowheads="1"/>
            </p:cNvSpPr>
            <p:nvPr/>
          </p:nvSpPr>
          <p:spPr bwMode="auto">
            <a:xfrm>
              <a:off x="721060" y="1390578"/>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52K-56K</a:t>
              </a:r>
            </a:p>
          </p:txBody>
        </p:sp>
        <p:sp>
          <p:nvSpPr>
            <p:cNvPr id="19" name="Text Box 25"/>
            <p:cNvSpPr txBox="1">
              <a:spLocks noChangeArrowheads="1"/>
            </p:cNvSpPr>
            <p:nvPr/>
          </p:nvSpPr>
          <p:spPr bwMode="auto">
            <a:xfrm>
              <a:off x="721060" y="1614643"/>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48K-52K</a:t>
              </a:r>
            </a:p>
          </p:txBody>
        </p:sp>
        <p:sp>
          <p:nvSpPr>
            <p:cNvPr id="20" name="Text Box 26"/>
            <p:cNvSpPr txBox="1">
              <a:spLocks noChangeArrowheads="1"/>
            </p:cNvSpPr>
            <p:nvPr/>
          </p:nvSpPr>
          <p:spPr bwMode="auto">
            <a:xfrm>
              <a:off x="721060" y="1832358"/>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44K-48K</a:t>
              </a:r>
            </a:p>
          </p:txBody>
        </p:sp>
        <p:sp>
          <p:nvSpPr>
            <p:cNvPr id="21" name="Text Box 27"/>
            <p:cNvSpPr txBox="1">
              <a:spLocks noChangeArrowheads="1"/>
            </p:cNvSpPr>
            <p:nvPr/>
          </p:nvSpPr>
          <p:spPr bwMode="auto">
            <a:xfrm>
              <a:off x="721060" y="2035886"/>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40K-44K</a:t>
              </a:r>
            </a:p>
          </p:txBody>
        </p:sp>
        <p:sp>
          <p:nvSpPr>
            <p:cNvPr id="22" name="Text Box 28"/>
            <p:cNvSpPr txBox="1">
              <a:spLocks noChangeArrowheads="1"/>
            </p:cNvSpPr>
            <p:nvPr/>
          </p:nvSpPr>
          <p:spPr bwMode="auto">
            <a:xfrm>
              <a:off x="721060" y="2250988"/>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36K-40K</a:t>
              </a:r>
            </a:p>
          </p:txBody>
        </p:sp>
        <p:sp>
          <p:nvSpPr>
            <p:cNvPr id="23" name="Text Box 29"/>
            <p:cNvSpPr txBox="1">
              <a:spLocks noChangeArrowheads="1"/>
            </p:cNvSpPr>
            <p:nvPr/>
          </p:nvSpPr>
          <p:spPr bwMode="auto">
            <a:xfrm>
              <a:off x="721060" y="2468703"/>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32K-36K</a:t>
              </a:r>
            </a:p>
          </p:txBody>
        </p:sp>
        <p:sp>
          <p:nvSpPr>
            <p:cNvPr id="24" name="Text Box 30"/>
            <p:cNvSpPr txBox="1">
              <a:spLocks noChangeArrowheads="1"/>
            </p:cNvSpPr>
            <p:nvPr/>
          </p:nvSpPr>
          <p:spPr bwMode="auto">
            <a:xfrm>
              <a:off x="721060" y="2681193"/>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28K-32K</a:t>
              </a:r>
            </a:p>
          </p:txBody>
        </p:sp>
        <p:sp>
          <p:nvSpPr>
            <p:cNvPr id="25" name="Text Box 31"/>
            <p:cNvSpPr txBox="1">
              <a:spLocks noChangeArrowheads="1"/>
            </p:cNvSpPr>
            <p:nvPr/>
          </p:nvSpPr>
          <p:spPr bwMode="auto">
            <a:xfrm>
              <a:off x="721060" y="2905258"/>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24K-28K</a:t>
              </a:r>
            </a:p>
          </p:txBody>
        </p:sp>
        <p:sp>
          <p:nvSpPr>
            <p:cNvPr id="26" name="Text Box 32"/>
            <p:cNvSpPr txBox="1">
              <a:spLocks noChangeArrowheads="1"/>
            </p:cNvSpPr>
            <p:nvPr/>
          </p:nvSpPr>
          <p:spPr bwMode="auto">
            <a:xfrm>
              <a:off x="721060" y="3108785"/>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20K-24K</a:t>
              </a:r>
            </a:p>
          </p:txBody>
        </p:sp>
        <p:sp>
          <p:nvSpPr>
            <p:cNvPr id="27" name="Text Box 33"/>
            <p:cNvSpPr txBox="1">
              <a:spLocks noChangeArrowheads="1"/>
            </p:cNvSpPr>
            <p:nvPr/>
          </p:nvSpPr>
          <p:spPr bwMode="auto">
            <a:xfrm>
              <a:off x="721060" y="3321275"/>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16K-20K</a:t>
              </a:r>
            </a:p>
          </p:txBody>
        </p:sp>
        <p:sp>
          <p:nvSpPr>
            <p:cNvPr id="28" name="Text Box 34"/>
            <p:cNvSpPr txBox="1">
              <a:spLocks noChangeArrowheads="1"/>
            </p:cNvSpPr>
            <p:nvPr/>
          </p:nvSpPr>
          <p:spPr bwMode="auto">
            <a:xfrm>
              <a:off x="721060" y="3527415"/>
              <a:ext cx="10660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12K-16K</a:t>
              </a:r>
            </a:p>
          </p:txBody>
        </p:sp>
        <p:sp>
          <p:nvSpPr>
            <p:cNvPr id="29" name="Text Box 35"/>
            <p:cNvSpPr txBox="1">
              <a:spLocks noChangeArrowheads="1"/>
            </p:cNvSpPr>
            <p:nvPr/>
          </p:nvSpPr>
          <p:spPr bwMode="auto">
            <a:xfrm>
              <a:off x="683568" y="3754092"/>
              <a:ext cx="10007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 8K-12K</a:t>
              </a:r>
            </a:p>
          </p:txBody>
        </p:sp>
        <p:sp>
          <p:nvSpPr>
            <p:cNvPr id="30" name="Text Box 36"/>
            <p:cNvSpPr txBox="1">
              <a:spLocks noChangeArrowheads="1"/>
            </p:cNvSpPr>
            <p:nvPr/>
          </p:nvSpPr>
          <p:spPr bwMode="auto">
            <a:xfrm>
              <a:off x="683568" y="3957620"/>
              <a:ext cx="995562"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   4K-8K</a:t>
              </a:r>
            </a:p>
          </p:txBody>
        </p:sp>
        <p:sp>
          <p:nvSpPr>
            <p:cNvPr id="31" name="Text Box 37"/>
            <p:cNvSpPr txBox="1">
              <a:spLocks noChangeArrowheads="1"/>
            </p:cNvSpPr>
            <p:nvPr/>
          </p:nvSpPr>
          <p:spPr bwMode="auto">
            <a:xfrm>
              <a:off x="683568" y="4175335"/>
              <a:ext cx="995562"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   0K-4K</a:t>
              </a:r>
            </a:p>
          </p:txBody>
        </p:sp>
        <p:sp>
          <p:nvSpPr>
            <p:cNvPr id="33" name="Text Box 70"/>
            <p:cNvSpPr txBox="1">
              <a:spLocks noChangeArrowheads="1"/>
            </p:cNvSpPr>
            <p:nvPr/>
          </p:nvSpPr>
          <p:spPr bwMode="auto">
            <a:xfrm>
              <a:off x="251520" y="972845"/>
              <a:ext cx="4384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15</a:t>
              </a:r>
            </a:p>
          </p:txBody>
        </p:sp>
        <p:sp>
          <p:nvSpPr>
            <p:cNvPr id="34" name="Text Box 71"/>
            <p:cNvSpPr txBox="1">
              <a:spLocks noChangeArrowheads="1"/>
            </p:cNvSpPr>
            <p:nvPr/>
          </p:nvSpPr>
          <p:spPr bwMode="auto">
            <a:xfrm>
              <a:off x="251520" y="1196910"/>
              <a:ext cx="4384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14</a:t>
              </a:r>
            </a:p>
          </p:txBody>
        </p:sp>
        <p:sp>
          <p:nvSpPr>
            <p:cNvPr id="35" name="Text Box 72"/>
            <p:cNvSpPr txBox="1">
              <a:spLocks noChangeArrowheads="1"/>
            </p:cNvSpPr>
            <p:nvPr/>
          </p:nvSpPr>
          <p:spPr bwMode="auto">
            <a:xfrm>
              <a:off x="251520" y="1400437"/>
              <a:ext cx="4384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13</a:t>
              </a:r>
            </a:p>
          </p:txBody>
        </p:sp>
        <p:sp>
          <p:nvSpPr>
            <p:cNvPr id="36" name="Text Box 73"/>
            <p:cNvSpPr txBox="1">
              <a:spLocks noChangeArrowheads="1"/>
            </p:cNvSpPr>
            <p:nvPr/>
          </p:nvSpPr>
          <p:spPr bwMode="auto">
            <a:xfrm>
              <a:off x="251520" y="1624502"/>
              <a:ext cx="4384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12</a:t>
              </a:r>
            </a:p>
          </p:txBody>
        </p:sp>
        <p:sp>
          <p:nvSpPr>
            <p:cNvPr id="37" name="Text Box 74"/>
            <p:cNvSpPr txBox="1">
              <a:spLocks noChangeArrowheads="1"/>
            </p:cNvSpPr>
            <p:nvPr/>
          </p:nvSpPr>
          <p:spPr bwMode="auto">
            <a:xfrm>
              <a:off x="251520" y="1842217"/>
              <a:ext cx="4384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11</a:t>
              </a:r>
            </a:p>
          </p:txBody>
        </p:sp>
        <p:sp>
          <p:nvSpPr>
            <p:cNvPr id="38" name="Text Box 75"/>
            <p:cNvSpPr txBox="1">
              <a:spLocks noChangeArrowheads="1"/>
            </p:cNvSpPr>
            <p:nvPr/>
          </p:nvSpPr>
          <p:spPr bwMode="auto">
            <a:xfrm>
              <a:off x="251520" y="2045745"/>
              <a:ext cx="438459"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10</a:t>
              </a:r>
            </a:p>
          </p:txBody>
        </p:sp>
        <p:sp>
          <p:nvSpPr>
            <p:cNvPr id="39" name="Text Box 76"/>
            <p:cNvSpPr txBox="1">
              <a:spLocks noChangeArrowheads="1"/>
            </p:cNvSpPr>
            <p:nvPr/>
          </p:nvSpPr>
          <p:spPr bwMode="auto">
            <a:xfrm>
              <a:off x="320970" y="2260847"/>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9</a:t>
              </a:r>
            </a:p>
          </p:txBody>
        </p:sp>
        <p:sp>
          <p:nvSpPr>
            <p:cNvPr id="40" name="Text Box 77"/>
            <p:cNvSpPr txBox="1">
              <a:spLocks noChangeArrowheads="1"/>
            </p:cNvSpPr>
            <p:nvPr/>
          </p:nvSpPr>
          <p:spPr bwMode="auto">
            <a:xfrm>
              <a:off x="320970" y="2478562"/>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8</a:t>
              </a:r>
            </a:p>
          </p:txBody>
        </p:sp>
        <p:sp>
          <p:nvSpPr>
            <p:cNvPr id="41" name="Text Box 78"/>
            <p:cNvSpPr txBox="1">
              <a:spLocks noChangeArrowheads="1"/>
            </p:cNvSpPr>
            <p:nvPr/>
          </p:nvSpPr>
          <p:spPr bwMode="auto">
            <a:xfrm>
              <a:off x="320970" y="2691052"/>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7</a:t>
              </a:r>
            </a:p>
          </p:txBody>
        </p:sp>
        <p:sp>
          <p:nvSpPr>
            <p:cNvPr id="42" name="Text Box 79"/>
            <p:cNvSpPr txBox="1">
              <a:spLocks noChangeArrowheads="1"/>
            </p:cNvSpPr>
            <p:nvPr/>
          </p:nvSpPr>
          <p:spPr bwMode="auto">
            <a:xfrm>
              <a:off x="320970" y="2915117"/>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6</a:t>
              </a:r>
            </a:p>
          </p:txBody>
        </p:sp>
        <p:sp>
          <p:nvSpPr>
            <p:cNvPr id="43" name="Text Box 80"/>
            <p:cNvSpPr txBox="1">
              <a:spLocks noChangeArrowheads="1"/>
            </p:cNvSpPr>
            <p:nvPr/>
          </p:nvSpPr>
          <p:spPr bwMode="auto">
            <a:xfrm>
              <a:off x="320970" y="3118644"/>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5</a:t>
              </a:r>
            </a:p>
          </p:txBody>
        </p:sp>
        <p:sp>
          <p:nvSpPr>
            <p:cNvPr id="44" name="Text Box 81"/>
            <p:cNvSpPr txBox="1">
              <a:spLocks noChangeArrowheads="1"/>
            </p:cNvSpPr>
            <p:nvPr/>
          </p:nvSpPr>
          <p:spPr bwMode="auto">
            <a:xfrm>
              <a:off x="320970" y="3331134"/>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4</a:t>
              </a:r>
            </a:p>
          </p:txBody>
        </p:sp>
        <p:sp>
          <p:nvSpPr>
            <p:cNvPr id="45" name="Text Box 82"/>
            <p:cNvSpPr txBox="1">
              <a:spLocks noChangeArrowheads="1"/>
            </p:cNvSpPr>
            <p:nvPr/>
          </p:nvSpPr>
          <p:spPr bwMode="auto">
            <a:xfrm>
              <a:off x="320970" y="3537274"/>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3</a:t>
              </a:r>
            </a:p>
          </p:txBody>
        </p:sp>
        <p:sp>
          <p:nvSpPr>
            <p:cNvPr id="46" name="Text Box 83"/>
            <p:cNvSpPr txBox="1">
              <a:spLocks noChangeArrowheads="1"/>
            </p:cNvSpPr>
            <p:nvPr/>
          </p:nvSpPr>
          <p:spPr bwMode="auto">
            <a:xfrm>
              <a:off x="332545" y="3763951"/>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a:t>
              </a:r>
            </a:p>
          </p:txBody>
        </p:sp>
        <p:sp>
          <p:nvSpPr>
            <p:cNvPr id="47" name="Text Box 84"/>
            <p:cNvSpPr txBox="1">
              <a:spLocks noChangeArrowheads="1"/>
            </p:cNvSpPr>
            <p:nvPr/>
          </p:nvSpPr>
          <p:spPr bwMode="auto">
            <a:xfrm>
              <a:off x="329106" y="3967479"/>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cs typeface="MS PGothic" charset="0"/>
                </a:rPr>
                <a:t>1</a:t>
              </a:r>
            </a:p>
          </p:txBody>
        </p:sp>
        <p:sp>
          <p:nvSpPr>
            <p:cNvPr id="48" name="Text Box 85"/>
            <p:cNvSpPr txBox="1">
              <a:spLocks noChangeArrowheads="1"/>
            </p:cNvSpPr>
            <p:nvPr/>
          </p:nvSpPr>
          <p:spPr bwMode="auto">
            <a:xfrm>
              <a:off x="329106" y="4185194"/>
              <a:ext cx="311220" cy="338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0</a:t>
              </a:r>
            </a:p>
          </p:txBody>
        </p:sp>
      </p:grpSp>
      <p:grpSp>
        <p:nvGrpSpPr>
          <p:cNvPr id="65" name="组合 64"/>
          <p:cNvGrpSpPr/>
          <p:nvPr/>
        </p:nvGrpSpPr>
        <p:grpSpPr>
          <a:xfrm>
            <a:off x="6660206" y="3674782"/>
            <a:ext cx="2388095" cy="1849881"/>
            <a:chOff x="4857909" y="2720935"/>
            <a:chExt cx="2388095" cy="1849881"/>
          </a:xfrm>
        </p:grpSpPr>
        <p:grpSp>
          <p:nvGrpSpPr>
            <p:cNvPr id="66" name="Group 38"/>
            <p:cNvGrpSpPr>
              <a:grpSpLocks/>
            </p:cNvGrpSpPr>
            <p:nvPr/>
          </p:nvGrpSpPr>
          <p:grpSpPr bwMode="auto">
            <a:xfrm>
              <a:off x="4857909" y="2753201"/>
              <a:ext cx="966331" cy="1697516"/>
              <a:chOff x="0" y="26"/>
              <a:chExt cx="562" cy="1894"/>
            </a:xfrm>
          </p:grpSpPr>
          <p:sp>
            <p:nvSpPr>
              <p:cNvPr id="86" name="Rectangle 39"/>
              <p:cNvSpPr>
                <a:spLocks noChangeArrowheads="1"/>
              </p:cNvSpPr>
              <p:nvPr/>
            </p:nvSpPr>
            <p:spPr bwMode="auto">
              <a:xfrm>
                <a:off x="0" y="26"/>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87" name="Rectangle 40"/>
              <p:cNvSpPr>
                <a:spLocks noChangeArrowheads="1"/>
              </p:cNvSpPr>
              <p:nvPr/>
            </p:nvSpPr>
            <p:spPr bwMode="auto">
              <a:xfrm>
                <a:off x="0" y="259"/>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88" name="Rectangle 41"/>
              <p:cNvSpPr>
                <a:spLocks noChangeArrowheads="1"/>
              </p:cNvSpPr>
              <p:nvPr/>
            </p:nvSpPr>
            <p:spPr bwMode="auto">
              <a:xfrm>
                <a:off x="0" y="499"/>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89" name="Rectangle 42"/>
              <p:cNvSpPr>
                <a:spLocks noChangeArrowheads="1"/>
              </p:cNvSpPr>
              <p:nvPr/>
            </p:nvSpPr>
            <p:spPr bwMode="auto">
              <a:xfrm>
                <a:off x="0" y="740"/>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90" name="Rectangle 43"/>
              <p:cNvSpPr>
                <a:spLocks noChangeArrowheads="1"/>
              </p:cNvSpPr>
              <p:nvPr/>
            </p:nvSpPr>
            <p:spPr bwMode="auto">
              <a:xfrm>
                <a:off x="0" y="970"/>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91" name="Rectangle 44"/>
              <p:cNvSpPr>
                <a:spLocks noChangeArrowheads="1"/>
              </p:cNvSpPr>
              <p:nvPr/>
            </p:nvSpPr>
            <p:spPr bwMode="auto">
              <a:xfrm>
                <a:off x="0" y="1210"/>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92" name="Rectangle 45"/>
              <p:cNvSpPr>
                <a:spLocks noChangeArrowheads="1"/>
              </p:cNvSpPr>
              <p:nvPr/>
            </p:nvSpPr>
            <p:spPr bwMode="auto">
              <a:xfrm>
                <a:off x="0" y="1450"/>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93" name="Rectangle 46"/>
              <p:cNvSpPr>
                <a:spLocks noChangeArrowheads="1"/>
              </p:cNvSpPr>
              <p:nvPr/>
            </p:nvSpPr>
            <p:spPr bwMode="auto">
              <a:xfrm>
                <a:off x="0" y="1680"/>
                <a:ext cx="562" cy="240"/>
              </a:xfrm>
              <a:prstGeom prst="rect">
                <a:avLst/>
              </a:prstGeom>
              <a:gradFill>
                <a:gsLst>
                  <a:gs pos="100000">
                    <a:srgbClr val="33FFFF"/>
                  </a:gs>
                  <a:gs pos="0">
                    <a:srgbClr val="99FFFF"/>
                  </a:gs>
                  <a:gs pos="100000">
                    <a:schemeClr val="accent1">
                      <a:tint val="23500"/>
                      <a:satMod val="160000"/>
                    </a:schemeClr>
                  </a:gs>
                </a:gsLst>
                <a:lin ang="5400000" scaled="0"/>
              </a:gra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grpSp>
        <p:grpSp>
          <p:nvGrpSpPr>
            <p:cNvPr id="67" name="Group 47"/>
            <p:cNvGrpSpPr>
              <a:grpSpLocks/>
            </p:cNvGrpSpPr>
            <p:nvPr/>
          </p:nvGrpSpPr>
          <p:grpSpPr bwMode="auto">
            <a:xfrm>
              <a:off x="5868144" y="2720935"/>
              <a:ext cx="1066060" cy="1844503"/>
              <a:chOff x="-269" y="0"/>
              <a:chExt cx="682" cy="2058"/>
            </a:xfrm>
          </p:grpSpPr>
          <p:sp>
            <p:nvSpPr>
              <p:cNvPr id="78" name="Text Box 48"/>
              <p:cNvSpPr txBox="1">
                <a:spLocks noChangeArrowheads="1"/>
              </p:cNvSpPr>
              <p:nvPr/>
            </p:nvSpPr>
            <p:spPr bwMode="auto">
              <a:xfrm>
                <a:off x="-269" y="0"/>
                <a:ext cx="682"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28K-32K</a:t>
                </a:r>
              </a:p>
            </p:txBody>
          </p:sp>
          <p:sp>
            <p:nvSpPr>
              <p:cNvPr id="79" name="Text Box 49"/>
              <p:cNvSpPr txBox="1">
                <a:spLocks noChangeArrowheads="1"/>
              </p:cNvSpPr>
              <p:nvPr/>
            </p:nvSpPr>
            <p:spPr bwMode="auto">
              <a:xfrm>
                <a:off x="-269" y="250"/>
                <a:ext cx="682"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24K-28K</a:t>
                </a:r>
              </a:p>
            </p:txBody>
          </p:sp>
          <p:sp>
            <p:nvSpPr>
              <p:cNvPr id="80" name="Text Box 50"/>
              <p:cNvSpPr txBox="1">
                <a:spLocks noChangeArrowheads="1"/>
              </p:cNvSpPr>
              <p:nvPr/>
            </p:nvSpPr>
            <p:spPr bwMode="auto">
              <a:xfrm>
                <a:off x="-269" y="490"/>
                <a:ext cx="682"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20K-24K</a:t>
                </a:r>
              </a:p>
            </p:txBody>
          </p:sp>
          <p:sp>
            <p:nvSpPr>
              <p:cNvPr id="81" name="Text Box 51"/>
              <p:cNvSpPr txBox="1">
                <a:spLocks noChangeArrowheads="1"/>
              </p:cNvSpPr>
              <p:nvPr/>
            </p:nvSpPr>
            <p:spPr bwMode="auto">
              <a:xfrm>
                <a:off x="-269" y="740"/>
                <a:ext cx="682"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16K-20K</a:t>
                </a:r>
              </a:p>
            </p:txBody>
          </p:sp>
          <p:sp>
            <p:nvSpPr>
              <p:cNvPr id="82" name="Text Box 52"/>
              <p:cNvSpPr txBox="1">
                <a:spLocks noChangeArrowheads="1"/>
              </p:cNvSpPr>
              <p:nvPr/>
            </p:nvSpPr>
            <p:spPr bwMode="auto">
              <a:xfrm>
                <a:off x="-269" y="970"/>
                <a:ext cx="682"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12K-16K</a:t>
                </a:r>
              </a:p>
            </p:txBody>
          </p:sp>
          <p:sp>
            <p:nvSpPr>
              <p:cNvPr id="83" name="Text Box 53"/>
              <p:cNvSpPr txBox="1">
                <a:spLocks noChangeArrowheads="1"/>
              </p:cNvSpPr>
              <p:nvPr/>
            </p:nvSpPr>
            <p:spPr bwMode="auto">
              <a:xfrm>
                <a:off x="-269" y="1210"/>
                <a:ext cx="640"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 8K-12K</a:t>
                </a:r>
              </a:p>
            </p:txBody>
          </p:sp>
          <p:sp>
            <p:nvSpPr>
              <p:cNvPr id="84" name="Text Box 54"/>
              <p:cNvSpPr txBox="1">
                <a:spLocks noChangeArrowheads="1"/>
              </p:cNvSpPr>
              <p:nvPr/>
            </p:nvSpPr>
            <p:spPr bwMode="auto">
              <a:xfrm>
                <a:off x="-269" y="1450"/>
                <a:ext cx="637"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   4K-8K</a:t>
                </a:r>
              </a:p>
            </p:txBody>
          </p:sp>
          <p:sp>
            <p:nvSpPr>
              <p:cNvPr id="85" name="Text Box 55"/>
              <p:cNvSpPr txBox="1">
                <a:spLocks noChangeArrowheads="1"/>
              </p:cNvSpPr>
              <p:nvPr/>
            </p:nvSpPr>
            <p:spPr bwMode="auto">
              <a:xfrm>
                <a:off x="-269" y="1680"/>
                <a:ext cx="637"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   0K-4K</a:t>
                </a:r>
              </a:p>
            </p:txBody>
          </p:sp>
        </p:grpSp>
        <p:grpSp>
          <p:nvGrpSpPr>
            <p:cNvPr id="69" name="Group 86"/>
            <p:cNvGrpSpPr>
              <a:grpSpLocks/>
            </p:cNvGrpSpPr>
            <p:nvPr/>
          </p:nvGrpSpPr>
          <p:grpSpPr bwMode="auto">
            <a:xfrm>
              <a:off x="6934941" y="2726313"/>
              <a:ext cx="311063" cy="1844503"/>
              <a:chOff x="-269" y="0"/>
              <a:chExt cx="199" cy="2058"/>
            </a:xfrm>
          </p:grpSpPr>
          <p:sp>
            <p:nvSpPr>
              <p:cNvPr id="70" name="Text Box 87"/>
              <p:cNvSpPr txBox="1">
                <a:spLocks noChangeArrowheads="1"/>
              </p:cNvSpPr>
              <p:nvPr/>
            </p:nvSpPr>
            <p:spPr bwMode="auto">
              <a:xfrm>
                <a:off x="-269" y="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7</a:t>
                </a:r>
              </a:p>
            </p:txBody>
          </p:sp>
          <p:sp>
            <p:nvSpPr>
              <p:cNvPr id="71" name="Text Box 88"/>
              <p:cNvSpPr txBox="1">
                <a:spLocks noChangeArrowheads="1"/>
              </p:cNvSpPr>
              <p:nvPr/>
            </p:nvSpPr>
            <p:spPr bwMode="auto">
              <a:xfrm>
                <a:off x="-269" y="25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6</a:t>
                </a:r>
              </a:p>
            </p:txBody>
          </p:sp>
          <p:sp>
            <p:nvSpPr>
              <p:cNvPr id="72" name="Text Box 89"/>
              <p:cNvSpPr txBox="1">
                <a:spLocks noChangeArrowheads="1"/>
              </p:cNvSpPr>
              <p:nvPr/>
            </p:nvSpPr>
            <p:spPr bwMode="auto">
              <a:xfrm>
                <a:off x="-269" y="49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5</a:t>
                </a:r>
              </a:p>
            </p:txBody>
          </p:sp>
          <p:sp>
            <p:nvSpPr>
              <p:cNvPr id="73" name="Text Box 90"/>
              <p:cNvSpPr txBox="1">
                <a:spLocks noChangeArrowheads="1"/>
              </p:cNvSpPr>
              <p:nvPr/>
            </p:nvSpPr>
            <p:spPr bwMode="auto">
              <a:xfrm>
                <a:off x="-269" y="74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4</a:t>
                </a:r>
              </a:p>
            </p:txBody>
          </p:sp>
          <p:sp>
            <p:nvSpPr>
              <p:cNvPr id="74" name="Text Box 91"/>
              <p:cNvSpPr txBox="1">
                <a:spLocks noChangeArrowheads="1"/>
              </p:cNvSpPr>
              <p:nvPr/>
            </p:nvSpPr>
            <p:spPr bwMode="auto">
              <a:xfrm>
                <a:off x="-269" y="97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3</a:t>
                </a:r>
              </a:p>
            </p:txBody>
          </p:sp>
          <p:sp>
            <p:nvSpPr>
              <p:cNvPr id="75" name="Text Box 92"/>
              <p:cNvSpPr txBox="1">
                <a:spLocks noChangeArrowheads="1"/>
              </p:cNvSpPr>
              <p:nvPr/>
            </p:nvSpPr>
            <p:spPr bwMode="auto">
              <a:xfrm>
                <a:off x="-269" y="121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2</a:t>
                </a:r>
              </a:p>
            </p:txBody>
          </p:sp>
          <p:sp>
            <p:nvSpPr>
              <p:cNvPr id="76" name="Text Box 93"/>
              <p:cNvSpPr txBox="1">
                <a:spLocks noChangeArrowheads="1"/>
              </p:cNvSpPr>
              <p:nvPr/>
            </p:nvSpPr>
            <p:spPr bwMode="auto">
              <a:xfrm>
                <a:off x="-269" y="145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1</a:t>
                </a:r>
              </a:p>
            </p:txBody>
          </p:sp>
          <p:sp>
            <p:nvSpPr>
              <p:cNvPr id="77" name="Text Box 94"/>
              <p:cNvSpPr txBox="1">
                <a:spLocks noChangeArrowheads="1"/>
              </p:cNvSpPr>
              <p:nvPr/>
            </p:nvSpPr>
            <p:spPr bwMode="auto">
              <a:xfrm>
                <a:off x="-269" y="1680"/>
                <a:ext cx="199" cy="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a:solidFill>
                      <a:srgbClr val="11576A"/>
                    </a:solidFill>
                    <a:latin typeface="微软雅黑" pitchFamily="34" charset="-122"/>
                    <a:ea typeface="微软雅黑" pitchFamily="34" charset="-122"/>
                    <a:cs typeface="MS PGothic" charset="0"/>
                  </a:rPr>
                  <a:t>0</a:t>
                </a:r>
              </a:p>
            </p:txBody>
          </p:sp>
        </p:grpSp>
      </p:grpSp>
      <p:sp>
        <p:nvSpPr>
          <p:cNvPr id="94" name="Text Box 98"/>
          <p:cNvSpPr txBox="1">
            <a:spLocks noChangeArrowheads="1"/>
          </p:cNvSpPr>
          <p:nvPr/>
        </p:nvSpPr>
        <p:spPr bwMode="auto">
          <a:xfrm>
            <a:off x="6518312" y="2777119"/>
            <a:ext cx="1959026" cy="338554"/>
          </a:xfrm>
          <a:prstGeom prst="rect">
            <a:avLst/>
          </a:prstGeom>
          <a:noFill/>
          <a:ln>
            <a:noFill/>
          </a:ln>
          <a:effectLst/>
          <a:extLst>
            <a:ext uri="{909E8E84-426E-40dd-AFC4-6F175D3DCCD1}">
              <a14:hiddenFill xmlns:a14="http://schemas.microsoft.com/office/drawing/2010/main" xmlns="">
                <a:gradFill rotWithShape="0">
                  <a:gsLst>
                    <a:gs pos="0">
                      <a:srgbClr val="ADE7EB"/>
                    </a:gs>
                    <a:gs pos="100000">
                      <a:srgbClr val="FFFFFF"/>
                    </a:gs>
                  </a:gsLst>
                  <a:path path="shape">
                    <a:fillToRect l="50000" t="50000" r="50000" b="50000"/>
                  </a:path>
                </a:gra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rPr>
              <a:t>MOV  REG,  8192</a:t>
            </a:r>
          </a:p>
        </p:txBody>
      </p:sp>
      <p:sp>
        <p:nvSpPr>
          <p:cNvPr id="95" name="Text Box 99"/>
          <p:cNvSpPr txBox="1">
            <a:spLocks noChangeArrowheads="1"/>
          </p:cNvSpPr>
          <p:nvPr/>
        </p:nvSpPr>
        <p:spPr bwMode="auto">
          <a:xfrm>
            <a:off x="6529181" y="3024993"/>
            <a:ext cx="2064989" cy="338554"/>
          </a:xfrm>
          <a:prstGeom prst="rect">
            <a:avLst/>
          </a:prstGeom>
          <a:noFill/>
          <a:ln>
            <a:noFill/>
          </a:ln>
          <a:effectLst/>
          <a:extLst>
            <a:ext uri="{909E8E84-426E-40dd-AFC4-6F175D3DCCD1}">
              <a14:hiddenFill xmlns:a14="http://schemas.microsoft.com/office/drawing/2010/main" xmlns="">
                <a:gradFill rotWithShape="0">
                  <a:gsLst>
                    <a:gs pos="0">
                      <a:srgbClr val="ADE7EB"/>
                    </a:gs>
                    <a:gs pos="100000">
                      <a:srgbClr val="FFFFFF"/>
                    </a:gs>
                  </a:gsLst>
                  <a:path path="shape">
                    <a:fillToRect l="50000" t="50000" r="50000" b="50000"/>
                  </a:path>
                </a:gra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r>
              <a:rPr lang="zh-CN" altLang="en-US" sz="1600" b="1" dirty="0">
                <a:solidFill>
                  <a:srgbClr val="11576A"/>
                </a:solidFill>
                <a:latin typeface="微软雅黑" pitchFamily="34" charset="-122"/>
                <a:ea typeface="微软雅黑" pitchFamily="34" charset="-122"/>
              </a:rPr>
              <a:t>MOV  REG,  32780</a:t>
            </a:r>
          </a:p>
        </p:txBody>
      </p:sp>
      <p:sp>
        <p:nvSpPr>
          <p:cNvPr id="96" name="Rectangle 101"/>
          <p:cNvSpPr>
            <a:spLocks noChangeArrowheads="1"/>
          </p:cNvSpPr>
          <p:nvPr/>
        </p:nvSpPr>
        <p:spPr bwMode="auto">
          <a:xfrm>
            <a:off x="8637163" y="3010959"/>
            <a:ext cx="2092239" cy="584775"/>
          </a:xfrm>
          <a:prstGeom prst="rect">
            <a:avLst/>
          </a:prstGeom>
          <a:noFill/>
          <a:ln>
            <a:noFill/>
          </a:ln>
          <a:effectLst/>
          <a:extLs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p>
            <a:r>
              <a:rPr lang="zh-CN" altLang="en-US" sz="1600" b="1" dirty="0">
                <a:solidFill>
                  <a:srgbClr val="C00000"/>
                </a:solidFill>
                <a:latin typeface="微软雅黑" pitchFamily="34" charset="-122"/>
                <a:ea typeface="微软雅黑" pitchFamily="34" charset="-122"/>
              </a:rPr>
              <a:t>缺页</a:t>
            </a:r>
            <a:endParaRPr lang="en-US" altLang="zh-CN" sz="1600" b="1" dirty="0">
              <a:solidFill>
                <a:srgbClr val="C00000"/>
              </a:solidFill>
              <a:latin typeface="微软雅黑" pitchFamily="34" charset="-122"/>
              <a:ea typeface="微软雅黑" pitchFamily="34" charset="-122"/>
            </a:endParaRPr>
          </a:p>
          <a:p>
            <a:r>
              <a:rPr lang="zh-CN" altLang="en-US" sz="1600" b="1" dirty="0">
                <a:solidFill>
                  <a:srgbClr val="C00000"/>
                </a:solidFill>
                <a:latin typeface="微软雅黑" pitchFamily="34" charset="-122"/>
                <a:ea typeface="微软雅黑" pitchFamily="34" charset="-122"/>
              </a:rPr>
              <a:t>但已经没有空闲页帧</a:t>
            </a:r>
          </a:p>
        </p:txBody>
      </p:sp>
      <p:sp>
        <p:nvSpPr>
          <p:cNvPr id="102" name="Rectangle 18"/>
          <p:cNvSpPr>
            <a:spLocks noChangeArrowheads="1"/>
          </p:cNvSpPr>
          <p:nvPr/>
        </p:nvSpPr>
        <p:spPr bwMode="auto">
          <a:xfrm>
            <a:off x="3674361" y="4755803"/>
            <a:ext cx="966331" cy="215102"/>
          </a:xfrm>
          <a:prstGeom prst="rect">
            <a:avLst/>
          </a:prstGeom>
          <a:solidFill>
            <a:srgbClr val="FFFF00"/>
          </a:soli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sp>
        <p:nvSpPr>
          <p:cNvPr id="103" name="Rectangle 12"/>
          <p:cNvSpPr>
            <a:spLocks noChangeArrowheads="1"/>
          </p:cNvSpPr>
          <p:nvPr/>
        </p:nvSpPr>
        <p:spPr bwMode="auto">
          <a:xfrm>
            <a:off x="3670197" y="3464031"/>
            <a:ext cx="966331" cy="215102"/>
          </a:xfrm>
          <a:prstGeom prst="rect">
            <a:avLst/>
          </a:prstGeom>
          <a:solidFill>
            <a:schemeClr val="accent6">
              <a:lumMod val="60000"/>
              <a:lumOff val="40000"/>
            </a:schemeClr>
          </a:soli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dirty="0">
              <a:solidFill>
                <a:srgbClr val="11576A"/>
              </a:solidFill>
              <a:latin typeface="微软雅黑" pitchFamily="34" charset="-122"/>
              <a:ea typeface="微软雅黑" pitchFamily="34" charset="-122"/>
              <a:cs typeface="MS PGothic" charset="0"/>
            </a:endParaRPr>
          </a:p>
        </p:txBody>
      </p:sp>
      <p:grpSp>
        <p:nvGrpSpPr>
          <p:cNvPr id="104" name="Group 4"/>
          <p:cNvGrpSpPr>
            <a:grpSpLocks/>
          </p:cNvGrpSpPr>
          <p:nvPr/>
        </p:nvGrpSpPr>
        <p:grpSpPr bwMode="auto">
          <a:xfrm>
            <a:off x="3661887" y="1983500"/>
            <a:ext cx="966331" cy="3414751"/>
            <a:chOff x="254" y="14"/>
            <a:chExt cx="562" cy="3810"/>
          </a:xfrm>
          <a:noFill/>
        </p:grpSpPr>
        <p:sp>
          <p:nvSpPr>
            <p:cNvPr id="105" name="Rectangle 5"/>
            <p:cNvSpPr>
              <a:spLocks noChangeArrowheads="1"/>
            </p:cNvSpPr>
            <p:nvPr/>
          </p:nvSpPr>
          <p:spPr bwMode="auto">
            <a:xfrm>
              <a:off x="254" y="14"/>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dirty="0">
                  <a:solidFill>
                    <a:srgbClr val="11576A"/>
                  </a:solidFill>
                  <a:latin typeface="微软雅黑" pitchFamily="34" charset="-122"/>
                  <a:ea typeface="微软雅黑" pitchFamily="34" charset="-122"/>
                  <a:cs typeface="MS PGothic" charset="0"/>
                </a:rPr>
                <a:t>X</a:t>
              </a:r>
            </a:p>
          </p:txBody>
        </p:sp>
        <p:sp>
          <p:nvSpPr>
            <p:cNvPr id="106" name="Rectangle 6"/>
            <p:cNvSpPr>
              <a:spLocks noChangeArrowheads="1"/>
            </p:cNvSpPr>
            <p:nvPr/>
          </p:nvSpPr>
          <p:spPr bwMode="auto">
            <a:xfrm>
              <a:off x="254" y="256"/>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dirty="0">
                  <a:solidFill>
                    <a:srgbClr val="11576A"/>
                  </a:solidFill>
                  <a:latin typeface="微软雅黑" pitchFamily="34" charset="-122"/>
                  <a:ea typeface="微软雅黑" pitchFamily="34" charset="-122"/>
                  <a:cs typeface="MS PGothic" charset="0"/>
                </a:rPr>
                <a:t>X</a:t>
              </a:r>
            </a:p>
          </p:txBody>
        </p:sp>
        <p:sp>
          <p:nvSpPr>
            <p:cNvPr id="107" name="Rectangle 7"/>
            <p:cNvSpPr>
              <a:spLocks noChangeArrowheads="1"/>
            </p:cNvSpPr>
            <p:nvPr/>
          </p:nvSpPr>
          <p:spPr bwMode="auto">
            <a:xfrm>
              <a:off x="254" y="496"/>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X</a:t>
              </a:r>
            </a:p>
          </p:txBody>
        </p:sp>
        <p:sp>
          <p:nvSpPr>
            <p:cNvPr id="108" name="Rectangle 8"/>
            <p:cNvSpPr>
              <a:spLocks noChangeArrowheads="1"/>
            </p:cNvSpPr>
            <p:nvPr/>
          </p:nvSpPr>
          <p:spPr bwMode="auto">
            <a:xfrm>
              <a:off x="254" y="737"/>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X</a:t>
              </a:r>
            </a:p>
          </p:txBody>
        </p:sp>
        <p:sp>
          <p:nvSpPr>
            <p:cNvPr id="109" name="Rectangle 9"/>
            <p:cNvSpPr>
              <a:spLocks noChangeArrowheads="1"/>
            </p:cNvSpPr>
            <p:nvPr/>
          </p:nvSpPr>
          <p:spPr bwMode="auto">
            <a:xfrm>
              <a:off x="254" y="967"/>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7</a:t>
              </a:r>
            </a:p>
          </p:txBody>
        </p:sp>
        <p:sp>
          <p:nvSpPr>
            <p:cNvPr id="110" name="Rectangle 10"/>
            <p:cNvSpPr>
              <a:spLocks noChangeArrowheads="1"/>
            </p:cNvSpPr>
            <p:nvPr/>
          </p:nvSpPr>
          <p:spPr bwMode="auto">
            <a:xfrm>
              <a:off x="254" y="1207"/>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dirty="0">
                  <a:solidFill>
                    <a:srgbClr val="11576A"/>
                  </a:solidFill>
                  <a:latin typeface="微软雅黑" pitchFamily="34" charset="-122"/>
                  <a:ea typeface="微软雅黑" pitchFamily="34" charset="-122"/>
                  <a:cs typeface="MS PGothic" charset="0"/>
                </a:rPr>
                <a:t>X</a:t>
              </a:r>
            </a:p>
          </p:txBody>
        </p:sp>
        <p:sp>
          <p:nvSpPr>
            <p:cNvPr id="111" name="Rectangle 11"/>
            <p:cNvSpPr>
              <a:spLocks noChangeArrowheads="1"/>
            </p:cNvSpPr>
            <p:nvPr/>
          </p:nvSpPr>
          <p:spPr bwMode="auto">
            <a:xfrm>
              <a:off x="254" y="1447"/>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5</a:t>
              </a:r>
            </a:p>
          </p:txBody>
        </p:sp>
        <p:sp>
          <p:nvSpPr>
            <p:cNvPr id="112" name="Rectangle 12"/>
            <p:cNvSpPr>
              <a:spLocks noChangeArrowheads="1"/>
            </p:cNvSpPr>
            <p:nvPr/>
          </p:nvSpPr>
          <p:spPr bwMode="auto">
            <a:xfrm>
              <a:off x="254" y="1677"/>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X</a:t>
              </a:r>
            </a:p>
          </p:txBody>
        </p:sp>
        <p:sp>
          <p:nvSpPr>
            <p:cNvPr id="113" name="Rectangle 13"/>
            <p:cNvSpPr>
              <a:spLocks noChangeArrowheads="1"/>
            </p:cNvSpPr>
            <p:nvPr/>
          </p:nvSpPr>
          <p:spPr bwMode="auto">
            <a:xfrm>
              <a:off x="254" y="1921"/>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X</a:t>
              </a:r>
            </a:p>
          </p:txBody>
        </p:sp>
        <p:sp>
          <p:nvSpPr>
            <p:cNvPr id="114" name="Rectangle 14"/>
            <p:cNvSpPr>
              <a:spLocks noChangeArrowheads="1"/>
            </p:cNvSpPr>
            <p:nvPr/>
          </p:nvSpPr>
          <p:spPr bwMode="auto">
            <a:xfrm>
              <a:off x="254" y="2163"/>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X</a:t>
              </a:r>
            </a:p>
          </p:txBody>
        </p:sp>
        <p:sp>
          <p:nvSpPr>
            <p:cNvPr id="115" name="Rectangle 15"/>
            <p:cNvSpPr>
              <a:spLocks noChangeArrowheads="1"/>
            </p:cNvSpPr>
            <p:nvPr/>
          </p:nvSpPr>
          <p:spPr bwMode="auto">
            <a:xfrm>
              <a:off x="254" y="2403"/>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3</a:t>
              </a:r>
            </a:p>
          </p:txBody>
        </p:sp>
        <p:sp>
          <p:nvSpPr>
            <p:cNvPr id="116" name="Rectangle 16"/>
            <p:cNvSpPr>
              <a:spLocks noChangeArrowheads="1"/>
            </p:cNvSpPr>
            <p:nvPr/>
          </p:nvSpPr>
          <p:spPr bwMode="auto">
            <a:xfrm>
              <a:off x="254" y="2644"/>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4</a:t>
              </a:r>
            </a:p>
          </p:txBody>
        </p:sp>
        <p:sp>
          <p:nvSpPr>
            <p:cNvPr id="117" name="Rectangle 17"/>
            <p:cNvSpPr>
              <a:spLocks noChangeArrowheads="1"/>
            </p:cNvSpPr>
            <p:nvPr/>
          </p:nvSpPr>
          <p:spPr bwMode="auto">
            <a:xfrm>
              <a:off x="254" y="2874"/>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dirty="0">
                  <a:solidFill>
                    <a:srgbClr val="11576A"/>
                  </a:solidFill>
                  <a:latin typeface="微软雅黑" pitchFamily="34" charset="-122"/>
                  <a:ea typeface="微软雅黑" pitchFamily="34" charset="-122"/>
                  <a:cs typeface="MS PGothic" charset="0"/>
                </a:rPr>
                <a:t>0</a:t>
              </a:r>
            </a:p>
          </p:txBody>
        </p:sp>
        <p:sp>
          <p:nvSpPr>
            <p:cNvPr id="118" name="Rectangle 18"/>
            <p:cNvSpPr>
              <a:spLocks noChangeArrowheads="1"/>
            </p:cNvSpPr>
            <p:nvPr/>
          </p:nvSpPr>
          <p:spPr bwMode="auto">
            <a:xfrm>
              <a:off x="254" y="3114"/>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6</a:t>
              </a:r>
            </a:p>
          </p:txBody>
        </p:sp>
        <p:sp>
          <p:nvSpPr>
            <p:cNvPr id="119" name="Rectangle 19"/>
            <p:cNvSpPr>
              <a:spLocks noChangeArrowheads="1"/>
            </p:cNvSpPr>
            <p:nvPr/>
          </p:nvSpPr>
          <p:spPr bwMode="auto">
            <a:xfrm>
              <a:off x="254" y="3354"/>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1</a:t>
              </a:r>
            </a:p>
          </p:txBody>
        </p:sp>
        <p:sp>
          <p:nvSpPr>
            <p:cNvPr id="120" name="Rectangle 20"/>
            <p:cNvSpPr>
              <a:spLocks noChangeArrowheads="1"/>
            </p:cNvSpPr>
            <p:nvPr/>
          </p:nvSpPr>
          <p:spPr bwMode="auto">
            <a:xfrm>
              <a:off x="254" y="3584"/>
              <a:ext cx="562" cy="240"/>
            </a:xfrm>
            <a:prstGeom prst="rect">
              <a:avLst/>
            </a:prstGeom>
            <a:grpFill/>
            <a:ln w="28575" cmpd="sng">
              <a:no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r>
                <a:rPr lang="zh-CN" altLang="en-US" sz="1600" b="1">
                  <a:solidFill>
                    <a:srgbClr val="11576A"/>
                  </a:solidFill>
                  <a:latin typeface="微软雅黑" pitchFamily="34" charset="-122"/>
                  <a:ea typeface="微软雅黑" pitchFamily="34" charset="-122"/>
                  <a:cs typeface="MS PGothic" charset="0"/>
                </a:rPr>
                <a:t>2</a:t>
              </a:r>
            </a:p>
          </p:txBody>
        </p:sp>
      </p:grpSp>
      <p:sp>
        <p:nvSpPr>
          <p:cNvPr id="121" name="Rectangle 40"/>
          <p:cNvSpPr>
            <a:spLocks noChangeArrowheads="1"/>
          </p:cNvSpPr>
          <p:nvPr/>
        </p:nvSpPr>
        <p:spPr bwMode="auto">
          <a:xfrm>
            <a:off x="6660206" y="3916324"/>
            <a:ext cx="966331" cy="215102"/>
          </a:xfrm>
          <a:prstGeom prst="rect">
            <a:avLst/>
          </a:prstGeom>
          <a:solidFill>
            <a:srgbClr val="FFFF00"/>
          </a:solidFill>
          <a:ln w="28575" cmpd="sng">
            <a:solidFill>
              <a:srgbClr val="11576A"/>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pPr algn="ctr"/>
            <a:endParaRPr lang="zh-CN" altLang="en-US" b="1">
              <a:solidFill>
                <a:srgbClr val="11576A"/>
              </a:solidFill>
              <a:latin typeface="微软雅黑" pitchFamily="34" charset="-122"/>
              <a:ea typeface="微软雅黑" pitchFamily="34" charset="-122"/>
              <a:cs typeface="MS PGothic" charset="0"/>
            </a:endParaRPr>
          </a:p>
        </p:txBody>
      </p:sp>
      <p:sp>
        <p:nvSpPr>
          <p:cNvPr id="122" name="Text Box 56"/>
          <p:cNvSpPr txBox="1">
            <a:spLocks noChangeArrowheads="1"/>
          </p:cNvSpPr>
          <p:nvPr/>
        </p:nvSpPr>
        <p:spPr bwMode="auto">
          <a:xfrm>
            <a:off x="3287500" y="5558151"/>
            <a:ext cx="1715102"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rgbClr val="11576A"/>
                </a:solidFill>
                <a:latin typeface="微软雅黑" pitchFamily="34" charset="-122"/>
                <a:ea typeface="微软雅黑" pitchFamily="34" charset="-122"/>
              </a:rPr>
              <a:t>逻辑地址空间</a:t>
            </a:r>
          </a:p>
        </p:txBody>
      </p:sp>
      <p:sp>
        <p:nvSpPr>
          <p:cNvPr id="123" name="Text Box 57"/>
          <p:cNvSpPr txBox="1">
            <a:spLocks noChangeArrowheads="1"/>
          </p:cNvSpPr>
          <p:nvPr/>
        </p:nvSpPr>
        <p:spPr bwMode="auto">
          <a:xfrm>
            <a:off x="6467621" y="5506488"/>
            <a:ext cx="1415773"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spAutoFit/>
          </a:bodyPr>
          <a:lstStyle>
            <a:lvl1pPr/>
            <a:lvl2pPr/>
            <a:lvl3pPr/>
            <a:lvl4pPr/>
            <a:lvl5pPr/>
            <a:lvl6pPr/>
            <a:lvl7pPr/>
            <a:lvl8pPr/>
            <a:lvl9pPr/>
          </a:lstStyle>
          <a:p>
            <a:pPr algn="ctr"/>
            <a:r>
              <a:rPr lang="zh-CN" altLang="en-US" sz="1600" b="1" dirty="0">
                <a:solidFill>
                  <a:srgbClr val="11576A"/>
                </a:solidFill>
                <a:latin typeface="微软雅黑" pitchFamily="34" charset="-122"/>
                <a:ea typeface="微软雅黑" pitchFamily="34" charset="-122"/>
              </a:rPr>
              <a:t>物理地址空间</a:t>
            </a:r>
          </a:p>
        </p:txBody>
      </p:sp>
      <p:sp>
        <p:nvSpPr>
          <p:cNvPr id="13" name="文本框 12">
            <a:extLst>
              <a:ext uri="{FF2B5EF4-FFF2-40B4-BE49-F238E27FC236}">
                <a16:creationId xmlns:a16="http://schemas.microsoft.com/office/drawing/2014/main" id="{CAAC63A9-4978-EDAF-F26A-BB575331582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006E9991-165D-DEBE-E412-603279D87FE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页面置换</a:t>
            </a:r>
          </a:p>
        </p:txBody>
      </p:sp>
    </p:spTree>
    <p:custDataLst>
      <p:tags r:id="rId1"/>
    </p:custDataLst>
    <p:extLst>
      <p:ext uri="{BB962C8B-B14F-4D97-AF65-F5344CB8AC3E}">
        <p14:creationId xmlns:p14="http://schemas.microsoft.com/office/powerpoint/2010/main" val="2915902975"/>
      </p:ext>
    </p:extLst>
  </p:cSld>
  <p:clrMapOvr>
    <a:masterClrMapping/>
  </p:clrMapOvr>
  <mc:AlternateContent xmlns:mc="http://schemas.openxmlformats.org/markup-compatibility/2006" xmlns:p14="http://schemas.microsoft.com/office/powerpoint/2010/main">
    <mc:Choice Requires="p14">
      <p:transition spd="slow" p14:dur="2000" advTm="149"/>
    </mc:Choice>
    <mc:Fallback xmlns="">
      <p:transition spd="slow" advTm="1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randombar(horizontal)">
                                      <p:cBhvr>
                                        <p:cTn id="7" dur="5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3"/>
                                        </p:tgtEl>
                                        <p:attrNameLst>
                                          <p:attrName>style.visibility</p:attrName>
                                        </p:attrNameLst>
                                      </p:cBhvr>
                                      <p:to>
                                        <p:strVal val="visible"/>
                                      </p:to>
                                    </p:set>
                                    <p:animEffect transition="in" filter="fade">
                                      <p:cBhvr>
                                        <p:cTn id="12" dur="500"/>
                                        <p:tgtEl>
                                          <p:spTgt spid="10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wipe(left)">
                                      <p:cBhvr>
                                        <p:cTn id="16"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6" grpId="0"/>
      <p:bldP spid="10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C324843-662C-E448-235F-4E258BAA2CEA}"/>
              </a:ext>
            </a:extLst>
          </p:cNvPr>
          <p:cNvSpPr>
            <a:spLocks noGrp="1"/>
          </p:cNvSpPr>
          <p:nvPr>
            <p:ph idx="4294967295"/>
          </p:nvPr>
        </p:nvSpPr>
        <p:spPr>
          <a:xfrm>
            <a:off x="731520" y="1556012"/>
            <a:ext cx="10752137" cy="5010150"/>
          </a:xfrm>
          <a:prstGeom prst="rect">
            <a:avLst/>
          </a:prstGeom>
        </p:spPr>
        <p:txBody>
          <a:bodyPr/>
          <a:lstStyle/>
          <a:p>
            <a:r>
              <a:rPr lang="zh-CN" altLang="en-US" dirty="0"/>
              <a:t>把现有的页帧内容写入更“廉价”的存储空间中，以腾出空间满足当前内存需要</a:t>
            </a:r>
            <a:endParaRPr lang="en-US" altLang="zh-CN" dirty="0"/>
          </a:p>
          <a:p>
            <a:r>
              <a:rPr lang="zh-CN" altLang="en-US" dirty="0"/>
              <a:t>怎么腾出去？</a:t>
            </a:r>
            <a:endParaRPr lang="en-US" altLang="zh-CN" dirty="0"/>
          </a:p>
          <a:p>
            <a:pPr lvl="1"/>
            <a:r>
              <a:rPr lang="zh-CN" altLang="en-US" dirty="0"/>
              <a:t>扔掉？保存起来？</a:t>
            </a:r>
            <a:endParaRPr lang="en-US" altLang="zh-CN" dirty="0"/>
          </a:p>
          <a:p>
            <a:r>
              <a:rPr lang="zh-CN" altLang="en-US" dirty="0"/>
              <a:t>放到哪里？</a:t>
            </a:r>
            <a:endParaRPr lang="en-US" altLang="zh-CN" dirty="0"/>
          </a:p>
          <a:p>
            <a:pPr lvl="1"/>
            <a:r>
              <a:rPr lang="zh-CN" altLang="en-US" dirty="0"/>
              <a:t>硬盘？</a:t>
            </a:r>
            <a:r>
              <a:rPr lang="en-US" altLang="zh-CN" dirty="0"/>
              <a:t>SSD</a:t>
            </a:r>
            <a:r>
              <a:rPr lang="zh-CN" altLang="en-US" dirty="0"/>
              <a:t>？网络？</a:t>
            </a:r>
            <a:endParaRPr lang="en-US" altLang="zh-CN" dirty="0"/>
          </a:p>
          <a:p>
            <a:pPr lvl="1"/>
            <a:r>
              <a:rPr lang="zh-CN" altLang="en-US" dirty="0"/>
              <a:t>随时预备着再次取回</a:t>
            </a:r>
            <a:endParaRPr lang="en-US" altLang="zh-CN" dirty="0"/>
          </a:p>
          <a:p>
            <a:r>
              <a:rPr lang="zh-CN" altLang="en-US" dirty="0"/>
              <a:t>把谁腾出去？</a:t>
            </a:r>
            <a:endParaRPr lang="en-US" altLang="zh-CN" dirty="0"/>
          </a:p>
          <a:p>
            <a:pPr lvl="1"/>
            <a:r>
              <a:rPr lang="zh-CN" altLang="en-US" dirty="0"/>
              <a:t>哪个页帧“有幸”被选中</a:t>
            </a:r>
            <a:endParaRPr lang="en-US" altLang="zh-CN" dirty="0"/>
          </a:p>
          <a:p>
            <a:pPr lvl="1"/>
            <a:endParaRPr lang="zh-CN" altLang="en-US" dirty="0"/>
          </a:p>
        </p:txBody>
      </p:sp>
      <p:sp>
        <p:nvSpPr>
          <p:cNvPr id="7" name="文本框 6">
            <a:extLst>
              <a:ext uri="{FF2B5EF4-FFF2-40B4-BE49-F238E27FC236}">
                <a16:creationId xmlns:a16="http://schemas.microsoft.com/office/drawing/2014/main" id="{0917B26B-01B2-D2C9-DDDC-430764B3B27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592800FA-213D-C789-22B0-55914790167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没有空闲的页帧了怎么办</a:t>
            </a:r>
          </a:p>
        </p:txBody>
      </p:sp>
    </p:spTree>
    <p:extLst>
      <p:ext uri="{BB962C8B-B14F-4D97-AF65-F5344CB8AC3E}">
        <p14:creationId xmlns:p14="http://schemas.microsoft.com/office/powerpoint/2010/main" val="85917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14" presetClass="entr" presetSubtype="10" fill="hold"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randombar(horizontal)">
                                      <p:cBhvr>
                                        <p:cTn id="30" dur="500"/>
                                        <p:tgtEl>
                                          <p:spTgt spid="3">
                                            <p:txEl>
                                              <p:pRg st="4" end="4"/>
                                            </p:txEl>
                                          </p:spTgt>
                                        </p:tgtEl>
                                      </p:cBhvr>
                                    </p:animEffect>
                                  </p:childTnLst>
                                </p:cTn>
                              </p:par>
                            </p:childTnLst>
                          </p:cTn>
                        </p:par>
                        <p:par>
                          <p:cTn id="31" fill="hold">
                            <p:stCondLst>
                              <p:cond delay="1000"/>
                            </p:stCondLst>
                            <p:childTnLst>
                              <p:par>
                                <p:cTn id="32" presetID="14" presetClass="entr" presetSubtype="10" fill="hold" nodeType="after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4" dur="500"/>
                                        <p:tgtEl>
                                          <p:spTgt spid="3">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41" fill="hold">
                            <p:stCondLst>
                              <p:cond delay="500"/>
                            </p:stCondLst>
                            <p:childTnLst>
                              <p:par>
                                <p:cTn id="42" presetID="14" presetClass="entr" presetSubtype="10" fill="hold" nodeType="after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randombar(horizontal)">
                                      <p:cBhvr>
                                        <p:cTn id="4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748141" y="2284423"/>
            <a:ext cx="3105179" cy="2098520"/>
            <a:chOff x="1730172" y="1285337"/>
            <a:chExt cx="3105179" cy="2098520"/>
          </a:xfrm>
        </p:grpSpPr>
        <p:grpSp>
          <p:nvGrpSpPr>
            <p:cNvPr id="20" name="组合 19"/>
            <p:cNvGrpSpPr/>
            <p:nvPr/>
          </p:nvGrpSpPr>
          <p:grpSpPr>
            <a:xfrm>
              <a:off x="3692343" y="1458693"/>
              <a:ext cx="1143008" cy="1925164"/>
              <a:chOff x="7643834" y="1673536"/>
              <a:chExt cx="1143008" cy="1925164"/>
            </a:xfrm>
            <a:gradFill>
              <a:gsLst>
                <a:gs pos="100000">
                  <a:srgbClr val="007C8B"/>
                </a:gs>
                <a:gs pos="50000">
                  <a:srgbClr val="0EB1C8"/>
                </a:gs>
                <a:gs pos="100000">
                  <a:schemeClr val="accent1">
                    <a:tint val="23500"/>
                    <a:satMod val="160000"/>
                  </a:schemeClr>
                </a:gs>
              </a:gsLst>
              <a:lin ang="5400000" scaled="0"/>
            </a:gradFill>
          </p:grpSpPr>
          <p:sp>
            <p:nvSpPr>
              <p:cNvPr id="21" name="椭圆 20"/>
              <p:cNvSpPr/>
              <p:nvPr/>
            </p:nvSpPr>
            <p:spPr>
              <a:xfrm>
                <a:off x="7643834" y="3274700"/>
                <a:ext cx="1143008" cy="324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7643834" y="1673536"/>
                <a:ext cx="1143008" cy="175547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nvSpPr>
          <p:spPr>
            <a:xfrm>
              <a:off x="3692343" y="1285337"/>
              <a:ext cx="1143008" cy="324000"/>
            </a:xfrm>
            <a:prstGeom prst="ellipse">
              <a:avLst/>
            </a:prstGeom>
            <a:gradFill>
              <a:gsLst>
                <a:gs pos="100000">
                  <a:srgbClr val="007C8B"/>
                </a:gs>
                <a:gs pos="0">
                  <a:srgbClr val="0EB1C8"/>
                </a:gs>
                <a:gs pos="100000">
                  <a:schemeClr val="accent1">
                    <a:tint val="23500"/>
                    <a:satMod val="1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p:nvSpPr>
          <p:spPr>
            <a:xfrm>
              <a:off x="1730172" y="1390120"/>
              <a:ext cx="1652588" cy="4762"/>
            </a:xfrm>
            <a:custGeom>
              <a:avLst/>
              <a:gdLst>
                <a:gd name="connsiteX0" fmla="*/ 0 w 1652588"/>
                <a:gd name="connsiteY0" fmla="*/ 0 h 4762"/>
                <a:gd name="connsiteX1" fmla="*/ 1652588 w 1652588"/>
                <a:gd name="connsiteY1" fmla="*/ 4762 h 4762"/>
                <a:gd name="connsiteX2" fmla="*/ 1652588 w 1652588"/>
                <a:gd name="connsiteY2" fmla="*/ 4762 h 4762"/>
              </a:gdLst>
              <a:ahLst/>
              <a:cxnLst>
                <a:cxn ang="0">
                  <a:pos x="connsiteX0" y="connsiteY0"/>
                </a:cxn>
                <a:cxn ang="0">
                  <a:pos x="connsiteX1" y="connsiteY1"/>
                </a:cxn>
                <a:cxn ang="0">
                  <a:pos x="connsiteX2" y="connsiteY2"/>
                </a:cxn>
              </a:cxnLst>
              <a:rect l="l" t="t" r="r" b="b"/>
              <a:pathLst>
                <a:path w="1652588" h="4762">
                  <a:moveTo>
                    <a:pt x="0" y="0"/>
                  </a:moveTo>
                  <a:lnTo>
                    <a:pt x="1652588" y="4762"/>
                  </a:lnTo>
                  <a:lnTo>
                    <a:pt x="1652588" y="4762"/>
                  </a:lnTo>
                </a:path>
              </a:pathLst>
            </a:cu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任意多边形 24"/>
            <p:cNvSpPr/>
            <p:nvPr/>
          </p:nvSpPr>
          <p:spPr>
            <a:xfrm>
              <a:off x="3373235" y="1394881"/>
              <a:ext cx="890612" cy="819149"/>
            </a:xfrm>
            <a:custGeom>
              <a:avLst/>
              <a:gdLst>
                <a:gd name="connsiteX0" fmla="*/ 314325 w 314325"/>
                <a:gd name="connsiteY0" fmla="*/ 285750 h 285750"/>
                <a:gd name="connsiteX1" fmla="*/ 0 w 314325"/>
                <a:gd name="connsiteY1" fmla="*/ 0 h 285750"/>
              </a:gdLst>
              <a:ahLst/>
              <a:cxnLst>
                <a:cxn ang="0">
                  <a:pos x="connsiteX0" y="connsiteY0"/>
                </a:cxn>
                <a:cxn ang="0">
                  <a:pos x="connsiteX1" y="connsiteY1"/>
                </a:cxn>
              </a:cxnLst>
              <a:rect l="l" t="t" r="r" b="b"/>
              <a:pathLst>
                <a:path w="314325" h="285750">
                  <a:moveTo>
                    <a:pt x="314325" y="285750"/>
                  </a:moveTo>
                  <a:lnTo>
                    <a:pt x="0" y="0"/>
                  </a:lnTo>
                </a:path>
              </a:pathLst>
            </a:cu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矩形 61"/>
            <p:cNvSpPr/>
            <p:nvPr/>
          </p:nvSpPr>
          <p:spPr>
            <a:xfrm>
              <a:off x="4154309" y="2220155"/>
              <a:ext cx="214314" cy="244930"/>
            </a:xfrm>
            <a:prstGeom prst="rect">
              <a:avLst/>
            </a:prstGeom>
            <a:gradFill>
              <a:gsLst>
                <a:gs pos="100000">
                  <a:schemeClr val="tx1">
                    <a:lumMod val="65000"/>
                    <a:lumOff val="35000"/>
                  </a:schemeClr>
                </a:gs>
                <a:gs pos="0">
                  <a:schemeClr val="bg1">
                    <a:lumMod val="75000"/>
                  </a:schemeClr>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3738624" y="2536841"/>
            <a:ext cx="758828" cy="1152000"/>
            <a:chOff x="1720657" y="1537755"/>
            <a:chExt cx="758828" cy="1152000"/>
          </a:xfrm>
        </p:grpSpPr>
        <p:cxnSp>
          <p:nvCxnSpPr>
            <p:cNvPr id="27" name="直接连接符 26"/>
            <p:cNvCxnSpPr/>
            <p:nvPr/>
          </p:nvCxnSpPr>
          <p:spPr>
            <a:xfrm>
              <a:off x="1720657" y="1542511"/>
              <a:ext cx="757240" cy="0"/>
            </a:xfrm>
            <a:prstGeom prst="line">
              <a:avLst/>
            </a:pr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rot="5400000">
              <a:off x="1903485" y="2113755"/>
              <a:ext cx="1152000"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263583" y="2685526"/>
              <a:ext cx="214314"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4248212" y="1887215"/>
            <a:ext cx="1924064" cy="461665"/>
            <a:chOff x="2230245" y="1067074"/>
            <a:chExt cx="1924064" cy="461665"/>
          </a:xfrm>
        </p:grpSpPr>
        <p:sp>
          <p:nvSpPr>
            <p:cNvPr id="47" name="Oval 91"/>
            <p:cNvSpPr>
              <a:spLocks noChangeArrowheads="1"/>
            </p:cNvSpPr>
            <p:nvPr/>
          </p:nvSpPr>
          <p:spPr bwMode="auto">
            <a:xfrm>
              <a:off x="2230245" y="1083723"/>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3</a:t>
              </a:r>
            </a:p>
          </p:txBody>
        </p:sp>
        <p:sp>
          <p:nvSpPr>
            <p:cNvPr id="52" name="TextBox 7"/>
            <p:cNvSpPr txBox="1">
              <a:spLocks noChangeArrowheads="1"/>
            </p:cNvSpPr>
            <p:nvPr/>
          </p:nvSpPr>
          <p:spPr bwMode="auto">
            <a:xfrm>
              <a:off x="2447734" y="1067074"/>
              <a:ext cx="1706575" cy="461665"/>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通过</a:t>
              </a:r>
              <a:r>
                <a:rPr lang="en-US" altLang="zh-CN" sz="1200" b="1" dirty="0">
                  <a:solidFill>
                    <a:srgbClr val="11576A"/>
                  </a:solidFill>
                  <a:latin typeface="微软雅黑" pitchFamily="34" charset="-122"/>
                  <a:ea typeface="微软雅黑" pitchFamily="34" charset="-122"/>
                </a:rPr>
                <a:t>maps</a:t>
              </a:r>
              <a:r>
                <a:rPr lang="zh-CN" altLang="en-US" sz="1200" b="1" dirty="0">
                  <a:solidFill>
                    <a:srgbClr val="11576A"/>
                  </a:solidFill>
                  <a:latin typeface="微软雅黑" pitchFamily="34" charset="-122"/>
                  <a:ea typeface="微软雅黑" pitchFamily="34" charset="-122"/>
                </a:rPr>
                <a:t>查找该页数据在外存中的位置</a:t>
              </a:r>
            </a:p>
          </p:txBody>
        </p:sp>
      </p:grpSp>
      <p:grpSp>
        <p:nvGrpSpPr>
          <p:cNvPr id="7" name="组合 6"/>
          <p:cNvGrpSpPr/>
          <p:nvPr/>
        </p:nvGrpSpPr>
        <p:grpSpPr>
          <a:xfrm>
            <a:off x="2754163" y="2994947"/>
            <a:ext cx="1248044" cy="504241"/>
            <a:chOff x="650462" y="1964854"/>
            <a:chExt cx="1248044" cy="504241"/>
          </a:xfrm>
        </p:grpSpPr>
        <p:sp>
          <p:nvSpPr>
            <p:cNvPr id="48" name="Oval 91"/>
            <p:cNvSpPr>
              <a:spLocks noChangeArrowheads="1"/>
            </p:cNvSpPr>
            <p:nvPr/>
          </p:nvSpPr>
          <p:spPr bwMode="auto">
            <a:xfrm>
              <a:off x="1231701" y="2220381"/>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1</a:t>
              </a:r>
            </a:p>
          </p:txBody>
        </p:sp>
        <p:sp>
          <p:nvSpPr>
            <p:cNvPr id="54" name="TextBox 7"/>
            <p:cNvSpPr txBox="1">
              <a:spLocks noChangeArrowheads="1"/>
            </p:cNvSpPr>
            <p:nvPr/>
          </p:nvSpPr>
          <p:spPr bwMode="auto">
            <a:xfrm>
              <a:off x="650462" y="1964854"/>
              <a:ext cx="1248044" cy="461665"/>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地址</a:t>
              </a:r>
              <a:r>
                <a:rPr lang="en-US" altLang="zh-CN" sz="1200" b="1" dirty="0">
                  <a:solidFill>
                    <a:srgbClr val="11576A"/>
                  </a:solidFill>
                  <a:latin typeface="微软雅黑" pitchFamily="34" charset="-122"/>
                  <a:ea typeface="微软雅黑" pitchFamily="34" charset="-122"/>
                </a:rPr>
                <a:t>M</a:t>
              </a:r>
              <a:r>
                <a:rPr lang="zh-CN" altLang="en-US" sz="1200" b="1" dirty="0">
                  <a:solidFill>
                    <a:srgbClr val="11576A"/>
                  </a:solidFill>
                  <a:latin typeface="微软雅黑" pitchFamily="34" charset="-122"/>
                  <a:ea typeface="微软雅黑" pitchFamily="34" charset="-122"/>
                </a:rPr>
                <a:t>对应的页表项</a:t>
              </a:r>
              <a:endParaRPr lang="en-US" altLang="zh-CN" sz="1200" b="1" dirty="0">
                <a:solidFill>
                  <a:srgbClr val="11576A"/>
                </a:solidFill>
                <a:latin typeface="微软雅黑" pitchFamily="34" charset="-122"/>
                <a:ea typeface="微软雅黑" pitchFamily="34" charset="-122"/>
              </a:endParaRPr>
            </a:p>
          </p:txBody>
        </p:sp>
      </p:grpSp>
      <p:grpSp>
        <p:nvGrpSpPr>
          <p:cNvPr id="13" name="组合 12"/>
          <p:cNvGrpSpPr/>
          <p:nvPr/>
        </p:nvGrpSpPr>
        <p:grpSpPr>
          <a:xfrm>
            <a:off x="4440441" y="2882917"/>
            <a:ext cx="547355" cy="503631"/>
            <a:chOff x="2422472" y="1883829"/>
            <a:chExt cx="547355" cy="503631"/>
          </a:xfrm>
        </p:grpSpPr>
        <p:sp>
          <p:nvSpPr>
            <p:cNvPr id="46" name="Oval 91"/>
            <p:cNvSpPr>
              <a:spLocks noChangeArrowheads="1"/>
            </p:cNvSpPr>
            <p:nvPr/>
          </p:nvSpPr>
          <p:spPr bwMode="auto">
            <a:xfrm>
              <a:off x="2523935" y="1883829"/>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2</a:t>
              </a:r>
            </a:p>
          </p:txBody>
        </p:sp>
        <p:sp>
          <p:nvSpPr>
            <p:cNvPr id="55" name="TextBox 7"/>
            <p:cNvSpPr txBox="1">
              <a:spLocks noChangeArrowheads="1"/>
            </p:cNvSpPr>
            <p:nvPr/>
          </p:nvSpPr>
          <p:spPr bwMode="auto">
            <a:xfrm>
              <a:off x="2422472" y="2110461"/>
              <a:ext cx="547355" cy="276999"/>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异常</a:t>
              </a:r>
            </a:p>
          </p:txBody>
        </p:sp>
      </p:grpSp>
      <p:grpSp>
        <p:nvGrpSpPr>
          <p:cNvPr id="2" name="组合 1"/>
          <p:cNvGrpSpPr/>
          <p:nvPr/>
        </p:nvGrpSpPr>
        <p:grpSpPr>
          <a:xfrm>
            <a:off x="2495600" y="3394093"/>
            <a:ext cx="642942" cy="571504"/>
            <a:chOff x="477633" y="2395007"/>
            <a:chExt cx="642942" cy="571504"/>
          </a:xfrm>
        </p:grpSpPr>
        <p:sp>
          <p:nvSpPr>
            <p:cNvPr id="36" name="矩形 35"/>
            <p:cNvSpPr/>
            <p:nvPr/>
          </p:nvSpPr>
          <p:spPr>
            <a:xfrm>
              <a:off x="536371" y="2395007"/>
              <a:ext cx="500066" cy="571504"/>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TextBox 7"/>
            <p:cNvSpPr txBox="1">
              <a:spLocks noChangeArrowheads="1"/>
            </p:cNvSpPr>
            <p:nvPr/>
          </p:nvSpPr>
          <p:spPr bwMode="auto">
            <a:xfrm>
              <a:off x="477633" y="2569633"/>
              <a:ext cx="642942" cy="246221"/>
            </a:xfrm>
            <a:prstGeom prst="rect">
              <a:avLst/>
            </a:prstGeom>
            <a:noFill/>
            <a:ln w="9525">
              <a:noFill/>
              <a:miter lim="800000"/>
              <a:headEnd/>
              <a:tailEnd/>
            </a:ln>
          </p:spPr>
          <p:txBody>
            <a:bodyPr wrap="square">
              <a:spAutoFit/>
            </a:bodyPr>
            <a:lstStyle/>
            <a:p>
              <a:pPr>
                <a:buSzPct val="100000"/>
              </a:pPr>
              <a:r>
                <a:rPr lang="en-US" altLang="zh-CN" sz="1000" b="1" dirty="0">
                  <a:solidFill>
                    <a:srgbClr val="11576A"/>
                  </a:solidFill>
                  <a:latin typeface="微软雅黑" pitchFamily="34" charset="-122"/>
                  <a:ea typeface="微软雅黑" pitchFamily="34" charset="-122"/>
                </a:rPr>
                <a:t>load M</a:t>
              </a:r>
              <a:endParaRPr lang="zh-CN" altLang="en-US" sz="1000" b="1" dirty="0">
                <a:solidFill>
                  <a:srgbClr val="11576A"/>
                </a:solidFill>
                <a:latin typeface="微软雅黑" pitchFamily="34" charset="-122"/>
                <a:ea typeface="微软雅黑" pitchFamily="34" charset="-122"/>
              </a:endParaRPr>
            </a:p>
          </p:txBody>
        </p:sp>
      </p:grpSp>
      <p:grpSp>
        <p:nvGrpSpPr>
          <p:cNvPr id="74" name="组合 73"/>
          <p:cNvGrpSpPr/>
          <p:nvPr/>
        </p:nvGrpSpPr>
        <p:grpSpPr>
          <a:xfrm>
            <a:off x="2978912" y="3689367"/>
            <a:ext cx="802572" cy="1137917"/>
            <a:chOff x="960945" y="2690279"/>
            <a:chExt cx="802572" cy="1137917"/>
          </a:xfrm>
        </p:grpSpPr>
        <p:cxnSp>
          <p:nvCxnSpPr>
            <p:cNvPr id="32" name="直接连接符 31"/>
            <p:cNvCxnSpPr/>
            <p:nvPr/>
          </p:nvCxnSpPr>
          <p:spPr>
            <a:xfrm>
              <a:off x="1053907" y="2690279"/>
              <a:ext cx="709610" cy="0"/>
            </a:xfrm>
            <a:prstGeom prst="line">
              <a:avLst/>
            </a:pr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Oval 91"/>
            <p:cNvSpPr>
              <a:spLocks noChangeArrowheads="1"/>
            </p:cNvSpPr>
            <p:nvPr/>
          </p:nvSpPr>
          <p:spPr bwMode="auto">
            <a:xfrm>
              <a:off x="1231701" y="2739497"/>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9</a:t>
              </a:r>
            </a:p>
          </p:txBody>
        </p:sp>
        <p:sp>
          <p:nvSpPr>
            <p:cNvPr id="58" name="TextBox 7"/>
            <p:cNvSpPr txBox="1">
              <a:spLocks noChangeArrowheads="1"/>
            </p:cNvSpPr>
            <p:nvPr/>
          </p:nvSpPr>
          <p:spPr bwMode="auto">
            <a:xfrm>
              <a:off x="960945" y="2997199"/>
              <a:ext cx="720904" cy="830997"/>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重新执行导致异常的指令</a:t>
              </a:r>
              <a:endParaRPr lang="en-US" altLang="zh-CN" sz="1200"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3071862" y="3031819"/>
            <a:ext cx="1818253" cy="1201669"/>
            <a:chOff x="1053893" y="2032731"/>
            <a:chExt cx="1818253" cy="1201669"/>
          </a:xfrm>
        </p:grpSpPr>
        <p:cxnSp>
          <p:nvCxnSpPr>
            <p:cNvPr id="30" name="直接连接符 29"/>
            <p:cNvCxnSpPr/>
            <p:nvPr/>
          </p:nvCxnSpPr>
          <p:spPr>
            <a:xfrm>
              <a:off x="1053893" y="2499783"/>
              <a:ext cx="5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rot="10800000">
              <a:off x="1549204" y="2499783"/>
              <a:ext cx="216695" cy="173830"/>
            </a:xfrm>
            <a:prstGeom prst="line">
              <a:avLst/>
            </a:pr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763517" y="2032731"/>
              <a:ext cx="1108629" cy="1201669"/>
              <a:chOff x="1763517" y="2032731"/>
              <a:chExt cx="1108629" cy="1201669"/>
            </a:xfrm>
          </p:grpSpPr>
          <p:sp>
            <p:nvSpPr>
              <p:cNvPr id="37" name="矩形 36"/>
              <p:cNvSpPr/>
              <p:nvPr/>
            </p:nvSpPr>
            <p:spPr>
              <a:xfrm>
                <a:off x="1763517" y="2032731"/>
                <a:ext cx="500066" cy="933780"/>
              </a:xfrm>
              <a:prstGeom prst="rect">
                <a:avLst/>
              </a:prstGeom>
              <a:solidFill>
                <a:srgbClr val="0EB1C8"/>
              </a:soli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1763517" y="2610909"/>
                <a:ext cx="500066" cy="14287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TextBox 7"/>
              <p:cNvSpPr txBox="1">
                <a:spLocks noChangeArrowheads="1"/>
              </p:cNvSpPr>
              <p:nvPr/>
            </p:nvSpPr>
            <p:spPr bwMode="auto">
              <a:xfrm>
                <a:off x="2087369" y="2577571"/>
                <a:ext cx="214314" cy="230832"/>
              </a:xfrm>
              <a:prstGeom prst="rect">
                <a:avLst/>
              </a:prstGeom>
              <a:noFill/>
              <a:ln w="9525">
                <a:noFill/>
                <a:miter lim="800000"/>
                <a:headEnd/>
                <a:tailEnd/>
              </a:ln>
            </p:spPr>
            <p:txBody>
              <a:bodyPr wrap="square">
                <a:spAutoFit/>
              </a:bodyPr>
              <a:lstStyle/>
              <a:p>
                <a:pPr>
                  <a:buSzPct val="100000"/>
                </a:pPr>
                <a:r>
                  <a:rPr lang="en-US" altLang="zh-CN" sz="900" b="1" dirty="0" err="1">
                    <a:solidFill>
                      <a:srgbClr val="11576A"/>
                    </a:solidFill>
                    <a:latin typeface="微软雅黑" pitchFamily="34" charset="-122"/>
                    <a:ea typeface="微软雅黑" pitchFamily="34" charset="-122"/>
                  </a:rPr>
                  <a:t>i</a:t>
                </a:r>
                <a:endParaRPr lang="zh-CN" altLang="en-US" sz="900" b="1" dirty="0">
                  <a:solidFill>
                    <a:srgbClr val="11576A"/>
                  </a:solidFill>
                  <a:latin typeface="微软雅黑" pitchFamily="34" charset="-122"/>
                  <a:ea typeface="微软雅黑" pitchFamily="34" charset="-122"/>
                </a:endParaRPr>
              </a:p>
            </p:txBody>
          </p:sp>
          <p:sp>
            <p:nvSpPr>
              <p:cNvPr id="59" name="TextBox 7"/>
              <p:cNvSpPr txBox="1">
                <a:spLocks noChangeArrowheads="1"/>
              </p:cNvSpPr>
              <p:nvPr/>
            </p:nvSpPr>
            <p:spPr bwMode="auto">
              <a:xfrm>
                <a:off x="1777436" y="2957401"/>
                <a:ext cx="1094710" cy="276999"/>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页表</a:t>
                </a:r>
              </a:p>
            </p:txBody>
          </p:sp>
          <p:cxnSp>
            <p:nvCxnSpPr>
              <p:cNvPr id="64" name="直接连接符 63"/>
              <p:cNvCxnSpPr/>
              <p:nvPr/>
            </p:nvCxnSpPr>
            <p:spPr>
              <a:xfrm rot="5400000">
                <a:off x="2064350" y="2684728"/>
                <a:ext cx="142876"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grpSp>
      <p:grpSp>
        <p:nvGrpSpPr>
          <p:cNvPr id="73" name="组合 72"/>
          <p:cNvGrpSpPr/>
          <p:nvPr/>
        </p:nvGrpSpPr>
        <p:grpSpPr>
          <a:xfrm>
            <a:off x="3339366" y="3738250"/>
            <a:ext cx="1292233" cy="1173822"/>
            <a:chOff x="1321397" y="2739164"/>
            <a:chExt cx="1292233" cy="1173822"/>
          </a:xfrm>
        </p:grpSpPr>
        <p:grpSp>
          <p:nvGrpSpPr>
            <p:cNvPr id="72" name="组合 71"/>
            <p:cNvGrpSpPr/>
            <p:nvPr/>
          </p:nvGrpSpPr>
          <p:grpSpPr>
            <a:xfrm>
              <a:off x="1620641" y="2739164"/>
              <a:ext cx="992989" cy="566483"/>
              <a:chOff x="1620641" y="2739164"/>
              <a:chExt cx="992989" cy="566483"/>
            </a:xfrm>
          </p:grpSpPr>
          <p:cxnSp>
            <p:nvCxnSpPr>
              <p:cNvPr id="33" name="直接连接符 32"/>
              <p:cNvCxnSpPr/>
              <p:nvPr/>
            </p:nvCxnSpPr>
            <p:spPr>
              <a:xfrm rot="10800000" flipV="1">
                <a:off x="1623023" y="2739164"/>
                <a:ext cx="145259" cy="144000"/>
              </a:xfrm>
              <a:prstGeom prst="line">
                <a:avLst/>
              </a:pr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620641" y="3292528"/>
                <a:ext cx="992989"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5400000">
                <a:off x="1410993" y="3089647"/>
                <a:ext cx="432000"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sp>
          <p:nvSpPr>
            <p:cNvPr id="50" name="Oval 91"/>
            <p:cNvSpPr>
              <a:spLocks noChangeArrowheads="1"/>
            </p:cNvSpPr>
            <p:nvPr/>
          </p:nvSpPr>
          <p:spPr bwMode="auto">
            <a:xfrm>
              <a:off x="1746055" y="3344339"/>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8</a:t>
              </a:r>
            </a:p>
          </p:txBody>
        </p:sp>
        <p:sp>
          <p:nvSpPr>
            <p:cNvPr id="65" name="TextBox 7"/>
            <p:cNvSpPr txBox="1">
              <a:spLocks noChangeArrowheads="1"/>
            </p:cNvSpPr>
            <p:nvPr/>
          </p:nvSpPr>
          <p:spPr bwMode="auto">
            <a:xfrm>
              <a:off x="1321397" y="3635987"/>
              <a:ext cx="1185936" cy="276999"/>
            </a:xfrm>
            <a:prstGeom prst="rect">
              <a:avLst/>
            </a:prstGeom>
            <a:noFill/>
            <a:ln w="9525">
              <a:noFill/>
              <a:miter lim="800000"/>
              <a:headEnd/>
              <a:tailEnd/>
            </a:ln>
          </p:spPr>
          <p:txBody>
            <a:bodyPr wrap="square">
              <a:spAutoFit/>
            </a:bodyPr>
            <a:lstStyle/>
            <a:p>
              <a:pPr>
                <a:buSzPct val="100000"/>
              </a:pPr>
              <a:r>
                <a:rPr lang="en-US" altLang="zh-CN" sz="1200" b="1" dirty="0">
                  <a:solidFill>
                    <a:srgbClr val="11576A"/>
                  </a:solidFill>
                  <a:latin typeface="微软雅黑" pitchFamily="34" charset="-122"/>
                  <a:ea typeface="微软雅黑" pitchFamily="34" charset="-122"/>
                </a:rPr>
                <a:t>   </a:t>
              </a:r>
              <a:r>
                <a:rPr lang="zh-CN" altLang="en-US" sz="1200" b="1" dirty="0">
                  <a:solidFill>
                    <a:srgbClr val="11576A"/>
                  </a:solidFill>
                  <a:latin typeface="微软雅黑" pitchFamily="34" charset="-122"/>
                  <a:ea typeface="微软雅黑" pitchFamily="34" charset="-122"/>
                </a:rPr>
                <a:t>页表项修改</a:t>
              </a:r>
            </a:p>
          </p:txBody>
        </p:sp>
      </p:grpSp>
      <p:grpSp>
        <p:nvGrpSpPr>
          <p:cNvPr id="71" name="组合 70"/>
          <p:cNvGrpSpPr/>
          <p:nvPr/>
        </p:nvGrpSpPr>
        <p:grpSpPr>
          <a:xfrm>
            <a:off x="5034863" y="3645024"/>
            <a:ext cx="1277161" cy="694497"/>
            <a:chOff x="3203546" y="3344339"/>
            <a:chExt cx="1277161" cy="694497"/>
          </a:xfrm>
        </p:grpSpPr>
        <p:sp>
          <p:nvSpPr>
            <p:cNvPr id="51" name="Oval 91"/>
            <p:cNvSpPr>
              <a:spLocks noChangeArrowheads="1"/>
            </p:cNvSpPr>
            <p:nvPr/>
          </p:nvSpPr>
          <p:spPr bwMode="auto">
            <a:xfrm>
              <a:off x="3535179" y="3344339"/>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7</a:t>
              </a:r>
            </a:p>
          </p:txBody>
        </p:sp>
        <p:sp>
          <p:nvSpPr>
            <p:cNvPr id="66" name="TextBox 7"/>
            <p:cNvSpPr txBox="1">
              <a:spLocks noChangeArrowheads="1"/>
            </p:cNvSpPr>
            <p:nvPr/>
          </p:nvSpPr>
          <p:spPr bwMode="auto">
            <a:xfrm>
              <a:off x="3203546" y="3577171"/>
              <a:ext cx="1277161" cy="461665"/>
            </a:xfrm>
            <a:prstGeom prst="rect">
              <a:avLst/>
            </a:prstGeom>
            <a:noFill/>
            <a:ln w="9525">
              <a:noFill/>
              <a:miter lim="800000"/>
              <a:headEnd/>
              <a:tailEnd/>
            </a:ln>
          </p:spPr>
          <p:txBody>
            <a:bodyPr wrap="square">
              <a:spAutoFit/>
            </a:bodyPr>
            <a:lstStyle/>
            <a:p>
              <a:pPr>
                <a:buSzPct val="100000"/>
              </a:pPr>
              <a:r>
                <a:rPr lang="en-US" altLang="zh-CN" sz="1200" b="1" dirty="0">
                  <a:solidFill>
                    <a:srgbClr val="11576A"/>
                  </a:solidFill>
                  <a:latin typeface="微软雅黑" pitchFamily="34" charset="-122"/>
                  <a:ea typeface="微软雅黑" pitchFamily="34" charset="-122"/>
                </a:rPr>
                <a:t>     </a:t>
              </a:r>
              <a:r>
                <a:rPr lang="zh-CN" altLang="en-US" sz="1200" b="1" dirty="0">
                  <a:solidFill>
                    <a:srgbClr val="11576A"/>
                  </a:solidFill>
                  <a:latin typeface="微软雅黑" pitchFamily="34" charset="-122"/>
                  <a:ea typeface="微软雅黑" pitchFamily="34" charset="-122"/>
                </a:rPr>
                <a:t>页面</a:t>
              </a:r>
              <a:endParaRPr lang="en-US" altLang="zh-CN" sz="1200" b="1" dirty="0">
                <a:solidFill>
                  <a:srgbClr val="11576A"/>
                </a:solidFill>
                <a:latin typeface="微软雅黑" pitchFamily="34" charset="-122"/>
                <a:ea typeface="微软雅黑" pitchFamily="34" charset="-122"/>
              </a:endParaRPr>
            </a:p>
            <a:p>
              <a:pPr>
                <a:buSzPct val="100000"/>
              </a:pPr>
              <a:r>
                <a:rPr lang="en-US" altLang="zh-CN" sz="1200" b="1" dirty="0">
                  <a:solidFill>
                    <a:srgbClr val="11576A"/>
                  </a:solidFill>
                  <a:latin typeface="微软雅黑" pitchFamily="34" charset="-122"/>
                  <a:ea typeface="微软雅黑" pitchFamily="34" charset="-122"/>
                </a:rPr>
                <a:t>     </a:t>
              </a:r>
              <a:r>
                <a:rPr lang="zh-CN" altLang="en-US" sz="1200" b="1" dirty="0">
                  <a:solidFill>
                    <a:srgbClr val="11576A"/>
                  </a:solidFill>
                  <a:latin typeface="微软雅黑" pitchFamily="34" charset="-122"/>
                  <a:ea typeface="微软雅黑" pitchFamily="34" charset="-122"/>
                </a:rPr>
                <a:t>换入</a:t>
              </a:r>
            </a:p>
          </p:txBody>
        </p:sp>
      </p:grpSp>
      <p:grpSp>
        <p:nvGrpSpPr>
          <p:cNvPr id="118" name="组合 117">
            <a:extLst>
              <a:ext uri="{FF2B5EF4-FFF2-40B4-BE49-F238E27FC236}">
                <a16:creationId xmlns:a16="http://schemas.microsoft.com/office/drawing/2014/main" id="{662B6A7E-E43A-4C14-83D3-D947A4879C46}"/>
              </a:ext>
            </a:extLst>
          </p:cNvPr>
          <p:cNvGrpSpPr/>
          <p:nvPr/>
        </p:nvGrpSpPr>
        <p:grpSpPr>
          <a:xfrm>
            <a:off x="4503977" y="3803673"/>
            <a:ext cx="931094" cy="1686709"/>
            <a:chOff x="4503977" y="3803673"/>
            <a:chExt cx="931094" cy="1686709"/>
          </a:xfrm>
        </p:grpSpPr>
        <p:sp>
          <p:nvSpPr>
            <p:cNvPr id="39" name="矩形 38"/>
            <p:cNvSpPr/>
            <p:nvPr/>
          </p:nvSpPr>
          <p:spPr>
            <a:xfrm>
              <a:off x="4632390" y="3803673"/>
              <a:ext cx="577854" cy="1409710"/>
            </a:xfrm>
            <a:prstGeom prst="rect">
              <a:avLst/>
            </a:prstGeom>
            <a:solidFill>
              <a:srgbClr val="0EB1C8"/>
            </a:soli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4638740" y="4208489"/>
              <a:ext cx="571504" cy="206880"/>
            </a:xfrm>
            <a:prstGeom prst="rect">
              <a:avLst/>
            </a:prstGeom>
            <a:no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41"/>
            <p:cNvCxnSpPr/>
            <p:nvPr/>
          </p:nvCxnSpPr>
          <p:spPr>
            <a:xfrm>
              <a:off x="4638740" y="4011637"/>
              <a:ext cx="576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638740" y="4595841"/>
              <a:ext cx="576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4638740" y="4795867"/>
              <a:ext cx="576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638740" y="4992719"/>
              <a:ext cx="576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67" name="TextBox 7"/>
            <p:cNvSpPr txBox="1">
              <a:spLocks noChangeArrowheads="1"/>
            </p:cNvSpPr>
            <p:nvPr/>
          </p:nvSpPr>
          <p:spPr bwMode="auto">
            <a:xfrm>
              <a:off x="4503977" y="5213383"/>
              <a:ext cx="931094" cy="276999"/>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物理内存</a:t>
              </a:r>
              <a:endParaRPr lang="en-US" altLang="zh-CN" sz="1200" b="1" dirty="0">
                <a:solidFill>
                  <a:srgbClr val="11576A"/>
                </a:solidFill>
                <a:latin typeface="微软雅黑" pitchFamily="34" charset="-122"/>
                <a:ea typeface="微软雅黑" pitchFamily="34" charset="-122"/>
              </a:endParaRPr>
            </a:p>
          </p:txBody>
        </p:sp>
      </p:grpSp>
      <p:grpSp>
        <p:nvGrpSpPr>
          <p:cNvPr id="11" name="组合 10"/>
          <p:cNvGrpSpPr/>
          <p:nvPr/>
        </p:nvGrpSpPr>
        <p:grpSpPr>
          <a:xfrm>
            <a:off x="3088448" y="2141547"/>
            <a:ext cx="932312" cy="838462"/>
            <a:chOff x="1070481" y="1142461"/>
            <a:chExt cx="932312" cy="838462"/>
          </a:xfrm>
        </p:grpSpPr>
        <p:sp>
          <p:nvSpPr>
            <p:cNvPr id="26" name="矩形 25"/>
            <p:cNvSpPr/>
            <p:nvPr/>
          </p:nvSpPr>
          <p:spPr>
            <a:xfrm>
              <a:off x="1215828" y="1142461"/>
              <a:ext cx="500066" cy="571504"/>
            </a:xfrm>
            <a:prstGeom prst="rect">
              <a:avLst/>
            </a:prstGeom>
            <a:gradFill>
              <a:gsLst>
                <a:gs pos="100000">
                  <a:schemeClr val="tx1">
                    <a:lumMod val="65000"/>
                    <a:lumOff val="35000"/>
                  </a:schemeClr>
                </a:gs>
                <a:gs pos="0">
                  <a:schemeClr val="bg1">
                    <a:lumMod val="75000"/>
                  </a:schemeClr>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TextBox 7"/>
            <p:cNvSpPr txBox="1">
              <a:spLocks noChangeArrowheads="1"/>
            </p:cNvSpPr>
            <p:nvPr/>
          </p:nvSpPr>
          <p:spPr bwMode="auto">
            <a:xfrm>
              <a:off x="1070481" y="1703924"/>
              <a:ext cx="932312" cy="276999"/>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操作系统</a:t>
              </a:r>
            </a:p>
          </p:txBody>
        </p:sp>
      </p:grpSp>
      <p:grpSp>
        <p:nvGrpSpPr>
          <p:cNvPr id="19" name="组合 18"/>
          <p:cNvGrpSpPr/>
          <p:nvPr/>
        </p:nvGrpSpPr>
        <p:grpSpPr>
          <a:xfrm>
            <a:off x="5219769" y="3465531"/>
            <a:ext cx="1071570" cy="820744"/>
            <a:chOff x="3201802" y="2466445"/>
            <a:chExt cx="1071570" cy="820744"/>
          </a:xfrm>
        </p:grpSpPr>
        <p:cxnSp>
          <p:nvCxnSpPr>
            <p:cNvPr id="61" name="直接连接符 60"/>
            <p:cNvCxnSpPr/>
            <p:nvPr/>
          </p:nvCxnSpPr>
          <p:spPr>
            <a:xfrm>
              <a:off x="3201802" y="3285601"/>
              <a:ext cx="1071570" cy="1588"/>
            </a:xfrm>
            <a:prstGeom prst="line">
              <a:avLst/>
            </a:pr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rot="16200000" flipH="1">
              <a:off x="3851888" y="2873642"/>
              <a:ext cx="819156" cy="4762"/>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sp>
        <p:nvSpPr>
          <p:cNvPr id="53" name="文本框 52">
            <a:extLst>
              <a:ext uri="{FF2B5EF4-FFF2-40B4-BE49-F238E27FC236}">
                <a16:creationId xmlns:a16="http://schemas.microsoft.com/office/drawing/2014/main" id="{2E3AB292-C593-57B7-E50B-59792B8F57A9}"/>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63" name="标题 8">
            <a:extLst>
              <a:ext uri="{FF2B5EF4-FFF2-40B4-BE49-F238E27FC236}">
                <a16:creationId xmlns:a16="http://schemas.microsoft.com/office/drawing/2014/main" id="{FA2896FA-387D-0DA3-A4C7-785DEB09E7EB}"/>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缺页异常（缺页中断）的处理流程</a:t>
            </a:r>
          </a:p>
        </p:txBody>
      </p:sp>
      <p:grpSp>
        <p:nvGrpSpPr>
          <p:cNvPr id="80" name="组合 79">
            <a:extLst>
              <a:ext uri="{FF2B5EF4-FFF2-40B4-BE49-F238E27FC236}">
                <a16:creationId xmlns:a16="http://schemas.microsoft.com/office/drawing/2014/main" id="{D96AE547-5D4F-46F4-A5CA-705509C57313}"/>
              </a:ext>
            </a:extLst>
          </p:cNvPr>
          <p:cNvGrpSpPr/>
          <p:nvPr/>
        </p:nvGrpSpPr>
        <p:grpSpPr>
          <a:xfrm>
            <a:off x="3759089" y="3563541"/>
            <a:ext cx="567185" cy="238070"/>
            <a:chOff x="670350" y="3718419"/>
            <a:chExt cx="567185" cy="238070"/>
          </a:xfrm>
        </p:grpSpPr>
        <p:sp>
          <p:nvSpPr>
            <p:cNvPr id="81" name="矩形 80">
              <a:extLst>
                <a:ext uri="{FF2B5EF4-FFF2-40B4-BE49-F238E27FC236}">
                  <a16:creationId xmlns:a16="http://schemas.microsoft.com/office/drawing/2014/main" id="{39A26E9D-AAD7-413A-98E1-97FE9F045FBD}"/>
                </a:ext>
              </a:extLst>
            </p:cNvPr>
            <p:cNvSpPr/>
            <p:nvPr/>
          </p:nvSpPr>
          <p:spPr>
            <a:xfrm>
              <a:off x="695400" y="3762397"/>
              <a:ext cx="500066" cy="14287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2" name="直接连接符 81">
              <a:extLst>
                <a:ext uri="{FF2B5EF4-FFF2-40B4-BE49-F238E27FC236}">
                  <a16:creationId xmlns:a16="http://schemas.microsoft.com/office/drawing/2014/main" id="{349A54E8-8C85-4640-8BB9-4B8CFCAE10F2}"/>
                </a:ext>
              </a:extLst>
            </p:cNvPr>
            <p:cNvCxnSpPr/>
            <p:nvPr/>
          </p:nvCxnSpPr>
          <p:spPr>
            <a:xfrm rot="5400000">
              <a:off x="996233" y="3836216"/>
              <a:ext cx="142876"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83" name="TextBox 7">
              <a:extLst>
                <a:ext uri="{FF2B5EF4-FFF2-40B4-BE49-F238E27FC236}">
                  <a16:creationId xmlns:a16="http://schemas.microsoft.com/office/drawing/2014/main" id="{413B7BBD-33CE-4B3E-9B34-FC1858369D81}"/>
                </a:ext>
              </a:extLst>
            </p:cNvPr>
            <p:cNvSpPr txBox="1">
              <a:spLocks noChangeArrowheads="1"/>
            </p:cNvSpPr>
            <p:nvPr/>
          </p:nvSpPr>
          <p:spPr bwMode="auto">
            <a:xfrm>
              <a:off x="1023221" y="3725657"/>
              <a:ext cx="214314" cy="230832"/>
            </a:xfrm>
            <a:prstGeom prst="rect">
              <a:avLst/>
            </a:prstGeom>
            <a:noFill/>
            <a:ln w="9525">
              <a:noFill/>
              <a:miter lim="800000"/>
              <a:headEnd/>
              <a:tailEnd/>
            </a:ln>
          </p:spPr>
          <p:txBody>
            <a:bodyPr wrap="square">
              <a:spAutoFit/>
            </a:bodyPr>
            <a:lstStyle/>
            <a:p>
              <a:pPr>
                <a:buSzPct val="100000"/>
              </a:pPr>
              <a:r>
                <a:rPr lang="en-US" altLang="zh-CN" sz="900" b="1" dirty="0">
                  <a:solidFill>
                    <a:srgbClr val="11576A"/>
                  </a:solidFill>
                  <a:latin typeface="微软雅黑" pitchFamily="34" charset="-122"/>
                  <a:ea typeface="微软雅黑" pitchFamily="34" charset="-122"/>
                </a:rPr>
                <a:t>0</a:t>
              </a:r>
              <a:endParaRPr lang="zh-CN" altLang="en-US" sz="900" b="1" dirty="0">
                <a:solidFill>
                  <a:srgbClr val="11576A"/>
                </a:solidFill>
                <a:latin typeface="微软雅黑" pitchFamily="34" charset="-122"/>
                <a:ea typeface="微软雅黑" pitchFamily="34" charset="-122"/>
              </a:endParaRPr>
            </a:p>
          </p:txBody>
        </p:sp>
        <p:sp>
          <p:nvSpPr>
            <p:cNvPr id="84" name="TextBox 7">
              <a:extLst>
                <a:ext uri="{FF2B5EF4-FFF2-40B4-BE49-F238E27FC236}">
                  <a16:creationId xmlns:a16="http://schemas.microsoft.com/office/drawing/2014/main" id="{E0E8BE8C-722D-4BDC-BA5F-02C19EE750F3}"/>
                </a:ext>
              </a:extLst>
            </p:cNvPr>
            <p:cNvSpPr txBox="1">
              <a:spLocks noChangeArrowheads="1"/>
            </p:cNvSpPr>
            <p:nvPr/>
          </p:nvSpPr>
          <p:spPr bwMode="auto">
            <a:xfrm>
              <a:off x="670350" y="3718419"/>
              <a:ext cx="424383" cy="230832"/>
            </a:xfrm>
            <a:prstGeom prst="rect">
              <a:avLst/>
            </a:prstGeom>
            <a:noFill/>
            <a:ln w="9525">
              <a:noFill/>
              <a:miter lim="800000"/>
              <a:headEnd/>
              <a:tailEnd/>
            </a:ln>
          </p:spPr>
          <p:txBody>
            <a:bodyPr wrap="square">
              <a:spAutoFit/>
            </a:bodyPr>
            <a:lstStyle/>
            <a:p>
              <a:pPr>
                <a:buSzPct val="100000"/>
              </a:pPr>
              <a:r>
                <a:rPr lang="zh-CN" altLang="en-US" sz="900" b="1" dirty="0">
                  <a:solidFill>
                    <a:srgbClr val="11576A"/>
                  </a:solidFill>
                  <a:latin typeface="微软雅黑" pitchFamily="34" charset="-122"/>
                  <a:ea typeface="微软雅黑" pitchFamily="34" charset="-122"/>
                </a:rPr>
                <a:t>无效</a:t>
              </a:r>
            </a:p>
          </p:txBody>
        </p:sp>
      </p:grpSp>
      <p:grpSp>
        <p:nvGrpSpPr>
          <p:cNvPr id="75" name="组合 74">
            <a:extLst>
              <a:ext uri="{FF2B5EF4-FFF2-40B4-BE49-F238E27FC236}">
                <a16:creationId xmlns:a16="http://schemas.microsoft.com/office/drawing/2014/main" id="{AA709D2D-F10C-4DD9-B1A1-33BB6F0DECFA}"/>
              </a:ext>
            </a:extLst>
          </p:cNvPr>
          <p:cNvGrpSpPr/>
          <p:nvPr/>
        </p:nvGrpSpPr>
        <p:grpSpPr>
          <a:xfrm>
            <a:off x="3754849" y="3576627"/>
            <a:ext cx="567184" cy="238070"/>
            <a:chOff x="670351" y="3718419"/>
            <a:chExt cx="567184" cy="238070"/>
          </a:xfrm>
        </p:grpSpPr>
        <p:sp>
          <p:nvSpPr>
            <p:cNvPr id="76" name="矩形 75">
              <a:extLst>
                <a:ext uri="{FF2B5EF4-FFF2-40B4-BE49-F238E27FC236}">
                  <a16:creationId xmlns:a16="http://schemas.microsoft.com/office/drawing/2014/main" id="{CB329E8F-C1EF-4F05-8A21-F1350910A287}"/>
                </a:ext>
              </a:extLst>
            </p:cNvPr>
            <p:cNvSpPr/>
            <p:nvPr/>
          </p:nvSpPr>
          <p:spPr>
            <a:xfrm>
              <a:off x="695400" y="3762397"/>
              <a:ext cx="500066" cy="14287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连接符 76">
              <a:extLst>
                <a:ext uri="{FF2B5EF4-FFF2-40B4-BE49-F238E27FC236}">
                  <a16:creationId xmlns:a16="http://schemas.microsoft.com/office/drawing/2014/main" id="{E733CF38-E954-4B07-9389-CC7C214C89AE}"/>
                </a:ext>
              </a:extLst>
            </p:cNvPr>
            <p:cNvCxnSpPr/>
            <p:nvPr/>
          </p:nvCxnSpPr>
          <p:spPr>
            <a:xfrm rot="5400000">
              <a:off x="996233" y="3836216"/>
              <a:ext cx="142876"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78" name="TextBox 7">
              <a:extLst>
                <a:ext uri="{FF2B5EF4-FFF2-40B4-BE49-F238E27FC236}">
                  <a16:creationId xmlns:a16="http://schemas.microsoft.com/office/drawing/2014/main" id="{95572F6E-92DE-4DF8-AD4A-9E902F38C081}"/>
                </a:ext>
              </a:extLst>
            </p:cNvPr>
            <p:cNvSpPr txBox="1">
              <a:spLocks noChangeArrowheads="1"/>
            </p:cNvSpPr>
            <p:nvPr/>
          </p:nvSpPr>
          <p:spPr bwMode="auto">
            <a:xfrm>
              <a:off x="1023221" y="3725657"/>
              <a:ext cx="214314" cy="230832"/>
            </a:xfrm>
            <a:prstGeom prst="rect">
              <a:avLst/>
            </a:prstGeom>
            <a:noFill/>
            <a:ln w="9525">
              <a:noFill/>
              <a:miter lim="800000"/>
              <a:headEnd/>
              <a:tailEnd/>
            </a:ln>
          </p:spPr>
          <p:txBody>
            <a:bodyPr wrap="square">
              <a:spAutoFit/>
            </a:bodyPr>
            <a:lstStyle/>
            <a:p>
              <a:pPr>
                <a:buSzPct val="100000"/>
              </a:pPr>
              <a:r>
                <a:rPr lang="en-US" altLang="zh-CN" sz="900" b="1" dirty="0">
                  <a:solidFill>
                    <a:srgbClr val="FF0000"/>
                  </a:solidFill>
                  <a:latin typeface="微软雅黑" pitchFamily="34" charset="-122"/>
                  <a:ea typeface="微软雅黑" pitchFamily="34" charset="-122"/>
                </a:rPr>
                <a:t>1</a:t>
              </a:r>
              <a:endParaRPr lang="zh-CN" altLang="en-US" sz="900" b="1" dirty="0">
                <a:solidFill>
                  <a:srgbClr val="FF0000"/>
                </a:solidFill>
                <a:latin typeface="微软雅黑" pitchFamily="34" charset="-122"/>
                <a:ea typeface="微软雅黑" pitchFamily="34" charset="-122"/>
              </a:endParaRPr>
            </a:p>
          </p:txBody>
        </p:sp>
        <p:sp>
          <p:nvSpPr>
            <p:cNvPr id="79" name="TextBox 7">
              <a:extLst>
                <a:ext uri="{FF2B5EF4-FFF2-40B4-BE49-F238E27FC236}">
                  <a16:creationId xmlns:a16="http://schemas.microsoft.com/office/drawing/2014/main" id="{A75EC923-DD50-4FB2-9864-0B8A63FF6E39}"/>
                </a:ext>
              </a:extLst>
            </p:cNvPr>
            <p:cNvSpPr txBox="1">
              <a:spLocks noChangeArrowheads="1"/>
            </p:cNvSpPr>
            <p:nvPr/>
          </p:nvSpPr>
          <p:spPr bwMode="auto">
            <a:xfrm>
              <a:off x="670351" y="3718419"/>
              <a:ext cx="436080" cy="230832"/>
            </a:xfrm>
            <a:prstGeom prst="rect">
              <a:avLst/>
            </a:prstGeom>
            <a:noFill/>
            <a:ln w="9525">
              <a:noFill/>
              <a:miter lim="800000"/>
              <a:headEnd/>
              <a:tailEnd/>
            </a:ln>
          </p:spPr>
          <p:txBody>
            <a:bodyPr wrap="square">
              <a:spAutoFit/>
            </a:bodyPr>
            <a:lstStyle/>
            <a:p>
              <a:pPr>
                <a:buSzPct val="100000"/>
              </a:pPr>
              <a:r>
                <a:rPr lang="en-US" altLang="zh-CN" sz="900" b="1" dirty="0">
                  <a:solidFill>
                    <a:srgbClr val="11576A"/>
                  </a:solidFill>
                  <a:latin typeface="微软雅黑" pitchFamily="34" charset="-122"/>
                  <a:ea typeface="微软雅黑" pitchFamily="34" charset="-122"/>
                </a:rPr>
                <a:t>p</a:t>
              </a:r>
              <a:endParaRPr lang="zh-CN" altLang="en-US" sz="900" b="1" dirty="0">
                <a:solidFill>
                  <a:srgbClr val="11576A"/>
                </a:solidFill>
                <a:latin typeface="微软雅黑" pitchFamily="34" charset="-122"/>
                <a:ea typeface="微软雅黑" pitchFamily="34" charset="-122"/>
              </a:endParaRPr>
            </a:p>
          </p:txBody>
        </p:sp>
      </p:grpSp>
      <p:sp>
        <p:nvSpPr>
          <p:cNvPr id="85" name="TextBox 4">
            <a:extLst>
              <a:ext uri="{FF2B5EF4-FFF2-40B4-BE49-F238E27FC236}">
                <a16:creationId xmlns:a16="http://schemas.microsoft.com/office/drawing/2014/main" id="{370E0C74-B971-4E3C-8BD5-E50D886A6807}"/>
              </a:ext>
            </a:extLst>
          </p:cNvPr>
          <p:cNvSpPr txBox="1">
            <a:spLocks noChangeArrowheads="1"/>
          </p:cNvSpPr>
          <p:nvPr/>
        </p:nvSpPr>
        <p:spPr bwMode="auto">
          <a:xfrm>
            <a:off x="7176120" y="1484784"/>
            <a:ext cx="4318911" cy="584775"/>
          </a:xfrm>
          <a:prstGeom prst="rect">
            <a:avLst/>
          </a:prstGeom>
          <a:noFill/>
          <a:ln w="9525">
            <a:noFill/>
            <a:miter lim="800000"/>
            <a:headEnd/>
            <a:tailEnd/>
          </a:ln>
        </p:spPr>
        <p:txBody>
          <a:bodyPr wrap="square">
            <a:spAutoFit/>
          </a:bodyPr>
          <a:lstStyle/>
          <a:p>
            <a:pPr>
              <a:buSzPct val="100000"/>
            </a:pPr>
            <a:r>
              <a:rPr lang="en-US" altLang="zh-CN" sz="1600" b="1" dirty="0">
                <a:solidFill>
                  <a:srgbClr val="11576A"/>
                </a:solidFill>
                <a:latin typeface="微软雅黑" pitchFamily="34" charset="-122"/>
                <a:ea typeface="微软雅黑" pitchFamily="34" charset="-122"/>
              </a:rPr>
              <a:t>1. CPU</a:t>
            </a:r>
            <a:r>
              <a:rPr lang="zh-CN" altLang="en-US" sz="1600" b="1" dirty="0">
                <a:solidFill>
                  <a:srgbClr val="11576A"/>
                </a:solidFill>
                <a:latin typeface="微软雅黑" pitchFamily="34" charset="-122"/>
                <a:ea typeface="微软雅黑" pitchFamily="34" charset="-122"/>
              </a:rPr>
              <a:t>发出访存指令到</a:t>
            </a:r>
            <a:r>
              <a:rPr lang="en-US" altLang="zh-CN" sz="1600" b="1" dirty="0">
                <a:solidFill>
                  <a:srgbClr val="11576A"/>
                </a:solidFill>
                <a:latin typeface="微软雅黑" pitchFamily="34" charset="-122"/>
                <a:ea typeface="微软雅黑" pitchFamily="34" charset="-122"/>
              </a:rPr>
              <a:t>MMU</a:t>
            </a:r>
            <a:r>
              <a:rPr lang="zh-CN" altLang="en-US" sz="1600" b="1" dirty="0">
                <a:solidFill>
                  <a:srgbClr val="11576A"/>
                </a:solidFill>
                <a:latin typeface="微软雅黑" pitchFamily="34" charset="-122"/>
                <a:ea typeface="微软雅黑" pitchFamily="34" charset="-122"/>
              </a:rPr>
              <a:t>，</a:t>
            </a:r>
            <a:r>
              <a:rPr lang="en-US" altLang="zh-CN" sz="1600" b="1" dirty="0">
                <a:solidFill>
                  <a:srgbClr val="11576A"/>
                </a:solidFill>
                <a:latin typeface="微软雅黑" pitchFamily="34" charset="-122"/>
                <a:ea typeface="微软雅黑" pitchFamily="34" charset="-122"/>
              </a:rPr>
              <a:t>MMU</a:t>
            </a:r>
            <a:r>
              <a:rPr lang="zh-CN" altLang="en-US" sz="1600" b="1" dirty="0">
                <a:solidFill>
                  <a:srgbClr val="11576A"/>
                </a:solidFill>
                <a:latin typeface="微软雅黑" pitchFamily="34" charset="-122"/>
                <a:ea typeface="微软雅黑" pitchFamily="34" charset="-122"/>
              </a:rPr>
              <a:t>根据地址高位部分得到页号，以页号查页表；</a:t>
            </a:r>
          </a:p>
        </p:txBody>
      </p:sp>
      <p:sp>
        <p:nvSpPr>
          <p:cNvPr id="86" name="TextBox 7">
            <a:extLst>
              <a:ext uri="{FF2B5EF4-FFF2-40B4-BE49-F238E27FC236}">
                <a16:creationId xmlns:a16="http://schemas.microsoft.com/office/drawing/2014/main" id="{D525D8EE-BE3E-49E5-82F8-1E8BBDB21873}"/>
              </a:ext>
            </a:extLst>
          </p:cNvPr>
          <p:cNvSpPr txBox="1">
            <a:spLocks noChangeArrowheads="1"/>
          </p:cNvSpPr>
          <p:nvPr/>
        </p:nvSpPr>
        <p:spPr bwMode="auto">
          <a:xfrm>
            <a:off x="7176120" y="2020930"/>
            <a:ext cx="4318911" cy="584775"/>
          </a:xfrm>
          <a:prstGeom prst="rect">
            <a:avLst/>
          </a:prstGeom>
          <a:noFill/>
          <a:ln w="9525">
            <a:noFill/>
            <a:miter lim="800000"/>
            <a:headEnd/>
            <a:tailEnd/>
          </a:ln>
        </p:spPr>
        <p:txBody>
          <a:bodyPr wrap="square">
            <a:spAutoFit/>
          </a:bodyPr>
          <a:lstStyle/>
          <a:p>
            <a:pPr marL="180975" indent="-180975">
              <a:buSzPct val="100000"/>
            </a:pPr>
            <a:r>
              <a:rPr lang="en-US" altLang="zh-CN" sz="1600" b="1" dirty="0">
                <a:solidFill>
                  <a:srgbClr val="11576A"/>
                </a:solidFill>
                <a:latin typeface="微软雅黑" pitchFamily="34" charset="-122"/>
                <a:ea typeface="微软雅黑" pitchFamily="34" charset="-122"/>
              </a:rPr>
              <a:t>2.</a:t>
            </a:r>
            <a:r>
              <a:rPr lang="zh-CN" altLang="en-US" sz="1600" b="1" dirty="0">
                <a:solidFill>
                  <a:srgbClr val="11576A"/>
                </a:solidFill>
                <a:latin typeface="微软雅黑" pitchFamily="34" charset="-122"/>
                <a:ea typeface="微软雅黑" pitchFamily="34" charset="-122"/>
              </a:rPr>
              <a:t>查表发现该页表项未填入有效值，因此产生缺页异常</a:t>
            </a:r>
            <a:endParaRPr lang="en-US" altLang="zh-CN" sz="1600" b="1" dirty="0">
              <a:solidFill>
                <a:srgbClr val="11576A"/>
              </a:solidFill>
              <a:latin typeface="微软雅黑" pitchFamily="34" charset="-122"/>
              <a:ea typeface="微软雅黑" pitchFamily="34" charset="-122"/>
            </a:endParaRPr>
          </a:p>
        </p:txBody>
      </p:sp>
      <p:sp>
        <p:nvSpPr>
          <p:cNvPr id="87" name="TextBox 7">
            <a:extLst>
              <a:ext uri="{FF2B5EF4-FFF2-40B4-BE49-F238E27FC236}">
                <a16:creationId xmlns:a16="http://schemas.microsoft.com/office/drawing/2014/main" id="{94DAB78E-2E80-46D0-BFD7-A9036B222939}"/>
              </a:ext>
            </a:extLst>
          </p:cNvPr>
          <p:cNvSpPr txBox="1">
            <a:spLocks noChangeArrowheads="1"/>
          </p:cNvSpPr>
          <p:nvPr/>
        </p:nvSpPr>
        <p:spPr bwMode="auto">
          <a:xfrm>
            <a:off x="7176120" y="2557077"/>
            <a:ext cx="4096318" cy="584775"/>
          </a:xfrm>
          <a:prstGeom prst="rect">
            <a:avLst/>
          </a:prstGeom>
          <a:noFill/>
          <a:ln w="9525">
            <a:noFill/>
            <a:miter lim="800000"/>
            <a:headEnd/>
            <a:tailEnd/>
          </a:ln>
        </p:spPr>
        <p:txBody>
          <a:bodyPr wrap="square">
            <a:spAutoFit/>
          </a:bodyPr>
          <a:lstStyle/>
          <a:p>
            <a:pPr marL="180975" indent="-180975" eaLnBrk="1" hangingPunct="1">
              <a:buSzPct val="100000"/>
            </a:pPr>
            <a:r>
              <a:rPr lang="en-US" altLang="zh-CN" sz="1600" b="1" dirty="0">
                <a:solidFill>
                  <a:srgbClr val="11576A"/>
                </a:solidFill>
                <a:latin typeface="微软雅黑" pitchFamily="34" charset="-122"/>
                <a:ea typeface="微软雅黑" pitchFamily="34" charset="-122"/>
              </a:rPr>
              <a:t>3.</a:t>
            </a:r>
            <a:r>
              <a:rPr lang="zh-CN" altLang="en-US" sz="1600" b="1" dirty="0">
                <a:solidFill>
                  <a:srgbClr val="11576A"/>
                </a:solidFill>
                <a:latin typeface="微软雅黑" pitchFamily="34" charset="-122"/>
                <a:ea typeface="微软雅黑" pitchFamily="34" charset="-122"/>
              </a:rPr>
              <a:t>缺页异常由</a:t>
            </a:r>
            <a:r>
              <a:rPr lang="en-US" altLang="zh-CN" sz="1600" b="1" dirty="0">
                <a:solidFill>
                  <a:srgbClr val="11576A"/>
                </a:solidFill>
                <a:latin typeface="微软雅黑" pitchFamily="34" charset="-122"/>
                <a:ea typeface="微软雅黑" pitchFamily="34" charset="-122"/>
              </a:rPr>
              <a:t>OS</a:t>
            </a:r>
            <a:r>
              <a:rPr lang="zh-CN" altLang="en-US" sz="1600" b="1" dirty="0">
                <a:solidFill>
                  <a:srgbClr val="11576A"/>
                </a:solidFill>
                <a:latin typeface="微软雅黑" pitchFamily="34" charset="-122"/>
                <a:ea typeface="微软雅黑" pitchFamily="34" charset="-122"/>
              </a:rPr>
              <a:t>响应，</a:t>
            </a:r>
            <a:r>
              <a:rPr lang="en-US" altLang="zh-CN" sz="1600" b="1" dirty="0">
                <a:solidFill>
                  <a:srgbClr val="11576A"/>
                </a:solidFill>
                <a:latin typeface="微软雅黑" pitchFamily="34" charset="-122"/>
                <a:ea typeface="微软雅黑" pitchFamily="34" charset="-122"/>
              </a:rPr>
              <a:t>OS</a:t>
            </a:r>
            <a:r>
              <a:rPr lang="zh-CN" altLang="en-US" sz="1600" b="1" dirty="0">
                <a:solidFill>
                  <a:srgbClr val="11576A"/>
                </a:solidFill>
                <a:latin typeface="微软雅黑" pitchFamily="34" charset="-122"/>
                <a:ea typeface="微软雅黑" pitchFamily="34" charset="-122"/>
              </a:rPr>
              <a:t>需要分配对应的页帧，并找到该页的内容在磁盘中的位置；</a:t>
            </a:r>
          </a:p>
        </p:txBody>
      </p:sp>
      <p:sp>
        <p:nvSpPr>
          <p:cNvPr id="88" name="TextBox 7">
            <a:extLst>
              <a:ext uri="{FF2B5EF4-FFF2-40B4-BE49-F238E27FC236}">
                <a16:creationId xmlns:a16="http://schemas.microsoft.com/office/drawing/2014/main" id="{55E9B927-D19B-46DC-AD95-FAB94E2806C6}"/>
              </a:ext>
            </a:extLst>
          </p:cNvPr>
          <p:cNvSpPr txBox="1">
            <a:spLocks noChangeArrowheads="1"/>
          </p:cNvSpPr>
          <p:nvPr/>
        </p:nvSpPr>
        <p:spPr bwMode="auto">
          <a:xfrm>
            <a:off x="7176120" y="5484031"/>
            <a:ext cx="4536504" cy="338554"/>
          </a:xfrm>
          <a:prstGeom prst="rect">
            <a:avLst/>
          </a:prstGeom>
          <a:noFill/>
          <a:ln w="9525">
            <a:noFill/>
            <a:miter lim="800000"/>
            <a:headEnd/>
            <a:tailEnd/>
          </a:ln>
        </p:spPr>
        <p:txBody>
          <a:bodyPr wrap="square">
            <a:spAutoFit/>
          </a:bodyPr>
          <a:lstStyle/>
          <a:p>
            <a:pPr marL="180975" indent="-180975">
              <a:buSzPct val="100000"/>
            </a:pPr>
            <a:r>
              <a:rPr lang="en-US" altLang="zh-CN" sz="1600" b="1" dirty="0">
                <a:solidFill>
                  <a:srgbClr val="11576A"/>
                </a:solidFill>
                <a:latin typeface="微软雅黑" pitchFamily="34" charset="-122"/>
                <a:ea typeface="微软雅黑" pitchFamily="34" charset="-122"/>
              </a:rPr>
              <a:t>8.</a:t>
            </a:r>
            <a:r>
              <a:rPr lang="zh-CN" altLang="en-US" sz="1600" b="1" dirty="0">
                <a:solidFill>
                  <a:srgbClr val="11576A"/>
                </a:solidFill>
                <a:latin typeface="微软雅黑" pitchFamily="34" charset="-122"/>
                <a:ea typeface="微软雅黑" pitchFamily="34" charset="-122"/>
              </a:rPr>
              <a:t>将页帧号填入页表中，并修改页表的有效位；</a:t>
            </a:r>
          </a:p>
        </p:txBody>
      </p:sp>
      <p:sp>
        <p:nvSpPr>
          <p:cNvPr id="89" name="TextBox 7">
            <a:extLst>
              <a:ext uri="{FF2B5EF4-FFF2-40B4-BE49-F238E27FC236}">
                <a16:creationId xmlns:a16="http://schemas.microsoft.com/office/drawing/2014/main" id="{90D6C6F9-AAC9-466A-95F8-CFF429FF6F01}"/>
              </a:ext>
            </a:extLst>
          </p:cNvPr>
          <p:cNvSpPr txBox="1">
            <a:spLocks noChangeArrowheads="1"/>
          </p:cNvSpPr>
          <p:nvPr/>
        </p:nvSpPr>
        <p:spPr bwMode="auto">
          <a:xfrm>
            <a:off x="7176120" y="5877272"/>
            <a:ext cx="4318913" cy="338554"/>
          </a:xfrm>
          <a:prstGeom prst="rect">
            <a:avLst/>
          </a:prstGeom>
          <a:noFill/>
          <a:ln w="9525">
            <a:noFill/>
            <a:miter lim="800000"/>
            <a:headEnd/>
            <a:tailEnd/>
          </a:ln>
        </p:spPr>
        <p:txBody>
          <a:bodyPr wrap="square">
            <a:spAutoFit/>
          </a:bodyPr>
          <a:lstStyle/>
          <a:p>
            <a:pPr marL="180975" indent="-180975">
              <a:buSzPct val="100000"/>
            </a:pPr>
            <a:r>
              <a:rPr lang="en-US" altLang="zh-CN" sz="1600" b="1" dirty="0">
                <a:solidFill>
                  <a:srgbClr val="11576A"/>
                </a:solidFill>
                <a:latin typeface="微软雅黑" pitchFamily="34" charset="-122"/>
                <a:ea typeface="微软雅黑" pitchFamily="34" charset="-122"/>
              </a:rPr>
              <a:t>9.</a:t>
            </a:r>
            <a:r>
              <a:rPr lang="zh-CN" altLang="en-US" sz="1600" b="1" dirty="0">
                <a:solidFill>
                  <a:srgbClr val="11576A"/>
                </a:solidFill>
                <a:latin typeface="微软雅黑" pitchFamily="34" charset="-122"/>
                <a:ea typeface="微软雅黑" pitchFamily="34" charset="-122"/>
              </a:rPr>
              <a:t>异常返回，重新执行产生缺页的指令</a:t>
            </a:r>
          </a:p>
        </p:txBody>
      </p:sp>
      <p:sp>
        <p:nvSpPr>
          <p:cNvPr id="90" name="TextBox 7">
            <a:extLst>
              <a:ext uri="{FF2B5EF4-FFF2-40B4-BE49-F238E27FC236}">
                <a16:creationId xmlns:a16="http://schemas.microsoft.com/office/drawing/2014/main" id="{01AB763B-2119-4E48-8BE4-4C3747DD5520}"/>
              </a:ext>
            </a:extLst>
          </p:cNvPr>
          <p:cNvSpPr txBox="1">
            <a:spLocks noChangeArrowheads="1"/>
          </p:cNvSpPr>
          <p:nvPr/>
        </p:nvSpPr>
        <p:spPr bwMode="auto">
          <a:xfrm>
            <a:off x="7176120" y="4947884"/>
            <a:ext cx="4207613" cy="584775"/>
          </a:xfrm>
          <a:prstGeom prst="rect">
            <a:avLst/>
          </a:prstGeom>
          <a:noFill/>
          <a:ln w="9525">
            <a:noFill/>
            <a:miter lim="800000"/>
            <a:headEnd/>
            <a:tailEnd/>
          </a:ln>
        </p:spPr>
        <p:txBody>
          <a:bodyPr wrap="square">
            <a:spAutoFit/>
          </a:bodyPr>
          <a:lstStyle/>
          <a:p>
            <a:pPr marL="180975" indent="-180975">
              <a:buSzPct val="100000"/>
            </a:pPr>
            <a:r>
              <a:rPr lang="en-US" altLang="zh-CN" sz="1600" b="1" dirty="0">
                <a:solidFill>
                  <a:srgbClr val="11576A"/>
                </a:solidFill>
                <a:latin typeface="微软雅黑" pitchFamily="34" charset="-122"/>
                <a:ea typeface="微软雅黑" pitchFamily="34" charset="-122"/>
              </a:rPr>
              <a:t>7.</a:t>
            </a:r>
            <a:r>
              <a:rPr lang="zh-CN" altLang="en-US" sz="1600" b="1" dirty="0">
                <a:solidFill>
                  <a:srgbClr val="11576A"/>
                </a:solidFill>
                <a:latin typeface="微软雅黑" pitchFamily="34" charset="-122"/>
                <a:ea typeface="微软雅黑" pitchFamily="34" charset="-122"/>
              </a:rPr>
              <a:t>找到系统中的空闲页帧，从磁盘中读取相应的数据填入页帧中；</a:t>
            </a:r>
          </a:p>
        </p:txBody>
      </p:sp>
      <p:grpSp>
        <p:nvGrpSpPr>
          <p:cNvPr id="91" name="组合 90">
            <a:extLst>
              <a:ext uri="{FF2B5EF4-FFF2-40B4-BE49-F238E27FC236}">
                <a16:creationId xmlns:a16="http://schemas.microsoft.com/office/drawing/2014/main" id="{338BB21C-6D89-4906-8443-09F2B3481C29}"/>
              </a:ext>
            </a:extLst>
          </p:cNvPr>
          <p:cNvGrpSpPr/>
          <p:nvPr/>
        </p:nvGrpSpPr>
        <p:grpSpPr>
          <a:xfrm>
            <a:off x="3769861" y="3122243"/>
            <a:ext cx="567184" cy="238070"/>
            <a:chOff x="670351" y="3718419"/>
            <a:chExt cx="567184" cy="238070"/>
          </a:xfrm>
        </p:grpSpPr>
        <p:sp>
          <p:nvSpPr>
            <p:cNvPr id="92" name="矩形 91">
              <a:extLst>
                <a:ext uri="{FF2B5EF4-FFF2-40B4-BE49-F238E27FC236}">
                  <a16:creationId xmlns:a16="http://schemas.microsoft.com/office/drawing/2014/main" id="{8A4773EE-2918-453D-B9DD-5817D3DFC2AE}"/>
                </a:ext>
              </a:extLst>
            </p:cNvPr>
            <p:cNvSpPr/>
            <p:nvPr/>
          </p:nvSpPr>
          <p:spPr>
            <a:xfrm>
              <a:off x="695400" y="3762397"/>
              <a:ext cx="500066" cy="14287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3" name="直接连接符 92">
              <a:extLst>
                <a:ext uri="{FF2B5EF4-FFF2-40B4-BE49-F238E27FC236}">
                  <a16:creationId xmlns:a16="http://schemas.microsoft.com/office/drawing/2014/main" id="{00E8DCDD-5B9A-48DD-A8FA-D6ECD3A831EA}"/>
                </a:ext>
              </a:extLst>
            </p:cNvPr>
            <p:cNvCxnSpPr/>
            <p:nvPr/>
          </p:nvCxnSpPr>
          <p:spPr>
            <a:xfrm rot="5400000">
              <a:off x="996233" y="3836216"/>
              <a:ext cx="142876"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94" name="TextBox 7">
              <a:extLst>
                <a:ext uri="{FF2B5EF4-FFF2-40B4-BE49-F238E27FC236}">
                  <a16:creationId xmlns:a16="http://schemas.microsoft.com/office/drawing/2014/main" id="{4CD68958-B010-428A-8576-94C27D745F69}"/>
                </a:ext>
              </a:extLst>
            </p:cNvPr>
            <p:cNvSpPr txBox="1">
              <a:spLocks noChangeArrowheads="1"/>
            </p:cNvSpPr>
            <p:nvPr/>
          </p:nvSpPr>
          <p:spPr bwMode="auto">
            <a:xfrm>
              <a:off x="1023221" y="3725657"/>
              <a:ext cx="214314" cy="230832"/>
            </a:xfrm>
            <a:prstGeom prst="rect">
              <a:avLst/>
            </a:prstGeom>
            <a:noFill/>
            <a:ln w="9525">
              <a:noFill/>
              <a:miter lim="800000"/>
              <a:headEnd/>
              <a:tailEnd/>
            </a:ln>
          </p:spPr>
          <p:txBody>
            <a:bodyPr wrap="square">
              <a:spAutoFit/>
            </a:bodyPr>
            <a:lstStyle/>
            <a:p>
              <a:pPr>
                <a:buSzPct val="100000"/>
              </a:pPr>
              <a:r>
                <a:rPr lang="en-US" altLang="zh-CN" sz="900" b="1" dirty="0">
                  <a:solidFill>
                    <a:srgbClr val="11576A"/>
                  </a:solidFill>
                  <a:latin typeface="微软雅黑" pitchFamily="34" charset="-122"/>
                  <a:ea typeface="微软雅黑" pitchFamily="34" charset="-122"/>
                </a:rPr>
                <a:t>1</a:t>
              </a:r>
              <a:endParaRPr lang="zh-CN" altLang="en-US" sz="900" b="1" dirty="0">
                <a:solidFill>
                  <a:srgbClr val="11576A"/>
                </a:solidFill>
                <a:latin typeface="微软雅黑" pitchFamily="34" charset="-122"/>
                <a:ea typeface="微软雅黑" pitchFamily="34" charset="-122"/>
              </a:endParaRPr>
            </a:p>
          </p:txBody>
        </p:sp>
        <p:sp>
          <p:nvSpPr>
            <p:cNvPr id="95" name="TextBox 7">
              <a:extLst>
                <a:ext uri="{FF2B5EF4-FFF2-40B4-BE49-F238E27FC236}">
                  <a16:creationId xmlns:a16="http://schemas.microsoft.com/office/drawing/2014/main" id="{F5F84E32-F4BB-4189-B037-605680B30230}"/>
                </a:ext>
              </a:extLst>
            </p:cNvPr>
            <p:cNvSpPr txBox="1">
              <a:spLocks noChangeArrowheads="1"/>
            </p:cNvSpPr>
            <p:nvPr/>
          </p:nvSpPr>
          <p:spPr bwMode="auto">
            <a:xfrm>
              <a:off x="670351" y="3718419"/>
              <a:ext cx="436080" cy="230832"/>
            </a:xfrm>
            <a:prstGeom prst="rect">
              <a:avLst/>
            </a:prstGeom>
            <a:noFill/>
            <a:ln w="9525">
              <a:noFill/>
              <a:miter lim="800000"/>
              <a:headEnd/>
              <a:tailEnd/>
            </a:ln>
          </p:spPr>
          <p:txBody>
            <a:bodyPr wrap="square">
              <a:spAutoFit/>
            </a:bodyPr>
            <a:lstStyle/>
            <a:p>
              <a:pPr>
                <a:buSzPct val="100000"/>
              </a:pPr>
              <a:r>
                <a:rPr lang="en-US" altLang="zh-CN" sz="900" b="1" dirty="0">
                  <a:solidFill>
                    <a:srgbClr val="11576A"/>
                  </a:solidFill>
                  <a:latin typeface="微软雅黑" pitchFamily="34" charset="-122"/>
                  <a:ea typeface="微软雅黑" pitchFamily="34" charset="-122"/>
                </a:rPr>
                <a:t>p</a:t>
              </a:r>
              <a:endParaRPr lang="zh-CN" altLang="en-US" sz="900" b="1" dirty="0">
                <a:solidFill>
                  <a:srgbClr val="11576A"/>
                </a:solidFill>
                <a:latin typeface="微软雅黑" pitchFamily="34" charset="-122"/>
                <a:ea typeface="微软雅黑" pitchFamily="34" charset="-122"/>
              </a:endParaRPr>
            </a:p>
          </p:txBody>
        </p:sp>
      </p:grpSp>
      <p:grpSp>
        <p:nvGrpSpPr>
          <p:cNvPr id="97" name="组合 96">
            <a:extLst>
              <a:ext uri="{FF2B5EF4-FFF2-40B4-BE49-F238E27FC236}">
                <a16:creationId xmlns:a16="http://schemas.microsoft.com/office/drawing/2014/main" id="{424D9A80-4723-43D0-8BC2-0C93E6C94F5E}"/>
              </a:ext>
            </a:extLst>
          </p:cNvPr>
          <p:cNvGrpSpPr/>
          <p:nvPr/>
        </p:nvGrpSpPr>
        <p:grpSpPr>
          <a:xfrm>
            <a:off x="3773016" y="3116303"/>
            <a:ext cx="567184" cy="238070"/>
            <a:chOff x="670351" y="3718419"/>
            <a:chExt cx="567184" cy="238070"/>
          </a:xfrm>
        </p:grpSpPr>
        <p:sp>
          <p:nvSpPr>
            <p:cNvPr id="98" name="矩形 97">
              <a:extLst>
                <a:ext uri="{FF2B5EF4-FFF2-40B4-BE49-F238E27FC236}">
                  <a16:creationId xmlns:a16="http://schemas.microsoft.com/office/drawing/2014/main" id="{A0AC8E71-33E0-407E-9D44-5AFA242F6049}"/>
                </a:ext>
              </a:extLst>
            </p:cNvPr>
            <p:cNvSpPr/>
            <p:nvPr/>
          </p:nvSpPr>
          <p:spPr>
            <a:xfrm>
              <a:off x="695400" y="3762397"/>
              <a:ext cx="500066" cy="14287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 name="直接连接符 98">
              <a:extLst>
                <a:ext uri="{FF2B5EF4-FFF2-40B4-BE49-F238E27FC236}">
                  <a16:creationId xmlns:a16="http://schemas.microsoft.com/office/drawing/2014/main" id="{C74787F7-39B6-451B-A2CF-1B0D81E43292}"/>
                </a:ext>
              </a:extLst>
            </p:cNvPr>
            <p:cNvCxnSpPr/>
            <p:nvPr/>
          </p:nvCxnSpPr>
          <p:spPr>
            <a:xfrm rot="5400000">
              <a:off x="996233" y="3836216"/>
              <a:ext cx="142876"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00" name="TextBox 7">
              <a:extLst>
                <a:ext uri="{FF2B5EF4-FFF2-40B4-BE49-F238E27FC236}">
                  <a16:creationId xmlns:a16="http://schemas.microsoft.com/office/drawing/2014/main" id="{15F87EDA-3C6D-4C4B-952D-A4CA8F50108F}"/>
                </a:ext>
              </a:extLst>
            </p:cNvPr>
            <p:cNvSpPr txBox="1">
              <a:spLocks noChangeArrowheads="1"/>
            </p:cNvSpPr>
            <p:nvPr/>
          </p:nvSpPr>
          <p:spPr bwMode="auto">
            <a:xfrm>
              <a:off x="1023221" y="3725657"/>
              <a:ext cx="214314" cy="230832"/>
            </a:xfrm>
            <a:prstGeom prst="rect">
              <a:avLst/>
            </a:prstGeom>
            <a:noFill/>
            <a:ln w="9525">
              <a:noFill/>
              <a:miter lim="800000"/>
              <a:headEnd/>
              <a:tailEnd/>
            </a:ln>
          </p:spPr>
          <p:txBody>
            <a:bodyPr wrap="square">
              <a:spAutoFit/>
            </a:bodyPr>
            <a:lstStyle/>
            <a:p>
              <a:pPr>
                <a:buSzPct val="100000"/>
              </a:pPr>
              <a:r>
                <a:rPr lang="en-US" altLang="zh-CN" sz="900" b="1" dirty="0">
                  <a:solidFill>
                    <a:srgbClr val="FF0000"/>
                  </a:solidFill>
                  <a:latin typeface="微软雅黑" pitchFamily="34" charset="-122"/>
                  <a:ea typeface="微软雅黑" pitchFamily="34" charset="-122"/>
                </a:rPr>
                <a:t>0</a:t>
              </a:r>
              <a:endParaRPr lang="zh-CN" altLang="en-US" sz="900" b="1" dirty="0">
                <a:solidFill>
                  <a:srgbClr val="FF0000"/>
                </a:solidFill>
                <a:latin typeface="微软雅黑" pitchFamily="34" charset="-122"/>
                <a:ea typeface="微软雅黑" pitchFamily="34" charset="-122"/>
              </a:endParaRPr>
            </a:p>
          </p:txBody>
        </p:sp>
        <p:sp>
          <p:nvSpPr>
            <p:cNvPr id="101" name="TextBox 7">
              <a:extLst>
                <a:ext uri="{FF2B5EF4-FFF2-40B4-BE49-F238E27FC236}">
                  <a16:creationId xmlns:a16="http://schemas.microsoft.com/office/drawing/2014/main" id="{7F80471C-E41E-468F-A265-5B5FD9920BF4}"/>
                </a:ext>
              </a:extLst>
            </p:cNvPr>
            <p:cNvSpPr txBox="1">
              <a:spLocks noChangeArrowheads="1"/>
            </p:cNvSpPr>
            <p:nvPr/>
          </p:nvSpPr>
          <p:spPr bwMode="auto">
            <a:xfrm>
              <a:off x="670351" y="3718419"/>
              <a:ext cx="436080" cy="230832"/>
            </a:xfrm>
            <a:prstGeom prst="rect">
              <a:avLst/>
            </a:prstGeom>
            <a:noFill/>
            <a:ln w="9525">
              <a:noFill/>
              <a:miter lim="800000"/>
              <a:headEnd/>
              <a:tailEnd/>
            </a:ln>
          </p:spPr>
          <p:txBody>
            <a:bodyPr wrap="square">
              <a:spAutoFit/>
            </a:bodyPr>
            <a:lstStyle/>
            <a:p>
              <a:pPr>
                <a:buSzPct val="100000"/>
              </a:pPr>
              <a:r>
                <a:rPr lang="en-US" altLang="zh-CN" sz="900" b="1" dirty="0">
                  <a:solidFill>
                    <a:srgbClr val="11576A"/>
                  </a:solidFill>
                  <a:latin typeface="微软雅黑" pitchFamily="34" charset="-122"/>
                  <a:ea typeface="微软雅黑" pitchFamily="34" charset="-122"/>
                </a:rPr>
                <a:t>p</a:t>
              </a:r>
              <a:endParaRPr lang="zh-CN" altLang="en-US" sz="900" b="1" dirty="0">
                <a:solidFill>
                  <a:srgbClr val="11576A"/>
                </a:solidFill>
                <a:latin typeface="微软雅黑" pitchFamily="34" charset="-122"/>
                <a:ea typeface="微软雅黑" pitchFamily="34" charset="-122"/>
              </a:endParaRPr>
            </a:p>
          </p:txBody>
        </p:sp>
      </p:grpSp>
      <p:grpSp>
        <p:nvGrpSpPr>
          <p:cNvPr id="110" name="组合 109">
            <a:extLst>
              <a:ext uri="{FF2B5EF4-FFF2-40B4-BE49-F238E27FC236}">
                <a16:creationId xmlns:a16="http://schemas.microsoft.com/office/drawing/2014/main" id="{98773B4E-9B00-46C8-9254-813459BF2C28}"/>
              </a:ext>
            </a:extLst>
          </p:cNvPr>
          <p:cNvGrpSpPr/>
          <p:nvPr/>
        </p:nvGrpSpPr>
        <p:grpSpPr>
          <a:xfrm>
            <a:off x="4581362" y="4198964"/>
            <a:ext cx="785818" cy="246221"/>
            <a:chOff x="5404479" y="5906310"/>
            <a:chExt cx="785818" cy="246221"/>
          </a:xfrm>
        </p:grpSpPr>
        <p:sp>
          <p:nvSpPr>
            <p:cNvPr id="111" name="矩形 110">
              <a:extLst>
                <a:ext uri="{FF2B5EF4-FFF2-40B4-BE49-F238E27FC236}">
                  <a16:creationId xmlns:a16="http://schemas.microsoft.com/office/drawing/2014/main" id="{C2B7D519-17C2-4437-8650-77A8A7F164D2}"/>
                </a:ext>
              </a:extLst>
            </p:cNvPr>
            <p:cNvSpPr/>
            <p:nvPr/>
          </p:nvSpPr>
          <p:spPr>
            <a:xfrm>
              <a:off x="5469802" y="5919289"/>
              <a:ext cx="571504" cy="220262"/>
            </a:xfrm>
            <a:prstGeom prst="rect">
              <a:avLst/>
            </a:prstGeom>
            <a:gradFill>
              <a:gsLst>
                <a:gs pos="100000">
                  <a:srgbClr val="FDD000"/>
                </a:gs>
                <a:gs pos="0">
                  <a:srgbClr val="FFF9B1"/>
                </a:gs>
                <a:gs pos="100000">
                  <a:schemeClr val="accent1">
                    <a:tint val="23500"/>
                    <a:satMod val="160000"/>
                  </a:schemeClr>
                </a:gs>
              </a:gsLst>
              <a:lin ang="540000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TextBox 7">
              <a:extLst>
                <a:ext uri="{FF2B5EF4-FFF2-40B4-BE49-F238E27FC236}">
                  <a16:creationId xmlns:a16="http://schemas.microsoft.com/office/drawing/2014/main" id="{986A730A-751B-4F3D-BB69-DFB7F5B17FC5}"/>
                </a:ext>
              </a:extLst>
            </p:cNvPr>
            <p:cNvSpPr txBox="1">
              <a:spLocks noChangeArrowheads="1"/>
            </p:cNvSpPr>
            <p:nvPr/>
          </p:nvSpPr>
          <p:spPr bwMode="auto">
            <a:xfrm>
              <a:off x="5404479" y="5906310"/>
              <a:ext cx="785818" cy="246221"/>
            </a:xfrm>
            <a:prstGeom prst="rect">
              <a:avLst/>
            </a:prstGeom>
            <a:noFill/>
            <a:ln w="9525">
              <a:noFill/>
              <a:miter lim="800000"/>
              <a:headEnd/>
              <a:tailEnd/>
            </a:ln>
          </p:spPr>
          <p:txBody>
            <a:bodyPr wrap="square">
              <a:spAutoFit/>
            </a:bodyPr>
            <a:lstStyle/>
            <a:p>
              <a:pPr>
                <a:buSzPct val="100000"/>
              </a:pPr>
              <a:r>
                <a:rPr lang="en-US" altLang="zh-CN" sz="1000" b="1" dirty="0">
                  <a:solidFill>
                    <a:srgbClr val="FF0000"/>
                  </a:solidFill>
                  <a:latin typeface="微软雅黑" pitchFamily="34" charset="-122"/>
                  <a:ea typeface="微软雅黑" pitchFamily="34" charset="-122"/>
                </a:rPr>
                <a:t>K</a:t>
              </a:r>
              <a:r>
                <a:rPr lang="zh-CN" altLang="en-US" sz="1000" b="1" dirty="0">
                  <a:solidFill>
                    <a:srgbClr val="FF0000"/>
                  </a:solidFill>
                  <a:latin typeface="微软雅黑" pitchFamily="34" charset="-122"/>
                  <a:ea typeface="微软雅黑" pitchFamily="34" charset="-122"/>
                </a:rPr>
                <a:t>的页帧</a:t>
              </a:r>
            </a:p>
          </p:txBody>
        </p:sp>
      </p:grpSp>
      <p:grpSp>
        <p:nvGrpSpPr>
          <p:cNvPr id="117" name="组合 116">
            <a:extLst>
              <a:ext uri="{FF2B5EF4-FFF2-40B4-BE49-F238E27FC236}">
                <a16:creationId xmlns:a16="http://schemas.microsoft.com/office/drawing/2014/main" id="{43F5A9BA-CBD4-453F-9A21-183494A9261F}"/>
              </a:ext>
            </a:extLst>
          </p:cNvPr>
          <p:cNvGrpSpPr/>
          <p:nvPr/>
        </p:nvGrpSpPr>
        <p:grpSpPr>
          <a:xfrm>
            <a:off x="1279891" y="2980009"/>
            <a:ext cx="2489970" cy="506623"/>
            <a:chOff x="1279891" y="2980009"/>
            <a:chExt cx="2489970" cy="506623"/>
          </a:xfrm>
        </p:grpSpPr>
        <p:cxnSp>
          <p:nvCxnSpPr>
            <p:cNvPr id="106" name="直接连接符 105">
              <a:extLst>
                <a:ext uri="{FF2B5EF4-FFF2-40B4-BE49-F238E27FC236}">
                  <a16:creationId xmlns:a16="http://schemas.microsoft.com/office/drawing/2014/main" id="{E5DEF2EC-333A-4C35-81D3-FDBDA52A0AC3}"/>
                </a:ext>
              </a:extLst>
            </p:cNvPr>
            <p:cNvCxnSpPr>
              <a:cxnSpLocks/>
              <a:endCxn id="95" idx="1"/>
            </p:cNvCxnSpPr>
            <p:nvPr/>
          </p:nvCxnSpPr>
          <p:spPr>
            <a:xfrm flipV="1">
              <a:off x="1306555" y="3237659"/>
              <a:ext cx="2463306" cy="5777"/>
            </a:xfrm>
            <a:prstGeom prst="line">
              <a:avLst/>
            </a:prstGeom>
            <a:ln w="28575">
              <a:solidFill>
                <a:srgbClr val="11576A"/>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EEAC3FDC-D788-450F-B4C7-58693FE68569}"/>
                </a:ext>
              </a:extLst>
            </p:cNvPr>
            <p:cNvGrpSpPr/>
            <p:nvPr/>
          </p:nvGrpSpPr>
          <p:grpSpPr>
            <a:xfrm>
              <a:off x="1279891" y="2980009"/>
              <a:ext cx="1229689" cy="506623"/>
              <a:chOff x="1050490" y="4495825"/>
              <a:chExt cx="1229689" cy="506623"/>
            </a:xfrm>
          </p:grpSpPr>
          <p:sp>
            <p:nvSpPr>
              <p:cNvPr id="113" name="Oval 91">
                <a:extLst>
                  <a:ext uri="{FF2B5EF4-FFF2-40B4-BE49-F238E27FC236}">
                    <a16:creationId xmlns:a16="http://schemas.microsoft.com/office/drawing/2014/main" id="{8D5A1790-DF82-4B5F-86B8-DE21C456F01B}"/>
                  </a:ext>
                </a:extLst>
              </p:cNvPr>
              <p:cNvSpPr>
                <a:spLocks noChangeArrowheads="1"/>
              </p:cNvSpPr>
              <p:nvPr/>
            </p:nvSpPr>
            <p:spPr bwMode="auto">
              <a:xfrm>
                <a:off x="1419605" y="4495825"/>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4</a:t>
                </a:r>
              </a:p>
            </p:txBody>
          </p:sp>
          <p:sp>
            <p:nvSpPr>
              <p:cNvPr id="114" name="TextBox 7">
                <a:extLst>
                  <a:ext uri="{FF2B5EF4-FFF2-40B4-BE49-F238E27FC236}">
                    <a16:creationId xmlns:a16="http://schemas.microsoft.com/office/drawing/2014/main" id="{012CDC6B-0E38-4D57-B84A-42DCCC289028}"/>
                  </a:ext>
                </a:extLst>
              </p:cNvPr>
              <p:cNvSpPr txBox="1">
                <a:spLocks noChangeArrowheads="1"/>
              </p:cNvSpPr>
              <p:nvPr/>
            </p:nvSpPr>
            <p:spPr bwMode="auto">
              <a:xfrm>
                <a:off x="1050490" y="4725449"/>
                <a:ext cx="1229689" cy="276999"/>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选中换出页面</a:t>
                </a:r>
                <a:r>
                  <a:rPr lang="en-US" altLang="zh-CN" sz="1200" b="1" dirty="0">
                    <a:solidFill>
                      <a:srgbClr val="11576A"/>
                    </a:solidFill>
                    <a:latin typeface="微软雅黑" pitchFamily="34" charset="-122"/>
                    <a:ea typeface="微软雅黑" pitchFamily="34" charset="-122"/>
                  </a:rPr>
                  <a:t>K</a:t>
                </a:r>
                <a:endParaRPr lang="zh-CN" altLang="en-US" sz="1200" b="1" dirty="0">
                  <a:solidFill>
                    <a:srgbClr val="11576A"/>
                  </a:solidFill>
                  <a:latin typeface="微软雅黑" pitchFamily="34" charset="-122"/>
                  <a:ea typeface="微软雅黑" pitchFamily="34" charset="-122"/>
                </a:endParaRPr>
              </a:p>
            </p:txBody>
          </p:sp>
        </p:grpSp>
      </p:grpSp>
      <p:grpSp>
        <p:nvGrpSpPr>
          <p:cNvPr id="120" name="组合 119">
            <a:extLst>
              <a:ext uri="{FF2B5EF4-FFF2-40B4-BE49-F238E27FC236}">
                <a16:creationId xmlns:a16="http://schemas.microsoft.com/office/drawing/2014/main" id="{9A383498-8792-4E19-9B47-06FC76E2397C}"/>
              </a:ext>
            </a:extLst>
          </p:cNvPr>
          <p:cNvGrpSpPr/>
          <p:nvPr/>
        </p:nvGrpSpPr>
        <p:grpSpPr>
          <a:xfrm>
            <a:off x="5219768" y="3832142"/>
            <a:ext cx="1524304" cy="578471"/>
            <a:chOff x="5219768" y="3832142"/>
            <a:chExt cx="1524304" cy="578471"/>
          </a:xfrm>
        </p:grpSpPr>
        <p:grpSp>
          <p:nvGrpSpPr>
            <p:cNvPr id="102" name="组合 101">
              <a:extLst>
                <a:ext uri="{FF2B5EF4-FFF2-40B4-BE49-F238E27FC236}">
                  <a16:creationId xmlns:a16="http://schemas.microsoft.com/office/drawing/2014/main" id="{7AF96B06-7FBF-46F1-8982-2761EAC9AB85}"/>
                </a:ext>
              </a:extLst>
            </p:cNvPr>
            <p:cNvGrpSpPr/>
            <p:nvPr/>
          </p:nvGrpSpPr>
          <p:grpSpPr>
            <a:xfrm rot="16200000" flipH="1">
              <a:off x="5745212" y="3533498"/>
              <a:ext cx="351671" cy="1402560"/>
              <a:chOff x="3201802" y="1833993"/>
              <a:chExt cx="643699" cy="1460241"/>
            </a:xfrm>
          </p:grpSpPr>
          <p:cxnSp>
            <p:nvCxnSpPr>
              <p:cNvPr id="103" name="直接连接符 102">
                <a:extLst>
                  <a:ext uri="{FF2B5EF4-FFF2-40B4-BE49-F238E27FC236}">
                    <a16:creationId xmlns:a16="http://schemas.microsoft.com/office/drawing/2014/main" id="{45047426-D07B-4BBF-A1DD-305D7AB8649D}"/>
                  </a:ext>
                </a:extLst>
              </p:cNvPr>
              <p:cNvCxnSpPr>
                <a:cxnSpLocks/>
              </p:cNvCxnSpPr>
              <p:nvPr/>
            </p:nvCxnSpPr>
            <p:spPr>
              <a:xfrm rot="16200000" flipH="1">
                <a:off x="3523651" y="2963751"/>
                <a:ext cx="1" cy="643699"/>
              </a:xfrm>
              <a:prstGeom prst="line">
                <a:avLst/>
              </a:prstGeom>
              <a:ln w="28575">
                <a:solidFill>
                  <a:srgbClr val="1157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BDFBA6B9-184F-4895-8EA7-E467AA4BB463}"/>
                  </a:ext>
                </a:extLst>
              </p:cNvPr>
              <p:cNvCxnSpPr>
                <a:cxnSpLocks/>
              </p:cNvCxnSpPr>
              <p:nvPr/>
            </p:nvCxnSpPr>
            <p:spPr>
              <a:xfrm rot="16200000" flipH="1">
                <a:off x="3112228" y="2564114"/>
                <a:ext cx="1460241"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sp>
          <p:nvSpPr>
            <p:cNvPr id="119" name="矩形 118">
              <a:extLst>
                <a:ext uri="{FF2B5EF4-FFF2-40B4-BE49-F238E27FC236}">
                  <a16:creationId xmlns:a16="http://schemas.microsoft.com/office/drawing/2014/main" id="{7342B99E-A988-494A-81B2-C4C75E7FDF18}"/>
                </a:ext>
              </a:extLst>
            </p:cNvPr>
            <p:cNvSpPr/>
            <p:nvPr/>
          </p:nvSpPr>
          <p:spPr>
            <a:xfrm>
              <a:off x="6529758" y="3832142"/>
              <a:ext cx="214314" cy="244930"/>
            </a:xfrm>
            <a:prstGeom prst="rect">
              <a:avLst/>
            </a:prstGeom>
            <a:gradFill>
              <a:gsLst>
                <a:gs pos="100000">
                  <a:schemeClr val="tx1">
                    <a:lumMod val="65000"/>
                    <a:lumOff val="35000"/>
                  </a:schemeClr>
                </a:gs>
                <a:gs pos="0">
                  <a:schemeClr val="bg1">
                    <a:lumMod val="75000"/>
                  </a:schemeClr>
                </a:gs>
                <a:gs pos="100000">
                  <a:schemeClr val="accent1">
                    <a:tint val="23500"/>
                    <a:satMod val="160000"/>
                  </a:schemeClr>
                </a:gs>
              </a:gsLst>
              <a:lin ang="5400000" scaled="0"/>
            </a:gradFill>
            <a:ln w="28575">
              <a:solidFill>
                <a:srgbClr val="115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DEB7D50D-64D5-449E-9937-2FF64214466B}"/>
              </a:ext>
            </a:extLst>
          </p:cNvPr>
          <p:cNvGrpSpPr/>
          <p:nvPr/>
        </p:nvGrpSpPr>
        <p:grpSpPr>
          <a:xfrm>
            <a:off x="4568297" y="4195040"/>
            <a:ext cx="785818" cy="246221"/>
            <a:chOff x="5404479" y="5906310"/>
            <a:chExt cx="785818" cy="246221"/>
          </a:xfrm>
        </p:grpSpPr>
        <p:sp>
          <p:nvSpPr>
            <p:cNvPr id="40" name="矩形 39"/>
            <p:cNvSpPr/>
            <p:nvPr/>
          </p:nvSpPr>
          <p:spPr>
            <a:xfrm>
              <a:off x="5469802" y="5919289"/>
              <a:ext cx="571504" cy="220262"/>
            </a:xfrm>
            <a:prstGeom prst="rect">
              <a:avLst/>
            </a:prstGeom>
            <a:gradFill>
              <a:gsLst>
                <a:gs pos="100000">
                  <a:srgbClr val="FDD000"/>
                </a:gs>
                <a:gs pos="0">
                  <a:srgbClr val="FFF9B1"/>
                </a:gs>
                <a:gs pos="100000">
                  <a:schemeClr val="accent1">
                    <a:tint val="23500"/>
                    <a:satMod val="160000"/>
                  </a:schemeClr>
                </a:gs>
              </a:gsLst>
              <a:lin ang="540000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TextBox 7">
              <a:extLst>
                <a:ext uri="{FF2B5EF4-FFF2-40B4-BE49-F238E27FC236}">
                  <a16:creationId xmlns:a16="http://schemas.microsoft.com/office/drawing/2014/main" id="{ADD19CEB-3923-46EF-B590-DBCDDD57BC33}"/>
                </a:ext>
              </a:extLst>
            </p:cNvPr>
            <p:cNvSpPr txBox="1">
              <a:spLocks noChangeArrowheads="1"/>
            </p:cNvSpPr>
            <p:nvPr/>
          </p:nvSpPr>
          <p:spPr bwMode="auto">
            <a:xfrm>
              <a:off x="5404479" y="5906310"/>
              <a:ext cx="785818" cy="246221"/>
            </a:xfrm>
            <a:prstGeom prst="rect">
              <a:avLst/>
            </a:prstGeom>
            <a:noFill/>
            <a:ln w="9525">
              <a:noFill/>
              <a:miter lim="800000"/>
              <a:headEnd/>
              <a:tailEnd/>
            </a:ln>
          </p:spPr>
          <p:txBody>
            <a:bodyPr wrap="square">
              <a:spAutoFit/>
            </a:bodyPr>
            <a:lstStyle/>
            <a:p>
              <a:pPr>
                <a:buSzPct val="100000"/>
              </a:pPr>
              <a:r>
                <a:rPr lang="zh-CN" altLang="en-US" sz="1000" b="1" dirty="0">
                  <a:solidFill>
                    <a:srgbClr val="11576A"/>
                  </a:solidFill>
                  <a:latin typeface="微软雅黑" pitchFamily="34" charset="-122"/>
                  <a:ea typeface="微软雅黑" pitchFamily="34" charset="-122"/>
                </a:rPr>
                <a:t>空闲页帧</a:t>
              </a:r>
            </a:p>
          </p:txBody>
        </p:sp>
      </p:grpSp>
      <p:grpSp>
        <p:nvGrpSpPr>
          <p:cNvPr id="121" name="组合 120">
            <a:extLst>
              <a:ext uri="{FF2B5EF4-FFF2-40B4-BE49-F238E27FC236}">
                <a16:creationId xmlns:a16="http://schemas.microsoft.com/office/drawing/2014/main" id="{F6AD8F3A-4853-41FF-B0F7-2627461F9A8D}"/>
              </a:ext>
            </a:extLst>
          </p:cNvPr>
          <p:cNvGrpSpPr/>
          <p:nvPr/>
        </p:nvGrpSpPr>
        <p:grpSpPr>
          <a:xfrm>
            <a:off x="4575862" y="4218298"/>
            <a:ext cx="785818" cy="246221"/>
            <a:chOff x="5404479" y="5906310"/>
            <a:chExt cx="785818" cy="246221"/>
          </a:xfrm>
        </p:grpSpPr>
        <p:sp>
          <p:nvSpPr>
            <p:cNvPr id="122" name="矩形 121">
              <a:extLst>
                <a:ext uri="{FF2B5EF4-FFF2-40B4-BE49-F238E27FC236}">
                  <a16:creationId xmlns:a16="http://schemas.microsoft.com/office/drawing/2014/main" id="{79238385-CA11-4C8F-9B49-AF2B94FCE048}"/>
                </a:ext>
              </a:extLst>
            </p:cNvPr>
            <p:cNvSpPr/>
            <p:nvPr/>
          </p:nvSpPr>
          <p:spPr>
            <a:xfrm>
              <a:off x="5469802" y="5919289"/>
              <a:ext cx="571504" cy="220262"/>
            </a:xfrm>
            <a:prstGeom prst="rect">
              <a:avLst/>
            </a:prstGeom>
            <a:gradFill>
              <a:gsLst>
                <a:gs pos="100000">
                  <a:srgbClr val="FDD000"/>
                </a:gs>
                <a:gs pos="0">
                  <a:srgbClr val="FFF9B1"/>
                </a:gs>
                <a:gs pos="100000">
                  <a:schemeClr val="accent1">
                    <a:tint val="23500"/>
                    <a:satMod val="160000"/>
                  </a:schemeClr>
                </a:gs>
              </a:gsLst>
              <a:lin ang="540000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TextBox 7">
              <a:extLst>
                <a:ext uri="{FF2B5EF4-FFF2-40B4-BE49-F238E27FC236}">
                  <a16:creationId xmlns:a16="http://schemas.microsoft.com/office/drawing/2014/main" id="{DF6B6661-C66B-4AD2-8A51-440493F1C589}"/>
                </a:ext>
              </a:extLst>
            </p:cNvPr>
            <p:cNvSpPr txBox="1">
              <a:spLocks noChangeArrowheads="1"/>
            </p:cNvSpPr>
            <p:nvPr/>
          </p:nvSpPr>
          <p:spPr bwMode="auto">
            <a:xfrm>
              <a:off x="5404479" y="5906310"/>
              <a:ext cx="785818" cy="246221"/>
            </a:xfrm>
            <a:prstGeom prst="rect">
              <a:avLst/>
            </a:prstGeom>
            <a:noFill/>
            <a:ln w="9525">
              <a:noFill/>
              <a:miter lim="800000"/>
              <a:headEnd/>
              <a:tailEnd/>
            </a:ln>
          </p:spPr>
          <p:txBody>
            <a:bodyPr wrap="square">
              <a:spAutoFit/>
            </a:bodyPr>
            <a:lstStyle/>
            <a:p>
              <a:pPr>
                <a:buSzPct val="100000"/>
              </a:pPr>
              <a:r>
                <a:rPr lang="en-US" altLang="zh-CN" sz="1000" b="1" dirty="0">
                  <a:solidFill>
                    <a:srgbClr val="FF0000"/>
                  </a:solidFill>
                  <a:latin typeface="微软雅黑" pitchFamily="34" charset="-122"/>
                  <a:ea typeface="微软雅黑" pitchFamily="34" charset="-122"/>
                </a:rPr>
                <a:t>m</a:t>
              </a:r>
              <a:r>
                <a:rPr lang="zh-CN" altLang="en-US" sz="1000" b="1" dirty="0">
                  <a:solidFill>
                    <a:srgbClr val="FF0000"/>
                  </a:solidFill>
                  <a:latin typeface="微软雅黑" pitchFamily="34" charset="-122"/>
                  <a:ea typeface="微软雅黑" pitchFamily="34" charset="-122"/>
                </a:rPr>
                <a:t>的页帧</a:t>
              </a:r>
            </a:p>
          </p:txBody>
        </p:sp>
      </p:grpSp>
      <p:grpSp>
        <p:nvGrpSpPr>
          <p:cNvPr id="124" name="组合 123">
            <a:extLst>
              <a:ext uri="{FF2B5EF4-FFF2-40B4-BE49-F238E27FC236}">
                <a16:creationId xmlns:a16="http://schemas.microsoft.com/office/drawing/2014/main" id="{797F2209-1220-4167-95E6-08B36B419CFE}"/>
              </a:ext>
            </a:extLst>
          </p:cNvPr>
          <p:cNvGrpSpPr/>
          <p:nvPr/>
        </p:nvGrpSpPr>
        <p:grpSpPr>
          <a:xfrm>
            <a:off x="5475343" y="4463889"/>
            <a:ext cx="1277161" cy="509831"/>
            <a:chOff x="3203546" y="3344339"/>
            <a:chExt cx="1277161" cy="509831"/>
          </a:xfrm>
        </p:grpSpPr>
        <p:sp>
          <p:nvSpPr>
            <p:cNvPr id="125" name="Oval 91">
              <a:extLst>
                <a:ext uri="{FF2B5EF4-FFF2-40B4-BE49-F238E27FC236}">
                  <a16:creationId xmlns:a16="http://schemas.microsoft.com/office/drawing/2014/main" id="{B177880C-2EF3-41AF-BDAD-D2CEFC59C48F}"/>
                </a:ext>
              </a:extLst>
            </p:cNvPr>
            <p:cNvSpPr>
              <a:spLocks noChangeArrowheads="1"/>
            </p:cNvSpPr>
            <p:nvPr/>
          </p:nvSpPr>
          <p:spPr bwMode="auto">
            <a:xfrm>
              <a:off x="3535179" y="3344339"/>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5</a:t>
              </a:r>
            </a:p>
          </p:txBody>
        </p:sp>
        <p:sp>
          <p:nvSpPr>
            <p:cNvPr id="126" name="TextBox 7">
              <a:extLst>
                <a:ext uri="{FF2B5EF4-FFF2-40B4-BE49-F238E27FC236}">
                  <a16:creationId xmlns:a16="http://schemas.microsoft.com/office/drawing/2014/main" id="{42717B45-4E64-43CE-92B8-AE4FD382FDCB}"/>
                </a:ext>
              </a:extLst>
            </p:cNvPr>
            <p:cNvSpPr txBox="1">
              <a:spLocks noChangeArrowheads="1"/>
            </p:cNvSpPr>
            <p:nvPr/>
          </p:nvSpPr>
          <p:spPr bwMode="auto">
            <a:xfrm>
              <a:off x="3203546" y="3577171"/>
              <a:ext cx="1277161" cy="276999"/>
            </a:xfrm>
            <a:prstGeom prst="rect">
              <a:avLst/>
            </a:prstGeom>
            <a:noFill/>
            <a:ln w="9525">
              <a:noFill/>
              <a:miter lim="800000"/>
              <a:headEnd/>
              <a:tailEnd/>
            </a:ln>
          </p:spPr>
          <p:txBody>
            <a:bodyPr wrap="square">
              <a:spAutoFit/>
            </a:bodyPr>
            <a:lstStyle/>
            <a:p>
              <a:pPr>
                <a:buSzPct val="100000"/>
              </a:pPr>
              <a:r>
                <a:rPr lang="en-US" altLang="zh-CN" sz="1200" b="1" dirty="0">
                  <a:solidFill>
                    <a:srgbClr val="11576A"/>
                  </a:solidFill>
                  <a:latin typeface="微软雅黑" pitchFamily="34" charset="-122"/>
                  <a:ea typeface="微软雅黑" pitchFamily="34" charset="-122"/>
                </a:rPr>
                <a:t>  </a:t>
              </a:r>
              <a:r>
                <a:rPr lang="zh-CN" altLang="en-US" sz="1200" b="1" dirty="0">
                  <a:solidFill>
                    <a:srgbClr val="11576A"/>
                  </a:solidFill>
                  <a:latin typeface="微软雅黑" pitchFamily="34" charset="-122"/>
                  <a:ea typeface="微软雅黑" pitchFamily="34" charset="-122"/>
                </a:rPr>
                <a:t>页面换出</a:t>
              </a:r>
            </a:p>
          </p:txBody>
        </p:sp>
      </p:grpSp>
      <p:grpSp>
        <p:nvGrpSpPr>
          <p:cNvPr id="127" name="组合 126">
            <a:extLst>
              <a:ext uri="{FF2B5EF4-FFF2-40B4-BE49-F238E27FC236}">
                <a16:creationId xmlns:a16="http://schemas.microsoft.com/office/drawing/2014/main" id="{D3F7B4B9-69F6-4335-8224-5B64B0D3514D}"/>
              </a:ext>
            </a:extLst>
          </p:cNvPr>
          <p:cNvGrpSpPr/>
          <p:nvPr/>
        </p:nvGrpSpPr>
        <p:grpSpPr>
          <a:xfrm>
            <a:off x="2648323" y="1700823"/>
            <a:ext cx="719114" cy="700876"/>
            <a:chOff x="2368482" y="1883829"/>
            <a:chExt cx="719114" cy="700876"/>
          </a:xfrm>
        </p:grpSpPr>
        <p:sp>
          <p:nvSpPr>
            <p:cNvPr id="128" name="Oval 91">
              <a:extLst>
                <a:ext uri="{FF2B5EF4-FFF2-40B4-BE49-F238E27FC236}">
                  <a16:creationId xmlns:a16="http://schemas.microsoft.com/office/drawing/2014/main" id="{07CF1FA4-E680-4A08-B926-428B9C6BAFF3}"/>
                </a:ext>
              </a:extLst>
            </p:cNvPr>
            <p:cNvSpPr>
              <a:spLocks noChangeArrowheads="1"/>
            </p:cNvSpPr>
            <p:nvPr/>
          </p:nvSpPr>
          <p:spPr bwMode="auto">
            <a:xfrm>
              <a:off x="2523935" y="1883829"/>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6</a:t>
              </a:r>
            </a:p>
          </p:txBody>
        </p:sp>
        <p:sp>
          <p:nvSpPr>
            <p:cNvPr id="129" name="TextBox 7">
              <a:extLst>
                <a:ext uri="{FF2B5EF4-FFF2-40B4-BE49-F238E27FC236}">
                  <a16:creationId xmlns:a16="http://schemas.microsoft.com/office/drawing/2014/main" id="{B5908EFF-87F2-46E4-AB31-93833FB975B0}"/>
                </a:ext>
              </a:extLst>
            </p:cNvPr>
            <p:cNvSpPr txBox="1">
              <a:spLocks noChangeArrowheads="1"/>
            </p:cNvSpPr>
            <p:nvPr/>
          </p:nvSpPr>
          <p:spPr bwMode="auto">
            <a:xfrm>
              <a:off x="2368482" y="2123040"/>
              <a:ext cx="719114" cy="461665"/>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更新</a:t>
              </a:r>
              <a:r>
                <a:rPr lang="en-US" altLang="zh-CN" sz="1200" b="1" dirty="0">
                  <a:solidFill>
                    <a:srgbClr val="11576A"/>
                  </a:solidFill>
                  <a:latin typeface="微软雅黑" pitchFamily="34" charset="-122"/>
                  <a:ea typeface="微软雅黑" pitchFamily="34" charset="-122"/>
                </a:rPr>
                <a:t>maps</a:t>
              </a:r>
              <a:endParaRPr lang="zh-CN" altLang="en-US" sz="1200" b="1" dirty="0">
                <a:solidFill>
                  <a:srgbClr val="11576A"/>
                </a:solidFill>
                <a:latin typeface="微软雅黑" pitchFamily="34" charset="-122"/>
                <a:ea typeface="微软雅黑" pitchFamily="34" charset="-122"/>
              </a:endParaRPr>
            </a:p>
          </p:txBody>
        </p:sp>
      </p:grpSp>
      <p:grpSp>
        <p:nvGrpSpPr>
          <p:cNvPr id="130" name="组合 129">
            <a:extLst>
              <a:ext uri="{FF2B5EF4-FFF2-40B4-BE49-F238E27FC236}">
                <a16:creationId xmlns:a16="http://schemas.microsoft.com/office/drawing/2014/main" id="{F896C88F-D229-4491-AB23-6E7711017555}"/>
              </a:ext>
            </a:extLst>
          </p:cNvPr>
          <p:cNvGrpSpPr/>
          <p:nvPr/>
        </p:nvGrpSpPr>
        <p:grpSpPr>
          <a:xfrm>
            <a:off x="698909" y="2963942"/>
            <a:ext cx="719114" cy="700876"/>
            <a:chOff x="2368482" y="1883829"/>
            <a:chExt cx="719114" cy="700876"/>
          </a:xfrm>
        </p:grpSpPr>
        <p:sp>
          <p:nvSpPr>
            <p:cNvPr id="131" name="Oval 91">
              <a:extLst>
                <a:ext uri="{FF2B5EF4-FFF2-40B4-BE49-F238E27FC236}">
                  <a16:creationId xmlns:a16="http://schemas.microsoft.com/office/drawing/2014/main" id="{BBE1E364-62F9-4E8C-8927-B187C0653F2F}"/>
                </a:ext>
              </a:extLst>
            </p:cNvPr>
            <p:cNvSpPr>
              <a:spLocks noChangeArrowheads="1"/>
            </p:cNvSpPr>
            <p:nvPr/>
          </p:nvSpPr>
          <p:spPr bwMode="auto">
            <a:xfrm>
              <a:off x="2523935" y="1883829"/>
              <a:ext cx="256738" cy="248714"/>
            </a:xfrm>
            <a:prstGeom prst="ellipse">
              <a:avLst/>
            </a:prstGeom>
            <a:solidFill>
              <a:srgbClr val="0EB1C8"/>
            </a:solidFill>
            <a:ln w="28575">
              <a:solidFill>
                <a:srgbClr val="11576A"/>
              </a:solidFill>
              <a:round/>
              <a:headEnd/>
              <a:tailEnd/>
            </a:ln>
          </p:spPr>
          <p:txBody>
            <a:bodyPr wrap="none" lIns="90487" tIns="44450" rIns="90487" bIns="44450" anchor="ctr"/>
            <a:lstStyle/>
            <a:p>
              <a:pPr algn="ctr"/>
              <a:r>
                <a:rPr lang="en-US" altLang="zh-CN" sz="1100" b="1" dirty="0">
                  <a:solidFill>
                    <a:schemeClr val="bg1"/>
                  </a:solidFill>
                  <a:latin typeface="微软雅黑" pitchFamily="34" charset="-122"/>
                  <a:ea typeface="微软雅黑" pitchFamily="34" charset="-122"/>
                </a:rPr>
                <a:t>6</a:t>
              </a:r>
            </a:p>
          </p:txBody>
        </p:sp>
        <p:sp>
          <p:nvSpPr>
            <p:cNvPr id="132" name="TextBox 7">
              <a:extLst>
                <a:ext uri="{FF2B5EF4-FFF2-40B4-BE49-F238E27FC236}">
                  <a16:creationId xmlns:a16="http://schemas.microsoft.com/office/drawing/2014/main" id="{5199FC74-BA2D-4F1B-846F-1E25346EAEBE}"/>
                </a:ext>
              </a:extLst>
            </p:cNvPr>
            <p:cNvSpPr txBox="1">
              <a:spLocks noChangeArrowheads="1"/>
            </p:cNvSpPr>
            <p:nvPr/>
          </p:nvSpPr>
          <p:spPr bwMode="auto">
            <a:xfrm>
              <a:off x="2368482" y="2123040"/>
              <a:ext cx="719114" cy="461665"/>
            </a:xfrm>
            <a:prstGeom prst="rect">
              <a:avLst/>
            </a:prstGeom>
            <a:noFill/>
            <a:ln w="9525">
              <a:noFill/>
              <a:miter lim="800000"/>
              <a:headEnd/>
              <a:tailEnd/>
            </a:ln>
          </p:spPr>
          <p:txBody>
            <a:bodyPr wrap="square">
              <a:spAutoFit/>
            </a:bodyPr>
            <a:lstStyle/>
            <a:p>
              <a:pPr>
                <a:buSzPct val="100000"/>
              </a:pPr>
              <a:r>
                <a:rPr lang="zh-CN" altLang="en-US" sz="1200" b="1" dirty="0">
                  <a:solidFill>
                    <a:srgbClr val="11576A"/>
                  </a:solidFill>
                  <a:latin typeface="微软雅黑" pitchFamily="34" charset="-122"/>
                  <a:ea typeface="微软雅黑" pitchFamily="34" charset="-122"/>
                </a:rPr>
                <a:t>更新页表项</a:t>
              </a:r>
            </a:p>
          </p:txBody>
        </p:sp>
      </p:grpSp>
      <p:sp>
        <p:nvSpPr>
          <p:cNvPr id="134" name="TextBox 7">
            <a:extLst>
              <a:ext uri="{FF2B5EF4-FFF2-40B4-BE49-F238E27FC236}">
                <a16:creationId xmlns:a16="http://schemas.microsoft.com/office/drawing/2014/main" id="{8D4F1860-B4A6-4044-BE33-3521C0F37822}"/>
              </a:ext>
            </a:extLst>
          </p:cNvPr>
          <p:cNvSpPr txBox="1">
            <a:spLocks noChangeArrowheads="1"/>
          </p:cNvSpPr>
          <p:nvPr/>
        </p:nvSpPr>
        <p:spPr bwMode="auto">
          <a:xfrm>
            <a:off x="7176120" y="3093223"/>
            <a:ext cx="4096318" cy="584775"/>
          </a:xfrm>
          <a:prstGeom prst="rect">
            <a:avLst/>
          </a:prstGeom>
          <a:noFill/>
          <a:ln w="9525">
            <a:noFill/>
            <a:miter lim="800000"/>
            <a:headEnd/>
            <a:tailEnd/>
          </a:ln>
        </p:spPr>
        <p:txBody>
          <a:bodyPr wrap="square">
            <a:spAutoFit/>
          </a:bodyPr>
          <a:lstStyle/>
          <a:p>
            <a:pPr marL="180975" indent="-180975" eaLnBrk="1" hangingPunct="1">
              <a:buSzPct val="100000"/>
            </a:pPr>
            <a:r>
              <a:rPr lang="en-US" altLang="zh-CN" sz="1600" b="1" dirty="0">
                <a:solidFill>
                  <a:srgbClr val="11576A"/>
                </a:solidFill>
                <a:latin typeface="微软雅黑" pitchFamily="34" charset="-122"/>
                <a:ea typeface="微软雅黑" pitchFamily="34" charset="-122"/>
              </a:rPr>
              <a:t>4.OS</a:t>
            </a:r>
            <a:r>
              <a:rPr lang="zh-CN" altLang="en-US" sz="1600" b="1" dirty="0">
                <a:solidFill>
                  <a:srgbClr val="11576A"/>
                </a:solidFill>
                <a:latin typeface="微软雅黑" pitchFamily="34" charset="-122"/>
                <a:ea typeface="微软雅黑" pitchFamily="34" charset="-122"/>
              </a:rPr>
              <a:t>发现没有可用的空间页帧，于是启动页面换出过程，选出准备换出的页面；</a:t>
            </a:r>
          </a:p>
        </p:txBody>
      </p:sp>
      <p:sp>
        <p:nvSpPr>
          <p:cNvPr id="135" name="TextBox 7">
            <a:extLst>
              <a:ext uri="{FF2B5EF4-FFF2-40B4-BE49-F238E27FC236}">
                <a16:creationId xmlns:a16="http://schemas.microsoft.com/office/drawing/2014/main" id="{B3E24847-5C3C-4519-BDAF-B74F54D9F7E4}"/>
              </a:ext>
            </a:extLst>
          </p:cNvPr>
          <p:cNvSpPr txBox="1">
            <a:spLocks noChangeArrowheads="1"/>
          </p:cNvSpPr>
          <p:nvPr/>
        </p:nvSpPr>
        <p:spPr bwMode="auto">
          <a:xfrm>
            <a:off x="7176120" y="3629369"/>
            <a:ext cx="4096318" cy="584775"/>
          </a:xfrm>
          <a:prstGeom prst="rect">
            <a:avLst/>
          </a:prstGeom>
          <a:noFill/>
          <a:ln w="9525">
            <a:noFill/>
            <a:miter lim="800000"/>
            <a:headEnd/>
            <a:tailEnd/>
          </a:ln>
        </p:spPr>
        <p:txBody>
          <a:bodyPr wrap="square">
            <a:spAutoFit/>
          </a:bodyPr>
          <a:lstStyle/>
          <a:p>
            <a:pPr marL="180975" indent="-180975" eaLnBrk="1" hangingPunct="1">
              <a:buSzPct val="100000"/>
            </a:pPr>
            <a:r>
              <a:rPr lang="en-US" altLang="zh-CN" sz="1600" b="1" dirty="0">
                <a:solidFill>
                  <a:srgbClr val="11576A"/>
                </a:solidFill>
                <a:latin typeface="微软雅黑" pitchFamily="34" charset="-122"/>
                <a:ea typeface="微软雅黑" pitchFamily="34" charset="-122"/>
              </a:rPr>
              <a:t>5.</a:t>
            </a:r>
            <a:r>
              <a:rPr lang="zh-CN" altLang="en-US" sz="1600" b="1" dirty="0">
                <a:solidFill>
                  <a:srgbClr val="11576A"/>
                </a:solidFill>
                <a:latin typeface="微软雅黑" pitchFamily="34" charset="-122"/>
                <a:ea typeface="微软雅黑" pitchFamily="34" charset="-122"/>
              </a:rPr>
              <a:t>找到待换出页面对应的页帧，将其数据写回到磁盘上以避免丢失；</a:t>
            </a:r>
          </a:p>
        </p:txBody>
      </p:sp>
      <p:sp>
        <p:nvSpPr>
          <p:cNvPr id="136" name="TextBox 7">
            <a:extLst>
              <a:ext uri="{FF2B5EF4-FFF2-40B4-BE49-F238E27FC236}">
                <a16:creationId xmlns:a16="http://schemas.microsoft.com/office/drawing/2014/main" id="{EFF0628B-BE8E-40A8-9CA4-34D5032780FC}"/>
              </a:ext>
            </a:extLst>
          </p:cNvPr>
          <p:cNvSpPr txBox="1">
            <a:spLocks noChangeArrowheads="1"/>
          </p:cNvSpPr>
          <p:nvPr/>
        </p:nvSpPr>
        <p:spPr bwMode="auto">
          <a:xfrm>
            <a:off x="7176120" y="4165515"/>
            <a:ext cx="4096318" cy="830997"/>
          </a:xfrm>
          <a:prstGeom prst="rect">
            <a:avLst/>
          </a:prstGeom>
          <a:noFill/>
          <a:ln w="9525">
            <a:noFill/>
            <a:miter lim="800000"/>
            <a:headEnd/>
            <a:tailEnd/>
          </a:ln>
        </p:spPr>
        <p:txBody>
          <a:bodyPr wrap="square">
            <a:spAutoFit/>
          </a:bodyPr>
          <a:lstStyle/>
          <a:p>
            <a:pPr marL="180975" indent="-180975" eaLnBrk="1" hangingPunct="1">
              <a:buSzPct val="100000"/>
            </a:pPr>
            <a:r>
              <a:rPr lang="en-US" altLang="zh-CN" sz="1600" b="1" dirty="0">
                <a:solidFill>
                  <a:srgbClr val="11576A"/>
                </a:solidFill>
                <a:latin typeface="微软雅黑" pitchFamily="34" charset="-122"/>
                <a:ea typeface="微软雅黑" pitchFamily="34" charset="-122"/>
              </a:rPr>
              <a:t>6.</a:t>
            </a:r>
            <a:r>
              <a:rPr lang="zh-CN" altLang="en-US" sz="1600" b="1" dirty="0">
                <a:solidFill>
                  <a:srgbClr val="11576A"/>
                </a:solidFill>
                <a:latin typeface="微软雅黑" pitchFamily="34" charset="-122"/>
                <a:ea typeface="微软雅黑" pitchFamily="34" charset="-122"/>
              </a:rPr>
              <a:t> 将换出页的页表项失效，并修改</a:t>
            </a:r>
            <a:r>
              <a:rPr lang="en-US" altLang="zh-CN" sz="1600" b="1" dirty="0">
                <a:solidFill>
                  <a:srgbClr val="11576A"/>
                </a:solidFill>
                <a:latin typeface="微软雅黑" pitchFamily="34" charset="-122"/>
                <a:ea typeface="微软雅黑" pitchFamily="34" charset="-122"/>
              </a:rPr>
              <a:t>maps</a:t>
            </a:r>
            <a:r>
              <a:rPr lang="zh-CN" altLang="en-US" sz="1600" b="1" dirty="0">
                <a:solidFill>
                  <a:srgbClr val="11576A"/>
                </a:solidFill>
                <a:latin typeface="微软雅黑" pitchFamily="34" charset="-122"/>
                <a:ea typeface="微软雅黑" pitchFamily="34" charset="-122"/>
              </a:rPr>
              <a:t>记录该页内存的存储位置，同时将页帧标记为空闲 ；</a:t>
            </a:r>
          </a:p>
        </p:txBody>
      </p:sp>
      <p:sp>
        <p:nvSpPr>
          <p:cNvPr id="133" name="TextBox 7">
            <a:extLst>
              <a:ext uri="{FF2B5EF4-FFF2-40B4-BE49-F238E27FC236}">
                <a16:creationId xmlns:a16="http://schemas.microsoft.com/office/drawing/2014/main" id="{B43905C8-3D41-45F8-86E7-606CA1A0A327}"/>
              </a:ext>
            </a:extLst>
          </p:cNvPr>
          <p:cNvSpPr txBox="1">
            <a:spLocks noChangeArrowheads="1"/>
          </p:cNvSpPr>
          <p:nvPr/>
        </p:nvSpPr>
        <p:spPr bwMode="auto">
          <a:xfrm>
            <a:off x="4414643" y="4246666"/>
            <a:ext cx="436080" cy="230832"/>
          </a:xfrm>
          <a:prstGeom prst="rect">
            <a:avLst/>
          </a:prstGeom>
          <a:noFill/>
          <a:ln w="9525">
            <a:noFill/>
            <a:miter lim="800000"/>
            <a:headEnd/>
            <a:tailEnd/>
          </a:ln>
        </p:spPr>
        <p:txBody>
          <a:bodyPr wrap="square">
            <a:spAutoFit/>
          </a:bodyPr>
          <a:lstStyle/>
          <a:p>
            <a:pPr>
              <a:buSzPct val="100000"/>
            </a:pPr>
            <a:r>
              <a:rPr lang="en-US" altLang="zh-CN" sz="900" b="1" dirty="0">
                <a:solidFill>
                  <a:srgbClr val="11576A"/>
                </a:solidFill>
                <a:latin typeface="微软雅黑" pitchFamily="34" charset="-122"/>
                <a:ea typeface="微软雅黑" pitchFamily="34" charset="-122"/>
              </a:rPr>
              <a:t>p</a:t>
            </a:r>
            <a:endParaRPr lang="zh-CN" altLang="en-US" sz="900" b="1" dirty="0">
              <a:solidFill>
                <a:srgbClr val="11576A"/>
              </a:solidFill>
              <a:latin typeface="微软雅黑" pitchFamily="34" charset="-122"/>
              <a:ea typeface="微软雅黑" pitchFamily="34" charset="-122"/>
            </a:endParaRPr>
          </a:p>
        </p:txBody>
      </p:sp>
    </p:spTree>
    <p:extLst>
      <p:ext uri="{BB962C8B-B14F-4D97-AF65-F5344CB8AC3E}">
        <p14:creationId xmlns:p14="http://schemas.microsoft.com/office/powerpoint/2010/main" val="193216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80"/>
                                        </p:tgtEl>
                                        <p:attrNameLst>
                                          <p:attrName>style.visibility</p:attrName>
                                        </p:attrNameLst>
                                      </p:cBhvr>
                                      <p:to>
                                        <p:strVal val="visible"/>
                                      </p:to>
                                    </p:set>
                                    <p:animEffect transition="in" filter="wipe(down)">
                                      <p:cBhvr>
                                        <p:cTn id="20" dur="500"/>
                                        <p:tgtEl>
                                          <p:spTgt spid="8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par>
                                <p:cTn id="26" presetID="22" presetClass="entr" presetSubtype="4"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childTnLst>
                          </p:cTn>
                        </p:par>
                        <p:par>
                          <p:cTn id="29" fill="hold">
                            <p:stCondLst>
                              <p:cond delay="500"/>
                            </p:stCondLst>
                            <p:childTnLst>
                              <p:par>
                                <p:cTn id="30" presetID="22" presetClass="entr" presetSubtype="2"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righ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8"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18"/>
                                        </p:tgtEl>
                                        <p:attrNameLst>
                                          <p:attrName>style.visibility</p:attrName>
                                        </p:attrNameLst>
                                      </p:cBhvr>
                                      <p:to>
                                        <p:strVal val="visible"/>
                                      </p:to>
                                    </p:set>
                                    <p:animEffect transition="in" filter="wipe(down)">
                                      <p:cBhvr>
                                        <p:cTn id="45" dur="500"/>
                                        <p:tgtEl>
                                          <p:spTgt spid="11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17"/>
                                        </p:tgtEl>
                                        <p:attrNameLst>
                                          <p:attrName>style.visibility</p:attrName>
                                        </p:attrNameLst>
                                      </p:cBhvr>
                                      <p:to>
                                        <p:strVal val="visible"/>
                                      </p:to>
                                    </p:set>
                                    <p:animEffect transition="in" filter="wipe(down)">
                                      <p:cBhvr>
                                        <p:cTn id="50" dur="500"/>
                                        <p:tgtEl>
                                          <p:spTgt spid="117"/>
                                        </p:tgtEl>
                                      </p:cBhvr>
                                    </p:animEffect>
                                  </p:childTnLst>
                                </p:cTn>
                              </p:par>
                              <p:par>
                                <p:cTn id="51" presetID="22" presetClass="entr" presetSubtype="4" fill="hold" nodeType="withEffect">
                                  <p:stCondLst>
                                    <p:cond delay="0"/>
                                  </p:stCondLst>
                                  <p:childTnLst>
                                    <p:set>
                                      <p:cBhvr>
                                        <p:cTn id="52" dur="1" fill="hold">
                                          <p:stCondLst>
                                            <p:cond delay="0"/>
                                          </p:stCondLst>
                                        </p:cTn>
                                        <p:tgtEl>
                                          <p:spTgt spid="91"/>
                                        </p:tgtEl>
                                        <p:attrNameLst>
                                          <p:attrName>style.visibility</p:attrName>
                                        </p:attrNameLst>
                                      </p:cBhvr>
                                      <p:to>
                                        <p:strVal val="visible"/>
                                      </p:to>
                                    </p:set>
                                    <p:animEffect transition="in" filter="wipe(down)">
                                      <p:cBhvr>
                                        <p:cTn id="53" dur="500"/>
                                        <p:tgtEl>
                                          <p:spTgt spid="9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10"/>
                                        </p:tgtEl>
                                        <p:attrNameLst>
                                          <p:attrName>style.visibility</p:attrName>
                                        </p:attrNameLst>
                                      </p:cBhvr>
                                      <p:to>
                                        <p:strVal val="visible"/>
                                      </p:to>
                                    </p:set>
                                    <p:animEffect transition="in" filter="wipe(down)">
                                      <p:cBhvr>
                                        <p:cTn id="58" dur="500"/>
                                        <p:tgtEl>
                                          <p:spTgt spid="110"/>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33"/>
                                        </p:tgtEl>
                                        <p:attrNameLst>
                                          <p:attrName>style.visibility</p:attrName>
                                        </p:attrNameLst>
                                      </p:cBhvr>
                                      <p:to>
                                        <p:strVal val="visible"/>
                                      </p:to>
                                    </p:set>
                                    <p:animEffect transition="in" filter="wipe(down)">
                                      <p:cBhvr>
                                        <p:cTn id="61" dur="500"/>
                                        <p:tgtEl>
                                          <p:spTgt spid="13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120"/>
                                        </p:tgtEl>
                                        <p:attrNameLst>
                                          <p:attrName>style.visibility</p:attrName>
                                        </p:attrNameLst>
                                      </p:cBhvr>
                                      <p:to>
                                        <p:strVal val="visible"/>
                                      </p:to>
                                    </p:set>
                                    <p:animEffect transition="in" filter="wipe(down)">
                                      <p:cBhvr>
                                        <p:cTn id="66" dur="500"/>
                                        <p:tgtEl>
                                          <p:spTgt spid="120"/>
                                        </p:tgtEl>
                                      </p:cBhvr>
                                    </p:animEffect>
                                  </p:childTnLst>
                                </p:cTn>
                              </p:par>
                              <p:par>
                                <p:cTn id="67" presetID="22" presetClass="entr" presetSubtype="2" fill="hold" nodeType="withEffect">
                                  <p:stCondLst>
                                    <p:cond delay="0"/>
                                  </p:stCondLst>
                                  <p:childTnLst>
                                    <p:set>
                                      <p:cBhvr>
                                        <p:cTn id="68" dur="1" fill="hold">
                                          <p:stCondLst>
                                            <p:cond delay="0"/>
                                          </p:stCondLst>
                                        </p:cTn>
                                        <p:tgtEl>
                                          <p:spTgt spid="124"/>
                                        </p:tgtEl>
                                        <p:attrNameLst>
                                          <p:attrName>style.visibility</p:attrName>
                                        </p:attrNameLst>
                                      </p:cBhvr>
                                      <p:to>
                                        <p:strVal val="visible"/>
                                      </p:to>
                                    </p:set>
                                    <p:animEffect transition="in" filter="wipe(right)">
                                      <p:cBhvr>
                                        <p:cTn id="69" dur="500"/>
                                        <p:tgtEl>
                                          <p:spTgt spid="12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wipe(down)">
                                      <p:cBhvr>
                                        <p:cTn id="74" dur="500"/>
                                        <p:tgtEl>
                                          <p:spTgt spid="4"/>
                                        </p:tgtEl>
                                      </p:cBhvr>
                                    </p:animEffect>
                                  </p:childTnLst>
                                </p:cTn>
                              </p:par>
                              <p:par>
                                <p:cTn id="75" presetID="22" presetClass="entr" presetSubtype="4" fill="hold" nodeType="withEffect">
                                  <p:stCondLst>
                                    <p:cond delay="0"/>
                                  </p:stCondLst>
                                  <p:childTnLst>
                                    <p:set>
                                      <p:cBhvr>
                                        <p:cTn id="76" dur="1" fill="hold">
                                          <p:stCondLst>
                                            <p:cond delay="0"/>
                                          </p:stCondLst>
                                        </p:cTn>
                                        <p:tgtEl>
                                          <p:spTgt spid="97"/>
                                        </p:tgtEl>
                                        <p:attrNameLst>
                                          <p:attrName>style.visibility</p:attrName>
                                        </p:attrNameLst>
                                      </p:cBhvr>
                                      <p:to>
                                        <p:strVal val="visible"/>
                                      </p:to>
                                    </p:set>
                                    <p:animEffect transition="in" filter="wipe(down)">
                                      <p:cBhvr>
                                        <p:cTn id="77" dur="500"/>
                                        <p:tgtEl>
                                          <p:spTgt spid="97"/>
                                        </p:tgtEl>
                                      </p:cBhvr>
                                    </p:animEffect>
                                  </p:childTnLst>
                                </p:cTn>
                              </p:par>
                              <p:par>
                                <p:cTn id="78" presetID="22" presetClass="entr" presetSubtype="4" fill="hold" nodeType="withEffect">
                                  <p:stCondLst>
                                    <p:cond delay="0"/>
                                  </p:stCondLst>
                                  <p:childTnLst>
                                    <p:set>
                                      <p:cBhvr>
                                        <p:cTn id="79" dur="1" fill="hold">
                                          <p:stCondLst>
                                            <p:cond delay="0"/>
                                          </p:stCondLst>
                                        </p:cTn>
                                        <p:tgtEl>
                                          <p:spTgt spid="127"/>
                                        </p:tgtEl>
                                        <p:attrNameLst>
                                          <p:attrName>style.visibility</p:attrName>
                                        </p:attrNameLst>
                                      </p:cBhvr>
                                      <p:to>
                                        <p:strVal val="visible"/>
                                      </p:to>
                                    </p:set>
                                    <p:animEffect transition="in" filter="wipe(down)">
                                      <p:cBhvr>
                                        <p:cTn id="80" dur="500"/>
                                        <p:tgtEl>
                                          <p:spTgt spid="127"/>
                                        </p:tgtEl>
                                      </p:cBhvr>
                                    </p:animEffect>
                                  </p:childTnLst>
                                </p:cTn>
                              </p:par>
                              <p:par>
                                <p:cTn id="81" presetID="22" presetClass="entr" presetSubtype="4" fill="hold" nodeType="withEffect">
                                  <p:stCondLst>
                                    <p:cond delay="0"/>
                                  </p:stCondLst>
                                  <p:childTnLst>
                                    <p:set>
                                      <p:cBhvr>
                                        <p:cTn id="82" dur="1" fill="hold">
                                          <p:stCondLst>
                                            <p:cond delay="0"/>
                                          </p:stCondLst>
                                        </p:cTn>
                                        <p:tgtEl>
                                          <p:spTgt spid="130"/>
                                        </p:tgtEl>
                                        <p:attrNameLst>
                                          <p:attrName>style.visibility</p:attrName>
                                        </p:attrNameLst>
                                      </p:cBhvr>
                                      <p:to>
                                        <p:strVal val="visible"/>
                                      </p:to>
                                    </p:set>
                                    <p:animEffect transition="in" filter="wipe(down)">
                                      <p:cBhvr>
                                        <p:cTn id="83" dur="500"/>
                                        <p:tgtEl>
                                          <p:spTgt spid="13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wipe(up)">
                                      <p:cBhvr>
                                        <p:cTn id="88" dur="500"/>
                                        <p:tgtEl>
                                          <p:spTgt spid="19"/>
                                        </p:tgtEl>
                                      </p:cBhvr>
                                    </p:animEffect>
                                  </p:childTnLst>
                                </p:cTn>
                              </p:par>
                              <p:par>
                                <p:cTn id="89" presetID="22" presetClass="entr" presetSubtype="2" fill="hold"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wipe(right)">
                                      <p:cBhvr>
                                        <p:cTn id="91" dur="500"/>
                                        <p:tgtEl>
                                          <p:spTgt spid="71"/>
                                        </p:tgtEl>
                                      </p:cBhvr>
                                    </p:animEffect>
                                  </p:childTnLst>
                                </p:cTn>
                              </p:par>
                              <p:par>
                                <p:cTn id="92" presetID="22" presetClass="entr" presetSubtype="4" fill="hold" nodeType="withEffect">
                                  <p:stCondLst>
                                    <p:cond delay="0"/>
                                  </p:stCondLst>
                                  <p:childTnLst>
                                    <p:set>
                                      <p:cBhvr>
                                        <p:cTn id="93" dur="1" fill="hold">
                                          <p:stCondLst>
                                            <p:cond delay="0"/>
                                          </p:stCondLst>
                                        </p:cTn>
                                        <p:tgtEl>
                                          <p:spTgt spid="121"/>
                                        </p:tgtEl>
                                        <p:attrNameLst>
                                          <p:attrName>style.visibility</p:attrName>
                                        </p:attrNameLst>
                                      </p:cBhvr>
                                      <p:to>
                                        <p:strVal val="visible"/>
                                      </p:to>
                                    </p:set>
                                    <p:animEffect transition="in" filter="wipe(down)">
                                      <p:cBhvr>
                                        <p:cTn id="94" dur="500"/>
                                        <p:tgtEl>
                                          <p:spTgt spid="12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2" fill="hold" nodeType="clickEffect">
                                  <p:stCondLst>
                                    <p:cond delay="0"/>
                                  </p:stCondLst>
                                  <p:childTnLst>
                                    <p:set>
                                      <p:cBhvr>
                                        <p:cTn id="98" dur="1" fill="hold">
                                          <p:stCondLst>
                                            <p:cond delay="0"/>
                                          </p:stCondLst>
                                        </p:cTn>
                                        <p:tgtEl>
                                          <p:spTgt spid="73"/>
                                        </p:tgtEl>
                                        <p:attrNameLst>
                                          <p:attrName>style.visibility</p:attrName>
                                        </p:attrNameLst>
                                      </p:cBhvr>
                                      <p:to>
                                        <p:strVal val="visible"/>
                                      </p:to>
                                    </p:set>
                                    <p:animEffect transition="in" filter="wipe(right)">
                                      <p:cBhvr>
                                        <p:cTn id="99" dur="500"/>
                                        <p:tgtEl>
                                          <p:spTgt spid="73"/>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nodeType="clickEffect">
                                  <p:stCondLst>
                                    <p:cond delay="0"/>
                                  </p:stCondLst>
                                  <p:childTnLst>
                                    <p:set>
                                      <p:cBhvr>
                                        <p:cTn id="103" dur="1" fill="hold">
                                          <p:stCondLst>
                                            <p:cond delay="0"/>
                                          </p:stCondLst>
                                        </p:cTn>
                                        <p:tgtEl>
                                          <p:spTgt spid="75"/>
                                        </p:tgtEl>
                                        <p:attrNameLst>
                                          <p:attrName>style.visibility</p:attrName>
                                        </p:attrNameLst>
                                      </p:cBhvr>
                                      <p:to>
                                        <p:strVal val="visible"/>
                                      </p:to>
                                    </p:set>
                                    <p:animEffect transition="in" filter="wipe(down)">
                                      <p:cBhvr>
                                        <p:cTn id="104" dur="500"/>
                                        <p:tgtEl>
                                          <p:spTgt spid="75"/>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2" fill="hold" nodeType="clickEffect">
                                  <p:stCondLst>
                                    <p:cond delay="0"/>
                                  </p:stCondLst>
                                  <p:childTnLst>
                                    <p:set>
                                      <p:cBhvr>
                                        <p:cTn id="108" dur="1" fill="hold">
                                          <p:stCondLst>
                                            <p:cond delay="0"/>
                                          </p:stCondLst>
                                        </p:cTn>
                                        <p:tgtEl>
                                          <p:spTgt spid="74"/>
                                        </p:tgtEl>
                                        <p:attrNameLst>
                                          <p:attrName>style.visibility</p:attrName>
                                        </p:attrNameLst>
                                      </p:cBhvr>
                                      <p:to>
                                        <p:strVal val="visible"/>
                                      </p:to>
                                    </p:set>
                                    <p:animEffect transition="in" filter="wipe(right)">
                                      <p:cBhvr>
                                        <p:cTn id="109" dur="500"/>
                                        <p:tgtEl>
                                          <p:spTgt spid="74"/>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85"/>
                                        </p:tgtEl>
                                        <p:attrNameLst>
                                          <p:attrName>style.visibility</p:attrName>
                                        </p:attrNameLst>
                                      </p:cBhvr>
                                      <p:to>
                                        <p:strVal val="visible"/>
                                      </p:to>
                                    </p:set>
                                    <p:animEffect transition="in" filter="wipe(left)">
                                      <p:cBhvr>
                                        <p:cTn id="114" dur="500"/>
                                        <p:tgtEl>
                                          <p:spTgt spid="85"/>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86"/>
                                        </p:tgtEl>
                                        <p:attrNameLst>
                                          <p:attrName>style.visibility</p:attrName>
                                        </p:attrNameLst>
                                      </p:cBhvr>
                                      <p:to>
                                        <p:strVal val="visible"/>
                                      </p:to>
                                    </p:set>
                                    <p:animEffect transition="in" filter="wipe(left)">
                                      <p:cBhvr>
                                        <p:cTn id="119" dur="500"/>
                                        <p:tgtEl>
                                          <p:spTgt spid="86"/>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87"/>
                                        </p:tgtEl>
                                        <p:attrNameLst>
                                          <p:attrName>style.visibility</p:attrName>
                                        </p:attrNameLst>
                                      </p:cBhvr>
                                      <p:to>
                                        <p:strVal val="visible"/>
                                      </p:to>
                                    </p:set>
                                    <p:animEffect transition="in" filter="wipe(left)">
                                      <p:cBhvr>
                                        <p:cTn id="124" dur="500"/>
                                        <p:tgtEl>
                                          <p:spTgt spid="87"/>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34"/>
                                        </p:tgtEl>
                                        <p:attrNameLst>
                                          <p:attrName>style.visibility</p:attrName>
                                        </p:attrNameLst>
                                      </p:cBhvr>
                                      <p:to>
                                        <p:strVal val="visible"/>
                                      </p:to>
                                    </p:set>
                                    <p:animEffect transition="in" filter="wipe(left)">
                                      <p:cBhvr>
                                        <p:cTn id="129" dur="500"/>
                                        <p:tgtEl>
                                          <p:spTgt spid="134"/>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135"/>
                                        </p:tgtEl>
                                        <p:attrNameLst>
                                          <p:attrName>style.visibility</p:attrName>
                                        </p:attrNameLst>
                                      </p:cBhvr>
                                      <p:to>
                                        <p:strVal val="visible"/>
                                      </p:to>
                                    </p:set>
                                    <p:animEffect transition="in" filter="wipe(left)">
                                      <p:cBhvr>
                                        <p:cTn id="134" dur="500"/>
                                        <p:tgtEl>
                                          <p:spTgt spid="135"/>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136"/>
                                        </p:tgtEl>
                                        <p:attrNameLst>
                                          <p:attrName>style.visibility</p:attrName>
                                        </p:attrNameLst>
                                      </p:cBhvr>
                                      <p:to>
                                        <p:strVal val="visible"/>
                                      </p:to>
                                    </p:set>
                                    <p:animEffect transition="in" filter="wipe(left)">
                                      <p:cBhvr>
                                        <p:cTn id="139" dur="500"/>
                                        <p:tgtEl>
                                          <p:spTgt spid="136"/>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90"/>
                                        </p:tgtEl>
                                        <p:attrNameLst>
                                          <p:attrName>style.visibility</p:attrName>
                                        </p:attrNameLst>
                                      </p:cBhvr>
                                      <p:to>
                                        <p:strVal val="visible"/>
                                      </p:to>
                                    </p:set>
                                    <p:animEffect transition="in" filter="wipe(left)">
                                      <p:cBhvr>
                                        <p:cTn id="144" dur="500"/>
                                        <p:tgtEl>
                                          <p:spTgt spid="90"/>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88"/>
                                        </p:tgtEl>
                                        <p:attrNameLst>
                                          <p:attrName>style.visibility</p:attrName>
                                        </p:attrNameLst>
                                      </p:cBhvr>
                                      <p:to>
                                        <p:strVal val="visible"/>
                                      </p:to>
                                    </p:set>
                                    <p:animEffect transition="in" filter="wipe(left)">
                                      <p:cBhvr>
                                        <p:cTn id="149" dur="500"/>
                                        <p:tgtEl>
                                          <p:spTgt spid="88"/>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89"/>
                                        </p:tgtEl>
                                        <p:attrNameLst>
                                          <p:attrName>style.visibility</p:attrName>
                                        </p:attrNameLst>
                                      </p:cBhvr>
                                      <p:to>
                                        <p:strVal val="visible"/>
                                      </p:to>
                                    </p:set>
                                    <p:animEffect transition="in" filter="wipe(left)">
                                      <p:cBhvr>
                                        <p:cTn id="154"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6" grpId="0"/>
      <p:bldP spid="87" grpId="0"/>
      <p:bldP spid="88" grpId="0"/>
      <p:bldP spid="89" grpId="0"/>
      <p:bldP spid="90" grpId="0"/>
      <p:bldP spid="134" grpId="0"/>
      <p:bldP spid="135" grpId="0"/>
      <p:bldP spid="136" grpId="0"/>
      <p:bldP spid="1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A920-DFBF-7440-CDF4-A89F417407E7}"/>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D50F98BB-06DF-3B42-FB48-C0CBF7C2C999}"/>
              </a:ext>
            </a:extLst>
          </p:cNvPr>
          <p:cNvSpPr txBox="1"/>
          <p:nvPr/>
        </p:nvSpPr>
        <p:spPr>
          <a:xfrm>
            <a:off x="152400" y="0"/>
            <a:ext cx="6095365" cy="705485"/>
          </a:xfrm>
          <a:prstGeom prst="rect">
            <a:avLst/>
          </a:prstGeom>
          <a:noFill/>
        </p:spPr>
        <p:txBody>
          <a:bodyPr wrap="square" rtlCol="0" anchor="t">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7F18EDFE-C618-BC24-C099-CE2787404AC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0" i="0" u="none" strike="noStrike" kern="0" cap="none" spc="0" normalizeH="0" baseline="0" noProof="0" dirty="0">
                <a:ln>
                  <a:noFill/>
                </a:ln>
                <a:solidFill>
                  <a:srgbClr val="000000"/>
                </a:solidFill>
                <a:effectLst/>
                <a:uLnTx/>
                <a:uFillTx/>
                <a:latin typeface="微软雅黑"/>
                <a:ea typeface="微软雅黑"/>
                <a:cs typeface="+mj-cs"/>
              </a:rPr>
              <a:t>换出机制的</a:t>
            </a:r>
            <a:r>
              <a:rPr lang="zh-CN" altLang="en-US" b="0" kern="0" dirty="0">
                <a:solidFill>
                  <a:srgbClr val="000000"/>
                </a:solidFill>
                <a:latin typeface="微软雅黑"/>
                <a:ea typeface="微软雅黑"/>
              </a:rPr>
              <a:t>流程分析</a:t>
            </a:r>
            <a:endParaRPr kumimoji="0" lang="zh-CN" altLang="en-US" sz="3600" b="0" i="0" u="none" strike="noStrike" kern="0" cap="none" spc="0" normalizeH="0" baseline="0" noProof="0" dirty="0">
              <a:ln>
                <a:noFill/>
              </a:ln>
              <a:solidFill>
                <a:srgbClr val="000000"/>
              </a:solidFill>
              <a:effectLst/>
              <a:uLnTx/>
              <a:uFillTx/>
              <a:latin typeface="微软雅黑"/>
              <a:ea typeface="微软雅黑"/>
              <a:cs typeface="+mj-cs"/>
            </a:endParaRPr>
          </a:p>
        </p:txBody>
      </p:sp>
      <p:pic>
        <p:nvPicPr>
          <p:cNvPr id="6" name="图片 5">
            <a:extLst>
              <a:ext uri="{FF2B5EF4-FFF2-40B4-BE49-F238E27FC236}">
                <a16:creationId xmlns:a16="http://schemas.microsoft.com/office/drawing/2014/main" id="{782720C5-37C6-76E5-5040-8F4EA1FF512A}"/>
              </a:ext>
            </a:extLst>
          </p:cNvPr>
          <p:cNvPicPr>
            <a:picLocks noChangeAspect="1"/>
          </p:cNvPicPr>
          <p:nvPr/>
        </p:nvPicPr>
        <p:blipFill>
          <a:blip r:embed="rId2"/>
          <a:stretch>
            <a:fillRect/>
          </a:stretch>
        </p:blipFill>
        <p:spPr>
          <a:xfrm>
            <a:off x="175100" y="1556792"/>
            <a:ext cx="7217044" cy="4968552"/>
          </a:xfrm>
          <a:prstGeom prst="rect">
            <a:avLst/>
          </a:prstGeom>
        </p:spPr>
      </p:pic>
      <p:sp>
        <p:nvSpPr>
          <p:cNvPr id="9" name="TextBox 4">
            <a:extLst>
              <a:ext uri="{FF2B5EF4-FFF2-40B4-BE49-F238E27FC236}">
                <a16:creationId xmlns:a16="http://schemas.microsoft.com/office/drawing/2014/main" id="{93089AFB-2CA0-F535-074F-023C2FC62899}"/>
              </a:ext>
            </a:extLst>
          </p:cNvPr>
          <p:cNvSpPr txBox="1">
            <a:spLocks noChangeArrowheads="1"/>
          </p:cNvSpPr>
          <p:nvPr/>
        </p:nvSpPr>
        <p:spPr bwMode="auto">
          <a:xfrm>
            <a:off x="7752184" y="1484784"/>
            <a:ext cx="4318911" cy="3970318"/>
          </a:xfrm>
          <a:prstGeom prst="rect">
            <a:avLst/>
          </a:prstGeom>
          <a:noFill/>
          <a:ln w="9525">
            <a:noFill/>
            <a:miter lim="800000"/>
            <a:headEnd/>
            <a:tailEnd/>
          </a:ln>
        </p:spPr>
        <p:txBody>
          <a:bodyPr wrap="square">
            <a:spAutoFit/>
          </a:bodyPr>
          <a:lstStyle/>
          <a:p>
            <a:pPr marL="342900" indent="-342900">
              <a:buSzPct val="100000"/>
              <a:buAutoNum type="arabicPeriod"/>
            </a:pPr>
            <a:r>
              <a:rPr lang="zh-CN" altLang="en-US" sz="2800" b="1" dirty="0">
                <a:solidFill>
                  <a:srgbClr val="11576A"/>
                </a:solidFill>
                <a:latin typeface="微软雅黑" pitchFamily="34" charset="-122"/>
                <a:ea typeface="微软雅黑" pitchFamily="34" charset="-122"/>
              </a:rPr>
              <a:t>找到备选的要被换出的页框，在换出页面表（</a:t>
            </a:r>
            <a:r>
              <a:rPr lang="en-US" altLang="zh-CN" sz="2800" b="1" dirty="0">
                <a:solidFill>
                  <a:srgbClr val="11576A"/>
                </a:solidFill>
                <a:latin typeface="微软雅黑" pitchFamily="34" charset="-122"/>
                <a:ea typeface="微软雅黑" pitchFamily="34" charset="-122"/>
              </a:rPr>
              <a:t>swap cache</a:t>
            </a:r>
            <a:r>
              <a:rPr lang="zh-CN" altLang="en-US" sz="2800" b="1" dirty="0">
                <a:solidFill>
                  <a:srgbClr val="11576A"/>
                </a:solidFill>
                <a:latin typeface="微软雅黑" pitchFamily="34" charset="-122"/>
                <a:ea typeface="微软雅黑" pitchFamily="34" charset="-122"/>
              </a:rPr>
              <a:t>中记录）</a:t>
            </a:r>
            <a:endParaRPr lang="en-US" altLang="zh-CN" sz="2800" b="1" dirty="0">
              <a:solidFill>
                <a:srgbClr val="11576A"/>
              </a:solidFill>
              <a:latin typeface="微软雅黑" pitchFamily="34" charset="-122"/>
              <a:ea typeface="微软雅黑" pitchFamily="34" charset="-122"/>
            </a:endParaRPr>
          </a:p>
          <a:p>
            <a:pPr marL="342900" indent="-342900">
              <a:buSzPct val="100000"/>
              <a:buAutoNum type="arabicPeriod"/>
            </a:pPr>
            <a:r>
              <a:rPr lang="zh-CN" altLang="en-US" sz="2800" b="1" dirty="0">
                <a:solidFill>
                  <a:srgbClr val="11576A"/>
                </a:solidFill>
                <a:latin typeface="微软雅黑" pitchFamily="34" charset="-122"/>
                <a:ea typeface="微软雅黑" pitchFamily="34" charset="-122"/>
              </a:rPr>
              <a:t>将页面从所有进程的页表中摘除，并将页表指向换出页面表中对应的位置</a:t>
            </a:r>
            <a:endParaRPr lang="en-US" altLang="zh-CN" sz="2800" b="1" dirty="0">
              <a:solidFill>
                <a:srgbClr val="11576A"/>
              </a:solidFill>
              <a:latin typeface="微软雅黑" pitchFamily="34" charset="-122"/>
              <a:ea typeface="微软雅黑" pitchFamily="34" charset="-122"/>
            </a:endParaRPr>
          </a:p>
          <a:p>
            <a:pPr marL="342900" indent="-342900">
              <a:buSzPct val="100000"/>
              <a:buAutoNum type="arabicPeriod"/>
            </a:pPr>
            <a:r>
              <a:rPr lang="zh-CN" altLang="en-US" sz="2800" b="1" dirty="0">
                <a:solidFill>
                  <a:srgbClr val="11576A"/>
                </a:solidFill>
                <a:latin typeface="微软雅黑" pitchFamily="34" charset="-122"/>
                <a:ea typeface="微软雅黑" pitchFamily="34" charset="-122"/>
              </a:rPr>
              <a:t>将页面的内容写入换出页面表指定的位置</a:t>
            </a:r>
          </a:p>
        </p:txBody>
      </p:sp>
    </p:spTree>
    <p:extLst>
      <p:ext uri="{BB962C8B-B14F-4D97-AF65-F5344CB8AC3E}">
        <p14:creationId xmlns:p14="http://schemas.microsoft.com/office/powerpoint/2010/main" val="341974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内容占位符 1">
            <a:extLst>
              <a:ext uri="{FF2B5EF4-FFF2-40B4-BE49-F238E27FC236}">
                <a16:creationId xmlns:a16="http://schemas.microsoft.com/office/drawing/2014/main" id="{1C1F0999-C46C-4E50-B1B0-DEC0871A1A23}"/>
              </a:ext>
            </a:extLst>
          </p:cNvPr>
          <p:cNvPicPr>
            <a:picLocks noGrp="1" noChangeAspect="1"/>
          </p:cNvPicPr>
          <p:nvPr>
            <p:ph idx="4294967295"/>
          </p:nvPr>
        </p:nvPicPr>
        <p:blipFill>
          <a:blip r:embed="rId2"/>
          <a:stretch>
            <a:fillRect/>
          </a:stretch>
        </p:blipFill>
        <p:spPr>
          <a:xfrm>
            <a:off x="1859669" y="1555750"/>
            <a:ext cx="8496475" cy="5010150"/>
          </a:xfrm>
          <a:prstGeom prst="rect">
            <a:avLst/>
          </a:prstGeom>
        </p:spPr>
      </p:pic>
      <p:sp>
        <p:nvSpPr>
          <p:cNvPr id="7" name="文本框 6">
            <a:extLst>
              <a:ext uri="{FF2B5EF4-FFF2-40B4-BE49-F238E27FC236}">
                <a16:creationId xmlns:a16="http://schemas.microsoft.com/office/drawing/2014/main" id="{0917B26B-01B2-D2C9-DDDC-430764B3B27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592800FA-213D-C789-22B0-55914790167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换出和换入过程在</a:t>
            </a:r>
            <a:r>
              <a:rPr lang="en-US" altLang="zh-CN" b="0" kern="0" dirty="0" err="1"/>
              <a:t>openEuler</a:t>
            </a:r>
            <a:r>
              <a:rPr lang="zh-CN" altLang="en-US" b="0" kern="0" dirty="0"/>
              <a:t>中的实现</a:t>
            </a:r>
          </a:p>
        </p:txBody>
      </p:sp>
    </p:spTree>
    <p:extLst>
      <p:ext uri="{BB962C8B-B14F-4D97-AF65-F5344CB8AC3E}">
        <p14:creationId xmlns:p14="http://schemas.microsoft.com/office/powerpoint/2010/main" val="2230215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917B26B-01B2-D2C9-DDDC-430764B3B27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592800FA-213D-C789-22B0-55914790167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换出和换入过程在</a:t>
            </a:r>
            <a:r>
              <a:rPr lang="en-US" altLang="zh-CN" b="0" kern="0" dirty="0" err="1"/>
              <a:t>openEuler</a:t>
            </a:r>
            <a:r>
              <a:rPr lang="zh-CN" altLang="en-US" b="0" kern="0" dirty="0"/>
              <a:t>中的实现</a:t>
            </a:r>
          </a:p>
        </p:txBody>
      </p:sp>
      <p:pic>
        <p:nvPicPr>
          <p:cNvPr id="3" name="图片 2">
            <a:extLst>
              <a:ext uri="{FF2B5EF4-FFF2-40B4-BE49-F238E27FC236}">
                <a16:creationId xmlns:a16="http://schemas.microsoft.com/office/drawing/2014/main" id="{BC6507C7-517C-487D-90A1-5E43108C6EAC}"/>
              </a:ext>
            </a:extLst>
          </p:cNvPr>
          <p:cNvPicPr>
            <a:picLocks noChangeAspect="1"/>
          </p:cNvPicPr>
          <p:nvPr/>
        </p:nvPicPr>
        <p:blipFill>
          <a:blip r:embed="rId2"/>
          <a:stretch>
            <a:fillRect/>
          </a:stretch>
        </p:blipFill>
        <p:spPr>
          <a:xfrm>
            <a:off x="3071664" y="1637550"/>
            <a:ext cx="5400600" cy="5150272"/>
          </a:xfrm>
          <a:prstGeom prst="rect">
            <a:avLst/>
          </a:prstGeom>
        </p:spPr>
      </p:pic>
    </p:spTree>
    <p:extLst>
      <p:ext uri="{BB962C8B-B14F-4D97-AF65-F5344CB8AC3E}">
        <p14:creationId xmlns:p14="http://schemas.microsoft.com/office/powerpoint/2010/main" val="605722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917B26B-01B2-D2C9-DDDC-430764B3B27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592800FA-213D-C789-22B0-55914790167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换出和换入过程在</a:t>
            </a:r>
            <a:r>
              <a:rPr lang="en-US" altLang="zh-CN" b="0" kern="0" dirty="0" err="1"/>
              <a:t>openEuler</a:t>
            </a:r>
            <a:r>
              <a:rPr lang="zh-CN" altLang="en-US" b="0" kern="0" dirty="0"/>
              <a:t>中的实现</a:t>
            </a:r>
          </a:p>
        </p:txBody>
      </p:sp>
      <p:pic>
        <p:nvPicPr>
          <p:cNvPr id="3" name="图片 2">
            <a:extLst>
              <a:ext uri="{FF2B5EF4-FFF2-40B4-BE49-F238E27FC236}">
                <a16:creationId xmlns:a16="http://schemas.microsoft.com/office/drawing/2014/main" id="{DDE27995-E49E-416E-942E-42DEA0B138C5}"/>
              </a:ext>
            </a:extLst>
          </p:cNvPr>
          <p:cNvPicPr>
            <a:picLocks noChangeAspect="1"/>
          </p:cNvPicPr>
          <p:nvPr/>
        </p:nvPicPr>
        <p:blipFill>
          <a:blip r:embed="rId2"/>
          <a:stretch>
            <a:fillRect/>
          </a:stretch>
        </p:blipFill>
        <p:spPr>
          <a:xfrm>
            <a:off x="2351584" y="1454504"/>
            <a:ext cx="5732820" cy="5373216"/>
          </a:xfrm>
          <a:prstGeom prst="rect">
            <a:avLst/>
          </a:prstGeom>
        </p:spPr>
      </p:pic>
    </p:spTree>
    <p:extLst>
      <p:ext uri="{BB962C8B-B14F-4D97-AF65-F5344CB8AC3E}">
        <p14:creationId xmlns:p14="http://schemas.microsoft.com/office/powerpoint/2010/main" val="2939325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44956" y="1703094"/>
            <a:ext cx="4721232" cy="1756684"/>
            <a:chOff x="1791236" y="3094477"/>
            <a:chExt cx="4721232" cy="1756684"/>
          </a:xfrm>
        </p:grpSpPr>
        <p:grpSp>
          <p:nvGrpSpPr>
            <p:cNvPr id="56" name="Group 6"/>
            <p:cNvGrpSpPr>
              <a:grpSpLocks/>
            </p:cNvGrpSpPr>
            <p:nvPr/>
          </p:nvGrpSpPr>
          <p:grpSpPr bwMode="auto">
            <a:xfrm>
              <a:off x="1791236" y="3094477"/>
              <a:ext cx="4721232" cy="1354485"/>
              <a:chOff x="0" y="0"/>
              <a:chExt cx="11959" cy="3430"/>
            </a:xfrm>
          </p:grpSpPr>
          <p:sp>
            <p:nvSpPr>
              <p:cNvPr id="57" name="Rectangle 5"/>
              <p:cNvSpPr>
                <a:spLocks noChangeArrowheads="1"/>
              </p:cNvSpPr>
              <p:nvPr/>
            </p:nvSpPr>
            <p:spPr bwMode="auto">
              <a:xfrm>
                <a:off x="2079" y="0"/>
                <a:ext cx="960" cy="1129"/>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11576A"/>
                    </a:solidFill>
                    <a:latin typeface="微软雅黑" pitchFamily="34" charset="-122"/>
                    <a:ea typeface="微软雅黑" pitchFamily="34" charset="-122"/>
                    <a:cs typeface="MS PGothic" charset="0"/>
                    <a:sym typeface="Comic Sans MS" charset="0"/>
                  </a:rPr>
                  <a:t>P1</a:t>
                </a:r>
                <a:endParaRPr lang="zh-CN" altLang="en-US" b="1" dirty="0">
                  <a:solidFill>
                    <a:srgbClr val="11576A"/>
                  </a:solidFill>
                  <a:latin typeface="微软雅黑" pitchFamily="34" charset="-122"/>
                  <a:ea typeface="微软雅黑" pitchFamily="34" charset="-122"/>
                  <a:cs typeface="MS PGothic" charset="0"/>
                </a:endParaRPr>
              </a:p>
            </p:txBody>
          </p:sp>
          <p:sp>
            <p:nvSpPr>
              <p:cNvPr id="58" name="Rectangle 8"/>
              <p:cNvSpPr>
                <a:spLocks noChangeArrowheads="1"/>
              </p:cNvSpPr>
              <p:nvPr/>
            </p:nvSpPr>
            <p:spPr bwMode="auto">
              <a:xfrm>
                <a:off x="3519" y="0"/>
                <a:ext cx="960" cy="1129"/>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11576A"/>
                    </a:solidFill>
                    <a:latin typeface="微软雅黑" pitchFamily="34" charset="-122"/>
                    <a:ea typeface="微软雅黑" pitchFamily="34" charset="-122"/>
                    <a:cs typeface="MS PGothic" charset="0"/>
                    <a:sym typeface="Comic Sans MS" charset="0"/>
                  </a:rPr>
                  <a:t>P2</a:t>
                </a:r>
                <a:endParaRPr lang="zh-CN" altLang="en-US" b="1" dirty="0">
                  <a:solidFill>
                    <a:srgbClr val="11576A"/>
                  </a:solidFill>
                  <a:latin typeface="微软雅黑" pitchFamily="34" charset="-122"/>
                  <a:ea typeface="微软雅黑" pitchFamily="34" charset="-122"/>
                  <a:cs typeface="MS PGothic" charset="0"/>
                </a:endParaRPr>
              </a:p>
            </p:txBody>
          </p:sp>
          <p:sp>
            <p:nvSpPr>
              <p:cNvPr id="59" name="Rectangle 9"/>
              <p:cNvSpPr>
                <a:spLocks noChangeArrowheads="1"/>
              </p:cNvSpPr>
              <p:nvPr/>
            </p:nvSpPr>
            <p:spPr bwMode="auto">
              <a:xfrm>
                <a:off x="4959" y="0"/>
                <a:ext cx="960" cy="1129"/>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11576A"/>
                    </a:solidFill>
                    <a:latin typeface="微软雅黑" pitchFamily="34" charset="-122"/>
                    <a:ea typeface="微软雅黑" pitchFamily="34" charset="-122"/>
                    <a:cs typeface="MS PGothic" charset="0"/>
                    <a:sym typeface="Comic Sans MS" charset="0"/>
                  </a:rPr>
                  <a:t>P3</a:t>
                </a:r>
                <a:endParaRPr lang="zh-CN" altLang="en-US" b="1" dirty="0">
                  <a:solidFill>
                    <a:srgbClr val="11576A"/>
                  </a:solidFill>
                  <a:latin typeface="微软雅黑" pitchFamily="34" charset="-122"/>
                  <a:ea typeface="微软雅黑" pitchFamily="34" charset="-122"/>
                  <a:cs typeface="MS PGothic" charset="0"/>
                </a:endParaRPr>
              </a:p>
            </p:txBody>
          </p:sp>
          <p:sp>
            <p:nvSpPr>
              <p:cNvPr id="60" name="Rectangle 10"/>
              <p:cNvSpPr>
                <a:spLocks noChangeArrowheads="1"/>
              </p:cNvSpPr>
              <p:nvPr/>
            </p:nvSpPr>
            <p:spPr bwMode="auto">
              <a:xfrm>
                <a:off x="6399" y="0"/>
                <a:ext cx="960" cy="1129"/>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chemeClr val="bg1"/>
                    </a:solidFill>
                    <a:latin typeface="微软雅黑" pitchFamily="34" charset="-122"/>
                    <a:ea typeface="微软雅黑" pitchFamily="34" charset="-122"/>
                    <a:cs typeface="MS PGothic" charset="0"/>
                    <a:sym typeface="Comic Sans MS" charset="0"/>
                  </a:rPr>
                  <a:t>P4</a:t>
                </a:r>
                <a:endParaRPr lang="zh-CN" altLang="en-US" b="1" dirty="0">
                  <a:solidFill>
                    <a:schemeClr val="bg1"/>
                  </a:solidFill>
                  <a:latin typeface="微软雅黑" pitchFamily="34" charset="-122"/>
                  <a:ea typeface="微软雅黑" pitchFamily="34" charset="-122"/>
                  <a:cs typeface="MS PGothic" charset="0"/>
                </a:endParaRPr>
              </a:p>
            </p:txBody>
          </p:sp>
          <p:sp>
            <p:nvSpPr>
              <p:cNvPr id="61" name="Rectangle 11"/>
              <p:cNvSpPr>
                <a:spLocks noChangeArrowheads="1"/>
              </p:cNvSpPr>
              <p:nvPr/>
            </p:nvSpPr>
            <p:spPr bwMode="auto">
              <a:xfrm>
                <a:off x="0" y="2710"/>
                <a:ext cx="1200" cy="720"/>
              </a:xfrm>
              <a:prstGeom prst="rect">
                <a:avLst/>
              </a:prstGeom>
              <a:solidFill>
                <a:srgbClr val="FF0000"/>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2" name="Rectangle 12"/>
              <p:cNvSpPr>
                <a:spLocks noChangeArrowheads="1"/>
              </p:cNvSpPr>
              <p:nvPr/>
            </p:nvSpPr>
            <p:spPr bwMode="auto">
              <a:xfrm>
                <a:off x="1200" y="2710"/>
                <a:ext cx="360" cy="720"/>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3" name="Rectangle 13"/>
              <p:cNvSpPr>
                <a:spLocks noChangeArrowheads="1"/>
              </p:cNvSpPr>
              <p:nvPr/>
            </p:nvSpPr>
            <p:spPr bwMode="auto">
              <a:xfrm>
                <a:off x="1560" y="2710"/>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4" name="Rectangle 14"/>
              <p:cNvSpPr>
                <a:spLocks noChangeArrowheads="1"/>
              </p:cNvSpPr>
              <p:nvPr/>
            </p:nvSpPr>
            <p:spPr bwMode="auto">
              <a:xfrm>
                <a:off x="1920" y="2710"/>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5" name="Rectangle 15"/>
              <p:cNvSpPr>
                <a:spLocks noChangeArrowheads="1"/>
              </p:cNvSpPr>
              <p:nvPr/>
            </p:nvSpPr>
            <p:spPr bwMode="auto">
              <a:xfrm>
                <a:off x="2280" y="2710"/>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6" name="Rectangle 16"/>
              <p:cNvSpPr>
                <a:spLocks noChangeArrowheads="1"/>
              </p:cNvSpPr>
              <p:nvPr/>
            </p:nvSpPr>
            <p:spPr bwMode="auto">
              <a:xfrm>
                <a:off x="2640" y="2710"/>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7" name="Rectangle 17"/>
              <p:cNvSpPr>
                <a:spLocks noChangeArrowheads="1"/>
              </p:cNvSpPr>
              <p:nvPr/>
            </p:nvSpPr>
            <p:spPr bwMode="auto">
              <a:xfrm>
                <a:off x="3000" y="2710"/>
                <a:ext cx="360" cy="720"/>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8" name="Rectangle 18"/>
              <p:cNvSpPr>
                <a:spLocks noChangeArrowheads="1"/>
              </p:cNvSpPr>
              <p:nvPr/>
            </p:nvSpPr>
            <p:spPr bwMode="auto">
              <a:xfrm>
                <a:off x="3360" y="2710"/>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9" name="Rectangle 19"/>
              <p:cNvSpPr>
                <a:spLocks noChangeArrowheads="1"/>
              </p:cNvSpPr>
              <p:nvPr/>
            </p:nvSpPr>
            <p:spPr bwMode="auto">
              <a:xfrm>
                <a:off x="3720" y="2710"/>
                <a:ext cx="360" cy="720"/>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0" name="Rectangle 20"/>
              <p:cNvSpPr>
                <a:spLocks noChangeArrowheads="1"/>
              </p:cNvSpPr>
              <p:nvPr/>
            </p:nvSpPr>
            <p:spPr bwMode="auto">
              <a:xfrm>
                <a:off x="4080" y="2710"/>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1" name="Rectangle 21"/>
              <p:cNvSpPr>
                <a:spLocks noChangeArrowheads="1"/>
              </p:cNvSpPr>
              <p:nvPr/>
            </p:nvSpPr>
            <p:spPr bwMode="auto">
              <a:xfrm>
                <a:off x="4440" y="2710"/>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2" name="Rectangle 22"/>
              <p:cNvSpPr>
                <a:spLocks noChangeArrowheads="1"/>
              </p:cNvSpPr>
              <p:nvPr/>
            </p:nvSpPr>
            <p:spPr bwMode="auto">
              <a:xfrm>
                <a:off x="511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3" name="Rectangle 23"/>
              <p:cNvSpPr>
                <a:spLocks noChangeArrowheads="1"/>
              </p:cNvSpPr>
              <p:nvPr/>
            </p:nvSpPr>
            <p:spPr bwMode="auto">
              <a:xfrm>
                <a:off x="547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4" name="Rectangle 24"/>
              <p:cNvSpPr>
                <a:spLocks noChangeArrowheads="1"/>
              </p:cNvSpPr>
              <p:nvPr/>
            </p:nvSpPr>
            <p:spPr bwMode="auto">
              <a:xfrm>
                <a:off x="583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5" name="Rectangle 25"/>
              <p:cNvSpPr>
                <a:spLocks noChangeArrowheads="1"/>
              </p:cNvSpPr>
              <p:nvPr/>
            </p:nvSpPr>
            <p:spPr bwMode="auto">
              <a:xfrm>
                <a:off x="619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6" name="Rectangle 26"/>
              <p:cNvSpPr>
                <a:spLocks noChangeArrowheads="1"/>
              </p:cNvSpPr>
              <p:nvPr/>
            </p:nvSpPr>
            <p:spPr bwMode="auto">
              <a:xfrm>
                <a:off x="655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7" name="Rectangle 27"/>
              <p:cNvSpPr>
                <a:spLocks noChangeArrowheads="1"/>
              </p:cNvSpPr>
              <p:nvPr/>
            </p:nvSpPr>
            <p:spPr bwMode="auto">
              <a:xfrm>
                <a:off x="6919" y="2697"/>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8" name="Rectangle 28"/>
              <p:cNvSpPr>
                <a:spLocks noChangeArrowheads="1"/>
              </p:cNvSpPr>
              <p:nvPr/>
            </p:nvSpPr>
            <p:spPr bwMode="auto">
              <a:xfrm>
                <a:off x="727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9" name="Rectangle 29"/>
              <p:cNvSpPr>
                <a:spLocks noChangeArrowheads="1"/>
              </p:cNvSpPr>
              <p:nvPr/>
            </p:nvSpPr>
            <p:spPr bwMode="auto">
              <a:xfrm>
                <a:off x="763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0" name="Rectangle 30"/>
              <p:cNvSpPr>
                <a:spLocks noChangeArrowheads="1"/>
              </p:cNvSpPr>
              <p:nvPr/>
            </p:nvSpPr>
            <p:spPr bwMode="auto">
              <a:xfrm>
                <a:off x="799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2" name="Rectangle 31"/>
              <p:cNvSpPr>
                <a:spLocks noChangeArrowheads="1"/>
              </p:cNvSpPr>
              <p:nvPr/>
            </p:nvSpPr>
            <p:spPr bwMode="auto">
              <a:xfrm>
                <a:off x="835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3" name="Rectangle 32"/>
              <p:cNvSpPr>
                <a:spLocks noChangeArrowheads="1"/>
              </p:cNvSpPr>
              <p:nvPr/>
            </p:nvSpPr>
            <p:spPr bwMode="auto">
              <a:xfrm>
                <a:off x="871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4" name="Rectangle 33"/>
              <p:cNvSpPr>
                <a:spLocks noChangeArrowheads="1"/>
              </p:cNvSpPr>
              <p:nvPr/>
            </p:nvSpPr>
            <p:spPr bwMode="auto">
              <a:xfrm>
                <a:off x="907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5" name="Rectangle 34"/>
              <p:cNvSpPr>
                <a:spLocks noChangeArrowheads="1"/>
              </p:cNvSpPr>
              <p:nvPr/>
            </p:nvSpPr>
            <p:spPr bwMode="auto">
              <a:xfrm>
                <a:off x="943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6" name="Rectangle 35"/>
              <p:cNvSpPr>
                <a:spLocks noChangeArrowheads="1"/>
              </p:cNvSpPr>
              <p:nvPr/>
            </p:nvSpPr>
            <p:spPr bwMode="auto">
              <a:xfrm>
                <a:off x="979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7" name="Rectangle 36"/>
              <p:cNvSpPr>
                <a:spLocks noChangeArrowheads="1"/>
              </p:cNvSpPr>
              <p:nvPr/>
            </p:nvSpPr>
            <p:spPr bwMode="auto">
              <a:xfrm>
                <a:off x="1015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8" name="Rectangle 37"/>
              <p:cNvSpPr>
                <a:spLocks noChangeArrowheads="1"/>
              </p:cNvSpPr>
              <p:nvPr/>
            </p:nvSpPr>
            <p:spPr bwMode="auto">
              <a:xfrm>
                <a:off x="1051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9" name="Rectangle 38"/>
              <p:cNvSpPr>
                <a:spLocks noChangeArrowheads="1"/>
              </p:cNvSpPr>
              <p:nvPr/>
            </p:nvSpPr>
            <p:spPr bwMode="auto">
              <a:xfrm>
                <a:off x="1087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90" name="Rectangle 39"/>
              <p:cNvSpPr>
                <a:spLocks noChangeArrowheads="1"/>
              </p:cNvSpPr>
              <p:nvPr/>
            </p:nvSpPr>
            <p:spPr bwMode="auto">
              <a:xfrm>
                <a:off x="1123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91" name="Rectangle 40"/>
              <p:cNvSpPr>
                <a:spLocks noChangeArrowheads="1"/>
              </p:cNvSpPr>
              <p:nvPr/>
            </p:nvSpPr>
            <p:spPr bwMode="auto">
              <a:xfrm>
                <a:off x="1159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92" name="Rectangle 41"/>
              <p:cNvSpPr>
                <a:spLocks noChangeArrowheads="1"/>
              </p:cNvSpPr>
              <p:nvPr/>
            </p:nvSpPr>
            <p:spPr bwMode="auto">
              <a:xfrm>
                <a:off x="2838" y="1473"/>
                <a:ext cx="2761" cy="840"/>
              </a:xfrm>
              <a:prstGeom prst="rect">
                <a:avLst/>
              </a:prstGeom>
              <a:solidFill>
                <a:srgbClr val="FF0000"/>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solidFill>
                      <a:schemeClr val="bg1"/>
                    </a:solidFill>
                    <a:latin typeface="微软雅黑" pitchFamily="34" charset="-122"/>
                    <a:ea typeface="微软雅黑" pitchFamily="34" charset="-122"/>
                    <a:cs typeface="MS PGothic" charset="0"/>
                  </a:rPr>
                  <a:t>内核</a:t>
                </a:r>
              </a:p>
            </p:txBody>
          </p:sp>
          <p:sp>
            <p:nvSpPr>
              <p:cNvPr id="93" name="Oval 46"/>
              <p:cNvSpPr>
                <a:spLocks noChangeArrowheads="1"/>
              </p:cNvSpPr>
              <p:nvPr/>
            </p:nvSpPr>
            <p:spPr bwMode="auto">
              <a:xfrm>
                <a:off x="5668" y="1324"/>
                <a:ext cx="1200" cy="1200"/>
              </a:xfrm>
              <a:prstGeom prst="ellipse">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spc="-100" dirty="0">
                    <a:solidFill>
                      <a:srgbClr val="11576A"/>
                    </a:solidFill>
                    <a:latin typeface="微软雅黑" pitchFamily="34" charset="-122"/>
                    <a:ea typeface="微软雅黑" pitchFamily="34" charset="-122"/>
                    <a:cs typeface="MS PGothic" charset="0"/>
                    <a:sym typeface="Comic Sans MS" charset="0"/>
                  </a:rPr>
                  <a:t>MMU</a:t>
                </a:r>
                <a:endParaRPr lang="zh-CN" altLang="en-US" sz="1400" b="1" spc="-100" dirty="0">
                  <a:solidFill>
                    <a:srgbClr val="11576A"/>
                  </a:solidFill>
                  <a:latin typeface="微软雅黑" pitchFamily="34" charset="-122"/>
                  <a:ea typeface="微软雅黑" pitchFamily="34" charset="-122"/>
                  <a:cs typeface="MS PGothic" charset="0"/>
                </a:endParaRPr>
              </a:p>
            </p:txBody>
          </p:sp>
        </p:grpSp>
        <p:sp>
          <p:nvSpPr>
            <p:cNvPr id="129" name="Text Box 42"/>
            <p:cNvSpPr>
              <a:spLocks noChangeArrowheads="1"/>
            </p:cNvSpPr>
            <p:nvPr/>
          </p:nvSpPr>
          <p:spPr bwMode="auto">
            <a:xfrm>
              <a:off x="2264650" y="4428309"/>
              <a:ext cx="1467366" cy="40229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spAutoFit/>
            </a:bodyPr>
            <a:lstStyle/>
            <a:p>
              <a:pPr eaLnBrk="1" hangingPunct="1"/>
              <a:r>
                <a:rPr lang="zh-CN" altLang="en-US" sz="2000" b="1" spc="-100" dirty="0">
                  <a:solidFill>
                    <a:srgbClr val="11576A"/>
                  </a:solidFill>
                  <a:latin typeface="微软雅黑" pitchFamily="34" charset="-122"/>
                  <a:ea typeface="微软雅黑" pitchFamily="34" charset="-122"/>
                  <a:cs typeface="MS PGothic" charset="0"/>
                  <a:sym typeface="Comic Sans MS" charset="0"/>
                </a:rPr>
                <a:t>物理内存  +</a:t>
              </a:r>
              <a:endParaRPr lang="zh-CN" altLang="en-US" sz="2000" b="1" spc="-100" dirty="0">
                <a:solidFill>
                  <a:srgbClr val="11576A"/>
                </a:solidFill>
                <a:latin typeface="微软雅黑" pitchFamily="34" charset="-122"/>
                <a:ea typeface="微软雅黑" pitchFamily="34" charset="-122"/>
                <a:cs typeface="MS PGothic" charset="0"/>
              </a:endParaRPr>
            </a:p>
          </p:txBody>
        </p:sp>
        <p:sp>
          <p:nvSpPr>
            <p:cNvPr id="130" name="Text Box 43"/>
            <p:cNvSpPr>
              <a:spLocks noChangeArrowheads="1"/>
            </p:cNvSpPr>
            <p:nvPr/>
          </p:nvSpPr>
          <p:spPr bwMode="auto">
            <a:xfrm>
              <a:off x="3654248" y="4444131"/>
              <a:ext cx="791163" cy="40229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spAutoFit/>
            </a:bodyPr>
            <a:lstStyle/>
            <a:p>
              <a:pPr algn="ctr" eaLnBrk="1" hangingPunct="1"/>
              <a:r>
                <a:rPr lang="zh-CN" altLang="en-US" sz="2000" b="1" dirty="0">
                  <a:solidFill>
                    <a:srgbClr val="11576A"/>
                  </a:solidFill>
                  <a:latin typeface="微软雅黑" pitchFamily="34" charset="-122"/>
                  <a:ea typeface="微软雅黑" pitchFamily="34" charset="-122"/>
                  <a:cs typeface="MS PGothic" charset="0"/>
                </a:rPr>
                <a:t>磁盘</a:t>
              </a:r>
            </a:p>
          </p:txBody>
        </p:sp>
        <p:sp>
          <p:nvSpPr>
            <p:cNvPr id="131" name="Text Box 43"/>
            <p:cNvSpPr>
              <a:spLocks noChangeArrowheads="1"/>
            </p:cNvSpPr>
            <p:nvPr/>
          </p:nvSpPr>
          <p:spPr bwMode="auto">
            <a:xfrm>
              <a:off x="4333921" y="4448870"/>
              <a:ext cx="1403247" cy="40229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spAutoFit/>
            </a:bodyPr>
            <a:lstStyle/>
            <a:p>
              <a:pPr algn="ctr" eaLnBrk="1" hangingPunct="1"/>
              <a:r>
                <a:rPr lang="zh-CN" altLang="en-US" sz="2000" b="1" spc="-100" dirty="0">
                  <a:solidFill>
                    <a:srgbClr val="11576A"/>
                  </a:solidFill>
                  <a:latin typeface="微软雅黑" pitchFamily="34" charset="-122"/>
                  <a:ea typeface="微软雅黑" pitchFamily="34" charset="-122"/>
                  <a:cs typeface="MS PGothic" charset="0"/>
                  <a:sym typeface="Comic Sans MS" charset="0"/>
                </a:rPr>
                <a:t>= 虚拟存储</a:t>
              </a:r>
              <a:endParaRPr lang="zh-CN" altLang="en-US" sz="2000" b="1" spc="-100" dirty="0">
                <a:solidFill>
                  <a:srgbClr val="11576A"/>
                </a:solidFill>
                <a:latin typeface="微软雅黑" pitchFamily="34" charset="-122"/>
                <a:ea typeface="微软雅黑" pitchFamily="34" charset="-122"/>
                <a:cs typeface="MS PGothic" charset="0"/>
              </a:endParaRPr>
            </a:p>
          </p:txBody>
        </p:sp>
      </p:grpSp>
      <p:sp>
        <p:nvSpPr>
          <p:cNvPr id="6" name="文本框 5">
            <a:extLst>
              <a:ext uri="{FF2B5EF4-FFF2-40B4-BE49-F238E27FC236}">
                <a16:creationId xmlns:a16="http://schemas.microsoft.com/office/drawing/2014/main" id="{8CFCFFAB-A3AB-45DE-40D3-ACE41A1362F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7" name="标题 8">
            <a:extLst>
              <a:ext uri="{FF2B5EF4-FFF2-40B4-BE49-F238E27FC236}">
                <a16:creationId xmlns:a16="http://schemas.microsoft.com/office/drawing/2014/main" id="{B48B6DDA-5962-1A71-E51C-841DE19B09C1}"/>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虚拟存储</a:t>
            </a:r>
          </a:p>
        </p:txBody>
      </p:sp>
      <p:sp>
        <p:nvSpPr>
          <p:cNvPr id="8" name="文本框 7">
            <a:extLst>
              <a:ext uri="{FF2B5EF4-FFF2-40B4-BE49-F238E27FC236}">
                <a16:creationId xmlns:a16="http://schemas.microsoft.com/office/drawing/2014/main" id="{E6BCE703-73FA-4A43-B08D-7D5348A005C7}"/>
              </a:ext>
            </a:extLst>
          </p:cNvPr>
          <p:cNvSpPr txBox="1"/>
          <p:nvPr/>
        </p:nvSpPr>
        <p:spPr>
          <a:xfrm>
            <a:off x="2990097" y="3645024"/>
            <a:ext cx="6994335" cy="2985433"/>
          </a:xfrm>
          <a:prstGeom prst="rect">
            <a:avLst/>
          </a:prstGeom>
          <a:noFill/>
        </p:spPr>
        <p:txBody>
          <a:bodyPr wrap="square" rtlCol="0">
            <a:spAutoFit/>
          </a:bodyPr>
          <a:lstStyle/>
          <a:p>
            <a:pPr lvl="0">
              <a:buSzPct val="100000"/>
            </a:pPr>
            <a:r>
              <a:rPr lang="zh-CN" altLang="en-US" sz="2400" b="1" dirty="0">
                <a:solidFill>
                  <a:srgbClr val="11576A"/>
                </a:solidFill>
                <a:latin typeface="张海山锐谐体2.0-授权联系：Samtype@QQ.com" pitchFamily="2" charset="-122"/>
                <a:ea typeface="张海山锐谐体2.0-授权联系：Samtype@QQ.com" pitchFamily="2" charset="-122"/>
              </a:rPr>
              <a:t>■ </a:t>
            </a:r>
            <a:r>
              <a:rPr lang="en-US" altLang="zh-CN" sz="2400" b="1" dirty="0">
                <a:solidFill>
                  <a:srgbClr val="11576A"/>
                </a:solidFill>
                <a:latin typeface="微软雅黑" pitchFamily="34" charset="-122"/>
                <a:ea typeface="微软雅黑" pitchFamily="34" charset="-122"/>
              </a:rPr>
              <a:t>OS</a:t>
            </a:r>
            <a:r>
              <a:rPr lang="zh-CN" altLang="en-US" sz="2400" b="1" dirty="0">
                <a:solidFill>
                  <a:srgbClr val="11576A"/>
                </a:solidFill>
                <a:latin typeface="微软雅黑" pitchFamily="34" charset="-122"/>
                <a:ea typeface="微软雅黑" pitchFamily="34" charset="-122"/>
              </a:rPr>
              <a:t>给程序运行提供足够大的内存空间</a:t>
            </a:r>
            <a:endParaRPr lang="en-US" altLang="zh-CN" sz="2400" b="1" dirty="0">
              <a:solidFill>
                <a:srgbClr val="11576A"/>
              </a:solidFill>
              <a:latin typeface="微软雅黑" pitchFamily="34" charset="-122"/>
              <a:ea typeface="微软雅黑" pitchFamily="34" charset="-122"/>
            </a:endParaRPr>
          </a:p>
          <a:p>
            <a:pPr lvl="0">
              <a:buSzPct val="100000"/>
            </a:pPr>
            <a:r>
              <a:rPr lang="en-US" altLang="zh-CN" sz="2400" b="1" dirty="0">
                <a:solidFill>
                  <a:srgbClr val="11576A"/>
                </a:solidFill>
                <a:latin typeface="微软雅黑" pitchFamily="34" charset="-122"/>
                <a:ea typeface="微软雅黑" pitchFamily="34" charset="-122"/>
              </a:rPr>
              <a:t>     </a:t>
            </a:r>
            <a:r>
              <a:rPr lang="zh-CN" altLang="en-US" sz="2000" b="1" dirty="0">
                <a:solidFill>
                  <a:srgbClr val="11576A"/>
                </a:solidFill>
                <a:latin typeface="微软雅黑" pitchFamily="34" charset="-122"/>
                <a:ea typeface="微软雅黑" pitchFamily="34" charset="-122"/>
              </a:rPr>
              <a:t>通常是全部地址空间</a:t>
            </a:r>
            <a:endParaRPr lang="en-US" altLang="zh-CN" sz="2400" b="1" dirty="0">
              <a:solidFill>
                <a:srgbClr val="11576A"/>
              </a:solidFill>
              <a:latin typeface="微软雅黑" pitchFamily="34" charset="-122"/>
              <a:ea typeface="微软雅黑" pitchFamily="34" charset="-122"/>
            </a:endParaRPr>
          </a:p>
          <a:p>
            <a:pPr>
              <a:buSzPct val="100000"/>
            </a:pPr>
            <a:r>
              <a:rPr lang="zh-CN" altLang="en-US" sz="2400" b="1" dirty="0">
                <a:solidFill>
                  <a:srgbClr val="11576A"/>
                </a:solidFill>
                <a:latin typeface="张海山锐谐体2.0-授权联系：Samtype@QQ.com" pitchFamily="2" charset="-122"/>
                <a:ea typeface="张海山锐谐体2.0-授权联系：Samtype@QQ.com" pitchFamily="2" charset="-122"/>
              </a:rPr>
              <a:t>■ </a:t>
            </a:r>
            <a:r>
              <a:rPr lang="zh-CN" altLang="en-US" sz="2400" b="1" dirty="0">
                <a:solidFill>
                  <a:srgbClr val="11576A"/>
                </a:solidFill>
                <a:latin typeface="微软雅黑" pitchFamily="34" charset="-122"/>
                <a:ea typeface="微软雅黑" pitchFamily="34" charset="-122"/>
              </a:rPr>
              <a:t>这个空间并不完全与物理内存相对应</a:t>
            </a:r>
            <a:endParaRPr lang="en-US" altLang="zh-CN" sz="2400" b="1" dirty="0">
              <a:solidFill>
                <a:srgbClr val="11576A"/>
              </a:solidFill>
              <a:latin typeface="微软雅黑" pitchFamily="34" charset="-122"/>
              <a:ea typeface="微软雅黑" pitchFamily="34" charset="-122"/>
            </a:endParaRPr>
          </a:p>
          <a:p>
            <a:pPr>
              <a:buSzPct val="100000"/>
            </a:pPr>
            <a:r>
              <a:rPr lang="en-US" altLang="zh-CN" sz="2400" b="1" dirty="0">
                <a:solidFill>
                  <a:srgbClr val="11576A"/>
                </a:solidFill>
                <a:latin typeface="微软雅黑" pitchFamily="34" charset="-122"/>
                <a:ea typeface="微软雅黑" pitchFamily="34" charset="-122"/>
              </a:rPr>
              <a:t>     </a:t>
            </a:r>
            <a:r>
              <a:rPr lang="zh-CN" altLang="en-US" sz="2000" b="1" dirty="0">
                <a:solidFill>
                  <a:srgbClr val="11576A"/>
                </a:solidFill>
                <a:latin typeface="微软雅黑" pitchFamily="34" charset="-122"/>
                <a:ea typeface="微软雅黑" pitchFamily="34" charset="-122"/>
              </a:rPr>
              <a:t>正在使用的数据放在物理内存中</a:t>
            </a:r>
            <a:endParaRPr lang="en-US" altLang="zh-CN" sz="2000" b="1" dirty="0">
              <a:solidFill>
                <a:srgbClr val="11576A"/>
              </a:solidFill>
              <a:latin typeface="微软雅黑" pitchFamily="34" charset="-122"/>
              <a:ea typeface="微软雅黑" pitchFamily="34" charset="-122"/>
            </a:endParaRPr>
          </a:p>
          <a:p>
            <a:pPr>
              <a:buSzPct val="100000"/>
            </a:pPr>
            <a:r>
              <a:rPr lang="en-US" altLang="zh-CN" sz="2000" b="1" dirty="0">
                <a:solidFill>
                  <a:srgbClr val="11576A"/>
                </a:solidFill>
                <a:latin typeface="微软雅黑" pitchFamily="34" charset="-122"/>
                <a:ea typeface="微软雅黑" pitchFamily="34" charset="-122"/>
              </a:rPr>
              <a:t>      </a:t>
            </a:r>
            <a:r>
              <a:rPr lang="zh-CN" altLang="en-US" sz="2000" b="1" dirty="0">
                <a:solidFill>
                  <a:srgbClr val="11576A"/>
                </a:solidFill>
                <a:latin typeface="微软雅黑" pitchFamily="34" charset="-122"/>
                <a:ea typeface="微软雅黑" pitchFamily="34" charset="-122"/>
              </a:rPr>
              <a:t>从未使用的数据和临时不用的数据，放在硬盘中</a:t>
            </a:r>
            <a:endParaRPr lang="en-US" altLang="zh-CN" sz="2000" b="1" dirty="0">
              <a:solidFill>
                <a:srgbClr val="11576A"/>
              </a:solidFill>
              <a:latin typeface="微软雅黑" pitchFamily="34" charset="-122"/>
              <a:ea typeface="微软雅黑" pitchFamily="34" charset="-122"/>
            </a:endParaRPr>
          </a:p>
          <a:p>
            <a:pPr>
              <a:buSzPct val="100000"/>
            </a:pPr>
            <a:r>
              <a:rPr lang="zh-CN" altLang="en-US" sz="2400" b="1" dirty="0">
                <a:solidFill>
                  <a:srgbClr val="11576A"/>
                </a:solidFill>
                <a:latin typeface="张海山锐谐体2.0-授权联系：Samtype@QQ.com" pitchFamily="2" charset="-122"/>
                <a:ea typeface="张海山锐谐体2.0-授权联系：Samtype@QQ.com" pitchFamily="2" charset="-122"/>
              </a:rPr>
              <a:t>■ </a:t>
            </a:r>
            <a:r>
              <a:rPr lang="zh-CN" altLang="en-US" sz="2400" b="1" dirty="0">
                <a:solidFill>
                  <a:srgbClr val="11576A"/>
                </a:solidFill>
                <a:latin typeface="微软雅黑" pitchFamily="34" charset="-122"/>
                <a:ea typeface="微软雅黑" pitchFamily="34" charset="-122"/>
              </a:rPr>
              <a:t>借助</a:t>
            </a:r>
            <a:r>
              <a:rPr lang="en-US" altLang="zh-CN" sz="2400" b="1" dirty="0">
                <a:solidFill>
                  <a:srgbClr val="11576A"/>
                </a:solidFill>
                <a:latin typeface="微软雅黑" pitchFamily="34" charset="-122"/>
                <a:ea typeface="微软雅黑" pitchFamily="34" charset="-122"/>
              </a:rPr>
              <a:t>MMU</a:t>
            </a:r>
            <a:r>
              <a:rPr lang="zh-CN" altLang="en-US" sz="2400" b="1" dirty="0">
                <a:solidFill>
                  <a:srgbClr val="11576A"/>
                </a:solidFill>
                <a:latin typeface="微软雅黑" pitchFamily="34" charset="-122"/>
                <a:ea typeface="微软雅黑" pitchFamily="34" charset="-122"/>
              </a:rPr>
              <a:t>隔绝了程序对物理内存的直接访问</a:t>
            </a:r>
            <a:endParaRPr lang="en-US" altLang="zh-CN" sz="2400" b="1" dirty="0">
              <a:solidFill>
                <a:srgbClr val="11576A"/>
              </a:solidFill>
              <a:latin typeface="微软雅黑" pitchFamily="34" charset="-122"/>
              <a:ea typeface="微软雅黑" pitchFamily="34" charset="-122"/>
            </a:endParaRPr>
          </a:p>
          <a:p>
            <a:pPr>
              <a:buSzPct val="100000"/>
            </a:pPr>
            <a:r>
              <a:rPr lang="en-US" altLang="zh-CN" sz="2400" b="1" dirty="0">
                <a:solidFill>
                  <a:srgbClr val="11576A"/>
                </a:solidFill>
                <a:latin typeface="微软雅黑" pitchFamily="34" charset="-122"/>
                <a:ea typeface="微软雅黑" pitchFamily="34" charset="-122"/>
              </a:rPr>
              <a:t>     </a:t>
            </a:r>
            <a:r>
              <a:rPr lang="zh-CN" altLang="en-US" sz="2000" b="1" dirty="0">
                <a:solidFill>
                  <a:srgbClr val="11576A"/>
                </a:solidFill>
                <a:latin typeface="微软雅黑" pitchFamily="34" charset="-122"/>
                <a:ea typeface="微软雅黑" pitchFamily="34" charset="-122"/>
              </a:rPr>
              <a:t>程序中使用的地址都位于虚拟地址空间中</a:t>
            </a:r>
            <a:endParaRPr lang="en-US" altLang="zh-CN" sz="2400" b="1" dirty="0">
              <a:solidFill>
                <a:srgbClr val="11576A"/>
              </a:solidFill>
              <a:latin typeface="微软雅黑" pitchFamily="34" charset="-122"/>
              <a:ea typeface="微软雅黑" pitchFamily="34" charset="-122"/>
            </a:endParaRPr>
          </a:p>
          <a:p>
            <a:pPr lvl="0">
              <a:buSzPct val="100000"/>
            </a:pPr>
            <a:r>
              <a:rPr lang="en-US" altLang="zh-CN" sz="2400" b="1" dirty="0">
                <a:solidFill>
                  <a:srgbClr val="11576A"/>
                </a:solidFill>
                <a:latin typeface="微软雅黑" pitchFamily="34" charset="-122"/>
                <a:ea typeface="微软雅黑" pitchFamily="34" charset="-122"/>
              </a:rPr>
              <a:t>     </a:t>
            </a:r>
            <a:r>
              <a:rPr lang="zh-CN" altLang="en-US" sz="2000" b="1" dirty="0">
                <a:solidFill>
                  <a:srgbClr val="11576A"/>
                </a:solidFill>
                <a:latin typeface="微软雅黑" pitchFamily="34" charset="-122"/>
                <a:ea typeface="微软雅黑" pitchFamily="34" charset="-122"/>
              </a:rPr>
              <a:t>经由</a:t>
            </a:r>
            <a:r>
              <a:rPr lang="en-US" altLang="zh-CN" sz="2000" b="1" dirty="0">
                <a:solidFill>
                  <a:srgbClr val="11576A"/>
                </a:solidFill>
                <a:latin typeface="微软雅黑" pitchFamily="34" charset="-122"/>
                <a:ea typeface="微软雅黑" pitchFamily="34" charset="-122"/>
              </a:rPr>
              <a:t>MMU</a:t>
            </a:r>
            <a:r>
              <a:rPr lang="zh-CN" altLang="en-US" sz="2000" b="1" dirty="0">
                <a:solidFill>
                  <a:srgbClr val="11576A"/>
                </a:solidFill>
                <a:latin typeface="微软雅黑" pitchFamily="34" charset="-122"/>
                <a:ea typeface="微软雅黑" pitchFamily="34" charset="-122"/>
              </a:rPr>
              <a:t>翻译后得到物理地址空间发往内存器件</a:t>
            </a:r>
            <a:endParaRPr lang="zh-CN" altLang="en-US" sz="2400" b="1" dirty="0">
              <a:solidFill>
                <a:srgbClr val="11576A"/>
              </a:solidFill>
              <a:latin typeface="微软雅黑" pitchFamily="34" charset="-122"/>
              <a:ea typeface="微软雅黑" pitchFamily="34" charset="-122"/>
            </a:endParaRPr>
          </a:p>
        </p:txBody>
      </p:sp>
    </p:spTree>
    <p:extLst>
      <p:ext uri="{BB962C8B-B14F-4D97-AF65-F5344CB8AC3E}">
        <p14:creationId xmlns:p14="http://schemas.microsoft.com/office/powerpoint/2010/main" val="70626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44956" y="1703094"/>
            <a:ext cx="4721232" cy="1756684"/>
            <a:chOff x="1791236" y="3094477"/>
            <a:chExt cx="4721232" cy="1756684"/>
          </a:xfrm>
        </p:grpSpPr>
        <p:grpSp>
          <p:nvGrpSpPr>
            <p:cNvPr id="56" name="Group 6"/>
            <p:cNvGrpSpPr>
              <a:grpSpLocks/>
            </p:cNvGrpSpPr>
            <p:nvPr/>
          </p:nvGrpSpPr>
          <p:grpSpPr bwMode="auto">
            <a:xfrm>
              <a:off x="1791236" y="3094477"/>
              <a:ext cx="4721232" cy="1354485"/>
              <a:chOff x="0" y="0"/>
              <a:chExt cx="11959" cy="3430"/>
            </a:xfrm>
          </p:grpSpPr>
          <p:sp>
            <p:nvSpPr>
              <p:cNvPr id="57" name="Rectangle 5"/>
              <p:cNvSpPr>
                <a:spLocks noChangeArrowheads="1"/>
              </p:cNvSpPr>
              <p:nvPr/>
            </p:nvSpPr>
            <p:spPr bwMode="auto">
              <a:xfrm>
                <a:off x="2079" y="0"/>
                <a:ext cx="960" cy="1129"/>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11576A"/>
                    </a:solidFill>
                    <a:latin typeface="微软雅黑" pitchFamily="34" charset="-122"/>
                    <a:ea typeface="微软雅黑" pitchFamily="34" charset="-122"/>
                    <a:cs typeface="MS PGothic" charset="0"/>
                    <a:sym typeface="Comic Sans MS" charset="0"/>
                  </a:rPr>
                  <a:t>P1</a:t>
                </a:r>
                <a:endParaRPr lang="zh-CN" altLang="en-US" b="1" dirty="0">
                  <a:solidFill>
                    <a:srgbClr val="11576A"/>
                  </a:solidFill>
                  <a:latin typeface="微软雅黑" pitchFamily="34" charset="-122"/>
                  <a:ea typeface="微软雅黑" pitchFamily="34" charset="-122"/>
                  <a:cs typeface="MS PGothic" charset="0"/>
                </a:endParaRPr>
              </a:p>
            </p:txBody>
          </p:sp>
          <p:sp>
            <p:nvSpPr>
              <p:cNvPr id="58" name="Rectangle 8"/>
              <p:cNvSpPr>
                <a:spLocks noChangeArrowheads="1"/>
              </p:cNvSpPr>
              <p:nvPr/>
            </p:nvSpPr>
            <p:spPr bwMode="auto">
              <a:xfrm>
                <a:off x="3519" y="0"/>
                <a:ext cx="960" cy="1129"/>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11576A"/>
                    </a:solidFill>
                    <a:latin typeface="微软雅黑" pitchFamily="34" charset="-122"/>
                    <a:ea typeface="微软雅黑" pitchFamily="34" charset="-122"/>
                    <a:cs typeface="MS PGothic" charset="0"/>
                    <a:sym typeface="Comic Sans MS" charset="0"/>
                  </a:rPr>
                  <a:t>P2</a:t>
                </a:r>
                <a:endParaRPr lang="zh-CN" altLang="en-US" b="1" dirty="0">
                  <a:solidFill>
                    <a:srgbClr val="11576A"/>
                  </a:solidFill>
                  <a:latin typeface="微软雅黑" pitchFamily="34" charset="-122"/>
                  <a:ea typeface="微软雅黑" pitchFamily="34" charset="-122"/>
                  <a:cs typeface="MS PGothic" charset="0"/>
                </a:endParaRPr>
              </a:p>
            </p:txBody>
          </p:sp>
          <p:sp>
            <p:nvSpPr>
              <p:cNvPr id="59" name="Rectangle 9"/>
              <p:cNvSpPr>
                <a:spLocks noChangeArrowheads="1"/>
              </p:cNvSpPr>
              <p:nvPr/>
            </p:nvSpPr>
            <p:spPr bwMode="auto">
              <a:xfrm>
                <a:off x="4959" y="0"/>
                <a:ext cx="960" cy="1129"/>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11576A"/>
                    </a:solidFill>
                    <a:latin typeface="微软雅黑" pitchFamily="34" charset="-122"/>
                    <a:ea typeface="微软雅黑" pitchFamily="34" charset="-122"/>
                    <a:cs typeface="MS PGothic" charset="0"/>
                    <a:sym typeface="Comic Sans MS" charset="0"/>
                  </a:rPr>
                  <a:t>P3</a:t>
                </a:r>
                <a:endParaRPr lang="zh-CN" altLang="en-US" b="1" dirty="0">
                  <a:solidFill>
                    <a:srgbClr val="11576A"/>
                  </a:solidFill>
                  <a:latin typeface="微软雅黑" pitchFamily="34" charset="-122"/>
                  <a:ea typeface="微软雅黑" pitchFamily="34" charset="-122"/>
                  <a:cs typeface="MS PGothic" charset="0"/>
                </a:endParaRPr>
              </a:p>
            </p:txBody>
          </p:sp>
          <p:sp>
            <p:nvSpPr>
              <p:cNvPr id="60" name="Rectangle 10"/>
              <p:cNvSpPr>
                <a:spLocks noChangeArrowheads="1"/>
              </p:cNvSpPr>
              <p:nvPr/>
            </p:nvSpPr>
            <p:spPr bwMode="auto">
              <a:xfrm>
                <a:off x="6399" y="0"/>
                <a:ext cx="960" cy="1129"/>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chemeClr val="bg1"/>
                    </a:solidFill>
                    <a:latin typeface="微软雅黑" pitchFamily="34" charset="-122"/>
                    <a:ea typeface="微软雅黑" pitchFamily="34" charset="-122"/>
                    <a:cs typeface="MS PGothic" charset="0"/>
                    <a:sym typeface="Comic Sans MS" charset="0"/>
                  </a:rPr>
                  <a:t>P4</a:t>
                </a:r>
                <a:endParaRPr lang="zh-CN" altLang="en-US" b="1" dirty="0">
                  <a:solidFill>
                    <a:schemeClr val="bg1"/>
                  </a:solidFill>
                  <a:latin typeface="微软雅黑" pitchFamily="34" charset="-122"/>
                  <a:ea typeface="微软雅黑" pitchFamily="34" charset="-122"/>
                  <a:cs typeface="MS PGothic" charset="0"/>
                </a:endParaRPr>
              </a:p>
            </p:txBody>
          </p:sp>
          <p:sp>
            <p:nvSpPr>
              <p:cNvPr id="61" name="Rectangle 11"/>
              <p:cNvSpPr>
                <a:spLocks noChangeArrowheads="1"/>
              </p:cNvSpPr>
              <p:nvPr/>
            </p:nvSpPr>
            <p:spPr bwMode="auto">
              <a:xfrm>
                <a:off x="0" y="2710"/>
                <a:ext cx="1200" cy="720"/>
              </a:xfrm>
              <a:prstGeom prst="rect">
                <a:avLst/>
              </a:prstGeom>
              <a:solidFill>
                <a:srgbClr val="FF0000"/>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2" name="Rectangle 12"/>
              <p:cNvSpPr>
                <a:spLocks noChangeArrowheads="1"/>
              </p:cNvSpPr>
              <p:nvPr/>
            </p:nvSpPr>
            <p:spPr bwMode="auto">
              <a:xfrm>
                <a:off x="1200" y="2710"/>
                <a:ext cx="360" cy="720"/>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3" name="Rectangle 13"/>
              <p:cNvSpPr>
                <a:spLocks noChangeArrowheads="1"/>
              </p:cNvSpPr>
              <p:nvPr/>
            </p:nvSpPr>
            <p:spPr bwMode="auto">
              <a:xfrm>
                <a:off x="1560" y="2710"/>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4" name="Rectangle 14"/>
              <p:cNvSpPr>
                <a:spLocks noChangeArrowheads="1"/>
              </p:cNvSpPr>
              <p:nvPr/>
            </p:nvSpPr>
            <p:spPr bwMode="auto">
              <a:xfrm>
                <a:off x="1920" y="2710"/>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5" name="Rectangle 15"/>
              <p:cNvSpPr>
                <a:spLocks noChangeArrowheads="1"/>
              </p:cNvSpPr>
              <p:nvPr/>
            </p:nvSpPr>
            <p:spPr bwMode="auto">
              <a:xfrm>
                <a:off x="2280" y="2710"/>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6" name="Rectangle 16"/>
              <p:cNvSpPr>
                <a:spLocks noChangeArrowheads="1"/>
              </p:cNvSpPr>
              <p:nvPr/>
            </p:nvSpPr>
            <p:spPr bwMode="auto">
              <a:xfrm>
                <a:off x="2640" y="2710"/>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7" name="Rectangle 17"/>
              <p:cNvSpPr>
                <a:spLocks noChangeArrowheads="1"/>
              </p:cNvSpPr>
              <p:nvPr/>
            </p:nvSpPr>
            <p:spPr bwMode="auto">
              <a:xfrm>
                <a:off x="3000" y="2710"/>
                <a:ext cx="360" cy="720"/>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8" name="Rectangle 18"/>
              <p:cNvSpPr>
                <a:spLocks noChangeArrowheads="1"/>
              </p:cNvSpPr>
              <p:nvPr/>
            </p:nvSpPr>
            <p:spPr bwMode="auto">
              <a:xfrm>
                <a:off x="3360" y="2710"/>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69" name="Rectangle 19"/>
              <p:cNvSpPr>
                <a:spLocks noChangeArrowheads="1"/>
              </p:cNvSpPr>
              <p:nvPr/>
            </p:nvSpPr>
            <p:spPr bwMode="auto">
              <a:xfrm>
                <a:off x="3720" y="2710"/>
                <a:ext cx="360" cy="720"/>
              </a:xfrm>
              <a:prstGeom prst="rect">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0" name="Rectangle 20"/>
              <p:cNvSpPr>
                <a:spLocks noChangeArrowheads="1"/>
              </p:cNvSpPr>
              <p:nvPr/>
            </p:nvSpPr>
            <p:spPr bwMode="auto">
              <a:xfrm>
                <a:off x="4080" y="2710"/>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1" name="Rectangle 21"/>
              <p:cNvSpPr>
                <a:spLocks noChangeArrowheads="1"/>
              </p:cNvSpPr>
              <p:nvPr/>
            </p:nvSpPr>
            <p:spPr bwMode="auto">
              <a:xfrm>
                <a:off x="4440" y="2710"/>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2" name="Rectangle 22"/>
              <p:cNvSpPr>
                <a:spLocks noChangeArrowheads="1"/>
              </p:cNvSpPr>
              <p:nvPr/>
            </p:nvSpPr>
            <p:spPr bwMode="auto">
              <a:xfrm>
                <a:off x="511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3" name="Rectangle 23"/>
              <p:cNvSpPr>
                <a:spLocks noChangeArrowheads="1"/>
              </p:cNvSpPr>
              <p:nvPr/>
            </p:nvSpPr>
            <p:spPr bwMode="auto">
              <a:xfrm>
                <a:off x="547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4" name="Rectangle 24"/>
              <p:cNvSpPr>
                <a:spLocks noChangeArrowheads="1"/>
              </p:cNvSpPr>
              <p:nvPr/>
            </p:nvSpPr>
            <p:spPr bwMode="auto">
              <a:xfrm>
                <a:off x="583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5" name="Rectangle 25"/>
              <p:cNvSpPr>
                <a:spLocks noChangeArrowheads="1"/>
              </p:cNvSpPr>
              <p:nvPr/>
            </p:nvSpPr>
            <p:spPr bwMode="auto">
              <a:xfrm>
                <a:off x="619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6" name="Rectangle 26"/>
              <p:cNvSpPr>
                <a:spLocks noChangeArrowheads="1"/>
              </p:cNvSpPr>
              <p:nvPr/>
            </p:nvSpPr>
            <p:spPr bwMode="auto">
              <a:xfrm>
                <a:off x="6559" y="2697"/>
                <a:ext cx="360" cy="720"/>
              </a:xfrm>
              <a:prstGeom prst="rect">
                <a:avLst/>
              </a:prstGeom>
              <a:solidFill>
                <a:srgbClr val="0066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7" name="Rectangle 27"/>
              <p:cNvSpPr>
                <a:spLocks noChangeArrowheads="1"/>
              </p:cNvSpPr>
              <p:nvPr/>
            </p:nvSpPr>
            <p:spPr bwMode="auto">
              <a:xfrm>
                <a:off x="6919" y="2697"/>
                <a:ext cx="360" cy="720"/>
              </a:xfrm>
              <a:prstGeom prst="rect">
                <a:avLst/>
              </a:prstGeom>
              <a:solidFill>
                <a:srgbClr val="CCEC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8" name="Rectangle 28"/>
              <p:cNvSpPr>
                <a:spLocks noChangeArrowheads="1"/>
              </p:cNvSpPr>
              <p:nvPr/>
            </p:nvSpPr>
            <p:spPr bwMode="auto">
              <a:xfrm>
                <a:off x="727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79" name="Rectangle 29"/>
              <p:cNvSpPr>
                <a:spLocks noChangeArrowheads="1"/>
              </p:cNvSpPr>
              <p:nvPr/>
            </p:nvSpPr>
            <p:spPr bwMode="auto">
              <a:xfrm>
                <a:off x="763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0" name="Rectangle 30"/>
              <p:cNvSpPr>
                <a:spLocks noChangeArrowheads="1"/>
              </p:cNvSpPr>
              <p:nvPr/>
            </p:nvSpPr>
            <p:spPr bwMode="auto">
              <a:xfrm>
                <a:off x="799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2" name="Rectangle 31"/>
              <p:cNvSpPr>
                <a:spLocks noChangeArrowheads="1"/>
              </p:cNvSpPr>
              <p:nvPr/>
            </p:nvSpPr>
            <p:spPr bwMode="auto">
              <a:xfrm>
                <a:off x="8359" y="2697"/>
                <a:ext cx="360" cy="720"/>
              </a:xfrm>
              <a:prstGeom prst="rect">
                <a:avLst/>
              </a:prstGeom>
              <a:solidFill>
                <a:srgbClr val="00FF66"/>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3" name="Rectangle 32"/>
              <p:cNvSpPr>
                <a:spLocks noChangeArrowheads="1"/>
              </p:cNvSpPr>
              <p:nvPr/>
            </p:nvSpPr>
            <p:spPr bwMode="auto">
              <a:xfrm>
                <a:off x="871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4" name="Rectangle 33"/>
              <p:cNvSpPr>
                <a:spLocks noChangeArrowheads="1"/>
              </p:cNvSpPr>
              <p:nvPr/>
            </p:nvSpPr>
            <p:spPr bwMode="auto">
              <a:xfrm>
                <a:off x="907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5" name="Rectangle 34"/>
              <p:cNvSpPr>
                <a:spLocks noChangeArrowheads="1"/>
              </p:cNvSpPr>
              <p:nvPr/>
            </p:nvSpPr>
            <p:spPr bwMode="auto">
              <a:xfrm>
                <a:off x="943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6" name="Rectangle 35"/>
              <p:cNvSpPr>
                <a:spLocks noChangeArrowheads="1"/>
              </p:cNvSpPr>
              <p:nvPr/>
            </p:nvSpPr>
            <p:spPr bwMode="auto">
              <a:xfrm>
                <a:off x="979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7" name="Rectangle 36"/>
              <p:cNvSpPr>
                <a:spLocks noChangeArrowheads="1"/>
              </p:cNvSpPr>
              <p:nvPr/>
            </p:nvSpPr>
            <p:spPr bwMode="auto">
              <a:xfrm>
                <a:off x="1015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8" name="Rectangle 37"/>
              <p:cNvSpPr>
                <a:spLocks noChangeArrowheads="1"/>
              </p:cNvSpPr>
              <p:nvPr/>
            </p:nvSpPr>
            <p:spPr bwMode="auto">
              <a:xfrm>
                <a:off x="1051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89" name="Rectangle 38"/>
              <p:cNvSpPr>
                <a:spLocks noChangeArrowheads="1"/>
              </p:cNvSpPr>
              <p:nvPr/>
            </p:nvSpPr>
            <p:spPr bwMode="auto">
              <a:xfrm>
                <a:off x="1087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90" name="Rectangle 39"/>
              <p:cNvSpPr>
                <a:spLocks noChangeArrowheads="1"/>
              </p:cNvSpPr>
              <p:nvPr/>
            </p:nvSpPr>
            <p:spPr bwMode="auto">
              <a:xfrm>
                <a:off x="1123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91" name="Rectangle 40"/>
              <p:cNvSpPr>
                <a:spLocks noChangeArrowheads="1"/>
              </p:cNvSpPr>
              <p:nvPr/>
            </p:nvSpPr>
            <p:spPr bwMode="auto">
              <a:xfrm>
                <a:off x="11599" y="2697"/>
                <a:ext cx="360" cy="720"/>
              </a:xfrm>
              <a:prstGeom prst="rect">
                <a:avLst/>
              </a:prstGeom>
              <a:solidFill>
                <a:srgbClr val="FF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zh-CN" altLang="en-US" sz="2000">
                  <a:solidFill>
                    <a:srgbClr val="11576A"/>
                  </a:solidFill>
                  <a:ea typeface="MS PGothic" charset="0"/>
                  <a:cs typeface="MS PGothic" charset="0"/>
                  <a:sym typeface="Comic Sans MS" charset="0"/>
                </a:endParaRPr>
              </a:p>
            </p:txBody>
          </p:sp>
          <p:sp>
            <p:nvSpPr>
              <p:cNvPr id="92" name="Rectangle 41"/>
              <p:cNvSpPr>
                <a:spLocks noChangeArrowheads="1"/>
              </p:cNvSpPr>
              <p:nvPr/>
            </p:nvSpPr>
            <p:spPr bwMode="auto">
              <a:xfrm>
                <a:off x="2838" y="1473"/>
                <a:ext cx="2761" cy="840"/>
              </a:xfrm>
              <a:prstGeom prst="rect">
                <a:avLst/>
              </a:prstGeom>
              <a:solidFill>
                <a:srgbClr val="FF0000"/>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solidFill>
                      <a:schemeClr val="bg1"/>
                    </a:solidFill>
                    <a:latin typeface="微软雅黑" pitchFamily="34" charset="-122"/>
                    <a:ea typeface="微软雅黑" pitchFamily="34" charset="-122"/>
                    <a:cs typeface="MS PGothic" charset="0"/>
                  </a:rPr>
                  <a:t>内核</a:t>
                </a:r>
              </a:p>
            </p:txBody>
          </p:sp>
          <p:sp>
            <p:nvSpPr>
              <p:cNvPr id="93" name="Oval 46"/>
              <p:cNvSpPr>
                <a:spLocks noChangeArrowheads="1"/>
              </p:cNvSpPr>
              <p:nvPr/>
            </p:nvSpPr>
            <p:spPr bwMode="auto">
              <a:xfrm>
                <a:off x="5668" y="1324"/>
                <a:ext cx="1200" cy="1200"/>
              </a:xfrm>
              <a:prstGeom prst="ellipse">
                <a:avLst/>
              </a:prstGeom>
              <a:solidFill>
                <a:srgbClr val="CCFFFF"/>
              </a:solidFill>
              <a:ln w="12600" cmpd="sng">
                <a:solidFill>
                  <a:srgbClr val="11576A"/>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spc="-100" dirty="0">
                    <a:solidFill>
                      <a:srgbClr val="11576A"/>
                    </a:solidFill>
                    <a:latin typeface="微软雅黑" pitchFamily="34" charset="-122"/>
                    <a:ea typeface="微软雅黑" pitchFamily="34" charset="-122"/>
                    <a:cs typeface="MS PGothic" charset="0"/>
                    <a:sym typeface="Comic Sans MS" charset="0"/>
                  </a:rPr>
                  <a:t>MMU</a:t>
                </a:r>
                <a:endParaRPr lang="zh-CN" altLang="en-US" sz="1400" b="1" spc="-100" dirty="0">
                  <a:solidFill>
                    <a:srgbClr val="11576A"/>
                  </a:solidFill>
                  <a:latin typeface="微软雅黑" pitchFamily="34" charset="-122"/>
                  <a:ea typeface="微软雅黑" pitchFamily="34" charset="-122"/>
                  <a:cs typeface="MS PGothic" charset="0"/>
                </a:endParaRPr>
              </a:p>
            </p:txBody>
          </p:sp>
        </p:grpSp>
        <p:sp>
          <p:nvSpPr>
            <p:cNvPr id="129" name="Text Box 42"/>
            <p:cNvSpPr>
              <a:spLocks noChangeArrowheads="1"/>
            </p:cNvSpPr>
            <p:nvPr/>
          </p:nvSpPr>
          <p:spPr bwMode="auto">
            <a:xfrm>
              <a:off x="2264650" y="4428309"/>
              <a:ext cx="1467366" cy="40229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spAutoFit/>
            </a:bodyPr>
            <a:lstStyle/>
            <a:p>
              <a:pPr eaLnBrk="1" hangingPunct="1"/>
              <a:r>
                <a:rPr lang="zh-CN" altLang="en-US" sz="2000" b="1" spc="-100" dirty="0">
                  <a:solidFill>
                    <a:srgbClr val="11576A"/>
                  </a:solidFill>
                  <a:latin typeface="微软雅黑" pitchFamily="34" charset="-122"/>
                  <a:ea typeface="微软雅黑" pitchFamily="34" charset="-122"/>
                  <a:cs typeface="MS PGothic" charset="0"/>
                  <a:sym typeface="Comic Sans MS" charset="0"/>
                </a:rPr>
                <a:t>物理内存  +</a:t>
              </a:r>
              <a:endParaRPr lang="zh-CN" altLang="en-US" sz="2000" b="1" spc="-100" dirty="0">
                <a:solidFill>
                  <a:srgbClr val="11576A"/>
                </a:solidFill>
                <a:latin typeface="微软雅黑" pitchFamily="34" charset="-122"/>
                <a:ea typeface="微软雅黑" pitchFamily="34" charset="-122"/>
                <a:cs typeface="MS PGothic" charset="0"/>
              </a:endParaRPr>
            </a:p>
          </p:txBody>
        </p:sp>
        <p:sp>
          <p:nvSpPr>
            <p:cNvPr id="130" name="Text Box 43"/>
            <p:cNvSpPr>
              <a:spLocks noChangeArrowheads="1"/>
            </p:cNvSpPr>
            <p:nvPr/>
          </p:nvSpPr>
          <p:spPr bwMode="auto">
            <a:xfrm>
              <a:off x="3654248" y="4444131"/>
              <a:ext cx="791163" cy="40229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lIns="90000" tIns="46800" rIns="90000" bIns="46800">
              <a:spAutoFit/>
            </a:bodyPr>
            <a:lstStyle/>
            <a:p>
              <a:pPr algn="ctr" eaLnBrk="1" hangingPunct="1"/>
              <a:r>
                <a:rPr lang="zh-CN" altLang="en-US" sz="2000" b="1" dirty="0">
                  <a:solidFill>
                    <a:srgbClr val="11576A"/>
                  </a:solidFill>
                  <a:latin typeface="微软雅黑" pitchFamily="34" charset="-122"/>
                  <a:ea typeface="微软雅黑" pitchFamily="34" charset="-122"/>
                  <a:cs typeface="MS PGothic" charset="0"/>
                </a:rPr>
                <a:t>磁盘</a:t>
              </a:r>
            </a:p>
          </p:txBody>
        </p:sp>
        <p:sp>
          <p:nvSpPr>
            <p:cNvPr id="131" name="Text Box 43"/>
            <p:cNvSpPr>
              <a:spLocks noChangeArrowheads="1"/>
            </p:cNvSpPr>
            <p:nvPr/>
          </p:nvSpPr>
          <p:spPr bwMode="auto">
            <a:xfrm>
              <a:off x="4333921" y="4448870"/>
              <a:ext cx="1403247" cy="40229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0000" tIns="46800" rIns="90000" bIns="46800">
              <a:spAutoFit/>
            </a:bodyPr>
            <a:lstStyle/>
            <a:p>
              <a:pPr algn="ctr" eaLnBrk="1" hangingPunct="1"/>
              <a:r>
                <a:rPr lang="zh-CN" altLang="en-US" sz="2000" b="1" spc="-100" dirty="0">
                  <a:solidFill>
                    <a:srgbClr val="11576A"/>
                  </a:solidFill>
                  <a:latin typeface="微软雅黑" pitchFamily="34" charset="-122"/>
                  <a:ea typeface="微软雅黑" pitchFamily="34" charset="-122"/>
                  <a:cs typeface="MS PGothic" charset="0"/>
                  <a:sym typeface="Comic Sans MS" charset="0"/>
                </a:rPr>
                <a:t>= 虚拟存储</a:t>
              </a:r>
              <a:endParaRPr lang="zh-CN" altLang="en-US" sz="2000" b="1" spc="-100" dirty="0">
                <a:solidFill>
                  <a:srgbClr val="11576A"/>
                </a:solidFill>
                <a:latin typeface="微软雅黑" pitchFamily="34" charset="-122"/>
                <a:ea typeface="微软雅黑" pitchFamily="34" charset="-122"/>
                <a:cs typeface="MS PGothic" charset="0"/>
              </a:endParaRPr>
            </a:p>
          </p:txBody>
        </p:sp>
      </p:grpSp>
      <p:grpSp>
        <p:nvGrpSpPr>
          <p:cNvPr id="3" name="组合 2"/>
          <p:cNvGrpSpPr/>
          <p:nvPr/>
        </p:nvGrpSpPr>
        <p:grpSpPr>
          <a:xfrm>
            <a:off x="2999657" y="4365479"/>
            <a:ext cx="5976663" cy="767014"/>
            <a:chOff x="845935" y="776262"/>
            <a:chExt cx="5976663" cy="767014"/>
          </a:xfrm>
        </p:grpSpPr>
        <p:sp>
          <p:nvSpPr>
            <p:cNvPr id="11" name="矩形 10"/>
            <p:cNvSpPr/>
            <p:nvPr/>
          </p:nvSpPr>
          <p:spPr>
            <a:xfrm>
              <a:off x="845935" y="776262"/>
              <a:ext cx="2011553" cy="461665"/>
            </a:xfrm>
            <a:prstGeom prst="rect">
              <a:avLst/>
            </a:prstGeom>
          </p:spPr>
          <p:txBody>
            <a:bodyPr wrap="square">
              <a:spAutoFit/>
            </a:bodyPr>
            <a:lstStyle/>
            <a:p>
              <a:pPr>
                <a:buSzPct val="100000"/>
              </a:pPr>
              <a:r>
                <a:rPr lang="zh-CN" altLang="en-US" sz="2400" b="1" dirty="0">
                  <a:solidFill>
                    <a:srgbClr val="11576A"/>
                  </a:solidFill>
                  <a:latin typeface="张海山锐谐体2.0-授权联系：Samtype@QQ.com" pitchFamily="2" charset="-122"/>
                  <a:ea typeface="张海山锐谐体2.0-授权联系：Samtype@QQ.com" pitchFamily="2" charset="-122"/>
                </a:rPr>
                <a:t>■ </a:t>
              </a:r>
              <a:r>
                <a:rPr lang="zh-CN" altLang="en-US" sz="2400" b="1" dirty="0">
                  <a:solidFill>
                    <a:srgbClr val="11576A"/>
                  </a:solidFill>
                  <a:latin typeface="微软雅黑" pitchFamily="34" charset="-122"/>
                  <a:ea typeface="微软雅黑" pitchFamily="34" charset="-122"/>
                </a:rPr>
                <a:t>大用户空间</a:t>
              </a:r>
            </a:p>
          </p:txBody>
        </p:sp>
        <p:pic>
          <p:nvPicPr>
            <p:cNvPr id="132" name="图片 131" descr="小点1.png"/>
            <p:cNvPicPr>
              <a:picLocks noChangeAspect="1"/>
            </p:cNvPicPr>
            <p:nvPr/>
          </p:nvPicPr>
          <p:blipFill>
            <a:blip r:embed="rId2" cstate="print"/>
            <a:stretch>
              <a:fillRect/>
            </a:stretch>
          </p:blipFill>
          <p:spPr>
            <a:xfrm>
              <a:off x="1182640" y="1248448"/>
              <a:ext cx="151066" cy="148997"/>
            </a:xfrm>
            <a:prstGeom prst="rect">
              <a:avLst/>
            </a:prstGeom>
            <a:effectLst/>
          </p:spPr>
        </p:pic>
        <p:sp>
          <p:nvSpPr>
            <p:cNvPr id="133" name="矩形 132"/>
            <p:cNvSpPr/>
            <p:nvPr/>
          </p:nvSpPr>
          <p:spPr>
            <a:xfrm>
              <a:off x="1285852" y="1143166"/>
              <a:ext cx="5536746" cy="400110"/>
            </a:xfrm>
            <a:prstGeom prst="rect">
              <a:avLst/>
            </a:prstGeom>
          </p:spPr>
          <p:txBody>
            <a:bodyPr wrap="square">
              <a:spAutoFit/>
            </a:bodyPr>
            <a:lstStyle/>
            <a:p>
              <a:pPr>
                <a:buSzPct val="100000"/>
              </a:pPr>
              <a:r>
                <a:rPr lang="zh-CN" altLang="en-US" sz="2000" b="1" dirty="0">
                  <a:solidFill>
                    <a:srgbClr val="11576A"/>
                  </a:solidFill>
                  <a:latin typeface="微软雅黑" pitchFamily="34" charset="-122"/>
                  <a:ea typeface="微软雅黑" pitchFamily="34" charset="-122"/>
                </a:rPr>
                <a:t> 提供给用户的虚拟内存可大于实际的物理内存</a:t>
              </a:r>
            </a:p>
          </p:txBody>
        </p:sp>
      </p:grpSp>
      <p:grpSp>
        <p:nvGrpSpPr>
          <p:cNvPr id="4" name="组合 3"/>
          <p:cNvGrpSpPr/>
          <p:nvPr/>
        </p:nvGrpSpPr>
        <p:grpSpPr>
          <a:xfrm>
            <a:off x="2999657" y="5081167"/>
            <a:ext cx="6512147" cy="796105"/>
            <a:chOff x="845935" y="1428742"/>
            <a:chExt cx="6512147" cy="796105"/>
          </a:xfrm>
        </p:grpSpPr>
        <p:sp>
          <p:nvSpPr>
            <p:cNvPr id="134" name="矩形 133"/>
            <p:cNvSpPr/>
            <p:nvPr/>
          </p:nvSpPr>
          <p:spPr>
            <a:xfrm>
              <a:off x="845935" y="1428742"/>
              <a:ext cx="1725801" cy="461665"/>
            </a:xfrm>
            <a:prstGeom prst="rect">
              <a:avLst/>
            </a:prstGeom>
          </p:spPr>
          <p:txBody>
            <a:bodyPr wrap="square">
              <a:spAutoFit/>
            </a:bodyPr>
            <a:lstStyle/>
            <a:p>
              <a:pPr>
                <a:buSzPct val="100000"/>
              </a:pPr>
              <a:r>
                <a:rPr lang="zh-CN" altLang="en-US" sz="2400" b="1" dirty="0">
                  <a:solidFill>
                    <a:srgbClr val="11576A"/>
                  </a:solidFill>
                  <a:latin typeface="张海山锐谐体2.0-授权联系：Samtype@QQ.com" pitchFamily="2" charset="-122"/>
                  <a:ea typeface="张海山锐谐体2.0-授权联系：Samtype@QQ.com" pitchFamily="2" charset="-122"/>
                </a:rPr>
                <a:t>■ </a:t>
              </a:r>
              <a:r>
                <a:rPr lang="zh-CN" altLang="en-US" sz="2400" b="1" dirty="0">
                  <a:solidFill>
                    <a:srgbClr val="11576A"/>
                  </a:solidFill>
                  <a:latin typeface="微软雅黑" pitchFamily="34" charset="-122"/>
                  <a:ea typeface="微软雅黑" pitchFamily="34" charset="-122"/>
                </a:rPr>
                <a:t>部分交换</a:t>
              </a:r>
            </a:p>
          </p:txBody>
        </p:sp>
        <p:pic>
          <p:nvPicPr>
            <p:cNvPr id="135" name="图片 134" descr="小点1.png"/>
            <p:cNvPicPr>
              <a:picLocks noChangeAspect="1"/>
            </p:cNvPicPr>
            <p:nvPr/>
          </p:nvPicPr>
          <p:blipFill>
            <a:blip r:embed="rId2" cstate="print"/>
            <a:stretch>
              <a:fillRect/>
            </a:stretch>
          </p:blipFill>
          <p:spPr>
            <a:xfrm>
              <a:off x="1182640" y="1931834"/>
              <a:ext cx="151066" cy="148997"/>
            </a:xfrm>
            <a:prstGeom prst="rect">
              <a:avLst/>
            </a:prstGeom>
            <a:effectLst/>
          </p:spPr>
        </p:pic>
        <p:sp>
          <p:nvSpPr>
            <p:cNvPr id="136" name="矩形 135"/>
            <p:cNvSpPr/>
            <p:nvPr/>
          </p:nvSpPr>
          <p:spPr>
            <a:xfrm>
              <a:off x="1285852" y="1824737"/>
              <a:ext cx="6072230" cy="400110"/>
            </a:xfrm>
            <a:prstGeom prst="rect">
              <a:avLst/>
            </a:prstGeom>
          </p:spPr>
          <p:txBody>
            <a:bodyPr wrap="square">
              <a:spAutoFit/>
            </a:bodyPr>
            <a:lstStyle/>
            <a:p>
              <a:pPr>
                <a:buSzPct val="100000"/>
              </a:pPr>
              <a:r>
                <a:rPr lang="zh-CN" altLang="en-US" sz="2000" b="1" dirty="0">
                  <a:solidFill>
                    <a:srgbClr val="11576A"/>
                  </a:solidFill>
                  <a:latin typeface="微软雅黑" pitchFamily="34" charset="-122"/>
                  <a:ea typeface="微软雅黑" pitchFamily="34" charset="-122"/>
                </a:rPr>
                <a:t> 虚拟存储只对部分虚拟地址空间进行调入和调出</a:t>
              </a:r>
            </a:p>
          </p:txBody>
        </p:sp>
      </p:grpSp>
      <p:grpSp>
        <p:nvGrpSpPr>
          <p:cNvPr id="5" name="组合 4"/>
          <p:cNvGrpSpPr/>
          <p:nvPr/>
        </p:nvGrpSpPr>
        <p:grpSpPr>
          <a:xfrm>
            <a:off x="2999657" y="3314800"/>
            <a:ext cx="3583189" cy="1043052"/>
            <a:chOff x="845935" y="2071684"/>
            <a:chExt cx="3583189" cy="1043052"/>
          </a:xfrm>
        </p:grpSpPr>
        <p:sp>
          <p:nvSpPr>
            <p:cNvPr id="137" name="矩形 136"/>
            <p:cNvSpPr/>
            <p:nvPr/>
          </p:nvSpPr>
          <p:spPr>
            <a:xfrm>
              <a:off x="845935" y="2071684"/>
              <a:ext cx="2212382" cy="461665"/>
            </a:xfrm>
            <a:prstGeom prst="rect">
              <a:avLst/>
            </a:prstGeom>
          </p:spPr>
          <p:txBody>
            <a:bodyPr wrap="square">
              <a:spAutoFit/>
            </a:bodyPr>
            <a:lstStyle/>
            <a:p>
              <a:pPr>
                <a:buSzPct val="100000"/>
              </a:pPr>
              <a:r>
                <a:rPr lang="zh-CN" altLang="en-US" sz="2400" b="1" dirty="0">
                  <a:solidFill>
                    <a:srgbClr val="11576A"/>
                  </a:solidFill>
                  <a:latin typeface="张海山锐谐体2.0-授权联系：Samtype@QQ.com" pitchFamily="2" charset="-122"/>
                  <a:ea typeface="张海山锐谐体2.0-授权联系：Samtype@QQ.com" pitchFamily="2" charset="-122"/>
                </a:rPr>
                <a:t>■ </a:t>
              </a:r>
              <a:r>
                <a:rPr lang="zh-CN" altLang="en-US" sz="2400" b="1" dirty="0">
                  <a:solidFill>
                    <a:srgbClr val="11576A"/>
                  </a:solidFill>
                  <a:latin typeface="微软雅黑" pitchFamily="34" charset="-122"/>
                  <a:ea typeface="微软雅黑" pitchFamily="34" charset="-122"/>
                </a:rPr>
                <a:t>不连续性</a:t>
              </a:r>
            </a:p>
          </p:txBody>
        </p:sp>
        <p:pic>
          <p:nvPicPr>
            <p:cNvPr id="138" name="图片 137" descr="小点1.png"/>
            <p:cNvPicPr>
              <a:picLocks noChangeAspect="1"/>
            </p:cNvPicPr>
            <p:nvPr/>
          </p:nvPicPr>
          <p:blipFill>
            <a:blip r:embed="rId2" cstate="print"/>
            <a:stretch>
              <a:fillRect/>
            </a:stretch>
          </p:blipFill>
          <p:spPr>
            <a:xfrm>
              <a:off x="1182640" y="2534156"/>
              <a:ext cx="151066" cy="148997"/>
            </a:xfrm>
            <a:prstGeom prst="rect">
              <a:avLst/>
            </a:prstGeom>
            <a:effectLst/>
          </p:spPr>
        </p:pic>
        <p:sp>
          <p:nvSpPr>
            <p:cNvPr id="139" name="矩形 138"/>
            <p:cNvSpPr/>
            <p:nvPr/>
          </p:nvSpPr>
          <p:spPr>
            <a:xfrm>
              <a:off x="1285852" y="2428874"/>
              <a:ext cx="2714644" cy="400110"/>
            </a:xfrm>
            <a:prstGeom prst="rect">
              <a:avLst/>
            </a:prstGeom>
          </p:spPr>
          <p:txBody>
            <a:bodyPr wrap="square">
              <a:spAutoFit/>
            </a:bodyPr>
            <a:lstStyle/>
            <a:p>
              <a:pPr>
                <a:buSzPct val="100000"/>
              </a:pPr>
              <a:r>
                <a:rPr lang="zh-CN" altLang="en-US" sz="2000" b="1" dirty="0">
                  <a:solidFill>
                    <a:srgbClr val="11576A"/>
                  </a:solidFill>
                  <a:latin typeface="微软雅黑" pitchFamily="34" charset="-122"/>
                  <a:ea typeface="微软雅黑" pitchFamily="34" charset="-122"/>
                </a:rPr>
                <a:t> 物理内存分配非连续</a:t>
              </a:r>
            </a:p>
          </p:txBody>
        </p:sp>
        <p:pic>
          <p:nvPicPr>
            <p:cNvPr id="140" name="图片 139" descr="小点1.png"/>
            <p:cNvPicPr>
              <a:picLocks noChangeAspect="1"/>
            </p:cNvPicPr>
            <p:nvPr/>
          </p:nvPicPr>
          <p:blipFill>
            <a:blip r:embed="rId2" cstate="print"/>
            <a:stretch>
              <a:fillRect/>
            </a:stretch>
          </p:blipFill>
          <p:spPr>
            <a:xfrm>
              <a:off x="1182640" y="2819908"/>
              <a:ext cx="151066" cy="148997"/>
            </a:xfrm>
            <a:prstGeom prst="rect">
              <a:avLst/>
            </a:prstGeom>
            <a:effectLst/>
          </p:spPr>
        </p:pic>
        <p:sp>
          <p:nvSpPr>
            <p:cNvPr id="141" name="矩形 140"/>
            <p:cNvSpPr/>
            <p:nvPr/>
          </p:nvSpPr>
          <p:spPr>
            <a:xfrm>
              <a:off x="1285852" y="2714626"/>
              <a:ext cx="3143272" cy="400110"/>
            </a:xfrm>
            <a:prstGeom prst="rect">
              <a:avLst/>
            </a:prstGeom>
          </p:spPr>
          <p:txBody>
            <a:bodyPr wrap="square">
              <a:spAutoFit/>
            </a:bodyPr>
            <a:lstStyle/>
            <a:p>
              <a:pPr>
                <a:buSzPct val="100000"/>
              </a:pPr>
              <a:r>
                <a:rPr lang="zh-CN" altLang="en-US" sz="2000" b="1" dirty="0">
                  <a:solidFill>
                    <a:srgbClr val="11576A"/>
                  </a:solidFill>
                  <a:latin typeface="微软雅黑" pitchFamily="34" charset="-122"/>
                  <a:ea typeface="微软雅黑" pitchFamily="34" charset="-122"/>
                </a:rPr>
                <a:t> 虚拟地址空间使用非连续</a:t>
              </a:r>
            </a:p>
          </p:txBody>
        </p:sp>
      </p:grpSp>
      <p:sp>
        <p:nvSpPr>
          <p:cNvPr id="6" name="文本框 5">
            <a:extLst>
              <a:ext uri="{FF2B5EF4-FFF2-40B4-BE49-F238E27FC236}">
                <a16:creationId xmlns:a16="http://schemas.microsoft.com/office/drawing/2014/main" id="{8CFCFFAB-A3AB-45DE-40D3-ACE41A1362F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7" name="标题 8">
            <a:extLst>
              <a:ext uri="{FF2B5EF4-FFF2-40B4-BE49-F238E27FC236}">
                <a16:creationId xmlns:a16="http://schemas.microsoft.com/office/drawing/2014/main" id="{B48B6DDA-5962-1A71-E51C-841DE19B09C1}"/>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虚拟存储的基本特征</a:t>
            </a:r>
          </a:p>
        </p:txBody>
      </p:sp>
    </p:spTree>
    <p:extLst>
      <p:ext uri="{BB962C8B-B14F-4D97-AF65-F5344CB8AC3E}">
        <p14:creationId xmlns:p14="http://schemas.microsoft.com/office/powerpoint/2010/main" val="286187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731520" y="1570002"/>
            <a:ext cx="6906032" cy="553998"/>
          </a:xfrm>
          <a:prstGeom prst="rect">
            <a:avLst/>
          </a:prstGeom>
          <a:noFill/>
          <a:ln w="9525">
            <a:noFill/>
            <a:miter lim="800000"/>
            <a:headEnd/>
            <a:tailEnd/>
          </a:ln>
        </p:spPr>
        <p:txBody>
          <a:bodyPr wrap="square">
            <a:spAutoFit/>
          </a:bodyPr>
          <a:lstStyle/>
          <a:p>
            <a:pPr>
              <a:spcBef>
                <a:spcPct val="50000"/>
              </a:spcBef>
              <a:buFontTx/>
              <a:buNone/>
            </a:pPr>
            <a:r>
              <a:rPr lang="zh-CN" altLang="en-US" sz="3000" b="1" dirty="0">
                <a:solidFill>
                  <a:srgbClr val="11576A"/>
                </a:solidFill>
                <a:latin typeface="微软雅黑" pitchFamily="34" charset="-122"/>
                <a:ea typeface="微软雅黑" pitchFamily="34" charset="-122"/>
                <a:sym typeface="MS PGothic" charset="0"/>
              </a:rPr>
              <a:t>虚拟内存技术会改进程序的性能吗？</a:t>
            </a:r>
            <a:endParaRPr lang="en-US" altLang="zh-CN" sz="3000" b="1" dirty="0">
              <a:solidFill>
                <a:srgbClr val="11576A"/>
              </a:solidFill>
              <a:latin typeface="微软雅黑" pitchFamily="34" charset="-122"/>
              <a:ea typeface="微软雅黑" pitchFamily="34" charset="-122"/>
              <a:sym typeface="MS PGothic" charset="0"/>
            </a:endParaRPr>
          </a:p>
        </p:txBody>
      </p:sp>
      <p:grpSp>
        <p:nvGrpSpPr>
          <p:cNvPr id="2" name="组合 1"/>
          <p:cNvGrpSpPr/>
          <p:nvPr/>
        </p:nvGrpSpPr>
        <p:grpSpPr>
          <a:xfrm>
            <a:off x="731520" y="2124000"/>
            <a:ext cx="7818296" cy="1259484"/>
            <a:chOff x="858159" y="928676"/>
            <a:chExt cx="7385075" cy="1259484"/>
          </a:xfrm>
        </p:grpSpPr>
        <p:sp>
          <p:nvSpPr>
            <p:cNvPr id="5" name="TextBox 4"/>
            <p:cNvSpPr txBox="1">
              <a:spLocks noChangeArrowheads="1"/>
            </p:cNvSpPr>
            <p:nvPr/>
          </p:nvSpPr>
          <p:spPr bwMode="auto">
            <a:xfrm>
              <a:off x="1215347" y="928676"/>
              <a:ext cx="7027887" cy="400110"/>
            </a:xfrm>
            <a:prstGeom prst="rect">
              <a:avLst/>
            </a:prstGeom>
            <a:noFill/>
            <a:ln w="9525">
              <a:noFill/>
              <a:miter lim="800000"/>
              <a:headEnd/>
              <a:tailEnd/>
            </a:ln>
          </p:spPr>
          <p:txBody>
            <a:bodyPr wrap="square">
              <a:spAutoFit/>
            </a:bodyPr>
            <a:lstStyle/>
            <a:p>
              <a:r>
                <a:rPr lang="zh-CN" altLang="en-US" sz="2000" b="1" dirty="0">
                  <a:solidFill>
                    <a:srgbClr val="11576A"/>
                  </a:solidFill>
                  <a:latin typeface="微软雅黑" pitchFamily="34" charset="-122"/>
                  <a:ea typeface="微软雅黑" pitchFamily="34" charset="-122"/>
                </a:rPr>
                <a:t>有效存储访问时间（effective memory access time EAT） </a:t>
              </a:r>
            </a:p>
          </p:txBody>
        </p:sp>
        <p:sp>
          <p:nvSpPr>
            <p:cNvPr id="6" name="矩形 6"/>
            <p:cNvSpPr>
              <a:spLocks noChangeArrowheads="1"/>
            </p:cNvSpPr>
            <p:nvPr/>
          </p:nvSpPr>
          <p:spPr bwMode="auto">
            <a:xfrm>
              <a:off x="858159" y="951626"/>
              <a:ext cx="30616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itchFamily="34" charset="0"/>
              </a:endParaRPr>
            </a:p>
          </p:txBody>
        </p:sp>
        <p:sp>
          <p:nvSpPr>
            <p:cNvPr id="8" name="TextBox 7"/>
            <p:cNvSpPr txBox="1">
              <a:spLocks noChangeArrowheads="1"/>
            </p:cNvSpPr>
            <p:nvPr/>
          </p:nvSpPr>
          <p:spPr bwMode="auto">
            <a:xfrm>
              <a:off x="1014388" y="1480274"/>
              <a:ext cx="6577005" cy="707886"/>
            </a:xfrm>
            <a:prstGeom prst="rect">
              <a:avLst/>
            </a:prstGeom>
            <a:noFill/>
            <a:ln w="9525">
              <a:noFill/>
              <a:miter lim="800000"/>
              <a:headEnd/>
              <a:tailEnd/>
            </a:ln>
          </p:spPr>
          <p:txBody>
            <a:bodyPr wrap="square">
              <a:spAutoFit/>
            </a:bodyPr>
            <a:lstStyle/>
            <a:p>
              <a:pPr lvl="1"/>
              <a:r>
                <a:rPr lang="zh-CN" altLang="en-US" sz="2000" b="1" dirty="0">
                  <a:solidFill>
                    <a:srgbClr val="11576A"/>
                  </a:solidFill>
                  <a:latin typeface="微软雅黑" pitchFamily="34" charset="-122"/>
                  <a:ea typeface="微软雅黑" pitchFamily="34" charset="-122"/>
                  <a:cs typeface="宋体" charset="0"/>
                </a:rPr>
                <a:t>EAT = 访存时间</a:t>
              </a:r>
              <a:r>
                <a:rPr lang="en-US" altLang="zh-CN" sz="2000" b="1" dirty="0">
                  <a:solidFill>
                    <a:srgbClr val="11576A"/>
                  </a:solidFill>
                  <a:latin typeface="微软雅黑" pitchFamily="34" charset="-122"/>
                  <a:ea typeface="微软雅黑" pitchFamily="34" charset="-122"/>
                  <a:cs typeface="宋体" charset="0"/>
                </a:rPr>
                <a:t> </a:t>
              </a:r>
              <a:r>
                <a:rPr lang="zh-CN" altLang="en-US" sz="2000" b="1" dirty="0">
                  <a:solidFill>
                    <a:srgbClr val="11576A"/>
                  </a:solidFill>
                  <a:latin typeface="微软雅黑" pitchFamily="34" charset="-122"/>
                  <a:ea typeface="微软雅黑" pitchFamily="34" charset="-122"/>
                  <a:cs typeface="宋体" charset="0"/>
                </a:rPr>
                <a:t>*</a:t>
              </a:r>
              <a:r>
                <a:rPr lang="en-US" altLang="zh-CN" sz="2000" b="1" dirty="0">
                  <a:solidFill>
                    <a:srgbClr val="11576A"/>
                  </a:solidFill>
                  <a:latin typeface="微软雅黑" pitchFamily="34" charset="-122"/>
                  <a:ea typeface="微软雅黑" pitchFamily="34" charset="-122"/>
                  <a:cs typeface="宋体" charset="0"/>
                </a:rPr>
                <a:t> (1-p)</a:t>
              </a:r>
            </a:p>
            <a:p>
              <a:pPr lvl="1"/>
              <a:r>
                <a:rPr lang="zh-CN" altLang="en-US" sz="2000" b="1" dirty="0">
                  <a:solidFill>
                    <a:srgbClr val="11576A"/>
                  </a:solidFill>
                  <a:latin typeface="微软雅黑" pitchFamily="34" charset="-122"/>
                  <a:ea typeface="微软雅黑" pitchFamily="34" charset="-122"/>
                  <a:cs typeface="宋体" charset="0"/>
                </a:rPr>
                <a:t>        + 缺页异常处理时间 * 缺页率</a:t>
              </a:r>
              <a:r>
                <a:rPr lang="en-US" altLang="zh-CN" sz="2000" b="1" dirty="0">
                  <a:solidFill>
                    <a:srgbClr val="11576A"/>
                  </a:solidFill>
                  <a:latin typeface="微软雅黑" pitchFamily="34" charset="-122"/>
                  <a:ea typeface="微软雅黑" pitchFamily="34" charset="-122"/>
                  <a:cs typeface="宋体" charset="0"/>
                </a:rPr>
                <a:t>p</a:t>
              </a:r>
              <a:endParaRPr lang="zh-CN" altLang="en-US" sz="2000" b="1" dirty="0">
                <a:solidFill>
                  <a:srgbClr val="11576A"/>
                </a:solidFill>
                <a:latin typeface="微软雅黑" pitchFamily="34" charset="-122"/>
                <a:ea typeface="微软雅黑" pitchFamily="34" charset="-122"/>
                <a:cs typeface="宋体" charset="0"/>
              </a:endParaRPr>
            </a:p>
          </p:txBody>
        </p:sp>
        <p:pic>
          <p:nvPicPr>
            <p:cNvPr id="9" name="图片 8" descr="小点1.png"/>
            <p:cNvPicPr>
              <a:picLocks noChangeAspect="1"/>
            </p:cNvPicPr>
            <p:nvPr/>
          </p:nvPicPr>
          <p:blipFill>
            <a:blip r:embed="rId2" cstate="print"/>
            <a:srcRect/>
            <a:stretch>
              <a:fillRect/>
            </a:stretch>
          </p:blipFill>
          <p:spPr bwMode="auto">
            <a:xfrm>
              <a:off x="1292225" y="1608861"/>
              <a:ext cx="149225" cy="149225"/>
            </a:xfrm>
            <a:prstGeom prst="rect">
              <a:avLst/>
            </a:prstGeom>
            <a:noFill/>
            <a:ln w="9525">
              <a:noFill/>
              <a:miter lim="800000"/>
              <a:headEnd/>
              <a:tailEnd/>
            </a:ln>
          </p:spPr>
        </p:pic>
      </p:grpSp>
      <p:grpSp>
        <p:nvGrpSpPr>
          <p:cNvPr id="3" name="组合 2"/>
          <p:cNvGrpSpPr/>
          <p:nvPr/>
        </p:nvGrpSpPr>
        <p:grpSpPr>
          <a:xfrm>
            <a:off x="1165587" y="3354050"/>
            <a:ext cx="7027887" cy="1354213"/>
            <a:chOff x="1292225" y="2158724"/>
            <a:chExt cx="7027887" cy="1354213"/>
          </a:xfrm>
        </p:grpSpPr>
        <p:sp>
          <p:nvSpPr>
            <p:cNvPr id="10" name="TextBox 7"/>
            <p:cNvSpPr txBox="1">
              <a:spLocks noChangeArrowheads="1"/>
            </p:cNvSpPr>
            <p:nvPr/>
          </p:nvSpPr>
          <p:spPr bwMode="auto">
            <a:xfrm>
              <a:off x="1495457" y="2158724"/>
              <a:ext cx="6577005" cy="338554"/>
            </a:xfrm>
            <a:prstGeom prst="rect">
              <a:avLst/>
            </a:prstGeom>
            <a:noFill/>
            <a:ln w="9525">
              <a:noFill/>
              <a:miter lim="800000"/>
              <a:headEnd/>
              <a:tailEnd/>
            </a:ln>
          </p:spPr>
          <p:txBody>
            <a:bodyPr wrap="square">
              <a:spAutoFit/>
            </a:bodyPr>
            <a:lstStyle/>
            <a:p>
              <a:pPr marL="0" lvl="1">
                <a:lnSpc>
                  <a:spcPct val="80000"/>
                </a:lnSpc>
              </a:pPr>
              <a:r>
                <a:rPr lang="zh-CN" altLang="en-US" sz="2000" b="1" dirty="0">
                  <a:solidFill>
                    <a:srgbClr val="11576A"/>
                  </a:solidFill>
                  <a:latin typeface="微软雅黑" pitchFamily="34" charset="-122"/>
                  <a:ea typeface="微软雅黑" pitchFamily="34" charset="-122"/>
                </a:rPr>
                <a:t>例子</a:t>
              </a:r>
            </a:p>
          </p:txBody>
        </p:sp>
        <p:pic>
          <p:nvPicPr>
            <p:cNvPr id="11" name="图片 8" descr="小点1.png"/>
            <p:cNvPicPr>
              <a:picLocks noChangeAspect="1"/>
            </p:cNvPicPr>
            <p:nvPr/>
          </p:nvPicPr>
          <p:blipFill>
            <a:blip r:embed="rId2" cstate="print"/>
            <a:srcRect/>
            <a:stretch>
              <a:fillRect/>
            </a:stretch>
          </p:blipFill>
          <p:spPr bwMode="auto">
            <a:xfrm>
              <a:off x="1292225" y="2211111"/>
              <a:ext cx="149225" cy="149225"/>
            </a:xfrm>
            <a:prstGeom prst="rect">
              <a:avLst/>
            </a:prstGeom>
            <a:noFill/>
            <a:ln w="9525">
              <a:noFill/>
              <a:miter lim="800000"/>
              <a:headEnd/>
              <a:tailEnd/>
            </a:ln>
          </p:spPr>
        </p:pic>
        <p:sp>
          <p:nvSpPr>
            <p:cNvPr id="12" name="TextBox 7"/>
            <p:cNvSpPr txBox="1">
              <a:spLocks noChangeArrowheads="1"/>
            </p:cNvSpPr>
            <p:nvPr/>
          </p:nvSpPr>
          <p:spPr bwMode="auto">
            <a:xfrm>
              <a:off x="1743107" y="2510488"/>
              <a:ext cx="6577005" cy="313932"/>
            </a:xfrm>
            <a:prstGeom prst="rect">
              <a:avLst/>
            </a:prstGeom>
            <a:noFill/>
            <a:ln w="9525">
              <a:noFill/>
              <a:miter lim="800000"/>
              <a:headEnd/>
              <a:tailEnd/>
            </a:ln>
          </p:spPr>
          <p:txBody>
            <a:bodyPr wrap="square">
              <a:spAutoFit/>
            </a:bodyPr>
            <a:lstStyle/>
            <a:p>
              <a:pPr marL="0" lvl="1">
                <a:lnSpc>
                  <a:spcPct val="80000"/>
                </a:lnSpc>
              </a:pPr>
              <a:r>
                <a:rPr lang="zh-CN" altLang="en-US" b="1" dirty="0">
                  <a:solidFill>
                    <a:srgbClr val="11576A"/>
                  </a:solidFill>
                  <a:latin typeface="微软雅黑" pitchFamily="34" charset="-122"/>
                  <a:ea typeface="微软雅黑" pitchFamily="34" charset="-122"/>
                </a:rPr>
                <a:t>访存时间: 10 ns</a:t>
              </a:r>
            </a:p>
          </p:txBody>
        </p:sp>
        <p:pic>
          <p:nvPicPr>
            <p:cNvPr id="13" name="图片 8" descr="小点1.png"/>
            <p:cNvPicPr>
              <a:picLocks noChangeAspect="1"/>
            </p:cNvPicPr>
            <p:nvPr/>
          </p:nvPicPr>
          <p:blipFill>
            <a:blip r:embed="rId2" cstate="print"/>
            <a:srcRect/>
            <a:stretch>
              <a:fillRect/>
            </a:stretch>
          </p:blipFill>
          <p:spPr bwMode="auto">
            <a:xfrm>
              <a:off x="1539875" y="2562875"/>
              <a:ext cx="149225" cy="149225"/>
            </a:xfrm>
            <a:prstGeom prst="rect">
              <a:avLst/>
            </a:prstGeom>
            <a:noFill/>
            <a:ln w="9525">
              <a:noFill/>
              <a:miter lim="800000"/>
              <a:headEnd/>
              <a:tailEnd/>
            </a:ln>
          </p:spPr>
        </p:pic>
        <p:sp>
          <p:nvSpPr>
            <p:cNvPr id="14" name="TextBox 7"/>
            <p:cNvSpPr txBox="1">
              <a:spLocks noChangeArrowheads="1"/>
            </p:cNvSpPr>
            <p:nvPr/>
          </p:nvSpPr>
          <p:spPr bwMode="auto">
            <a:xfrm>
              <a:off x="1743107" y="2858816"/>
              <a:ext cx="6577005" cy="313932"/>
            </a:xfrm>
            <a:prstGeom prst="rect">
              <a:avLst/>
            </a:prstGeom>
            <a:noFill/>
            <a:ln w="9525">
              <a:noFill/>
              <a:miter lim="800000"/>
              <a:headEnd/>
              <a:tailEnd/>
            </a:ln>
          </p:spPr>
          <p:txBody>
            <a:bodyPr wrap="square">
              <a:spAutoFit/>
            </a:bodyPr>
            <a:lstStyle/>
            <a:p>
              <a:pPr marL="0" lvl="1">
                <a:lnSpc>
                  <a:spcPct val="80000"/>
                </a:lnSpc>
              </a:pPr>
              <a:r>
                <a:rPr lang="zh-CN" altLang="en-US" b="1">
                  <a:solidFill>
                    <a:srgbClr val="11576A"/>
                  </a:solidFill>
                  <a:latin typeface="微软雅黑" pitchFamily="34" charset="-122"/>
                  <a:ea typeface="微软雅黑" pitchFamily="34" charset="-122"/>
                </a:rPr>
                <a:t>缺页异常处理时间: 5 ms（包括读写磁盘、再次处理访存等）</a:t>
              </a:r>
              <a:endParaRPr lang="zh-CN" altLang="en-US" b="1" dirty="0">
                <a:solidFill>
                  <a:srgbClr val="11576A"/>
                </a:solidFill>
                <a:latin typeface="微软雅黑" pitchFamily="34" charset="-122"/>
                <a:ea typeface="微软雅黑" pitchFamily="34" charset="-122"/>
              </a:endParaRPr>
            </a:p>
          </p:txBody>
        </p:sp>
        <p:pic>
          <p:nvPicPr>
            <p:cNvPr id="15" name="图片 8" descr="小点1.png"/>
            <p:cNvPicPr>
              <a:picLocks noChangeAspect="1"/>
            </p:cNvPicPr>
            <p:nvPr/>
          </p:nvPicPr>
          <p:blipFill>
            <a:blip r:embed="rId2" cstate="print"/>
            <a:srcRect/>
            <a:stretch>
              <a:fillRect/>
            </a:stretch>
          </p:blipFill>
          <p:spPr bwMode="auto">
            <a:xfrm>
              <a:off x="1539875" y="2911203"/>
              <a:ext cx="149225" cy="149225"/>
            </a:xfrm>
            <a:prstGeom prst="rect">
              <a:avLst/>
            </a:prstGeom>
            <a:noFill/>
            <a:ln w="9525">
              <a:noFill/>
              <a:miter lim="800000"/>
              <a:headEnd/>
              <a:tailEnd/>
            </a:ln>
          </p:spPr>
        </p:pic>
        <p:sp>
          <p:nvSpPr>
            <p:cNvPr id="16" name="TextBox 7"/>
            <p:cNvSpPr txBox="1">
              <a:spLocks noChangeArrowheads="1"/>
            </p:cNvSpPr>
            <p:nvPr/>
          </p:nvSpPr>
          <p:spPr bwMode="auto">
            <a:xfrm>
              <a:off x="1743107" y="3199005"/>
              <a:ext cx="6577005" cy="313932"/>
            </a:xfrm>
            <a:prstGeom prst="rect">
              <a:avLst/>
            </a:prstGeom>
            <a:noFill/>
            <a:ln w="9525">
              <a:noFill/>
              <a:miter lim="800000"/>
              <a:headEnd/>
              <a:tailEnd/>
            </a:ln>
          </p:spPr>
          <p:txBody>
            <a:bodyPr wrap="square">
              <a:spAutoFit/>
            </a:bodyPr>
            <a:lstStyle/>
            <a:p>
              <a:pPr marL="0" lvl="1">
                <a:lnSpc>
                  <a:spcPct val="80000"/>
                </a:lnSpc>
              </a:pPr>
              <a:r>
                <a:rPr lang="zh-CN" altLang="en-US" b="1" dirty="0">
                  <a:solidFill>
                    <a:srgbClr val="11576A"/>
                  </a:solidFill>
                  <a:latin typeface="微软雅黑" pitchFamily="34" charset="-122"/>
                  <a:ea typeface="微软雅黑" pitchFamily="34" charset="-122"/>
                </a:rPr>
                <a:t>缺页率</a:t>
              </a:r>
              <a:r>
                <a:rPr lang="en-US" altLang="zh-CN" b="1" dirty="0">
                  <a:solidFill>
                    <a:srgbClr val="11576A"/>
                  </a:solidFill>
                  <a:latin typeface="微软雅黑" pitchFamily="34" charset="-122"/>
                  <a:ea typeface="微软雅黑" pitchFamily="34" charset="-122"/>
                </a:rPr>
                <a:t>p</a:t>
              </a:r>
              <a:endParaRPr lang="zh-CN" altLang="en-US" b="1" dirty="0">
                <a:solidFill>
                  <a:srgbClr val="11576A"/>
                </a:solidFill>
                <a:latin typeface="微软雅黑" pitchFamily="34" charset="-122"/>
                <a:ea typeface="微软雅黑" pitchFamily="34" charset="-122"/>
              </a:endParaRPr>
            </a:p>
          </p:txBody>
        </p:sp>
        <p:pic>
          <p:nvPicPr>
            <p:cNvPr id="17" name="图片 8" descr="小点1.png"/>
            <p:cNvPicPr>
              <a:picLocks noChangeAspect="1"/>
            </p:cNvPicPr>
            <p:nvPr/>
          </p:nvPicPr>
          <p:blipFill>
            <a:blip r:embed="rId2" cstate="print"/>
            <a:srcRect/>
            <a:stretch>
              <a:fillRect/>
            </a:stretch>
          </p:blipFill>
          <p:spPr bwMode="auto">
            <a:xfrm>
              <a:off x="1539875" y="3251392"/>
              <a:ext cx="149225" cy="149225"/>
            </a:xfrm>
            <a:prstGeom prst="rect">
              <a:avLst/>
            </a:prstGeom>
            <a:noFill/>
            <a:ln w="9525">
              <a:noFill/>
              <a:miter lim="800000"/>
              <a:headEnd/>
              <a:tailEnd/>
            </a:ln>
          </p:spPr>
        </p:pic>
      </p:grpSp>
      <p:grpSp>
        <p:nvGrpSpPr>
          <p:cNvPr id="7" name="组合 6"/>
          <p:cNvGrpSpPr/>
          <p:nvPr/>
        </p:nvGrpSpPr>
        <p:grpSpPr>
          <a:xfrm>
            <a:off x="1413237" y="5104733"/>
            <a:ext cx="6780237" cy="313932"/>
            <a:chOff x="1539875" y="3909409"/>
            <a:chExt cx="6780237" cy="313932"/>
          </a:xfrm>
        </p:grpSpPr>
        <p:sp>
          <p:nvSpPr>
            <p:cNvPr id="20" name="TextBox 7"/>
            <p:cNvSpPr txBox="1">
              <a:spLocks noChangeArrowheads="1"/>
            </p:cNvSpPr>
            <p:nvPr/>
          </p:nvSpPr>
          <p:spPr bwMode="auto">
            <a:xfrm>
              <a:off x="1743107" y="3909409"/>
              <a:ext cx="6577005" cy="313932"/>
            </a:xfrm>
            <a:prstGeom prst="rect">
              <a:avLst/>
            </a:prstGeom>
            <a:noFill/>
            <a:ln w="9525">
              <a:noFill/>
              <a:miter lim="800000"/>
              <a:headEnd/>
              <a:tailEnd/>
            </a:ln>
          </p:spPr>
          <p:txBody>
            <a:bodyPr wrap="square">
              <a:spAutoFit/>
            </a:bodyPr>
            <a:lstStyle/>
            <a:p>
              <a:pPr marL="0" lvl="1">
                <a:lnSpc>
                  <a:spcPct val="80000"/>
                </a:lnSpc>
              </a:pPr>
              <a:r>
                <a:rPr lang="zh-CN" altLang="en-US" b="1" dirty="0">
                  <a:solidFill>
                    <a:srgbClr val="11576A"/>
                  </a:solidFill>
                  <a:latin typeface="微软雅黑" pitchFamily="34" charset="-122"/>
                  <a:ea typeface="微软雅黑" pitchFamily="34" charset="-122"/>
                </a:rPr>
                <a:t>EAT = 10(1–p) + 5,000,000p</a:t>
              </a:r>
            </a:p>
          </p:txBody>
        </p:sp>
        <p:pic>
          <p:nvPicPr>
            <p:cNvPr id="21" name="图片 8" descr="小点1.png"/>
            <p:cNvPicPr>
              <a:picLocks noChangeAspect="1"/>
            </p:cNvPicPr>
            <p:nvPr/>
          </p:nvPicPr>
          <p:blipFill>
            <a:blip r:embed="rId2" cstate="print"/>
            <a:srcRect/>
            <a:stretch>
              <a:fillRect/>
            </a:stretch>
          </p:blipFill>
          <p:spPr bwMode="auto">
            <a:xfrm>
              <a:off x="1539875" y="3961796"/>
              <a:ext cx="149225" cy="149225"/>
            </a:xfrm>
            <a:prstGeom prst="rect">
              <a:avLst/>
            </a:prstGeom>
            <a:noFill/>
            <a:ln w="9525">
              <a:noFill/>
              <a:miter lim="800000"/>
              <a:headEnd/>
              <a:tailEnd/>
            </a:ln>
          </p:spPr>
        </p:pic>
      </p:grpSp>
      <p:sp>
        <p:nvSpPr>
          <p:cNvPr id="22" name="文本框 21">
            <a:extLst>
              <a:ext uri="{FF2B5EF4-FFF2-40B4-BE49-F238E27FC236}">
                <a16:creationId xmlns:a16="http://schemas.microsoft.com/office/drawing/2014/main" id="{F59E1652-339B-4225-8A5A-46CD7D717DBB}"/>
              </a:ext>
            </a:extLst>
          </p:cNvPr>
          <p:cNvSpPr txBox="1"/>
          <p:nvPr/>
        </p:nvSpPr>
        <p:spPr>
          <a:xfrm>
            <a:off x="585312" y="5694061"/>
            <a:ext cx="10911288" cy="646331"/>
          </a:xfrm>
          <a:prstGeom prst="rect">
            <a:avLst/>
          </a:prstGeom>
          <a:noFill/>
        </p:spPr>
        <p:txBody>
          <a:bodyPr wrap="square" rtlCol="0">
            <a:spAutoFit/>
          </a:bodyPr>
          <a:lstStyle/>
          <a:p>
            <a:pPr eaLnBrk="1" hangingPunct="1"/>
            <a:r>
              <a:rPr lang="zh-CN" altLang="en-US" dirty="0">
                <a:latin typeface="微软雅黑" panose="020B0503020204020204" pitchFamily="34" charset="-122"/>
                <a:ea typeface="微软雅黑" panose="020B0503020204020204" pitchFamily="34" charset="-122"/>
              </a:rPr>
              <a:t>降低系统的缺页率，是保障系统可用性的关键</a:t>
            </a:r>
            <a:endParaRPr lang="en-US" altLang="zh-CN" dirty="0">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在内存有限的条件下，尽可能换出未来用不到的</a:t>
            </a:r>
            <a:r>
              <a:rPr lang="en-US" altLang="zh-CN" dirty="0">
                <a:latin typeface="微软雅黑" panose="020B0503020204020204" pitchFamily="34" charset="-122"/>
                <a:ea typeface="微软雅黑" panose="020B0503020204020204" pitchFamily="34" charset="-122"/>
              </a:rPr>
              <a:t>page frame</a:t>
            </a:r>
            <a:r>
              <a:rPr lang="zh-CN" altLang="en-US" dirty="0">
                <a:latin typeface="微软雅黑" panose="020B0503020204020204" pitchFamily="34" charset="-122"/>
                <a:ea typeface="微软雅黑" panose="020B0503020204020204" pitchFamily="34" charset="-122"/>
              </a:rPr>
              <a:t>，能够防止产生更多的缺页</a:t>
            </a:r>
          </a:p>
        </p:txBody>
      </p:sp>
      <p:sp>
        <p:nvSpPr>
          <p:cNvPr id="18" name="文本框 17">
            <a:extLst>
              <a:ext uri="{FF2B5EF4-FFF2-40B4-BE49-F238E27FC236}">
                <a16:creationId xmlns:a16="http://schemas.microsoft.com/office/drawing/2014/main" id="{0C01C767-BEA3-92F6-9EDD-008AF396ABA8}"/>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9" name="标题 8">
            <a:extLst>
              <a:ext uri="{FF2B5EF4-FFF2-40B4-BE49-F238E27FC236}">
                <a16:creationId xmlns:a16="http://schemas.microsoft.com/office/drawing/2014/main" id="{470BE11D-153D-7E38-0363-6E42CF3EFC5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虚拟页式存储管理的性能</a:t>
            </a:r>
          </a:p>
        </p:txBody>
      </p:sp>
    </p:spTree>
    <p:extLst>
      <p:ext uri="{BB962C8B-B14F-4D97-AF65-F5344CB8AC3E}">
        <p14:creationId xmlns:p14="http://schemas.microsoft.com/office/powerpoint/2010/main" val="415555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500" fill="hold"/>
                                        <p:tgtEl>
                                          <p:spTgt spid="22"/>
                                        </p:tgtEl>
                                        <p:attrNameLst>
                                          <p:attrName>ppt_x</p:attrName>
                                        </p:attrNameLst>
                                      </p:cBhvr>
                                      <p:tavLst>
                                        <p:tav tm="0">
                                          <p:val>
                                            <p:strVal val="#ppt_x"/>
                                          </p:val>
                                        </p:tav>
                                        <p:tav tm="100000">
                                          <p:val>
                                            <p:strVal val="#ppt_x"/>
                                          </p:val>
                                        </p:tav>
                                      </p:tavLst>
                                    </p:anim>
                                    <p:anim calcmode="lin" valueType="num">
                                      <p:cBhvr additive="base">
                                        <p:cTn id="2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31520" y="1556792"/>
            <a:ext cx="9900984" cy="864096"/>
            <a:chOff x="857224" y="929082"/>
            <a:chExt cx="9900984" cy="864096"/>
          </a:xfrm>
        </p:grpSpPr>
        <p:sp>
          <p:nvSpPr>
            <p:cNvPr id="10" name="TextBox 9"/>
            <p:cNvSpPr txBox="1"/>
            <p:nvPr/>
          </p:nvSpPr>
          <p:spPr>
            <a:xfrm>
              <a:off x="1188132" y="929082"/>
              <a:ext cx="3005158"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功能</a:t>
              </a:r>
            </a:p>
          </p:txBody>
        </p:sp>
        <p:sp>
          <p:nvSpPr>
            <p:cNvPr id="36" name="TextBox 35"/>
            <p:cNvSpPr txBox="1"/>
            <p:nvPr/>
          </p:nvSpPr>
          <p:spPr>
            <a:xfrm>
              <a:off x="1438534" y="1408457"/>
              <a:ext cx="9319674" cy="384721"/>
            </a:xfrm>
            <a:prstGeom prst="rect">
              <a:avLst/>
            </a:prstGeom>
            <a:noFill/>
            <a:effectLst/>
          </p:spPr>
          <p:txBody>
            <a:bodyPr wrap="square" rtlCol="0">
              <a:spAutoFit/>
            </a:bodyPr>
            <a:lstStyle/>
            <a:p>
              <a:pPr marL="0" lvl="2">
                <a:lnSpc>
                  <a:spcPct val="95000"/>
                </a:lnSpc>
                <a:tabLst>
                  <a:tab pos="715963" algn="l"/>
                </a:tabLst>
              </a:pPr>
              <a:r>
                <a:rPr lang="zh-CN" altLang="en-US" sz="2000" b="1" dirty="0">
                  <a:solidFill>
                    <a:srgbClr val="11576A"/>
                  </a:solidFill>
                  <a:latin typeface="微软雅黑" pitchFamily="34" charset="-122"/>
                  <a:ea typeface="微软雅黑" pitchFamily="34" charset="-122"/>
                </a:rPr>
                <a:t>当出现缺页异常，需调入新页面而内存已满时，置换算法</a:t>
              </a:r>
              <a:r>
                <a:rPr lang="zh-CN" altLang="en-US" sz="2000" b="1" dirty="0">
                  <a:solidFill>
                    <a:srgbClr val="C00000"/>
                  </a:solidFill>
                  <a:latin typeface="微软雅黑" pitchFamily="34" charset="-122"/>
                  <a:ea typeface="微软雅黑" pitchFamily="34" charset="-122"/>
                </a:rPr>
                <a:t>选择被置换的物理页面</a:t>
              </a:r>
            </a:p>
          </p:txBody>
        </p:sp>
        <p:sp>
          <p:nvSpPr>
            <p:cNvPr id="49" name="TextBox 48"/>
            <p:cNvSpPr txBox="1"/>
            <p:nvPr/>
          </p:nvSpPr>
          <p:spPr>
            <a:xfrm>
              <a:off x="857224" y="92908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pic>
          <p:nvPicPr>
            <p:cNvPr id="47" name="图片 46" descr="小点1.png"/>
            <p:cNvPicPr>
              <a:picLocks noChangeAspect="1"/>
            </p:cNvPicPr>
            <p:nvPr/>
          </p:nvPicPr>
          <p:blipFill>
            <a:blip r:embed="rId2" cstate="print"/>
            <a:stretch>
              <a:fillRect/>
            </a:stretch>
          </p:blipFill>
          <p:spPr>
            <a:xfrm>
              <a:off x="1299234" y="1500165"/>
              <a:ext cx="151066" cy="148997"/>
            </a:xfrm>
            <a:prstGeom prst="rect">
              <a:avLst/>
            </a:prstGeom>
            <a:effectLst/>
          </p:spPr>
        </p:pic>
      </p:grpSp>
      <p:grpSp>
        <p:nvGrpSpPr>
          <p:cNvPr id="3" name="组合 2"/>
          <p:cNvGrpSpPr/>
          <p:nvPr/>
        </p:nvGrpSpPr>
        <p:grpSpPr>
          <a:xfrm>
            <a:off x="731520" y="3140968"/>
            <a:ext cx="7089050" cy="1224136"/>
            <a:chOff x="844524" y="1858908"/>
            <a:chExt cx="7089050" cy="1224136"/>
          </a:xfrm>
        </p:grpSpPr>
        <p:sp>
          <p:nvSpPr>
            <p:cNvPr id="18" name="TextBox 17"/>
            <p:cNvSpPr txBox="1"/>
            <p:nvPr/>
          </p:nvSpPr>
          <p:spPr>
            <a:xfrm>
              <a:off x="1175432" y="1858908"/>
              <a:ext cx="3005158"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设计目标</a:t>
              </a:r>
            </a:p>
          </p:txBody>
        </p:sp>
        <p:sp>
          <p:nvSpPr>
            <p:cNvPr id="48" name="TextBox 47"/>
            <p:cNvSpPr txBox="1"/>
            <p:nvPr/>
          </p:nvSpPr>
          <p:spPr>
            <a:xfrm>
              <a:off x="844524" y="185890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44" name="TextBox 43"/>
            <p:cNvSpPr txBox="1"/>
            <p:nvPr/>
          </p:nvSpPr>
          <p:spPr>
            <a:xfrm>
              <a:off x="1438534" y="2325174"/>
              <a:ext cx="4190783" cy="400110"/>
            </a:xfrm>
            <a:prstGeom prst="rect">
              <a:avLst/>
            </a:prstGeom>
            <a:noFill/>
            <a:effectLst/>
          </p:spPr>
          <p:txBody>
            <a:bodyPr wrap="square" rtlCol="0">
              <a:spAutoFit/>
            </a:bodyPr>
            <a:lstStyle/>
            <a:p>
              <a:pPr marL="0" lvl="1">
                <a:spcBef>
                  <a:spcPct val="40000"/>
                </a:spcBef>
              </a:pPr>
              <a:r>
                <a:rPr lang="zh-CN" altLang="en-US" sz="2000" b="1" dirty="0">
                  <a:solidFill>
                    <a:srgbClr val="11576A"/>
                  </a:solidFill>
                  <a:latin typeface="微软雅黑" pitchFamily="34" charset="-122"/>
                  <a:ea typeface="微软雅黑" pitchFamily="34" charset="-122"/>
                  <a:sym typeface="MS PGothic" charset="0"/>
                </a:rPr>
                <a:t>尽可能</a:t>
              </a:r>
              <a:r>
                <a:rPr lang="zh-CN" altLang="en-US" sz="2000" b="1" dirty="0">
                  <a:solidFill>
                    <a:srgbClr val="C00000"/>
                  </a:solidFill>
                  <a:latin typeface="微软雅黑" pitchFamily="34" charset="-122"/>
                  <a:ea typeface="微软雅黑" pitchFamily="34" charset="-122"/>
                  <a:sym typeface="MS PGothic" charset="0"/>
                </a:rPr>
                <a:t>减少页面的调入调出次数</a:t>
              </a:r>
              <a:endParaRPr lang="en-US" altLang="zh-CN" sz="2000" b="1" dirty="0">
                <a:solidFill>
                  <a:srgbClr val="C00000"/>
                </a:solidFill>
                <a:latin typeface="微软雅黑" pitchFamily="34" charset="-122"/>
                <a:ea typeface="微软雅黑" pitchFamily="34" charset="-122"/>
                <a:sym typeface="MS PGothic" charset="0"/>
              </a:endParaRPr>
            </a:p>
          </p:txBody>
        </p:sp>
        <p:pic>
          <p:nvPicPr>
            <p:cNvPr id="50" name="图片 49" descr="小点1.png"/>
            <p:cNvPicPr>
              <a:picLocks noChangeAspect="1"/>
            </p:cNvPicPr>
            <p:nvPr/>
          </p:nvPicPr>
          <p:blipFill>
            <a:blip r:embed="rId2" cstate="print"/>
            <a:stretch>
              <a:fillRect/>
            </a:stretch>
          </p:blipFill>
          <p:spPr>
            <a:xfrm>
              <a:off x="1299234" y="2439475"/>
              <a:ext cx="151066" cy="148997"/>
            </a:xfrm>
            <a:prstGeom prst="rect">
              <a:avLst/>
            </a:prstGeom>
            <a:effectLst/>
          </p:spPr>
        </p:pic>
        <p:sp>
          <p:nvSpPr>
            <p:cNvPr id="51" name="TextBox 50"/>
            <p:cNvSpPr txBox="1"/>
            <p:nvPr/>
          </p:nvSpPr>
          <p:spPr>
            <a:xfrm>
              <a:off x="1438534" y="2682934"/>
              <a:ext cx="6495040" cy="400110"/>
            </a:xfrm>
            <a:prstGeom prst="rect">
              <a:avLst/>
            </a:prstGeom>
            <a:noFill/>
            <a:effectLst/>
          </p:spPr>
          <p:txBody>
            <a:bodyPr wrap="square" rtlCol="0">
              <a:spAutoFit/>
            </a:bodyPr>
            <a:lstStyle/>
            <a:p>
              <a:pPr marL="0" lvl="1">
                <a:spcBef>
                  <a:spcPct val="40000"/>
                </a:spcBef>
              </a:pPr>
              <a:r>
                <a:rPr lang="zh-CN" altLang="en-US" sz="2000" b="1" dirty="0">
                  <a:solidFill>
                    <a:srgbClr val="11576A"/>
                  </a:solidFill>
                  <a:latin typeface="微软雅黑" pitchFamily="34" charset="-122"/>
                  <a:ea typeface="微软雅黑" pitchFamily="34" charset="-122"/>
                  <a:sym typeface="MS PGothic" charset="0"/>
                </a:rPr>
                <a:t>把未来不再访问或短期内不访问的页面调出</a:t>
              </a:r>
              <a:endParaRPr lang="en-US" altLang="zh-CN" sz="2000" b="1" dirty="0">
                <a:solidFill>
                  <a:srgbClr val="11576A"/>
                </a:solidFill>
                <a:latin typeface="微软雅黑" pitchFamily="34" charset="-122"/>
                <a:ea typeface="微软雅黑" pitchFamily="34" charset="-122"/>
                <a:sym typeface="MS PGothic" charset="0"/>
              </a:endParaRPr>
            </a:p>
          </p:txBody>
        </p:sp>
        <p:pic>
          <p:nvPicPr>
            <p:cNvPr id="52" name="图片 51" descr="小点1.png"/>
            <p:cNvPicPr>
              <a:picLocks noChangeAspect="1"/>
            </p:cNvPicPr>
            <p:nvPr/>
          </p:nvPicPr>
          <p:blipFill>
            <a:blip r:embed="rId2" cstate="print"/>
            <a:stretch>
              <a:fillRect/>
            </a:stretch>
          </p:blipFill>
          <p:spPr>
            <a:xfrm>
              <a:off x="1299234" y="2797235"/>
              <a:ext cx="151066" cy="148997"/>
            </a:xfrm>
            <a:prstGeom prst="rect">
              <a:avLst/>
            </a:prstGeom>
            <a:effectLst/>
          </p:spPr>
        </p:pic>
      </p:grpSp>
      <p:sp>
        <p:nvSpPr>
          <p:cNvPr id="4" name="文本框 3">
            <a:extLst>
              <a:ext uri="{FF2B5EF4-FFF2-40B4-BE49-F238E27FC236}">
                <a16:creationId xmlns:a16="http://schemas.microsoft.com/office/drawing/2014/main" id="{1F601CBF-E3C8-CB79-678E-06D3E10463F5}"/>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BE565CAD-A9D3-162F-99A7-FB95CF90E22A}"/>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置换算法的功能和目标</a:t>
            </a:r>
          </a:p>
        </p:txBody>
      </p:sp>
    </p:spTree>
    <p:extLst>
      <p:ext uri="{BB962C8B-B14F-4D97-AF65-F5344CB8AC3E}">
        <p14:creationId xmlns:p14="http://schemas.microsoft.com/office/powerpoint/2010/main" val="84122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5" name="组合 4"/>
          <p:cNvGrpSpPr/>
          <p:nvPr/>
        </p:nvGrpSpPr>
        <p:grpSpPr>
          <a:xfrm>
            <a:off x="1161597" y="2956882"/>
            <a:ext cx="7166651" cy="832158"/>
            <a:chOff x="1284441" y="1924016"/>
            <a:chExt cx="7166651" cy="832158"/>
          </a:xfrm>
        </p:grpSpPr>
        <p:sp>
          <p:nvSpPr>
            <p:cNvPr id="21" name="TextBox 20"/>
            <p:cNvSpPr txBox="1"/>
            <p:nvPr/>
          </p:nvSpPr>
          <p:spPr>
            <a:xfrm>
              <a:off x="1431020" y="1924016"/>
              <a:ext cx="7020072"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缺页时，计算内存中每个逻辑页面的下一次访问时间</a:t>
              </a:r>
              <a:endParaRPr lang="en-US" altLang="zh-CN" sz="2000" b="1" dirty="0">
                <a:solidFill>
                  <a:srgbClr val="11576A"/>
                </a:solidFill>
                <a:latin typeface="微软雅黑" pitchFamily="34" charset="-122"/>
                <a:ea typeface="微软雅黑" pitchFamily="34" charset="-122"/>
              </a:endParaRPr>
            </a:p>
          </p:txBody>
        </p:sp>
        <p:sp>
          <p:nvSpPr>
            <p:cNvPr id="24" name="TextBox 23"/>
            <p:cNvSpPr txBox="1"/>
            <p:nvPr/>
          </p:nvSpPr>
          <p:spPr>
            <a:xfrm>
              <a:off x="1431021" y="2356064"/>
              <a:ext cx="4283767"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选择</a:t>
              </a:r>
              <a:r>
                <a:rPr lang="zh-CN" altLang="en-US" sz="2000" b="1" dirty="0">
                  <a:solidFill>
                    <a:srgbClr val="C00000"/>
                  </a:solidFill>
                  <a:latin typeface="微软雅黑" pitchFamily="34" charset="-122"/>
                  <a:ea typeface="微软雅黑" pitchFamily="34" charset="-122"/>
                </a:rPr>
                <a:t>未来最长时间不访问的页面</a:t>
              </a:r>
              <a:endParaRPr lang="en-US" altLang="zh-CN" sz="2000" b="1" dirty="0">
                <a:solidFill>
                  <a:srgbClr val="C00000"/>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2" cstate="print"/>
            <a:stretch>
              <a:fillRect/>
            </a:stretch>
          </p:blipFill>
          <p:spPr>
            <a:xfrm>
              <a:off x="1284441" y="2449447"/>
              <a:ext cx="151066" cy="148997"/>
            </a:xfrm>
            <a:prstGeom prst="rect">
              <a:avLst/>
            </a:prstGeom>
            <a:effectLst/>
          </p:spPr>
        </p:pic>
        <p:pic>
          <p:nvPicPr>
            <p:cNvPr id="42" name="图片 41" descr="小点1.png"/>
            <p:cNvPicPr>
              <a:picLocks noChangeAspect="1"/>
            </p:cNvPicPr>
            <p:nvPr/>
          </p:nvPicPr>
          <p:blipFill>
            <a:blip r:embed="rId2" cstate="print"/>
            <a:stretch>
              <a:fillRect/>
            </a:stretch>
          </p:blipFill>
          <p:spPr>
            <a:xfrm>
              <a:off x="1284441" y="2033025"/>
              <a:ext cx="151066" cy="148997"/>
            </a:xfrm>
            <a:prstGeom prst="rect">
              <a:avLst/>
            </a:prstGeom>
            <a:effectLst/>
          </p:spPr>
        </p:pic>
      </p:grpSp>
      <p:grpSp>
        <p:nvGrpSpPr>
          <p:cNvPr id="3" name="组合 2"/>
          <p:cNvGrpSpPr/>
          <p:nvPr/>
        </p:nvGrpSpPr>
        <p:grpSpPr>
          <a:xfrm>
            <a:off x="1161595" y="1948770"/>
            <a:ext cx="4504298" cy="400110"/>
            <a:chOff x="1284441" y="1223019"/>
            <a:chExt cx="4504298" cy="400110"/>
          </a:xfrm>
        </p:grpSpPr>
        <p:sp>
          <p:nvSpPr>
            <p:cNvPr id="20" name="TextBox 19"/>
            <p:cNvSpPr txBox="1"/>
            <p:nvPr/>
          </p:nvSpPr>
          <p:spPr>
            <a:xfrm>
              <a:off x="1431021" y="1223019"/>
              <a:ext cx="4357718"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置换在未来最长时间不访问的页面</a:t>
              </a:r>
              <a:endParaRPr lang="en-US" altLang="zh-CN" sz="2000" b="1" dirty="0">
                <a:solidFill>
                  <a:srgbClr val="11576A"/>
                </a:solidFill>
                <a:latin typeface="微软雅黑" pitchFamily="34" charset="-122"/>
                <a:ea typeface="微软雅黑" pitchFamily="34" charset="-122"/>
              </a:endParaRPr>
            </a:p>
          </p:txBody>
        </p:sp>
        <p:pic>
          <p:nvPicPr>
            <p:cNvPr id="43" name="图片 42" descr="小点1.png"/>
            <p:cNvPicPr>
              <a:picLocks noChangeAspect="1"/>
            </p:cNvPicPr>
            <p:nvPr/>
          </p:nvPicPr>
          <p:blipFill>
            <a:blip r:embed="rId2" cstate="print"/>
            <a:stretch>
              <a:fillRect/>
            </a:stretch>
          </p:blipFill>
          <p:spPr>
            <a:xfrm>
              <a:off x="1284441" y="1320739"/>
              <a:ext cx="151066" cy="148997"/>
            </a:xfrm>
            <a:prstGeom prst="rect">
              <a:avLst/>
            </a:prstGeom>
            <a:effectLst/>
          </p:spPr>
        </p:pic>
      </p:grpSp>
      <p:grpSp>
        <p:nvGrpSpPr>
          <p:cNvPr id="4" name="组合 3"/>
          <p:cNvGrpSpPr/>
          <p:nvPr/>
        </p:nvGrpSpPr>
        <p:grpSpPr>
          <a:xfrm>
            <a:off x="721678" y="2462118"/>
            <a:ext cx="2061954" cy="461665"/>
            <a:chOff x="844524" y="1524812"/>
            <a:chExt cx="2061954" cy="461665"/>
          </a:xfrm>
        </p:grpSpPr>
        <p:sp>
          <p:nvSpPr>
            <p:cNvPr id="18" name="TextBox 17"/>
            <p:cNvSpPr txBox="1"/>
            <p:nvPr/>
          </p:nvSpPr>
          <p:spPr>
            <a:xfrm>
              <a:off x="1175432" y="1524812"/>
              <a:ext cx="1731046"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算法实现</a:t>
              </a:r>
            </a:p>
          </p:txBody>
        </p:sp>
        <p:sp>
          <p:nvSpPr>
            <p:cNvPr id="48" name="TextBox 47"/>
            <p:cNvSpPr txBox="1"/>
            <p:nvPr/>
          </p:nvSpPr>
          <p:spPr>
            <a:xfrm>
              <a:off x="844524" y="152481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2" name="组合 1"/>
          <p:cNvGrpSpPr/>
          <p:nvPr/>
        </p:nvGrpSpPr>
        <p:grpSpPr>
          <a:xfrm>
            <a:off x="721678" y="1556792"/>
            <a:ext cx="2061954" cy="461665"/>
            <a:chOff x="844524" y="855941"/>
            <a:chExt cx="2061954" cy="461665"/>
          </a:xfrm>
        </p:grpSpPr>
        <p:sp>
          <p:nvSpPr>
            <p:cNvPr id="10" name="TextBox 9"/>
            <p:cNvSpPr txBox="1"/>
            <p:nvPr/>
          </p:nvSpPr>
          <p:spPr>
            <a:xfrm>
              <a:off x="1175432" y="855941"/>
              <a:ext cx="1731046"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基本思路</a:t>
              </a:r>
            </a:p>
          </p:txBody>
        </p:sp>
        <p:sp>
          <p:nvSpPr>
            <p:cNvPr id="49" name="TextBox 48"/>
            <p:cNvSpPr txBox="1"/>
            <p:nvPr/>
          </p:nvSpPr>
          <p:spPr>
            <a:xfrm>
              <a:off x="844524" y="855941"/>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sp>
        <p:nvSpPr>
          <p:cNvPr id="6" name="文本框 5">
            <a:extLst>
              <a:ext uri="{FF2B5EF4-FFF2-40B4-BE49-F238E27FC236}">
                <a16:creationId xmlns:a16="http://schemas.microsoft.com/office/drawing/2014/main" id="{530D74C8-DDEE-6881-43AE-27192A5E9782}"/>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7" name="标题 8">
            <a:extLst>
              <a:ext uri="{FF2B5EF4-FFF2-40B4-BE49-F238E27FC236}">
                <a16:creationId xmlns:a16="http://schemas.microsoft.com/office/drawing/2014/main" id="{0C7B34B2-800C-3299-4CA3-C8BCA221377D}"/>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最优页面置换算法</a:t>
            </a:r>
            <a:r>
              <a:rPr lang="en-US" altLang="zh-CN" b="0" kern="0" dirty="0"/>
              <a:t>(OPT, optimal)</a:t>
            </a:r>
          </a:p>
        </p:txBody>
      </p:sp>
    </p:spTree>
    <p:extLst>
      <p:ext uri="{BB962C8B-B14F-4D97-AF65-F5344CB8AC3E}">
        <p14:creationId xmlns:p14="http://schemas.microsoft.com/office/powerpoint/2010/main" val="278061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par>
                                <p:cTn id="16" presetID="22" presetClass="entr" presetSubtype="8"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078061" y="2000240"/>
            <a:ext cx="6429420" cy="324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3" name="直接连接符 12"/>
          <p:cNvCxnSpPr/>
          <p:nvPr/>
        </p:nvCxnSpPr>
        <p:spPr>
          <a:xfrm>
            <a:off x="3149499" y="2357430"/>
            <a:ext cx="6286544" cy="1588"/>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078061" y="2716208"/>
            <a:ext cx="6429420"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078061" y="4144968"/>
            <a:ext cx="6429420"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078061" y="4502158"/>
            <a:ext cx="6429420" cy="0"/>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126617" y="2716208"/>
            <a:ext cx="0" cy="1406536"/>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556036" y="2000240"/>
            <a:ext cx="0" cy="214472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897656" y="1892655"/>
            <a:ext cx="745470" cy="420628"/>
          </a:xfrm>
          <a:prstGeom prst="rect">
            <a:avLst/>
          </a:prstGeom>
          <a:noFill/>
          <a:effectLst/>
        </p:spPr>
        <p:txBody>
          <a:bodyPr wrap="square" rtlCol="0" anchor="ctr">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10</a:t>
            </a:r>
            <a:endParaRPr lang="zh-CN" altLang="en-US" sz="3200" b="1" baseline="-25000" dirty="0">
              <a:solidFill>
                <a:srgbClr val="11576A"/>
              </a:solidFill>
              <a:latin typeface="微软雅黑" pitchFamily="34" charset="-122"/>
              <a:ea typeface="微软雅黑" pitchFamily="34" charset="-122"/>
            </a:endParaRPr>
          </a:p>
        </p:txBody>
      </p:sp>
      <p:sp>
        <p:nvSpPr>
          <p:cNvPr id="22" name="TextBox 21"/>
          <p:cNvSpPr txBox="1"/>
          <p:nvPr/>
        </p:nvSpPr>
        <p:spPr>
          <a:xfrm>
            <a:off x="8513699"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9</a:t>
            </a:r>
            <a:endParaRPr lang="zh-CN" altLang="en-US" sz="3200" b="1" baseline="-25000" dirty="0">
              <a:solidFill>
                <a:srgbClr val="11576A"/>
              </a:solidFill>
              <a:latin typeface="微软雅黑" pitchFamily="34" charset="-122"/>
              <a:ea typeface="微软雅黑" pitchFamily="34" charset="-122"/>
            </a:endParaRPr>
          </a:p>
        </p:txBody>
      </p:sp>
      <p:sp>
        <p:nvSpPr>
          <p:cNvPr id="23" name="TextBox 22"/>
          <p:cNvSpPr txBox="1"/>
          <p:nvPr/>
        </p:nvSpPr>
        <p:spPr>
          <a:xfrm>
            <a:off x="8014999"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8</a:t>
            </a:r>
            <a:endParaRPr lang="zh-CN" altLang="en-US" sz="3200" b="1" baseline="-25000" dirty="0">
              <a:solidFill>
                <a:srgbClr val="11576A"/>
              </a:solidFill>
              <a:latin typeface="微软雅黑" pitchFamily="34" charset="-122"/>
              <a:ea typeface="微软雅黑" pitchFamily="34" charset="-122"/>
            </a:endParaRPr>
          </a:p>
        </p:txBody>
      </p:sp>
      <p:sp>
        <p:nvSpPr>
          <p:cNvPr id="24" name="TextBox 23"/>
          <p:cNvSpPr txBox="1"/>
          <p:nvPr/>
        </p:nvSpPr>
        <p:spPr>
          <a:xfrm>
            <a:off x="7507217"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7</a:t>
            </a:r>
            <a:endParaRPr lang="zh-CN" altLang="en-US" sz="3200" b="1" baseline="-25000" dirty="0">
              <a:solidFill>
                <a:srgbClr val="11576A"/>
              </a:solidFill>
              <a:latin typeface="微软雅黑" pitchFamily="34" charset="-122"/>
              <a:ea typeface="微软雅黑" pitchFamily="34" charset="-122"/>
            </a:endParaRPr>
          </a:p>
        </p:txBody>
      </p:sp>
      <p:sp>
        <p:nvSpPr>
          <p:cNvPr id="25" name="TextBox 24"/>
          <p:cNvSpPr txBox="1"/>
          <p:nvPr/>
        </p:nvSpPr>
        <p:spPr>
          <a:xfrm>
            <a:off x="7021217"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6</a:t>
            </a:r>
            <a:endParaRPr lang="zh-CN" altLang="en-US" sz="3200" b="1" baseline="-25000" dirty="0">
              <a:solidFill>
                <a:srgbClr val="11576A"/>
              </a:solidFill>
              <a:latin typeface="微软雅黑" pitchFamily="34" charset="-122"/>
              <a:ea typeface="微软雅黑" pitchFamily="34" charset="-122"/>
            </a:endParaRPr>
          </a:p>
        </p:txBody>
      </p:sp>
      <p:sp>
        <p:nvSpPr>
          <p:cNvPr id="26" name="TextBox 25"/>
          <p:cNvSpPr txBox="1"/>
          <p:nvPr/>
        </p:nvSpPr>
        <p:spPr>
          <a:xfrm>
            <a:off x="6513435"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5</a:t>
            </a:r>
            <a:endParaRPr lang="zh-CN" altLang="en-US" sz="3200" b="1" baseline="-25000" dirty="0">
              <a:solidFill>
                <a:srgbClr val="11576A"/>
              </a:solidFill>
              <a:latin typeface="微软雅黑" pitchFamily="34" charset="-122"/>
              <a:ea typeface="微软雅黑" pitchFamily="34" charset="-122"/>
            </a:endParaRPr>
          </a:p>
        </p:txBody>
      </p:sp>
      <p:sp>
        <p:nvSpPr>
          <p:cNvPr id="27" name="TextBox 26"/>
          <p:cNvSpPr txBox="1"/>
          <p:nvPr/>
        </p:nvSpPr>
        <p:spPr>
          <a:xfrm>
            <a:off x="6014735"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4</a:t>
            </a:r>
            <a:endParaRPr lang="zh-CN" altLang="en-US" sz="3200" b="1" baseline="-25000" dirty="0">
              <a:solidFill>
                <a:srgbClr val="11576A"/>
              </a:solidFill>
              <a:latin typeface="微软雅黑" pitchFamily="34" charset="-122"/>
              <a:ea typeface="微软雅黑" pitchFamily="34" charset="-122"/>
            </a:endParaRPr>
          </a:p>
        </p:txBody>
      </p:sp>
      <p:sp>
        <p:nvSpPr>
          <p:cNvPr id="28" name="TextBox 27"/>
          <p:cNvSpPr txBox="1"/>
          <p:nvPr/>
        </p:nvSpPr>
        <p:spPr>
          <a:xfrm>
            <a:off x="5500603"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29" name="TextBox 28"/>
          <p:cNvSpPr txBox="1"/>
          <p:nvPr/>
        </p:nvSpPr>
        <p:spPr>
          <a:xfrm>
            <a:off x="5024129" y="18926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30" name="TextBox 29"/>
          <p:cNvSpPr txBox="1"/>
          <p:nvPr/>
        </p:nvSpPr>
        <p:spPr>
          <a:xfrm>
            <a:off x="4614817" y="1889907"/>
            <a:ext cx="36715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31" name="TextBox 30"/>
          <p:cNvSpPr txBox="1"/>
          <p:nvPr/>
        </p:nvSpPr>
        <p:spPr>
          <a:xfrm>
            <a:off x="9021481"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32" name="TextBox 31"/>
          <p:cNvSpPr txBox="1"/>
          <p:nvPr/>
        </p:nvSpPr>
        <p:spPr>
          <a:xfrm>
            <a:off x="8513699"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33" name="TextBox 32"/>
          <p:cNvSpPr txBox="1"/>
          <p:nvPr/>
        </p:nvSpPr>
        <p:spPr>
          <a:xfrm>
            <a:off x="8014999"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4" name="TextBox 33"/>
          <p:cNvSpPr txBox="1"/>
          <p:nvPr/>
        </p:nvSpPr>
        <p:spPr>
          <a:xfrm>
            <a:off x="7507217"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35" name="TextBox 34"/>
          <p:cNvSpPr txBox="1"/>
          <p:nvPr/>
        </p:nvSpPr>
        <p:spPr>
          <a:xfrm>
            <a:off x="7021217"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6" name="TextBox 35"/>
          <p:cNvSpPr txBox="1"/>
          <p:nvPr/>
        </p:nvSpPr>
        <p:spPr>
          <a:xfrm>
            <a:off x="6513435"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37" name="TextBox 36"/>
          <p:cNvSpPr txBox="1"/>
          <p:nvPr/>
        </p:nvSpPr>
        <p:spPr>
          <a:xfrm>
            <a:off x="6014735"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8" name="TextBox 37"/>
          <p:cNvSpPr txBox="1"/>
          <p:nvPr/>
        </p:nvSpPr>
        <p:spPr>
          <a:xfrm>
            <a:off x="5500603"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39" name="TextBox 38"/>
          <p:cNvSpPr txBox="1"/>
          <p:nvPr/>
        </p:nvSpPr>
        <p:spPr>
          <a:xfrm>
            <a:off x="5024129"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40" name="TextBox 39"/>
          <p:cNvSpPr txBox="1"/>
          <p:nvPr/>
        </p:nvSpPr>
        <p:spPr>
          <a:xfrm>
            <a:off x="4522697" y="2203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grpSp>
        <p:nvGrpSpPr>
          <p:cNvPr id="19" name="组合 18"/>
          <p:cNvGrpSpPr/>
          <p:nvPr/>
        </p:nvGrpSpPr>
        <p:grpSpPr>
          <a:xfrm>
            <a:off x="8513699" y="2574603"/>
            <a:ext cx="486000" cy="1492198"/>
            <a:chOff x="6390582" y="1717353"/>
            <a:chExt cx="486000" cy="1492198"/>
          </a:xfrm>
        </p:grpSpPr>
        <p:sp>
          <p:nvSpPr>
            <p:cNvPr id="52" name="TextBox 51"/>
            <p:cNvSpPr txBox="1"/>
            <p:nvPr/>
          </p:nvSpPr>
          <p:spPr>
            <a:xfrm>
              <a:off x="6390582"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2" name="TextBox 61"/>
            <p:cNvSpPr txBox="1"/>
            <p:nvPr/>
          </p:nvSpPr>
          <p:spPr>
            <a:xfrm>
              <a:off x="6390582"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2" name="TextBox 71"/>
            <p:cNvSpPr txBox="1"/>
            <p:nvPr/>
          </p:nvSpPr>
          <p:spPr>
            <a:xfrm>
              <a:off x="6390582"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84" name="TextBox 83"/>
            <p:cNvSpPr txBox="1"/>
            <p:nvPr/>
          </p:nvSpPr>
          <p:spPr>
            <a:xfrm>
              <a:off x="6390582"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grpSp>
      <p:grpSp>
        <p:nvGrpSpPr>
          <p:cNvPr id="17" name="组合 16"/>
          <p:cNvGrpSpPr/>
          <p:nvPr/>
        </p:nvGrpSpPr>
        <p:grpSpPr>
          <a:xfrm>
            <a:off x="8014999" y="2574603"/>
            <a:ext cx="486000" cy="1492198"/>
            <a:chOff x="5891882" y="1717353"/>
            <a:chExt cx="486000" cy="1492198"/>
          </a:xfrm>
        </p:grpSpPr>
        <p:sp>
          <p:nvSpPr>
            <p:cNvPr id="53" name="TextBox 52"/>
            <p:cNvSpPr txBox="1"/>
            <p:nvPr/>
          </p:nvSpPr>
          <p:spPr>
            <a:xfrm>
              <a:off x="5891882"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3" name="TextBox 62"/>
            <p:cNvSpPr txBox="1"/>
            <p:nvPr/>
          </p:nvSpPr>
          <p:spPr>
            <a:xfrm>
              <a:off x="5891882"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3" name="TextBox 72"/>
            <p:cNvSpPr txBox="1"/>
            <p:nvPr/>
          </p:nvSpPr>
          <p:spPr>
            <a:xfrm>
              <a:off x="5891882"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85" name="TextBox 84"/>
            <p:cNvSpPr txBox="1"/>
            <p:nvPr/>
          </p:nvSpPr>
          <p:spPr>
            <a:xfrm>
              <a:off x="5891882"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grpSp>
      <p:grpSp>
        <p:nvGrpSpPr>
          <p:cNvPr id="12" name="组合 11"/>
          <p:cNvGrpSpPr/>
          <p:nvPr/>
        </p:nvGrpSpPr>
        <p:grpSpPr>
          <a:xfrm>
            <a:off x="7507217" y="2574603"/>
            <a:ext cx="486000" cy="1492198"/>
            <a:chOff x="5384100" y="1717353"/>
            <a:chExt cx="486000" cy="1492198"/>
          </a:xfrm>
        </p:grpSpPr>
        <p:sp>
          <p:nvSpPr>
            <p:cNvPr id="54" name="TextBox 53"/>
            <p:cNvSpPr txBox="1"/>
            <p:nvPr/>
          </p:nvSpPr>
          <p:spPr>
            <a:xfrm>
              <a:off x="5384100"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4" name="TextBox 63"/>
            <p:cNvSpPr txBox="1"/>
            <p:nvPr/>
          </p:nvSpPr>
          <p:spPr>
            <a:xfrm>
              <a:off x="5384100"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4" name="TextBox 73"/>
            <p:cNvSpPr txBox="1"/>
            <p:nvPr/>
          </p:nvSpPr>
          <p:spPr>
            <a:xfrm>
              <a:off x="5384100"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86" name="TextBox 85"/>
            <p:cNvSpPr txBox="1"/>
            <p:nvPr/>
          </p:nvSpPr>
          <p:spPr>
            <a:xfrm>
              <a:off x="5384100"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grpSp>
      <p:grpSp>
        <p:nvGrpSpPr>
          <p:cNvPr id="11" name="组合 10"/>
          <p:cNvGrpSpPr/>
          <p:nvPr/>
        </p:nvGrpSpPr>
        <p:grpSpPr>
          <a:xfrm>
            <a:off x="7021217" y="2574603"/>
            <a:ext cx="486000" cy="1492198"/>
            <a:chOff x="4898100" y="1717353"/>
            <a:chExt cx="486000" cy="1492198"/>
          </a:xfrm>
        </p:grpSpPr>
        <p:sp>
          <p:nvSpPr>
            <p:cNvPr id="55" name="TextBox 54"/>
            <p:cNvSpPr txBox="1"/>
            <p:nvPr/>
          </p:nvSpPr>
          <p:spPr>
            <a:xfrm>
              <a:off x="4898100"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5" name="TextBox 64"/>
            <p:cNvSpPr txBox="1"/>
            <p:nvPr/>
          </p:nvSpPr>
          <p:spPr>
            <a:xfrm>
              <a:off x="4898100"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5" name="TextBox 74"/>
            <p:cNvSpPr txBox="1"/>
            <p:nvPr/>
          </p:nvSpPr>
          <p:spPr>
            <a:xfrm>
              <a:off x="4898100"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87" name="TextBox 86"/>
            <p:cNvSpPr txBox="1"/>
            <p:nvPr/>
          </p:nvSpPr>
          <p:spPr>
            <a:xfrm>
              <a:off x="4898100"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grpSp>
      <p:grpSp>
        <p:nvGrpSpPr>
          <p:cNvPr id="5" name="组合 4"/>
          <p:cNvGrpSpPr/>
          <p:nvPr/>
        </p:nvGrpSpPr>
        <p:grpSpPr>
          <a:xfrm>
            <a:off x="6014735" y="2574603"/>
            <a:ext cx="486000" cy="1492198"/>
            <a:chOff x="3891618" y="1717353"/>
            <a:chExt cx="486000" cy="1492198"/>
          </a:xfrm>
        </p:grpSpPr>
        <p:sp>
          <p:nvSpPr>
            <p:cNvPr id="57" name="TextBox 56"/>
            <p:cNvSpPr txBox="1"/>
            <p:nvPr/>
          </p:nvSpPr>
          <p:spPr>
            <a:xfrm>
              <a:off x="3891618"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7" name="TextBox 66"/>
            <p:cNvSpPr txBox="1"/>
            <p:nvPr/>
          </p:nvSpPr>
          <p:spPr>
            <a:xfrm>
              <a:off x="3891618"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7" name="TextBox 76"/>
            <p:cNvSpPr txBox="1"/>
            <p:nvPr/>
          </p:nvSpPr>
          <p:spPr>
            <a:xfrm>
              <a:off x="3891618"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89" name="TextBox 88"/>
            <p:cNvSpPr txBox="1"/>
            <p:nvPr/>
          </p:nvSpPr>
          <p:spPr>
            <a:xfrm>
              <a:off x="3891618"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 name="组合 3"/>
          <p:cNvGrpSpPr/>
          <p:nvPr/>
        </p:nvGrpSpPr>
        <p:grpSpPr>
          <a:xfrm>
            <a:off x="5500603" y="2574603"/>
            <a:ext cx="486000" cy="1492198"/>
            <a:chOff x="3377486" y="1717353"/>
            <a:chExt cx="486000" cy="1492198"/>
          </a:xfrm>
        </p:grpSpPr>
        <p:sp>
          <p:nvSpPr>
            <p:cNvPr id="58" name="TextBox 57"/>
            <p:cNvSpPr txBox="1"/>
            <p:nvPr/>
          </p:nvSpPr>
          <p:spPr>
            <a:xfrm>
              <a:off x="3377486"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8" name="TextBox 67"/>
            <p:cNvSpPr txBox="1"/>
            <p:nvPr/>
          </p:nvSpPr>
          <p:spPr>
            <a:xfrm>
              <a:off x="3377486"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8" name="TextBox 77"/>
            <p:cNvSpPr txBox="1"/>
            <p:nvPr/>
          </p:nvSpPr>
          <p:spPr>
            <a:xfrm>
              <a:off x="3377486"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90" name="TextBox 89"/>
            <p:cNvSpPr txBox="1"/>
            <p:nvPr/>
          </p:nvSpPr>
          <p:spPr>
            <a:xfrm>
              <a:off x="3377486"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3" name="组合 2"/>
          <p:cNvGrpSpPr/>
          <p:nvPr/>
        </p:nvGrpSpPr>
        <p:grpSpPr>
          <a:xfrm>
            <a:off x="5024129" y="2574603"/>
            <a:ext cx="486000" cy="1492198"/>
            <a:chOff x="2901012" y="1717353"/>
            <a:chExt cx="486000" cy="1492198"/>
          </a:xfrm>
        </p:grpSpPr>
        <p:sp>
          <p:nvSpPr>
            <p:cNvPr id="59" name="TextBox 58"/>
            <p:cNvSpPr txBox="1"/>
            <p:nvPr/>
          </p:nvSpPr>
          <p:spPr>
            <a:xfrm>
              <a:off x="2901012"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9" name="TextBox 68"/>
            <p:cNvSpPr txBox="1"/>
            <p:nvPr/>
          </p:nvSpPr>
          <p:spPr>
            <a:xfrm>
              <a:off x="2901012"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9" name="TextBox 78"/>
            <p:cNvSpPr txBox="1"/>
            <p:nvPr/>
          </p:nvSpPr>
          <p:spPr>
            <a:xfrm>
              <a:off x="2901012"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91" name="TextBox 90"/>
            <p:cNvSpPr txBox="1"/>
            <p:nvPr/>
          </p:nvSpPr>
          <p:spPr>
            <a:xfrm>
              <a:off x="2901012"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2" name="组合 1"/>
          <p:cNvGrpSpPr/>
          <p:nvPr/>
        </p:nvGrpSpPr>
        <p:grpSpPr>
          <a:xfrm>
            <a:off x="4558606" y="2574603"/>
            <a:ext cx="486000" cy="1492198"/>
            <a:chOff x="2399580" y="1717353"/>
            <a:chExt cx="486000" cy="1492198"/>
          </a:xfrm>
          <a:noFill/>
        </p:grpSpPr>
        <p:sp>
          <p:nvSpPr>
            <p:cNvPr id="60" name="TextBox 59"/>
            <p:cNvSpPr txBox="1"/>
            <p:nvPr/>
          </p:nvSpPr>
          <p:spPr>
            <a:xfrm>
              <a:off x="2399580" y="1717353"/>
              <a:ext cx="486000" cy="420628"/>
            </a:xfrm>
            <a:prstGeom prst="rect">
              <a:avLst/>
            </a:prstGeom>
            <a:grp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70" name="TextBox 69"/>
            <p:cNvSpPr txBox="1"/>
            <p:nvPr/>
          </p:nvSpPr>
          <p:spPr>
            <a:xfrm>
              <a:off x="2399580" y="2062778"/>
              <a:ext cx="486000" cy="420628"/>
            </a:xfrm>
            <a:prstGeom prst="rect">
              <a:avLst/>
            </a:prstGeom>
            <a:grp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80" name="TextBox 79"/>
            <p:cNvSpPr txBox="1"/>
            <p:nvPr/>
          </p:nvSpPr>
          <p:spPr>
            <a:xfrm>
              <a:off x="2399580" y="2431733"/>
              <a:ext cx="486000" cy="420628"/>
            </a:xfrm>
            <a:prstGeom prst="rect">
              <a:avLst/>
            </a:prstGeom>
            <a:grp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92" name="TextBox 91"/>
            <p:cNvSpPr txBox="1"/>
            <p:nvPr/>
          </p:nvSpPr>
          <p:spPr>
            <a:xfrm>
              <a:off x="2399580" y="2788923"/>
              <a:ext cx="486000" cy="420628"/>
            </a:xfrm>
            <a:prstGeom prst="rect">
              <a:avLst/>
            </a:prstGeom>
            <a:grp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sp>
        <p:nvSpPr>
          <p:cNvPr id="97" name="TextBox 96"/>
          <p:cNvSpPr txBox="1"/>
          <p:nvPr/>
        </p:nvSpPr>
        <p:spPr>
          <a:xfrm>
            <a:off x="3657325" y="2574603"/>
            <a:ext cx="42294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98" name="TextBox 97"/>
          <p:cNvSpPr txBox="1"/>
          <p:nvPr/>
        </p:nvSpPr>
        <p:spPr>
          <a:xfrm>
            <a:off x="3623283" y="292002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99" name="TextBox 98"/>
          <p:cNvSpPr txBox="1"/>
          <p:nvPr/>
        </p:nvSpPr>
        <p:spPr>
          <a:xfrm>
            <a:off x="3623283" y="328898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100" name="TextBox 99"/>
          <p:cNvSpPr txBox="1"/>
          <p:nvPr/>
        </p:nvSpPr>
        <p:spPr>
          <a:xfrm>
            <a:off x="3623283" y="364617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101" name="TextBox 100"/>
          <p:cNvSpPr txBox="1"/>
          <p:nvPr/>
        </p:nvSpPr>
        <p:spPr>
          <a:xfrm>
            <a:off x="4128606" y="2566902"/>
            <a:ext cx="41456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02" name="TextBox 101"/>
          <p:cNvSpPr txBox="1"/>
          <p:nvPr/>
        </p:nvSpPr>
        <p:spPr>
          <a:xfrm>
            <a:off x="4084953" y="291476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03" name="TextBox 102"/>
          <p:cNvSpPr txBox="1"/>
          <p:nvPr/>
        </p:nvSpPr>
        <p:spPr>
          <a:xfrm>
            <a:off x="4090011" y="328898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04" name="TextBox 103"/>
          <p:cNvSpPr txBox="1"/>
          <p:nvPr/>
        </p:nvSpPr>
        <p:spPr>
          <a:xfrm>
            <a:off x="4070036" y="364103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105" name="TextBox 104"/>
          <p:cNvSpPr txBox="1"/>
          <p:nvPr/>
        </p:nvSpPr>
        <p:spPr>
          <a:xfrm>
            <a:off x="4231673" y="1889907"/>
            <a:ext cx="26145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106" name="TextBox 105"/>
          <p:cNvSpPr txBox="1"/>
          <p:nvPr/>
        </p:nvSpPr>
        <p:spPr>
          <a:xfrm>
            <a:off x="3113693" y="2309805"/>
            <a:ext cx="1081095"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访问请求</a:t>
            </a:r>
          </a:p>
        </p:txBody>
      </p:sp>
      <p:sp>
        <p:nvSpPr>
          <p:cNvPr id="107" name="TextBox 106"/>
          <p:cNvSpPr txBox="1"/>
          <p:nvPr/>
        </p:nvSpPr>
        <p:spPr>
          <a:xfrm>
            <a:off x="3109413" y="1952615"/>
            <a:ext cx="871060"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时间</a:t>
            </a:r>
          </a:p>
        </p:txBody>
      </p:sp>
      <p:sp>
        <p:nvSpPr>
          <p:cNvPr id="108" name="TextBox 107"/>
          <p:cNvSpPr txBox="1"/>
          <p:nvPr/>
        </p:nvSpPr>
        <p:spPr>
          <a:xfrm>
            <a:off x="3113693" y="4095755"/>
            <a:ext cx="1438285"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缺页状态</a:t>
            </a:r>
          </a:p>
        </p:txBody>
      </p:sp>
      <p:sp>
        <p:nvSpPr>
          <p:cNvPr id="109" name="TextBox 108"/>
          <p:cNvSpPr txBox="1"/>
          <p:nvPr/>
        </p:nvSpPr>
        <p:spPr>
          <a:xfrm>
            <a:off x="3113691" y="4524385"/>
            <a:ext cx="1295410" cy="584775"/>
          </a:xfrm>
          <a:prstGeom prst="rect">
            <a:avLst/>
          </a:prstGeom>
          <a:noFill/>
          <a:effectLst/>
        </p:spPr>
        <p:txBody>
          <a:bodyPr wrap="square" rtlCol="0">
            <a:spAutoFit/>
          </a:bodyPr>
          <a:lstStyle/>
          <a:p>
            <a:pPr>
              <a:spcBef>
                <a:spcPct val="20000"/>
              </a:spcBef>
            </a:pPr>
            <a:r>
              <a:rPr lang="zh-CN" altLang="en-US" sz="2400" b="1" baseline="-25000" dirty="0">
                <a:solidFill>
                  <a:srgbClr val="11576A"/>
                </a:solidFill>
                <a:latin typeface="微软雅黑" pitchFamily="34" charset="-122"/>
                <a:ea typeface="微软雅黑" pitchFamily="34" charset="-122"/>
              </a:rPr>
              <a:t>每页的下次访问时间</a:t>
            </a:r>
          </a:p>
        </p:txBody>
      </p:sp>
      <p:sp>
        <p:nvSpPr>
          <p:cNvPr id="111" name="TextBox 110"/>
          <p:cNvSpPr txBox="1"/>
          <p:nvPr/>
        </p:nvSpPr>
        <p:spPr>
          <a:xfrm>
            <a:off x="6513435" y="4443427"/>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a=7</a:t>
            </a:r>
            <a:endParaRPr lang="zh-CN" altLang="en-US" sz="2000" b="1" baseline="-25000" dirty="0">
              <a:solidFill>
                <a:srgbClr val="11576A"/>
              </a:solidFill>
              <a:latin typeface="微软雅黑" pitchFamily="34" charset="-122"/>
              <a:ea typeface="微软雅黑" pitchFamily="34" charset="-122"/>
            </a:endParaRPr>
          </a:p>
        </p:txBody>
      </p:sp>
      <p:sp>
        <p:nvSpPr>
          <p:cNvPr id="112" name="TextBox 111"/>
          <p:cNvSpPr txBox="1"/>
          <p:nvPr/>
        </p:nvSpPr>
        <p:spPr>
          <a:xfrm>
            <a:off x="6499146" y="4625991"/>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b=6</a:t>
            </a:r>
            <a:endParaRPr lang="zh-CN" altLang="en-US" sz="2000" b="1" baseline="-25000" dirty="0">
              <a:solidFill>
                <a:srgbClr val="11576A"/>
              </a:solidFill>
              <a:latin typeface="微软雅黑" pitchFamily="34" charset="-122"/>
              <a:ea typeface="微软雅黑" pitchFamily="34" charset="-122"/>
            </a:endParaRPr>
          </a:p>
        </p:txBody>
      </p:sp>
      <p:sp>
        <p:nvSpPr>
          <p:cNvPr id="113" name="TextBox 112"/>
          <p:cNvSpPr txBox="1"/>
          <p:nvPr/>
        </p:nvSpPr>
        <p:spPr>
          <a:xfrm>
            <a:off x="6470570" y="4805380"/>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 c=9</a:t>
            </a:r>
            <a:endParaRPr lang="zh-CN" altLang="en-US" sz="2000" b="1" baseline="-25000" dirty="0">
              <a:solidFill>
                <a:srgbClr val="11576A"/>
              </a:solidFill>
              <a:latin typeface="微软雅黑" pitchFamily="34" charset="-122"/>
              <a:ea typeface="微软雅黑" pitchFamily="34" charset="-122"/>
            </a:endParaRPr>
          </a:p>
        </p:txBody>
      </p:sp>
      <p:sp>
        <p:nvSpPr>
          <p:cNvPr id="114" name="TextBox 113"/>
          <p:cNvSpPr txBox="1"/>
          <p:nvPr/>
        </p:nvSpPr>
        <p:spPr>
          <a:xfrm>
            <a:off x="6487160" y="4983178"/>
            <a:ext cx="824624" cy="251351"/>
          </a:xfrm>
          <a:prstGeom prst="rect">
            <a:avLst/>
          </a:prstGeom>
          <a:noFill/>
          <a:effectLst/>
        </p:spPr>
        <p:txBody>
          <a:bodyPr wrap="square" tIns="0" rtlCol="0" anchor="t" anchorCtr="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d=10</a:t>
            </a:r>
            <a:endParaRPr lang="zh-CN" altLang="en-US" sz="2000" b="1" baseline="-25000" dirty="0">
              <a:solidFill>
                <a:srgbClr val="11576A"/>
              </a:solidFill>
              <a:latin typeface="微软雅黑" pitchFamily="34" charset="-122"/>
              <a:ea typeface="微软雅黑" pitchFamily="34" charset="-122"/>
            </a:endParaRPr>
          </a:p>
        </p:txBody>
      </p:sp>
      <p:grpSp>
        <p:nvGrpSpPr>
          <p:cNvPr id="6" name="组合 5"/>
          <p:cNvGrpSpPr/>
          <p:nvPr/>
        </p:nvGrpSpPr>
        <p:grpSpPr>
          <a:xfrm>
            <a:off x="6641154" y="2414045"/>
            <a:ext cx="234000" cy="1980775"/>
            <a:chOff x="4518037" y="1556793"/>
            <a:chExt cx="234000" cy="1980775"/>
          </a:xfrm>
        </p:grpSpPr>
        <p:sp>
          <p:nvSpPr>
            <p:cNvPr id="117"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18"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10" name="组合 9"/>
          <p:cNvGrpSpPr/>
          <p:nvPr/>
        </p:nvGrpSpPr>
        <p:grpSpPr>
          <a:xfrm>
            <a:off x="6442144" y="2574603"/>
            <a:ext cx="557293" cy="1492198"/>
            <a:chOff x="4319025" y="1717353"/>
            <a:chExt cx="557293" cy="1492198"/>
          </a:xfrm>
        </p:grpSpPr>
        <p:sp>
          <p:nvSpPr>
            <p:cNvPr id="56" name="TextBox 55"/>
            <p:cNvSpPr txBox="1"/>
            <p:nvPr/>
          </p:nvSpPr>
          <p:spPr>
            <a:xfrm>
              <a:off x="4390318" y="17173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6" name="TextBox 65"/>
            <p:cNvSpPr txBox="1"/>
            <p:nvPr/>
          </p:nvSpPr>
          <p:spPr>
            <a:xfrm>
              <a:off x="4390318" y="20627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6" name="TextBox 75"/>
            <p:cNvSpPr txBox="1"/>
            <p:nvPr/>
          </p:nvSpPr>
          <p:spPr>
            <a:xfrm>
              <a:off x="4390318" y="24317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88" name="TextBox 87"/>
            <p:cNvSpPr txBox="1"/>
            <p:nvPr/>
          </p:nvSpPr>
          <p:spPr>
            <a:xfrm>
              <a:off x="4390318" y="27889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e</a:t>
              </a:r>
              <a:endParaRPr lang="zh-CN" altLang="en-US" sz="3200" b="1" baseline="-25000" dirty="0">
                <a:solidFill>
                  <a:srgbClr val="C00000"/>
                </a:solidFill>
                <a:latin typeface="微软雅黑" pitchFamily="34" charset="-122"/>
                <a:ea typeface="微软雅黑" pitchFamily="34" charset="-122"/>
              </a:endParaRPr>
            </a:p>
          </p:txBody>
        </p:sp>
        <p:sp>
          <p:nvSpPr>
            <p:cNvPr id="119" name="AutoShape 98"/>
            <p:cNvSpPr>
              <a:spLocks/>
            </p:cNvSpPr>
            <p:nvPr/>
          </p:nvSpPr>
          <p:spPr bwMode="auto">
            <a:xfrm>
              <a:off x="4319025" y="3073967"/>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sp>
        <p:nvSpPr>
          <p:cNvPr id="120" name="TextBox 119"/>
          <p:cNvSpPr txBox="1"/>
          <p:nvPr/>
        </p:nvSpPr>
        <p:spPr>
          <a:xfrm>
            <a:off x="3140238" y="2995947"/>
            <a:ext cx="430887" cy="1075997"/>
          </a:xfrm>
          <a:prstGeom prst="rect">
            <a:avLst/>
          </a:prstGeom>
          <a:noFill/>
          <a:effectLst/>
        </p:spPr>
        <p:txBody>
          <a:bodyPr vert="eaVert" wrap="square" rtlCol="0">
            <a:spAutoFit/>
          </a:bodyPr>
          <a:lstStyle/>
          <a:p>
            <a:pPr marL="342900" indent="-342900">
              <a:spcBef>
                <a:spcPct val="20000"/>
              </a:spcBef>
            </a:pPr>
            <a:r>
              <a:rPr lang="zh-CN" altLang="en-US" sz="2400" b="1" baseline="-25000">
                <a:solidFill>
                  <a:srgbClr val="11576A"/>
                </a:solidFill>
                <a:latin typeface="微软雅黑" pitchFamily="34" charset="-122"/>
                <a:ea typeface="微软雅黑" pitchFamily="34" charset="-122"/>
              </a:rPr>
              <a:t>物理帧号</a:t>
            </a:r>
            <a:endParaRPr lang="zh-CN" altLang="en-US" sz="2400" b="1" baseline="-25000" dirty="0">
              <a:solidFill>
                <a:srgbClr val="11576A"/>
              </a:solidFill>
              <a:latin typeface="微软雅黑" pitchFamily="34" charset="-122"/>
              <a:ea typeface="微软雅黑" pitchFamily="34" charset="-122"/>
            </a:endParaRPr>
          </a:p>
        </p:txBody>
      </p:sp>
      <p:sp>
        <p:nvSpPr>
          <p:cNvPr id="95" name="TextBox 79"/>
          <p:cNvSpPr txBox="1"/>
          <p:nvPr/>
        </p:nvSpPr>
        <p:spPr>
          <a:xfrm>
            <a:off x="4558606" y="328372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sp>
        <p:nvSpPr>
          <p:cNvPr id="116" name="TextBox 58"/>
          <p:cNvSpPr txBox="1"/>
          <p:nvPr/>
        </p:nvSpPr>
        <p:spPr>
          <a:xfrm>
            <a:off x="5022614" y="256934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sp>
        <p:nvSpPr>
          <p:cNvPr id="121" name="TextBox 89"/>
          <p:cNvSpPr txBox="1"/>
          <p:nvPr/>
        </p:nvSpPr>
        <p:spPr>
          <a:xfrm>
            <a:off x="5500865" y="364103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endParaRPr lang="zh-CN" altLang="en-US" sz="3200" b="1" baseline="-25000" dirty="0">
              <a:solidFill>
                <a:srgbClr val="C00000"/>
              </a:solidFill>
              <a:latin typeface="微软雅黑" pitchFamily="34" charset="-122"/>
              <a:ea typeface="微软雅黑" pitchFamily="34" charset="-122"/>
            </a:endParaRPr>
          </a:p>
        </p:txBody>
      </p:sp>
      <p:sp>
        <p:nvSpPr>
          <p:cNvPr id="122" name="TextBox 66"/>
          <p:cNvSpPr txBox="1"/>
          <p:nvPr/>
        </p:nvSpPr>
        <p:spPr>
          <a:xfrm>
            <a:off x="6014735" y="292164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124" name="TextBox 23"/>
          <p:cNvSpPr txBox="1"/>
          <p:nvPr/>
        </p:nvSpPr>
        <p:spPr>
          <a:xfrm>
            <a:off x="7508495" y="189429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7</a:t>
            </a:r>
            <a:endParaRPr lang="zh-CN" altLang="en-US" sz="3200" b="1" baseline="-25000" dirty="0">
              <a:solidFill>
                <a:srgbClr val="C00000"/>
              </a:solidFill>
              <a:latin typeface="微软雅黑" pitchFamily="34" charset="-122"/>
              <a:ea typeface="微软雅黑" pitchFamily="34" charset="-122"/>
            </a:endParaRPr>
          </a:p>
        </p:txBody>
      </p:sp>
      <p:sp>
        <p:nvSpPr>
          <p:cNvPr id="125" name="TextBox 23"/>
          <p:cNvSpPr txBox="1"/>
          <p:nvPr/>
        </p:nvSpPr>
        <p:spPr>
          <a:xfrm>
            <a:off x="7020692" y="189381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6</a:t>
            </a:r>
            <a:endParaRPr lang="zh-CN" altLang="en-US" sz="3200" b="1" baseline="-25000" dirty="0">
              <a:solidFill>
                <a:srgbClr val="C00000"/>
              </a:solidFill>
              <a:latin typeface="微软雅黑" pitchFamily="34" charset="-122"/>
              <a:ea typeface="微软雅黑" pitchFamily="34" charset="-122"/>
            </a:endParaRPr>
          </a:p>
        </p:txBody>
      </p:sp>
      <p:sp>
        <p:nvSpPr>
          <p:cNvPr id="126" name="TextBox 23"/>
          <p:cNvSpPr txBox="1"/>
          <p:nvPr/>
        </p:nvSpPr>
        <p:spPr>
          <a:xfrm>
            <a:off x="8513699" y="188851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9</a:t>
            </a:r>
            <a:endParaRPr lang="zh-CN" altLang="en-US" sz="3200" b="1" baseline="-25000" dirty="0">
              <a:solidFill>
                <a:srgbClr val="C00000"/>
              </a:solidFill>
              <a:latin typeface="微软雅黑" pitchFamily="34" charset="-122"/>
              <a:ea typeface="微软雅黑" pitchFamily="34" charset="-122"/>
            </a:endParaRPr>
          </a:p>
        </p:txBody>
      </p:sp>
      <p:sp>
        <p:nvSpPr>
          <p:cNvPr id="127" name="TextBox 113"/>
          <p:cNvSpPr txBox="1"/>
          <p:nvPr/>
        </p:nvSpPr>
        <p:spPr>
          <a:xfrm>
            <a:off x="6487160" y="4983310"/>
            <a:ext cx="824624" cy="251351"/>
          </a:xfrm>
          <a:prstGeom prst="rect">
            <a:avLst/>
          </a:prstGeom>
          <a:noFill/>
          <a:effectLst/>
        </p:spPr>
        <p:txBody>
          <a:bodyPr wrap="square" tIns="0" rtlCol="0" anchor="t" anchorCtr="0">
            <a:spAutoFit/>
          </a:bodyPr>
          <a:lstStyle/>
          <a:p>
            <a:pPr marL="342900" indent="-342900">
              <a:spcBef>
                <a:spcPct val="20000"/>
              </a:spcBef>
            </a:pPr>
            <a:r>
              <a:rPr lang="en-US" altLang="zh-CN" sz="2000" b="1" baseline="-25000" dirty="0">
                <a:solidFill>
                  <a:srgbClr val="C00000"/>
                </a:solidFill>
                <a:latin typeface="微软雅黑" pitchFamily="34" charset="-122"/>
                <a:ea typeface="微软雅黑" pitchFamily="34" charset="-122"/>
              </a:rPr>
              <a:t>d=10</a:t>
            </a:r>
            <a:endParaRPr lang="zh-CN" altLang="en-US" sz="2000" b="1" baseline="-25000" dirty="0">
              <a:solidFill>
                <a:srgbClr val="C00000"/>
              </a:solidFill>
              <a:latin typeface="微软雅黑" pitchFamily="34" charset="-122"/>
              <a:ea typeface="微软雅黑" pitchFamily="34" charset="-122"/>
            </a:endParaRPr>
          </a:p>
        </p:txBody>
      </p:sp>
      <p:sp>
        <p:nvSpPr>
          <p:cNvPr id="128" name="TextBox 23"/>
          <p:cNvSpPr txBox="1"/>
          <p:nvPr/>
        </p:nvSpPr>
        <p:spPr>
          <a:xfrm>
            <a:off x="8997048" y="1895386"/>
            <a:ext cx="54929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10</a:t>
            </a:r>
            <a:endParaRPr lang="zh-CN" altLang="en-US" sz="3200" b="1" baseline="-25000" dirty="0">
              <a:solidFill>
                <a:srgbClr val="C00000"/>
              </a:solidFill>
              <a:latin typeface="微软雅黑" pitchFamily="34" charset="-122"/>
              <a:ea typeface="微软雅黑" pitchFamily="34" charset="-122"/>
            </a:endParaRPr>
          </a:p>
        </p:txBody>
      </p:sp>
      <p:sp>
        <p:nvSpPr>
          <p:cNvPr id="130" name="TextBox 66"/>
          <p:cNvSpPr txBox="1"/>
          <p:nvPr/>
        </p:nvSpPr>
        <p:spPr>
          <a:xfrm>
            <a:off x="7020692" y="292164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131" name="TextBox 66"/>
          <p:cNvSpPr txBox="1"/>
          <p:nvPr/>
        </p:nvSpPr>
        <p:spPr>
          <a:xfrm>
            <a:off x="7506692" y="257189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sp>
        <p:nvSpPr>
          <p:cNvPr id="132" name="TextBox 66"/>
          <p:cNvSpPr txBox="1"/>
          <p:nvPr/>
        </p:nvSpPr>
        <p:spPr>
          <a:xfrm>
            <a:off x="8018711" y="292164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133" name="TextBox 66"/>
          <p:cNvSpPr txBox="1"/>
          <p:nvPr/>
        </p:nvSpPr>
        <p:spPr>
          <a:xfrm>
            <a:off x="8515602" y="3284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grpSp>
        <p:nvGrpSpPr>
          <p:cNvPr id="134" name="组合 133"/>
          <p:cNvGrpSpPr/>
          <p:nvPr/>
        </p:nvGrpSpPr>
        <p:grpSpPr>
          <a:xfrm>
            <a:off x="9149607" y="2420870"/>
            <a:ext cx="234000" cy="1980775"/>
            <a:chOff x="4518037" y="1556793"/>
            <a:chExt cx="234000" cy="1980775"/>
          </a:xfrm>
        </p:grpSpPr>
        <p:sp>
          <p:nvSpPr>
            <p:cNvPr id="135"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36"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sp>
        <p:nvSpPr>
          <p:cNvPr id="137" name="TextBox 110"/>
          <p:cNvSpPr txBox="1"/>
          <p:nvPr/>
        </p:nvSpPr>
        <p:spPr>
          <a:xfrm>
            <a:off x="9015792" y="4472237"/>
            <a:ext cx="824624" cy="787075"/>
          </a:xfrm>
          <a:prstGeom prst="rect">
            <a:avLst/>
          </a:prstGeom>
          <a:noFill/>
          <a:effectLst/>
        </p:spPr>
        <p:txBody>
          <a:bodyPr wrap="square" tIns="0" rtlCol="0">
            <a:spAutoFit/>
          </a:bodyPr>
          <a:lstStyle/>
          <a:p>
            <a:pPr marL="342900" indent="-342900">
              <a:lnSpc>
                <a:spcPts val="1200"/>
              </a:lnSpc>
              <a:spcBef>
                <a:spcPct val="20000"/>
              </a:spcBef>
            </a:pPr>
            <a:r>
              <a:rPr lang="en-US" altLang="zh-CN" sz="2000" b="1" baseline="-25000" dirty="0">
                <a:solidFill>
                  <a:srgbClr val="11576A"/>
                </a:solidFill>
                <a:latin typeface="微软雅黑" pitchFamily="34" charset="-122"/>
                <a:ea typeface="微软雅黑" pitchFamily="34" charset="-122"/>
              </a:rPr>
              <a:t>a=?</a:t>
            </a:r>
          </a:p>
          <a:p>
            <a:pPr marL="342900" indent="-342900">
              <a:lnSpc>
                <a:spcPts val="1200"/>
              </a:lnSpc>
              <a:spcBef>
                <a:spcPct val="20000"/>
              </a:spcBef>
            </a:pPr>
            <a:r>
              <a:rPr lang="en-US" altLang="zh-CN" sz="2000" b="1" baseline="-25000" dirty="0">
                <a:solidFill>
                  <a:srgbClr val="11576A"/>
                </a:solidFill>
                <a:latin typeface="微软雅黑" pitchFamily="34" charset="-122"/>
                <a:ea typeface="微软雅黑" pitchFamily="34" charset="-122"/>
              </a:rPr>
              <a:t>b=?</a:t>
            </a:r>
            <a:endParaRPr lang="zh-CN" altLang="en-US" sz="2000" b="1" baseline="-25000" dirty="0">
              <a:solidFill>
                <a:srgbClr val="11576A"/>
              </a:solidFill>
              <a:latin typeface="微软雅黑" pitchFamily="34" charset="-122"/>
              <a:ea typeface="微软雅黑" pitchFamily="34" charset="-122"/>
            </a:endParaRPr>
          </a:p>
          <a:p>
            <a:pPr marL="342900" indent="-342900">
              <a:lnSpc>
                <a:spcPts val="1200"/>
              </a:lnSpc>
              <a:spcBef>
                <a:spcPct val="20000"/>
              </a:spcBef>
            </a:pPr>
            <a:r>
              <a:rPr lang="en-US" altLang="zh-CN" sz="2000" b="1" baseline="-25000" dirty="0">
                <a:solidFill>
                  <a:srgbClr val="11576A"/>
                </a:solidFill>
                <a:latin typeface="微软雅黑" pitchFamily="34" charset="-122"/>
                <a:ea typeface="微软雅黑" pitchFamily="34" charset="-122"/>
              </a:rPr>
              <a:t>c=?</a:t>
            </a:r>
            <a:endParaRPr lang="zh-CN" altLang="en-US" sz="2000" b="1" baseline="-25000" dirty="0">
              <a:solidFill>
                <a:srgbClr val="11576A"/>
              </a:solidFill>
              <a:latin typeface="微软雅黑" pitchFamily="34" charset="-122"/>
              <a:ea typeface="微软雅黑" pitchFamily="34" charset="-122"/>
            </a:endParaRPr>
          </a:p>
          <a:p>
            <a:pPr marL="342900" indent="-342900">
              <a:lnSpc>
                <a:spcPts val="1200"/>
              </a:lnSpc>
              <a:spcBef>
                <a:spcPct val="20000"/>
              </a:spcBef>
            </a:pPr>
            <a:r>
              <a:rPr lang="en-US" altLang="zh-CN" sz="2000" b="1" baseline="-25000" dirty="0">
                <a:solidFill>
                  <a:srgbClr val="11576A"/>
                </a:solidFill>
                <a:latin typeface="微软雅黑" pitchFamily="34" charset="-122"/>
                <a:ea typeface="微软雅黑" pitchFamily="34" charset="-122"/>
              </a:rPr>
              <a:t>d=?</a:t>
            </a:r>
            <a:endParaRPr lang="zh-CN" altLang="en-US" sz="2000" b="1" baseline="-25000" dirty="0">
              <a:solidFill>
                <a:srgbClr val="11576A"/>
              </a:solidFill>
              <a:latin typeface="微软雅黑" pitchFamily="34" charset="-122"/>
              <a:ea typeface="微软雅黑" pitchFamily="34" charset="-122"/>
            </a:endParaRPr>
          </a:p>
        </p:txBody>
      </p:sp>
      <p:sp>
        <p:nvSpPr>
          <p:cNvPr id="7" name="文本框 6">
            <a:extLst>
              <a:ext uri="{FF2B5EF4-FFF2-40B4-BE49-F238E27FC236}">
                <a16:creationId xmlns:a16="http://schemas.microsoft.com/office/drawing/2014/main" id="{8B25CD8E-4BFE-35FD-698A-1F29CE6C51B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9" name="标题 8">
            <a:extLst>
              <a:ext uri="{FF2B5EF4-FFF2-40B4-BE49-F238E27FC236}">
                <a16:creationId xmlns:a16="http://schemas.microsoft.com/office/drawing/2014/main" id="{929A4B26-77CA-D58C-A2D8-25162A915D86}"/>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最优页面置换算法示例</a:t>
            </a:r>
          </a:p>
        </p:txBody>
      </p:sp>
      <p:sp>
        <p:nvSpPr>
          <p:cNvPr id="41" name="文本框 40">
            <a:extLst>
              <a:ext uri="{FF2B5EF4-FFF2-40B4-BE49-F238E27FC236}">
                <a16:creationId xmlns:a16="http://schemas.microsoft.com/office/drawing/2014/main" id="{465E9355-C9DE-78AE-FB7F-98574D6D6CC7}"/>
              </a:ext>
            </a:extLst>
          </p:cNvPr>
          <p:cNvSpPr txBox="1"/>
          <p:nvPr/>
        </p:nvSpPr>
        <p:spPr>
          <a:xfrm>
            <a:off x="1559496" y="5301208"/>
            <a:ext cx="8928992" cy="1200329"/>
          </a:xfrm>
          <a:prstGeom prst="rect">
            <a:avLst/>
          </a:prstGeom>
          <a:noFill/>
        </p:spPr>
        <p:txBody>
          <a:bodyPr wrap="square" rtlCol="0">
            <a:spAutoFit/>
          </a:bodyPr>
          <a:lstStyle/>
          <a:p>
            <a:r>
              <a:rPr lang="zh-CN" altLang="en-US" sz="2400" dirty="0"/>
              <a:t>思路解析：换出页面的选择只能影响被换出的那个页面再次被访问的时候的那次缺页</a:t>
            </a:r>
            <a:r>
              <a:rPr lang="en-US" altLang="zh-CN" sz="2400" dirty="0"/>
              <a:t>(</a:t>
            </a:r>
            <a:r>
              <a:rPr lang="en-US" altLang="zh-CN" sz="2400" dirty="0" err="1"/>
              <a:t>refault</a:t>
            </a:r>
            <a:r>
              <a:rPr lang="en-US" altLang="zh-CN" sz="2400" dirty="0"/>
              <a:t>)</a:t>
            </a:r>
            <a:r>
              <a:rPr lang="zh-CN" altLang="en-US" sz="2400" dirty="0"/>
              <a:t>，因此再次访问越远，</a:t>
            </a:r>
            <a:r>
              <a:rPr lang="en-US" altLang="zh-CN" sz="2400" dirty="0" err="1"/>
              <a:t>refault</a:t>
            </a:r>
            <a:r>
              <a:rPr lang="zh-CN" altLang="en-US" sz="2400" dirty="0"/>
              <a:t>的次数越少，而</a:t>
            </a:r>
            <a:r>
              <a:rPr lang="en-US" altLang="zh-CN" sz="2400" dirty="0"/>
              <a:t>page fault</a:t>
            </a:r>
            <a:r>
              <a:rPr lang="zh-CN" altLang="en-US" sz="2400" dirty="0"/>
              <a:t>是由</a:t>
            </a:r>
            <a:r>
              <a:rPr lang="en-US" altLang="zh-CN" sz="2400" dirty="0"/>
              <a:t>fresh </a:t>
            </a:r>
            <a:r>
              <a:rPr lang="en-US" altLang="zh-CN" sz="2400" dirty="0" err="1"/>
              <a:t>pgfault</a:t>
            </a:r>
            <a:r>
              <a:rPr lang="zh-CN" altLang="en-US" sz="2400" dirty="0"/>
              <a:t>和</a:t>
            </a:r>
            <a:r>
              <a:rPr lang="en-US" altLang="zh-CN" sz="2400" dirty="0" err="1"/>
              <a:t>refault</a:t>
            </a:r>
            <a:r>
              <a:rPr lang="zh-CN" altLang="en-US" sz="2400" dirty="0"/>
              <a:t>构成的</a:t>
            </a:r>
            <a:endParaRPr lang="zh-CN" altLang="en-US" dirty="0"/>
          </a:p>
        </p:txBody>
      </p:sp>
    </p:spTree>
    <p:extLst>
      <p:ext uri="{BB962C8B-B14F-4D97-AF65-F5344CB8AC3E}">
        <p14:creationId xmlns:p14="http://schemas.microsoft.com/office/powerpoint/2010/main" val="19488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par>
                                <p:cTn id="11" presetID="35" presetClass="emph" presetSubtype="0" repeatCount="indefinite" fill="hold" grpId="1" nodeType="withEffect">
                                  <p:stCondLst>
                                    <p:cond delay="0"/>
                                  </p:stCondLst>
                                  <p:childTnLst>
                                    <p:anim calcmode="discrete" valueType="str">
                                      <p:cBhvr>
                                        <p:cTn id="12" dur="500" fill="hold"/>
                                        <p:tgtEl>
                                          <p:spTgt spid="95"/>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2" nodeType="clickEffect">
                                  <p:stCondLst>
                                    <p:cond delay="0"/>
                                  </p:stCondLst>
                                  <p:childTnLst>
                                    <p:set>
                                      <p:cBhvr>
                                        <p:cTn id="16" dur="1" fill="hold">
                                          <p:stCondLst>
                                            <p:cond delay="0"/>
                                          </p:stCondLst>
                                        </p:cTn>
                                        <p:tgtEl>
                                          <p:spTgt spid="95"/>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16"/>
                                        </p:tgtEl>
                                        <p:attrNameLst>
                                          <p:attrName>style.visibility</p:attrName>
                                        </p:attrNameLst>
                                      </p:cBhvr>
                                      <p:to>
                                        <p:strVal val="visible"/>
                                      </p:to>
                                    </p:set>
                                  </p:childTnLst>
                                </p:cTn>
                              </p:par>
                            </p:childTnLst>
                          </p:cTn>
                        </p:par>
                        <p:par>
                          <p:cTn id="23" fill="hold">
                            <p:stCondLst>
                              <p:cond delay="500"/>
                            </p:stCondLst>
                            <p:childTnLst>
                              <p:par>
                                <p:cTn id="24" presetID="35" presetClass="emph" presetSubtype="0" repeatCount="indefinite" fill="hold" grpId="1" nodeType="afterEffect">
                                  <p:stCondLst>
                                    <p:cond delay="0"/>
                                  </p:stCondLst>
                                  <p:endCondLst>
                                    <p:cond evt="onNext" delay="0">
                                      <p:tgtEl>
                                        <p:sldTgt/>
                                      </p:tgtEl>
                                    </p:cond>
                                  </p:endCondLst>
                                  <p:childTnLst>
                                    <p:anim calcmode="discrete" valueType="str">
                                      <p:cBhvr>
                                        <p:cTn id="25" dur="500" fill="hold"/>
                                        <p:tgtEl>
                                          <p:spTgt spid="116"/>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2" nodeType="clickEffect">
                                  <p:stCondLst>
                                    <p:cond delay="0"/>
                                  </p:stCondLst>
                                  <p:childTnLst>
                                    <p:set>
                                      <p:cBhvr>
                                        <p:cTn id="29" dur="1" fill="hold">
                                          <p:stCondLst>
                                            <p:cond delay="0"/>
                                          </p:stCondLst>
                                        </p:cTn>
                                        <p:tgtEl>
                                          <p:spTgt spid="116"/>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21"/>
                                        </p:tgtEl>
                                        <p:attrNameLst>
                                          <p:attrName>style.visibility</p:attrName>
                                        </p:attrNameLst>
                                      </p:cBhvr>
                                      <p:to>
                                        <p:strVal val="visible"/>
                                      </p:to>
                                    </p:set>
                                  </p:childTnLst>
                                </p:cTn>
                              </p:par>
                              <p:par>
                                <p:cTn id="36" presetID="35" presetClass="emph" presetSubtype="0" repeatCount="indefinite" fill="hold" grpId="1" nodeType="withEffect">
                                  <p:stCondLst>
                                    <p:cond delay="0"/>
                                  </p:stCondLst>
                                  <p:endCondLst>
                                    <p:cond evt="onNext" delay="0">
                                      <p:tgtEl>
                                        <p:sldTgt/>
                                      </p:tgtEl>
                                    </p:cond>
                                  </p:endCondLst>
                                  <p:childTnLst>
                                    <p:anim calcmode="discrete" valueType="str">
                                      <p:cBhvr>
                                        <p:cTn id="37" dur="500" fill="hold"/>
                                        <p:tgtEl>
                                          <p:spTgt spid="121"/>
                                        </p:tgtEl>
                                        <p:attrNameLst>
                                          <p:attrName>style.visibility</p:attrName>
                                        </p:attrNameLst>
                                      </p:cBhvr>
                                      <p:tavLst>
                                        <p:tav tm="0">
                                          <p:val>
                                            <p:strVal val="hidden"/>
                                          </p:val>
                                        </p:tav>
                                        <p:tav tm="50000">
                                          <p:val>
                                            <p:strVal val="visible"/>
                                          </p:val>
                                        </p:tav>
                                      </p:tavLst>
                                    </p:anim>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2" nodeType="clickEffect">
                                  <p:stCondLst>
                                    <p:cond delay="0"/>
                                  </p:stCondLst>
                                  <p:childTnLst>
                                    <p:set>
                                      <p:cBhvr>
                                        <p:cTn id="41" dur="1" fill="hold">
                                          <p:stCondLst>
                                            <p:cond delay="0"/>
                                          </p:stCondLst>
                                        </p:cTn>
                                        <p:tgtEl>
                                          <p:spTgt spid="121"/>
                                        </p:tgtEl>
                                        <p:attrNameLst>
                                          <p:attrName>style.visibility</p:attrName>
                                        </p:attrNameLst>
                                      </p:cBhvr>
                                      <p:to>
                                        <p:strVal val="hidden"/>
                                      </p:to>
                                    </p:set>
                                  </p:childTnLst>
                                </p:cTn>
                              </p:par>
                              <p:par>
                                <p:cTn id="42" presetID="10" presetClass="entr" presetSubtype="0" fill="hold" nodeType="with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500"/>
                                        <p:tgtEl>
                                          <p:spTgt spid="5"/>
                                        </p:tgtEl>
                                      </p:cBhvr>
                                    </p:animEffect>
                                  </p:childTnLst>
                                </p:cTn>
                              </p:par>
                            </p:childTnLst>
                          </p:cTn>
                        </p:par>
                        <p:par>
                          <p:cTn id="45" fill="hold">
                            <p:stCondLst>
                              <p:cond delay="500"/>
                            </p:stCondLst>
                            <p:childTnLst>
                              <p:par>
                                <p:cTn id="46" presetID="1" presetClass="entr" presetSubtype="0" fill="hold" grpId="0" nodeType="afterEffect">
                                  <p:stCondLst>
                                    <p:cond delay="0"/>
                                  </p:stCondLst>
                                  <p:childTnLst>
                                    <p:set>
                                      <p:cBhvr>
                                        <p:cTn id="47" dur="1" fill="hold">
                                          <p:stCondLst>
                                            <p:cond delay="0"/>
                                          </p:stCondLst>
                                        </p:cTn>
                                        <p:tgtEl>
                                          <p:spTgt spid="122"/>
                                        </p:tgtEl>
                                        <p:attrNameLst>
                                          <p:attrName>style.visibility</p:attrName>
                                        </p:attrNameLst>
                                      </p:cBhvr>
                                      <p:to>
                                        <p:strVal val="visible"/>
                                      </p:to>
                                    </p:set>
                                  </p:childTnLst>
                                </p:cTn>
                              </p:par>
                              <p:par>
                                <p:cTn id="48" presetID="35" presetClass="emph" presetSubtype="0" repeatCount="indefinite" fill="hold" grpId="1" nodeType="withEffect">
                                  <p:stCondLst>
                                    <p:cond delay="0"/>
                                  </p:stCondLst>
                                  <p:endCondLst>
                                    <p:cond evt="onNext" delay="0">
                                      <p:tgtEl>
                                        <p:sldTgt/>
                                      </p:tgtEl>
                                    </p:cond>
                                  </p:endCondLst>
                                  <p:childTnLst>
                                    <p:anim calcmode="discrete" valueType="str">
                                      <p:cBhvr>
                                        <p:cTn id="49" dur="500" fill="hold"/>
                                        <p:tgtEl>
                                          <p:spTgt spid="122"/>
                                        </p:tgtEl>
                                        <p:attrNameLst>
                                          <p:attrName>style.visibility</p:attrName>
                                        </p:attrNameLst>
                                      </p:cBhvr>
                                      <p:tavLst>
                                        <p:tav tm="0">
                                          <p:val>
                                            <p:strVal val="hidden"/>
                                          </p:val>
                                        </p:tav>
                                        <p:tav tm="50000">
                                          <p:val>
                                            <p:strVal val="visible"/>
                                          </p:val>
                                        </p:tav>
                                      </p:tavLst>
                                    </p:anim>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2" nodeType="clickEffect">
                                  <p:stCondLst>
                                    <p:cond delay="0"/>
                                  </p:stCondLst>
                                  <p:childTnLst>
                                    <p:set>
                                      <p:cBhvr>
                                        <p:cTn id="53" dur="1" fill="hold">
                                          <p:stCondLst>
                                            <p:cond delay="0"/>
                                          </p:stCondLst>
                                        </p:cTn>
                                        <p:tgtEl>
                                          <p:spTgt spid="122"/>
                                        </p:tgtEl>
                                        <p:attrNameLst>
                                          <p:attrName>style.visibility</p:attrName>
                                        </p:attrNameLst>
                                      </p:cBhvr>
                                      <p:to>
                                        <p:strVal val="hidden"/>
                                      </p:to>
                                    </p:set>
                                  </p:childTnLst>
                                </p:cTn>
                              </p:par>
                            </p:childTnLst>
                          </p:cTn>
                        </p:par>
                        <p:par>
                          <p:cTn id="54" fill="hold">
                            <p:stCondLst>
                              <p:cond delay="0"/>
                            </p:stCondLst>
                            <p:childTnLst>
                              <p:par>
                                <p:cTn id="55" presetID="10" presetClass="entr" presetSubtype="0" fill="hold" nodeType="after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11"/>
                                        </p:tgtEl>
                                        <p:attrNameLst>
                                          <p:attrName>style.visibility</p:attrName>
                                        </p:attrNameLst>
                                      </p:cBhvr>
                                      <p:to>
                                        <p:strVal val="visible"/>
                                      </p:to>
                                    </p:set>
                                    <p:animEffect transition="in" filter="wipe(left)">
                                      <p:cBhvr>
                                        <p:cTn id="62" dur="500"/>
                                        <p:tgtEl>
                                          <p:spTgt spid="111"/>
                                        </p:tgtEl>
                                      </p:cBhvr>
                                    </p:animEffec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0"/>
                                          </p:stCondLst>
                                        </p:cTn>
                                        <p:tgtEl>
                                          <p:spTgt spid="124"/>
                                        </p:tgtEl>
                                        <p:attrNameLst>
                                          <p:attrName>style.visibility</p:attrName>
                                        </p:attrNameLst>
                                      </p:cBhvr>
                                      <p:to>
                                        <p:strVal val="visible"/>
                                      </p:to>
                                    </p:set>
                                  </p:childTnLst>
                                </p:cTn>
                              </p:par>
                              <p:par>
                                <p:cTn id="66" presetID="35" presetClass="emph" presetSubtype="0" repeatCount="indefinite" fill="hold" grpId="1" nodeType="withEffect">
                                  <p:stCondLst>
                                    <p:cond delay="0"/>
                                  </p:stCondLst>
                                  <p:endCondLst>
                                    <p:cond evt="onNext" delay="0">
                                      <p:tgtEl>
                                        <p:sldTgt/>
                                      </p:tgtEl>
                                    </p:cond>
                                  </p:endCondLst>
                                  <p:childTnLst>
                                    <p:anim calcmode="discrete" valueType="str">
                                      <p:cBhvr>
                                        <p:cTn id="67" dur="500" fill="hold"/>
                                        <p:tgtEl>
                                          <p:spTgt spid="124"/>
                                        </p:tgtEl>
                                        <p:attrNameLst>
                                          <p:attrName>style.visibility</p:attrName>
                                        </p:attrNameLst>
                                      </p:cBhvr>
                                      <p:tavLst>
                                        <p:tav tm="0">
                                          <p:val>
                                            <p:strVal val="hidden"/>
                                          </p:val>
                                        </p:tav>
                                        <p:tav tm="50000">
                                          <p:val>
                                            <p:strVal val="visible"/>
                                          </p:val>
                                        </p:tav>
                                      </p:tavLst>
                                    </p:anim>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2" nodeType="clickEffect">
                                  <p:stCondLst>
                                    <p:cond delay="0"/>
                                  </p:stCondLst>
                                  <p:childTnLst>
                                    <p:set>
                                      <p:cBhvr>
                                        <p:cTn id="71" dur="1" fill="hold">
                                          <p:stCondLst>
                                            <p:cond delay="0"/>
                                          </p:stCondLst>
                                        </p:cTn>
                                        <p:tgtEl>
                                          <p:spTgt spid="124"/>
                                        </p:tgtEl>
                                        <p:attrNameLst>
                                          <p:attrName>style.visibility</p:attrName>
                                        </p:attrNameLst>
                                      </p:cBhvr>
                                      <p:to>
                                        <p:strVal val="hidden"/>
                                      </p:to>
                                    </p:set>
                                  </p:childTnLst>
                                </p:cTn>
                              </p:par>
                              <p:par>
                                <p:cTn id="72" presetID="22" presetClass="entr" presetSubtype="8" fill="hold" grpId="0" nodeType="withEffect">
                                  <p:stCondLst>
                                    <p:cond delay="0"/>
                                  </p:stCondLst>
                                  <p:childTnLst>
                                    <p:set>
                                      <p:cBhvr>
                                        <p:cTn id="73" dur="1" fill="hold">
                                          <p:stCondLst>
                                            <p:cond delay="0"/>
                                          </p:stCondLst>
                                        </p:cTn>
                                        <p:tgtEl>
                                          <p:spTgt spid="112"/>
                                        </p:tgtEl>
                                        <p:attrNameLst>
                                          <p:attrName>style.visibility</p:attrName>
                                        </p:attrNameLst>
                                      </p:cBhvr>
                                      <p:to>
                                        <p:strVal val="visible"/>
                                      </p:to>
                                    </p:set>
                                    <p:animEffect transition="in" filter="wipe(left)">
                                      <p:cBhvr>
                                        <p:cTn id="74" dur="500"/>
                                        <p:tgtEl>
                                          <p:spTgt spid="112"/>
                                        </p:tgtEl>
                                      </p:cBhvr>
                                    </p:animEffect>
                                  </p:childTnLst>
                                </p:cTn>
                              </p:par>
                            </p:childTnLst>
                          </p:cTn>
                        </p:par>
                        <p:par>
                          <p:cTn id="75" fill="hold">
                            <p:stCondLst>
                              <p:cond delay="500"/>
                            </p:stCondLst>
                            <p:childTnLst>
                              <p:par>
                                <p:cTn id="76" presetID="1" presetClass="entr" presetSubtype="0" fill="hold" grpId="0" nodeType="afterEffect">
                                  <p:stCondLst>
                                    <p:cond delay="0"/>
                                  </p:stCondLst>
                                  <p:childTnLst>
                                    <p:set>
                                      <p:cBhvr>
                                        <p:cTn id="77" dur="1" fill="hold">
                                          <p:stCondLst>
                                            <p:cond delay="0"/>
                                          </p:stCondLst>
                                        </p:cTn>
                                        <p:tgtEl>
                                          <p:spTgt spid="125"/>
                                        </p:tgtEl>
                                        <p:attrNameLst>
                                          <p:attrName>style.visibility</p:attrName>
                                        </p:attrNameLst>
                                      </p:cBhvr>
                                      <p:to>
                                        <p:strVal val="visible"/>
                                      </p:to>
                                    </p:set>
                                  </p:childTnLst>
                                </p:cTn>
                              </p:par>
                              <p:par>
                                <p:cTn id="78" presetID="35" presetClass="emph" presetSubtype="0" repeatCount="indefinite" fill="hold" grpId="1" nodeType="withEffect">
                                  <p:stCondLst>
                                    <p:cond delay="0"/>
                                  </p:stCondLst>
                                  <p:endCondLst>
                                    <p:cond evt="onNext" delay="0">
                                      <p:tgtEl>
                                        <p:sldTgt/>
                                      </p:tgtEl>
                                    </p:cond>
                                  </p:endCondLst>
                                  <p:childTnLst>
                                    <p:anim calcmode="discrete" valueType="str">
                                      <p:cBhvr>
                                        <p:cTn id="79" dur="500" fill="hold"/>
                                        <p:tgtEl>
                                          <p:spTgt spid="125"/>
                                        </p:tgtEl>
                                        <p:attrNameLst>
                                          <p:attrName>style.visibility</p:attrName>
                                        </p:attrNameLst>
                                      </p:cBhvr>
                                      <p:tavLst>
                                        <p:tav tm="0">
                                          <p:val>
                                            <p:strVal val="hidden"/>
                                          </p:val>
                                        </p:tav>
                                        <p:tav tm="50000">
                                          <p:val>
                                            <p:strVal val="visible"/>
                                          </p:val>
                                        </p:tav>
                                      </p:tavLst>
                                    </p:anim>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2" nodeType="clickEffect">
                                  <p:stCondLst>
                                    <p:cond delay="0"/>
                                  </p:stCondLst>
                                  <p:childTnLst>
                                    <p:set>
                                      <p:cBhvr>
                                        <p:cTn id="83" dur="1" fill="hold">
                                          <p:stCondLst>
                                            <p:cond delay="0"/>
                                          </p:stCondLst>
                                        </p:cTn>
                                        <p:tgtEl>
                                          <p:spTgt spid="125"/>
                                        </p:tgtEl>
                                        <p:attrNameLst>
                                          <p:attrName>style.visibility</p:attrName>
                                        </p:attrNameLst>
                                      </p:cBhvr>
                                      <p:to>
                                        <p:strVal val="hidden"/>
                                      </p:to>
                                    </p:set>
                                  </p:childTnLst>
                                </p:cTn>
                              </p:par>
                              <p:par>
                                <p:cTn id="84" presetID="22" presetClass="entr" presetSubtype="8" fill="hold" grpId="0" nodeType="withEffect">
                                  <p:stCondLst>
                                    <p:cond delay="0"/>
                                  </p:stCondLst>
                                  <p:childTnLst>
                                    <p:set>
                                      <p:cBhvr>
                                        <p:cTn id="85" dur="1" fill="hold">
                                          <p:stCondLst>
                                            <p:cond delay="0"/>
                                          </p:stCondLst>
                                        </p:cTn>
                                        <p:tgtEl>
                                          <p:spTgt spid="113"/>
                                        </p:tgtEl>
                                        <p:attrNameLst>
                                          <p:attrName>style.visibility</p:attrName>
                                        </p:attrNameLst>
                                      </p:cBhvr>
                                      <p:to>
                                        <p:strVal val="visible"/>
                                      </p:to>
                                    </p:set>
                                    <p:animEffect transition="in" filter="wipe(left)">
                                      <p:cBhvr>
                                        <p:cTn id="86" dur="500"/>
                                        <p:tgtEl>
                                          <p:spTgt spid="113"/>
                                        </p:tgtEl>
                                      </p:cBhvr>
                                    </p:animEffect>
                                  </p:childTnLst>
                                </p:cTn>
                              </p:par>
                            </p:childTnLst>
                          </p:cTn>
                        </p:par>
                        <p:par>
                          <p:cTn id="87" fill="hold">
                            <p:stCondLst>
                              <p:cond delay="500"/>
                            </p:stCondLst>
                            <p:childTnLst>
                              <p:par>
                                <p:cTn id="88" presetID="1" presetClass="entr" presetSubtype="0" fill="hold" grpId="0" nodeType="afterEffect">
                                  <p:stCondLst>
                                    <p:cond delay="0"/>
                                  </p:stCondLst>
                                  <p:childTnLst>
                                    <p:set>
                                      <p:cBhvr>
                                        <p:cTn id="89" dur="1" fill="hold">
                                          <p:stCondLst>
                                            <p:cond delay="0"/>
                                          </p:stCondLst>
                                        </p:cTn>
                                        <p:tgtEl>
                                          <p:spTgt spid="126"/>
                                        </p:tgtEl>
                                        <p:attrNameLst>
                                          <p:attrName>style.visibility</p:attrName>
                                        </p:attrNameLst>
                                      </p:cBhvr>
                                      <p:to>
                                        <p:strVal val="visible"/>
                                      </p:to>
                                    </p:set>
                                  </p:childTnLst>
                                </p:cTn>
                              </p:par>
                              <p:par>
                                <p:cTn id="90" presetID="35" presetClass="emph" presetSubtype="0" repeatCount="indefinite" fill="hold" grpId="1" nodeType="withEffect">
                                  <p:stCondLst>
                                    <p:cond delay="0"/>
                                  </p:stCondLst>
                                  <p:endCondLst>
                                    <p:cond evt="onNext" delay="0">
                                      <p:tgtEl>
                                        <p:sldTgt/>
                                      </p:tgtEl>
                                    </p:cond>
                                  </p:endCondLst>
                                  <p:childTnLst>
                                    <p:anim calcmode="discrete" valueType="str">
                                      <p:cBhvr>
                                        <p:cTn id="91" dur="500" fill="hold"/>
                                        <p:tgtEl>
                                          <p:spTgt spid="126"/>
                                        </p:tgtEl>
                                        <p:attrNameLst>
                                          <p:attrName>style.visibility</p:attrName>
                                        </p:attrNameLst>
                                      </p:cBhvr>
                                      <p:tavLst>
                                        <p:tav tm="0">
                                          <p:val>
                                            <p:strVal val="hidden"/>
                                          </p:val>
                                        </p:tav>
                                        <p:tav tm="50000">
                                          <p:val>
                                            <p:strVal val="visible"/>
                                          </p:val>
                                        </p:tav>
                                      </p:tavLst>
                                    </p:anim>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grpId="2" nodeType="clickEffect">
                                  <p:stCondLst>
                                    <p:cond delay="0"/>
                                  </p:stCondLst>
                                  <p:childTnLst>
                                    <p:set>
                                      <p:cBhvr>
                                        <p:cTn id="95" dur="1" fill="hold">
                                          <p:stCondLst>
                                            <p:cond delay="0"/>
                                          </p:stCondLst>
                                        </p:cTn>
                                        <p:tgtEl>
                                          <p:spTgt spid="126"/>
                                        </p:tgtEl>
                                        <p:attrNameLst>
                                          <p:attrName>style.visibility</p:attrName>
                                        </p:attrNameLst>
                                      </p:cBhvr>
                                      <p:to>
                                        <p:strVal val="hidden"/>
                                      </p:to>
                                    </p:set>
                                  </p:childTnLst>
                                </p:cTn>
                              </p:par>
                              <p:par>
                                <p:cTn id="96" presetID="22" presetClass="entr" presetSubtype="8" fill="hold" grpId="0" nodeType="withEffect">
                                  <p:stCondLst>
                                    <p:cond delay="0"/>
                                  </p:stCondLst>
                                  <p:childTnLst>
                                    <p:set>
                                      <p:cBhvr>
                                        <p:cTn id="97" dur="1" fill="hold">
                                          <p:stCondLst>
                                            <p:cond delay="0"/>
                                          </p:stCondLst>
                                        </p:cTn>
                                        <p:tgtEl>
                                          <p:spTgt spid="114"/>
                                        </p:tgtEl>
                                        <p:attrNameLst>
                                          <p:attrName>style.visibility</p:attrName>
                                        </p:attrNameLst>
                                      </p:cBhvr>
                                      <p:to>
                                        <p:strVal val="visible"/>
                                      </p:to>
                                    </p:set>
                                    <p:animEffect transition="in" filter="wipe(left)">
                                      <p:cBhvr>
                                        <p:cTn id="98" dur="500"/>
                                        <p:tgtEl>
                                          <p:spTgt spid="114"/>
                                        </p:tgtEl>
                                      </p:cBhvr>
                                    </p:animEffect>
                                  </p:childTnLst>
                                </p:cTn>
                              </p:par>
                            </p:childTnLst>
                          </p:cTn>
                        </p:par>
                        <p:par>
                          <p:cTn id="99" fill="hold">
                            <p:stCondLst>
                              <p:cond delay="500"/>
                            </p:stCondLst>
                            <p:childTnLst>
                              <p:par>
                                <p:cTn id="100" presetID="1" presetClass="entr" presetSubtype="0" fill="hold" grpId="0" nodeType="afterEffect">
                                  <p:stCondLst>
                                    <p:cond delay="0"/>
                                  </p:stCondLst>
                                  <p:childTnLst>
                                    <p:set>
                                      <p:cBhvr>
                                        <p:cTn id="101" dur="1" fill="hold">
                                          <p:stCondLst>
                                            <p:cond delay="0"/>
                                          </p:stCondLst>
                                        </p:cTn>
                                        <p:tgtEl>
                                          <p:spTgt spid="128"/>
                                        </p:tgtEl>
                                        <p:attrNameLst>
                                          <p:attrName>style.visibility</p:attrName>
                                        </p:attrNameLst>
                                      </p:cBhvr>
                                      <p:to>
                                        <p:strVal val="visible"/>
                                      </p:to>
                                    </p:set>
                                  </p:childTnLst>
                                </p:cTn>
                              </p:par>
                              <p:par>
                                <p:cTn id="102" presetID="35" presetClass="emph" presetSubtype="0" repeatCount="indefinite" fill="hold" grpId="1" nodeType="withEffect">
                                  <p:stCondLst>
                                    <p:cond delay="0"/>
                                  </p:stCondLst>
                                  <p:endCondLst>
                                    <p:cond evt="onNext" delay="0">
                                      <p:tgtEl>
                                        <p:sldTgt/>
                                      </p:tgtEl>
                                    </p:cond>
                                  </p:endCondLst>
                                  <p:childTnLst>
                                    <p:anim calcmode="discrete" valueType="str">
                                      <p:cBhvr>
                                        <p:cTn id="103" dur="500" fill="hold"/>
                                        <p:tgtEl>
                                          <p:spTgt spid="128"/>
                                        </p:tgtEl>
                                        <p:attrNameLst>
                                          <p:attrName>style.visibility</p:attrName>
                                        </p:attrNameLst>
                                      </p:cBhvr>
                                      <p:tavLst>
                                        <p:tav tm="0">
                                          <p:val>
                                            <p:strVal val="hidden"/>
                                          </p:val>
                                        </p:tav>
                                        <p:tav tm="50000">
                                          <p:val>
                                            <p:strVal val="visible"/>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2" nodeType="clickEffect">
                                  <p:stCondLst>
                                    <p:cond delay="0"/>
                                  </p:stCondLst>
                                  <p:childTnLst>
                                    <p:set>
                                      <p:cBhvr>
                                        <p:cTn id="107" dur="1" fill="hold">
                                          <p:stCondLst>
                                            <p:cond delay="0"/>
                                          </p:stCondLst>
                                        </p:cTn>
                                        <p:tgtEl>
                                          <p:spTgt spid="128"/>
                                        </p:tgtEl>
                                        <p:attrNameLst>
                                          <p:attrName>style.visibility</p:attrName>
                                        </p:attrNameLst>
                                      </p:cBhvr>
                                      <p:to>
                                        <p:strVal val="hidden"/>
                                      </p:to>
                                    </p:set>
                                  </p:childTnLst>
                                </p:cTn>
                              </p:par>
                              <p:par>
                                <p:cTn id="108" presetID="10" presetClass="entr" presetSubtype="0" fill="hold" grpId="0" nodeType="withEffect">
                                  <p:stCondLst>
                                    <p:cond delay="0"/>
                                  </p:stCondLst>
                                  <p:childTnLst>
                                    <p:set>
                                      <p:cBhvr>
                                        <p:cTn id="109" dur="1" fill="hold">
                                          <p:stCondLst>
                                            <p:cond delay="0"/>
                                          </p:stCondLst>
                                        </p:cTn>
                                        <p:tgtEl>
                                          <p:spTgt spid="127"/>
                                        </p:tgtEl>
                                        <p:attrNameLst>
                                          <p:attrName>style.visibility</p:attrName>
                                        </p:attrNameLst>
                                      </p:cBhvr>
                                      <p:to>
                                        <p:strVal val="visible"/>
                                      </p:to>
                                    </p:set>
                                    <p:animEffect transition="in" filter="fade">
                                      <p:cBhvr>
                                        <p:cTn id="110" dur="500"/>
                                        <p:tgtEl>
                                          <p:spTgt spid="127"/>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0"/>
                                        </p:tgtEl>
                                        <p:attrNameLst>
                                          <p:attrName>style.visibility</p:attrName>
                                        </p:attrNameLst>
                                      </p:cBhvr>
                                      <p:to>
                                        <p:strVal val="visible"/>
                                      </p:to>
                                    </p:set>
                                    <p:animEffect transition="in" filter="fade">
                                      <p:cBhvr>
                                        <p:cTn id="115" dur="500"/>
                                        <p:tgtEl>
                                          <p:spTgt spid="10"/>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11"/>
                                        </p:tgtEl>
                                        <p:attrNameLst>
                                          <p:attrName>style.visibility</p:attrName>
                                        </p:attrNameLst>
                                      </p:cBhvr>
                                      <p:to>
                                        <p:strVal val="visible"/>
                                      </p:to>
                                    </p:set>
                                    <p:animEffect transition="in" filter="fade">
                                      <p:cBhvr>
                                        <p:cTn id="120" dur="500"/>
                                        <p:tgtEl>
                                          <p:spTgt spid="11"/>
                                        </p:tgtEl>
                                      </p:cBhvr>
                                    </p:animEffect>
                                  </p:childTnLst>
                                </p:cTn>
                              </p:par>
                            </p:childTnLst>
                          </p:cTn>
                        </p:par>
                        <p:par>
                          <p:cTn id="121" fill="hold">
                            <p:stCondLst>
                              <p:cond delay="500"/>
                            </p:stCondLst>
                            <p:childTnLst>
                              <p:par>
                                <p:cTn id="122" presetID="1" presetClass="entr" presetSubtype="0" fill="hold" grpId="0" nodeType="afterEffect">
                                  <p:stCondLst>
                                    <p:cond delay="0"/>
                                  </p:stCondLst>
                                  <p:childTnLst>
                                    <p:set>
                                      <p:cBhvr>
                                        <p:cTn id="123" dur="1" fill="hold">
                                          <p:stCondLst>
                                            <p:cond delay="0"/>
                                          </p:stCondLst>
                                        </p:cTn>
                                        <p:tgtEl>
                                          <p:spTgt spid="130"/>
                                        </p:tgtEl>
                                        <p:attrNameLst>
                                          <p:attrName>style.visibility</p:attrName>
                                        </p:attrNameLst>
                                      </p:cBhvr>
                                      <p:to>
                                        <p:strVal val="visible"/>
                                      </p:to>
                                    </p:set>
                                  </p:childTnLst>
                                </p:cTn>
                              </p:par>
                              <p:par>
                                <p:cTn id="124" presetID="35" presetClass="emph" presetSubtype="0" repeatCount="indefinite" fill="hold" grpId="1" nodeType="withEffect">
                                  <p:stCondLst>
                                    <p:cond delay="0"/>
                                  </p:stCondLst>
                                  <p:endCondLst>
                                    <p:cond evt="onNext" delay="0">
                                      <p:tgtEl>
                                        <p:sldTgt/>
                                      </p:tgtEl>
                                    </p:cond>
                                  </p:endCondLst>
                                  <p:childTnLst>
                                    <p:anim calcmode="discrete" valueType="str">
                                      <p:cBhvr>
                                        <p:cTn id="125" dur="500" fill="hold"/>
                                        <p:tgtEl>
                                          <p:spTgt spid="130"/>
                                        </p:tgtEl>
                                        <p:attrNameLst>
                                          <p:attrName>style.visibility</p:attrName>
                                        </p:attrNameLst>
                                      </p:cBhvr>
                                      <p:tavLst>
                                        <p:tav tm="0">
                                          <p:val>
                                            <p:strVal val="hidden"/>
                                          </p:val>
                                        </p:tav>
                                        <p:tav tm="50000">
                                          <p:val>
                                            <p:strVal val="visible"/>
                                          </p:val>
                                        </p:tav>
                                      </p:tavLst>
                                    </p:anim>
                                  </p:childTnLst>
                                </p:cTn>
                              </p:par>
                            </p:childTnLst>
                          </p:cTn>
                        </p:par>
                      </p:childTnLst>
                    </p:cTn>
                  </p:par>
                  <p:par>
                    <p:cTn id="126" fill="hold">
                      <p:stCondLst>
                        <p:cond delay="indefinite"/>
                      </p:stCondLst>
                      <p:childTnLst>
                        <p:par>
                          <p:cTn id="127" fill="hold">
                            <p:stCondLst>
                              <p:cond delay="0"/>
                            </p:stCondLst>
                            <p:childTnLst>
                              <p:par>
                                <p:cTn id="128" presetID="1" presetClass="exit" presetSubtype="0" fill="hold" grpId="2" nodeType="clickEffect">
                                  <p:stCondLst>
                                    <p:cond delay="0"/>
                                  </p:stCondLst>
                                  <p:childTnLst>
                                    <p:set>
                                      <p:cBhvr>
                                        <p:cTn id="129" dur="1" fill="hold">
                                          <p:stCondLst>
                                            <p:cond delay="0"/>
                                          </p:stCondLst>
                                        </p:cTn>
                                        <p:tgtEl>
                                          <p:spTgt spid="130"/>
                                        </p:tgtEl>
                                        <p:attrNameLst>
                                          <p:attrName>style.visibility</p:attrName>
                                        </p:attrNameLst>
                                      </p:cBhvr>
                                      <p:to>
                                        <p:strVal val="hidden"/>
                                      </p:to>
                                    </p:set>
                                  </p:childTnLst>
                                </p:cTn>
                              </p:par>
                              <p:par>
                                <p:cTn id="130" presetID="10" presetClass="entr" presetSubtype="0" fill="hold" nodeType="withEffect">
                                  <p:stCondLst>
                                    <p:cond delay="0"/>
                                  </p:stCondLst>
                                  <p:childTnLst>
                                    <p:set>
                                      <p:cBhvr>
                                        <p:cTn id="131" dur="1" fill="hold">
                                          <p:stCondLst>
                                            <p:cond delay="0"/>
                                          </p:stCondLst>
                                        </p:cTn>
                                        <p:tgtEl>
                                          <p:spTgt spid="12"/>
                                        </p:tgtEl>
                                        <p:attrNameLst>
                                          <p:attrName>style.visibility</p:attrName>
                                        </p:attrNameLst>
                                      </p:cBhvr>
                                      <p:to>
                                        <p:strVal val="visible"/>
                                      </p:to>
                                    </p:set>
                                    <p:animEffect transition="in" filter="fade">
                                      <p:cBhvr>
                                        <p:cTn id="132" dur="500"/>
                                        <p:tgtEl>
                                          <p:spTgt spid="12"/>
                                        </p:tgtEl>
                                      </p:cBhvr>
                                    </p:animEffect>
                                  </p:childTnLst>
                                </p:cTn>
                              </p:par>
                            </p:childTnLst>
                          </p:cTn>
                        </p:par>
                        <p:par>
                          <p:cTn id="133" fill="hold">
                            <p:stCondLst>
                              <p:cond delay="500"/>
                            </p:stCondLst>
                            <p:childTnLst>
                              <p:par>
                                <p:cTn id="134" presetID="1" presetClass="entr" presetSubtype="0" fill="hold" grpId="0" nodeType="afterEffect">
                                  <p:stCondLst>
                                    <p:cond delay="0"/>
                                  </p:stCondLst>
                                  <p:childTnLst>
                                    <p:set>
                                      <p:cBhvr>
                                        <p:cTn id="135" dur="1" fill="hold">
                                          <p:stCondLst>
                                            <p:cond delay="0"/>
                                          </p:stCondLst>
                                        </p:cTn>
                                        <p:tgtEl>
                                          <p:spTgt spid="131"/>
                                        </p:tgtEl>
                                        <p:attrNameLst>
                                          <p:attrName>style.visibility</p:attrName>
                                        </p:attrNameLst>
                                      </p:cBhvr>
                                      <p:to>
                                        <p:strVal val="visible"/>
                                      </p:to>
                                    </p:set>
                                  </p:childTnLst>
                                </p:cTn>
                              </p:par>
                              <p:par>
                                <p:cTn id="136" presetID="35" presetClass="emph" presetSubtype="0" repeatCount="indefinite" fill="hold" grpId="1" nodeType="withEffect">
                                  <p:stCondLst>
                                    <p:cond delay="0"/>
                                  </p:stCondLst>
                                  <p:endCondLst>
                                    <p:cond evt="onNext" delay="0">
                                      <p:tgtEl>
                                        <p:sldTgt/>
                                      </p:tgtEl>
                                    </p:cond>
                                  </p:endCondLst>
                                  <p:childTnLst>
                                    <p:anim calcmode="discrete" valueType="str">
                                      <p:cBhvr>
                                        <p:cTn id="137" dur="500" fill="hold"/>
                                        <p:tgtEl>
                                          <p:spTgt spid="131"/>
                                        </p:tgtEl>
                                        <p:attrNameLst>
                                          <p:attrName>style.visibility</p:attrName>
                                        </p:attrNameLst>
                                      </p:cBhvr>
                                      <p:tavLst>
                                        <p:tav tm="0">
                                          <p:val>
                                            <p:strVal val="hidden"/>
                                          </p:val>
                                        </p:tav>
                                        <p:tav tm="50000">
                                          <p:val>
                                            <p:strVal val="visible"/>
                                          </p:val>
                                        </p:tav>
                                      </p:tavLst>
                                    </p:anim>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2" nodeType="clickEffect">
                                  <p:stCondLst>
                                    <p:cond delay="0"/>
                                  </p:stCondLst>
                                  <p:childTnLst>
                                    <p:set>
                                      <p:cBhvr>
                                        <p:cTn id="141" dur="1" fill="hold">
                                          <p:stCondLst>
                                            <p:cond delay="0"/>
                                          </p:stCondLst>
                                        </p:cTn>
                                        <p:tgtEl>
                                          <p:spTgt spid="131"/>
                                        </p:tgtEl>
                                        <p:attrNameLst>
                                          <p:attrName>style.visibility</p:attrName>
                                        </p:attrNameLst>
                                      </p:cBhvr>
                                      <p:to>
                                        <p:strVal val="hidden"/>
                                      </p:to>
                                    </p:set>
                                  </p:childTnLst>
                                </p:cTn>
                              </p:par>
                              <p:par>
                                <p:cTn id="142" presetID="10" presetClass="entr" presetSubtype="0" fill="hold" nodeType="withEffect">
                                  <p:stCondLst>
                                    <p:cond delay="0"/>
                                  </p:stCondLst>
                                  <p:childTnLst>
                                    <p:set>
                                      <p:cBhvr>
                                        <p:cTn id="143" dur="1" fill="hold">
                                          <p:stCondLst>
                                            <p:cond delay="0"/>
                                          </p:stCondLst>
                                        </p:cTn>
                                        <p:tgtEl>
                                          <p:spTgt spid="17"/>
                                        </p:tgtEl>
                                        <p:attrNameLst>
                                          <p:attrName>style.visibility</p:attrName>
                                        </p:attrNameLst>
                                      </p:cBhvr>
                                      <p:to>
                                        <p:strVal val="visible"/>
                                      </p:to>
                                    </p:set>
                                    <p:animEffect transition="in" filter="fade">
                                      <p:cBhvr>
                                        <p:cTn id="144" dur="500"/>
                                        <p:tgtEl>
                                          <p:spTgt spid="17"/>
                                        </p:tgtEl>
                                      </p:cBhvr>
                                    </p:animEffect>
                                  </p:childTnLst>
                                </p:cTn>
                              </p:par>
                            </p:childTnLst>
                          </p:cTn>
                        </p:par>
                        <p:par>
                          <p:cTn id="145" fill="hold">
                            <p:stCondLst>
                              <p:cond delay="500"/>
                            </p:stCondLst>
                            <p:childTnLst>
                              <p:par>
                                <p:cTn id="146" presetID="1" presetClass="entr" presetSubtype="0" fill="hold" grpId="0" nodeType="afterEffect">
                                  <p:stCondLst>
                                    <p:cond delay="0"/>
                                  </p:stCondLst>
                                  <p:childTnLst>
                                    <p:set>
                                      <p:cBhvr>
                                        <p:cTn id="147" dur="1" fill="hold">
                                          <p:stCondLst>
                                            <p:cond delay="0"/>
                                          </p:stCondLst>
                                        </p:cTn>
                                        <p:tgtEl>
                                          <p:spTgt spid="132"/>
                                        </p:tgtEl>
                                        <p:attrNameLst>
                                          <p:attrName>style.visibility</p:attrName>
                                        </p:attrNameLst>
                                      </p:cBhvr>
                                      <p:to>
                                        <p:strVal val="visible"/>
                                      </p:to>
                                    </p:set>
                                  </p:childTnLst>
                                </p:cTn>
                              </p:par>
                              <p:par>
                                <p:cTn id="148" presetID="35" presetClass="emph" presetSubtype="0" repeatCount="indefinite" fill="hold" grpId="1" nodeType="withEffect">
                                  <p:stCondLst>
                                    <p:cond delay="0"/>
                                  </p:stCondLst>
                                  <p:endCondLst>
                                    <p:cond evt="onNext" delay="0">
                                      <p:tgtEl>
                                        <p:sldTgt/>
                                      </p:tgtEl>
                                    </p:cond>
                                  </p:endCondLst>
                                  <p:childTnLst>
                                    <p:anim calcmode="discrete" valueType="str">
                                      <p:cBhvr>
                                        <p:cTn id="149" dur="500" fill="hold"/>
                                        <p:tgtEl>
                                          <p:spTgt spid="132"/>
                                        </p:tgtEl>
                                        <p:attrNameLst>
                                          <p:attrName>style.visibility</p:attrName>
                                        </p:attrNameLst>
                                      </p:cBhvr>
                                      <p:tavLst>
                                        <p:tav tm="0">
                                          <p:val>
                                            <p:strVal val="hidden"/>
                                          </p:val>
                                        </p:tav>
                                        <p:tav tm="50000">
                                          <p:val>
                                            <p:strVal val="visible"/>
                                          </p:val>
                                        </p:tav>
                                      </p:tavLst>
                                    </p:anim>
                                  </p:childTnLst>
                                </p:cTn>
                              </p:par>
                            </p:childTnLst>
                          </p:cTn>
                        </p:par>
                      </p:childTnLst>
                    </p:cTn>
                  </p:par>
                  <p:par>
                    <p:cTn id="150" fill="hold">
                      <p:stCondLst>
                        <p:cond delay="indefinite"/>
                      </p:stCondLst>
                      <p:childTnLst>
                        <p:par>
                          <p:cTn id="151" fill="hold">
                            <p:stCondLst>
                              <p:cond delay="0"/>
                            </p:stCondLst>
                            <p:childTnLst>
                              <p:par>
                                <p:cTn id="152" presetID="1" presetClass="exit" presetSubtype="0" fill="hold" grpId="2" nodeType="clickEffect">
                                  <p:stCondLst>
                                    <p:cond delay="0"/>
                                  </p:stCondLst>
                                  <p:childTnLst>
                                    <p:set>
                                      <p:cBhvr>
                                        <p:cTn id="153" dur="1" fill="hold">
                                          <p:stCondLst>
                                            <p:cond delay="0"/>
                                          </p:stCondLst>
                                        </p:cTn>
                                        <p:tgtEl>
                                          <p:spTgt spid="132"/>
                                        </p:tgtEl>
                                        <p:attrNameLst>
                                          <p:attrName>style.visibility</p:attrName>
                                        </p:attrNameLst>
                                      </p:cBhvr>
                                      <p:to>
                                        <p:strVal val="hidden"/>
                                      </p:to>
                                    </p:set>
                                  </p:childTnLst>
                                </p:cTn>
                              </p:par>
                              <p:par>
                                <p:cTn id="154" presetID="10" presetClass="entr" presetSubtype="0" fill="hold" nodeType="withEffect">
                                  <p:stCondLst>
                                    <p:cond delay="0"/>
                                  </p:stCondLst>
                                  <p:childTnLst>
                                    <p:set>
                                      <p:cBhvr>
                                        <p:cTn id="155" dur="1" fill="hold">
                                          <p:stCondLst>
                                            <p:cond delay="0"/>
                                          </p:stCondLst>
                                        </p:cTn>
                                        <p:tgtEl>
                                          <p:spTgt spid="19"/>
                                        </p:tgtEl>
                                        <p:attrNameLst>
                                          <p:attrName>style.visibility</p:attrName>
                                        </p:attrNameLst>
                                      </p:cBhvr>
                                      <p:to>
                                        <p:strVal val="visible"/>
                                      </p:to>
                                    </p:set>
                                    <p:animEffect transition="in" filter="fade">
                                      <p:cBhvr>
                                        <p:cTn id="156" dur="500"/>
                                        <p:tgtEl>
                                          <p:spTgt spid="19"/>
                                        </p:tgtEl>
                                      </p:cBhvr>
                                    </p:animEffect>
                                  </p:childTnLst>
                                </p:cTn>
                              </p:par>
                            </p:childTnLst>
                          </p:cTn>
                        </p:par>
                        <p:par>
                          <p:cTn id="157" fill="hold">
                            <p:stCondLst>
                              <p:cond delay="500"/>
                            </p:stCondLst>
                            <p:childTnLst>
                              <p:par>
                                <p:cTn id="158" presetID="1" presetClass="entr" presetSubtype="0" fill="hold" grpId="0" nodeType="afterEffect">
                                  <p:stCondLst>
                                    <p:cond delay="0"/>
                                  </p:stCondLst>
                                  <p:childTnLst>
                                    <p:set>
                                      <p:cBhvr>
                                        <p:cTn id="159" dur="1" fill="hold">
                                          <p:stCondLst>
                                            <p:cond delay="0"/>
                                          </p:stCondLst>
                                        </p:cTn>
                                        <p:tgtEl>
                                          <p:spTgt spid="133"/>
                                        </p:tgtEl>
                                        <p:attrNameLst>
                                          <p:attrName>style.visibility</p:attrName>
                                        </p:attrNameLst>
                                      </p:cBhvr>
                                      <p:to>
                                        <p:strVal val="visible"/>
                                      </p:to>
                                    </p:set>
                                  </p:childTnLst>
                                </p:cTn>
                              </p:par>
                              <p:par>
                                <p:cTn id="160" presetID="35" presetClass="emph" presetSubtype="0" repeatCount="indefinite" fill="hold" grpId="1" nodeType="withEffect">
                                  <p:stCondLst>
                                    <p:cond delay="0"/>
                                  </p:stCondLst>
                                  <p:endCondLst>
                                    <p:cond evt="onNext" delay="0">
                                      <p:tgtEl>
                                        <p:sldTgt/>
                                      </p:tgtEl>
                                    </p:cond>
                                  </p:endCondLst>
                                  <p:childTnLst>
                                    <p:anim calcmode="discrete" valueType="str">
                                      <p:cBhvr>
                                        <p:cTn id="161" dur="500" fill="hold"/>
                                        <p:tgtEl>
                                          <p:spTgt spid="133"/>
                                        </p:tgtEl>
                                        <p:attrNameLst>
                                          <p:attrName>style.visibility</p:attrName>
                                        </p:attrNameLst>
                                      </p:cBhvr>
                                      <p:tavLst>
                                        <p:tav tm="0">
                                          <p:val>
                                            <p:strVal val="hidden"/>
                                          </p:val>
                                        </p:tav>
                                        <p:tav tm="50000">
                                          <p:val>
                                            <p:strVal val="visible"/>
                                          </p:val>
                                        </p:tav>
                                      </p:tavLst>
                                    </p:anim>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2" nodeType="clickEffect">
                                  <p:stCondLst>
                                    <p:cond delay="0"/>
                                  </p:stCondLst>
                                  <p:childTnLst>
                                    <p:set>
                                      <p:cBhvr>
                                        <p:cTn id="165" dur="1" fill="hold">
                                          <p:stCondLst>
                                            <p:cond delay="0"/>
                                          </p:stCondLst>
                                        </p:cTn>
                                        <p:tgtEl>
                                          <p:spTgt spid="133"/>
                                        </p:tgtEl>
                                        <p:attrNameLst>
                                          <p:attrName>style.visibility</p:attrName>
                                        </p:attrNameLst>
                                      </p:cBhvr>
                                      <p:to>
                                        <p:strVal val="hidden"/>
                                      </p:to>
                                    </p:set>
                                  </p:childTnLst>
                                </p:cTn>
                              </p:par>
                            </p:childTnLst>
                          </p:cTn>
                        </p:par>
                        <p:par>
                          <p:cTn id="166" fill="hold">
                            <p:stCondLst>
                              <p:cond delay="0"/>
                            </p:stCondLst>
                            <p:childTnLst>
                              <p:par>
                                <p:cTn id="167" presetID="10" presetClass="entr" presetSubtype="0" fill="hold" nodeType="afterEffect">
                                  <p:stCondLst>
                                    <p:cond delay="0"/>
                                  </p:stCondLst>
                                  <p:childTnLst>
                                    <p:set>
                                      <p:cBhvr>
                                        <p:cTn id="168" dur="1" fill="hold">
                                          <p:stCondLst>
                                            <p:cond delay="0"/>
                                          </p:stCondLst>
                                        </p:cTn>
                                        <p:tgtEl>
                                          <p:spTgt spid="134"/>
                                        </p:tgtEl>
                                        <p:attrNameLst>
                                          <p:attrName>style.visibility</p:attrName>
                                        </p:attrNameLst>
                                      </p:cBhvr>
                                      <p:to>
                                        <p:strVal val="visible"/>
                                      </p:to>
                                    </p:set>
                                    <p:animEffect transition="in" filter="fade">
                                      <p:cBhvr>
                                        <p:cTn id="169" dur="500"/>
                                        <p:tgtEl>
                                          <p:spTgt spid="134"/>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137"/>
                                        </p:tgtEl>
                                        <p:attrNameLst>
                                          <p:attrName>style.visibility</p:attrName>
                                        </p:attrNameLst>
                                      </p:cBhvr>
                                      <p:to>
                                        <p:strVal val="visible"/>
                                      </p:to>
                                    </p:set>
                                    <p:animEffect transition="in" filter="wipe(left)">
                                      <p:cBhvr>
                                        <p:cTn id="174"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3" grpId="0"/>
      <p:bldP spid="114" grpId="0"/>
      <p:bldP spid="95" grpId="0"/>
      <p:bldP spid="95" grpId="1"/>
      <p:bldP spid="95" grpId="2"/>
      <p:bldP spid="116" grpId="0"/>
      <p:bldP spid="116" grpId="1"/>
      <p:bldP spid="116" grpId="2"/>
      <p:bldP spid="121" grpId="0"/>
      <p:bldP spid="121" grpId="1"/>
      <p:bldP spid="121" grpId="2"/>
      <p:bldP spid="122" grpId="0"/>
      <p:bldP spid="122" grpId="1"/>
      <p:bldP spid="122" grpId="2"/>
      <p:bldP spid="124" grpId="0"/>
      <p:bldP spid="124" grpId="1"/>
      <p:bldP spid="124" grpId="2"/>
      <p:bldP spid="125" grpId="0"/>
      <p:bldP spid="125" grpId="1"/>
      <p:bldP spid="125" grpId="2"/>
      <p:bldP spid="126" grpId="0"/>
      <p:bldP spid="126" grpId="1"/>
      <p:bldP spid="126" grpId="2"/>
      <p:bldP spid="127" grpId="0"/>
      <p:bldP spid="128" grpId="0"/>
      <p:bldP spid="128" grpId="1"/>
      <p:bldP spid="128" grpId="2"/>
      <p:bldP spid="130" grpId="0"/>
      <p:bldP spid="130" grpId="1"/>
      <p:bldP spid="130" grpId="2"/>
      <p:bldP spid="131" grpId="0"/>
      <p:bldP spid="131" grpId="1"/>
      <p:bldP spid="131" grpId="2"/>
      <p:bldP spid="132" grpId="0"/>
      <p:bldP spid="132" grpId="1"/>
      <p:bldP spid="132" grpId="2"/>
      <p:bldP spid="133" grpId="0"/>
      <p:bldP spid="133" grpId="1"/>
      <p:bldP spid="133" grpId="2"/>
      <p:bldP spid="137"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 name="组合 6"/>
          <p:cNvGrpSpPr/>
          <p:nvPr/>
        </p:nvGrpSpPr>
        <p:grpSpPr>
          <a:xfrm>
            <a:off x="1171437" y="3741676"/>
            <a:ext cx="5860666" cy="956444"/>
            <a:chOff x="1284441" y="2751958"/>
            <a:chExt cx="5860666" cy="956444"/>
          </a:xfrm>
        </p:grpSpPr>
        <p:sp>
          <p:nvSpPr>
            <p:cNvPr id="25" name="TextBox 24"/>
            <p:cNvSpPr txBox="1"/>
            <p:nvPr/>
          </p:nvSpPr>
          <p:spPr>
            <a:xfrm>
              <a:off x="1431021" y="2751958"/>
              <a:ext cx="376987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缺页最少，是理想情况</a:t>
              </a:r>
              <a:endParaRPr lang="en-US" altLang="zh-CN" sz="2000" b="1" dirty="0">
                <a:solidFill>
                  <a:srgbClr val="11576A"/>
                </a:solidFill>
                <a:latin typeface="微软雅黑" pitchFamily="34" charset="-122"/>
                <a:ea typeface="微软雅黑" pitchFamily="34" charset="-122"/>
              </a:endParaRPr>
            </a:p>
          </p:txBody>
        </p:sp>
        <p:sp>
          <p:nvSpPr>
            <p:cNvPr id="26" name="TextBox 25"/>
            <p:cNvSpPr txBox="1"/>
            <p:nvPr/>
          </p:nvSpPr>
          <p:spPr>
            <a:xfrm>
              <a:off x="1431021" y="3041414"/>
              <a:ext cx="3193807"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实际系统中</a:t>
              </a:r>
              <a:r>
                <a:rPr lang="zh-CN" altLang="en-US" sz="2000" b="1" dirty="0">
                  <a:solidFill>
                    <a:srgbClr val="C00000"/>
                  </a:solidFill>
                  <a:latin typeface="微软雅黑" pitchFamily="34" charset="-122"/>
                  <a:ea typeface="微软雅黑" pitchFamily="34" charset="-122"/>
                </a:rPr>
                <a:t>无法实现</a:t>
              </a:r>
              <a:endParaRPr lang="en-US" altLang="zh-CN" sz="2000" b="1" dirty="0">
                <a:solidFill>
                  <a:srgbClr val="C00000"/>
                </a:solidFill>
                <a:latin typeface="微软雅黑" pitchFamily="34" charset="-122"/>
                <a:ea typeface="微软雅黑" pitchFamily="34" charset="-122"/>
              </a:endParaRPr>
            </a:p>
          </p:txBody>
        </p:sp>
        <p:sp>
          <p:nvSpPr>
            <p:cNvPr id="27" name="TextBox 26"/>
            <p:cNvSpPr txBox="1"/>
            <p:nvPr/>
          </p:nvSpPr>
          <p:spPr>
            <a:xfrm>
              <a:off x="1431020" y="3308292"/>
              <a:ext cx="5714087"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无法预知每个页面在下次访问前的等待时间</a:t>
              </a:r>
              <a:endParaRPr lang="en-US" altLang="zh-CN" sz="2000" b="1" dirty="0">
                <a:solidFill>
                  <a:srgbClr val="11576A"/>
                </a:solidFill>
                <a:latin typeface="微软雅黑" pitchFamily="34" charset="-122"/>
                <a:ea typeface="微软雅黑" pitchFamily="34" charset="-122"/>
              </a:endParaRPr>
            </a:p>
          </p:txBody>
        </p:sp>
        <p:pic>
          <p:nvPicPr>
            <p:cNvPr id="38" name="图片 37" descr="小点1.png"/>
            <p:cNvPicPr>
              <a:picLocks noChangeAspect="1"/>
            </p:cNvPicPr>
            <p:nvPr/>
          </p:nvPicPr>
          <p:blipFill>
            <a:blip r:embed="rId2" cstate="print"/>
            <a:stretch>
              <a:fillRect/>
            </a:stretch>
          </p:blipFill>
          <p:spPr>
            <a:xfrm>
              <a:off x="1284441" y="3391019"/>
              <a:ext cx="151066" cy="148997"/>
            </a:xfrm>
            <a:prstGeom prst="rect">
              <a:avLst/>
            </a:prstGeom>
            <a:effectLst/>
          </p:spPr>
        </p:pic>
        <p:pic>
          <p:nvPicPr>
            <p:cNvPr id="39" name="图片 38" descr="小点1.png"/>
            <p:cNvPicPr>
              <a:picLocks noChangeAspect="1"/>
            </p:cNvPicPr>
            <p:nvPr/>
          </p:nvPicPr>
          <p:blipFill>
            <a:blip r:embed="rId2" cstate="print"/>
            <a:stretch>
              <a:fillRect/>
            </a:stretch>
          </p:blipFill>
          <p:spPr>
            <a:xfrm>
              <a:off x="1284441" y="3135430"/>
              <a:ext cx="151066" cy="148997"/>
            </a:xfrm>
            <a:prstGeom prst="rect">
              <a:avLst/>
            </a:prstGeom>
            <a:effectLst/>
          </p:spPr>
        </p:pic>
        <p:pic>
          <p:nvPicPr>
            <p:cNvPr id="40" name="图片 39" descr="小点1.png"/>
            <p:cNvPicPr>
              <a:picLocks noChangeAspect="1"/>
            </p:cNvPicPr>
            <p:nvPr/>
          </p:nvPicPr>
          <p:blipFill>
            <a:blip r:embed="rId2" cstate="print"/>
            <a:stretch>
              <a:fillRect/>
            </a:stretch>
          </p:blipFill>
          <p:spPr>
            <a:xfrm>
              <a:off x="1284441" y="2853559"/>
              <a:ext cx="151066" cy="148997"/>
            </a:xfrm>
            <a:prstGeom prst="rect">
              <a:avLst/>
            </a:prstGeom>
            <a:effectLst/>
          </p:spPr>
        </p:pic>
      </p:grpSp>
      <p:grpSp>
        <p:nvGrpSpPr>
          <p:cNvPr id="5" name="组合 4"/>
          <p:cNvGrpSpPr/>
          <p:nvPr/>
        </p:nvGrpSpPr>
        <p:grpSpPr>
          <a:xfrm>
            <a:off x="1171439" y="2678142"/>
            <a:ext cx="7012793" cy="691486"/>
            <a:chOff x="1284441" y="1848664"/>
            <a:chExt cx="7012793" cy="691486"/>
          </a:xfrm>
        </p:grpSpPr>
        <p:sp>
          <p:nvSpPr>
            <p:cNvPr id="21" name="TextBox 20"/>
            <p:cNvSpPr txBox="1"/>
            <p:nvPr/>
          </p:nvSpPr>
          <p:spPr>
            <a:xfrm>
              <a:off x="1431020" y="1848664"/>
              <a:ext cx="6866214"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缺页时，计算内存中每个逻辑页面的下一次访问时间</a:t>
              </a:r>
              <a:endParaRPr lang="en-US" altLang="zh-CN" sz="2000" b="1" dirty="0">
                <a:solidFill>
                  <a:srgbClr val="11576A"/>
                </a:solidFill>
                <a:latin typeface="微软雅黑" pitchFamily="34" charset="-122"/>
                <a:ea typeface="微软雅黑" pitchFamily="34" charset="-122"/>
              </a:endParaRPr>
            </a:p>
          </p:txBody>
        </p:sp>
        <p:sp>
          <p:nvSpPr>
            <p:cNvPr id="24" name="TextBox 23"/>
            <p:cNvSpPr txBox="1"/>
            <p:nvPr/>
          </p:nvSpPr>
          <p:spPr>
            <a:xfrm>
              <a:off x="1431021" y="2140040"/>
              <a:ext cx="4357716"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选择</a:t>
              </a:r>
              <a:r>
                <a:rPr lang="zh-CN" altLang="en-US" sz="2000" b="1" dirty="0">
                  <a:solidFill>
                    <a:srgbClr val="C00000"/>
                  </a:solidFill>
                  <a:latin typeface="微软雅黑" pitchFamily="34" charset="-122"/>
                  <a:ea typeface="微软雅黑" pitchFamily="34" charset="-122"/>
                </a:rPr>
                <a:t>未来最长时间不访问的页面</a:t>
              </a:r>
              <a:endParaRPr lang="en-US" altLang="zh-CN" sz="2000" b="1" dirty="0">
                <a:solidFill>
                  <a:srgbClr val="C00000"/>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2" cstate="print"/>
            <a:stretch>
              <a:fillRect/>
            </a:stretch>
          </p:blipFill>
          <p:spPr>
            <a:xfrm>
              <a:off x="1284441" y="2233423"/>
              <a:ext cx="151066" cy="148997"/>
            </a:xfrm>
            <a:prstGeom prst="rect">
              <a:avLst/>
            </a:prstGeom>
            <a:effectLst/>
          </p:spPr>
        </p:pic>
        <p:pic>
          <p:nvPicPr>
            <p:cNvPr id="42" name="图片 41" descr="小点1.png"/>
            <p:cNvPicPr>
              <a:picLocks noChangeAspect="1"/>
            </p:cNvPicPr>
            <p:nvPr/>
          </p:nvPicPr>
          <p:blipFill>
            <a:blip r:embed="rId2" cstate="print"/>
            <a:stretch>
              <a:fillRect/>
            </a:stretch>
          </p:blipFill>
          <p:spPr>
            <a:xfrm>
              <a:off x="1284441" y="1957673"/>
              <a:ext cx="151066" cy="148997"/>
            </a:xfrm>
            <a:prstGeom prst="rect">
              <a:avLst/>
            </a:prstGeom>
            <a:effectLst/>
          </p:spPr>
        </p:pic>
      </p:grpSp>
      <p:grpSp>
        <p:nvGrpSpPr>
          <p:cNvPr id="3" name="组合 2"/>
          <p:cNvGrpSpPr/>
          <p:nvPr/>
        </p:nvGrpSpPr>
        <p:grpSpPr>
          <a:xfrm>
            <a:off x="1171437" y="1931473"/>
            <a:ext cx="4504298" cy="400110"/>
            <a:chOff x="1284441" y="1205722"/>
            <a:chExt cx="4504298" cy="400110"/>
          </a:xfrm>
        </p:grpSpPr>
        <p:sp>
          <p:nvSpPr>
            <p:cNvPr id="20" name="TextBox 19"/>
            <p:cNvSpPr txBox="1"/>
            <p:nvPr/>
          </p:nvSpPr>
          <p:spPr>
            <a:xfrm>
              <a:off x="1431021" y="1205722"/>
              <a:ext cx="4357718"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置换在未来最长时间不访问的页面</a:t>
              </a:r>
              <a:endParaRPr lang="en-US" altLang="zh-CN" sz="2000" b="1" dirty="0">
                <a:solidFill>
                  <a:srgbClr val="11576A"/>
                </a:solidFill>
                <a:latin typeface="微软雅黑" pitchFamily="34" charset="-122"/>
                <a:ea typeface="微软雅黑" pitchFamily="34" charset="-122"/>
              </a:endParaRPr>
            </a:p>
          </p:txBody>
        </p:sp>
        <p:pic>
          <p:nvPicPr>
            <p:cNvPr id="43" name="图片 42" descr="小点1.png"/>
            <p:cNvPicPr>
              <a:picLocks noChangeAspect="1"/>
            </p:cNvPicPr>
            <p:nvPr/>
          </p:nvPicPr>
          <p:blipFill>
            <a:blip r:embed="rId2" cstate="print"/>
            <a:stretch>
              <a:fillRect/>
            </a:stretch>
          </p:blipFill>
          <p:spPr>
            <a:xfrm>
              <a:off x="1284441" y="1303442"/>
              <a:ext cx="151066" cy="148997"/>
            </a:xfrm>
            <a:prstGeom prst="rect">
              <a:avLst/>
            </a:prstGeom>
            <a:effectLst/>
          </p:spPr>
        </p:pic>
      </p:grpSp>
      <p:grpSp>
        <p:nvGrpSpPr>
          <p:cNvPr id="6" name="组合 5"/>
          <p:cNvGrpSpPr/>
          <p:nvPr/>
        </p:nvGrpSpPr>
        <p:grpSpPr>
          <a:xfrm>
            <a:off x="746161" y="3361356"/>
            <a:ext cx="1784011" cy="461665"/>
            <a:chOff x="859163" y="2443646"/>
            <a:chExt cx="1784011" cy="461665"/>
          </a:xfrm>
        </p:grpSpPr>
        <p:sp>
          <p:nvSpPr>
            <p:cNvPr id="19" name="TextBox 18"/>
            <p:cNvSpPr txBox="1"/>
            <p:nvPr/>
          </p:nvSpPr>
          <p:spPr>
            <a:xfrm>
              <a:off x="1177724" y="2443646"/>
              <a:ext cx="1465450"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算法特征</a:t>
              </a:r>
            </a:p>
          </p:txBody>
        </p:sp>
        <p:sp>
          <p:nvSpPr>
            <p:cNvPr id="45" name="TextBox 44"/>
            <p:cNvSpPr txBox="1"/>
            <p:nvPr/>
          </p:nvSpPr>
          <p:spPr>
            <a:xfrm>
              <a:off x="859163" y="244364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715866" y="2318102"/>
            <a:ext cx="2499814" cy="461665"/>
            <a:chOff x="844524" y="1524812"/>
            <a:chExt cx="2499814" cy="461665"/>
          </a:xfrm>
        </p:grpSpPr>
        <p:sp>
          <p:nvSpPr>
            <p:cNvPr id="18" name="TextBox 17"/>
            <p:cNvSpPr txBox="1"/>
            <p:nvPr/>
          </p:nvSpPr>
          <p:spPr>
            <a:xfrm>
              <a:off x="1175432" y="1524812"/>
              <a:ext cx="2168906"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算法实现</a:t>
              </a:r>
            </a:p>
          </p:txBody>
        </p:sp>
        <p:sp>
          <p:nvSpPr>
            <p:cNvPr id="48" name="TextBox 47"/>
            <p:cNvSpPr txBox="1"/>
            <p:nvPr/>
          </p:nvSpPr>
          <p:spPr>
            <a:xfrm>
              <a:off x="844524" y="152481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2" name="组合 1"/>
          <p:cNvGrpSpPr/>
          <p:nvPr/>
        </p:nvGrpSpPr>
        <p:grpSpPr>
          <a:xfrm>
            <a:off x="731520" y="1556792"/>
            <a:ext cx="1982800" cy="461665"/>
            <a:chOff x="844524" y="855941"/>
            <a:chExt cx="1982800" cy="461665"/>
          </a:xfrm>
        </p:grpSpPr>
        <p:sp>
          <p:nvSpPr>
            <p:cNvPr id="10" name="TextBox 9"/>
            <p:cNvSpPr txBox="1"/>
            <p:nvPr/>
          </p:nvSpPr>
          <p:spPr>
            <a:xfrm>
              <a:off x="1175431" y="855941"/>
              <a:ext cx="1651893"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基本思路</a:t>
              </a:r>
            </a:p>
          </p:txBody>
        </p:sp>
        <p:sp>
          <p:nvSpPr>
            <p:cNvPr id="49" name="TextBox 48"/>
            <p:cNvSpPr txBox="1"/>
            <p:nvPr/>
          </p:nvSpPr>
          <p:spPr>
            <a:xfrm>
              <a:off x="844524" y="855941"/>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9" name="组合 8"/>
          <p:cNvGrpSpPr/>
          <p:nvPr/>
        </p:nvGrpSpPr>
        <p:grpSpPr>
          <a:xfrm>
            <a:off x="1408440" y="4930452"/>
            <a:ext cx="6580234" cy="658788"/>
            <a:chOff x="1277914" y="3929186"/>
            <a:chExt cx="6580234" cy="658788"/>
          </a:xfrm>
        </p:grpSpPr>
        <p:sp>
          <p:nvSpPr>
            <p:cNvPr id="30" name="TextBox 29"/>
            <p:cNvSpPr txBox="1"/>
            <p:nvPr/>
          </p:nvSpPr>
          <p:spPr>
            <a:xfrm>
              <a:off x="1435782" y="3929186"/>
              <a:ext cx="6422366" cy="369332"/>
            </a:xfrm>
            <a:prstGeom prst="rect">
              <a:avLst/>
            </a:prstGeom>
            <a:noFill/>
            <a:effectLst/>
          </p:spPr>
          <p:txBody>
            <a:bodyPr wrap="square" rtlCol="0">
              <a:spAutoFit/>
            </a:bodyPr>
            <a:lstStyle/>
            <a:p>
              <a:pPr marL="0" lvl="1"/>
              <a:r>
                <a:rPr lang="zh-CN" altLang="en-US" b="1" dirty="0">
                  <a:solidFill>
                    <a:srgbClr val="0070C0"/>
                  </a:solidFill>
                  <a:latin typeface="微软雅黑" pitchFamily="34" charset="-122"/>
                  <a:ea typeface="微软雅黑" pitchFamily="34" charset="-122"/>
                </a:rPr>
                <a:t>在模拟器上运行某个程序，并记录每一次的页面访问情况</a:t>
              </a:r>
              <a:endParaRPr lang="en-US" altLang="zh-CN" b="1" dirty="0">
                <a:solidFill>
                  <a:srgbClr val="0070C0"/>
                </a:solidFill>
                <a:latin typeface="微软雅黑" pitchFamily="34" charset="-122"/>
                <a:ea typeface="微软雅黑" pitchFamily="34" charset="-122"/>
              </a:endParaRPr>
            </a:p>
          </p:txBody>
        </p:sp>
        <p:sp>
          <p:nvSpPr>
            <p:cNvPr id="31" name="TextBox 30"/>
            <p:cNvSpPr txBox="1"/>
            <p:nvPr/>
          </p:nvSpPr>
          <p:spPr>
            <a:xfrm>
              <a:off x="1435783" y="4218642"/>
              <a:ext cx="3136217" cy="369332"/>
            </a:xfrm>
            <a:prstGeom prst="rect">
              <a:avLst/>
            </a:prstGeom>
            <a:noFill/>
            <a:effectLst/>
          </p:spPr>
          <p:txBody>
            <a:bodyPr wrap="square" rtlCol="0">
              <a:spAutoFit/>
            </a:bodyPr>
            <a:lstStyle/>
            <a:p>
              <a:pPr marL="0" lvl="1"/>
              <a:r>
                <a:rPr lang="zh-CN" altLang="en-US" b="1" dirty="0">
                  <a:solidFill>
                    <a:srgbClr val="0070C0"/>
                  </a:solidFill>
                  <a:latin typeface="微软雅黑" pitchFamily="34" charset="-122"/>
                  <a:ea typeface="微软雅黑" pitchFamily="34" charset="-122"/>
                </a:rPr>
                <a:t>第二遍运行时使用最优算法</a:t>
              </a:r>
            </a:p>
          </p:txBody>
        </p:sp>
        <p:pic>
          <p:nvPicPr>
            <p:cNvPr id="33" name="图片 32" descr="小点1.png"/>
            <p:cNvPicPr>
              <a:picLocks noChangeAspect="1"/>
            </p:cNvPicPr>
            <p:nvPr/>
          </p:nvPicPr>
          <p:blipFill>
            <a:blip r:embed="rId2" cstate="print"/>
            <a:stretch>
              <a:fillRect/>
            </a:stretch>
          </p:blipFill>
          <p:spPr>
            <a:xfrm>
              <a:off x="1277914" y="4012684"/>
              <a:ext cx="151066" cy="148997"/>
            </a:xfrm>
            <a:prstGeom prst="rect">
              <a:avLst/>
            </a:prstGeom>
            <a:effectLst/>
          </p:spPr>
        </p:pic>
        <p:pic>
          <p:nvPicPr>
            <p:cNvPr id="34" name="图片 33" descr="小点1.png"/>
            <p:cNvPicPr>
              <a:picLocks noChangeAspect="1"/>
            </p:cNvPicPr>
            <p:nvPr/>
          </p:nvPicPr>
          <p:blipFill>
            <a:blip r:embed="rId2" cstate="print"/>
            <a:stretch>
              <a:fillRect/>
            </a:stretch>
          </p:blipFill>
          <p:spPr>
            <a:xfrm>
              <a:off x="1277914" y="4302140"/>
              <a:ext cx="151066" cy="148997"/>
            </a:xfrm>
            <a:prstGeom prst="rect">
              <a:avLst/>
            </a:prstGeom>
            <a:effectLst/>
          </p:spPr>
        </p:pic>
      </p:grpSp>
      <p:grpSp>
        <p:nvGrpSpPr>
          <p:cNvPr id="12" name="组合 11"/>
          <p:cNvGrpSpPr/>
          <p:nvPr/>
        </p:nvGrpSpPr>
        <p:grpSpPr>
          <a:xfrm>
            <a:off x="1179551" y="4618064"/>
            <a:ext cx="4556409" cy="384721"/>
            <a:chOff x="1390781" y="3014145"/>
            <a:chExt cx="4556409" cy="384721"/>
          </a:xfrm>
        </p:grpSpPr>
        <p:sp>
          <p:nvSpPr>
            <p:cNvPr id="29" name="TextBox 28"/>
            <p:cNvSpPr txBox="1"/>
            <p:nvPr/>
          </p:nvSpPr>
          <p:spPr>
            <a:xfrm>
              <a:off x="1529248" y="3014145"/>
              <a:ext cx="4417942" cy="384721"/>
            </a:xfrm>
            <a:prstGeom prst="rect">
              <a:avLst/>
            </a:prstGeom>
            <a:noFill/>
            <a:effectLst/>
          </p:spPr>
          <p:txBody>
            <a:bodyPr wrap="square" rtlCol="0">
              <a:spAutoFit/>
            </a:bodyPr>
            <a:lstStyle/>
            <a:p>
              <a:pPr indent="1588">
                <a:lnSpc>
                  <a:spcPct val="95000"/>
                </a:lnSpc>
                <a:tabLst>
                  <a:tab pos="715963" algn="l"/>
                </a:tabLst>
              </a:pPr>
              <a:r>
                <a:rPr lang="zh-CN" altLang="en-US" sz="2000" b="1" dirty="0">
                  <a:solidFill>
                    <a:srgbClr val="11576A"/>
                  </a:solidFill>
                  <a:latin typeface="微软雅黑" pitchFamily="34" charset="-122"/>
                  <a:ea typeface="微软雅黑" pitchFamily="34" charset="-122"/>
                </a:rPr>
                <a:t>作为置换算法的性能评价依据</a:t>
              </a:r>
            </a:p>
          </p:txBody>
        </p:sp>
        <p:pic>
          <p:nvPicPr>
            <p:cNvPr id="35" name="图片 34" descr="小点1.png"/>
            <p:cNvPicPr>
              <a:picLocks noChangeAspect="1"/>
            </p:cNvPicPr>
            <p:nvPr/>
          </p:nvPicPr>
          <p:blipFill>
            <a:blip r:embed="rId2" cstate="print"/>
            <a:stretch>
              <a:fillRect/>
            </a:stretch>
          </p:blipFill>
          <p:spPr>
            <a:xfrm>
              <a:off x="1390781" y="3118170"/>
              <a:ext cx="151066" cy="148997"/>
            </a:xfrm>
            <a:prstGeom prst="rect">
              <a:avLst/>
            </a:prstGeom>
            <a:effectLst/>
          </p:spPr>
        </p:pic>
      </p:grpSp>
      <p:sp>
        <p:nvSpPr>
          <p:cNvPr id="8" name="文本框 7">
            <a:extLst>
              <a:ext uri="{FF2B5EF4-FFF2-40B4-BE49-F238E27FC236}">
                <a16:creationId xmlns:a16="http://schemas.microsoft.com/office/drawing/2014/main" id="{F57A8CA3-0318-9BF8-2DAA-804D3332335D}"/>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1" name="标题 8">
            <a:extLst>
              <a:ext uri="{FF2B5EF4-FFF2-40B4-BE49-F238E27FC236}">
                <a16:creationId xmlns:a16="http://schemas.microsoft.com/office/drawing/2014/main" id="{FCCE12BD-D07D-6082-E514-E2F3D4B1D26E}"/>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最优页面置换算法</a:t>
            </a:r>
            <a:r>
              <a:rPr lang="en-US" altLang="zh-CN" b="0" kern="0" dirty="0"/>
              <a:t>(OPT, optimal)</a:t>
            </a:r>
          </a:p>
        </p:txBody>
      </p:sp>
      <p:sp>
        <p:nvSpPr>
          <p:cNvPr id="13" name="Rectangle 1">
            <a:extLst>
              <a:ext uri="{FF2B5EF4-FFF2-40B4-BE49-F238E27FC236}">
                <a16:creationId xmlns:a16="http://schemas.microsoft.com/office/drawing/2014/main" id="{D89BB34B-B804-453C-BEAD-949ED3337971}"/>
              </a:ext>
            </a:extLst>
          </p:cNvPr>
          <p:cNvSpPr>
            <a:spLocks noChangeArrowheads="1"/>
          </p:cNvSpPr>
          <p:nvPr/>
        </p:nvSpPr>
        <p:spPr bwMode="auto">
          <a:xfrm>
            <a:off x="1699451" y="5532116"/>
            <a:ext cx="5624745" cy="830997"/>
          </a:xfrm>
          <a:prstGeom prst="rect">
            <a:avLst/>
          </a:prstGeom>
          <a:solidFill>
            <a:srgbClr val="FDFDF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111111"/>
                </a:solidFill>
                <a:effectLst/>
                <a:latin typeface="Arial" panose="020B0604020202020204" pitchFamily="34" charset="0"/>
                <a:ea typeface="Helvetica Neue"/>
              </a:rPr>
              <a:t>Paper Title: </a:t>
            </a:r>
            <a:r>
              <a:rPr kumimoji="0" lang="zh-CN" altLang="zh-CN" sz="1000" b="0" i="0" u="none" strike="noStrike" cap="none" normalizeH="0" baseline="0" dirty="0">
                <a:ln>
                  <a:noFill/>
                </a:ln>
                <a:solidFill>
                  <a:schemeClr val="tx1"/>
                </a:solidFill>
                <a:effectLst/>
                <a:latin typeface="Arial" panose="020B0604020202020204" pitchFamily="34" charset="0"/>
              </a:rPr>
              <a:t>Benchmarking, Analysis, and Optimization of Serverless Function Snaphots</a:t>
            </a:r>
            <a:br>
              <a:rPr kumimoji="0" lang="zh-CN" altLang="zh-CN" sz="2400" b="0" i="0" u="none" strike="noStrike" cap="none" normalizeH="0" baseline="0" dirty="0">
                <a:ln>
                  <a:noFill/>
                </a:ln>
                <a:solidFill>
                  <a:schemeClr val="tx1"/>
                </a:solidFill>
                <a:effectLst/>
                <a:latin typeface="Arial" panose="020B0604020202020204" pitchFamily="34" charset="0"/>
              </a:rPr>
            </a:br>
            <a:r>
              <a:rPr kumimoji="0" lang="zh-CN" altLang="zh-CN" sz="1600" b="1" i="0" u="none" strike="noStrike" cap="none" normalizeH="0" baseline="0" dirty="0">
                <a:ln>
                  <a:noFill/>
                </a:ln>
                <a:solidFill>
                  <a:srgbClr val="111111"/>
                </a:solidFill>
                <a:effectLst/>
                <a:latin typeface="Arial" panose="020B0604020202020204" pitchFamily="34" charset="0"/>
                <a:ea typeface="Helvetica Neue"/>
              </a:rPr>
              <a:t>Link: </a:t>
            </a:r>
            <a:r>
              <a:rPr kumimoji="0" lang="zh-CN" altLang="zh-CN" sz="1600" b="0" i="0" u="none" strike="noStrike" cap="none" normalizeH="0" baseline="0" dirty="0">
                <a:ln>
                  <a:noFill/>
                </a:ln>
                <a:solidFill>
                  <a:srgbClr val="2A7AE2"/>
                </a:solidFill>
                <a:effectLst/>
                <a:latin typeface="Arial" panose="020B0604020202020204" pitchFamily="34" charset="0"/>
                <a:ea typeface="Helvetica Neue"/>
                <a:hlinkClick r:id="rId3"/>
              </a:rPr>
              <a:t>https://dl.acm.org/doi/10.1145/3445814.3446714</a:t>
            </a:r>
            <a:br>
              <a:rPr kumimoji="0" lang="zh-CN" altLang="zh-CN" sz="1000" b="0" i="0" u="none" strike="noStrike" cap="none" normalizeH="0" baseline="0" dirty="0">
                <a:ln>
                  <a:noFill/>
                </a:ln>
                <a:solidFill>
                  <a:schemeClr val="tx1"/>
                </a:solidFill>
                <a:effectLst/>
                <a:latin typeface="Arial" panose="020B0604020202020204" pitchFamily="34" charset="0"/>
              </a:rPr>
            </a:br>
            <a:r>
              <a:rPr kumimoji="0" lang="zh-CN" altLang="zh-CN" sz="1600" b="1" i="0" u="none" strike="noStrike" cap="none" normalizeH="0" baseline="0" dirty="0">
                <a:ln>
                  <a:noFill/>
                </a:ln>
                <a:solidFill>
                  <a:srgbClr val="111111"/>
                </a:solidFill>
                <a:effectLst/>
                <a:latin typeface="Arial" panose="020B0604020202020204" pitchFamily="34" charset="0"/>
                <a:ea typeface="Helvetica Neue"/>
              </a:rPr>
              <a:t>Year: </a:t>
            </a:r>
            <a:r>
              <a:rPr kumimoji="0" lang="zh-CN" altLang="zh-CN" sz="1600" b="0" i="0" u="none" strike="noStrike" cap="none" normalizeH="0" baseline="0" dirty="0">
                <a:ln>
                  <a:noFill/>
                </a:ln>
                <a:solidFill>
                  <a:srgbClr val="111111"/>
                </a:solidFill>
                <a:effectLst/>
                <a:latin typeface="Arial" panose="020B0604020202020204" pitchFamily="34" charset="0"/>
                <a:ea typeface="Helvetica Neue"/>
              </a:rPr>
              <a:t>ASPLOS 2021</a:t>
            </a:r>
            <a:r>
              <a:rPr kumimoji="0" lang="zh-CN" altLang="zh-CN" sz="1000" b="0" i="0" u="none" strike="noStrike" cap="none" normalizeH="0" baseline="0" dirty="0">
                <a:ln>
                  <a:noFill/>
                </a:ln>
                <a:solidFill>
                  <a:schemeClr val="tx1"/>
                </a:solidFill>
                <a:effectLst/>
                <a:latin typeface="Arial" panose="020B0604020202020204" pitchFamily="34" charset="0"/>
              </a:rPr>
              <a:t> </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757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Box 131"/>
          <p:cNvSpPr txBox="1"/>
          <p:nvPr/>
        </p:nvSpPr>
        <p:spPr>
          <a:xfrm>
            <a:off x="3092891" y="2057976"/>
            <a:ext cx="2395207" cy="400110"/>
          </a:xfrm>
          <a:prstGeom prst="rect">
            <a:avLst/>
          </a:prstGeom>
          <a:noFill/>
        </p:spPr>
        <p:txBody>
          <a:bodyPr wrap="none" rtlCol="0">
            <a:spAutoFit/>
          </a:bodyPr>
          <a:lstStyle/>
          <a:p>
            <a:r>
              <a:rPr lang="zh-CN" altLang="en-US" sz="2000" b="1" dirty="0">
                <a:solidFill>
                  <a:srgbClr val="11576A"/>
                </a:solidFill>
                <a:latin typeface="微软雅黑" pitchFamily="34" charset="-122"/>
                <a:ea typeface="微软雅黑" pitchFamily="34" charset="-122"/>
              </a:rPr>
              <a:t>在</a:t>
            </a:r>
            <a:r>
              <a:rPr lang="en-US" altLang="zh-CN" sz="2000" b="1" dirty="0">
                <a:solidFill>
                  <a:srgbClr val="11576A"/>
                </a:solidFill>
                <a:latin typeface="微软雅黑" pitchFamily="34" charset="-122"/>
                <a:ea typeface="微软雅黑" pitchFamily="34" charset="-122"/>
              </a:rPr>
              <a:t>4</a:t>
            </a:r>
            <a:r>
              <a:rPr lang="zh-CN" altLang="en-US" sz="2000" b="1" dirty="0">
                <a:solidFill>
                  <a:srgbClr val="11576A"/>
                </a:solidFill>
                <a:latin typeface="微软雅黑" pitchFamily="34" charset="-122"/>
                <a:ea typeface="微软雅黑" pitchFamily="34" charset="-122"/>
              </a:rPr>
              <a:t>个页帧中执行：</a:t>
            </a:r>
          </a:p>
        </p:txBody>
      </p:sp>
      <p:grpSp>
        <p:nvGrpSpPr>
          <p:cNvPr id="23" name="组合 22"/>
          <p:cNvGrpSpPr/>
          <p:nvPr/>
        </p:nvGrpSpPr>
        <p:grpSpPr>
          <a:xfrm>
            <a:off x="3198196" y="2385003"/>
            <a:ext cx="3583189" cy="369332"/>
            <a:chOff x="988811" y="1447439"/>
            <a:chExt cx="3583189" cy="369332"/>
          </a:xfrm>
        </p:grpSpPr>
        <p:sp>
          <p:nvSpPr>
            <p:cNvPr id="133" name="TextBox 132"/>
            <p:cNvSpPr txBox="1"/>
            <p:nvPr/>
          </p:nvSpPr>
          <p:spPr>
            <a:xfrm>
              <a:off x="1123274" y="1447439"/>
              <a:ext cx="3448726" cy="369332"/>
            </a:xfrm>
            <a:prstGeom prst="rect">
              <a:avLst/>
            </a:prstGeom>
            <a:noFill/>
          </p:spPr>
          <p:txBody>
            <a:bodyPr wrap="square" rtlCol="0">
              <a:spAutoFit/>
            </a:bodyPr>
            <a:lstStyle/>
            <a:p>
              <a:r>
                <a:rPr lang="zh-CN" altLang="en-US" b="1" dirty="0">
                  <a:solidFill>
                    <a:srgbClr val="11576A"/>
                  </a:solidFill>
                  <a:latin typeface="微软雅黑" pitchFamily="34" charset="-122"/>
                  <a:ea typeface="微软雅黑" pitchFamily="34" charset="-122"/>
                </a:rPr>
                <a:t>假定初始</a:t>
              </a:r>
              <a:r>
                <a:rPr lang="en-US" altLang="zh-CN" b="1" dirty="0">
                  <a:solidFill>
                    <a:srgbClr val="11576A"/>
                  </a:solidFill>
                  <a:latin typeface="微软雅黑" pitchFamily="34" charset="-122"/>
                  <a:ea typeface="微软雅黑" pitchFamily="34" charset="-122"/>
                </a:rPr>
                <a:t>a-</a:t>
              </a:r>
              <a:r>
                <a:rPr lang="zh-CN" altLang="en-US" b="1" dirty="0">
                  <a:solidFill>
                    <a:srgbClr val="11576A"/>
                  </a:solidFill>
                  <a:latin typeface="微软雅黑" pitchFamily="34" charset="-122"/>
                  <a:ea typeface="微软雅黑" pitchFamily="34" charset="-122"/>
                </a:rPr>
                <a:t>＞</a:t>
              </a:r>
              <a:r>
                <a:rPr lang="en-US" altLang="zh-CN" b="1" dirty="0">
                  <a:solidFill>
                    <a:srgbClr val="11576A"/>
                  </a:solidFill>
                  <a:latin typeface="微软雅黑" pitchFamily="34" charset="-122"/>
                  <a:ea typeface="微软雅黑" pitchFamily="34" charset="-122"/>
                </a:rPr>
                <a:t>b-</a:t>
              </a:r>
              <a:r>
                <a:rPr lang="zh-CN" altLang="en-US" b="1" dirty="0">
                  <a:solidFill>
                    <a:srgbClr val="11576A"/>
                  </a:solidFill>
                  <a:latin typeface="微软雅黑" pitchFamily="34" charset="-122"/>
                  <a:ea typeface="微软雅黑" pitchFamily="34" charset="-122"/>
                </a:rPr>
                <a:t>＞</a:t>
              </a:r>
              <a:r>
                <a:rPr lang="en-US" altLang="zh-CN" b="1" dirty="0">
                  <a:solidFill>
                    <a:srgbClr val="11576A"/>
                  </a:solidFill>
                  <a:latin typeface="微软雅黑" pitchFamily="34" charset="-122"/>
                  <a:ea typeface="微软雅黑" pitchFamily="34" charset="-122"/>
                </a:rPr>
                <a:t>c-</a:t>
              </a:r>
              <a:r>
                <a:rPr lang="zh-CN" altLang="en-US" b="1" dirty="0">
                  <a:solidFill>
                    <a:srgbClr val="11576A"/>
                  </a:solidFill>
                  <a:latin typeface="微软雅黑" pitchFamily="34" charset="-122"/>
                  <a:ea typeface="微软雅黑" pitchFamily="34" charset="-122"/>
                </a:rPr>
                <a:t>＞</a:t>
              </a:r>
              <a:r>
                <a:rPr lang="en-US" altLang="zh-CN" b="1" dirty="0">
                  <a:solidFill>
                    <a:srgbClr val="11576A"/>
                  </a:solidFill>
                  <a:latin typeface="微软雅黑" pitchFamily="34" charset="-122"/>
                  <a:ea typeface="微软雅黑" pitchFamily="34" charset="-122"/>
                </a:rPr>
                <a:t>d</a:t>
              </a:r>
              <a:r>
                <a:rPr lang="zh-CN" altLang="en-US" b="1" dirty="0">
                  <a:solidFill>
                    <a:srgbClr val="11576A"/>
                  </a:solidFill>
                  <a:latin typeface="微软雅黑" pitchFamily="34" charset="-122"/>
                  <a:ea typeface="微软雅黑" pitchFamily="34" charset="-122"/>
                </a:rPr>
                <a:t>顺序</a:t>
              </a:r>
            </a:p>
          </p:txBody>
        </p:sp>
        <p:pic>
          <p:nvPicPr>
            <p:cNvPr id="134" name="图片 133" descr="小点1.png"/>
            <p:cNvPicPr>
              <a:picLocks noChangeAspect="1"/>
            </p:cNvPicPr>
            <p:nvPr/>
          </p:nvPicPr>
          <p:blipFill>
            <a:blip r:embed="rId3" cstate="print"/>
            <a:stretch>
              <a:fillRect/>
            </a:stretch>
          </p:blipFill>
          <p:spPr>
            <a:xfrm>
              <a:off x="988811" y="1556448"/>
              <a:ext cx="151066" cy="148997"/>
            </a:xfrm>
            <a:prstGeom prst="rect">
              <a:avLst/>
            </a:prstGeom>
            <a:effectLst/>
          </p:spPr>
        </p:pic>
      </p:grpSp>
      <p:grpSp>
        <p:nvGrpSpPr>
          <p:cNvPr id="2" name="组合 1"/>
          <p:cNvGrpSpPr/>
          <p:nvPr/>
        </p:nvGrpSpPr>
        <p:grpSpPr>
          <a:xfrm>
            <a:off x="6769622" y="1817190"/>
            <a:ext cx="1836384" cy="1302789"/>
            <a:chOff x="4560239" y="879624"/>
            <a:chExt cx="1836384" cy="1302789"/>
          </a:xfrm>
        </p:grpSpPr>
        <p:sp>
          <p:nvSpPr>
            <p:cNvPr id="24" name="TextBox 23"/>
            <p:cNvSpPr txBox="1"/>
            <p:nvPr/>
          </p:nvSpPr>
          <p:spPr>
            <a:xfrm>
              <a:off x="5322023" y="879624"/>
              <a:ext cx="486000" cy="297517"/>
            </a:xfrm>
            <a:prstGeom prst="rect">
              <a:avLst/>
            </a:prstGeom>
            <a:noFill/>
            <a:effectLst/>
          </p:spPr>
          <p:txBody>
            <a:bodyPr wrap="square" rtlCol="0">
              <a:spAutoFit/>
            </a:bodyPr>
            <a:lstStyle/>
            <a:p>
              <a:pPr marL="342900" indent="-342900" algn="ctr">
                <a:spcBef>
                  <a:spcPct val="20000"/>
                </a:spcBef>
              </a:pPr>
              <a:r>
                <a:rPr lang="en-US" altLang="zh-CN" sz="2000" b="1" baseline="-25000" dirty="0">
                  <a:solidFill>
                    <a:srgbClr val="11576A"/>
                  </a:solidFill>
                  <a:latin typeface="微软雅黑" pitchFamily="34" charset="-122"/>
                  <a:ea typeface="微软雅黑" pitchFamily="34" charset="-122"/>
                </a:rPr>
                <a:t>b</a:t>
              </a:r>
              <a:endParaRPr lang="zh-CN" altLang="en-US" sz="2000" b="1" baseline="-25000" dirty="0">
                <a:solidFill>
                  <a:srgbClr val="11576A"/>
                </a:solidFill>
                <a:latin typeface="微软雅黑" pitchFamily="34" charset="-122"/>
                <a:ea typeface="微软雅黑" pitchFamily="34" charset="-122"/>
              </a:endParaRPr>
            </a:p>
          </p:txBody>
        </p:sp>
        <p:sp>
          <p:nvSpPr>
            <p:cNvPr id="166" name="矩形 165"/>
            <p:cNvSpPr/>
            <p:nvPr/>
          </p:nvSpPr>
          <p:spPr>
            <a:xfrm>
              <a:off x="5197561" y="965349"/>
              <a:ext cx="720000" cy="864000"/>
            </a:xfrm>
            <a:prstGeom prst="rect">
              <a:avLst/>
            </a:prstGeom>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8" name="直接连接符 167"/>
            <p:cNvCxnSpPr>
              <a:stCxn id="166" idx="1"/>
              <a:endCxn id="166" idx="3"/>
            </p:cNvCxnSpPr>
            <p:nvPr/>
          </p:nvCxnSpPr>
          <p:spPr>
            <a:xfrm rot="10800000" flipH="1">
              <a:off x="5197561" y="1397349"/>
              <a:ext cx="72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rot="10800000" flipH="1">
              <a:off x="5197561" y="1179663"/>
              <a:ext cx="72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rot="10800000" flipH="1">
              <a:off x="5197561" y="1608291"/>
              <a:ext cx="72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2" name="直接箭头连接符 171"/>
            <p:cNvCxnSpPr/>
            <p:nvPr/>
          </p:nvCxnSpPr>
          <p:spPr>
            <a:xfrm>
              <a:off x="4560239" y="1070125"/>
              <a:ext cx="500066" cy="1588"/>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173" name="TextBox 172"/>
            <p:cNvSpPr txBox="1"/>
            <p:nvPr/>
          </p:nvSpPr>
          <p:spPr>
            <a:xfrm>
              <a:off x="5322023" y="1103463"/>
              <a:ext cx="486000" cy="297517"/>
            </a:xfrm>
            <a:prstGeom prst="rect">
              <a:avLst/>
            </a:prstGeom>
            <a:noFill/>
            <a:effectLst/>
          </p:spPr>
          <p:txBody>
            <a:bodyPr wrap="square" rtlCol="0">
              <a:spAutoFit/>
            </a:bodyPr>
            <a:lstStyle/>
            <a:p>
              <a:pPr marL="342900" indent="-342900" algn="ctr">
                <a:spcBef>
                  <a:spcPct val="20000"/>
                </a:spcBef>
              </a:pPr>
              <a:r>
                <a:rPr lang="en-US" altLang="zh-CN" sz="2000" b="1" baseline="-25000" dirty="0">
                  <a:solidFill>
                    <a:srgbClr val="11576A"/>
                  </a:solidFill>
                  <a:latin typeface="微软雅黑" pitchFamily="34" charset="-122"/>
                  <a:ea typeface="微软雅黑" pitchFamily="34" charset="-122"/>
                </a:rPr>
                <a:t>a</a:t>
              </a:r>
              <a:endParaRPr lang="zh-CN" altLang="en-US" sz="2000" b="1" baseline="-25000" dirty="0">
                <a:solidFill>
                  <a:srgbClr val="11576A"/>
                </a:solidFill>
                <a:latin typeface="微软雅黑" pitchFamily="34" charset="-122"/>
                <a:ea typeface="微软雅黑" pitchFamily="34" charset="-122"/>
              </a:endParaRPr>
            </a:p>
          </p:txBody>
        </p:sp>
        <p:sp>
          <p:nvSpPr>
            <p:cNvPr id="174" name="TextBox 173"/>
            <p:cNvSpPr txBox="1"/>
            <p:nvPr/>
          </p:nvSpPr>
          <p:spPr>
            <a:xfrm>
              <a:off x="5322023" y="1308252"/>
              <a:ext cx="486000" cy="297517"/>
            </a:xfrm>
            <a:prstGeom prst="rect">
              <a:avLst/>
            </a:prstGeom>
            <a:noFill/>
            <a:effectLst/>
          </p:spPr>
          <p:txBody>
            <a:bodyPr wrap="square" rtlCol="0">
              <a:spAutoFit/>
            </a:bodyPr>
            <a:lstStyle/>
            <a:p>
              <a:pPr marL="342900" indent="-342900" algn="ctr">
                <a:spcBef>
                  <a:spcPct val="20000"/>
                </a:spcBef>
              </a:pPr>
              <a:r>
                <a:rPr lang="en-US" altLang="zh-CN" sz="2000" b="1" baseline="-25000" dirty="0">
                  <a:solidFill>
                    <a:srgbClr val="11576A"/>
                  </a:solidFill>
                  <a:latin typeface="微软雅黑" pitchFamily="34" charset="-122"/>
                  <a:ea typeface="微软雅黑" pitchFamily="34" charset="-122"/>
                </a:rPr>
                <a:t>c</a:t>
              </a:r>
              <a:endParaRPr lang="zh-CN" altLang="en-US" sz="2000" b="1" baseline="-25000" dirty="0">
                <a:solidFill>
                  <a:srgbClr val="11576A"/>
                </a:solidFill>
                <a:latin typeface="微软雅黑" pitchFamily="34" charset="-122"/>
                <a:ea typeface="微软雅黑" pitchFamily="34" charset="-122"/>
              </a:endParaRPr>
            </a:p>
          </p:txBody>
        </p:sp>
        <p:sp>
          <p:nvSpPr>
            <p:cNvPr id="175" name="TextBox 174"/>
            <p:cNvSpPr txBox="1"/>
            <p:nvPr/>
          </p:nvSpPr>
          <p:spPr>
            <a:xfrm>
              <a:off x="4891083" y="1813081"/>
              <a:ext cx="1505540" cy="369332"/>
            </a:xfrm>
            <a:prstGeom prst="rect">
              <a:avLst/>
            </a:prstGeom>
            <a:noFill/>
          </p:spPr>
          <p:txBody>
            <a:bodyPr wrap="none" rtlCol="0">
              <a:spAutoFit/>
            </a:bodyPr>
            <a:lstStyle/>
            <a:p>
              <a:r>
                <a:rPr lang="zh-CN" altLang="en-US" b="1" spc="-100" dirty="0">
                  <a:solidFill>
                    <a:srgbClr val="11576A"/>
                  </a:solidFill>
                  <a:latin typeface="微软雅黑" pitchFamily="34" charset="-122"/>
                  <a:ea typeface="微软雅黑" pitchFamily="34" charset="-122"/>
                </a:rPr>
                <a:t>访问页面链表</a:t>
              </a:r>
            </a:p>
          </p:txBody>
        </p:sp>
      </p:grpSp>
      <p:grpSp>
        <p:nvGrpSpPr>
          <p:cNvPr id="42" name="组合 41"/>
          <p:cNvGrpSpPr/>
          <p:nvPr/>
        </p:nvGrpSpPr>
        <p:grpSpPr>
          <a:xfrm>
            <a:off x="2567609" y="3206254"/>
            <a:ext cx="6491829" cy="2599010"/>
            <a:chOff x="358224" y="2268690"/>
            <a:chExt cx="6491829" cy="2599010"/>
          </a:xfrm>
        </p:grpSpPr>
        <p:sp>
          <p:nvSpPr>
            <p:cNvPr id="8" name="矩形 7"/>
            <p:cNvSpPr/>
            <p:nvPr/>
          </p:nvSpPr>
          <p:spPr>
            <a:xfrm>
              <a:off x="358224" y="2347700"/>
              <a:ext cx="6429420" cy="25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a:p>
          </p:txBody>
        </p:sp>
        <p:cxnSp>
          <p:nvCxnSpPr>
            <p:cNvPr id="13" name="直接连接符 12"/>
            <p:cNvCxnSpPr/>
            <p:nvPr/>
          </p:nvCxnSpPr>
          <p:spPr>
            <a:xfrm>
              <a:off x="429662" y="2704890"/>
              <a:ext cx="6286544" cy="1588"/>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29662" y="3062080"/>
              <a:ext cx="628654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29662" y="4490840"/>
              <a:ext cx="628654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763044" y="3756622"/>
              <a:ext cx="128588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a:off x="835273" y="3400226"/>
              <a:ext cx="200026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115226" y="2268690"/>
              <a:ext cx="734827" cy="420628"/>
            </a:xfrm>
            <a:prstGeom prst="rect">
              <a:avLst/>
            </a:prstGeom>
            <a:noFill/>
            <a:effectLst/>
          </p:spPr>
          <p:txBody>
            <a:bodyPr wrap="square" rtlCol="0" anchor="ctr">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10</a:t>
              </a:r>
              <a:endParaRPr lang="zh-CN" altLang="en-US" sz="3200" b="1" baseline="-25000" dirty="0">
                <a:solidFill>
                  <a:srgbClr val="11576A"/>
                </a:solidFill>
                <a:latin typeface="微软雅黑" pitchFamily="34" charset="-122"/>
                <a:ea typeface="微软雅黑" pitchFamily="34" charset="-122"/>
              </a:endParaRPr>
            </a:p>
          </p:txBody>
        </p:sp>
        <p:sp>
          <p:nvSpPr>
            <p:cNvPr id="22" name="TextBox 21"/>
            <p:cNvSpPr txBox="1"/>
            <p:nvPr/>
          </p:nvSpPr>
          <p:spPr>
            <a:xfrm>
              <a:off x="5774812"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9</a:t>
              </a:r>
              <a:endParaRPr lang="zh-CN" altLang="en-US" sz="3200" b="1" baseline="-25000" dirty="0">
                <a:solidFill>
                  <a:srgbClr val="11576A"/>
                </a:solidFill>
                <a:latin typeface="微软雅黑" pitchFamily="34" charset="-122"/>
                <a:ea typeface="微软雅黑" pitchFamily="34" charset="-122"/>
              </a:endParaRPr>
            </a:p>
          </p:txBody>
        </p:sp>
        <p:sp>
          <p:nvSpPr>
            <p:cNvPr id="25" name="TextBox 24"/>
            <p:cNvSpPr txBox="1"/>
            <p:nvPr/>
          </p:nvSpPr>
          <p:spPr>
            <a:xfrm>
              <a:off x="4301380"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6</a:t>
              </a:r>
              <a:endParaRPr lang="zh-CN" altLang="en-US" sz="3200" b="1" baseline="-25000" dirty="0">
                <a:solidFill>
                  <a:srgbClr val="11576A"/>
                </a:solidFill>
                <a:latin typeface="微软雅黑" pitchFamily="34" charset="-122"/>
                <a:ea typeface="微软雅黑" pitchFamily="34" charset="-122"/>
              </a:endParaRPr>
            </a:p>
          </p:txBody>
        </p:sp>
        <p:sp>
          <p:nvSpPr>
            <p:cNvPr id="26" name="TextBox 25"/>
            <p:cNvSpPr txBox="1"/>
            <p:nvPr/>
          </p:nvSpPr>
          <p:spPr>
            <a:xfrm>
              <a:off x="3793598"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5</a:t>
              </a:r>
              <a:endParaRPr lang="zh-CN" altLang="en-US" sz="3200" b="1" baseline="-25000" dirty="0">
                <a:solidFill>
                  <a:srgbClr val="11576A"/>
                </a:solidFill>
                <a:latin typeface="微软雅黑" pitchFamily="34" charset="-122"/>
                <a:ea typeface="微软雅黑" pitchFamily="34" charset="-122"/>
              </a:endParaRPr>
            </a:p>
          </p:txBody>
        </p:sp>
        <p:sp>
          <p:nvSpPr>
            <p:cNvPr id="27" name="TextBox 26"/>
            <p:cNvSpPr txBox="1"/>
            <p:nvPr/>
          </p:nvSpPr>
          <p:spPr>
            <a:xfrm>
              <a:off x="3294898"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4</a:t>
              </a:r>
              <a:endParaRPr lang="zh-CN" altLang="en-US" sz="3200" b="1" baseline="-25000" dirty="0">
                <a:solidFill>
                  <a:srgbClr val="11576A"/>
                </a:solidFill>
                <a:latin typeface="微软雅黑" pitchFamily="34" charset="-122"/>
                <a:ea typeface="微软雅黑" pitchFamily="34" charset="-122"/>
              </a:endParaRPr>
            </a:p>
          </p:txBody>
        </p:sp>
        <p:sp>
          <p:nvSpPr>
            <p:cNvPr id="28" name="TextBox 27"/>
            <p:cNvSpPr txBox="1"/>
            <p:nvPr/>
          </p:nvSpPr>
          <p:spPr>
            <a:xfrm>
              <a:off x="2780766"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29" name="TextBox 28"/>
            <p:cNvSpPr txBox="1"/>
            <p:nvPr/>
          </p:nvSpPr>
          <p:spPr>
            <a:xfrm>
              <a:off x="2304292"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30" name="TextBox 29"/>
            <p:cNvSpPr txBox="1"/>
            <p:nvPr/>
          </p:nvSpPr>
          <p:spPr>
            <a:xfrm>
              <a:off x="1802860"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31" name="TextBox 30"/>
            <p:cNvSpPr txBox="1"/>
            <p:nvPr/>
          </p:nvSpPr>
          <p:spPr>
            <a:xfrm>
              <a:off x="6258102"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32" name="TextBox 31"/>
            <p:cNvSpPr txBox="1"/>
            <p:nvPr/>
          </p:nvSpPr>
          <p:spPr>
            <a:xfrm>
              <a:off x="5793862"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33" name="TextBox 32"/>
            <p:cNvSpPr txBox="1"/>
            <p:nvPr/>
          </p:nvSpPr>
          <p:spPr>
            <a:xfrm>
              <a:off x="5295162"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4" name="TextBox 33"/>
            <p:cNvSpPr txBox="1"/>
            <p:nvPr/>
          </p:nvSpPr>
          <p:spPr>
            <a:xfrm>
              <a:off x="4787380"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35" name="TextBox 34"/>
            <p:cNvSpPr txBox="1"/>
            <p:nvPr/>
          </p:nvSpPr>
          <p:spPr>
            <a:xfrm>
              <a:off x="4301380"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6" name="TextBox 35"/>
            <p:cNvSpPr txBox="1"/>
            <p:nvPr/>
          </p:nvSpPr>
          <p:spPr>
            <a:xfrm>
              <a:off x="3793598"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37" name="TextBox 36"/>
            <p:cNvSpPr txBox="1"/>
            <p:nvPr/>
          </p:nvSpPr>
          <p:spPr>
            <a:xfrm>
              <a:off x="3294898"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8" name="TextBox 37"/>
            <p:cNvSpPr txBox="1"/>
            <p:nvPr/>
          </p:nvSpPr>
          <p:spPr>
            <a:xfrm>
              <a:off x="2780766"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39" name="TextBox 38"/>
            <p:cNvSpPr txBox="1"/>
            <p:nvPr/>
          </p:nvSpPr>
          <p:spPr>
            <a:xfrm>
              <a:off x="2304292"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40" name="TextBox 39"/>
            <p:cNvSpPr txBox="1"/>
            <p:nvPr/>
          </p:nvSpPr>
          <p:spPr>
            <a:xfrm>
              <a:off x="1802860" y="257947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97" name="TextBox 96"/>
            <p:cNvSpPr txBox="1"/>
            <p:nvPr/>
          </p:nvSpPr>
          <p:spPr>
            <a:xfrm>
              <a:off x="903446"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98" name="TextBox 97"/>
            <p:cNvSpPr txBox="1"/>
            <p:nvPr/>
          </p:nvSpPr>
          <p:spPr>
            <a:xfrm>
              <a:off x="903446"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99" name="TextBox 98"/>
            <p:cNvSpPr txBox="1"/>
            <p:nvPr/>
          </p:nvSpPr>
          <p:spPr>
            <a:xfrm>
              <a:off x="903446"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100" name="TextBox 99"/>
            <p:cNvSpPr txBox="1"/>
            <p:nvPr/>
          </p:nvSpPr>
          <p:spPr>
            <a:xfrm>
              <a:off x="903446"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101" name="TextBox 100"/>
            <p:cNvSpPr txBox="1"/>
            <p:nvPr/>
          </p:nvSpPr>
          <p:spPr>
            <a:xfrm>
              <a:off x="1370174"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02" name="TextBox 101"/>
            <p:cNvSpPr txBox="1"/>
            <p:nvPr/>
          </p:nvSpPr>
          <p:spPr>
            <a:xfrm>
              <a:off x="1370174"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03" name="TextBox 102"/>
            <p:cNvSpPr txBox="1"/>
            <p:nvPr/>
          </p:nvSpPr>
          <p:spPr>
            <a:xfrm>
              <a:off x="1370174"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04" name="TextBox 103"/>
            <p:cNvSpPr txBox="1"/>
            <p:nvPr/>
          </p:nvSpPr>
          <p:spPr>
            <a:xfrm>
              <a:off x="1370174"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105" name="TextBox 104"/>
            <p:cNvSpPr txBox="1"/>
            <p:nvPr/>
          </p:nvSpPr>
          <p:spPr>
            <a:xfrm>
              <a:off x="1360428" y="227150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106" name="TextBox 105"/>
            <p:cNvSpPr txBox="1"/>
            <p:nvPr/>
          </p:nvSpPr>
          <p:spPr>
            <a:xfrm>
              <a:off x="393855" y="2666790"/>
              <a:ext cx="1098348"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访问请求</a:t>
              </a:r>
            </a:p>
          </p:txBody>
        </p:sp>
        <p:sp>
          <p:nvSpPr>
            <p:cNvPr id="107" name="TextBox 106"/>
            <p:cNvSpPr txBox="1"/>
            <p:nvPr/>
          </p:nvSpPr>
          <p:spPr>
            <a:xfrm>
              <a:off x="389576" y="2309600"/>
              <a:ext cx="871060"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时间</a:t>
              </a:r>
            </a:p>
          </p:txBody>
        </p:sp>
        <p:sp>
          <p:nvSpPr>
            <p:cNvPr id="108" name="TextBox 107"/>
            <p:cNvSpPr txBox="1"/>
            <p:nvPr/>
          </p:nvSpPr>
          <p:spPr>
            <a:xfrm>
              <a:off x="393855" y="4452740"/>
              <a:ext cx="1169786"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缺页状态</a:t>
              </a:r>
            </a:p>
          </p:txBody>
        </p:sp>
        <p:sp>
          <p:nvSpPr>
            <p:cNvPr id="120" name="TextBox 119"/>
            <p:cNvSpPr txBox="1"/>
            <p:nvPr/>
          </p:nvSpPr>
          <p:spPr>
            <a:xfrm>
              <a:off x="429924" y="3352930"/>
              <a:ext cx="430887" cy="1063587"/>
            </a:xfrm>
            <a:prstGeom prst="rect">
              <a:avLst/>
            </a:prstGeom>
            <a:noFill/>
            <a:effectLst/>
          </p:spPr>
          <p:txBody>
            <a:bodyPr vert="eaVert" wrap="square" rtlCol="0">
              <a:spAutoFit/>
            </a:bodyPr>
            <a:lstStyle/>
            <a:p>
              <a:pPr marL="342900" indent="-342900">
                <a:spcBef>
                  <a:spcPct val="20000"/>
                </a:spcBef>
              </a:pPr>
              <a:r>
                <a:rPr lang="zh-CN" altLang="en-US" sz="2400" b="1" baseline="-25000">
                  <a:solidFill>
                    <a:srgbClr val="11576A"/>
                  </a:solidFill>
                  <a:latin typeface="微软雅黑" pitchFamily="34" charset="-122"/>
                  <a:ea typeface="微软雅黑" pitchFamily="34" charset="-122"/>
                </a:rPr>
                <a:t>物理帧号</a:t>
              </a:r>
              <a:endParaRPr lang="zh-CN" altLang="en-US" sz="2400" b="1" baseline="-25000" dirty="0">
                <a:solidFill>
                  <a:srgbClr val="11576A"/>
                </a:solidFill>
                <a:latin typeface="微软雅黑" pitchFamily="34" charset="-122"/>
                <a:ea typeface="微软雅黑" pitchFamily="34" charset="-122"/>
              </a:endParaRPr>
            </a:p>
          </p:txBody>
        </p:sp>
        <p:sp>
          <p:nvSpPr>
            <p:cNvPr id="176" name="TextBox 175"/>
            <p:cNvSpPr txBox="1"/>
            <p:nvPr/>
          </p:nvSpPr>
          <p:spPr>
            <a:xfrm>
              <a:off x="4778351"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7</a:t>
              </a:r>
              <a:endParaRPr lang="zh-CN" altLang="en-US" sz="3200" b="1" baseline="-25000" dirty="0">
                <a:solidFill>
                  <a:srgbClr val="11576A"/>
                </a:solidFill>
                <a:latin typeface="微软雅黑" pitchFamily="34" charset="-122"/>
                <a:ea typeface="微软雅黑" pitchFamily="34" charset="-122"/>
              </a:endParaRPr>
            </a:p>
          </p:txBody>
        </p:sp>
        <p:sp>
          <p:nvSpPr>
            <p:cNvPr id="177" name="TextBox 176"/>
            <p:cNvSpPr txBox="1"/>
            <p:nvPr/>
          </p:nvSpPr>
          <p:spPr>
            <a:xfrm>
              <a:off x="5254604" y="226869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8</a:t>
              </a:r>
              <a:endParaRPr lang="zh-CN" altLang="en-US" sz="3200" b="1" baseline="-25000" dirty="0">
                <a:solidFill>
                  <a:srgbClr val="11576A"/>
                </a:solidFill>
                <a:latin typeface="微软雅黑" pitchFamily="34" charset="-122"/>
                <a:ea typeface="微软雅黑" pitchFamily="34" charset="-122"/>
              </a:endParaRPr>
            </a:p>
          </p:txBody>
        </p:sp>
      </p:grpSp>
      <p:grpSp>
        <p:nvGrpSpPr>
          <p:cNvPr id="41" name="组合 40"/>
          <p:cNvGrpSpPr/>
          <p:nvPr/>
        </p:nvGrpSpPr>
        <p:grpSpPr>
          <a:xfrm>
            <a:off x="9044469" y="1733585"/>
            <a:ext cx="900542" cy="1991755"/>
            <a:chOff x="6835086" y="796019"/>
            <a:chExt cx="900542" cy="1991755"/>
          </a:xfrm>
        </p:grpSpPr>
        <p:sp>
          <p:nvSpPr>
            <p:cNvPr id="135" name="矩形 134"/>
            <p:cNvSpPr/>
            <p:nvPr/>
          </p:nvSpPr>
          <p:spPr>
            <a:xfrm>
              <a:off x="6865860" y="796019"/>
              <a:ext cx="739460" cy="369730"/>
            </a:xfrm>
            <a:prstGeom prst="rect">
              <a:avLst/>
            </a:prstGeom>
            <a:gradFill>
              <a:gsLst>
                <a:gs pos="100000">
                  <a:srgbClr val="33FFFF"/>
                </a:gs>
                <a:gs pos="0">
                  <a:srgbClr val="99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6" name="矩形 135"/>
            <p:cNvSpPr/>
            <p:nvPr/>
          </p:nvSpPr>
          <p:spPr>
            <a:xfrm>
              <a:off x="6865860" y="1153209"/>
              <a:ext cx="739460" cy="36973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7" name="矩形 136"/>
            <p:cNvSpPr/>
            <p:nvPr/>
          </p:nvSpPr>
          <p:spPr>
            <a:xfrm>
              <a:off x="6865860" y="1510399"/>
              <a:ext cx="739460" cy="36973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8" name="矩形 137"/>
            <p:cNvSpPr/>
            <p:nvPr/>
          </p:nvSpPr>
          <p:spPr>
            <a:xfrm>
              <a:off x="6865860" y="1867589"/>
              <a:ext cx="739460" cy="369730"/>
            </a:xfrm>
            <a:prstGeom prst="rect">
              <a:avLst/>
            </a:prstGeom>
            <a:gradFill>
              <a:gsLst>
                <a:gs pos="100000">
                  <a:srgbClr val="33FFFF"/>
                </a:gs>
                <a:gs pos="0">
                  <a:srgbClr val="99FFFF"/>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45" name="组合 144"/>
            <p:cNvGrpSpPr/>
            <p:nvPr/>
          </p:nvGrpSpPr>
          <p:grpSpPr>
            <a:xfrm>
              <a:off x="6865860" y="862688"/>
              <a:ext cx="739460" cy="224190"/>
              <a:chOff x="7000892" y="495279"/>
              <a:chExt cx="720000" cy="218290"/>
            </a:xfrm>
          </p:grpSpPr>
          <p:cxnSp>
            <p:nvCxnSpPr>
              <p:cNvPr id="141" name="直接连接符 140"/>
              <p:cNvCxnSpPr/>
              <p:nvPr/>
            </p:nvCxnSpPr>
            <p:spPr>
              <a:xfrm rot="10800000" flipH="1">
                <a:off x="7000892" y="495279"/>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rot="10800000" flipH="1">
                <a:off x="7000892" y="564343"/>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rot="10800000" flipH="1">
                <a:off x="7000892" y="640544"/>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rot="10800000" flipH="1">
                <a:off x="7000892" y="711981"/>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grpSp>
        <p:grpSp>
          <p:nvGrpSpPr>
            <p:cNvPr id="146" name="组合 145"/>
            <p:cNvGrpSpPr/>
            <p:nvPr/>
          </p:nvGrpSpPr>
          <p:grpSpPr>
            <a:xfrm>
              <a:off x="6865860" y="1224647"/>
              <a:ext cx="739460" cy="224190"/>
              <a:chOff x="7000892" y="495279"/>
              <a:chExt cx="720000" cy="218290"/>
            </a:xfrm>
          </p:grpSpPr>
          <p:cxnSp>
            <p:nvCxnSpPr>
              <p:cNvPr id="147" name="直接连接符 146"/>
              <p:cNvCxnSpPr/>
              <p:nvPr/>
            </p:nvCxnSpPr>
            <p:spPr>
              <a:xfrm rot="10800000" flipH="1">
                <a:off x="7000892" y="495279"/>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rot="10800000" flipH="1">
                <a:off x="7000892" y="564343"/>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rot="10800000" flipH="1">
                <a:off x="7000892" y="640544"/>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rot="10800000" flipH="1">
                <a:off x="7000892" y="711981"/>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grpSp>
        <p:grpSp>
          <p:nvGrpSpPr>
            <p:cNvPr id="151" name="组合 150"/>
            <p:cNvGrpSpPr/>
            <p:nvPr/>
          </p:nvGrpSpPr>
          <p:grpSpPr>
            <a:xfrm>
              <a:off x="6865860" y="1581837"/>
              <a:ext cx="739460" cy="224190"/>
              <a:chOff x="7000892" y="495279"/>
              <a:chExt cx="720000" cy="218290"/>
            </a:xfrm>
          </p:grpSpPr>
          <p:cxnSp>
            <p:nvCxnSpPr>
              <p:cNvPr id="152" name="直接连接符 151"/>
              <p:cNvCxnSpPr/>
              <p:nvPr/>
            </p:nvCxnSpPr>
            <p:spPr>
              <a:xfrm rot="10800000" flipH="1">
                <a:off x="7000892" y="495279"/>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rot="10800000" flipH="1">
                <a:off x="7000892" y="564343"/>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rot="10800000" flipH="1">
                <a:off x="7000892" y="640544"/>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rot="10800000" flipH="1">
                <a:off x="7000892" y="711981"/>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grpSp>
        <p:grpSp>
          <p:nvGrpSpPr>
            <p:cNvPr id="156" name="组合 155"/>
            <p:cNvGrpSpPr/>
            <p:nvPr/>
          </p:nvGrpSpPr>
          <p:grpSpPr>
            <a:xfrm>
              <a:off x="6865860" y="1939027"/>
              <a:ext cx="739460" cy="224190"/>
              <a:chOff x="7000892" y="495279"/>
              <a:chExt cx="720000" cy="218290"/>
            </a:xfrm>
          </p:grpSpPr>
          <p:cxnSp>
            <p:nvCxnSpPr>
              <p:cNvPr id="157" name="直接连接符 156"/>
              <p:cNvCxnSpPr/>
              <p:nvPr/>
            </p:nvCxnSpPr>
            <p:spPr>
              <a:xfrm rot="10800000" flipH="1">
                <a:off x="7000892" y="495279"/>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rot="10800000" flipH="1">
                <a:off x="7000892" y="564343"/>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rot="10800000" flipH="1">
                <a:off x="7000892" y="640544"/>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rot="10800000" flipH="1">
                <a:off x="7000892" y="711981"/>
                <a:ext cx="720000" cy="1588"/>
              </a:xfrm>
              <a:prstGeom prst="line">
                <a:avLst/>
              </a:prstGeom>
              <a:ln w="19050">
                <a:solidFill>
                  <a:srgbClr val="11576A"/>
                </a:solidFill>
              </a:ln>
            </p:spPr>
            <p:style>
              <a:lnRef idx="1">
                <a:schemeClr val="accent1"/>
              </a:lnRef>
              <a:fillRef idx="0">
                <a:schemeClr val="accent1"/>
              </a:fillRef>
              <a:effectRef idx="0">
                <a:schemeClr val="accent1"/>
              </a:effectRef>
              <a:fontRef idx="minor">
                <a:schemeClr val="tx1"/>
              </a:fontRef>
            </p:style>
          </p:cxnSp>
        </p:grpSp>
        <p:sp>
          <p:nvSpPr>
            <p:cNvPr id="179" name="TextBox 178"/>
            <p:cNvSpPr txBox="1"/>
            <p:nvPr/>
          </p:nvSpPr>
          <p:spPr>
            <a:xfrm>
              <a:off x="6835086" y="2264554"/>
              <a:ext cx="900542" cy="523220"/>
            </a:xfrm>
            <a:prstGeom prst="rect">
              <a:avLst/>
            </a:prstGeom>
            <a:noFill/>
          </p:spPr>
          <p:txBody>
            <a:bodyPr wrap="square" rtlCol="0">
              <a:spAutoFit/>
            </a:bodyPr>
            <a:lstStyle/>
            <a:p>
              <a:r>
                <a:rPr lang="zh-CN" altLang="en-US" sz="1400" b="1" spc="-100" dirty="0">
                  <a:solidFill>
                    <a:srgbClr val="11576A"/>
                  </a:solidFill>
                  <a:latin typeface="微软雅黑" pitchFamily="34" charset="-122"/>
                  <a:ea typeface="微软雅黑" pitchFamily="34" charset="-122"/>
                </a:rPr>
                <a:t>进程占用物理内存</a:t>
              </a:r>
            </a:p>
          </p:txBody>
        </p:sp>
      </p:grpSp>
      <p:grpSp>
        <p:nvGrpSpPr>
          <p:cNvPr id="43" name="组合 42"/>
          <p:cNvGrpSpPr/>
          <p:nvPr/>
        </p:nvGrpSpPr>
        <p:grpSpPr>
          <a:xfrm>
            <a:off x="4012243" y="3888202"/>
            <a:ext cx="486000" cy="1492198"/>
            <a:chOff x="1802860" y="2950638"/>
            <a:chExt cx="486000" cy="1492198"/>
          </a:xfrm>
        </p:grpSpPr>
        <p:sp>
          <p:nvSpPr>
            <p:cNvPr id="161" name="TextBox 59"/>
            <p:cNvSpPr txBox="1"/>
            <p:nvPr/>
          </p:nvSpPr>
          <p:spPr>
            <a:xfrm>
              <a:off x="1802860"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62" name="TextBox 69"/>
            <p:cNvSpPr txBox="1"/>
            <p:nvPr/>
          </p:nvSpPr>
          <p:spPr>
            <a:xfrm>
              <a:off x="1802860"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63" name="TextBox 79"/>
            <p:cNvSpPr txBox="1"/>
            <p:nvPr/>
          </p:nvSpPr>
          <p:spPr>
            <a:xfrm>
              <a:off x="1802860"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64" name="TextBox 91"/>
            <p:cNvSpPr txBox="1"/>
            <p:nvPr/>
          </p:nvSpPr>
          <p:spPr>
            <a:xfrm>
              <a:off x="1802860"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4" name="组合 43"/>
          <p:cNvGrpSpPr/>
          <p:nvPr/>
        </p:nvGrpSpPr>
        <p:grpSpPr>
          <a:xfrm>
            <a:off x="4513675" y="3888202"/>
            <a:ext cx="486000" cy="1492198"/>
            <a:chOff x="2304292" y="2950638"/>
            <a:chExt cx="486000" cy="1492198"/>
          </a:xfrm>
        </p:grpSpPr>
        <p:sp>
          <p:nvSpPr>
            <p:cNvPr id="165" name="TextBox 58"/>
            <p:cNvSpPr txBox="1"/>
            <p:nvPr/>
          </p:nvSpPr>
          <p:spPr>
            <a:xfrm>
              <a:off x="2304292"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67" name="TextBox 68"/>
            <p:cNvSpPr txBox="1"/>
            <p:nvPr/>
          </p:nvSpPr>
          <p:spPr>
            <a:xfrm>
              <a:off x="2304292"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71" name="TextBox 78"/>
            <p:cNvSpPr txBox="1"/>
            <p:nvPr/>
          </p:nvSpPr>
          <p:spPr>
            <a:xfrm>
              <a:off x="2304292"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78" name="TextBox 90"/>
            <p:cNvSpPr txBox="1"/>
            <p:nvPr/>
          </p:nvSpPr>
          <p:spPr>
            <a:xfrm>
              <a:off x="2304292"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5" name="组合 44"/>
          <p:cNvGrpSpPr/>
          <p:nvPr/>
        </p:nvGrpSpPr>
        <p:grpSpPr>
          <a:xfrm>
            <a:off x="4990149" y="3888202"/>
            <a:ext cx="486000" cy="1492198"/>
            <a:chOff x="2780766" y="2950638"/>
            <a:chExt cx="486000" cy="1492198"/>
          </a:xfrm>
        </p:grpSpPr>
        <p:sp>
          <p:nvSpPr>
            <p:cNvPr id="180" name="TextBox 57"/>
            <p:cNvSpPr txBox="1"/>
            <p:nvPr/>
          </p:nvSpPr>
          <p:spPr>
            <a:xfrm>
              <a:off x="2780766"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81" name="TextBox 67"/>
            <p:cNvSpPr txBox="1"/>
            <p:nvPr/>
          </p:nvSpPr>
          <p:spPr>
            <a:xfrm>
              <a:off x="2780766"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82" name="TextBox 77"/>
            <p:cNvSpPr txBox="1"/>
            <p:nvPr/>
          </p:nvSpPr>
          <p:spPr>
            <a:xfrm>
              <a:off x="2780766"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83" name="TextBox 89"/>
            <p:cNvSpPr txBox="1"/>
            <p:nvPr/>
          </p:nvSpPr>
          <p:spPr>
            <a:xfrm>
              <a:off x="2780766"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6" name="组合 45"/>
          <p:cNvGrpSpPr/>
          <p:nvPr/>
        </p:nvGrpSpPr>
        <p:grpSpPr>
          <a:xfrm>
            <a:off x="5504281" y="3888202"/>
            <a:ext cx="486000" cy="1492198"/>
            <a:chOff x="3294898" y="2950638"/>
            <a:chExt cx="486000" cy="1492198"/>
          </a:xfrm>
        </p:grpSpPr>
        <p:sp>
          <p:nvSpPr>
            <p:cNvPr id="184" name="TextBox 56"/>
            <p:cNvSpPr txBox="1"/>
            <p:nvPr/>
          </p:nvSpPr>
          <p:spPr>
            <a:xfrm>
              <a:off x="3294898"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85" name="TextBox 66"/>
            <p:cNvSpPr txBox="1"/>
            <p:nvPr/>
          </p:nvSpPr>
          <p:spPr>
            <a:xfrm>
              <a:off x="3294898"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86" name="TextBox 76"/>
            <p:cNvSpPr txBox="1"/>
            <p:nvPr/>
          </p:nvSpPr>
          <p:spPr>
            <a:xfrm>
              <a:off x="3294898"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87" name="TextBox 88"/>
            <p:cNvSpPr txBox="1"/>
            <p:nvPr/>
          </p:nvSpPr>
          <p:spPr>
            <a:xfrm>
              <a:off x="3294898"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7" name="组合 46"/>
          <p:cNvGrpSpPr/>
          <p:nvPr/>
        </p:nvGrpSpPr>
        <p:grpSpPr>
          <a:xfrm>
            <a:off x="6137575" y="3724992"/>
            <a:ext cx="234000" cy="1985000"/>
            <a:chOff x="3928192" y="2787428"/>
            <a:chExt cx="234000" cy="1985000"/>
          </a:xfrm>
        </p:grpSpPr>
        <p:sp>
          <p:nvSpPr>
            <p:cNvPr id="188" name="AutoShape 100"/>
            <p:cNvSpPr>
              <a:spLocks noChangeArrowheads="1"/>
            </p:cNvSpPr>
            <p:nvPr/>
          </p:nvSpPr>
          <p:spPr bwMode="auto">
            <a:xfrm>
              <a:off x="3966292" y="4592428"/>
              <a:ext cx="180000" cy="180000"/>
            </a:xfrm>
            <a:prstGeom prst="octagon">
              <a:avLst>
                <a:gd name="adj" fmla="val 29282"/>
              </a:avLst>
            </a:prstGeom>
            <a:solidFill>
              <a:srgbClr val="7030A0"/>
            </a:solidFill>
            <a:ln>
              <a:solidFill>
                <a:srgbClr val="7030A0"/>
              </a:solid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89" name="Oval 101"/>
            <p:cNvSpPr>
              <a:spLocks/>
            </p:cNvSpPr>
            <p:nvPr/>
          </p:nvSpPr>
          <p:spPr bwMode="auto">
            <a:xfrm>
              <a:off x="3928192" y="2787428"/>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48" name="组合 47"/>
          <p:cNvGrpSpPr/>
          <p:nvPr/>
        </p:nvGrpSpPr>
        <p:grpSpPr>
          <a:xfrm>
            <a:off x="7127107" y="3724992"/>
            <a:ext cx="236924" cy="1985000"/>
            <a:chOff x="4917724" y="2787428"/>
            <a:chExt cx="236924" cy="1985000"/>
          </a:xfrm>
        </p:grpSpPr>
        <p:sp>
          <p:nvSpPr>
            <p:cNvPr id="190" name="Oval 101"/>
            <p:cNvSpPr>
              <a:spLocks/>
            </p:cNvSpPr>
            <p:nvPr/>
          </p:nvSpPr>
          <p:spPr bwMode="auto">
            <a:xfrm>
              <a:off x="4917724" y="2787428"/>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sp>
          <p:nvSpPr>
            <p:cNvPr id="191" name="AutoShape 100"/>
            <p:cNvSpPr>
              <a:spLocks noChangeArrowheads="1"/>
            </p:cNvSpPr>
            <p:nvPr/>
          </p:nvSpPr>
          <p:spPr bwMode="auto">
            <a:xfrm>
              <a:off x="4974648" y="459242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49" name="组合 48"/>
          <p:cNvGrpSpPr/>
          <p:nvPr/>
        </p:nvGrpSpPr>
        <p:grpSpPr>
          <a:xfrm>
            <a:off x="7620298" y="3711242"/>
            <a:ext cx="236924" cy="1985000"/>
            <a:chOff x="5410915" y="2773678"/>
            <a:chExt cx="236924" cy="1985000"/>
          </a:xfrm>
        </p:grpSpPr>
        <p:sp>
          <p:nvSpPr>
            <p:cNvPr id="192" name="Oval 101"/>
            <p:cNvSpPr>
              <a:spLocks/>
            </p:cNvSpPr>
            <p:nvPr/>
          </p:nvSpPr>
          <p:spPr bwMode="auto">
            <a:xfrm>
              <a:off x="5410915" y="2773678"/>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sp>
          <p:nvSpPr>
            <p:cNvPr id="193" name="AutoShape 100"/>
            <p:cNvSpPr>
              <a:spLocks noChangeArrowheads="1"/>
            </p:cNvSpPr>
            <p:nvPr/>
          </p:nvSpPr>
          <p:spPr bwMode="auto">
            <a:xfrm>
              <a:off x="5467839" y="4578678"/>
              <a:ext cx="180000" cy="180000"/>
            </a:xfrm>
            <a:prstGeom prst="octagon">
              <a:avLst>
                <a:gd name="adj" fmla="val 29282"/>
              </a:avLst>
            </a:prstGeom>
            <a:solidFill>
              <a:srgbClr val="7030A0"/>
            </a:solidFill>
            <a:ln>
              <a:solidFill>
                <a:srgbClr val="7030A0"/>
              </a:solid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50" name="组合 49"/>
          <p:cNvGrpSpPr/>
          <p:nvPr/>
        </p:nvGrpSpPr>
        <p:grpSpPr>
          <a:xfrm>
            <a:off x="8134114" y="3724992"/>
            <a:ext cx="234000" cy="1985000"/>
            <a:chOff x="5924731" y="2787428"/>
            <a:chExt cx="234000" cy="1985000"/>
          </a:xfrm>
        </p:grpSpPr>
        <p:sp>
          <p:nvSpPr>
            <p:cNvPr id="194" name="Oval 101"/>
            <p:cNvSpPr>
              <a:spLocks/>
            </p:cNvSpPr>
            <p:nvPr/>
          </p:nvSpPr>
          <p:spPr bwMode="auto">
            <a:xfrm>
              <a:off x="5924731" y="2787428"/>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sp>
          <p:nvSpPr>
            <p:cNvPr id="195" name="AutoShape 100"/>
            <p:cNvSpPr>
              <a:spLocks noChangeArrowheads="1"/>
            </p:cNvSpPr>
            <p:nvPr/>
          </p:nvSpPr>
          <p:spPr bwMode="auto">
            <a:xfrm>
              <a:off x="5968273" y="459242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51" name="组合 50"/>
          <p:cNvGrpSpPr/>
          <p:nvPr/>
        </p:nvGrpSpPr>
        <p:grpSpPr>
          <a:xfrm>
            <a:off x="8597513" y="3711242"/>
            <a:ext cx="234000" cy="1985000"/>
            <a:chOff x="6388130" y="2773678"/>
            <a:chExt cx="234000" cy="1985000"/>
          </a:xfrm>
        </p:grpSpPr>
        <p:sp>
          <p:nvSpPr>
            <p:cNvPr id="196" name="Oval 101"/>
            <p:cNvSpPr>
              <a:spLocks/>
            </p:cNvSpPr>
            <p:nvPr/>
          </p:nvSpPr>
          <p:spPr bwMode="auto">
            <a:xfrm>
              <a:off x="6388130" y="2773678"/>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sp>
          <p:nvSpPr>
            <p:cNvPr id="197" name="AutoShape 100"/>
            <p:cNvSpPr>
              <a:spLocks noChangeArrowheads="1"/>
            </p:cNvSpPr>
            <p:nvPr/>
          </p:nvSpPr>
          <p:spPr bwMode="auto">
            <a:xfrm>
              <a:off x="6431672" y="457867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61" name="组合 60"/>
          <p:cNvGrpSpPr/>
          <p:nvPr/>
        </p:nvGrpSpPr>
        <p:grpSpPr>
          <a:xfrm>
            <a:off x="5898911" y="3888202"/>
            <a:ext cx="590070" cy="1492198"/>
            <a:chOff x="3689528" y="2950638"/>
            <a:chExt cx="590070" cy="1492198"/>
          </a:xfrm>
        </p:grpSpPr>
        <p:sp>
          <p:nvSpPr>
            <p:cNvPr id="198" name="TextBox 55"/>
            <p:cNvSpPr txBox="1"/>
            <p:nvPr/>
          </p:nvSpPr>
          <p:spPr>
            <a:xfrm>
              <a:off x="3793598"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e</a:t>
              </a:r>
              <a:endParaRPr lang="zh-CN" altLang="en-US" sz="3200" b="1" baseline="-25000" dirty="0">
                <a:solidFill>
                  <a:srgbClr val="C00000"/>
                </a:solidFill>
                <a:latin typeface="微软雅黑" pitchFamily="34" charset="-122"/>
                <a:ea typeface="微软雅黑" pitchFamily="34" charset="-122"/>
              </a:endParaRPr>
            </a:p>
          </p:txBody>
        </p:sp>
        <p:sp>
          <p:nvSpPr>
            <p:cNvPr id="199" name="TextBox 65"/>
            <p:cNvSpPr txBox="1"/>
            <p:nvPr/>
          </p:nvSpPr>
          <p:spPr>
            <a:xfrm>
              <a:off x="3793598"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00" name="TextBox 75"/>
            <p:cNvSpPr txBox="1"/>
            <p:nvPr/>
          </p:nvSpPr>
          <p:spPr>
            <a:xfrm>
              <a:off x="3793598"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01" name="TextBox 87"/>
            <p:cNvSpPr txBox="1"/>
            <p:nvPr/>
          </p:nvSpPr>
          <p:spPr>
            <a:xfrm>
              <a:off x="3793598"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202" name="AutoShape 98"/>
            <p:cNvSpPr>
              <a:spLocks/>
            </p:cNvSpPr>
            <p:nvPr/>
          </p:nvSpPr>
          <p:spPr bwMode="auto">
            <a:xfrm>
              <a:off x="3689528" y="3247322"/>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71" name="组合 70"/>
          <p:cNvGrpSpPr/>
          <p:nvPr/>
        </p:nvGrpSpPr>
        <p:grpSpPr>
          <a:xfrm>
            <a:off x="6510763" y="3888202"/>
            <a:ext cx="486000" cy="1492198"/>
            <a:chOff x="4301380" y="2950638"/>
            <a:chExt cx="486000" cy="1492198"/>
          </a:xfrm>
        </p:grpSpPr>
        <p:sp>
          <p:nvSpPr>
            <p:cNvPr id="203" name="TextBox 54"/>
            <p:cNvSpPr txBox="1"/>
            <p:nvPr/>
          </p:nvSpPr>
          <p:spPr>
            <a:xfrm>
              <a:off x="4301380"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04" name="TextBox 64"/>
            <p:cNvSpPr txBox="1"/>
            <p:nvPr/>
          </p:nvSpPr>
          <p:spPr>
            <a:xfrm>
              <a:off x="4301380"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05" name="TextBox 74"/>
            <p:cNvSpPr txBox="1"/>
            <p:nvPr/>
          </p:nvSpPr>
          <p:spPr>
            <a:xfrm>
              <a:off x="4301380"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06" name="TextBox 86"/>
            <p:cNvSpPr txBox="1"/>
            <p:nvPr/>
          </p:nvSpPr>
          <p:spPr>
            <a:xfrm>
              <a:off x="4301380"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82" name="组合 81"/>
          <p:cNvGrpSpPr/>
          <p:nvPr/>
        </p:nvGrpSpPr>
        <p:grpSpPr>
          <a:xfrm>
            <a:off x="6899043" y="3888202"/>
            <a:ext cx="583720" cy="1492198"/>
            <a:chOff x="4689660" y="2950638"/>
            <a:chExt cx="583720" cy="1492198"/>
          </a:xfrm>
        </p:grpSpPr>
        <p:sp>
          <p:nvSpPr>
            <p:cNvPr id="207" name="TextBox 53"/>
            <p:cNvSpPr txBox="1"/>
            <p:nvPr/>
          </p:nvSpPr>
          <p:spPr>
            <a:xfrm>
              <a:off x="4787380"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08" name="TextBox 63"/>
            <p:cNvSpPr txBox="1"/>
            <p:nvPr/>
          </p:nvSpPr>
          <p:spPr>
            <a:xfrm>
              <a:off x="4787380"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sp>
          <p:nvSpPr>
            <p:cNvPr id="209" name="TextBox 73"/>
            <p:cNvSpPr txBox="1"/>
            <p:nvPr/>
          </p:nvSpPr>
          <p:spPr>
            <a:xfrm>
              <a:off x="4787380"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10" name="TextBox 85"/>
            <p:cNvSpPr txBox="1"/>
            <p:nvPr/>
          </p:nvSpPr>
          <p:spPr>
            <a:xfrm>
              <a:off x="4787380"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211" name="AutoShape 98"/>
            <p:cNvSpPr>
              <a:spLocks/>
            </p:cNvSpPr>
            <p:nvPr/>
          </p:nvSpPr>
          <p:spPr bwMode="auto">
            <a:xfrm>
              <a:off x="4689660" y="3591562"/>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109" name="组合 108"/>
          <p:cNvGrpSpPr/>
          <p:nvPr/>
        </p:nvGrpSpPr>
        <p:grpSpPr>
          <a:xfrm>
            <a:off x="8382511" y="3888202"/>
            <a:ext cx="575300" cy="1492198"/>
            <a:chOff x="6173128" y="2950638"/>
            <a:chExt cx="575300" cy="1492198"/>
          </a:xfrm>
        </p:grpSpPr>
        <p:sp>
          <p:nvSpPr>
            <p:cNvPr id="212" name="TextBox 123"/>
            <p:cNvSpPr txBox="1"/>
            <p:nvPr/>
          </p:nvSpPr>
          <p:spPr>
            <a:xfrm>
              <a:off x="6262428"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endParaRPr lang="zh-CN" altLang="en-US" sz="3200" b="1" baseline="-25000" dirty="0">
                <a:solidFill>
                  <a:srgbClr val="C00000"/>
                </a:solidFill>
                <a:latin typeface="微软雅黑" pitchFamily="34" charset="-122"/>
                <a:ea typeface="微软雅黑" pitchFamily="34" charset="-122"/>
              </a:endParaRPr>
            </a:p>
          </p:txBody>
        </p:sp>
        <p:sp>
          <p:nvSpPr>
            <p:cNvPr id="213" name="TextBox 124"/>
            <p:cNvSpPr txBox="1"/>
            <p:nvPr/>
          </p:nvSpPr>
          <p:spPr>
            <a:xfrm>
              <a:off x="6262428"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4" name="TextBox 125"/>
            <p:cNvSpPr txBox="1"/>
            <p:nvPr/>
          </p:nvSpPr>
          <p:spPr>
            <a:xfrm>
              <a:off x="6262428"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15" name="TextBox 126"/>
            <p:cNvSpPr txBox="1"/>
            <p:nvPr/>
          </p:nvSpPr>
          <p:spPr>
            <a:xfrm>
              <a:off x="6262428"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16" name="AutoShape 98"/>
            <p:cNvSpPr>
              <a:spLocks/>
            </p:cNvSpPr>
            <p:nvPr/>
          </p:nvSpPr>
          <p:spPr bwMode="auto">
            <a:xfrm>
              <a:off x="6173128" y="3241643"/>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83" name="组合 82"/>
          <p:cNvGrpSpPr/>
          <p:nvPr/>
        </p:nvGrpSpPr>
        <p:grpSpPr>
          <a:xfrm>
            <a:off x="7399401" y="3888202"/>
            <a:ext cx="591144" cy="1492198"/>
            <a:chOff x="5190018" y="2950638"/>
            <a:chExt cx="591144" cy="1492198"/>
          </a:xfrm>
        </p:grpSpPr>
        <p:sp>
          <p:nvSpPr>
            <p:cNvPr id="217" name="TextBox 52"/>
            <p:cNvSpPr txBox="1"/>
            <p:nvPr/>
          </p:nvSpPr>
          <p:spPr>
            <a:xfrm>
              <a:off x="5295162"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18" name="TextBox 62"/>
            <p:cNvSpPr txBox="1"/>
            <p:nvPr/>
          </p:nvSpPr>
          <p:spPr>
            <a:xfrm>
              <a:off x="5295162"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9" name="TextBox 72"/>
            <p:cNvSpPr txBox="1"/>
            <p:nvPr/>
          </p:nvSpPr>
          <p:spPr>
            <a:xfrm>
              <a:off x="5295162"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220" name="TextBox 84"/>
            <p:cNvSpPr txBox="1"/>
            <p:nvPr/>
          </p:nvSpPr>
          <p:spPr>
            <a:xfrm>
              <a:off x="5295162"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221" name="AutoShape 98"/>
            <p:cNvSpPr>
              <a:spLocks/>
            </p:cNvSpPr>
            <p:nvPr/>
          </p:nvSpPr>
          <p:spPr bwMode="auto">
            <a:xfrm>
              <a:off x="5190018" y="3948752"/>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94" name="组合 93"/>
          <p:cNvGrpSpPr/>
          <p:nvPr/>
        </p:nvGrpSpPr>
        <p:grpSpPr>
          <a:xfrm>
            <a:off x="7919802" y="3888202"/>
            <a:ext cx="569445" cy="1492198"/>
            <a:chOff x="5710417" y="2950638"/>
            <a:chExt cx="569445" cy="1492198"/>
          </a:xfrm>
        </p:grpSpPr>
        <p:sp>
          <p:nvSpPr>
            <p:cNvPr id="222" name="TextBox 51"/>
            <p:cNvSpPr txBox="1"/>
            <p:nvPr/>
          </p:nvSpPr>
          <p:spPr>
            <a:xfrm>
              <a:off x="5793862" y="29506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23" name="TextBox 61"/>
            <p:cNvSpPr txBox="1"/>
            <p:nvPr/>
          </p:nvSpPr>
          <p:spPr>
            <a:xfrm>
              <a:off x="5793862" y="32960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24" name="TextBox 71"/>
            <p:cNvSpPr txBox="1"/>
            <p:nvPr/>
          </p:nvSpPr>
          <p:spPr>
            <a:xfrm>
              <a:off x="5793862" y="36650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5" name="TextBox 83"/>
            <p:cNvSpPr txBox="1"/>
            <p:nvPr/>
          </p:nvSpPr>
          <p:spPr>
            <a:xfrm>
              <a:off x="5793862" y="40222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sp>
          <p:nvSpPr>
            <p:cNvPr id="226" name="AutoShape 98"/>
            <p:cNvSpPr>
              <a:spLocks/>
            </p:cNvSpPr>
            <p:nvPr/>
          </p:nvSpPr>
          <p:spPr bwMode="auto">
            <a:xfrm>
              <a:off x="5710417" y="4319692"/>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sp>
        <p:nvSpPr>
          <p:cNvPr id="227" name="TextBox 79"/>
          <p:cNvSpPr txBox="1"/>
          <p:nvPr/>
        </p:nvSpPr>
        <p:spPr>
          <a:xfrm>
            <a:off x="4012243" y="460129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sp>
        <p:nvSpPr>
          <p:cNvPr id="228" name="TextBox 79"/>
          <p:cNvSpPr txBox="1"/>
          <p:nvPr/>
        </p:nvSpPr>
        <p:spPr>
          <a:xfrm>
            <a:off x="4513675" y="388640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sp>
        <p:nvSpPr>
          <p:cNvPr id="229" name="TextBox 79"/>
          <p:cNvSpPr txBox="1"/>
          <p:nvPr/>
        </p:nvSpPr>
        <p:spPr>
          <a:xfrm>
            <a:off x="4990149" y="496302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endParaRPr lang="zh-CN" altLang="en-US" sz="3200" b="1" baseline="-25000" dirty="0">
              <a:solidFill>
                <a:srgbClr val="C00000"/>
              </a:solidFill>
              <a:latin typeface="微软雅黑" pitchFamily="34" charset="-122"/>
              <a:ea typeface="微软雅黑" pitchFamily="34" charset="-122"/>
            </a:endParaRPr>
          </a:p>
        </p:txBody>
      </p:sp>
      <p:sp>
        <p:nvSpPr>
          <p:cNvPr id="230" name="TextBox 79"/>
          <p:cNvSpPr txBox="1"/>
          <p:nvPr/>
        </p:nvSpPr>
        <p:spPr>
          <a:xfrm>
            <a:off x="5499587" y="423511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231" name="TextBox 79"/>
          <p:cNvSpPr txBox="1"/>
          <p:nvPr/>
        </p:nvSpPr>
        <p:spPr>
          <a:xfrm>
            <a:off x="6515791" y="424314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3" name="文本框 2">
            <a:extLst>
              <a:ext uri="{FF2B5EF4-FFF2-40B4-BE49-F238E27FC236}">
                <a16:creationId xmlns:a16="http://schemas.microsoft.com/office/drawing/2014/main" id="{A69D986B-1DCF-BAC4-733C-9E18AB582958}"/>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4" name="标题 8">
            <a:extLst>
              <a:ext uri="{FF2B5EF4-FFF2-40B4-BE49-F238E27FC236}">
                <a16:creationId xmlns:a16="http://schemas.microsoft.com/office/drawing/2014/main" id="{52028559-6AF9-1407-2469-AB885EAABFBA}"/>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先进先出算法（</a:t>
            </a:r>
            <a:r>
              <a:rPr lang="en-US" altLang="zh-CN" b="0" kern="0" dirty="0"/>
              <a:t>First-In First-Out, FIFO</a:t>
            </a:r>
            <a:r>
              <a:rPr lang="zh-CN" altLang="en-US" b="0" kern="0" dirty="0"/>
              <a:t>）</a:t>
            </a:r>
          </a:p>
        </p:txBody>
      </p:sp>
    </p:spTree>
    <p:extLst>
      <p:ext uri="{BB962C8B-B14F-4D97-AF65-F5344CB8AC3E}">
        <p14:creationId xmlns:p14="http://schemas.microsoft.com/office/powerpoint/2010/main" val="231460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wipe(left)">
                                      <p:cBhvr>
                                        <p:cTn id="7" dur="500"/>
                                        <p:tgtEl>
                                          <p:spTgt spid="132"/>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par>
                                <p:cTn id="11" presetID="22" presetClass="entr" presetSubtype="8"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par>
                                <p:cTn id="19" presetID="22" presetClass="entr" presetSubtype="8"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wipe(left)">
                                      <p:cBhvr>
                                        <p:cTn id="21" dur="500"/>
                                        <p:tgtEl>
                                          <p:spTgt spid="4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500"/>
                                        <p:tgtEl>
                                          <p:spTgt spid="43"/>
                                        </p:tgtEl>
                                      </p:cBhvr>
                                    </p:animEffec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0"/>
                                          </p:stCondLst>
                                        </p:cTn>
                                        <p:tgtEl>
                                          <p:spTgt spid="227"/>
                                        </p:tgtEl>
                                        <p:attrNameLst>
                                          <p:attrName>style.visibility</p:attrName>
                                        </p:attrNameLst>
                                      </p:cBhvr>
                                      <p:to>
                                        <p:strVal val="visible"/>
                                      </p:to>
                                    </p:set>
                                  </p:childTnLst>
                                </p:cTn>
                              </p:par>
                              <p:par>
                                <p:cTn id="30" presetID="35" presetClass="emph" presetSubtype="0" repeatCount="indefinite" fill="hold" grpId="1" nodeType="withEffect">
                                  <p:stCondLst>
                                    <p:cond delay="0"/>
                                  </p:stCondLst>
                                  <p:childTnLst>
                                    <p:anim calcmode="discrete" valueType="str">
                                      <p:cBhvr>
                                        <p:cTn id="31" dur="500" fill="hold"/>
                                        <p:tgtEl>
                                          <p:spTgt spid="227"/>
                                        </p:tgtEl>
                                        <p:attrNameLst>
                                          <p:attrName>style.visibility</p:attrName>
                                        </p:attrNameLst>
                                      </p:cBhvr>
                                      <p:tavLst>
                                        <p:tav tm="0">
                                          <p:val>
                                            <p:strVal val="hidden"/>
                                          </p:val>
                                        </p:tav>
                                        <p:tav tm="50000">
                                          <p:val>
                                            <p:strVal val="visible"/>
                                          </p:val>
                                        </p:tav>
                                      </p:tavLst>
                                    </p:anim>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2" nodeType="clickEffect">
                                  <p:stCondLst>
                                    <p:cond delay="0"/>
                                  </p:stCondLst>
                                  <p:childTnLst>
                                    <p:set>
                                      <p:cBhvr>
                                        <p:cTn id="35" dur="1" fill="hold">
                                          <p:stCondLst>
                                            <p:cond delay="0"/>
                                          </p:stCondLst>
                                        </p:cTn>
                                        <p:tgtEl>
                                          <p:spTgt spid="227"/>
                                        </p:tgtEl>
                                        <p:attrNameLst>
                                          <p:attrName>style.visibility</p:attrName>
                                        </p:attrNameLst>
                                      </p:cBhvr>
                                      <p:to>
                                        <p:strVal val="hidden"/>
                                      </p:to>
                                    </p:set>
                                  </p:childTnLst>
                                </p:cTn>
                              </p:par>
                              <p:par>
                                <p:cTn id="36" presetID="10" presetClass="entr" presetSubtype="0" fill="hold" nodeType="with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fade">
                                      <p:cBhvr>
                                        <p:cTn id="38" dur="500"/>
                                        <p:tgtEl>
                                          <p:spTgt spid="44"/>
                                        </p:tgtEl>
                                      </p:cBhvr>
                                    </p:animEffect>
                                  </p:childTnLst>
                                </p:cTn>
                              </p:par>
                            </p:childTnLst>
                          </p:cTn>
                        </p:par>
                        <p:par>
                          <p:cTn id="39" fill="hold">
                            <p:stCondLst>
                              <p:cond delay="500"/>
                            </p:stCondLst>
                            <p:childTnLst>
                              <p:par>
                                <p:cTn id="40" presetID="1" presetClass="entr" presetSubtype="0" fill="hold" grpId="0" nodeType="afterEffect">
                                  <p:stCondLst>
                                    <p:cond delay="0"/>
                                  </p:stCondLst>
                                  <p:childTnLst>
                                    <p:set>
                                      <p:cBhvr>
                                        <p:cTn id="41" dur="1" fill="hold">
                                          <p:stCondLst>
                                            <p:cond delay="0"/>
                                          </p:stCondLst>
                                        </p:cTn>
                                        <p:tgtEl>
                                          <p:spTgt spid="228"/>
                                        </p:tgtEl>
                                        <p:attrNameLst>
                                          <p:attrName>style.visibility</p:attrName>
                                        </p:attrNameLst>
                                      </p:cBhvr>
                                      <p:to>
                                        <p:strVal val="visible"/>
                                      </p:to>
                                    </p:set>
                                  </p:childTnLst>
                                </p:cTn>
                              </p:par>
                              <p:par>
                                <p:cTn id="42" presetID="35" presetClass="emph" presetSubtype="0" repeatCount="indefinite" fill="hold" grpId="1" nodeType="withEffect">
                                  <p:stCondLst>
                                    <p:cond delay="0"/>
                                  </p:stCondLst>
                                  <p:childTnLst>
                                    <p:anim calcmode="discrete" valueType="str">
                                      <p:cBhvr>
                                        <p:cTn id="43" dur="500" fill="hold"/>
                                        <p:tgtEl>
                                          <p:spTgt spid="228"/>
                                        </p:tgtEl>
                                        <p:attrNameLst>
                                          <p:attrName>style.visibility</p:attrName>
                                        </p:attrNameLst>
                                      </p:cBhvr>
                                      <p:tavLst>
                                        <p:tav tm="0">
                                          <p:val>
                                            <p:strVal val="hidden"/>
                                          </p:val>
                                        </p:tav>
                                        <p:tav tm="50000">
                                          <p:val>
                                            <p:strVal val="visible"/>
                                          </p:val>
                                        </p:tav>
                                      </p:tavLst>
                                    </p:anim>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2" nodeType="clickEffect">
                                  <p:stCondLst>
                                    <p:cond delay="0"/>
                                  </p:stCondLst>
                                  <p:childTnLst>
                                    <p:set>
                                      <p:cBhvr>
                                        <p:cTn id="47" dur="1" fill="hold">
                                          <p:stCondLst>
                                            <p:cond delay="0"/>
                                          </p:stCondLst>
                                        </p:cTn>
                                        <p:tgtEl>
                                          <p:spTgt spid="228"/>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0"/>
                                          </p:stCondLst>
                                        </p:cTn>
                                        <p:tgtEl>
                                          <p:spTgt spid="229"/>
                                        </p:tgtEl>
                                        <p:attrNameLst>
                                          <p:attrName>style.visibility</p:attrName>
                                        </p:attrNameLst>
                                      </p:cBhvr>
                                      <p:to>
                                        <p:strVal val="visible"/>
                                      </p:to>
                                    </p:set>
                                  </p:childTnLst>
                                </p:cTn>
                              </p:par>
                              <p:par>
                                <p:cTn id="54" presetID="35" presetClass="emph" presetSubtype="0" repeatCount="indefinite" fill="hold" grpId="1" nodeType="withEffect">
                                  <p:stCondLst>
                                    <p:cond delay="0"/>
                                  </p:stCondLst>
                                  <p:childTnLst>
                                    <p:anim calcmode="discrete" valueType="str">
                                      <p:cBhvr>
                                        <p:cTn id="55" dur="500" fill="hold"/>
                                        <p:tgtEl>
                                          <p:spTgt spid="229"/>
                                        </p:tgtEl>
                                        <p:attrNameLst>
                                          <p:attrName>style.visibility</p:attrName>
                                        </p:attrNameLst>
                                      </p:cBhvr>
                                      <p:tavLst>
                                        <p:tav tm="0">
                                          <p:val>
                                            <p:strVal val="hidden"/>
                                          </p:val>
                                        </p:tav>
                                        <p:tav tm="50000">
                                          <p:val>
                                            <p:strVal val="visible"/>
                                          </p:val>
                                        </p:tav>
                                      </p:tavLst>
                                    </p:anim>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2" nodeType="clickEffect">
                                  <p:stCondLst>
                                    <p:cond delay="0"/>
                                  </p:stCondLst>
                                  <p:childTnLst>
                                    <p:set>
                                      <p:cBhvr>
                                        <p:cTn id="59" dur="1" fill="hold">
                                          <p:stCondLst>
                                            <p:cond delay="0"/>
                                          </p:stCondLst>
                                        </p:cTn>
                                        <p:tgtEl>
                                          <p:spTgt spid="229"/>
                                        </p:tgtEl>
                                        <p:attrNameLst>
                                          <p:attrName>style.visibility</p:attrName>
                                        </p:attrNameLst>
                                      </p:cBhvr>
                                      <p:to>
                                        <p:strVal val="hidden"/>
                                      </p:to>
                                    </p:set>
                                  </p:childTnLst>
                                </p:cTn>
                              </p:par>
                              <p:par>
                                <p:cTn id="60" presetID="10" presetClass="entr" presetSubtype="0" fill="hold"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500"/>
                                        <p:tgtEl>
                                          <p:spTgt spid="46"/>
                                        </p:tgtEl>
                                      </p:cBhvr>
                                    </p:animEffec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0"/>
                                          </p:stCondLst>
                                        </p:cTn>
                                        <p:tgtEl>
                                          <p:spTgt spid="230"/>
                                        </p:tgtEl>
                                        <p:attrNameLst>
                                          <p:attrName>style.visibility</p:attrName>
                                        </p:attrNameLst>
                                      </p:cBhvr>
                                      <p:to>
                                        <p:strVal val="visible"/>
                                      </p:to>
                                    </p:set>
                                  </p:childTnLst>
                                </p:cTn>
                              </p:par>
                              <p:par>
                                <p:cTn id="66" presetID="35" presetClass="emph" presetSubtype="0" repeatCount="indefinite" fill="hold" grpId="1" nodeType="withEffect">
                                  <p:stCondLst>
                                    <p:cond delay="0"/>
                                  </p:stCondLst>
                                  <p:childTnLst>
                                    <p:anim calcmode="discrete" valueType="str">
                                      <p:cBhvr>
                                        <p:cTn id="67" dur="500" fill="hold"/>
                                        <p:tgtEl>
                                          <p:spTgt spid="230"/>
                                        </p:tgtEl>
                                        <p:attrNameLst>
                                          <p:attrName>style.visibility</p:attrName>
                                        </p:attrNameLst>
                                      </p:cBhvr>
                                      <p:tavLst>
                                        <p:tav tm="0">
                                          <p:val>
                                            <p:strVal val="hidden"/>
                                          </p:val>
                                        </p:tav>
                                        <p:tav tm="50000">
                                          <p:val>
                                            <p:strVal val="visible"/>
                                          </p:val>
                                        </p:tav>
                                      </p:tavLst>
                                    </p:anim>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2" nodeType="clickEffect">
                                  <p:stCondLst>
                                    <p:cond delay="0"/>
                                  </p:stCondLst>
                                  <p:childTnLst>
                                    <p:set>
                                      <p:cBhvr>
                                        <p:cTn id="71" dur="1" fill="hold">
                                          <p:stCondLst>
                                            <p:cond delay="0"/>
                                          </p:stCondLst>
                                        </p:cTn>
                                        <p:tgtEl>
                                          <p:spTgt spid="230"/>
                                        </p:tgtEl>
                                        <p:attrNameLst>
                                          <p:attrName>style.visibility</p:attrName>
                                        </p:attrNameLst>
                                      </p:cBhvr>
                                      <p:to>
                                        <p:strVal val="hidden"/>
                                      </p:to>
                                    </p:set>
                                  </p:childTnLst>
                                </p:cTn>
                              </p:par>
                              <p:par>
                                <p:cTn id="72" presetID="10" presetClass="entr" presetSubtype="0" fill="hold" nodeType="with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fade">
                                      <p:cBhvr>
                                        <p:cTn id="74" dur="500"/>
                                        <p:tgtEl>
                                          <p:spTgt spid="4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61"/>
                                        </p:tgtEl>
                                        <p:attrNameLst>
                                          <p:attrName>style.visibility</p:attrName>
                                        </p:attrNameLst>
                                      </p:cBhvr>
                                      <p:to>
                                        <p:strVal val="visible"/>
                                      </p:to>
                                    </p:set>
                                    <p:animEffect transition="in" filter="fade">
                                      <p:cBhvr>
                                        <p:cTn id="79" dur="500"/>
                                        <p:tgtEl>
                                          <p:spTgt spid="6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71"/>
                                        </p:tgtEl>
                                        <p:attrNameLst>
                                          <p:attrName>style.visibility</p:attrName>
                                        </p:attrNameLst>
                                      </p:cBhvr>
                                      <p:to>
                                        <p:strVal val="visible"/>
                                      </p:to>
                                    </p:set>
                                    <p:animEffect transition="in" filter="fade">
                                      <p:cBhvr>
                                        <p:cTn id="84" dur="500"/>
                                        <p:tgtEl>
                                          <p:spTgt spid="71"/>
                                        </p:tgtEl>
                                      </p:cBhvr>
                                    </p:animEffect>
                                  </p:childTnLst>
                                </p:cTn>
                              </p:par>
                            </p:childTnLst>
                          </p:cTn>
                        </p:par>
                        <p:par>
                          <p:cTn id="85" fill="hold">
                            <p:stCondLst>
                              <p:cond delay="500"/>
                            </p:stCondLst>
                            <p:childTnLst>
                              <p:par>
                                <p:cTn id="86" presetID="1" presetClass="entr" presetSubtype="0" fill="hold" grpId="0" nodeType="afterEffect">
                                  <p:stCondLst>
                                    <p:cond delay="0"/>
                                  </p:stCondLst>
                                  <p:childTnLst>
                                    <p:set>
                                      <p:cBhvr>
                                        <p:cTn id="87" dur="1" fill="hold">
                                          <p:stCondLst>
                                            <p:cond delay="0"/>
                                          </p:stCondLst>
                                        </p:cTn>
                                        <p:tgtEl>
                                          <p:spTgt spid="231"/>
                                        </p:tgtEl>
                                        <p:attrNameLst>
                                          <p:attrName>style.visibility</p:attrName>
                                        </p:attrNameLst>
                                      </p:cBhvr>
                                      <p:to>
                                        <p:strVal val="visible"/>
                                      </p:to>
                                    </p:set>
                                  </p:childTnLst>
                                </p:cTn>
                              </p:par>
                              <p:par>
                                <p:cTn id="88" presetID="35" presetClass="emph" presetSubtype="0" repeatCount="indefinite" fill="hold" grpId="1" nodeType="withEffect">
                                  <p:stCondLst>
                                    <p:cond delay="0"/>
                                  </p:stCondLst>
                                  <p:childTnLst>
                                    <p:anim calcmode="discrete" valueType="str">
                                      <p:cBhvr>
                                        <p:cTn id="89" dur="500" fill="hold"/>
                                        <p:tgtEl>
                                          <p:spTgt spid="231"/>
                                        </p:tgtEl>
                                        <p:attrNameLst>
                                          <p:attrName>style.visibility</p:attrName>
                                        </p:attrNameLst>
                                      </p:cBhvr>
                                      <p:tavLst>
                                        <p:tav tm="0">
                                          <p:val>
                                            <p:strVal val="hidden"/>
                                          </p:val>
                                        </p:tav>
                                        <p:tav tm="50000">
                                          <p:val>
                                            <p:strVal val="visible"/>
                                          </p:val>
                                        </p:tav>
                                      </p:tavLst>
                                    </p:anim>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2" nodeType="clickEffect">
                                  <p:stCondLst>
                                    <p:cond delay="0"/>
                                  </p:stCondLst>
                                  <p:childTnLst>
                                    <p:set>
                                      <p:cBhvr>
                                        <p:cTn id="93" dur="1" fill="hold">
                                          <p:stCondLst>
                                            <p:cond delay="0"/>
                                          </p:stCondLst>
                                        </p:cTn>
                                        <p:tgtEl>
                                          <p:spTgt spid="231"/>
                                        </p:tgtEl>
                                        <p:attrNameLst>
                                          <p:attrName>style.visibility</p:attrName>
                                        </p:attrNameLst>
                                      </p:cBhvr>
                                      <p:to>
                                        <p:strVal val="hidden"/>
                                      </p:to>
                                    </p:set>
                                  </p:childTnLst>
                                </p:cTn>
                              </p:par>
                              <p:par>
                                <p:cTn id="94" presetID="10" presetClass="entr" presetSubtype="0" fill="hold"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fade">
                                      <p:cBhvr>
                                        <p:cTn id="96" dur="500"/>
                                        <p:tgtEl>
                                          <p:spTgt spid="48"/>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82"/>
                                        </p:tgtEl>
                                        <p:attrNameLst>
                                          <p:attrName>style.visibility</p:attrName>
                                        </p:attrNameLst>
                                      </p:cBhvr>
                                      <p:to>
                                        <p:strVal val="visible"/>
                                      </p:to>
                                    </p:set>
                                    <p:animEffect transition="in" filter="fade">
                                      <p:cBhvr>
                                        <p:cTn id="101" dur="500"/>
                                        <p:tgtEl>
                                          <p:spTgt spid="82"/>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fade">
                                      <p:cBhvr>
                                        <p:cTn id="106" dur="500"/>
                                        <p:tgtEl>
                                          <p:spTgt spid="49"/>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83"/>
                                        </p:tgtEl>
                                        <p:attrNameLst>
                                          <p:attrName>style.visibility</p:attrName>
                                        </p:attrNameLst>
                                      </p:cBhvr>
                                      <p:to>
                                        <p:strVal val="visible"/>
                                      </p:to>
                                    </p:set>
                                    <p:animEffect transition="in" filter="fade">
                                      <p:cBhvr>
                                        <p:cTn id="111" dur="500"/>
                                        <p:tgtEl>
                                          <p:spTgt spid="83"/>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50"/>
                                        </p:tgtEl>
                                        <p:attrNameLst>
                                          <p:attrName>style.visibility</p:attrName>
                                        </p:attrNameLst>
                                      </p:cBhvr>
                                      <p:to>
                                        <p:strVal val="visible"/>
                                      </p:to>
                                    </p:set>
                                    <p:animEffect transition="in" filter="fade">
                                      <p:cBhvr>
                                        <p:cTn id="116" dur="500"/>
                                        <p:tgtEl>
                                          <p:spTgt spid="50"/>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94"/>
                                        </p:tgtEl>
                                        <p:attrNameLst>
                                          <p:attrName>style.visibility</p:attrName>
                                        </p:attrNameLst>
                                      </p:cBhvr>
                                      <p:to>
                                        <p:strVal val="visible"/>
                                      </p:to>
                                    </p:set>
                                    <p:animEffect transition="in" filter="fade">
                                      <p:cBhvr>
                                        <p:cTn id="121" dur="500"/>
                                        <p:tgtEl>
                                          <p:spTgt spid="94"/>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500"/>
                                        <p:tgtEl>
                                          <p:spTgt spid="51"/>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109"/>
                                        </p:tgtEl>
                                        <p:attrNameLst>
                                          <p:attrName>style.visibility</p:attrName>
                                        </p:attrNameLst>
                                      </p:cBhvr>
                                      <p:to>
                                        <p:strVal val="visible"/>
                                      </p:to>
                                    </p:set>
                                    <p:animEffect transition="in" filter="fade">
                                      <p:cBhvr>
                                        <p:cTn id="131"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p:bldP spid="227" grpId="0"/>
      <p:bldP spid="227" grpId="1"/>
      <p:bldP spid="227" grpId="2"/>
      <p:bldP spid="228" grpId="0"/>
      <p:bldP spid="228" grpId="1"/>
      <p:bldP spid="228" grpId="2"/>
      <p:bldP spid="229" grpId="0"/>
      <p:bldP spid="229" grpId="1"/>
      <p:bldP spid="229" grpId="2"/>
      <p:bldP spid="230" grpId="0"/>
      <p:bldP spid="230" grpId="1"/>
      <p:bldP spid="230" grpId="2"/>
      <p:bldP spid="231" grpId="0"/>
      <p:bldP spid="231" grpId="1"/>
      <p:bldP spid="231" grpId="2"/>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27974" y="1556792"/>
            <a:ext cx="5584049" cy="749891"/>
            <a:chOff x="844524" y="747700"/>
            <a:chExt cx="5584049" cy="749891"/>
          </a:xfrm>
        </p:grpSpPr>
        <p:sp>
          <p:nvSpPr>
            <p:cNvPr id="10" name="TextBox 9"/>
            <p:cNvSpPr txBox="1"/>
            <p:nvPr/>
          </p:nvSpPr>
          <p:spPr>
            <a:xfrm>
              <a:off x="1175432" y="747700"/>
              <a:ext cx="139630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思路</a:t>
              </a:r>
            </a:p>
          </p:txBody>
        </p:sp>
        <p:sp>
          <p:nvSpPr>
            <p:cNvPr id="20" name="TextBox 19"/>
            <p:cNvSpPr txBox="1"/>
            <p:nvPr/>
          </p:nvSpPr>
          <p:spPr>
            <a:xfrm>
              <a:off x="1431020" y="1097481"/>
              <a:ext cx="4997553"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选择</a:t>
              </a:r>
              <a:r>
                <a:rPr lang="zh-CN" altLang="en-US" sz="2000" b="1" dirty="0">
                  <a:solidFill>
                    <a:srgbClr val="C00000"/>
                  </a:solidFill>
                  <a:latin typeface="微软雅黑" pitchFamily="34" charset="-122"/>
                  <a:ea typeface="微软雅黑" pitchFamily="34" charset="-122"/>
                </a:rPr>
                <a:t>在内存驻留时间最长</a:t>
              </a:r>
              <a:r>
                <a:rPr lang="zh-CN" altLang="en-US" sz="2000" b="1" dirty="0">
                  <a:solidFill>
                    <a:srgbClr val="11576A"/>
                  </a:solidFill>
                  <a:latin typeface="微软雅黑" pitchFamily="34" charset="-122"/>
                  <a:ea typeface="微软雅黑" pitchFamily="34" charset="-122"/>
                </a:rPr>
                <a:t>的页面进行置换</a:t>
              </a:r>
              <a:endParaRPr lang="en-US" altLang="zh-CN" sz="2000" b="1" dirty="0">
                <a:solidFill>
                  <a:srgbClr val="11576A"/>
                </a:solidFill>
                <a:latin typeface="微软雅黑" pitchFamily="34" charset="-122"/>
                <a:ea typeface="微软雅黑" pitchFamily="34" charset="-122"/>
              </a:endParaRPr>
            </a:p>
          </p:txBody>
        </p:sp>
        <p:pic>
          <p:nvPicPr>
            <p:cNvPr id="43" name="图片 42" descr="小点1.png"/>
            <p:cNvPicPr>
              <a:picLocks noChangeAspect="1"/>
            </p:cNvPicPr>
            <p:nvPr/>
          </p:nvPicPr>
          <p:blipFill>
            <a:blip r:embed="rId2" cstate="print"/>
            <a:stretch>
              <a:fillRect/>
            </a:stretch>
          </p:blipFill>
          <p:spPr>
            <a:xfrm>
              <a:off x="1284441" y="1195201"/>
              <a:ext cx="151066" cy="148997"/>
            </a:xfrm>
            <a:prstGeom prst="rect">
              <a:avLst/>
            </a:prstGeom>
            <a:effectLst/>
          </p:spPr>
        </p:pic>
        <p:sp>
          <p:nvSpPr>
            <p:cNvPr id="49" name="TextBox 48"/>
            <p:cNvSpPr txBox="1"/>
            <p:nvPr/>
          </p:nvSpPr>
          <p:spPr>
            <a:xfrm>
              <a:off x="844524" y="74770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727972" y="2345047"/>
            <a:ext cx="7888308" cy="1327081"/>
            <a:chOff x="844524" y="1416571"/>
            <a:chExt cx="7888308" cy="1327081"/>
          </a:xfrm>
        </p:grpSpPr>
        <p:sp>
          <p:nvSpPr>
            <p:cNvPr id="18" name="TextBox 17"/>
            <p:cNvSpPr txBox="1"/>
            <p:nvPr/>
          </p:nvSpPr>
          <p:spPr>
            <a:xfrm>
              <a:off x="1175432" y="1416571"/>
              <a:ext cx="139630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实现</a:t>
              </a:r>
            </a:p>
          </p:txBody>
        </p:sp>
        <p:sp>
          <p:nvSpPr>
            <p:cNvPr id="21" name="TextBox 20"/>
            <p:cNvSpPr txBox="1"/>
            <p:nvPr/>
          </p:nvSpPr>
          <p:spPr>
            <a:xfrm>
              <a:off x="1431020" y="1740423"/>
              <a:ext cx="5498434"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维护一个记录所有位于内存中的逻辑页面链表</a:t>
              </a:r>
            </a:p>
          </p:txBody>
        </p:sp>
        <p:sp>
          <p:nvSpPr>
            <p:cNvPr id="24" name="TextBox 23"/>
            <p:cNvSpPr txBox="1"/>
            <p:nvPr/>
          </p:nvSpPr>
          <p:spPr>
            <a:xfrm>
              <a:off x="1431021" y="2031799"/>
              <a:ext cx="730181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链表元素</a:t>
              </a:r>
              <a:r>
                <a:rPr lang="zh-CN" altLang="en-US" sz="2000" b="1" dirty="0">
                  <a:solidFill>
                    <a:srgbClr val="C00000"/>
                  </a:solidFill>
                  <a:latin typeface="微软雅黑" pitchFamily="34" charset="-122"/>
                  <a:ea typeface="微软雅黑" pitchFamily="34" charset="-122"/>
                </a:rPr>
                <a:t>按驻留内存的时间排序</a:t>
              </a:r>
              <a:r>
                <a:rPr lang="zh-CN" altLang="en-US" sz="2000" b="1" dirty="0">
                  <a:solidFill>
                    <a:srgbClr val="11576A"/>
                  </a:solidFill>
                  <a:latin typeface="微软雅黑" pitchFamily="34" charset="-122"/>
                  <a:ea typeface="微软雅黑" pitchFamily="34" charset="-122"/>
                </a:rPr>
                <a:t>，链首最长，链尾最短</a:t>
              </a:r>
              <a:endParaRPr lang="en-US" altLang="zh-CN" sz="2000" b="1" dirty="0">
                <a:solidFill>
                  <a:srgbClr val="11576A"/>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2" cstate="print"/>
            <a:stretch>
              <a:fillRect/>
            </a:stretch>
          </p:blipFill>
          <p:spPr>
            <a:xfrm>
              <a:off x="1284441" y="2125182"/>
              <a:ext cx="151066" cy="148997"/>
            </a:xfrm>
            <a:prstGeom prst="rect">
              <a:avLst/>
            </a:prstGeom>
            <a:effectLst/>
          </p:spPr>
        </p:pic>
        <p:pic>
          <p:nvPicPr>
            <p:cNvPr id="42" name="图片 41" descr="小点1.png"/>
            <p:cNvPicPr>
              <a:picLocks noChangeAspect="1"/>
            </p:cNvPicPr>
            <p:nvPr/>
          </p:nvPicPr>
          <p:blipFill>
            <a:blip r:embed="rId2" cstate="print"/>
            <a:stretch>
              <a:fillRect/>
            </a:stretch>
          </p:blipFill>
          <p:spPr>
            <a:xfrm>
              <a:off x="1284441" y="1849432"/>
              <a:ext cx="151066" cy="148997"/>
            </a:xfrm>
            <a:prstGeom prst="rect">
              <a:avLst/>
            </a:prstGeom>
            <a:effectLst/>
          </p:spPr>
        </p:pic>
        <p:sp>
          <p:nvSpPr>
            <p:cNvPr id="48" name="TextBox 47"/>
            <p:cNvSpPr txBox="1"/>
            <p:nvPr/>
          </p:nvSpPr>
          <p:spPr>
            <a:xfrm>
              <a:off x="844524" y="1416571"/>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32" name="TextBox 31"/>
            <p:cNvSpPr txBox="1"/>
            <p:nvPr/>
          </p:nvSpPr>
          <p:spPr>
            <a:xfrm>
              <a:off x="1431020" y="2343542"/>
              <a:ext cx="6869764"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出现缺页时，选择链首页面进行置换，新页面加到链尾</a:t>
              </a:r>
              <a:endParaRPr lang="en-US" altLang="zh-CN" sz="2000" b="1" dirty="0">
                <a:solidFill>
                  <a:srgbClr val="11576A"/>
                </a:solidFill>
                <a:latin typeface="微软雅黑" pitchFamily="34" charset="-122"/>
                <a:ea typeface="微软雅黑" pitchFamily="34" charset="-122"/>
              </a:endParaRPr>
            </a:p>
          </p:txBody>
        </p:sp>
        <p:pic>
          <p:nvPicPr>
            <p:cNvPr id="35" name="图片 34" descr="小点1.png"/>
            <p:cNvPicPr>
              <a:picLocks noChangeAspect="1"/>
            </p:cNvPicPr>
            <p:nvPr/>
          </p:nvPicPr>
          <p:blipFill>
            <a:blip r:embed="rId2" cstate="print"/>
            <a:stretch>
              <a:fillRect/>
            </a:stretch>
          </p:blipFill>
          <p:spPr>
            <a:xfrm>
              <a:off x="1284441" y="2452551"/>
              <a:ext cx="151066" cy="148997"/>
            </a:xfrm>
            <a:prstGeom prst="rect">
              <a:avLst/>
            </a:prstGeom>
            <a:effectLst/>
          </p:spPr>
        </p:pic>
      </p:grpSp>
      <p:grpSp>
        <p:nvGrpSpPr>
          <p:cNvPr id="4" name="组合 3"/>
          <p:cNvGrpSpPr/>
          <p:nvPr/>
        </p:nvGrpSpPr>
        <p:grpSpPr>
          <a:xfrm>
            <a:off x="742613" y="3655197"/>
            <a:ext cx="8521739" cy="1574003"/>
            <a:chOff x="859163" y="2654713"/>
            <a:chExt cx="8521739" cy="1574003"/>
          </a:xfrm>
        </p:grpSpPr>
        <p:sp>
          <p:nvSpPr>
            <p:cNvPr id="31" name="TextBox 30"/>
            <p:cNvSpPr txBox="1"/>
            <p:nvPr/>
          </p:nvSpPr>
          <p:spPr>
            <a:xfrm>
              <a:off x="1435783" y="3828606"/>
              <a:ext cx="2921903"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很少单独使用</a:t>
              </a:r>
            </a:p>
          </p:txBody>
        </p:sp>
        <p:pic>
          <p:nvPicPr>
            <p:cNvPr id="34" name="图片 33" descr="小点1.png"/>
            <p:cNvPicPr>
              <a:picLocks noChangeAspect="1"/>
            </p:cNvPicPr>
            <p:nvPr/>
          </p:nvPicPr>
          <p:blipFill>
            <a:blip r:embed="rId2" cstate="print"/>
            <a:stretch>
              <a:fillRect/>
            </a:stretch>
          </p:blipFill>
          <p:spPr>
            <a:xfrm>
              <a:off x="1277914" y="3898354"/>
              <a:ext cx="151066" cy="148997"/>
            </a:xfrm>
            <a:prstGeom prst="rect">
              <a:avLst/>
            </a:prstGeom>
            <a:effectLst/>
          </p:spPr>
        </p:pic>
        <p:sp>
          <p:nvSpPr>
            <p:cNvPr id="19" name="TextBox 18"/>
            <p:cNvSpPr txBox="1"/>
            <p:nvPr/>
          </p:nvSpPr>
          <p:spPr>
            <a:xfrm>
              <a:off x="1177724" y="2654713"/>
              <a:ext cx="1465450"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特征</a:t>
              </a:r>
            </a:p>
          </p:txBody>
        </p:sp>
        <p:sp>
          <p:nvSpPr>
            <p:cNvPr id="25" name="TextBox 24"/>
            <p:cNvSpPr txBox="1"/>
            <p:nvPr/>
          </p:nvSpPr>
          <p:spPr>
            <a:xfrm>
              <a:off x="1431021" y="2963025"/>
              <a:ext cx="271235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实现简单</a:t>
              </a:r>
              <a:endParaRPr lang="en-US" altLang="zh-CN" sz="2000" b="1" dirty="0">
                <a:solidFill>
                  <a:srgbClr val="11576A"/>
                </a:solidFill>
                <a:latin typeface="微软雅黑" pitchFamily="34" charset="-122"/>
                <a:ea typeface="微软雅黑" pitchFamily="34" charset="-122"/>
              </a:endParaRPr>
            </a:p>
          </p:txBody>
        </p:sp>
        <p:sp>
          <p:nvSpPr>
            <p:cNvPr id="26" name="TextBox 25"/>
            <p:cNvSpPr txBox="1"/>
            <p:nvPr/>
          </p:nvSpPr>
          <p:spPr>
            <a:xfrm>
              <a:off x="1431021" y="3252481"/>
              <a:ext cx="5645625"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性能较差，调出的页面可能是经常访问的</a:t>
              </a:r>
              <a:endParaRPr lang="en-US" altLang="zh-CN" sz="2000" b="1" dirty="0">
                <a:solidFill>
                  <a:srgbClr val="11576A"/>
                </a:solidFill>
                <a:latin typeface="微软雅黑" pitchFamily="34" charset="-122"/>
                <a:ea typeface="微软雅黑" pitchFamily="34" charset="-122"/>
              </a:endParaRPr>
            </a:p>
          </p:txBody>
        </p:sp>
        <p:pic>
          <p:nvPicPr>
            <p:cNvPr id="39" name="图片 38" descr="小点1.png"/>
            <p:cNvPicPr>
              <a:picLocks noChangeAspect="1"/>
            </p:cNvPicPr>
            <p:nvPr/>
          </p:nvPicPr>
          <p:blipFill>
            <a:blip r:embed="rId2" cstate="print"/>
            <a:stretch>
              <a:fillRect/>
            </a:stretch>
          </p:blipFill>
          <p:spPr>
            <a:xfrm>
              <a:off x="1284441" y="3346497"/>
              <a:ext cx="151066" cy="148997"/>
            </a:xfrm>
            <a:prstGeom prst="rect">
              <a:avLst/>
            </a:prstGeom>
            <a:effectLst/>
          </p:spPr>
        </p:pic>
        <p:pic>
          <p:nvPicPr>
            <p:cNvPr id="40" name="图片 39" descr="小点1.png"/>
            <p:cNvPicPr>
              <a:picLocks noChangeAspect="1"/>
            </p:cNvPicPr>
            <p:nvPr/>
          </p:nvPicPr>
          <p:blipFill>
            <a:blip r:embed="rId2" cstate="print"/>
            <a:stretch>
              <a:fillRect/>
            </a:stretch>
          </p:blipFill>
          <p:spPr>
            <a:xfrm>
              <a:off x="1284441" y="3064626"/>
              <a:ext cx="151066" cy="148997"/>
            </a:xfrm>
            <a:prstGeom prst="rect">
              <a:avLst/>
            </a:prstGeom>
            <a:effectLst/>
          </p:spPr>
        </p:pic>
        <p:sp>
          <p:nvSpPr>
            <p:cNvPr id="45" name="TextBox 44"/>
            <p:cNvSpPr txBox="1"/>
            <p:nvPr/>
          </p:nvSpPr>
          <p:spPr>
            <a:xfrm>
              <a:off x="859163" y="2654713"/>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36" name="TextBox 35"/>
            <p:cNvSpPr txBox="1"/>
            <p:nvPr/>
          </p:nvSpPr>
          <p:spPr>
            <a:xfrm>
              <a:off x="1431021" y="3529472"/>
              <a:ext cx="7949881" cy="369332"/>
            </a:xfrm>
            <a:prstGeom prst="rect">
              <a:avLst/>
            </a:prstGeom>
            <a:noFill/>
            <a:effectLst/>
          </p:spPr>
          <p:txBody>
            <a:bodyPr wrap="square" rtlCol="0">
              <a:noAutofit/>
            </a:bodyPr>
            <a:lstStyle/>
            <a:p>
              <a:pPr marL="0" lvl="1"/>
              <a:r>
                <a:rPr lang="zh-CN" altLang="en-US" sz="2000" b="1" dirty="0">
                  <a:solidFill>
                    <a:srgbClr val="11576A"/>
                  </a:solidFill>
                  <a:latin typeface="微软雅黑" pitchFamily="34" charset="-122"/>
                  <a:ea typeface="微软雅黑" pitchFamily="34" charset="-122"/>
                </a:rPr>
                <a:t>进程分配物理页面数增加时，缺页并不一定减少</a:t>
              </a:r>
              <a:r>
                <a:rPr lang="en-US" altLang="zh-CN" sz="2000" b="1" dirty="0">
                  <a:solidFill>
                    <a:srgbClr val="11576A"/>
                  </a:solidFill>
                  <a:latin typeface="微软雅黑" pitchFamily="34" charset="-122"/>
                  <a:ea typeface="微软雅黑" pitchFamily="34" charset="-122"/>
                </a:rPr>
                <a:t>(Belady</a:t>
              </a:r>
              <a:r>
                <a:rPr lang="zh-CN" altLang="en-US" sz="2000" b="1" dirty="0">
                  <a:solidFill>
                    <a:srgbClr val="11576A"/>
                  </a:solidFill>
                  <a:latin typeface="微软雅黑" pitchFamily="34" charset="-122"/>
                  <a:ea typeface="微软雅黑" pitchFamily="34" charset="-122"/>
                </a:rPr>
                <a:t>现象</a:t>
              </a:r>
              <a:r>
                <a:rPr lang="en-US" altLang="zh-CN" sz="2000" b="1" dirty="0">
                  <a:solidFill>
                    <a:srgbClr val="11576A"/>
                  </a:solidFill>
                  <a:latin typeface="微软雅黑" pitchFamily="34" charset="-122"/>
                  <a:ea typeface="微软雅黑" pitchFamily="34" charset="-122"/>
                </a:rPr>
                <a:t>)</a:t>
              </a:r>
            </a:p>
          </p:txBody>
        </p:sp>
        <p:pic>
          <p:nvPicPr>
            <p:cNvPr id="37" name="图片 36" descr="小点1.png"/>
            <p:cNvPicPr>
              <a:picLocks noChangeAspect="1"/>
            </p:cNvPicPr>
            <p:nvPr/>
          </p:nvPicPr>
          <p:blipFill>
            <a:blip r:embed="rId2" cstate="print"/>
            <a:stretch>
              <a:fillRect/>
            </a:stretch>
          </p:blipFill>
          <p:spPr>
            <a:xfrm>
              <a:off x="1284441" y="3623488"/>
              <a:ext cx="151066" cy="148997"/>
            </a:xfrm>
            <a:prstGeom prst="rect">
              <a:avLst/>
            </a:prstGeom>
            <a:effectLst/>
          </p:spPr>
        </p:pic>
      </p:grpSp>
      <p:sp>
        <p:nvSpPr>
          <p:cNvPr id="5" name="文本框 4">
            <a:extLst>
              <a:ext uri="{FF2B5EF4-FFF2-40B4-BE49-F238E27FC236}">
                <a16:creationId xmlns:a16="http://schemas.microsoft.com/office/drawing/2014/main" id="{DDFC669F-2A6A-0D8A-0246-1EBB47A1BDAA}"/>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6" name="标题 8">
            <a:extLst>
              <a:ext uri="{FF2B5EF4-FFF2-40B4-BE49-F238E27FC236}">
                <a16:creationId xmlns:a16="http://schemas.microsoft.com/office/drawing/2014/main" id="{7414877A-8235-366F-2065-962C6188E041}"/>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先进先出算法（</a:t>
            </a:r>
            <a:r>
              <a:rPr lang="en-US" altLang="zh-CN" b="0" kern="0" dirty="0"/>
              <a:t>First-In First-Out, FIFO</a:t>
            </a:r>
            <a:r>
              <a:rPr lang="zh-CN" altLang="en-US" b="0" kern="0" dirty="0"/>
              <a:t>）</a:t>
            </a:r>
          </a:p>
        </p:txBody>
      </p:sp>
    </p:spTree>
    <p:extLst>
      <p:ext uri="{BB962C8B-B14F-4D97-AF65-F5344CB8AC3E}">
        <p14:creationId xmlns:p14="http://schemas.microsoft.com/office/powerpoint/2010/main" val="3629675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矩形 96"/>
          <p:cNvSpPr/>
          <p:nvPr/>
        </p:nvSpPr>
        <p:spPr>
          <a:xfrm>
            <a:off x="2927648" y="2948337"/>
            <a:ext cx="6429420" cy="234599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5" name="直接连接符 154"/>
          <p:cNvCxnSpPr/>
          <p:nvPr/>
        </p:nvCxnSpPr>
        <p:spPr>
          <a:xfrm rot="10800000" flipH="1">
            <a:off x="2947359" y="3395018"/>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rot="10800000" flipH="1">
            <a:off x="2947359" y="4840287"/>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rot="10800000" flipH="1">
            <a:off x="2947359" y="4375148"/>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rot="10800000" flipH="1">
            <a:off x="2947359" y="3908420"/>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H="1">
            <a:off x="8966446"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flipH="1">
            <a:off x="8537818"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a:off x="8109190"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flipH="1">
            <a:off x="7688500"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flipH="1">
            <a:off x="7251934"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6823306"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H="1">
            <a:off x="6394678"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flipH="1">
            <a:off x="5973988"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H="1">
            <a:off x="5537421"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flipH="1">
            <a:off x="5108793"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flipH="1">
            <a:off x="4680166" y="2962087"/>
            <a:ext cx="1588" cy="230400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a:off x="4246550" y="2962087"/>
            <a:ext cx="8164" cy="2332246"/>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86" name="TextBox 185"/>
          <p:cNvSpPr txBox="1"/>
          <p:nvPr/>
        </p:nvSpPr>
        <p:spPr>
          <a:xfrm>
            <a:off x="3110118" y="2986775"/>
            <a:ext cx="714380"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FIFO</a:t>
            </a:r>
            <a:endParaRPr lang="zh-CN" altLang="en-US" b="1" dirty="0">
              <a:solidFill>
                <a:srgbClr val="11576A"/>
              </a:solidFill>
              <a:latin typeface="微软雅黑" pitchFamily="34" charset="-122"/>
              <a:ea typeface="微软雅黑" pitchFamily="34" charset="-122"/>
            </a:endParaRPr>
          </a:p>
        </p:txBody>
      </p:sp>
      <p:sp>
        <p:nvSpPr>
          <p:cNvPr id="187" name="TextBox 186"/>
          <p:cNvSpPr txBox="1"/>
          <p:nvPr/>
        </p:nvSpPr>
        <p:spPr>
          <a:xfrm>
            <a:off x="4722714"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88" name="TextBox 187"/>
          <p:cNvSpPr txBox="1"/>
          <p:nvPr/>
        </p:nvSpPr>
        <p:spPr>
          <a:xfrm>
            <a:off x="5158065"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189" name="TextBox 188"/>
          <p:cNvSpPr txBox="1"/>
          <p:nvPr/>
        </p:nvSpPr>
        <p:spPr>
          <a:xfrm>
            <a:off x="5579970"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190" name="TextBox 189"/>
          <p:cNvSpPr txBox="1"/>
          <p:nvPr/>
        </p:nvSpPr>
        <p:spPr>
          <a:xfrm>
            <a:off x="6015321"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91" name="TextBox 190"/>
          <p:cNvSpPr txBox="1"/>
          <p:nvPr/>
        </p:nvSpPr>
        <p:spPr>
          <a:xfrm>
            <a:off x="6437226"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92" name="TextBox 191"/>
          <p:cNvSpPr txBox="1"/>
          <p:nvPr/>
        </p:nvSpPr>
        <p:spPr>
          <a:xfrm>
            <a:off x="6872577"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193" name="TextBox 192"/>
          <p:cNvSpPr txBox="1"/>
          <p:nvPr/>
        </p:nvSpPr>
        <p:spPr>
          <a:xfrm>
            <a:off x="7294482"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94" name="TextBox 193"/>
          <p:cNvSpPr txBox="1"/>
          <p:nvPr/>
        </p:nvSpPr>
        <p:spPr>
          <a:xfrm>
            <a:off x="7711735"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95" name="TextBox 194"/>
          <p:cNvSpPr txBox="1"/>
          <p:nvPr/>
        </p:nvSpPr>
        <p:spPr>
          <a:xfrm>
            <a:off x="8133640"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196" name="TextBox 195"/>
          <p:cNvSpPr txBox="1"/>
          <p:nvPr/>
        </p:nvSpPr>
        <p:spPr>
          <a:xfrm>
            <a:off x="8568991"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197" name="TextBox 196"/>
          <p:cNvSpPr txBox="1"/>
          <p:nvPr/>
        </p:nvSpPr>
        <p:spPr>
          <a:xfrm>
            <a:off x="8990896"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grpSp>
        <p:nvGrpSpPr>
          <p:cNvPr id="33" name="组合 32"/>
          <p:cNvGrpSpPr/>
          <p:nvPr/>
        </p:nvGrpSpPr>
        <p:grpSpPr>
          <a:xfrm>
            <a:off x="7294482" y="3464813"/>
            <a:ext cx="327607" cy="1339816"/>
            <a:chOff x="5327338" y="2607563"/>
            <a:chExt cx="327607" cy="1339816"/>
          </a:xfrm>
        </p:grpSpPr>
        <p:sp>
          <p:nvSpPr>
            <p:cNvPr id="205" name="TextBox 204"/>
            <p:cNvSpPr txBox="1"/>
            <p:nvPr/>
          </p:nvSpPr>
          <p:spPr>
            <a:xfrm>
              <a:off x="5327338" y="260756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217" name="TextBox 216"/>
            <p:cNvSpPr txBox="1"/>
            <p:nvPr/>
          </p:nvSpPr>
          <p:spPr>
            <a:xfrm>
              <a:off x="5327338"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29" name="TextBox 228"/>
            <p:cNvSpPr txBox="1"/>
            <p:nvPr/>
          </p:nvSpPr>
          <p:spPr>
            <a:xfrm>
              <a:off x="5327338" y="3578047"/>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1</a:t>
              </a:r>
              <a:endParaRPr lang="zh-CN" altLang="en-US" b="1" dirty="0">
                <a:solidFill>
                  <a:srgbClr val="C00000"/>
                </a:solidFill>
                <a:latin typeface="微软雅黑" pitchFamily="34" charset="-122"/>
                <a:ea typeface="微软雅黑" pitchFamily="34" charset="-122"/>
              </a:endParaRPr>
            </a:p>
          </p:txBody>
        </p:sp>
      </p:grpSp>
      <p:grpSp>
        <p:nvGrpSpPr>
          <p:cNvPr id="34" name="组合 33"/>
          <p:cNvGrpSpPr/>
          <p:nvPr/>
        </p:nvGrpSpPr>
        <p:grpSpPr>
          <a:xfrm>
            <a:off x="7711735" y="3464813"/>
            <a:ext cx="327607" cy="1339816"/>
            <a:chOff x="5744591" y="2607563"/>
            <a:chExt cx="327607" cy="1339816"/>
          </a:xfrm>
        </p:grpSpPr>
        <p:sp>
          <p:nvSpPr>
            <p:cNvPr id="206" name="TextBox 205"/>
            <p:cNvSpPr txBox="1"/>
            <p:nvPr/>
          </p:nvSpPr>
          <p:spPr>
            <a:xfrm>
              <a:off x="5744591" y="260756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218" name="TextBox 217"/>
            <p:cNvSpPr txBox="1"/>
            <p:nvPr/>
          </p:nvSpPr>
          <p:spPr>
            <a:xfrm>
              <a:off x="5744591" y="3111319"/>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2</a:t>
              </a:r>
              <a:endParaRPr lang="zh-CN" altLang="en-US" b="1" dirty="0">
                <a:solidFill>
                  <a:srgbClr val="C00000"/>
                </a:solidFill>
                <a:latin typeface="微软雅黑" pitchFamily="34" charset="-122"/>
                <a:ea typeface="微软雅黑" pitchFamily="34" charset="-122"/>
              </a:endParaRPr>
            </a:p>
          </p:txBody>
        </p:sp>
        <p:sp>
          <p:nvSpPr>
            <p:cNvPr id="230" name="TextBox 229"/>
            <p:cNvSpPr txBox="1"/>
            <p:nvPr/>
          </p:nvSpPr>
          <p:spPr>
            <a:xfrm>
              <a:off x="5744591"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grpSp>
      <p:grpSp>
        <p:nvGrpSpPr>
          <p:cNvPr id="37" name="组合 36"/>
          <p:cNvGrpSpPr/>
          <p:nvPr/>
        </p:nvGrpSpPr>
        <p:grpSpPr>
          <a:xfrm>
            <a:off x="8990896" y="3464813"/>
            <a:ext cx="327607" cy="1339816"/>
            <a:chOff x="7023752" y="2607563"/>
            <a:chExt cx="327607" cy="1339816"/>
          </a:xfrm>
        </p:grpSpPr>
        <p:sp>
          <p:nvSpPr>
            <p:cNvPr id="209" name="TextBox 208"/>
            <p:cNvSpPr txBox="1"/>
            <p:nvPr/>
          </p:nvSpPr>
          <p:spPr>
            <a:xfrm>
              <a:off x="7023752" y="260756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221" name="TextBox 220"/>
            <p:cNvSpPr txBox="1"/>
            <p:nvPr/>
          </p:nvSpPr>
          <p:spPr>
            <a:xfrm>
              <a:off x="7023752"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33" name="TextBox 232"/>
            <p:cNvSpPr txBox="1"/>
            <p:nvPr/>
          </p:nvSpPr>
          <p:spPr>
            <a:xfrm>
              <a:off x="7023752" y="3578047"/>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5</a:t>
              </a:r>
              <a:endParaRPr lang="zh-CN" altLang="en-US" b="1" dirty="0">
                <a:solidFill>
                  <a:srgbClr val="C00000"/>
                </a:solidFill>
                <a:latin typeface="微软雅黑" pitchFamily="34" charset="-122"/>
                <a:ea typeface="微软雅黑" pitchFamily="34" charset="-122"/>
              </a:endParaRPr>
            </a:p>
          </p:txBody>
        </p:sp>
      </p:grpSp>
      <p:sp>
        <p:nvSpPr>
          <p:cNvPr id="248" name="TextBox 247"/>
          <p:cNvSpPr txBox="1"/>
          <p:nvPr/>
        </p:nvSpPr>
        <p:spPr>
          <a:xfrm>
            <a:off x="3288639" y="4408580"/>
            <a:ext cx="785818" cy="369332"/>
          </a:xfrm>
          <a:prstGeom prst="rect">
            <a:avLst/>
          </a:prstGeom>
          <a:noFill/>
        </p:spPr>
        <p:txBody>
          <a:bodyPr wrap="square" rtlCol="0">
            <a:spAutoFit/>
          </a:bodyPr>
          <a:lstStyle/>
          <a:p>
            <a:r>
              <a:rPr lang="zh-CN" altLang="en-US" b="1" spc="-100" dirty="0">
                <a:solidFill>
                  <a:srgbClr val="11576A"/>
                </a:solidFill>
                <a:latin typeface="微软雅黑" pitchFamily="34" charset="-122"/>
                <a:ea typeface="微软雅黑" pitchFamily="34" charset="-122"/>
              </a:rPr>
              <a:t>头</a:t>
            </a:r>
          </a:p>
        </p:txBody>
      </p:sp>
      <p:sp>
        <p:nvSpPr>
          <p:cNvPr id="249" name="TextBox 248"/>
          <p:cNvSpPr txBox="1"/>
          <p:nvPr/>
        </p:nvSpPr>
        <p:spPr>
          <a:xfrm>
            <a:off x="3010750" y="4863925"/>
            <a:ext cx="1124768" cy="369332"/>
          </a:xfrm>
          <a:prstGeom prst="rect">
            <a:avLst/>
          </a:prstGeom>
          <a:noFill/>
        </p:spPr>
        <p:txBody>
          <a:bodyPr wrap="square" rtlCol="0">
            <a:spAutoFit/>
          </a:bodyPr>
          <a:lstStyle/>
          <a:p>
            <a:pPr algn="ctr"/>
            <a:r>
              <a:rPr lang="zh-CN" altLang="en-US" b="1" dirty="0">
                <a:solidFill>
                  <a:srgbClr val="11576A"/>
                </a:solidFill>
                <a:latin typeface="微软雅黑" pitchFamily="34" charset="-122"/>
                <a:ea typeface="微软雅黑" pitchFamily="34" charset="-122"/>
              </a:rPr>
              <a:t>缺页状态</a:t>
            </a:r>
          </a:p>
        </p:txBody>
      </p:sp>
      <p:sp>
        <p:nvSpPr>
          <p:cNvPr id="250" name="TextBox 249"/>
          <p:cNvSpPr txBox="1"/>
          <p:nvPr/>
        </p:nvSpPr>
        <p:spPr>
          <a:xfrm>
            <a:off x="4324566" y="298677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84" name="TextBox 83"/>
          <p:cNvSpPr txBox="1"/>
          <p:nvPr/>
        </p:nvSpPr>
        <p:spPr>
          <a:xfrm>
            <a:off x="3038680" y="2060848"/>
            <a:ext cx="5505488" cy="400110"/>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sym typeface="Times New Roman" charset="0"/>
              </a:rPr>
              <a:t>访问顺序 : 1, 2, 3, 4, 1, 2, 5, 1, 2, 3, 4, 5</a:t>
            </a:r>
          </a:p>
        </p:txBody>
      </p:sp>
      <p:sp>
        <p:nvSpPr>
          <p:cNvPr id="85" name="TextBox 84"/>
          <p:cNvSpPr txBox="1"/>
          <p:nvPr/>
        </p:nvSpPr>
        <p:spPr>
          <a:xfrm>
            <a:off x="3038680" y="2529984"/>
            <a:ext cx="4436566" cy="400110"/>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sym typeface="Times New Roman" charset="0"/>
              </a:rPr>
              <a:t>物理页面数: 3</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247" name="TextBox 246"/>
          <p:cNvSpPr txBox="1"/>
          <p:nvPr/>
        </p:nvSpPr>
        <p:spPr>
          <a:xfrm>
            <a:off x="3110118" y="3464813"/>
            <a:ext cx="785818" cy="369332"/>
          </a:xfrm>
          <a:prstGeom prst="rect">
            <a:avLst/>
          </a:prstGeom>
          <a:noFill/>
        </p:spPr>
        <p:txBody>
          <a:bodyPr wrap="square" rtlCol="0">
            <a:spAutoFit/>
          </a:bodyPr>
          <a:lstStyle/>
          <a:p>
            <a:pPr algn="ctr"/>
            <a:r>
              <a:rPr lang="zh-CN" altLang="en-US" b="1" dirty="0">
                <a:solidFill>
                  <a:srgbClr val="11576A"/>
                </a:solidFill>
                <a:latin typeface="微软雅黑" pitchFamily="34" charset="-122"/>
                <a:ea typeface="微软雅黑" pitchFamily="34" charset="-122"/>
              </a:rPr>
              <a:t>尾</a:t>
            </a:r>
          </a:p>
        </p:txBody>
      </p:sp>
      <p:sp>
        <p:nvSpPr>
          <p:cNvPr id="87" name="TextBox 247"/>
          <p:cNvSpPr txBox="1"/>
          <p:nvPr/>
        </p:nvSpPr>
        <p:spPr>
          <a:xfrm>
            <a:off x="3290300" y="3943441"/>
            <a:ext cx="785818" cy="369332"/>
          </a:xfrm>
          <a:prstGeom prst="rect">
            <a:avLst/>
          </a:prstGeom>
          <a:noFill/>
        </p:spPr>
        <p:txBody>
          <a:bodyPr wrap="square" rtlCol="0">
            <a:spAutoFit/>
          </a:bodyPr>
          <a:lstStyle/>
          <a:p>
            <a:r>
              <a:rPr lang="zh-CN" altLang="en-US" b="1" spc="-100" dirty="0">
                <a:solidFill>
                  <a:srgbClr val="11576A"/>
                </a:solidFill>
                <a:latin typeface="微软雅黑" pitchFamily="34" charset="-122"/>
                <a:ea typeface="微软雅黑" pitchFamily="34" charset="-122"/>
              </a:rPr>
              <a:t>头</a:t>
            </a:r>
          </a:p>
        </p:txBody>
      </p:sp>
      <p:sp>
        <p:nvSpPr>
          <p:cNvPr id="88" name="TextBox 247"/>
          <p:cNvSpPr txBox="1"/>
          <p:nvPr/>
        </p:nvSpPr>
        <p:spPr>
          <a:xfrm>
            <a:off x="3294781" y="3471668"/>
            <a:ext cx="785818" cy="369332"/>
          </a:xfrm>
          <a:prstGeom prst="rect">
            <a:avLst/>
          </a:prstGeom>
          <a:noFill/>
        </p:spPr>
        <p:txBody>
          <a:bodyPr wrap="square" rtlCol="0">
            <a:spAutoFit/>
          </a:bodyPr>
          <a:lstStyle/>
          <a:p>
            <a:r>
              <a:rPr lang="zh-CN" altLang="en-US" b="1" spc="-100" dirty="0">
                <a:solidFill>
                  <a:srgbClr val="11576A"/>
                </a:solidFill>
                <a:latin typeface="微软雅黑" pitchFamily="34" charset="-122"/>
                <a:ea typeface="微软雅黑" pitchFamily="34" charset="-122"/>
              </a:rPr>
              <a:t>头</a:t>
            </a:r>
          </a:p>
        </p:txBody>
      </p:sp>
      <p:grpSp>
        <p:nvGrpSpPr>
          <p:cNvPr id="26" name="组合 25"/>
          <p:cNvGrpSpPr/>
          <p:nvPr/>
        </p:nvGrpSpPr>
        <p:grpSpPr>
          <a:xfrm>
            <a:off x="4300809" y="3464813"/>
            <a:ext cx="327607" cy="1673778"/>
            <a:chOff x="2333665" y="2607563"/>
            <a:chExt cx="327607" cy="1673778"/>
          </a:xfrm>
        </p:grpSpPr>
        <p:sp>
          <p:nvSpPr>
            <p:cNvPr id="198" name="TextBox 197"/>
            <p:cNvSpPr txBox="1"/>
            <p:nvPr/>
          </p:nvSpPr>
          <p:spPr>
            <a:xfrm>
              <a:off x="2333665"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1</a:t>
              </a:r>
              <a:endParaRPr lang="zh-CN" altLang="en-US" b="1" dirty="0">
                <a:solidFill>
                  <a:srgbClr val="C00000"/>
                </a:solidFill>
                <a:latin typeface="微软雅黑" pitchFamily="34" charset="-122"/>
                <a:ea typeface="微软雅黑" pitchFamily="34" charset="-122"/>
              </a:endParaRPr>
            </a:p>
          </p:txBody>
        </p:sp>
        <p:sp>
          <p:nvSpPr>
            <p:cNvPr id="109" name="AutoShape 100"/>
            <p:cNvSpPr>
              <a:spLocks noChangeArrowheads="1"/>
            </p:cNvSpPr>
            <p:nvPr/>
          </p:nvSpPr>
          <p:spPr bwMode="auto">
            <a:xfrm>
              <a:off x="2404738" y="4101341"/>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7" name="组合 26"/>
          <p:cNvGrpSpPr/>
          <p:nvPr/>
        </p:nvGrpSpPr>
        <p:grpSpPr>
          <a:xfrm>
            <a:off x="4722714" y="3464813"/>
            <a:ext cx="327607" cy="1678130"/>
            <a:chOff x="2755570" y="2607563"/>
            <a:chExt cx="327607" cy="1678130"/>
          </a:xfrm>
        </p:grpSpPr>
        <p:sp>
          <p:nvSpPr>
            <p:cNvPr id="199" name="TextBox 198"/>
            <p:cNvSpPr txBox="1"/>
            <p:nvPr/>
          </p:nvSpPr>
          <p:spPr>
            <a:xfrm>
              <a:off x="2755570"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2</a:t>
              </a:r>
              <a:endParaRPr lang="zh-CN" altLang="en-US" b="1" dirty="0">
                <a:solidFill>
                  <a:srgbClr val="C00000"/>
                </a:solidFill>
                <a:latin typeface="微软雅黑" pitchFamily="34" charset="-122"/>
                <a:ea typeface="微软雅黑" pitchFamily="34" charset="-122"/>
              </a:endParaRPr>
            </a:p>
          </p:txBody>
        </p:sp>
        <p:sp>
          <p:nvSpPr>
            <p:cNvPr id="211" name="TextBox 210"/>
            <p:cNvSpPr txBox="1"/>
            <p:nvPr/>
          </p:nvSpPr>
          <p:spPr>
            <a:xfrm>
              <a:off x="2755570"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0" name="AutoShape 100"/>
            <p:cNvSpPr>
              <a:spLocks noChangeArrowheads="1"/>
            </p:cNvSpPr>
            <p:nvPr/>
          </p:nvSpPr>
          <p:spPr bwMode="auto">
            <a:xfrm>
              <a:off x="2838840" y="410569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8" name="组合 27"/>
          <p:cNvGrpSpPr/>
          <p:nvPr/>
        </p:nvGrpSpPr>
        <p:grpSpPr>
          <a:xfrm>
            <a:off x="5158065" y="3464813"/>
            <a:ext cx="327607" cy="1678130"/>
            <a:chOff x="3190921" y="2607563"/>
            <a:chExt cx="327607" cy="1678130"/>
          </a:xfrm>
        </p:grpSpPr>
        <p:sp>
          <p:nvSpPr>
            <p:cNvPr id="200" name="TextBox 199"/>
            <p:cNvSpPr txBox="1"/>
            <p:nvPr/>
          </p:nvSpPr>
          <p:spPr>
            <a:xfrm>
              <a:off x="3190921"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3</a:t>
              </a:r>
              <a:endParaRPr lang="zh-CN" altLang="en-US" b="1" dirty="0">
                <a:solidFill>
                  <a:srgbClr val="C00000"/>
                </a:solidFill>
                <a:latin typeface="微软雅黑" pitchFamily="34" charset="-122"/>
                <a:ea typeface="微软雅黑" pitchFamily="34" charset="-122"/>
              </a:endParaRPr>
            </a:p>
          </p:txBody>
        </p:sp>
        <p:sp>
          <p:nvSpPr>
            <p:cNvPr id="212" name="TextBox 211"/>
            <p:cNvSpPr txBox="1"/>
            <p:nvPr/>
          </p:nvSpPr>
          <p:spPr>
            <a:xfrm>
              <a:off x="3190921"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24" name="TextBox 223"/>
            <p:cNvSpPr txBox="1"/>
            <p:nvPr/>
          </p:nvSpPr>
          <p:spPr>
            <a:xfrm>
              <a:off x="3190921"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1" name="AutoShape 100"/>
            <p:cNvSpPr>
              <a:spLocks noChangeArrowheads="1"/>
            </p:cNvSpPr>
            <p:nvPr/>
          </p:nvSpPr>
          <p:spPr bwMode="auto">
            <a:xfrm>
              <a:off x="3257942" y="410569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9" name="组合 28"/>
          <p:cNvGrpSpPr/>
          <p:nvPr/>
        </p:nvGrpSpPr>
        <p:grpSpPr>
          <a:xfrm>
            <a:off x="5579970" y="3464813"/>
            <a:ext cx="327607" cy="1678130"/>
            <a:chOff x="3612826" y="2607563"/>
            <a:chExt cx="327607" cy="1678130"/>
          </a:xfrm>
        </p:grpSpPr>
        <p:sp>
          <p:nvSpPr>
            <p:cNvPr id="201" name="TextBox 200"/>
            <p:cNvSpPr txBox="1"/>
            <p:nvPr/>
          </p:nvSpPr>
          <p:spPr>
            <a:xfrm>
              <a:off x="3612826"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4</a:t>
              </a:r>
              <a:endParaRPr lang="zh-CN" altLang="en-US" b="1" dirty="0">
                <a:solidFill>
                  <a:srgbClr val="C00000"/>
                </a:solidFill>
                <a:latin typeface="微软雅黑" pitchFamily="34" charset="-122"/>
                <a:ea typeface="微软雅黑" pitchFamily="34" charset="-122"/>
              </a:endParaRPr>
            </a:p>
          </p:txBody>
        </p:sp>
        <p:sp>
          <p:nvSpPr>
            <p:cNvPr id="213" name="TextBox 212"/>
            <p:cNvSpPr txBox="1"/>
            <p:nvPr/>
          </p:nvSpPr>
          <p:spPr>
            <a:xfrm>
              <a:off x="3612826"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25" name="TextBox 224"/>
            <p:cNvSpPr txBox="1"/>
            <p:nvPr/>
          </p:nvSpPr>
          <p:spPr>
            <a:xfrm>
              <a:off x="3612826"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12" name="AutoShape 100"/>
            <p:cNvSpPr>
              <a:spLocks noChangeArrowheads="1"/>
            </p:cNvSpPr>
            <p:nvPr/>
          </p:nvSpPr>
          <p:spPr bwMode="auto">
            <a:xfrm>
              <a:off x="3691418" y="410569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30" name="组合 29"/>
          <p:cNvGrpSpPr/>
          <p:nvPr/>
        </p:nvGrpSpPr>
        <p:grpSpPr>
          <a:xfrm>
            <a:off x="6015321" y="3464813"/>
            <a:ext cx="327607" cy="1671254"/>
            <a:chOff x="4048177" y="2607563"/>
            <a:chExt cx="327607" cy="1671254"/>
          </a:xfrm>
        </p:grpSpPr>
        <p:sp>
          <p:nvSpPr>
            <p:cNvPr id="202" name="TextBox 201"/>
            <p:cNvSpPr txBox="1"/>
            <p:nvPr/>
          </p:nvSpPr>
          <p:spPr>
            <a:xfrm>
              <a:off x="4048177"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1</a:t>
              </a:r>
              <a:endParaRPr lang="zh-CN" altLang="en-US" b="1" dirty="0">
                <a:solidFill>
                  <a:srgbClr val="C00000"/>
                </a:solidFill>
                <a:latin typeface="微软雅黑" pitchFamily="34" charset="-122"/>
                <a:ea typeface="微软雅黑" pitchFamily="34" charset="-122"/>
              </a:endParaRPr>
            </a:p>
          </p:txBody>
        </p:sp>
        <p:sp>
          <p:nvSpPr>
            <p:cNvPr id="214" name="TextBox 213"/>
            <p:cNvSpPr txBox="1"/>
            <p:nvPr/>
          </p:nvSpPr>
          <p:spPr>
            <a:xfrm>
              <a:off x="4048177"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226" name="TextBox 225"/>
            <p:cNvSpPr txBox="1"/>
            <p:nvPr/>
          </p:nvSpPr>
          <p:spPr>
            <a:xfrm>
              <a:off x="4048177"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113" name="AutoShape 100"/>
            <p:cNvSpPr>
              <a:spLocks noChangeArrowheads="1"/>
            </p:cNvSpPr>
            <p:nvPr/>
          </p:nvSpPr>
          <p:spPr bwMode="auto">
            <a:xfrm>
              <a:off x="4110520" y="4098817"/>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31" name="组合 30"/>
          <p:cNvGrpSpPr/>
          <p:nvPr/>
        </p:nvGrpSpPr>
        <p:grpSpPr>
          <a:xfrm>
            <a:off x="6437226" y="3464815"/>
            <a:ext cx="327607" cy="1667505"/>
            <a:chOff x="4470082" y="2607563"/>
            <a:chExt cx="327607" cy="1667505"/>
          </a:xfrm>
        </p:grpSpPr>
        <p:sp>
          <p:nvSpPr>
            <p:cNvPr id="203" name="TextBox 202"/>
            <p:cNvSpPr txBox="1"/>
            <p:nvPr/>
          </p:nvSpPr>
          <p:spPr>
            <a:xfrm>
              <a:off x="4470082"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2</a:t>
              </a:r>
              <a:endParaRPr lang="zh-CN" altLang="en-US" b="1" dirty="0">
                <a:solidFill>
                  <a:srgbClr val="C00000"/>
                </a:solidFill>
                <a:latin typeface="微软雅黑" pitchFamily="34" charset="-122"/>
                <a:ea typeface="微软雅黑" pitchFamily="34" charset="-122"/>
              </a:endParaRPr>
            </a:p>
          </p:txBody>
        </p:sp>
        <p:sp>
          <p:nvSpPr>
            <p:cNvPr id="215" name="TextBox 214"/>
            <p:cNvSpPr txBox="1"/>
            <p:nvPr/>
          </p:nvSpPr>
          <p:spPr>
            <a:xfrm>
              <a:off x="4470082"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227" name="TextBox 226"/>
            <p:cNvSpPr txBox="1"/>
            <p:nvPr/>
          </p:nvSpPr>
          <p:spPr>
            <a:xfrm>
              <a:off x="4470082"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114" name="AutoShape 100"/>
            <p:cNvSpPr>
              <a:spLocks noChangeArrowheads="1"/>
            </p:cNvSpPr>
            <p:nvPr/>
          </p:nvSpPr>
          <p:spPr bwMode="auto">
            <a:xfrm>
              <a:off x="4529622" y="40950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32" name="组合 31"/>
          <p:cNvGrpSpPr/>
          <p:nvPr/>
        </p:nvGrpSpPr>
        <p:grpSpPr>
          <a:xfrm>
            <a:off x="6872577" y="3464815"/>
            <a:ext cx="327607" cy="1667505"/>
            <a:chOff x="4905433" y="2607563"/>
            <a:chExt cx="327607" cy="1667505"/>
          </a:xfrm>
        </p:grpSpPr>
        <p:sp>
          <p:nvSpPr>
            <p:cNvPr id="204" name="TextBox 203"/>
            <p:cNvSpPr txBox="1"/>
            <p:nvPr/>
          </p:nvSpPr>
          <p:spPr>
            <a:xfrm>
              <a:off x="4905433"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5</a:t>
              </a:r>
              <a:endParaRPr lang="zh-CN" altLang="en-US" b="1" dirty="0">
                <a:solidFill>
                  <a:srgbClr val="C00000"/>
                </a:solidFill>
                <a:latin typeface="微软雅黑" pitchFamily="34" charset="-122"/>
                <a:ea typeface="微软雅黑" pitchFamily="34" charset="-122"/>
              </a:endParaRPr>
            </a:p>
          </p:txBody>
        </p:sp>
        <p:sp>
          <p:nvSpPr>
            <p:cNvPr id="216" name="TextBox 215"/>
            <p:cNvSpPr txBox="1"/>
            <p:nvPr/>
          </p:nvSpPr>
          <p:spPr>
            <a:xfrm>
              <a:off x="4905433"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28" name="TextBox 227"/>
            <p:cNvSpPr txBox="1"/>
            <p:nvPr/>
          </p:nvSpPr>
          <p:spPr>
            <a:xfrm>
              <a:off x="4905433"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5" name="AutoShape 100"/>
            <p:cNvSpPr>
              <a:spLocks noChangeArrowheads="1"/>
            </p:cNvSpPr>
            <p:nvPr/>
          </p:nvSpPr>
          <p:spPr bwMode="auto">
            <a:xfrm>
              <a:off x="4956662" y="40950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35" name="组合 34"/>
          <p:cNvGrpSpPr/>
          <p:nvPr/>
        </p:nvGrpSpPr>
        <p:grpSpPr>
          <a:xfrm>
            <a:off x="8133640" y="3464815"/>
            <a:ext cx="327607" cy="1667505"/>
            <a:chOff x="6166496" y="2607563"/>
            <a:chExt cx="327607" cy="1667505"/>
          </a:xfrm>
        </p:grpSpPr>
        <p:sp>
          <p:nvSpPr>
            <p:cNvPr id="207" name="TextBox 206"/>
            <p:cNvSpPr txBox="1"/>
            <p:nvPr/>
          </p:nvSpPr>
          <p:spPr>
            <a:xfrm>
              <a:off x="6166496"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3</a:t>
              </a:r>
              <a:endParaRPr lang="zh-CN" altLang="en-US" b="1" dirty="0">
                <a:solidFill>
                  <a:srgbClr val="C00000"/>
                </a:solidFill>
                <a:latin typeface="微软雅黑" pitchFamily="34" charset="-122"/>
                <a:ea typeface="微软雅黑" pitchFamily="34" charset="-122"/>
              </a:endParaRPr>
            </a:p>
          </p:txBody>
        </p:sp>
        <p:sp>
          <p:nvSpPr>
            <p:cNvPr id="219" name="TextBox 218"/>
            <p:cNvSpPr txBox="1"/>
            <p:nvPr/>
          </p:nvSpPr>
          <p:spPr>
            <a:xfrm>
              <a:off x="6166496"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231" name="TextBox 230"/>
            <p:cNvSpPr txBox="1"/>
            <p:nvPr/>
          </p:nvSpPr>
          <p:spPr>
            <a:xfrm>
              <a:off x="6166496"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16" name="AutoShape 100"/>
            <p:cNvSpPr>
              <a:spLocks noChangeArrowheads="1"/>
            </p:cNvSpPr>
            <p:nvPr/>
          </p:nvSpPr>
          <p:spPr bwMode="auto">
            <a:xfrm>
              <a:off x="6248153" y="40950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36" name="组合 35"/>
          <p:cNvGrpSpPr/>
          <p:nvPr/>
        </p:nvGrpSpPr>
        <p:grpSpPr>
          <a:xfrm>
            <a:off x="8568991" y="3464815"/>
            <a:ext cx="327607" cy="1667505"/>
            <a:chOff x="6601847" y="2607563"/>
            <a:chExt cx="327607" cy="1667505"/>
          </a:xfrm>
        </p:grpSpPr>
        <p:sp>
          <p:nvSpPr>
            <p:cNvPr id="208" name="TextBox 207"/>
            <p:cNvSpPr txBox="1"/>
            <p:nvPr/>
          </p:nvSpPr>
          <p:spPr>
            <a:xfrm>
              <a:off x="6601847" y="2607563"/>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4</a:t>
              </a:r>
              <a:endParaRPr lang="zh-CN" altLang="en-US" b="1" dirty="0">
                <a:solidFill>
                  <a:srgbClr val="C00000"/>
                </a:solidFill>
                <a:latin typeface="微软雅黑" pitchFamily="34" charset="-122"/>
                <a:ea typeface="微软雅黑" pitchFamily="34" charset="-122"/>
              </a:endParaRPr>
            </a:p>
          </p:txBody>
        </p:sp>
        <p:sp>
          <p:nvSpPr>
            <p:cNvPr id="220" name="TextBox 219"/>
            <p:cNvSpPr txBox="1"/>
            <p:nvPr/>
          </p:nvSpPr>
          <p:spPr>
            <a:xfrm>
              <a:off x="6601847" y="3111319"/>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32" name="TextBox 231"/>
            <p:cNvSpPr txBox="1"/>
            <p:nvPr/>
          </p:nvSpPr>
          <p:spPr>
            <a:xfrm>
              <a:off x="6601847" y="357804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117" name="AutoShape 100"/>
            <p:cNvSpPr>
              <a:spLocks noChangeArrowheads="1"/>
            </p:cNvSpPr>
            <p:nvPr/>
          </p:nvSpPr>
          <p:spPr bwMode="auto">
            <a:xfrm>
              <a:off x="6675032" y="40950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sp>
        <p:nvSpPr>
          <p:cNvPr id="130" name="TextBox 84"/>
          <p:cNvSpPr txBox="1"/>
          <p:nvPr/>
        </p:nvSpPr>
        <p:spPr>
          <a:xfrm>
            <a:off x="5256963" y="2536050"/>
            <a:ext cx="4436566" cy="400110"/>
          </a:xfrm>
          <a:prstGeom prst="rect">
            <a:avLst/>
          </a:prstGeom>
          <a:noFill/>
          <a:effectLst/>
        </p:spPr>
        <p:txBody>
          <a:bodyPr wrap="square" rtlCol="0">
            <a:spAutoFit/>
          </a:bodyPr>
          <a:lstStyle/>
          <a:p>
            <a:r>
              <a:rPr lang="zh-CN" altLang="en-US" sz="2000" b="1" dirty="0">
                <a:solidFill>
                  <a:srgbClr val="C00000"/>
                </a:solidFill>
                <a:latin typeface="微软雅黑" pitchFamily="34" charset="-122"/>
                <a:ea typeface="微软雅黑" pitchFamily="34" charset="-122"/>
                <a:sym typeface="Times New Roman" charset="0"/>
              </a:rPr>
              <a:t>缺页次数: 9</a:t>
            </a:r>
            <a:endParaRPr lang="zh-CN" altLang="en-US" sz="2000" b="1" dirty="0">
              <a:solidFill>
                <a:srgbClr val="C00000"/>
              </a:solidFill>
              <a:latin typeface="微软雅黑" pitchFamily="34" charset="-122"/>
              <a:ea typeface="微软雅黑" pitchFamily="34" charset="-122"/>
              <a:sym typeface="MS PGothic" charset="0"/>
            </a:endParaRPr>
          </a:p>
        </p:txBody>
      </p:sp>
      <p:sp>
        <p:nvSpPr>
          <p:cNvPr id="2" name="文本框 1">
            <a:extLst>
              <a:ext uri="{FF2B5EF4-FFF2-40B4-BE49-F238E27FC236}">
                <a16:creationId xmlns:a16="http://schemas.microsoft.com/office/drawing/2014/main" id="{B2B2E931-1ED5-F6D2-8F5C-B9C17601ABB5}"/>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AC2CA8BF-CD2F-D4E3-7192-F57EAA0656B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FIFO</a:t>
            </a:r>
            <a:r>
              <a:rPr lang="zh-CN" altLang="en-US" b="0" kern="0" dirty="0"/>
              <a:t>算法的异常现象</a:t>
            </a:r>
          </a:p>
        </p:txBody>
      </p:sp>
    </p:spTree>
    <p:extLst>
      <p:ext uri="{BB962C8B-B14F-4D97-AF65-F5344CB8AC3E}">
        <p14:creationId xmlns:p14="http://schemas.microsoft.com/office/powerpoint/2010/main" val="241956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88"/>
                                        </p:tgtEl>
                                      </p:cBhvr>
                                    </p:animEffect>
                                    <p:set>
                                      <p:cBhvr>
                                        <p:cTn id="15" dur="1" fill="hold">
                                          <p:stCondLst>
                                            <p:cond delay="499"/>
                                          </p:stCondLst>
                                        </p:cTn>
                                        <p:tgtEl>
                                          <p:spTgt spid="88"/>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247"/>
                                        </p:tgtEl>
                                        <p:attrNameLst>
                                          <p:attrName>style.visibility</p:attrName>
                                        </p:attrNameLst>
                                      </p:cBhvr>
                                      <p:to>
                                        <p:strVal val="visible"/>
                                      </p:to>
                                    </p:set>
                                    <p:animEffect transition="in" filter="fade">
                                      <p:cBhvr>
                                        <p:cTn id="18" dur="500"/>
                                        <p:tgtEl>
                                          <p:spTgt spid="2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7"/>
                                        </p:tgtEl>
                                        <p:attrNameLst>
                                          <p:attrName>style.visibility</p:attrName>
                                        </p:attrNameLst>
                                      </p:cBhvr>
                                      <p:to>
                                        <p:strVal val="visible"/>
                                      </p:to>
                                    </p:set>
                                    <p:animEffect transition="in" filter="fade">
                                      <p:cBhvr>
                                        <p:cTn id="21" dur="500"/>
                                        <p:tgtEl>
                                          <p:spTgt spid="87"/>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87"/>
                                        </p:tgtEl>
                                      </p:cBhvr>
                                    </p:animEffect>
                                    <p:set>
                                      <p:cBhvr>
                                        <p:cTn id="29" dur="1" fill="hold">
                                          <p:stCondLst>
                                            <p:cond delay="499"/>
                                          </p:stCondLst>
                                        </p:cTn>
                                        <p:tgtEl>
                                          <p:spTgt spid="87"/>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248"/>
                                        </p:tgtEl>
                                        <p:attrNameLst>
                                          <p:attrName>style.visibility</p:attrName>
                                        </p:attrNameLst>
                                      </p:cBhvr>
                                      <p:to>
                                        <p:strVal val="visible"/>
                                      </p:to>
                                    </p:set>
                                    <p:animEffect transition="in" filter="fade">
                                      <p:cBhvr>
                                        <p:cTn id="32" dur="500"/>
                                        <p:tgtEl>
                                          <p:spTgt spid="248"/>
                                        </p:tgtEl>
                                      </p:cBhvr>
                                    </p:animEffect>
                                  </p:childTnLst>
                                </p:cTn>
                              </p:par>
                              <p:par>
                                <p:cTn id="33" presetID="10"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00"/>
                                        <p:tgtEl>
                                          <p:spTgt spid="3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500"/>
                                        <p:tgtEl>
                                          <p:spTgt spid="3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30"/>
                                        </p:tgtEl>
                                        <p:attrNameLst>
                                          <p:attrName>style.visibility</p:attrName>
                                        </p:attrNameLst>
                                      </p:cBhvr>
                                      <p:to>
                                        <p:strVal val="visible"/>
                                      </p:to>
                                    </p:set>
                                    <p:animEffect transition="in" filter="wipe(left)">
                                      <p:cBhvr>
                                        <p:cTn id="85"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 grpId="0"/>
      <p:bldP spid="247" grpId="0"/>
      <p:bldP spid="87" grpId="0"/>
      <p:bldP spid="87" grpId="1"/>
      <p:bldP spid="88" grpId="0"/>
      <p:bldP spid="88" grpId="1"/>
      <p:bldP spid="1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矩形 110"/>
          <p:cNvSpPr/>
          <p:nvPr/>
        </p:nvSpPr>
        <p:spPr>
          <a:xfrm>
            <a:off x="2978948" y="2759656"/>
            <a:ext cx="6429420" cy="2794114"/>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5" name="直接连接符 154"/>
          <p:cNvCxnSpPr/>
          <p:nvPr/>
        </p:nvCxnSpPr>
        <p:spPr>
          <a:xfrm rot="10800000" flipH="1">
            <a:off x="2998659" y="3206336"/>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rot="10800000" flipH="1">
            <a:off x="2998659" y="4651605"/>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rot="10800000" flipH="1">
            <a:off x="2998659" y="4186466"/>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rot="10800000" flipH="1">
            <a:off x="2998659" y="3719738"/>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rot="5400000">
            <a:off x="7639740"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rot="5400000">
            <a:off x="7211112"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rot="5400000">
            <a:off x="6782484"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rot="5400000">
            <a:off x="6361794"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rot="5400000">
            <a:off x="5925228"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rot="5400000">
            <a:off x="5496600"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rot="5400000">
            <a:off x="5067972"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rot="5400000">
            <a:off x="4647282"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rot="5400000">
            <a:off x="4210715"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rot="5400000">
            <a:off x="3782087"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rot="5400000">
            <a:off x="3353460"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rot="5400000">
            <a:off x="2926420" y="4151411"/>
            <a:ext cx="27576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86" name="TextBox 185"/>
          <p:cNvSpPr txBox="1"/>
          <p:nvPr/>
        </p:nvSpPr>
        <p:spPr>
          <a:xfrm>
            <a:off x="3161418" y="2798093"/>
            <a:ext cx="714380"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FIFO</a:t>
            </a:r>
            <a:endParaRPr lang="zh-CN" altLang="en-US" b="1" dirty="0">
              <a:solidFill>
                <a:srgbClr val="11576A"/>
              </a:solidFill>
              <a:latin typeface="微软雅黑" pitchFamily="34" charset="-122"/>
              <a:ea typeface="微软雅黑" pitchFamily="34" charset="-122"/>
            </a:endParaRPr>
          </a:p>
        </p:txBody>
      </p:sp>
      <p:sp>
        <p:nvSpPr>
          <p:cNvPr id="187" name="TextBox 186"/>
          <p:cNvSpPr txBox="1"/>
          <p:nvPr/>
        </p:nvSpPr>
        <p:spPr>
          <a:xfrm>
            <a:off x="4774014"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88" name="TextBox 187"/>
          <p:cNvSpPr txBox="1"/>
          <p:nvPr/>
        </p:nvSpPr>
        <p:spPr>
          <a:xfrm>
            <a:off x="5209365"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189" name="TextBox 188"/>
          <p:cNvSpPr txBox="1"/>
          <p:nvPr/>
        </p:nvSpPr>
        <p:spPr>
          <a:xfrm>
            <a:off x="5631270"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190" name="TextBox 189"/>
          <p:cNvSpPr txBox="1"/>
          <p:nvPr/>
        </p:nvSpPr>
        <p:spPr>
          <a:xfrm>
            <a:off x="6066621"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91" name="TextBox 190"/>
          <p:cNvSpPr txBox="1"/>
          <p:nvPr/>
        </p:nvSpPr>
        <p:spPr>
          <a:xfrm>
            <a:off x="6488526"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92" name="TextBox 191"/>
          <p:cNvSpPr txBox="1"/>
          <p:nvPr/>
        </p:nvSpPr>
        <p:spPr>
          <a:xfrm>
            <a:off x="6923877"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193" name="TextBox 192"/>
          <p:cNvSpPr txBox="1"/>
          <p:nvPr/>
        </p:nvSpPr>
        <p:spPr>
          <a:xfrm>
            <a:off x="7345782"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94" name="TextBox 193"/>
          <p:cNvSpPr txBox="1"/>
          <p:nvPr/>
        </p:nvSpPr>
        <p:spPr>
          <a:xfrm>
            <a:off x="7763035"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95" name="TextBox 194"/>
          <p:cNvSpPr txBox="1"/>
          <p:nvPr/>
        </p:nvSpPr>
        <p:spPr>
          <a:xfrm>
            <a:off x="8184940"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196" name="TextBox 195"/>
          <p:cNvSpPr txBox="1"/>
          <p:nvPr/>
        </p:nvSpPr>
        <p:spPr>
          <a:xfrm>
            <a:off x="8620291"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197" name="TextBox 196"/>
          <p:cNvSpPr txBox="1"/>
          <p:nvPr/>
        </p:nvSpPr>
        <p:spPr>
          <a:xfrm>
            <a:off x="9042196"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247" name="TextBox 246"/>
          <p:cNvSpPr txBox="1"/>
          <p:nvPr/>
        </p:nvSpPr>
        <p:spPr>
          <a:xfrm>
            <a:off x="3161418" y="3276131"/>
            <a:ext cx="785818" cy="369332"/>
          </a:xfrm>
          <a:prstGeom prst="rect">
            <a:avLst/>
          </a:prstGeom>
          <a:noFill/>
        </p:spPr>
        <p:txBody>
          <a:bodyPr wrap="square" rtlCol="0">
            <a:spAutoFit/>
          </a:bodyPr>
          <a:lstStyle/>
          <a:p>
            <a:pPr algn="ctr"/>
            <a:r>
              <a:rPr lang="zh-CN" altLang="en-US" b="1" dirty="0">
                <a:solidFill>
                  <a:srgbClr val="11576A"/>
                </a:solidFill>
                <a:latin typeface="微软雅黑" pitchFamily="34" charset="-122"/>
                <a:ea typeface="微软雅黑" pitchFamily="34" charset="-122"/>
              </a:rPr>
              <a:t>尾</a:t>
            </a:r>
          </a:p>
        </p:txBody>
      </p:sp>
      <p:sp>
        <p:nvSpPr>
          <p:cNvPr id="249" name="TextBox 248"/>
          <p:cNvSpPr txBox="1"/>
          <p:nvPr/>
        </p:nvSpPr>
        <p:spPr>
          <a:xfrm>
            <a:off x="2990042" y="5142605"/>
            <a:ext cx="1224136" cy="369332"/>
          </a:xfrm>
          <a:prstGeom prst="rect">
            <a:avLst/>
          </a:prstGeom>
          <a:noFill/>
        </p:spPr>
        <p:txBody>
          <a:bodyPr wrap="square" rtlCol="0">
            <a:spAutoFit/>
          </a:bodyPr>
          <a:lstStyle/>
          <a:p>
            <a:pPr algn="ctr"/>
            <a:r>
              <a:rPr lang="zh-CN" altLang="en-US" b="1" dirty="0">
                <a:solidFill>
                  <a:srgbClr val="11576A"/>
                </a:solidFill>
                <a:latin typeface="微软雅黑" pitchFamily="34" charset="-122"/>
                <a:ea typeface="微软雅黑" pitchFamily="34" charset="-122"/>
              </a:rPr>
              <a:t>缺页状态</a:t>
            </a:r>
          </a:p>
        </p:txBody>
      </p:sp>
      <p:sp>
        <p:nvSpPr>
          <p:cNvPr id="250" name="TextBox 249"/>
          <p:cNvSpPr txBox="1"/>
          <p:nvPr/>
        </p:nvSpPr>
        <p:spPr>
          <a:xfrm>
            <a:off x="4375866" y="2798093"/>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257" name="TextBox 256"/>
          <p:cNvSpPr txBox="1"/>
          <p:nvPr/>
        </p:nvSpPr>
        <p:spPr>
          <a:xfrm>
            <a:off x="3089980" y="1916832"/>
            <a:ext cx="5505488" cy="400110"/>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sym typeface="Times New Roman" charset="0"/>
              </a:rPr>
              <a:t>访问顺序 : 1, 2, 3, 4, 1, 2, 5, 1, 2, 3, 4, 5</a:t>
            </a:r>
          </a:p>
        </p:txBody>
      </p:sp>
      <p:sp>
        <p:nvSpPr>
          <p:cNvPr id="258" name="TextBox 257"/>
          <p:cNvSpPr txBox="1"/>
          <p:nvPr/>
        </p:nvSpPr>
        <p:spPr>
          <a:xfrm>
            <a:off x="3089980" y="2371208"/>
            <a:ext cx="2649032" cy="400110"/>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sym typeface="Times New Roman" charset="0"/>
              </a:rPr>
              <a:t>物理页面数: </a:t>
            </a:r>
            <a:r>
              <a:rPr lang="en-US" altLang="zh-CN" sz="2000" b="1" dirty="0">
                <a:solidFill>
                  <a:srgbClr val="11576A"/>
                </a:solidFill>
                <a:latin typeface="微软雅黑" pitchFamily="34" charset="-122"/>
                <a:ea typeface="微软雅黑" pitchFamily="34" charset="-122"/>
                <a:sym typeface="Times New Roman" charset="0"/>
              </a:rPr>
              <a:t>4</a:t>
            </a:r>
            <a:endParaRPr lang="zh-CN" altLang="en-US" sz="2000" b="1" dirty="0">
              <a:solidFill>
                <a:srgbClr val="11576A"/>
              </a:solidFill>
              <a:latin typeface="微软雅黑" pitchFamily="34" charset="-122"/>
              <a:ea typeface="微软雅黑" pitchFamily="34" charset="-122"/>
              <a:sym typeface="Times New Roman" charset="0"/>
            </a:endParaRPr>
          </a:p>
        </p:txBody>
      </p:sp>
      <p:cxnSp>
        <p:nvCxnSpPr>
          <p:cNvPr id="260" name="直接连接符 259"/>
          <p:cNvCxnSpPr/>
          <p:nvPr/>
        </p:nvCxnSpPr>
        <p:spPr>
          <a:xfrm rot="10800000" flipH="1">
            <a:off x="2998659" y="5128316"/>
            <a:ext cx="639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71" name="TextBox 270"/>
          <p:cNvSpPr txBox="1"/>
          <p:nvPr/>
        </p:nvSpPr>
        <p:spPr>
          <a:xfrm>
            <a:off x="3334854" y="4705406"/>
            <a:ext cx="785818" cy="369332"/>
          </a:xfrm>
          <a:prstGeom prst="rect">
            <a:avLst/>
          </a:prstGeom>
          <a:noFill/>
        </p:spPr>
        <p:txBody>
          <a:bodyPr wrap="square" rtlCol="0">
            <a:spAutoFit/>
          </a:bodyPr>
          <a:lstStyle/>
          <a:p>
            <a:r>
              <a:rPr lang="zh-CN" altLang="en-US" b="1" spc="-100" dirty="0">
                <a:solidFill>
                  <a:srgbClr val="11576A"/>
                </a:solidFill>
                <a:latin typeface="微软雅黑" pitchFamily="34" charset="-122"/>
                <a:ea typeface="微软雅黑" pitchFamily="34" charset="-122"/>
              </a:rPr>
              <a:t>头</a:t>
            </a:r>
          </a:p>
        </p:txBody>
      </p:sp>
      <p:grpSp>
        <p:nvGrpSpPr>
          <p:cNvPr id="19" name="组合 18"/>
          <p:cNvGrpSpPr/>
          <p:nvPr/>
        </p:nvGrpSpPr>
        <p:grpSpPr>
          <a:xfrm>
            <a:off x="6066621" y="3276133"/>
            <a:ext cx="327607" cy="1798607"/>
            <a:chOff x="4048177" y="2418881"/>
            <a:chExt cx="327607" cy="1798607"/>
          </a:xfrm>
        </p:grpSpPr>
        <p:sp>
          <p:nvSpPr>
            <p:cNvPr id="202" name="TextBox 201"/>
            <p:cNvSpPr txBox="1"/>
            <p:nvPr/>
          </p:nvSpPr>
          <p:spPr>
            <a:xfrm>
              <a:off x="4048177" y="2418881"/>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214" name="TextBox 213"/>
            <p:cNvSpPr txBox="1"/>
            <p:nvPr/>
          </p:nvSpPr>
          <p:spPr>
            <a:xfrm>
              <a:off x="4048177"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26" name="TextBox 225"/>
            <p:cNvSpPr txBox="1"/>
            <p:nvPr/>
          </p:nvSpPr>
          <p:spPr>
            <a:xfrm>
              <a:off x="4048177"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63" name="TextBox 262"/>
            <p:cNvSpPr txBox="1"/>
            <p:nvPr/>
          </p:nvSpPr>
          <p:spPr>
            <a:xfrm>
              <a:off x="4048177" y="3848156"/>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1</a:t>
              </a:r>
              <a:endParaRPr lang="zh-CN" altLang="en-US" b="1" dirty="0">
                <a:solidFill>
                  <a:srgbClr val="C00000"/>
                </a:solidFill>
                <a:latin typeface="微软雅黑" pitchFamily="34" charset="-122"/>
                <a:ea typeface="微软雅黑" pitchFamily="34" charset="-122"/>
              </a:endParaRPr>
            </a:p>
          </p:txBody>
        </p:sp>
      </p:grpSp>
      <p:grpSp>
        <p:nvGrpSpPr>
          <p:cNvPr id="18" name="组合 17"/>
          <p:cNvGrpSpPr/>
          <p:nvPr/>
        </p:nvGrpSpPr>
        <p:grpSpPr>
          <a:xfrm>
            <a:off x="6488526" y="3276133"/>
            <a:ext cx="327607" cy="1798607"/>
            <a:chOff x="4470082" y="2418881"/>
            <a:chExt cx="327607" cy="1798607"/>
          </a:xfrm>
        </p:grpSpPr>
        <p:sp>
          <p:nvSpPr>
            <p:cNvPr id="203" name="TextBox 202"/>
            <p:cNvSpPr txBox="1"/>
            <p:nvPr/>
          </p:nvSpPr>
          <p:spPr>
            <a:xfrm>
              <a:off x="4470082" y="2418881"/>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215" name="TextBox 214"/>
            <p:cNvSpPr txBox="1"/>
            <p:nvPr/>
          </p:nvSpPr>
          <p:spPr>
            <a:xfrm>
              <a:off x="4470082"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27" name="TextBox 226"/>
            <p:cNvSpPr txBox="1"/>
            <p:nvPr/>
          </p:nvSpPr>
          <p:spPr>
            <a:xfrm>
              <a:off x="4470082" y="3389365"/>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2</a:t>
              </a:r>
              <a:endParaRPr lang="zh-CN" altLang="en-US" b="1" dirty="0">
                <a:solidFill>
                  <a:srgbClr val="C00000"/>
                </a:solidFill>
                <a:latin typeface="微软雅黑" pitchFamily="34" charset="-122"/>
                <a:ea typeface="微软雅黑" pitchFamily="34" charset="-122"/>
              </a:endParaRPr>
            </a:p>
          </p:txBody>
        </p:sp>
        <p:sp>
          <p:nvSpPr>
            <p:cNvPr id="264" name="TextBox 263"/>
            <p:cNvSpPr txBox="1"/>
            <p:nvPr/>
          </p:nvSpPr>
          <p:spPr>
            <a:xfrm>
              <a:off x="4470082"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grpSp>
      <p:sp>
        <p:nvSpPr>
          <p:cNvPr id="108" name="TextBox 270"/>
          <p:cNvSpPr txBox="1"/>
          <p:nvPr/>
        </p:nvSpPr>
        <p:spPr>
          <a:xfrm>
            <a:off x="3329939" y="4245582"/>
            <a:ext cx="785818" cy="369332"/>
          </a:xfrm>
          <a:prstGeom prst="rect">
            <a:avLst/>
          </a:prstGeom>
          <a:noFill/>
        </p:spPr>
        <p:txBody>
          <a:bodyPr wrap="square" rtlCol="0">
            <a:spAutoFit/>
          </a:bodyPr>
          <a:lstStyle/>
          <a:p>
            <a:r>
              <a:rPr lang="zh-CN" altLang="en-US" b="1" spc="-100" dirty="0">
                <a:solidFill>
                  <a:srgbClr val="11576A"/>
                </a:solidFill>
                <a:latin typeface="微软雅黑" pitchFamily="34" charset="-122"/>
                <a:ea typeface="微软雅黑" pitchFamily="34" charset="-122"/>
              </a:rPr>
              <a:t>头</a:t>
            </a:r>
          </a:p>
        </p:txBody>
      </p:sp>
      <p:sp>
        <p:nvSpPr>
          <p:cNvPr id="109" name="TextBox 270"/>
          <p:cNvSpPr txBox="1"/>
          <p:nvPr/>
        </p:nvSpPr>
        <p:spPr>
          <a:xfrm>
            <a:off x="3335250" y="3748716"/>
            <a:ext cx="785818" cy="369332"/>
          </a:xfrm>
          <a:prstGeom prst="rect">
            <a:avLst/>
          </a:prstGeom>
          <a:noFill/>
        </p:spPr>
        <p:txBody>
          <a:bodyPr wrap="square" rtlCol="0">
            <a:spAutoFit/>
          </a:bodyPr>
          <a:lstStyle/>
          <a:p>
            <a:r>
              <a:rPr lang="zh-CN" altLang="en-US" b="1" spc="-100" dirty="0">
                <a:solidFill>
                  <a:srgbClr val="11576A"/>
                </a:solidFill>
                <a:latin typeface="微软雅黑" pitchFamily="34" charset="-122"/>
                <a:ea typeface="微软雅黑" pitchFamily="34" charset="-122"/>
              </a:rPr>
              <a:t>头</a:t>
            </a:r>
          </a:p>
        </p:txBody>
      </p:sp>
      <p:sp>
        <p:nvSpPr>
          <p:cNvPr id="110" name="TextBox 270"/>
          <p:cNvSpPr txBox="1"/>
          <p:nvPr/>
        </p:nvSpPr>
        <p:spPr>
          <a:xfrm>
            <a:off x="3352769" y="3282481"/>
            <a:ext cx="785818" cy="369332"/>
          </a:xfrm>
          <a:prstGeom prst="rect">
            <a:avLst/>
          </a:prstGeom>
          <a:noFill/>
        </p:spPr>
        <p:txBody>
          <a:bodyPr wrap="square" rtlCol="0">
            <a:spAutoFit/>
          </a:bodyPr>
          <a:lstStyle/>
          <a:p>
            <a:r>
              <a:rPr lang="zh-CN" altLang="en-US" b="1" spc="-100" dirty="0">
                <a:solidFill>
                  <a:srgbClr val="11576A"/>
                </a:solidFill>
                <a:latin typeface="微软雅黑" pitchFamily="34" charset="-122"/>
                <a:ea typeface="微软雅黑" pitchFamily="34" charset="-122"/>
              </a:rPr>
              <a:t>头</a:t>
            </a:r>
          </a:p>
        </p:txBody>
      </p:sp>
      <p:sp>
        <p:nvSpPr>
          <p:cNvPr id="112" name="TextBox 257"/>
          <p:cNvSpPr txBox="1"/>
          <p:nvPr/>
        </p:nvSpPr>
        <p:spPr>
          <a:xfrm>
            <a:off x="5346179" y="2371208"/>
            <a:ext cx="2253404" cy="400110"/>
          </a:xfrm>
          <a:prstGeom prst="rect">
            <a:avLst/>
          </a:prstGeom>
          <a:noFill/>
          <a:effectLst/>
        </p:spPr>
        <p:txBody>
          <a:bodyPr wrap="square" rtlCol="0">
            <a:spAutoFit/>
          </a:bodyPr>
          <a:lstStyle/>
          <a:p>
            <a:r>
              <a:rPr lang="zh-CN" altLang="en-US" sz="2000" b="1" dirty="0">
                <a:solidFill>
                  <a:srgbClr val="C00000"/>
                </a:solidFill>
                <a:latin typeface="微软雅黑" pitchFamily="34" charset="-122"/>
                <a:ea typeface="微软雅黑" pitchFamily="34" charset="-122"/>
                <a:sym typeface="Times New Roman" charset="0"/>
              </a:rPr>
              <a:t>缺页次数: </a:t>
            </a:r>
            <a:r>
              <a:rPr lang="en-US" altLang="zh-CN" sz="2000" b="1" dirty="0">
                <a:solidFill>
                  <a:srgbClr val="C00000"/>
                </a:solidFill>
                <a:latin typeface="微软雅黑" pitchFamily="34" charset="-122"/>
                <a:ea typeface="微软雅黑" pitchFamily="34" charset="-122"/>
                <a:sym typeface="Times New Roman" charset="0"/>
              </a:rPr>
              <a:t>10</a:t>
            </a:r>
            <a:endParaRPr lang="zh-CN" altLang="en-US" sz="2000" b="1" dirty="0">
              <a:solidFill>
                <a:srgbClr val="C00000"/>
              </a:solidFill>
              <a:latin typeface="微软雅黑" pitchFamily="34" charset="-122"/>
              <a:ea typeface="微软雅黑" pitchFamily="34" charset="-122"/>
              <a:sym typeface="Times New Roman" charset="0"/>
            </a:endParaRPr>
          </a:p>
        </p:txBody>
      </p:sp>
      <p:grpSp>
        <p:nvGrpSpPr>
          <p:cNvPr id="8" name="组合 7"/>
          <p:cNvGrpSpPr/>
          <p:nvPr/>
        </p:nvGrpSpPr>
        <p:grpSpPr>
          <a:xfrm>
            <a:off x="4352109" y="3276131"/>
            <a:ext cx="327607" cy="2144324"/>
            <a:chOff x="2333665" y="2418881"/>
            <a:chExt cx="327607" cy="2144324"/>
          </a:xfrm>
        </p:grpSpPr>
        <p:sp>
          <p:nvSpPr>
            <p:cNvPr id="198" name="TextBox 197"/>
            <p:cNvSpPr txBox="1"/>
            <p:nvPr/>
          </p:nvSpPr>
          <p:spPr>
            <a:xfrm>
              <a:off x="2333665"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1</a:t>
              </a:r>
              <a:endParaRPr lang="zh-CN" altLang="en-US" b="1" dirty="0">
                <a:solidFill>
                  <a:srgbClr val="C00000"/>
                </a:solidFill>
                <a:latin typeface="微软雅黑" pitchFamily="34" charset="-122"/>
                <a:ea typeface="微软雅黑" pitchFamily="34" charset="-122"/>
              </a:endParaRPr>
            </a:p>
          </p:txBody>
        </p:sp>
        <p:sp>
          <p:nvSpPr>
            <p:cNvPr id="113" name="AutoShape 100"/>
            <p:cNvSpPr>
              <a:spLocks noChangeArrowheads="1"/>
            </p:cNvSpPr>
            <p:nvPr/>
          </p:nvSpPr>
          <p:spPr bwMode="auto">
            <a:xfrm>
              <a:off x="2384322" y="4383205"/>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5" name="组合 14"/>
          <p:cNvGrpSpPr/>
          <p:nvPr/>
        </p:nvGrpSpPr>
        <p:grpSpPr>
          <a:xfrm>
            <a:off x="4774014" y="3276131"/>
            <a:ext cx="327607" cy="2136036"/>
            <a:chOff x="2755570" y="2418881"/>
            <a:chExt cx="327607" cy="2136036"/>
          </a:xfrm>
        </p:grpSpPr>
        <p:sp>
          <p:nvSpPr>
            <p:cNvPr id="199" name="TextBox 198"/>
            <p:cNvSpPr txBox="1"/>
            <p:nvPr/>
          </p:nvSpPr>
          <p:spPr>
            <a:xfrm>
              <a:off x="2755570"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2</a:t>
              </a:r>
              <a:endParaRPr lang="zh-CN" altLang="en-US" b="1" dirty="0">
                <a:solidFill>
                  <a:srgbClr val="C00000"/>
                </a:solidFill>
                <a:latin typeface="微软雅黑" pitchFamily="34" charset="-122"/>
                <a:ea typeface="微软雅黑" pitchFamily="34" charset="-122"/>
              </a:endParaRPr>
            </a:p>
          </p:txBody>
        </p:sp>
        <p:sp>
          <p:nvSpPr>
            <p:cNvPr id="211" name="TextBox 210"/>
            <p:cNvSpPr txBox="1"/>
            <p:nvPr/>
          </p:nvSpPr>
          <p:spPr>
            <a:xfrm>
              <a:off x="2755570"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4" name="AutoShape 100"/>
            <p:cNvSpPr>
              <a:spLocks noChangeArrowheads="1"/>
            </p:cNvSpPr>
            <p:nvPr/>
          </p:nvSpPr>
          <p:spPr bwMode="auto">
            <a:xfrm>
              <a:off x="2829373" y="4374917"/>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6" name="组合 15"/>
          <p:cNvGrpSpPr/>
          <p:nvPr/>
        </p:nvGrpSpPr>
        <p:grpSpPr>
          <a:xfrm>
            <a:off x="5209365" y="3276131"/>
            <a:ext cx="327607" cy="2136036"/>
            <a:chOff x="3190921" y="2418881"/>
            <a:chExt cx="327607" cy="2136036"/>
          </a:xfrm>
        </p:grpSpPr>
        <p:sp>
          <p:nvSpPr>
            <p:cNvPr id="200" name="TextBox 199"/>
            <p:cNvSpPr txBox="1"/>
            <p:nvPr/>
          </p:nvSpPr>
          <p:spPr>
            <a:xfrm>
              <a:off x="3190921"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3</a:t>
              </a:r>
              <a:endParaRPr lang="zh-CN" altLang="en-US" b="1" dirty="0">
                <a:solidFill>
                  <a:srgbClr val="C00000"/>
                </a:solidFill>
                <a:latin typeface="微软雅黑" pitchFamily="34" charset="-122"/>
                <a:ea typeface="微软雅黑" pitchFamily="34" charset="-122"/>
              </a:endParaRPr>
            </a:p>
          </p:txBody>
        </p:sp>
        <p:sp>
          <p:nvSpPr>
            <p:cNvPr id="212" name="TextBox 211"/>
            <p:cNvSpPr txBox="1"/>
            <p:nvPr/>
          </p:nvSpPr>
          <p:spPr>
            <a:xfrm>
              <a:off x="3190921"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24" name="TextBox 223"/>
            <p:cNvSpPr txBox="1"/>
            <p:nvPr/>
          </p:nvSpPr>
          <p:spPr>
            <a:xfrm>
              <a:off x="3190921"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5" name="AutoShape 100"/>
            <p:cNvSpPr>
              <a:spLocks noChangeArrowheads="1"/>
            </p:cNvSpPr>
            <p:nvPr/>
          </p:nvSpPr>
          <p:spPr bwMode="auto">
            <a:xfrm>
              <a:off x="3255456" y="4374917"/>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7" name="组合 16"/>
          <p:cNvGrpSpPr/>
          <p:nvPr/>
        </p:nvGrpSpPr>
        <p:grpSpPr>
          <a:xfrm>
            <a:off x="5631270" y="3276131"/>
            <a:ext cx="358087" cy="2136036"/>
            <a:chOff x="3612826" y="2418881"/>
            <a:chExt cx="358087" cy="2136036"/>
          </a:xfrm>
        </p:grpSpPr>
        <p:sp>
          <p:nvSpPr>
            <p:cNvPr id="201" name="TextBox 200"/>
            <p:cNvSpPr txBox="1"/>
            <p:nvPr/>
          </p:nvSpPr>
          <p:spPr>
            <a:xfrm>
              <a:off x="3612826"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4</a:t>
              </a:r>
              <a:endParaRPr lang="zh-CN" altLang="en-US" b="1" dirty="0">
                <a:solidFill>
                  <a:srgbClr val="C00000"/>
                </a:solidFill>
                <a:latin typeface="微软雅黑" pitchFamily="34" charset="-122"/>
                <a:ea typeface="微软雅黑" pitchFamily="34" charset="-122"/>
              </a:endParaRPr>
            </a:p>
          </p:txBody>
        </p:sp>
        <p:sp>
          <p:nvSpPr>
            <p:cNvPr id="213" name="TextBox 212"/>
            <p:cNvSpPr txBox="1"/>
            <p:nvPr/>
          </p:nvSpPr>
          <p:spPr>
            <a:xfrm>
              <a:off x="3612826"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25" name="TextBox 224"/>
            <p:cNvSpPr txBox="1"/>
            <p:nvPr/>
          </p:nvSpPr>
          <p:spPr>
            <a:xfrm>
              <a:off x="3612826"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61" name="TextBox 260"/>
            <p:cNvSpPr txBox="1"/>
            <p:nvPr/>
          </p:nvSpPr>
          <p:spPr>
            <a:xfrm>
              <a:off x="3643306"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6" name="AutoShape 100"/>
            <p:cNvSpPr>
              <a:spLocks noChangeArrowheads="1"/>
            </p:cNvSpPr>
            <p:nvPr/>
          </p:nvSpPr>
          <p:spPr bwMode="auto">
            <a:xfrm>
              <a:off x="3707843" y="4374917"/>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0" name="组合 19"/>
          <p:cNvGrpSpPr/>
          <p:nvPr/>
        </p:nvGrpSpPr>
        <p:grpSpPr>
          <a:xfrm>
            <a:off x="6923877" y="3276131"/>
            <a:ext cx="327607" cy="2136036"/>
            <a:chOff x="4905433" y="2418881"/>
            <a:chExt cx="327607" cy="2136036"/>
          </a:xfrm>
        </p:grpSpPr>
        <p:sp>
          <p:nvSpPr>
            <p:cNvPr id="204" name="TextBox 203"/>
            <p:cNvSpPr txBox="1"/>
            <p:nvPr/>
          </p:nvSpPr>
          <p:spPr>
            <a:xfrm>
              <a:off x="4905433"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5</a:t>
              </a:r>
              <a:endParaRPr lang="zh-CN" altLang="en-US" b="1" dirty="0">
                <a:solidFill>
                  <a:srgbClr val="C00000"/>
                </a:solidFill>
                <a:latin typeface="微软雅黑" pitchFamily="34" charset="-122"/>
                <a:ea typeface="微软雅黑" pitchFamily="34" charset="-122"/>
              </a:endParaRPr>
            </a:p>
          </p:txBody>
        </p:sp>
        <p:sp>
          <p:nvSpPr>
            <p:cNvPr id="216" name="TextBox 215"/>
            <p:cNvSpPr txBox="1"/>
            <p:nvPr/>
          </p:nvSpPr>
          <p:spPr>
            <a:xfrm>
              <a:off x="4905433"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228" name="TextBox 227"/>
            <p:cNvSpPr txBox="1"/>
            <p:nvPr/>
          </p:nvSpPr>
          <p:spPr>
            <a:xfrm>
              <a:off x="4905433"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65" name="TextBox 264"/>
            <p:cNvSpPr txBox="1"/>
            <p:nvPr/>
          </p:nvSpPr>
          <p:spPr>
            <a:xfrm>
              <a:off x="4905433"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17" name="AutoShape 100"/>
            <p:cNvSpPr>
              <a:spLocks noChangeArrowheads="1"/>
            </p:cNvSpPr>
            <p:nvPr/>
          </p:nvSpPr>
          <p:spPr bwMode="auto">
            <a:xfrm>
              <a:off x="4974981" y="4374917"/>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1" name="组合 20"/>
          <p:cNvGrpSpPr/>
          <p:nvPr/>
        </p:nvGrpSpPr>
        <p:grpSpPr>
          <a:xfrm>
            <a:off x="7345782" y="3276131"/>
            <a:ext cx="327607" cy="2136036"/>
            <a:chOff x="5327338" y="2418881"/>
            <a:chExt cx="327607" cy="2136036"/>
          </a:xfrm>
        </p:grpSpPr>
        <p:sp>
          <p:nvSpPr>
            <p:cNvPr id="205" name="TextBox 204"/>
            <p:cNvSpPr txBox="1"/>
            <p:nvPr/>
          </p:nvSpPr>
          <p:spPr>
            <a:xfrm>
              <a:off x="5327338"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1</a:t>
              </a:r>
              <a:endParaRPr lang="zh-CN" altLang="en-US" b="1" dirty="0">
                <a:solidFill>
                  <a:srgbClr val="C00000"/>
                </a:solidFill>
                <a:latin typeface="微软雅黑" pitchFamily="34" charset="-122"/>
                <a:ea typeface="微软雅黑" pitchFamily="34" charset="-122"/>
              </a:endParaRPr>
            </a:p>
          </p:txBody>
        </p:sp>
        <p:sp>
          <p:nvSpPr>
            <p:cNvPr id="217" name="TextBox 216"/>
            <p:cNvSpPr txBox="1"/>
            <p:nvPr/>
          </p:nvSpPr>
          <p:spPr>
            <a:xfrm>
              <a:off x="5327338"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229" name="TextBox 228"/>
            <p:cNvSpPr txBox="1"/>
            <p:nvPr/>
          </p:nvSpPr>
          <p:spPr>
            <a:xfrm>
              <a:off x="5327338"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266" name="TextBox 265"/>
            <p:cNvSpPr txBox="1"/>
            <p:nvPr/>
          </p:nvSpPr>
          <p:spPr>
            <a:xfrm>
              <a:off x="5327338"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118" name="AutoShape 100"/>
            <p:cNvSpPr>
              <a:spLocks noChangeArrowheads="1"/>
            </p:cNvSpPr>
            <p:nvPr/>
          </p:nvSpPr>
          <p:spPr bwMode="auto">
            <a:xfrm>
              <a:off x="5401141" y="4374917"/>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2" name="组合 21"/>
          <p:cNvGrpSpPr/>
          <p:nvPr/>
        </p:nvGrpSpPr>
        <p:grpSpPr>
          <a:xfrm>
            <a:off x="7763035" y="3276131"/>
            <a:ext cx="327607" cy="2144324"/>
            <a:chOff x="5744591" y="2418881"/>
            <a:chExt cx="327607" cy="2144324"/>
          </a:xfrm>
        </p:grpSpPr>
        <p:sp>
          <p:nvSpPr>
            <p:cNvPr id="206" name="TextBox 205"/>
            <p:cNvSpPr txBox="1"/>
            <p:nvPr/>
          </p:nvSpPr>
          <p:spPr>
            <a:xfrm>
              <a:off x="5744591"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2</a:t>
              </a:r>
              <a:endParaRPr lang="zh-CN" altLang="en-US" b="1" dirty="0">
                <a:solidFill>
                  <a:srgbClr val="C00000"/>
                </a:solidFill>
                <a:latin typeface="微软雅黑" pitchFamily="34" charset="-122"/>
                <a:ea typeface="微软雅黑" pitchFamily="34" charset="-122"/>
              </a:endParaRPr>
            </a:p>
          </p:txBody>
        </p:sp>
        <p:sp>
          <p:nvSpPr>
            <p:cNvPr id="218" name="TextBox 217"/>
            <p:cNvSpPr txBox="1"/>
            <p:nvPr/>
          </p:nvSpPr>
          <p:spPr>
            <a:xfrm>
              <a:off x="5744591"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230" name="TextBox 229"/>
            <p:cNvSpPr txBox="1"/>
            <p:nvPr/>
          </p:nvSpPr>
          <p:spPr>
            <a:xfrm>
              <a:off x="5744591"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267" name="TextBox 266"/>
            <p:cNvSpPr txBox="1"/>
            <p:nvPr/>
          </p:nvSpPr>
          <p:spPr>
            <a:xfrm>
              <a:off x="5744591"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119" name="AutoShape 100"/>
            <p:cNvSpPr>
              <a:spLocks noChangeArrowheads="1"/>
            </p:cNvSpPr>
            <p:nvPr/>
          </p:nvSpPr>
          <p:spPr bwMode="auto">
            <a:xfrm>
              <a:off x="5820243" y="4383205"/>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3" name="组合 22"/>
          <p:cNvGrpSpPr/>
          <p:nvPr/>
        </p:nvGrpSpPr>
        <p:grpSpPr>
          <a:xfrm>
            <a:off x="8184940" y="3276131"/>
            <a:ext cx="327607" cy="2144324"/>
            <a:chOff x="6166496" y="2418881"/>
            <a:chExt cx="327607" cy="2144324"/>
          </a:xfrm>
        </p:grpSpPr>
        <p:sp>
          <p:nvSpPr>
            <p:cNvPr id="207" name="TextBox 206"/>
            <p:cNvSpPr txBox="1"/>
            <p:nvPr/>
          </p:nvSpPr>
          <p:spPr>
            <a:xfrm>
              <a:off x="6166496"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3</a:t>
              </a:r>
              <a:endParaRPr lang="zh-CN" altLang="en-US" b="1" dirty="0">
                <a:solidFill>
                  <a:srgbClr val="C00000"/>
                </a:solidFill>
                <a:latin typeface="微软雅黑" pitchFamily="34" charset="-122"/>
                <a:ea typeface="微软雅黑" pitchFamily="34" charset="-122"/>
              </a:endParaRPr>
            </a:p>
          </p:txBody>
        </p:sp>
        <p:sp>
          <p:nvSpPr>
            <p:cNvPr id="219" name="TextBox 218"/>
            <p:cNvSpPr txBox="1"/>
            <p:nvPr/>
          </p:nvSpPr>
          <p:spPr>
            <a:xfrm>
              <a:off x="6166496"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31" name="TextBox 230"/>
            <p:cNvSpPr txBox="1"/>
            <p:nvPr/>
          </p:nvSpPr>
          <p:spPr>
            <a:xfrm>
              <a:off x="6166496"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268" name="TextBox 267"/>
            <p:cNvSpPr txBox="1"/>
            <p:nvPr/>
          </p:nvSpPr>
          <p:spPr>
            <a:xfrm>
              <a:off x="6166496"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120" name="AutoShape 100"/>
            <p:cNvSpPr>
              <a:spLocks noChangeArrowheads="1"/>
            </p:cNvSpPr>
            <p:nvPr/>
          </p:nvSpPr>
          <p:spPr bwMode="auto">
            <a:xfrm>
              <a:off x="6239345" y="4383205"/>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4" name="组合 23"/>
          <p:cNvGrpSpPr/>
          <p:nvPr/>
        </p:nvGrpSpPr>
        <p:grpSpPr>
          <a:xfrm>
            <a:off x="8620291" y="3276131"/>
            <a:ext cx="327607" cy="2147244"/>
            <a:chOff x="6601847" y="2418881"/>
            <a:chExt cx="327607" cy="2147244"/>
          </a:xfrm>
        </p:grpSpPr>
        <p:sp>
          <p:nvSpPr>
            <p:cNvPr id="208" name="TextBox 207"/>
            <p:cNvSpPr txBox="1"/>
            <p:nvPr/>
          </p:nvSpPr>
          <p:spPr>
            <a:xfrm>
              <a:off x="6601847"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4</a:t>
              </a:r>
              <a:endParaRPr lang="zh-CN" altLang="en-US" b="1" dirty="0">
                <a:solidFill>
                  <a:srgbClr val="C00000"/>
                </a:solidFill>
                <a:latin typeface="微软雅黑" pitchFamily="34" charset="-122"/>
                <a:ea typeface="微软雅黑" pitchFamily="34" charset="-122"/>
              </a:endParaRPr>
            </a:p>
          </p:txBody>
        </p:sp>
        <p:sp>
          <p:nvSpPr>
            <p:cNvPr id="220" name="TextBox 219"/>
            <p:cNvSpPr txBox="1"/>
            <p:nvPr/>
          </p:nvSpPr>
          <p:spPr>
            <a:xfrm>
              <a:off x="6601847"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32" name="TextBox 231"/>
            <p:cNvSpPr txBox="1"/>
            <p:nvPr/>
          </p:nvSpPr>
          <p:spPr>
            <a:xfrm>
              <a:off x="6601847"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269" name="TextBox 268"/>
            <p:cNvSpPr txBox="1"/>
            <p:nvPr/>
          </p:nvSpPr>
          <p:spPr>
            <a:xfrm>
              <a:off x="6601847"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21" name="AutoShape 100"/>
            <p:cNvSpPr>
              <a:spLocks noChangeArrowheads="1"/>
            </p:cNvSpPr>
            <p:nvPr/>
          </p:nvSpPr>
          <p:spPr bwMode="auto">
            <a:xfrm>
              <a:off x="6675650" y="4386125"/>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25" name="组合 24"/>
          <p:cNvGrpSpPr/>
          <p:nvPr/>
        </p:nvGrpSpPr>
        <p:grpSpPr>
          <a:xfrm>
            <a:off x="9042196" y="3276133"/>
            <a:ext cx="327607" cy="2140369"/>
            <a:chOff x="7023752" y="2418881"/>
            <a:chExt cx="327607" cy="2140369"/>
          </a:xfrm>
        </p:grpSpPr>
        <p:sp>
          <p:nvSpPr>
            <p:cNvPr id="209" name="TextBox 208"/>
            <p:cNvSpPr txBox="1"/>
            <p:nvPr/>
          </p:nvSpPr>
          <p:spPr>
            <a:xfrm>
              <a:off x="7023752" y="2418881"/>
              <a:ext cx="327607" cy="369332"/>
            </a:xfrm>
            <a:prstGeom prst="rect">
              <a:avLst/>
            </a:prstGeom>
            <a:noFill/>
          </p:spPr>
          <p:txBody>
            <a:bodyPr wrap="square" rtlCol="0">
              <a:spAutoFit/>
            </a:bodyPr>
            <a:lstStyle/>
            <a:p>
              <a:r>
                <a:rPr lang="en-US" altLang="zh-CN" b="1" dirty="0">
                  <a:solidFill>
                    <a:srgbClr val="C00000"/>
                  </a:solidFill>
                  <a:latin typeface="微软雅黑" pitchFamily="34" charset="-122"/>
                  <a:ea typeface="微软雅黑" pitchFamily="34" charset="-122"/>
                </a:rPr>
                <a:t>5</a:t>
              </a:r>
              <a:endParaRPr lang="zh-CN" altLang="en-US" b="1" dirty="0">
                <a:solidFill>
                  <a:srgbClr val="C00000"/>
                </a:solidFill>
                <a:latin typeface="微软雅黑" pitchFamily="34" charset="-122"/>
                <a:ea typeface="微软雅黑" pitchFamily="34" charset="-122"/>
              </a:endParaRPr>
            </a:p>
          </p:txBody>
        </p:sp>
        <p:sp>
          <p:nvSpPr>
            <p:cNvPr id="221" name="TextBox 220"/>
            <p:cNvSpPr txBox="1"/>
            <p:nvPr/>
          </p:nvSpPr>
          <p:spPr>
            <a:xfrm>
              <a:off x="7023752" y="2922637"/>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233" name="TextBox 232"/>
            <p:cNvSpPr txBox="1"/>
            <p:nvPr/>
          </p:nvSpPr>
          <p:spPr>
            <a:xfrm>
              <a:off x="7023752" y="3389365"/>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270" name="TextBox 269"/>
            <p:cNvSpPr txBox="1"/>
            <p:nvPr/>
          </p:nvSpPr>
          <p:spPr>
            <a:xfrm>
              <a:off x="7023752" y="3848156"/>
              <a:ext cx="327607" cy="369332"/>
            </a:xfrm>
            <a:prstGeom prst="rect">
              <a:avLst/>
            </a:prstGeom>
            <a:noFill/>
          </p:spPr>
          <p:txBody>
            <a:bodyPr wrap="squar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22" name="AutoShape 100"/>
            <p:cNvSpPr>
              <a:spLocks noChangeArrowheads="1"/>
            </p:cNvSpPr>
            <p:nvPr/>
          </p:nvSpPr>
          <p:spPr bwMode="auto">
            <a:xfrm>
              <a:off x="7088601" y="4379250"/>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sp>
        <p:nvSpPr>
          <p:cNvPr id="2" name="文本框 1">
            <a:extLst>
              <a:ext uri="{FF2B5EF4-FFF2-40B4-BE49-F238E27FC236}">
                <a16:creationId xmlns:a16="http://schemas.microsoft.com/office/drawing/2014/main" id="{005CBA89-9DFF-CB16-C36F-1864CAC3673A}"/>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3A942357-6EFE-5F72-D9D6-A5D85D3C4DDF}"/>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FIFO</a:t>
            </a:r>
            <a:r>
              <a:rPr lang="zh-CN" altLang="en-US" b="0" kern="0" dirty="0"/>
              <a:t>算法的异常现象</a:t>
            </a:r>
          </a:p>
        </p:txBody>
      </p:sp>
    </p:spTree>
    <p:extLst>
      <p:ext uri="{BB962C8B-B14F-4D97-AF65-F5344CB8AC3E}">
        <p14:creationId xmlns:p14="http://schemas.microsoft.com/office/powerpoint/2010/main" val="376610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10"/>
                                        </p:tgtEl>
                                      </p:cBhvr>
                                    </p:animEffect>
                                    <p:set>
                                      <p:cBhvr>
                                        <p:cTn id="15" dur="1" fill="hold">
                                          <p:stCondLst>
                                            <p:cond delay="499"/>
                                          </p:stCondLst>
                                        </p:cTn>
                                        <p:tgtEl>
                                          <p:spTgt spid="110"/>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247"/>
                                        </p:tgtEl>
                                        <p:attrNameLst>
                                          <p:attrName>style.visibility</p:attrName>
                                        </p:attrNameLst>
                                      </p:cBhvr>
                                      <p:to>
                                        <p:strVal val="visible"/>
                                      </p:to>
                                    </p:set>
                                    <p:animEffect transition="in" filter="fade">
                                      <p:cBhvr>
                                        <p:cTn id="18" dur="500"/>
                                        <p:tgtEl>
                                          <p:spTgt spid="2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9"/>
                                        </p:tgtEl>
                                        <p:attrNameLst>
                                          <p:attrName>style.visibility</p:attrName>
                                        </p:attrNameLst>
                                      </p:cBhvr>
                                      <p:to>
                                        <p:strVal val="visible"/>
                                      </p:to>
                                    </p:set>
                                    <p:animEffect transition="in" filter="fade">
                                      <p:cBhvr>
                                        <p:cTn id="21" dur="500"/>
                                        <p:tgtEl>
                                          <p:spTgt spid="109"/>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109"/>
                                        </p:tgtEl>
                                      </p:cBhvr>
                                    </p:animEffect>
                                    <p:set>
                                      <p:cBhvr>
                                        <p:cTn id="29" dur="1" fill="hold">
                                          <p:stCondLst>
                                            <p:cond delay="499"/>
                                          </p:stCondLst>
                                        </p:cTn>
                                        <p:tgtEl>
                                          <p:spTgt spid="109"/>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108"/>
                                        </p:tgtEl>
                                        <p:attrNameLst>
                                          <p:attrName>style.visibility</p:attrName>
                                        </p:attrNameLst>
                                      </p:cBhvr>
                                      <p:to>
                                        <p:strVal val="visible"/>
                                      </p:to>
                                    </p:set>
                                    <p:animEffect transition="in" filter="fade">
                                      <p:cBhvr>
                                        <p:cTn id="32" dur="500"/>
                                        <p:tgtEl>
                                          <p:spTgt spid="108"/>
                                        </p:tgtEl>
                                      </p:cBhvr>
                                    </p:animEffect>
                                  </p:childTnLst>
                                </p:cTn>
                              </p:par>
                              <p:par>
                                <p:cTn id="33" presetID="10"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108"/>
                                        </p:tgtEl>
                                      </p:cBhvr>
                                    </p:animEffect>
                                    <p:set>
                                      <p:cBhvr>
                                        <p:cTn id="40" dur="1" fill="hold">
                                          <p:stCondLst>
                                            <p:cond delay="499"/>
                                          </p:stCondLst>
                                        </p:cTn>
                                        <p:tgtEl>
                                          <p:spTgt spid="108"/>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271"/>
                                        </p:tgtEl>
                                        <p:attrNameLst>
                                          <p:attrName>style.visibility</p:attrName>
                                        </p:attrNameLst>
                                      </p:cBhvr>
                                      <p:to>
                                        <p:strVal val="visible"/>
                                      </p:to>
                                    </p:set>
                                    <p:animEffect transition="in" filter="fade">
                                      <p:cBhvr>
                                        <p:cTn id="43" dur="500"/>
                                        <p:tgtEl>
                                          <p:spTgt spid="271"/>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12"/>
                                        </p:tgtEl>
                                        <p:attrNameLst>
                                          <p:attrName>style.visibility</p:attrName>
                                        </p:attrNameLst>
                                      </p:cBhvr>
                                      <p:to>
                                        <p:strVal val="visible"/>
                                      </p:to>
                                    </p:set>
                                    <p:animEffect transition="in" filter="wipe(left)">
                                      <p:cBhvr>
                                        <p:cTn id="9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p:bldP spid="271" grpId="0"/>
      <p:bldP spid="108" grpId="0"/>
      <p:bldP spid="108" grpId="1"/>
      <p:bldP spid="109" grpId="0"/>
      <p:bldP spid="109" grpId="1"/>
      <p:bldP spid="110" grpId="0"/>
      <p:bldP spid="110" grpId="1"/>
      <p:bldP spid="1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Box 80"/>
          <p:cNvSpPr txBox="1"/>
          <p:nvPr/>
        </p:nvSpPr>
        <p:spPr>
          <a:xfrm>
            <a:off x="725947" y="1558215"/>
            <a:ext cx="9144000" cy="553998"/>
          </a:xfrm>
          <a:prstGeom prst="rect">
            <a:avLst/>
          </a:prstGeom>
          <a:noFill/>
          <a:effectLst/>
        </p:spPr>
        <p:txBody>
          <a:bodyPr wrap="square" rtlCol="0">
            <a:spAutoFit/>
          </a:bodyPr>
          <a:lstStyle/>
          <a:p>
            <a:r>
              <a:rPr lang="en-US" altLang="zh-TW" sz="3000" b="1" spc="-100" dirty="0">
                <a:solidFill>
                  <a:srgbClr val="11576A"/>
                </a:solidFill>
                <a:latin typeface="微软雅黑" pitchFamily="34" charset="-122"/>
                <a:ea typeface="微软雅黑" pitchFamily="34" charset="-122"/>
              </a:rPr>
              <a:t>Belady</a:t>
            </a:r>
            <a:r>
              <a:rPr lang="zh-TW" altLang="en-US" sz="3000" b="1" spc="-100" dirty="0">
                <a:solidFill>
                  <a:srgbClr val="11576A"/>
                </a:solidFill>
                <a:latin typeface="微软雅黑" pitchFamily="34" charset="-122"/>
                <a:ea typeface="微软雅黑" pitchFamily="34" charset="-122"/>
              </a:rPr>
              <a:t>现象</a:t>
            </a:r>
            <a:endParaRPr lang="zh-CN" altLang="en-US" sz="3000" b="1" spc="-100" dirty="0">
              <a:solidFill>
                <a:srgbClr val="11576A"/>
              </a:solidFill>
              <a:latin typeface="微软雅黑" pitchFamily="34" charset="-122"/>
              <a:ea typeface="微软雅黑" pitchFamily="34" charset="-122"/>
            </a:endParaRPr>
          </a:p>
        </p:txBody>
      </p:sp>
      <p:grpSp>
        <p:nvGrpSpPr>
          <p:cNvPr id="3" name="组合 2"/>
          <p:cNvGrpSpPr/>
          <p:nvPr/>
        </p:nvGrpSpPr>
        <p:grpSpPr>
          <a:xfrm>
            <a:off x="725945" y="3036550"/>
            <a:ext cx="6882222" cy="984560"/>
            <a:chOff x="844524" y="1925890"/>
            <a:chExt cx="6882222" cy="984560"/>
          </a:xfrm>
        </p:grpSpPr>
        <p:sp>
          <p:nvSpPr>
            <p:cNvPr id="18" name="TextBox 17"/>
            <p:cNvSpPr txBox="1"/>
            <p:nvPr/>
          </p:nvSpPr>
          <p:spPr>
            <a:xfrm>
              <a:off x="1175432" y="1925890"/>
              <a:ext cx="1396304" cy="384721"/>
            </a:xfrm>
            <a:prstGeom prst="rect">
              <a:avLst/>
            </a:prstGeom>
            <a:noFill/>
            <a:effectLst/>
          </p:spPr>
          <p:txBody>
            <a:bodyPr wrap="square" rtlCol="0">
              <a:spAutoFit/>
            </a:bodyPr>
            <a:lstStyle/>
            <a:p>
              <a:pPr marL="0" lvl="1">
                <a:lnSpc>
                  <a:spcPct val="95000"/>
                </a:lnSpc>
                <a:tabLst>
                  <a:tab pos="715963" algn="l"/>
                </a:tabLst>
              </a:pPr>
              <a:r>
                <a:rPr lang="zh-CN" altLang="en-US" sz="2000" b="1" dirty="0">
                  <a:solidFill>
                    <a:srgbClr val="11576A"/>
                  </a:solidFill>
                  <a:latin typeface="微软雅黑" pitchFamily="34" charset="-122"/>
                  <a:ea typeface="微软雅黑" pitchFamily="34" charset="-122"/>
                </a:rPr>
                <a:t>原因</a:t>
              </a:r>
            </a:p>
          </p:txBody>
        </p:sp>
        <p:sp>
          <p:nvSpPr>
            <p:cNvPr id="21" name="TextBox 20"/>
            <p:cNvSpPr txBox="1"/>
            <p:nvPr/>
          </p:nvSpPr>
          <p:spPr>
            <a:xfrm>
              <a:off x="1431019" y="2249742"/>
              <a:ext cx="6295727" cy="369332"/>
            </a:xfrm>
            <a:prstGeom prst="rect">
              <a:avLst/>
            </a:prstGeom>
            <a:noFill/>
            <a:effectLst/>
          </p:spPr>
          <p:txBody>
            <a:bodyPr wrap="square" rtlCol="0">
              <a:spAutoFit/>
            </a:bodyPr>
            <a:lstStyle/>
            <a:p>
              <a:pPr marL="0" lvl="1"/>
              <a:r>
                <a:rPr lang="en-US" altLang="zh-CN" b="1" dirty="0">
                  <a:solidFill>
                    <a:srgbClr val="11576A"/>
                  </a:solidFill>
                  <a:latin typeface="微软雅黑" pitchFamily="34" charset="-122"/>
                  <a:ea typeface="微软雅黑" pitchFamily="34" charset="-122"/>
                </a:rPr>
                <a:t>FIFO</a:t>
              </a:r>
              <a:r>
                <a:rPr lang="zh-CN" altLang="en-US" b="1" dirty="0">
                  <a:solidFill>
                    <a:srgbClr val="11576A"/>
                  </a:solidFill>
                  <a:latin typeface="微软雅黑" pitchFamily="34" charset="-122"/>
                  <a:ea typeface="微软雅黑" pitchFamily="34" charset="-122"/>
                </a:rPr>
                <a:t>算法的置换特征与进程访问内存的动态特征无法匹配</a:t>
              </a:r>
            </a:p>
          </p:txBody>
        </p:sp>
        <p:sp>
          <p:nvSpPr>
            <p:cNvPr id="24" name="TextBox 23"/>
            <p:cNvSpPr txBox="1"/>
            <p:nvPr/>
          </p:nvSpPr>
          <p:spPr>
            <a:xfrm>
              <a:off x="1431021" y="2541118"/>
              <a:ext cx="5661259" cy="369332"/>
            </a:xfrm>
            <a:prstGeom prst="rect">
              <a:avLst/>
            </a:prstGeom>
            <a:noFill/>
            <a:effectLst/>
          </p:spPr>
          <p:txBody>
            <a:bodyPr wrap="square" rtlCol="0">
              <a:spAutoFit/>
            </a:bodyPr>
            <a:lstStyle/>
            <a:p>
              <a:pPr marL="6350" lvl="1"/>
              <a:r>
                <a:rPr lang="zh-CN" altLang="zh-CN" b="1" dirty="0">
                  <a:solidFill>
                    <a:srgbClr val="11576A"/>
                  </a:solidFill>
                  <a:latin typeface="微软雅黑" pitchFamily="34" charset="-122"/>
                  <a:ea typeface="微软雅黑" pitchFamily="34" charset="-122"/>
                </a:rPr>
                <a:t>被它置换出去的页面并不一定是进程</a:t>
              </a:r>
              <a:r>
                <a:rPr lang="zh-CN" altLang="en-US" b="1" dirty="0">
                  <a:solidFill>
                    <a:srgbClr val="11576A"/>
                  </a:solidFill>
                  <a:latin typeface="微软雅黑" pitchFamily="34" charset="-122"/>
                  <a:ea typeface="微软雅黑" pitchFamily="34" charset="-122"/>
                </a:rPr>
                <a:t>近期</a:t>
              </a:r>
              <a:r>
                <a:rPr lang="zh-CN" altLang="zh-CN" b="1" dirty="0">
                  <a:solidFill>
                    <a:srgbClr val="11576A"/>
                  </a:solidFill>
                  <a:latin typeface="微软雅黑" pitchFamily="34" charset="-122"/>
                  <a:ea typeface="微软雅黑" pitchFamily="34" charset="-122"/>
                </a:rPr>
                <a:t>不会访问的</a:t>
              </a:r>
              <a:endParaRPr lang="en-US" altLang="zh-CN" b="1" dirty="0">
                <a:solidFill>
                  <a:srgbClr val="11576A"/>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3" cstate="print"/>
            <a:stretch>
              <a:fillRect/>
            </a:stretch>
          </p:blipFill>
          <p:spPr>
            <a:xfrm>
              <a:off x="1284441" y="2634501"/>
              <a:ext cx="151066" cy="148997"/>
            </a:xfrm>
            <a:prstGeom prst="rect">
              <a:avLst/>
            </a:prstGeom>
            <a:effectLst/>
          </p:spPr>
        </p:pic>
        <p:pic>
          <p:nvPicPr>
            <p:cNvPr id="42" name="图片 41" descr="小点1.png"/>
            <p:cNvPicPr>
              <a:picLocks noChangeAspect="1"/>
            </p:cNvPicPr>
            <p:nvPr/>
          </p:nvPicPr>
          <p:blipFill>
            <a:blip r:embed="rId3" cstate="print"/>
            <a:stretch>
              <a:fillRect/>
            </a:stretch>
          </p:blipFill>
          <p:spPr>
            <a:xfrm>
              <a:off x="1284441" y="2358751"/>
              <a:ext cx="151066" cy="148997"/>
            </a:xfrm>
            <a:prstGeom prst="rect">
              <a:avLst/>
            </a:prstGeom>
            <a:effectLst/>
          </p:spPr>
        </p:pic>
        <p:sp>
          <p:nvSpPr>
            <p:cNvPr id="48" name="TextBox 47"/>
            <p:cNvSpPr txBox="1"/>
            <p:nvPr/>
          </p:nvSpPr>
          <p:spPr>
            <a:xfrm>
              <a:off x="844524" y="192589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2" name="组合 1"/>
          <p:cNvGrpSpPr/>
          <p:nvPr/>
        </p:nvGrpSpPr>
        <p:grpSpPr>
          <a:xfrm>
            <a:off x="725947" y="2112213"/>
            <a:ext cx="10482621" cy="719113"/>
            <a:chOff x="844524" y="1001553"/>
            <a:chExt cx="10482621" cy="719113"/>
          </a:xfrm>
        </p:grpSpPr>
        <p:sp>
          <p:nvSpPr>
            <p:cNvPr id="10" name="TextBox 9"/>
            <p:cNvSpPr txBox="1"/>
            <p:nvPr/>
          </p:nvSpPr>
          <p:spPr>
            <a:xfrm>
              <a:off x="1175432" y="1001553"/>
              <a:ext cx="1396304" cy="384721"/>
            </a:xfrm>
            <a:prstGeom prst="rect">
              <a:avLst/>
            </a:prstGeom>
            <a:noFill/>
            <a:effectLst/>
          </p:spPr>
          <p:txBody>
            <a:bodyPr wrap="square" rtlCol="0">
              <a:spAutoFit/>
            </a:bodyPr>
            <a:lstStyle/>
            <a:p>
              <a:pPr marL="0" lvl="1">
                <a:lnSpc>
                  <a:spcPct val="95000"/>
                </a:lnSpc>
                <a:tabLst>
                  <a:tab pos="715963" algn="l"/>
                </a:tabLst>
              </a:pPr>
              <a:r>
                <a:rPr lang="zh-CN" altLang="en-US" sz="2000" b="1" dirty="0">
                  <a:solidFill>
                    <a:srgbClr val="11576A"/>
                  </a:solidFill>
                  <a:latin typeface="微软雅黑" pitchFamily="34" charset="-122"/>
                  <a:ea typeface="微软雅黑" pitchFamily="34" charset="-122"/>
                </a:rPr>
                <a:t>现象</a:t>
              </a:r>
            </a:p>
          </p:txBody>
        </p:sp>
        <p:sp>
          <p:nvSpPr>
            <p:cNvPr id="20" name="TextBox 19"/>
            <p:cNvSpPr txBox="1"/>
            <p:nvPr/>
          </p:nvSpPr>
          <p:spPr>
            <a:xfrm>
              <a:off x="1431020" y="1351334"/>
              <a:ext cx="9896125" cy="369332"/>
            </a:xfrm>
            <a:prstGeom prst="rect">
              <a:avLst/>
            </a:prstGeom>
            <a:noFill/>
            <a:effectLst/>
          </p:spPr>
          <p:txBody>
            <a:bodyPr wrap="square" rtlCol="0">
              <a:spAutoFit/>
            </a:bodyPr>
            <a:lstStyle/>
            <a:p>
              <a:pPr marL="0" lvl="1"/>
              <a:r>
                <a:rPr lang="zh-CN" altLang="en-US" b="1" dirty="0">
                  <a:solidFill>
                    <a:srgbClr val="11576A"/>
                  </a:solidFill>
                  <a:latin typeface="微软雅黑" pitchFamily="34" charset="-122"/>
                  <a:ea typeface="微软雅黑" pitchFamily="34" charset="-122"/>
                </a:rPr>
                <a:t>采用</a:t>
              </a:r>
              <a:r>
                <a:rPr lang="en-US" altLang="zh-CN" b="1" dirty="0">
                  <a:solidFill>
                    <a:srgbClr val="11576A"/>
                  </a:solidFill>
                  <a:latin typeface="微软雅黑" pitchFamily="34" charset="-122"/>
                  <a:ea typeface="微软雅黑" pitchFamily="34" charset="-122"/>
                </a:rPr>
                <a:t>FIFO</a:t>
              </a:r>
              <a:r>
                <a:rPr lang="zh-CN" altLang="en-US" b="1" dirty="0">
                  <a:solidFill>
                    <a:srgbClr val="11576A"/>
                  </a:solidFill>
                  <a:latin typeface="微软雅黑" pitchFamily="34" charset="-122"/>
                  <a:ea typeface="微软雅黑" pitchFamily="34" charset="-122"/>
                </a:rPr>
                <a:t>等算法时，可能出现</a:t>
              </a:r>
              <a:r>
                <a:rPr lang="zh-CN" altLang="en-US" b="1" dirty="0">
                  <a:solidFill>
                    <a:srgbClr val="FF0000"/>
                  </a:solidFill>
                  <a:latin typeface="微软雅黑" pitchFamily="34" charset="-122"/>
                  <a:ea typeface="微软雅黑" pitchFamily="34" charset="-122"/>
                </a:rPr>
                <a:t>分配的物理页面数增加，缺页次数反而升高的异常现象</a:t>
              </a:r>
              <a:endParaRPr lang="en-US" altLang="zh-CN" b="1" dirty="0">
                <a:solidFill>
                  <a:srgbClr val="FF0000"/>
                </a:solidFill>
                <a:latin typeface="微软雅黑" pitchFamily="34" charset="-122"/>
                <a:ea typeface="微软雅黑" pitchFamily="34" charset="-122"/>
              </a:endParaRPr>
            </a:p>
          </p:txBody>
        </p:sp>
        <p:pic>
          <p:nvPicPr>
            <p:cNvPr id="43" name="图片 42" descr="小点1.png"/>
            <p:cNvPicPr>
              <a:picLocks noChangeAspect="1"/>
            </p:cNvPicPr>
            <p:nvPr/>
          </p:nvPicPr>
          <p:blipFill>
            <a:blip r:embed="rId3" cstate="print"/>
            <a:stretch>
              <a:fillRect/>
            </a:stretch>
          </p:blipFill>
          <p:spPr>
            <a:xfrm>
              <a:off x="1284441" y="1510526"/>
              <a:ext cx="151066" cy="148997"/>
            </a:xfrm>
            <a:prstGeom prst="rect">
              <a:avLst/>
            </a:prstGeom>
            <a:effectLst/>
          </p:spPr>
        </p:pic>
        <p:sp>
          <p:nvSpPr>
            <p:cNvPr id="49" name="TextBox 48"/>
            <p:cNvSpPr txBox="1"/>
            <p:nvPr/>
          </p:nvSpPr>
          <p:spPr>
            <a:xfrm>
              <a:off x="844524" y="1001553"/>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sp>
        <p:nvSpPr>
          <p:cNvPr id="22" name="矩形 21"/>
          <p:cNvSpPr/>
          <p:nvPr/>
        </p:nvSpPr>
        <p:spPr>
          <a:xfrm>
            <a:off x="725944" y="4298698"/>
            <a:ext cx="10698648" cy="923330"/>
          </a:xfrm>
          <a:prstGeom prst="rect">
            <a:avLst/>
          </a:prstGeom>
        </p:spPr>
        <p:txBody>
          <a:bodyPr wrap="square">
            <a:spAutoFit/>
          </a:bodyPr>
          <a:lstStyle/>
          <a:p>
            <a:r>
              <a:rPr lang="en-US" altLang="zh-CN" dirty="0">
                <a:solidFill>
                  <a:srgbClr val="000000"/>
                </a:solidFill>
              </a:rPr>
              <a:t>L. A. Belady, R. A. Nelson, and G. S. </a:t>
            </a:r>
            <a:r>
              <a:rPr lang="en-US" altLang="zh-CN" dirty="0" err="1">
                <a:solidFill>
                  <a:srgbClr val="000000"/>
                </a:solidFill>
              </a:rPr>
              <a:t>Shedler</a:t>
            </a:r>
            <a:r>
              <a:rPr lang="en-US" altLang="zh-CN" dirty="0">
                <a:solidFill>
                  <a:srgbClr val="000000"/>
                </a:solidFill>
              </a:rPr>
              <a:t>. 1969. An anomaly in space-time characteristics of certain programs running in a paging machine. </a:t>
            </a:r>
            <a:r>
              <a:rPr lang="en-US" altLang="zh-CN" i="1" dirty="0" err="1">
                <a:solidFill>
                  <a:srgbClr val="000000"/>
                </a:solidFill>
              </a:rPr>
              <a:t>Commun</a:t>
            </a:r>
            <a:r>
              <a:rPr lang="en-US" altLang="zh-CN" i="1" dirty="0">
                <a:solidFill>
                  <a:srgbClr val="000000"/>
                </a:solidFill>
              </a:rPr>
              <a:t>. ACM</a:t>
            </a:r>
            <a:r>
              <a:rPr lang="en-US" altLang="zh-CN" dirty="0">
                <a:solidFill>
                  <a:srgbClr val="000000"/>
                </a:solidFill>
              </a:rPr>
              <a:t> 12, 6 (June 1969), 349-353. DOI=http://dx.doi.org/10.1145/363011.363155</a:t>
            </a:r>
            <a:endParaRPr lang="zh-CN" altLang="en-US" dirty="0"/>
          </a:p>
        </p:txBody>
      </p:sp>
      <p:sp>
        <p:nvSpPr>
          <p:cNvPr id="4" name="文本框 3">
            <a:extLst>
              <a:ext uri="{FF2B5EF4-FFF2-40B4-BE49-F238E27FC236}">
                <a16:creationId xmlns:a16="http://schemas.microsoft.com/office/drawing/2014/main" id="{D1413B4C-A38A-235C-3BF5-4E33D0C4632D}"/>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336D012C-A18C-29D6-8C9B-BC62D42C3B7D}"/>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FIFO</a:t>
            </a:r>
            <a:r>
              <a:rPr lang="zh-CN" altLang="en-US" b="0" kern="0" dirty="0"/>
              <a:t>算法的异常现象</a:t>
            </a:r>
          </a:p>
        </p:txBody>
      </p:sp>
    </p:spTree>
    <p:extLst>
      <p:ext uri="{BB962C8B-B14F-4D97-AF65-F5344CB8AC3E}">
        <p14:creationId xmlns:p14="http://schemas.microsoft.com/office/powerpoint/2010/main" val="2575148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fill="hold"/>
                                        <p:tgtEl>
                                          <p:spTgt spid="22"/>
                                        </p:tgtEl>
                                        <p:attrNameLst>
                                          <p:attrName>ppt_x</p:attrName>
                                        </p:attrNameLst>
                                      </p:cBhvr>
                                      <p:tavLst>
                                        <p:tav tm="0">
                                          <p:val>
                                            <p:strVal val="#ppt_x"/>
                                          </p:val>
                                        </p:tav>
                                        <p:tav tm="100000">
                                          <p:val>
                                            <p:strVal val="#ppt_x"/>
                                          </p:val>
                                        </p:tav>
                                      </p:tavLst>
                                    </p:anim>
                                    <p:anim calcmode="lin" valueType="num">
                                      <p:cBhvr additive="base">
                                        <p:cTn id="1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46161" y="4016722"/>
            <a:ext cx="6501967" cy="780430"/>
            <a:chOff x="859163" y="3334266"/>
            <a:chExt cx="6501967" cy="780430"/>
          </a:xfrm>
        </p:grpSpPr>
        <p:sp>
          <p:nvSpPr>
            <p:cNvPr id="19" name="TextBox 18"/>
            <p:cNvSpPr txBox="1"/>
            <p:nvPr/>
          </p:nvSpPr>
          <p:spPr>
            <a:xfrm>
              <a:off x="1177724" y="3334266"/>
              <a:ext cx="1465450"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特征</a:t>
              </a:r>
            </a:p>
          </p:txBody>
        </p:sp>
        <p:sp>
          <p:nvSpPr>
            <p:cNvPr id="25" name="TextBox 24"/>
            <p:cNvSpPr txBox="1"/>
            <p:nvPr/>
          </p:nvSpPr>
          <p:spPr>
            <a:xfrm>
              <a:off x="1431021" y="3714586"/>
              <a:ext cx="5930109"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最优置换算法的一种近似（利用过去预测未来）</a:t>
              </a:r>
              <a:endParaRPr lang="en-US" altLang="zh-CN" sz="2000" b="1" dirty="0">
                <a:solidFill>
                  <a:srgbClr val="11576A"/>
                </a:solidFill>
                <a:latin typeface="微软雅黑" pitchFamily="34" charset="-122"/>
                <a:ea typeface="微软雅黑" pitchFamily="34" charset="-122"/>
              </a:endParaRPr>
            </a:p>
          </p:txBody>
        </p:sp>
        <p:pic>
          <p:nvPicPr>
            <p:cNvPr id="40" name="图片 39" descr="小点1.png"/>
            <p:cNvPicPr>
              <a:picLocks noChangeAspect="1"/>
            </p:cNvPicPr>
            <p:nvPr/>
          </p:nvPicPr>
          <p:blipFill>
            <a:blip r:embed="rId2" cstate="print"/>
            <a:stretch>
              <a:fillRect/>
            </a:stretch>
          </p:blipFill>
          <p:spPr>
            <a:xfrm>
              <a:off x="1284441" y="3816187"/>
              <a:ext cx="151066" cy="148997"/>
            </a:xfrm>
            <a:prstGeom prst="rect">
              <a:avLst/>
            </a:prstGeom>
            <a:effectLst/>
          </p:spPr>
        </p:pic>
        <p:sp>
          <p:nvSpPr>
            <p:cNvPr id="45" name="TextBox 44"/>
            <p:cNvSpPr txBox="1"/>
            <p:nvPr/>
          </p:nvSpPr>
          <p:spPr>
            <a:xfrm>
              <a:off x="859163" y="333426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2" name="组合 1"/>
          <p:cNvGrpSpPr/>
          <p:nvPr/>
        </p:nvGrpSpPr>
        <p:grpSpPr>
          <a:xfrm>
            <a:off x="731520" y="1560934"/>
            <a:ext cx="9396928" cy="1081152"/>
            <a:chOff x="844524" y="1138512"/>
            <a:chExt cx="9396928" cy="1081152"/>
          </a:xfrm>
        </p:grpSpPr>
        <p:sp>
          <p:nvSpPr>
            <p:cNvPr id="10" name="TextBox 9"/>
            <p:cNvSpPr txBox="1"/>
            <p:nvPr/>
          </p:nvSpPr>
          <p:spPr>
            <a:xfrm>
              <a:off x="1175432" y="1138512"/>
              <a:ext cx="139630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思路</a:t>
              </a:r>
            </a:p>
          </p:txBody>
        </p:sp>
        <p:sp>
          <p:nvSpPr>
            <p:cNvPr id="20" name="TextBox 19"/>
            <p:cNvSpPr txBox="1"/>
            <p:nvPr/>
          </p:nvSpPr>
          <p:spPr>
            <a:xfrm>
              <a:off x="1431020" y="1488293"/>
              <a:ext cx="6146135"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选择</a:t>
              </a:r>
              <a:r>
                <a:rPr lang="zh-CN" altLang="en-US" sz="2000" b="1" dirty="0">
                  <a:solidFill>
                    <a:srgbClr val="C00000"/>
                  </a:solidFill>
                  <a:latin typeface="微软雅黑" pitchFamily="34" charset="-122"/>
                  <a:ea typeface="微软雅黑" pitchFamily="34" charset="-122"/>
                </a:rPr>
                <a:t>最长时间没有被引用</a:t>
              </a:r>
              <a:r>
                <a:rPr lang="zh-CN" altLang="en-US" sz="2000" b="1" dirty="0">
                  <a:solidFill>
                    <a:srgbClr val="11576A"/>
                  </a:solidFill>
                  <a:latin typeface="微软雅黑" pitchFamily="34" charset="-122"/>
                  <a:ea typeface="微软雅黑" pitchFamily="34" charset="-122"/>
                </a:rPr>
                <a:t>的页面进行置换</a:t>
              </a:r>
              <a:endParaRPr lang="en-US" altLang="zh-CN" sz="2000" b="1" dirty="0">
                <a:solidFill>
                  <a:srgbClr val="11576A"/>
                </a:solidFill>
                <a:latin typeface="微软雅黑" pitchFamily="34" charset="-122"/>
                <a:ea typeface="微软雅黑" pitchFamily="34" charset="-122"/>
              </a:endParaRPr>
            </a:p>
          </p:txBody>
        </p:sp>
        <p:pic>
          <p:nvPicPr>
            <p:cNvPr id="42" name="图片 41" descr="小点1.png"/>
            <p:cNvPicPr>
              <a:picLocks noChangeAspect="1"/>
            </p:cNvPicPr>
            <p:nvPr/>
          </p:nvPicPr>
          <p:blipFill>
            <a:blip r:embed="rId2" cstate="print"/>
            <a:stretch>
              <a:fillRect/>
            </a:stretch>
          </p:blipFill>
          <p:spPr>
            <a:xfrm>
              <a:off x="1284441" y="1885021"/>
              <a:ext cx="151066" cy="148997"/>
            </a:xfrm>
            <a:prstGeom prst="rect">
              <a:avLst/>
            </a:prstGeom>
            <a:effectLst/>
          </p:spPr>
        </p:pic>
        <p:pic>
          <p:nvPicPr>
            <p:cNvPr id="43" name="图片 42" descr="小点1.png"/>
            <p:cNvPicPr>
              <a:picLocks noChangeAspect="1"/>
            </p:cNvPicPr>
            <p:nvPr/>
          </p:nvPicPr>
          <p:blipFill>
            <a:blip r:embed="rId2" cstate="print"/>
            <a:stretch>
              <a:fillRect/>
            </a:stretch>
          </p:blipFill>
          <p:spPr>
            <a:xfrm>
              <a:off x="1284441" y="1586013"/>
              <a:ext cx="151066" cy="148997"/>
            </a:xfrm>
            <a:prstGeom prst="rect">
              <a:avLst/>
            </a:prstGeom>
            <a:effectLst/>
          </p:spPr>
        </p:pic>
        <p:sp>
          <p:nvSpPr>
            <p:cNvPr id="49" name="TextBox 48"/>
            <p:cNvSpPr txBox="1"/>
            <p:nvPr/>
          </p:nvSpPr>
          <p:spPr>
            <a:xfrm>
              <a:off x="844524" y="113851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27" name="TextBox 26"/>
            <p:cNvSpPr txBox="1"/>
            <p:nvPr/>
          </p:nvSpPr>
          <p:spPr>
            <a:xfrm>
              <a:off x="1431020" y="1819554"/>
              <a:ext cx="8810432"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如某些页面长时间未被访问，则它们在将来还可能会长时间不会访问</a:t>
              </a:r>
              <a:endParaRPr lang="en-US" altLang="zh-CN" sz="20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731520" y="2826860"/>
            <a:ext cx="7956768" cy="1041920"/>
            <a:chOff x="844524" y="2404440"/>
            <a:chExt cx="7956768" cy="1041920"/>
          </a:xfrm>
        </p:grpSpPr>
        <p:sp>
          <p:nvSpPr>
            <p:cNvPr id="18" name="TextBox 17"/>
            <p:cNvSpPr txBox="1"/>
            <p:nvPr/>
          </p:nvSpPr>
          <p:spPr>
            <a:xfrm>
              <a:off x="1175432" y="2404440"/>
              <a:ext cx="139630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实现</a:t>
              </a:r>
            </a:p>
          </p:txBody>
        </p:sp>
        <p:sp>
          <p:nvSpPr>
            <p:cNvPr id="48" name="TextBox 47"/>
            <p:cNvSpPr txBox="1"/>
            <p:nvPr/>
          </p:nvSpPr>
          <p:spPr>
            <a:xfrm>
              <a:off x="844524" y="240444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28" name="TextBox 27"/>
            <p:cNvSpPr txBox="1"/>
            <p:nvPr/>
          </p:nvSpPr>
          <p:spPr>
            <a:xfrm>
              <a:off x="1431021" y="2750486"/>
              <a:ext cx="737027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缺页时，计算内存中每个逻辑页面的</a:t>
              </a:r>
              <a:r>
                <a:rPr lang="zh-CN" altLang="en-US" sz="2000" b="1" dirty="0">
                  <a:solidFill>
                    <a:srgbClr val="C00000"/>
                  </a:solidFill>
                  <a:latin typeface="微软雅黑" pitchFamily="34" charset="-122"/>
                  <a:ea typeface="微软雅黑" pitchFamily="34" charset="-122"/>
                </a:rPr>
                <a:t>上一次</a:t>
              </a:r>
              <a:r>
                <a:rPr lang="zh-CN" altLang="en-US" sz="2000" b="1" dirty="0">
                  <a:solidFill>
                    <a:srgbClr val="11576A"/>
                  </a:solidFill>
                  <a:latin typeface="微软雅黑" pitchFamily="34" charset="-122"/>
                  <a:ea typeface="微软雅黑" pitchFamily="34" charset="-122"/>
                </a:rPr>
                <a:t>访问时间</a:t>
              </a:r>
              <a:endParaRPr lang="en-US" altLang="zh-CN" sz="2000" b="1" dirty="0">
                <a:solidFill>
                  <a:srgbClr val="11576A"/>
                </a:solidFill>
                <a:latin typeface="微软雅黑" pitchFamily="34" charset="-122"/>
                <a:ea typeface="微软雅黑" pitchFamily="34" charset="-122"/>
              </a:endParaRPr>
            </a:p>
          </p:txBody>
        </p:sp>
        <p:pic>
          <p:nvPicPr>
            <p:cNvPr id="29" name="图片 28" descr="小点1.png"/>
            <p:cNvPicPr>
              <a:picLocks noChangeAspect="1"/>
            </p:cNvPicPr>
            <p:nvPr/>
          </p:nvPicPr>
          <p:blipFill>
            <a:blip r:embed="rId2" cstate="print"/>
            <a:stretch>
              <a:fillRect/>
            </a:stretch>
          </p:blipFill>
          <p:spPr>
            <a:xfrm>
              <a:off x="1284441" y="2844502"/>
              <a:ext cx="151066" cy="148997"/>
            </a:xfrm>
            <a:prstGeom prst="rect">
              <a:avLst/>
            </a:prstGeom>
            <a:effectLst/>
          </p:spPr>
        </p:pic>
        <p:sp>
          <p:nvSpPr>
            <p:cNvPr id="30" name="TextBox 29"/>
            <p:cNvSpPr txBox="1"/>
            <p:nvPr/>
          </p:nvSpPr>
          <p:spPr>
            <a:xfrm>
              <a:off x="1431021" y="3046250"/>
              <a:ext cx="593011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选择</a:t>
              </a:r>
              <a:r>
                <a:rPr lang="zh-CN" altLang="en-US" sz="2000" b="1" dirty="0">
                  <a:solidFill>
                    <a:srgbClr val="C00000"/>
                  </a:solidFill>
                  <a:latin typeface="微软雅黑" pitchFamily="34" charset="-122"/>
                  <a:ea typeface="微软雅黑" pitchFamily="34" charset="-122"/>
                </a:rPr>
                <a:t>上一次使用到当前时间最长的页面</a:t>
              </a:r>
              <a:endParaRPr lang="en-US" altLang="zh-CN" sz="2000" b="1" dirty="0">
                <a:solidFill>
                  <a:srgbClr val="C00000"/>
                </a:solidFill>
                <a:latin typeface="微软雅黑" pitchFamily="34" charset="-122"/>
                <a:ea typeface="微软雅黑" pitchFamily="34" charset="-122"/>
              </a:endParaRPr>
            </a:p>
          </p:txBody>
        </p:sp>
        <p:pic>
          <p:nvPicPr>
            <p:cNvPr id="33" name="图片 32" descr="小点1.png"/>
            <p:cNvPicPr>
              <a:picLocks noChangeAspect="1"/>
            </p:cNvPicPr>
            <p:nvPr/>
          </p:nvPicPr>
          <p:blipFill>
            <a:blip r:embed="rId2" cstate="print"/>
            <a:stretch>
              <a:fillRect/>
            </a:stretch>
          </p:blipFill>
          <p:spPr>
            <a:xfrm>
              <a:off x="1284441" y="3140266"/>
              <a:ext cx="151066" cy="148997"/>
            </a:xfrm>
            <a:prstGeom prst="rect">
              <a:avLst/>
            </a:prstGeom>
            <a:effectLst/>
          </p:spPr>
        </p:pic>
      </p:grpSp>
      <p:sp>
        <p:nvSpPr>
          <p:cNvPr id="5" name="文本框 4">
            <a:extLst>
              <a:ext uri="{FF2B5EF4-FFF2-40B4-BE49-F238E27FC236}">
                <a16:creationId xmlns:a16="http://schemas.microsoft.com/office/drawing/2014/main" id="{FFB3346A-EFC6-EF3C-F18C-DC7F4112F648}"/>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6" name="标题 8">
            <a:extLst>
              <a:ext uri="{FF2B5EF4-FFF2-40B4-BE49-F238E27FC236}">
                <a16:creationId xmlns:a16="http://schemas.microsoft.com/office/drawing/2014/main" id="{9D2442B4-D797-D04F-CEAE-B00B7BE3BA2C}"/>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最近最久未使用算法 </a:t>
            </a:r>
            <a:r>
              <a:rPr lang="en-US" altLang="zh-CN" b="0" kern="0" dirty="0"/>
              <a:t>(Least Recently Used, LRU)</a:t>
            </a:r>
          </a:p>
        </p:txBody>
      </p:sp>
    </p:spTree>
    <p:extLst>
      <p:ext uri="{BB962C8B-B14F-4D97-AF65-F5344CB8AC3E}">
        <p14:creationId xmlns:p14="http://schemas.microsoft.com/office/powerpoint/2010/main" val="278268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 name="TextBox 131"/>
          <p:cNvSpPr txBox="1"/>
          <p:nvPr/>
        </p:nvSpPr>
        <p:spPr>
          <a:xfrm>
            <a:off x="2859166" y="1639050"/>
            <a:ext cx="4617188" cy="400110"/>
          </a:xfrm>
          <a:prstGeom prst="rect">
            <a:avLst/>
          </a:prstGeom>
          <a:noFill/>
        </p:spPr>
        <p:txBody>
          <a:bodyPr wrap="square" rtlCol="0">
            <a:spAutoFit/>
          </a:bodyPr>
          <a:lstStyle/>
          <a:p>
            <a:r>
              <a:rPr lang="zh-CN" altLang="en-US" sz="2000" b="1" dirty="0">
                <a:solidFill>
                  <a:srgbClr val="11576A"/>
                </a:solidFill>
                <a:latin typeface="微软雅黑" pitchFamily="34" charset="-122"/>
                <a:ea typeface="微软雅黑" pitchFamily="34" charset="-122"/>
              </a:rPr>
              <a:t>置换的页面是最长时间没有被引用的</a:t>
            </a:r>
          </a:p>
        </p:txBody>
      </p:sp>
      <p:sp>
        <p:nvSpPr>
          <p:cNvPr id="161" name="矩形 160"/>
          <p:cNvSpPr/>
          <p:nvPr/>
        </p:nvSpPr>
        <p:spPr>
          <a:xfrm>
            <a:off x="2961956" y="2205224"/>
            <a:ext cx="6429420" cy="324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7" name="直接连接符 166"/>
          <p:cNvCxnSpPr/>
          <p:nvPr/>
        </p:nvCxnSpPr>
        <p:spPr>
          <a:xfrm>
            <a:off x="3002042" y="2561481"/>
            <a:ext cx="6286544" cy="1588"/>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3002042" y="2918671"/>
            <a:ext cx="628654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3002042" y="4347431"/>
            <a:ext cx="628654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3002042" y="4704621"/>
            <a:ext cx="6286544" cy="1588"/>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rot="5400000">
            <a:off x="3326600" y="3623375"/>
            <a:ext cx="128588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rot="5400000">
            <a:off x="3408338" y="3266185"/>
            <a:ext cx="200026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84" name="TextBox 183"/>
          <p:cNvSpPr txBox="1"/>
          <p:nvPr/>
        </p:nvSpPr>
        <p:spPr>
          <a:xfrm>
            <a:off x="8750199" y="2096706"/>
            <a:ext cx="745470" cy="420628"/>
          </a:xfrm>
          <a:prstGeom prst="rect">
            <a:avLst/>
          </a:prstGeom>
          <a:noFill/>
          <a:effectLst/>
        </p:spPr>
        <p:txBody>
          <a:bodyPr wrap="square" rtlCol="0" anchor="ctr">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10</a:t>
            </a:r>
            <a:endParaRPr lang="zh-CN" altLang="en-US" sz="3200" b="1" baseline="-25000" dirty="0">
              <a:solidFill>
                <a:srgbClr val="11576A"/>
              </a:solidFill>
              <a:latin typeface="微软雅黑" pitchFamily="34" charset="-122"/>
              <a:ea typeface="微软雅黑" pitchFamily="34" charset="-122"/>
            </a:endParaRPr>
          </a:p>
        </p:txBody>
      </p:sp>
      <p:sp>
        <p:nvSpPr>
          <p:cNvPr id="185" name="TextBox 184"/>
          <p:cNvSpPr txBox="1"/>
          <p:nvPr/>
        </p:nvSpPr>
        <p:spPr>
          <a:xfrm>
            <a:off x="8366242"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9</a:t>
            </a:r>
            <a:endParaRPr lang="zh-CN" altLang="en-US" sz="3200" b="1" baseline="-25000" dirty="0">
              <a:solidFill>
                <a:srgbClr val="11576A"/>
              </a:solidFill>
              <a:latin typeface="微软雅黑" pitchFamily="34" charset="-122"/>
              <a:ea typeface="微软雅黑" pitchFamily="34" charset="-122"/>
            </a:endParaRPr>
          </a:p>
        </p:txBody>
      </p:sp>
      <p:sp>
        <p:nvSpPr>
          <p:cNvPr id="186" name="TextBox 185"/>
          <p:cNvSpPr txBox="1"/>
          <p:nvPr/>
        </p:nvSpPr>
        <p:spPr>
          <a:xfrm>
            <a:off x="7867542"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8</a:t>
            </a:r>
            <a:endParaRPr lang="zh-CN" altLang="en-US" sz="3200" b="1" baseline="-25000" dirty="0">
              <a:solidFill>
                <a:srgbClr val="11576A"/>
              </a:solidFill>
              <a:latin typeface="微软雅黑" pitchFamily="34" charset="-122"/>
              <a:ea typeface="微软雅黑" pitchFamily="34" charset="-122"/>
            </a:endParaRPr>
          </a:p>
        </p:txBody>
      </p:sp>
      <p:sp>
        <p:nvSpPr>
          <p:cNvPr id="187" name="TextBox 186"/>
          <p:cNvSpPr txBox="1"/>
          <p:nvPr/>
        </p:nvSpPr>
        <p:spPr>
          <a:xfrm>
            <a:off x="7359760"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7</a:t>
            </a:r>
            <a:endParaRPr lang="zh-CN" altLang="en-US" sz="3200" b="1" baseline="-25000" dirty="0">
              <a:solidFill>
                <a:srgbClr val="11576A"/>
              </a:solidFill>
              <a:latin typeface="微软雅黑" pitchFamily="34" charset="-122"/>
              <a:ea typeface="微软雅黑" pitchFamily="34" charset="-122"/>
            </a:endParaRPr>
          </a:p>
        </p:txBody>
      </p:sp>
      <p:sp>
        <p:nvSpPr>
          <p:cNvPr id="188" name="TextBox 187"/>
          <p:cNvSpPr txBox="1"/>
          <p:nvPr/>
        </p:nvSpPr>
        <p:spPr>
          <a:xfrm>
            <a:off x="6873760"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6</a:t>
            </a:r>
            <a:endParaRPr lang="zh-CN" altLang="en-US" sz="3200" b="1" baseline="-25000" dirty="0">
              <a:solidFill>
                <a:srgbClr val="11576A"/>
              </a:solidFill>
              <a:latin typeface="微软雅黑" pitchFamily="34" charset="-122"/>
              <a:ea typeface="微软雅黑" pitchFamily="34" charset="-122"/>
            </a:endParaRPr>
          </a:p>
        </p:txBody>
      </p:sp>
      <p:sp>
        <p:nvSpPr>
          <p:cNvPr id="189" name="TextBox 188"/>
          <p:cNvSpPr txBox="1"/>
          <p:nvPr/>
        </p:nvSpPr>
        <p:spPr>
          <a:xfrm>
            <a:off x="6365978"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5</a:t>
            </a:r>
            <a:endParaRPr lang="zh-CN" altLang="en-US" sz="3200" b="1" baseline="-25000" dirty="0">
              <a:solidFill>
                <a:srgbClr val="11576A"/>
              </a:solidFill>
              <a:latin typeface="微软雅黑" pitchFamily="34" charset="-122"/>
              <a:ea typeface="微软雅黑" pitchFamily="34" charset="-122"/>
            </a:endParaRPr>
          </a:p>
        </p:txBody>
      </p:sp>
      <p:sp>
        <p:nvSpPr>
          <p:cNvPr id="190" name="TextBox 189"/>
          <p:cNvSpPr txBox="1"/>
          <p:nvPr/>
        </p:nvSpPr>
        <p:spPr>
          <a:xfrm>
            <a:off x="5867278"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4</a:t>
            </a:r>
            <a:endParaRPr lang="zh-CN" altLang="en-US" sz="3200" b="1" baseline="-25000" dirty="0">
              <a:solidFill>
                <a:srgbClr val="11576A"/>
              </a:solidFill>
              <a:latin typeface="微软雅黑" pitchFamily="34" charset="-122"/>
              <a:ea typeface="微软雅黑" pitchFamily="34" charset="-122"/>
            </a:endParaRPr>
          </a:p>
        </p:txBody>
      </p:sp>
      <p:sp>
        <p:nvSpPr>
          <p:cNvPr id="191" name="TextBox 190"/>
          <p:cNvSpPr txBox="1"/>
          <p:nvPr/>
        </p:nvSpPr>
        <p:spPr>
          <a:xfrm>
            <a:off x="5353146"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192" name="TextBox 191"/>
          <p:cNvSpPr txBox="1"/>
          <p:nvPr/>
        </p:nvSpPr>
        <p:spPr>
          <a:xfrm>
            <a:off x="4876672"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193" name="TextBox 192"/>
          <p:cNvSpPr txBox="1"/>
          <p:nvPr/>
        </p:nvSpPr>
        <p:spPr>
          <a:xfrm>
            <a:off x="4375240" y="20967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194" name="TextBox 193"/>
          <p:cNvSpPr txBox="1"/>
          <p:nvPr/>
        </p:nvSpPr>
        <p:spPr>
          <a:xfrm>
            <a:off x="8874024"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195" name="TextBox 194"/>
          <p:cNvSpPr txBox="1"/>
          <p:nvPr/>
        </p:nvSpPr>
        <p:spPr>
          <a:xfrm>
            <a:off x="8366242"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96" name="TextBox 195"/>
          <p:cNvSpPr txBox="1"/>
          <p:nvPr/>
        </p:nvSpPr>
        <p:spPr>
          <a:xfrm>
            <a:off x="7867542"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97" name="TextBox 196"/>
          <p:cNvSpPr txBox="1"/>
          <p:nvPr/>
        </p:nvSpPr>
        <p:spPr>
          <a:xfrm>
            <a:off x="7359760"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98" name="TextBox 197"/>
          <p:cNvSpPr txBox="1"/>
          <p:nvPr/>
        </p:nvSpPr>
        <p:spPr>
          <a:xfrm>
            <a:off x="6873760"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99" name="TextBox 198"/>
          <p:cNvSpPr txBox="1"/>
          <p:nvPr/>
        </p:nvSpPr>
        <p:spPr>
          <a:xfrm>
            <a:off x="6365978"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00" name="TextBox 199"/>
          <p:cNvSpPr txBox="1"/>
          <p:nvPr/>
        </p:nvSpPr>
        <p:spPr>
          <a:xfrm>
            <a:off x="5867278"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01" name="TextBox 200"/>
          <p:cNvSpPr txBox="1"/>
          <p:nvPr/>
        </p:nvSpPr>
        <p:spPr>
          <a:xfrm>
            <a:off x="5353146"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202" name="TextBox 201"/>
          <p:cNvSpPr txBox="1"/>
          <p:nvPr/>
        </p:nvSpPr>
        <p:spPr>
          <a:xfrm>
            <a:off x="4876672"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03" name="TextBox 202"/>
          <p:cNvSpPr txBox="1"/>
          <p:nvPr/>
        </p:nvSpPr>
        <p:spPr>
          <a:xfrm>
            <a:off x="4375240" y="2407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grpSp>
        <p:nvGrpSpPr>
          <p:cNvPr id="19" name="组合 18"/>
          <p:cNvGrpSpPr/>
          <p:nvPr/>
        </p:nvGrpSpPr>
        <p:grpSpPr>
          <a:xfrm>
            <a:off x="7867542" y="2778654"/>
            <a:ext cx="486000" cy="1492198"/>
            <a:chOff x="5891882" y="1896376"/>
            <a:chExt cx="486000" cy="1492198"/>
          </a:xfrm>
        </p:grpSpPr>
        <p:sp>
          <p:nvSpPr>
            <p:cNvPr id="205" name="TextBox 204"/>
            <p:cNvSpPr txBox="1"/>
            <p:nvPr/>
          </p:nvSpPr>
          <p:spPr>
            <a:xfrm>
              <a:off x="5891882"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4" name="TextBox 213"/>
            <p:cNvSpPr txBox="1"/>
            <p:nvPr/>
          </p:nvSpPr>
          <p:spPr>
            <a:xfrm>
              <a:off x="5891882"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3" name="TextBox 222"/>
            <p:cNvSpPr txBox="1"/>
            <p:nvPr/>
          </p:nvSpPr>
          <p:spPr>
            <a:xfrm>
              <a:off x="5891882"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32" name="TextBox 231"/>
            <p:cNvSpPr txBox="1"/>
            <p:nvPr/>
          </p:nvSpPr>
          <p:spPr>
            <a:xfrm>
              <a:off x="5891882"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18" name="组合 17"/>
          <p:cNvGrpSpPr/>
          <p:nvPr/>
        </p:nvGrpSpPr>
        <p:grpSpPr>
          <a:xfrm>
            <a:off x="7359760" y="2778654"/>
            <a:ext cx="486000" cy="1492198"/>
            <a:chOff x="5384100" y="1896376"/>
            <a:chExt cx="486000" cy="1492198"/>
          </a:xfrm>
        </p:grpSpPr>
        <p:sp>
          <p:nvSpPr>
            <p:cNvPr id="206" name="TextBox 205"/>
            <p:cNvSpPr txBox="1"/>
            <p:nvPr/>
          </p:nvSpPr>
          <p:spPr>
            <a:xfrm>
              <a:off x="5384100"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5" name="TextBox 214"/>
            <p:cNvSpPr txBox="1"/>
            <p:nvPr/>
          </p:nvSpPr>
          <p:spPr>
            <a:xfrm>
              <a:off x="5384100"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4" name="TextBox 223"/>
            <p:cNvSpPr txBox="1"/>
            <p:nvPr/>
          </p:nvSpPr>
          <p:spPr>
            <a:xfrm>
              <a:off x="5384100"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33" name="TextBox 232"/>
            <p:cNvSpPr txBox="1"/>
            <p:nvPr/>
          </p:nvSpPr>
          <p:spPr>
            <a:xfrm>
              <a:off x="5384100"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17" name="组合 16"/>
          <p:cNvGrpSpPr/>
          <p:nvPr/>
        </p:nvGrpSpPr>
        <p:grpSpPr>
          <a:xfrm>
            <a:off x="6873760" y="2778654"/>
            <a:ext cx="486000" cy="1492198"/>
            <a:chOff x="4898100" y="1896376"/>
            <a:chExt cx="486000" cy="1492198"/>
          </a:xfrm>
        </p:grpSpPr>
        <p:sp>
          <p:nvSpPr>
            <p:cNvPr id="207" name="TextBox 206"/>
            <p:cNvSpPr txBox="1"/>
            <p:nvPr/>
          </p:nvSpPr>
          <p:spPr>
            <a:xfrm>
              <a:off x="4898100"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6" name="TextBox 215"/>
            <p:cNvSpPr txBox="1"/>
            <p:nvPr/>
          </p:nvSpPr>
          <p:spPr>
            <a:xfrm>
              <a:off x="4898100"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5" name="TextBox 224"/>
            <p:cNvSpPr txBox="1"/>
            <p:nvPr/>
          </p:nvSpPr>
          <p:spPr>
            <a:xfrm>
              <a:off x="4898100"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34" name="TextBox 233"/>
            <p:cNvSpPr txBox="1"/>
            <p:nvPr/>
          </p:nvSpPr>
          <p:spPr>
            <a:xfrm>
              <a:off x="4898100"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16" name="组合 15"/>
          <p:cNvGrpSpPr/>
          <p:nvPr/>
        </p:nvGrpSpPr>
        <p:grpSpPr>
          <a:xfrm>
            <a:off x="5867278" y="2778654"/>
            <a:ext cx="486000" cy="1492198"/>
            <a:chOff x="3891618" y="1896376"/>
            <a:chExt cx="486000" cy="1492198"/>
          </a:xfrm>
        </p:grpSpPr>
        <p:sp>
          <p:nvSpPr>
            <p:cNvPr id="209" name="TextBox 208"/>
            <p:cNvSpPr txBox="1"/>
            <p:nvPr/>
          </p:nvSpPr>
          <p:spPr>
            <a:xfrm>
              <a:off x="3891618"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8" name="TextBox 217"/>
            <p:cNvSpPr txBox="1"/>
            <p:nvPr/>
          </p:nvSpPr>
          <p:spPr>
            <a:xfrm>
              <a:off x="3891618"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7" name="TextBox 226"/>
            <p:cNvSpPr txBox="1"/>
            <p:nvPr/>
          </p:nvSpPr>
          <p:spPr>
            <a:xfrm>
              <a:off x="3891618"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36" name="TextBox 235"/>
            <p:cNvSpPr txBox="1"/>
            <p:nvPr/>
          </p:nvSpPr>
          <p:spPr>
            <a:xfrm>
              <a:off x="3891618"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15" name="组合 14"/>
          <p:cNvGrpSpPr/>
          <p:nvPr/>
        </p:nvGrpSpPr>
        <p:grpSpPr>
          <a:xfrm>
            <a:off x="5353146" y="2778654"/>
            <a:ext cx="486000" cy="1492198"/>
            <a:chOff x="3377486" y="1896376"/>
            <a:chExt cx="486000" cy="1492198"/>
          </a:xfrm>
        </p:grpSpPr>
        <p:sp>
          <p:nvSpPr>
            <p:cNvPr id="210" name="TextBox 209"/>
            <p:cNvSpPr txBox="1"/>
            <p:nvPr/>
          </p:nvSpPr>
          <p:spPr>
            <a:xfrm>
              <a:off x="3377486"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9" name="TextBox 218"/>
            <p:cNvSpPr txBox="1"/>
            <p:nvPr/>
          </p:nvSpPr>
          <p:spPr>
            <a:xfrm>
              <a:off x="3377486"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8" name="TextBox 227"/>
            <p:cNvSpPr txBox="1"/>
            <p:nvPr/>
          </p:nvSpPr>
          <p:spPr>
            <a:xfrm>
              <a:off x="3377486"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37" name="TextBox 236"/>
            <p:cNvSpPr txBox="1"/>
            <p:nvPr/>
          </p:nvSpPr>
          <p:spPr>
            <a:xfrm>
              <a:off x="3377486"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14" name="组合 13"/>
          <p:cNvGrpSpPr/>
          <p:nvPr/>
        </p:nvGrpSpPr>
        <p:grpSpPr>
          <a:xfrm>
            <a:off x="4876672" y="2778654"/>
            <a:ext cx="486000" cy="1492198"/>
            <a:chOff x="2901012" y="1896376"/>
            <a:chExt cx="486000" cy="1492198"/>
          </a:xfrm>
        </p:grpSpPr>
        <p:sp>
          <p:nvSpPr>
            <p:cNvPr id="211" name="TextBox 210"/>
            <p:cNvSpPr txBox="1"/>
            <p:nvPr/>
          </p:nvSpPr>
          <p:spPr>
            <a:xfrm>
              <a:off x="2901012"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20" name="TextBox 219"/>
            <p:cNvSpPr txBox="1"/>
            <p:nvPr/>
          </p:nvSpPr>
          <p:spPr>
            <a:xfrm>
              <a:off x="2901012"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9" name="TextBox 228"/>
            <p:cNvSpPr txBox="1"/>
            <p:nvPr/>
          </p:nvSpPr>
          <p:spPr>
            <a:xfrm>
              <a:off x="2901012"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38" name="TextBox 237"/>
            <p:cNvSpPr txBox="1"/>
            <p:nvPr/>
          </p:nvSpPr>
          <p:spPr>
            <a:xfrm>
              <a:off x="2901012"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13" name="组合 12"/>
          <p:cNvGrpSpPr/>
          <p:nvPr/>
        </p:nvGrpSpPr>
        <p:grpSpPr>
          <a:xfrm>
            <a:off x="4375242" y="2778656"/>
            <a:ext cx="497171" cy="1484607"/>
            <a:chOff x="2399580" y="1896376"/>
            <a:chExt cx="497171" cy="1484607"/>
          </a:xfrm>
        </p:grpSpPr>
        <p:sp>
          <p:nvSpPr>
            <p:cNvPr id="212" name="TextBox 211"/>
            <p:cNvSpPr txBox="1"/>
            <p:nvPr/>
          </p:nvSpPr>
          <p:spPr>
            <a:xfrm>
              <a:off x="2399580"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21" name="TextBox 220"/>
            <p:cNvSpPr txBox="1"/>
            <p:nvPr/>
          </p:nvSpPr>
          <p:spPr>
            <a:xfrm>
              <a:off x="2399580"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30" name="TextBox 229"/>
            <p:cNvSpPr txBox="1"/>
            <p:nvPr/>
          </p:nvSpPr>
          <p:spPr>
            <a:xfrm>
              <a:off x="2399580"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39" name="TextBox 238"/>
            <p:cNvSpPr txBox="1"/>
            <p:nvPr/>
          </p:nvSpPr>
          <p:spPr>
            <a:xfrm>
              <a:off x="2410751" y="29603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sp>
        <p:nvSpPr>
          <p:cNvPr id="240" name="TextBox 239"/>
          <p:cNvSpPr txBox="1"/>
          <p:nvPr/>
        </p:nvSpPr>
        <p:spPr>
          <a:xfrm>
            <a:off x="3485698" y="27865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241" name="TextBox 240"/>
          <p:cNvSpPr txBox="1"/>
          <p:nvPr/>
        </p:nvSpPr>
        <p:spPr>
          <a:xfrm>
            <a:off x="3475826" y="312407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242" name="TextBox 241"/>
          <p:cNvSpPr txBox="1"/>
          <p:nvPr/>
        </p:nvSpPr>
        <p:spPr>
          <a:xfrm>
            <a:off x="3475826" y="349303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243" name="TextBox 242"/>
          <p:cNvSpPr txBox="1"/>
          <p:nvPr/>
        </p:nvSpPr>
        <p:spPr>
          <a:xfrm>
            <a:off x="3474231" y="381338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244" name="TextBox 243"/>
          <p:cNvSpPr txBox="1"/>
          <p:nvPr/>
        </p:nvSpPr>
        <p:spPr>
          <a:xfrm>
            <a:off x="3951216" y="278528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45" name="TextBox 244"/>
          <p:cNvSpPr txBox="1"/>
          <p:nvPr/>
        </p:nvSpPr>
        <p:spPr>
          <a:xfrm>
            <a:off x="3942554" y="312407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46" name="TextBox 245"/>
          <p:cNvSpPr txBox="1"/>
          <p:nvPr/>
        </p:nvSpPr>
        <p:spPr>
          <a:xfrm>
            <a:off x="3942554" y="349303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47" name="TextBox 246"/>
          <p:cNvSpPr txBox="1"/>
          <p:nvPr/>
        </p:nvSpPr>
        <p:spPr>
          <a:xfrm>
            <a:off x="3940959" y="381321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248" name="TextBox 247"/>
          <p:cNvSpPr txBox="1"/>
          <p:nvPr/>
        </p:nvSpPr>
        <p:spPr>
          <a:xfrm>
            <a:off x="3932808" y="209951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249" name="TextBox 248"/>
          <p:cNvSpPr txBox="1"/>
          <p:nvPr/>
        </p:nvSpPr>
        <p:spPr>
          <a:xfrm>
            <a:off x="2966236" y="2513856"/>
            <a:ext cx="1081095"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访问请求</a:t>
            </a:r>
          </a:p>
        </p:txBody>
      </p:sp>
      <p:sp>
        <p:nvSpPr>
          <p:cNvPr id="250" name="TextBox 249"/>
          <p:cNvSpPr txBox="1"/>
          <p:nvPr/>
        </p:nvSpPr>
        <p:spPr>
          <a:xfrm>
            <a:off x="2961956" y="2156666"/>
            <a:ext cx="871060"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时间</a:t>
            </a:r>
          </a:p>
        </p:txBody>
      </p:sp>
      <p:sp>
        <p:nvSpPr>
          <p:cNvPr id="251" name="TextBox 250"/>
          <p:cNvSpPr txBox="1"/>
          <p:nvPr/>
        </p:nvSpPr>
        <p:spPr>
          <a:xfrm>
            <a:off x="2966236" y="4299806"/>
            <a:ext cx="1438285"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缺页状态</a:t>
            </a:r>
          </a:p>
        </p:txBody>
      </p:sp>
      <p:sp>
        <p:nvSpPr>
          <p:cNvPr id="252" name="TextBox 251"/>
          <p:cNvSpPr txBox="1"/>
          <p:nvPr/>
        </p:nvSpPr>
        <p:spPr>
          <a:xfrm>
            <a:off x="2966234" y="4728436"/>
            <a:ext cx="1295410" cy="584775"/>
          </a:xfrm>
          <a:prstGeom prst="rect">
            <a:avLst/>
          </a:prstGeom>
          <a:noFill/>
          <a:effectLst/>
        </p:spPr>
        <p:txBody>
          <a:bodyPr wrap="square" rtlCol="0">
            <a:spAutoFit/>
          </a:bodyPr>
          <a:lstStyle/>
          <a:p>
            <a:pPr>
              <a:spcBef>
                <a:spcPct val="20000"/>
              </a:spcBef>
            </a:pPr>
            <a:r>
              <a:rPr lang="zh-CN" altLang="en-US" sz="2400" b="1" baseline="-25000" dirty="0">
                <a:solidFill>
                  <a:srgbClr val="11576A"/>
                </a:solidFill>
                <a:latin typeface="微软雅黑" pitchFamily="34" charset="-122"/>
                <a:ea typeface="微软雅黑" pitchFamily="34" charset="-122"/>
              </a:rPr>
              <a:t>每页的上次访问时间</a:t>
            </a:r>
          </a:p>
        </p:txBody>
      </p:sp>
      <p:sp>
        <p:nvSpPr>
          <p:cNvPr id="253" name="TextBox 252"/>
          <p:cNvSpPr txBox="1"/>
          <p:nvPr/>
        </p:nvSpPr>
        <p:spPr>
          <a:xfrm>
            <a:off x="6365978" y="4647478"/>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a=2</a:t>
            </a:r>
            <a:endParaRPr lang="zh-CN" altLang="en-US" sz="2000" b="1" baseline="-25000" dirty="0">
              <a:solidFill>
                <a:srgbClr val="11576A"/>
              </a:solidFill>
              <a:latin typeface="微软雅黑" pitchFamily="34" charset="-122"/>
              <a:ea typeface="微软雅黑" pitchFamily="34" charset="-122"/>
            </a:endParaRPr>
          </a:p>
        </p:txBody>
      </p:sp>
      <p:sp>
        <p:nvSpPr>
          <p:cNvPr id="254" name="TextBox 253"/>
          <p:cNvSpPr txBox="1"/>
          <p:nvPr/>
        </p:nvSpPr>
        <p:spPr>
          <a:xfrm>
            <a:off x="6351689" y="4830042"/>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b=4</a:t>
            </a:r>
            <a:endParaRPr lang="zh-CN" altLang="en-US" sz="2000" b="1" baseline="-25000" dirty="0">
              <a:solidFill>
                <a:srgbClr val="11576A"/>
              </a:solidFill>
              <a:latin typeface="微软雅黑" pitchFamily="34" charset="-122"/>
              <a:ea typeface="微软雅黑" pitchFamily="34" charset="-122"/>
            </a:endParaRPr>
          </a:p>
        </p:txBody>
      </p:sp>
      <p:sp>
        <p:nvSpPr>
          <p:cNvPr id="255" name="TextBox 254"/>
          <p:cNvSpPr txBox="1"/>
          <p:nvPr/>
        </p:nvSpPr>
        <p:spPr>
          <a:xfrm>
            <a:off x="6323113" y="5009431"/>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 c=1</a:t>
            </a:r>
            <a:endParaRPr lang="zh-CN" altLang="en-US" sz="2000" b="1" baseline="-25000" dirty="0">
              <a:solidFill>
                <a:srgbClr val="11576A"/>
              </a:solidFill>
              <a:latin typeface="微软雅黑" pitchFamily="34" charset="-122"/>
              <a:ea typeface="微软雅黑" pitchFamily="34" charset="-122"/>
            </a:endParaRPr>
          </a:p>
        </p:txBody>
      </p:sp>
      <p:sp>
        <p:nvSpPr>
          <p:cNvPr id="256" name="TextBox 255"/>
          <p:cNvSpPr txBox="1"/>
          <p:nvPr/>
        </p:nvSpPr>
        <p:spPr>
          <a:xfrm>
            <a:off x="6339703" y="5187229"/>
            <a:ext cx="824624" cy="251351"/>
          </a:xfrm>
          <a:prstGeom prst="rect">
            <a:avLst/>
          </a:prstGeom>
          <a:noFill/>
          <a:effectLst/>
        </p:spPr>
        <p:txBody>
          <a:bodyPr wrap="square" tIns="0" rtlCol="0" anchor="t" anchorCtr="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d=3</a:t>
            </a:r>
            <a:endParaRPr lang="zh-CN" altLang="en-US" sz="2000" b="1" baseline="-25000" dirty="0">
              <a:solidFill>
                <a:srgbClr val="11576A"/>
              </a:solidFill>
              <a:latin typeface="微软雅黑" pitchFamily="34" charset="-122"/>
              <a:ea typeface="微软雅黑" pitchFamily="34" charset="-122"/>
            </a:endParaRPr>
          </a:p>
        </p:txBody>
      </p:sp>
      <p:grpSp>
        <p:nvGrpSpPr>
          <p:cNvPr id="3" name="组合 2"/>
          <p:cNvGrpSpPr/>
          <p:nvPr/>
        </p:nvGrpSpPr>
        <p:grpSpPr>
          <a:xfrm>
            <a:off x="6500572" y="2611221"/>
            <a:ext cx="234000" cy="1994525"/>
            <a:chOff x="4524912" y="1728941"/>
            <a:chExt cx="234000" cy="1994525"/>
          </a:xfrm>
        </p:grpSpPr>
        <p:sp>
          <p:nvSpPr>
            <p:cNvPr id="257" name="AutoShape 100"/>
            <p:cNvSpPr>
              <a:spLocks noChangeArrowheads="1"/>
            </p:cNvSpPr>
            <p:nvPr/>
          </p:nvSpPr>
          <p:spPr bwMode="auto">
            <a:xfrm>
              <a:off x="4563012" y="3543466"/>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58" name="Oval 101"/>
            <p:cNvSpPr>
              <a:spLocks/>
            </p:cNvSpPr>
            <p:nvPr/>
          </p:nvSpPr>
          <p:spPr bwMode="auto">
            <a:xfrm>
              <a:off x="4524912" y="1728941"/>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5" name="组合 4"/>
          <p:cNvGrpSpPr/>
          <p:nvPr/>
        </p:nvGrpSpPr>
        <p:grpSpPr>
          <a:xfrm>
            <a:off x="6267187" y="2778654"/>
            <a:ext cx="584793" cy="1492198"/>
            <a:chOff x="4291525" y="1896376"/>
            <a:chExt cx="584793" cy="1492198"/>
          </a:xfrm>
        </p:grpSpPr>
        <p:sp>
          <p:nvSpPr>
            <p:cNvPr id="208" name="TextBox 207"/>
            <p:cNvSpPr txBox="1"/>
            <p:nvPr/>
          </p:nvSpPr>
          <p:spPr>
            <a:xfrm>
              <a:off x="4390318"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7" name="TextBox 216"/>
            <p:cNvSpPr txBox="1"/>
            <p:nvPr/>
          </p:nvSpPr>
          <p:spPr>
            <a:xfrm>
              <a:off x="4390318"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6" name="TextBox 225"/>
            <p:cNvSpPr txBox="1"/>
            <p:nvPr/>
          </p:nvSpPr>
          <p:spPr>
            <a:xfrm>
              <a:off x="4390318"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e</a:t>
              </a:r>
              <a:endParaRPr lang="zh-CN" altLang="en-US" sz="3200" b="1" baseline="-25000" dirty="0">
                <a:solidFill>
                  <a:srgbClr val="C00000"/>
                </a:solidFill>
                <a:latin typeface="微软雅黑" pitchFamily="34" charset="-122"/>
                <a:ea typeface="微软雅黑" pitchFamily="34" charset="-122"/>
              </a:endParaRPr>
            </a:p>
          </p:txBody>
        </p:sp>
        <p:sp>
          <p:nvSpPr>
            <p:cNvPr id="235" name="TextBox 234"/>
            <p:cNvSpPr txBox="1"/>
            <p:nvPr/>
          </p:nvSpPr>
          <p:spPr>
            <a:xfrm>
              <a:off x="4390318"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259" name="AutoShape 98"/>
            <p:cNvSpPr>
              <a:spLocks/>
            </p:cNvSpPr>
            <p:nvPr/>
          </p:nvSpPr>
          <p:spPr bwMode="auto">
            <a:xfrm>
              <a:off x="4291525" y="2895725"/>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sp>
        <p:nvSpPr>
          <p:cNvPr id="260" name="TextBox 259"/>
          <p:cNvSpPr txBox="1"/>
          <p:nvPr/>
        </p:nvSpPr>
        <p:spPr>
          <a:xfrm>
            <a:off x="2992781" y="3199998"/>
            <a:ext cx="430887" cy="1075997"/>
          </a:xfrm>
          <a:prstGeom prst="rect">
            <a:avLst/>
          </a:prstGeom>
          <a:noFill/>
          <a:effectLst/>
        </p:spPr>
        <p:txBody>
          <a:bodyPr vert="eaVert" wrap="square" rtlCol="0">
            <a:spAutoFit/>
          </a:bodyPr>
          <a:lstStyle/>
          <a:p>
            <a:pPr marL="342900" indent="-342900">
              <a:spcBef>
                <a:spcPct val="20000"/>
              </a:spcBef>
            </a:pPr>
            <a:r>
              <a:rPr lang="zh-CN" altLang="en-US" sz="2400" b="1" baseline="-25000">
                <a:solidFill>
                  <a:srgbClr val="11576A"/>
                </a:solidFill>
                <a:latin typeface="微软雅黑" pitchFamily="34" charset="-122"/>
                <a:ea typeface="微软雅黑" pitchFamily="34" charset="-122"/>
              </a:rPr>
              <a:t>物理帧号</a:t>
            </a:r>
            <a:endParaRPr lang="zh-CN" altLang="en-US" sz="2400" b="1" baseline="-25000" dirty="0">
              <a:solidFill>
                <a:srgbClr val="11576A"/>
              </a:solidFill>
              <a:latin typeface="微软雅黑" pitchFamily="34" charset="-122"/>
              <a:ea typeface="微软雅黑" pitchFamily="34" charset="-122"/>
            </a:endParaRPr>
          </a:p>
        </p:txBody>
      </p:sp>
      <p:grpSp>
        <p:nvGrpSpPr>
          <p:cNvPr id="10" name="组合 9"/>
          <p:cNvGrpSpPr/>
          <p:nvPr/>
        </p:nvGrpSpPr>
        <p:grpSpPr>
          <a:xfrm>
            <a:off x="8769115" y="2778654"/>
            <a:ext cx="580723" cy="1492198"/>
            <a:chOff x="6793453" y="1896376"/>
            <a:chExt cx="580723" cy="1492198"/>
          </a:xfrm>
        </p:grpSpPr>
        <p:sp>
          <p:nvSpPr>
            <p:cNvPr id="261" name="TextBox 260"/>
            <p:cNvSpPr txBox="1"/>
            <p:nvPr/>
          </p:nvSpPr>
          <p:spPr>
            <a:xfrm>
              <a:off x="6888176"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62" name="TextBox 261"/>
            <p:cNvSpPr txBox="1"/>
            <p:nvPr/>
          </p:nvSpPr>
          <p:spPr>
            <a:xfrm>
              <a:off x="6888176"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63" name="TextBox 262"/>
            <p:cNvSpPr txBox="1"/>
            <p:nvPr/>
          </p:nvSpPr>
          <p:spPr>
            <a:xfrm>
              <a:off x="6888176"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endParaRPr lang="zh-CN" altLang="en-US" sz="3200" b="1" baseline="-25000" dirty="0">
                <a:solidFill>
                  <a:srgbClr val="C00000"/>
                </a:solidFill>
                <a:latin typeface="微软雅黑" pitchFamily="34" charset="-122"/>
                <a:ea typeface="微软雅黑" pitchFamily="34" charset="-122"/>
              </a:endParaRPr>
            </a:p>
          </p:txBody>
        </p:sp>
        <p:sp>
          <p:nvSpPr>
            <p:cNvPr id="264" name="TextBox 263"/>
            <p:cNvSpPr txBox="1"/>
            <p:nvPr/>
          </p:nvSpPr>
          <p:spPr>
            <a:xfrm>
              <a:off x="6888176"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265" name="AutoShape 98"/>
            <p:cNvSpPr>
              <a:spLocks/>
            </p:cNvSpPr>
            <p:nvPr/>
          </p:nvSpPr>
          <p:spPr bwMode="auto">
            <a:xfrm>
              <a:off x="6793453" y="2888850"/>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7" name="组合 6"/>
          <p:cNvGrpSpPr/>
          <p:nvPr/>
        </p:nvGrpSpPr>
        <p:grpSpPr>
          <a:xfrm>
            <a:off x="8282263" y="2778654"/>
            <a:ext cx="569981" cy="1492198"/>
            <a:chOff x="6306601" y="1896376"/>
            <a:chExt cx="569981" cy="1492198"/>
          </a:xfrm>
        </p:grpSpPr>
        <p:sp>
          <p:nvSpPr>
            <p:cNvPr id="204" name="TextBox 203"/>
            <p:cNvSpPr txBox="1"/>
            <p:nvPr/>
          </p:nvSpPr>
          <p:spPr>
            <a:xfrm>
              <a:off x="6390582" y="189637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213" name="TextBox 212"/>
            <p:cNvSpPr txBox="1"/>
            <p:nvPr/>
          </p:nvSpPr>
          <p:spPr>
            <a:xfrm>
              <a:off x="6390582" y="2241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222" name="TextBox 221"/>
            <p:cNvSpPr txBox="1"/>
            <p:nvPr/>
          </p:nvSpPr>
          <p:spPr>
            <a:xfrm>
              <a:off x="6390582" y="261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231" name="TextBox 230"/>
            <p:cNvSpPr txBox="1"/>
            <p:nvPr/>
          </p:nvSpPr>
          <p:spPr>
            <a:xfrm>
              <a:off x="6390582" y="29679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sp>
          <p:nvSpPr>
            <p:cNvPr id="266" name="AutoShape 98"/>
            <p:cNvSpPr>
              <a:spLocks/>
            </p:cNvSpPr>
            <p:nvPr/>
          </p:nvSpPr>
          <p:spPr bwMode="auto">
            <a:xfrm>
              <a:off x="6306601" y="3251755"/>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sp>
        <p:nvSpPr>
          <p:cNvPr id="267" name="TextBox 266"/>
          <p:cNvSpPr txBox="1"/>
          <p:nvPr/>
        </p:nvSpPr>
        <p:spPr>
          <a:xfrm>
            <a:off x="8386326" y="4647478"/>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a=7</a:t>
            </a:r>
            <a:endParaRPr lang="zh-CN" altLang="en-US" sz="2000" b="1" baseline="-25000" dirty="0">
              <a:solidFill>
                <a:srgbClr val="11576A"/>
              </a:solidFill>
              <a:latin typeface="微软雅黑" pitchFamily="34" charset="-122"/>
              <a:ea typeface="微软雅黑" pitchFamily="34" charset="-122"/>
            </a:endParaRPr>
          </a:p>
        </p:txBody>
      </p:sp>
      <p:sp>
        <p:nvSpPr>
          <p:cNvPr id="268" name="TextBox 267"/>
          <p:cNvSpPr txBox="1"/>
          <p:nvPr/>
        </p:nvSpPr>
        <p:spPr>
          <a:xfrm>
            <a:off x="8378912" y="4830042"/>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b=8</a:t>
            </a:r>
            <a:endParaRPr lang="zh-CN" altLang="en-US" sz="2000" b="1" baseline="-25000" dirty="0">
              <a:solidFill>
                <a:srgbClr val="11576A"/>
              </a:solidFill>
              <a:latin typeface="微软雅黑" pitchFamily="34" charset="-122"/>
              <a:ea typeface="微软雅黑" pitchFamily="34" charset="-122"/>
            </a:endParaRPr>
          </a:p>
        </p:txBody>
      </p:sp>
      <p:sp>
        <p:nvSpPr>
          <p:cNvPr id="269" name="TextBox 268"/>
          <p:cNvSpPr txBox="1"/>
          <p:nvPr/>
        </p:nvSpPr>
        <p:spPr>
          <a:xfrm>
            <a:off x="8343461" y="5009431"/>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 e=5</a:t>
            </a:r>
            <a:endParaRPr lang="zh-CN" altLang="en-US" sz="2000" b="1" baseline="-25000" dirty="0">
              <a:solidFill>
                <a:srgbClr val="11576A"/>
              </a:solidFill>
              <a:latin typeface="微软雅黑" pitchFamily="34" charset="-122"/>
              <a:ea typeface="微软雅黑" pitchFamily="34" charset="-122"/>
            </a:endParaRPr>
          </a:p>
        </p:txBody>
      </p:sp>
      <p:sp>
        <p:nvSpPr>
          <p:cNvPr id="270" name="TextBox 269"/>
          <p:cNvSpPr txBox="1"/>
          <p:nvPr/>
        </p:nvSpPr>
        <p:spPr>
          <a:xfrm>
            <a:off x="8380676" y="5187229"/>
            <a:ext cx="824624" cy="251351"/>
          </a:xfrm>
          <a:prstGeom prst="rect">
            <a:avLst/>
          </a:prstGeom>
          <a:noFill/>
          <a:effectLst/>
        </p:spPr>
        <p:txBody>
          <a:bodyPr wrap="square" tIns="0" rtlCol="0" anchor="t" anchorCtr="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d=3</a:t>
            </a:r>
            <a:endParaRPr lang="zh-CN" altLang="en-US" sz="2000" b="1" baseline="-25000" dirty="0">
              <a:solidFill>
                <a:srgbClr val="11576A"/>
              </a:solidFill>
              <a:latin typeface="微软雅黑" pitchFamily="34" charset="-122"/>
              <a:ea typeface="微软雅黑" pitchFamily="34" charset="-122"/>
            </a:endParaRPr>
          </a:p>
        </p:txBody>
      </p:sp>
      <p:sp>
        <p:nvSpPr>
          <p:cNvPr id="271" name="TextBox 270"/>
          <p:cNvSpPr txBox="1"/>
          <p:nvPr/>
        </p:nvSpPr>
        <p:spPr>
          <a:xfrm>
            <a:off x="8859951" y="4647478"/>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a=7</a:t>
            </a:r>
            <a:endParaRPr lang="zh-CN" altLang="en-US" sz="2000" b="1" baseline="-25000" dirty="0">
              <a:solidFill>
                <a:srgbClr val="11576A"/>
              </a:solidFill>
              <a:latin typeface="微软雅黑" pitchFamily="34" charset="-122"/>
              <a:ea typeface="微软雅黑" pitchFamily="34" charset="-122"/>
            </a:endParaRPr>
          </a:p>
        </p:txBody>
      </p:sp>
      <p:sp>
        <p:nvSpPr>
          <p:cNvPr id="272" name="TextBox 271"/>
          <p:cNvSpPr txBox="1"/>
          <p:nvPr/>
        </p:nvSpPr>
        <p:spPr>
          <a:xfrm>
            <a:off x="8845662" y="4830042"/>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b=8</a:t>
            </a:r>
            <a:endParaRPr lang="zh-CN" altLang="en-US" sz="2000" b="1" baseline="-25000" dirty="0">
              <a:solidFill>
                <a:srgbClr val="11576A"/>
              </a:solidFill>
              <a:latin typeface="微软雅黑" pitchFamily="34" charset="-122"/>
              <a:ea typeface="微软雅黑" pitchFamily="34" charset="-122"/>
            </a:endParaRPr>
          </a:p>
        </p:txBody>
      </p:sp>
      <p:sp>
        <p:nvSpPr>
          <p:cNvPr id="273" name="TextBox 272"/>
          <p:cNvSpPr txBox="1"/>
          <p:nvPr/>
        </p:nvSpPr>
        <p:spPr>
          <a:xfrm>
            <a:off x="8817086" y="5009431"/>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 e=5</a:t>
            </a:r>
            <a:endParaRPr lang="zh-CN" altLang="en-US" sz="2000" b="1" baseline="-25000" dirty="0">
              <a:solidFill>
                <a:srgbClr val="11576A"/>
              </a:solidFill>
              <a:latin typeface="微软雅黑" pitchFamily="34" charset="-122"/>
              <a:ea typeface="微软雅黑" pitchFamily="34" charset="-122"/>
            </a:endParaRPr>
          </a:p>
        </p:txBody>
      </p:sp>
      <p:sp>
        <p:nvSpPr>
          <p:cNvPr id="274" name="TextBox 273"/>
          <p:cNvSpPr txBox="1"/>
          <p:nvPr/>
        </p:nvSpPr>
        <p:spPr>
          <a:xfrm>
            <a:off x="8871776" y="5187229"/>
            <a:ext cx="824624" cy="251351"/>
          </a:xfrm>
          <a:prstGeom prst="rect">
            <a:avLst/>
          </a:prstGeom>
          <a:noFill/>
          <a:effectLst/>
        </p:spPr>
        <p:txBody>
          <a:bodyPr wrap="square" tIns="0" rtlCol="0" anchor="t" anchorCtr="0">
            <a:spAutoFit/>
          </a:bodyPr>
          <a:lstStyle/>
          <a:p>
            <a:pPr marL="342900" indent="-342900">
              <a:spcBef>
                <a:spcPct val="20000"/>
              </a:spcBef>
            </a:pPr>
            <a:r>
              <a:rPr lang="en-US" altLang="zh-CN" sz="2000" b="1" baseline="-25000" dirty="0">
                <a:solidFill>
                  <a:srgbClr val="11576A"/>
                </a:solidFill>
                <a:latin typeface="微软雅黑" pitchFamily="34" charset="-122"/>
                <a:ea typeface="微软雅黑" pitchFamily="34" charset="-122"/>
              </a:rPr>
              <a:t>c=9</a:t>
            </a:r>
            <a:endParaRPr lang="zh-CN" altLang="en-US" sz="2000" b="1" baseline="-25000" dirty="0">
              <a:solidFill>
                <a:srgbClr val="11576A"/>
              </a:solidFill>
              <a:latin typeface="微软雅黑" pitchFamily="34" charset="-122"/>
              <a:ea typeface="微软雅黑" pitchFamily="34" charset="-122"/>
            </a:endParaRPr>
          </a:p>
        </p:txBody>
      </p:sp>
      <p:grpSp>
        <p:nvGrpSpPr>
          <p:cNvPr id="6" name="组合 5"/>
          <p:cNvGrpSpPr/>
          <p:nvPr/>
        </p:nvGrpSpPr>
        <p:grpSpPr>
          <a:xfrm>
            <a:off x="8497111" y="2611221"/>
            <a:ext cx="234000" cy="1994525"/>
            <a:chOff x="6521451" y="1728941"/>
            <a:chExt cx="234000" cy="1994525"/>
          </a:xfrm>
        </p:grpSpPr>
        <p:sp>
          <p:nvSpPr>
            <p:cNvPr id="275" name="AutoShape 100"/>
            <p:cNvSpPr>
              <a:spLocks noChangeArrowheads="1"/>
            </p:cNvSpPr>
            <p:nvPr/>
          </p:nvSpPr>
          <p:spPr bwMode="auto">
            <a:xfrm>
              <a:off x="6565389" y="3543466"/>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77" name="Oval 101"/>
            <p:cNvSpPr>
              <a:spLocks/>
            </p:cNvSpPr>
            <p:nvPr/>
          </p:nvSpPr>
          <p:spPr bwMode="auto">
            <a:xfrm>
              <a:off x="6521451" y="1728941"/>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9" name="组合 8"/>
          <p:cNvGrpSpPr/>
          <p:nvPr/>
        </p:nvGrpSpPr>
        <p:grpSpPr>
          <a:xfrm>
            <a:off x="8997177" y="2611221"/>
            <a:ext cx="234000" cy="1994525"/>
            <a:chOff x="7021517" y="1728941"/>
            <a:chExt cx="234000" cy="1994525"/>
          </a:xfrm>
        </p:grpSpPr>
        <p:sp>
          <p:nvSpPr>
            <p:cNvPr id="276" name="AutoShape 100"/>
            <p:cNvSpPr>
              <a:spLocks noChangeArrowheads="1"/>
            </p:cNvSpPr>
            <p:nvPr/>
          </p:nvSpPr>
          <p:spPr bwMode="auto">
            <a:xfrm>
              <a:off x="7071071" y="3543466"/>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78" name="Oval 101"/>
            <p:cNvSpPr>
              <a:spLocks/>
            </p:cNvSpPr>
            <p:nvPr/>
          </p:nvSpPr>
          <p:spPr bwMode="auto">
            <a:xfrm>
              <a:off x="7021517" y="1728941"/>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sp>
        <p:nvSpPr>
          <p:cNvPr id="124" name="TextBox 79"/>
          <p:cNvSpPr txBox="1"/>
          <p:nvPr/>
        </p:nvSpPr>
        <p:spPr>
          <a:xfrm>
            <a:off x="4377914" y="348882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sp>
        <p:nvSpPr>
          <p:cNvPr id="125" name="TextBox 79"/>
          <p:cNvSpPr txBox="1"/>
          <p:nvPr/>
        </p:nvSpPr>
        <p:spPr>
          <a:xfrm>
            <a:off x="4879648" y="277394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sp>
        <p:nvSpPr>
          <p:cNvPr id="126" name="TextBox 79"/>
          <p:cNvSpPr txBox="1"/>
          <p:nvPr/>
        </p:nvSpPr>
        <p:spPr>
          <a:xfrm>
            <a:off x="5356489" y="384598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endParaRPr lang="zh-CN" altLang="en-US" sz="3200" b="1" baseline="-25000" dirty="0">
              <a:solidFill>
                <a:srgbClr val="C00000"/>
              </a:solidFill>
              <a:latin typeface="微软雅黑" pitchFamily="34" charset="-122"/>
              <a:ea typeface="微软雅黑" pitchFamily="34" charset="-122"/>
            </a:endParaRPr>
          </a:p>
        </p:txBody>
      </p:sp>
      <p:sp>
        <p:nvSpPr>
          <p:cNvPr id="127" name="TextBox 79"/>
          <p:cNvSpPr txBox="1"/>
          <p:nvPr/>
        </p:nvSpPr>
        <p:spPr>
          <a:xfrm>
            <a:off x="5873628" y="312361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128" name="TextBox 23"/>
          <p:cNvSpPr txBox="1"/>
          <p:nvPr/>
        </p:nvSpPr>
        <p:spPr>
          <a:xfrm>
            <a:off x="4879648" y="209120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2</a:t>
            </a:r>
            <a:endParaRPr lang="zh-CN" altLang="en-US" sz="3200" b="1" baseline="-25000" dirty="0">
              <a:solidFill>
                <a:srgbClr val="C00000"/>
              </a:solidFill>
              <a:latin typeface="微软雅黑" pitchFamily="34" charset="-122"/>
              <a:ea typeface="微软雅黑" pitchFamily="34" charset="-122"/>
            </a:endParaRPr>
          </a:p>
        </p:txBody>
      </p:sp>
      <p:sp>
        <p:nvSpPr>
          <p:cNvPr id="129" name="TextBox 23"/>
          <p:cNvSpPr txBox="1"/>
          <p:nvPr/>
        </p:nvSpPr>
        <p:spPr>
          <a:xfrm>
            <a:off x="5870043" y="209120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4</a:t>
            </a:r>
            <a:endParaRPr lang="zh-CN" altLang="en-US" sz="3200" b="1" baseline="-25000" dirty="0">
              <a:solidFill>
                <a:srgbClr val="C00000"/>
              </a:solidFill>
              <a:latin typeface="微软雅黑" pitchFamily="34" charset="-122"/>
              <a:ea typeface="微软雅黑" pitchFamily="34" charset="-122"/>
            </a:endParaRPr>
          </a:p>
        </p:txBody>
      </p:sp>
      <p:sp>
        <p:nvSpPr>
          <p:cNvPr id="130" name="TextBox 254"/>
          <p:cNvSpPr txBox="1"/>
          <p:nvPr/>
        </p:nvSpPr>
        <p:spPr>
          <a:xfrm>
            <a:off x="6323113" y="5009431"/>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C00000"/>
                </a:solidFill>
                <a:latin typeface="微软雅黑" pitchFamily="34" charset="-122"/>
                <a:ea typeface="微软雅黑" pitchFamily="34" charset="-122"/>
              </a:rPr>
              <a:t> c=1</a:t>
            </a:r>
            <a:endParaRPr lang="zh-CN" altLang="en-US" sz="2000" b="1" baseline="-25000" dirty="0">
              <a:solidFill>
                <a:srgbClr val="C00000"/>
              </a:solidFill>
              <a:latin typeface="微软雅黑" pitchFamily="34" charset="-122"/>
              <a:ea typeface="微软雅黑" pitchFamily="34" charset="-122"/>
            </a:endParaRPr>
          </a:p>
        </p:txBody>
      </p:sp>
      <p:sp>
        <p:nvSpPr>
          <p:cNvPr id="131" name="TextBox 23"/>
          <p:cNvSpPr txBox="1"/>
          <p:nvPr/>
        </p:nvSpPr>
        <p:spPr>
          <a:xfrm>
            <a:off x="4377732" y="209733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1</a:t>
            </a:r>
            <a:endParaRPr lang="zh-CN" altLang="en-US" sz="3200" b="1" baseline="-25000" dirty="0">
              <a:solidFill>
                <a:srgbClr val="C00000"/>
              </a:solidFill>
              <a:latin typeface="微软雅黑" pitchFamily="34" charset="-122"/>
              <a:ea typeface="微软雅黑" pitchFamily="34" charset="-122"/>
            </a:endParaRPr>
          </a:p>
        </p:txBody>
      </p:sp>
      <p:sp>
        <p:nvSpPr>
          <p:cNvPr id="133" name="TextBox 23"/>
          <p:cNvSpPr txBox="1"/>
          <p:nvPr/>
        </p:nvSpPr>
        <p:spPr>
          <a:xfrm>
            <a:off x="5357704" y="20966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3</a:t>
            </a:r>
            <a:endParaRPr lang="zh-CN" altLang="en-US" sz="3200" b="1" baseline="-25000" dirty="0">
              <a:solidFill>
                <a:srgbClr val="C00000"/>
              </a:solidFill>
              <a:latin typeface="微软雅黑" pitchFamily="34" charset="-122"/>
              <a:ea typeface="微软雅黑" pitchFamily="34" charset="-122"/>
            </a:endParaRPr>
          </a:p>
        </p:txBody>
      </p:sp>
      <p:sp>
        <p:nvSpPr>
          <p:cNvPr id="134" name="TextBox 79"/>
          <p:cNvSpPr txBox="1"/>
          <p:nvPr/>
        </p:nvSpPr>
        <p:spPr>
          <a:xfrm>
            <a:off x="6873760" y="312361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135" name="TextBox 79"/>
          <p:cNvSpPr txBox="1"/>
          <p:nvPr/>
        </p:nvSpPr>
        <p:spPr>
          <a:xfrm>
            <a:off x="7359423" y="277394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sp>
        <p:nvSpPr>
          <p:cNvPr id="136" name="TextBox 79"/>
          <p:cNvSpPr txBox="1"/>
          <p:nvPr/>
        </p:nvSpPr>
        <p:spPr>
          <a:xfrm>
            <a:off x="7867542" y="312407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137" name="TextBox 23"/>
          <p:cNvSpPr txBox="1"/>
          <p:nvPr/>
        </p:nvSpPr>
        <p:spPr>
          <a:xfrm>
            <a:off x="7359423" y="20977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7</a:t>
            </a:r>
            <a:endParaRPr lang="zh-CN" altLang="en-US" sz="3200" b="1" baseline="-25000" dirty="0">
              <a:solidFill>
                <a:srgbClr val="C00000"/>
              </a:solidFill>
              <a:latin typeface="微软雅黑" pitchFamily="34" charset="-122"/>
              <a:ea typeface="微软雅黑" pitchFamily="34" charset="-122"/>
            </a:endParaRPr>
          </a:p>
        </p:txBody>
      </p:sp>
      <p:sp>
        <p:nvSpPr>
          <p:cNvPr id="138" name="TextBox 23"/>
          <p:cNvSpPr txBox="1"/>
          <p:nvPr/>
        </p:nvSpPr>
        <p:spPr>
          <a:xfrm>
            <a:off x="7867205" y="209804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8</a:t>
            </a:r>
            <a:endParaRPr lang="zh-CN" altLang="en-US" sz="3200" b="1" baseline="-25000" dirty="0">
              <a:solidFill>
                <a:srgbClr val="C00000"/>
              </a:solidFill>
              <a:latin typeface="微软雅黑" pitchFamily="34" charset="-122"/>
              <a:ea typeface="微软雅黑" pitchFamily="34" charset="-122"/>
            </a:endParaRPr>
          </a:p>
        </p:txBody>
      </p:sp>
      <p:sp>
        <p:nvSpPr>
          <p:cNvPr id="139" name="TextBox 269"/>
          <p:cNvSpPr txBox="1"/>
          <p:nvPr/>
        </p:nvSpPr>
        <p:spPr>
          <a:xfrm>
            <a:off x="8378912" y="5187101"/>
            <a:ext cx="824624" cy="251351"/>
          </a:xfrm>
          <a:prstGeom prst="rect">
            <a:avLst/>
          </a:prstGeom>
          <a:noFill/>
          <a:effectLst/>
        </p:spPr>
        <p:txBody>
          <a:bodyPr wrap="square" tIns="0" rtlCol="0" anchor="t" anchorCtr="0">
            <a:spAutoFit/>
          </a:bodyPr>
          <a:lstStyle/>
          <a:p>
            <a:pPr marL="342900" indent="-342900">
              <a:spcBef>
                <a:spcPct val="20000"/>
              </a:spcBef>
            </a:pPr>
            <a:r>
              <a:rPr lang="en-US" altLang="zh-CN" sz="2000" b="1" baseline="-25000" dirty="0">
                <a:solidFill>
                  <a:srgbClr val="C00000"/>
                </a:solidFill>
                <a:latin typeface="微软雅黑" pitchFamily="34" charset="-122"/>
                <a:ea typeface="微软雅黑" pitchFamily="34" charset="-122"/>
              </a:rPr>
              <a:t>d=3</a:t>
            </a:r>
            <a:endParaRPr lang="zh-CN" altLang="en-US" sz="2000" b="1" baseline="-25000" dirty="0">
              <a:solidFill>
                <a:srgbClr val="C00000"/>
              </a:solidFill>
              <a:latin typeface="微软雅黑" pitchFamily="34" charset="-122"/>
              <a:ea typeface="微软雅黑" pitchFamily="34" charset="-122"/>
            </a:endParaRPr>
          </a:p>
        </p:txBody>
      </p:sp>
      <p:sp>
        <p:nvSpPr>
          <p:cNvPr id="140" name="TextBox 23"/>
          <p:cNvSpPr txBox="1"/>
          <p:nvPr/>
        </p:nvSpPr>
        <p:spPr>
          <a:xfrm>
            <a:off x="6369615" y="209731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5</a:t>
            </a:r>
            <a:endParaRPr lang="zh-CN" altLang="en-US" sz="3200" b="1" baseline="-25000" dirty="0">
              <a:solidFill>
                <a:srgbClr val="C00000"/>
              </a:solidFill>
              <a:latin typeface="微软雅黑" pitchFamily="34" charset="-122"/>
              <a:ea typeface="微软雅黑" pitchFamily="34" charset="-122"/>
            </a:endParaRPr>
          </a:p>
        </p:txBody>
      </p:sp>
      <p:sp>
        <p:nvSpPr>
          <p:cNvPr id="141" name="TextBox 23"/>
          <p:cNvSpPr txBox="1"/>
          <p:nvPr/>
        </p:nvSpPr>
        <p:spPr>
          <a:xfrm>
            <a:off x="5354939" y="20977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3</a:t>
            </a:r>
            <a:endParaRPr lang="zh-CN" altLang="en-US" sz="3200" b="1" baseline="-25000" dirty="0">
              <a:solidFill>
                <a:srgbClr val="C00000"/>
              </a:solidFill>
              <a:latin typeface="微软雅黑" pitchFamily="34" charset="-122"/>
              <a:ea typeface="微软雅黑" pitchFamily="34" charset="-122"/>
            </a:endParaRPr>
          </a:p>
        </p:txBody>
      </p:sp>
      <p:sp>
        <p:nvSpPr>
          <p:cNvPr id="142" name="TextBox 23"/>
          <p:cNvSpPr txBox="1"/>
          <p:nvPr/>
        </p:nvSpPr>
        <p:spPr>
          <a:xfrm>
            <a:off x="7355017" y="20966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7</a:t>
            </a:r>
            <a:endParaRPr lang="zh-CN" altLang="en-US" sz="3200" b="1" baseline="-25000" dirty="0">
              <a:solidFill>
                <a:srgbClr val="C00000"/>
              </a:solidFill>
              <a:latin typeface="微软雅黑" pitchFamily="34" charset="-122"/>
              <a:ea typeface="微软雅黑" pitchFamily="34" charset="-122"/>
            </a:endParaRPr>
          </a:p>
        </p:txBody>
      </p:sp>
      <p:sp>
        <p:nvSpPr>
          <p:cNvPr id="143" name="TextBox 272"/>
          <p:cNvSpPr txBox="1"/>
          <p:nvPr/>
        </p:nvSpPr>
        <p:spPr>
          <a:xfrm>
            <a:off x="8817086" y="5009441"/>
            <a:ext cx="824624" cy="251351"/>
          </a:xfrm>
          <a:prstGeom prst="rect">
            <a:avLst/>
          </a:prstGeom>
          <a:noFill/>
          <a:effectLst/>
        </p:spPr>
        <p:txBody>
          <a:bodyPr wrap="square" tIns="0" rtlCol="0">
            <a:spAutoFit/>
          </a:bodyPr>
          <a:lstStyle/>
          <a:p>
            <a:pPr marL="342900" indent="-342900">
              <a:spcBef>
                <a:spcPct val="20000"/>
              </a:spcBef>
            </a:pPr>
            <a:r>
              <a:rPr lang="en-US" altLang="zh-CN" sz="2000" b="1" baseline="-25000" dirty="0">
                <a:solidFill>
                  <a:srgbClr val="C00000"/>
                </a:solidFill>
                <a:latin typeface="微软雅黑" pitchFamily="34" charset="-122"/>
                <a:ea typeface="微软雅黑" pitchFamily="34" charset="-122"/>
              </a:rPr>
              <a:t> e=5</a:t>
            </a:r>
            <a:endParaRPr lang="zh-CN" altLang="en-US" sz="2000" b="1" baseline="-25000" dirty="0">
              <a:solidFill>
                <a:srgbClr val="C00000"/>
              </a:solidFill>
              <a:latin typeface="微软雅黑" pitchFamily="34" charset="-122"/>
              <a:ea typeface="微软雅黑" pitchFamily="34" charset="-122"/>
            </a:endParaRPr>
          </a:p>
        </p:txBody>
      </p:sp>
      <p:sp>
        <p:nvSpPr>
          <p:cNvPr id="144" name="TextBox 23"/>
          <p:cNvSpPr txBox="1"/>
          <p:nvPr/>
        </p:nvSpPr>
        <p:spPr>
          <a:xfrm>
            <a:off x="7864974" y="20977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8</a:t>
            </a:r>
            <a:endParaRPr lang="zh-CN" altLang="en-US" sz="3200" b="1" baseline="-25000" dirty="0">
              <a:solidFill>
                <a:srgbClr val="C00000"/>
              </a:solidFill>
              <a:latin typeface="微软雅黑" pitchFamily="34" charset="-122"/>
              <a:ea typeface="微软雅黑" pitchFamily="34" charset="-122"/>
            </a:endParaRPr>
          </a:p>
        </p:txBody>
      </p:sp>
      <p:sp>
        <p:nvSpPr>
          <p:cNvPr id="145" name="TextBox 23"/>
          <p:cNvSpPr txBox="1"/>
          <p:nvPr/>
        </p:nvSpPr>
        <p:spPr>
          <a:xfrm>
            <a:off x="6369972" y="209666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5</a:t>
            </a:r>
            <a:endParaRPr lang="zh-CN" altLang="en-US" sz="3200" b="1" baseline="-25000" dirty="0">
              <a:solidFill>
                <a:srgbClr val="C00000"/>
              </a:solidFill>
              <a:latin typeface="微软雅黑" pitchFamily="34" charset="-122"/>
              <a:ea typeface="微软雅黑" pitchFamily="34" charset="-122"/>
            </a:endParaRPr>
          </a:p>
        </p:txBody>
      </p:sp>
      <p:sp>
        <p:nvSpPr>
          <p:cNvPr id="146" name="TextBox 23"/>
          <p:cNvSpPr txBox="1"/>
          <p:nvPr/>
        </p:nvSpPr>
        <p:spPr>
          <a:xfrm>
            <a:off x="8364634" y="209776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9</a:t>
            </a:r>
            <a:endParaRPr lang="zh-CN" altLang="en-US" sz="3200" b="1" baseline="-25000" dirty="0">
              <a:solidFill>
                <a:srgbClr val="C00000"/>
              </a:solidFill>
              <a:latin typeface="微软雅黑" pitchFamily="34" charset="-122"/>
              <a:ea typeface="微软雅黑" pitchFamily="34" charset="-122"/>
            </a:endParaRPr>
          </a:p>
        </p:txBody>
      </p:sp>
      <p:sp>
        <p:nvSpPr>
          <p:cNvPr id="2" name="文本框 1">
            <a:extLst>
              <a:ext uri="{FF2B5EF4-FFF2-40B4-BE49-F238E27FC236}">
                <a16:creationId xmlns:a16="http://schemas.microsoft.com/office/drawing/2014/main" id="{3E87737E-F931-1740-1B1C-67B03DC6AED8}"/>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4" name="标题 8">
            <a:extLst>
              <a:ext uri="{FF2B5EF4-FFF2-40B4-BE49-F238E27FC236}">
                <a16:creationId xmlns:a16="http://schemas.microsoft.com/office/drawing/2014/main" id="{F2F33D4C-3293-58F0-D553-025AE535C090}"/>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最近最久未使用算法 </a:t>
            </a:r>
            <a:r>
              <a:rPr lang="en-US" altLang="zh-CN" b="0" kern="0" dirty="0"/>
              <a:t>(Least Recently Used, LRU)</a:t>
            </a:r>
          </a:p>
        </p:txBody>
      </p:sp>
    </p:spTree>
    <p:extLst>
      <p:ext uri="{BB962C8B-B14F-4D97-AF65-F5344CB8AC3E}">
        <p14:creationId xmlns:p14="http://schemas.microsoft.com/office/powerpoint/2010/main" val="421555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24"/>
                                        </p:tgtEl>
                                        <p:attrNameLst>
                                          <p:attrName>style.visibility</p:attrName>
                                        </p:attrNameLst>
                                      </p:cBhvr>
                                      <p:to>
                                        <p:strVal val="visible"/>
                                      </p:to>
                                    </p:set>
                                  </p:childTnLst>
                                </p:cTn>
                              </p:par>
                              <p:par>
                                <p:cTn id="11" presetID="35" presetClass="emph" presetSubtype="0" repeatCount="indefinite" fill="hold" grpId="1" nodeType="withEffect">
                                  <p:stCondLst>
                                    <p:cond delay="0"/>
                                  </p:stCondLst>
                                  <p:childTnLst>
                                    <p:anim calcmode="discrete" valueType="str">
                                      <p:cBhvr>
                                        <p:cTn id="12" dur="500" fill="hold"/>
                                        <p:tgtEl>
                                          <p:spTgt spid="124"/>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2" nodeType="clickEffect">
                                  <p:stCondLst>
                                    <p:cond delay="0"/>
                                  </p:stCondLst>
                                  <p:childTnLst>
                                    <p:set>
                                      <p:cBhvr>
                                        <p:cTn id="16" dur="1" fill="hold">
                                          <p:stCondLst>
                                            <p:cond delay="0"/>
                                          </p:stCondLst>
                                        </p:cTn>
                                        <p:tgtEl>
                                          <p:spTgt spid="124"/>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25"/>
                                        </p:tgtEl>
                                        <p:attrNameLst>
                                          <p:attrName>style.visibility</p:attrName>
                                        </p:attrNameLst>
                                      </p:cBhvr>
                                      <p:to>
                                        <p:strVal val="visible"/>
                                      </p:to>
                                    </p:set>
                                  </p:childTnLst>
                                </p:cTn>
                              </p:par>
                              <p:par>
                                <p:cTn id="23" presetID="35" presetClass="emph" presetSubtype="0" repeatCount="indefinite" fill="hold" grpId="1" nodeType="withEffect">
                                  <p:stCondLst>
                                    <p:cond delay="0"/>
                                  </p:stCondLst>
                                  <p:childTnLst>
                                    <p:anim calcmode="discrete" valueType="str">
                                      <p:cBhvr>
                                        <p:cTn id="24" dur="500" fill="hold"/>
                                        <p:tgtEl>
                                          <p:spTgt spid="125"/>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2" nodeType="clickEffect">
                                  <p:stCondLst>
                                    <p:cond delay="0"/>
                                  </p:stCondLst>
                                  <p:childTnLst>
                                    <p:set>
                                      <p:cBhvr>
                                        <p:cTn id="28" dur="1" fill="hold">
                                          <p:stCondLst>
                                            <p:cond delay="0"/>
                                          </p:stCondLst>
                                        </p:cTn>
                                        <p:tgtEl>
                                          <p:spTgt spid="125"/>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126"/>
                                        </p:tgtEl>
                                        <p:attrNameLst>
                                          <p:attrName>style.visibility</p:attrName>
                                        </p:attrNameLst>
                                      </p:cBhvr>
                                      <p:to>
                                        <p:strVal val="visible"/>
                                      </p:to>
                                    </p:set>
                                  </p:childTnLst>
                                </p:cTn>
                              </p:par>
                              <p:par>
                                <p:cTn id="35" presetID="35" presetClass="emph" presetSubtype="0" repeatCount="indefinite" fill="hold" grpId="1" nodeType="withEffect">
                                  <p:stCondLst>
                                    <p:cond delay="0"/>
                                  </p:stCondLst>
                                  <p:childTnLst>
                                    <p:anim calcmode="discrete" valueType="str">
                                      <p:cBhvr>
                                        <p:cTn id="36" dur="500" fill="hold"/>
                                        <p:tgtEl>
                                          <p:spTgt spid="126"/>
                                        </p:tgtEl>
                                        <p:attrNameLst>
                                          <p:attrName>style.visibility</p:attrName>
                                        </p:attrNameLst>
                                      </p:cBhvr>
                                      <p:tavLst>
                                        <p:tav tm="0">
                                          <p:val>
                                            <p:strVal val="hidden"/>
                                          </p:val>
                                        </p:tav>
                                        <p:tav tm="50000">
                                          <p:val>
                                            <p:strVal val="visible"/>
                                          </p:val>
                                        </p:tav>
                                      </p:tavLst>
                                    </p:anim>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2" nodeType="clickEffect">
                                  <p:stCondLst>
                                    <p:cond delay="0"/>
                                  </p:stCondLst>
                                  <p:childTnLst>
                                    <p:set>
                                      <p:cBhvr>
                                        <p:cTn id="40" dur="1" fill="hold">
                                          <p:stCondLst>
                                            <p:cond delay="0"/>
                                          </p:stCondLst>
                                        </p:cTn>
                                        <p:tgtEl>
                                          <p:spTgt spid="126"/>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27"/>
                                        </p:tgtEl>
                                        <p:attrNameLst>
                                          <p:attrName>style.visibility</p:attrName>
                                        </p:attrNameLst>
                                      </p:cBhvr>
                                      <p:to>
                                        <p:strVal val="visible"/>
                                      </p:to>
                                    </p:set>
                                  </p:childTnLst>
                                </p:cTn>
                              </p:par>
                              <p:par>
                                <p:cTn id="47" presetID="35" presetClass="emph" presetSubtype="0" repeatCount="indefinite" fill="hold" grpId="1" nodeType="withEffect">
                                  <p:stCondLst>
                                    <p:cond delay="0"/>
                                  </p:stCondLst>
                                  <p:childTnLst>
                                    <p:anim calcmode="discrete" valueType="str">
                                      <p:cBhvr>
                                        <p:cTn id="48" dur="500" fill="hold"/>
                                        <p:tgtEl>
                                          <p:spTgt spid="127"/>
                                        </p:tgtEl>
                                        <p:attrNameLst>
                                          <p:attrName>style.visibility</p:attrName>
                                        </p:attrNameLst>
                                      </p:cBhvr>
                                      <p:tavLst>
                                        <p:tav tm="0">
                                          <p:val>
                                            <p:strVal val="hidden"/>
                                          </p:val>
                                        </p:tav>
                                        <p:tav tm="50000">
                                          <p:val>
                                            <p:strVal val="visible"/>
                                          </p:val>
                                        </p:tav>
                                      </p:tavLst>
                                    </p:anim>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2" nodeType="clickEffect">
                                  <p:stCondLst>
                                    <p:cond delay="0"/>
                                  </p:stCondLst>
                                  <p:childTnLst>
                                    <p:set>
                                      <p:cBhvr>
                                        <p:cTn id="52" dur="1" fill="hold">
                                          <p:stCondLst>
                                            <p:cond delay="0"/>
                                          </p:stCondLst>
                                        </p:cTn>
                                        <p:tgtEl>
                                          <p:spTgt spid="127"/>
                                        </p:tgtEl>
                                        <p:attrNameLst>
                                          <p:attrName>style.visibility</p:attrName>
                                        </p:attrNameLst>
                                      </p:cBhvr>
                                      <p:to>
                                        <p:strVal val="hidden"/>
                                      </p:to>
                                    </p:set>
                                  </p:childTnLst>
                                </p:cTn>
                              </p:par>
                              <p:par>
                                <p:cTn id="53" presetID="10" presetClass="entr" presetSubtype="0" fill="hold" nodeType="with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fade">
                                      <p:cBhvr>
                                        <p:cTn id="55" dur="500"/>
                                        <p:tgtEl>
                                          <p:spTgt spid="3"/>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53"/>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grpId="0" nodeType="afterEffect">
                                  <p:stCondLst>
                                    <p:cond delay="0"/>
                                  </p:stCondLst>
                                  <p:childTnLst>
                                    <p:set>
                                      <p:cBhvr>
                                        <p:cTn id="62" dur="1" fill="hold">
                                          <p:stCondLst>
                                            <p:cond delay="0"/>
                                          </p:stCondLst>
                                        </p:cTn>
                                        <p:tgtEl>
                                          <p:spTgt spid="128"/>
                                        </p:tgtEl>
                                        <p:attrNameLst>
                                          <p:attrName>style.visibility</p:attrName>
                                        </p:attrNameLst>
                                      </p:cBhvr>
                                      <p:to>
                                        <p:strVal val="visible"/>
                                      </p:to>
                                    </p:set>
                                  </p:childTnLst>
                                </p:cTn>
                              </p:par>
                              <p:par>
                                <p:cTn id="63" presetID="35" presetClass="emph" presetSubtype="0" repeatCount="indefinite" fill="hold" grpId="1" nodeType="withEffect">
                                  <p:stCondLst>
                                    <p:cond delay="0"/>
                                  </p:stCondLst>
                                  <p:endCondLst>
                                    <p:cond evt="onNext" delay="0">
                                      <p:tgtEl>
                                        <p:sldTgt/>
                                      </p:tgtEl>
                                    </p:cond>
                                  </p:endCondLst>
                                  <p:childTnLst>
                                    <p:anim calcmode="discrete" valueType="str">
                                      <p:cBhvr>
                                        <p:cTn id="64" dur="500" fill="hold"/>
                                        <p:tgtEl>
                                          <p:spTgt spid="128"/>
                                        </p:tgtEl>
                                        <p:attrNameLst>
                                          <p:attrName>style.visibility</p:attrName>
                                        </p:attrNameLst>
                                      </p:cBhvr>
                                      <p:tavLst>
                                        <p:tav tm="0">
                                          <p:val>
                                            <p:strVal val="hidden"/>
                                          </p:val>
                                        </p:tav>
                                        <p:tav tm="50000">
                                          <p:val>
                                            <p:strVal val="visible"/>
                                          </p:val>
                                        </p:tav>
                                      </p:tavLst>
                                    </p:anim>
                                  </p:childTnLst>
                                </p:cTn>
                              </p:par>
                            </p:childTnLst>
                          </p:cTn>
                        </p:par>
                      </p:childTnLst>
                    </p:cTn>
                  </p:par>
                  <p:par>
                    <p:cTn id="65" fill="hold">
                      <p:stCondLst>
                        <p:cond delay="indefinite"/>
                      </p:stCondLst>
                      <p:childTnLst>
                        <p:par>
                          <p:cTn id="66" fill="hold">
                            <p:stCondLst>
                              <p:cond delay="0"/>
                            </p:stCondLst>
                            <p:childTnLst>
                              <p:par>
                                <p:cTn id="67" presetID="1" presetClass="exit" presetSubtype="0" fill="hold" grpId="2" nodeType="clickEffect">
                                  <p:stCondLst>
                                    <p:cond delay="0"/>
                                  </p:stCondLst>
                                  <p:childTnLst>
                                    <p:set>
                                      <p:cBhvr>
                                        <p:cTn id="68" dur="1" fill="hold">
                                          <p:stCondLst>
                                            <p:cond delay="0"/>
                                          </p:stCondLst>
                                        </p:cTn>
                                        <p:tgtEl>
                                          <p:spTgt spid="128"/>
                                        </p:tgtEl>
                                        <p:attrNameLst>
                                          <p:attrName>style.visibility</p:attrName>
                                        </p:attrNameLst>
                                      </p:cBhvr>
                                      <p:to>
                                        <p:strVal val="hidden"/>
                                      </p:to>
                                    </p:set>
                                  </p:childTnLst>
                                </p:cTn>
                              </p:par>
                              <p:par>
                                <p:cTn id="69" presetID="10" presetClass="entr" presetSubtype="0" fill="hold" grpId="0" nodeType="withEffect">
                                  <p:stCondLst>
                                    <p:cond delay="0"/>
                                  </p:stCondLst>
                                  <p:childTnLst>
                                    <p:set>
                                      <p:cBhvr>
                                        <p:cTn id="70" dur="1" fill="hold">
                                          <p:stCondLst>
                                            <p:cond delay="0"/>
                                          </p:stCondLst>
                                        </p:cTn>
                                        <p:tgtEl>
                                          <p:spTgt spid="254"/>
                                        </p:tgtEl>
                                        <p:attrNameLst>
                                          <p:attrName>style.visibility</p:attrName>
                                        </p:attrNameLst>
                                      </p:cBhvr>
                                      <p:to>
                                        <p:strVal val="visible"/>
                                      </p:to>
                                    </p:set>
                                    <p:animEffect transition="in" filter="fade">
                                      <p:cBhvr>
                                        <p:cTn id="71" dur="500"/>
                                        <p:tgtEl>
                                          <p:spTgt spid="254"/>
                                        </p:tgtEl>
                                      </p:cBhvr>
                                    </p:animEffect>
                                  </p:childTnLst>
                                </p:cTn>
                              </p:par>
                            </p:childTnLst>
                          </p:cTn>
                        </p:par>
                        <p:par>
                          <p:cTn id="72" fill="hold">
                            <p:stCondLst>
                              <p:cond delay="500"/>
                            </p:stCondLst>
                            <p:childTnLst>
                              <p:par>
                                <p:cTn id="73" presetID="1" presetClass="entr" presetSubtype="0" fill="hold" grpId="0" nodeType="afterEffect">
                                  <p:stCondLst>
                                    <p:cond delay="0"/>
                                  </p:stCondLst>
                                  <p:childTnLst>
                                    <p:set>
                                      <p:cBhvr>
                                        <p:cTn id="74" dur="1" fill="hold">
                                          <p:stCondLst>
                                            <p:cond delay="0"/>
                                          </p:stCondLst>
                                        </p:cTn>
                                        <p:tgtEl>
                                          <p:spTgt spid="129"/>
                                        </p:tgtEl>
                                        <p:attrNameLst>
                                          <p:attrName>style.visibility</p:attrName>
                                        </p:attrNameLst>
                                      </p:cBhvr>
                                      <p:to>
                                        <p:strVal val="visible"/>
                                      </p:to>
                                    </p:set>
                                  </p:childTnLst>
                                </p:cTn>
                              </p:par>
                              <p:par>
                                <p:cTn id="75" presetID="35" presetClass="emph" presetSubtype="0" repeatCount="indefinite" fill="hold" grpId="1" nodeType="withEffect">
                                  <p:stCondLst>
                                    <p:cond delay="0"/>
                                  </p:stCondLst>
                                  <p:endCondLst>
                                    <p:cond evt="onNext" delay="0">
                                      <p:tgtEl>
                                        <p:sldTgt/>
                                      </p:tgtEl>
                                    </p:cond>
                                  </p:endCondLst>
                                  <p:childTnLst>
                                    <p:anim calcmode="discrete" valueType="str">
                                      <p:cBhvr>
                                        <p:cTn id="76" dur="500" fill="hold"/>
                                        <p:tgtEl>
                                          <p:spTgt spid="129"/>
                                        </p:tgtEl>
                                        <p:attrNameLst>
                                          <p:attrName>style.visibility</p:attrName>
                                        </p:attrNameLst>
                                      </p:cBhvr>
                                      <p:tavLst>
                                        <p:tav tm="0">
                                          <p:val>
                                            <p:strVal val="hidden"/>
                                          </p:val>
                                        </p:tav>
                                        <p:tav tm="50000">
                                          <p:val>
                                            <p:strVal val="visible"/>
                                          </p:val>
                                        </p:tav>
                                      </p:tavLst>
                                    </p:anim>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2" nodeType="clickEffect">
                                  <p:stCondLst>
                                    <p:cond delay="0"/>
                                  </p:stCondLst>
                                  <p:childTnLst>
                                    <p:set>
                                      <p:cBhvr>
                                        <p:cTn id="80" dur="1" fill="hold">
                                          <p:stCondLst>
                                            <p:cond delay="0"/>
                                          </p:stCondLst>
                                        </p:cTn>
                                        <p:tgtEl>
                                          <p:spTgt spid="129"/>
                                        </p:tgtEl>
                                        <p:attrNameLst>
                                          <p:attrName>style.visibility</p:attrName>
                                        </p:attrNameLst>
                                      </p:cBhvr>
                                      <p:to>
                                        <p:strVal val="hidden"/>
                                      </p:to>
                                    </p:set>
                                  </p:childTnLst>
                                </p:cTn>
                              </p:par>
                              <p:par>
                                <p:cTn id="81" presetID="10" presetClass="entr" presetSubtype="0" fill="hold" grpId="0" nodeType="withEffect">
                                  <p:stCondLst>
                                    <p:cond delay="0"/>
                                  </p:stCondLst>
                                  <p:childTnLst>
                                    <p:set>
                                      <p:cBhvr>
                                        <p:cTn id="82" dur="1" fill="hold">
                                          <p:stCondLst>
                                            <p:cond delay="0"/>
                                          </p:stCondLst>
                                        </p:cTn>
                                        <p:tgtEl>
                                          <p:spTgt spid="255"/>
                                        </p:tgtEl>
                                        <p:attrNameLst>
                                          <p:attrName>style.visibility</p:attrName>
                                        </p:attrNameLst>
                                      </p:cBhvr>
                                      <p:to>
                                        <p:strVal val="visible"/>
                                      </p:to>
                                    </p:set>
                                    <p:animEffect transition="in" filter="fade">
                                      <p:cBhvr>
                                        <p:cTn id="83" dur="500"/>
                                        <p:tgtEl>
                                          <p:spTgt spid="255"/>
                                        </p:tgtEl>
                                      </p:cBhvr>
                                    </p:animEffect>
                                  </p:childTnLst>
                                </p:cTn>
                              </p:par>
                            </p:childTnLst>
                          </p:cTn>
                        </p:par>
                        <p:par>
                          <p:cTn id="84" fill="hold">
                            <p:stCondLst>
                              <p:cond delay="500"/>
                            </p:stCondLst>
                            <p:childTnLst>
                              <p:par>
                                <p:cTn id="85" presetID="1" presetClass="entr" presetSubtype="0" fill="hold" grpId="0" nodeType="afterEffect">
                                  <p:stCondLst>
                                    <p:cond delay="0"/>
                                  </p:stCondLst>
                                  <p:childTnLst>
                                    <p:set>
                                      <p:cBhvr>
                                        <p:cTn id="86" dur="1" fill="hold">
                                          <p:stCondLst>
                                            <p:cond delay="0"/>
                                          </p:stCondLst>
                                        </p:cTn>
                                        <p:tgtEl>
                                          <p:spTgt spid="131"/>
                                        </p:tgtEl>
                                        <p:attrNameLst>
                                          <p:attrName>style.visibility</p:attrName>
                                        </p:attrNameLst>
                                      </p:cBhvr>
                                      <p:to>
                                        <p:strVal val="visible"/>
                                      </p:to>
                                    </p:set>
                                  </p:childTnLst>
                                </p:cTn>
                              </p:par>
                              <p:par>
                                <p:cTn id="87" presetID="35" presetClass="emph" presetSubtype="0" repeatCount="indefinite" fill="hold" grpId="1" nodeType="withEffect">
                                  <p:stCondLst>
                                    <p:cond delay="0"/>
                                  </p:stCondLst>
                                  <p:endCondLst>
                                    <p:cond evt="onNext" delay="0">
                                      <p:tgtEl>
                                        <p:sldTgt/>
                                      </p:tgtEl>
                                    </p:cond>
                                  </p:endCondLst>
                                  <p:childTnLst>
                                    <p:anim calcmode="discrete" valueType="str">
                                      <p:cBhvr>
                                        <p:cTn id="88" dur="500" fill="hold"/>
                                        <p:tgtEl>
                                          <p:spTgt spid="131"/>
                                        </p:tgtEl>
                                        <p:attrNameLst>
                                          <p:attrName>style.visibility</p:attrName>
                                        </p:attrNameLst>
                                      </p:cBhvr>
                                      <p:tavLst>
                                        <p:tav tm="0">
                                          <p:val>
                                            <p:strVal val="hidden"/>
                                          </p:val>
                                        </p:tav>
                                        <p:tav tm="50000">
                                          <p:val>
                                            <p:strVal val="visible"/>
                                          </p:val>
                                        </p:tav>
                                      </p:tavLst>
                                    </p:anim>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2" nodeType="clickEffect">
                                  <p:stCondLst>
                                    <p:cond delay="0"/>
                                  </p:stCondLst>
                                  <p:childTnLst>
                                    <p:set>
                                      <p:cBhvr>
                                        <p:cTn id="92" dur="1" fill="hold">
                                          <p:stCondLst>
                                            <p:cond delay="0"/>
                                          </p:stCondLst>
                                        </p:cTn>
                                        <p:tgtEl>
                                          <p:spTgt spid="131"/>
                                        </p:tgtEl>
                                        <p:attrNameLst>
                                          <p:attrName>style.visibility</p:attrName>
                                        </p:attrNameLst>
                                      </p:cBhvr>
                                      <p:to>
                                        <p:strVal val="hidden"/>
                                      </p:to>
                                    </p:set>
                                  </p:childTnLst>
                                </p:cTn>
                              </p:par>
                              <p:par>
                                <p:cTn id="93" presetID="10" presetClass="entr" presetSubtype="0" fill="hold" grpId="0" nodeType="withEffect">
                                  <p:stCondLst>
                                    <p:cond delay="0"/>
                                  </p:stCondLst>
                                  <p:childTnLst>
                                    <p:set>
                                      <p:cBhvr>
                                        <p:cTn id="94" dur="1" fill="hold">
                                          <p:stCondLst>
                                            <p:cond delay="0"/>
                                          </p:stCondLst>
                                        </p:cTn>
                                        <p:tgtEl>
                                          <p:spTgt spid="256"/>
                                        </p:tgtEl>
                                        <p:attrNameLst>
                                          <p:attrName>style.visibility</p:attrName>
                                        </p:attrNameLst>
                                      </p:cBhvr>
                                      <p:to>
                                        <p:strVal val="visible"/>
                                      </p:to>
                                    </p:set>
                                    <p:animEffect transition="in" filter="fade">
                                      <p:cBhvr>
                                        <p:cTn id="95" dur="500"/>
                                        <p:tgtEl>
                                          <p:spTgt spid="256"/>
                                        </p:tgtEl>
                                      </p:cBhvr>
                                    </p:animEffect>
                                  </p:childTnLst>
                                </p:cTn>
                              </p:par>
                            </p:childTnLst>
                          </p:cTn>
                        </p:par>
                        <p:par>
                          <p:cTn id="96" fill="hold">
                            <p:stCondLst>
                              <p:cond delay="500"/>
                            </p:stCondLst>
                            <p:childTnLst>
                              <p:par>
                                <p:cTn id="97" presetID="1" presetClass="entr" presetSubtype="0" fill="hold" grpId="0" nodeType="afterEffect">
                                  <p:stCondLst>
                                    <p:cond delay="0"/>
                                  </p:stCondLst>
                                  <p:childTnLst>
                                    <p:set>
                                      <p:cBhvr>
                                        <p:cTn id="98" dur="1" fill="hold">
                                          <p:stCondLst>
                                            <p:cond delay="0"/>
                                          </p:stCondLst>
                                        </p:cTn>
                                        <p:tgtEl>
                                          <p:spTgt spid="133"/>
                                        </p:tgtEl>
                                        <p:attrNameLst>
                                          <p:attrName>style.visibility</p:attrName>
                                        </p:attrNameLst>
                                      </p:cBhvr>
                                      <p:to>
                                        <p:strVal val="visible"/>
                                      </p:to>
                                    </p:set>
                                  </p:childTnLst>
                                </p:cTn>
                              </p:par>
                              <p:par>
                                <p:cTn id="99" presetID="35" presetClass="emph" presetSubtype="0" repeatCount="indefinite" fill="hold" grpId="1" nodeType="withEffect">
                                  <p:stCondLst>
                                    <p:cond delay="0"/>
                                  </p:stCondLst>
                                  <p:endCondLst>
                                    <p:cond evt="onNext" delay="0">
                                      <p:tgtEl>
                                        <p:sldTgt/>
                                      </p:tgtEl>
                                    </p:cond>
                                  </p:endCondLst>
                                  <p:childTnLst>
                                    <p:anim calcmode="discrete" valueType="str">
                                      <p:cBhvr>
                                        <p:cTn id="100" dur="500" fill="hold"/>
                                        <p:tgtEl>
                                          <p:spTgt spid="133"/>
                                        </p:tgtEl>
                                        <p:attrNameLst>
                                          <p:attrName>style.visibility</p:attrName>
                                        </p:attrNameLst>
                                      </p:cBhvr>
                                      <p:tavLst>
                                        <p:tav tm="0">
                                          <p:val>
                                            <p:strVal val="hidden"/>
                                          </p:val>
                                        </p:tav>
                                        <p:tav tm="50000">
                                          <p:val>
                                            <p:strVal val="visible"/>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grpId="2" nodeType="clickEffect">
                                  <p:stCondLst>
                                    <p:cond delay="0"/>
                                  </p:stCondLst>
                                  <p:childTnLst>
                                    <p:set>
                                      <p:cBhvr>
                                        <p:cTn id="104" dur="1" fill="hold">
                                          <p:stCondLst>
                                            <p:cond delay="0"/>
                                          </p:stCondLst>
                                        </p:cTn>
                                        <p:tgtEl>
                                          <p:spTgt spid="133"/>
                                        </p:tgtEl>
                                        <p:attrNameLst>
                                          <p:attrName>style.visibility</p:attrName>
                                        </p:attrNameLst>
                                      </p:cBhvr>
                                      <p:to>
                                        <p:strVal val="hidden"/>
                                      </p:to>
                                    </p:set>
                                  </p:childTnLst>
                                </p:cTn>
                              </p:par>
                              <p:par>
                                <p:cTn id="105" presetID="10" presetClass="entr" presetSubtype="0" fill="hold" grpId="0" nodeType="withEffect">
                                  <p:stCondLst>
                                    <p:cond delay="0"/>
                                  </p:stCondLst>
                                  <p:childTnLst>
                                    <p:set>
                                      <p:cBhvr>
                                        <p:cTn id="106" dur="1" fill="hold">
                                          <p:stCondLst>
                                            <p:cond delay="0"/>
                                          </p:stCondLst>
                                        </p:cTn>
                                        <p:tgtEl>
                                          <p:spTgt spid="130"/>
                                        </p:tgtEl>
                                        <p:attrNameLst>
                                          <p:attrName>style.visibility</p:attrName>
                                        </p:attrNameLst>
                                      </p:cBhvr>
                                      <p:to>
                                        <p:strVal val="visible"/>
                                      </p:to>
                                    </p:set>
                                    <p:animEffect transition="in" filter="fade">
                                      <p:cBhvr>
                                        <p:cTn id="107" dur="500"/>
                                        <p:tgtEl>
                                          <p:spTgt spid="130"/>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5"/>
                                        </p:tgtEl>
                                        <p:attrNameLst>
                                          <p:attrName>style.visibility</p:attrName>
                                        </p:attrNameLst>
                                      </p:cBhvr>
                                      <p:to>
                                        <p:strVal val="visible"/>
                                      </p:to>
                                    </p:set>
                                    <p:animEffect transition="in" filter="fade">
                                      <p:cBhvr>
                                        <p:cTn id="112" dur="500"/>
                                        <p:tgtEl>
                                          <p:spTgt spid="5"/>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7"/>
                                        </p:tgtEl>
                                        <p:attrNameLst>
                                          <p:attrName>style.visibility</p:attrName>
                                        </p:attrNameLst>
                                      </p:cBhvr>
                                      <p:to>
                                        <p:strVal val="visible"/>
                                      </p:to>
                                    </p:set>
                                    <p:animEffect transition="in" filter="fade">
                                      <p:cBhvr>
                                        <p:cTn id="117" dur="500"/>
                                        <p:tgtEl>
                                          <p:spTgt spid="17"/>
                                        </p:tgtEl>
                                      </p:cBhvr>
                                    </p:animEffect>
                                  </p:childTnLst>
                                </p:cTn>
                              </p:par>
                            </p:childTnLst>
                          </p:cTn>
                        </p:par>
                        <p:par>
                          <p:cTn id="118" fill="hold">
                            <p:stCondLst>
                              <p:cond delay="500"/>
                            </p:stCondLst>
                            <p:childTnLst>
                              <p:par>
                                <p:cTn id="119" presetID="1" presetClass="entr" presetSubtype="0" fill="hold" grpId="0" nodeType="afterEffect">
                                  <p:stCondLst>
                                    <p:cond delay="0"/>
                                  </p:stCondLst>
                                  <p:childTnLst>
                                    <p:set>
                                      <p:cBhvr>
                                        <p:cTn id="120" dur="1" fill="hold">
                                          <p:stCondLst>
                                            <p:cond delay="0"/>
                                          </p:stCondLst>
                                        </p:cTn>
                                        <p:tgtEl>
                                          <p:spTgt spid="134"/>
                                        </p:tgtEl>
                                        <p:attrNameLst>
                                          <p:attrName>style.visibility</p:attrName>
                                        </p:attrNameLst>
                                      </p:cBhvr>
                                      <p:to>
                                        <p:strVal val="visible"/>
                                      </p:to>
                                    </p:set>
                                  </p:childTnLst>
                                </p:cTn>
                              </p:par>
                              <p:par>
                                <p:cTn id="121" presetID="35" presetClass="emph" presetSubtype="0" repeatCount="indefinite" fill="hold" grpId="1" nodeType="withEffect">
                                  <p:stCondLst>
                                    <p:cond delay="0"/>
                                  </p:stCondLst>
                                  <p:childTnLst>
                                    <p:anim calcmode="discrete" valueType="str">
                                      <p:cBhvr>
                                        <p:cTn id="122" dur="500" fill="hold"/>
                                        <p:tgtEl>
                                          <p:spTgt spid="134"/>
                                        </p:tgtEl>
                                        <p:attrNameLst>
                                          <p:attrName>style.visibility</p:attrName>
                                        </p:attrNameLst>
                                      </p:cBhvr>
                                      <p:tavLst>
                                        <p:tav tm="0">
                                          <p:val>
                                            <p:strVal val="hidden"/>
                                          </p:val>
                                        </p:tav>
                                        <p:tav tm="50000">
                                          <p:val>
                                            <p:strVal val="visible"/>
                                          </p:val>
                                        </p:tav>
                                      </p:tavLst>
                                    </p:anim>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2" nodeType="clickEffect">
                                  <p:stCondLst>
                                    <p:cond delay="0"/>
                                  </p:stCondLst>
                                  <p:childTnLst>
                                    <p:set>
                                      <p:cBhvr>
                                        <p:cTn id="126" dur="1" fill="hold">
                                          <p:stCondLst>
                                            <p:cond delay="0"/>
                                          </p:stCondLst>
                                        </p:cTn>
                                        <p:tgtEl>
                                          <p:spTgt spid="134"/>
                                        </p:tgtEl>
                                        <p:attrNameLst>
                                          <p:attrName>style.visibility</p:attrName>
                                        </p:attrNameLst>
                                      </p:cBhvr>
                                      <p:to>
                                        <p:strVal val="hidden"/>
                                      </p:to>
                                    </p:set>
                                  </p:childTnLst>
                                </p:cTn>
                              </p:par>
                              <p:par>
                                <p:cTn id="127" presetID="10" presetClass="entr" presetSubtype="0" fill="hold" nodeType="withEffect">
                                  <p:stCondLst>
                                    <p:cond delay="0"/>
                                  </p:stCondLst>
                                  <p:childTnLst>
                                    <p:set>
                                      <p:cBhvr>
                                        <p:cTn id="128" dur="1" fill="hold">
                                          <p:stCondLst>
                                            <p:cond delay="0"/>
                                          </p:stCondLst>
                                        </p:cTn>
                                        <p:tgtEl>
                                          <p:spTgt spid="18"/>
                                        </p:tgtEl>
                                        <p:attrNameLst>
                                          <p:attrName>style.visibility</p:attrName>
                                        </p:attrNameLst>
                                      </p:cBhvr>
                                      <p:to>
                                        <p:strVal val="visible"/>
                                      </p:to>
                                    </p:set>
                                    <p:animEffect transition="in" filter="fade">
                                      <p:cBhvr>
                                        <p:cTn id="129" dur="500"/>
                                        <p:tgtEl>
                                          <p:spTgt spid="18"/>
                                        </p:tgtEl>
                                      </p:cBhvr>
                                    </p:animEffect>
                                  </p:childTnLst>
                                </p:cTn>
                              </p:par>
                            </p:childTnLst>
                          </p:cTn>
                        </p:par>
                        <p:par>
                          <p:cTn id="130" fill="hold">
                            <p:stCondLst>
                              <p:cond delay="500"/>
                            </p:stCondLst>
                            <p:childTnLst>
                              <p:par>
                                <p:cTn id="131" presetID="1" presetClass="entr" presetSubtype="0" fill="hold" grpId="0" nodeType="afterEffect">
                                  <p:stCondLst>
                                    <p:cond delay="0"/>
                                  </p:stCondLst>
                                  <p:childTnLst>
                                    <p:set>
                                      <p:cBhvr>
                                        <p:cTn id="132" dur="1" fill="hold">
                                          <p:stCondLst>
                                            <p:cond delay="0"/>
                                          </p:stCondLst>
                                        </p:cTn>
                                        <p:tgtEl>
                                          <p:spTgt spid="135"/>
                                        </p:tgtEl>
                                        <p:attrNameLst>
                                          <p:attrName>style.visibility</p:attrName>
                                        </p:attrNameLst>
                                      </p:cBhvr>
                                      <p:to>
                                        <p:strVal val="visible"/>
                                      </p:to>
                                    </p:set>
                                  </p:childTnLst>
                                </p:cTn>
                              </p:par>
                              <p:par>
                                <p:cTn id="133" presetID="35" presetClass="emph" presetSubtype="0" repeatCount="indefinite" fill="hold" grpId="1" nodeType="withEffect">
                                  <p:stCondLst>
                                    <p:cond delay="0"/>
                                  </p:stCondLst>
                                  <p:childTnLst>
                                    <p:anim calcmode="discrete" valueType="str">
                                      <p:cBhvr>
                                        <p:cTn id="134" dur="500" fill="hold"/>
                                        <p:tgtEl>
                                          <p:spTgt spid="135"/>
                                        </p:tgtEl>
                                        <p:attrNameLst>
                                          <p:attrName>style.visibility</p:attrName>
                                        </p:attrNameLst>
                                      </p:cBhvr>
                                      <p:tavLst>
                                        <p:tav tm="0">
                                          <p:val>
                                            <p:strVal val="hidden"/>
                                          </p:val>
                                        </p:tav>
                                        <p:tav tm="50000">
                                          <p:val>
                                            <p:strVal val="visible"/>
                                          </p:val>
                                        </p:tav>
                                      </p:tavLst>
                                    </p:anim>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2" nodeType="clickEffect">
                                  <p:stCondLst>
                                    <p:cond delay="0"/>
                                  </p:stCondLst>
                                  <p:childTnLst>
                                    <p:set>
                                      <p:cBhvr>
                                        <p:cTn id="138" dur="1" fill="hold">
                                          <p:stCondLst>
                                            <p:cond delay="0"/>
                                          </p:stCondLst>
                                        </p:cTn>
                                        <p:tgtEl>
                                          <p:spTgt spid="135"/>
                                        </p:tgtEl>
                                        <p:attrNameLst>
                                          <p:attrName>style.visibility</p:attrName>
                                        </p:attrNameLst>
                                      </p:cBhvr>
                                      <p:to>
                                        <p:strVal val="hidden"/>
                                      </p:to>
                                    </p:set>
                                  </p:childTnLst>
                                </p:cTn>
                              </p:par>
                              <p:par>
                                <p:cTn id="139" presetID="10" presetClass="entr" presetSubtype="0" fill="hold" nodeType="withEffect">
                                  <p:stCondLst>
                                    <p:cond delay="0"/>
                                  </p:stCondLst>
                                  <p:childTnLst>
                                    <p:set>
                                      <p:cBhvr>
                                        <p:cTn id="140" dur="1" fill="hold">
                                          <p:stCondLst>
                                            <p:cond delay="0"/>
                                          </p:stCondLst>
                                        </p:cTn>
                                        <p:tgtEl>
                                          <p:spTgt spid="19"/>
                                        </p:tgtEl>
                                        <p:attrNameLst>
                                          <p:attrName>style.visibility</p:attrName>
                                        </p:attrNameLst>
                                      </p:cBhvr>
                                      <p:to>
                                        <p:strVal val="visible"/>
                                      </p:to>
                                    </p:set>
                                    <p:animEffect transition="in" filter="fade">
                                      <p:cBhvr>
                                        <p:cTn id="141" dur="500"/>
                                        <p:tgtEl>
                                          <p:spTgt spid="19"/>
                                        </p:tgtEl>
                                      </p:cBhvr>
                                    </p:animEffect>
                                  </p:childTnLst>
                                </p:cTn>
                              </p:par>
                            </p:childTnLst>
                          </p:cTn>
                        </p:par>
                        <p:par>
                          <p:cTn id="142" fill="hold">
                            <p:stCondLst>
                              <p:cond delay="500"/>
                            </p:stCondLst>
                            <p:childTnLst>
                              <p:par>
                                <p:cTn id="143" presetID="1" presetClass="entr" presetSubtype="0" fill="hold" grpId="0" nodeType="afterEffect">
                                  <p:stCondLst>
                                    <p:cond delay="0"/>
                                  </p:stCondLst>
                                  <p:childTnLst>
                                    <p:set>
                                      <p:cBhvr>
                                        <p:cTn id="144" dur="1" fill="hold">
                                          <p:stCondLst>
                                            <p:cond delay="0"/>
                                          </p:stCondLst>
                                        </p:cTn>
                                        <p:tgtEl>
                                          <p:spTgt spid="136"/>
                                        </p:tgtEl>
                                        <p:attrNameLst>
                                          <p:attrName>style.visibility</p:attrName>
                                        </p:attrNameLst>
                                      </p:cBhvr>
                                      <p:to>
                                        <p:strVal val="visible"/>
                                      </p:to>
                                    </p:set>
                                  </p:childTnLst>
                                </p:cTn>
                              </p:par>
                              <p:par>
                                <p:cTn id="145" presetID="35" presetClass="emph" presetSubtype="0" repeatCount="indefinite" fill="hold" grpId="1" nodeType="withEffect">
                                  <p:stCondLst>
                                    <p:cond delay="0"/>
                                  </p:stCondLst>
                                  <p:childTnLst>
                                    <p:anim calcmode="discrete" valueType="str">
                                      <p:cBhvr>
                                        <p:cTn id="146" dur="500" fill="hold"/>
                                        <p:tgtEl>
                                          <p:spTgt spid="136"/>
                                        </p:tgtEl>
                                        <p:attrNameLst>
                                          <p:attrName>style.visibility</p:attrName>
                                        </p:attrNameLst>
                                      </p:cBhvr>
                                      <p:tavLst>
                                        <p:tav tm="0">
                                          <p:val>
                                            <p:strVal val="hidden"/>
                                          </p:val>
                                        </p:tav>
                                        <p:tav tm="50000">
                                          <p:val>
                                            <p:strVal val="visible"/>
                                          </p:val>
                                        </p:tav>
                                      </p:tavLst>
                                    </p:anim>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2" nodeType="clickEffect">
                                  <p:stCondLst>
                                    <p:cond delay="0"/>
                                  </p:stCondLst>
                                  <p:childTnLst>
                                    <p:set>
                                      <p:cBhvr>
                                        <p:cTn id="150" dur="1" fill="hold">
                                          <p:stCondLst>
                                            <p:cond delay="0"/>
                                          </p:stCondLst>
                                        </p:cTn>
                                        <p:tgtEl>
                                          <p:spTgt spid="136"/>
                                        </p:tgtEl>
                                        <p:attrNameLst>
                                          <p:attrName>style.visibility</p:attrName>
                                        </p:attrNameLst>
                                      </p:cBhvr>
                                      <p:to>
                                        <p:strVal val="hidden"/>
                                      </p:to>
                                    </p:set>
                                  </p:childTnLst>
                                </p:cTn>
                              </p:par>
                              <p:par>
                                <p:cTn id="151" presetID="10" presetClass="entr" presetSubtype="0" fill="hold" nodeType="withEffect">
                                  <p:stCondLst>
                                    <p:cond delay="0"/>
                                  </p:stCondLst>
                                  <p:childTnLst>
                                    <p:set>
                                      <p:cBhvr>
                                        <p:cTn id="152" dur="1" fill="hold">
                                          <p:stCondLst>
                                            <p:cond delay="0"/>
                                          </p:stCondLst>
                                        </p:cTn>
                                        <p:tgtEl>
                                          <p:spTgt spid="6"/>
                                        </p:tgtEl>
                                        <p:attrNameLst>
                                          <p:attrName>style.visibility</p:attrName>
                                        </p:attrNameLst>
                                      </p:cBhvr>
                                      <p:to>
                                        <p:strVal val="visible"/>
                                      </p:to>
                                    </p:set>
                                    <p:animEffect transition="in" filter="fade">
                                      <p:cBhvr>
                                        <p:cTn id="153" dur="500"/>
                                        <p:tgtEl>
                                          <p:spTgt spid="6"/>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267"/>
                                        </p:tgtEl>
                                        <p:attrNameLst>
                                          <p:attrName>style.visibility</p:attrName>
                                        </p:attrNameLst>
                                      </p:cBhvr>
                                      <p:to>
                                        <p:strVal val="visible"/>
                                      </p:to>
                                    </p:set>
                                    <p:animEffect transition="in" filter="fade">
                                      <p:cBhvr>
                                        <p:cTn id="158" dur="500"/>
                                        <p:tgtEl>
                                          <p:spTgt spid="267"/>
                                        </p:tgtEl>
                                      </p:cBhvr>
                                    </p:animEffect>
                                  </p:childTnLst>
                                </p:cTn>
                              </p:par>
                            </p:childTnLst>
                          </p:cTn>
                        </p:par>
                        <p:par>
                          <p:cTn id="159" fill="hold">
                            <p:stCondLst>
                              <p:cond delay="500"/>
                            </p:stCondLst>
                            <p:childTnLst>
                              <p:par>
                                <p:cTn id="160" presetID="1" presetClass="entr" presetSubtype="0" fill="hold" grpId="0" nodeType="afterEffect">
                                  <p:stCondLst>
                                    <p:cond delay="0"/>
                                  </p:stCondLst>
                                  <p:childTnLst>
                                    <p:set>
                                      <p:cBhvr>
                                        <p:cTn id="161" dur="1" fill="hold">
                                          <p:stCondLst>
                                            <p:cond delay="0"/>
                                          </p:stCondLst>
                                        </p:cTn>
                                        <p:tgtEl>
                                          <p:spTgt spid="137"/>
                                        </p:tgtEl>
                                        <p:attrNameLst>
                                          <p:attrName>style.visibility</p:attrName>
                                        </p:attrNameLst>
                                      </p:cBhvr>
                                      <p:to>
                                        <p:strVal val="visible"/>
                                      </p:to>
                                    </p:set>
                                  </p:childTnLst>
                                </p:cTn>
                              </p:par>
                              <p:par>
                                <p:cTn id="162" presetID="35" presetClass="emph" presetSubtype="0" repeatCount="indefinite" fill="hold" grpId="1" nodeType="withEffect">
                                  <p:stCondLst>
                                    <p:cond delay="0"/>
                                  </p:stCondLst>
                                  <p:endCondLst>
                                    <p:cond evt="onNext" delay="0">
                                      <p:tgtEl>
                                        <p:sldTgt/>
                                      </p:tgtEl>
                                    </p:cond>
                                  </p:endCondLst>
                                  <p:childTnLst>
                                    <p:anim calcmode="discrete" valueType="str">
                                      <p:cBhvr>
                                        <p:cTn id="163" dur="500" fill="hold"/>
                                        <p:tgtEl>
                                          <p:spTgt spid="137"/>
                                        </p:tgtEl>
                                        <p:attrNameLst>
                                          <p:attrName>style.visibility</p:attrName>
                                        </p:attrNameLst>
                                      </p:cBhvr>
                                      <p:tavLst>
                                        <p:tav tm="0">
                                          <p:val>
                                            <p:strVal val="hidden"/>
                                          </p:val>
                                        </p:tav>
                                        <p:tav tm="50000">
                                          <p:val>
                                            <p:strVal val="visible"/>
                                          </p:val>
                                        </p:tav>
                                      </p:tavLst>
                                    </p:anim>
                                  </p:childTnLst>
                                </p:cTn>
                              </p:par>
                            </p:childTnLst>
                          </p:cTn>
                        </p:par>
                      </p:childTnLst>
                    </p:cTn>
                  </p:par>
                  <p:par>
                    <p:cTn id="164" fill="hold">
                      <p:stCondLst>
                        <p:cond delay="indefinite"/>
                      </p:stCondLst>
                      <p:childTnLst>
                        <p:par>
                          <p:cTn id="165" fill="hold">
                            <p:stCondLst>
                              <p:cond delay="0"/>
                            </p:stCondLst>
                            <p:childTnLst>
                              <p:par>
                                <p:cTn id="166" presetID="1" presetClass="exit" presetSubtype="0" fill="hold" grpId="2" nodeType="clickEffect">
                                  <p:stCondLst>
                                    <p:cond delay="0"/>
                                  </p:stCondLst>
                                  <p:childTnLst>
                                    <p:set>
                                      <p:cBhvr>
                                        <p:cTn id="167" dur="1" fill="hold">
                                          <p:stCondLst>
                                            <p:cond delay="0"/>
                                          </p:stCondLst>
                                        </p:cTn>
                                        <p:tgtEl>
                                          <p:spTgt spid="137"/>
                                        </p:tgtEl>
                                        <p:attrNameLst>
                                          <p:attrName>style.visibility</p:attrName>
                                        </p:attrNameLst>
                                      </p:cBhvr>
                                      <p:to>
                                        <p:strVal val="hidden"/>
                                      </p:to>
                                    </p:set>
                                  </p:childTnLst>
                                </p:cTn>
                              </p:par>
                              <p:par>
                                <p:cTn id="168" presetID="10" presetClass="entr" presetSubtype="0" fill="hold" grpId="0" nodeType="withEffect">
                                  <p:stCondLst>
                                    <p:cond delay="0"/>
                                  </p:stCondLst>
                                  <p:childTnLst>
                                    <p:set>
                                      <p:cBhvr>
                                        <p:cTn id="169" dur="1" fill="hold">
                                          <p:stCondLst>
                                            <p:cond delay="0"/>
                                          </p:stCondLst>
                                        </p:cTn>
                                        <p:tgtEl>
                                          <p:spTgt spid="268"/>
                                        </p:tgtEl>
                                        <p:attrNameLst>
                                          <p:attrName>style.visibility</p:attrName>
                                        </p:attrNameLst>
                                      </p:cBhvr>
                                      <p:to>
                                        <p:strVal val="visible"/>
                                      </p:to>
                                    </p:set>
                                    <p:animEffect transition="in" filter="fade">
                                      <p:cBhvr>
                                        <p:cTn id="170" dur="500"/>
                                        <p:tgtEl>
                                          <p:spTgt spid="268"/>
                                        </p:tgtEl>
                                      </p:cBhvr>
                                    </p:animEffect>
                                  </p:childTnLst>
                                </p:cTn>
                              </p:par>
                            </p:childTnLst>
                          </p:cTn>
                        </p:par>
                        <p:par>
                          <p:cTn id="171" fill="hold">
                            <p:stCondLst>
                              <p:cond delay="500"/>
                            </p:stCondLst>
                            <p:childTnLst>
                              <p:par>
                                <p:cTn id="172" presetID="1" presetClass="entr" presetSubtype="0" fill="hold" grpId="0" nodeType="afterEffect">
                                  <p:stCondLst>
                                    <p:cond delay="0"/>
                                  </p:stCondLst>
                                  <p:childTnLst>
                                    <p:set>
                                      <p:cBhvr>
                                        <p:cTn id="173" dur="1" fill="hold">
                                          <p:stCondLst>
                                            <p:cond delay="0"/>
                                          </p:stCondLst>
                                        </p:cTn>
                                        <p:tgtEl>
                                          <p:spTgt spid="138"/>
                                        </p:tgtEl>
                                        <p:attrNameLst>
                                          <p:attrName>style.visibility</p:attrName>
                                        </p:attrNameLst>
                                      </p:cBhvr>
                                      <p:to>
                                        <p:strVal val="visible"/>
                                      </p:to>
                                    </p:set>
                                  </p:childTnLst>
                                </p:cTn>
                              </p:par>
                              <p:par>
                                <p:cTn id="174" presetID="35" presetClass="emph" presetSubtype="0" repeatCount="indefinite" fill="hold" grpId="1" nodeType="withEffect">
                                  <p:stCondLst>
                                    <p:cond delay="0"/>
                                  </p:stCondLst>
                                  <p:endCondLst>
                                    <p:cond evt="onNext" delay="0">
                                      <p:tgtEl>
                                        <p:sldTgt/>
                                      </p:tgtEl>
                                    </p:cond>
                                  </p:endCondLst>
                                  <p:childTnLst>
                                    <p:anim calcmode="discrete" valueType="str">
                                      <p:cBhvr>
                                        <p:cTn id="175" dur="500" fill="hold"/>
                                        <p:tgtEl>
                                          <p:spTgt spid="138"/>
                                        </p:tgtEl>
                                        <p:attrNameLst>
                                          <p:attrName>style.visibility</p:attrName>
                                        </p:attrNameLst>
                                      </p:cBhvr>
                                      <p:tavLst>
                                        <p:tav tm="0">
                                          <p:val>
                                            <p:strVal val="hidden"/>
                                          </p:val>
                                        </p:tav>
                                        <p:tav tm="50000">
                                          <p:val>
                                            <p:strVal val="visible"/>
                                          </p:val>
                                        </p:tav>
                                      </p:tavLst>
                                    </p:anim>
                                  </p:childTnLst>
                                </p:cTn>
                              </p:par>
                            </p:childTnLst>
                          </p:cTn>
                        </p:par>
                      </p:childTnLst>
                    </p:cTn>
                  </p:par>
                  <p:par>
                    <p:cTn id="176" fill="hold">
                      <p:stCondLst>
                        <p:cond delay="indefinite"/>
                      </p:stCondLst>
                      <p:childTnLst>
                        <p:par>
                          <p:cTn id="177" fill="hold">
                            <p:stCondLst>
                              <p:cond delay="0"/>
                            </p:stCondLst>
                            <p:childTnLst>
                              <p:par>
                                <p:cTn id="178" presetID="1" presetClass="exit" presetSubtype="0" fill="hold" grpId="2" nodeType="clickEffect">
                                  <p:stCondLst>
                                    <p:cond delay="0"/>
                                  </p:stCondLst>
                                  <p:childTnLst>
                                    <p:set>
                                      <p:cBhvr>
                                        <p:cTn id="179" dur="1" fill="hold">
                                          <p:stCondLst>
                                            <p:cond delay="0"/>
                                          </p:stCondLst>
                                        </p:cTn>
                                        <p:tgtEl>
                                          <p:spTgt spid="138"/>
                                        </p:tgtEl>
                                        <p:attrNameLst>
                                          <p:attrName>style.visibility</p:attrName>
                                        </p:attrNameLst>
                                      </p:cBhvr>
                                      <p:to>
                                        <p:strVal val="hidden"/>
                                      </p:to>
                                    </p:set>
                                  </p:childTnLst>
                                </p:cTn>
                              </p:par>
                              <p:par>
                                <p:cTn id="180" presetID="10" presetClass="entr" presetSubtype="0" fill="hold" grpId="0" nodeType="withEffect">
                                  <p:stCondLst>
                                    <p:cond delay="0"/>
                                  </p:stCondLst>
                                  <p:childTnLst>
                                    <p:set>
                                      <p:cBhvr>
                                        <p:cTn id="181" dur="1" fill="hold">
                                          <p:stCondLst>
                                            <p:cond delay="0"/>
                                          </p:stCondLst>
                                        </p:cTn>
                                        <p:tgtEl>
                                          <p:spTgt spid="269"/>
                                        </p:tgtEl>
                                        <p:attrNameLst>
                                          <p:attrName>style.visibility</p:attrName>
                                        </p:attrNameLst>
                                      </p:cBhvr>
                                      <p:to>
                                        <p:strVal val="visible"/>
                                      </p:to>
                                    </p:set>
                                    <p:animEffect transition="in" filter="fade">
                                      <p:cBhvr>
                                        <p:cTn id="182" dur="500"/>
                                        <p:tgtEl>
                                          <p:spTgt spid="269"/>
                                        </p:tgtEl>
                                      </p:cBhvr>
                                    </p:animEffect>
                                  </p:childTnLst>
                                </p:cTn>
                              </p:par>
                            </p:childTnLst>
                          </p:cTn>
                        </p:par>
                        <p:par>
                          <p:cTn id="183" fill="hold">
                            <p:stCondLst>
                              <p:cond delay="500"/>
                            </p:stCondLst>
                            <p:childTnLst>
                              <p:par>
                                <p:cTn id="184" presetID="1" presetClass="entr" presetSubtype="0" fill="hold" grpId="0" nodeType="afterEffect">
                                  <p:stCondLst>
                                    <p:cond delay="0"/>
                                  </p:stCondLst>
                                  <p:childTnLst>
                                    <p:set>
                                      <p:cBhvr>
                                        <p:cTn id="185" dur="1" fill="hold">
                                          <p:stCondLst>
                                            <p:cond delay="0"/>
                                          </p:stCondLst>
                                        </p:cTn>
                                        <p:tgtEl>
                                          <p:spTgt spid="140"/>
                                        </p:tgtEl>
                                        <p:attrNameLst>
                                          <p:attrName>style.visibility</p:attrName>
                                        </p:attrNameLst>
                                      </p:cBhvr>
                                      <p:to>
                                        <p:strVal val="visible"/>
                                      </p:to>
                                    </p:set>
                                  </p:childTnLst>
                                </p:cTn>
                              </p:par>
                              <p:par>
                                <p:cTn id="186" presetID="35" presetClass="emph" presetSubtype="0" repeatCount="indefinite" fill="hold" grpId="1" nodeType="withEffect">
                                  <p:stCondLst>
                                    <p:cond delay="0"/>
                                  </p:stCondLst>
                                  <p:endCondLst>
                                    <p:cond evt="onNext" delay="0">
                                      <p:tgtEl>
                                        <p:sldTgt/>
                                      </p:tgtEl>
                                    </p:cond>
                                  </p:endCondLst>
                                  <p:childTnLst>
                                    <p:anim calcmode="discrete" valueType="str">
                                      <p:cBhvr>
                                        <p:cTn id="187" dur="500" fill="hold"/>
                                        <p:tgtEl>
                                          <p:spTgt spid="140"/>
                                        </p:tgtEl>
                                        <p:attrNameLst>
                                          <p:attrName>style.visibility</p:attrName>
                                        </p:attrNameLst>
                                      </p:cBhvr>
                                      <p:tavLst>
                                        <p:tav tm="0">
                                          <p:val>
                                            <p:strVal val="hidden"/>
                                          </p:val>
                                        </p:tav>
                                        <p:tav tm="50000">
                                          <p:val>
                                            <p:strVal val="visible"/>
                                          </p:val>
                                        </p:tav>
                                      </p:tavLst>
                                    </p:anim>
                                  </p:childTnLst>
                                </p:cTn>
                              </p:par>
                            </p:childTnLst>
                          </p:cTn>
                        </p:par>
                      </p:childTnLst>
                    </p:cTn>
                  </p:par>
                  <p:par>
                    <p:cTn id="188" fill="hold">
                      <p:stCondLst>
                        <p:cond delay="indefinite"/>
                      </p:stCondLst>
                      <p:childTnLst>
                        <p:par>
                          <p:cTn id="189" fill="hold">
                            <p:stCondLst>
                              <p:cond delay="0"/>
                            </p:stCondLst>
                            <p:childTnLst>
                              <p:par>
                                <p:cTn id="190" presetID="1" presetClass="exit" presetSubtype="0" fill="hold" grpId="2" nodeType="clickEffect">
                                  <p:stCondLst>
                                    <p:cond delay="0"/>
                                  </p:stCondLst>
                                  <p:childTnLst>
                                    <p:set>
                                      <p:cBhvr>
                                        <p:cTn id="191" dur="1" fill="hold">
                                          <p:stCondLst>
                                            <p:cond delay="0"/>
                                          </p:stCondLst>
                                        </p:cTn>
                                        <p:tgtEl>
                                          <p:spTgt spid="140"/>
                                        </p:tgtEl>
                                        <p:attrNameLst>
                                          <p:attrName>style.visibility</p:attrName>
                                        </p:attrNameLst>
                                      </p:cBhvr>
                                      <p:to>
                                        <p:strVal val="hidden"/>
                                      </p:to>
                                    </p:set>
                                  </p:childTnLst>
                                </p:cTn>
                              </p:par>
                              <p:par>
                                <p:cTn id="192" presetID="1" presetClass="entr" presetSubtype="0" fill="hold" grpId="0" nodeType="withEffect">
                                  <p:stCondLst>
                                    <p:cond delay="0"/>
                                  </p:stCondLst>
                                  <p:childTnLst>
                                    <p:set>
                                      <p:cBhvr>
                                        <p:cTn id="193" dur="1" fill="hold">
                                          <p:stCondLst>
                                            <p:cond delay="0"/>
                                          </p:stCondLst>
                                        </p:cTn>
                                        <p:tgtEl>
                                          <p:spTgt spid="270"/>
                                        </p:tgtEl>
                                        <p:attrNameLst>
                                          <p:attrName>style.visibility</p:attrName>
                                        </p:attrNameLst>
                                      </p:cBhvr>
                                      <p:to>
                                        <p:strVal val="visible"/>
                                      </p:to>
                                    </p:set>
                                  </p:childTnLst>
                                </p:cTn>
                              </p:par>
                            </p:childTnLst>
                          </p:cTn>
                        </p:par>
                        <p:par>
                          <p:cTn id="194" fill="hold">
                            <p:stCondLst>
                              <p:cond delay="0"/>
                            </p:stCondLst>
                            <p:childTnLst>
                              <p:par>
                                <p:cTn id="195" presetID="1" presetClass="entr" presetSubtype="0" fill="hold" grpId="0" nodeType="afterEffect">
                                  <p:stCondLst>
                                    <p:cond delay="0"/>
                                  </p:stCondLst>
                                  <p:childTnLst>
                                    <p:set>
                                      <p:cBhvr>
                                        <p:cTn id="196" dur="1" fill="hold">
                                          <p:stCondLst>
                                            <p:cond delay="0"/>
                                          </p:stCondLst>
                                        </p:cTn>
                                        <p:tgtEl>
                                          <p:spTgt spid="141"/>
                                        </p:tgtEl>
                                        <p:attrNameLst>
                                          <p:attrName>style.visibility</p:attrName>
                                        </p:attrNameLst>
                                      </p:cBhvr>
                                      <p:to>
                                        <p:strVal val="visible"/>
                                      </p:to>
                                    </p:set>
                                  </p:childTnLst>
                                </p:cTn>
                              </p:par>
                              <p:par>
                                <p:cTn id="197" presetID="35" presetClass="emph" presetSubtype="0" repeatCount="indefinite" fill="hold" grpId="1" nodeType="withEffect">
                                  <p:stCondLst>
                                    <p:cond delay="0"/>
                                  </p:stCondLst>
                                  <p:endCondLst>
                                    <p:cond evt="onNext" delay="0">
                                      <p:tgtEl>
                                        <p:sldTgt/>
                                      </p:tgtEl>
                                    </p:cond>
                                  </p:endCondLst>
                                  <p:childTnLst>
                                    <p:anim calcmode="discrete" valueType="str">
                                      <p:cBhvr>
                                        <p:cTn id="198" dur="500" fill="hold"/>
                                        <p:tgtEl>
                                          <p:spTgt spid="141"/>
                                        </p:tgtEl>
                                        <p:attrNameLst>
                                          <p:attrName>style.visibility</p:attrName>
                                        </p:attrNameLst>
                                      </p:cBhvr>
                                      <p:tavLst>
                                        <p:tav tm="0">
                                          <p:val>
                                            <p:strVal val="hidden"/>
                                          </p:val>
                                        </p:tav>
                                        <p:tav tm="50000">
                                          <p:val>
                                            <p:strVal val="visible"/>
                                          </p:val>
                                        </p:tav>
                                      </p:tavLst>
                                    </p:anim>
                                  </p:childTnLst>
                                </p:cTn>
                              </p:par>
                            </p:childTnLst>
                          </p:cTn>
                        </p:par>
                      </p:childTnLst>
                    </p:cTn>
                  </p:par>
                  <p:par>
                    <p:cTn id="199" fill="hold">
                      <p:stCondLst>
                        <p:cond delay="indefinite"/>
                      </p:stCondLst>
                      <p:childTnLst>
                        <p:par>
                          <p:cTn id="200" fill="hold">
                            <p:stCondLst>
                              <p:cond delay="0"/>
                            </p:stCondLst>
                            <p:childTnLst>
                              <p:par>
                                <p:cTn id="201" presetID="1" presetClass="exit" presetSubtype="0" fill="hold" grpId="2" nodeType="clickEffect">
                                  <p:stCondLst>
                                    <p:cond delay="0"/>
                                  </p:stCondLst>
                                  <p:childTnLst>
                                    <p:set>
                                      <p:cBhvr>
                                        <p:cTn id="202" dur="1" fill="hold">
                                          <p:stCondLst>
                                            <p:cond delay="0"/>
                                          </p:stCondLst>
                                        </p:cTn>
                                        <p:tgtEl>
                                          <p:spTgt spid="141"/>
                                        </p:tgtEl>
                                        <p:attrNameLst>
                                          <p:attrName>style.visibility</p:attrName>
                                        </p:attrNameLst>
                                      </p:cBhvr>
                                      <p:to>
                                        <p:strVal val="hidden"/>
                                      </p:to>
                                    </p:set>
                                  </p:childTnLst>
                                </p:cTn>
                              </p:par>
                              <p:par>
                                <p:cTn id="203" presetID="10" presetClass="entr" presetSubtype="0" fill="hold" grpId="0" nodeType="withEffect">
                                  <p:stCondLst>
                                    <p:cond delay="0"/>
                                  </p:stCondLst>
                                  <p:childTnLst>
                                    <p:set>
                                      <p:cBhvr>
                                        <p:cTn id="204" dur="1" fill="hold">
                                          <p:stCondLst>
                                            <p:cond delay="0"/>
                                          </p:stCondLst>
                                        </p:cTn>
                                        <p:tgtEl>
                                          <p:spTgt spid="139"/>
                                        </p:tgtEl>
                                        <p:attrNameLst>
                                          <p:attrName>style.visibility</p:attrName>
                                        </p:attrNameLst>
                                      </p:cBhvr>
                                      <p:to>
                                        <p:strVal val="visible"/>
                                      </p:to>
                                    </p:set>
                                    <p:animEffect transition="in" filter="fade">
                                      <p:cBhvr>
                                        <p:cTn id="205" dur="500"/>
                                        <p:tgtEl>
                                          <p:spTgt spid="139"/>
                                        </p:tgtEl>
                                      </p:cBhvr>
                                    </p:animEffect>
                                  </p:childTnLst>
                                </p:cTn>
                              </p:par>
                            </p:childTnLst>
                          </p:cTn>
                        </p:par>
                      </p:childTnLst>
                    </p:cTn>
                  </p:par>
                  <p:par>
                    <p:cTn id="206" fill="hold">
                      <p:stCondLst>
                        <p:cond delay="indefinite"/>
                      </p:stCondLst>
                      <p:childTnLst>
                        <p:par>
                          <p:cTn id="207" fill="hold">
                            <p:stCondLst>
                              <p:cond delay="0"/>
                            </p:stCondLst>
                            <p:childTnLst>
                              <p:par>
                                <p:cTn id="208" presetID="10" presetClass="entr" presetSubtype="0" fill="hold" nodeType="clickEffect">
                                  <p:stCondLst>
                                    <p:cond delay="0"/>
                                  </p:stCondLst>
                                  <p:childTnLst>
                                    <p:set>
                                      <p:cBhvr>
                                        <p:cTn id="209" dur="1" fill="hold">
                                          <p:stCondLst>
                                            <p:cond delay="0"/>
                                          </p:stCondLst>
                                        </p:cTn>
                                        <p:tgtEl>
                                          <p:spTgt spid="7"/>
                                        </p:tgtEl>
                                        <p:attrNameLst>
                                          <p:attrName>style.visibility</p:attrName>
                                        </p:attrNameLst>
                                      </p:cBhvr>
                                      <p:to>
                                        <p:strVal val="visible"/>
                                      </p:to>
                                    </p:set>
                                    <p:animEffect transition="in" filter="fade">
                                      <p:cBhvr>
                                        <p:cTn id="210" dur="500"/>
                                        <p:tgtEl>
                                          <p:spTgt spid="7"/>
                                        </p:tgtEl>
                                      </p:cBhvr>
                                    </p:animEffect>
                                  </p:childTnLst>
                                </p:cTn>
                              </p:par>
                            </p:childTnLst>
                          </p:cTn>
                        </p:par>
                      </p:childTnLst>
                    </p:cTn>
                  </p:par>
                  <p:par>
                    <p:cTn id="211" fill="hold">
                      <p:stCondLst>
                        <p:cond delay="indefinite"/>
                      </p:stCondLst>
                      <p:childTnLst>
                        <p:par>
                          <p:cTn id="212" fill="hold">
                            <p:stCondLst>
                              <p:cond delay="0"/>
                            </p:stCondLst>
                            <p:childTnLst>
                              <p:par>
                                <p:cTn id="213" presetID="10" presetClass="entr" presetSubtype="0" fill="hold" nodeType="clickEffect">
                                  <p:stCondLst>
                                    <p:cond delay="0"/>
                                  </p:stCondLst>
                                  <p:childTnLst>
                                    <p:set>
                                      <p:cBhvr>
                                        <p:cTn id="214" dur="1" fill="hold">
                                          <p:stCondLst>
                                            <p:cond delay="0"/>
                                          </p:stCondLst>
                                        </p:cTn>
                                        <p:tgtEl>
                                          <p:spTgt spid="9"/>
                                        </p:tgtEl>
                                        <p:attrNameLst>
                                          <p:attrName>style.visibility</p:attrName>
                                        </p:attrNameLst>
                                      </p:cBhvr>
                                      <p:to>
                                        <p:strVal val="visible"/>
                                      </p:to>
                                    </p:set>
                                    <p:animEffect transition="in" filter="fade">
                                      <p:cBhvr>
                                        <p:cTn id="215" dur="500"/>
                                        <p:tgtEl>
                                          <p:spTgt spid="9"/>
                                        </p:tgtEl>
                                      </p:cBhvr>
                                    </p:animEffect>
                                  </p:childTnLst>
                                </p:cTn>
                              </p:par>
                            </p:childTnLst>
                          </p:cTn>
                        </p:par>
                      </p:childTnLst>
                    </p:cTn>
                  </p:par>
                  <p:par>
                    <p:cTn id="216" fill="hold">
                      <p:stCondLst>
                        <p:cond delay="indefinite"/>
                      </p:stCondLst>
                      <p:childTnLst>
                        <p:par>
                          <p:cTn id="217" fill="hold">
                            <p:stCondLst>
                              <p:cond delay="0"/>
                            </p:stCondLst>
                            <p:childTnLst>
                              <p:par>
                                <p:cTn id="218" presetID="10" presetClass="entr" presetSubtype="0" fill="hold" grpId="0" nodeType="clickEffect">
                                  <p:stCondLst>
                                    <p:cond delay="0"/>
                                  </p:stCondLst>
                                  <p:childTnLst>
                                    <p:set>
                                      <p:cBhvr>
                                        <p:cTn id="219" dur="1" fill="hold">
                                          <p:stCondLst>
                                            <p:cond delay="0"/>
                                          </p:stCondLst>
                                        </p:cTn>
                                        <p:tgtEl>
                                          <p:spTgt spid="271"/>
                                        </p:tgtEl>
                                        <p:attrNameLst>
                                          <p:attrName>style.visibility</p:attrName>
                                        </p:attrNameLst>
                                      </p:cBhvr>
                                      <p:to>
                                        <p:strVal val="visible"/>
                                      </p:to>
                                    </p:set>
                                    <p:animEffect transition="in" filter="fade">
                                      <p:cBhvr>
                                        <p:cTn id="220" dur="500"/>
                                        <p:tgtEl>
                                          <p:spTgt spid="271"/>
                                        </p:tgtEl>
                                      </p:cBhvr>
                                    </p:animEffect>
                                  </p:childTnLst>
                                </p:cTn>
                              </p:par>
                            </p:childTnLst>
                          </p:cTn>
                        </p:par>
                        <p:par>
                          <p:cTn id="221" fill="hold">
                            <p:stCondLst>
                              <p:cond delay="500"/>
                            </p:stCondLst>
                            <p:childTnLst>
                              <p:par>
                                <p:cTn id="222" presetID="1" presetClass="entr" presetSubtype="0" fill="hold" grpId="0" nodeType="afterEffect">
                                  <p:stCondLst>
                                    <p:cond delay="0"/>
                                  </p:stCondLst>
                                  <p:childTnLst>
                                    <p:set>
                                      <p:cBhvr>
                                        <p:cTn id="223" dur="1" fill="hold">
                                          <p:stCondLst>
                                            <p:cond delay="0"/>
                                          </p:stCondLst>
                                        </p:cTn>
                                        <p:tgtEl>
                                          <p:spTgt spid="142"/>
                                        </p:tgtEl>
                                        <p:attrNameLst>
                                          <p:attrName>style.visibility</p:attrName>
                                        </p:attrNameLst>
                                      </p:cBhvr>
                                      <p:to>
                                        <p:strVal val="visible"/>
                                      </p:to>
                                    </p:set>
                                  </p:childTnLst>
                                </p:cTn>
                              </p:par>
                              <p:par>
                                <p:cTn id="224" presetID="35" presetClass="emph" presetSubtype="0" repeatCount="indefinite" fill="hold" grpId="1" nodeType="withEffect">
                                  <p:stCondLst>
                                    <p:cond delay="0"/>
                                  </p:stCondLst>
                                  <p:endCondLst>
                                    <p:cond evt="onNext" delay="0">
                                      <p:tgtEl>
                                        <p:sldTgt/>
                                      </p:tgtEl>
                                    </p:cond>
                                  </p:endCondLst>
                                  <p:childTnLst>
                                    <p:anim calcmode="discrete" valueType="str">
                                      <p:cBhvr>
                                        <p:cTn id="225" dur="500" fill="hold"/>
                                        <p:tgtEl>
                                          <p:spTgt spid="142"/>
                                        </p:tgtEl>
                                        <p:attrNameLst>
                                          <p:attrName>style.visibility</p:attrName>
                                        </p:attrNameLst>
                                      </p:cBhvr>
                                      <p:tavLst>
                                        <p:tav tm="0">
                                          <p:val>
                                            <p:strVal val="hidden"/>
                                          </p:val>
                                        </p:tav>
                                        <p:tav tm="50000">
                                          <p:val>
                                            <p:strVal val="visible"/>
                                          </p:val>
                                        </p:tav>
                                      </p:tavLst>
                                    </p:anim>
                                  </p:childTnLst>
                                </p:cTn>
                              </p:par>
                            </p:childTnLst>
                          </p:cTn>
                        </p:par>
                      </p:childTnLst>
                    </p:cTn>
                  </p:par>
                  <p:par>
                    <p:cTn id="226" fill="hold">
                      <p:stCondLst>
                        <p:cond delay="indefinite"/>
                      </p:stCondLst>
                      <p:childTnLst>
                        <p:par>
                          <p:cTn id="227" fill="hold">
                            <p:stCondLst>
                              <p:cond delay="0"/>
                            </p:stCondLst>
                            <p:childTnLst>
                              <p:par>
                                <p:cTn id="228" presetID="1" presetClass="exit" presetSubtype="0" fill="hold" grpId="2" nodeType="clickEffect">
                                  <p:stCondLst>
                                    <p:cond delay="0"/>
                                  </p:stCondLst>
                                  <p:childTnLst>
                                    <p:set>
                                      <p:cBhvr>
                                        <p:cTn id="229" dur="1" fill="hold">
                                          <p:stCondLst>
                                            <p:cond delay="0"/>
                                          </p:stCondLst>
                                        </p:cTn>
                                        <p:tgtEl>
                                          <p:spTgt spid="142"/>
                                        </p:tgtEl>
                                        <p:attrNameLst>
                                          <p:attrName>style.visibility</p:attrName>
                                        </p:attrNameLst>
                                      </p:cBhvr>
                                      <p:to>
                                        <p:strVal val="hidden"/>
                                      </p:to>
                                    </p:set>
                                  </p:childTnLst>
                                </p:cTn>
                              </p:par>
                              <p:par>
                                <p:cTn id="230" presetID="10" presetClass="entr" presetSubtype="0" fill="hold" grpId="0" nodeType="withEffect">
                                  <p:stCondLst>
                                    <p:cond delay="0"/>
                                  </p:stCondLst>
                                  <p:childTnLst>
                                    <p:set>
                                      <p:cBhvr>
                                        <p:cTn id="231" dur="1" fill="hold">
                                          <p:stCondLst>
                                            <p:cond delay="0"/>
                                          </p:stCondLst>
                                        </p:cTn>
                                        <p:tgtEl>
                                          <p:spTgt spid="272"/>
                                        </p:tgtEl>
                                        <p:attrNameLst>
                                          <p:attrName>style.visibility</p:attrName>
                                        </p:attrNameLst>
                                      </p:cBhvr>
                                      <p:to>
                                        <p:strVal val="visible"/>
                                      </p:to>
                                    </p:set>
                                    <p:animEffect transition="in" filter="fade">
                                      <p:cBhvr>
                                        <p:cTn id="232" dur="500"/>
                                        <p:tgtEl>
                                          <p:spTgt spid="272"/>
                                        </p:tgtEl>
                                      </p:cBhvr>
                                    </p:animEffect>
                                  </p:childTnLst>
                                </p:cTn>
                              </p:par>
                            </p:childTnLst>
                          </p:cTn>
                        </p:par>
                        <p:par>
                          <p:cTn id="233" fill="hold">
                            <p:stCondLst>
                              <p:cond delay="500"/>
                            </p:stCondLst>
                            <p:childTnLst>
                              <p:par>
                                <p:cTn id="234" presetID="1" presetClass="entr" presetSubtype="0" fill="hold" grpId="0" nodeType="afterEffect">
                                  <p:stCondLst>
                                    <p:cond delay="0"/>
                                  </p:stCondLst>
                                  <p:childTnLst>
                                    <p:set>
                                      <p:cBhvr>
                                        <p:cTn id="235" dur="1" fill="hold">
                                          <p:stCondLst>
                                            <p:cond delay="0"/>
                                          </p:stCondLst>
                                        </p:cTn>
                                        <p:tgtEl>
                                          <p:spTgt spid="144"/>
                                        </p:tgtEl>
                                        <p:attrNameLst>
                                          <p:attrName>style.visibility</p:attrName>
                                        </p:attrNameLst>
                                      </p:cBhvr>
                                      <p:to>
                                        <p:strVal val="visible"/>
                                      </p:to>
                                    </p:set>
                                  </p:childTnLst>
                                </p:cTn>
                              </p:par>
                              <p:par>
                                <p:cTn id="236" presetID="35" presetClass="emph" presetSubtype="0" repeatCount="indefinite" fill="hold" grpId="1" nodeType="withEffect">
                                  <p:stCondLst>
                                    <p:cond delay="0"/>
                                  </p:stCondLst>
                                  <p:endCondLst>
                                    <p:cond evt="onNext" delay="0">
                                      <p:tgtEl>
                                        <p:sldTgt/>
                                      </p:tgtEl>
                                    </p:cond>
                                  </p:endCondLst>
                                  <p:childTnLst>
                                    <p:anim calcmode="discrete" valueType="str">
                                      <p:cBhvr>
                                        <p:cTn id="237" dur="500" fill="hold"/>
                                        <p:tgtEl>
                                          <p:spTgt spid="144"/>
                                        </p:tgtEl>
                                        <p:attrNameLst>
                                          <p:attrName>style.visibility</p:attrName>
                                        </p:attrNameLst>
                                      </p:cBhvr>
                                      <p:tavLst>
                                        <p:tav tm="0">
                                          <p:val>
                                            <p:strVal val="hidden"/>
                                          </p:val>
                                        </p:tav>
                                        <p:tav tm="50000">
                                          <p:val>
                                            <p:strVal val="visible"/>
                                          </p:val>
                                        </p:tav>
                                      </p:tavLst>
                                    </p:anim>
                                  </p:childTnLst>
                                </p:cTn>
                              </p:par>
                            </p:childTnLst>
                          </p:cTn>
                        </p:par>
                      </p:childTnLst>
                    </p:cTn>
                  </p:par>
                  <p:par>
                    <p:cTn id="238" fill="hold">
                      <p:stCondLst>
                        <p:cond delay="indefinite"/>
                      </p:stCondLst>
                      <p:childTnLst>
                        <p:par>
                          <p:cTn id="239" fill="hold">
                            <p:stCondLst>
                              <p:cond delay="0"/>
                            </p:stCondLst>
                            <p:childTnLst>
                              <p:par>
                                <p:cTn id="240" presetID="1" presetClass="exit" presetSubtype="0" fill="hold" grpId="2" nodeType="clickEffect">
                                  <p:stCondLst>
                                    <p:cond delay="0"/>
                                  </p:stCondLst>
                                  <p:childTnLst>
                                    <p:set>
                                      <p:cBhvr>
                                        <p:cTn id="241" dur="1" fill="hold">
                                          <p:stCondLst>
                                            <p:cond delay="0"/>
                                          </p:stCondLst>
                                        </p:cTn>
                                        <p:tgtEl>
                                          <p:spTgt spid="144"/>
                                        </p:tgtEl>
                                        <p:attrNameLst>
                                          <p:attrName>style.visibility</p:attrName>
                                        </p:attrNameLst>
                                      </p:cBhvr>
                                      <p:to>
                                        <p:strVal val="hidden"/>
                                      </p:to>
                                    </p:set>
                                  </p:childTnLst>
                                </p:cTn>
                              </p:par>
                              <p:par>
                                <p:cTn id="242" presetID="10" presetClass="entr" presetSubtype="0" fill="hold" grpId="0" nodeType="withEffect">
                                  <p:stCondLst>
                                    <p:cond delay="0"/>
                                  </p:stCondLst>
                                  <p:childTnLst>
                                    <p:set>
                                      <p:cBhvr>
                                        <p:cTn id="243" dur="1" fill="hold">
                                          <p:stCondLst>
                                            <p:cond delay="0"/>
                                          </p:stCondLst>
                                        </p:cTn>
                                        <p:tgtEl>
                                          <p:spTgt spid="273"/>
                                        </p:tgtEl>
                                        <p:attrNameLst>
                                          <p:attrName>style.visibility</p:attrName>
                                        </p:attrNameLst>
                                      </p:cBhvr>
                                      <p:to>
                                        <p:strVal val="visible"/>
                                      </p:to>
                                    </p:set>
                                    <p:animEffect transition="in" filter="fade">
                                      <p:cBhvr>
                                        <p:cTn id="244" dur="500"/>
                                        <p:tgtEl>
                                          <p:spTgt spid="273"/>
                                        </p:tgtEl>
                                      </p:cBhvr>
                                    </p:animEffect>
                                  </p:childTnLst>
                                </p:cTn>
                              </p:par>
                            </p:childTnLst>
                          </p:cTn>
                        </p:par>
                        <p:par>
                          <p:cTn id="245" fill="hold">
                            <p:stCondLst>
                              <p:cond delay="500"/>
                            </p:stCondLst>
                            <p:childTnLst>
                              <p:par>
                                <p:cTn id="246" presetID="1" presetClass="entr" presetSubtype="0" fill="hold" grpId="0" nodeType="afterEffect">
                                  <p:stCondLst>
                                    <p:cond delay="0"/>
                                  </p:stCondLst>
                                  <p:childTnLst>
                                    <p:set>
                                      <p:cBhvr>
                                        <p:cTn id="247" dur="1" fill="hold">
                                          <p:stCondLst>
                                            <p:cond delay="0"/>
                                          </p:stCondLst>
                                        </p:cTn>
                                        <p:tgtEl>
                                          <p:spTgt spid="145"/>
                                        </p:tgtEl>
                                        <p:attrNameLst>
                                          <p:attrName>style.visibility</p:attrName>
                                        </p:attrNameLst>
                                      </p:cBhvr>
                                      <p:to>
                                        <p:strVal val="visible"/>
                                      </p:to>
                                    </p:set>
                                  </p:childTnLst>
                                </p:cTn>
                              </p:par>
                              <p:par>
                                <p:cTn id="248" presetID="35" presetClass="emph" presetSubtype="0" repeatCount="indefinite" fill="hold" grpId="1" nodeType="withEffect">
                                  <p:stCondLst>
                                    <p:cond delay="0"/>
                                  </p:stCondLst>
                                  <p:endCondLst>
                                    <p:cond evt="onNext" delay="0">
                                      <p:tgtEl>
                                        <p:sldTgt/>
                                      </p:tgtEl>
                                    </p:cond>
                                  </p:endCondLst>
                                  <p:childTnLst>
                                    <p:anim calcmode="discrete" valueType="str">
                                      <p:cBhvr>
                                        <p:cTn id="249" dur="500" fill="hold"/>
                                        <p:tgtEl>
                                          <p:spTgt spid="145"/>
                                        </p:tgtEl>
                                        <p:attrNameLst>
                                          <p:attrName>style.visibility</p:attrName>
                                        </p:attrNameLst>
                                      </p:cBhvr>
                                      <p:tavLst>
                                        <p:tav tm="0">
                                          <p:val>
                                            <p:strVal val="hidden"/>
                                          </p:val>
                                        </p:tav>
                                        <p:tav tm="50000">
                                          <p:val>
                                            <p:strVal val="visible"/>
                                          </p:val>
                                        </p:tav>
                                      </p:tavLst>
                                    </p:anim>
                                  </p:childTnLst>
                                </p:cTn>
                              </p:par>
                            </p:childTnLst>
                          </p:cTn>
                        </p:par>
                      </p:childTnLst>
                    </p:cTn>
                  </p:par>
                  <p:par>
                    <p:cTn id="250" fill="hold">
                      <p:stCondLst>
                        <p:cond delay="indefinite"/>
                      </p:stCondLst>
                      <p:childTnLst>
                        <p:par>
                          <p:cTn id="251" fill="hold">
                            <p:stCondLst>
                              <p:cond delay="0"/>
                            </p:stCondLst>
                            <p:childTnLst>
                              <p:par>
                                <p:cTn id="252" presetID="1" presetClass="exit" presetSubtype="0" fill="hold" grpId="2" nodeType="clickEffect">
                                  <p:stCondLst>
                                    <p:cond delay="0"/>
                                  </p:stCondLst>
                                  <p:childTnLst>
                                    <p:set>
                                      <p:cBhvr>
                                        <p:cTn id="253" dur="1" fill="hold">
                                          <p:stCondLst>
                                            <p:cond delay="0"/>
                                          </p:stCondLst>
                                        </p:cTn>
                                        <p:tgtEl>
                                          <p:spTgt spid="145"/>
                                        </p:tgtEl>
                                        <p:attrNameLst>
                                          <p:attrName>style.visibility</p:attrName>
                                        </p:attrNameLst>
                                      </p:cBhvr>
                                      <p:to>
                                        <p:strVal val="hidden"/>
                                      </p:to>
                                    </p:set>
                                  </p:childTnLst>
                                </p:cTn>
                              </p:par>
                              <p:par>
                                <p:cTn id="254" presetID="10" presetClass="entr" presetSubtype="0" fill="hold" grpId="0" nodeType="withEffect">
                                  <p:stCondLst>
                                    <p:cond delay="0"/>
                                  </p:stCondLst>
                                  <p:childTnLst>
                                    <p:set>
                                      <p:cBhvr>
                                        <p:cTn id="255" dur="1" fill="hold">
                                          <p:stCondLst>
                                            <p:cond delay="0"/>
                                          </p:stCondLst>
                                        </p:cTn>
                                        <p:tgtEl>
                                          <p:spTgt spid="274"/>
                                        </p:tgtEl>
                                        <p:attrNameLst>
                                          <p:attrName>style.visibility</p:attrName>
                                        </p:attrNameLst>
                                      </p:cBhvr>
                                      <p:to>
                                        <p:strVal val="visible"/>
                                      </p:to>
                                    </p:set>
                                    <p:animEffect transition="in" filter="fade">
                                      <p:cBhvr>
                                        <p:cTn id="256" dur="500"/>
                                        <p:tgtEl>
                                          <p:spTgt spid="274"/>
                                        </p:tgtEl>
                                      </p:cBhvr>
                                    </p:animEffect>
                                  </p:childTnLst>
                                </p:cTn>
                              </p:par>
                            </p:childTnLst>
                          </p:cTn>
                        </p:par>
                        <p:par>
                          <p:cTn id="257" fill="hold">
                            <p:stCondLst>
                              <p:cond delay="500"/>
                            </p:stCondLst>
                            <p:childTnLst>
                              <p:par>
                                <p:cTn id="258" presetID="1" presetClass="entr" presetSubtype="0" fill="hold" grpId="0" nodeType="afterEffect">
                                  <p:stCondLst>
                                    <p:cond delay="0"/>
                                  </p:stCondLst>
                                  <p:childTnLst>
                                    <p:set>
                                      <p:cBhvr>
                                        <p:cTn id="259" dur="1" fill="hold">
                                          <p:stCondLst>
                                            <p:cond delay="0"/>
                                          </p:stCondLst>
                                        </p:cTn>
                                        <p:tgtEl>
                                          <p:spTgt spid="146"/>
                                        </p:tgtEl>
                                        <p:attrNameLst>
                                          <p:attrName>style.visibility</p:attrName>
                                        </p:attrNameLst>
                                      </p:cBhvr>
                                      <p:to>
                                        <p:strVal val="visible"/>
                                      </p:to>
                                    </p:set>
                                  </p:childTnLst>
                                </p:cTn>
                              </p:par>
                              <p:par>
                                <p:cTn id="260" presetID="35" presetClass="emph" presetSubtype="0" repeatCount="indefinite" fill="hold" grpId="1" nodeType="withEffect">
                                  <p:stCondLst>
                                    <p:cond delay="0"/>
                                  </p:stCondLst>
                                  <p:endCondLst>
                                    <p:cond evt="onNext" delay="0">
                                      <p:tgtEl>
                                        <p:sldTgt/>
                                      </p:tgtEl>
                                    </p:cond>
                                  </p:endCondLst>
                                  <p:childTnLst>
                                    <p:anim calcmode="discrete" valueType="str">
                                      <p:cBhvr>
                                        <p:cTn id="261" dur="500" fill="hold"/>
                                        <p:tgtEl>
                                          <p:spTgt spid="146"/>
                                        </p:tgtEl>
                                        <p:attrNameLst>
                                          <p:attrName>style.visibility</p:attrName>
                                        </p:attrNameLst>
                                      </p:cBhvr>
                                      <p:tavLst>
                                        <p:tav tm="0">
                                          <p:val>
                                            <p:strVal val="hidden"/>
                                          </p:val>
                                        </p:tav>
                                        <p:tav tm="50000">
                                          <p:val>
                                            <p:strVal val="visible"/>
                                          </p:val>
                                        </p:tav>
                                      </p:tavLst>
                                    </p:anim>
                                  </p:childTnLst>
                                </p:cTn>
                              </p:par>
                            </p:childTnLst>
                          </p:cTn>
                        </p:par>
                      </p:childTnLst>
                    </p:cTn>
                  </p:par>
                  <p:par>
                    <p:cTn id="262" fill="hold">
                      <p:stCondLst>
                        <p:cond delay="indefinite"/>
                      </p:stCondLst>
                      <p:childTnLst>
                        <p:par>
                          <p:cTn id="263" fill="hold">
                            <p:stCondLst>
                              <p:cond delay="0"/>
                            </p:stCondLst>
                            <p:childTnLst>
                              <p:par>
                                <p:cTn id="264" presetID="1" presetClass="exit" presetSubtype="0" fill="hold" grpId="2" nodeType="clickEffect">
                                  <p:stCondLst>
                                    <p:cond delay="0"/>
                                  </p:stCondLst>
                                  <p:childTnLst>
                                    <p:set>
                                      <p:cBhvr>
                                        <p:cTn id="265" dur="1" fill="hold">
                                          <p:stCondLst>
                                            <p:cond delay="0"/>
                                          </p:stCondLst>
                                        </p:cTn>
                                        <p:tgtEl>
                                          <p:spTgt spid="146"/>
                                        </p:tgtEl>
                                        <p:attrNameLst>
                                          <p:attrName>style.visibility</p:attrName>
                                        </p:attrNameLst>
                                      </p:cBhvr>
                                      <p:to>
                                        <p:strVal val="hidden"/>
                                      </p:to>
                                    </p:set>
                                  </p:childTnLst>
                                </p:cTn>
                              </p:par>
                              <p:par>
                                <p:cTn id="266" presetID="10" presetClass="entr" presetSubtype="0" fill="hold" grpId="0" nodeType="withEffect">
                                  <p:stCondLst>
                                    <p:cond delay="0"/>
                                  </p:stCondLst>
                                  <p:childTnLst>
                                    <p:set>
                                      <p:cBhvr>
                                        <p:cTn id="267" dur="1" fill="hold">
                                          <p:stCondLst>
                                            <p:cond delay="0"/>
                                          </p:stCondLst>
                                        </p:cTn>
                                        <p:tgtEl>
                                          <p:spTgt spid="143"/>
                                        </p:tgtEl>
                                        <p:attrNameLst>
                                          <p:attrName>style.visibility</p:attrName>
                                        </p:attrNameLst>
                                      </p:cBhvr>
                                      <p:to>
                                        <p:strVal val="visible"/>
                                      </p:to>
                                    </p:set>
                                    <p:animEffect transition="in" filter="fade">
                                      <p:cBhvr>
                                        <p:cTn id="268" dur="500"/>
                                        <p:tgtEl>
                                          <p:spTgt spid="143"/>
                                        </p:tgtEl>
                                      </p:cBhvr>
                                    </p:animEffect>
                                  </p:childTnLst>
                                </p:cTn>
                              </p:par>
                            </p:childTnLst>
                          </p:cTn>
                        </p:par>
                      </p:childTnLst>
                    </p:cTn>
                  </p:par>
                  <p:par>
                    <p:cTn id="269" fill="hold">
                      <p:stCondLst>
                        <p:cond delay="indefinite"/>
                      </p:stCondLst>
                      <p:childTnLst>
                        <p:par>
                          <p:cTn id="270" fill="hold">
                            <p:stCondLst>
                              <p:cond delay="0"/>
                            </p:stCondLst>
                            <p:childTnLst>
                              <p:par>
                                <p:cTn id="271" presetID="10" presetClass="entr" presetSubtype="0" fill="hold" nodeType="clickEffect">
                                  <p:stCondLst>
                                    <p:cond delay="0"/>
                                  </p:stCondLst>
                                  <p:childTnLst>
                                    <p:set>
                                      <p:cBhvr>
                                        <p:cTn id="272" dur="1" fill="hold">
                                          <p:stCondLst>
                                            <p:cond delay="0"/>
                                          </p:stCondLst>
                                        </p:cTn>
                                        <p:tgtEl>
                                          <p:spTgt spid="10"/>
                                        </p:tgtEl>
                                        <p:attrNameLst>
                                          <p:attrName>style.visibility</p:attrName>
                                        </p:attrNameLst>
                                      </p:cBhvr>
                                      <p:to>
                                        <p:strVal val="visible"/>
                                      </p:to>
                                    </p:set>
                                    <p:animEffect transition="in" filter="fade">
                                      <p:cBhvr>
                                        <p:cTn id="27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 grpId="0"/>
      <p:bldP spid="254" grpId="0"/>
      <p:bldP spid="255" grpId="0"/>
      <p:bldP spid="256" grpId="0"/>
      <p:bldP spid="267" grpId="0"/>
      <p:bldP spid="268" grpId="0"/>
      <p:bldP spid="269" grpId="0"/>
      <p:bldP spid="270" grpId="0"/>
      <p:bldP spid="271" grpId="0"/>
      <p:bldP spid="272" grpId="0"/>
      <p:bldP spid="273" grpId="0"/>
      <p:bldP spid="274" grpId="0"/>
      <p:bldP spid="124" grpId="0"/>
      <p:bldP spid="124" grpId="1"/>
      <p:bldP spid="124" grpId="2"/>
      <p:bldP spid="125" grpId="0"/>
      <p:bldP spid="125" grpId="1"/>
      <p:bldP spid="125" grpId="2"/>
      <p:bldP spid="126" grpId="0"/>
      <p:bldP spid="126" grpId="1"/>
      <p:bldP spid="126" grpId="2"/>
      <p:bldP spid="127" grpId="0"/>
      <p:bldP spid="127" grpId="1"/>
      <p:bldP spid="127" grpId="2"/>
      <p:bldP spid="128" grpId="0"/>
      <p:bldP spid="128" grpId="1"/>
      <p:bldP spid="128" grpId="2"/>
      <p:bldP spid="129" grpId="0"/>
      <p:bldP spid="129" grpId="1"/>
      <p:bldP spid="129" grpId="2"/>
      <p:bldP spid="130" grpId="0"/>
      <p:bldP spid="131" grpId="0"/>
      <p:bldP spid="131" grpId="1"/>
      <p:bldP spid="131" grpId="2"/>
      <p:bldP spid="133" grpId="0"/>
      <p:bldP spid="133" grpId="1"/>
      <p:bldP spid="133" grpId="2"/>
      <p:bldP spid="134" grpId="0"/>
      <p:bldP spid="134" grpId="1"/>
      <p:bldP spid="134" grpId="2"/>
      <p:bldP spid="135" grpId="0"/>
      <p:bldP spid="135" grpId="1"/>
      <p:bldP spid="135" grpId="2"/>
      <p:bldP spid="136" grpId="0"/>
      <p:bldP spid="136" grpId="1"/>
      <p:bldP spid="136" grpId="2"/>
      <p:bldP spid="137" grpId="0"/>
      <p:bldP spid="137" grpId="1"/>
      <p:bldP spid="137" grpId="2"/>
      <p:bldP spid="138" grpId="0"/>
      <p:bldP spid="138" grpId="1"/>
      <p:bldP spid="138" grpId="2"/>
      <p:bldP spid="139" grpId="0"/>
      <p:bldP spid="140" grpId="0"/>
      <p:bldP spid="140" grpId="1"/>
      <p:bldP spid="140" grpId="2"/>
      <p:bldP spid="141" grpId="0"/>
      <p:bldP spid="141" grpId="1"/>
      <p:bldP spid="141" grpId="2"/>
      <p:bldP spid="142" grpId="0"/>
      <p:bldP spid="142" grpId="1"/>
      <p:bldP spid="142" grpId="2"/>
      <p:bldP spid="143" grpId="0"/>
      <p:bldP spid="144" grpId="0"/>
      <p:bldP spid="144" grpId="1"/>
      <p:bldP spid="144" grpId="2"/>
      <p:bldP spid="145" grpId="0"/>
      <p:bldP spid="145" grpId="1"/>
      <p:bldP spid="145" grpId="2"/>
      <p:bldP spid="146" grpId="0"/>
      <p:bldP spid="146" grpId="1"/>
      <p:bldP spid="146" grpId="2"/>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p:cNvGrpSpPr/>
          <p:nvPr/>
        </p:nvGrpSpPr>
        <p:grpSpPr>
          <a:xfrm>
            <a:off x="731520" y="3454255"/>
            <a:ext cx="8532832" cy="1098279"/>
            <a:chOff x="844524" y="2557236"/>
            <a:chExt cx="8532832" cy="1098279"/>
          </a:xfrm>
        </p:grpSpPr>
        <p:sp>
          <p:nvSpPr>
            <p:cNvPr id="18" name="TextBox 17"/>
            <p:cNvSpPr txBox="1"/>
            <p:nvPr/>
          </p:nvSpPr>
          <p:spPr>
            <a:xfrm>
              <a:off x="1175432" y="2557236"/>
              <a:ext cx="3305380" cy="461665"/>
            </a:xfrm>
            <a:prstGeom prst="rect">
              <a:avLst/>
            </a:prstGeom>
            <a:noFill/>
            <a:effectLst/>
          </p:spPr>
          <p:txBody>
            <a:bodyPr wrap="square" rtlCol="0">
              <a:spAutoFit/>
            </a:bodyPr>
            <a:lstStyle/>
            <a:p>
              <a:r>
                <a:rPr lang="zh-CN" altLang="en-US" sz="2400" b="1" dirty="0">
                  <a:solidFill>
                    <a:srgbClr val="11576A"/>
                  </a:solidFill>
                  <a:latin typeface="微软雅黑" pitchFamily="34" charset="-122"/>
                  <a:ea typeface="微软雅黑" pitchFamily="34" charset="-122"/>
                </a:rPr>
                <a:t>活动页面栈</a:t>
              </a:r>
            </a:p>
          </p:txBody>
        </p:sp>
        <p:sp>
          <p:nvSpPr>
            <p:cNvPr id="21" name="TextBox 20"/>
            <p:cNvSpPr txBox="1"/>
            <p:nvPr/>
          </p:nvSpPr>
          <p:spPr>
            <a:xfrm>
              <a:off x="1431020" y="2964029"/>
              <a:ext cx="7946336"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访问页面时，将此页号压入栈顶，并栈内相同的页号抽出</a:t>
              </a:r>
            </a:p>
          </p:txBody>
        </p:sp>
        <p:sp>
          <p:nvSpPr>
            <p:cNvPr id="24" name="TextBox 23"/>
            <p:cNvSpPr txBox="1"/>
            <p:nvPr/>
          </p:nvSpPr>
          <p:spPr>
            <a:xfrm>
              <a:off x="1431021" y="3255405"/>
              <a:ext cx="4777983"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缺页时，置换栈底的页面</a:t>
              </a:r>
              <a:endParaRPr lang="en-US" altLang="zh-CN" sz="2000" b="1" dirty="0">
                <a:solidFill>
                  <a:srgbClr val="11576A"/>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2" cstate="print"/>
            <a:stretch>
              <a:fillRect/>
            </a:stretch>
          </p:blipFill>
          <p:spPr>
            <a:xfrm>
              <a:off x="1284441" y="3348788"/>
              <a:ext cx="151066" cy="148997"/>
            </a:xfrm>
            <a:prstGeom prst="rect">
              <a:avLst/>
            </a:prstGeom>
            <a:effectLst/>
          </p:spPr>
        </p:pic>
        <p:pic>
          <p:nvPicPr>
            <p:cNvPr id="42" name="图片 41" descr="小点1.png"/>
            <p:cNvPicPr>
              <a:picLocks noChangeAspect="1"/>
            </p:cNvPicPr>
            <p:nvPr/>
          </p:nvPicPr>
          <p:blipFill>
            <a:blip r:embed="rId2" cstate="print"/>
            <a:stretch>
              <a:fillRect/>
            </a:stretch>
          </p:blipFill>
          <p:spPr>
            <a:xfrm>
              <a:off x="1284441" y="3073038"/>
              <a:ext cx="151066" cy="148997"/>
            </a:xfrm>
            <a:prstGeom prst="rect">
              <a:avLst/>
            </a:prstGeom>
            <a:effectLst/>
          </p:spPr>
        </p:pic>
        <p:sp>
          <p:nvSpPr>
            <p:cNvPr id="48" name="TextBox 47"/>
            <p:cNvSpPr txBox="1"/>
            <p:nvPr/>
          </p:nvSpPr>
          <p:spPr>
            <a:xfrm>
              <a:off x="844524" y="255723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746161" y="4512453"/>
            <a:ext cx="3405623" cy="788755"/>
            <a:chOff x="859163" y="3471416"/>
            <a:chExt cx="3405623" cy="788755"/>
          </a:xfrm>
        </p:grpSpPr>
        <p:sp>
          <p:nvSpPr>
            <p:cNvPr id="19" name="TextBox 18"/>
            <p:cNvSpPr txBox="1"/>
            <p:nvPr/>
          </p:nvSpPr>
          <p:spPr>
            <a:xfrm>
              <a:off x="1177724" y="3471416"/>
              <a:ext cx="1465450"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特征</a:t>
              </a:r>
            </a:p>
          </p:txBody>
        </p:sp>
        <p:sp>
          <p:nvSpPr>
            <p:cNvPr id="45" name="TextBox 44"/>
            <p:cNvSpPr txBox="1"/>
            <p:nvPr/>
          </p:nvSpPr>
          <p:spPr>
            <a:xfrm>
              <a:off x="859163" y="347141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32" name="TextBox 31"/>
            <p:cNvSpPr txBox="1"/>
            <p:nvPr/>
          </p:nvSpPr>
          <p:spPr>
            <a:xfrm>
              <a:off x="1431020" y="3860061"/>
              <a:ext cx="2833766"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开销比较大</a:t>
              </a:r>
            </a:p>
          </p:txBody>
        </p:sp>
        <p:pic>
          <p:nvPicPr>
            <p:cNvPr id="35" name="图片 34" descr="小点1.png"/>
            <p:cNvPicPr>
              <a:picLocks noChangeAspect="1"/>
            </p:cNvPicPr>
            <p:nvPr/>
          </p:nvPicPr>
          <p:blipFill>
            <a:blip r:embed="rId2" cstate="print"/>
            <a:stretch>
              <a:fillRect/>
            </a:stretch>
          </p:blipFill>
          <p:spPr>
            <a:xfrm>
              <a:off x="1284441" y="3969070"/>
              <a:ext cx="151066" cy="148997"/>
            </a:xfrm>
            <a:prstGeom prst="rect">
              <a:avLst/>
            </a:prstGeom>
            <a:effectLst/>
          </p:spPr>
        </p:pic>
      </p:grpSp>
      <p:grpSp>
        <p:nvGrpSpPr>
          <p:cNvPr id="2" name="组合 1"/>
          <p:cNvGrpSpPr/>
          <p:nvPr/>
        </p:nvGrpSpPr>
        <p:grpSpPr>
          <a:xfrm>
            <a:off x="731522" y="1556792"/>
            <a:ext cx="7092670" cy="1944216"/>
            <a:chOff x="844524" y="747700"/>
            <a:chExt cx="7092670" cy="1944216"/>
          </a:xfrm>
        </p:grpSpPr>
        <p:sp>
          <p:nvSpPr>
            <p:cNvPr id="10" name="TextBox 9"/>
            <p:cNvSpPr txBox="1"/>
            <p:nvPr/>
          </p:nvSpPr>
          <p:spPr>
            <a:xfrm>
              <a:off x="1175432" y="747700"/>
              <a:ext cx="1896368" cy="461665"/>
            </a:xfrm>
            <a:prstGeom prst="rect">
              <a:avLst/>
            </a:prstGeom>
            <a:noFill/>
            <a:effectLst/>
          </p:spPr>
          <p:txBody>
            <a:bodyPr wrap="square" rtlCol="0">
              <a:spAutoFit/>
            </a:bodyPr>
            <a:lstStyle/>
            <a:p>
              <a:r>
                <a:rPr lang="zh-CN" altLang="en-US" sz="2400" b="1" dirty="0">
                  <a:solidFill>
                    <a:srgbClr val="11576A"/>
                  </a:solidFill>
                  <a:latin typeface="微软雅黑" pitchFamily="34" charset="-122"/>
                  <a:ea typeface="微软雅黑" pitchFamily="34" charset="-122"/>
                </a:rPr>
                <a:t>页面链表</a:t>
              </a:r>
            </a:p>
          </p:txBody>
        </p:sp>
        <p:sp>
          <p:nvSpPr>
            <p:cNvPr id="31" name="TextBox 30"/>
            <p:cNvSpPr txBox="1"/>
            <p:nvPr/>
          </p:nvSpPr>
          <p:spPr>
            <a:xfrm>
              <a:off x="1433490" y="2291806"/>
              <a:ext cx="6363448" cy="400110"/>
            </a:xfrm>
            <a:prstGeom prst="rect">
              <a:avLst/>
            </a:prstGeom>
            <a:noFill/>
            <a:effectLst/>
          </p:spPr>
          <p:txBody>
            <a:bodyPr wrap="square" rtlCol="0">
              <a:spAutoFit/>
            </a:bodyPr>
            <a:lstStyle/>
            <a:p>
              <a:pPr marL="6350" lvl="1"/>
              <a:r>
                <a:rPr lang="zh-CN" altLang="en-US" sz="2000" b="1" dirty="0">
                  <a:solidFill>
                    <a:srgbClr val="11576A"/>
                  </a:solidFill>
                  <a:latin typeface="微软雅黑" pitchFamily="34" charset="-122"/>
                  <a:ea typeface="微软雅黑" pitchFamily="34" charset="-122"/>
                </a:rPr>
                <a:t>缺页时，置换链表尾节点的页面</a:t>
              </a:r>
            </a:p>
          </p:txBody>
        </p:sp>
        <p:pic>
          <p:nvPicPr>
            <p:cNvPr id="34" name="图片 33" descr="小点1.png"/>
            <p:cNvPicPr>
              <a:picLocks noChangeAspect="1"/>
            </p:cNvPicPr>
            <p:nvPr/>
          </p:nvPicPr>
          <p:blipFill>
            <a:blip r:embed="rId2" cstate="print"/>
            <a:stretch>
              <a:fillRect/>
            </a:stretch>
          </p:blipFill>
          <p:spPr>
            <a:xfrm>
              <a:off x="1275621" y="2361554"/>
              <a:ext cx="151066" cy="148997"/>
            </a:xfrm>
            <a:prstGeom prst="rect">
              <a:avLst/>
            </a:prstGeom>
            <a:effectLst/>
          </p:spPr>
        </p:pic>
        <p:sp>
          <p:nvSpPr>
            <p:cNvPr id="20" name="TextBox 19"/>
            <p:cNvSpPr txBox="1"/>
            <p:nvPr/>
          </p:nvSpPr>
          <p:spPr>
            <a:xfrm>
              <a:off x="1431020" y="1128828"/>
              <a:ext cx="6506174"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系统维护一个按最近一次访问时间排序的页面链表</a:t>
              </a:r>
            </a:p>
          </p:txBody>
        </p:sp>
        <p:sp>
          <p:nvSpPr>
            <p:cNvPr id="25" name="TextBox 24"/>
            <p:cNvSpPr txBox="1"/>
            <p:nvPr/>
          </p:nvSpPr>
          <p:spPr>
            <a:xfrm>
              <a:off x="1659849" y="1426225"/>
              <a:ext cx="4286280" cy="369332"/>
            </a:xfrm>
            <a:prstGeom prst="rect">
              <a:avLst/>
            </a:prstGeom>
            <a:noFill/>
            <a:effectLst/>
          </p:spPr>
          <p:txBody>
            <a:bodyPr wrap="square" rtlCol="0">
              <a:spAutoFit/>
            </a:bodyPr>
            <a:lstStyle/>
            <a:p>
              <a:pPr marL="0" lvl="2"/>
              <a:r>
                <a:rPr lang="zh-CN" altLang="en-US" b="1" dirty="0">
                  <a:solidFill>
                    <a:srgbClr val="0070C0"/>
                  </a:solidFill>
                  <a:latin typeface="微软雅黑" pitchFamily="34" charset="-122"/>
                  <a:ea typeface="微软雅黑" pitchFamily="34" charset="-122"/>
                </a:rPr>
                <a:t>链表首节点是最近刚刚使用过的页面</a:t>
              </a:r>
            </a:p>
          </p:txBody>
        </p:sp>
        <p:sp>
          <p:nvSpPr>
            <p:cNvPr id="26" name="TextBox 25"/>
            <p:cNvSpPr txBox="1"/>
            <p:nvPr/>
          </p:nvSpPr>
          <p:spPr>
            <a:xfrm>
              <a:off x="1659849" y="1715681"/>
              <a:ext cx="4426863" cy="369332"/>
            </a:xfrm>
            <a:prstGeom prst="rect">
              <a:avLst/>
            </a:prstGeom>
            <a:noFill/>
            <a:effectLst/>
          </p:spPr>
          <p:txBody>
            <a:bodyPr wrap="square" rtlCol="0">
              <a:spAutoFit/>
            </a:bodyPr>
            <a:lstStyle/>
            <a:p>
              <a:pPr marL="0" lvl="2"/>
              <a:r>
                <a:rPr lang="zh-CN" altLang="en-US" b="1" dirty="0">
                  <a:solidFill>
                    <a:srgbClr val="0070C0"/>
                  </a:solidFill>
                  <a:latin typeface="微软雅黑" pitchFamily="34" charset="-122"/>
                  <a:ea typeface="微软雅黑" pitchFamily="34" charset="-122"/>
                </a:rPr>
                <a:t>链表尾节点是最久未使用的页面</a:t>
              </a:r>
            </a:p>
          </p:txBody>
        </p:sp>
        <p:pic>
          <p:nvPicPr>
            <p:cNvPr id="39" name="图片 38" descr="小点1.png"/>
            <p:cNvPicPr>
              <a:picLocks noChangeAspect="1"/>
            </p:cNvPicPr>
            <p:nvPr/>
          </p:nvPicPr>
          <p:blipFill>
            <a:blip r:embed="rId2" cstate="print"/>
            <a:stretch>
              <a:fillRect/>
            </a:stretch>
          </p:blipFill>
          <p:spPr>
            <a:xfrm>
              <a:off x="1513269" y="1809697"/>
              <a:ext cx="151066" cy="148997"/>
            </a:xfrm>
            <a:prstGeom prst="rect">
              <a:avLst/>
            </a:prstGeom>
            <a:effectLst/>
          </p:spPr>
        </p:pic>
        <p:pic>
          <p:nvPicPr>
            <p:cNvPr id="40" name="图片 39" descr="小点1.png"/>
            <p:cNvPicPr>
              <a:picLocks noChangeAspect="1"/>
            </p:cNvPicPr>
            <p:nvPr/>
          </p:nvPicPr>
          <p:blipFill>
            <a:blip r:embed="rId2" cstate="print"/>
            <a:stretch>
              <a:fillRect/>
            </a:stretch>
          </p:blipFill>
          <p:spPr>
            <a:xfrm>
              <a:off x="1513269" y="1527826"/>
              <a:ext cx="151066" cy="148997"/>
            </a:xfrm>
            <a:prstGeom prst="rect">
              <a:avLst/>
            </a:prstGeom>
            <a:effectLst/>
          </p:spPr>
        </p:pic>
        <p:pic>
          <p:nvPicPr>
            <p:cNvPr id="43" name="图片 42" descr="小点1.png"/>
            <p:cNvPicPr>
              <a:picLocks noChangeAspect="1"/>
            </p:cNvPicPr>
            <p:nvPr/>
          </p:nvPicPr>
          <p:blipFill>
            <a:blip r:embed="rId2" cstate="print"/>
            <a:stretch>
              <a:fillRect/>
            </a:stretch>
          </p:blipFill>
          <p:spPr>
            <a:xfrm>
              <a:off x="1284441" y="1226548"/>
              <a:ext cx="151066" cy="148997"/>
            </a:xfrm>
            <a:prstGeom prst="rect">
              <a:avLst/>
            </a:prstGeom>
            <a:effectLst/>
          </p:spPr>
        </p:pic>
        <p:sp>
          <p:nvSpPr>
            <p:cNvPr id="49" name="TextBox 48"/>
            <p:cNvSpPr txBox="1"/>
            <p:nvPr/>
          </p:nvSpPr>
          <p:spPr>
            <a:xfrm>
              <a:off x="844524" y="74770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36" name="TextBox 35"/>
            <p:cNvSpPr txBox="1"/>
            <p:nvPr/>
          </p:nvSpPr>
          <p:spPr>
            <a:xfrm>
              <a:off x="1428728" y="1992672"/>
              <a:ext cx="6506173" cy="369332"/>
            </a:xfrm>
            <a:prstGeom prst="rect">
              <a:avLst/>
            </a:prstGeom>
            <a:noFill/>
            <a:effectLst/>
          </p:spPr>
          <p:txBody>
            <a:bodyPr wrap="square" rtlCol="0">
              <a:noAutofit/>
            </a:bodyPr>
            <a:lstStyle/>
            <a:p>
              <a:pPr marL="0" lvl="1"/>
              <a:r>
                <a:rPr lang="zh-CN" altLang="en-US" sz="2000" b="1" dirty="0">
                  <a:solidFill>
                    <a:srgbClr val="11576A"/>
                  </a:solidFill>
                  <a:latin typeface="微软雅黑" pitchFamily="34" charset="-122"/>
                  <a:ea typeface="微软雅黑" pitchFamily="34" charset="-122"/>
                </a:rPr>
                <a:t>访问内存时，找到相应页面，并把它移到链表之首</a:t>
              </a:r>
            </a:p>
          </p:txBody>
        </p:sp>
        <p:pic>
          <p:nvPicPr>
            <p:cNvPr id="37" name="图片 36" descr="小点1.png"/>
            <p:cNvPicPr>
              <a:picLocks noChangeAspect="1"/>
            </p:cNvPicPr>
            <p:nvPr/>
          </p:nvPicPr>
          <p:blipFill>
            <a:blip r:embed="rId2" cstate="print"/>
            <a:stretch>
              <a:fillRect/>
            </a:stretch>
          </p:blipFill>
          <p:spPr>
            <a:xfrm>
              <a:off x="1282148" y="2086688"/>
              <a:ext cx="151066" cy="148997"/>
            </a:xfrm>
            <a:prstGeom prst="rect">
              <a:avLst/>
            </a:prstGeom>
            <a:effectLst/>
          </p:spPr>
        </p:pic>
      </p:grpSp>
      <p:sp>
        <p:nvSpPr>
          <p:cNvPr id="5" name="文本框 4">
            <a:extLst>
              <a:ext uri="{FF2B5EF4-FFF2-40B4-BE49-F238E27FC236}">
                <a16:creationId xmlns:a16="http://schemas.microsoft.com/office/drawing/2014/main" id="{EEA9588E-1625-BDA3-D8C8-93C9C8AC2F0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6" name="标题 8">
            <a:extLst>
              <a:ext uri="{FF2B5EF4-FFF2-40B4-BE49-F238E27FC236}">
                <a16:creationId xmlns:a16="http://schemas.microsoft.com/office/drawing/2014/main" id="{8B50CB63-05EE-A148-437E-98262B79208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LRU</a:t>
            </a:r>
            <a:r>
              <a:rPr lang="zh-CN" altLang="en-US" b="0" kern="0" dirty="0"/>
              <a:t>算法的可能实现方法</a:t>
            </a:r>
          </a:p>
        </p:txBody>
      </p:sp>
    </p:spTree>
    <p:extLst>
      <p:ext uri="{BB962C8B-B14F-4D97-AF65-F5344CB8AC3E}">
        <p14:creationId xmlns:p14="http://schemas.microsoft.com/office/powerpoint/2010/main" val="661099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 name="矩形 224"/>
          <p:cNvSpPr/>
          <p:nvPr/>
        </p:nvSpPr>
        <p:spPr>
          <a:xfrm>
            <a:off x="2909825" y="4430556"/>
            <a:ext cx="6429420" cy="1374709"/>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a:p>
        </p:txBody>
      </p:sp>
      <p:sp>
        <p:nvSpPr>
          <p:cNvPr id="8" name="矩形 7"/>
          <p:cNvSpPr/>
          <p:nvPr/>
        </p:nvSpPr>
        <p:spPr>
          <a:xfrm>
            <a:off x="2909825" y="2057329"/>
            <a:ext cx="6429420" cy="222949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a:p>
        </p:txBody>
      </p:sp>
      <p:cxnSp>
        <p:nvCxnSpPr>
          <p:cNvPr id="13" name="直接连接符 12"/>
          <p:cNvCxnSpPr/>
          <p:nvPr/>
        </p:nvCxnSpPr>
        <p:spPr>
          <a:xfrm>
            <a:off x="2981263" y="2373344"/>
            <a:ext cx="6286544" cy="1405"/>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981263" y="2751233"/>
            <a:ext cx="6286544" cy="1405"/>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981263" y="4001536"/>
            <a:ext cx="6286544" cy="1405"/>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3388763" y="3303740"/>
            <a:ext cx="1137648"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a:off x="3502170" y="2988429"/>
            <a:ext cx="1769675"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666829" y="1915057"/>
            <a:ext cx="734827" cy="420628"/>
          </a:xfrm>
          <a:prstGeom prst="rect">
            <a:avLst/>
          </a:prstGeom>
          <a:noFill/>
          <a:effectLst/>
        </p:spPr>
        <p:txBody>
          <a:bodyPr wrap="square" rtlCol="0" anchor="ctr">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10</a:t>
            </a:r>
            <a:endParaRPr lang="zh-CN" altLang="en-US" sz="3200" b="1" baseline="-25000" dirty="0">
              <a:solidFill>
                <a:srgbClr val="11576A"/>
              </a:solidFill>
              <a:latin typeface="微软雅黑" pitchFamily="34" charset="-122"/>
              <a:ea typeface="微软雅黑" pitchFamily="34" charset="-122"/>
            </a:endParaRPr>
          </a:p>
        </p:txBody>
      </p:sp>
      <p:sp>
        <p:nvSpPr>
          <p:cNvPr id="22" name="TextBox 21"/>
          <p:cNvSpPr txBox="1"/>
          <p:nvPr/>
        </p:nvSpPr>
        <p:spPr>
          <a:xfrm>
            <a:off x="8326413"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9</a:t>
            </a:r>
            <a:endParaRPr lang="zh-CN" altLang="en-US" sz="3200" b="1" baseline="-25000" dirty="0">
              <a:solidFill>
                <a:srgbClr val="11576A"/>
              </a:solidFill>
              <a:latin typeface="微软雅黑" pitchFamily="34" charset="-122"/>
              <a:ea typeface="微软雅黑" pitchFamily="34" charset="-122"/>
            </a:endParaRPr>
          </a:p>
        </p:txBody>
      </p:sp>
      <p:sp>
        <p:nvSpPr>
          <p:cNvPr id="25" name="TextBox 24"/>
          <p:cNvSpPr txBox="1"/>
          <p:nvPr/>
        </p:nvSpPr>
        <p:spPr>
          <a:xfrm>
            <a:off x="6852981"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6</a:t>
            </a:r>
            <a:endParaRPr lang="zh-CN" altLang="en-US" sz="3200" b="1" baseline="-25000" dirty="0">
              <a:solidFill>
                <a:srgbClr val="11576A"/>
              </a:solidFill>
              <a:latin typeface="微软雅黑" pitchFamily="34" charset="-122"/>
              <a:ea typeface="微软雅黑" pitchFamily="34" charset="-122"/>
            </a:endParaRPr>
          </a:p>
        </p:txBody>
      </p:sp>
      <p:sp>
        <p:nvSpPr>
          <p:cNvPr id="26" name="TextBox 25"/>
          <p:cNvSpPr txBox="1"/>
          <p:nvPr/>
        </p:nvSpPr>
        <p:spPr>
          <a:xfrm>
            <a:off x="6345199"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5</a:t>
            </a:r>
            <a:endParaRPr lang="zh-CN" altLang="en-US" sz="3200" b="1" baseline="-25000" dirty="0">
              <a:solidFill>
                <a:srgbClr val="11576A"/>
              </a:solidFill>
              <a:latin typeface="微软雅黑" pitchFamily="34" charset="-122"/>
              <a:ea typeface="微软雅黑" pitchFamily="34" charset="-122"/>
            </a:endParaRPr>
          </a:p>
        </p:txBody>
      </p:sp>
      <p:sp>
        <p:nvSpPr>
          <p:cNvPr id="27" name="TextBox 26"/>
          <p:cNvSpPr txBox="1"/>
          <p:nvPr/>
        </p:nvSpPr>
        <p:spPr>
          <a:xfrm>
            <a:off x="5846499"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4</a:t>
            </a:r>
            <a:endParaRPr lang="zh-CN" altLang="en-US" sz="3200" b="1" baseline="-25000" dirty="0">
              <a:solidFill>
                <a:srgbClr val="11576A"/>
              </a:solidFill>
              <a:latin typeface="微软雅黑" pitchFamily="34" charset="-122"/>
              <a:ea typeface="微软雅黑" pitchFamily="34" charset="-122"/>
            </a:endParaRPr>
          </a:p>
        </p:txBody>
      </p:sp>
      <p:sp>
        <p:nvSpPr>
          <p:cNvPr id="28" name="TextBox 27"/>
          <p:cNvSpPr txBox="1"/>
          <p:nvPr/>
        </p:nvSpPr>
        <p:spPr>
          <a:xfrm>
            <a:off x="5332367"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29" name="TextBox 28"/>
          <p:cNvSpPr txBox="1"/>
          <p:nvPr/>
        </p:nvSpPr>
        <p:spPr>
          <a:xfrm>
            <a:off x="4855893"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30" name="TextBox 29"/>
          <p:cNvSpPr txBox="1"/>
          <p:nvPr/>
        </p:nvSpPr>
        <p:spPr>
          <a:xfrm>
            <a:off x="4354461"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31" name="TextBox 30"/>
          <p:cNvSpPr txBox="1"/>
          <p:nvPr/>
        </p:nvSpPr>
        <p:spPr>
          <a:xfrm>
            <a:off x="8809703"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32" name="TextBox 31"/>
          <p:cNvSpPr txBox="1"/>
          <p:nvPr/>
        </p:nvSpPr>
        <p:spPr>
          <a:xfrm>
            <a:off x="8345463"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33" name="TextBox 32"/>
          <p:cNvSpPr txBox="1"/>
          <p:nvPr/>
        </p:nvSpPr>
        <p:spPr>
          <a:xfrm>
            <a:off x="7846763"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4" name="TextBox 33"/>
          <p:cNvSpPr txBox="1"/>
          <p:nvPr/>
        </p:nvSpPr>
        <p:spPr>
          <a:xfrm>
            <a:off x="7338981"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35" name="TextBox 34"/>
          <p:cNvSpPr txBox="1"/>
          <p:nvPr/>
        </p:nvSpPr>
        <p:spPr>
          <a:xfrm>
            <a:off x="6852981"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6" name="TextBox 35"/>
          <p:cNvSpPr txBox="1"/>
          <p:nvPr/>
        </p:nvSpPr>
        <p:spPr>
          <a:xfrm>
            <a:off x="6345199"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37" name="TextBox 36"/>
          <p:cNvSpPr txBox="1"/>
          <p:nvPr/>
        </p:nvSpPr>
        <p:spPr>
          <a:xfrm>
            <a:off x="5846499"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38" name="TextBox 37"/>
          <p:cNvSpPr txBox="1"/>
          <p:nvPr/>
        </p:nvSpPr>
        <p:spPr>
          <a:xfrm>
            <a:off x="5332367"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39" name="TextBox 38"/>
          <p:cNvSpPr txBox="1"/>
          <p:nvPr/>
        </p:nvSpPr>
        <p:spPr>
          <a:xfrm>
            <a:off x="4855893"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40" name="TextBox 39"/>
          <p:cNvSpPr txBox="1"/>
          <p:nvPr/>
        </p:nvSpPr>
        <p:spPr>
          <a:xfrm>
            <a:off x="4354461" y="22623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grpSp>
        <p:nvGrpSpPr>
          <p:cNvPr id="7" name="组合 6"/>
          <p:cNvGrpSpPr/>
          <p:nvPr/>
        </p:nvGrpSpPr>
        <p:grpSpPr>
          <a:xfrm>
            <a:off x="7846763" y="2589145"/>
            <a:ext cx="486000" cy="1377062"/>
            <a:chOff x="5874629" y="1748190"/>
            <a:chExt cx="486000" cy="1240167"/>
          </a:xfrm>
        </p:grpSpPr>
        <p:sp>
          <p:nvSpPr>
            <p:cNvPr id="53" name="TextBox 52"/>
            <p:cNvSpPr txBox="1"/>
            <p:nvPr/>
          </p:nvSpPr>
          <p:spPr>
            <a:xfrm>
              <a:off x="5874629" y="1748190"/>
              <a:ext cx="486000" cy="378813"/>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3" name="TextBox 62"/>
            <p:cNvSpPr txBox="1"/>
            <p:nvPr/>
          </p:nvSpPr>
          <p:spPr>
            <a:xfrm>
              <a:off x="5874629" y="2030409"/>
              <a:ext cx="486000" cy="378813"/>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3" name="TextBox 72"/>
            <p:cNvSpPr txBox="1"/>
            <p:nvPr/>
          </p:nvSpPr>
          <p:spPr>
            <a:xfrm>
              <a:off x="5874629" y="2318296"/>
              <a:ext cx="486000" cy="378813"/>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85" name="TextBox 84"/>
            <p:cNvSpPr txBox="1"/>
            <p:nvPr/>
          </p:nvSpPr>
          <p:spPr>
            <a:xfrm>
              <a:off x="5874629" y="2609544"/>
              <a:ext cx="486000" cy="378813"/>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6" name="组合 5"/>
          <p:cNvGrpSpPr/>
          <p:nvPr/>
        </p:nvGrpSpPr>
        <p:grpSpPr>
          <a:xfrm>
            <a:off x="7338981" y="2580423"/>
            <a:ext cx="486000" cy="1376662"/>
            <a:chOff x="5366847" y="1742559"/>
            <a:chExt cx="486000" cy="1248434"/>
          </a:xfrm>
        </p:grpSpPr>
        <p:sp>
          <p:nvSpPr>
            <p:cNvPr id="54" name="TextBox 53"/>
            <p:cNvSpPr txBox="1"/>
            <p:nvPr/>
          </p:nvSpPr>
          <p:spPr>
            <a:xfrm>
              <a:off x="5366847" y="1742559"/>
              <a:ext cx="486000" cy="381449"/>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4" name="TextBox 63"/>
            <p:cNvSpPr txBox="1"/>
            <p:nvPr/>
          </p:nvSpPr>
          <p:spPr>
            <a:xfrm>
              <a:off x="5366847" y="2035690"/>
              <a:ext cx="486000" cy="381449"/>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4" name="TextBox 73"/>
            <p:cNvSpPr txBox="1"/>
            <p:nvPr/>
          </p:nvSpPr>
          <p:spPr>
            <a:xfrm>
              <a:off x="5366847" y="2318469"/>
              <a:ext cx="486000" cy="381449"/>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86" name="TextBox 85"/>
            <p:cNvSpPr txBox="1"/>
            <p:nvPr/>
          </p:nvSpPr>
          <p:spPr>
            <a:xfrm>
              <a:off x="5366847" y="2609544"/>
              <a:ext cx="486000" cy="381449"/>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5" name="组合 4"/>
          <p:cNvGrpSpPr/>
          <p:nvPr/>
        </p:nvGrpSpPr>
        <p:grpSpPr>
          <a:xfrm>
            <a:off x="6852981" y="2574702"/>
            <a:ext cx="486000" cy="1382274"/>
            <a:chOff x="4880847" y="1782969"/>
            <a:chExt cx="486000" cy="1198713"/>
          </a:xfrm>
        </p:grpSpPr>
        <p:sp>
          <p:nvSpPr>
            <p:cNvPr id="55" name="TextBox 54"/>
            <p:cNvSpPr txBox="1"/>
            <p:nvPr/>
          </p:nvSpPr>
          <p:spPr>
            <a:xfrm>
              <a:off x="4880847" y="1782969"/>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5" name="TextBox 64"/>
            <p:cNvSpPr txBox="1"/>
            <p:nvPr/>
          </p:nvSpPr>
          <p:spPr>
            <a:xfrm>
              <a:off x="4880847" y="2062561"/>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5" name="TextBox 74"/>
            <p:cNvSpPr txBox="1"/>
            <p:nvPr/>
          </p:nvSpPr>
          <p:spPr>
            <a:xfrm>
              <a:off x="4880847" y="2341226"/>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87" name="TextBox 86"/>
            <p:cNvSpPr txBox="1"/>
            <p:nvPr/>
          </p:nvSpPr>
          <p:spPr>
            <a:xfrm>
              <a:off x="4880847" y="2609544"/>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8" name="组合 47"/>
          <p:cNvGrpSpPr/>
          <p:nvPr/>
        </p:nvGrpSpPr>
        <p:grpSpPr>
          <a:xfrm>
            <a:off x="5846499" y="2585529"/>
            <a:ext cx="486000" cy="1387289"/>
            <a:chOff x="3874365" y="1846945"/>
            <a:chExt cx="486000" cy="1187711"/>
          </a:xfrm>
        </p:grpSpPr>
        <p:sp>
          <p:nvSpPr>
            <p:cNvPr id="57" name="TextBox 56"/>
            <p:cNvSpPr txBox="1"/>
            <p:nvPr/>
          </p:nvSpPr>
          <p:spPr>
            <a:xfrm>
              <a:off x="3874365" y="1846945"/>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7" name="TextBox 66"/>
            <p:cNvSpPr txBox="1"/>
            <p:nvPr/>
          </p:nvSpPr>
          <p:spPr>
            <a:xfrm>
              <a:off x="3874365" y="2114259"/>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7" name="TextBox 76"/>
            <p:cNvSpPr txBox="1"/>
            <p:nvPr/>
          </p:nvSpPr>
          <p:spPr>
            <a:xfrm>
              <a:off x="3874365" y="2399478"/>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89" name="TextBox 88"/>
            <p:cNvSpPr txBox="1"/>
            <p:nvPr/>
          </p:nvSpPr>
          <p:spPr>
            <a:xfrm>
              <a:off x="3874365" y="2662518"/>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7" name="组合 46"/>
          <p:cNvGrpSpPr/>
          <p:nvPr/>
        </p:nvGrpSpPr>
        <p:grpSpPr>
          <a:xfrm>
            <a:off x="5332367" y="2573971"/>
            <a:ext cx="486000" cy="1391711"/>
            <a:chOff x="3360233" y="1780212"/>
            <a:chExt cx="486000" cy="1201470"/>
          </a:xfrm>
        </p:grpSpPr>
        <p:sp>
          <p:nvSpPr>
            <p:cNvPr id="58" name="TextBox 57"/>
            <p:cNvSpPr txBox="1"/>
            <p:nvPr/>
          </p:nvSpPr>
          <p:spPr>
            <a:xfrm>
              <a:off x="3360233" y="1780212"/>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8" name="TextBox 67"/>
            <p:cNvSpPr txBox="1"/>
            <p:nvPr/>
          </p:nvSpPr>
          <p:spPr>
            <a:xfrm>
              <a:off x="3360233" y="2073945"/>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8" name="TextBox 77"/>
            <p:cNvSpPr txBox="1"/>
            <p:nvPr/>
          </p:nvSpPr>
          <p:spPr>
            <a:xfrm>
              <a:off x="3360233" y="2352880"/>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90" name="TextBox 89"/>
            <p:cNvSpPr txBox="1"/>
            <p:nvPr/>
          </p:nvSpPr>
          <p:spPr>
            <a:xfrm>
              <a:off x="3360233" y="2609544"/>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6" name="组合 45"/>
          <p:cNvGrpSpPr/>
          <p:nvPr/>
        </p:nvGrpSpPr>
        <p:grpSpPr>
          <a:xfrm>
            <a:off x="4855893" y="2586227"/>
            <a:ext cx="486000" cy="1385581"/>
            <a:chOff x="2883759" y="1707914"/>
            <a:chExt cx="486000" cy="1234735"/>
          </a:xfrm>
        </p:grpSpPr>
        <p:sp>
          <p:nvSpPr>
            <p:cNvPr id="59" name="TextBox 58"/>
            <p:cNvSpPr txBox="1"/>
            <p:nvPr/>
          </p:nvSpPr>
          <p:spPr>
            <a:xfrm>
              <a:off x="2883759" y="1707914"/>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9" name="TextBox 68"/>
            <p:cNvSpPr txBox="1"/>
            <p:nvPr/>
          </p:nvSpPr>
          <p:spPr>
            <a:xfrm>
              <a:off x="2883759" y="1991614"/>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9" name="TextBox 78"/>
            <p:cNvSpPr txBox="1"/>
            <p:nvPr/>
          </p:nvSpPr>
          <p:spPr>
            <a:xfrm>
              <a:off x="2883759" y="2304645"/>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91" name="TextBox 90"/>
            <p:cNvSpPr txBox="1"/>
            <p:nvPr/>
          </p:nvSpPr>
          <p:spPr>
            <a:xfrm>
              <a:off x="2883759" y="2570511"/>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grpSp>
        <p:nvGrpSpPr>
          <p:cNvPr id="45" name="组合 44"/>
          <p:cNvGrpSpPr/>
          <p:nvPr/>
        </p:nvGrpSpPr>
        <p:grpSpPr>
          <a:xfrm>
            <a:off x="4354461" y="2577011"/>
            <a:ext cx="486000" cy="1385710"/>
            <a:chOff x="2382327" y="1661504"/>
            <a:chExt cx="486000" cy="1292141"/>
          </a:xfrm>
        </p:grpSpPr>
        <p:sp>
          <p:nvSpPr>
            <p:cNvPr id="60" name="TextBox 59"/>
            <p:cNvSpPr txBox="1"/>
            <p:nvPr/>
          </p:nvSpPr>
          <p:spPr>
            <a:xfrm>
              <a:off x="2382327" y="1661504"/>
              <a:ext cx="486000" cy="392226"/>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70" name="TextBox 69"/>
            <p:cNvSpPr txBox="1"/>
            <p:nvPr/>
          </p:nvSpPr>
          <p:spPr>
            <a:xfrm>
              <a:off x="2382327" y="1967108"/>
              <a:ext cx="486000" cy="392226"/>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80" name="TextBox 79"/>
            <p:cNvSpPr txBox="1"/>
            <p:nvPr/>
          </p:nvSpPr>
          <p:spPr>
            <a:xfrm>
              <a:off x="2382327" y="2293530"/>
              <a:ext cx="486000" cy="392226"/>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92" name="TextBox 91"/>
            <p:cNvSpPr txBox="1"/>
            <p:nvPr/>
          </p:nvSpPr>
          <p:spPr>
            <a:xfrm>
              <a:off x="2382327" y="2561419"/>
              <a:ext cx="486000" cy="392226"/>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grpSp>
      <p:sp>
        <p:nvSpPr>
          <p:cNvPr id="97" name="TextBox 96"/>
          <p:cNvSpPr txBox="1"/>
          <p:nvPr/>
        </p:nvSpPr>
        <p:spPr>
          <a:xfrm>
            <a:off x="3455047" y="261826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98" name="TextBox 97"/>
          <p:cNvSpPr txBox="1"/>
          <p:nvPr/>
        </p:nvSpPr>
        <p:spPr>
          <a:xfrm>
            <a:off x="3455047" y="289636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99" name="TextBox 98"/>
          <p:cNvSpPr txBox="1"/>
          <p:nvPr/>
        </p:nvSpPr>
        <p:spPr>
          <a:xfrm>
            <a:off x="3455047" y="322278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100" name="TextBox 99"/>
          <p:cNvSpPr txBox="1"/>
          <p:nvPr/>
        </p:nvSpPr>
        <p:spPr>
          <a:xfrm>
            <a:off x="3455047" y="3538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101" name="TextBox 100"/>
          <p:cNvSpPr txBox="1"/>
          <p:nvPr/>
        </p:nvSpPr>
        <p:spPr>
          <a:xfrm>
            <a:off x="3921775" y="259076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02" name="TextBox 101"/>
          <p:cNvSpPr txBox="1"/>
          <p:nvPr/>
        </p:nvSpPr>
        <p:spPr>
          <a:xfrm>
            <a:off x="3921775" y="289636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03" name="TextBox 102"/>
          <p:cNvSpPr txBox="1"/>
          <p:nvPr/>
        </p:nvSpPr>
        <p:spPr>
          <a:xfrm>
            <a:off x="3921775" y="322278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04" name="TextBox 103"/>
          <p:cNvSpPr txBox="1"/>
          <p:nvPr/>
        </p:nvSpPr>
        <p:spPr>
          <a:xfrm>
            <a:off x="3921775" y="353880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105" name="TextBox 104"/>
          <p:cNvSpPr txBox="1"/>
          <p:nvPr/>
        </p:nvSpPr>
        <p:spPr>
          <a:xfrm>
            <a:off x="3912029" y="194178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106" name="TextBox 105"/>
          <p:cNvSpPr txBox="1"/>
          <p:nvPr/>
        </p:nvSpPr>
        <p:spPr>
          <a:xfrm>
            <a:off x="2945456" y="2339634"/>
            <a:ext cx="1098348"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访问请求</a:t>
            </a:r>
          </a:p>
        </p:txBody>
      </p:sp>
      <p:sp>
        <p:nvSpPr>
          <p:cNvPr id="107" name="TextBox 106"/>
          <p:cNvSpPr txBox="1"/>
          <p:nvPr/>
        </p:nvSpPr>
        <p:spPr>
          <a:xfrm>
            <a:off x="2941177" y="2009871"/>
            <a:ext cx="871060"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时间</a:t>
            </a:r>
          </a:p>
        </p:txBody>
      </p:sp>
      <p:sp>
        <p:nvSpPr>
          <p:cNvPr id="108" name="TextBox 107"/>
          <p:cNvSpPr txBox="1"/>
          <p:nvPr/>
        </p:nvSpPr>
        <p:spPr>
          <a:xfrm>
            <a:off x="2945456" y="3919701"/>
            <a:ext cx="1169786"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缺页状态</a:t>
            </a:r>
          </a:p>
        </p:txBody>
      </p:sp>
      <p:grpSp>
        <p:nvGrpSpPr>
          <p:cNvPr id="3" name="组合 2"/>
          <p:cNvGrpSpPr/>
          <p:nvPr/>
        </p:nvGrpSpPr>
        <p:grpSpPr>
          <a:xfrm>
            <a:off x="6479793" y="2486843"/>
            <a:ext cx="234000" cy="1711196"/>
            <a:chOff x="4507659" y="1557586"/>
            <a:chExt cx="234000" cy="1711196"/>
          </a:xfrm>
        </p:grpSpPr>
        <p:sp>
          <p:nvSpPr>
            <p:cNvPr id="117" name="AutoShape 100"/>
            <p:cNvSpPr>
              <a:spLocks noChangeArrowheads="1"/>
            </p:cNvSpPr>
            <p:nvPr/>
          </p:nvSpPr>
          <p:spPr bwMode="auto">
            <a:xfrm>
              <a:off x="4545759" y="3109532"/>
              <a:ext cx="180000" cy="15925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18" name="Oval 101"/>
            <p:cNvSpPr>
              <a:spLocks/>
            </p:cNvSpPr>
            <p:nvPr/>
          </p:nvSpPr>
          <p:spPr bwMode="auto">
            <a:xfrm>
              <a:off x="4507659" y="1557586"/>
              <a:ext cx="234000" cy="207025"/>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4" name="组合 3"/>
          <p:cNvGrpSpPr/>
          <p:nvPr/>
        </p:nvGrpSpPr>
        <p:grpSpPr>
          <a:xfrm>
            <a:off x="6271738" y="2578490"/>
            <a:ext cx="559463" cy="1385678"/>
            <a:chOff x="4299602" y="1769318"/>
            <a:chExt cx="559463" cy="1212364"/>
          </a:xfrm>
        </p:grpSpPr>
        <p:sp>
          <p:nvSpPr>
            <p:cNvPr id="56" name="TextBox 55"/>
            <p:cNvSpPr txBox="1"/>
            <p:nvPr/>
          </p:nvSpPr>
          <p:spPr>
            <a:xfrm>
              <a:off x="4373065" y="1769318"/>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6" name="TextBox 65"/>
            <p:cNvSpPr txBox="1"/>
            <p:nvPr/>
          </p:nvSpPr>
          <p:spPr>
            <a:xfrm>
              <a:off x="4373065" y="2054251"/>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6" name="TextBox 75"/>
            <p:cNvSpPr txBox="1"/>
            <p:nvPr/>
          </p:nvSpPr>
          <p:spPr>
            <a:xfrm>
              <a:off x="4373065" y="2335635"/>
              <a:ext cx="486000" cy="36801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e</a:t>
              </a:r>
              <a:endParaRPr lang="zh-CN" altLang="en-US" sz="3200" b="1" baseline="-25000" dirty="0">
                <a:solidFill>
                  <a:srgbClr val="C00000"/>
                </a:solidFill>
                <a:latin typeface="微软雅黑" pitchFamily="34" charset="-122"/>
                <a:ea typeface="微软雅黑" pitchFamily="34" charset="-122"/>
              </a:endParaRPr>
            </a:p>
          </p:txBody>
        </p:sp>
        <p:sp>
          <p:nvSpPr>
            <p:cNvPr id="88" name="TextBox 87"/>
            <p:cNvSpPr txBox="1"/>
            <p:nvPr/>
          </p:nvSpPr>
          <p:spPr>
            <a:xfrm>
              <a:off x="4373065" y="2609544"/>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endParaRPr lang="zh-CN" altLang="en-US" sz="3200" b="1" baseline="-25000" dirty="0">
                <a:solidFill>
                  <a:srgbClr val="11576A"/>
                </a:solidFill>
                <a:latin typeface="微软雅黑" pitchFamily="34" charset="-122"/>
                <a:ea typeface="微软雅黑" pitchFamily="34" charset="-122"/>
              </a:endParaRPr>
            </a:p>
          </p:txBody>
        </p:sp>
        <p:sp>
          <p:nvSpPr>
            <p:cNvPr id="119" name="AutoShape 98"/>
            <p:cNvSpPr>
              <a:spLocks/>
            </p:cNvSpPr>
            <p:nvPr/>
          </p:nvSpPr>
          <p:spPr bwMode="auto">
            <a:xfrm>
              <a:off x="4299602" y="2595984"/>
              <a:ext cx="228600" cy="67416"/>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sp>
        <p:nvSpPr>
          <p:cNvPr id="120" name="TextBox 119"/>
          <p:cNvSpPr txBox="1"/>
          <p:nvPr/>
        </p:nvSpPr>
        <p:spPr>
          <a:xfrm>
            <a:off x="2981527" y="2946679"/>
            <a:ext cx="430887" cy="940977"/>
          </a:xfrm>
          <a:prstGeom prst="rect">
            <a:avLst/>
          </a:prstGeom>
          <a:noFill/>
          <a:effectLst/>
        </p:spPr>
        <p:txBody>
          <a:bodyPr vert="eaVert"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物理帧号</a:t>
            </a:r>
          </a:p>
        </p:txBody>
      </p:sp>
      <p:grpSp>
        <p:nvGrpSpPr>
          <p:cNvPr id="9" name="组合 8"/>
          <p:cNvGrpSpPr/>
          <p:nvPr/>
        </p:nvGrpSpPr>
        <p:grpSpPr>
          <a:xfrm>
            <a:off x="8483207" y="2486843"/>
            <a:ext cx="234000" cy="1711196"/>
            <a:chOff x="6511073" y="1557586"/>
            <a:chExt cx="234000" cy="1711196"/>
          </a:xfrm>
        </p:grpSpPr>
        <p:sp>
          <p:nvSpPr>
            <p:cNvPr id="110" name="Oval 101"/>
            <p:cNvSpPr>
              <a:spLocks/>
            </p:cNvSpPr>
            <p:nvPr/>
          </p:nvSpPr>
          <p:spPr bwMode="auto">
            <a:xfrm>
              <a:off x="6511073" y="1557586"/>
              <a:ext cx="234000" cy="207025"/>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sp>
          <p:nvSpPr>
            <p:cNvPr id="122" name="AutoShape 100"/>
            <p:cNvSpPr>
              <a:spLocks noChangeArrowheads="1"/>
            </p:cNvSpPr>
            <p:nvPr/>
          </p:nvSpPr>
          <p:spPr bwMode="auto">
            <a:xfrm>
              <a:off x="6547740" y="3109532"/>
              <a:ext cx="180000" cy="15925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0" name="组合 9"/>
          <p:cNvGrpSpPr/>
          <p:nvPr/>
        </p:nvGrpSpPr>
        <p:grpSpPr>
          <a:xfrm>
            <a:off x="8939731" y="2486843"/>
            <a:ext cx="234000" cy="1711196"/>
            <a:chOff x="6967597" y="1557586"/>
            <a:chExt cx="234000" cy="1711196"/>
          </a:xfrm>
        </p:grpSpPr>
        <p:sp>
          <p:nvSpPr>
            <p:cNvPr id="115" name="Oval 101"/>
            <p:cNvSpPr>
              <a:spLocks/>
            </p:cNvSpPr>
            <p:nvPr/>
          </p:nvSpPr>
          <p:spPr bwMode="auto">
            <a:xfrm>
              <a:off x="6967597" y="1557586"/>
              <a:ext cx="234000" cy="207025"/>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sp>
          <p:nvSpPr>
            <p:cNvPr id="123" name="AutoShape 100"/>
            <p:cNvSpPr>
              <a:spLocks noChangeArrowheads="1"/>
            </p:cNvSpPr>
            <p:nvPr/>
          </p:nvSpPr>
          <p:spPr bwMode="auto">
            <a:xfrm>
              <a:off x="7004264" y="3109532"/>
              <a:ext cx="180000" cy="15925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2" name="组合 11"/>
          <p:cNvGrpSpPr/>
          <p:nvPr/>
        </p:nvGrpSpPr>
        <p:grpSpPr>
          <a:xfrm>
            <a:off x="8728526" y="2584177"/>
            <a:ext cx="571505" cy="1373577"/>
            <a:chOff x="6756390" y="1763625"/>
            <a:chExt cx="571505" cy="1218057"/>
          </a:xfrm>
        </p:grpSpPr>
        <p:sp>
          <p:nvSpPr>
            <p:cNvPr id="124" name="TextBox 123"/>
            <p:cNvSpPr txBox="1"/>
            <p:nvPr/>
          </p:nvSpPr>
          <p:spPr>
            <a:xfrm>
              <a:off x="6841895" y="1763625"/>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125" name="TextBox 124"/>
            <p:cNvSpPr txBox="1"/>
            <p:nvPr/>
          </p:nvSpPr>
          <p:spPr>
            <a:xfrm>
              <a:off x="6841895" y="2046363"/>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126" name="TextBox 125"/>
            <p:cNvSpPr txBox="1"/>
            <p:nvPr/>
          </p:nvSpPr>
          <p:spPr>
            <a:xfrm>
              <a:off x="6841895" y="2354496"/>
              <a:ext cx="486000" cy="373003"/>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sp>
          <p:nvSpPr>
            <p:cNvPr id="127" name="TextBox 126"/>
            <p:cNvSpPr txBox="1"/>
            <p:nvPr/>
          </p:nvSpPr>
          <p:spPr>
            <a:xfrm>
              <a:off x="6841895" y="2609544"/>
              <a:ext cx="486000" cy="37213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endParaRPr lang="zh-CN" altLang="en-US" sz="3200" b="1" baseline="-25000" dirty="0">
                <a:solidFill>
                  <a:srgbClr val="11576A"/>
                </a:solidFill>
                <a:latin typeface="微软雅黑" pitchFamily="34" charset="-122"/>
                <a:ea typeface="微软雅黑" pitchFamily="34" charset="-122"/>
              </a:endParaRPr>
            </a:p>
          </p:txBody>
        </p:sp>
        <p:sp>
          <p:nvSpPr>
            <p:cNvPr id="128" name="AutoShape 98"/>
            <p:cNvSpPr>
              <a:spLocks/>
            </p:cNvSpPr>
            <p:nvPr/>
          </p:nvSpPr>
          <p:spPr bwMode="auto">
            <a:xfrm>
              <a:off x="6756390" y="2595984"/>
              <a:ext cx="228600" cy="67416"/>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11" name="组合 10"/>
          <p:cNvGrpSpPr/>
          <p:nvPr/>
        </p:nvGrpSpPr>
        <p:grpSpPr>
          <a:xfrm>
            <a:off x="8282643" y="2578492"/>
            <a:ext cx="548820" cy="1380939"/>
            <a:chOff x="6310509" y="1661504"/>
            <a:chExt cx="548820" cy="1368668"/>
          </a:xfrm>
        </p:grpSpPr>
        <p:sp>
          <p:nvSpPr>
            <p:cNvPr id="52" name="TextBox 51"/>
            <p:cNvSpPr txBox="1"/>
            <p:nvPr/>
          </p:nvSpPr>
          <p:spPr>
            <a:xfrm>
              <a:off x="6373329" y="1661504"/>
              <a:ext cx="486000" cy="416890"/>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endParaRPr lang="zh-CN" altLang="en-US" sz="3200" b="1" baseline="-25000" dirty="0">
                <a:solidFill>
                  <a:srgbClr val="11576A"/>
                </a:solidFill>
                <a:latin typeface="微软雅黑" pitchFamily="34" charset="-122"/>
                <a:ea typeface="微软雅黑" pitchFamily="34" charset="-122"/>
              </a:endParaRPr>
            </a:p>
          </p:txBody>
        </p:sp>
        <p:sp>
          <p:nvSpPr>
            <p:cNvPr id="62" name="TextBox 61"/>
            <p:cNvSpPr txBox="1"/>
            <p:nvPr/>
          </p:nvSpPr>
          <p:spPr>
            <a:xfrm>
              <a:off x="6373329" y="1980736"/>
              <a:ext cx="486000" cy="416890"/>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endParaRPr lang="zh-CN" altLang="en-US" sz="3200" b="1" baseline="-25000" dirty="0">
                <a:solidFill>
                  <a:srgbClr val="11576A"/>
                </a:solidFill>
                <a:latin typeface="微软雅黑" pitchFamily="34" charset="-122"/>
                <a:ea typeface="微软雅黑" pitchFamily="34" charset="-122"/>
              </a:endParaRPr>
            </a:p>
          </p:txBody>
        </p:sp>
        <p:sp>
          <p:nvSpPr>
            <p:cNvPr id="72" name="TextBox 71"/>
            <p:cNvSpPr txBox="1"/>
            <p:nvPr/>
          </p:nvSpPr>
          <p:spPr>
            <a:xfrm>
              <a:off x="6373329" y="2293530"/>
              <a:ext cx="486000" cy="416890"/>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endParaRPr lang="zh-CN" altLang="en-US" sz="3200" b="1" baseline="-25000" dirty="0">
                <a:solidFill>
                  <a:srgbClr val="11576A"/>
                </a:solidFill>
                <a:latin typeface="微软雅黑" pitchFamily="34" charset="-122"/>
                <a:ea typeface="微软雅黑" pitchFamily="34" charset="-122"/>
              </a:endParaRPr>
            </a:p>
          </p:txBody>
        </p:sp>
        <p:sp>
          <p:nvSpPr>
            <p:cNvPr id="84" name="TextBox 83"/>
            <p:cNvSpPr txBox="1"/>
            <p:nvPr/>
          </p:nvSpPr>
          <p:spPr>
            <a:xfrm>
              <a:off x="6373329" y="260954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sp>
          <p:nvSpPr>
            <p:cNvPr id="131" name="AutoShape 98"/>
            <p:cNvSpPr>
              <a:spLocks/>
            </p:cNvSpPr>
            <p:nvPr/>
          </p:nvSpPr>
          <p:spPr bwMode="auto">
            <a:xfrm>
              <a:off x="6310509" y="2907711"/>
              <a:ext cx="228600" cy="67416"/>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sp>
        <p:nvSpPr>
          <p:cNvPr id="176" name="TextBox 175"/>
          <p:cNvSpPr txBox="1"/>
          <p:nvPr/>
        </p:nvSpPr>
        <p:spPr>
          <a:xfrm>
            <a:off x="7329952"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7</a:t>
            </a:r>
            <a:endParaRPr lang="zh-CN" altLang="en-US" sz="3200" b="1" baseline="-25000" dirty="0">
              <a:solidFill>
                <a:srgbClr val="11576A"/>
              </a:solidFill>
              <a:latin typeface="微软雅黑" pitchFamily="34" charset="-122"/>
              <a:ea typeface="微软雅黑" pitchFamily="34" charset="-122"/>
            </a:endParaRPr>
          </a:p>
        </p:txBody>
      </p:sp>
      <p:sp>
        <p:nvSpPr>
          <p:cNvPr id="177" name="TextBox 176"/>
          <p:cNvSpPr txBox="1"/>
          <p:nvPr/>
        </p:nvSpPr>
        <p:spPr>
          <a:xfrm>
            <a:off x="7806205" y="1939302"/>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8</a:t>
            </a:r>
            <a:endParaRPr lang="zh-CN" altLang="en-US" sz="3200" b="1" baseline="-25000" dirty="0">
              <a:solidFill>
                <a:srgbClr val="11576A"/>
              </a:solidFill>
              <a:latin typeface="微软雅黑" pitchFamily="34" charset="-122"/>
              <a:ea typeface="微软雅黑" pitchFamily="34" charset="-122"/>
            </a:endParaRPr>
          </a:p>
        </p:txBody>
      </p:sp>
      <p:sp>
        <p:nvSpPr>
          <p:cNvPr id="146" name="TextBox 145"/>
          <p:cNvSpPr txBox="1"/>
          <p:nvPr/>
        </p:nvSpPr>
        <p:spPr>
          <a:xfrm>
            <a:off x="2855640" y="1686029"/>
            <a:ext cx="4617188" cy="400110"/>
          </a:xfrm>
          <a:prstGeom prst="rect">
            <a:avLst/>
          </a:prstGeom>
          <a:noFill/>
        </p:spPr>
        <p:txBody>
          <a:bodyPr wrap="square" rtlCol="0">
            <a:spAutoFit/>
          </a:bodyPr>
          <a:lstStyle/>
          <a:p>
            <a:r>
              <a:rPr lang="zh-CN" altLang="en-US" sz="2000" b="1" dirty="0">
                <a:solidFill>
                  <a:srgbClr val="11576A"/>
                </a:solidFill>
                <a:latin typeface="微软雅黑" pitchFamily="34" charset="-122"/>
                <a:ea typeface="微软雅黑" pitchFamily="34" charset="-122"/>
              </a:rPr>
              <a:t>保持一个最近使用页面的“栈”</a:t>
            </a:r>
          </a:p>
        </p:txBody>
      </p:sp>
      <p:sp>
        <p:nvSpPr>
          <p:cNvPr id="283" name="TextBox 282"/>
          <p:cNvSpPr txBox="1"/>
          <p:nvPr/>
        </p:nvSpPr>
        <p:spPr>
          <a:xfrm>
            <a:off x="2885556" y="4820161"/>
            <a:ext cx="1285884" cy="323165"/>
          </a:xfrm>
          <a:prstGeom prst="rect">
            <a:avLst/>
          </a:prstGeom>
          <a:noFill/>
        </p:spPr>
        <p:txBody>
          <a:bodyPr wrap="square" rtlCol="0">
            <a:spAutoFit/>
          </a:bodyPr>
          <a:lstStyle/>
          <a:p>
            <a:r>
              <a:rPr lang="zh-CN" altLang="en-US" sz="1500" b="1" spc="-100" dirty="0">
                <a:solidFill>
                  <a:srgbClr val="11576A"/>
                </a:solidFill>
                <a:latin typeface="微软雅黑" pitchFamily="34" charset="-122"/>
                <a:ea typeface="微软雅黑" pitchFamily="34" charset="-122"/>
              </a:rPr>
              <a:t>访问页面栈</a:t>
            </a:r>
          </a:p>
        </p:txBody>
      </p:sp>
      <p:sp>
        <p:nvSpPr>
          <p:cNvPr id="284" name="TextBox 283"/>
          <p:cNvSpPr txBox="1"/>
          <p:nvPr/>
        </p:nvSpPr>
        <p:spPr>
          <a:xfrm>
            <a:off x="2885556" y="5370688"/>
            <a:ext cx="1729752" cy="323165"/>
          </a:xfrm>
          <a:prstGeom prst="rect">
            <a:avLst/>
          </a:prstGeom>
          <a:noFill/>
        </p:spPr>
        <p:txBody>
          <a:bodyPr wrap="square" rtlCol="0">
            <a:spAutoFit/>
          </a:bodyPr>
          <a:lstStyle/>
          <a:p>
            <a:r>
              <a:rPr lang="zh-CN" altLang="en-US" sz="1500" b="1" spc="-100" dirty="0">
                <a:solidFill>
                  <a:srgbClr val="11576A"/>
                </a:solidFill>
                <a:latin typeface="微软雅黑" pitchFamily="34" charset="-122"/>
                <a:ea typeface="微软雅黑" pitchFamily="34" charset="-122"/>
              </a:rPr>
              <a:t>被置换页面</a:t>
            </a:r>
          </a:p>
        </p:txBody>
      </p:sp>
      <p:cxnSp>
        <p:nvCxnSpPr>
          <p:cNvPr id="286" name="直接连接符 285"/>
          <p:cNvCxnSpPr/>
          <p:nvPr/>
        </p:nvCxnSpPr>
        <p:spPr>
          <a:xfrm rot="10800000">
            <a:off x="4329556" y="5358395"/>
            <a:ext cx="500066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88" name="直接箭头连接符 287"/>
          <p:cNvCxnSpPr/>
          <p:nvPr/>
        </p:nvCxnSpPr>
        <p:spPr>
          <a:xfrm flipV="1">
            <a:off x="6697895" y="4670418"/>
            <a:ext cx="259629" cy="165053"/>
          </a:xfrm>
          <a:prstGeom prst="straightConnector1">
            <a:avLst/>
          </a:prstGeom>
          <a:ln w="28575">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9" name="直接箭头连接符 288"/>
          <p:cNvCxnSpPr/>
          <p:nvPr/>
        </p:nvCxnSpPr>
        <p:spPr>
          <a:xfrm flipV="1">
            <a:off x="7758582" y="4670416"/>
            <a:ext cx="202127" cy="176752"/>
          </a:xfrm>
          <a:prstGeom prst="straightConnector1">
            <a:avLst/>
          </a:prstGeom>
          <a:ln w="28575">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1" name="直接箭头连接符 290"/>
          <p:cNvCxnSpPr/>
          <p:nvPr/>
        </p:nvCxnSpPr>
        <p:spPr>
          <a:xfrm flipV="1">
            <a:off x="7242712" y="4644017"/>
            <a:ext cx="230116" cy="544565"/>
          </a:xfrm>
          <a:prstGeom prst="straightConnector1">
            <a:avLst/>
          </a:prstGeom>
          <a:ln w="28575">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3" name="矩形 292"/>
          <p:cNvSpPr/>
          <p:nvPr/>
        </p:nvSpPr>
        <p:spPr>
          <a:xfrm>
            <a:off x="4470919" y="4568791"/>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295" name="TextBox 79"/>
          <p:cNvSpPr txBox="1"/>
          <p:nvPr/>
        </p:nvSpPr>
        <p:spPr>
          <a:xfrm>
            <a:off x="4354017" y="325450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endParaRPr lang="zh-CN" altLang="en-US" sz="3200" b="1" baseline="-25000" dirty="0">
              <a:solidFill>
                <a:srgbClr val="C00000"/>
              </a:solidFill>
              <a:latin typeface="微软雅黑" pitchFamily="34" charset="-122"/>
              <a:ea typeface="微软雅黑" pitchFamily="34" charset="-122"/>
            </a:endParaRPr>
          </a:p>
        </p:txBody>
      </p:sp>
      <p:sp>
        <p:nvSpPr>
          <p:cNvPr id="297" name="TextBox 79"/>
          <p:cNvSpPr txBox="1"/>
          <p:nvPr/>
        </p:nvSpPr>
        <p:spPr>
          <a:xfrm>
            <a:off x="4855893" y="258813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sp>
        <p:nvSpPr>
          <p:cNvPr id="298" name="矩形 297"/>
          <p:cNvSpPr/>
          <p:nvPr/>
        </p:nvSpPr>
        <p:spPr>
          <a:xfrm>
            <a:off x="4965997" y="4576404"/>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4965754" y="4571611"/>
            <a:ext cx="216988" cy="356752"/>
            <a:chOff x="2993489" y="3642584"/>
            <a:chExt cx="216988" cy="356752"/>
          </a:xfrm>
        </p:grpSpPr>
        <p:sp>
          <p:nvSpPr>
            <p:cNvPr id="299" name="矩形 298"/>
            <p:cNvSpPr/>
            <p:nvPr/>
          </p:nvSpPr>
          <p:spPr>
            <a:xfrm>
              <a:off x="2994477" y="381933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231" name="矩形 230"/>
            <p:cNvSpPr/>
            <p:nvPr/>
          </p:nvSpPr>
          <p:spPr>
            <a:xfrm>
              <a:off x="2993489" y="3642584"/>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302" name="组合 301"/>
          <p:cNvGrpSpPr/>
          <p:nvPr/>
        </p:nvGrpSpPr>
        <p:grpSpPr>
          <a:xfrm>
            <a:off x="5472543" y="4567654"/>
            <a:ext cx="216988" cy="356752"/>
            <a:chOff x="2993489" y="3642584"/>
            <a:chExt cx="216988" cy="356752"/>
          </a:xfrm>
        </p:grpSpPr>
        <p:sp>
          <p:nvSpPr>
            <p:cNvPr id="303" name="矩形 302"/>
            <p:cNvSpPr/>
            <p:nvPr/>
          </p:nvSpPr>
          <p:spPr>
            <a:xfrm>
              <a:off x="2994477" y="381933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04" name="矩形 303"/>
            <p:cNvSpPr/>
            <p:nvPr/>
          </p:nvSpPr>
          <p:spPr>
            <a:xfrm>
              <a:off x="2993489" y="3642584"/>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61" name="组合 60"/>
          <p:cNvGrpSpPr/>
          <p:nvPr/>
        </p:nvGrpSpPr>
        <p:grpSpPr>
          <a:xfrm>
            <a:off x="5467801" y="4567581"/>
            <a:ext cx="216000" cy="531287"/>
            <a:chOff x="8041095" y="3452236"/>
            <a:chExt cx="216000" cy="531287"/>
          </a:xfrm>
        </p:grpSpPr>
        <p:sp>
          <p:nvSpPr>
            <p:cNvPr id="294" name="矩形 293"/>
            <p:cNvSpPr/>
            <p:nvPr/>
          </p:nvSpPr>
          <p:spPr>
            <a:xfrm>
              <a:off x="8041095" y="345223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00" name="矩形 299"/>
            <p:cNvSpPr/>
            <p:nvPr/>
          </p:nvSpPr>
          <p:spPr>
            <a:xfrm>
              <a:off x="8041095" y="362403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01" name="矩形 300"/>
            <p:cNvSpPr/>
            <p:nvPr/>
          </p:nvSpPr>
          <p:spPr>
            <a:xfrm>
              <a:off x="8041095" y="3803523"/>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05" name="TextBox 79"/>
          <p:cNvSpPr txBox="1"/>
          <p:nvPr/>
        </p:nvSpPr>
        <p:spPr>
          <a:xfrm>
            <a:off x="5332367" y="353550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endParaRPr lang="zh-CN" altLang="en-US" sz="3200" b="1" baseline="-25000" dirty="0">
              <a:solidFill>
                <a:srgbClr val="C00000"/>
              </a:solidFill>
              <a:latin typeface="微软雅黑" pitchFamily="34" charset="-122"/>
              <a:ea typeface="微软雅黑" pitchFamily="34" charset="-122"/>
            </a:endParaRPr>
          </a:p>
        </p:txBody>
      </p:sp>
      <p:sp>
        <p:nvSpPr>
          <p:cNvPr id="310" name="TextBox 79"/>
          <p:cNvSpPr txBox="1"/>
          <p:nvPr/>
        </p:nvSpPr>
        <p:spPr>
          <a:xfrm>
            <a:off x="5846499" y="289592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grpSp>
        <p:nvGrpSpPr>
          <p:cNvPr id="311" name="组合 310"/>
          <p:cNvGrpSpPr/>
          <p:nvPr/>
        </p:nvGrpSpPr>
        <p:grpSpPr>
          <a:xfrm>
            <a:off x="5979145" y="4571310"/>
            <a:ext cx="216000" cy="531287"/>
            <a:chOff x="8041095" y="3452236"/>
            <a:chExt cx="216000" cy="531287"/>
          </a:xfrm>
        </p:grpSpPr>
        <p:sp>
          <p:nvSpPr>
            <p:cNvPr id="312" name="矩形 311"/>
            <p:cNvSpPr/>
            <p:nvPr/>
          </p:nvSpPr>
          <p:spPr>
            <a:xfrm>
              <a:off x="8041095" y="345223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13" name="矩形 312"/>
            <p:cNvSpPr/>
            <p:nvPr/>
          </p:nvSpPr>
          <p:spPr>
            <a:xfrm>
              <a:off x="8041095" y="362403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14" name="矩形 313"/>
            <p:cNvSpPr/>
            <p:nvPr/>
          </p:nvSpPr>
          <p:spPr>
            <a:xfrm>
              <a:off x="8041095" y="3803523"/>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71" name="组合 70"/>
          <p:cNvGrpSpPr/>
          <p:nvPr/>
        </p:nvGrpSpPr>
        <p:grpSpPr>
          <a:xfrm>
            <a:off x="5974634" y="4571063"/>
            <a:ext cx="216000" cy="706467"/>
            <a:chOff x="7881111" y="3357568"/>
            <a:chExt cx="216000" cy="706467"/>
          </a:xfrm>
        </p:grpSpPr>
        <p:sp>
          <p:nvSpPr>
            <p:cNvPr id="292" name="矩形 291"/>
            <p:cNvSpPr/>
            <p:nvPr/>
          </p:nvSpPr>
          <p:spPr>
            <a:xfrm>
              <a:off x="7881111" y="335756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06" name="矩形 305"/>
            <p:cNvSpPr/>
            <p:nvPr/>
          </p:nvSpPr>
          <p:spPr>
            <a:xfrm>
              <a:off x="7881111" y="3534033"/>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07" name="矩形 306"/>
            <p:cNvSpPr/>
            <p:nvPr/>
          </p:nvSpPr>
          <p:spPr>
            <a:xfrm>
              <a:off x="7881111" y="3711929"/>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08" name="矩形 307"/>
            <p:cNvSpPr/>
            <p:nvPr/>
          </p:nvSpPr>
          <p:spPr>
            <a:xfrm>
              <a:off x="7881111" y="388403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320" name="组合 319"/>
          <p:cNvGrpSpPr/>
          <p:nvPr/>
        </p:nvGrpSpPr>
        <p:grpSpPr>
          <a:xfrm>
            <a:off x="6448489" y="4566884"/>
            <a:ext cx="216000" cy="706467"/>
            <a:chOff x="7881111" y="3357568"/>
            <a:chExt cx="216000" cy="706467"/>
          </a:xfrm>
        </p:grpSpPr>
        <p:sp>
          <p:nvSpPr>
            <p:cNvPr id="321" name="矩形 320"/>
            <p:cNvSpPr/>
            <p:nvPr/>
          </p:nvSpPr>
          <p:spPr>
            <a:xfrm>
              <a:off x="7881111" y="335756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22" name="矩形 321"/>
            <p:cNvSpPr/>
            <p:nvPr/>
          </p:nvSpPr>
          <p:spPr>
            <a:xfrm>
              <a:off x="7881111" y="3534033"/>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23" name="矩形 322"/>
            <p:cNvSpPr/>
            <p:nvPr/>
          </p:nvSpPr>
          <p:spPr>
            <a:xfrm>
              <a:off x="7881111" y="3711929"/>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24" name="矩形 323"/>
            <p:cNvSpPr/>
            <p:nvPr/>
          </p:nvSpPr>
          <p:spPr>
            <a:xfrm>
              <a:off x="7881111" y="388403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83" name="组合 82"/>
          <p:cNvGrpSpPr/>
          <p:nvPr/>
        </p:nvGrpSpPr>
        <p:grpSpPr>
          <a:xfrm>
            <a:off x="6453745" y="4557125"/>
            <a:ext cx="221747" cy="1095297"/>
            <a:chOff x="4495431" y="3624114"/>
            <a:chExt cx="221747" cy="1095297"/>
          </a:xfrm>
        </p:grpSpPr>
        <p:grpSp>
          <p:nvGrpSpPr>
            <p:cNvPr id="82" name="组合 81"/>
            <p:cNvGrpSpPr/>
            <p:nvPr/>
          </p:nvGrpSpPr>
          <p:grpSpPr>
            <a:xfrm>
              <a:off x="4495431" y="3624114"/>
              <a:ext cx="219376" cy="730990"/>
              <a:chOff x="8503111" y="2978635"/>
              <a:chExt cx="219376" cy="730990"/>
            </a:xfrm>
          </p:grpSpPr>
          <p:sp>
            <p:nvSpPr>
              <p:cNvPr id="309" name="矩形 308"/>
              <p:cNvSpPr/>
              <p:nvPr/>
            </p:nvSpPr>
            <p:spPr>
              <a:xfrm>
                <a:off x="8503111" y="352962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15" name="矩形 314"/>
              <p:cNvSpPr/>
              <p:nvPr/>
            </p:nvSpPr>
            <p:spPr>
              <a:xfrm>
                <a:off x="8503111" y="334457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16" name="矩形 315"/>
              <p:cNvSpPr/>
              <p:nvPr/>
            </p:nvSpPr>
            <p:spPr>
              <a:xfrm>
                <a:off x="8506487" y="316458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17" name="矩形 316"/>
              <p:cNvSpPr/>
              <p:nvPr/>
            </p:nvSpPr>
            <p:spPr>
              <a:xfrm>
                <a:off x="8505409" y="297863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18" name="矩形 317"/>
            <p:cNvSpPr/>
            <p:nvPr/>
          </p:nvSpPr>
          <p:spPr>
            <a:xfrm>
              <a:off x="4501178" y="4539411"/>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C00000"/>
                  </a:solidFill>
                  <a:latin typeface="微软雅黑" panose="020B0503020204020204" pitchFamily="34" charset="-122"/>
                  <a:ea typeface="微软雅黑" panose="020B0503020204020204" pitchFamily="34" charset="-122"/>
                </a:rPr>
                <a:t>c</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grpSp>
      <p:grpSp>
        <p:nvGrpSpPr>
          <p:cNvPr id="94" name="组合 93"/>
          <p:cNvGrpSpPr/>
          <p:nvPr/>
        </p:nvGrpSpPr>
        <p:grpSpPr>
          <a:xfrm>
            <a:off x="6996814" y="4553549"/>
            <a:ext cx="219376" cy="730990"/>
            <a:chOff x="5024680" y="3624292"/>
            <a:chExt cx="219376" cy="730990"/>
          </a:xfrm>
        </p:grpSpPr>
        <p:sp>
          <p:nvSpPr>
            <p:cNvPr id="325" name="矩形 324"/>
            <p:cNvSpPr/>
            <p:nvPr/>
          </p:nvSpPr>
          <p:spPr>
            <a:xfrm>
              <a:off x="5024680" y="417528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26" name="矩形 325"/>
            <p:cNvSpPr/>
            <p:nvPr/>
          </p:nvSpPr>
          <p:spPr>
            <a:xfrm>
              <a:off x="5024680" y="3990233"/>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27" name="矩形 326"/>
            <p:cNvSpPr/>
            <p:nvPr/>
          </p:nvSpPr>
          <p:spPr>
            <a:xfrm>
              <a:off x="5028056" y="381024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28" name="矩形 327"/>
            <p:cNvSpPr/>
            <p:nvPr/>
          </p:nvSpPr>
          <p:spPr>
            <a:xfrm>
              <a:off x="5026978" y="362429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36" name="矩形 335"/>
          <p:cNvSpPr/>
          <p:nvPr/>
        </p:nvSpPr>
        <p:spPr>
          <a:xfrm>
            <a:off x="6998582" y="5104960"/>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37" name="矩形 336"/>
          <p:cNvSpPr/>
          <p:nvPr/>
        </p:nvSpPr>
        <p:spPr>
          <a:xfrm>
            <a:off x="6998582" y="4919911"/>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38" name="矩形 337"/>
          <p:cNvSpPr/>
          <p:nvPr/>
        </p:nvSpPr>
        <p:spPr>
          <a:xfrm>
            <a:off x="6997550" y="4739925"/>
            <a:ext cx="220408" cy="174591"/>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39" name="矩形 338"/>
          <p:cNvSpPr/>
          <p:nvPr/>
        </p:nvSpPr>
        <p:spPr>
          <a:xfrm>
            <a:off x="7000880" y="4553970"/>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40" name="TextBox 79"/>
          <p:cNvSpPr txBox="1"/>
          <p:nvPr/>
        </p:nvSpPr>
        <p:spPr>
          <a:xfrm>
            <a:off x="6856924" y="289744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grpSp>
        <p:nvGrpSpPr>
          <p:cNvPr id="344" name="组合 343"/>
          <p:cNvGrpSpPr/>
          <p:nvPr/>
        </p:nvGrpSpPr>
        <p:grpSpPr>
          <a:xfrm>
            <a:off x="7502903" y="4558018"/>
            <a:ext cx="216000" cy="706467"/>
            <a:chOff x="8170101" y="3267568"/>
            <a:chExt cx="216000" cy="706467"/>
          </a:xfrm>
        </p:grpSpPr>
        <p:sp>
          <p:nvSpPr>
            <p:cNvPr id="345" name="矩形 344"/>
            <p:cNvSpPr/>
            <p:nvPr/>
          </p:nvSpPr>
          <p:spPr>
            <a:xfrm>
              <a:off x="8170101" y="326756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46" name="矩形 345"/>
            <p:cNvSpPr/>
            <p:nvPr/>
          </p:nvSpPr>
          <p:spPr>
            <a:xfrm>
              <a:off x="8170101" y="344900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47" name="矩形 346"/>
            <p:cNvSpPr/>
            <p:nvPr/>
          </p:nvSpPr>
          <p:spPr>
            <a:xfrm>
              <a:off x="8170101" y="3624859"/>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48" name="矩形 347"/>
            <p:cNvSpPr/>
            <p:nvPr/>
          </p:nvSpPr>
          <p:spPr>
            <a:xfrm>
              <a:off x="8170101" y="379403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49" name="矩形 348"/>
          <p:cNvSpPr/>
          <p:nvPr/>
        </p:nvSpPr>
        <p:spPr>
          <a:xfrm>
            <a:off x="8007224" y="473226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50" name="矩形 349"/>
          <p:cNvSpPr/>
          <p:nvPr/>
        </p:nvSpPr>
        <p:spPr>
          <a:xfrm>
            <a:off x="8007224" y="4548019"/>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51" name="矩形 350"/>
          <p:cNvSpPr/>
          <p:nvPr/>
        </p:nvSpPr>
        <p:spPr>
          <a:xfrm>
            <a:off x="8009188" y="4916517"/>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52" name="矩形 351"/>
          <p:cNvSpPr/>
          <p:nvPr/>
        </p:nvSpPr>
        <p:spPr>
          <a:xfrm>
            <a:off x="8009188" y="508899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nvGrpSpPr>
          <p:cNvPr id="353" name="组合 352"/>
          <p:cNvGrpSpPr/>
          <p:nvPr/>
        </p:nvGrpSpPr>
        <p:grpSpPr>
          <a:xfrm>
            <a:off x="8010991" y="4556584"/>
            <a:ext cx="216000" cy="706467"/>
            <a:chOff x="8170101" y="3267568"/>
            <a:chExt cx="216000" cy="706467"/>
          </a:xfrm>
        </p:grpSpPr>
        <p:sp>
          <p:nvSpPr>
            <p:cNvPr id="354" name="矩形 353"/>
            <p:cNvSpPr/>
            <p:nvPr/>
          </p:nvSpPr>
          <p:spPr>
            <a:xfrm>
              <a:off x="8170101" y="326756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55" name="矩形 354"/>
            <p:cNvSpPr/>
            <p:nvPr/>
          </p:nvSpPr>
          <p:spPr>
            <a:xfrm>
              <a:off x="8170101" y="344900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56" name="矩形 355"/>
            <p:cNvSpPr/>
            <p:nvPr/>
          </p:nvSpPr>
          <p:spPr>
            <a:xfrm>
              <a:off x="8170101" y="3624859"/>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57" name="矩形 356"/>
            <p:cNvSpPr/>
            <p:nvPr/>
          </p:nvSpPr>
          <p:spPr>
            <a:xfrm>
              <a:off x="8170101" y="379403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58" name="TextBox 79"/>
          <p:cNvSpPr txBox="1"/>
          <p:nvPr/>
        </p:nvSpPr>
        <p:spPr>
          <a:xfrm>
            <a:off x="7342924" y="257865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endParaRPr lang="zh-CN" altLang="en-US" sz="3200" b="1" baseline="-25000" dirty="0">
              <a:solidFill>
                <a:srgbClr val="C00000"/>
              </a:solidFill>
              <a:latin typeface="微软雅黑" pitchFamily="34" charset="-122"/>
              <a:ea typeface="微软雅黑" pitchFamily="34" charset="-122"/>
            </a:endParaRPr>
          </a:p>
        </p:txBody>
      </p:sp>
      <p:grpSp>
        <p:nvGrpSpPr>
          <p:cNvPr id="96" name="组合 95"/>
          <p:cNvGrpSpPr/>
          <p:nvPr/>
        </p:nvGrpSpPr>
        <p:grpSpPr>
          <a:xfrm>
            <a:off x="8471603" y="4557885"/>
            <a:ext cx="216000" cy="708766"/>
            <a:chOff x="7954101" y="3178782"/>
            <a:chExt cx="216000" cy="708766"/>
          </a:xfrm>
        </p:grpSpPr>
        <p:sp>
          <p:nvSpPr>
            <p:cNvPr id="359" name="矩形 358"/>
            <p:cNvSpPr/>
            <p:nvPr/>
          </p:nvSpPr>
          <p:spPr>
            <a:xfrm>
              <a:off x="7954101" y="317878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60" name="矩形 359"/>
            <p:cNvSpPr/>
            <p:nvPr/>
          </p:nvSpPr>
          <p:spPr>
            <a:xfrm>
              <a:off x="7954101" y="335756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61" name="矩形 360"/>
            <p:cNvSpPr/>
            <p:nvPr/>
          </p:nvSpPr>
          <p:spPr>
            <a:xfrm>
              <a:off x="7954101" y="352876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62" name="矩形 361"/>
            <p:cNvSpPr/>
            <p:nvPr/>
          </p:nvSpPr>
          <p:spPr>
            <a:xfrm>
              <a:off x="7954101" y="370754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109" name="组合 108"/>
          <p:cNvGrpSpPr/>
          <p:nvPr/>
        </p:nvGrpSpPr>
        <p:grpSpPr>
          <a:xfrm>
            <a:off x="8469362" y="4554285"/>
            <a:ext cx="230512" cy="1092943"/>
            <a:chOff x="6497228" y="3625026"/>
            <a:chExt cx="230512" cy="1092943"/>
          </a:xfrm>
        </p:grpSpPr>
        <p:grpSp>
          <p:nvGrpSpPr>
            <p:cNvPr id="363" name="组合 362"/>
            <p:cNvGrpSpPr/>
            <p:nvPr/>
          </p:nvGrpSpPr>
          <p:grpSpPr>
            <a:xfrm>
              <a:off x="6497228" y="3625026"/>
              <a:ext cx="216000" cy="708766"/>
              <a:chOff x="7954101" y="3178782"/>
              <a:chExt cx="216000" cy="708766"/>
            </a:xfrm>
          </p:grpSpPr>
          <p:sp>
            <p:nvSpPr>
              <p:cNvPr id="364" name="矩形 363"/>
              <p:cNvSpPr/>
              <p:nvPr/>
            </p:nvSpPr>
            <p:spPr>
              <a:xfrm>
                <a:off x="7954101" y="317878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65" name="矩形 364"/>
              <p:cNvSpPr/>
              <p:nvPr/>
            </p:nvSpPr>
            <p:spPr>
              <a:xfrm>
                <a:off x="7954101" y="335756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66" name="矩形 365"/>
              <p:cNvSpPr/>
              <p:nvPr/>
            </p:nvSpPr>
            <p:spPr>
              <a:xfrm>
                <a:off x="7954101" y="3528762"/>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67" name="矩形 366"/>
              <p:cNvSpPr/>
              <p:nvPr/>
            </p:nvSpPr>
            <p:spPr>
              <a:xfrm>
                <a:off x="7954101" y="370754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68" name="矩形 367"/>
            <p:cNvSpPr/>
            <p:nvPr/>
          </p:nvSpPr>
          <p:spPr>
            <a:xfrm>
              <a:off x="6511740" y="4537969"/>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C00000"/>
                  </a:solidFill>
                  <a:latin typeface="微软雅黑" panose="020B0503020204020204" pitchFamily="34" charset="-122"/>
                  <a:ea typeface="微软雅黑" panose="020B0503020204020204" pitchFamily="34" charset="-122"/>
                </a:rPr>
                <a:t>d</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grpSp>
      <p:grpSp>
        <p:nvGrpSpPr>
          <p:cNvPr id="111" name="组合 110"/>
          <p:cNvGrpSpPr/>
          <p:nvPr/>
        </p:nvGrpSpPr>
        <p:grpSpPr>
          <a:xfrm>
            <a:off x="8913919" y="4558908"/>
            <a:ext cx="216000" cy="708766"/>
            <a:chOff x="7783634" y="2955238"/>
            <a:chExt cx="216000" cy="708766"/>
          </a:xfrm>
        </p:grpSpPr>
        <p:sp>
          <p:nvSpPr>
            <p:cNvPr id="369" name="矩形 368"/>
            <p:cNvSpPr/>
            <p:nvPr/>
          </p:nvSpPr>
          <p:spPr>
            <a:xfrm>
              <a:off x="7783634" y="295523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70" name="矩形 369"/>
            <p:cNvSpPr/>
            <p:nvPr/>
          </p:nvSpPr>
          <p:spPr>
            <a:xfrm>
              <a:off x="7783634" y="3134024"/>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71" name="矩形 370"/>
            <p:cNvSpPr/>
            <p:nvPr/>
          </p:nvSpPr>
          <p:spPr>
            <a:xfrm>
              <a:off x="7783634" y="330521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72" name="矩形 371"/>
            <p:cNvSpPr/>
            <p:nvPr/>
          </p:nvSpPr>
          <p:spPr>
            <a:xfrm>
              <a:off x="7783634" y="3484004"/>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grpSp>
        <p:nvGrpSpPr>
          <p:cNvPr id="112" name="组合 111"/>
          <p:cNvGrpSpPr/>
          <p:nvPr/>
        </p:nvGrpSpPr>
        <p:grpSpPr>
          <a:xfrm>
            <a:off x="8912665" y="4553551"/>
            <a:ext cx="217069" cy="1089751"/>
            <a:chOff x="6960722" y="3620067"/>
            <a:chExt cx="217069" cy="1089751"/>
          </a:xfrm>
        </p:grpSpPr>
        <p:grpSp>
          <p:nvGrpSpPr>
            <p:cNvPr id="373" name="组合 372"/>
            <p:cNvGrpSpPr/>
            <p:nvPr/>
          </p:nvGrpSpPr>
          <p:grpSpPr>
            <a:xfrm>
              <a:off x="6961791" y="3620067"/>
              <a:ext cx="216000" cy="708766"/>
              <a:chOff x="7783634" y="2955238"/>
              <a:chExt cx="216000" cy="708766"/>
            </a:xfrm>
          </p:grpSpPr>
          <p:sp>
            <p:nvSpPr>
              <p:cNvPr id="374" name="矩形 373"/>
              <p:cNvSpPr/>
              <p:nvPr/>
            </p:nvSpPr>
            <p:spPr>
              <a:xfrm>
                <a:off x="7783634" y="295523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75" name="矩形 374"/>
              <p:cNvSpPr/>
              <p:nvPr/>
            </p:nvSpPr>
            <p:spPr>
              <a:xfrm>
                <a:off x="7783634" y="3134024"/>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c</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76" name="矩形 375"/>
              <p:cNvSpPr/>
              <p:nvPr/>
            </p:nvSpPr>
            <p:spPr>
              <a:xfrm>
                <a:off x="7783634" y="330521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77" name="矩形 376"/>
              <p:cNvSpPr/>
              <p:nvPr/>
            </p:nvSpPr>
            <p:spPr>
              <a:xfrm>
                <a:off x="7783634" y="3484004"/>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78" name="矩形 377"/>
            <p:cNvSpPr/>
            <p:nvPr/>
          </p:nvSpPr>
          <p:spPr>
            <a:xfrm>
              <a:off x="6960722" y="4529818"/>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C00000"/>
                  </a:solidFill>
                  <a:latin typeface="微软雅黑" panose="020B0503020204020204" pitchFamily="34" charset="-122"/>
                  <a:ea typeface="微软雅黑" panose="020B0503020204020204" pitchFamily="34" charset="-122"/>
                </a:rPr>
                <a:t>e</a:t>
              </a:r>
              <a:endParaRPr lang="zh-CN" altLang="en-US" sz="1600" b="1" dirty="0">
                <a:solidFill>
                  <a:srgbClr val="C00000"/>
                </a:solidFill>
                <a:latin typeface="微软雅黑" panose="020B0503020204020204" pitchFamily="34" charset="-122"/>
                <a:ea typeface="微软雅黑" panose="020B0503020204020204" pitchFamily="34" charset="-122"/>
              </a:endParaRPr>
            </a:p>
          </p:txBody>
        </p:sp>
      </p:grpSp>
      <p:sp>
        <p:nvSpPr>
          <p:cNvPr id="379" name="TextBox 79"/>
          <p:cNvSpPr txBox="1"/>
          <p:nvPr/>
        </p:nvSpPr>
        <p:spPr>
          <a:xfrm>
            <a:off x="7850706" y="290360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endParaRPr lang="zh-CN" altLang="en-US" sz="3200" b="1" baseline="-25000" dirty="0">
              <a:solidFill>
                <a:srgbClr val="C00000"/>
              </a:solidFill>
              <a:latin typeface="微软雅黑" pitchFamily="34" charset="-122"/>
              <a:ea typeface="微软雅黑" pitchFamily="34" charset="-122"/>
            </a:endParaRPr>
          </a:p>
        </p:txBody>
      </p:sp>
      <p:grpSp>
        <p:nvGrpSpPr>
          <p:cNvPr id="113" name="组合 112"/>
          <p:cNvGrpSpPr/>
          <p:nvPr/>
        </p:nvGrpSpPr>
        <p:grpSpPr>
          <a:xfrm>
            <a:off x="7502997" y="4562220"/>
            <a:ext cx="216000" cy="537291"/>
            <a:chOff x="8166578" y="3199745"/>
            <a:chExt cx="216000" cy="537291"/>
          </a:xfrm>
        </p:grpSpPr>
        <p:sp>
          <p:nvSpPr>
            <p:cNvPr id="387" name="矩形 386"/>
            <p:cNvSpPr/>
            <p:nvPr/>
          </p:nvSpPr>
          <p:spPr>
            <a:xfrm>
              <a:off x="8166578" y="319974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b</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88" name="矩形 387"/>
            <p:cNvSpPr/>
            <p:nvPr/>
          </p:nvSpPr>
          <p:spPr>
            <a:xfrm>
              <a:off x="8166578" y="3381179"/>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e</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389" name="矩形 388"/>
            <p:cNvSpPr/>
            <p:nvPr/>
          </p:nvSpPr>
          <p:spPr>
            <a:xfrm>
              <a:off x="8166578" y="3557036"/>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d</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grpSp>
      <p:sp>
        <p:nvSpPr>
          <p:cNvPr id="390" name="矩形 389"/>
          <p:cNvSpPr/>
          <p:nvPr/>
        </p:nvSpPr>
        <p:spPr>
          <a:xfrm>
            <a:off x="7502997" y="5088685"/>
            <a:ext cx="216000" cy="180000"/>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b="1" dirty="0">
                <a:solidFill>
                  <a:srgbClr val="11576A"/>
                </a:solidFill>
                <a:latin typeface="微软雅黑" panose="020B0503020204020204" pitchFamily="34" charset="-122"/>
                <a:ea typeface="微软雅黑" panose="020B0503020204020204" pitchFamily="34" charset="-122"/>
              </a:rPr>
              <a:t>a</a:t>
            </a:r>
            <a:endParaRPr lang="zh-CN" altLang="en-US" sz="1600" b="1" dirty="0">
              <a:solidFill>
                <a:srgbClr val="11576A"/>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EA43D404-33D5-5C25-B7D9-114BC1CF1FDA}"/>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7" name="标题 8">
            <a:extLst>
              <a:ext uri="{FF2B5EF4-FFF2-40B4-BE49-F238E27FC236}">
                <a16:creationId xmlns:a16="http://schemas.microsoft.com/office/drawing/2014/main" id="{5433FDAD-4F38-24E5-1AF1-6BAF66626D10}"/>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用栈实现</a:t>
            </a:r>
            <a:r>
              <a:rPr lang="en-US" altLang="zh-CN" b="0" kern="0" dirty="0"/>
              <a:t>LRU</a:t>
            </a:r>
            <a:r>
              <a:rPr lang="zh-CN" altLang="en-US" b="0" kern="0" dirty="0"/>
              <a:t>算法</a:t>
            </a:r>
          </a:p>
        </p:txBody>
      </p:sp>
    </p:spTree>
    <p:extLst>
      <p:ext uri="{BB962C8B-B14F-4D97-AF65-F5344CB8AC3E}">
        <p14:creationId xmlns:p14="http://schemas.microsoft.com/office/powerpoint/2010/main" val="174469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95"/>
                                        </p:tgtEl>
                                        <p:attrNameLst>
                                          <p:attrName>style.visibility</p:attrName>
                                        </p:attrNameLst>
                                      </p:cBhvr>
                                      <p:to>
                                        <p:strVal val="visible"/>
                                      </p:to>
                                    </p:set>
                                  </p:childTnLst>
                                </p:cTn>
                              </p:par>
                              <p:par>
                                <p:cTn id="11" presetID="35" presetClass="emph" presetSubtype="0" repeatCount="indefinite" fill="hold" grpId="1" nodeType="withEffect">
                                  <p:stCondLst>
                                    <p:cond delay="0"/>
                                  </p:stCondLst>
                                  <p:childTnLst>
                                    <p:anim calcmode="discrete" valueType="str">
                                      <p:cBhvr>
                                        <p:cTn id="12" dur="500" fill="hold"/>
                                        <p:tgtEl>
                                          <p:spTgt spid="295"/>
                                        </p:tgtEl>
                                        <p:attrNameLst>
                                          <p:attrName>style.visibility</p:attrName>
                                        </p:attrNameLst>
                                      </p:cBhvr>
                                      <p:tavLst>
                                        <p:tav tm="0">
                                          <p:val>
                                            <p:strVal val="hidden"/>
                                          </p:val>
                                        </p:tav>
                                        <p:tav tm="50000">
                                          <p:val>
                                            <p:strVal val="visible"/>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293"/>
                                        </p:tgtEl>
                                        <p:attrNameLst>
                                          <p:attrName>style.visibility</p:attrName>
                                        </p:attrNameLst>
                                      </p:cBhvr>
                                      <p:to>
                                        <p:strVal val="visible"/>
                                      </p:to>
                                    </p:set>
                                    <p:animEffect transition="in" filter="fade">
                                      <p:cBhvr>
                                        <p:cTn id="15" dur="500"/>
                                        <p:tgtEl>
                                          <p:spTgt spid="29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2" nodeType="clickEffect">
                                  <p:stCondLst>
                                    <p:cond delay="0"/>
                                  </p:stCondLst>
                                  <p:childTnLst>
                                    <p:set>
                                      <p:cBhvr>
                                        <p:cTn id="19" dur="1" fill="hold">
                                          <p:stCondLst>
                                            <p:cond delay="0"/>
                                          </p:stCondLst>
                                        </p:cTn>
                                        <p:tgtEl>
                                          <p:spTgt spid="295"/>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297"/>
                                        </p:tgtEl>
                                        <p:attrNameLst>
                                          <p:attrName>style.visibility</p:attrName>
                                        </p:attrNameLst>
                                      </p:cBhvr>
                                      <p:to>
                                        <p:strVal val="visible"/>
                                      </p:to>
                                    </p:set>
                                  </p:childTnLst>
                                </p:cTn>
                              </p:par>
                              <p:par>
                                <p:cTn id="26" presetID="35" presetClass="emph" presetSubtype="0" repeatCount="indefinite" fill="hold" grpId="1" nodeType="withEffect">
                                  <p:stCondLst>
                                    <p:cond delay="0"/>
                                  </p:stCondLst>
                                  <p:childTnLst>
                                    <p:anim calcmode="discrete" valueType="str">
                                      <p:cBhvr>
                                        <p:cTn id="27" dur="500" fill="hold"/>
                                        <p:tgtEl>
                                          <p:spTgt spid="297"/>
                                        </p:tgtEl>
                                        <p:attrNameLst>
                                          <p:attrName>style.visibility</p:attrName>
                                        </p:attrNameLst>
                                      </p:cBhvr>
                                      <p:tavLst>
                                        <p:tav tm="0">
                                          <p:val>
                                            <p:strVal val="hidden"/>
                                          </p:val>
                                        </p:tav>
                                        <p:tav tm="50000">
                                          <p:val>
                                            <p:strVal val="visible"/>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98"/>
                                        </p:tgtEl>
                                        <p:attrNameLst>
                                          <p:attrName>style.visibility</p:attrName>
                                        </p:attrNameLst>
                                      </p:cBhvr>
                                      <p:to>
                                        <p:strVal val="visible"/>
                                      </p:to>
                                    </p:set>
                                    <p:animEffect transition="in" filter="fade">
                                      <p:cBhvr>
                                        <p:cTn id="30" dur="500"/>
                                        <p:tgtEl>
                                          <p:spTgt spid="298"/>
                                        </p:tgtEl>
                                      </p:cBhvr>
                                    </p:animEffect>
                                  </p:childTnLst>
                                </p:cTn>
                              </p:par>
                              <p:par>
                                <p:cTn id="31" presetID="42" presetClass="path" presetSubtype="0" accel="50000" decel="50000" fill="hold" grpId="1" nodeType="withEffect">
                                  <p:stCondLst>
                                    <p:cond delay="0"/>
                                  </p:stCondLst>
                                  <p:childTnLst>
                                    <p:animMotion origin="layout" path="M -4.44444E-6 -4.07407E-6 L -0.0526 0.00093 " pathEditMode="relative" rAng="0" ptsTypes="AA">
                                      <p:cBhvr>
                                        <p:cTn id="32" dur="1000" spd="-100000" fill="hold"/>
                                        <p:tgtEl>
                                          <p:spTgt spid="298"/>
                                        </p:tgtEl>
                                        <p:attrNameLst>
                                          <p:attrName>ppt_x</p:attrName>
                                          <p:attrName>ppt_y</p:attrName>
                                        </p:attrNameLst>
                                      </p:cBhvr>
                                      <p:rCtr x="-2639" y="46"/>
                                    </p:animMotion>
                                  </p:childTnLst>
                                </p:cTn>
                              </p:par>
                            </p:childTnLst>
                          </p:cTn>
                        </p:par>
                        <p:par>
                          <p:cTn id="33" fill="hold">
                            <p:stCondLst>
                              <p:cond delay="1500"/>
                            </p:stCondLst>
                            <p:childTnLst>
                              <p:par>
                                <p:cTn id="34" presetID="10" presetClass="entr" presetSubtype="0"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childTnLst>
                                </p:cTn>
                              </p:par>
                              <p:par>
                                <p:cTn id="37" presetID="10" presetClass="exit" presetSubtype="0" fill="hold" grpId="2" nodeType="withEffect">
                                  <p:stCondLst>
                                    <p:cond delay="0"/>
                                  </p:stCondLst>
                                  <p:childTnLst>
                                    <p:animEffect transition="out" filter="fade">
                                      <p:cBhvr>
                                        <p:cTn id="38" dur="500"/>
                                        <p:tgtEl>
                                          <p:spTgt spid="298"/>
                                        </p:tgtEl>
                                      </p:cBhvr>
                                    </p:animEffect>
                                    <p:set>
                                      <p:cBhvr>
                                        <p:cTn id="39" dur="1" fill="hold">
                                          <p:stCondLst>
                                            <p:cond delay="499"/>
                                          </p:stCondLst>
                                        </p:cTn>
                                        <p:tgtEl>
                                          <p:spTgt spid="298"/>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2" nodeType="clickEffect">
                                  <p:stCondLst>
                                    <p:cond delay="0"/>
                                  </p:stCondLst>
                                  <p:childTnLst>
                                    <p:set>
                                      <p:cBhvr>
                                        <p:cTn id="43" dur="1" fill="hold">
                                          <p:stCondLst>
                                            <p:cond delay="0"/>
                                          </p:stCondLst>
                                        </p:cTn>
                                        <p:tgtEl>
                                          <p:spTgt spid="297"/>
                                        </p:tgtEl>
                                        <p:attrNameLst>
                                          <p:attrName>style.visibility</p:attrName>
                                        </p:attrNameLst>
                                      </p:cBhvr>
                                      <p:to>
                                        <p:strVal val="hidden"/>
                                      </p:to>
                                    </p:set>
                                  </p:childTnLst>
                                </p:cTn>
                              </p:par>
                              <p:par>
                                <p:cTn id="44" presetID="10" presetClass="entr" presetSubtype="0" fill="hold"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500"/>
                                        <p:tgtEl>
                                          <p:spTgt spid="47"/>
                                        </p:tgtEl>
                                      </p:cBhvr>
                                    </p:animEffect>
                                  </p:child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0"/>
                                          </p:stCondLst>
                                        </p:cTn>
                                        <p:tgtEl>
                                          <p:spTgt spid="305"/>
                                        </p:tgtEl>
                                        <p:attrNameLst>
                                          <p:attrName>style.visibility</p:attrName>
                                        </p:attrNameLst>
                                      </p:cBhvr>
                                      <p:to>
                                        <p:strVal val="visible"/>
                                      </p:to>
                                    </p:set>
                                  </p:childTnLst>
                                </p:cTn>
                              </p:par>
                              <p:par>
                                <p:cTn id="50" presetID="35" presetClass="emph" presetSubtype="0" repeatCount="indefinite" fill="hold" grpId="1" nodeType="withEffect">
                                  <p:stCondLst>
                                    <p:cond delay="0"/>
                                  </p:stCondLst>
                                  <p:childTnLst>
                                    <p:anim calcmode="discrete" valueType="str">
                                      <p:cBhvr>
                                        <p:cTn id="51" dur="500" fill="hold"/>
                                        <p:tgtEl>
                                          <p:spTgt spid="305"/>
                                        </p:tgtEl>
                                        <p:attrNameLst>
                                          <p:attrName>style.visibility</p:attrName>
                                        </p:attrNameLst>
                                      </p:cBhvr>
                                      <p:tavLst>
                                        <p:tav tm="0">
                                          <p:val>
                                            <p:strVal val="hidden"/>
                                          </p:val>
                                        </p:tav>
                                        <p:tav tm="50000">
                                          <p:val>
                                            <p:strVal val="visible"/>
                                          </p:val>
                                        </p:tav>
                                      </p:tavLst>
                                    </p:anim>
                                  </p:childTnLst>
                                </p:cTn>
                              </p:par>
                              <p:par>
                                <p:cTn id="52" presetID="10" presetClass="entr" presetSubtype="0" fill="hold" nodeType="withEffect">
                                  <p:stCondLst>
                                    <p:cond delay="0"/>
                                  </p:stCondLst>
                                  <p:childTnLst>
                                    <p:set>
                                      <p:cBhvr>
                                        <p:cTn id="53" dur="1" fill="hold">
                                          <p:stCondLst>
                                            <p:cond delay="0"/>
                                          </p:stCondLst>
                                        </p:cTn>
                                        <p:tgtEl>
                                          <p:spTgt spid="302"/>
                                        </p:tgtEl>
                                        <p:attrNameLst>
                                          <p:attrName>style.visibility</p:attrName>
                                        </p:attrNameLst>
                                      </p:cBhvr>
                                      <p:to>
                                        <p:strVal val="visible"/>
                                      </p:to>
                                    </p:set>
                                    <p:animEffect transition="in" filter="fade">
                                      <p:cBhvr>
                                        <p:cTn id="54" dur="500"/>
                                        <p:tgtEl>
                                          <p:spTgt spid="302"/>
                                        </p:tgtEl>
                                      </p:cBhvr>
                                    </p:animEffect>
                                  </p:childTnLst>
                                </p:cTn>
                              </p:par>
                              <p:par>
                                <p:cTn id="55" presetID="42" presetClass="path" presetSubtype="0" accel="50000" decel="50000" fill="hold" nodeType="withEffect">
                                  <p:stCondLst>
                                    <p:cond delay="0"/>
                                  </p:stCondLst>
                                  <p:childTnLst>
                                    <p:animMotion origin="layout" path="M 3.61111E-6 1.85185E-6 L -0.05539 -0.01551 " pathEditMode="relative" rAng="0" ptsTypes="AA">
                                      <p:cBhvr>
                                        <p:cTn id="56" dur="1000" spd="-100000" fill="hold"/>
                                        <p:tgtEl>
                                          <p:spTgt spid="302"/>
                                        </p:tgtEl>
                                        <p:attrNameLst>
                                          <p:attrName>ppt_x</p:attrName>
                                          <p:attrName>ppt_y</p:attrName>
                                        </p:attrNameLst>
                                      </p:cBhvr>
                                      <p:rCtr x="-2778" y="-787"/>
                                    </p:animMotion>
                                  </p:childTnLst>
                                </p:cTn>
                              </p:par>
                            </p:childTnLst>
                          </p:cTn>
                        </p:par>
                        <p:par>
                          <p:cTn id="57" fill="hold">
                            <p:stCondLst>
                              <p:cond delay="1500"/>
                            </p:stCondLst>
                            <p:childTnLst>
                              <p:par>
                                <p:cTn id="58" presetID="10" presetClass="exit" presetSubtype="0" fill="hold" nodeType="afterEffect">
                                  <p:stCondLst>
                                    <p:cond delay="0"/>
                                  </p:stCondLst>
                                  <p:childTnLst>
                                    <p:animEffect transition="out" filter="fade">
                                      <p:cBhvr>
                                        <p:cTn id="59" dur="500"/>
                                        <p:tgtEl>
                                          <p:spTgt spid="302"/>
                                        </p:tgtEl>
                                      </p:cBhvr>
                                    </p:animEffect>
                                    <p:set>
                                      <p:cBhvr>
                                        <p:cTn id="60" dur="1" fill="hold">
                                          <p:stCondLst>
                                            <p:cond delay="499"/>
                                          </p:stCondLst>
                                        </p:cTn>
                                        <p:tgtEl>
                                          <p:spTgt spid="302"/>
                                        </p:tgtEl>
                                        <p:attrNameLst>
                                          <p:attrName>style.visibility</p:attrName>
                                        </p:attrNameLst>
                                      </p:cBhvr>
                                      <p:to>
                                        <p:strVal val="hidden"/>
                                      </p:to>
                                    </p:set>
                                  </p:childTnLst>
                                </p:cTn>
                              </p:par>
                              <p:par>
                                <p:cTn id="61" presetID="10" presetClass="entr" presetSubtype="0" fill="hold" nodeType="with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fade">
                                      <p:cBhvr>
                                        <p:cTn id="63" dur="1000"/>
                                        <p:tgtEl>
                                          <p:spTgt spid="61"/>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2" nodeType="clickEffect">
                                  <p:stCondLst>
                                    <p:cond delay="0"/>
                                  </p:stCondLst>
                                  <p:childTnLst>
                                    <p:set>
                                      <p:cBhvr>
                                        <p:cTn id="67" dur="1" fill="hold">
                                          <p:stCondLst>
                                            <p:cond delay="0"/>
                                          </p:stCondLst>
                                        </p:cTn>
                                        <p:tgtEl>
                                          <p:spTgt spid="305"/>
                                        </p:tgtEl>
                                        <p:attrNameLst>
                                          <p:attrName>style.visibility</p:attrName>
                                        </p:attrNameLst>
                                      </p:cBhvr>
                                      <p:to>
                                        <p:strVal val="hidden"/>
                                      </p:to>
                                    </p:set>
                                  </p:childTnLst>
                                </p:cTn>
                              </p:par>
                              <p:par>
                                <p:cTn id="68" presetID="10" presetClass="entr" presetSubtype="0" fill="hold" nodeType="with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500"/>
                                        <p:tgtEl>
                                          <p:spTgt spid="48"/>
                                        </p:tgtEl>
                                      </p:cBhvr>
                                    </p:animEffect>
                                  </p:childTnLst>
                                </p:cTn>
                              </p:par>
                            </p:childTnLst>
                          </p:cTn>
                        </p:par>
                        <p:par>
                          <p:cTn id="71" fill="hold">
                            <p:stCondLst>
                              <p:cond delay="500"/>
                            </p:stCondLst>
                            <p:childTnLst>
                              <p:par>
                                <p:cTn id="72" presetID="1" presetClass="entr" presetSubtype="0" fill="hold" grpId="0" nodeType="afterEffect">
                                  <p:stCondLst>
                                    <p:cond delay="0"/>
                                  </p:stCondLst>
                                  <p:childTnLst>
                                    <p:set>
                                      <p:cBhvr>
                                        <p:cTn id="73" dur="1" fill="hold">
                                          <p:stCondLst>
                                            <p:cond delay="0"/>
                                          </p:stCondLst>
                                        </p:cTn>
                                        <p:tgtEl>
                                          <p:spTgt spid="310"/>
                                        </p:tgtEl>
                                        <p:attrNameLst>
                                          <p:attrName>style.visibility</p:attrName>
                                        </p:attrNameLst>
                                      </p:cBhvr>
                                      <p:to>
                                        <p:strVal val="visible"/>
                                      </p:to>
                                    </p:set>
                                  </p:childTnLst>
                                </p:cTn>
                              </p:par>
                              <p:par>
                                <p:cTn id="74" presetID="35" presetClass="emph" presetSubtype="0" repeatCount="indefinite" fill="hold" grpId="1" nodeType="withEffect">
                                  <p:stCondLst>
                                    <p:cond delay="0"/>
                                  </p:stCondLst>
                                  <p:childTnLst>
                                    <p:anim calcmode="discrete" valueType="str">
                                      <p:cBhvr>
                                        <p:cTn id="75" dur="500" fill="hold"/>
                                        <p:tgtEl>
                                          <p:spTgt spid="310"/>
                                        </p:tgtEl>
                                        <p:attrNameLst>
                                          <p:attrName>style.visibility</p:attrName>
                                        </p:attrNameLst>
                                      </p:cBhvr>
                                      <p:tavLst>
                                        <p:tav tm="0">
                                          <p:val>
                                            <p:strVal val="hidden"/>
                                          </p:val>
                                        </p:tav>
                                        <p:tav tm="50000">
                                          <p:val>
                                            <p:strVal val="visible"/>
                                          </p:val>
                                        </p:tav>
                                      </p:tavLst>
                                    </p:anim>
                                  </p:childTnLst>
                                </p:cTn>
                              </p:par>
                              <p:par>
                                <p:cTn id="76" presetID="10" presetClass="entr" presetSubtype="0" fill="hold" nodeType="withEffect">
                                  <p:stCondLst>
                                    <p:cond delay="0"/>
                                  </p:stCondLst>
                                  <p:childTnLst>
                                    <p:set>
                                      <p:cBhvr>
                                        <p:cTn id="77" dur="1" fill="hold">
                                          <p:stCondLst>
                                            <p:cond delay="0"/>
                                          </p:stCondLst>
                                        </p:cTn>
                                        <p:tgtEl>
                                          <p:spTgt spid="311"/>
                                        </p:tgtEl>
                                        <p:attrNameLst>
                                          <p:attrName>style.visibility</p:attrName>
                                        </p:attrNameLst>
                                      </p:cBhvr>
                                      <p:to>
                                        <p:strVal val="visible"/>
                                      </p:to>
                                    </p:set>
                                    <p:animEffect transition="in" filter="fade">
                                      <p:cBhvr>
                                        <p:cTn id="78" dur="500"/>
                                        <p:tgtEl>
                                          <p:spTgt spid="311"/>
                                        </p:tgtEl>
                                      </p:cBhvr>
                                    </p:animEffect>
                                  </p:childTnLst>
                                </p:cTn>
                              </p:par>
                              <p:par>
                                <p:cTn id="79" presetID="42" presetClass="path" presetSubtype="0" accel="50000" decel="50000" fill="hold" nodeType="withEffect">
                                  <p:stCondLst>
                                    <p:cond delay="0"/>
                                  </p:stCondLst>
                                  <p:childTnLst>
                                    <p:animMotion origin="layout" path="M 1.66667E-6 -4.07407E-6 L -0.05538 -0.01759 " pathEditMode="relative" rAng="0" ptsTypes="AA">
                                      <p:cBhvr>
                                        <p:cTn id="80" dur="1000" spd="-100000" fill="hold"/>
                                        <p:tgtEl>
                                          <p:spTgt spid="311"/>
                                        </p:tgtEl>
                                        <p:attrNameLst>
                                          <p:attrName>ppt_x</p:attrName>
                                          <p:attrName>ppt_y</p:attrName>
                                        </p:attrNameLst>
                                      </p:cBhvr>
                                      <p:rCtr x="-2778" y="-880"/>
                                    </p:animMotion>
                                  </p:childTnLst>
                                </p:cTn>
                              </p:par>
                            </p:childTnLst>
                          </p:cTn>
                        </p:par>
                        <p:par>
                          <p:cTn id="81" fill="hold">
                            <p:stCondLst>
                              <p:cond delay="1500"/>
                            </p:stCondLst>
                            <p:childTnLst>
                              <p:par>
                                <p:cTn id="82" presetID="10" presetClass="exit" presetSubtype="0" fill="hold" nodeType="afterEffect">
                                  <p:stCondLst>
                                    <p:cond delay="0"/>
                                  </p:stCondLst>
                                  <p:childTnLst>
                                    <p:animEffect transition="out" filter="fade">
                                      <p:cBhvr>
                                        <p:cTn id="83" dur="500"/>
                                        <p:tgtEl>
                                          <p:spTgt spid="311"/>
                                        </p:tgtEl>
                                      </p:cBhvr>
                                    </p:animEffect>
                                    <p:set>
                                      <p:cBhvr>
                                        <p:cTn id="84" dur="1" fill="hold">
                                          <p:stCondLst>
                                            <p:cond delay="499"/>
                                          </p:stCondLst>
                                        </p:cTn>
                                        <p:tgtEl>
                                          <p:spTgt spid="311"/>
                                        </p:tgtEl>
                                        <p:attrNameLst>
                                          <p:attrName>style.visibility</p:attrName>
                                        </p:attrNameLst>
                                      </p:cBhvr>
                                      <p:to>
                                        <p:strVal val="hidden"/>
                                      </p:to>
                                    </p:set>
                                  </p:childTnLst>
                                </p:cTn>
                              </p:par>
                              <p:par>
                                <p:cTn id="85" presetID="10" presetClass="entr" presetSubtype="0" fill="hold" nodeType="withEffect">
                                  <p:stCondLst>
                                    <p:cond delay="0"/>
                                  </p:stCondLst>
                                  <p:childTnLst>
                                    <p:set>
                                      <p:cBhvr>
                                        <p:cTn id="86" dur="1" fill="hold">
                                          <p:stCondLst>
                                            <p:cond delay="0"/>
                                          </p:stCondLst>
                                        </p:cTn>
                                        <p:tgtEl>
                                          <p:spTgt spid="71"/>
                                        </p:tgtEl>
                                        <p:attrNameLst>
                                          <p:attrName>style.visibility</p:attrName>
                                        </p:attrNameLst>
                                      </p:cBhvr>
                                      <p:to>
                                        <p:strVal val="visible"/>
                                      </p:to>
                                    </p:set>
                                    <p:animEffect transition="in" filter="fade">
                                      <p:cBhvr>
                                        <p:cTn id="87" dur="1000"/>
                                        <p:tgtEl>
                                          <p:spTgt spid="7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2" nodeType="clickEffect">
                                  <p:stCondLst>
                                    <p:cond delay="0"/>
                                  </p:stCondLst>
                                  <p:childTnLst>
                                    <p:set>
                                      <p:cBhvr>
                                        <p:cTn id="91" dur="1" fill="hold">
                                          <p:stCondLst>
                                            <p:cond delay="0"/>
                                          </p:stCondLst>
                                        </p:cTn>
                                        <p:tgtEl>
                                          <p:spTgt spid="310"/>
                                        </p:tgtEl>
                                        <p:attrNameLst>
                                          <p:attrName>style.visibility</p:attrName>
                                        </p:attrNameLst>
                                      </p:cBhvr>
                                      <p:to>
                                        <p:strVal val="hidden"/>
                                      </p:to>
                                    </p:set>
                                  </p:childTnLst>
                                </p:cTn>
                              </p:par>
                              <p:par>
                                <p:cTn id="92" presetID="10" presetClass="entr" presetSubtype="0" fill="hold" nodeType="withEffect">
                                  <p:stCondLst>
                                    <p:cond delay="0"/>
                                  </p:stCondLst>
                                  <p:childTnLst>
                                    <p:set>
                                      <p:cBhvr>
                                        <p:cTn id="93" dur="1" fill="hold">
                                          <p:stCondLst>
                                            <p:cond delay="0"/>
                                          </p:stCondLst>
                                        </p:cTn>
                                        <p:tgtEl>
                                          <p:spTgt spid="3"/>
                                        </p:tgtEl>
                                        <p:attrNameLst>
                                          <p:attrName>style.visibility</p:attrName>
                                        </p:attrNameLst>
                                      </p:cBhvr>
                                      <p:to>
                                        <p:strVal val="visible"/>
                                      </p:to>
                                    </p:set>
                                    <p:animEffect transition="in" filter="fade">
                                      <p:cBhvr>
                                        <p:cTn id="94" dur="500"/>
                                        <p:tgtEl>
                                          <p:spTgt spid="3"/>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20"/>
                                        </p:tgtEl>
                                        <p:attrNameLst>
                                          <p:attrName>style.visibility</p:attrName>
                                        </p:attrNameLst>
                                      </p:cBhvr>
                                      <p:to>
                                        <p:strVal val="visible"/>
                                      </p:to>
                                    </p:set>
                                    <p:animEffect transition="in" filter="fade">
                                      <p:cBhvr>
                                        <p:cTn id="99" dur="500"/>
                                        <p:tgtEl>
                                          <p:spTgt spid="320"/>
                                        </p:tgtEl>
                                      </p:cBhvr>
                                    </p:animEffect>
                                  </p:childTnLst>
                                </p:cTn>
                              </p:par>
                              <p:par>
                                <p:cTn id="100" presetID="42" presetClass="path" presetSubtype="0" accel="50000" decel="50000" fill="hold" nodeType="withEffect">
                                  <p:stCondLst>
                                    <p:cond delay="0"/>
                                  </p:stCondLst>
                                  <p:childTnLst>
                                    <p:animMotion origin="layout" path="M 2.77778E-6 -1.11111E-6 L -0.05139 -0.01597 " pathEditMode="relative" rAng="0" ptsTypes="AA">
                                      <p:cBhvr>
                                        <p:cTn id="101" dur="1000" spd="-100000" fill="hold"/>
                                        <p:tgtEl>
                                          <p:spTgt spid="320"/>
                                        </p:tgtEl>
                                        <p:attrNameLst>
                                          <p:attrName>ppt_x</p:attrName>
                                          <p:attrName>ppt_y</p:attrName>
                                        </p:attrNameLst>
                                      </p:cBhvr>
                                      <p:rCtr x="-2569" y="-810"/>
                                    </p:animMotion>
                                  </p:childTnLst>
                                </p:cTn>
                              </p:par>
                            </p:childTnLst>
                          </p:cTn>
                        </p:par>
                        <p:par>
                          <p:cTn id="102" fill="hold">
                            <p:stCondLst>
                              <p:cond delay="1000"/>
                            </p:stCondLst>
                            <p:childTnLst>
                              <p:par>
                                <p:cTn id="103" presetID="10" presetClass="exit" presetSubtype="0" fill="hold" nodeType="afterEffect">
                                  <p:stCondLst>
                                    <p:cond delay="0"/>
                                  </p:stCondLst>
                                  <p:childTnLst>
                                    <p:animEffect transition="out" filter="fade">
                                      <p:cBhvr>
                                        <p:cTn id="104" dur="500"/>
                                        <p:tgtEl>
                                          <p:spTgt spid="320"/>
                                        </p:tgtEl>
                                      </p:cBhvr>
                                    </p:animEffect>
                                    <p:set>
                                      <p:cBhvr>
                                        <p:cTn id="105" dur="1" fill="hold">
                                          <p:stCondLst>
                                            <p:cond delay="499"/>
                                          </p:stCondLst>
                                        </p:cTn>
                                        <p:tgtEl>
                                          <p:spTgt spid="320"/>
                                        </p:tgtEl>
                                        <p:attrNameLst>
                                          <p:attrName>style.visibility</p:attrName>
                                        </p:attrNameLst>
                                      </p:cBhvr>
                                      <p:to>
                                        <p:strVal val="hidden"/>
                                      </p:to>
                                    </p:set>
                                  </p:childTnLst>
                                </p:cTn>
                              </p:par>
                              <p:par>
                                <p:cTn id="106" presetID="10" presetClass="entr" presetSubtype="0" fill="hold" nodeType="withEffect">
                                  <p:stCondLst>
                                    <p:cond delay="0"/>
                                  </p:stCondLst>
                                  <p:childTnLst>
                                    <p:set>
                                      <p:cBhvr>
                                        <p:cTn id="107" dur="1" fill="hold">
                                          <p:stCondLst>
                                            <p:cond delay="0"/>
                                          </p:stCondLst>
                                        </p:cTn>
                                        <p:tgtEl>
                                          <p:spTgt spid="83"/>
                                        </p:tgtEl>
                                        <p:attrNameLst>
                                          <p:attrName>style.visibility</p:attrName>
                                        </p:attrNameLst>
                                      </p:cBhvr>
                                      <p:to>
                                        <p:strVal val="visible"/>
                                      </p:to>
                                    </p:set>
                                    <p:animEffect transition="in" filter="fade">
                                      <p:cBhvr>
                                        <p:cTn id="108" dur="1000"/>
                                        <p:tgtEl>
                                          <p:spTgt spid="83"/>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4"/>
                                        </p:tgtEl>
                                        <p:attrNameLst>
                                          <p:attrName>style.visibility</p:attrName>
                                        </p:attrNameLst>
                                      </p:cBhvr>
                                      <p:to>
                                        <p:strVal val="visible"/>
                                      </p:to>
                                    </p:set>
                                    <p:animEffect transition="in" filter="fade">
                                      <p:cBhvr>
                                        <p:cTn id="113" dur="500"/>
                                        <p:tgtEl>
                                          <p:spTgt spid="4"/>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5"/>
                                        </p:tgtEl>
                                        <p:attrNameLst>
                                          <p:attrName>style.visibility</p:attrName>
                                        </p:attrNameLst>
                                      </p:cBhvr>
                                      <p:to>
                                        <p:strVal val="visible"/>
                                      </p:to>
                                    </p:set>
                                    <p:animEffect transition="in" filter="fade">
                                      <p:cBhvr>
                                        <p:cTn id="118" dur="500"/>
                                        <p:tgtEl>
                                          <p:spTgt spid="5"/>
                                        </p:tgtEl>
                                      </p:cBhvr>
                                    </p:animEffect>
                                  </p:childTnLst>
                                </p:cTn>
                              </p:par>
                            </p:childTnLst>
                          </p:cTn>
                        </p:par>
                        <p:par>
                          <p:cTn id="119" fill="hold">
                            <p:stCondLst>
                              <p:cond delay="500"/>
                            </p:stCondLst>
                            <p:childTnLst>
                              <p:par>
                                <p:cTn id="120" presetID="1" presetClass="entr" presetSubtype="0" fill="hold" grpId="0" nodeType="afterEffect">
                                  <p:stCondLst>
                                    <p:cond delay="0"/>
                                  </p:stCondLst>
                                  <p:childTnLst>
                                    <p:set>
                                      <p:cBhvr>
                                        <p:cTn id="121" dur="1" fill="hold">
                                          <p:stCondLst>
                                            <p:cond delay="0"/>
                                          </p:stCondLst>
                                        </p:cTn>
                                        <p:tgtEl>
                                          <p:spTgt spid="340"/>
                                        </p:tgtEl>
                                        <p:attrNameLst>
                                          <p:attrName>style.visibility</p:attrName>
                                        </p:attrNameLst>
                                      </p:cBhvr>
                                      <p:to>
                                        <p:strVal val="visible"/>
                                      </p:to>
                                    </p:set>
                                  </p:childTnLst>
                                </p:cTn>
                              </p:par>
                              <p:par>
                                <p:cTn id="122" presetID="35" presetClass="emph" presetSubtype="0" repeatCount="indefinite" fill="hold" grpId="1" nodeType="withEffect">
                                  <p:stCondLst>
                                    <p:cond delay="0"/>
                                  </p:stCondLst>
                                  <p:childTnLst>
                                    <p:anim calcmode="discrete" valueType="str">
                                      <p:cBhvr>
                                        <p:cTn id="123" dur="500" fill="hold"/>
                                        <p:tgtEl>
                                          <p:spTgt spid="340"/>
                                        </p:tgtEl>
                                        <p:attrNameLst>
                                          <p:attrName>style.visibility</p:attrName>
                                        </p:attrNameLst>
                                      </p:cBhvr>
                                      <p:tavLst>
                                        <p:tav tm="0">
                                          <p:val>
                                            <p:strVal val="hidden"/>
                                          </p:val>
                                        </p:tav>
                                        <p:tav tm="50000">
                                          <p:val>
                                            <p:strVal val="visible"/>
                                          </p:val>
                                        </p:tav>
                                      </p:tavLst>
                                    </p:anim>
                                  </p:childTnLst>
                                </p:cTn>
                              </p:par>
                              <p:par>
                                <p:cTn id="124" presetID="10" presetClass="entr" presetSubtype="0" fill="hold" nodeType="withEffect">
                                  <p:stCondLst>
                                    <p:cond delay="0"/>
                                  </p:stCondLst>
                                  <p:childTnLst>
                                    <p:set>
                                      <p:cBhvr>
                                        <p:cTn id="125" dur="1" fill="hold">
                                          <p:stCondLst>
                                            <p:cond delay="0"/>
                                          </p:stCondLst>
                                        </p:cTn>
                                        <p:tgtEl>
                                          <p:spTgt spid="94"/>
                                        </p:tgtEl>
                                        <p:attrNameLst>
                                          <p:attrName>style.visibility</p:attrName>
                                        </p:attrNameLst>
                                      </p:cBhvr>
                                      <p:to>
                                        <p:strVal val="visible"/>
                                      </p:to>
                                    </p:set>
                                    <p:animEffect transition="in" filter="fade">
                                      <p:cBhvr>
                                        <p:cTn id="126" dur="500"/>
                                        <p:tgtEl>
                                          <p:spTgt spid="94"/>
                                        </p:tgtEl>
                                      </p:cBhvr>
                                    </p:animEffect>
                                  </p:childTnLst>
                                </p:cTn>
                              </p:par>
                              <p:par>
                                <p:cTn id="127" presetID="42" presetClass="path" presetSubtype="0" accel="50000" decel="50000" fill="hold" nodeType="withEffect">
                                  <p:stCondLst>
                                    <p:cond delay="0"/>
                                  </p:stCondLst>
                                  <p:childTnLst>
                                    <p:animMotion origin="layout" path="M 3.33333E-6 3.7037E-7 L -0.06007 3.7037E-7 " pathEditMode="relative" rAng="0" ptsTypes="AA">
                                      <p:cBhvr>
                                        <p:cTn id="128" dur="1000" spd="-100000" fill="hold"/>
                                        <p:tgtEl>
                                          <p:spTgt spid="94"/>
                                        </p:tgtEl>
                                        <p:attrNameLst>
                                          <p:attrName>ppt_x</p:attrName>
                                          <p:attrName>ppt_y</p:attrName>
                                        </p:attrNameLst>
                                      </p:cBhvr>
                                      <p:rCtr x="-3003" y="0"/>
                                    </p:animMotion>
                                  </p:childTnLst>
                                </p:cTn>
                              </p:par>
                            </p:childTnLst>
                          </p:cTn>
                        </p:par>
                        <p:par>
                          <p:cTn id="129" fill="hold">
                            <p:stCondLst>
                              <p:cond delay="1500"/>
                            </p:stCondLst>
                            <p:childTnLst>
                              <p:par>
                                <p:cTn id="130" presetID="1" presetClass="exit" presetSubtype="0" fill="hold" nodeType="afterEffect">
                                  <p:stCondLst>
                                    <p:cond delay="0"/>
                                  </p:stCondLst>
                                  <p:childTnLst>
                                    <p:set>
                                      <p:cBhvr>
                                        <p:cTn id="131" dur="1" fill="hold">
                                          <p:stCondLst>
                                            <p:cond delay="0"/>
                                          </p:stCondLst>
                                        </p:cTn>
                                        <p:tgtEl>
                                          <p:spTgt spid="94"/>
                                        </p:tgtEl>
                                        <p:attrNameLst>
                                          <p:attrName>style.visibility</p:attrName>
                                        </p:attrNameLst>
                                      </p:cBhvr>
                                      <p:to>
                                        <p:strVal val="hidden"/>
                                      </p:to>
                                    </p:set>
                                  </p:childTnLst>
                                </p:cTn>
                              </p:par>
                              <p:par>
                                <p:cTn id="132" presetID="1" presetClass="entr" presetSubtype="0" fill="hold" grpId="0" nodeType="withEffect">
                                  <p:stCondLst>
                                    <p:cond delay="0"/>
                                  </p:stCondLst>
                                  <p:childTnLst>
                                    <p:set>
                                      <p:cBhvr>
                                        <p:cTn id="133" dur="1" fill="hold">
                                          <p:stCondLst>
                                            <p:cond delay="0"/>
                                          </p:stCondLst>
                                        </p:cTn>
                                        <p:tgtEl>
                                          <p:spTgt spid="336"/>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337"/>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338"/>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339"/>
                                        </p:tgtEl>
                                        <p:attrNameLst>
                                          <p:attrName>style.visibility</p:attrName>
                                        </p:attrNameLst>
                                      </p:cBhvr>
                                      <p:to>
                                        <p:strVal val="visible"/>
                                      </p:to>
                                    </p:set>
                                  </p:childTnLst>
                                </p:cTn>
                              </p:par>
                            </p:childTnLst>
                          </p:cTn>
                        </p:par>
                        <p:par>
                          <p:cTn id="140" fill="hold">
                            <p:stCondLst>
                              <p:cond delay="1500"/>
                            </p:stCondLst>
                            <p:childTnLst>
                              <p:par>
                                <p:cTn id="141" presetID="42" presetClass="path" presetSubtype="0" accel="50000" decel="50000" fill="hold" grpId="1" nodeType="afterEffect">
                                  <p:stCondLst>
                                    <p:cond delay="0"/>
                                  </p:stCondLst>
                                  <p:childTnLst>
                                    <p:animMotion origin="layout" path="M -2.77778E-7 4.81481E-6 L -0.03837 0.00115 " pathEditMode="relative" rAng="0" ptsTypes="AA">
                                      <p:cBhvr>
                                        <p:cTn id="142" dur="1000" fill="hold"/>
                                        <p:tgtEl>
                                          <p:spTgt spid="338"/>
                                        </p:tgtEl>
                                        <p:attrNameLst>
                                          <p:attrName>ppt_x</p:attrName>
                                          <p:attrName>ppt_y</p:attrName>
                                        </p:attrNameLst>
                                      </p:cBhvr>
                                      <p:rCtr x="-1927" y="46"/>
                                    </p:animMotion>
                                  </p:childTnLst>
                                </p:cTn>
                              </p:par>
                            </p:childTnLst>
                          </p:cTn>
                        </p:par>
                        <p:par>
                          <p:cTn id="143" fill="hold">
                            <p:stCondLst>
                              <p:cond delay="2500"/>
                            </p:stCondLst>
                            <p:childTnLst>
                              <p:par>
                                <p:cTn id="144" presetID="42" presetClass="path" presetSubtype="0" accel="50000" decel="50000" fill="hold" grpId="1" nodeType="afterEffect">
                                  <p:stCondLst>
                                    <p:cond delay="0"/>
                                  </p:stCondLst>
                                  <p:childTnLst>
                                    <p:animMotion origin="layout" path="M -3.88889E-6 -3.33333E-6 L -0.00017 0.03542 " pathEditMode="relative" rAng="0" ptsTypes="AA">
                                      <p:cBhvr>
                                        <p:cTn id="145" dur="1000" fill="hold"/>
                                        <p:tgtEl>
                                          <p:spTgt spid="339"/>
                                        </p:tgtEl>
                                        <p:attrNameLst>
                                          <p:attrName>ppt_x</p:attrName>
                                          <p:attrName>ppt_y</p:attrName>
                                        </p:attrNameLst>
                                      </p:cBhvr>
                                      <p:rCtr x="-17" y="1759"/>
                                    </p:animMotion>
                                  </p:childTnLst>
                                </p:cTn>
                              </p:par>
                            </p:childTnLst>
                          </p:cTn>
                        </p:par>
                        <p:par>
                          <p:cTn id="146" fill="hold">
                            <p:stCondLst>
                              <p:cond delay="3500"/>
                            </p:stCondLst>
                            <p:childTnLst>
                              <p:par>
                                <p:cTn id="147" presetID="0" presetClass="path" presetSubtype="0" accel="50000" decel="50000" fill="hold" grpId="2" nodeType="afterEffect">
                                  <p:stCondLst>
                                    <p:cond delay="0"/>
                                  </p:stCondLst>
                                  <p:childTnLst>
                                    <p:animMotion origin="layout" path="M -0.03837 0.00115 L -0.03837 0.00162 C -0.03646 -0.00348 -0.03472 -0.00834 -0.03246 -0.01227 C -0.03021 -0.01644 -0.0276 -0.0176 -0.025 -0.02038 C -0.02361 -0.02153 -0.02257 -0.02315 -0.02118 -0.02431 C -0.01823 -0.02686 -0.01597 -0.02709 -0.01285 -0.02848 C -0.01198 -0.0294 -0.01094 -0.03033 -0.0099 -0.03125 C -0.00903 -0.03172 -0.00781 -0.03149 -0.00694 -0.03241 C -0.00035 -0.03727 -0.00868 -0.03311 -0.00243 -0.03635 C 0.00087 -0.03797 0.00052 -0.03588 0.00052 -0.03889 L 0.00052 -0.03866 " pathEditMode="relative" rAng="0" ptsTypes="AAAAAAAAAAA">
                                      <p:cBhvr>
                                        <p:cTn id="148" dur="1000" fill="hold"/>
                                        <p:tgtEl>
                                          <p:spTgt spid="338"/>
                                        </p:tgtEl>
                                        <p:attrNameLst>
                                          <p:attrName>ppt_x</p:attrName>
                                          <p:attrName>ppt_y</p:attrName>
                                        </p:attrNameLst>
                                      </p:cBhvr>
                                      <p:rCtr x="1944" y="-1991"/>
                                    </p:animMotion>
                                  </p:childTnLst>
                                </p:cTn>
                              </p:par>
                            </p:childTnLst>
                          </p:cTn>
                        </p:par>
                        <p:par>
                          <p:cTn id="149" fill="hold">
                            <p:stCondLst>
                              <p:cond delay="4500"/>
                            </p:stCondLst>
                            <p:childTnLst>
                              <p:par>
                                <p:cTn id="150" presetID="22" presetClass="entr" presetSubtype="8" fill="hold" nodeType="afterEffect">
                                  <p:stCondLst>
                                    <p:cond delay="0"/>
                                  </p:stCondLst>
                                  <p:childTnLst>
                                    <p:set>
                                      <p:cBhvr>
                                        <p:cTn id="151" dur="1" fill="hold">
                                          <p:stCondLst>
                                            <p:cond delay="0"/>
                                          </p:stCondLst>
                                        </p:cTn>
                                        <p:tgtEl>
                                          <p:spTgt spid="288"/>
                                        </p:tgtEl>
                                        <p:attrNameLst>
                                          <p:attrName>style.visibility</p:attrName>
                                        </p:attrNameLst>
                                      </p:cBhvr>
                                      <p:to>
                                        <p:strVal val="visible"/>
                                      </p:to>
                                    </p:set>
                                    <p:animEffect transition="in" filter="wipe(left)">
                                      <p:cBhvr>
                                        <p:cTn id="152" dur="500"/>
                                        <p:tgtEl>
                                          <p:spTgt spid="288"/>
                                        </p:tgtEl>
                                      </p:cBhvr>
                                    </p:animEffec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grpId="2" nodeType="clickEffect">
                                  <p:stCondLst>
                                    <p:cond delay="0"/>
                                  </p:stCondLst>
                                  <p:childTnLst>
                                    <p:set>
                                      <p:cBhvr>
                                        <p:cTn id="156" dur="1" fill="hold">
                                          <p:stCondLst>
                                            <p:cond delay="0"/>
                                          </p:stCondLst>
                                        </p:cTn>
                                        <p:tgtEl>
                                          <p:spTgt spid="340"/>
                                        </p:tgtEl>
                                        <p:attrNameLst>
                                          <p:attrName>style.visibility</p:attrName>
                                        </p:attrNameLst>
                                      </p:cBhvr>
                                      <p:to>
                                        <p:strVal val="hidden"/>
                                      </p:to>
                                    </p:set>
                                  </p:childTnLst>
                                </p:cTn>
                              </p:par>
                            </p:childTnLst>
                          </p:cTn>
                        </p:par>
                        <p:par>
                          <p:cTn id="157" fill="hold">
                            <p:stCondLst>
                              <p:cond delay="0"/>
                            </p:stCondLst>
                            <p:childTnLst>
                              <p:par>
                                <p:cTn id="158" presetID="1" presetClass="entr" presetSubtype="0" fill="hold" grpId="0" nodeType="afterEffect">
                                  <p:stCondLst>
                                    <p:cond delay="0"/>
                                  </p:stCondLst>
                                  <p:childTnLst>
                                    <p:set>
                                      <p:cBhvr>
                                        <p:cTn id="159" dur="1" fill="hold">
                                          <p:stCondLst>
                                            <p:cond delay="0"/>
                                          </p:stCondLst>
                                        </p:cTn>
                                        <p:tgtEl>
                                          <p:spTgt spid="358"/>
                                        </p:tgtEl>
                                        <p:attrNameLst>
                                          <p:attrName>style.visibility</p:attrName>
                                        </p:attrNameLst>
                                      </p:cBhvr>
                                      <p:to>
                                        <p:strVal val="visible"/>
                                      </p:to>
                                    </p:set>
                                  </p:childTnLst>
                                </p:cTn>
                              </p:par>
                              <p:par>
                                <p:cTn id="160" presetID="35" presetClass="emph" presetSubtype="0" repeatCount="indefinite" fill="hold" grpId="1" nodeType="withEffect">
                                  <p:stCondLst>
                                    <p:cond delay="0"/>
                                  </p:stCondLst>
                                  <p:childTnLst>
                                    <p:anim calcmode="discrete" valueType="str">
                                      <p:cBhvr>
                                        <p:cTn id="161" dur="500" fill="hold"/>
                                        <p:tgtEl>
                                          <p:spTgt spid="358"/>
                                        </p:tgtEl>
                                        <p:attrNameLst>
                                          <p:attrName>style.visibility</p:attrName>
                                        </p:attrNameLst>
                                      </p:cBhvr>
                                      <p:tavLst>
                                        <p:tav tm="0">
                                          <p:val>
                                            <p:strVal val="hidden"/>
                                          </p:val>
                                        </p:tav>
                                        <p:tav tm="50000">
                                          <p:val>
                                            <p:strVal val="visible"/>
                                          </p:val>
                                        </p:tav>
                                      </p:tavLst>
                                    </p:anim>
                                  </p:childTnLst>
                                </p:cTn>
                              </p:par>
                              <p:par>
                                <p:cTn id="162" presetID="10" presetClass="entr" presetSubtype="0" fill="hold" nodeType="withEffect">
                                  <p:stCondLst>
                                    <p:cond delay="0"/>
                                  </p:stCondLst>
                                  <p:childTnLst>
                                    <p:set>
                                      <p:cBhvr>
                                        <p:cTn id="163" dur="1" fill="hold">
                                          <p:stCondLst>
                                            <p:cond delay="0"/>
                                          </p:stCondLst>
                                        </p:cTn>
                                        <p:tgtEl>
                                          <p:spTgt spid="6"/>
                                        </p:tgtEl>
                                        <p:attrNameLst>
                                          <p:attrName>style.visibility</p:attrName>
                                        </p:attrNameLst>
                                      </p:cBhvr>
                                      <p:to>
                                        <p:strVal val="visible"/>
                                      </p:to>
                                    </p:set>
                                    <p:animEffect transition="in" filter="fade">
                                      <p:cBhvr>
                                        <p:cTn id="164" dur="500"/>
                                        <p:tgtEl>
                                          <p:spTgt spid="6"/>
                                        </p:tgtEl>
                                      </p:cBhvr>
                                    </p:animEffect>
                                  </p:childTnLst>
                                </p:cTn>
                              </p:par>
                              <p:par>
                                <p:cTn id="165" presetID="10" presetClass="entr" presetSubtype="0" fill="hold" nodeType="withEffect">
                                  <p:stCondLst>
                                    <p:cond delay="0"/>
                                  </p:stCondLst>
                                  <p:childTnLst>
                                    <p:set>
                                      <p:cBhvr>
                                        <p:cTn id="166" dur="1" fill="hold">
                                          <p:stCondLst>
                                            <p:cond delay="0"/>
                                          </p:stCondLst>
                                        </p:cTn>
                                        <p:tgtEl>
                                          <p:spTgt spid="344"/>
                                        </p:tgtEl>
                                        <p:attrNameLst>
                                          <p:attrName>style.visibility</p:attrName>
                                        </p:attrNameLst>
                                      </p:cBhvr>
                                      <p:to>
                                        <p:strVal val="visible"/>
                                      </p:to>
                                    </p:set>
                                    <p:animEffect transition="in" filter="fade">
                                      <p:cBhvr>
                                        <p:cTn id="167" dur="500"/>
                                        <p:tgtEl>
                                          <p:spTgt spid="344"/>
                                        </p:tgtEl>
                                      </p:cBhvr>
                                    </p:animEffect>
                                  </p:childTnLst>
                                </p:cTn>
                              </p:par>
                              <p:par>
                                <p:cTn id="168" presetID="42" presetClass="path" presetSubtype="0" accel="50000" decel="50000" fill="hold" nodeType="withEffect">
                                  <p:stCondLst>
                                    <p:cond delay="0"/>
                                  </p:stCondLst>
                                  <p:childTnLst>
                                    <p:animMotion origin="layout" path="M 5E-6 -2.22222E-6 L -0.0552 0.00162 " pathEditMode="relative" rAng="0" ptsTypes="AA">
                                      <p:cBhvr>
                                        <p:cTn id="169" dur="1000" spd="-100000" fill="hold"/>
                                        <p:tgtEl>
                                          <p:spTgt spid="344"/>
                                        </p:tgtEl>
                                        <p:attrNameLst>
                                          <p:attrName>ppt_x</p:attrName>
                                          <p:attrName>ppt_y</p:attrName>
                                        </p:attrNameLst>
                                      </p:cBhvr>
                                      <p:rCtr x="-2760" y="69"/>
                                    </p:animMotion>
                                  </p:childTnLst>
                                </p:cTn>
                              </p:par>
                            </p:childTnLst>
                          </p:cTn>
                        </p:par>
                        <p:par>
                          <p:cTn id="170" fill="hold">
                            <p:stCondLst>
                              <p:cond delay="1000"/>
                            </p:stCondLst>
                            <p:childTnLst>
                              <p:par>
                                <p:cTn id="171" presetID="1" presetClass="exit" presetSubtype="0" fill="hold" nodeType="afterEffect">
                                  <p:stCondLst>
                                    <p:cond delay="0"/>
                                  </p:stCondLst>
                                  <p:childTnLst>
                                    <p:set>
                                      <p:cBhvr>
                                        <p:cTn id="172" dur="1" fill="hold">
                                          <p:stCondLst>
                                            <p:cond delay="0"/>
                                          </p:stCondLst>
                                        </p:cTn>
                                        <p:tgtEl>
                                          <p:spTgt spid="344"/>
                                        </p:tgtEl>
                                        <p:attrNameLst>
                                          <p:attrName>style.visibility</p:attrName>
                                        </p:attrNameLst>
                                      </p:cBhvr>
                                      <p:to>
                                        <p:strVal val="hidden"/>
                                      </p:to>
                                    </p:set>
                                  </p:childTnLst>
                                </p:cTn>
                              </p:par>
                              <p:par>
                                <p:cTn id="173" presetID="1" presetClass="entr" presetSubtype="0" fill="hold" nodeType="withEffect">
                                  <p:stCondLst>
                                    <p:cond delay="0"/>
                                  </p:stCondLst>
                                  <p:childTnLst>
                                    <p:set>
                                      <p:cBhvr>
                                        <p:cTn id="174" dur="1" fill="hold">
                                          <p:stCondLst>
                                            <p:cond delay="0"/>
                                          </p:stCondLst>
                                        </p:cTn>
                                        <p:tgtEl>
                                          <p:spTgt spid="113"/>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390"/>
                                        </p:tgtEl>
                                        <p:attrNameLst>
                                          <p:attrName>style.visibility</p:attrName>
                                        </p:attrNameLst>
                                      </p:cBhvr>
                                      <p:to>
                                        <p:strVal val="visible"/>
                                      </p:to>
                                    </p:set>
                                  </p:childTnLst>
                                </p:cTn>
                              </p:par>
                              <p:par>
                                <p:cTn id="177" presetID="42" presetClass="path" presetSubtype="0" accel="50000" decel="50000" fill="hold" grpId="1" nodeType="withEffect">
                                  <p:stCondLst>
                                    <p:cond delay="0"/>
                                  </p:stCondLst>
                                  <p:childTnLst>
                                    <p:animMotion origin="layout" path="M 5E-6 -2.59259E-6 L -0.03645 0.00093 " pathEditMode="relative" rAng="0" ptsTypes="AA">
                                      <p:cBhvr>
                                        <p:cTn id="178" dur="1000" fill="hold"/>
                                        <p:tgtEl>
                                          <p:spTgt spid="390"/>
                                        </p:tgtEl>
                                        <p:attrNameLst>
                                          <p:attrName>ppt_x</p:attrName>
                                          <p:attrName>ppt_y</p:attrName>
                                        </p:attrNameLst>
                                      </p:cBhvr>
                                      <p:rCtr x="-1823" y="46"/>
                                    </p:animMotion>
                                  </p:childTnLst>
                                </p:cTn>
                              </p:par>
                            </p:childTnLst>
                          </p:cTn>
                        </p:par>
                        <p:par>
                          <p:cTn id="179" fill="hold">
                            <p:stCondLst>
                              <p:cond delay="2000"/>
                            </p:stCondLst>
                            <p:childTnLst>
                              <p:par>
                                <p:cTn id="180" presetID="0" presetClass="path" presetSubtype="0" accel="50000" decel="50000" fill="hold" nodeType="afterEffect">
                                  <p:stCondLst>
                                    <p:cond delay="0"/>
                                  </p:stCondLst>
                                  <p:childTnLst>
                                    <p:animMotion origin="layout" path="M 5E-6 1.85185E-6 L 5E-6 0.00023 C 0.00087 0.03333 0.0007 0.02106 0.0007 0.03704 L 0.0007 0.03727 " pathEditMode="relative" rAng="0" ptsTypes="AAAA">
                                      <p:cBhvr>
                                        <p:cTn id="181" dur="1000" fill="hold"/>
                                        <p:tgtEl>
                                          <p:spTgt spid="113"/>
                                        </p:tgtEl>
                                        <p:attrNameLst>
                                          <p:attrName>ppt_x</p:attrName>
                                          <p:attrName>ppt_y</p:attrName>
                                        </p:attrNameLst>
                                      </p:cBhvr>
                                      <p:rCtr x="35" y="1852"/>
                                    </p:animMotion>
                                  </p:childTnLst>
                                </p:cTn>
                              </p:par>
                            </p:childTnLst>
                          </p:cTn>
                        </p:par>
                        <p:par>
                          <p:cTn id="182" fill="hold">
                            <p:stCondLst>
                              <p:cond delay="3000"/>
                            </p:stCondLst>
                            <p:childTnLst>
                              <p:par>
                                <p:cTn id="183" presetID="0" presetClass="path" presetSubtype="0" accel="50000" decel="50000" fill="hold" grpId="2" nodeType="afterEffect">
                                  <p:stCondLst>
                                    <p:cond delay="0"/>
                                  </p:stCondLst>
                                  <p:childTnLst>
                                    <p:animMotion origin="layout" path="M -0.03645 0.00093 L -0.03645 0.00116 C -0.0342 -0.01852 -0.03628 -0.00555 -0.0335 -0.0169 C -0.03281 -0.01944 -0.0323 -0.02153 -0.03194 -0.02407 C -0.03159 -0.02523 -0.03142 -0.02685 -0.03108 -0.02801 C -0.03072 -0.02963 -0.03003 -0.03078 -0.02952 -0.0324 C -0.0283 -0.04166 -0.02864 -0.0419 -0.02638 -0.04884 C -0.02605 -0.05023 -0.02534 -0.05162 -0.02482 -0.05278 C -0.02291 -0.06319 -0.02552 -0.05069 -0.02256 -0.06111 C -0.02083 -0.06736 -0.02291 -0.06365 -0.02013 -0.06944 C -0.01944 -0.07106 -0.01857 -0.07199 -0.01788 -0.07338 C -0.0151 -0.0794 -0.0177 -0.07615 -0.01407 -0.08171 C -0.0132 -0.08264 -0.01249 -0.08403 -0.01163 -0.08449 C -0.00815 -0.08773 -0.01041 -0.08356 -0.00694 -0.08865 C -0.00104 -0.09745 -0.00815 -0.08889 -0.00225 -0.0956 C -0.00052 -0.10069 -0.00156 -0.09907 0.00087 -0.10092 L 0.00087 -0.10069 " pathEditMode="relative" rAng="0" ptsTypes="AAAAAAAAAAAAAAAAA">
                                      <p:cBhvr>
                                        <p:cTn id="184" dur="1000" fill="hold"/>
                                        <p:tgtEl>
                                          <p:spTgt spid="390"/>
                                        </p:tgtEl>
                                        <p:attrNameLst>
                                          <p:attrName>ppt_x</p:attrName>
                                          <p:attrName>ppt_y</p:attrName>
                                        </p:attrNameLst>
                                      </p:cBhvr>
                                      <p:rCtr x="1858" y="-5093"/>
                                    </p:animMotion>
                                  </p:childTnLst>
                                </p:cTn>
                              </p:par>
                            </p:childTnLst>
                          </p:cTn>
                        </p:par>
                        <p:par>
                          <p:cTn id="185" fill="hold">
                            <p:stCondLst>
                              <p:cond delay="4000"/>
                            </p:stCondLst>
                            <p:childTnLst>
                              <p:par>
                                <p:cTn id="186" presetID="22" presetClass="entr" presetSubtype="4" fill="hold" nodeType="afterEffect">
                                  <p:stCondLst>
                                    <p:cond delay="0"/>
                                  </p:stCondLst>
                                  <p:childTnLst>
                                    <p:set>
                                      <p:cBhvr>
                                        <p:cTn id="187" dur="1" fill="hold">
                                          <p:stCondLst>
                                            <p:cond delay="0"/>
                                          </p:stCondLst>
                                        </p:cTn>
                                        <p:tgtEl>
                                          <p:spTgt spid="291"/>
                                        </p:tgtEl>
                                        <p:attrNameLst>
                                          <p:attrName>style.visibility</p:attrName>
                                        </p:attrNameLst>
                                      </p:cBhvr>
                                      <p:to>
                                        <p:strVal val="visible"/>
                                      </p:to>
                                    </p:set>
                                    <p:animEffect transition="in" filter="wipe(down)">
                                      <p:cBhvr>
                                        <p:cTn id="188" dur="500"/>
                                        <p:tgtEl>
                                          <p:spTgt spid="291"/>
                                        </p:tgtEl>
                                      </p:cBhvr>
                                    </p:animEffec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2" nodeType="clickEffect">
                                  <p:stCondLst>
                                    <p:cond delay="0"/>
                                  </p:stCondLst>
                                  <p:childTnLst>
                                    <p:set>
                                      <p:cBhvr>
                                        <p:cTn id="192" dur="1" fill="hold">
                                          <p:stCondLst>
                                            <p:cond delay="0"/>
                                          </p:stCondLst>
                                        </p:cTn>
                                        <p:tgtEl>
                                          <p:spTgt spid="358"/>
                                        </p:tgtEl>
                                        <p:attrNameLst>
                                          <p:attrName>style.visibility</p:attrName>
                                        </p:attrNameLst>
                                      </p:cBhvr>
                                      <p:to>
                                        <p:strVal val="hidden"/>
                                      </p:to>
                                    </p:set>
                                  </p:childTnLst>
                                </p:cTn>
                              </p:par>
                              <p:par>
                                <p:cTn id="193" presetID="10" presetClass="entr" presetSubtype="0" fill="hold" nodeType="withEffect">
                                  <p:stCondLst>
                                    <p:cond delay="0"/>
                                  </p:stCondLst>
                                  <p:childTnLst>
                                    <p:set>
                                      <p:cBhvr>
                                        <p:cTn id="194" dur="1" fill="hold">
                                          <p:stCondLst>
                                            <p:cond delay="0"/>
                                          </p:stCondLst>
                                        </p:cTn>
                                        <p:tgtEl>
                                          <p:spTgt spid="7"/>
                                        </p:tgtEl>
                                        <p:attrNameLst>
                                          <p:attrName>style.visibility</p:attrName>
                                        </p:attrNameLst>
                                      </p:cBhvr>
                                      <p:to>
                                        <p:strVal val="visible"/>
                                      </p:to>
                                    </p:set>
                                    <p:animEffect transition="in" filter="fade">
                                      <p:cBhvr>
                                        <p:cTn id="195" dur="500"/>
                                        <p:tgtEl>
                                          <p:spTgt spid="7"/>
                                        </p:tgtEl>
                                      </p:cBhvr>
                                    </p:animEffect>
                                  </p:childTnLst>
                                </p:cTn>
                              </p:par>
                            </p:childTnLst>
                          </p:cTn>
                        </p:par>
                        <p:par>
                          <p:cTn id="196" fill="hold">
                            <p:stCondLst>
                              <p:cond delay="500"/>
                            </p:stCondLst>
                            <p:childTnLst>
                              <p:par>
                                <p:cTn id="197" presetID="1" presetClass="entr" presetSubtype="0" fill="hold" grpId="0" nodeType="afterEffect">
                                  <p:stCondLst>
                                    <p:cond delay="0"/>
                                  </p:stCondLst>
                                  <p:childTnLst>
                                    <p:set>
                                      <p:cBhvr>
                                        <p:cTn id="198" dur="1" fill="hold">
                                          <p:stCondLst>
                                            <p:cond delay="0"/>
                                          </p:stCondLst>
                                        </p:cTn>
                                        <p:tgtEl>
                                          <p:spTgt spid="379"/>
                                        </p:tgtEl>
                                        <p:attrNameLst>
                                          <p:attrName>style.visibility</p:attrName>
                                        </p:attrNameLst>
                                      </p:cBhvr>
                                      <p:to>
                                        <p:strVal val="visible"/>
                                      </p:to>
                                    </p:set>
                                  </p:childTnLst>
                                </p:cTn>
                              </p:par>
                              <p:par>
                                <p:cTn id="199" presetID="35" presetClass="emph" presetSubtype="0" repeatCount="indefinite" fill="hold" grpId="1" nodeType="withEffect">
                                  <p:stCondLst>
                                    <p:cond delay="0"/>
                                  </p:stCondLst>
                                  <p:childTnLst>
                                    <p:anim calcmode="discrete" valueType="str">
                                      <p:cBhvr>
                                        <p:cTn id="200" dur="500" fill="hold"/>
                                        <p:tgtEl>
                                          <p:spTgt spid="379"/>
                                        </p:tgtEl>
                                        <p:attrNameLst>
                                          <p:attrName>style.visibility</p:attrName>
                                        </p:attrNameLst>
                                      </p:cBhvr>
                                      <p:tavLst>
                                        <p:tav tm="0">
                                          <p:val>
                                            <p:strVal val="hidden"/>
                                          </p:val>
                                        </p:tav>
                                        <p:tav tm="50000">
                                          <p:val>
                                            <p:strVal val="visible"/>
                                          </p:val>
                                        </p:tav>
                                      </p:tavLst>
                                    </p:anim>
                                  </p:childTnLst>
                                </p:cTn>
                              </p:par>
                              <p:par>
                                <p:cTn id="201" presetID="10" presetClass="entr" presetSubtype="0" fill="hold" nodeType="withEffect">
                                  <p:stCondLst>
                                    <p:cond delay="0"/>
                                  </p:stCondLst>
                                  <p:childTnLst>
                                    <p:set>
                                      <p:cBhvr>
                                        <p:cTn id="202" dur="1" fill="hold">
                                          <p:stCondLst>
                                            <p:cond delay="0"/>
                                          </p:stCondLst>
                                        </p:cTn>
                                        <p:tgtEl>
                                          <p:spTgt spid="353"/>
                                        </p:tgtEl>
                                        <p:attrNameLst>
                                          <p:attrName>style.visibility</p:attrName>
                                        </p:attrNameLst>
                                      </p:cBhvr>
                                      <p:to>
                                        <p:strVal val="visible"/>
                                      </p:to>
                                    </p:set>
                                    <p:animEffect transition="in" filter="fade">
                                      <p:cBhvr>
                                        <p:cTn id="203" dur="500"/>
                                        <p:tgtEl>
                                          <p:spTgt spid="353"/>
                                        </p:tgtEl>
                                      </p:cBhvr>
                                    </p:animEffect>
                                  </p:childTnLst>
                                </p:cTn>
                              </p:par>
                              <p:par>
                                <p:cTn id="204" presetID="42" presetClass="path" presetSubtype="0" accel="50000" decel="50000" fill="hold" nodeType="withEffect">
                                  <p:stCondLst>
                                    <p:cond delay="0"/>
                                  </p:stCondLst>
                                  <p:childTnLst>
                                    <p:animMotion origin="layout" path="M -5.55556E-7 -7.40741E-7 L -0.05555 0.00023 " pathEditMode="relative" rAng="0" ptsTypes="AA">
                                      <p:cBhvr>
                                        <p:cTn id="205" dur="1000" spd="-100000" fill="hold"/>
                                        <p:tgtEl>
                                          <p:spTgt spid="353"/>
                                        </p:tgtEl>
                                        <p:attrNameLst>
                                          <p:attrName>ppt_x</p:attrName>
                                          <p:attrName>ppt_y</p:attrName>
                                        </p:attrNameLst>
                                      </p:cBhvr>
                                      <p:rCtr x="-2778" y="0"/>
                                    </p:animMotion>
                                  </p:childTnLst>
                                </p:cTn>
                              </p:par>
                            </p:childTnLst>
                          </p:cTn>
                        </p:par>
                        <p:par>
                          <p:cTn id="206" fill="hold">
                            <p:stCondLst>
                              <p:cond delay="1500"/>
                            </p:stCondLst>
                            <p:childTnLst>
                              <p:par>
                                <p:cTn id="207" presetID="1" presetClass="exit" presetSubtype="0" fill="hold" nodeType="afterEffect">
                                  <p:stCondLst>
                                    <p:cond delay="0"/>
                                  </p:stCondLst>
                                  <p:childTnLst>
                                    <p:set>
                                      <p:cBhvr>
                                        <p:cTn id="208" dur="1" fill="hold">
                                          <p:stCondLst>
                                            <p:cond delay="0"/>
                                          </p:stCondLst>
                                        </p:cTn>
                                        <p:tgtEl>
                                          <p:spTgt spid="353"/>
                                        </p:tgtEl>
                                        <p:attrNameLst>
                                          <p:attrName>style.visibility</p:attrName>
                                        </p:attrNameLst>
                                      </p:cBhvr>
                                      <p:to>
                                        <p:strVal val="hidden"/>
                                      </p:to>
                                    </p:set>
                                  </p:childTnLst>
                                </p:cTn>
                              </p:par>
                              <p:par>
                                <p:cTn id="209" presetID="1" presetClass="entr" presetSubtype="0" fill="hold" grpId="0" nodeType="withEffect">
                                  <p:stCondLst>
                                    <p:cond delay="0"/>
                                  </p:stCondLst>
                                  <p:childTnLst>
                                    <p:set>
                                      <p:cBhvr>
                                        <p:cTn id="210" dur="1" fill="hold">
                                          <p:stCondLst>
                                            <p:cond delay="0"/>
                                          </p:stCondLst>
                                        </p:cTn>
                                        <p:tgtEl>
                                          <p:spTgt spid="349"/>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350"/>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351"/>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352"/>
                                        </p:tgtEl>
                                        <p:attrNameLst>
                                          <p:attrName>style.visibility</p:attrName>
                                        </p:attrNameLst>
                                      </p:cBhvr>
                                      <p:to>
                                        <p:strVal val="visible"/>
                                      </p:to>
                                    </p:set>
                                  </p:childTnLst>
                                </p:cTn>
                              </p:par>
                              <p:par>
                                <p:cTn id="217" presetID="0" presetClass="path" presetSubtype="0" accel="50000" decel="50000" fill="hold" grpId="1" nodeType="withEffect">
                                  <p:stCondLst>
                                    <p:cond delay="0"/>
                                  </p:stCondLst>
                                  <p:childTnLst>
                                    <p:animMotion origin="layout" path="M -3.33333E-6 7.40741E-7 L -3.33333E-6 0.00023 C -0.01215 0.00069 -0.03177 -0.0044 -0.03611 0.00162 L -0.03385 0.00162 " pathEditMode="relative" rAng="0" ptsTypes="AAAA">
                                      <p:cBhvr>
                                        <p:cTn id="218" dur="1000" fill="hold"/>
                                        <p:tgtEl>
                                          <p:spTgt spid="349"/>
                                        </p:tgtEl>
                                        <p:attrNameLst>
                                          <p:attrName>ppt_x</p:attrName>
                                          <p:attrName>ppt_y</p:attrName>
                                        </p:attrNameLst>
                                      </p:cBhvr>
                                      <p:rCtr x="-1806" y="0"/>
                                    </p:animMotion>
                                  </p:childTnLst>
                                </p:cTn>
                              </p:par>
                            </p:childTnLst>
                          </p:cTn>
                        </p:par>
                        <p:par>
                          <p:cTn id="219" fill="hold">
                            <p:stCondLst>
                              <p:cond delay="2500"/>
                            </p:stCondLst>
                            <p:childTnLst>
                              <p:par>
                                <p:cTn id="220" presetID="0" presetClass="path" presetSubtype="0" accel="50000" decel="50000" fill="hold" grpId="1" nodeType="afterEffect">
                                  <p:stCondLst>
                                    <p:cond delay="0"/>
                                  </p:stCondLst>
                                  <p:childTnLst>
                                    <p:animMotion origin="layout" path="M -3.33333E-6 2.59259E-6 L -3.33333E-6 0.00023 C 0.00035 0.0044 0.00157 0.02477 0.00139 0.02778 C 0.00139 0.02893 -0.00052 0.02615 -3.33333E-6 0.03032 L -3.33333E-6 0.03588 " pathEditMode="relative" rAng="0" ptsTypes="AAAAA">
                                      <p:cBhvr>
                                        <p:cTn id="221" dur="1000" fill="hold"/>
                                        <p:tgtEl>
                                          <p:spTgt spid="350"/>
                                        </p:tgtEl>
                                        <p:attrNameLst>
                                          <p:attrName>ppt_x</p:attrName>
                                          <p:attrName>ppt_y</p:attrName>
                                        </p:attrNameLst>
                                      </p:cBhvr>
                                      <p:rCtr x="52" y="1782"/>
                                    </p:animMotion>
                                  </p:childTnLst>
                                </p:cTn>
                              </p:par>
                            </p:childTnLst>
                          </p:cTn>
                        </p:par>
                        <p:par>
                          <p:cTn id="222" fill="hold">
                            <p:stCondLst>
                              <p:cond delay="3500"/>
                            </p:stCondLst>
                            <p:childTnLst>
                              <p:par>
                                <p:cTn id="223" presetID="0" presetClass="path" presetSubtype="0" accel="50000" decel="50000" fill="hold" grpId="2" nodeType="afterEffect">
                                  <p:stCondLst>
                                    <p:cond delay="0"/>
                                  </p:stCondLst>
                                  <p:childTnLst>
                                    <p:animMotion origin="layout" path="M -0.03385 0.00162 L -0.03385 0.00185 C -0.02604 -0.01736 -0.02986 -0.00995 -0.02343 -0.0213 C -0.02257 -0.02245 -0.02205 -0.02477 -0.02118 -0.02523 C -0.01336 -0.02986 -0.01666 -0.02847 -0.01128 -0.03056 C -0.00816 -0.03426 -0.00816 -0.03449 -0.0052 -0.03611 C -0.0033 -0.03704 0.00087 -0.03866 0.00087 -0.0382 L 0.00087 -0.03866 " pathEditMode="relative" rAng="0" ptsTypes="AAAAAAAA">
                                      <p:cBhvr>
                                        <p:cTn id="224" dur="1000" fill="hold"/>
                                        <p:tgtEl>
                                          <p:spTgt spid="349"/>
                                        </p:tgtEl>
                                        <p:attrNameLst>
                                          <p:attrName>ppt_x</p:attrName>
                                          <p:attrName>ppt_y</p:attrName>
                                        </p:attrNameLst>
                                      </p:cBhvr>
                                      <p:rCtr x="1736" y="-2014"/>
                                    </p:animMotion>
                                  </p:childTnLst>
                                </p:cTn>
                              </p:par>
                            </p:childTnLst>
                          </p:cTn>
                        </p:par>
                        <p:par>
                          <p:cTn id="225" fill="hold">
                            <p:stCondLst>
                              <p:cond delay="4500"/>
                            </p:stCondLst>
                            <p:childTnLst>
                              <p:par>
                                <p:cTn id="226" presetID="22" presetClass="entr" presetSubtype="8" fill="hold" nodeType="afterEffect">
                                  <p:stCondLst>
                                    <p:cond delay="0"/>
                                  </p:stCondLst>
                                  <p:childTnLst>
                                    <p:set>
                                      <p:cBhvr>
                                        <p:cTn id="227" dur="1" fill="hold">
                                          <p:stCondLst>
                                            <p:cond delay="0"/>
                                          </p:stCondLst>
                                        </p:cTn>
                                        <p:tgtEl>
                                          <p:spTgt spid="289"/>
                                        </p:tgtEl>
                                        <p:attrNameLst>
                                          <p:attrName>style.visibility</p:attrName>
                                        </p:attrNameLst>
                                      </p:cBhvr>
                                      <p:to>
                                        <p:strVal val="visible"/>
                                      </p:to>
                                    </p:set>
                                    <p:animEffect transition="in" filter="wipe(left)">
                                      <p:cBhvr>
                                        <p:cTn id="228" dur="500"/>
                                        <p:tgtEl>
                                          <p:spTgt spid="289"/>
                                        </p:tgtEl>
                                      </p:cBhvr>
                                    </p:animEffect>
                                  </p:childTnLst>
                                </p:cTn>
                              </p:par>
                            </p:childTnLst>
                          </p:cTn>
                        </p:par>
                      </p:childTnLst>
                    </p:cTn>
                  </p:par>
                  <p:par>
                    <p:cTn id="229" fill="hold">
                      <p:stCondLst>
                        <p:cond delay="indefinite"/>
                      </p:stCondLst>
                      <p:childTnLst>
                        <p:par>
                          <p:cTn id="230" fill="hold">
                            <p:stCondLst>
                              <p:cond delay="0"/>
                            </p:stCondLst>
                            <p:childTnLst>
                              <p:par>
                                <p:cTn id="231" presetID="1" presetClass="exit" presetSubtype="0" fill="hold" grpId="2" nodeType="clickEffect">
                                  <p:stCondLst>
                                    <p:cond delay="0"/>
                                  </p:stCondLst>
                                  <p:childTnLst>
                                    <p:set>
                                      <p:cBhvr>
                                        <p:cTn id="232" dur="1" fill="hold">
                                          <p:stCondLst>
                                            <p:cond delay="0"/>
                                          </p:stCondLst>
                                        </p:cTn>
                                        <p:tgtEl>
                                          <p:spTgt spid="379"/>
                                        </p:tgtEl>
                                        <p:attrNameLst>
                                          <p:attrName>style.visibility</p:attrName>
                                        </p:attrNameLst>
                                      </p:cBhvr>
                                      <p:to>
                                        <p:strVal val="hidden"/>
                                      </p:to>
                                    </p:set>
                                  </p:childTnLst>
                                </p:cTn>
                              </p:par>
                              <p:par>
                                <p:cTn id="233" presetID="10" presetClass="entr" presetSubtype="0" fill="hold" nodeType="withEffect">
                                  <p:stCondLst>
                                    <p:cond delay="0"/>
                                  </p:stCondLst>
                                  <p:childTnLst>
                                    <p:set>
                                      <p:cBhvr>
                                        <p:cTn id="234" dur="1" fill="hold">
                                          <p:stCondLst>
                                            <p:cond delay="0"/>
                                          </p:stCondLst>
                                        </p:cTn>
                                        <p:tgtEl>
                                          <p:spTgt spid="9"/>
                                        </p:tgtEl>
                                        <p:attrNameLst>
                                          <p:attrName>style.visibility</p:attrName>
                                        </p:attrNameLst>
                                      </p:cBhvr>
                                      <p:to>
                                        <p:strVal val="visible"/>
                                      </p:to>
                                    </p:set>
                                    <p:animEffect transition="in" filter="fade">
                                      <p:cBhvr>
                                        <p:cTn id="235" dur="500"/>
                                        <p:tgtEl>
                                          <p:spTgt spid="9"/>
                                        </p:tgtEl>
                                      </p:cBhvr>
                                    </p:animEffect>
                                  </p:childTnLst>
                                </p:cTn>
                              </p:par>
                            </p:childTnLst>
                          </p:cTn>
                        </p:par>
                      </p:childTnLst>
                    </p:cTn>
                  </p:par>
                  <p:par>
                    <p:cTn id="236" fill="hold">
                      <p:stCondLst>
                        <p:cond delay="indefinite"/>
                      </p:stCondLst>
                      <p:childTnLst>
                        <p:par>
                          <p:cTn id="237" fill="hold">
                            <p:stCondLst>
                              <p:cond delay="0"/>
                            </p:stCondLst>
                            <p:childTnLst>
                              <p:par>
                                <p:cTn id="238" presetID="10" presetClass="entr" presetSubtype="0" fill="hold" nodeType="clickEffect">
                                  <p:stCondLst>
                                    <p:cond delay="0"/>
                                  </p:stCondLst>
                                  <p:childTnLst>
                                    <p:set>
                                      <p:cBhvr>
                                        <p:cTn id="239" dur="1" fill="hold">
                                          <p:stCondLst>
                                            <p:cond delay="0"/>
                                          </p:stCondLst>
                                        </p:cTn>
                                        <p:tgtEl>
                                          <p:spTgt spid="96"/>
                                        </p:tgtEl>
                                        <p:attrNameLst>
                                          <p:attrName>style.visibility</p:attrName>
                                        </p:attrNameLst>
                                      </p:cBhvr>
                                      <p:to>
                                        <p:strVal val="visible"/>
                                      </p:to>
                                    </p:set>
                                    <p:animEffect transition="in" filter="fade">
                                      <p:cBhvr>
                                        <p:cTn id="240" dur="500"/>
                                        <p:tgtEl>
                                          <p:spTgt spid="96"/>
                                        </p:tgtEl>
                                      </p:cBhvr>
                                    </p:animEffect>
                                  </p:childTnLst>
                                </p:cTn>
                              </p:par>
                              <p:par>
                                <p:cTn id="241" presetID="42" presetClass="path" presetSubtype="0" accel="50000" decel="50000" fill="hold" nodeType="withEffect">
                                  <p:stCondLst>
                                    <p:cond delay="0"/>
                                  </p:stCondLst>
                                  <p:childTnLst>
                                    <p:animMotion origin="layout" path="M 2.22222E-6 -3.7037E-6 L -0.05035 -0.00069 " pathEditMode="relative" rAng="0" ptsTypes="AA">
                                      <p:cBhvr>
                                        <p:cTn id="242" dur="1000" spd="-100000" fill="hold"/>
                                        <p:tgtEl>
                                          <p:spTgt spid="96"/>
                                        </p:tgtEl>
                                        <p:attrNameLst>
                                          <p:attrName>ppt_x</p:attrName>
                                          <p:attrName>ppt_y</p:attrName>
                                        </p:attrNameLst>
                                      </p:cBhvr>
                                      <p:rCtr x="-2517" y="-46"/>
                                    </p:animMotion>
                                  </p:childTnLst>
                                </p:cTn>
                              </p:par>
                            </p:childTnLst>
                          </p:cTn>
                        </p:par>
                        <p:par>
                          <p:cTn id="243" fill="hold">
                            <p:stCondLst>
                              <p:cond delay="1000"/>
                            </p:stCondLst>
                            <p:childTnLst>
                              <p:par>
                                <p:cTn id="244" presetID="10" presetClass="exit" presetSubtype="0" fill="hold" nodeType="afterEffect">
                                  <p:stCondLst>
                                    <p:cond delay="0"/>
                                  </p:stCondLst>
                                  <p:childTnLst>
                                    <p:animEffect transition="out" filter="fade">
                                      <p:cBhvr>
                                        <p:cTn id="245" dur="500"/>
                                        <p:tgtEl>
                                          <p:spTgt spid="96"/>
                                        </p:tgtEl>
                                      </p:cBhvr>
                                    </p:animEffect>
                                    <p:set>
                                      <p:cBhvr>
                                        <p:cTn id="246" dur="1" fill="hold">
                                          <p:stCondLst>
                                            <p:cond delay="499"/>
                                          </p:stCondLst>
                                        </p:cTn>
                                        <p:tgtEl>
                                          <p:spTgt spid="96"/>
                                        </p:tgtEl>
                                        <p:attrNameLst>
                                          <p:attrName>style.visibility</p:attrName>
                                        </p:attrNameLst>
                                      </p:cBhvr>
                                      <p:to>
                                        <p:strVal val="hidden"/>
                                      </p:to>
                                    </p:set>
                                  </p:childTnLst>
                                </p:cTn>
                              </p:par>
                              <p:par>
                                <p:cTn id="247" presetID="10" presetClass="entr" presetSubtype="0" fill="hold" nodeType="withEffect">
                                  <p:stCondLst>
                                    <p:cond delay="0"/>
                                  </p:stCondLst>
                                  <p:childTnLst>
                                    <p:set>
                                      <p:cBhvr>
                                        <p:cTn id="248" dur="1" fill="hold">
                                          <p:stCondLst>
                                            <p:cond delay="0"/>
                                          </p:stCondLst>
                                        </p:cTn>
                                        <p:tgtEl>
                                          <p:spTgt spid="109"/>
                                        </p:tgtEl>
                                        <p:attrNameLst>
                                          <p:attrName>style.visibility</p:attrName>
                                        </p:attrNameLst>
                                      </p:cBhvr>
                                      <p:to>
                                        <p:strVal val="visible"/>
                                      </p:to>
                                    </p:set>
                                    <p:animEffect transition="in" filter="fade">
                                      <p:cBhvr>
                                        <p:cTn id="249" dur="1000"/>
                                        <p:tgtEl>
                                          <p:spTgt spid="109"/>
                                        </p:tgtEl>
                                      </p:cBhvr>
                                    </p:animEffect>
                                  </p:childTnLst>
                                </p:cTn>
                              </p:par>
                            </p:childTnLst>
                          </p:cTn>
                        </p:par>
                      </p:childTnLst>
                    </p:cTn>
                  </p:par>
                  <p:par>
                    <p:cTn id="250" fill="hold">
                      <p:stCondLst>
                        <p:cond delay="indefinite"/>
                      </p:stCondLst>
                      <p:childTnLst>
                        <p:par>
                          <p:cTn id="251" fill="hold">
                            <p:stCondLst>
                              <p:cond delay="0"/>
                            </p:stCondLst>
                            <p:childTnLst>
                              <p:par>
                                <p:cTn id="252" presetID="10" presetClass="entr" presetSubtype="0" fill="hold" nodeType="clickEffect">
                                  <p:stCondLst>
                                    <p:cond delay="0"/>
                                  </p:stCondLst>
                                  <p:childTnLst>
                                    <p:set>
                                      <p:cBhvr>
                                        <p:cTn id="253" dur="1" fill="hold">
                                          <p:stCondLst>
                                            <p:cond delay="0"/>
                                          </p:stCondLst>
                                        </p:cTn>
                                        <p:tgtEl>
                                          <p:spTgt spid="11"/>
                                        </p:tgtEl>
                                        <p:attrNameLst>
                                          <p:attrName>style.visibility</p:attrName>
                                        </p:attrNameLst>
                                      </p:cBhvr>
                                      <p:to>
                                        <p:strVal val="visible"/>
                                      </p:to>
                                    </p:set>
                                    <p:animEffect transition="in" filter="fade">
                                      <p:cBhvr>
                                        <p:cTn id="254" dur="500"/>
                                        <p:tgtEl>
                                          <p:spTgt spid="11"/>
                                        </p:tgtEl>
                                      </p:cBhvr>
                                    </p:animEffect>
                                  </p:childTnLst>
                                </p:cTn>
                              </p:par>
                            </p:childTnLst>
                          </p:cTn>
                        </p:par>
                      </p:childTnLst>
                    </p:cTn>
                  </p:par>
                  <p:par>
                    <p:cTn id="255" fill="hold">
                      <p:stCondLst>
                        <p:cond delay="indefinite"/>
                      </p:stCondLst>
                      <p:childTnLst>
                        <p:par>
                          <p:cTn id="256" fill="hold">
                            <p:stCondLst>
                              <p:cond delay="0"/>
                            </p:stCondLst>
                            <p:childTnLst>
                              <p:par>
                                <p:cTn id="257" presetID="10" presetClass="entr" presetSubtype="0" fill="hold" nodeType="clickEffect">
                                  <p:stCondLst>
                                    <p:cond delay="0"/>
                                  </p:stCondLst>
                                  <p:childTnLst>
                                    <p:set>
                                      <p:cBhvr>
                                        <p:cTn id="258" dur="1" fill="hold">
                                          <p:stCondLst>
                                            <p:cond delay="0"/>
                                          </p:stCondLst>
                                        </p:cTn>
                                        <p:tgtEl>
                                          <p:spTgt spid="10"/>
                                        </p:tgtEl>
                                        <p:attrNameLst>
                                          <p:attrName>style.visibility</p:attrName>
                                        </p:attrNameLst>
                                      </p:cBhvr>
                                      <p:to>
                                        <p:strVal val="visible"/>
                                      </p:to>
                                    </p:set>
                                    <p:animEffect transition="in" filter="fade">
                                      <p:cBhvr>
                                        <p:cTn id="259" dur="500"/>
                                        <p:tgtEl>
                                          <p:spTgt spid="10"/>
                                        </p:tgtEl>
                                      </p:cBhvr>
                                    </p:animEffect>
                                  </p:childTnLst>
                                </p:cTn>
                              </p:par>
                            </p:childTnLst>
                          </p:cTn>
                        </p:par>
                      </p:childTnLst>
                    </p:cTn>
                  </p:par>
                  <p:par>
                    <p:cTn id="260" fill="hold">
                      <p:stCondLst>
                        <p:cond delay="indefinite"/>
                      </p:stCondLst>
                      <p:childTnLst>
                        <p:par>
                          <p:cTn id="261" fill="hold">
                            <p:stCondLst>
                              <p:cond delay="0"/>
                            </p:stCondLst>
                            <p:childTnLst>
                              <p:par>
                                <p:cTn id="262" presetID="10" presetClass="entr" presetSubtype="0" fill="hold" nodeType="clickEffect">
                                  <p:stCondLst>
                                    <p:cond delay="0"/>
                                  </p:stCondLst>
                                  <p:childTnLst>
                                    <p:set>
                                      <p:cBhvr>
                                        <p:cTn id="263" dur="1" fill="hold">
                                          <p:stCondLst>
                                            <p:cond delay="0"/>
                                          </p:stCondLst>
                                        </p:cTn>
                                        <p:tgtEl>
                                          <p:spTgt spid="111"/>
                                        </p:tgtEl>
                                        <p:attrNameLst>
                                          <p:attrName>style.visibility</p:attrName>
                                        </p:attrNameLst>
                                      </p:cBhvr>
                                      <p:to>
                                        <p:strVal val="visible"/>
                                      </p:to>
                                    </p:set>
                                    <p:animEffect transition="in" filter="fade">
                                      <p:cBhvr>
                                        <p:cTn id="264" dur="500"/>
                                        <p:tgtEl>
                                          <p:spTgt spid="111"/>
                                        </p:tgtEl>
                                      </p:cBhvr>
                                    </p:animEffect>
                                  </p:childTnLst>
                                </p:cTn>
                              </p:par>
                              <p:par>
                                <p:cTn id="265" presetID="42" presetClass="path" presetSubtype="0" accel="50000" decel="50000" fill="hold" nodeType="withEffect">
                                  <p:stCondLst>
                                    <p:cond delay="0"/>
                                  </p:stCondLst>
                                  <p:childTnLst>
                                    <p:animMotion origin="layout" path="M 4.72222E-6 4.81481E-6 L -0.04844 4.81481E-6 " pathEditMode="relative" rAng="0" ptsTypes="AA">
                                      <p:cBhvr>
                                        <p:cTn id="266" dur="1000" spd="-100000" fill="hold"/>
                                        <p:tgtEl>
                                          <p:spTgt spid="111"/>
                                        </p:tgtEl>
                                        <p:attrNameLst>
                                          <p:attrName>ppt_x</p:attrName>
                                          <p:attrName>ppt_y</p:attrName>
                                        </p:attrNameLst>
                                      </p:cBhvr>
                                      <p:rCtr x="-2431" y="0"/>
                                    </p:animMotion>
                                  </p:childTnLst>
                                </p:cTn>
                              </p:par>
                            </p:childTnLst>
                          </p:cTn>
                        </p:par>
                        <p:par>
                          <p:cTn id="267" fill="hold">
                            <p:stCondLst>
                              <p:cond delay="1000"/>
                            </p:stCondLst>
                            <p:childTnLst>
                              <p:par>
                                <p:cTn id="268" presetID="10" presetClass="exit" presetSubtype="0" fill="hold" nodeType="afterEffect">
                                  <p:stCondLst>
                                    <p:cond delay="0"/>
                                  </p:stCondLst>
                                  <p:childTnLst>
                                    <p:animEffect transition="out" filter="fade">
                                      <p:cBhvr>
                                        <p:cTn id="269" dur="500"/>
                                        <p:tgtEl>
                                          <p:spTgt spid="111"/>
                                        </p:tgtEl>
                                      </p:cBhvr>
                                    </p:animEffect>
                                    <p:set>
                                      <p:cBhvr>
                                        <p:cTn id="270" dur="1" fill="hold">
                                          <p:stCondLst>
                                            <p:cond delay="499"/>
                                          </p:stCondLst>
                                        </p:cTn>
                                        <p:tgtEl>
                                          <p:spTgt spid="111"/>
                                        </p:tgtEl>
                                        <p:attrNameLst>
                                          <p:attrName>style.visibility</p:attrName>
                                        </p:attrNameLst>
                                      </p:cBhvr>
                                      <p:to>
                                        <p:strVal val="hidden"/>
                                      </p:to>
                                    </p:set>
                                  </p:childTnLst>
                                </p:cTn>
                              </p:par>
                              <p:par>
                                <p:cTn id="271" presetID="10" presetClass="entr" presetSubtype="0" fill="hold" nodeType="withEffect">
                                  <p:stCondLst>
                                    <p:cond delay="0"/>
                                  </p:stCondLst>
                                  <p:childTnLst>
                                    <p:set>
                                      <p:cBhvr>
                                        <p:cTn id="272" dur="1" fill="hold">
                                          <p:stCondLst>
                                            <p:cond delay="0"/>
                                          </p:stCondLst>
                                        </p:cTn>
                                        <p:tgtEl>
                                          <p:spTgt spid="112"/>
                                        </p:tgtEl>
                                        <p:attrNameLst>
                                          <p:attrName>style.visibility</p:attrName>
                                        </p:attrNameLst>
                                      </p:cBhvr>
                                      <p:to>
                                        <p:strVal val="visible"/>
                                      </p:to>
                                    </p:set>
                                    <p:animEffect transition="in" filter="fade">
                                      <p:cBhvr>
                                        <p:cTn id="273" dur="1000"/>
                                        <p:tgtEl>
                                          <p:spTgt spid="112"/>
                                        </p:tgtEl>
                                      </p:cBhvr>
                                    </p:animEffect>
                                  </p:childTnLst>
                                </p:cTn>
                              </p:par>
                            </p:childTnLst>
                          </p:cTn>
                        </p:par>
                      </p:childTnLst>
                    </p:cTn>
                  </p:par>
                  <p:par>
                    <p:cTn id="274" fill="hold">
                      <p:stCondLst>
                        <p:cond delay="indefinite"/>
                      </p:stCondLst>
                      <p:childTnLst>
                        <p:par>
                          <p:cTn id="275" fill="hold">
                            <p:stCondLst>
                              <p:cond delay="0"/>
                            </p:stCondLst>
                            <p:childTnLst>
                              <p:par>
                                <p:cTn id="276" presetID="10" presetClass="entr" presetSubtype="0" fill="hold" nodeType="clickEffect">
                                  <p:stCondLst>
                                    <p:cond delay="0"/>
                                  </p:stCondLst>
                                  <p:childTnLst>
                                    <p:set>
                                      <p:cBhvr>
                                        <p:cTn id="277" dur="1" fill="hold">
                                          <p:stCondLst>
                                            <p:cond delay="0"/>
                                          </p:stCondLst>
                                        </p:cTn>
                                        <p:tgtEl>
                                          <p:spTgt spid="12"/>
                                        </p:tgtEl>
                                        <p:attrNameLst>
                                          <p:attrName>style.visibility</p:attrName>
                                        </p:attrNameLst>
                                      </p:cBhvr>
                                      <p:to>
                                        <p:strVal val="visible"/>
                                      </p:to>
                                    </p:set>
                                    <p:animEffect transition="in" filter="fade">
                                      <p:cBhvr>
                                        <p:cTn id="27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 grpId="0" animBg="1"/>
      <p:bldP spid="295" grpId="0"/>
      <p:bldP spid="295" grpId="1"/>
      <p:bldP spid="295" grpId="2"/>
      <p:bldP spid="297" grpId="0"/>
      <p:bldP spid="297" grpId="1"/>
      <p:bldP spid="297" grpId="2"/>
      <p:bldP spid="298" grpId="0" animBg="1"/>
      <p:bldP spid="298" grpId="1" animBg="1"/>
      <p:bldP spid="298" grpId="2" animBg="1"/>
      <p:bldP spid="305" grpId="0"/>
      <p:bldP spid="305" grpId="1"/>
      <p:bldP spid="305" grpId="2"/>
      <p:bldP spid="310" grpId="0"/>
      <p:bldP spid="310" grpId="1"/>
      <p:bldP spid="310" grpId="2"/>
      <p:bldP spid="336" grpId="0" animBg="1"/>
      <p:bldP spid="337" grpId="0" animBg="1"/>
      <p:bldP spid="338" grpId="0" animBg="1"/>
      <p:bldP spid="338" grpId="1" animBg="1"/>
      <p:bldP spid="338" grpId="2" animBg="1"/>
      <p:bldP spid="339" grpId="0" animBg="1"/>
      <p:bldP spid="339" grpId="1" animBg="1"/>
      <p:bldP spid="340" grpId="0"/>
      <p:bldP spid="340" grpId="1"/>
      <p:bldP spid="340" grpId="2"/>
      <p:bldP spid="349" grpId="0" animBg="1"/>
      <p:bldP spid="349" grpId="1" animBg="1"/>
      <p:bldP spid="349" grpId="2" animBg="1"/>
      <p:bldP spid="350" grpId="0" animBg="1"/>
      <p:bldP spid="350" grpId="1" animBg="1"/>
      <p:bldP spid="351" grpId="0" animBg="1"/>
      <p:bldP spid="352" grpId="0" animBg="1"/>
      <p:bldP spid="358" grpId="0"/>
      <p:bldP spid="358" grpId="1"/>
      <p:bldP spid="358" grpId="2"/>
      <p:bldP spid="379" grpId="0"/>
      <p:bldP spid="379" grpId="1"/>
      <p:bldP spid="379" grpId="2"/>
      <p:bldP spid="390" grpId="0" animBg="1"/>
      <p:bldP spid="390" grpId="1" animBg="1"/>
      <p:bldP spid="390" grpId="2"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E9B429-0819-E11B-BACC-984383841E52}"/>
              </a:ext>
            </a:extLst>
          </p:cNvPr>
          <p:cNvSpPr>
            <a:spLocks noGrp="1"/>
          </p:cNvSpPr>
          <p:nvPr>
            <p:ph idx="4294967295"/>
          </p:nvPr>
        </p:nvSpPr>
        <p:spPr>
          <a:xfrm>
            <a:off x="731520" y="1556792"/>
            <a:ext cx="10752137" cy="5010150"/>
          </a:xfrm>
          <a:prstGeom prst="rect">
            <a:avLst/>
          </a:prstGeom>
        </p:spPr>
        <p:txBody>
          <a:bodyPr/>
          <a:lstStyle/>
          <a:p>
            <a:r>
              <a:rPr lang="en-US" altLang="zh-CN" dirty="0"/>
              <a:t>Belady</a:t>
            </a:r>
            <a:r>
              <a:rPr lang="zh-CN" altLang="en-US" dirty="0"/>
              <a:t>强调的是，随着页框数量的增加，缺页的数量也变多了</a:t>
            </a:r>
            <a:endParaRPr lang="en-US" altLang="zh-CN" dirty="0"/>
          </a:p>
          <a:p>
            <a:r>
              <a:rPr lang="zh-CN" altLang="en-US" dirty="0"/>
              <a:t>导致</a:t>
            </a:r>
            <a:r>
              <a:rPr lang="en-US" altLang="zh-CN" dirty="0"/>
              <a:t>Belady</a:t>
            </a:r>
            <a:r>
              <a:rPr lang="zh-CN" altLang="en-US" dirty="0"/>
              <a:t>的原因是，页框数量增加后，留在内存当中的内容与增加之前无关，从而导致缺页事件的不可预测 </a:t>
            </a:r>
            <a:endParaRPr lang="en-US" altLang="zh-CN" dirty="0"/>
          </a:p>
          <a:p>
            <a:r>
              <a:rPr lang="zh-CN" altLang="en-US" dirty="0"/>
              <a:t>对于一次访存而言，</a:t>
            </a:r>
            <a:r>
              <a:rPr lang="en-US" altLang="zh-CN" dirty="0" err="1"/>
              <a:t>LRU</a:t>
            </a:r>
            <a:r>
              <a:rPr lang="zh-CN" altLang="en-US" dirty="0"/>
              <a:t>不会出现</a:t>
            </a:r>
            <a:r>
              <a:rPr lang="en-US" altLang="zh-CN" dirty="0" err="1"/>
              <a:t>belady</a:t>
            </a:r>
            <a:r>
              <a:rPr lang="zh-CN" altLang="en-US" dirty="0"/>
              <a:t>是因为，增加页框数量后原本不引起缺页事件的访存必然不会引起缺页</a:t>
            </a:r>
            <a:endParaRPr lang="en-US" altLang="zh-CN" dirty="0"/>
          </a:p>
          <a:p>
            <a:pPr lvl="1"/>
            <a:r>
              <a:rPr lang="zh-CN" altLang="en-US" dirty="0"/>
              <a:t>因为留在页框中的内容是按最近访问的顺序排列的，增加页框，得到的留在内存中的页面，一定是增加之前页面集合的超集</a:t>
            </a:r>
            <a:endParaRPr lang="en-US" altLang="zh-CN" dirty="0"/>
          </a:p>
          <a:p>
            <a:pPr lvl="1"/>
            <a:r>
              <a:rPr lang="zh-CN" altLang="en-US" dirty="0"/>
              <a:t>新增的页框最差情况下就是不发挥作用，但是不会引出新的缺页事件，因此不会增加</a:t>
            </a:r>
          </a:p>
        </p:txBody>
      </p:sp>
      <p:sp>
        <p:nvSpPr>
          <p:cNvPr id="7" name="文本框 6">
            <a:extLst>
              <a:ext uri="{FF2B5EF4-FFF2-40B4-BE49-F238E27FC236}">
                <a16:creationId xmlns:a16="http://schemas.microsoft.com/office/drawing/2014/main" id="{C29F79CF-5145-D426-D989-C06CCEEAC0BA}"/>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170DB143-FF97-5D98-E013-8850EDEE75E1}"/>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LRU</a:t>
            </a:r>
            <a:r>
              <a:rPr lang="zh-CN" altLang="en-US" b="0" kern="0" dirty="0"/>
              <a:t>会不会出现</a:t>
            </a:r>
            <a:r>
              <a:rPr lang="en-US" altLang="zh-CN" b="0" kern="0" dirty="0" err="1"/>
              <a:t>belady</a:t>
            </a:r>
            <a:r>
              <a:rPr lang="en-US" altLang="zh-CN" b="0" kern="0" dirty="0"/>
              <a:t>?</a:t>
            </a:r>
            <a:endParaRPr lang="zh-CN" altLang="en-US" b="0" kern="0" dirty="0"/>
          </a:p>
        </p:txBody>
      </p:sp>
    </p:spTree>
    <p:extLst>
      <p:ext uri="{BB962C8B-B14F-4D97-AF65-F5344CB8AC3E}">
        <p14:creationId xmlns:p14="http://schemas.microsoft.com/office/powerpoint/2010/main" val="361424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14" presetClass="entr" presetSubtype="10" fill="hold" nodeType="after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4" dur="500"/>
                                        <p:tgtEl>
                                          <p:spTgt spid="3">
                                            <p:txEl>
                                              <p:pRg st="3" end="3"/>
                                            </p:txEl>
                                          </p:spTgt>
                                        </p:tgtEl>
                                      </p:cBhvr>
                                    </p:animEffect>
                                  </p:childTnLst>
                                </p:cTn>
                              </p:par>
                            </p:childTnLst>
                          </p:cTn>
                        </p:par>
                        <p:par>
                          <p:cTn id="25" fill="hold">
                            <p:stCondLst>
                              <p:cond delay="1000"/>
                            </p:stCondLst>
                            <p:childTnLst>
                              <p:par>
                                <p:cTn id="26" presetID="14" presetClass="entr" presetSubtype="10" fill="hold" nodeType="after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内容占位符 2"/>
          <p:cNvSpPr>
            <a:spLocks noGrp="1"/>
          </p:cNvSpPr>
          <p:nvPr>
            <p:ph idx="4294967295"/>
          </p:nvPr>
        </p:nvSpPr>
        <p:spPr>
          <a:xfrm>
            <a:off x="731520" y="1556793"/>
            <a:ext cx="10728960" cy="4680520"/>
          </a:xfrm>
          <a:prstGeom prst="rect">
            <a:avLst/>
          </a:prstGeom>
        </p:spPr>
        <p:txBody>
          <a:bodyPr>
            <a:normAutofit/>
          </a:bodyPr>
          <a:lstStyle/>
          <a:p>
            <a:pPr>
              <a:lnSpc>
                <a:spcPct val="110000"/>
              </a:lnSpc>
              <a:defRPr/>
            </a:pPr>
            <a:r>
              <a:rPr lang="en-US" altLang="zh-CN" dirty="0">
                <a:latin typeface="Verdana" panose="020B0604030504040204" pitchFamily="34" charset="0"/>
                <a:ea typeface="Verdana" panose="020B0604030504040204" pitchFamily="34" charset="0"/>
              </a:rPr>
              <a:t>Analysis  of the algorithm</a:t>
            </a:r>
          </a:p>
          <a:p>
            <a:pPr lvl="1">
              <a:lnSpc>
                <a:spcPct val="110000"/>
              </a:lnSpc>
              <a:defRPr/>
            </a:pPr>
            <a:r>
              <a:rPr lang="en-US" altLang="zh-CN" dirty="0">
                <a:latin typeface="Verdana" panose="020B0604030504040204" pitchFamily="34" charset="0"/>
                <a:ea typeface="Verdana" panose="020B0604030504040204" pitchFamily="34" charset="0"/>
              </a:rPr>
              <a:t>Using a bit matrix (n * n)to indicate the status of each frame, where ‘n’ is the number of frames</a:t>
            </a:r>
          </a:p>
          <a:p>
            <a:pPr lvl="1">
              <a:lnSpc>
                <a:spcPct val="110000"/>
              </a:lnSpc>
              <a:defRPr/>
            </a:pPr>
            <a:r>
              <a:rPr lang="en-US" altLang="zh-CN" dirty="0">
                <a:latin typeface="Verdana" panose="020B0604030504040204" pitchFamily="34" charset="0"/>
                <a:ea typeface="Verdana" panose="020B0604030504040204" pitchFamily="34" charset="0"/>
              </a:rPr>
              <a:t>When frame k is referenced, set the row k in the matrix to be 1, while set the column k in the matrix to be 0</a:t>
            </a:r>
          </a:p>
          <a:p>
            <a:pPr lvl="1">
              <a:lnSpc>
                <a:spcPct val="110000"/>
              </a:lnSpc>
              <a:defRPr/>
            </a:pPr>
            <a:r>
              <a:rPr lang="en-US" altLang="zh-CN" dirty="0">
                <a:latin typeface="Verdana" panose="020B0604030504040204" pitchFamily="34" charset="0"/>
                <a:ea typeface="Verdana" panose="020B0604030504040204" pitchFamily="34" charset="0"/>
              </a:rPr>
              <a:t>The lease binary value means this page can be replaced</a:t>
            </a:r>
          </a:p>
          <a:p>
            <a:pPr>
              <a:lnSpc>
                <a:spcPct val="110000"/>
              </a:lnSpc>
              <a:defRPr/>
            </a:pPr>
            <a:r>
              <a:rPr lang="en-US" altLang="zh-CN" dirty="0">
                <a:latin typeface="Verdana" panose="020B0604030504040204" pitchFamily="34" charset="0"/>
                <a:ea typeface="Verdana" panose="020B0604030504040204" pitchFamily="34" charset="0"/>
              </a:rPr>
              <a:t>Implementation issues</a:t>
            </a:r>
          </a:p>
          <a:p>
            <a:pPr lvl="1">
              <a:lnSpc>
                <a:spcPct val="110000"/>
              </a:lnSpc>
              <a:defRPr/>
            </a:pPr>
            <a:r>
              <a:rPr lang="en-US" altLang="zh-CN" dirty="0">
                <a:latin typeface="Verdana" panose="020B0604030504040204" pitchFamily="34" charset="0"/>
                <a:ea typeface="Verdana" panose="020B0604030504040204" pitchFamily="34" charset="0"/>
              </a:rPr>
              <a:t>Simple implementation: counter in the page table</a:t>
            </a:r>
          </a:p>
          <a:p>
            <a:pPr lvl="1">
              <a:lnSpc>
                <a:spcPct val="110000"/>
              </a:lnSpc>
              <a:defRPr/>
            </a:pPr>
            <a:r>
              <a:rPr lang="en-US" altLang="zh-CN" dirty="0">
                <a:latin typeface="Verdana" panose="020B0604030504040204" pitchFamily="34" charset="0"/>
                <a:ea typeface="Verdana" panose="020B0604030504040204" pitchFamily="34" charset="0"/>
              </a:rPr>
              <a:t>Hardware implementation: special registers are used to realize a n*n matrix</a:t>
            </a:r>
          </a:p>
        </p:txBody>
      </p:sp>
      <p:sp>
        <p:nvSpPr>
          <p:cNvPr id="2" name="文本框 1">
            <a:extLst>
              <a:ext uri="{FF2B5EF4-FFF2-40B4-BE49-F238E27FC236}">
                <a16:creationId xmlns:a16="http://schemas.microsoft.com/office/drawing/2014/main" id="{A44F204E-9D9D-1986-A1A9-A23BF006022C}"/>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10A192C9-47BF-B827-AE79-24D26935C073}"/>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LRU </a:t>
            </a:r>
            <a:r>
              <a:rPr lang="zh-CN" altLang="en-US" b="0" kern="0" dirty="0"/>
              <a:t>在硬件上的近似实现</a:t>
            </a:r>
            <a:r>
              <a:rPr lang="en-US" altLang="zh-CN" b="0" kern="0" dirty="0"/>
              <a:t>(</a:t>
            </a:r>
            <a:r>
              <a:rPr lang="zh-CN" altLang="en-US" b="0" kern="0" dirty="0"/>
              <a:t>请自学</a:t>
            </a:r>
            <a:r>
              <a:rPr lang="en-US" altLang="zh-CN" b="0" kern="0" dirty="0"/>
              <a:t>)</a:t>
            </a:r>
            <a:endParaRPr lang="zh-CN" altLang="en-US" b="0" kern="0" dirty="0"/>
          </a:p>
        </p:txBody>
      </p:sp>
    </p:spTree>
    <p:extLst>
      <p:ext uri="{BB962C8B-B14F-4D97-AF65-F5344CB8AC3E}">
        <p14:creationId xmlns:p14="http://schemas.microsoft.com/office/powerpoint/2010/main" val="1301626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4" presetClass="entr" presetSubtype="10" fill="hold" nodeType="after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randombar(horizontal)">
                                      <p:cBhvr>
                                        <p:cTn id="12" dur="500"/>
                                        <p:tgtEl>
                                          <p:spTgt spid="16387">
                                            <p:txEl>
                                              <p:pRg st="1" end="1"/>
                                            </p:txEl>
                                          </p:spTgt>
                                        </p:tgtEl>
                                      </p:cBhvr>
                                    </p:animEffect>
                                  </p:childTnLst>
                                </p:cTn>
                              </p:par>
                            </p:childTnLst>
                          </p:cTn>
                        </p:par>
                        <p:par>
                          <p:cTn id="13" fill="hold">
                            <p:stCondLst>
                              <p:cond delay="1000"/>
                            </p:stCondLst>
                            <p:childTnLst>
                              <p:par>
                                <p:cTn id="14" presetID="14" presetClass="entr" presetSubtype="10" fill="hold" nodeType="afterEffect">
                                  <p:stCondLst>
                                    <p:cond delay="0"/>
                                  </p:stCondLst>
                                  <p:childTnLst>
                                    <p:set>
                                      <p:cBhvr>
                                        <p:cTn id="15" dur="1" fill="hold">
                                          <p:stCondLst>
                                            <p:cond delay="0"/>
                                          </p:stCondLst>
                                        </p:cTn>
                                        <p:tgtEl>
                                          <p:spTgt spid="16387">
                                            <p:txEl>
                                              <p:pRg st="2" end="2"/>
                                            </p:txEl>
                                          </p:spTgt>
                                        </p:tgtEl>
                                        <p:attrNameLst>
                                          <p:attrName>style.visibility</p:attrName>
                                        </p:attrNameLst>
                                      </p:cBhvr>
                                      <p:to>
                                        <p:strVal val="visible"/>
                                      </p:to>
                                    </p:set>
                                    <p:animEffect transition="in" filter="randombar(horizontal)">
                                      <p:cBhvr>
                                        <p:cTn id="16" dur="500"/>
                                        <p:tgtEl>
                                          <p:spTgt spid="16387">
                                            <p:txEl>
                                              <p:pRg st="2" end="2"/>
                                            </p:txEl>
                                          </p:spTgt>
                                        </p:tgtEl>
                                      </p:cBhvr>
                                    </p:animEffect>
                                  </p:childTnLst>
                                </p:cTn>
                              </p:par>
                            </p:childTnLst>
                          </p:cTn>
                        </p:par>
                        <p:par>
                          <p:cTn id="17" fill="hold">
                            <p:stCondLst>
                              <p:cond delay="1500"/>
                            </p:stCondLst>
                            <p:childTnLst>
                              <p:par>
                                <p:cTn id="18" presetID="14" presetClass="entr" presetSubtype="10" fill="hold" nodeType="afterEffect">
                                  <p:stCondLst>
                                    <p:cond delay="0"/>
                                  </p:stCondLst>
                                  <p:childTnLst>
                                    <p:set>
                                      <p:cBhvr>
                                        <p:cTn id="19" dur="1" fill="hold">
                                          <p:stCondLst>
                                            <p:cond delay="0"/>
                                          </p:stCondLst>
                                        </p:cTn>
                                        <p:tgtEl>
                                          <p:spTgt spid="16387">
                                            <p:txEl>
                                              <p:pRg st="3" end="3"/>
                                            </p:txEl>
                                          </p:spTgt>
                                        </p:tgtEl>
                                        <p:attrNameLst>
                                          <p:attrName>style.visibility</p:attrName>
                                        </p:attrNameLst>
                                      </p:cBhvr>
                                      <p:to>
                                        <p:strVal val="visible"/>
                                      </p:to>
                                    </p:set>
                                    <p:animEffect transition="in" filter="randombar(horizontal)">
                                      <p:cBhvr>
                                        <p:cTn id="20" dur="500"/>
                                        <p:tgtEl>
                                          <p:spTgt spid="1638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387">
                                            <p:txEl>
                                              <p:pRg st="4" end="4"/>
                                            </p:txEl>
                                          </p:spTgt>
                                        </p:tgtEl>
                                        <p:attrNameLst>
                                          <p:attrName>style.visibility</p:attrName>
                                        </p:attrNameLst>
                                      </p:cBhvr>
                                      <p:to>
                                        <p:strVal val="visible"/>
                                      </p:to>
                                    </p:set>
                                    <p:anim calcmode="lin" valueType="num">
                                      <p:cBhvr additive="base">
                                        <p:cTn id="25"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14" presetClass="entr" presetSubtype="10" fill="hold" nodeType="afterEffect">
                                  <p:stCondLst>
                                    <p:cond delay="0"/>
                                  </p:stCondLst>
                                  <p:childTnLst>
                                    <p:set>
                                      <p:cBhvr>
                                        <p:cTn id="29" dur="1" fill="hold">
                                          <p:stCondLst>
                                            <p:cond delay="0"/>
                                          </p:stCondLst>
                                        </p:cTn>
                                        <p:tgtEl>
                                          <p:spTgt spid="16387">
                                            <p:txEl>
                                              <p:pRg st="5" end="5"/>
                                            </p:txEl>
                                          </p:spTgt>
                                        </p:tgtEl>
                                        <p:attrNameLst>
                                          <p:attrName>style.visibility</p:attrName>
                                        </p:attrNameLst>
                                      </p:cBhvr>
                                      <p:to>
                                        <p:strVal val="visible"/>
                                      </p:to>
                                    </p:set>
                                    <p:animEffect transition="in" filter="randombar(horizontal)">
                                      <p:cBhvr>
                                        <p:cTn id="30" dur="500"/>
                                        <p:tgtEl>
                                          <p:spTgt spid="16387">
                                            <p:txEl>
                                              <p:pRg st="5" end="5"/>
                                            </p:txEl>
                                          </p:spTgt>
                                        </p:tgtEl>
                                      </p:cBhvr>
                                    </p:animEffect>
                                  </p:childTnLst>
                                </p:cTn>
                              </p:par>
                            </p:childTnLst>
                          </p:cTn>
                        </p:par>
                        <p:par>
                          <p:cTn id="31" fill="hold">
                            <p:stCondLst>
                              <p:cond delay="1000"/>
                            </p:stCondLst>
                            <p:childTnLst>
                              <p:par>
                                <p:cTn id="32" presetID="14" presetClass="entr" presetSubtype="10" fill="hold" nodeType="afterEffect">
                                  <p:stCondLst>
                                    <p:cond delay="0"/>
                                  </p:stCondLst>
                                  <p:childTnLst>
                                    <p:set>
                                      <p:cBhvr>
                                        <p:cTn id="33" dur="1" fill="hold">
                                          <p:stCondLst>
                                            <p:cond delay="0"/>
                                          </p:stCondLst>
                                        </p:cTn>
                                        <p:tgtEl>
                                          <p:spTgt spid="16387">
                                            <p:txEl>
                                              <p:pRg st="6" end="6"/>
                                            </p:txEl>
                                          </p:spTgt>
                                        </p:tgtEl>
                                        <p:attrNameLst>
                                          <p:attrName>style.visibility</p:attrName>
                                        </p:attrNameLst>
                                      </p:cBhvr>
                                      <p:to>
                                        <p:strVal val="visible"/>
                                      </p:to>
                                    </p:set>
                                    <p:animEffect transition="in" filter="randombar(horizontal)">
                                      <p:cBhvr>
                                        <p:cTn id="34" dur="500"/>
                                        <p:tgtEl>
                                          <p:spTgt spid="163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177090" y="2060478"/>
            <a:ext cx="4504298" cy="400110"/>
            <a:chOff x="1284441" y="1121331"/>
            <a:chExt cx="4504298" cy="400110"/>
          </a:xfrm>
        </p:grpSpPr>
        <p:sp>
          <p:nvSpPr>
            <p:cNvPr id="20" name="TextBox 19"/>
            <p:cNvSpPr txBox="1"/>
            <p:nvPr/>
          </p:nvSpPr>
          <p:spPr>
            <a:xfrm>
              <a:off x="1431021" y="1121331"/>
              <a:ext cx="4357718"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缺页时，置换访问次数最少的页面</a:t>
              </a:r>
              <a:endParaRPr lang="en-US" altLang="zh-CN" sz="2000" b="1" dirty="0">
                <a:solidFill>
                  <a:srgbClr val="11576A"/>
                </a:solidFill>
                <a:latin typeface="微软雅黑" pitchFamily="34" charset="-122"/>
                <a:ea typeface="微软雅黑" pitchFamily="34" charset="-122"/>
              </a:endParaRPr>
            </a:p>
          </p:txBody>
        </p:sp>
        <p:pic>
          <p:nvPicPr>
            <p:cNvPr id="43" name="图片 42" descr="小点1.png"/>
            <p:cNvPicPr>
              <a:picLocks noChangeAspect="1"/>
            </p:cNvPicPr>
            <p:nvPr/>
          </p:nvPicPr>
          <p:blipFill>
            <a:blip r:embed="rId2" cstate="print"/>
            <a:stretch>
              <a:fillRect/>
            </a:stretch>
          </p:blipFill>
          <p:spPr>
            <a:xfrm>
              <a:off x="1284441" y="1219051"/>
              <a:ext cx="151066" cy="148997"/>
            </a:xfrm>
            <a:prstGeom prst="rect">
              <a:avLst/>
            </a:prstGeom>
            <a:effectLst/>
          </p:spPr>
        </p:pic>
      </p:grpSp>
      <p:grpSp>
        <p:nvGrpSpPr>
          <p:cNvPr id="6" name="组合 5"/>
          <p:cNvGrpSpPr/>
          <p:nvPr/>
        </p:nvGrpSpPr>
        <p:grpSpPr>
          <a:xfrm>
            <a:off x="737173" y="1710697"/>
            <a:ext cx="1727212" cy="461665"/>
            <a:chOff x="844524" y="771550"/>
            <a:chExt cx="1727212" cy="461665"/>
          </a:xfrm>
        </p:grpSpPr>
        <p:sp>
          <p:nvSpPr>
            <p:cNvPr id="10" name="TextBox 9"/>
            <p:cNvSpPr txBox="1"/>
            <p:nvPr/>
          </p:nvSpPr>
          <p:spPr>
            <a:xfrm>
              <a:off x="1175432" y="771550"/>
              <a:ext cx="139630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思路</a:t>
              </a:r>
            </a:p>
          </p:txBody>
        </p:sp>
        <p:sp>
          <p:nvSpPr>
            <p:cNvPr id="49" name="TextBox 48"/>
            <p:cNvSpPr txBox="1"/>
            <p:nvPr/>
          </p:nvSpPr>
          <p:spPr>
            <a:xfrm>
              <a:off x="844524" y="77155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8" name="组合 7"/>
          <p:cNvGrpSpPr/>
          <p:nvPr/>
        </p:nvGrpSpPr>
        <p:grpSpPr>
          <a:xfrm>
            <a:off x="737173" y="2070737"/>
            <a:ext cx="1727212" cy="461665"/>
            <a:chOff x="844524" y="1440421"/>
            <a:chExt cx="1727212" cy="461665"/>
          </a:xfrm>
        </p:grpSpPr>
        <p:sp>
          <p:nvSpPr>
            <p:cNvPr id="18" name="TextBox 17"/>
            <p:cNvSpPr txBox="1"/>
            <p:nvPr/>
          </p:nvSpPr>
          <p:spPr>
            <a:xfrm>
              <a:off x="1175432" y="1440421"/>
              <a:ext cx="139630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实现</a:t>
              </a:r>
            </a:p>
          </p:txBody>
        </p:sp>
        <p:sp>
          <p:nvSpPr>
            <p:cNvPr id="48" name="TextBox 47"/>
            <p:cNvSpPr txBox="1"/>
            <p:nvPr/>
          </p:nvSpPr>
          <p:spPr>
            <a:xfrm>
              <a:off x="844524" y="1440421"/>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9" name="组合 8"/>
          <p:cNvGrpSpPr/>
          <p:nvPr/>
        </p:nvGrpSpPr>
        <p:grpSpPr>
          <a:xfrm>
            <a:off x="1177092" y="2394591"/>
            <a:ext cx="5566979" cy="1003229"/>
            <a:chOff x="1284441" y="1764273"/>
            <a:chExt cx="5566979" cy="1003229"/>
          </a:xfrm>
        </p:grpSpPr>
        <p:sp>
          <p:nvSpPr>
            <p:cNvPr id="21" name="TextBox 20"/>
            <p:cNvSpPr txBox="1"/>
            <p:nvPr/>
          </p:nvSpPr>
          <p:spPr>
            <a:xfrm>
              <a:off x="1431019" y="1764273"/>
              <a:ext cx="542040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每个页面设置一个访问计数（通常是个硬件）</a:t>
              </a:r>
            </a:p>
          </p:txBody>
        </p:sp>
        <p:sp>
          <p:nvSpPr>
            <p:cNvPr id="24" name="TextBox 23"/>
            <p:cNvSpPr txBox="1"/>
            <p:nvPr/>
          </p:nvSpPr>
          <p:spPr>
            <a:xfrm>
              <a:off x="1431021" y="2055649"/>
              <a:ext cx="3140979" cy="400110"/>
            </a:xfrm>
            <a:prstGeom prst="rect">
              <a:avLst/>
            </a:prstGeom>
            <a:noFill/>
            <a:effectLst/>
          </p:spPr>
          <p:txBody>
            <a:bodyPr wrap="square" rtlCol="0">
              <a:spAutoFit/>
            </a:bodyPr>
            <a:lstStyle/>
            <a:p>
              <a:pPr marL="6350" lvl="1"/>
              <a:r>
                <a:rPr lang="zh-CN" altLang="en-US" sz="2000" b="1" dirty="0">
                  <a:solidFill>
                    <a:srgbClr val="11576A"/>
                  </a:solidFill>
                  <a:latin typeface="微软雅黑" pitchFamily="34" charset="-122"/>
                  <a:ea typeface="微软雅黑" pitchFamily="34" charset="-122"/>
                </a:rPr>
                <a:t>访问页面时，访问计数加</a:t>
              </a:r>
              <a:r>
                <a:rPr lang="en-US" altLang="zh-CN" sz="2000" b="1" dirty="0">
                  <a:solidFill>
                    <a:srgbClr val="11576A"/>
                  </a:solidFill>
                  <a:latin typeface="微软雅黑" pitchFamily="34" charset="-122"/>
                  <a:ea typeface="微软雅黑" pitchFamily="34" charset="-122"/>
                </a:rPr>
                <a:t>1</a:t>
              </a:r>
            </a:p>
          </p:txBody>
        </p:sp>
        <p:pic>
          <p:nvPicPr>
            <p:cNvPr id="41" name="图片 40" descr="小点1.png"/>
            <p:cNvPicPr>
              <a:picLocks noChangeAspect="1"/>
            </p:cNvPicPr>
            <p:nvPr/>
          </p:nvPicPr>
          <p:blipFill>
            <a:blip r:embed="rId2" cstate="print"/>
            <a:stretch>
              <a:fillRect/>
            </a:stretch>
          </p:blipFill>
          <p:spPr>
            <a:xfrm>
              <a:off x="1284441" y="2149032"/>
              <a:ext cx="151066" cy="148997"/>
            </a:xfrm>
            <a:prstGeom prst="rect">
              <a:avLst/>
            </a:prstGeom>
            <a:effectLst/>
          </p:spPr>
        </p:pic>
        <p:pic>
          <p:nvPicPr>
            <p:cNvPr id="42" name="图片 41" descr="小点1.png"/>
            <p:cNvPicPr>
              <a:picLocks noChangeAspect="1"/>
            </p:cNvPicPr>
            <p:nvPr/>
          </p:nvPicPr>
          <p:blipFill>
            <a:blip r:embed="rId2" cstate="print"/>
            <a:stretch>
              <a:fillRect/>
            </a:stretch>
          </p:blipFill>
          <p:spPr>
            <a:xfrm>
              <a:off x="1284441" y="1873282"/>
              <a:ext cx="151066" cy="148997"/>
            </a:xfrm>
            <a:prstGeom prst="rect">
              <a:avLst/>
            </a:prstGeom>
            <a:effectLst/>
          </p:spPr>
        </p:pic>
        <p:sp>
          <p:nvSpPr>
            <p:cNvPr id="32" name="TextBox 31"/>
            <p:cNvSpPr txBox="1"/>
            <p:nvPr/>
          </p:nvSpPr>
          <p:spPr>
            <a:xfrm>
              <a:off x="1431019" y="2367392"/>
              <a:ext cx="4196265" cy="400110"/>
            </a:xfrm>
            <a:prstGeom prst="rect">
              <a:avLst/>
            </a:prstGeom>
            <a:noFill/>
            <a:effectLst/>
          </p:spPr>
          <p:txBody>
            <a:bodyPr wrap="square" rtlCol="0">
              <a:spAutoFit/>
            </a:bodyPr>
            <a:lstStyle/>
            <a:p>
              <a:pPr marL="6350" lvl="1"/>
              <a:r>
                <a:rPr lang="zh-CN" altLang="en-US" sz="2000" b="1" dirty="0">
                  <a:solidFill>
                    <a:srgbClr val="11576A"/>
                  </a:solidFill>
                  <a:latin typeface="微软雅黑" pitchFamily="34" charset="-122"/>
                  <a:ea typeface="微软雅黑" pitchFamily="34" charset="-122"/>
                </a:rPr>
                <a:t>缺页时，置换计数最小的页面</a:t>
              </a:r>
              <a:endParaRPr lang="en-US" altLang="zh-CN" sz="2000" b="1" dirty="0">
                <a:solidFill>
                  <a:srgbClr val="11576A"/>
                </a:solidFill>
                <a:latin typeface="微软雅黑" pitchFamily="34" charset="-122"/>
                <a:ea typeface="微软雅黑" pitchFamily="34" charset="-122"/>
              </a:endParaRPr>
            </a:p>
          </p:txBody>
        </p:sp>
        <p:pic>
          <p:nvPicPr>
            <p:cNvPr id="35" name="图片 34" descr="小点1.png"/>
            <p:cNvPicPr>
              <a:picLocks noChangeAspect="1"/>
            </p:cNvPicPr>
            <p:nvPr/>
          </p:nvPicPr>
          <p:blipFill>
            <a:blip r:embed="rId2" cstate="print"/>
            <a:stretch>
              <a:fillRect/>
            </a:stretch>
          </p:blipFill>
          <p:spPr>
            <a:xfrm>
              <a:off x="1284441" y="2476401"/>
              <a:ext cx="151066" cy="148997"/>
            </a:xfrm>
            <a:prstGeom prst="rect">
              <a:avLst/>
            </a:prstGeom>
            <a:effectLst/>
          </p:spPr>
        </p:pic>
      </p:grpSp>
      <p:grpSp>
        <p:nvGrpSpPr>
          <p:cNvPr id="11" name="组合 10"/>
          <p:cNvGrpSpPr/>
          <p:nvPr/>
        </p:nvGrpSpPr>
        <p:grpSpPr>
          <a:xfrm>
            <a:off x="751814" y="2428218"/>
            <a:ext cx="1784011" cy="461665"/>
            <a:chOff x="859163" y="2678563"/>
            <a:chExt cx="1784011" cy="461665"/>
          </a:xfrm>
        </p:grpSpPr>
        <p:sp>
          <p:nvSpPr>
            <p:cNvPr id="19" name="TextBox 18"/>
            <p:cNvSpPr txBox="1"/>
            <p:nvPr/>
          </p:nvSpPr>
          <p:spPr>
            <a:xfrm>
              <a:off x="1177724" y="2678563"/>
              <a:ext cx="1465450"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特征</a:t>
              </a:r>
            </a:p>
          </p:txBody>
        </p:sp>
        <p:sp>
          <p:nvSpPr>
            <p:cNvPr id="45" name="TextBox 44"/>
            <p:cNvSpPr txBox="1"/>
            <p:nvPr/>
          </p:nvSpPr>
          <p:spPr>
            <a:xfrm>
              <a:off x="859163" y="2678563"/>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12" name="组合 11"/>
          <p:cNvGrpSpPr/>
          <p:nvPr/>
        </p:nvGrpSpPr>
        <p:grpSpPr>
          <a:xfrm>
            <a:off x="1177092" y="2736532"/>
            <a:ext cx="6791116" cy="949161"/>
            <a:chOff x="1284441" y="2986875"/>
            <a:chExt cx="6791116" cy="949161"/>
          </a:xfrm>
        </p:grpSpPr>
        <p:sp>
          <p:nvSpPr>
            <p:cNvPr id="25" name="TextBox 24"/>
            <p:cNvSpPr txBox="1"/>
            <p:nvPr/>
          </p:nvSpPr>
          <p:spPr>
            <a:xfrm>
              <a:off x="1431021" y="2986875"/>
              <a:ext cx="1426467" cy="707886"/>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算法开销大</a:t>
              </a:r>
              <a:endParaRPr lang="en-US" altLang="zh-CN" sz="2000" b="1" dirty="0">
                <a:solidFill>
                  <a:srgbClr val="11576A"/>
                </a:solidFill>
                <a:latin typeface="微软雅黑" pitchFamily="34" charset="-122"/>
                <a:ea typeface="微软雅黑" pitchFamily="34" charset="-122"/>
              </a:endParaRPr>
            </a:p>
          </p:txBody>
        </p:sp>
        <p:sp>
          <p:nvSpPr>
            <p:cNvPr id="26" name="TextBox 25"/>
            <p:cNvSpPr txBox="1"/>
            <p:nvPr/>
          </p:nvSpPr>
          <p:spPr>
            <a:xfrm>
              <a:off x="1431021" y="3276331"/>
              <a:ext cx="6644536" cy="400110"/>
            </a:xfrm>
            <a:prstGeom prst="rect">
              <a:avLst/>
            </a:prstGeom>
            <a:noFill/>
            <a:effectLst/>
          </p:spPr>
          <p:txBody>
            <a:bodyPr wrap="square" rtlCol="0">
              <a:spAutoFit/>
            </a:bodyPr>
            <a:lstStyle/>
            <a:p>
              <a:pPr marL="6350" lvl="1"/>
              <a:r>
                <a:rPr lang="zh-CN" altLang="en-US" sz="2000" b="1" dirty="0">
                  <a:solidFill>
                    <a:srgbClr val="11576A"/>
                  </a:solidFill>
                  <a:latin typeface="微软雅黑" pitchFamily="34" charset="-122"/>
                  <a:ea typeface="微软雅黑" pitchFamily="34" charset="-122"/>
                </a:rPr>
                <a:t>开始时频繁使用，但以后不使用的页面很难置换</a:t>
              </a:r>
              <a:endParaRPr lang="en-US" altLang="zh-CN" sz="2000" b="1" dirty="0">
                <a:solidFill>
                  <a:srgbClr val="11576A"/>
                </a:solidFill>
                <a:latin typeface="微软雅黑" pitchFamily="34" charset="-122"/>
                <a:ea typeface="微软雅黑" pitchFamily="34" charset="-122"/>
              </a:endParaRPr>
            </a:p>
          </p:txBody>
        </p:sp>
        <p:pic>
          <p:nvPicPr>
            <p:cNvPr id="39" name="图片 38" descr="小点1.png"/>
            <p:cNvPicPr>
              <a:picLocks noChangeAspect="1"/>
            </p:cNvPicPr>
            <p:nvPr/>
          </p:nvPicPr>
          <p:blipFill>
            <a:blip r:embed="rId2" cstate="print"/>
            <a:stretch>
              <a:fillRect/>
            </a:stretch>
          </p:blipFill>
          <p:spPr>
            <a:xfrm>
              <a:off x="1284441" y="3370347"/>
              <a:ext cx="151066" cy="148997"/>
            </a:xfrm>
            <a:prstGeom prst="rect">
              <a:avLst/>
            </a:prstGeom>
            <a:effectLst/>
          </p:spPr>
        </p:pic>
        <p:pic>
          <p:nvPicPr>
            <p:cNvPr id="40" name="图片 39" descr="小点1.png"/>
            <p:cNvPicPr>
              <a:picLocks noChangeAspect="1"/>
            </p:cNvPicPr>
            <p:nvPr/>
          </p:nvPicPr>
          <p:blipFill>
            <a:blip r:embed="rId2" cstate="print"/>
            <a:stretch>
              <a:fillRect/>
            </a:stretch>
          </p:blipFill>
          <p:spPr>
            <a:xfrm>
              <a:off x="1284441" y="3088476"/>
              <a:ext cx="151066" cy="148997"/>
            </a:xfrm>
            <a:prstGeom prst="rect">
              <a:avLst/>
            </a:prstGeom>
            <a:effectLst/>
          </p:spPr>
        </p:pic>
        <p:sp>
          <p:nvSpPr>
            <p:cNvPr id="28" name="TextBox 27"/>
            <p:cNvSpPr txBox="1"/>
            <p:nvPr/>
          </p:nvSpPr>
          <p:spPr>
            <a:xfrm>
              <a:off x="1663245" y="3566704"/>
              <a:ext cx="3140979" cy="369332"/>
            </a:xfrm>
            <a:prstGeom prst="rect">
              <a:avLst/>
            </a:prstGeom>
            <a:noFill/>
            <a:effectLst/>
          </p:spPr>
          <p:txBody>
            <a:bodyPr wrap="square" rtlCol="0">
              <a:spAutoFit/>
            </a:bodyPr>
            <a:lstStyle/>
            <a:p>
              <a:pPr marL="6350" lvl="1"/>
              <a:r>
                <a:rPr lang="zh-CN" altLang="en-US" b="1" dirty="0">
                  <a:solidFill>
                    <a:srgbClr val="0070C0"/>
                  </a:solidFill>
                  <a:latin typeface="微软雅黑" pitchFamily="34" charset="-122"/>
                  <a:ea typeface="微软雅黑" pitchFamily="34" charset="-122"/>
                </a:rPr>
                <a:t>解决方法：计数定期右移</a:t>
              </a:r>
              <a:endParaRPr lang="en-US" altLang="zh-TW" b="1" dirty="0">
                <a:solidFill>
                  <a:srgbClr val="0070C0"/>
                </a:solidFill>
                <a:latin typeface="微软雅黑" pitchFamily="34" charset="-122"/>
                <a:ea typeface="微软雅黑" pitchFamily="34" charset="-122"/>
              </a:endParaRPr>
            </a:p>
          </p:txBody>
        </p:sp>
        <p:pic>
          <p:nvPicPr>
            <p:cNvPr id="30" name="图片 29" descr="小点1.png"/>
            <p:cNvPicPr>
              <a:picLocks noChangeAspect="1"/>
            </p:cNvPicPr>
            <p:nvPr/>
          </p:nvPicPr>
          <p:blipFill>
            <a:blip r:embed="rId2" cstate="print"/>
            <a:stretch>
              <a:fillRect/>
            </a:stretch>
          </p:blipFill>
          <p:spPr>
            <a:xfrm>
              <a:off x="1516665" y="3660720"/>
              <a:ext cx="151066" cy="148997"/>
            </a:xfrm>
            <a:prstGeom prst="rect">
              <a:avLst/>
            </a:prstGeom>
            <a:effectLst/>
          </p:spPr>
        </p:pic>
      </p:grpSp>
      <p:grpSp>
        <p:nvGrpSpPr>
          <p:cNvPr id="13" name="组合 12"/>
          <p:cNvGrpSpPr/>
          <p:nvPr/>
        </p:nvGrpSpPr>
        <p:grpSpPr>
          <a:xfrm>
            <a:off x="751814" y="2790817"/>
            <a:ext cx="3212771" cy="461665"/>
            <a:chOff x="859163" y="3864706"/>
            <a:chExt cx="3212771" cy="461665"/>
          </a:xfrm>
        </p:grpSpPr>
        <p:sp>
          <p:nvSpPr>
            <p:cNvPr id="27" name="TextBox 26"/>
            <p:cNvSpPr txBox="1"/>
            <p:nvPr/>
          </p:nvSpPr>
          <p:spPr>
            <a:xfrm>
              <a:off x="1177724" y="3864706"/>
              <a:ext cx="2894210" cy="461665"/>
            </a:xfrm>
            <a:prstGeom prst="rect">
              <a:avLst/>
            </a:prstGeom>
            <a:noFill/>
            <a:effectLst/>
          </p:spPr>
          <p:txBody>
            <a:bodyPr wrap="square" rtlCol="0">
              <a:spAutoFit/>
            </a:bodyPr>
            <a:lstStyle/>
            <a:p>
              <a:r>
                <a:rPr lang="en-US" altLang="zh-TW" sz="2400" b="1" dirty="0">
                  <a:solidFill>
                    <a:srgbClr val="11576A"/>
                  </a:solidFill>
                  <a:latin typeface="微软雅黑" pitchFamily="34" charset="-122"/>
                  <a:ea typeface="微软雅黑" pitchFamily="34" charset="-122"/>
                </a:rPr>
                <a:t>LRU</a:t>
              </a:r>
              <a:r>
                <a:rPr lang="zh-TW" altLang="en-US" sz="2400" b="1" dirty="0">
                  <a:solidFill>
                    <a:srgbClr val="11576A"/>
                  </a:solidFill>
                  <a:latin typeface="微软雅黑" pitchFamily="34" charset="-122"/>
                  <a:ea typeface="微软雅黑" pitchFamily="34" charset="-122"/>
                </a:rPr>
                <a:t>和</a:t>
              </a:r>
              <a:r>
                <a:rPr lang="en-US" altLang="zh-TW" sz="2400" b="1" dirty="0">
                  <a:solidFill>
                    <a:srgbClr val="11576A"/>
                  </a:solidFill>
                  <a:latin typeface="微软雅黑" pitchFamily="34" charset="-122"/>
                  <a:ea typeface="微软雅黑" pitchFamily="34" charset="-122"/>
                </a:rPr>
                <a:t>LFU</a:t>
              </a:r>
              <a:r>
                <a:rPr lang="zh-TW" altLang="en-US" sz="2400" b="1" dirty="0">
                  <a:solidFill>
                    <a:srgbClr val="11576A"/>
                  </a:solidFill>
                  <a:latin typeface="微软雅黑" pitchFamily="34" charset="-122"/>
                  <a:ea typeface="微软雅黑" pitchFamily="34" charset="-122"/>
                </a:rPr>
                <a:t>的区别</a:t>
              </a:r>
              <a:endParaRPr lang="en-US" altLang="zh-CN" sz="2400" b="1" dirty="0">
                <a:solidFill>
                  <a:srgbClr val="11576A"/>
                </a:solidFill>
                <a:latin typeface="微软雅黑" pitchFamily="34" charset="-122"/>
                <a:ea typeface="微软雅黑" pitchFamily="34" charset="-122"/>
              </a:endParaRPr>
            </a:p>
          </p:txBody>
        </p:sp>
        <p:sp>
          <p:nvSpPr>
            <p:cNvPr id="29" name="TextBox 28"/>
            <p:cNvSpPr txBox="1"/>
            <p:nvPr/>
          </p:nvSpPr>
          <p:spPr>
            <a:xfrm>
              <a:off x="859163" y="3864706"/>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14" name="组合 13"/>
          <p:cNvGrpSpPr/>
          <p:nvPr/>
        </p:nvGrpSpPr>
        <p:grpSpPr>
          <a:xfrm>
            <a:off x="1170563" y="3111487"/>
            <a:ext cx="5842410" cy="667722"/>
            <a:chOff x="1277914" y="4185376"/>
            <a:chExt cx="5842410" cy="667722"/>
          </a:xfrm>
        </p:grpSpPr>
        <p:sp>
          <p:nvSpPr>
            <p:cNvPr id="31" name="TextBox 30"/>
            <p:cNvSpPr txBox="1"/>
            <p:nvPr/>
          </p:nvSpPr>
          <p:spPr>
            <a:xfrm>
              <a:off x="1435783" y="4185376"/>
              <a:ext cx="5684541" cy="400110"/>
            </a:xfrm>
            <a:prstGeom prst="rect">
              <a:avLst/>
            </a:prstGeom>
            <a:noFill/>
            <a:effectLst/>
          </p:spPr>
          <p:txBody>
            <a:bodyPr wrap="square" rtlCol="0">
              <a:spAutoFit/>
            </a:bodyPr>
            <a:lstStyle/>
            <a:p>
              <a:pPr marL="6350" lvl="1"/>
              <a:r>
                <a:rPr lang="en-US" altLang="zh-CN" sz="2000" b="1" dirty="0">
                  <a:solidFill>
                    <a:srgbClr val="11576A"/>
                  </a:solidFill>
                  <a:latin typeface="微软雅黑" pitchFamily="34" charset="-122"/>
                  <a:ea typeface="微软雅黑" pitchFamily="34" charset="-122"/>
                </a:rPr>
                <a:t>LRU</a:t>
              </a:r>
              <a:r>
                <a:rPr lang="zh-CN" altLang="en-US" sz="2000" b="1" dirty="0">
                  <a:solidFill>
                    <a:srgbClr val="11576A"/>
                  </a:solidFill>
                  <a:latin typeface="微软雅黑" pitchFamily="34" charset="-122"/>
                  <a:ea typeface="微软雅黑" pitchFamily="34" charset="-122"/>
                </a:rPr>
                <a:t>关注</a:t>
              </a:r>
              <a:r>
                <a:rPr lang="zh-CN" altLang="en-US" sz="2000" b="1" dirty="0">
                  <a:solidFill>
                    <a:srgbClr val="C00000"/>
                  </a:solidFill>
                  <a:latin typeface="微软雅黑" pitchFamily="34" charset="-122"/>
                  <a:ea typeface="微软雅黑" pitchFamily="34" charset="-122"/>
                </a:rPr>
                <a:t>多久未访问</a:t>
              </a:r>
              <a:r>
                <a:rPr lang="en-US" altLang="zh-CN" sz="2000" b="1" dirty="0">
                  <a:solidFill>
                    <a:srgbClr val="11576A"/>
                  </a:solidFill>
                  <a:latin typeface="微软雅黑" pitchFamily="34" charset="-122"/>
                  <a:ea typeface="微软雅黑" pitchFamily="34" charset="-122"/>
                </a:rPr>
                <a:t>,</a:t>
              </a:r>
              <a:r>
                <a:rPr lang="zh-CN" altLang="en-US" sz="2000" b="1" dirty="0">
                  <a:solidFill>
                    <a:srgbClr val="11576A"/>
                  </a:solidFill>
                  <a:latin typeface="微软雅黑" pitchFamily="34" charset="-122"/>
                  <a:ea typeface="微软雅黑" pitchFamily="34" charset="-122"/>
                </a:rPr>
                <a:t>时间越短越好</a:t>
              </a:r>
            </a:p>
          </p:txBody>
        </p:sp>
        <p:pic>
          <p:nvPicPr>
            <p:cNvPr id="34" name="图片 33" descr="小点1.png"/>
            <p:cNvPicPr>
              <a:picLocks noChangeAspect="1"/>
            </p:cNvPicPr>
            <p:nvPr/>
          </p:nvPicPr>
          <p:blipFill>
            <a:blip r:embed="rId2" cstate="print"/>
            <a:stretch>
              <a:fillRect/>
            </a:stretch>
          </p:blipFill>
          <p:spPr>
            <a:xfrm>
              <a:off x="1277914" y="4255124"/>
              <a:ext cx="151066" cy="148997"/>
            </a:xfrm>
            <a:prstGeom prst="rect">
              <a:avLst/>
            </a:prstGeom>
            <a:effectLst/>
          </p:spPr>
        </p:pic>
        <p:sp>
          <p:nvSpPr>
            <p:cNvPr id="33" name="TextBox 32"/>
            <p:cNvSpPr txBox="1"/>
            <p:nvPr/>
          </p:nvSpPr>
          <p:spPr>
            <a:xfrm>
              <a:off x="1435783" y="4452988"/>
              <a:ext cx="5487648" cy="400110"/>
            </a:xfrm>
            <a:prstGeom prst="rect">
              <a:avLst/>
            </a:prstGeom>
            <a:noFill/>
            <a:effectLst/>
          </p:spPr>
          <p:txBody>
            <a:bodyPr wrap="square" rtlCol="0">
              <a:spAutoFit/>
            </a:bodyPr>
            <a:lstStyle/>
            <a:p>
              <a:pPr marL="0" lvl="1"/>
              <a:r>
                <a:rPr lang="en-US" altLang="zh-CN" sz="2000" b="1" dirty="0">
                  <a:solidFill>
                    <a:srgbClr val="11576A"/>
                  </a:solidFill>
                  <a:latin typeface="微软雅黑" pitchFamily="34" charset="-122"/>
                  <a:ea typeface="微软雅黑" pitchFamily="34" charset="-122"/>
                </a:rPr>
                <a:t>LFU</a:t>
              </a:r>
              <a:r>
                <a:rPr lang="zh-CN" altLang="en-US" sz="2000" b="1" dirty="0">
                  <a:solidFill>
                    <a:srgbClr val="11576A"/>
                  </a:solidFill>
                  <a:latin typeface="微软雅黑" pitchFamily="34" charset="-122"/>
                  <a:ea typeface="微软雅黑" pitchFamily="34" charset="-122"/>
                </a:rPr>
                <a:t>关注</a:t>
              </a:r>
              <a:r>
                <a:rPr lang="zh-CN" altLang="en-US" sz="2000" b="1" dirty="0">
                  <a:solidFill>
                    <a:srgbClr val="C00000"/>
                  </a:solidFill>
                  <a:latin typeface="微软雅黑" pitchFamily="34" charset="-122"/>
                  <a:ea typeface="微软雅黑" pitchFamily="34" charset="-122"/>
                </a:rPr>
                <a:t>访问次数</a:t>
              </a:r>
              <a:r>
                <a:rPr lang="zh-CN" altLang="en-US" sz="2000" b="1" dirty="0">
                  <a:solidFill>
                    <a:srgbClr val="11576A"/>
                  </a:solidFill>
                  <a:latin typeface="微软雅黑" pitchFamily="34" charset="-122"/>
                  <a:ea typeface="微软雅黑" pitchFamily="34" charset="-122"/>
                </a:rPr>
                <a:t>，次数越多越好</a:t>
              </a:r>
            </a:p>
          </p:txBody>
        </p:sp>
        <p:pic>
          <p:nvPicPr>
            <p:cNvPr id="36" name="图片 35" descr="小点1.png"/>
            <p:cNvPicPr>
              <a:picLocks noChangeAspect="1"/>
            </p:cNvPicPr>
            <p:nvPr/>
          </p:nvPicPr>
          <p:blipFill>
            <a:blip r:embed="rId2" cstate="print"/>
            <a:stretch>
              <a:fillRect/>
            </a:stretch>
          </p:blipFill>
          <p:spPr>
            <a:xfrm>
              <a:off x="1277914" y="4522736"/>
              <a:ext cx="151066" cy="148997"/>
            </a:xfrm>
            <a:prstGeom prst="rect">
              <a:avLst/>
            </a:prstGeom>
            <a:effectLst/>
          </p:spPr>
        </p:pic>
      </p:grpSp>
      <p:sp>
        <p:nvSpPr>
          <p:cNvPr id="2" name="文本框 1">
            <a:extLst>
              <a:ext uri="{FF2B5EF4-FFF2-40B4-BE49-F238E27FC236}">
                <a16:creationId xmlns:a16="http://schemas.microsoft.com/office/drawing/2014/main" id="{1CBFE9CD-50E0-7054-0E80-CEE4DAEB2CD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336E146E-288C-E30E-A909-3887A07D971C}"/>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最不常用算法（</a:t>
            </a:r>
            <a:r>
              <a:rPr lang="en-US" altLang="zh-CN" b="0" kern="0" dirty="0"/>
              <a:t>Least Frequently Used, LFU</a:t>
            </a:r>
            <a:r>
              <a:rPr lang="zh-CN" altLang="en-US" b="0" kern="0" dirty="0"/>
              <a:t>）</a:t>
            </a:r>
          </a:p>
        </p:txBody>
      </p:sp>
    </p:spTree>
    <p:extLst>
      <p:ext uri="{BB962C8B-B14F-4D97-AF65-F5344CB8AC3E}">
        <p14:creationId xmlns:p14="http://schemas.microsoft.com/office/powerpoint/2010/main" val="1112394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8" fill="hold" nodeType="clickEffect">
                                  <p:stCondLst>
                                    <p:cond delay="0"/>
                                  </p:stCondLst>
                                  <p:childTnLst>
                                    <p:animEffect transition="out" filter="wipe(left)">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nodeType="clickEffect">
                                  <p:stCondLst>
                                    <p:cond delay="0"/>
                                  </p:stCondLst>
                                  <p:childTnLst>
                                    <p:animEffect transition="out" filter="wipe(left)">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xit" presetSubtype="8" fill="hold" nodeType="clickEffect">
                                  <p:stCondLst>
                                    <p:cond delay="0"/>
                                  </p:stCondLst>
                                  <p:childTnLst>
                                    <p:animEffect transition="out" filter="wipe(left)">
                                      <p:cBhvr>
                                        <p:cTn id="38" dur="500"/>
                                        <p:tgtEl>
                                          <p:spTgt spid="12"/>
                                        </p:tgtEl>
                                      </p:cBhvr>
                                    </p:animEffect>
                                    <p:set>
                                      <p:cBhvr>
                                        <p:cTn id="39" dur="1" fill="hold">
                                          <p:stCondLst>
                                            <p:cond delay="499"/>
                                          </p:stCondLst>
                                        </p:cTn>
                                        <p:tgtEl>
                                          <p:spTgt spid="12"/>
                                        </p:tgtEl>
                                        <p:attrNameLst>
                                          <p:attrName>style.visibility</p:attrName>
                                        </p:attrNameLst>
                                      </p:cBhvr>
                                      <p:to>
                                        <p:strVal val="hidden"/>
                                      </p:to>
                                    </p:se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par>
                                <p:cTn id="44" presetID="22" presetClass="entr" presetSubtype="8"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2909824" y="3146133"/>
            <a:ext cx="6429420" cy="252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a:p>
        </p:txBody>
      </p:sp>
      <p:cxnSp>
        <p:nvCxnSpPr>
          <p:cNvPr id="13" name="直接连接符 12"/>
          <p:cNvCxnSpPr/>
          <p:nvPr/>
        </p:nvCxnSpPr>
        <p:spPr>
          <a:xfrm>
            <a:off x="2981262" y="3503323"/>
            <a:ext cx="6286544" cy="1588"/>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981262" y="3860513"/>
            <a:ext cx="628654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981262" y="5289273"/>
            <a:ext cx="628654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3314644" y="4555055"/>
            <a:ext cx="128588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a:off x="3386873" y="4198659"/>
            <a:ext cx="200026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666828" y="3045523"/>
            <a:ext cx="734827" cy="420628"/>
          </a:xfrm>
          <a:prstGeom prst="rect">
            <a:avLst/>
          </a:prstGeom>
          <a:noFill/>
          <a:effectLst/>
        </p:spPr>
        <p:txBody>
          <a:bodyPr wrap="square" rtlCol="0" anchor="ctr">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10</a:t>
            </a:r>
            <a:endParaRPr lang="zh-CN" altLang="en-US" sz="3200" b="1" baseline="-25000" dirty="0">
              <a:solidFill>
                <a:srgbClr val="11576A"/>
              </a:solidFill>
              <a:latin typeface="微软雅黑" pitchFamily="34" charset="-122"/>
              <a:ea typeface="微软雅黑" pitchFamily="34" charset="-122"/>
            </a:endParaRPr>
          </a:p>
        </p:txBody>
      </p:sp>
      <p:sp>
        <p:nvSpPr>
          <p:cNvPr id="22" name="TextBox 21"/>
          <p:cNvSpPr txBox="1"/>
          <p:nvPr/>
        </p:nvSpPr>
        <p:spPr>
          <a:xfrm>
            <a:off x="8326412"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9</a:t>
            </a:r>
            <a:endParaRPr lang="zh-CN" altLang="en-US" sz="3200" b="1" baseline="-25000" dirty="0">
              <a:solidFill>
                <a:srgbClr val="11576A"/>
              </a:solidFill>
              <a:latin typeface="微软雅黑" pitchFamily="34" charset="-122"/>
              <a:ea typeface="微软雅黑" pitchFamily="34" charset="-122"/>
            </a:endParaRPr>
          </a:p>
        </p:txBody>
      </p:sp>
      <p:sp>
        <p:nvSpPr>
          <p:cNvPr id="25" name="TextBox 24"/>
          <p:cNvSpPr txBox="1"/>
          <p:nvPr/>
        </p:nvSpPr>
        <p:spPr>
          <a:xfrm>
            <a:off x="6852980"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6</a:t>
            </a:r>
            <a:endParaRPr lang="zh-CN" altLang="en-US" sz="3200" b="1" baseline="-25000" dirty="0">
              <a:solidFill>
                <a:srgbClr val="11576A"/>
              </a:solidFill>
              <a:latin typeface="微软雅黑" pitchFamily="34" charset="-122"/>
              <a:ea typeface="微软雅黑" pitchFamily="34" charset="-122"/>
            </a:endParaRPr>
          </a:p>
        </p:txBody>
      </p:sp>
      <p:sp>
        <p:nvSpPr>
          <p:cNvPr id="26" name="TextBox 25"/>
          <p:cNvSpPr txBox="1"/>
          <p:nvPr/>
        </p:nvSpPr>
        <p:spPr>
          <a:xfrm>
            <a:off x="6345198"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5</a:t>
            </a:r>
            <a:endParaRPr lang="zh-CN" altLang="en-US" sz="3200" b="1" baseline="-25000" dirty="0">
              <a:solidFill>
                <a:srgbClr val="11576A"/>
              </a:solidFill>
              <a:latin typeface="微软雅黑" pitchFamily="34" charset="-122"/>
              <a:ea typeface="微软雅黑" pitchFamily="34" charset="-122"/>
            </a:endParaRPr>
          </a:p>
        </p:txBody>
      </p:sp>
      <p:sp>
        <p:nvSpPr>
          <p:cNvPr id="27" name="TextBox 26"/>
          <p:cNvSpPr txBox="1"/>
          <p:nvPr/>
        </p:nvSpPr>
        <p:spPr>
          <a:xfrm>
            <a:off x="5846498"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4</a:t>
            </a:r>
            <a:endParaRPr lang="zh-CN" altLang="en-US" sz="3200" b="1" baseline="-25000" dirty="0">
              <a:solidFill>
                <a:srgbClr val="11576A"/>
              </a:solidFill>
              <a:latin typeface="微软雅黑" pitchFamily="34" charset="-122"/>
              <a:ea typeface="微软雅黑" pitchFamily="34" charset="-122"/>
            </a:endParaRPr>
          </a:p>
        </p:txBody>
      </p:sp>
      <p:sp>
        <p:nvSpPr>
          <p:cNvPr id="28" name="TextBox 27"/>
          <p:cNvSpPr txBox="1"/>
          <p:nvPr/>
        </p:nvSpPr>
        <p:spPr>
          <a:xfrm>
            <a:off x="5332366"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29" name="TextBox 28"/>
          <p:cNvSpPr txBox="1"/>
          <p:nvPr/>
        </p:nvSpPr>
        <p:spPr>
          <a:xfrm>
            <a:off x="4855892"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30" name="TextBox 29"/>
          <p:cNvSpPr txBox="1"/>
          <p:nvPr/>
        </p:nvSpPr>
        <p:spPr>
          <a:xfrm>
            <a:off x="4354460"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31" name="TextBox 30"/>
          <p:cNvSpPr txBox="1"/>
          <p:nvPr/>
        </p:nvSpPr>
        <p:spPr>
          <a:xfrm>
            <a:off x="8809702" y="3377911"/>
            <a:ext cx="551324"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17</a:t>
            </a:r>
            <a:endParaRPr lang="zh-CN" altLang="en-US" sz="4400" b="1" baseline="30000" dirty="0">
              <a:solidFill>
                <a:srgbClr val="11576A"/>
              </a:solidFill>
              <a:latin typeface="微软雅黑" pitchFamily="34" charset="-122"/>
              <a:ea typeface="微软雅黑" pitchFamily="34" charset="-122"/>
            </a:endParaRPr>
          </a:p>
        </p:txBody>
      </p:sp>
      <p:sp>
        <p:nvSpPr>
          <p:cNvPr id="32" name="TextBox 31"/>
          <p:cNvSpPr txBox="1"/>
          <p:nvPr/>
        </p:nvSpPr>
        <p:spPr>
          <a:xfrm>
            <a:off x="8345462" y="3377911"/>
            <a:ext cx="60982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20</a:t>
            </a:r>
            <a:endParaRPr lang="zh-CN" altLang="en-US" sz="1600" b="1" baseline="30000" dirty="0">
              <a:solidFill>
                <a:srgbClr val="11576A"/>
              </a:solidFill>
              <a:latin typeface="微软雅黑" pitchFamily="34" charset="-122"/>
              <a:ea typeface="微软雅黑" pitchFamily="34" charset="-122"/>
            </a:endParaRPr>
          </a:p>
        </p:txBody>
      </p:sp>
      <p:sp>
        <p:nvSpPr>
          <p:cNvPr id="33" name="TextBox 32"/>
          <p:cNvSpPr txBox="1"/>
          <p:nvPr/>
        </p:nvSpPr>
        <p:spPr>
          <a:xfrm>
            <a:off x="7846763" y="3377911"/>
            <a:ext cx="53437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20</a:t>
            </a:r>
            <a:endParaRPr lang="zh-CN" altLang="en-US" sz="4000" b="1" baseline="30000" dirty="0">
              <a:solidFill>
                <a:srgbClr val="11576A"/>
              </a:solidFill>
              <a:latin typeface="微软雅黑" pitchFamily="34" charset="-122"/>
              <a:ea typeface="微软雅黑" pitchFamily="34" charset="-122"/>
            </a:endParaRPr>
          </a:p>
        </p:txBody>
      </p:sp>
      <p:sp>
        <p:nvSpPr>
          <p:cNvPr id="34" name="TextBox 33"/>
          <p:cNvSpPr txBox="1"/>
          <p:nvPr/>
        </p:nvSpPr>
        <p:spPr>
          <a:xfrm>
            <a:off x="7338980" y="3377911"/>
            <a:ext cx="55108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19</a:t>
            </a:r>
            <a:endParaRPr lang="zh-CN" altLang="en-US" sz="1600" b="1" baseline="30000" dirty="0">
              <a:solidFill>
                <a:srgbClr val="11576A"/>
              </a:solidFill>
              <a:latin typeface="微软雅黑" pitchFamily="34" charset="-122"/>
              <a:ea typeface="微软雅黑" pitchFamily="34" charset="-122"/>
            </a:endParaRPr>
          </a:p>
        </p:txBody>
      </p:sp>
      <p:sp>
        <p:nvSpPr>
          <p:cNvPr id="35" name="TextBox 34"/>
          <p:cNvSpPr txBox="1"/>
          <p:nvPr/>
        </p:nvSpPr>
        <p:spPr>
          <a:xfrm>
            <a:off x="6852980" y="337791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1</a:t>
            </a:r>
            <a:endParaRPr lang="zh-CN" altLang="en-US" sz="3200" b="1" baseline="30000" dirty="0">
              <a:solidFill>
                <a:srgbClr val="11576A"/>
              </a:solidFill>
              <a:latin typeface="微软雅黑" pitchFamily="34" charset="-122"/>
              <a:ea typeface="微软雅黑" pitchFamily="34" charset="-122"/>
            </a:endParaRPr>
          </a:p>
        </p:txBody>
      </p:sp>
      <p:sp>
        <p:nvSpPr>
          <p:cNvPr id="36" name="TextBox 35"/>
          <p:cNvSpPr txBox="1"/>
          <p:nvPr/>
        </p:nvSpPr>
        <p:spPr>
          <a:xfrm>
            <a:off x="6345198" y="3377911"/>
            <a:ext cx="525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r>
              <a:rPr lang="en-US" altLang="zh-CN" sz="1600" b="1" baseline="30000" dirty="0">
                <a:solidFill>
                  <a:srgbClr val="11576A"/>
                </a:solidFill>
                <a:latin typeface="微软雅黑" pitchFamily="34" charset="-122"/>
                <a:ea typeface="微软雅黑" pitchFamily="34" charset="-122"/>
              </a:rPr>
              <a:t>18</a:t>
            </a:r>
            <a:endParaRPr lang="zh-CN" altLang="en-US" sz="3600" b="1" baseline="30000" dirty="0">
              <a:solidFill>
                <a:srgbClr val="11576A"/>
              </a:solidFill>
              <a:latin typeface="微软雅黑" pitchFamily="34" charset="-122"/>
              <a:ea typeface="微软雅黑" pitchFamily="34" charset="-122"/>
            </a:endParaRPr>
          </a:p>
        </p:txBody>
      </p:sp>
      <p:sp>
        <p:nvSpPr>
          <p:cNvPr id="37" name="TextBox 36"/>
          <p:cNvSpPr txBox="1"/>
          <p:nvPr/>
        </p:nvSpPr>
        <p:spPr>
          <a:xfrm>
            <a:off x="5846498" y="3377911"/>
            <a:ext cx="494374"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5</a:t>
            </a:r>
            <a:endParaRPr lang="zh-CN" altLang="en-US" sz="3200" b="1" baseline="30000" dirty="0">
              <a:solidFill>
                <a:srgbClr val="11576A"/>
              </a:solidFill>
              <a:latin typeface="微软雅黑" pitchFamily="34" charset="-122"/>
              <a:ea typeface="微软雅黑" pitchFamily="34" charset="-122"/>
            </a:endParaRPr>
          </a:p>
        </p:txBody>
      </p:sp>
      <p:sp>
        <p:nvSpPr>
          <p:cNvPr id="38" name="TextBox 37"/>
          <p:cNvSpPr txBox="1"/>
          <p:nvPr/>
        </p:nvSpPr>
        <p:spPr>
          <a:xfrm>
            <a:off x="5332367" y="3377911"/>
            <a:ext cx="60052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14</a:t>
            </a:r>
            <a:endParaRPr lang="zh-CN" altLang="en-US" sz="4000" b="1" baseline="30000" dirty="0">
              <a:solidFill>
                <a:srgbClr val="11576A"/>
              </a:solidFill>
              <a:latin typeface="微软雅黑" pitchFamily="34" charset="-122"/>
              <a:ea typeface="微软雅黑" pitchFamily="34" charset="-122"/>
            </a:endParaRPr>
          </a:p>
        </p:txBody>
      </p:sp>
      <p:sp>
        <p:nvSpPr>
          <p:cNvPr id="39" name="TextBox 38"/>
          <p:cNvSpPr txBox="1"/>
          <p:nvPr/>
        </p:nvSpPr>
        <p:spPr>
          <a:xfrm>
            <a:off x="4855892" y="337791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1</a:t>
            </a:r>
            <a:endParaRPr lang="zh-CN" altLang="en-US" sz="2800" b="1" baseline="30000" dirty="0">
              <a:solidFill>
                <a:srgbClr val="11576A"/>
              </a:solidFill>
              <a:latin typeface="微软雅黑" pitchFamily="34" charset="-122"/>
              <a:ea typeface="微软雅黑" pitchFamily="34" charset="-122"/>
            </a:endParaRPr>
          </a:p>
        </p:txBody>
      </p:sp>
      <p:sp>
        <p:nvSpPr>
          <p:cNvPr id="40" name="TextBox 39"/>
          <p:cNvSpPr txBox="1"/>
          <p:nvPr/>
        </p:nvSpPr>
        <p:spPr>
          <a:xfrm>
            <a:off x="4354460" y="337791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7</a:t>
            </a:r>
            <a:endParaRPr lang="zh-CN" altLang="en-US" sz="3200" b="1" baseline="30000" dirty="0">
              <a:solidFill>
                <a:srgbClr val="11576A"/>
              </a:solidFill>
              <a:latin typeface="微软雅黑" pitchFamily="34" charset="-122"/>
              <a:ea typeface="微软雅黑" pitchFamily="34" charset="-122"/>
            </a:endParaRPr>
          </a:p>
        </p:txBody>
      </p:sp>
      <p:sp>
        <p:nvSpPr>
          <p:cNvPr id="97" name="TextBox 96"/>
          <p:cNvSpPr txBox="1"/>
          <p:nvPr/>
        </p:nvSpPr>
        <p:spPr>
          <a:xfrm>
            <a:off x="3455046" y="374907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98" name="TextBox 97"/>
          <p:cNvSpPr txBox="1"/>
          <p:nvPr/>
        </p:nvSpPr>
        <p:spPr>
          <a:xfrm>
            <a:off x="3455046" y="409449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99" name="TextBox 98"/>
          <p:cNvSpPr txBox="1"/>
          <p:nvPr/>
        </p:nvSpPr>
        <p:spPr>
          <a:xfrm>
            <a:off x="3455046" y="446345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100" name="TextBox 99"/>
          <p:cNvSpPr txBox="1"/>
          <p:nvPr/>
        </p:nvSpPr>
        <p:spPr>
          <a:xfrm>
            <a:off x="3455046" y="4820641"/>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101" name="TextBox 100"/>
          <p:cNvSpPr txBox="1"/>
          <p:nvPr/>
        </p:nvSpPr>
        <p:spPr>
          <a:xfrm>
            <a:off x="3894661" y="3779813"/>
            <a:ext cx="606135"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8</a:t>
            </a:r>
            <a:endParaRPr lang="zh-CN" altLang="en-US" sz="2800" b="1" baseline="30000" dirty="0">
              <a:solidFill>
                <a:srgbClr val="11576A"/>
              </a:solidFill>
              <a:latin typeface="微软雅黑" pitchFamily="34" charset="-122"/>
              <a:ea typeface="微软雅黑" pitchFamily="34" charset="-122"/>
            </a:endParaRPr>
          </a:p>
        </p:txBody>
      </p:sp>
      <p:sp>
        <p:nvSpPr>
          <p:cNvPr id="102" name="TextBox 101"/>
          <p:cNvSpPr txBox="1"/>
          <p:nvPr/>
        </p:nvSpPr>
        <p:spPr>
          <a:xfrm>
            <a:off x="3964637" y="411549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5</a:t>
            </a:r>
            <a:endParaRPr lang="zh-CN" altLang="en-US" sz="2400" b="1" baseline="30000" dirty="0">
              <a:solidFill>
                <a:srgbClr val="11576A"/>
              </a:solidFill>
              <a:latin typeface="微软雅黑" pitchFamily="34" charset="-122"/>
              <a:ea typeface="微软雅黑" pitchFamily="34" charset="-122"/>
            </a:endParaRPr>
          </a:p>
        </p:txBody>
      </p:sp>
      <p:sp>
        <p:nvSpPr>
          <p:cNvPr id="103" name="TextBox 102"/>
          <p:cNvSpPr txBox="1"/>
          <p:nvPr/>
        </p:nvSpPr>
        <p:spPr>
          <a:xfrm>
            <a:off x="3938082" y="447096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6</a:t>
            </a:r>
            <a:endParaRPr lang="zh-CN" altLang="en-US" sz="2800" b="1" baseline="30000" dirty="0">
              <a:solidFill>
                <a:srgbClr val="11576A"/>
              </a:solidFill>
              <a:latin typeface="微软雅黑" pitchFamily="34" charset="-122"/>
              <a:ea typeface="微软雅黑" pitchFamily="34" charset="-122"/>
            </a:endParaRPr>
          </a:p>
        </p:txBody>
      </p:sp>
      <p:sp>
        <p:nvSpPr>
          <p:cNvPr id="104" name="TextBox 103"/>
          <p:cNvSpPr txBox="1"/>
          <p:nvPr/>
        </p:nvSpPr>
        <p:spPr>
          <a:xfrm>
            <a:off x="3951379" y="479935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2</a:t>
            </a:r>
            <a:endParaRPr lang="zh-CN" altLang="en-US" sz="2800" b="1" baseline="30000" dirty="0">
              <a:solidFill>
                <a:srgbClr val="11576A"/>
              </a:solidFill>
              <a:latin typeface="微软雅黑" pitchFamily="34" charset="-122"/>
              <a:ea typeface="微软雅黑" pitchFamily="34" charset="-122"/>
            </a:endParaRPr>
          </a:p>
        </p:txBody>
      </p:sp>
      <p:sp>
        <p:nvSpPr>
          <p:cNvPr id="105" name="TextBox 104"/>
          <p:cNvSpPr txBox="1"/>
          <p:nvPr/>
        </p:nvSpPr>
        <p:spPr>
          <a:xfrm>
            <a:off x="3912028" y="30483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106" name="TextBox 105"/>
          <p:cNvSpPr txBox="1"/>
          <p:nvPr/>
        </p:nvSpPr>
        <p:spPr>
          <a:xfrm>
            <a:off x="2945455" y="3465223"/>
            <a:ext cx="1098348"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访问请求</a:t>
            </a:r>
          </a:p>
        </p:txBody>
      </p:sp>
      <p:sp>
        <p:nvSpPr>
          <p:cNvPr id="107" name="TextBox 106"/>
          <p:cNvSpPr txBox="1"/>
          <p:nvPr/>
        </p:nvSpPr>
        <p:spPr>
          <a:xfrm>
            <a:off x="2941176" y="3108033"/>
            <a:ext cx="871060"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时间</a:t>
            </a:r>
          </a:p>
        </p:txBody>
      </p:sp>
      <p:sp>
        <p:nvSpPr>
          <p:cNvPr id="108" name="TextBox 107"/>
          <p:cNvSpPr txBox="1"/>
          <p:nvPr/>
        </p:nvSpPr>
        <p:spPr>
          <a:xfrm>
            <a:off x="2945455" y="5251173"/>
            <a:ext cx="1169786"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缺页状态</a:t>
            </a:r>
          </a:p>
        </p:txBody>
      </p:sp>
      <p:sp>
        <p:nvSpPr>
          <p:cNvPr id="120" name="TextBox 119"/>
          <p:cNvSpPr txBox="1"/>
          <p:nvPr/>
        </p:nvSpPr>
        <p:spPr>
          <a:xfrm>
            <a:off x="2981526" y="4151365"/>
            <a:ext cx="430887" cy="1063587"/>
          </a:xfrm>
          <a:prstGeom prst="rect">
            <a:avLst/>
          </a:prstGeom>
          <a:noFill/>
          <a:effectLst/>
        </p:spPr>
        <p:txBody>
          <a:bodyPr vert="eaVert"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物理帧号</a:t>
            </a:r>
          </a:p>
        </p:txBody>
      </p:sp>
      <p:sp>
        <p:nvSpPr>
          <p:cNvPr id="132" name="TextBox 131"/>
          <p:cNvSpPr txBox="1"/>
          <p:nvPr/>
        </p:nvSpPr>
        <p:spPr>
          <a:xfrm>
            <a:off x="2855641" y="1977662"/>
            <a:ext cx="2395207" cy="400110"/>
          </a:xfrm>
          <a:prstGeom prst="rect">
            <a:avLst/>
          </a:prstGeom>
          <a:noFill/>
        </p:spPr>
        <p:txBody>
          <a:bodyPr wrap="none" rtlCol="0">
            <a:spAutoFit/>
          </a:bodyPr>
          <a:lstStyle/>
          <a:p>
            <a:r>
              <a:rPr lang="zh-CN" altLang="en-US" sz="2000" b="1" dirty="0">
                <a:solidFill>
                  <a:srgbClr val="11576A"/>
                </a:solidFill>
                <a:latin typeface="微软雅黑" pitchFamily="34" charset="-122"/>
                <a:ea typeface="微软雅黑" pitchFamily="34" charset="-122"/>
              </a:rPr>
              <a:t>执行在</a:t>
            </a:r>
            <a:r>
              <a:rPr lang="en-US" altLang="zh-CN" sz="2000" b="1" dirty="0">
                <a:solidFill>
                  <a:srgbClr val="11576A"/>
                </a:solidFill>
                <a:latin typeface="微软雅黑" pitchFamily="34" charset="-122"/>
                <a:ea typeface="微软雅黑" pitchFamily="34" charset="-122"/>
              </a:rPr>
              <a:t>4</a:t>
            </a:r>
            <a:r>
              <a:rPr lang="zh-CN" altLang="en-US" sz="2000" b="1" dirty="0">
                <a:solidFill>
                  <a:srgbClr val="11576A"/>
                </a:solidFill>
                <a:latin typeface="微软雅黑" pitchFamily="34" charset="-122"/>
                <a:ea typeface="微软雅黑" pitchFamily="34" charset="-122"/>
              </a:rPr>
              <a:t>个页帧中：</a:t>
            </a:r>
          </a:p>
        </p:txBody>
      </p:sp>
      <p:sp>
        <p:nvSpPr>
          <p:cNvPr id="133" name="TextBox 132"/>
          <p:cNvSpPr txBox="1"/>
          <p:nvPr/>
        </p:nvSpPr>
        <p:spPr>
          <a:xfrm>
            <a:off x="3095407" y="2304689"/>
            <a:ext cx="4948924" cy="369332"/>
          </a:xfrm>
          <a:prstGeom prst="rect">
            <a:avLst/>
          </a:prstGeom>
          <a:noFill/>
        </p:spPr>
        <p:txBody>
          <a:bodyPr wrap="square" rtlCol="0">
            <a:spAutoFit/>
          </a:bodyPr>
          <a:lstStyle/>
          <a:p>
            <a:r>
              <a:rPr lang="zh-CN" altLang="en-US" b="1" dirty="0">
                <a:solidFill>
                  <a:srgbClr val="11576A"/>
                </a:solidFill>
                <a:latin typeface="微软雅黑" pitchFamily="34" charset="-122"/>
                <a:ea typeface="微软雅黑" pitchFamily="34" charset="-122"/>
              </a:rPr>
              <a:t>假定最初的访问次数</a:t>
            </a:r>
            <a:r>
              <a:rPr lang="en-US" altLang="zh-CN" b="1" dirty="0">
                <a:solidFill>
                  <a:srgbClr val="11576A"/>
                </a:solidFill>
                <a:latin typeface="微软雅黑" pitchFamily="34" charset="-122"/>
                <a:ea typeface="微软雅黑" pitchFamily="34" charset="-122"/>
              </a:rPr>
              <a:t>a-</a:t>
            </a:r>
            <a:r>
              <a:rPr lang="zh-CN" altLang="en-US" b="1" dirty="0">
                <a:solidFill>
                  <a:srgbClr val="11576A"/>
                </a:solidFill>
                <a:latin typeface="微软雅黑" pitchFamily="34" charset="-122"/>
                <a:ea typeface="微软雅黑" pitchFamily="34" charset="-122"/>
              </a:rPr>
              <a:t>＞</a:t>
            </a:r>
            <a:r>
              <a:rPr lang="en-US" altLang="zh-CN" b="1" dirty="0">
                <a:solidFill>
                  <a:srgbClr val="11576A"/>
                </a:solidFill>
                <a:latin typeface="微软雅黑" pitchFamily="34" charset="-122"/>
                <a:ea typeface="微软雅黑" pitchFamily="34" charset="-122"/>
              </a:rPr>
              <a:t>8 b-</a:t>
            </a:r>
            <a:r>
              <a:rPr lang="zh-CN" altLang="en-US" b="1" dirty="0">
                <a:solidFill>
                  <a:srgbClr val="11576A"/>
                </a:solidFill>
                <a:latin typeface="微软雅黑" pitchFamily="34" charset="-122"/>
                <a:ea typeface="微软雅黑" pitchFamily="34" charset="-122"/>
              </a:rPr>
              <a:t>＞</a:t>
            </a:r>
            <a:r>
              <a:rPr lang="en-US" altLang="zh-CN" b="1" dirty="0">
                <a:solidFill>
                  <a:srgbClr val="11576A"/>
                </a:solidFill>
                <a:latin typeface="微软雅黑" pitchFamily="34" charset="-122"/>
                <a:ea typeface="微软雅黑" pitchFamily="34" charset="-122"/>
              </a:rPr>
              <a:t>5 c-</a:t>
            </a:r>
            <a:r>
              <a:rPr lang="zh-CN" altLang="en-US" b="1" dirty="0">
                <a:solidFill>
                  <a:srgbClr val="11576A"/>
                </a:solidFill>
                <a:latin typeface="微软雅黑" pitchFamily="34" charset="-122"/>
                <a:ea typeface="微软雅黑" pitchFamily="34" charset="-122"/>
              </a:rPr>
              <a:t>＞</a:t>
            </a:r>
            <a:r>
              <a:rPr lang="en-US" altLang="zh-CN" b="1" dirty="0">
                <a:solidFill>
                  <a:srgbClr val="11576A"/>
                </a:solidFill>
                <a:latin typeface="微软雅黑" pitchFamily="34" charset="-122"/>
                <a:ea typeface="微软雅黑" pitchFamily="34" charset="-122"/>
              </a:rPr>
              <a:t>6 d-</a:t>
            </a:r>
            <a:r>
              <a:rPr lang="zh-CN" altLang="en-US" b="1" dirty="0">
                <a:solidFill>
                  <a:srgbClr val="11576A"/>
                </a:solidFill>
                <a:latin typeface="微软雅黑" pitchFamily="34" charset="-122"/>
                <a:ea typeface="微软雅黑" pitchFamily="34" charset="-122"/>
              </a:rPr>
              <a:t>＞</a:t>
            </a:r>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pic>
        <p:nvPicPr>
          <p:cNvPr id="134" name="图片 133" descr="小点1.png"/>
          <p:cNvPicPr>
            <a:picLocks noChangeAspect="1"/>
          </p:cNvPicPr>
          <p:nvPr/>
        </p:nvPicPr>
        <p:blipFill>
          <a:blip r:embed="rId3" cstate="print"/>
          <a:stretch>
            <a:fillRect/>
          </a:stretch>
        </p:blipFill>
        <p:spPr>
          <a:xfrm>
            <a:off x="2960944" y="2413700"/>
            <a:ext cx="151066" cy="148997"/>
          </a:xfrm>
          <a:prstGeom prst="rect">
            <a:avLst/>
          </a:prstGeom>
          <a:effectLst/>
        </p:spPr>
      </p:pic>
      <p:sp>
        <p:nvSpPr>
          <p:cNvPr id="176" name="TextBox 175"/>
          <p:cNvSpPr txBox="1"/>
          <p:nvPr/>
        </p:nvSpPr>
        <p:spPr>
          <a:xfrm>
            <a:off x="7329951"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7</a:t>
            </a:r>
            <a:endParaRPr lang="zh-CN" altLang="en-US" sz="3200" b="1" baseline="-25000" dirty="0">
              <a:solidFill>
                <a:srgbClr val="11576A"/>
              </a:solidFill>
              <a:latin typeface="微软雅黑" pitchFamily="34" charset="-122"/>
              <a:ea typeface="微软雅黑" pitchFamily="34" charset="-122"/>
            </a:endParaRPr>
          </a:p>
        </p:txBody>
      </p:sp>
      <p:sp>
        <p:nvSpPr>
          <p:cNvPr id="177" name="TextBox 176"/>
          <p:cNvSpPr txBox="1"/>
          <p:nvPr/>
        </p:nvSpPr>
        <p:spPr>
          <a:xfrm>
            <a:off x="7806204" y="30455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8</a:t>
            </a:r>
            <a:endParaRPr lang="zh-CN" altLang="en-US" sz="3200" b="1" baseline="-25000" dirty="0">
              <a:solidFill>
                <a:srgbClr val="11576A"/>
              </a:solidFill>
              <a:latin typeface="微软雅黑" pitchFamily="34" charset="-122"/>
              <a:ea typeface="微软雅黑" pitchFamily="34" charset="-122"/>
            </a:endParaRPr>
          </a:p>
        </p:txBody>
      </p:sp>
      <p:grpSp>
        <p:nvGrpSpPr>
          <p:cNvPr id="2" name="组合 1"/>
          <p:cNvGrpSpPr/>
          <p:nvPr/>
        </p:nvGrpSpPr>
        <p:grpSpPr>
          <a:xfrm>
            <a:off x="4331568" y="3749071"/>
            <a:ext cx="608838" cy="1476640"/>
            <a:chOff x="2359435" y="2891821"/>
            <a:chExt cx="608838" cy="1476640"/>
          </a:xfrm>
        </p:grpSpPr>
        <p:sp>
          <p:nvSpPr>
            <p:cNvPr id="60" name="TextBox 59"/>
            <p:cNvSpPr txBox="1"/>
            <p:nvPr/>
          </p:nvSpPr>
          <p:spPr>
            <a:xfrm>
              <a:off x="2382326" y="2891821"/>
              <a:ext cx="58594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8</a:t>
              </a:r>
              <a:endParaRPr lang="zh-CN" altLang="en-US" sz="1600" b="1" baseline="30000" dirty="0">
                <a:solidFill>
                  <a:srgbClr val="11576A"/>
                </a:solidFill>
                <a:latin typeface="微软雅黑" pitchFamily="34" charset="-122"/>
                <a:ea typeface="微软雅黑" pitchFamily="34" charset="-122"/>
              </a:endParaRPr>
            </a:p>
          </p:txBody>
        </p:sp>
        <p:sp>
          <p:nvSpPr>
            <p:cNvPr id="111" name="TextBox 101"/>
            <p:cNvSpPr txBox="1"/>
            <p:nvPr/>
          </p:nvSpPr>
          <p:spPr>
            <a:xfrm>
              <a:off x="2410657" y="326397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5</a:t>
              </a:r>
              <a:endParaRPr lang="zh-CN" altLang="en-US" sz="2400" b="1" baseline="30000" dirty="0">
                <a:solidFill>
                  <a:srgbClr val="11576A"/>
                </a:solidFill>
                <a:latin typeface="微软雅黑" pitchFamily="34" charset="-122"/>
                <a:ea typeface="微软雅黑" pitchFamily="34" charset="-122"/>
              </a:endParaRPr>
            </a:p>
          </p:txBody>
        </p:sp>
        <p:sp>
          <p:nvSpPr>
            <p:cNvPr id="112" name="TextBox 103"/>
            <p:cNvSpPr txBox="1"/>
            <p:nvPr/>
          </p:nvSpPr>
          <p:spPr>
            <a:xfrm>
              <a:off x="2397399" y="39478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2</a:t>
              </a:r>
              <a:endParaRPr lang="zh-CN" altLang="en-US" sz="2800" b="1" baseline="30000" dirty="0">
                <a:solidFill>
                  <a:srgbClr val="11576A"/>
                </a:solidFill>
                <a:latin typeface="微软雅黑" pitchFamily="34" charset="-122"/>
                <a:ea typeface="微软雅黑" pitchFamily="34" charset="-122"/>
              </a:endParaRPr>
            </a:p>
          </p:txBody>
        </p:sp>
        <p:sp>
          <p:nvSpPr>
            <p:cNvPr id="113" name="TextBox 102"/>
            <p:cNvSpPr txBox="1"/>
            <p:nvPr/>
          </p:nvSpPr>
          <p:spPr>
            <a:xfrm>
              <a:off x="2359435" y="3627891"/>
              <a:ext cx="56108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13</a:t>
              </a:r>
              <a:endParaRPr lang="zh-CN" altLang="en-US" sz="2800" b="1" baseline="30000" dirty="0">
                <a:solidFill>
                  <a:srgbClr val="11576A"/>
                </a:solidFill>
                <a:latin typeface="微软雅黑" pitchFamily="34" charset="-122"/>
                <a:ea typeface="微软雅黑" pitchFamily="34" charset="-122"/>
              </a:endParaRPr>
            </a:p>
          </p:txBody>
        </p:sp>
      </p:grpSp>
      <p:grpSp>
        <p:nvGrpSpPr>
          <p:cNvPr id="3" name="组合 2"/>
          <p:cNvGrpSpPr/>
          <p:nvPr/>
        </p:nvGrpSpPr>
        <p:grpSpPr>
          <a:xfrm>
            <a:off x="4751606" y="3755852"/>
            <a:ext cx="585947" cy="1469861"/>
            <a:chOff x="2779471" y="2898600"/>
            <a:chExt cx="585947" cy="1469861"/>
          </a:xfrm>
        </p:grpSpPr>
        <p:sp>
          <p:nvSpPr>
            <p:cNvPr id="114" name="TextBox 59"/>
            <p:cNvSpPr txBox="1"/>
            <p:nvPr/>
          </p:nvSpPr>
          <p:spPr>
            <a:xfrm>
              <a:off x="2779471" y="2898600"/>
              <a:ext cx="58594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9</a:t>
              </a:r>
              <a:endParaRPr lang="zh-CN" altLang="en-US" sz="1600" b="1" baseline="30000" dirty="0">
                <a:solidFill>
                  <a:srgbClr val="11576A"/>
                </a:solidFill>
                <a:latin typeface="微软雅黑" pitchFamily="34" charset="-122"/>
                <a:ea typeface="微软雅黑" pitchFamily="34" charset="-122"/>
              </a:endParaRPr>
            </a:p>
          </p:txBody>
        </p:sp>
        <p:sp>
          <p:nvSpPr>
            <p:cNvPr id="115" name="TextBox 101"/>
            <p:cNvSpPr txBox="1"/>
            <p:nvPr/>
          </p:nvSpPr>
          <p:spPr>
            <a:xfrm>
              <a:off x="2835984" y="326397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5</a:t>
              </a:r>
              <a:endParaRPr lang="zh-CN" altLang="en-US" sz="2400" b="1" baseline="30000" dirty="0">
                <a:solidFill>
                  <a:srgbClr val="11576A"/>
                </a:solidFill>
                <a:latin typeface="微软雅黑" pitchFamily="34" charset="-122"/>
                <a:ea typeface="微软雅黑" pitchFamily="34" charset="-122"/>
              </a:endParaRPr>
            </a:p>
          </p:txBody>
        </p:sp>
        <p:sp>
          <p:nvSpPr>
            <p:cNvPr id="116" name="TextBox 103"/>
            <p:cNvSpPr txBox="1"/>
            <p:nvPr/>
          </p:nvSpPr>
          <p:spPr>
            <a:xfrm>
              <a:off x="2822726" y="394783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2</a:t>
              </a:r>
              <a:endParaRPr lang="zh-CN" altLang="en-US" sz="2800" b="1" baseline="30000" dirty="0">
                <a:solidFill>
                  <a:srgbClr val="11576A"/>
                </a:solidFill>
                <a:latin typeface="微软雅黑" pitchFamily="34" charset="-122"/>
                <a:ea typeface="微软雅黑" pitchFamily="34" charset="-122"/>
              </a:endParaRPr>
            </a:p>
          </p:txBody>
        </p:sp>
        <p:sp>
          <p:nvSpPr>
            <p:cNvPr id="117" name="TextBox 102"/>
            <p:cNvSpPr txBox="1"/>
            <p:nvPr/>
          </p:nvSpPr>
          <p:spPr>
            <a:xfrm>
              <a:off x="2784762" y="3627891"/>
              <a:ext cx="56108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13</a:t>
              </a:r>
              <a:endParaRPr lang="zh-CN" altLang="en-US" sz="2800" b="1" baseline="30000" dirty="0">
                <a:solidFill>
                  <a:srgbClr val="11576A"/>
                </a:solidFill>
                <a:latin typeface="微软雅黑" pitchFamily="34" charset="-122"/>
                <a:ea typeface="微软雅黑" pitchFamily="34" charset="-122"/>
              </a:endParaRPr>
            </a:p>
          </p:txBody>
        </p:sp>
      </p:grpSp>
      <p:grpSp>
        <p:nvGrpSpPr>
          <p:cNvPr id="4" name="组合 3"/>
          <p:cNvGrpSpPr/>
          <p:nvPr/>
        </p:nvGrpSpPr>
        <p:grpSpPr>
          <a:xfrm>
            <a:off x="5262752" y="3762631"/>
            <a:ext cx="585947" cy="1466571"/>
            <a:chOff x="3290617" y="2905379"/>
            <a:chExt cx="585947" cy="1466571"/>
          </a:xfrm>
        </p:grpSpPr>
        <p:sp>
          <p:nvSpPr>
            <p:cNvPr id="118" name="TextBox 59"/>
            <p:cNvSpPr txBox="1"/>
            <p:nvPr/>
          </p:nvSpPr>
          <p:spPr>
            <a:xfrm>
              <a:off x="3290617" y="2905379"/>
              <a:ext cx="58594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9</a:t>
              </a:r>
              <a:endParaRPr lang="zh-CN" altLang="en-US" sz="1600" b="1" baseline="30000" dirty="0">
                <a:solidFill>
                  <a:srgbClr val="11576A"/>
                </a:solidFill>
                <a:latin typeface="微软雅黑" pitchFamily="34" charset="-122"/>
                <a:ea typeface="微软雅黑" pitchFamily="34" charset="-122"/>
              </a:endParaRPr>
            </a:p>
          </p:txBody>
        </p:sp>
        <p:sp>
          <p:nvSpPr>
            <p:cNvPr id="119" name="TextBox 101"/>
            <p:cNvSpPr txBox="1"/>
            <p:nvPr/>
          </p:nvSpPr>
          <p:spPr>
            <a:xfrm>
              <a:off x="3347130" y="3270756"/>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5</a:t>
              </a:r>
              <a:endParaRPr lang="zh-CN" altLang="en-US" sz="2400" b="1" baseline="30000" dirty="0">
                <a:solidFill>
                  <a:srgbClr val="11576A"/>
                </a:solidFill>
                <a:latin typeface="微软雅黑" pitchFamily="34" charset="-122"/>
                <a:ea typeface="微软雅黑" pitchFamily="34" charset="-122"/>
              </a:endParaRPr>
            </a:p>
          </p:txBody>
        </p:sp>
        <p:sp>
          <p:nvSpPr>
            <p:cNvPr id="121" name="TextBox 103"/>
            <p:cNvSpPr txBox="1"/>
            <p:nvPr/>
          </p:nvSpPr>
          <p:spPr>
            <a:xfrm>
              <a:off x="3333872" y="3951322"/>
              <a:ext cx="5358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16</a:t>
              </a:r>
              <a:endParaRPr lang="zh-CN" altLang="en-US" sz="2800" b="1" baseline="30000" dirty="0">
                <a:solidFill>
                  <a:srgbClr val="11576A"/>
                </a:solidFill>
                <a:latin typeface="微软雅黑" pitchFamily="34" charset="-122"/>
                <a:ea typeface="微软雅黑" pitchFamily="34" charset="-122"/>
              </a:endParaRPr>
            </a:p>
          </p:txBody>
        </p:sp>
        <p:sp>
          <p:nvSpPr>
            <p:cNvPr id="122" name="TextBox 102"/>
            <p:cNvSpPr txBox="1"/>
            <p:nvPr/>
          </p:nvSpPr>
          <p:spPr>
            <a:xfrm>
              <a:off x="3295908" y="3634670"/>
              <a:ext cx="56108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13</a:t>
              </a:r>
              <a:endParaRPr lang="zh-CN" altLang="en-US" sz="2800" b="1" baseline="30000" dirty="0">
                <a:solidFill>
                  <a:srgbClr val="11576A"/>
                </a:solidFill>
                <a:latin typeface="微软雅黑" pitchFamily="34" charset="-122"/>
                <a:ea typeface="微软雅黑" pitchFamily="34" charset="-122"/>
              </a:endParaRPr>
            </a:p>
          </p:txBody>
        </p:sp>
      </p:grpSp>
      <p:grpSp>
        <p:nvGrpSpPr>
          <p:cNvPr id="5" name="组合 4"/>
          <p:cNvGrpSpPr/>
          <p:nvPr/>
        </p:nvGrpSpPr>
        <p:grpSpPr>
          <a:xfrm>
            <a:off x="5744045" y="3744708"/>
            <a:ext cx="607729" cy="1484261"/>
            <a:chOff x="3771910" y="2887456"/>
            <a:chExt cx="607729" cy="1484261"/>
          </a:xfrm>
        </p:grpSpPr>
        <p:sp>
          <p:nvSpPr>
            <p:cNvPr id="123" name="TextBox 59"/>
            <p:cNvSpPr txBox="1"/>
            <p:nvPr/>
          </p:nvSpPr>
          <p:spPr>
            <a:xfrm>
              <a:off x="3771910" y="2887456"/>
              <a:ext cx="58594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9</a:t>
              </a:r>
              <a:endParaRPr lang="zh-CN" altLang="en-US" sz="1600" b="1" baseline="30000" dirty="0">
                <a:solidFill>
                  <a:srgbClr val="11576A"/>
                </a:solidFill>
                <a:latin typeface="微软雅黑" pitchFamily="34" charset="-122"/>
                <a:ea typeface="微软雅黑" pitchFamily="34" charset="-122"/>
              </a:endParaRPr>
            </a:p>
          </p:txBody>
        </p:sp>
        <p:sp>
          <p:nvSpPr>
            <p:cNvPr id="128" name="TextBox 101"/>
            <p:cNvSpPr txBox="1"/>
            <p:nvPr/>
          </p:nvSpPr>
          <p:spPr>
            <a:xfrm>
              <a:off x="3828423" y="3252833"/>
              <a:ext cx="551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10</a:t>
              </a:r>
              <a:endParaRPr lang="zh-CN" altLang="en-US" sz="2400" b="1" baseline="30000" dirty="0">
                <a:solidFill>
                  <a:srgbClr val="11576A"/>
                </a:solidFill>
                <a:latin typeface="微软雅黑" pitchFamily="34" charset="-122"/>
                <a:ea typeface="微软雅黑" pitchFamily="34" charset="-122"/>
              </a:endParaRPr>
            </a:p>
          </p:txBody>
        </p:sp>
        <p:sp>
          <p:nvSpPr>
            <p:cNvPr id="129" name="TextBox 103"/>
            <p:cNvSpPr txBox="1"/>
            <p:nvPr/>
          </p:nvSpPr>
          <p:spPr>
            <a:xfrm>
              <a:off x="3815165" y="3951089"/>
              <a:ext cx="5358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16</a:t>
              </a:r>
              <a:endParaRPr lang="zh-CN" altLang="en-US" sz="2800" b="1" baseline="30000" dirty="0">
                <a:solidFill>
                  <a:srgbClr val="11576A"/>
                </a:solidFill>
                <a:latin typeface="微软雅黑" pitchFamily="34" charset="-122"/>
                <a:ea typeface="微软雅黑" pitchFamily="34" charset="-122"/>
              </a:endParaRPr>
            </a:p>
          </p:txBody>
        </p:sp>
        <p:sp>
          <p:nvSpPr>
            <p:cNvPr id="130" name="TextBox 102"/>
            <p:cNvSpPr txBox="1"/>
            <p:nvPr/>
          </p:nvSpPr>
          <p:spPr>
            <a:xfrm>
              <a:off x="3777201" y="3616747"/>
              <a:ext cx="56108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13</a:t>
              </a:r>
              <a:endParaRPr lang="zh-CN" altLang="en-US" sz="2800" b="1" baseline="30000" dirty="0">
                <a:solidFill>
                  <a:srgbClr val="11576A"/>
                </a:solidFill>
                <a:latin typeface="微软雅黑" pitchFamily="34" charset="-122"/>
                <a:ea typeface="微软雅黑" pitchFamily="34" charset="-122"/>
              </a:endParaRPr>
            </a:p>
          </p:txBody>
        </p:sp>
      </p:grpSp>
      <p:grpSp>
        <p:nvGrpSpPr>
          <p:cNvPr id="7" name="组合 6"/>
          <p:cNvGrpSpPr/>
          <p:nvPr/>
        </p:nvGrpSpPr>
        <p:grpSpPr>
          <a:xfrm>
            <a:off x="6764638" y="3743808"/>
            <a:ext cx="602438" cy="1484539"/>
            <a:chOff x="4792505" y="2886556"/>
            <a:chExt cx="602438" cy="1484539"/>
          </a:xfrm>
        </p:grpSpPr>
        <p:sp>
          <p:nvSpPr>
            <p:cNvPr id="138" name="TextBox 35"/>
            <p:cNvSpPr txBox="1"/>
            <p:nvPr/>
          </p:nvSpPr>
          <p:spPr>
            <a:xfrm>
              <a:off x="4863380" y="2886556"/>
              <a:ext cx="525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r>
                <a:rPr lang="en-US" altLang="zh-CN" sz="1600" b="1" baseline="30000" dirty="0">
                  <a:solidFill>
                    <a:srgbClr val="11576A"/>
                  </a:solidFill>
                  <a:latin typeface="微软雅黑" pitchFamily="34" charset="-122"/>
                  <a:ea typeface="微软雅黑" pitchFamily="34" charset="-122"/>
                </a:rPr>
                <a:t>18</a:t>
              </a:r>
              <a:endParaRPr lang="zh-CN" altLang="en-US" sz="3600" b="1" baseline="30000" dirty="0">
                <a:solidFill>
                  <a:srgbClr val="11576A"/>
                </a:solidFill>
                <a:latin typeface="微软雅黑" pitchFamily="34" charset="-122"/>
                <a:ea typeface="微软雅黑" pitchFamily="34" charset="-122"/>
              </a:endParaRPr>
            </a:p>
          </p:txBody>
        </p:sp>
        <p:sp>
          <p:nvSpPr>
            <p:cNvPr id="139" name="TextBox 101"/>
            <p:cNvSpPr txBox="1"/>
            <p:nvPr/>
          </p:nvSpPr>
          <p:spPr>
            <a:xfrm>
              <a:off x="4843727" y="3237811"/>
              <a:ext cx="551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11</a:t>
              </a:r>
              <a:endParaRPr lang="zh-CN" altLang="en-US" sz="2400" b="1" baseline="30000" dirty="0">
                <a:solidFill>
                  <a:srgbClr val="11576A"/>
                </a:solidFill>
                <a:latin typeface="微软雅黑" pitchFamily="34" charset="-122"/>
                <a:ea typeface="微软雅黑" pitchFamily="34" charset="-122"/>
              </a:endParaRPr>
            </a:p>
          </p:txBody>
        </p:sp>
        <p:sp>
          <p:nvSpPr>
            <p:cNvPr id="140" name="TextBox 103"/>
            <p:cNvSpPr txBox="1"/>
            <p:nvPr/>
          </p:nvSpPr>
          <p:spPr>
            <a:xfrm>
              <a:off x="4830469" y="3950467"/>
              <a:ext cx="5358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16</a:t>
              </a:r>
              <a:endParaRPr lang="zh-CN" altLang="en-US" sz="2800" b="1" baseline="30000" dirty="0">
                <a:solidFill>
                  <a:srgbClr val="11576A"/>
                </a:solidFill>
                <a:latin typeface="微软雅黑" pitchFamily="34" charset="-122"/>
                <a:ea typeface="微软雅黑" pitchFamily="34" charset="-122"/>
              </a:endParaRPr>
            </a:p>
          </p:txBody>
        </p:sp>
        <p:sp>
          <p:nvSpPr>
            <p:cNvPr id="141" name="TextBox 102"/>
            <p:cNvSpPr txBox="1"/>
            <p:nvPr/>
          </p:nvSpPr>
          <p:spPr>
            <a:xfrm>
              <a:off x="4792505" y="3601725"/>
              <a:ext cx="56108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13</a:t>
              </a:r>
              <a:endParaRPr lang="zh-CN" altLang="en-US" sz="2800" b="1" baseline="30000" dirty="0">
                <a:solidFill>
                  <a:srgbClr val="11576A"/>
                </a:solidFill>
                <a:latin typeface="微软雅黑" pitchFamily="34" charset="-122"/>
                <a:ea typeface="微软雅黑" pitchFamily="34" charset="-122"/>
              </a:endParaRPr>
            </a:p>
          </p:txBody>
        </p:sp>
      </p:grpSp>
      <p:grpSp>
        <p:nvGrpSpPr>
          <p:cNvPr id="162" name="组合 161"/>
          <p:cNvGrpSpPr/>
          <p:nvPr/>
        </p:nvGrpSpPr>
        <p:grpSpPr>
          <a:xfrm>
            <a:off x="6410630" y="3587268"/>
            <a:ext cx="234000" cy="1980775"/>
            <a:chOff x="4518037" y="1556793"/>
            <a:chExt cx="234000" cy="1980775"/>
          </a:xfrm>
        </p:grpSpPr>
        <p:sp>
          <p:nvSpPr>
            <p:cNvPr id="163"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64"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165" name="组合 164"/>
          <p:cNvGrpSpPr/>
          <p:nvPr/>
        </p:nvGrpSpPr>
        <p:grpSpPr>
          <a:xfrm>
            <a:off x="7418743" y="3587268"/>
            <a:ext cx="234000" cy="1980775"/>
            <a:chOff x="4518037" y="1556793"/>
            <a:chExt cx="234000" cy="1980775"/>
          </a:xfrm>
        </p:grpSpPr>
        <p:sp>
          <p:nvSpPr>
            <p:cNvPr id="166"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67"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168" name="组合 167"/>
          <p:cNvGrpSpPr/>
          <p:nvPr/>
        </p:nvGrpSpPr>
        <p:grpSpPr>
          <a:xfrm>
            <a:off x="7915058" y="3587268"/>
            <a:ext cx="234000" cy="1980775"/>
            <a:chOff x="4518037" y="1556793"/>
            <a:chExt cx="234000" cy="1980775"/>
          </a:xfrm>
        </p:grpSpPr>
        <p:sp>
          <p:nvSpPr>
            <p:cNvPr id="169"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70"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171" name="组合 170"/>
          <p:cNvGrpSpPr/>
          <p:nvPr/>
        </p:nvGrpSpPr>
        <p:grpSpPr>
          <a:xfrm>
            <a:off x="8463159" y="3576514"/>
            <a:ext cx="234000" cy="1980775"/>
            <a:chOff x="4518037" y="1556793"/>
            <a:chExt cx="234000" cy="1980775"/>
          </a:xfrm>
        </p:grpSpPr>
        <p:sp>
          <p:nvSpPr>
            <p:cNvPr id="172"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73"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174" name="组合 173"/>
          <p:cNvGrpSpPr/>
          <p:nvPr/>
        </p:nvGrpSpPr>
        <p:grpSpPr>
          <a:xfrm>
            <a:off x="8888486" y="3576514"/>
            <a:ext cx="234000" cy="1980775"/>
            <a:chOff x="4518037" y="1556793"/>
            <a:chExt cx="234000" cy="1980775"/>
          </a:xfrm>
        </p:grpSpPr>
        <p:sp>
          <p:nvSpPr>
            <p:cNvPr id="175"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178"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sp>
        <p:nvSpPr>
          <p:cNvPr id="179" name="TextBox 79"/>
          <p:cNvSpPr txBox="1"/>
          <p:nvPr/>
        </p:nvSpPr>
        <p:spPr>
          <a:xfrm>
            <a:off x="4219451" y="4483260"/>
            <a:ext cx="78531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r>
              <a:rPr lang="en-US" altLang="zh-CN" sz="1600" b="1" baseline="30000" dirty="0">
                <a:solidFill>
                  <a:srgbClr val="C00000"/>
                </a:solidFill>
                <a:latin typeface="微软雅黑" pitchFamily="34" charset="-122"/>
                <a:ea typeface="微软雅黑" pitchFamily="34" charset="-122"/>
              </a:rPr>
              <a:t>13</a:t>
            </a:r>
            <a:endParaRPr lang="zh-CN" altLang="en-US" sz="1600" b="1" baseline="30000" dirty="0">
              <a:solidFill>
                <a:srgbClr val="C00000"/>
              </a:solidFill>
              <a:latin typeface="微软雅黑" pitchFamily="34" charset="-122"/>
              <a:ea typeface="微软雅黑" pitchFamily="34" charset="-122"/>
            </a:endParaRPr>
          </a:p>
        </p:txBody>
      </p:sp>
      <p:sp>
        <p:nvSpPr>
          <p:cNvPr id="180" name="TextBox 79"/>
          <p:cNvSpPr txBox="1"/>
          <p:nvPr/>
        </p:nvSpPr>
        <p:spPr>
          <a:xfrm>
            <a:off x="4651260" y="3756840"/>
            <a:ext cx="78531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r>
              <a:rPr lang="en-US" altLang="zh-CN" sz="1600" b="1" baseline="30000" dirty="0">
                <a:solidFill>
                  <a:srgbClr val="C00000"/>
                </a:solidFill>
                <a:latin typeface="微软雅黑" pitchFamily="34" charset="-122"/>
                <a:ea typeface="微软雅黑" pitchFamily="34" charset="-122"/>
              </a:rPr>
              <a:t>9</a:t>
            </a:r>
            <a:endParaRPr lang="zh-CN" altLang="en-US" sz="1600" b="1" baseline="30000" dirty="0">
              <a:solidFill>
                <a:srgbClr val="C00000"/>
              </a:solidFill>
              <a:latin typeface="微软雅黑" pitchFamily="34" charset="-122"/>
              <a:ea typeface="微软雅黑" pitchFamily="34" charset="-122"/>
            </a:endParaRPr>
          </a:p>
        </p:txBody>
      </p:sp>
      <p:sp>
        <p:nvSpPr>
          <p:cNvPr id="181" name="TextBox 79"/>
          <p:cNvSpPr txBox="1"/>
          <p:nvPr/>
        </p:nvSpPr>
        <p:spPr>
          <a:xfrm>
            <a:off x="5186508" y="4808381"/>
            <a:ext cx="78531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r>
              <a:rPr lang="en-US" altLang="zh-CN" sz="1600" b="1" baseline="30000" dirty="0">
                <a:solidFill>
                  <a:srgbClr val="C00000"/>
                </a:solidFill>
                <a:latin typeface="微软雅黑" pitchFamily="34" charset="-122"/>
                <a:ea typeface="微软雅黑" pitchFamily="34" charset="-122"/>
              </a:rPr>
              <a:t>16</a:t>
            </a:r>
            <a:endParaRPr lang="zh-CN" altLang="en-US" sz="1600" b="1" baseline="30000" dirty="0">
              <a:solidFill>
                <a:srgbClr val="C00000"/>
              </a:solidFill>
              <a:latin typeface="微软雅黑" pitchFamily="34" charset="-122"/>
              <a:ea typeface="微软雅黑" pitchFamily="34" charset="-122"/>
            </a:endParaRPr>
          </a:p>
        </p:txBody>
      </p:sp>
      <p:sp>
        <p:nvSpPr>
          <p:cNvPr id="182" name="TextBox 79"/>
          <p:cNvSpPr txBox="1"/>
          <p:nvPr/>
        </p:nvSpPr>
        <p:spPr>
          <a:xfrm>
            <a:off x="5683507" y="4110083"/>
            <a:ext cx="78531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r>
              <a:rPr lang="en-US" altLang="zh-CN" sz="1600" b="1" baseline="30000" dirty="0">
                <a:solidFill>
                  <a:srgbClr val="C00000"/>
                </a:solidFill>
                <a:latin typeface="微软雅黑" pitchFamily="34" charset="-122"/>
                <a:ea typeface="微软雅黑" pitchFamily="34" charset="-122"/>
              </a:rPr>
              <a:t>10</a:t>
            </a:r>
            <a:endParaRPr lang="zh-CN" altLang="en-US" sz="1600" b="1" baseline="30000" dirty="0">
              <a:solidFill>
                <a:srgbClr val="C00000"/>
              </a:solidFill>
              <a:latin typeface="微软雅黑" pitchFamily="34" charset="-122"/>
              <a:ea typeface="微软雅黑" pitchFamily="34" charset="-122"/>
            </a:endParaRPr>
          </a:p>
        </p:txBody>
      </p:sp>
      <p:grpSp>
        <p:nvGrpSpPr>
          <p:cNvPr id="6" name="组合 5"/>
          <p:cNvGrpSpPr/>
          <p:nvPr/>
        </p:nvGrpSpPr>
        <p:grpSpPr>
          <a:xfrm>
            <a:off x="6207966" y="3743959"/>
            <a:ext cx="668797" cy="1484539"/>
            <a:chOff x="4235831" y="2886707"/>
            <a:chExt cx="668797" cy="1484539"/>
          </a:xfrm>
        </p:grpSpPr>
        <p:sp>
          <p:nvSpPr>
            <p:cNvPr id="131" name="TextBox 35"/>
            <p:cNvSpPr txBox="1"/>
            <p:nvPr/>
          </p:nvSpPr>
          <p:spPr>
            <a:xfrm>
              <a:off x="4373065" y="2886707"/>
              <a:ext cx="525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e</a:t>
              </a:r>
              <a:r>
                <a:rPr lang="en-US" altLang="zh-CN" sz="1600" b="1" baseline="30000" dirty="0">
                  <a:solidFill>
                    <a:srgbClr val="C00000"/>
                  </a:solidFill>
                  <a:latin typeface="微软雅黑" pitchFamily="34" charset="-122"/>
                  <a:ea typeface="微软雅黑" pitchFamily="34" charset="-122"/>
                </a:rPr>
                <a:t>18</a:t>
              </a:r>
              <a:endParaRPr lang="zh-CN" altLang="en-US" sz="3600" b="1" baseline="30000" dirty="0">
                <a:solidFill>
                  <a:srgbClr val="C00000"/>
                </a:solidFill>
                <a:latin typeface="微软雅黑" pitchFamily="34" charset="-122"/>
                <a:ea typeface="微软雅黑" pitchFamily="34" charset="-122"/>
              </a:endParaRPr>
            </a:p>
          </p:txBody>
        </p:sp>
        <p:sp>
          <p:nvSpPr>
            <p:cNvPr id="135" name="TextBox 101"/>
            <p:cNvSpPr txBox="1"/>
            <p:nvPr/>
          </p:nvSpPr>
          <p:spPr>
            <a:xfrm>
              <a:off x="4353412" y="3237962"/>
              <a:ext cx="551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10</a:t>
              </a:r>
              <a:endParaRPr lang="zh-CN" altLang="en-US" sz="2400" b="1" baseline="30000" dirty="0">
                <a:solidFill>
                  <a:srgbClr val="11576A"/>
                </a:solidFill>
                <a:latin typeface="微软雅黑" pitchFamily="34" charset="-122"/>
                <a:ea typeface="微软雅黑" pitchFamily="34" charset="-122"/>
              </a:endParaRPr>
            </a:p>
          </p:txBody>
        </p:sp>
        <p:sp>
          <p:nvSpPr>
            <p:cNvPr id="136" name="TextBox 103"/>
            <p:cNvSpPr txBox="1"/>
            <p:nvPr/>
          </p:nvSpPr>
          <p:spPr>
            <a:xfrm>
              <a:off x="4340154" y="3950618"/>
              <a:ext cx="5358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16</a:t>
              </a:r>
              <a:endParaRPr lang="zh-CN" altLang="en-US" sz="2800" b="1" baseline="30000" dirty="0">
                <a:solidFill>
                  <a:srgbClr val="11576A"/>
                </a:solidFill>
                <a:latin typeface="微软雅黑" pitchFamily="34" charset="-122"/>
                <a:ea typeface="微软雅黑" pitchFamily="34" charset="-122"/>
              </a:endParaRPr>
            </a:p>
          </p:txBody>
        </p:sp>
        <p:sp>
          <p:nvSpPr>
            <p:cNvPr id="137" name="TextBox 102"/>
            <p:cNvSpPr txBox="1"/>
            <p:nvPr/>
          </p:nvSpPr>
          <p:spPr>
            <a:xfrm>
              <a:off x="4302190" y="3601876"/>
              <a:ext cx="56108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13</a:t>
              </a:r>
              <a:endParaRPr lang="zh-CN" altLang="en-US" sz="2800" b="1" baseline="30000" dirty="0">
                <a:solidFill>
                  <a:srgbClr val="11576A"/>
                </a:solidFill>
                <a:latin typeface="微软雅黑" pitchFamily="34" charset="-122"/>
                <a:ea typeface="微软雅黑" pitchFamily="34" charset="-122"/>
              </a:endParaRPr>
            </a:p>
          </p:txBody>
        </p:sp>
        <p:sp>
          <p:nvSpPr>
            <p:cNvPr id="183" name="AutoShape 98"/>
            <p:cNvSpPr>
              <a:spLocks/>
            </p:cNvSpPr>
            <p:nvPr/>
          </p:nvSpPr>
          <p:spPr bwMode="auto">
            <a:xfrm>
              <a:off x="4235831" y="3168081"/>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sp>
        <p:nvSpPr>
          <p:cNvPr id="184" name="TextBox 79"/>
          <p:cNvSpPr txBox="1"/>
          <p:nvPr/>
        </p:nvSpPr>
        <p:spPr>
          <a:xfrm>
            <a:off x="6698811" y="4095964"/>
            <a:ext cx="78531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r>
              <a:rPr lang="en-US" altLang="zh-CN" sz="1600" b="1" baseline="30000" dirty="0">
                <a:solidFill>
                  <a:srgbClr val="C00000"/>
                </a:solidFill>
                <a:latin typeface="微软雅黑" pitchFamily="34" charset="-122"/>
                <a:ea typeface="微软雅黑" pitchFamily="34" charset="-122"/>
              </a:rPr>
              <a:t>11</a:t>
            </a:r>
            <a:endParaRPr lang="zh-CN" altLang="en-US" sz="1600" b="1" baseline="30000" dirty="0">
              <a:solidFill>
                <a:srgbClr val="C00000"/>
              </a:solidFill>
              <a:latin typeface="微软雅黑" pitchFamily="34" charset="-122"/>
              <a:ea typeface="微软雅黑" pitchFamily="34" charset="-122"/>
            </a:endParaRPr>
          </a:p>
        </p:txBody>
      </p:sp>
      <p:grpSp>
        <p:nvGrpSpPr>
          <p:cNvPr id="9" name="组合 8"/>
          <p:cNvGrpSpPr/>
          <p:nvPr/>
        </p:nvGrpSpPr>
        <p:grpSpPr>
          <a:xfrm>
            <a:off x="7252779" y="3755797"/>
            <a:ext cx="661513" cy="1477339"/>
            <a:chOff x="5280644" y="2898545"/>
            <a:chExt cx="661513" cy="1477339"/>
          </a:xfrm>
        </p:grpSpPr>
        <p:sp>
          <p:nvSpPr>
            <p:cNvPr id="142" name="TextBox 35"/>
            <p:cNvSpPr txBox="1"/>
            <p:nvPr/>
          </p:nvSpPr>
          <p:spPr>
            <a:xfrm>
              <a:off x="5416941" y="2898545"/>
              <a:ext cx="525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r>
                <a:rPr lang="en-US" altLang="zh-CN" sz="1600" b="1" baseline="30000" dirty="0">
                  <a:solidFill>
                    <a:srgbClr val="11576A"/>
                  </a:solidFill>
                  <a:latin typeface="微软雅黑" pitchFamily="34" charset="-122"/>
                  <a:ea typeface="微软雅黑" pitchFamily="34" charset="-122"/>
                </a:rPr>
                <a:t>18</a:t>
              </a:r>
              <a:endParaRPr lang="zh-CN" altLang="en-US" sz="3600" b="1" baseline="30000" dirty="0">
                <a:solidFill>
                  <a:srgbClr val="11576A"/>
                </a:solidFill>
                <a:latin typeface="微软雅黑" pitchFamily="34" charset="-122"/>
                <a:ea typeface="微软雅黑" pitchFamily="34" charset="-122"/>
              </a:endParaRPr>
            </a:p>
          </p:txBody>
        </p:sp>
        <p:sp>
          <p:nvSpPr>
            <p:cNvPr id="143" name="TextBox 103"/>
            <p:cNvSpPr txBox="1"/>
            <p:nvPr/>
          </p:nvSpPr>
          <p:spPr>
            <a:xfrm>
              <a:off x="5384030" y="3955256"/>
              <a:ext cx="5358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16</a:t>
              </a:r>
              <a:endParaRPr lang="zh-CN" altLang="en-US" sz="2800" b="1" baseline="30000" dirty="0">
                <a:solidFill>
                  <a:srgbClr val="11576A"/>
                </a:solidFill>
                <a:latin typeface="微软雅黑" pitchFamily="34" charset="-122"/>
                <a:ea typeface="微软雅黑" pitchFamily="34" charset="-122"/>
              </a:endParaRPr>
            </a:p>
          </p:txBody>
        </p:sp>
        <p:sp>
          <p:nvSpPr>
            <p:cNvPr id="144" name="TextBox 102"/>
            <p:cNvSpPr txBox="1"/>
            <p:nvPr/>
          </p:nvSpPr>
          <p:spPr>
            <a:xfrm>
              <a:off x="5346066" y="3613714"/>
              <a:ext cx="56108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13</a:t>
              </a:r>
              <a:endParaRPr lang="zh-CN" altLang="en-US" sz="2800" b="1" baseline="30000" dirty="0">
                <a:solidFill>
                  <a:srgbClr val="11576A"/>
                </a:solidFill>
                <a:latin typeface="微软雅黑" pitchFamily="34" charset="-122"/>
                <a:ea typeface="微软雅黑" pitchFamily="34" charset="-122"/>
              </a:endParaRPr>
            </a:p>
          </p:txBody>
        </p:sp>
        <p:sp>
          <p:nvSpPr>
            <p:cNvPr id="145" name="TextBox 33"/>
            <p:cNvSpPr txBox="1"/>
            <p:nvPr/>
          </p:nvSpPr>
          <p:spPr>
            <a:xfrm>
              <a:off x="5388596" y="3233547"/>
              <a:ext cx="55108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a</a:t>
              </a:r>
              <a:r>
                <a:rPr lang="en-US" altLang="zh-CN" sz="1600" b="1" baseline="30000" dirty="0">
                  <a:solidFill>
                    <a:srgbClr val="C00000"/>
                  </a:solidFill>
                  <a:latin typeface="微软雅黑" pitchFamily="34" charset="-122"/>
                  <a:ea typeface="微软雅黑" pitchFamily="34" charset="-122"/>
                </a:rPr>
                <a:t>19</a:t>
              </a:r>
              <a:endParaRPr lang="zh-CN" altLang="en-US" sz="1600" b="1" baseline="30000" dirty="0">
                <a:solidFill>
                  <a:srgbClr val="C00000"/>
                </a:solidFill>
                <a:latin typeface="微软雅黑" pitchFamily="34" charset="-122"/>
                <a:ea typeface="微软雅黑" pitchFamily="34" charset="-122"/>
              </a:endParaRPr>
            </a:p>
          </p:txBody>
        </p:sp>
        <p:sp>
          <p:nvSpPr>
            <p:cNvPr id="185" name="AutoShape 98"/>
            <p:cNvSpPr>
              <a:spLocks/>
            </p:cNvSpPr>
            <p:nvPr/>
          </p:nvSpPr>
          <p:spPr bwMode="auto">
            <a:xfrm>
              <a:off x="5280644" y="3513320"/>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10" name="组合 9"/>
          <p:cNvGrpSpPr/>
          <p:nvPr/>
        </p:nvGrpSpPr>
        <p:grpSpPr>
          <a:xfrm>
            <a:off x="7692817" y="3755797"/>
            <a:ext cx="668027" cy="1470139"/>
            <a:chOff x="5720682" y="2898545"/>
            <a:chExt cx="668027" cy="1470139"/>
          </a:xfrm>
        </p:grpSpPr>
        <p:sp>
          <p:nvSpPr>
            <p:cNvPr id="149" name="TextBox 35"/>
            <p:cNvSpPr txBox="1"/>
            <p:nvPr/>
          </p:nvSpPr>
          <p:spPr>
            <a:xfrm>
              <a:off x="5848542" y="2898545"/>
              <a:ext cx="525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r>
                <a:rPr lang="en-US" altLang="zh-CN" sz="1600" b="1" baseline="30000" dirty="0">
                  <a:solidFill>
                    <a:srgbClr val="11576A"/>
                  </a:solidFill>
                  <a:latin typeface="微软雅黑" pitchFamily="34" charset="-122"/>
                  <a:ea typeface="微软雅黑" pitchFamily="34" charset="-122"/>
                </a:rPr>
                <a:t>18</a:t>
              </a:r>
              <a:endParaRPr lang="zh-CN" altLang="en-US" sz="3600" b="1" baseline="30000" dirty="0">
                <a:solidFill>
                  <a:srgbClr val="11576A"/>
                </a:solidFill>
                <a:latin typeface="微软雅黑" pitchFamily="34" charset="-122"/>
                <a:ea typeface="微软雅黑" pitchFamily="34" charset="-122"/>
              </a:endParaRPr>
            </a:p>
          </p:txBody>
        </p:sp>
        <p:sp>
          <p:nvSpPr>
            <p:cNvPr id="150" name="TextBox 103"/>
            <p:cNvSpPr txBox="1"/>
            <p:nvPr/>
          </p:nvSpPr>
          <p:spPr>
            <a:xfrm>
              <a:off x="5815631" y="3948056"/>
              <a:ext cx="5358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d</a:t>
              </a:r>
              <a:r>
                <a:rPr lang="en-US" altLang="zh-CN" sz="1600" b="1" baseline="30000" dirty="0">
                  <a:solidFill>
                    <a:srgbClr val="11576A"/>
                  </a:solidFill>
                  <a:latin typeface="微软雅黑" pitchFamily="34" charset="-122"/>
                  <a:ea typeface="微软雅黑" pitchFamily="34" charset="-122"/>
                </a:rPr>
                <a:t>16</a:t>
              </a:r>
              <a:endParaRPr lang="zh-CN" altLang="en-US" sz="2800" b="1" baseline="30000" dirty="0">
                <a:solidFill>
                  <a:srgbClr val="11576A"/>
                </a:solidFill>
                <a:latin typeface="微软雅黑" pitchFamily="34" charset="-122"/>
                <a:ea typeface="微软雅黑" pitchFamily="34" charset="-122"/>
              </a:endParaRPr>
            </a:p>
          </p:txBody>
        </p:sp>
        <p:sp>
          <p:nvSpPr>
            <p:cNvPr id="152" name="TextBox 33"/>
            <p:cNvSpPr txBox="1"/>
            <p:nvPr/>
          </p:nvSpPr>
          <p:spPr>
            <a:xfrm>
              <a:off x="5820197" y="3233547"/>
              <a:ext cx="55108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19</a:t>
              </a:r>
              <a:endParaRPr lang="zh-CN" altLang="en-US" sz="1600" b="1" baseline="30000" dirty="0">
                <a:solidFill>
                  <a:srgbClr val="11576A"/>
                </a:solidFill>
                <a:latin typeface="微软雅黑" pitchFamily="34" charset="-122"/>
                <a:ea typeface="微软雅黑" pitchFamily="34" charset="-122"/>
              </a:endParaRPr>
            </a:p>
          </p:txBody>
        </p:sp>
        <p:sp>
          <p:nvSpPr>
            <p:cNvPr id="153" name="TextBox 32"/>
            <p:cNvSpPr txBox="1"/>
            <p:nvPr/>
          </p:nvSpPr>
          <p:spPr>
            <a:xfrm>
              <a:off x="5854332" y="3622456"/>
              <a:ext cx="53437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b</a:t>
              </a:r>
              <a:r>
                <a:rPr lang="en-US" altLang="zh-CN" sz="1600" b="1" baseline="30000" dirty="0">
                  <a:solidFill>
                    <a:srgbClr val="C00000"/>
                  </a:solidFill>
                  <a:latin typeface="微软雅黑" pitchFamily="34" charset="-122"/>
                  <a:ea typeface="微软雅黑" pitchFamily="34" charset="-122"/>
                </a:rPr>
                <a:t>20</a:t>
              </a:r>
              <a:endParaRPr lang="zh-CN" altLang="en-US" sz="4000" b="1" baseline="30000" dirty="0">
                <a:solidFill>
                  <a:srgbClr val="C00000"/>
                </a:solidFill>
                <a:latin typeface="微软雅黑" pitchFamily="34" charset="-122"/>
                <a:ea typeface="微软雅黑" pitchFamily="34" charset="-122"/>
              </a:endParaRPr>
            </a:p>
          </p:txBody>
        </p:sp>
        <p:sp>
          <p:nvSpPr>
            <p:cNvPr id="186" name="AutoShape 98"/>
            <p:cNvSpPr>
              <a:spLocks/>
            </p:cNvSpPr>
            <p:nvPr/>
          </p:nvSpPr>
          <p:spPr bwMode="auto">
            <a:xfrm>
              <a:off x="5720682" y="3897543"/>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11" name="组合 10"/>
          <p:cNvGrpSpPr/>
          <p:nvPr/>
        </p:nvGrpSpPr>
        <p:grpSpPr>
          <a:xfrm>
            <a:off x="8246542" y="3739510"/>
            <a:ext cx="689696" cy="1490490"/>
            <a:chOff x="6274409" y="2882260"/>
            <a:chExt cx="689696" cy="1490490"/>
          </a:xfrm>
        </p:grpSpPr>
        <p:sp>
          <p:nvSpPr>
            <p:cNvPr id="154" name="TextBox 35"/>
            <p:cNvSpPr txBox="1"/>
            <p:nvPr/>
          </p:nvSpPr>
          <p:spPr>
            <a:xfrm>
              <a:off x="6379892" y="2882260"/>
              <a:ext cx="52521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e</a:t>
              </a:r>
              <a:r>
                <a:rPr lang="en-US" altLang="zh-CN" sz="1600" b="1" baseline="30000" dirty="0">
                  <a:solidFill>
                    <a:srgbClr val="11576A"/>
                  </a:solidFill>
                  <a:latin typeface="微软雅黑" pitchFamily="34" charset="-122"/>
                  <a:ea typeface="微软雅黑" pitchFamily="34" charset="-122"/>
                </a:rPr>
                <a:t>18</a:t>
              </a:r>
              <a:endParaRPr lang="zh-CN" altLang="en-US" sz="3600" b="1" baseline="30000" dirty="0">
                <a:solidFill>
                  <a:srgbClr val="11576A"/>
                </a:solidFill>
                <a:latin typeface="微软雅黑" pitchFamily="34" charset="-122"/>
                <a:ea typeface="微软雅黑" pitchFamily="34" charset="-122"/>
              </a:endParaRPr>
            </a:p>
          </p:txBody>
        </p:sp>
        <p:sp>
          <p:nvSpPr>
            <p:cNvPr id="155" name="TextBox 33"/>
            <p:cNvSpPr txBox="1"/>
            <p:nvPr/>
          </p:nvSpPr>
          <p:spPr>
            <a:xfrm>
              <a:off x="6351547" y="3217262"/>
              <a:ext cx="55108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19</a:t>
              </a:r>
              <a:endParaRPr lang="zh-CN" altLang="en-US" sz="1600" b="1" baseline="30000" dirty="0">
                <a:solidFill>
                  <a:srgbClr val="11576A"/>
                </a:solidFill>
                <a:latin typeface="微软雅黑" pitchFamily="34" charset="-122"/>
                <a:ea typeface="微软雅黑" pitchFamily="34" charset="-122"/>
              </a:endParaRPr>
            </a:p>
          </p:txBody>
        </p:sp>
        <p:sp>
          <p:nvSpPr>
            <p:cNvPr id="156" name="TextBox 32"/>
            <p:cNvSpPr txBox="1"/>
            <p:nvPr/>
          </p:nvSpPr>
          <p:spPr>
            <a:xfrm>
              <a:off x="6385682" y="3606171"/>
              <a:ext cx="53437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20</a:t>
              </a:r>
              <a:endParaRPr lang="zh-CN" altLang="en-US" sz="4000" b="1" baseline="30000" dirty="0">
                <a:solidFill>
                  <a:srgbClr val="11576A"/>
                </a:solidFill>
                <a:latin typeface="微软雅黑" pitchFamily="34" charset="-122"/>
                <a:ea typeface="微软雅黑" pitchFamily="34" charset="-122"/>
              </a:endParaRPr>
            </a:p>
          </p:txBody>
        </p:sp>
        <p:sp>
          <p:nvSpPr>
            <p:cNvPr id="157" name="TextBox 31"/>
            <p:cNvSpPr txBox="1"/>
            <p:nvPr/>
          </p:nvSpPr>
          <p:spPr>
            <a:xfrm>
              <a:off x="6354279" y="3952122"/>
              <a:ext cx="60982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c</a:t>
              </a:r>
              <a:r>
                <a:rPr lang="en-US" altLang="zh-CN" sz="1600" b="1" baseline="30000" dirty="0">
                  <a:solidFill>
                    <a:srgbClr val="C00000"/>
                  </a:solidFill>
                  <a:latin typeface="微软雅黑" pitchFamily="34" charset="-122"/>
                  <a:ea typeface="微软雅黑" pitchFamily="34" charset="-122"/>
                </a:rPr>
                <a:t>20</a:t>
              </a:r>
              <a:endParaRPr lang="zh-CN" altLang="en-US" sz="1600" b="1" baseline="30000" dirty="0">
                <a:solidFill>
                  <a:srgbClr val="C00000"/>
                </a:solidFill>
                <a:latin typeface="微软雅黑" pitchFamily="34" charset="-122"/>
                <a:ea typeface="微软雅黑" pitchFamily="34" charset="-122"/>
              </a:endParaRPr>
            </a:p>
          </p:txBody>
        </p:sp>
        <p:sp>
          <p:nvSpPr>
            <p:cNvPr id="187" name="AutoShape 98"/>
            <p:cNvSpPr>
              <a:spLocks/>
            </p:cNvSpPr>
            <p:nvPr/>
          </p:nvSpPr>
          <p:spPr bwMode="auto">
            <a:xfrm>
              <a:off x="6274409" y="4246936"/>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grpSp>
        <p:nvGrpSpPr>
          <p:cNvPr id="12" name="组合 11"/>
          <p:cNvGrpSpPr/>
          <p:nvPr/>
        </p:nvGrpSpPr>
        <p:grpSpPr>
          <a:xfrm>
            <a:off x="8664113" y="3759055"/>
            <a:ext cx="718679" cy="1458458"/>
            <a:chOff x="6691978" y="2901805"/>
            <a:chExt cx="718679" cy="1458458"/>
          </a:xfrm>
        </p:grpSpPr>
        <p:sp>
          <p:nvSpPr>
            <p:cNvPr id="158" name="TextBox 33"/>
            <p:cNvSpPr txBox="1"/>
            <p:nvPr/>
          </p:nvSpPr>
          <p:spPr>
            <a:xfrm>
              <a:off x="6798099" y="3211975"/>
              <a:ext cx="551088"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a</a:t>
              </a:r>
              <a:r>
                <a:rPr lang="en-US" altLang="zh-CN" sz="1600" b="1" baseline="30000" dirty="0">
                  <a:solidFill>
                    <a:srgbClr val="11576A"/>
                  </a:solidFill>
                  <a:latin typeface="微软雅黑" pitchFamily="34" charset="-122"/>
                  <a:ea typeface="微软雅黑" pitchFamily="34" charset="-122"/>
                </a:rPr>
                <a:t>19</a:t>
              </a:r>
              <a:endParaRPr lang="zh-CN" altLang="en-US" sz="1600" b="1" baseline="30000" dirty="0">
                <a:solidFill>
                  <a:srgbClr val="11576A"/>
                </a:solidFill>
                <a:latin typeface="微软雅黑" pitchFamily="34" charset="-122"/>
                <a:ea typeface="微软雅黑" pitchFamily="34" charset="-122"/>
              </a:endParaRPr>
            </a:p>
          </p:txBody>
        </p:sp>
        <p:sp>
          <p:nvSpPr>
            <p:cNvPr id="159" name="TextBox 32"/>
            <p:cNvSpPr txBox="1"/>
            <p:nvPr/>
          </p:nvSpPr>
          <p:spPr>
            <a:xfrm>
              <a:off x="6832234" y="3600884"/>
              <a:ext cx="534377"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b</a:t>
              </a:r>
              <a:r>
                <a:rPr lang="en-US" altLang="zh-CN" sz="1600" b="1" baseline="30000" dirty="0">
                  <a:solidFill>
                    <a:srgbClr val="11576A"/>
                  </a:solidFill>
                  <a:latin typeface="微软雅黑" pitchFamily="34" charset="-122"/>
                  <a:ea typeface="微软雅黑" pitchFamily="34" charset="-122"/>
                </a:rPr>
                <a:t>20</a:t>
              </a:r>
              <a:endParaRPr lang="zh-CN" altLang="en-US" sz="4000" b="1" baseline="30000" dirty="0">
                <a:solidFill>
                  <a:srgbClr val="11576A"/>
                </a:solidFill>
                <a:latin typeface="微软雅黑" pitchFamily="34" charset="-122"/>
                <a:ea typeface="微软雅黑" pitchFamily="34" charset="-122"/>
              </a:endParaRPr>
            </a:p>
          </p:txBody>
        </p:sp>
        <p:sp>
          <p:nvSpPr>
            <p:cNvPr id="160" name="TextBox 31"/>
            <p:cNvSpPr txBox="1"/>
            <p:nvPr/>
          </p:nvSpPr>
          <p:spPr>
            <a:xfrm>
              <a:off x="6800831" y="3939635"/>
              <a:ext cx="609826"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c</a:t>
              </a:r>
              <a:r>
                <a:rPr lang="en-US" altLang="zh-CN" sz="1600" b="1" baseline="30000" dirty="0">
                  <a:solidFill>
                    <a:srgbClr val="11576A"/>
                  </a:solidFill>
                  <a:latin typeface="微软雅黑" pitchFamily="34" charset="-122"/>
                  <a:ea typeface="微软雅黑" pitchFamily="34" charset="-122"/>
                </a:rPr>
                <a:t>20</a:t>
              </a:r>
              <a:endParaRPr lang="zh-CN" altLang="en-US" sz="1600" b="1" baseline="30000" dirty="0">
                <a:solidFill>
                  <a:srgbClr val="11576A"/>
                </a:solidFill>
                <a:latin typeface="微软雅黑" pitchFamily="34" charset="-122"/>
                <a:ea typeface="微软雅黑" pitchFamily="34" charset="-122"/>
              </a:endParaRPr>
            </a:p>
          </p:txBody>
        </p:sp>
        <p:sp>
          <p:nvSpPr>
            <p:cNvPr id="161" name="TextBox 30"/>
            <p:cNvSpPr txBox="1"/>
            <p:nvPr/>
          </p:nvSpPr>
          <p:spPr>
            <a:xfrm>
              <a:off x="6815788" y="2901805"/>
              <a:ext cx="551324"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C00000"/>
                  </a:solidFill>
                  <a:latin typeface="微软雅黑" pitchFamily="34" charset="-122"/>
                  <a:ea typeface="微软雅黑" pitchFamily="34" charset="-122"/>
                </a:rPr>
                <a:t>d</a:t>
              </a:r>
              <a:r>
                <a:rPr lang="en-US" altLang="zh-CN" sz="1600" b="1" baseline="30000" dirty="0">
                  <a:solidFill>
                    <a:srgbClr val="C00000"/>
                  </a:solidFill>
                  <a:latin typeface="微软雅黑" pitchFamily="34" charset="-122"/>
                  <a:ea typeface="微软雅黑" pitchFamily="34" charset="-122"/>
                </a:rPr>
                <a:t>17</a:t>
              </a:r>
              <a:endParaRPr lang="zh-CN" altLang="en-US" sz="4400" b="1" baseline="30000" dirty="0">
                <a:solidFill>
                  <a:srgbClr val="C00000"/>
                </a:solidFill>
                <a:latin typeface="微软雅黑" pitchFamily="34" charset="-122"/>
                <a:ea typeface="微软雅黑" pitchFamily="34" charset="-122"/>
              </a:endParaRPr>
            </a:p>
          </p:txBody>
        </p:sp>
        <p:sp>
          <p:nvSpPr>
            <p:cNvPr id="188" name="AutoShape 98"/>
            <p:cNvSpPr>
              <a:spLocks/>
            </p:cNvSpPr>
            <p:nvPr/>
          </p:nvSpPr>
          <p:spPr bwMode="auto">
            <a:xfrm>
              <a:off x="6691978" y="3182044"/>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000099"/>
                </a:solidFill>
              </a:endParaRPr>
            </a:p>
          </p:txBody>
        </p:sp>
      </p:grpSp>
      <p:sp>
        <p:nvSpPr>
          <p:cNvPr id="16" name="文本框 15">
            <a:extLst>
              <a:ext uri="{FF2B5EF4-FFF2-40B4-BE49-F238E27FC236}">
                <a16:creationId xmlns:a16="http://schemas.microsoft.com/office/drawing/2014/main" id="{8C77F478-ACBD-AC3B-76E2-36BF13D00DE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7" name="标题 8">
            <a:extLst>
              <a:ext uri="{FF2B5EF4-FFF2-40B4-BE49-F238E27FC236}">
                <a16:creationId xmlns:a16="http://schemas.microsoft.com/office/drawing/2014/main" id="{657E7C63-2025-205F-3E7C-E99D4655443D}"/>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LFU</a:t>
            </a:r>
            <a:r>
              <a:rPr lang="zh-CN" altLang="en-US" b="0" kern="0" dirty="0"/>
              <a:t>算法示例</a:t>
            </a:r>
          </a:p>
        </p:txBody>
      </p:sp>
    </p:spTree>
    <p:extLst>
      <p:ext uri="{BB962C8B-B14F-4D97-AF65-F5344CB8AC3E}">
        <p14:creationId xmlns:p14="http://schemas.microsoft.com/office/powerpoint/2010/main" val="116124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79"/>
                                        </p:tgtEl>
                                        <p:attrNameLst>
                                          <p:attrName>style.visibility</p:attrName>
                                        </p:attrNameLst>
                                      </p:cBhvr>
                                      <p:to>
                                        <p:strVal val="visible"/>
                                      </p:to>
                                    </p:set>
                                  </p:childTnLst>
                                </p:cTn>
                              </p:par>
                              <p:par>
                                <p:cTn id="11" presetID="35" presetClass="emph" presetSubtype="0" repeatCount="indefinite" fill="hold" grpId="1" nodeType="withEffect">
                                  <p:stCondLst>
                                    <p:cond delay="0"/>
                                  </p:stCondLst>
                                  <p:childTnLst>
                                    <p:anim calcmode="discrete" valueType="str">
                                      <p:cBhvr>
                                        <p:cTn id="12" dur="500" fill="hold"/>
                                        <p:tgtEl>
                                          <p:spTgt spid="179"/>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2" nodeType="clickEffect">
                                  <p:stCondLst>
                                    <p:cond delay="0"/>
                                  </p:stCondLst>
                                  <p:childTnLst>
                                    <p:set>
                                      <p:cBhvr>
                                        <p:cTn id="16" dur="1" fill="hold">
                                          <p:stCondLst>
                                            <p:cond delay="0"/>
                                          </p:stCondLst>
                                        </p:cTn>
                                        <p:tgtEl>
                                          <p:spTgt spid="179"/>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180"/>
                                        </p:tgtEl>
                                        <p:attrNameLst>
                                          <p:attrName>style.visibility</p:attrName>
                                        </p:attrNameLst>
                                      </p:cBhvr>
                                      <p:to>
                                        <p:strVal val="visible"/>
                                      </p:to>
                                    </p:set>
                                  </p:childTnLst>
                                </p:cTn>
                              </p:par>
                              <p:par>
                                <p:cTn id="23" presetID="35" presetClass="emph" presetSubtype="0" repeatCount="indefinite" fill="hold" grpId="1" nodeType="withEffect">
                                  <p:stCondLst>
                                    <p:cond delay="0"/>
                                  </p:stCondLst>
                                  <p:childTnLst>
                                    <p:anim calcmode="discrete" valueType="str">
                                      <p:cBhvr>
                                        <p:cTn id="24" dur="500" fill="hold"/>
                                        <p:tgtEl>
                                          <p:spTgt spid="180"/>
                                        </p:tgtEl>
                                        <p:attrNameLst>
                                          <p:attrName>style.visibility</p:attrName>
                                        </p:attrNameLst>
                                      </p:cBhvr>
                                      <p:tavLst>
                                        <p:tav tm="0">
                                          <p:val>
                                            <p:strVal val="hidden"/>
                                          </p:val>
                                        </p:tav>
                                        <p:tav tm="50000">
                                          <p:val>
                                            <p:strVal val="visible"/>
                                          </p:val>
                                        </p:tav>
                                      </p:tavLst>
                                    </p:anim>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2" nodeType="clickEffect">
                                  <p:stCondLst>
                                    <p:cond delay="0"/>
                                  </p:stCondLst>
                                  <p:childTnLst>
                                    <p:set>
                                      <p:cBhvr>
                                        <p:cTn id="28" dur="1" fill="hold">
                                          <p:stCondLst>
                                            <p:cond delay="0"/>
                                          </p:stCondLst>
                                        </p:cTn>
                                        <p:tgtEl>
                                          <p:spTgt spid="180"/>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181"/>
                                        </p:tgtEl>
                                        <p:attrNameLst>
                                          <p:attrName>style.visibility</p:attrName>
                                        </p:attrNameLst>
                                      </p:cBhvr>
                                      <p:to>
                                        <p:strVal val="visible"/>
                                      </p:to>
                                    </p:set>
                                  </p:childTnLst>
                                </p:cTn>
                              </p:par>
                              <p:par>
                                <p:cTn id="35" presetID="35" presetClass="emph" presetSubtype="0" repeatCount="indefinite" fill="hold" grpId="1" nodeType="withEffect">
                                  <p:stCondLst>
                                    <p:cond delay="0"/>
                                  </p:stCondLst>
                                  <p:childTnLst>
                                    <p:anim calcmode="discrete" valueType="str">
                                      <p:cBhvr>
                                        <p:cTn id="36" dur="500" fill="hold"/>
                                        <p:tgtEl>
                                          <p:spTgt spid="181"/>
                                        </p:tgtEl>
                                        <p:attrNameLst>
                                          <p:attrName>style.visibility</p:attrName>
                                        </p:attrNameLst>
                                      </p:cBhvr>
                                      <p:tavLst>
                                        <p:tav tm="0">
                                          <p:val>
                                            <p:strVal val="hidden"/>
                                          </p:val>
                                        </p:tav>
                                        <p:tav tm="50000">
                                          <p:val>
                                            <p:strVal val="visible"/>
                                          </p:val>
                                        </p:tav>
                                      </p:tavLst>
                                    </p:anim>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2" nodeType="clickEffect">
                                  <p:stCondLst>
                                    <p:cond delay="0"/>
                                  </p:stCondLst>
                                  <p:childTnLst>
                                    <p:set>
                                      <p:cBhvr>
                                        <p:cTn id="40" dur="1" fill="hold">
                                          <p:stCondLst>
                                            <p:cond delay="0"/>
                                          </p:stCondLst>
                                        </p:cTn>
                                        <p:tgtEl>
                                          <p:spTgt spid="181"/>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82"/>
                                        </p:tgtEl>
                                        <p:attrNameLst>
                                          <p:attrName>style.visibility</p:attrName>
                                        </p:attrNameLst>
                                      </p:cBhvr>
                                      <p:to>
                                        <p:strVal val="visible"/>
                                      </p:to>
                                    </p:set>
                                  </p:childTnLst>
                                </p:cTn>
                              </p:par>
                              <p:par>
                                <p:cTn id="47" presetID="35" presetClass="emph" presetSubtype="0" repeatCount="indefinite" fill="hold" grpId="1" nodeType="withEffect">
                                  <p:stCondLst>
                                    <p:cond delay="0"/>
                                  </p:stCondLst>
                                  <p:childTnLst>
                                    <p:anim calcmode="discrete" valueType="str">
                                      <p:cBhvr>
                                        <p:cTn id="48" dur="500" fill="hold"/>
                                        <p:tgtEl>
                                          <p:spTgt spid="182"/>
                                        </p:tgtEl>
                                        <p:attrNameLst>
                                          <p:attrName>style.visibility</p:attrName>
                                        </p:attrNameLst>
                                      </p:cBhvr>
                                      <p:tavLst>
                                        <p:tav tm="0">
                                          <p:val>
                                            <p:strVal val="hidden"/>
                                          </p:val>
                                        </p:tav>
                                        <p:tav tm="50000">
                                          <p:val>
                                            <p:strVal val="visible"/>
                                          </p:val>
                                        </p:tav>
                                      </p:tavLst>
                                    </p:anim>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2" nodeType="clickEffect">
                                  <p:stCondLst>
                                    <p:cond delay="0"/>
                                  </p:stCondLst>
                                  <p:childTnLst>
                                    <p:set>
                                      <p:cBhvr>
                                        <p:cTn id="52" dur="1" fill="hold">
                                          <p:stCondLst>
                                            <p:cond delay="0"/>
                                          </p:stCondLst>
                                        </p:cTn>
                                        <p:tgtEl>
                                          <p:spTgt spid="182"/>
                                        </p:tgtEl>
                                        <p:attrNameLst>
                                          <p:attrName>style.visibility</p:attrName>
                                        </p:attrNameLst>
                                      </p:cBhvr>
                                      <p:to>
                                        <p:strVal val="hidden"/>
                                      </p:to>
                                    </p:set>
                                  </p:childTnLst>
                                </p:cTn>
                              </p:par>
                              <p:par>
                                <p:cTn id="53" presetID="10" presetClass="entr" presetSubtype="0" fill="hold" nodeType="withEffect">
                                  <p:stCondLst>
                                    <p:cond delay="0"/>
                                  </p:stCondLst>
                                  <p:childTnLst>
                                    <p:set>
                                      <p:cBhvr>
                                        <p:cTn id="54" dur="1" fill="hold">
                                          <p:stCondLst>
                                            <p:cond delay="0"/>
                                          </p:stCondLst>
                                        </p:cTn>
                                        <p:tgtEl>
                                          <p:spTgt spid="162"/>
                                        </p:tgtEl>
                                        <p:attrNameLst>
                                          <p:attrName>style.visibility</p:attrName>
                                        </p:attrNameLst>
                                      </p:cBhvr>
                                      <p:to>
                                        <p:strVal val="visible"/>
                                      </p:to>
                                    </p:set>
                                    <p:animEffect transition="in" filter="fade">
                                      <p:cBhvr>
                                        <p:cTn id="55" dur="500"/>
                                        <p:tgtEl>
                                          <p:spTgt spid="16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500"/>
                                        <p:tgtEl>
                                          <p:spTgt spid="7"/>
                                        </p:tgtEl>
                                      </p:cBhvr>
                                    </p:animEffec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184"/>
                                        </p:tgtEl>
                                        <p:attrNameLst>
                                          <p:attrName>style.visibility</p:attrName>
                                        </p:attrNameLst>
                                      </p:cBhvr>
                                      <p:to>
                                        <p:strVal val="visible"/>
                                      </p:to>
                                    </p:set>
                                  </p:childTnLst>
                                </p:cTn>
                              </p:par>
                              <p:par>
                                <p:cTn id="69" presetID="35" presetClass="emph" presetSubtype="0" repeatCount="indefinite" fill="hold" grpId="1" nodeType="withEffect">
                                  <p:stCondLst>
                                    <p:cond delay="0"/>
                                  </p:stCondLst>
                                  <p:childTnLst>
                                    <p:anim calcmode="discrete" valueType="str">
                                      <p:cBhvr>
                                        <p:cTn id="70" dur="500" fill="hold"/>
                                        <p:tgtEl>
                                          <p:spTgt spid="184"/>
                                        </p:tgtEl>
                                        <p:attrNameLst>
                                          <p:attrName>style.visibility</p:attrName>
                                        </p:attrNameLst>
                                      </p:cBhvr>
                                      <p:tavLst>
                                        <p:tav tm="0">
                                          <p:val>
                                            <p:strVal val="hidden"/>
                                          </p:val>
                                        </p:tav>
                                        <p:tav tm="50000">
                                          <p:val>
                                            <p:strVal val="visible"/>
                                          </p:val>
                                        </p:tav>
                                      </p:tavLst>
                                    </p:anim>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2" nodeType="clickEffect">
                                  <p:stCondLst>
                                    <p:cond delay="0"/>
                                  </p:stCondLst>
                                  <p:childTnLst>
                                    <p:set>
                                      <p:cBhvr>
                                        <p:cTn id="74" dur="1" fill="hold">
                                          <p:stCondLst>
                                            <p:cond delay="0"/>
                                          </p:stCondLst>
                                        </p:cTn>
                                        <p:tgtEl>
                                          <p:spTgt spid="184"/>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165"/>
                                        </p:tgtEl>
                                        <p:attrNameLst>
                                          <p:attrName>style.visibility</p:attrName>
                                        </p:attrNameLst>
                                      </p:cBhvr>
                                      <p:to>
                                        <p:strVal val="visible"/>
                                      </p:to>
                                    </p:set>
                                    <p:animEffect transition="in" filter="fade">
                                      <p:cBhvr>
                                        <p:cTn id="77" dur="500"/>
                                        <p:tgtEl>
                                          <p:spTgt spid="16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fade">
                                      <p:cBhvr>
                                        <p:cTn id="82" dur="500"/>
                                        <p:tgtEl>
                                          <p:spTgt spid="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68"/>
                                        </p:tgtEl>
                                        <p:attrNameLst>
                                          <p:attrName>style.visibility</p:attrName>
                                        </p:attrNameLst>
                                      </p:cBhvr>
                                      <p:to>
                                        <p:strVal val="visible"/>
                                      </p:to>
                                    </p:set>
                                    <p:animEffect transition="in" filter="fade">
                                      <p:cBhvr>
                                        <p:cTn id="87" dur="500"/>
                                        <p:tgtEl>
                                          <p:spTgt spid="16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fade">
                                      <p:cBhvr>
                                        <p:cTn id="92" dur="500"/>
                                        <p:tgtEl>
                                          <p:spTgt spid="10"/>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71"/>
                                        </p:tgtEl>
                                        <p:attrNameLst>
                                          <p:attrName>style.visibility</p:attrName>
                                        </p:attrNameLst>
                                      </p:cBhvr>
                                      <p:to>
                                        <p:strVal val="visible"/>
                                      </p:to>
                                    </p:set>
                                    <p:animEffect transition="in" filter="fade">
                                      <p:cBhvr>
                                        <p:cTn id="97" dur="500"/>
                                        <p:tgtEl>
                                          <p:spTgt spid="17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1"/>
                                        </p:tgtEl>
                                        <p:attrNameLst>
                                          <p:attrName>style.visibility</p:attrName>
                                        </p:attrNameLst>
                                      </p:cBhvr>
                                      <p:to>
                                        <p:strVal val="visible"/>
                                      </p:to>
                                    </p:set>
                                    <p:animEffect transition="in" filter="fade">
                                      <p:cBhvr>
                                        <p:cTn id="102" dur="500"/>
                                        <p:tgtEl>
                                          <p:spTgt spid="11"/>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74"/>
                                        </p:tgtEl>
                                        <p:attrNameLst>
                                          <p:attrName>style.visibility</p:attrName>
                                        </p:attrNameLst>
                                      </p:cBhvr>
                                      <p:to>
                                        <p:strVal val="visible"/>
                                      </p:to>
                                    </p:set>
                                    <p:animEffect transition="in" filter="fade">
                                      <p:cBhvr>
                                        <p:cTn id="107" dur="500"/>
                                        <p:tgtEl>
                                          <p:spTgt spid="174"/>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2"/>
                                        </p:tgtEl>
                                        <p:attrNameLst>
                                          <p:attrName>style.visibility</p:attrName>
                                        </p:attrNameLst>
                                      </p:cBhvr>
                                      <p:to>
                                        <p:strVal val="visible"/>
                                      </p:to>
                                    </p:set>
                                    <p:animEffect transition="in" filter="fade">
                                      <p:cBhvr>
                                        <p:cTn id="1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P spid="179" grpId="1"/>
      <p:bldP spid="179" grpId="2"/>
      <p:bldP spid="180" grpId="0"/>
      <p:bldP spid="180" grpId="1"/>
      <p:bldP spid="180" grpId="2"/>
      <p:bldP spid="181" grpId="0"/>
      <p:bldP spid="181" grpId="1"/>
      <p:bldP spid="181" grpId="2"/>
      <p:bldP spid="182" grpId="0"/>
      <p:bldP spid="182" grpId="1"/>
      <p:bldP spid="182" grpId="2"/>
      <p:bldP spid="184" grpId="0"/>
      <p:bldP spid="184" grpId="1"/>
      <p:bldP spid="184" grpId="2"/>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731520" y="1553062"/>
            <a:ext cx="10752137" cy="5010150"/>
          </a:xfrm>
          <a:prstGeom prst="rect">
            <a:avLst/>
          </a:prstGeom>
        </p:spPr>
        <p:txBody>
          <a:bodyPr/>
          <a:lstStyle/>
          <a:p>
            <a:r>
              <a:rPr lang="zh-CN" altLang="en-US" dirty="0"/>
              <a:t>计数器计量的是虚拟地址还是物理地址？</a:t>
            </a:r>
            <a:endParaRPr lang="en-US" altLang="zh-CN" dirty="0"/>
          </a:p>
          <a:p>
            <a:r>
              <a:rPr lang="zh-CN" altLang="en-US" dirty="0"/>
              <a:t>计数器使用多少个</a:t>
            </a:r>
            <a:r>
              <a:rPr lang="en-US" altLang="zh-CN" dirty="0"/>
              <a:t>bit</a:t>
            </a:r>
            <a:r>
              <a:rPr lang="zh-CN" altLang="en-US" dirty="0"/>
              <a:t>？</a:t>
            </a:r>
            <a:endParaRPr lang="en-US" altLang="zh-CN" dirty="0"/>
          </a:p>
          <a:p>
            <a:r>
              <a:rPr lang="zh-CN" altLang="en-US" dirty="0"/>
              <a:t>计数器是不是需要溢出？</a:t>
            </a:r>
            <a:endParaRPr lang="en-US" altLang="zh-CN" dirty="0"/>
          </a:p>
          <a:p>
            <a:r>
              <a:rPr lang="zh-CN" altLang="en-US" dirty="0"/>
              <a:t>什么时机适合计数器清</a:t>
            </a:r>
            <a:r>
              <a:rPr lang="en-US" altLang="zh-CN" dirty="0"/>
              <a:t>0</a:t>
            </a:r>
            <a:r>
              <a:rPr lang="zh-CN" altLang="en-US" dirty="0"/>
              <a:t>？</a:t>
            </a:r>
          </a:p>
        </p:txBody>
      </p:sp>
      <p:pic>
        <p:nvPicPr>
          <p:cNvPr id="8" name="图片 7">
            <a:extLst>
              <a:ext uri="{FF2B5EF4-FFF2-40B4-BE49-F238E27FC236}">
                <a16:creationId xmlns:a16="http://schemas.microsoft.com/office/drawing/2014/main" id="{286CACB5-DC0E-2307-4B8E-34637C586767}"/>
              </a:ext>
            </a:extLst>
          </p:cNvPr>
          <p:cNvPicPr>
            <a:picLocks noChangeAspect="1"/>
          </p:cNvPicPr>
          <p:nvPr/>
        </p:nvPicPr>
        <p:blipFill>
          <a:blip r:embed="rId3"/>
          <a:stretch>
            <a:fillRect/>
          </a:stretch>
        </p:blipFill>
        <p:spPr>
          <a:xfrm>
            <a:off x="2628900" y="3876675"/>
            <a:ext cx="6934200" cy="1333500"/>
          </a:xfrm>
          <a:prstGeom prst="rect">
            <a:avLst/>
          </a:prstGeom>
        </p:spPr>
      </p:pic>
      <p:sp>
        <p:nvSpPr>
          <p:cNvPr id="10" name="文本框 9">
            <a:extLst>
              <a:ext uri="{FF2B5EF4-FFF2-40B4-BE49-F238E27FC236}">
                <a16:creationId xmlns:a16="http://schemas.microsoft.com/office/drawing/2014/main" id="{3FBCE7E1-0D6A-B411-E3CC-7A732BFCC0C2}"/>
              </a:ext>
            </a:extLst>
          </p:cNvPr>
          <p:cNvSpPr txBox="1"/>
          <p:nvPr/>
        </p:nvSpPr>
        <p:spPr>
          <a:xfrm>
            <a:off x="2730500" y="5334298"/>
            <a:ext cx="7469956" cy="646331"/>
          </a:xfrm>
          <a:prstGeom prst="rect">
            <a:avLst/>
          </a:prstGeom>
          <a:noFill/>
        </p:spPr>
        <p:txBody>
          <a:bodyPr wrap="square">
            <a:spAutoFit/>
          </a:bodyPr>
          <a:lstStyle/>
          <a:p>
            <a:r>
              <a:rPr lang="zh-CN" altLang="en-US" dirty="0"/>
              <a:t>https://images.nvidia.com/content/volta-architecture/pdf/volta-architecture-whitepaper.pdf</a:t>
            </a:r>
          </a:p>
        </p:txBody>
      </p:sp>
      <p:sp>
        <p:nvSpPr>
          <p:cNvPr id="7" name="文本框 6">
            <a:extLst>
              <a:ext uri="{FF2B5EF4-FFF2-40B4-BE49-F238E27FC236}">
                <a16:creationId xmlns:a16="http://schemas.microsoft.com/office/drawing/2014/main" id="{555E0124-A492-737F-9AB3-7AF21ED4B28F}"/>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9" name="标题 8">
            <a:extLst>
              <a:ext uri="{FF2B5EF4-FFF2-40B4-BE49-F238E27FC236}">
                <a16:creationId xmlns:a16="http://schemas.microsoft.com/office/drawing/2014/main" id="{EE3619A7-FB56-21AE-A2FD-A7534B5BC0AA}"/>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LFU</a:t>
            </a:r>
            <a:r>
              <a:rPr lang="zh-CN" altLang="en-US" b="0" kern="0" dirty="0"/>
              <a:t>算法的硬件需求</a:t>
            </a:r>
          </a:p>
        </p:txBody>
      </p:sp>
    </p:spTree>
    <p:extLst>
      <p:ext uri="{BB962C8B-B14F-4D97-AF65-F5344CB8AC3E}">
        <p14:creationId xmlns:p14="http://schemas.microsoft.com/office/powerpoint/2010/main" val="41648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Oval 3"/>
          <p:cNvSpPr>
            <a:spLocks noChangeArrowheads="1"/>
          </p:cNvSpPr>
          <p:nvPr/>
        </p:nvSpPr>
        <p:spPr bwMode="auto">
          <a:xfrm>
            <a:off x="4152458" y="1952397"/>
            <a:ext cx="3103799" cy="2972034"/>
          </a:xfrm>
          <a:prstGeom prst="ellipse">
            <a:avLst/>
          </a:prstGeom>
          <a:noFill/>
          <a:ln w="63500">
            <a:solidFill>
              <a:srgbClr val="FDD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sz="2400">
              <a:solidFill>
                <a:srgbClr val="000099"/>
              </a:solidFill>
              <a:latin typeface="微软雅黑" pitchFamily="34" charset="-122"/>
              <a:ea typeface="微软雅黑" pitchFamily="34" charset="-122"/>
              <a:sym typeface="MS PGothic" charset="0"/>
            </a:endParaRPr>
          </a:p>
        </p:txBody>
      </p:sp>
      <p:sp>
        <p:nvSpPr>
          <p:cNvPr id="43" name="Rectangle 7"/>
          <p:cNvSpPr>
            <a:spLocks noChangeArrowheads="1"/>
          </p:cNvSpPr>
          <p:nvPr/>
        </p:nvSpPr>
        <p:spPr bwMode="auto">
          <a:xfrm>
            <a:off x="2572709" y="4862570"/>
            <a:ext cx="811118" cy="2949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nSpc>
                <a:spcPct val="80000"/>
              </a:lnSpc>
            </a:pPr>
            <a:r>
              <a:rPr lang="zh-CN" altLang="en-US" sz="1600" b="1" dirty="0">
                <a:solidFill>
                  <a:srgbClr val="11576A"/>
                </a:solidFill>
                <a:latin typeface="微软雅黑" pitchFamily="34" charset="-122"/>
                <a:ea typeface="微软雅黑" pitchFamily="34" charset="-122"/>
                <a:sym typeface="MS PGothic" charset="0"/>
              </a:rPr>
              <a:t>驻留位</a:t>
            </a:r>
          </a:p>
        </p:txBody>
      </p:sp>
      <p:sp>
        <p:nvSpPr>
          <p:cNvPr id="45" name="Rectangle 9"/>
          <p:cNvSpPr>
            <a:spLocks noChangeArrowheads="1"/>
          </p:cNvSpPr>
          <p:nvPr/>
        </p:nvSpPr>
        <p:spPr bwMode="auto">
          <a:xfrm>
            <a:off x="5697038" y="1747431"/>
            <a:ext cx="556341"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0</a:t>
            </a:r>
          </a:p>
        </p:txBody>
      </p:sp>
      <p:sp>
        <p:nvSpPr>
          <p:cNvPr id="46" name="Rectangle 10"/>
          <p:cNvSpPr>
            <a:spLocks noChangeArrowheads="1"/>
          </p:cNvSpPr>
          <p:nvPr/>
        </p:nvSpPr>
        <p:spPr bwMode="auto">
          <a:xfrm>
            <a:off x="5418865" y="1747431"/>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a:solidFill>
                  <a:srgbClr val="11576A"/>
                </a:solidFill>
                <a:latin typeface="微软雅黑" pitchFamily="34" charset="-122"/>
                <a:ea typeface="微软雅黑" pitchFamily="34" charset="-122"/>
                <a:sym typeface="MS PGothic" charset="0"/>
              </a:rPr>
              <a:t>1</a:t>
            </a:r>
          </a:p>
        </p:txBody>
      </p:sp>
      <p:sp>
        <p:nvSpPr>
          <p:cNvPr id="47" name="Rectangle 11"/>
          <p:cNvSpPr>
            <a:spLocks noChangeArrowheads="1"/>
          </p:cNvSpPr>
          <p:nvPr/>
        </p:nvSpPr>
        <p:spPr bwMode="auto">
          <a:xfrm>
            <a:off x="4170159" y="1743063"/>
            <a:ext cx="1083630" cy="45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b="1" dirty="0">
                <a:solidFill>
                  <a:srgbClr val="11576A"/>
                </a:solidFill>
                <a:latin typeface="微软雅黑" pitchFamily="34" charset="-122"/>
                <a:ea typeface="微软雅黑" pitchFamily="34" charset="-122"/>
                <a:sym typeface="MS PGothic" charset="0"/>
              </a:rPr>
              <a:t>页帧号</a:t>
            </a:r>
            <a:r>
              <a:rPr lang="zh-CN" b="1" dirty="0">
                <a:solidFill>
                  <a:srgbClr val="11576A"/>
                </a:solidFill>
                <a:latin typeface="微软雅黑" pitchFamily="34" charset="-122"/>
                <a:ea typeface="微软雅黑" pitchFamily="34" charset="-122"/>
                <a:sym typeface="MS PGothic" charset="0"/>
              </a:rPr>
              <a:t>7:</a:t>
            </a:r>
            <a:endParaRPr lang="zh-CN" altLang="en-US" sz="2400" b="1" dirty="0">
              <a:solidFill>
                <a:srgbClr val="11576A"/>
              </a:solidFill>
              <a:latin typeface="微软雅黑" pitchFamily="34" charset="-122"/>
              <a:ea typeface="微软雅黑" pitchFamily="34" charset="-122"/>
              <a:sym typeface="MS PGothic" charset="0"/>
            </a:endParaRPr>
          </a:p>
        </p:txBody>
      </p:sp>
      <p:sp>
        <p:nvSpPr>
          <p:cNvPr id="48" name="Rectangle 12"/>
          <p:cNvSpPr>
            <a:spLocks noChangeArrowheads="1"/>
          </p:cNvSpPr>
          <p:nvPr/>
        </p:nvSpPr>
        <p:spPr bwMode="auto">
          <a:xfrm>
            <a:off x="5140694" y="1747431"/>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a:solidFill>
                  <a:srgbClr val="11576A"/>
                </a:solidFill>
                <a:latin typeface="微软雅黑" pitchFamily="34" charset="-122"/>
                <a:ea typeface="微软雅黑" pitchFamily="34" charset="-122"/>
                <a:sym typeface="MS PGothic" charset="0"/>
              </a:rPr>
              <a:t>1</a:t>
            </a:r>
          </a:p>
        </p:txBody>
      </p:sp>
      <p:sp>
        <p:nvSpPr>
          <p:cNvPr id="49" name="Rectangle 13"/>
          <p:cNvSpPr>
            <a:spLocks noChangeArrowheads="1"/>
          </p:cNvSpPr>
          <p:nvPr/>
        </p:nvSpPr>
        <p:spPr bwMode="auto">
          <a:xfrm>
            <a:off x="4240302" y="2801552"/>
            <a:ext cx="556341"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5</a:t>
            </a:r>
          </a:p>
        </p:txBody>
      </p:sp>
      <p:sp>
        <p:nvSpPr>
          <p:cNvPr id="50" name="Rectangle 14"/>
          <p:cNvSpPr>
            <a:spLocks noChangeArrowheads="1"/>
          </p:cNvSpPr>
          <p:nvPr/>
        </p:nvSpPr>
        <p:spPr bwMode="auto">
          <a:xfrm>
            <a:off x="3962129" y="2801552"/>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0</a:t>
            </a:r>
          </a:p>
        </p:txBody>
      </p:sp>
      <p:sp>
        <p:nvSpPr>
          <p:cNvPr id="51" name="Rectangle 15"/>
          <p:cNvSpPr>
            <a:spLocks noChangeArrowheads="1"/>
          </p:cNvSpPr>
          <p:nvPr/>
        </p:nvSpPr>
        <p:spPr bwMode="auto">
          <a:xfrm>
            <a:off x="2713421" y="2797183"/>
            <a:ext cx="1083630" cy="45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b="1" dirty="0">
                <a:solidFill>
                  <a:srgbClr val="11576A"/>
                </a:solidFill>
                <a:latin typeface="微软雅黑" pitchFamily="34" charset="-122"/>
                <a:ea typeface="微软雅黑" pitchFamily="34" charset="-122"/>
                <a:sym typeface="MS PGothic" charset="0"/>
              </a:rPr>
              <a:t>页帧号</a:t>
            </a:r>
            <a:r>
              <a:rPr lang="zh-CN" b="1" dirty="0">
                <a:solidFill>
                  <a:srgbClr val="11576A"/>
                </a:solidFill>
                <a:latin typeface="微软雅黑" pitchFamily="34" charset="-122"/>
                <a:ea typeface="微软雅黑" pitchFamily="34" charset="-122"/>
                <a:sym typeface="MS PGothic" charset="0"/>
              </a:rPr>
              <a:t>1:</a:t>
            </a:r>
            <a:endParaRPr lang="zh-CN" altLang="en-US" sz="2400" b="1" dirty="0">
              <a:solidFill>
                <a:srgbClr val="11576A"/>
              </a:solidFill>
              <a:latin typeface="微软雅黑" pitchFamily="34" charset="-122"/>
              <a:ea typeface="微软雅黑" pitchFamily="34" charset="-122"/>
              <a:sym typeface="MS PGothic" charset="0"/>
            </a:endParaRPr>
          </a:p>
        </p:txBody>
      </p:sp>
      <p:sp>
        <p:nvSpPr>
          <p:cNvPr id="52" name="Rectangle 16"/>
          <p:cNvSpPr>
            <a:spLocks noChangeArrowheads="1"/>
          </p:cNvSpPr>
          <p:nvPr/>
        </p:nvSpPr>
        <p:spPr bwMode="auto">
          <a:xfrm>
            <a:off x="3683958" y="2801552"/>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a:solidFill>
                  <a:srgbClr val="11576A"/>
                </a:solidFill>
                <a:latin typeface="微软雅黑" pitchFamily="34" charset="-122"/>
                <a:ea typeface="微软雅黑" pitchFamily="34" charset="-122"/>
                <a:sym typeface="MS PGothic" charset="0"/>
              </a:rPr>
              <a:t>1</a:t>
            </a:r>
          </a:p>
        </p:txBody>
      </p:sp>
      <p:sp>
        <p:nvSpPr>
          <p:cNvPr id="53" name="Rectangle 17"/>
          <p:cNvSpPr>
            <a:spLocks noChangeArrowheads="1"/>
          </p:cNvSpPr>
          <p:nvPr/>
        </p:nvSpPr>
        <p:spPr bwMode="auto">
          <a:xfrm>
            <a:off x="7241617" y="2801552"/>
            <a:ext cx="556341"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3</a:t>
            </a:r>
          </a:p>
        </p:txBody>
      </p:sp>
      <p:sp>
        <p:nvSpPr>
          <p:cNvPr id="54" name="Rectangle 18"/>
          <p:cNvSpPr>
            <a:spLocks noChangeArrowheads="1"/>
          </p:cNvSpPr>
          <p:nvPr/>
        </p:nvSpPr>
        <p:spPr bwMode="auto">
          <a:xfrm>
            <a:off x="6963444" y="2801552"/>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0</a:t>
            </a:r>
          </a:p>
        </p:txBody>
      </p:sp>
      <p:sp>
        <p:nvSpPr>
          <p:cNvPr id="55" name="Rectangle 19"/>
          <p:cNvSpPr>
            <a:spLocks noChangeArrowheads="1"/>
          </p:cNvSpPr>
          <p:nvPr/>
        </p:nvSpPr>
        <p:spPr bwMode="auto">
          <a:xfrm>
            <a:off x="5714736" y="2797183"/>
            <a:ext cx="1083630" cy="45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b="1" dirty="0">
                <a:solidFill>
                  <a:srgbClr val="11576A"/>
                </a:solidFill>
                <a:latin typeface="微软雅黑" pitchFamily="34" charset="-122"/>
                <a:ea typeface="微软雅黑" pitchFamily="34" charset="-122"/>
                <a:sym typeface="MS PGothic" charset="0"/>
              </a:rPr>
              <a:t>页帧号</a:t>
            </a:r>
            <a:r>
              <a:rPr lang="zh-CN" b="1" dirty="0">
                <a:solidFill>
                  <a:srgbClr val="11576A"/>
                </a:solidFill>
                <a:latin typeface="微软雅黑" pitchFamily="34" charset="-122"/>
                <a:ea typeface="微软雅黑" pitchFamily="34" charset="-122"/>
                <a:sym typeface="MS PGothic" charset="0"/>
              </a:rPr>
              <a:t>4:</a:t>
            </a:r>
            <a:endParaRPr lang="zh-CN" altLang="en-US" sz="2400" b="1" dirty="0">
              <a:solidFill>
                <a:srgbClr val="11576A"/>
              </a:solidFill>
              <a:latin typeface="微软雅黑" pitchFamily="34" charset="-122"/>
              <a:ea typeface="微软雅黑" pitchFamily="34" charset="-122"/>
              <a:sym typeface="MS PGothic" charset="0"/>
            </a:endParaRPr>
          </a:p>
        </p:txBody>
      </p:sp>
      <p:sp>
        <p:nvSpPr>
          <p:cNvPr id="56" name="Rectangle 20"/>
          <p:cNvSpPr>
            <a:spLocks noChangeArrowheads="1"/>
          </p:cNvSpPr>
          <p:nvPr/>
        </p:nvSpPr>
        <p:spPr bwMode="auto">
          <a:xfrm>
            <a:off x="6685273" y="2801552"/>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1</a:t>
            </a:r>
          </a:p>
        </p:txBody>
      </p:sp>
      <p:sp>
        <p:nvSpPr>
          <p:cNvPr id="57" name="Rectangle 21"/>
          <p:cNvSpPr>
            <a:spLocks noChangeArrowheads="1"/>
          </p:cNvSpPr>
          <p:nvPr/>
        </p:nvSpPr>
        <p:spPr bwMode="auto">
          <a:xfrm>
            <a:off x="6699916" y="4280248"/>
            <a:ext cx="556341"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a:solidFill>
                  <a:srgbClr val="11576A"/>
                </a:solidFill>
                <a:latin typeface="微软雅黑" pitchFamily="34" charset="-122"/>
                <a:ea typeface="微软雅黑" pitchFamily="34" charset="-122"/>
                <a:sym typeface="MS PGothic" charset="0"/>
              </a:rPr>
              <a:t>4</a:t>
            </a:r>
          </a:p>
        </p:txBody>
      </p:sp>
      <p:sp>
        <p:nvSpPr>
          <p:cNvPr id="58" name="Rectangle 22"/>
          <p:cNvSpPr>
            <a:spLocks noChangeArrowheads="1"/>
          </p:cNvSpPr>
          <p:nvPr/>
        </p:nvSpPr>
        <p:spPr bwMode="auto">
          <a:xfrm>
            <a:off x="6421743" y="4280248"/>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1</a:t>
            </a:r>
          </a:p>
        </p:txBody>
      </p:sp>
      <p:sp>
        <p:nvSpPr>
          <p:cNvPr id="59" name="Rectangle 23"/>
          <p:cNvSpPr>
            <a:spLocks noChangeArrowheads="1"/>
          </p:cNvSpPr>
          <p:nvPr/>
        </p:nvSpPr>
        <p:spPr bwMode="auto">
          <a:xfrm>
            <a:off x="5187676" y="4275880"/>
            <a:ext cx="1083630" cy="45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b="1" dirty="0">
                <a:solidFill>
                  <a:srgbClr val="11576A"/>
                </a:solidFill>
                <a:latin typeface="微软雅黑" pitchFamily="34" charset="-122"/>
                <a:ea typeface="微软雅黑" pitchFamily="34" charset="-122"/>
                <a:sym typeface="MS PGothic" charset="0"/>
              </a:rPr>
              <a:t>页帧号</a:t>
            </a:r>
            <a:r>
              <a:rPr lang="zh-CN" b="1" dirty="0">
                <a:solidFill>
                  <a:srgbClr val="11576A"/>
                </a:solidFill>
                <a:latin typeface="微软雅黑" pitchFamily="34" charset="-122"/>
                <a:ea typeface="微软雅黑" pitchFamily="34" charset="-122"/>
                <a:sym typeface="MS PGothic" charset="0"/>
              </a:rPr>
              <a:t>0:</a:t>
            </a:r>
            <a:endParaRPr lang="zh-CN" altLang="en-US" sz="2400" b="1" dirty="0">
              <a:solidFill>
                <a:srgbClr val="11576A"/>
              </a:solidFill>
              <a:latin typeface="微软雅黑" pitchFamily="34" charset="-122"/>
              <a:ea typeface="微软雅黑" pitchFamily="34" charset="-122"/>
              <a:sym typeface="MS PGothic" charset="0"/>
            </a:endParaRPr>
          </a:p>
        </p:txBody>
      </p:sp>
      <p:sp>
        <p:nvSpPr>
          <p:cNvPr id="60" name="Rectangle 24"/>
          <p:cNvSpPr>
            <a:spLocks noChangeArrowheads="1"/>
          </p:cNvSpPr>
          <p:nvPr/>
        </p:nvSpPr>
        <p:spPr bwMode="auto">
          <a:xfrm>
            <a:off x="6143573" y="4280248"/>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a:solidFill>
                  <a:srgbClr val="11576A"/>
                </a:solidFill>
                <a:latin typeface="微软雅黑" pitchFamily="34" charset="-122"/>
                <a:ea typeface="微软雅黑" pitchFamily="34" charset="-122"/>
                <a:sym typeface="MS PGothic" charset="0"/>
              </a:rPr>
              <a:t>1</a:t>
            </a:r>
          </a:p>
        </p:txBody>
      </p:sp>
      <p:sp>
        <p:nvSpPr>
          <p:cNvPr id="61" name="Rectangle 25"/>
          <p:cNvSpPr>
            <a:spLocks noChangeArrowheads="1"/>
          </p:cNvSpPr>
          <p:nvPr/>
        </p:nvSpPr>
        <p:spPr bwMode="auto">
          <a:xfrm>
            <a:off x="4694159" y="4280248"/>
            <a:ext cx="556341"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1</a:t>
            </a:r>
          </a:p>
        </p:txBody>
      </p:sp>
      <p:sp>
        <p:nvSpPr>
          <p:cNvPr id="62" name="Rectangle 26"/>
          <p:cNvSpPr>
            <a:spLocks noChangeArrowheads="1"/>
          </p:cNvSpPr>
          <p:nvPr/>
        </p:nvSpPr>
        <p:spPr bwMode="auto">
          <a:xfrm>
            <a:off x="4415987" y="4280248"/>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1</a:t>
            </a:r>
          </a:p>
        </p:txBody>
      </p:sp>
      <p:sp>
        <p:nvSpPr>
          <p:cNvPr id="63" name="Rectangle 27"/>
          <p:cNvSpPr>
            <a:spLocks noChangeArrowheads="1"/>
          </p:cNvSpPr>
          <p:nvPr/>
        </p:nvSpPr>
        <p:spPr bwMode="auto">
          <a:xfrm>
            <a:off x="3167278" y="4275880"/>
            <a:ext cx="1083630" cy="45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b="1" dirty="0">
                <a:solidFill>
                  <a:srgbClr val="11576A"/>
                </a:solidFill>
                <a:latin typeface="微软雅黑" pitchFamily="34" charset="-122"/>
                <a:ea typeface="微软雅黑" pitchFamily="34" charset="-122"/>
                <a:sym typeface="MS PGothic" charset="0"/>
              </a:rPr>
              <a:t>页帧号</a:t>
            </a:r>
            <a:r>
              <a:rPr lang="zh-CN" b="1" dirty="0">
                <a:solidFill>
                  <a:srgbClr val="11576A"/>
                </a:solidFill>
                <a:latin typeface="微软雅黑" pitchFamily="34" charset="-122"/>
                <a:ea typeface="微软雅黑" pitchFamily="34" charset="-122"/>
                <a:sym typeface="MS PGothic" charset="0"/>
              </a:rPr>
              <a:t>3:</a:t>
            </a:r>
            <a:endParaRPr lang="zh-CN" altLang="en-US" sz="2400" b="1" dirty="0">
              <a:solidFill>
                <a:srgbClr val="11576A"/>
              </a:solidFill>
              <a:latin typeface="微软雅黑" pitchFamily="34" charset="-122"/>
              <a:ea typeface="微软雅黑" pitchFamily="34" charset="-122"/>
              <a:sym typeface="MS PGothic" charset="0"/>
            </a:endParaRPr>
          </a:p>
        </p:txBody>
      </p:sp>
      <p:sp>
        <p:nvSpPr>
          <p:cNvPr id="64" name="Rectangle 28"/>
          <p:cNvSpPr>
            <a:spLocks noChangeArrowheads="1"/>
          </p:cNvSpPr>
          <p:nvPr/>
        </p:nvSpPr>
        <p:spPr bwMode="auto">
          <a:xfrm>
            <a:off x="4137816" y="4280248"/>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a:solidFill>
                  <a:srgbClr val="11576A"/>
                </a:solidFill>
                <a:latin typeface="微软雅黑" pitchFamily="34" charset="-122"/>
                <a:ea typeface="微软雅黑" pitchFamily="34" charset="-122"/>
                <a:sym typeface="MS PGothic" charset="0"/>
              </a:rPr>
              <a:t>1</a:t>
            </a:r>
          </a:p>
        </p:txBody>
      </p:sp>
      <p:sp>
        <p:nvSpPr>
          <p:cNvPr id="65" name="Oval 29"/>
          <p:cNvSpPr>
            <a:spLocks noChangeArrowheads="1"/>
          </p:cNvSpPr>
          <p:nvPr/>
        </p:nvSpPr>
        <p:spPr bwMode="auto">
          <a:xfrm>
            <a:off x="5565271" y="3313969"/>
            <a:ext cx="204968" cy="204968"/>
          </a:xfrm>
          <a:prstGeom prst="ellipse">
            <a:avLst/>
          </a:prstGeom>
          <a:solidFill>
            <a:srgbClr val="C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zh-CN" altLang="en-US" sz="2400">
              <a:solidFill>
                <a:srgbClr val="C00000"/>
              </a:solidFill>
              <a:latin typeface="微软雅黑" pitchFamily="34" charset="-122"/>
              <a:ea typeface="微软雅黑" pitchFamily="34" charset="-122"/>
              <a:sym typeface="MS PGothic" charset="0"/>
            </a:endParaRPr>
          </a:p>
        </p:txBody>
      </p:sp>
      <p:sp>
        <p:nvSpPr>
          <p:cNvPr id="66" name="Line 30"/>
          <p:cNvSpPr>
            <a:spLocks noChangeShapeType="1"/>
          </p:cNvSpPr>
          <p:nvPr/>
        </p:nvSpPr>
        <p:spPr bwMode="auto">
          <a:xfrm>
            <a:off x="4254940" y="4697504"/>
            <a:ext cx="0" cy="292811"/>
          </a:xfrm>
          <a:prstGeom prst="line">
            <a:avLst/>
          </a:prstGeom>
          <a:noFill/>
          <a:ln w="28575">
            <a:solidFill>
              <a:srgbClr val="11576A"/>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000099"/>
              </a:solidFill>
              <a:latin typeface="微软雅黑" pitchFamily="34" charset="-122"/>
              <a:ea typeface="微软雅黑" pitchFamily="34" charset="-122"/>
            </a:endParaRPr>
          </a:p>
        </p:txBody>
      </p:sp>
      <p:sp>
        <p:nvSpPr>
          <p:cNvPr id="67" name="Line 31"/>
          <p:cNvSpPr>
            <a:spLocks noChangeShapeType="1"/>
          </p:cNvSpPr>
          <p:nvPr/>
        </p:nvSpPr>
        <p:spPr bwMode="auto">
          <a:xfrm>
            <a:off x="4533111" y="4697504"/>
            <a:ext cx="0" cy="497779"/>
          </a:xfrm>
          <a:prstGeom prst="line">
            <a:avLst/>
          </a:prstGeom>
          <a:noFill/>
          <a:ln w="28575">
            <a:solidFill>
              <a:srgbClr val="11576A"/>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000099"/>
              </a:solidFill>
              <a:latin typeface="微软雅黑" pitchFamily="34" charset="-122"/>
              <a:ea typeface="微软雅黑" pitchFamily="34" charset="-122"/>
            </a:endParaRPr>
          </a:p>
        </p:txBody>
      </p:sp>
      <p:sp>
        <p:nvSpPr>
          <p:cNvPr id="68" name="Line 32"/>
          <p:cNvSpPr>
            <a:spLocks noChangeShapeType="1"/>
          </p:cNvSpPr>
          <p:nvPr/>
        </p:nvSpPr>
        <p:spPr bwMode="auto">
          <a:xfrm>
            <a:off x="4943047" y="4697502"/>
            <a:ext cx="0" cy="717388"/>
          </a:xfrm>
          <a:prstGeom prst="line">
            <a:avLst/>
          </a:prstGeom>
          <a:noFill/>
          <a:ln w="28575">
            <a:solidFill>
              <a:srgbClr val="11576A"/>
            </a:solidFill>
            <a:round/>
            <a:headEnd type="triangle" w="med" len="med"/>
            <a:tailEn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000099"/>
              </a:solidFill>
              <a:latin typeface="微软雅黑" pitchFamily="34" charset="-122"/>
              <a:ea typeface="微软雅黑" pitchFamily="34" charset="-122"/>
            </a:endParaRPr>
          </a:p>
        </p:txBody>
      </p:sp>
      <p:sp>
        <p:nvSpPr>
          <p:cNvPr id="69" name="Line 33"/>
          <p:cNvSpPr>
            <a:spLocks noChangeShapeType="1"/>
          </p:cNvSpPr>
          <p:nvPr/>
        </p:nvSpPr>
        <p:spPr bwMode="auto">
          <a:xfrm>
            <a:off x="3383829" y="5422210"/>
            <a:ext cx="1551899"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000099"/>
              </a:solidFill>
              <a:latin typeface="微软雅黑" pitchFamily="34" charset="-122"/>
              <a:ea typeface="微软雅黑" pitchFamily="34" charset="-122"/>
            </a:endParaRPr>
          </a:p>
        </p:txBody>
      </p:sp>
      <p:sp>
        <p:nvSpPr>
          <p:cNvPr id="70" name="Line 34"/>
          <p:cNvSpPr>
            <a:spLocks noChangeShapeType="1"/>
          </p:cNvSpPr>
          <p:nvPr/>
        </p:nvSpPr>
        <p:spPr bwMode="auto">
          <a:xfrm>
            <a:off x="3383827" y="5202602"/>
            <a:ext cx="1141964"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000099"/>
              </a:solidFill>
              <a:latin typeface="微软雅黑" pitchFamily="34" charset="-122"/>
              <a:ea typeface="微软雅黑" pitchFamily="34" charset="-122"/>
            </a:endParaRPr>
          </a:p>
        </p:txBody>
      </p:sp>
      <p:sp>
        <p:nvSpPr>
          <p:cNvPr id="71" name="Line 35"/>
          <p:cNvSpPr>
            <a:spLocks noChangeShapeType="1"/>
          </p:cNvSpPr>
          <p:nvPr/>
        </p:nvSpPr>
        <p:spPr bwMode="auto">
          <a:xfrm>
            <a:off x="3383829" y="4997634"/>
            <a:ext cx="863793"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000099"/>
              </a:solidFill>
              <a:latin typeface="微软雅黑" pitchFamily="34" charset="-122"/>
              <a:ea typeface="微软雅黑" pitchFamily="34" charset="-122"/>
            </a:endParaRPr>
          </a:p>
        </p:txBody>
      </p:sp>
      <p:sp>
        <p:nvSpPr>
          <p:cNvPr id="73" name="Rectangle 7"/>
          <p:cNvSpPr>
            <a:spLocks noChangeArrowheads="1"/>
          </p:cNvSpPr>
          <p:nvPr/>
        </p:nvSpPr>
        <p:spPr bwMode="auto">
          <a:xfrm>
            <a:off x="2567608" y="5082491"/>
            <a:ext cx="811118" cy="2949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nSpc>
                <a:spcPct val="80000"/>
              </a:lnSpc>
            </a:pPr>
            <a:r>
              <a:rPr lang="zh-CN" altLang="en-US" sz="1600" b="1" dirty="0">
                <a:solidFill>
                  <a:srgbClr val="11576A"/>
                </a:solidFill>
                <a:latin typeface="微软雅黑" pitchFamily="34" charset="-122"/>
                <a:ea typeface="微软雅黑" pitchFamily="34" charset="-122"/>
                <a:sym typeface="MS PGothic" charset="0"/>
              </a:rPr>
              <a:t>访问位</a:t>
            </a:r>
          </a:p>
        </p:txBody>
      </p:sp>
      <p:sp>
        <p:nvSpPr>
          <p:cNvPr id="74" name="Rectangle 7"/>
          <p:cNvSpPr>
            <a:spLocks noChangeArrowheads="1"/>
          </p:cNvSpPr>
          <p:nvPr/>
        </p:nvSpPr>
        <p:spPr bwMode="auto">
          <a:xfrm>
            <a:off x="2785616" y="5317387"/>
            <a:ext cx="593110" cy="2949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nSpc>
                <a:spcPct val="80000"/>
              </a:lnSpc>
            </a:pPr>
            <a:r>
              <a:rPr lang="zh-CN" altLang="en-US" sz="1600" b="1" dirty="0">
                <a:solidFill>
                  <a:srgbClr val="11576A"/>
                </a:solidFill>
                <a:latin typeface="微软雅黑" pitchFamily="34" charset="-122"/>
                <a:ea typeface="微软雅黑" pitchFamily="34" charset="-122"/>
                <a:sym typeface="MS PGothic" charset="0"/>
              </a:rPr>
              <a:t>页号</a:t>
            </a:r>
          </a:p>
        </p:txBody>
      </p:sp>
      <p:grpSp>
        <p:nvGrpSpPr>
          <p:cNvPr id="2" name="组合 1"/>
          <p:cNvGrpSpPr/>
          <p:nvPr/>
        </p:nvGrpSpPr>
        <p:grpSpPr>
          <a:xfrm>
            <a:off x="4608361" y="2533076"/>
            <a:ext cx="1937647" cy="1631087"/>
            <a:chOff x="3450132" y="2269256"/>
            <a:chExt cx="1937647" cy="1631087"/>
          </a:xfrm>
        </p:grpSpPr>
        <p:sp>
          <p:nvSpPr>
            <p:cNvPr id="35" name="Line 8"/>
            <p:cNvSpPr>
              <a:spLocks noChangeShapeType="1"/>
            </p:cNvSpPr>
            <p:nvPr/>
          </p:nvSpPr>
          <p:spPr bwMode="auto">
            <a:xfrm>
              <a:off x="3450132" y="2269256"/>
              <a:ext cx="951636" cy="805231"/>
            </a:xfrm>
            <a:prstGeom prst="line">
              <a:avLst/>
            </a:prstGeom>
            <a:noFill/>
            <a:ln w="50800">
              <a:noFill/>
              <a:round/>
              <a:headEnd type="triangle" w="med" len="med"/>
              <a:tailEnd type="none" w="med" len="me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C00000"/>
                </a:solidFill>
                <a:latin typeface="微软雅黑" pitchFamily="34" charset="-122"/>
                <a:ea typeface="微软雅黑" pitchFamily="34" charset="-122"/>
              </a:endParaRPr>
            </a:p>
          </p:txBody>
        </p:sp>
        <p:sp>
          <p:nvSpPr>
            <p:cNvPr id="36" name="Line 8"/>
            <p:cNvSpPr>
              <a:spLocks noChangeShapeType="1"/>
            </p:cNvSpPr>
            <p:nvPr/>
          </p:nvSpPr>
          <p:spPr bwMode="auto">
            <a:xfrm>
              <a:off x="4436143" y="3095112"/>
              <a:ext cx="951636" cy="805231"/>
            </a:xfrm>
            <a:prstGeom prst="line">
              <a:avLst/>
            </a:prstGeom>
            <a:noFill/>
            <a:ln w="50800">
              <a:solidFill>
                <a:srgbClr val="C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pPr eaLnBrk="1" fontAlgn="auto" hangingPunct="1">
                <a:spcBef>
                  <a:spcPts val="0"/>
                </a:spcBef>
                <a:spcAft>
                  <a:spcPts val="0"/>
                </a:spcAft>
                <a:defRPr/>
              </a:pPr>
              <a:endParaRPr lang="zh-CN" altLang="en-US" kern="0">
                <a:solidFill>
                  <a:srgbClr val="C00000"/>
                </a:solidFill>
                <a:latin typeface="微软雅黑" pitchFamily="34" charset="-122"/>
                <a:ea typeface="微软雅黑" pitchFamily="34" charset="-122"/>
              </a:endParaRPr>
            </a:p>
          </p:txBody>
        </p:sp>
      </p:grpSp>
      <p:sp>
        <p:nvSpPr>
          <p:cNvPr id="37" name="Rectangle 13"/>
          <p:cNvSpPr>
            <a:spLocks noChangeArrowheads="1"/>
          </p:cNvSpPr>
          <p:nvPr/>
        </p:nvSpPr>
        <p:spPr bwMode="auto">
          <a:xfrm>
            <a:off x="4243579" y="2799001"/>
            <a:ext cx="556341" cy="380655"/>
          </a:xfrm>
          <a:prstGeom prst="rect">
            <a:avLst/>
          </a:prstGeom>
          <a:noFill/>
          <a:ln w="28575">
            <a:no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C00000"/>
                </a:solidFill>
                <a:latin typeface="微软雅黑" pitchFamily="34" charset="-122"/>
                <a:ea typeface="微软雅黑" pitchFamily="34" charset="-122"/>
                <a:sym typeface="MS PGothic" charset="0"/>
              </a:rPr>
              <a:t>5</a:t>
            </a:r>
          </a:p>
        </p:txBody>
      </p:sp>
      <p:sp>
        <p:nvSpPr>
          <p:cNvPr id="38" name="Rectangle 14"/>
          <p:cNvSpPr>
            <a:spLocks noChangeArrowheads="1"/>
          </p:cNvSpPr>
          <p:nvPr/>
        </p:nvSpPr>
        <p:spPr bwMode="auto">
          <a:xfrm>
            <a:off x="3954808" y="2799000"/>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1</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39" name="Rectangle 22"/>
          <p:cNvSpPr>
            <a:spLocks noChangeArrowheads="1"/>
          </p:cNvSpPr>
          <p:nvPr/>
        </p:nvSpPr>
        <p:spPr bwMode="auto">
          <a:xfrm>
            <a:off x="6416580" y="4280248"/>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0</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40" name="Rectangle 26"/>
          <p:cNvSpPr>
            <a:spLocks noChangeArrowheads="1"/>
          </p:cNvSpPr>
          <p:nvPr/>
        </p:nvSpPr>
        <p:spPr bwMode="auto">
          <a:xfrm>
            <a:off x="4413837" y="4283509"/>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0</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41" name="Rectangle 10"/>
          <p:cNvSpPr>
            <a:spLocks noChangeArrowheads="1"/>
          </p:cNvSpPr>
          <p:nvPr/>
        </p:nvSpPr>
        <p:spPr bwMode="auto">
          <a:xfrm>
            <a:off x="5422330" y="1744869"/>
            <a:ext cx="263530"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0</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44" name="Rectangle 17"/>
          <p:cNvSpPr>
            <a:spLocks noChangeArrowheads="1"/>
          </p:cNvSpPr>
          <p:nvPr/>
        </p:nvSpPr>
        <p:spPr bwMode="auto">
          <a:xfrm>
            <a:off x="7226976" y="2804651"/>
            <a:ext cx="556341"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6</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72" name="Rectangle 25"/>
          <p:cNvSpPr>
            <a:spLocks noChangeArrowheads="1"/>
          </p:cNvSpPr>
          <p:nvPr/>
        </p:nvSpPr>
        <p:spPr bwMode="auto">
          <a:xfrm>
            <a:off x="4689816" y="4283509"/>
            <a:ext cx="556341" cy="38065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7</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3" name="文本框 2">
            <a:extLst>
              <a:ext uri="{FF2B5EF4-FFF2-40B4-BE49-F238E27FC236}">
                <a16:creationId xmlns:a16="http://schemas.microsoft.com/office/drawing/2014/main" id="{D4650968-8D76-2698-C179-D41592E8CFF1}"/>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4" name="标题 8">
            <a:extLst>
              <a:ext uri="{FF2B5EF4-FFF2-40B4-BE49-F238E27FC236}">
                <a16:creationId xmlns:a16="http://schemas.microsoft.com/office/drawing/2014/main" id="{BCAD5B02-9BC2-9196-3A0C-A6E584105FE8}"/>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sz="3200" b="0" kern="0" dirty="0"/>
              <a:t>时钟置换算法图示</a:t>
            </a:r>
            <a:r>
              <a:rPr lang="en-US" altLang="zh-CN" sz="3200" b="0" kern="0" dirty="0"/>
              <a:t>(</a:t>
            </a:r>
            <a:r>
              <a:rPr lang="zh-CN" altLang="en-US" sz="3200" b="0" kern="0" dirty="0"/>
              <a:t>计数器仅有</a:t>
            </a:r>
            <a:r>
              <a:rPr lang="en-US" altLang="zh-CN" sz="3200" b="0" kern="0" dirty="0"/>
              <a:t>1</a:t>
            </a:r>
            <a:r>
              <a:rPr lang="zh-CN" altLang="en-US" sz="3200" b="0" kern="0" dirty="0"/>
              <a:t>个</a:t>
            </a:r>
            <a:r>
              <a:rPr lang="en-US" altLang="zh-CN" sz="3200" b="0" kern="0" dirty="0"/>
              <a:t>bit</a:t>
            </a:r>
            <a:r>
              <a:rPr lang="zh-CN" altLang="en-US" sz="3200" b="0" kern="0" dirty="0"/>
              <a:t>时候</a:t>
            </a:r>
            <a:r>
              <a:rPr lang="en-US" altLang="zh-CN" sz="3200" b="0" kern="0" dirty="0"/>
              <a:t>LFU</a:t>
            </a:r>
            <a:r>
              <a:rPr lang="zh-CN" altLang="en-US" sz="3200" b="0" kern="0" dirty="0"/>
              <a:t>的变种）</a:t>
            </a:r>
          </a:p>
        </p:txBody>
      </p:sp>
      <p:sp>
        <p:nvSpPr>
          <p:cNvPr id="75" name="Rectangle 18">
            <a:extLst>
              <a:ext uri="{FF2B5EF4-FFF2-40B4-BE49-F238E27FC236}">
                <a16:creationId xmlns:a16="http://schemas.microsoft.com/office/drawing/2014/main" id="{842C942A-DB47-41F5-86A1-53ACD28D9FC1}"/>
              </a:ext>
            </a:extLst>
          </p:cNvPr>
          <p:cNvSpPr>
            <a:spLocks noChangeArrowheads="1"/>
          </p:cNvSpPr>
          <p:nvPr/>
        </p:nvSpPr>
        <p:spPr bwMode="auto">
          <a:xfrm>
            <a:off x="6963444" y="2804651"/>
            <a:ext cx="263530" cy="380655"/>
          </a:xfrm>
          <a:prstGeom prst="rect">
            <a:avLst/>
          </a:prstGeom>
          <a:solidFill>
            <a:schemeClr val="bg1"/>
          </a:solid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1</a:t>
            </a:r>
          </a:p>
        </p:txBody>
      </p:sp>
      <p:sp>
        <p:nvSpPr>
          <p:cNvPr id="76" name="Rectangle 18">
            <a:extLst>
              <a:ext uri="{FF2B5EF4-FFF2-40B4-BE49-F238E27FC236}">
                <a16:creationId xmlns:a16="http://schemas.microsoft.com/office/drawing/2014/main" id="{C84A3F21-1045-4D02-B078-C22450994B19}"/>
              </a:ext>
            </a:extLst>
          </p:cNvPr>
          <p:cNvSpPr>
            <a:spLocks noChangeArrowheads="1"/>
          </p:cNvSpPr>
          <p:nvPr/>
        </p:nvSpPr>
        <p:spPr bwMode="auto">
          <a:xfrm>
            <a:off x="4408666" y="4286770"/>
            <a:ext cx="263530" cy="380655"/>
          </a:xfrm>
          <a:prstGeom prst="rect">
            <a:avLst/>
          </a:prstGeom>
          <a:solidFill>
            <a:schemeClr val="bg1"/>
          </a:solid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eaLnBrk="1" hangingPunct="1"/>
            <a:r>
              <a:rPr lang="en-US" altLang="zh-CN" sz="2000" b="1" dirty="0">
                <a:solidFill>
                  <a:srgbClr val="11576A"/>
                </a:solidFill>
                <a:latin typeface="微软雅黑" pitchFamily="34" charset="-122"/>
                <a:ea typeface="微软雅黑" pitchFamily="34" charset="-122"/>
                <a:sym typeface="MS PGothic" charset="0"/>
              </a:rPr>
              <a:t>1</a:t>
            </a:r>
          </a:p>
        </p:txBody>
      </p:sp>
    </p:spTree>
    <p:extLst>
      <p:ext uri="{BB962C8B-B14F-4D97-AF65-F5344CB8AC3E}">
        <p14:creationId xmlns:p14="http://schemas.microsoft.com/office/powerpoint/2010/main" val="366470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35" presetClass="emph" presetSubtype="0" repeatCount="3000" fill="hold" grpId="1" nodeType="withEffect">
                                  <p:stCondLst>
                                    <p:cond delay="0"/>
                                  </p:stCondLst>
                                  <p:childTnLst>
                                    <p:anim calcmode="discrete" valueType="str">
                                      <p:cBhvr>
                                        <p:cTn id="8" dur="500" fill="hold"/>
                                        <p:tgtEl>
                                          <p:spTgt spid="37"/>
                                        </p:tgtEl>
                                        <p:attrNameLst>
                                          <p:attrName>style.visibility</p:attrName>
                                        </p:attrNameLst>
                                      </p:cBhvr>
                                      <p:tavLst>
                                        <p:tav tm="0">
                                          <p:val>
                                            <p:strVal val="hidden"/>
                                          </p:val>
                                        </p:tav>
                                        <p:tav tm="50000">
                                          <p:val>
                                            <p:strVal val="visible"/>
                                          </p:val>
                                        </p:tav>
                                      </p:tavLst>
                                    </p:anim>
                                  </p:childTnLst>
                                </p:cTn>
                              </p:par>
                            </p:childTnLst>
                          </p:cTn>
                        </p:par>
                        <p:par>
                          <p:cTn id="9" fill="hold">
                            <p:stCondLst>
                              <p:cond delay="1500"/>
                            </p:stCondLst>
                            <p:childTnLst>
                              <p:par>
                                <p:cTn id="10" presetID="1" presetClass="exit" presetSubtype="0" fill="hold" grpId="2" nodeType="afterEffect">
                                  <p:stCondLst>
                                    <p:cond delay="0"/>
                                  </p:stCondLst>
                                  <p:childTnLst>
                                    <p:set>
                                      <p:cBhvr>
                                        <p:cTn id="11" dur="1" fill="hold">
                                          <p:stCondLst>
                                            <p:cond delay="0"/>
                                          </p:stCondLst>
                                        </p:cTn>
                                        <p:tgtEl>
                                          <p:spTgt spid="37"/>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3" dur="1" fill="hold">
                                          <p:stCondLst>
                                            <p:cond delay="0"/>
                                          </p:stCondLst>
                                        </p:cTn>
                                        <p:tgtEl>
                                          <p:spTgt spid="50"/>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0" nodeType="clickEffect">
                                  <p:stCondLst>
                                    <p:cond delay="0"/>
                                  </p:stCondLst>
                                  <p:childTnLst>
                                    <p:set>
                                      <p:cBhvr>
                                        <p:cTn id="19" dur="1" fill="hold">
                                          <p:stCondLst>
                                            <p:cond delay="0"/>
                                          </p:stCondLst>
                                        </p:cTn>
                                        <p:tgtEl>
                                          <p:spTgt spid="58"/>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childTnLst>
                                </p:cTn>
                              </p:par>
                              <p:par>
                                <p:cTn id="22" presetID="8" presetClass="emph" presetSubtype="0" fill="hold" nodeType="withEffect">
                                  <p:stCondLst>
                                    <p:cond delay="0"/>
                                  </p:stCondLst>
                                  <p:childTnLst>
                                    <p:animRot by="5100000">
                                      <p:cBhvr>
                                        <p:cTn id="23" dur="1500" fill="hold"/>
                                        <p:tgtEl>
                                          <p:spTgt spid="2"/>
                                        </p:tgtEl>
                                        <p:attrNameLst>
                                          <p:attrName>r</p:attrName>
                                        </p:attrNameLst>
                                      </p:cBhvr>
                                    </p:animRot>
                                  </p:childTnLst>
                                </p:cTn>
                              </p:par>
                            </p:childTnLst>
                          </p:cTn>
                        </p:par>
                        <p:par>
                          <p:cTn id="24" fill="hold">
                            <p:stCondLst>
                              <p:cond delay="1500"/>
                            </p:stCondLst>
                            <p:childTnLst>
                              <p:par>
                                <p:cTn id="25" presetID="1" presetClass="exit" presetSubtype="0" fill="hold" grpId="0" nodeType="afterEffect">
                                  <p:stCondLst>
                                    <p:cond delay="0"/>
                                  </p:stCondLst>
                                  <p:childTnLst>
                                    <p:set>
                                      <p:cBhvr>
                                        <p:cTn id="26" dur="1" fill="hold">
                                          <p:stCondLst>
                                            <p:cond delay="0"/>
                                          </p:stCondLst>
                                        </p:cTn>
                                        <p:tgtEl>
                                          <p:spTgt spid="62"/>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8" presetClass="emph" presetSubtype="0" fill="hold" nodeType="withEffect">
                                  <p:stCondLst>
                                    <p:cond delay="0"/>
                                  </p:stCondLst>
                                  <p:childTnLst>
                                    <p:animRot by="4800000">
                                      <p:cBhvr>
                                        <p:cTn id="30" dur="2000" fill="hold"/>
                                        <p:tgtEl>
                                          <p:spTgt spid="2"/>
                                        </p:tgtEl>
                                        <p:attrNameLst>
                                          <p:attrName>r</p:attrName>
                                        </p:attrNameLst>
                                      </p:cBhvr>
                                    </p:animRot>
                                  </p:childTnLst>
                                </p:cTn>
                              </p:par>
                            </p:childTnLst>
                          </p:cTn>
                        </p:par>
                        <p:par>
                          <p:cTn id="31" fill="hold">
                            <p:stCondLst>
                              <p:cond delay="3500"/>
                            </p:stCondLst>
                            <p:childTnLst>
                              <p:par>
                                <p:cTn id="32" presetID="1" presetClass="exit" presetSubtype="0" fill="hold" grpId="1" nodeType="afterEffect">
                                  <p:stCondLst>
                                    <p:cond delay="0"/>
                                  </p:stCondLst>
                                  <p:childTnLst>
                                    <p:set>
                                      <p:cBhvr>
                                        <p:cTn id="33" dur="1" fill="hold">
                                          <p:stCondLst>
                                            <p:cond delay="0"/>
                                          </p:stCondLst>
                                        </p:cTn>
                                        <p:tgtEl>
                                          <p:spTgt spid="38"/>
                                        </p:tgtEl>
                                        <p:attrNameLst>
                                          <p:attrName>style.visibility</p:attrName>
                                        </p:attrNameLst>
                                      </p:cBhvr>
                                      <p:to>
                                        <p:strVal val="hidden"/>
                                      </p:to>
                                    </p:set>
                                  </p:childTnLst>
                                </p:cTn>
                              </p:par>
                              <p:par>
                                <p:cTn id="34" presetID="1" presetClass="entr" presetSubtype="0" fill="hold" grpId="1" nodeType="withEffect">
                                  <p:stCondLst>
                                    <p:cond delay="0"/>
                                  </p:stCondLst>
                                  <p:childTnLst>
                                    <p:set>
                                      <p:cBhvr>
                                        <p:cTn id="35" dur="1" fill="hold">
                                          <p:stCondLst>
                                            <p:cond delay="0"/>
                                          </p:stCondLst>
                                        </p:cTn>
                                        <p:tgtEl>
                                          <p:spTgt spid="50"/>
                                        </p:tgtEl>
                                        <p:attrNameLst>
                                          <p:attrName>style.visibility</p:attrName>
                                        </p:attrNameLst>
                                      </p:cBhvr>
                                      <p:to>
                                        <p:strVal val="visible"/>
                                      </p:to>
                                    </p:set>
                                  </p:childTnLst>
                                </p:cTn>
                              </p:par>
                              <p:par>
                                <p:cTn id="36" presetID="8" presetClass="emph" presetSubtype="0" fill="hold" nodeType="withEffect">
                                  <p:stCondLst>
                                    <p:cond delay="0"/>
                                  </p:stCondLst>
                                  <p:childTnLst>
                                    <p:animRot by="4800000">
                                      <p:cBhvr>
                                        <p:cTn id="37" dur="2000" fill="hold"/>
                                        <p:tgtEl>
                                          <p:spTgt spid="2"/>
                                        </p:tgtEl>
                                        <p:attrNameLst>
                                          <p:attrName>r</p:attrName>
                                        </p:attrNameLst>
                                      </p:cBhvr>
                                    </p:animRot>
                                  </p:childTnLst>
                                </p:cTn>
                              </p:par>
                            </p:childTnLst>
                          </p:cTn>
                        </p:par>
                        <p:par>
                          <p:cTn id="38" fill="hold">
                            <p:stCondLst>
                              <p:cond delay="5500"/>
                            </p:stCondLst>
                            <p:childTnLst>
                              <p:par>
                                <p:cTn id="39" presetID="1" presetClass="exit" presetSubtype="0" fill="hold" grpId="0" nodeType="afterEffect">
                                  <p:stCondLst>
                                    <p:cond delay="0"/>
                                  </p:stCondLst>
                                  <p:childTnLst>
                                    <p:set>
                                      <p:cBhvr>
                                        <p:cTn id="40" dur="1" fill="hold">
                                          <p:stCondLst>
                                            <p:cond delay="0"/>
                                          </p:stCondLst>
                                        </p:cTn>
                                        <p:tgtEl>
                                          <p:spTgt spid="46"/>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8" presetClass="emph" presetSubtype="0" fill="hold" nodeType="withEffect">
                                  <p:stCondLst>
                                    <p:cond delay="0"/>
                                  </p:stCondLst>
                                  <p:childTnLst>
                                    <p:animRot by="3600000">
                                      <p:cBhvr>
                                        <p:cTn id="44" dur="2000" fill="hold"/>
                                        <p:tgtEl>
                                          <p:spTgt spid="2"/>
                                        </p:tgtEl>
                                        <p:attrNameLst>
                                          <p:attrName>r</p:attrName>
                                        </p:attrNameLst>
                                      </p:cBhvr>
                                    </p:animRot>
                                  </p:childTnLst>
                                </p:cTn>
                              </p:par>
                              <p:par>
                                <p:cTn id="45" presetID="1" presetClass="exit" presetSubtype="0" fill="hold" grpId="1" nodeType="withEffect">
                                  <p:stCondLst>
                                    <p:cond delay="0"/>
                                  </p:stCondLst>
                                  <p:childTnLst>
                                    <p:set>
                                      <p:cBhvr>
                                        <p:cTn id="46" dur="1" fill="hold">
                                          <p:stCondLst>
                                            <p:cond delay="0"/>
                                          </p:stCondLst>
                                        </p:cTn>
                                        <p:tgtEl>
                                          <p:spTgt spid="39"/>
                                        </p:tgtEl>
                                        <p:attrNameLst>
                                          <p:attrName>style.visibility</p:attrName>
                                        </p:attrNameLst>
                                      </p:cBhvr>
                                      <p:to>
                                        <p:strVal val="hidden"/>
                                      </p:to>
                                    </p:set>
                                  </p:childTnLst>
                                </p:cTn>
                              </p:par>
                              <p:par>
                                <p:cTn id="47" presetID="1" presetClass="entr" presetSubtype="0" fill="hold" grpId="1"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53"/>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8" presetClass="emph" presetSubtype="0" fill="hold" nodeType="clickEffect">
                                  <p:stCondLst>
                                    <p:cond delay="0"/>
                                  </p:stCondLst>
                                  <p:childTnLst>
                                    <p:animRot by="3600000">
                                      <p:cBhvr>
                                        <p:cTn id="60" dur="2000" fill="hold"/>
                                        <p:tgtEl>
                                          <p:spTgt spid="2"/>
                                        </p:tgtEl>
                                        <p:attrNameLst>
                                          <p:attrName>r</p:attrName>
                                        </p:attrNameLst>
                                      </p:cBhvr>
                                    </p:animRot>
                                  </p:childTnLst>
                                </p:cTn>
                              </p:par>
                            </p:childTnLst>
                          </p:cTn>
                        </p:par>
                        <p:par>
                          <p:cTn id="61" fill="hold">
                            <p:stCondLst>
                              <p:cond delay="2000"/>
                            </p:stCondLst>
                            <p:childTnLst>
                              <p:par>
                                <p:cTn id="62" presetID="1" presetClass="exit" presetSubtype="0" fill="hold" grpId="2" nodeType="afterEffect">
                                  <p:stCondLst>
                                    <p:cond delay="0"/>
                                  </p:stCondLst>
                                  <p:childTnLst>
                                    <p:set>
                                      <p:cBhvr>
                                        <p:cTn id="63" dur="1" fill="hold">
                                          <p:stCondLst>
                                            <p:cond delay="0"/>
                                          </p:stCondLst>
                                        </p:cTn>
                                        <p:tgtEl>
                                          <p:spTgt spid="58"/>
                                        </p:tgtEl>
                                        <p:attrNameLst>
                                          <p:attrName>style.visibility</p:attrName>
                                        </p:attrNameLst>
                                      </p:cBhvr>
                                      <p:to>
                                        <p:strVal val="hidden"/>
                                      </p:to>
                                    </p:set>
                                  </p:childTnLst>
                                </p:cTn>
                              </p:par>
                              <p:par>
                                <p:cTn id="64" presetID="1" presetClass="entr" presetSubtype="0" fill="hold" grpId="2" nodeType="withEffect">
                                  <p:stCondLst>
                                    <p:cond delay="0"/>
                                  </p:stCondLst>
                                  <p:childTnLst>
                                    <p:set>
                                      <p:cBhvr>
                                        <p:cTn id="65" dur="1" fill="hold">
                                          <p:stCondLst>
                                            <p:cond delay="0"/>
                                          </p:stCondLst>
                                        </p:cTn>
                                        <p:tgtEl>
                                          <p:spTgt spid="39"/>
                                        </p:tgtEl>
                                        <p:attrNameLst>
                                          <p:attrName>style.visibility</p:attrName>
                                        </p:attrNameLst>
                                      </p:cBhvr>
                                      <p:to>
                                        <p:strVal val="visible"/>
                                      </p:to>
                                    </p:set>
                                  </p:childTnLst>
                                </p:cTn>
                              </p:par>
                              <p:par>
                                <p:cTn id="66" presetID="8" presetClass="emph" presetSubtype="0" fill="hold" nodeType="withEffect">
                                  <p:stCondLst>
                                    <p:cond delay="0"/>
                                  </p:stCondLst>
                                  <p:childTnLst>
                                    <p:animRot by="5400000">
                                      <p:cBhvr>
                                        <p:cTn id="67" dur="2000" fill="hold"/>
                                        <p:tgtEl>
                                          <p:spTgt spid="2"/>
                                        </p:tgtEl>
                                        <p:attrNameLst>
                                          <p:attrName>r</p:attrName>
                                        </p:attrNameLst>
                                      </p:cBhvr>
                                    </p:animRo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0" nodeType="clickEffect">
                                  <p:stCondLst>
                                    <p:cond delay="0"/>
                                  </p:stCondLst>
                                  <p:childTnLst>
                                    <p:set>
                                      <p:cBhvr>
                                        <p:cTn id="71" dur="1" fill="hold">
                                          <p:stCondLst>
                                            <p:cond delay="0"/>
                                          </p:stCondLst>
                                        </p:cTn>
                                        <p:tgtEl>
                                          <p:spTgt spid="61"/>
                                        </p:tgtEl>
                                        <p:attrNameLst>
                                          <p:attrName>style.visibility</p:attrName>
                                        </p:attrNameLst>
                                      </p:cBhvr>
                                      <p:to>
                                        <p:strVal val="hidden"/>
                                      </p:to>
                                    </p:set>
                                  </p:childTnLst>
                                </p:cTn>
                              </p:par>
                              <p:par>
                                <p:cTn id="72" presetID="1" presetClass="entr" presetSubtype="0" fill="hold" grpId="0" nodeType="withEffect">
                                  <p:stCondLst>
                                    <p:cond delay="0"/>
                                  </p:stCondLst>
                                  <p:childTnLst>
                                    <p:set>
                                      <p:cBhvr>
                                        <p:cTn id="73" dur="1" fill="hold">
                                          <p:stCondLst>
                                            <p:cond delay="0"/>
                                          </p:stCondLst>
                                        </p:cTn>
                                        <p:tgtEl>
                                          <p:spTgt spid="72"/>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0" grpId="0" animBg="1"/>
      <p:bldP spid="50" grpId="1" animBg="1"/>
      <p:bldP spid="53" grpId="0" animBg="1"/>
      <p:bldP spid="58" grpId="0" animBg="1"/>
      <p:bldP spid="58" grpId="1" animBg="1"/>
      <p:bldP spid="58" grpId="2" animBg="1"/>
      <p:bldP spid="61" grpId="0" animBg="1"/>
      <p:bldP spid="62" grpId="0" animBg="1"/>
      <p:bldP spid="37" grpId="0"/>
      <p:bldP spid="37" grpId="1"/>
      <p:bldP spid="37" grpId="2"/>
      <p:bldP spid="38" grpId="0" animBg="1"/>
      <p:bldP spid="38" grpId="1" animBg="1"/>
      <p:bldP spid="39" grpId="0" animBg="1"/>
      <p:bldP spid="39" grpId="1" animBg="1"/>
      <p:bldP spid="39" grpId="2" animBg="1"/>
      <p:bldP spid="40" grpId="0" animBg="1"/>
      <p:bldP spid="41" grpId="0" animBg="1"/>
      <p:bldP spid="44" grpId="0" animBg="1"/>
      <p:bldP spid="72" grpId="0" animBg="1"/>
      <p:bldP spid="75" grpId="0" animBg="1"/>
      <p:bldP spid="7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46159" y="3616075"/>
            <a:ext cx="7654097" cy="997878"/>
            <a:chOff x="859163" y="2654713"/>
            <a:chExt cx="7654097" cy="997878"/>
          </a:xfrm>
        </p:grpSpPr>
        <p:sp>
          <p:nvSpPr>
            <p:cNvPr id="19" name="TextBox 18"/>
            <p:cNvSpPr txBox="1"/>
            <p:nvPr/>
          </p:nvSpPr>
          <p:spPr>
            <a:xfrm>
              <a:off x="1177724" y="2654713"/>
              <a:ext cx="1465450"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算法</a:t>
              </a:r>
            </a:p>
          </p:txBody>
        </p:sp>
        <p:sp>
          <p:nvSpPr>
            <p:cNvPr id="25" name="TextBox 24"/>
            <p:cNvSpPr txBox="1"/>
            <p:nvPr/>
          </p:nvSpPr>
          <p:spPr>
            <a:xfrm>
              <a:off x="1431021" y="2963025"/>
              <a:ext cx="5998497"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访问页面时，在页表项记录页面访问情况</a:t>
              </a:r>
              <a:endParaRPr lang="en-US" altLang="zh-CN" sz="2000" b="1" dirty="0">
                <a:solidFill>
                  <a:srgbClr val="11576A"/>
                </a:solidFill>
                <a:latin typeface="微软雅黑" pitchFamily="34" charset="-122"/>
                <a:ea typeface="微软雅黑" pitchFamily="34" charset="-122"/>
              </a:endParaRPr>
            </a:p>
          </p:txBody>
        </p:sp>
        <p:sp>
          <p:nvSpPr>
            <p:cNvPr id="26" name="TextBox 25"/>
            <p:cNvSpPr txBox="1"/>
            <p:nvPr/>
          </p:nvSpPr>
          <p:spPr>
            <a:xfrm>
              <a:off x="1431021" y="3252481"/>
              <a:ext cx="7082239"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缺页时，从指针处开始顺序查找未被访问的页面进行置换</a:t>
              </a:r>
              <a:endParaRPr lang="en-US" altLang="zh-CN" sz="2000" b="1" dirty="0">
                <a:solidFill>
                  <a:srgbClr val="11576A"/>
                </a:solidFill>
                <a:latin typeface="微软雅黑" pitchFamily="34" charset="-122"/>
                <a:ea typeface="微软雅黑" pitchFamily="34" charset="-122"/>
              </a:endParaRPr>
            </a:p>
          </p:txBody>
        </p:sp>
        <p:pic>
          <p:nvPicPr>
            <p:cNvPr id="39" name="图片 38" descr="小点1.png"/>
            <p:cNvPicPr>
              <a:picLocks noChangeAspect="1"/>
            </p:cNvPicPr>
            <p:nvPr/>
          </p:nvPicPr>
          <p:blipFill>
            <a:blip r:embed="rId2" cstate="print"/>
            <a:stretch>
              <a:fillRect/>
            </a:stretch>
          </p:blipFill>
          <p:spPr>
            <a:xfrm>
              <a:off x="1284441" y="3346497"/>
              <a:ext cx="151066" cy="148997"/>
            </a:xfrm>
            <a:prstGeom prst="rect">
              <a:avLst/>
            </a:prstGeom>
            <a:effectLst/>
          </p:spPr>
        </p:pic>
        <p:pic>
          <p:nvPicPr>
            <p:cNvPr id="40" name="图片 39" descr="小点1.png"/>
            <p:cNvPicPr>
              <a:picLocks noChangeAspect="1"/>
            </p:cNvPicPr>
            <p:nvPr/>
          </p:nvPicPr>
          <p:blipFill>
            <a:blip r:embed="rId2" cstate="print"/>
            <a:stretch>
              <a:fillRect/>
            </a:stretch>
          </p:blipFill>
          <p:spPr>
            <a:xfrm>
              <a:off x="1284441" y="3064626"/>
              <a:ext cx="151066" cy="148997"/>
            </a:xfrm>
            <a:prstGeom prst="rect">
              <a:avLst/>
            </a:prstGeom>
            <a:effectLst/>
          </p:spPr>
        </p:pic>
        <p:sp>
          <p:nvSpPr>
            <p:cNvPr id="45" name="TextBox 44"/>
            <p:cNvSpPr txBox="1"/>
            <p:nvPr/>
          </p:nvSpPr>
          <p:spPr>
            <a:xfrm>
              <a:off x="859163" y="2654713"/>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2" name="组合 1"/>
          <p:cNvGrpSpPr/>
          <p:nvPr/>
        </p:nvGrpSpPr>
        <p:grpSpPr>
          <a:xfrm>
            <a:off x="731520" y="1556792"/>
            <a:ext cx="4944215" cy="749891"/>
            <a:chOff x="844524" y="747700"/>
            <a:chExt cx="4944215" cy="749891"/>
          </a:xfrm>
        </p:grpSpPr>
        <p:sp>
          <p:nvSpPr>
            <p:cNvPr id="10" name="TextBox 9"/>
            <p:cNvSpPr txBox="1"/>
            <p:nvPr/>
          </p:nvSpPr>
          <p:spPr>
            <a:xfrm>
              <a:off x="1175432" y="747700"/>
              <a:ext cx="139630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思路</a:t>
              </a:r>
            </a:p>
          </p:txBody>
        </p:sp>
        <p:sp>
          <p:nvSpPr>
            <p:cNvPr id="20" name="TextBox 19"/>
            <p:cNvSpPr txBox="1"/>
            <p:nvPr/>
          </p:nvSpPr>
          <p:spPr>
            <a:xfrm>
              <a:off x="1431021" y="1097481"/>
              <a:ext cx="4357718"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仅对页面的访问情况进行大致统计</a:t>
              </a:r>
              <a:endParaRPr lang="en-US" altLang="zh-CN" sz="2000" b="1" dirty="0">
                <a:solidFill>
                  <a:srgbClr val="11576A"/>
                </a:solidFill>
                <a:latin typeface="微软雅黑" pitchFamily="34" charset="-122"/>
                <a:ea typeface="微软雅黑" pitchFamily="34" charset="-122"/>
              </a:endParaRPr>
            </a:p>
          </p:txBody>
        </p:sp>
        <p:pic>
          <p:nvPicPr>
            <p:cNvPr id="43" name="图片 42" descr="小点1.png"/>
            <p:cNvPicPr>
              <a:picLocks noChangeAspect="1"/>
            </p:cNvPicPr>
            <p:nvPr/>
          </p:nvPicPr>
          <p:blipFill>
            <a:blip r:embed="rId2" cstate="print"/>
            <a:stretch>
              <a:fillRect/>
            </a:stretch>
          </p:blipFill>
          <p:spPr>
            <a:xfrm>
              <a:off x="1284441" y="1195201"/>
              <a:ext cx="151066" cy="148997"/>
            </a:xfrm>
            <a:prstGeom prst="rect">
              <a:avLst/>
            </a:prstGeom>
            <a:effectLst/>
          </p:spPr>
        </p:pic>
        <p:sp>
          <p:nvSpPr>
            <p:cNvPr id="49" name="TextBox 48"/>
            <p:cNvSpPr txBox="1"/>
            <p:nvPr/>
          </p:nvSpPr>
          <p:spPr>
            <a:xfrm>
              <a:off x="844524" y="74770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731518" y="2305927"/>
            <a:ext cx="8028778" cy="1327081"/>
            <a:chOff x="844524" y="1416571"/>
            <a:chExt cx="8028778" cy="1327081"/>
          </a:xfrm>
        </p:grpSpPr>
        <p:sp>
          <p:nvSpPr>
            <p:cNvPr id="18" name="TextBox 17"/>
            <p:cNvSpPr txBox="1"/>
            <p:nvPr/>
          </p:nvSpPr>
          <p:spPr>
            <a:xfrm>
              <a:off x="1175432" y="1416571"/>
              <a:ext cx="2153254"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数据结构</a:t>
              </a:r>
            </a:p>
          </p:txBody>
        </p:sp>
        <p:sp>
          <p:nvSpPr>
            <p:cNvPr id="21" name="TextBox 20"/>
            <p:cNvSpPr txBox="1"/>
            <p:nvPr/>
          </p:nvSpPr>
          <p:spPr>
            <a:xfrm>
              <a:off x="1431020" y="1740423"/>
              <a:ext cx="7442282"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在页表项中增加</a:t>
              </a:r>
              <a:r>
                <a:rPr lang="zh-CN" altLang="en-US" sz="2000" b="1" dirty="0">
                  <a:solidFill>
                    <a:srgbClr val="C00000"/>
                  </a:solidFill>
                  <a:latin typeface="微软雅黑" pitchFamily="34" charset="-122"/>
                  <a:ea typeface="微软雅黑" pitchFamily="34" charset="-122"/>
                </a:rPr>
                <a:t>访问位</a:t>
              </a:r>
              <a:r>
                <a:rPr lang="zh-CN" altLang="en-US" sz="2000" b="1" dirty="0">
                  <a:solidFill>
                    <a:srgbClr val="11576A"/>
                  </a:solidFill>
                  <a:latin typeface="微软雅黑" pitchFamily="34" charset="-122"/>
                  <a:ea typeface="微软雅黑" pitchFamily="34" charset="-122"/>
                </a:rPr>
                <a:t>，描述页面在过去一段时间的内访问情况</a:t>
              </a:r>
            </a:p>
          </p:txBody>
        </p:sp>
        <p:sp>
          <p:nvSpPr>
            <p:cNvPr id="24" name="TextBox 23"/>
            <p:cNvSpPr txBox="1"/>
            <p:nvPr/>
          </p:nvSpPr>
          <p:spPr>
            <a:xfrm>
              <a:off x="1431021" y="2031799"/>
              <a:ext cx="5998499"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各页面组织成</a:t>
              </a:r>
              <a:r>
                <a:rPr lang="zh-CN" altLang="en-US" sz="2000" b="1" dirty="0">
                  <a:solidFill>
                    <a:srgbClr val="C00000"/>
                  </a:solidFill>
                  <a:latin typeface="微软雅黑" pitchFamily="34" charset="-122"/>
                  <a:ea typeface="微软雅黑" pitchFamily="34" charset="-122"/>
                </a:rPr>
                <a:t>环形链表</a:t>
              </a:r>
              <a:endParaRPr lang="en-US" altLang="zh-CN" sz="2000" b="1" dirty="0">
                <a:solidFill>
                  <a:srgbClr val="C00000"/>
                </a:solidFill>
                <a:latin typeface="微软雅黑" pitchFamily="34" charset="-122"/>
                <a:ea typeface="微软雅黑" pitchFamily="34" charset="-122"/>
              </a:endParaRPr>
            </a:p>
          </p:txBody>
        </p:sp>
        <p:pic>
          <p:nvPicPr>
            <p:cNvPr id="41" name="图片 40" descr="小点1.png"/>
            <p:cNvPicPr>
              <a:picLocks noChangeAspect="1"/>
            </p:cNvPicPr>
            <p:nvPr/>
          </p:nvPicPr>
          <p:blipFill>
            <a:blip r:embed="rId2" cstate="print"/>
            <a:stretch>
              <a:fillRect/>
            </a:stretch>
          </p:blipFill>
          <p:spPr>
            <a:xfrm>
              <a:off x="1284441" y="2125182"/>
              <a:ext cx="151066" cy="148997"/>
            </a:xfrm>
            <a:prstGeom prst="rect">
              <a:avLst/>
            </a:prstGeom>
            <a:effectLst/>
          </p:spPr>
        </p:pic>
        <p:pic>
          <p:nvPicPr>
            <p:cNvPr id="42" name="图片 41" descr="小点1.png"/>
            <p:cNvPicPr>
              <a:picLocks noChangeAspect="1"/>
            </p:cNvPicPr>
            <p:nvPr/>
          </p:nvPicPr>
          <p:blipFill>
            <a:blip r:embed="rId2" cstate="print"/>
            <a:stretch>
              <a:fillRect/>
            </a:stretch>
          </p:blipFill>
          <p:spPr>
            <a:xfrm>
              <a:off x="1284441" y="1849432"/>
              <a:ext cx="151066" cy="148997"/>
            </a:xfrm>
            <a:prstGeom prst="rect">
              <a:avLst/>
            </a:prstGeom>
            <a:effectLst/>
          </p:spPr>
        </p:pic>
        <p:sp>
          <p:nvSpPr>
            <p:cNvPr id="48" name="TextBox 47"/>
            <p:cNvSpPr txBox="1"/>
            <p:nvPr/>
          </p:nvSpPr>
          <p:spPr>
            <a:xfrm>
              <a:off x="844524" y="1416571"/>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32" name="TextBox 31"/>
            <p:cNvSpPr txBox="1"/>
            <p:nvPr/>
          </p:nvSpPr>
          <p:spPr>
            <a:xfrm>
              <a:off x="1431020" y="2343542"/>
              <a:ext cx="5855624" cy="400110"/>
            </a:xfrm>
            <a:prstGeom prst="rect">
              <a:avLst/>
            </a:prstGeom>
            <a:noFill/>
            <a:effectLst/>
          </p:spPr>
          <p:txBody>
            <a:bodyPr wrap="square" rtlCol="0">
              <a:spAutoFit/>
            </a:bodyPr>
            <a:lstStyle/>
            <a:p>
              <a:pPr marL="0" lvl="1"/>
              <a:r>
                <a:rPr lang="zh-CN" altLang="en-US" sz="2000" b="1" dirty="0">
                  <a:solidFill>
                    <a:srgbClr val="C00000"/>
                  </a:solidFill>
                  <a:latin typeface="微软雅黑" pitchFamily="34" charset="-122"/>
                  <a:ea typeface="微软雅黑" pitchFamily="34" charset="-122"/>
                </a:rPr>
                <a:t>指针</a:t>
              </a:r>
              <a:r>
                <a:rPr lang="zh-CN" altLang="en-US" sz="2000" b="1" dirty="0">
                  <a:solidFill>
                    <a:srgbClr val="11576A"/>
                  </a:solidFill>
                  <a:latin typeface="微软雅黑" pitchFamily="34" charset="-122"/>
                  <a:ea typeface="微软雅黑" pitchFamily="34" charset="-122"/>
                </a:rPr>
                <a:t>指向最先调入的页面</a:t>
              </a:r>
              <a:endParaRPr lang="en-US" altLang="zh-CN" sz="2000" b="1" dirty="0">
                <a:solidFill>
                  <a:srgbClr val="11576A"/>
                </a:solidFill>
                <a:latin typeface="微软雅黑" pitchFamily="34" charset="-122"/>
                <a:ea typeface="微软雅黑" pitchFamily="34" charset="-122"/>
              </a:endParaRPr>
            </a:p>
          </p:txBody>
        </p:sp>
        <p:pic>
          <p:nvPicPr>
            <p:cNvPr id="35" name="图片 34" descr="小点1.png"/>
            <p:cNvPicPr>
              <a:picLocks noChangeAspect="1"/>
            </p:cNvPicPr>
            <p:nvPr/>
          </p:nvPicPr>
          <p:blipFill>
            <a:blip r:embed="rId2" cstate="print"/>
            <a:stretch>
              <a:fillRect/>
            </a:stretch>
          </p:blipFill>
          <p:spPr>
            <a:xfrm>
              <a:off x="1284441" y="2452551"/>
              <a:ext cx="151066" cy="148997"/>
            </a:xfrm>
            <a:prstGeom prst="rect">
              <a:avLst/>
            </a:prstGeom>
            <a:effectLst/>
          </p:spPr>
        </p:pic>
      </p:grpSp>
      <p:grpSp>
        <p:nvGrpSpPr>
          <p:cNvPr id="5" name="组合 4"/>
          <p:cNvGrpSpPr/>
          <p:nvPr/>
        </p:nvGrpSpPr>
        <p:grpSpPr>
          <a:xfrm>
            <a:off x="746159" y="4580428"/>
            <a:ext cx="4648941" cy="720780"/>
            <a:chOff x="859163" y="3547058"/>
            <a:chExt cx="4648941" cy="720780"/>
          </a:xfrm>
        </p:grpSpPr>
        <p:sp>
          <p:nvSpPr>
            <p:cNvPr id="31" name="TextBox 30"/>
            <p:cNvSpPr txBox="1"/>
            <p:nvPr/>
          </p:nvSpPr>
          <p:spPr>
            <a:xfrm>
              <a:off x="1435783" y="3867728"/>
              <a:ext cx="407232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时钟算法是</a:t>
              </a:r>
              <a:r>
                <a:rPr lang="en-US" altLang="zh-CN" sz="2000" b="1" dirty="0">
                  <a:solidFill>
                    <a:srgbClr val="11576A"/>
                  </a:solidFill>
                  <a:latin typeface="微软雅黑" pitchFamily="34" charset="-122"/>
                  <a:ea typeface="微软雅黑" pitchFamily="34" charset="-122"/>
                </a:rPr>
                <a:t>LRU</a:t>
              </a:r>
              <a:r>
                <a:rPr lang="zh-CN" altLang="en-US" sz="2000" b="1" dirty="0">
                  <a:solidFill>
                    <a:srgbClr val="11576A"/>
                  </a:solidFill>
                  <a:latin typeface="微软雅黑" pitchFamily="34" charset="-122"/>
                  <a:ea typeface="微软雅黑" pitchFamily="34" charset="-122"/>
                </a:rPr>
                <a:t>和</a:t>
              </a:r>
              <a:r>
                <a:rPr lang="en-US" altLang="zh-CN" sz="2000" b="1" dirty="0">
                  <a:solidFill>
                    <a:srgbClr val="11576A"/>
                  </a:solidFill>
                  <a:latin typeface="微软雅黑" pitchFamily="34" charset="-122"/>
                  <a:ea typeface="微软雅黑" pitchFamily="34" charset="-122"/>
                </a:rPr>
                <a:t>FIFO</a:t>
              </a:r>
              <a:r>
                <a:rPr lang="zh-CN" altLang="en-US" sz="2000" b="1" dirty="0">
                  <a:solidFill>
                    <a:srgbClr val="11576A"/>
                  </a:solidFill>
                  <a:latin typeface="微软雅黑" pitchFamily="34" charset="-122"/>
                  <a:ea typeface="微软雅黑" pitchFamily="34" charset="-122"/>
                </a:rPr>
                <a:t>的折中</a:t>
              </a:r>
            </a:p>
          </p:txBody>
        </p:sp>
        <p:pic>
          <p:nvPicPr>
            <p:cNvPr id="34" name="图片 33" descr="小点1.png"/>
            <p:cNvPicPr>
              <a:picLocks noChangeAspect="1"/>
            </p:cNvPicPr>
            <p:nvPr/>
          </p:nvPicPr>
          <p:blipFill>
            <a:blip r:embed="rId2" cstate="print"/>
            <a:stretch>
              <a:fillRect/>
            </a:stretch>
          </p:blipFill>
          <p:spPr>
            <a:xfrm>
              <a:off x="1277914" y="3937476"/>
              <a:ext cx="151066" cy="148997"/>
            </a:xfrm>
            <a:prstGeom prst="rect">
              <a:avLst/>
            </a:prstGeom>
            <a:effectLst/>
          </p:spPr>
        </p:pic>
        <p:sp>
          <p:nvSpPr>
            <p:cNvPr id="27" name="TextBox 26"/>
            <p:cNvSpPr txBox="1"/>
            <p:nvPr/>
          </p:nvSpPr>
          <p:spPr>
            <a:xfrm>
              <a:off x="1177724" y="3547058"/>
              <a:ext cx="1465450" cy="443198"/>
            </a:xfrm>
            <a:prstGeom prst="rect">
              <a:avLst/>
            </a:prstGeom>
            <a:noFill/>
            <a:effectLst/>
          </p:spPr>
          <p:txBody>
            <a:bodyPr wrap="square" rtlCol="0">
              <a:spAutoFit/>
            </a:bodyPr>
            <a:lstStyle/>
            <a:p>
              <a:pPr marL="0" lvl="1">
                <a:lnSpc>
                  <a:spcPct val="95000"/>
                </a:lnSpc>
                <a:tabLst>
                  <a:tab pos="715963" algn="l"/>
                </a:tabLst>
              </a:pPr>
              <a:r>
                <a:rPr lang="zh-CN" altLang="en-US" sz="2400" b="1" dirty="0">
                  <a:solidFill>
                    <a:srgbClr val="11576A"/>
                  </a:solidFill>
                  <a:latin typeface="微软雅黑" pitchFamily="34" charset="-122"/>
                  <a:ea typeface="微软雅黑" pitchFamily="34" charset="-122"/>
                </a:rPr>
                <a:t>特征</a:t>
              </a:r>
            </a:p>
          </p:txBody>
        </p:sp>
        <p:sp>
          <p:nvSpPr>
            <p:cNvPr id="29" name="TextBox 28"/>
            <p:cNvSpPr txBox="1"/>
            <p:nvPr/>
          </p:nvSpPr>
          <p:spPr>
            <a:xfrm>
              <a:off x="859163" y="354705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grpSp>
      <p:sp>
        <p:nvSpPr>
          <p:cNvPr id="6" name="文本框 5">
            <a:extLst>
              <a:ext uri="{FF2B5EF4-FFF2-40B4-BE49-F238E27FC236}">
                <a16:creationId xmlns:a16="http://schemas.microsoft.com/office/drawing/2014/main" id="{88630C6A-CB37-C569-9F39-7AD9CC338408}"/>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7" name="标题 8">
            <a:extLst>
              <a:ext uri="{FF2B5EF4-FFF2-40B4-BE49-F238E27FC236}">
                <a16:creationId xmlns:a16="http://schemas.microsoft.com/office/drawing/2014/main" id="{91DC6962-412A-A3E4-695F-A6179DC69FA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时钟置换算法（</a:t>
            </a:r>
            <a:r>
              <a:rPr lang="en-US" altLang="zh-CN" b="0" kern="0" dirty="0"/>
              <a:t>Clock</a:t>
            </a:r>
            <a:r>
              <a:rPr lang="zh-CN" altLang="en-US" b="0" kern="0" dirty="0"/>
              <a:t>）</a:t>
            </a:r>
          </a:p>
        </p:txBody>
      </p:sp>
    </p:spTree>
    <p:extLst>
      <p:ext uri="{BB962C8B-B14F-4D97-AF65-F5344CB8AC3E}">
        <p14:creationId xmlns:p14="http://schemas.microsoft.com/office/powerpoint/2010/main" val="228601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731520" y="1556792"/>
            <a:ext cx="5148456" cy="400110"/>
          </a:xfrm>
          <a:prstGeom prst="rect">
            <a:avLst/>
          </a:prstGeom>
          <a:noFill/>
          <a:effectLst/>
        </p:spPr>
        <p:txBody>
          <a:bodyPr wrap="square" rtlCol="0">
            <a:spAutoFit/>
          </a:bodyPr>
          <a:lstStyle/>
          <a:p>
            <a:pPr marL="0" lvl="1"/>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itchFamily="34" charset="-122"/>
                <a:ea typeface="微软雅黑" pitchFamily="34" charset="-122"/>
              </a:rPr>
              <a:t> 页面装入内存时，访问位初始化为</a:t>
            </a:r>
            <a:r>
              <a:rPr lang="en-US" altLang="zh-CN" sz="2000" b="1" dirty="0">
                <a:solidFill>
                  <a:srgbClr val="11576A"/>
                </a:solidFill>
                <a:latin typeface="微软雅黑" pitchFamily="34" charset="-122"/>
                <a:ea typeface="微软雅黑" pitchFamily="34" charset="-122"/>
              </a:rPr>
              <a:t>0</a:t>
            </a:r>
          </a:p>
        </p:txBody>
      </p:sp>
      <p:sp>
        <p:nvSpPr>
          <p:cNvPr id="26" name="TextBox 25"/>
          <p:cNvSpPr txBox="1"/>
          <p:nvPr/>
        </p:nvSpPr>
        <p:spPr>
          <a:xfrm>
            <a:off x="731520" y="1860006"/>
            <a:ext cx="5148456" cy="400110"/>
          </a:xfrm>
          <a:prstGeom prst="rect">
            <a:avLst/>
          </a:prstGeom>
          <a:noFill/>
          <a:effectLst/>
        </p:spPr>
        <p:txBody>
          <a:bodyPr wrap="square" rtlCol="0">
            <a:spAutoFit/>
          </a:bodyPr>
          <a:lstStyle/>
          <a:p>
            <a:pPr marL="0" lvl="1"/>
            <a:r>
              <a:rPr lang="zh-CN" altLang="en-US" sz="2000" b="1" dirty="0">
                <a:solidFill>
                  <a:srgbClr val="11576A"/>
                </a:solidFill>
                <a:latin typeface="张海山锐谐体2.0-授权联系：Samtype@QQ.com" pitchFamily="2" charset="-122"/>
                <a:ea typeface="张海山锐谐体2.0-授权联系：Samtype@QQ.com" pitchFamily="2" charset="-122"/>
              </a:rPr>
              <a:t>■ </a:t>
            </a:r>
            <a:r>
              <a:rPr lang="zh-CN" altLang="en-US" sz="2000" b="1" dirty="0">
                <a:solidFill>
                  <a:srgbClr val="11576A"/>
                </a:solidFill>
                <a:latin typeface="微软雅黑" pitchFamily="34" charset="-122"/>
                <a:ea typeface="微软雅黑" pitchFamily="34" charset="-122"/>
              </a:rPr>
              <a:t>访问页面（读</a:t>
            </a:r>
            <a:r>
              <a:rPr lang="en-US" altLang="zh-CN" sz="2000" b="1" dirty="0">
                <a:solidFill>
                  <a:srgbClr val="11576A"/>
                </a:solidFill>
                <a:latin typeface="微软雅黑" pitchFamily="34" charset="-122"/>
                <a:ea typeface="微软雅黑" pitchFamily="34" charset="-122"/>
              </a:rPr>
              <a:t>/</a:t>
            </a:r>
            <a:r>
              <a:rPr lang="zh-CN" altLang="en-US" sz="2000" b="1" dirty="0">
                <a:solidFill>
                  <a:srgbClr val="11576A"/>
                </a:solidFill>
                <a:latin typeface="微软雅黑" pitchFamily="34" charset="-122"/>
                <a:ea typeface="微软雅黑" pitchFamily="34" charset="-122"/>
              </a:rPr>
              <a:t>写</a:t>
            </a:r>
            <a:r>
              <a:rPr lang="en-US" altLang="zh-CN" sz="2000" b="1" dirty="0">
                <a:solidFill>
                  <a:srgbClr val="11576A"/>
                </a:solidFill>
                <a:latin typeface="微软雅黑" pitchFamily="34" charset="-122"/>
                <a:ea typeface="微软雅黑" pitchFamily="34" charset="-122"/>
              </a:rPr>
              <a:t>)</a:t>
            </a:r>
            <a:r>
              <a:rPr lang="zh-CN" altLang="en-US" sz="2000" b="1" dirty="0">
                <a:solidFill>
                  <a:srgbClr val="11576A"/>
                </a:solidFill>
                <a:latin typeface="微软雅黑" pitchFamily="34" charset="-122"/>
                <a:ea typeface="微软雅黑" pitchFamily="34" charset="-122"/>
              </a:rPr>
              <a:t>时，访问位置</a:t>
            </a:r>
            <a:r>
              <a:rPr lang="en-US" altLang="zh-CN" sz="2000" b="1" dirty="0">
                <a:solidFill>
                  <a:srgbClr val="11576A"/>
                </a:solidFill>
                <a:latin typeface="微软雅黑" pitchFamily="34" charset="-122"/>
                <a:ea typeface="微软雅黑" pitchFamily="34" charset="-122"/>
              </a:rPr>
              <a:t>1</a:t>
            </a:r>
          </a:p>
        </p:txBody>
      </p:sp>
      <p:grpSp>
        <p:nvGrpSpPr>
          <p:cNvPr id="3" name="组合 2"/>
          <p:cNvGrpSpPr/>
          <p:nvPr/>
        </p:nvGrpSpPr>
        <p:grpSpPr>
          <a:xfrm>
            <a:off x="731518" y="2181427"/>
            <a:ext cx="10337838" cy="1004349"/>
            <a:chOff x="1115616" y="1817989"/>
            <a:chExt cx="10337838" cy="1004349"/>
          </a:xfrm>
        </p:grpSpPr>
        <p:sp>
          <p:nvSpPr>
            <p:cNvPr id="31" name="TextBox 30"/>
            <p:cNvSpPr txBox="1"/>
            <p:nvPr/>
          </p:nvSpPr>
          <p:spPr>
            <a:xfrm>
              <a:off x="1115616" y="1817989"/>
              <a:ext cx="6320707" cy="400110"/>
            </a:xfrm>
            <a:prstGeom prst="rect">
              <a:avLst/>
            </a:prstGeom>
            <a:noFill/>
            <a:effectLst/>
          </p:spPr>
          <p:txBody>
            <a:bodyPr wrap="square" rtlCol="0">
              <a:spAutoFit/>
            </a:bodyPr>
            <a:lstStyle/>
            <a:p>
              <a:pPr marL="0" lvl="1"/>
              <a:r>
                <a:rPr lang="zh-CN" altLang="en-US" sz="2000"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itchFamily="34" charset="-122"/>
                  <a:ea typeface="微软雅黑" pitchFamily="34" charset="-122"/>
                </a:rPr>
                <a:t> 缺页时，从指针当前位置顺序检查环形链表</a:t>
              </a:r>
              <a:endParaRPr lang="en-US" altLang="zh-CN" sz="2000" b="1" dirty="0">
                <a:solidFill>
                  <a:srgbClr val="11576A"/>
                </a:solidFill>
                <a:latin typeface="微软雅黑" pitchFamily="34" charset="-122"/>
                <a:ea typeface="微软雅黑" pitchFamily="34" charset="-122"/>
              </a:endParaRPr>
            </a:p>
          </p:txBody>
        </p:sp>
        <p:sp>
          <p:nvSpPr>
            <p:cNvPr id="28" name="TextBox 27"/>
            <p:cNvSpPr txBox="1"/>
            <p:nvPr/>
          </p:nvSpPr>
          <p:spPr>
            <a:xfrm>
              <a:off x="1664611" y="2136476"/>
              <a:ext cx="4967252"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访问位为</a:t>
              </a:r>
              <a:r>
                <a:rPr lang="en-US" altLang="zh-CN" sz="2000" b="1" dirty="0">
                  <a:solidFill>
                    <a:srgbClr val="11576A"/>
                  </a:solidFill>
                  <a:latin typeface="微软雅黑" pitchFamily="34" charset="-122"/>
                  <a:ea typeface="微软雅黑" pitchFamily="34" charset="-122"/>
                </a:rPr>
                <a:t>0</a:t>
              </a:r>
              <a:r>
                <a:rPr lang="zh-CN" altLang="en-US" sz="2000" b="1" dirty="0">
                  <a:solidFill>
                    <a:srgbClr val="11576A"/>
                  </a:solidFill>
                  <a:latin typeface="微软雅黑" pitchFamily="34" charset="-122"/>
                  <a:ea typeface="微软雅黑" pitchFamily="34" charset="-122"/>
                </a:rPr>
                <a:t>，则置换该页</a:t>
              </a:r>
              <a:endParaRPr lang="en-US" altLang="zh-CN" sz="2000" b="1" dirty="0">
                <a:solidFill>
                  <a:srgbClr val="11576A"/>
                </a:solidFill>
                <a:latin typeface="微软雅黑" pitchFamily="34" charset="-122"/>
                <a:ea typeface="微软雅黑" pitchFamily="34" charset="-122"/>
              </a:endParaRPr>
            </a:p>
          </p:txBody>
        </p:sp>
        <p:pic>
          <p:nvPicPr>
            <p:cNvPr id="30" name="图片 29" descr="小点1.png"/>
            <p:cNvPicPr>
              <a:picLocks noChangeAspect="1"/>
            </p:cNvPicPr>
            <p:nvPr/>
          </p:nvPicPr>
          <p:blipFill>
            <a:blip r:embed="rId2" cstate="print"/>
            <a:stretch>
              <a:fillRect/>
            </a:stretch>
          </p:blipFill>
          <p:spPr>
            <a:xfrm>
              <a:off x="1506742" y="2270773"/>
              <a:ext cx="151066" cy="148997"/>
            </a:xfrm>
            <a:prstGeom prst="rect">
              <a:avLst/>
            </a:prstGeom>
            <a:effectLst/>
          </p:spPr>
        </p:pic>
        <p:sp>
          <p:nvSpPr>
            <p:cNvPr id="33" name="TextBox 32"/>
            <p:cNvSpPr txBox="1"/>
            <p:nvPr/>
          </p:nvSpPr>
          <p:spPr>
            <a:xfrm>
              <a:off x="1664611" y="2422228"/>
              <a:ext cx="9788843" cy="400110"/>
            </a:xfrm>
            <a:prstGeom prst="rect">
              <a:avLst/>
            </a:prstGeom>
            <a:noFill/>
            <a:effectLst/>
          </p:spPr>
          <p:txBody>
            <a:bodyPr wrap="square" rtlCol="0">
              <a:spAutoFit/>
            </a:bodyPr>
            <a:lstStyle/>
            <a:p>
              <a:pPr marL="0" lvl="2"/>
              <a:r>
                <a:rPr lang="zh-CN" altLang="en-US" sz="2000" b="1" dirty="0">
                  <a:solidFill>
                    <a:srgbClr val="11576A"/>
                  </a:solidFill>
                  <a:latin typeface="微软雅黑" pitchFamily="34" charset="-122"/>
                  <a:ea typeface="微软雅黑" pitchFamily="34" charset="-122"/>
                </a:rPr>
                <a:t>访问位为</a:t>
              </a:r>
              <a:r>
                <a:rPr lang="en-US" altLang="zh-CN" sz="2000" b="1" dirty="0">
                  <a:solidFill>
                    <a:srgbClr val="11576A"/>
                  </a:solidFill>
                  <a:latin typeface="微软雅黑" pitchFamily="34" charset="-122"/>
                  <a:ea typeface="微软雅黑" pitchFamily="34" charset="-122"/>
                </a:rPr>
                <a:t>1</a:t>
              </a:r>
              <a:r>
                <a:rPr lang="zh-CN" altLang="en-US" sz="2000" b="1" dirty="0">
                  <a:solidFill>
                    <a:srgbClr val="11576A"/>
                  </a:solidFill>
                  <a:latin typeface="微软雅黑" pitchFamily="34" charset="-122"/>
                  <a:ea typeface="微软雅黑" pitchFamily="34" charset="-122"/>
                </a:rPr>
                <a:t>，则访问位置</a:t>
              </a:r>
              <a:r>
                <a:rPr lang="en-US" altLang="zh-CN" sz="2000" b="1" dirty="0">
                  <a:solidFill>
                    <a:srgbClr val="11576A"/>
                  </a:solidFill>
                  <a:latin typeface="微软雅黑" pitchFamily="34" charset="-122"/>
                  <a:ea typeface="微软雅黑" pitchFamily="34" charset="-122"/>
                </a:rPr>
                <a:t>0</a:t>
              </a:r>
              <a:r>
                <a:rPr lang="zh-CN" altLang="en-US" sz="2000" b="1" dirty="0">
                  <a:solidFill>
                    <a:srgbClr val="11576A"/>
                  </a:solidFill>
                  <a:latin typeface="微软雅黑" pitchFamily="34" charset="-122"/>
                  <a:ea typeface="微软雅黑" pitchFamily="34" charset="-122"/>
                </a:rPr>
                <a:t>，并指针移动到下一个页面，直到找到可置换的页面</a:t>
              </a:r>
              <a:endParaRPr lang="en-US" altLang="zh-CN" sz="2000" b="1" dirty="0">
                <a:solidFill>
                  <a:srgbClr val="11576A"/>
                </a:solidFill>
                <a:latin typeface="微软雅黑" pitchFamily="34" charset="-122"/>
                <a:ea typeface="微软雅黑" pitchFamily="34" charset="-122"/>
              </a:endParaRPr>
            </a:p>
          </p:txBody>
        </p:sp>
        <p:pic>
          <p:nvPicPr>
            <p:cNvPr id="36" name="图片 35" descr="小点1.png"/>
            <p:cNvPicPr>
              <a:picLocks noChangeAspect="1"/>
            </p:cNvPicPr>
            <p:nvPr/>
          </p:nvPicPr>
          <p:blipFill>
            <a:blip r:embed="rId2" cstate="print"/>
            <a:stretch>
              <a:fillRect/>
            </a:stretch>
          </p:blipFill>
          <p:spPr>
            <a:xfrm>
              <a:off x="1506742" y="2556525"/>
              <a:ext cx="151066" cy="148997"/>
            </a:xfrm>
            <a:prstGeom prst="rect">
              <a:avLst/>
            </a:prstGeom>
            <a:effectLst/>
          </p:spPr>
        </p:pic>
      </p:grpSp>
      <p:sp>
        <p:nvSpPr>
          <p:cNvPr id="2" name="文本框 1">
            <a:extLst>
              <a:ext uri="{FF2B5EF4-FFF2-40B4-BE49-F238E27FC236}">
                <a16:creationId xmlns:a16="http://schemas.microsoft.com/office/drawing/2014/main" id="{16D139E6-63E2-3497-C062-3308C103BCB5}"/>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4" name="标题 8">
            <a:extLst>
              <a:ext uri="{FF2B5EF4-FFF2-40B4-BE49-F238E27FC236}">
                <a16:creationId xmlns:a16="http://schemas.microsoft.com/office/drawing/2014/main" id="{CF6BC640-4DD1-45E8-8363-4A21CA116010}"/>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时钟置换算法的实现</a:t>
            </a:r>
          </a:p>
        </p:txBody>
      </p:sp>
    </p:spTree>
    <p:extLst>
      <p:ext uri="{BB962C8B-B14F-4D97-AF65-F5344CB8AC3E}">
        <p14:creationId xmlns:p14="http://schemas.microsoft.com/office/powerpoint/2010/main" val="3562780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left)">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矩形 360"/>
          <p:cNvSpPr/>
          <p:nvPr/>
        </p:nvSpPr>
        <p:spPr>
          <a:xfrm>
            <a:off x="2582142" y="4279827"/>
            <a:ext cx="7690322" cy="1491499"/>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dirty="0"/>
          </a:p>
        </p:txBody>
      </p:sp>
      <p:sp>
        <p:nvSpPr>
          <p:cNvPr id="8" name="矩形 7"/>
          <p:cNvSpPr/>
          <p:nvPr/>
        </p:nvSpPr>
        <p:spPr>
          <a:xfrm>
            <a:off x="2606700" y="1931301"/>
            <a:ext cx="7630694" cy="222949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dirty="0"/>
          </a:p>
        </p:txBody>
      </p:sp>
      <p:cxnSp>
        <p:nvCxnSpPr>
          <p:cNvPr id="13" name="直接连接符 12"/>
          <p:cNvCxnSpPr/>
          <p:nvPr/>
        </p:nvCxnSpPr>
        <p:spPr>
          <a:xfrm>
            <a:off x="2604546" y="2283094"/>
            <a:ext cx="7632848" cy="0"/>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604546" y="2618328"/>
            <a:ext cx="763284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604546" y="3827381"/>
            <a:ext cx="763284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3655256" y="2618330"/>
            <a:ext cx="0" cy="1227511"/>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047483" y="1931301"/>
            <a:ext cx="0" cy="191453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459420" y="1836404"/>
            <a:ext cx="734827" cy="420628"/>
          </a:xfrm>
          <a:prstGeom prst="rect">
            <a:avLst/>
          </a:prstGeom>
          <a:noFill/>
          <a:effectLst/>
        </p:spPr>
        <p:txBody>
          <a:bodyPr wrap="square" rtlCol="0" anchor="ctr">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10</a:t>
            </a:r>
            <a:endParaRPr lang="zh-CN" altLang="en-US" sz="3200" b="1" baseline="-25000" dirty="0">
              <a:solidFill>
                <a:srgbClr val="11576A"/>
              </a:solidFill>
              <a:latin typeface="微软雅黑" pitchFamily="34" charset="-122"/>
              <a:ea typeface="微软雅黑" pitchFamily="34" charset="-122"/>
            </a:endParaRPr>
          </a:p>
        </p:txBody>
      </p:sp>
      <p:sp>
        <p:nvSpPr>
          <p:cNvPr id="22" name="TextBox 21"/>
          <p:cNvSpPr txBox="1"/>
          <p:nvPr/>
        </p:nvSpPr>
        <p:spPr>
          <a:xfrm>
            <a:off x="9007428" y="184290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9</a:t>
            </a:r>
            <a:endParaRPr lang="zh-CN" altLang="en-US" sz="3200" b="1" baseline="-25000" dirty="0">
              <a:solidFill>
                <a:srgbClr val="11576A"/>
              </a:solidFill>
              <a:latin typeface="微软雅黑" pitchFamily="34" charset="-122"/>
              <a:ea typeface="微软雅黑" pitchFamily="34" charset="-122"/>
            </a:endParaRPr>
          </a:p>
        </p:txBody>
      </p:sp>
      <p:sp>
        <p:nvSpPr>
          <p:cNvPr id="25" name="TextBox 24"/>
          <p:cNvSpPr txBox="1"/>
          <p:nvPr/>
        </p:nvSpPr>
        <p:spPr>
          <a:xfrm>
            <a:off x="7157033"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6</a:t>
            </a:r>
            <a:endParaRPr lang="zh-CN" altLang="en-US" sz="3200" b="1" baseline="-25000" dirty="0">
              <a:solidFill>
                <a:srgbClr val="11576A"/>
              </a:solidFill>
              <a:latin typeface="微软雅黑" pitchFamily="34" charset="-122"/>
              <a:ea typeface="微软雅黑" pitchFamily="34" charset="-122"/>
            </a:endParaRPr>
          </a:p>
        </p:txBody>
      </p:sp>
      <p:sp>
        <p:nvSpPr>
          <p:cNvPr id="26" name="TextBox 25"/>
          <p:cNvSpPr txBox="1"/>
          <p:nvPr/>
        </p:nvSpPr>
        <p:spPr>
          <a:xfrm>
            <a:off x="6559752"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5</a:t>
            </a:r>
            <a:endParaRPr lang="zh-CN" altLang="en-US" sz="3200" b="1" baseline="-25000" dirty="0">
              <a:solidFill>
                <a:srgbClr val="11576A"/>
              </a:solidFill>
              <a:latin typeface="微软雅黑" pitchFamily="34" charset="-122"/>
              <a:ea typeface="微软雅黑" pitchFamily="34" charset="-122"/>
            </a:endParaRPr>
          </a:p>
        </p:txBody>
      </p:sp>
      <p:sp>
        <p:nvSpPr>
          <p:cNvPr id="27" name="TextBox 26"/>
          <p:cNvSpPr txBox="1"/>
          <p:nvPr/>
        </p:nvSpPr>
        <p:spPr>
          <a:xfrm>
            <a:off x="5928250"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4</a:t>
            </a:r>
            <a:endParaRPr lang="zh-CN" altLang="en-US" sz="3200" b="1" baseline="-25000" dirty="0">
              <a:solidFill>
                <a:srgbClr val="11576A"/>
              </a:solidFill>
              <a:latin typeface="微软雅黑" pitchFamily="34" charset="-122"/>
              <a:ea typeface="微软雅黑" pitchFamily="34" charset="-122"/>
            </a:endParaRPr>
          </a:p>
        </p:txBody>
      </p:sp>
      <p:sp>
        <p:nvSpPr>
          <p:cNvPr id="28" name="TextBox 27"/>
          <p:cNvSpPr txBox="1"/>
          <p:nvPr/>
        </p:nvSpPr>
        <p:spPr>
          <a:xfrm>
            <a:off x="5331205"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29" name="TextBox 28"/>
          <p:cNvSpPr txBox="1"/>
          <p:nvPr/>
        </p:nvSpPr>
        <p:spPr>
          <a:xfrm>
            <a:off x="4716971" y="183116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30" name="TextBox 29"/>
          <p:cNvSpPr txBox="1"/>
          <p:nvPr/>
        </p:nvSpPr>
        <p:spPr>
          <a:xfrm>
            <a:off x="4094445" y="18395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97" name="TextBox 96"/>
          <p:cNvSpPr txBox="1"/>
          <p:nvPr/>
        </p:nvSpPr>
        <p:spPr>
          <a:xfrm>
            <a:off x="3151922" y="246428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98" name="TextBox 97"/>
          <p:cNvSpPr txBox="1"/>
          <p:nvPr/>
        </p:nvSpPr>
        <p:spPr>
          <a:xfrm>
            <a:off x="3151922" y="277033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99" name="TextBox 98"/>
          <p:cNvSpPr txBox="1"/>
          <p:nvPr/>
        </p:nvSpPr>
        <p:spPr>
          <a:xfrm>
            <a:off x="3138085" y="306278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100" name="TextBox 99"/>
          <p:cNvSpPr txBox="1"/>
          <p:nvPr/>
        </p:nvSpPr>
        <p:spPr>
          <a:xfrm>
            <a:off x="3138870" y="33552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105" name="TextBox 104"/>
          <p:cNvSpPr txBox="1"/>
          <p:nvPr/>
        </p:nvSpPr>
        <p:spPr>
          <a:xfrm>
            <a:off x="3492183" y="183471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106" name="TextBox 105"/>
          <p:cNvSpPr txBox="1"/>
          <p:nvPr/>
        </p:nvSpPr>
        <p:spPr>
          <a:xfrm>
            <a:off x="2642331" y="2213606"/>
            <a:ext cx="1098348"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访问请求</a:t>
            </a:r>
          </a:p>
        </p:txBody>
      </p:sp>
      <p:sp>
        <p:nvSpPr>
          <p:cNvPr id="107" name="TextBox 106"/>
          <p:cNvSpPr txBox="1"/>
          <p:nvPr/>
        </p:nvSpPr>
        <p:spPr>
          <a:xfrm>
            <a:off x="2638052" y="1863218"/>
            <a:ext cx="871060"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时间</a:t>
            </a:r>
          </a:p>
        </p:txBody>
      </p:sp>
      <p:sp>
        <p:nvSpPr>
          <p:cNvPr id="108" name="TextBox 107"/>
          <p:cNvSpPr txBox="1"/>
          <p:nvPr/>
        </p:nvSpPr>
        <p:spPr>
          <a:xfrm>
            <a:off x="2642331" y="3793673"/>
            <a:ext cx="1169786" cy="299526"/>
          </a:xfrm>
          <a:prstGeom prst="rect">
            <a:avLst/>
          </a:prstGeom>
          <a:noFill/>
          <a:effectLst/>
        </p:spPr>
        <p:txBody>
          <a:bodyPr wrap="square" rtlCol="0">
            <a:spAutoFit/>
          </a:bodyPr>
          <a:lstStyle/>
          <a:p>
            <a:pPr marL="342900" indent="-342900">
              <a:spcBef>
                <a:spcPct val="20000"/>
              </a:spcBef>
            </a:pPr>
            <a:r>
              <a:rPr lang="zh-CN" altLang="en-US" sz="2000" b="1" baseline="-25000" dirty="0">
                <a:solidFill>
                  <a:srgbClr val="11576A"/>
                </a:solidFill>
                <a:latin typeface="微软雅黑" pitchFamily="34" charset="-122"/>
                <a:ea typeface="微软雅黑" pitchFamily="34" charset="-122"/>
              </a:rPr>
              <a:t>缺页状态</a:t>
            </a:r>
          </a:p>
        </p:txBody>
      </p:sp>
      <p:sp>
        <p:nvSpPr>
          <p:cNvPr id="120" name="TextBox 119"/>
          <p:cNvSpPr txBox="1"/>
          <p:nvPr/>
        </p:nvSpPr>
        <p:spPr>
          <a:xfrm>
            <a:off x="2678402" y="2820651"/>
            <a:ext cx="430887" cy="940977"/>
          </a:xfrm>
          <a:prstGeom prst="rect">
            <a:avLst/>
          </a:prstGeom>
          <a:noFill/>
          <a:effectLst/>
        </p:spPr>
        <p:txBody>
          <a:bodyPr vert="eaVert"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物理帧号</a:t>
            </a:r>
          </a:p>
        </p:txBody>
      </p:sp>
      <p:sp>
        <p:nvSpPr>
          <p:cNvPr id="176" name="TextBox 175"/>
          <p:cNvSpPr txBox="1"/>
          <p:nvPr/>
        </p:nvSpPr>
        <p:spPr>
          <a:xfrm>
            <a:off x="7801396" y="18467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7</a:t>
            </a:r>
            <a:endParaRPr lang="zh-CN" altLang="en-US" sz="3200" b="1" baseline="-25000" dirty="0">
              <a:solidFill>
                <a:srgbClr val="11576A"/>
              </a:solidFill>
              <a:latin typeface="微软雅黑" pitchFamily="34" charset="-122"/>
              <a:ea typeface="微软雅黑" pitchFamily="34" charset="-122"/>
            </a:endParaRPr>
          </a:p>
        </p:txBody>
      </p:sp>
      <p:sp>
        <p:nvSpPr>
          <p:cNvPr id="177" name="TextBox 176"/>
          <p:cNvSpPr txBox="1"/>
          <p:nvPr/>
        </p:nvSpPr>
        <p:spPr>
          <a:xfrm>
            <a:off x="8381821" y="183590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8</a:t>
            </a:r>
            <a:endParaRPr lang="zh-CN" altLang="en-US" sz="3200" b="1" baseline="-25000" dirty="0">
              <a:solidFill>
                <a:srgbClr val="11576A"/>
              </a:solidFill>
              <a:latin typeface="微软雅黑" pitchFamily="34" charset="-122"/>
              <a:ea typeface="微软雅黑" pitchFamily="34" charset="-122"/>
            </a:endParaRPr>
          </a:p>
        </p:txBody>
      </p:sp>
      <p:sp>
        <p:nvSpPr>
          <p:cNvPr id="438" name="TextBox 437"/>
          <p:cNvSpPr txBox="1"/>
          <p:nvPr/>
        </p:nvSpPr>
        <p:spPr>
          <a:xfrm>
            <a:off x="2582946" y="4725144"/>
            <a:ext cx="864096" cy="523220"/>
          </a:xfrm>
          <a:prstGeom prst="rect">
            <a:avLst/>
          </a:prstGeom>
          <a:noFill/>
        </p:spPr>
        <p:txBody>
          <a:bodyPr wrap="square" rtlCol="0">
            <a:spAutoFit/>
          </a:bodyPr>
          <a:lstStyle/>
          <a:p>
            <a:r>
              <a:rPr lang="zh-CN" altLang="en-US" sz="1400" b="1" spc="-100" dirty="0">
                <a:solidFill>
                  <a:srgbClr val="11576A"/>
                </a:solidFill>
                <a:latin typeface="微软雅黑" pitchFamily="34" charset="-122"/>
                <a:ea typeface="微软雅黑" pitchFamily="34" charset="-122"/>
              </a:rPr>
              <a:t>驻留页面的页表项</a:t>
            </a:r>
          </a:p>
        </p:txBody>
      </p:sp>
      <p:grpSp>
        <p:nvGrpSpPr>
          <p:cNvPr id="19" name="组合 18"/>
          <p:cNvGrpSpPr/>
          <p:nvPr/>
        </p:nvGrpSpPr>
        <p:grpSpPr>
          <a:xfrm>
            <a:off x="4150560" y="2529745"/>
            <a:ext cx="292532" cy="1314568"/>
            <a:chOff x="1869542" y="1658095"/>
            <a:chExt cx="292532" cy="1314568"/>
          </a:xfrm>
        </p:grpSpPr>
        <p:sp>
          <p:nvSpPr>
            <p:cNvPr id="17" name="文本框 16"/>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13" name="文本框 412"/>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14" name="文本框 413"/>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15" name="文本框 414"/>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16" name="组合 415"/>
          <p:cNvGrpSpPr/>
          <p:nvPr/>
        </p:nvGrpSpPr>
        <p:grpSpPr>
          <a:xfrm>
            <a:off x="3672770" y="2536148"/>
            <a:ext cx="292532" cy="1314568"/>
            <a:chOff x="1869542" y="1658095"/>
            <a:chExt cx="292532" cy="1314568"/>
          </a:xfrm>
        </p:grpSpPr>
        <p:sp>
          <p:nvSpPr>
            <p:cNvPr id="417" name="文本框 416"/>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18" name="文本框 417"/>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19" name="文本框 418"/>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0" name="文本框 419"/>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21" name="组合 420"/>
          <p:cNvGrpSpPr/>
          <p:nvPr/>
        </p:nvGrpSpPr>
        <p:grpSpPr>
          <a:xfrm>
            <a:off x="4764786" y="2515362"/>
            <a:ext cx="292532" cy="1314568"/>
            <a:chOff x="1869542" y="1658095"/>
            <a:chExt cx="292532" cy="1314568"/>
          </a:xfrm>
        </p:grpSpPr>
        <p:sp>
          <p:nvSpPr>
            <p:cNvPr id="422" name="文本框 421"/>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3" name="文本框 422"/>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4" name="文本框 423"/>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5" name="文本框 424"/>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26" name="组合 425"/>
          <p:cNvGrpSpPr/>
          <p:nvPr/>
        </p:nvGrpSpPr>
        <p:grpSpPr>
          <a:xfrm>
            <a:off x="5423635" y="2510359"/>
            <a:ext cx="292532" cy="1314568"/>
            <a:chOff x="1869542" y="1658095"/>
            <a:chExt cx="292532" cy="1314568"/>
          </a:xfrm>
        </p:grpSpPr>
        <p:sp>
          <p:nvSpPr>
            <p:cNvPr id="427" name="文本框 426"/>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8" name="文本框 427"/>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9" name="文本框 428"/>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30" name="文本框 429"/>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31" name="组合 430"/>
          <p:cNvGrpSpPr/>
          <p:nvPr/>
        </p:nvGrpSpPr>
        <p:grpSpPr>
          <a:xfrm>
            <a:off x="6022665" y="2510359"/>
            <a:ext cx="292532" cy="1314568"/>
            <a:chOff x="1869542" y="1658095"/>
            <a:chExt cx="292532" cy="1314568"/>
          </a:xfrm>
        </p:grpSpPr>
        <p:sp>
          <p:nvSpPr>
            <p:cNvPr id="432" name="文本框 431"/>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33" name="文本框 432"/>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34" name="文本框 433"/>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35" name="文本框 434"/>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42" name="组合 441"/>
          <p:cNvGrpSpPr/>
          <p:nvPr/>
        </p:nvGrpSpPr>
        <p:grpSpPr>
          <a:xfrm>
            <a:off x="7253767" y="2531783"/>
            <a:ext cx="292532" cy="1314568"/>
            <a:chOff x="1869542" y="1658095"/>
            <a:chExt cx="292532" cy="1314568"/>
          </a:xfrm>
        </p:grpSpPr>
        <p:sp>
          <p:nvSpPr>
            <p:cNvPr id="443" name="文本框 442"/>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44" name="文本框 443"/>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45" name="文本框 444"/>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46" name="文本框 445"/>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52" name="组合 451"/>
          <p:cNvGrpSpPr/>
          <p:nvPr/>
        </p:nvGrpSpPr>
        <p:grpSpPr>
          <a:xfrm>
            <a:off x="8473655" y="2533048"/>
            <a:ext cx="292532" cy="1314568"/>
            <a:chOff x="1869542" y="1658095"/>
            <a:chExt cx="292532" cy="1314568"/>
          </a:xfrm>
        </p:grpSpPr>
        <p:sp>
          <p:nvSpPr>
            <p:cNvPr id="453" name="文本框 452"/>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54" name="文本框 453"/>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55" name="文本框 454"/>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56" name="文本框 455"/>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467" name="文本框 466"/>
          <p:cNvSpPr txBox="1"/>
          <p:nvPr/>
        </p:nvSpPr>
        <p:spPr>
          <a:xfrm>
            <a:off x="4166597" y="2225798"/>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68" name="文本框 467"/>
          <p:cNvSpPr txBox="1"/>
          <p:nvPr/>
        </p:nvSpPr>
        <p:spPr>
          <a:xfrm>
            <a:off x="4786112" y="2225798"/>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69" name="文本框 468"/>
          <p:cNvSpPr txBox="1"/>
          <p:nvPr/>
        </p:nvSpPr>
        <p:spPr>
          <a:xfrm>
            <a:off x="5447943" y="2240119"/>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70" name="文本框 469"/>
          <p:cNvSpPr txBox="1"/>
          <p:nvPr/>
        </p:nvSpPr>
        <p:spPr>
          <a:xfrm>
            <a:off x="6036081" y="2231771"/>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71" name="文本框 470"/>
          <p:cNvSpPr txBox="1"/>
          <p:nvPr/>
        </p:nvSpPr>
        <p:spPr>
          <a:xfrm>
            <a:off x="6677084" y="2231864"/>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72" name="文本框 471"/>
          <p:cNvSpPr txBox="1"/>
          <p:nvPr/>
        </p:nvSpPr>
        <p:spPr>
          <a:xfrm>
            <a:off x="7267183" y="2238562"/>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73" name="文本框 472"/>
          <p:cNvSpPr txBox="1"/>
          <p:nvPr/>
        </p:nvSpPr>
        <p:spPr>
          <a:xfrm>
            <a:off x="7915150" y="2230884"/>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74" name="文本框 473"/>
          <p:cNvSpPr txBox="1"/>
          <p:nvPr/>
        </p:nvSpPr>
        <p:spPr>
          <a:xfrm>
            <a:off x="8489745" y="2230884"/>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75" name="文本框 474"/>
          <p:cNvSpPr txBox="1"/>
          <p:nvPr/>
        </p:nvSpPr>
        <p:spPr>
          <a:xfrm>
            <a:off x="9122889" y="2230807"/>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76" name="文本框 475"/>
          <p:cNvSpPr txBox="1"/>
          <p:nvPr/>
        </p:nvSpPr>
        <p:spPr>
          <a:xfrm>
            <a:off x="9700294" y="2231032"/>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nvGrpSpPr>
          <p:cNvPr id="477" name="组合 476"/>
          <p:cNvGrpSpPr/>
          <p:nvPr/>
        </p:nvGrpSpPr>
        <p:grpSpPr>
          <a:xfrm>
            <a:off x="6726199" y="2330906"/>
            <a:ext cx="234000" cy="1734463"/>
            <a:chOff x="4525237" y="1803105"/>
            <a:chExt cx="234000" cy="1734463"/>
          </a:xfrm>
        </p:grpSpPr>
        <p:sp>
          <p:nvSpPr>
            <p:cNvPr id="478"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479" name="Oval 101"/>
            <p:cNvSpPr>
              <a:spLocks/>
            </p:cNvSpPr>
            <p:nvPr/>
          </p:nvSpPr>
          <p:spPr bwMode="auto">
            <a:xfrm>
              <a:off x="4525237" y="1803105"/>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480" name="组合 479"/>
          <p:cNvGrpSpPr/>
          <p:nvPr/>
        </p:nvGrpSpPr>
        <p:grpSpPr>
          <a:xfrm>
            <a:off x="7963328" y="2335839"/>
            <a:ext cx="234000" cy="1734463"/>
            <a:chOff x="4525237" y="1803105"/>
            <a:chExt cx="234000" cy="1734463"/>
          </a:xfrm>
        </p:grpSpPr>
        <p:sp>
          <p:nvSpPr>
            <p:cNvPr id="481"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482" name="Oval 101"/>
            <p:cNvSpPr>
              <a:spLocks/>
            </p:cNvSpPr>
            <p:nvPr/>
          </p:nvSpPr>
          <p:spPr bwMode="auto">
            <a:xfrm>
              <a:off x="4525237" y="1803105"/>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483" name="组合 482"/>
          <p:cNvGrpSpPr/>
          <p:nvPr/>
        </p:nvGrpSpPr>
        <p:grpSpPr>
          <a:xfrm>
            <a:off x="9172756" y="2340393"/>
            <a:ext cx="234000" cy="1734463"/>
            <a:chOff x="4525237" y="1803105"/>
            <a:chExt cx="234000" cy="1734463"/>
          </a:xfrm>
        </p:grpSpPr>
        <p:sp>
          <p:nvSpPr>
            <p:cNvPr id="484"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485" name="Oval 101"/>
            <p:cNvSpPr>
              <a:spLocks/>
            </p:cNvSpPr>
            <p:nvPr/>
          </p:nvSpPr>
          <p:spPr bwMode="auto">
            <a:xfrm>
              <a:off x="4525237" y="1803105"/>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486" name="组合 485"/>
          <p:cNvGrpSpPr/>
          <p:nvPr/>
        </p:nvGrpSpPr>
        <p:grpSpPr>
          <a:xfrm>
            <a:off x="9762813" y="2327629"/>
            <a:ext cx="234000" cy="1734463"/>
            <a:chOff x="4525237" y="1803105"/>
            <a:chExt cx="234000" cy="1734463"/>
          </a:xfrm>
        </p:grpSpPr>
        <p:sp>
          <p:nvSpPr>
            <p:cNvPr id="487"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488" name="Oval 101"/>
            <p:cNvSpPr>
              <a:spLocks/>
            </p:cNvSpPr>
            <p:nvPr/>
          </p:nvSpPr>
          <p:spPr bwMode="auto">
            <a:xfrm>
              <a:off x="4525237" y="1803105"/>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sp>
        <p:nvSpPr>
          <p:cNvPr id="489" name="TextBox 58"/>
          <p:cNvSpPr txBox="1"/>
          <p:nvPr/>
        </p:nvSpPr>
        <p:spPr>
          <a:xfrm>
            <a:off x="4157340" y="3144015"/>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c</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499" name="TextBox 58"/>
          <p:cNvSpPr txBox="1"/>
          <p:nvPr/>
        </p:nvSpPr>
        <p:spPr>
          <a:xfrm>
            <a:off x="4770113" y="2519447"/>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a</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527" name="TextBox 58"/>
          <p:cNvSpPr txBox="1"/>
          <p:nvPr/>
        </p:nvSpPr>
        <p:spPr>
          <a:xfrm>
            <a:off x="5424558" y="3424817"/>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d</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585" name="TextBox 58"/>
          <p:cNvSpPr txBox="1"/>
          <p:nvPr/>
        </p:nvSpPr>
        <p:spPr>
          <a:xfrm>
            <a:off x="6027913" y="2793928"/>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630" name="组合 629"/>
          <p:cNvGrpSpPr/>
          <p:nvPr/>
        </p:nvGrpSpPr>
        <p:grpSpPr>
          <a:xfrm>
            <a:off x="3376321" y="4420490"/>
            <a:ext cx="632087" cy="1266793"/>
            <a:chOff x="8146316" y="3693574"/>
            <a:chExt cx="632087" cy="1266793"/>
          </a:xfrm>
        </p:grpSpPr>
        <p:sp>
          <p:nvSpPr>
            <p:cNvPr id="631" name="矩形 630"/>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2" name="矩形 631"/>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3" name="矩形 632"/>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4" name="矩形 633"/>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5" name="矩形 634"/>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6" name="矩形 635"/>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7" name="矩形 636"/>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8" name="矩形 637"/>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9" name="TextBox 377"/>
            <p:cNvSpPr txBox="1"/>
            <p:nvPr/>
          </p:nvSpPr>
          <p:spPr>
            <a:xfrm>
              <a:off x="8146316" y="371599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40" name="TextBox 378"/>
            <p:cNvSpPr txBox="1"/>
            <p:nvPr/>
          </p:nvSpPr>
          <p:spPr>
            <a:xfrm>
              <a:off x="8146316" y="400368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41" name="TextBox 379"/>
            <p:cNvSpPr txBox="1"/>
            <p:nvPr/>
          </p:nvSpPr>
          <p:spPr>
            <a:xfrm>
              <a:off x="8154097" y="429734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42"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43"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644"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645"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646"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664" name="组合 663"/>
          <p:cNvGrpSpPr/>
          <p:nvPr/>
        </p:nvGrpSpPr>
        <p:grpSpPr>
          <a:xfrm>
            <a:off x="4002075" y="4418525"/>
            <a:ext cx="632087" cy="1266793"/>
            <a:chOff x="8146316" y="3693574"/>
            <a:chExt cx="632087" cy="1266793"/>
          </a:xfrm>
        </p:grpSpPr>
        <p:sp>
          <p:nvSpPr>
            <p:cNvPr id="665" name="矩形 664"/>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6" name="矩形 665"/>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7" name="矩形 666"/>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8" name="矩形 667"/>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69" name="矩形 668"/>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0" name="矩形 669"/>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1" name="矩形 670"/>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2" name="矩形 671"/>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3" name="TextBox 377"/>
            <p:cNvSpPr txBox="1"/>
            <p:nvPr/>
          </p:nvSpPr>
          <p:spPr>
            <a:xfrm>
              <a:off x="8146316" y="371599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74" name="TextBox 378"/>
            <p:cNvSpPr txBox="1"/>
            <p:nvPr/>
          </p:nvSpPr>
          <p:spPr>
            <a:xfrm>
              <a:off x="8146316" y="400368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75" name="TextBox 379"/>
            <p:cNvSpPr txBox="1"/>
            <p:nvPr/>
          </p:nvSpPr>
          <p:spPr>
            <a:xfrm>
              <a:off x="8154097" y="429734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676"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77"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678"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679"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680"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681" name="组合 680"/>
          <p:cNvGrpSpPr/>
          <p:nvPr/>
        </p:nvGrpSpPr>
        <p:grpSpPr>
          <a:xfrm>
            <a:off x="4622935" y="4418525"/>
            <a:ext cx="632087" cy="1266793"/>
            <a:chOff x="8146316" y="3693574"/>
            <a:chExt cx="632087" cy="1266793"/>
          </a:xfrm>
        </p:grpSpPr>
        <p:sp>
          <p:nvSpPr>
            <p:cNvPr id="682" name="矩形 681"/>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3" name="矩形 682"/>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4" name="矩形 683"/>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5" name="矩形 684"/>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6" name="矩形 685"/>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7" name="矩形 686"/>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8" name="矩形 687"/>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9" name="矩形 688"/>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0" name="TextBox 377"/>
            <p:cNvSpPr txBox="1"/>
            <p:nvPr/>
          </p:nvSpPr>
          <p:spPr>
            <a:xfrm>
              <a:off x="8146316" y="371599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691" name="TextBox 378"/>
            <p:cNvSpPr txBox="1"/>
            <p:nvPr/>
          </p:nvSpPr>
          <p:spPr>
            <a:xfrm>
              <a:off x="8146316" y="400368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92" name="TextBox 379"/>
            <p:cNvSpPr txBox="1"/>
            <p:nvPr/>
          </p:nvSpPr>
          <p:spPr>
            <a:xfrm>
              <a:off x="8154097" y="429734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693"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694"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695"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696"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697"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698" name="组合 697"/>
          <p:cNvGrpSpPr/>
          <p:nvPr/>
        </p:nvGrpSpPr>
        <p:grpSpPr>
          <a:xfrm>
            <a:off x="5250471" y="4418525"/>
            <a:ext cx="632087" cy="1266793"/>
            <a:chOff x="8146316" y="3693574"/>
            <a:chExt cx="632087" cy="1266793"/>
          </a:xfrm>
        </p:grpSpPr>
        <p:sp>
          <p:nvSpPr>
            <p:cNvPr id="699" name="矩形 698"/>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0" name="矩形 699"/>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1" name="矩形 700"/>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2" name="矩形 701"/>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3" name="矩形 702"/>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4" name="矩形 703"/>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5" name="矩形 704"/>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6" name="矩形 705"/>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7" name="TextBox 377"/>
            <p:cNvSpPr txBox="1"/>
            <p:nvPr/>
          </p:nvSpPr>
          <p:spPr>
            <a:xfrm>
              <a:off x="8146316" y="371599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08" name="TextBox 378"/>
            <p:cNvSpPr txBox="1"/>
            <p:nvPr/>
          </p:nvSpPr>
          <p:spPr>
            <a:xfrm>
              <a:off x="8146316" y="400368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09" name="TextBox 379"/>
            <p:cNvSpPr txBox="1"/>
            <p:nvPr/>
          </p:nvSpPr>
          <p:spPr>
            <a:xfrm>
              <a:off x="8154097" y="429734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10"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11"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12"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713"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714"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715" name="组合 714"/>
          <p:cNvGrpSpPr/>
          <p:nvPr/>
        </p:nvGrpSpPr>
        <p:grpSpPr>
          <a:xfrm>
            <a:off x="5870022" y="4418525"/>
            <a:ext cx="632087" cy="1266793"/>
            <a:chOff x="8146316" y="3693574"/>
            <a:chExt cx="632087" cy="1266793"/>
          </a:xfrm>
        </p:grpSpPr>
        <p:sp>
          <p:nvSpPr>
            <p:cNvPr id="716" name="矩形 715"/>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7" name="矩形 716"/>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8" name="矩形 717"/>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9" name="矩形 718"/>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0" name="矩形 719"/>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1" name="矩形 720"/>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2" name="矩形 721"/>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3" name="矩形 722"/>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4" name="TextBox 377"/>
            <p:cNvSpPr txBox="1"/>
            <p:nvPr/>
          </p:nvSpPr>
          <p:spPr>
            <a:xfrm>
              <a:off x="8146316" y="371599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25" name="TextBox 378"/>
            <p:cNvSpPr txBox="1"/>
            <p:nvPr/>
          </p:nvSpPr>
          <p:spPr>
            <a:xfrm>
              <a:off x="8146316" y="400368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26" name="TextBox 379"/>
            <p:cNvSpPr txBox="1"/>
            <p:nvPr/>
          </p:nvSpPr>
          <p:spPr>
            <a:xfrm>
              <a:off x="8154097" y="429734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27"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28"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29"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730"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731"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732" name="组合 731"/>
          <p:cNvGrpSpPr/>
          <p:nvPr/>
        </p:nvGrpSpPr>
        <p:grpSpPr>
          <a:xfrm>
            <a:off x="6501891" y="4418525"/>
            <a:ext cx="632087" cy="1266793"/>
            <a:chOff x="8146316" y="3693574"/>
            <a:chExt cx="632087" cy="1266793"/>
          </a:xfrm>
        </p:grpSpPr>
        <p:sp>
          <p:nvSpPr>
            <p:cNvPr id="733" name="矩形 732"/>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4" name="矩形 733"/>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5" name="矩形 734"/>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6" name="矩形 735"/>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7" name="矩形 736"/>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8" name="矩形 737"/>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9" name="矩形 738"/>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0" name="矩形 739"/>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1" name="TextBox 377"/>
            <p:cNvSpPr txBox="1"/>
            <p:nvPr/>
          </p:nvSpPr>
          <p:spPr>
            <a:xfrm>
              <a:off x="8146316" y="371599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42" name="TextBox 378"/>
            <p:cNvSpPr txBox="1"/>
            <p:nvPr/>
          </p:nvSpPr>
          <p:spPr>
            <a:xfrm>
              <a:off x="8146316" y="400368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43" name="TextBox 379"/>
            <p:cNvSpPr txBox="1"/>
            <p:nvPr/>
          </p:nvSpPr>
          <p:spPr>
            <a:xfrm>
              <a:off x="8154097" y="429734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44"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45"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46"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747"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748"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766" name="组合 765"/>
          <p:cNvGrpSpPr/>
          <p:nvPr/>
        </p:nvGrpSpPr>
        <p:grpSpPr>
          <a:xfrm>
            <a:off x="6496771" y="4424892"/>
            <a:ext cx="639962" cy="1260424"/>
            <a:chOff x="8138441" y="3699943"/>
            <a:chExt cx="639962" cy="1260424"/>
          </a:xfrm>
        </p:grpSpPr>
        <p:sp>
          <p:nvSpPr>
            <p:cNvPr id="767" name="矩形 766"/>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8" name="矩形 767"/>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9" name="矩形 768"/>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0" name="矩形 769"/>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1" name="矩形 770"/>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2" name="矩形 771"/>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3" name="矩形 772"/>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4" name="矩形 773"/>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5"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76" name="TextBox 378"/>
            <p:cNvSpPr txBox="1"/>
            <p:nvPr/>
          </p:nvSpPr>
          <p:spPr>
            <a:xfrm>
              <a:off x="8142114" y="400365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77" name="TextBox 379"/>
            <p:cNvSpPr txBox="1"/>
            <p:nvPr/>
          </p:nvSpPr>
          <p:spPr>
            <a:xfrm>
              <a:off x="8154097" y="429734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78"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79"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80" name="TextBox 383"/>
            <p:cNvSpPr txBox="1"/>
            <p:nvPr/>
          </p:nvSpPr>
          <p:spPr>
            <a:xfrm>
              <a:off x="8418775"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781"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782"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783" name="组合 782"/>
          <p:cNvGrpSpPr/>
          <p:nvPr/>
        </p:nvGrpSpPr>
        <p:grpSpPr>
          <a:xfrm>
            <a:off x="6489226" y="4424892"/>
            <a:ext cx="646363" cy="1260424"/>
            <a:chOff x="8132040" y="3699943"/>
            <a:chExt cx="646363" cy="1260424"/>
          </a:xfrm>
        </p:grpSpPr>
        <p:sp>
          <p:nvSpPr>
            <p:cNvPr id="784" name="矩形 783"/>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5" name="矩形 784"/>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6" name="矩形 785"/>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7" name="矩形 786"/>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8" name="矩形 787"/>
            <p:cNvSpPr/>
            <p:nvPr/>
          </p:nvSpPr>
          <p:spPr>
            <a:xfrm flipH="1">
              <a:off x="8154097"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9" name="矩形 788"/>
            <p:cNvSpPr/>
            <p:nvPr/>
          </p:nvSpPr>
          <p:spPr>
            <a:xfrm flipH="1">
              <a:off x="8439849"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0" name="矩形 789"/>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1" name="矩形 790"/>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2"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93" name="TextBox 378"/>
            <p:cNvSpPr txBox="1"/>
            <p:nvPr/>
          </p:nvSpPr>
          <p:spPr>
            <a:xfrm>
              <a:off x="8140018" y="401115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94" name="TextBox 379"/>
            <p:cNvSpPr txBox="1"/>
            <p:nvPr/>
          </p:nvSpPr>
          <p:spPr>
            <a:xfrm>
              <a:off x="8132040" y="429306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95" name="TextBox 380"/>
            <p:cNvSpPr txBox="1"/>
            <p:nvPr/>
          </p:nvSpPr>
          <p:spPr>
            <a:xfrm>
              <a:off x="8154097" y="459103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796"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97" name="TextBox 383"/>
            <p:cNvSpPr txBox="1"/>
            <p:nvPr/>
          </p:nvSpPr>
          <p:spPr>
            <a:xfrm>
              <a:off x="8411088" y="4003562"/>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798" name="TextBox 384"/>
            <p:cNvSpPr txBox="1"/>
            <p:nvPr/>
          </p:nvSpPr>
          <p:spPr>
            <a:xfrm>
              <a:off x="8433355"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799"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01" name="组合 800"/>
          <p:cNvGrpSpPr/>
          <p:nvPr/>
        </p:nvGrpSpPr>
        <p:grpSpPr>
          <a:xfrm>
            <a:off x="6488806" y="4424892"/>
            <a:ext cx="621275" cy="1247290"/>
            <a:chOff x="8132303" y="3699943"/>
            <a:chExt cx="621275" cy="1247290"/>
          </a:xfrm>
        </p:grpSpPr>
        <p:sp>
          <p:nvSpPr>
            <p:cNvPr id="802" name="矩形 801"/>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3" name="矩形 802"/>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4" name="矩形 803"/>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5" name="矩形 804"/>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6" name="矩形 805"/>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7" name="矩形 806"/>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8" name="矩形 807"/>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9" name="矩形 808"/>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10"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11" name="TextBox 378"/>
            <p:cNvSpPr txBox="1"/>
            <p:nvPr/>
          </p:nvSpPr>
          <p:spPr>
            <a:xfrm>
              <a:off x="8140018" y="401115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12"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13" name="TextBox 380"/>
            <p:cNvSpPr txBox="1"/>
            <p:nvPr/>
          </p:nvSpPr>
          <p:spPr>
            <a:xfrm>
              <a:off x="8133977" y="457790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14"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815" name="TextBox 383"/>
            <p:cNvSpPr txBox="1"/>
            <p:nvPr/>
          </p:nvSpPr>
          <p:spPr>
            <a:xfrm>
              <a:off x="8411088" y="4003562"/>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16" name="TextBox 384"/>
            <p:cNvSpPr txBox="1"/>
            <p:nvPr/>
          </p:nvSpPr>
          <p:spPr>
            <a:xfrm>
              <a:off x="8419810"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17" name="TextBox 385"/>
            <p:cNvSpPr txBox="1"/>
            <p:nvPr/>
          </p:nvSpPr>
          <p:spPr>
            <a:xfrm>
              <a:off x="8402177" y="4567999"/>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18" name="组合 817"/>
          <p:cNvGrpSpPr/>
          <p:nvPr/>
        </p:nvGrpSpPr>
        <p:grpSpPr>
          <a:xfrm>
            <a:off x="6488106" y="4420658"/>
            <a:ext cx="621275" cy="1246796"/>
            <a:chOff x="8132303" y="3699943"/>
            <a:chExt cx="621275" cy="1246796"/>
          </a:xfrm>
        </p:grpSpPr>
        <p:sp>
          <p:nvSpPr>
            <p:cNvPr id="819" name="矩形 818"/>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0" name="矩形 819"/>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1" name="矩形 820"/>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2" name="矩形 821"/>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3" name="矩形 822"/>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4" name="矩形 823"/>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5" name="矩形 824"/>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6" name="矩形 825"/>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7"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28" name="TextBox 378"/>
            <p:cNvSpPr txBox="1"/>
            <p:nvPr/>
          </p:nvSpPr>
          <p:spPr>
            <a:xfrm>
              <a:off x="8140018" y="401115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29"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30" name="TextBox 380"/>
            <p:cNvSpPr txBox="1"/>
            <p:nvPr/>
          </p:nvSpPr>
          <p:spPr>
            <a:xfrm>
              <a:off x="8140018" y="457740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31"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832" name="TextBox 383"/>
            <p:cNvSpPr txBox="1"/>
            <p:nvPr/>
          </p:nvSpPr>
          <p:spPr>
            <a:xfrm>
              <a:off x="8411088" y="4003562"/>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33" name="TextBox 384"/>
            <p:cNvSpPr txBox="1"/>
            <p:nvPr/>
          </p:nvSpPr>
          <p:spPr>
            <a:xfrm>
              <a:off x="8419810"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34" name="TextBox 385"/>
            <p:cNvSpPr txBox="1"/>
            <p:nvPr/>
          </p:nvSpPr>
          <p:spPr>
            <a:xfrm>
              <a:off x="8414936" y="456222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96" name="组合 95"/>
          <p:cNvGrpSpPr/>
          <p:nvPr/>
        </p:nvGrpSpPr>
        <p:grpSpPr>
          <a:xfrm>
            <a:off x="6500488" y="4428743"/>
            <a:ext cx="597683" cy="391729"/>
            <a:chOff x="6286499" y="3635881"/>
            <a:chExt cx="597683" cy="391729"/>
          </a:xfrm>
        </p:grpSpPr>
        <p:sp>
          <p:nvSpPr>
            <p:cNvPr id="837" name="矩形 836"/>
            <p:cNvSpPr/>
            <p:nvPr/>
          </p:nvSpPr>
          <p:spPr>
            <a:xfrm flipH="1">
              <a:off x="6294378" y="368520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8" name="矩形 837"/>
            <p:cNvSpPr/>
            <p:nvPr/>
          </p:nvSpPr>
          <p:spPr>
            <a:xfrm flipH="1">
              <a:off x="6580130" y="368520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9" name="TextBox 387"/>
            <p:cNvSpPr txBox="1"/>
            <p:nvPr/>
          </p:nvSpPr>
          <p:spPr>
            <a:xfrm>
              <a:off x="6286499" y="365827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40" name="TextBox 392"/>
            <p:cNvSpPr txBox="1"/>
            <p:nvPr/>
          </p:nvSpPr>
          <p:spPr>
            <a:xfrm>
              <a:off x="6566466" y="3635881"/>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grpSp>
      <p:grpSp>
        <p:nvGrpSpPr>
          <p:cNvPr id="858" name="组合 857"/>
          <p:cNvGrpSpPr/>
          <p:nvPr/>
        </p:nvGrpSpPr>
        <p:grpSpPr>
          <a:xfrm>
            <a:off x="6500366" y="4427834"/>
            <a:ext cx="597683" cy="391729"/>
            <a:chOff x="6286499" y="3635881"/>
            <a:chExt cx="597683" cy="391729"/>
          </a:xfrm>
        </p:grpSpPr>
        <p:sp>
          <p:nvSpPr>
            <p:cNvPr id="859" name="矩形 858"/>
            <p:cNvSpPr/>
            <p:nvPr/>
          </p:nvSpPr>
          <p:spPr>
            <a:xfrm flipH="1">
              <a:off x="6294378" y="368520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0" name="矩形 859"/>
            <p:cNvSpPr/>
            <p:nvPr/>
          </p:nvSpPr>
          <p:spPr>
            <a:xfrm flipH="1">
              <a:off x="6580130" y="368520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1" name="TextBox 387"/>
            <p:cNvSpPr txBox="1"/>
            <p:nvPr/>
          </p:nvSpPr>
          <p:spPr>
            <a:xfrm>
              <a:off x="6286499" y="365827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862" name="TextBox 392"/>
            <p:cNvSpPr txBox="1"/>
            <p:nvPr/>
          </p:nvSpPr>
          <p:spPr>
            <a:xfrm>
              <a:off x="6566466" y="3635881"/>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grpSp>
      <p:grpSp>
        <p:nvGrpSpPr>
          <p:cNvPr id="841" name="组合 840"/>
          <p:cNvGrpSpPr/>
          <p:nvPr/>
        </p:nvGrpSpPr>
        <p:grpSpPr>
          <a:xfrm>
            <a:off x="6493561" y="4426225"/>
            <a:ext cx="623875" cy="1246796"/>
            <a:chOff x="8132303" y="3699943"/>
            <a:chExt cx="623875" cy="1246796"/>
          </a:xfrm>
        </p:grpSpPr>
        <p:sp>
          <p:nvSpPr>
            <p:cNvPr id="842" name="矩形 841"/>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3" name="矩形 842"/>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4" name="矩形 843"/>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5" name="矩形 844"/>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6" name="矩形 845"/>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7" name="矩形 846"/>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8" name="矩形 847"/>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9" name="矩形 848"/>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50"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851" name="TextBox 378"/>
            <p:cNvSpPr txBox="1"/>
            <p:nvPr/>
          </p:nvSpPr>
          <p:spPr>
            <a:xfrm>
              <a:off x="8133111" y="400938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52"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53" name="TextBox 380"/>
            <p:cNvSpPr txBox="1"/>
            <p:nvPr/>
          </p:nvSpPr>
          <p:spPr>
            <a:xfrm>
              <a:off x="8140018" y="457740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54"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855" name="TextBox 383"/>
            <p:cNvSpPr txBox="1"/>
            <p:nvPr/>
          </p:nvSpPr>
          <p:spPr>
            <a:xfrm>
              <a:off x="8417624" y="401189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56" name="TextBox 384"/>
            <p:cNvSpPr txBox="1"/>
            <p:nvPr/>
          </p:nvSpPr>
          <p:spPr>
            <a:xfrm>
              <a:off x="8419810"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57" name="TextBox 385"/>
            <p:cNvSpPr txBox="1"/>
            <p:nvPr/>
          </p:nvSpPr>
          <p:spPr>
            <a:xfrm>
              <a:off x="8414936" y="456222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09" name="组合 108"/>
          <p:cNvGrpSpPr/>
          <p:nvPr/>
        </p:nvGrpSpPr>
        <p:grpSpPr>
          <a:xfrm>
            <a:off x="6499556" y="2531792"/>
            <a:ext cx="449462" cy="1314568"/>
            <a:chOff x="4218538" y="1674542"/>
            <a:chExt cx="449462" cy="1314568"/>
          </a:xfrm>
        </p:grpSpPr>
        <p:grpSp>
          <p:nvGrpSpPr>
            <p:cNvPr id="436" name="组合 435"/>
            <p:cNvGrpSpPr/>
            <p:nvPr/>
          </p:nvGrpSpPr>
          <p:grpSpPr>
            <a:xfrm>
              <a:off x="4375468" y="1674542"/>
              <a:ext cx="292532" cy="1314568"/>
              <a:chOff x="1869542" y="1658095"/>
              <a:chExt cx="292532" cy="1314568"/>
            </a:xfrm>
          </p:grpSpPr>
          <p:sp>
            <p:nvSpPr>
              <p:cNvPr id="437" name="文本框 436"/>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C00000"/>
                    </a:solidFill>
                    <a:latin typeface="微软雅黑" panose="020B0503020204020204" pitchFamily="34" charset="-122"/>
                    <a:ea typeface="微软雅黑" panose="020B0503020204020204" pitchFamily="34" charset="-122"/>
                  </a:rPr>
                  <a:t>e</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439" name="文本框 438"/>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40" name="文本框 439"/>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41" name="文本框 440"/>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863" name="AutoShape 98"/>
            <p:cNvSpPr>
              <a:spLocks/>
            </p:cNvSpPr>
            <p:nvPr/>
          </p:nvSpPr>
          <p:spPr bwMode="auto">
            <a:xfrm>
              <a:off x="4218538" y="1863874"/>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grpSp>
        <p:nvGrpSpPr>
          <p:cNvPr id="864" name="组合 863"/>
          <p:cNvGrpSpPr/>
          <p:nvPr/>
        </p:nvGrpSpPr>
        <p:grpSpPr>
          <a:xfrm>
            <a:off x="7125778" y="4425386"/>
            <a:ext cx="623875" cy="1246796"/>
            <a:chOff x="8132303" y="3699943"/>
            <a:chExt cx="623875" cy="1246796"/>
          </a:xfrm>
        </p:grpSpPr>
        <p:sp>
          <p:nvSpPr>
            <p:cNvPr id="865" name="矩形 864"/>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6" name="矩形 865"/>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7" name="矩形 866"/>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8" name="矩形 867"/>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9" name="矩形 868"/>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0" name="矩形 869"/>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1" name="矩形 870"/>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2" name="矩形 871"/>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3"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874" name="TextBox 378"/>
            <p:cNvSpPr txBox="1"/>
            <p:nvPr/>
          </p:nvSpPr>
          <p:spPr>
            <a:xfrm>
              <a:off x="8133111" y="400938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875"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76" name="TextBox 380"/>
            <p:cNvSpPr txBox="1"/>
            <p:nvPr/>
          </p:nvSpPr>
          <p:spPr>
            <a:xfrm>
              <a:off x="8140018" y="457740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77"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878" name="TextBox 383"/>
            <p:cNvSpPr txBox="1"/>
            <p:nvPr/>
          </p:nvSpPr>
          <p:spPr>
            <a:xfrm>
              <a:off x="8417624" y="401189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79" name="TextBox 384"/>
            <p:cNvSpPr txBox="1"/>
            <p:nvPr/>
          </p:nvSpPr>
          <p:spPr>
            <a:xfrm>
              <a:off x="8419810"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80" name="TextBox 385"/>
            <p:cNvSpPr txBox="1"/>
            <p:nvPr/>
          </p:nvSpPr>
          <p:spPr>
            <a:xfrm>
              <a:off x="8414936" y="456222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sp>
        <p:nvSpPr>
          <p:cNvPr id="881" name="TextBox 58"/>
          <p:cNvSpPr txBox="1"/>
          <p:nvPr/>
        </p:nvSpPr>
        <p:spPr>
          <a:xfrm>
            <a:off x="7259983" y="2822745"/>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882" name="组合 881"/>
          <p:cNvGrpSpPr/>
          <p:nvPr/>
        </p:nvGrpSpPr>
        <p:grpSpPr>
          <a:xfrm>
            <a:off x="7767445" y="4425386"/>
            <a:ext cx="623875" cy="1246796"/>
            <a:chOff x="8132303" y="3699943"/>
            <a:chExt cx="623875" cy="1246796"/>
          </a:xfrm>
        </p:grpSpPr>
        <p:sp>
          <p:nvSpPr>
            <p:cNvPr id="883" name="矩形 882"/>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4" name="矩形 883"/>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5" name="矩形 884"/>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6" name="矩形 885"/>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7" name="矩形 886"/>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8" name="矩形 887"/>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9" name="矩形 888"/>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0" name="矩形 889"/>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1"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892" name="TextBox 378"/>
            <p:cNvSpPr txBox="1"/>
            <p:nvPr/>
          </p:nvSpPr>
          <p:spPr>
            <a:xfrm>
              <a:off x="8133111" y="400938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93"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94" name="TextBox 380"/>
            <p:cNvSpPr txBox="1"/>
            <p:nvPr/>
          </p:nvSpPr>
          <p:spPr>
            <a:xfrm>
              <a:off x="8140018" y="457740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895"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896" name="TextBox 383"/>
            <p:cNvSpPr txBox="1"/>
            <p:nvPr/>
          </p:nvSpPr>
          <p:spPr>
            <a:xfrm>
              <a:off x="8417624" y="401189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97" name="TextBox 384"/>
            <p:cNvSpPr txBox="1"/>
            <p:nvPr/>
          </p:nvSpPr>
          <p:spPr>
            <a:xfrm>
              <a:off x="8419810"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98" name="TextBox 385"/>
            <p:cNvSpPr txBox="1"/>
            <p:nvPr/>
          </p:nvSpPr>
          <p:spPr>
            <a:xfrm>
              <a:off x="8414936" y="456222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99" name="组合 898"/>
          <p:cNvGrpSpPr/>
          <p:nvPr/>
        </p:nvGrpSpPr>
        <p:grpSpPr>
          <a:xfrm>
            <a:off x="7766337" y="4424768"/>
            <a:ext cx="621275" cy="1246796"/>
            <a:chOff x="8132303" y="3699943"/>
            <a:chExt cx="621275" cy="1246796"/>
          </a:xfrm>
        </p:grpSpPr>
        <p:sp>
          <p:nvSpPr>
            <p:cNvPr id="900" name="矩形 899"/>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1" name="矩形 900"/>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2" name="矩形 901"/>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3" name="矩形 902"/>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4" name="矩形 903"/>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5" name="矩形 904"/>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6" name="矩形 905"/>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7" name="矩形 906"/>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8"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09" name="TextBox 378"/>
            <p:cNvSpPr txBox="1"/>
            <p:nvPr/>
          </p:nvSpPr>
          <p:spPr>
            <a:xfrm>
              <a:off x="8132303" y="400478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10"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11" name="TextBox 380"/>
            <p:cNvSpPr txBox="1"/>
            <p:nvPr/>
          </p:nvSpPr>
          <p:spPr>
            <a:xfrm>
              <a:off x="8140018" y="457740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12"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913" name="TextBox 383"/>
            <p:cNvSpPr txBox="1"/>
            <p:nvPr/>
          </p:nvSpPr>
          <p:spPr>
            <a:xfrm>
              <a:off x="8410963" y="3997196"/>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14" name="TextBox 384"/>
            <p:cNvSpPr txBox="1"/>
            <p:nvPr/>
          </p:nvSpPr>
          <p:spPr>
            <a:xfrm>
              <a:off x="8419810"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915" name="TextBox 385"/>
            <p:cNvSpPr txBox="1"/>
            <p:nvPr/>
          </p:nvSpPr>
          <p:spPr>
            <a:xfrm>
              <a:off x="8414936" y="456222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11" name="组合 110"/>
          <p:cNvGrpSpPr/>
          <p:nvPr/>
        </p:nvGrpSpPr>
        <p:grpSpPr>
          <a:xfrm>
            <a:off x="7776918" y="5006620"/>
            <a:ext cx="585574" cy="384541"/>
            <a:chOff x="7103053" y="4069905"/>
            <a:chExt cx="585574" cy="384541"/>
          </a:xfrm>
        </p:grpSpPr>
        <p:sp>
          <p:nvSpPr>
            <p:cNvPr id="918" name="矩形 917"/>
            <p:cNvSpPr/>
            <p:nvPr/>
          </p:nvSpPr>
          <p:spPr>
            <a:xfrm flipH="1">
              <a:off x="7117123" y="411912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9" name="矩形 918"/>
            <p:cNvSpPr/>
            <p:nvPr/>
          </p:nvSpPr>
          <p:spPr>
            <a:xfrm flipH="1">
              <a:off x="7402875" y="411912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0" name="TextBox 387"/>
            <p:cNvSpPr txBox="1"/>
            <p:nvPr/>
          </p:nvSpPr>
          <p:spPr>
            <a:xfrm>
              <a:off x="7103053" y="408511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21" name="TextBox 392"/>
            <p:cNvSpPr txBox="1"/>
            <p:nvPr/>
          </p:nvSpPr>
          <p:spPr>
            <a:xfrm>
              <a:off x="7373993" y="406990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923" name="组合 922"/>
          <p:cNvGrpSpPr/>
          <p:nvPr/>
        </p:nvGrpSpPr>
        <p:grpSpPr>
          <a:xfrm>
            <a:off x="7766876" y="4424949"/>
            <a:ext cx="621275" cy="1246617"/>
            <a:chOff x="8132303" y="3699943"/>
            <a:chExt cx="621275" cy="1246617"/>
          </a:xfrm>
        </p:grpSpPr>
        <p:sp>
          <p:nvSpPr>
            <p:cNvPr id="924" name="矩形 923"/>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5" name="矩形 924"/>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6" name="矩形 925"/>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7" name="矩形 926"/>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8" name="矩形 927"/>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9" name="矩形 928"/>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0" name="矩形 929"/>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1" name="矩形 930"/>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2"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33" name="TextBox 378"/>
            <p:cNvSpPr txBox="1"/>
            <p:nvPr/>
          </p:nvSpPr>
          <p:spPr>
            <a:xfrm>
              <a:off x="8132303" y="400478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34"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35" name="TextBox 380"/>
            <p:cNvSpPr txBox="1"/>
            <p:nvPr/>
          </p:nvSpPr>
          <p:spPr>
            <a:xfrm>
              <a:off x="8141150" y="457722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36"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937" name="TextBox 383"/>
            <p:cNvSpPr txBox="1"/>
            <p:nvPr/>
          </p:nvSpPr>
          <p:spPr>
            <a:xfrm>
              <a:off x="8410963" y="3997196"/>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38" name="TextBox 384"/>
            <p:cNvSpPr txBox="1"/>
            <p:nvPr/>
          </p:nvSpPr>
          <p:spPr>
            <a:xfrm>
              <a:off x="8419810" y="4269352"/>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39" name="TextBox 385"/>
            <p:cNvSpPr txBox="1"/>
            <p:nvPr/>
          </p:nvSpPr>
          <p:spPr>
            <a:xfrm>
              <a:off x="8406794" y="456963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940" name="组合 939"/>
          <p:cNvGrpSpPr/>
          <p:nvPr/>
        </p:nvGrpSpPr>
        <p:grpSpPr>
          <a:xfrm>
            <a:off x="8399737" y="4438321"/>
            <a:ext cx="621275" cy="1246617"/>
            <a:chOff x="8132303" y="3699943"/>
            <a:chExt cx="621275" cy="1246617"/>
          </a:xfrm>
        </p:grpSpPr>
        <p:sp>
          <p:nvSpPr>
            <p:cNvPr id="941" name="矩形 940"/>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2" name="矩形 941"/>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3" name="矩形 942"/>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4" name="矩形 943"/>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5" name="矩形 944"/>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6" name="矩形 945"/>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7" name="矩形 946"/>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8" name="矩形 947"/>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9"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50" name="TextBox 378"/>
            <p:cNvSpPr txBox="1"/>
            <p:nvPr/>
          </p:nvSpPr>
          <p:spPr>
            <a:xfrm>
              <a:off x="8132303" y="400478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51"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52" name="TextBox 380"/>
            <p:cNvSpPr txBox="1"/>
            <p:nvPr/>
          </p:nvSpPr>
          <p:spPr>
            <a:xfrm>
              <a:off x="8141150" y="457722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53"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954" name="TextBox 383"/>
            <p:cNvSpPr txBox="1"/>
            <p:nvPr/>
          </p:nvSpPr>
          <p:spPr>
            <a:xfrm>
              <a:off x="8410963" y="3997196"/>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55" name="TextBox 384"/>
            <p:cNvSpPr txBox="1"/>
            <p:nvPr/>
          </p:nvSpPr>
          <p:spPr>
            <a:xfrm>
              <a:off x="8419810" y="4269352"/>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56" name="TextBox 385"/>
            <p:cNvSpPr txBox="1"/>
            <p:nvPr/>
          </p:nvSpPr>
          <p:spPr>
            <a:xfrm>
              <a:off x="8406794" y="456963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12" name="组合 111"/>
          <p:cNvGrpSpPr/>
          <p:nvPr/>
        </p:nvGrpSpPr>
        <p:grpSpPr>
          <a:xfrm>
            <a:off x="7758755" y="2524546"/>
            <a:ext cx="435185" cy="1314568"/>
            <a:chOff x="5477735" y="1667296"/>
            <a:chExt cx="435185" cy="1314568"/>
          </a:xfrm>
        </p:grpSpPr>
        <p:grpSp>
          <p:nvGrpSpPr>
            <p:cNvPr id="447" name="组合 446"/>
            <p:cNvGrpSpPr/>
            <p:nvPr/>
          </p:nvGrpSpPr>
          <p:grpSpPr>
            <a:xfrm>
              <a:off x="5620388" y="1667296"/>
              <a:ext cx="292532" cy="1314568"/>
              <a:chOff x="1869542" y="1658095"/>
              <a:chExt cx="292532" cy="1314568"/>
            </a:xfrm>
          </p:grpSpPr>
          <p:sp>
            <p:nvSpPr>
              <p:cNvPr id="448" name="文本框 447"/>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49" name="文本框 448"/>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50" name="文本框 449"/>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C00000"/>
                    </a:solidFill>
                    <a:latin typeface="微软雅黑" panose="020B0503020204020204" pitchFamily="34" charset="-122"/>
                    <a:ea typeface="微软雅黑" panose="020B0503020204020204" pitchFamily="34" charset="-122"/>
                  </a:rPr>
                  <a:t>a</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451" name="文本框 450"/>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957" name="AutoShape 98"/>
            <p:cNvSpPr>
              <a:spLocks/>
            </p:cNvSpPr>
            <p:nvPr/>
          </p:nvSpPr>
          <p:spPr bwMode="auto">
            <a:xfrm>
              <a:off x="5477735" y="2462688"/>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sp>
        <p:nvSpPr>
          <p:cNvPr id="958" name="TextBox 58"/>
          <p:cNvSpPr txBox="1"/>
          <p:nvPr/>
        </p:nvSpPr>
        <p:spPr>
          <a:xfrm>
            <a:off x="8480855" y="2822745"/>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113" name="组合 112"/>
          <p:cNvGrpSpPr/>
          <p:nvPr/>
        </p:nvGrpSpPr>
        <p:grpSpPr>
          <a:xfrm>
            <a:off x="9007791" y="5315604"/>
            <a:ext cx="602706" cy="369332"/>
            <a:chOff x="8300713" y="3305729"/>
            <a:chExt cx="602706" cy="369332"/>
          </a:xfrm>
        </p:grpSpPr>
        <p:sp>
          <p:nvSpPr>
            <p:cNvPr id="588" name="矩形 587"/>
            <p:cNvSpPr/>
            <p:nvPr/>
          </p:nvSpPr>
          <p:spPr>
            <a:xfrm flipH="1">
              <a:off x="8320695" y="334518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9" name="矩形 588"/>
            <p:cNvSpPr/>
            <p:nvPr/>
          </p:nvSpPr>
          <p:spPr>
            <a:xfrm flipH="1">
              <a:off x="8606447" y="334518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90" name="TextBox 428"/>
            <p:cNvSpPr txBox="1"/>
            <p:nvPr/>
          </p:nvSpPr>
          <p:spPr>
            <a:xfrm>
              <a:off x="8300713" y="330572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591" name="TextBox 433"/>
            <p:cNvSpPr txBox="1"/>
            <p:nvPr/>
          </p:nvSpPr>
          <p:spPr>
            <a:xfrm>
              <a:off x="8564865" y="3305729"/>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959" name="组合 958"/>
          <p:cNvGrpSpPr/>
          <p:nvPr/>
        </p:nvGrpSpPr>
        <p:grpSpPr>
          <a:xfrm>
            <a:off x="8996711" y="4436956"/>
            <a:ext cx="617214" cy="1244328"/>
            <a:chOff x="8132303" y="3699199"/>
            <a:chExt cx="617214" cy="1244328"/>
          </a:xfrm>
        </p:grpSpPr>
        <p:sp>
          <p:nvSpPr>
            <p:cNvPr id="960" name="矩形 959"/>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1" name="矩形 960"/>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2" name="矩形 961"/>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3" name="矩形 962"/>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4" name="矩形 963"/>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5" name="矩形 964"/>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6" name="矩形 965"/>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7" name="矩形 966"/>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8" name="TextBox 377"/>
            <p:cNvSpPr txBox="1"/>
            <p:nvPr/>
          </p:nvSpPr>
          <p:spPr>
            <a:xfrm>
              <a:off x="8132303" y="372447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69" name="TextBox 378"/>
            <p:cNvSpPr txBox="1"/>
            <p:nvPr/>
          </p:nvSpPr>
          <p:spPr>
            <a:xfrm>
              <a:off x="8132303" y="400478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70"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71" name="TextBox 380"/>
            <p:cNvSpPr txBox="1"/>
            <p:nvPr/>
          </p:nvSpPr>
          <p:spPr>
            <a:xfrm>
              <a:off x="8132303" y="457419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72" name="TextBox 382"/>
            <p:cNvSpPr txBox="1"/>
            <p:nvPr/>
          </p:nvSpPr>
          <p:spPr>
            <a:xfrm>
              <a:off x="8411870" y="369919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973" name="TextBox 383"/>
            <p:cNvSpPr txBox="1"/>
            <p:nvPr/>
          </p:nvSpPr>
          <p:spPr>
            <a:xfrm>
              <a:off x="8410963" y="3997196"/>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74" name="TextBox 384"/>
            <p:cNvSpPr txBox="1"/>
            <p:nvPr/>
          </p:nvSpPr>
          <p:spPr>
            <a:xfrm>
              <a:off x="8419810" y="4269352"/>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75" name="TextBox 385"/>
            <p:cNvSpPr txBox="1"/>
            <p:nvPr/>
          </p:nvSpPr>
          <p:spPr>
            <a:xfrm>
              <a:off x="8407521" y="455548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976" name="组合 975"/>
          <p:cNvGrpSpPr/>
          <p:nvPr/>
        </p:nvGrpSpPr>
        <p:grpSpPr>
          <a:xfrm>
            <a:off x="9633165" y="4443142"/>
            <a:ext cx="617214" cy="1244328"/>
            <a:chOff x="8132303" y="3699199"/>
            <a:chExt cx="617214" cy="1244328"/>
          </a:xfrm>
        </p:grpSpPr>
        <p:sp>
          <p:nvSpPr>
            <p:cNvPr id="977" name="矩形 976"/>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78" name="矩形 977"/>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79" name="矩形 978"/>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80" name="矩形 979"/>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81" name="矩形 980"/>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82" name="矩形 981"/>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83" name="矩形 982"/>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84" name="矩形 983"/>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85" name="TextBox 377"/>
            <p:cNvSpPr txBox="1"/>
            <p:nvPr/>
          </p:nvSpPr>
          <p:spPr>
            <a:xfrm>
              <a:off x="8132303" y="372447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986" name="TextBox 378"/>
            <p:cNvSpPr txBox="1"/>
            <p:nvPr/>
          </p:nvSpPr>
          <p:spPr>
            <a:xfrm>
              <a:off x="8132303" y="400478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87"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88" name="TextBox 380"/>
            <p:cNvSpPr txBox="1"/>
            <p:nvPr/>
          </p:nvSpPr>
          <p:spPr>
            <a:xfrm>
              <a:off x="8132303" y="457419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989" name="TextBox 382"/>
            <p:cNvSpPr txBox="1"/>
            <p:nvPr/>
          </p:nvSpPr>
          <p:spPr>
            <a:xfrm>
              <a:off x="8411870" y="369919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990" name="TextBox 383"/>
            <p:cNvSpPr txBox="1"/>
            <p:nvPr/>
          </p:nvSpPr>
          <p:spPr>
            <a:xfrm>
              <a:off x="8410963" y="3997196"/>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91" name="TextBox 384"/>
            <p:cNvSpPr txBox="1"/>
            <p:nvPr/>
          </p:nvSpPr>
          <p:spPr>
            <a:xfrm>
              <a:off x="8419810" y="4269352"/>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92" name="TextBox 385"/>
            <p:cNvSpPr txBox="1"/>
            <p:nvPr/>
          </p:nvSpPr>
          <p:spPr>
            <a:xfrm>
              <a:off x="8407521" y="455548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14" name="组合 113"/>
          <p:cNvGrpSpPr/>
          <p:nvPr/>
        </p:nvGrpSpPr>
        <p:grpSpPr>
          <a:xfrm>
            <a:off x="8968183" y="2524546"/>
            <a:ext cx="431203" cy="1314568"/>
            <a:chOff x="6687163" y="1667296"/>
            <a:chExt cx="431203" cy="1314568"/>
          </a:xfrm>
        </p:grpSpPr>
        <p:grpSp>
          <p:nvGrpSpPr>
            <p:cNvPr id="457" name="组合 456"/>
            <p:cNvGrpSpPr/>
            <p:nvPr/>
          </p:nvGrpSpPr>
          <p:grpSpPr>
            <a:xfrm>
              <a:off x="6825834" y="1667296"/>
              <a:ext cx="292532" cy="1314568"/>
              <a:chOff x="1869542" y="1658095"/>
              <a:chExt cx="292532" cy="1314568"/>
            </a:xfrm>
          </p:grpSpPr>
          <p:sp>
            <p:nvSpPr>
              <p:cNvPr id="458" name="文本框 457"/>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59" name="文本框 458"/>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60" name="文本框 459"/>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61" name="文本框 460"/>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C00000"/>
                    </a:solidFill>
                    <a:latin typeface="微软雅黑" panose="020B0503020204020204" pitchFamily="34" charset="-122"/>
                    <a:ea typeface="微软雅黑" panose="020B0503020204020204" pitchFamily="34" charset="-122"/>
                  </a:rPr>
                  <a:t>c</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sp>
          <p:nvSpPr>
            <p:cNvPr id="993" name="AutoShape 98"/>
            <p:cNvSpPr>
              <a:spLocks/>
            </p:cNvSpPr>
            <p:nvPr/>
          </p:nvSpPr>
          <p:spPr bwMode="auto">
            <a:xfrm>
              <a:off x="6687163" y="2772647"/>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grpSp>
        <p:nvGrpSpPr>
          <p:cNvPr id="116" name="组合 115"/>
          <p:cNvGrpSpPr/>
          <p:nvPr/>
        </p:nvGrpSpPr>
        <p:grpSpPr>
          <a:xfrm>
            <a:off x="9540103" y="2531783"/>
            <a:ext cx="432994" cy="1314568"/>
            <a:chOff x="7259085" y="1674533"/>
            <a:chExt cx="432994" cy="1314568"/>
          </a:xfrm>
        </p:grpSpPr>
        <p:grpSp>
          <p:nvGrpSpPr>
            <p:cNvPr id="462" name="组合 461"/>
            <p:cNvGrpSpPr/>
            <p:nvPr/>
          </p:nvGrpSpPr>
          <p:grpSpPr>
            <a:xfrm>
              <a:off x="7399547" y="1674533"/>
              <a:ext cx="292532" cy="1314568"/>
              <a:chOff x="1869542" y="1658095"/>
              <a:chExt cx="292532" cy="1314568"/>
            </a:xfrm>
          </p:grpSpPr>
          <p:sp>
            <p:nvSpPr>
              <p:cNvPr id="463" name="文本框 462"/>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C00000"/>
                    </a:solidFill>
                    <a:latin typeface="微软雅黑" panose="020B0503020204020204" pitchFamily="34" charset="-122"/>
                    <a:ea typeface="微软雅黑" panose="020B0503020204020204" pitchFamily="34" charset="-122"/>
                  </a:rPr>
                  <a:t>d</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464" name="文本框 463"/>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65" name="文本框 464"/>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66" name="文本框 465"/>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994" name="AutoShape 98"/>
            <p:cNvSpPr>
              <a:spLocks/>
            </p:cNvSpPr>
            <p:nvPr/>
          </p:nvSpPr>
          <p:spPr bwMode="auto">
            <a:xfrm>
              <a:off x="7259085" y="1838445"/>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grpSp>
        <p:nvGrpSpPr>
          <p:cNvPr id="995" name="组合 994"/>
          <p:cNvGrpSpPr/>
          <p:nvPr/>
        </p:nvGrpSpPr>
        <p:grpSpPr>
          <a:xfrm>
            <a:off x="9638896" y="4428276"/>
            <a:ext cx="616600" cy="1250218"/>
            <a:chOff x="8132303" y="3693309"/>
            <a:chExt cx="616600" cy="1250218"/>
          </a:xfrm>
        </p:grpSpPr>
        <p:sp>
          <p:nvSpPr>
            <p:cNvPr id="996" name="矩形 995"/>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7" name="矩形 996"/>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8" name="矩形 997"/>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9" name="矩形 998"/>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0" name="矩形 999"/>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1" name="矩形 1000"/>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2" name="矩形 1001"/>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3" name="矩形 1002"/>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4" name="TextBox 377"/>
            <p:cNvSpPr txBox="1"/>
            <p:nvPr/>
          </p:nvSpPr>
          <p:spPr>
            <a:xfrm>
              <a:off x="8139215" y="372056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05" name="TextBox 378"/>
            <p:cNvSpPr txBox="1"/>
            <p:nvPr/>
          </p:nvSpPr>
          <p:spPr>
            <a:xfrm>
              <a:off x="8139215" y="399648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06"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007" name="TextBox 380"/>
            <p:cNvSpPr txBox="1"/>
            <p:nvPr/>
          </p:nvSpPr>
          <p:spPr>
            <a:xfrm>
              <a:off x="8132303" y="457419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008" name="TextBox 382"/>
            <p:cNvSpPr txBox="1"/>
            <p:nvPr/>
          </p:nvSpPr>
          <p:spPr>
            <a:xfrm>
              <a:off x="8418119" y="369330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09" name="TextBox 383"/>
            <p:cNvSpPr txBox="1"/>
            <p:nvPr/>
          </p:nvSpPr>
          <p:spPr>
            <a:xfrm>
              <a:off x="8410349" y="4009423"/>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10" name="TextBox 384"/>
            <p:cNvSpPr txBox="1"/>
            <p:nvPr/>
          </p:nvSpPr>
          <p:spPr>
            <a:xfrm>
              <a:off x="8419810" y="4269352"/>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11" name="TextBox 385"/>
            <p:cNvSpPr txBox="1"/>
            <p:nvPr/>
          </p:nvSpPr>
          <p:spPr>
            <a:xfrm>
              <a:off x="8407521" y="455548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012" name="组合 1011"/>
          <p:cNvGrpSpPr/>
          <p:nvPr/>
        </p:nvGrpSpPr>
        <p:grpSpPr>
          <a:xfrm>
            <a:off x="9638099" y="4436297"/>
            <a:ext cx="631749" cy="1250218"/>
            <a:chOff x="8132303" y="3693309"/>
            <a:chExt cx="631749" cy="1250218"/>
          </a:xfrm>
        </p:grpSpPr>
        <p:sp>
          <p:nvSpPr>
            <p:cNvPr id="1013" name="矩形 1012"/>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4" name="矩形 1013"/>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5" name="矩形 1014"/>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6" name="矩形 1015"/>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7" name="矩形 1016"/>
            <p:cNvSpPr/>
            <p:nvPr/>
          </p:nvSpPr>
          <p:spPr>
            <a:xfrm flipH="1">
              <a:off x="8154097"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8" name="矩形 1017"/>
            <p:cNvSpPr/>
            <p:nvPr/>
          </p:nvSpPr>
          <p:spPr>
            <a:xfrm flipH="1">
              <a:off x="8439849"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9" name="矩形 1018"/>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0" name="矩形 1019"/>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1" name="TextBox 377"/>
            <p:cNvSpPr txBox="1"/>
            <p:nvPr/>
          </p:nvSpPr>
          <p:spPr>
            <a:xfrm>
              <a:off x="8139215" y="372056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22" name="TextBox 378"/>
            <p:cNvSpPr txBox="1"/>
            <p:nvPr/>
          </p:nvSpPr>
          <p:spPr>
            <a:xfrm>
              <a:off x="8138523" y="401411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23" name="TextBox 379"/>
            <p:cNvSpPr txBox="1"/>
            <p:nvPr/>
          </p:nvSpPr>
          <p:spPr>
            <a:xfrm>
              <a:off x="8139215" y="429242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24" name="TextBox 380"/>
            <p:cNvSpPr txBox="1"/>
            <p:nvPr/>
          </p:nvSpPr>
          <p:spPr>
            <a:xfrm>
              <a:off x="8132303" y="457419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025" name="TextBox 382"/>
            <p:cNvSpPr txBox="1"/>
            <p:nvPr/>
          </p:nvSpPr>
          <p:spPr>
            <a:xfrm>
              <a:off x="8418119" y="369330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26" name="TextBox 383"/>
            <p:cNvSpPr txBox="1"/>
            <p:nvPr/>
          </p:nvSpPr>
          <p:spPr>
            <a:xfrm>
              <a:off x="8425498" y="400855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27" name="TextBox 384"/>
            <p:cNvSpPr txBox="1"/>
            <p:nvPr/>
          </p:nvSpPr>
          <p:spPr>
            <a:xfrm>
              <a:off x="8418119" y="4276499"/>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28" name="TextBox 385"/>
            <p:cNvSpPr txBox="1"/>
            <p:nvPr/>
          </p:nvSpPr>
          <p:spPr>
            <a:xfrm>
              <a:off x="8407521" y="455548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029" name="组合 1028"/>
          <p:cNvGrpSpPr/>
          <p:nvPr/>
        </p:nvGrpSpPr>
        <p:grpSpPr>
          <a:xfrm>
            <a:off x="9636884" y="4431298"/>
            <a:ext cx="632052" cy="1248626"/>
            <a:chOff x="8132000" y="3693309"/>
            <a:chExt cx="632052" cy="1248626"/>
          </a:xfrm>
        </p:grpSpPr>
        <p:sp>
          <p:nvSpPr>
            <p:cNvPr id="1030" name="矩形 1029"/>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1" name="矩形 1030"/>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2" name="矩形 1031"/>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3" name="矩形 1032"/>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4" name="矩形 1033"/>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5" name="矩形 1034"/>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6" name="矩形 1035"/>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7" name="矩形 1036"/>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8" name="TextBox 377"/>
            <p:cNvSpPr txBox="1"/>
            <p:nvPr/>
          </p:nvSpPr>
          <p:spPr>
            <a:xfrm>
              <a:off x="8139215" y="372056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39" name="TextBox 378"/>
            <p:cNvSpPr txBox="1"/>
            <p:nvPr/>
          </p:nvSpPr>
          <p:spPr>
            <a:xfrm>
              <a:off x="8138523" y="401411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40" name="TextBox 379"/>
            <p:cNvSpPr txBox="1"/>
            <p:nvPr/>
          </p:nvSpPr>
          <p:spPr>
            <a:xfrm>
              <a:off x="8132000" y="428468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41" name="TextBox 380"/>
            <p:cNvSpPr txBox="1"/>
            <p:nvPr/>
          </p:nvSpPr>
          <p:spPr>
            <a:xfrm>
              <a:off x="8132000" y="457260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42" name="TextBox 382"/>
            <p:cNvSpPr txBox="1"/>
            <p:nvPr/>
          </p:nvSpPr>
          <p:spPr>
            <a:xfrm>
              <a:off x="8418119" y="369330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43" name="TextBox 383"/>
            <p:cNvSpPr txBox="1"/>
            <p:nvPr/>
          </p:nvSpPr>
          <p:spPr>
            <a:xfrm>
              <a:off x="8425498" y="400855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44" name="TextBox 384"/>
            <p:cNvSpPr txBox="1"/>
            <p:nvPr/>
          </p:nvSpPr>
          <p:spPr>
            <a:xfrm>
              <a:off x="8408830" y="4262928"/>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45" name="TextBox 385"/>
            <p:cNvSpPr txBox="1"/>
            <p:nvPr/>
          </p:nvSpPr>
          <p:spPr>
            <a:xfrm>
              <a:off x="8418119" y="456290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046" name="组合 1045"/>
          <p:cNvGrpSpPr/>
          <p:nvPr/>
        </p:nvGrpSpPr>
        <p:grpSpPr>
          <a:xfrm>
            <a:off x="9633356" y="4433581"/>
            <a:ext cx="632052" cy="1263167"/>
            <a:chOff x="8132000" y="3693309"/>
            <a:chExt cx="632052" cy="1263167"/>
          </a:xfrm>
        </p:grpSpPr>
        <p:sp>
          <p:nvSpPr>
            <p:cNvPr id="1047" name="矩形 1046"/>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8" name="矩形 1047"/>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9" name="矩形 1048"/>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0" name="矩形 1049"/>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1" name="矩形 1050"/>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2" name="矩形 1051"/>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3" name="矩形 1052"/>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4" name="矩形 1053"/>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5" name="TextBox 377"/>
            <p:cNvSpPr txBox="1"/>
            <p:nvPr/>
          </p:nvSpPr>
          <p:spPr>
            <a:xfrm>
              <a:off x="8139215" y="372056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56" name="TextBox 378"/>
            <p:cNvSpPr txBox="1"/>
            <p:nvPr/>
          </p:nvSpPr>
          <p:spPr>
            <a:xfrm>
              <a:off x="8138523" y="401411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57" name="TextBox 379"/>
            <p:cNvSpPr txBox="1"/>
            <p:nvPr/>
          </p:nvSpPr>
          <p:spPr>
            <a:xfrm>
              <a:off x="8132000" y="428468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58" name="TextBox 380"/>
            <p:cNvSpPr txBox="1"/>
            <p:nvPr/>
          </p:nvSpPr>
          <p:spPr>
            <a:xfrm>
              <a:off x="8146351" y="458714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59" name="TextBox 382"/>
            <p:cNvSpPr txBox="1"/>
            <p:nvPr/>
          </p:nvSpPr>
          <p:spPr>
            <a:xfrm>
              <a:off x="8418119" y="369330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60" name="TextBox 383"/>
            <p:cNvSpPr txBox="1"/>
            <p:nvPr/>
          </p:nvSpPr>
          <p:spPr>
            <a:xfrm>
              <a:off x="8425498" y="400855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61" name="TextBox 384"/>
            <p:cNvSpPr txBox="1"/>
            <p:nvPr/>
          </p:nvSpPr>
          <p:spPr>
            <a:xfrm>
              <a:off x="8408830" y="4262928"/>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62" name="TextBox 385"/>
            <p:cNvSpPr txBox="1"/>
            <p:nvPr/>
          </p:nvSpPr>
          <p:spPr>
            <a:xfrm>
              <a:off x="8425498" y="456223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19" name="组合 118"/>
          <p:cNvGrpSpPr/>
          <p:nvPr/>
        </p:nvGrpSpPr>
        <p:grpSpPr>
          <a:xfrm>
            <a:off x="9640571" y="4434578"/>
            <a:ext cx="606238" cy="397825"/>
            <a:chOff x="8324612" y="1547926"/>
            <a:chExt cx="606238" cy="397825"/>
          </a:xfrm>
        </p:grpSpPr>
        <p:sp>
          <p:nvSpPr>
            <p:cNvPr id="250" name="矩形 249"/>
            <p:cNvSpPr/>
            <p:nvPr/>
          </p:nvSpPr>
          <p:spPr>
            <a:xfrm flipH="1">
              <a:off x="8339167" y="1612877"/>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1" name="矩形 250"/>
            <p:cNvSpPr/>
            <p:nvPr/>
          </p:nvSpPr>
          <p:spPr>
            <a:xfrm flipH="1">
              <a:off x="8624919" y="1612877"/>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5" name="TextBox 387"/>
            <p:cNvSpPr txBox="1"/>
            <p:nvPr/>
          </p:nvSpPr>
          <p:spPr>
            <a:xfrm>
              <a:off x="8324612" y="157641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279" name="TextBox 392"/>
            <p:cNvSpPr txBox="1"/>
            <p:nvPr/>
          </p:nvSpPr>
          <p:spPr>
            <a:xfrm>
              <a:off x="8603516" y="154792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grpSp>
      <p:grpSp>
        <p:nvGrpSpPr>
          <p:cNvPr id="1063" name="组合 1062"/>
          <p:cNvGrpSpPr/>
          <p:nvPr/>
        </p:nvGrpSpPr>
        <p:grpSpPr>
          <a:xfrm>
            <a:off x="9637924" y="4451311"/>
            <a:ext cx="616329" cy="1231070"/>
            <a:chOff x="8131055" y="3707194"/>
            <a:chExt cx="616329" cy="1231070"/>
          </a:xfrm>
        </p:grpSpPr>
        <p:sp>
          <p:nvSpPr>
            <p:cNvPr id="1064" name="矩形 1063"/>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65" name="矩形 1064"/>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66" name="矩形 1065"/>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67" name="矩形 1066"/>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68" name="矩形 1067"/>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69" name="矩形 1068"/>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0" name="矩形 1069"/>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1" name="矩形 1070"/>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2" name="TextBox 377"/>
            <p:cNvSpPr txBox="1"/>
            <p:nvPr/>
          </p:nvSpPr>
          <p:spPr>
            <a:xfrm>
              <a:off x="8139215" y="372056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073" name="TextBox 378"/>
            <p:cNvSpPr txBox="1"/>
            <p:nvPr/>
          </p:nvSpPr>
          <p:spPr>
            <a:xfrm>
              <a:off x="8131055" y="399596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74" name="TextBox 379"/>
            <p:cNvSpPr txBox="1"/>
            <p:nvPr/>
          </p:nvSpPr>
          <p:spPr>
            <a:xfrm>
              <a:off x="8132000" y="428468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75" name="TextBox 380"/>
            <p:cNvSpPr txBox="1"/>
            <p:nvPr/>
          </p:nvSpPr>
          <p:spPr>
            <a:xfrm>
              <a:off x="8131474" y="4568932"/>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076" name="TextBox 382"/>
            <p:cNvSpPr txBox="1"/>
            <p:nvPr/>
          </p:nvSpPr>
          <p:spPr>
            <a:xfrm>
              <a:off x="8402545" y="3707194"/>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sp>
          <p:nvSpPr>
            <p:cNvPr id="1077" name="TextBox 383"/>
            <p:cNvSpPr txBox="1"/>
            <p:nvPr/>
          </p:nvSpPr>
          <p:spPr>
            <a:xfrm>
              <a:off x="8408830" y="399527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78" name="TextBox 384"/>
            <p:cNvSpPr txBox="1"/>
            <p:nvPr/>
          </p:nvSpPr>
          <p:spPr>
            <a:xfrm>
              <a:off x="8408830" y="4262928"/>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79" name="TextBox 385"/>
            <p:cNvSpPr txBox="1"/>
            <p:nvPr/>
          </p:nvSpPr>
          <p:spPr>
            <a:xfrm>
              <a:off x="8425498" y="456070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114" name="组合 1113"/>
          <p:cNvGrpSpPr/>
          <p:nvPr/>
        </p:nvGrpSpPr>
        <p:grpSpPr>
          <a:xfrm>
            <a:off x="6487007" y="4419451"/>
            <a:ext cx="623875" cy="1246796"/>
            <a:chOff x="8132303" y="3699943"/>
            <a:chExt cx="623875" cy="1246796"/>
          </a:xfrm>
        </p:grpSpPr>
        <p:sp>
          <p:nvSpPr>
            <p:cNvPr id="1115" name="矩形 1114"/>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6" name="矩形 1115"/>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7" name="矩形 1116"/>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8" name="矩形 1117"/>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9" name="矩形 1118"/>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0" name="矩形 1119"/>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1" name="矩形 1120"/>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2" name="矩形 1121"/>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3"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24" name="TextBox 378"/>
            <p:cNvSpPr txBox="1"/>
            <p:nvPr/>
          </p:nvSpPr>
          <p:spPr>
            <a:xfrm>
              <a:off x="8133111" y="400938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125"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126" name="TextBox 380"/>
            <p:cNvSpPr txBox="1"/>
            <p:nvPr/>
          </p:nvSpPr>
          <p:spPr>
            <a:xfrm>
              <a:off x="8140018" y="457740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127"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28" name="TextBox 383"/>
            <p:cNvSpPr txBox="1"/>
            <p:nvPr/>
          </p:nvSpPr>
          <p:spPr>
            <a:xfrm>
              <a:off x="8417624" y="401189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129" name="TextBox 384"/>
            <p:cNvSpPr txBox="1"/>
            <p:nvPr/>
          </p:nvSpPr>
          <p:spPr>
            <a:xfrm>
              <a:off x="8419810" y="4269352"/>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1130" name="TextBox 385"/>
            <p:cNvSpPr txBox="1"/>
            <p:nvPr/>
          </p:nvSpPr>
          <p:spPr>
            <a:xfrm>
              <a:off x="8414936" y="456222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131" name="组合 1130"/>
          <p:cNvGrpSpPr/>
          <p:nvPr/>
        </p:nvGrpSpPr>
        <p:grpSpPr>
          <a:xfrm>
            <a:off x="7768379" y="4418958"/>
            <a:ext cx="621275" cy="1246617"/>
            <a:chOff x="8132303" y="3699943"/>
            <a:chExt cx="621275" cy="1246617"/>
          </a:xfrm>
        </p:grpSpPr>
        <p:sp>
          <p:nvSpPr>
            <p:cNvPr id="1132" name="矩形 1131"/>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3" name="矩形 1132"/>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4" name="矩形 1133"/>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5" name="矩形 1134"/>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6" name="矩形 1135"/>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7" name="矩形 1136"/>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8" name="矩形 1137"/>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9" name="矩形 1138"/>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0" name="TextBox 377"/>
            <p:cNvSpPr txBox="1"/>
            <p:nvPr/>
          </p:nvSpPr>
          <p:spPr>
            <a:xfrm>
              <a:off x="8138441" y="373155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41" name="TextBox 378"/>
            <p:cNvSpPr txBox="1"/>
            <p:nvPr/>
          </p:nvSpPr>
          <p:spPr>
            <a:xfrm>
              <a:off x="8132303" y="400478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142"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43" name="TextBox 380"/>
            <p:cNvSpPr txBox="1"/>
            <p:nvPr/>
          </p:nvSpPr>
          <p:spPr>
            <a:xfrm>
              <a:off x="8141150" y="4577228"/>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144" name="TextBox 382"/>
            <p:cNvSpPr txBox="1"/>
            <p:nvPr/>
          </p:nvSpPr>
          <p:spPr>
            <a:xfrm>
              <a:off x="8426244" y="36999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45" name="TextBox 383"/>
            <p:cNvSpPr txBox="1"/>
            <p:nvPr/>
          </p:nvSpPr>
          <p:spPr>
            <a:xfrm>
              <a:off x="8410963" y="3997196"/>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146" name="TextBox 384"/>
            <p:cNvSpPr txBox="1"/>
            <p:nvPr/>
          </p:nvSpPr>
          <p:spPr>
            <a:xfrm>
              <a:off x="8419810" y="4269352"/>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147" name="TextBox 385"/>
            <p:cNvSpPr txBox="1"/>
            <p:nvPr/>
          </p:nvSpPr>
          <p:spPr>
            <a:xfrm>
              <a:off x="8406794" y="4569638"/>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148" name="组合 1147"/>
          <p:cNvGrpSpPr/>
          <p:nvPr/>
        </p:nvGrpSpPr>
        <p:grpSpPr>
          <a:xfrm>
            <a:off x="9005374" y="4437650"/>
            <a:ext cx="617214" cy="1244328"/>
            <a:chOff x="8132303" y="3699199"/>
            <a:chExt cx="617214" cy="1244328"/>
          </a:xfrm>
        </p:grpSpPr>
        <p:sp>
          <p:nvSpPr>
            <p:cNvPr id="1149" name="矩形 1148"/>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0" name="矩形 1149"/>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1" name="矩形 1150"/>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2" name="矩形 1151"/>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3" name="矩形 1152"/>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4" name="矩形 1153"/>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5" name="矩形 1154"/>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6" name="矩形 1155"/>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7" name="TextBox 377"/>
            <p:cNvSpPr txBox="1"/>
            <p:nvPr/>
          </p:nvSpPr>
          <p:spPr>
            <a:xfrm>
              <a:off x="8132303" y="3724471"/>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58" name="TextBox 378"/>
            <p:cNvSpPr txBox="1"/>
            <p:nvPr/>
          </p:nvSpPr>
          <p:spPr>
            <a:xfrm>
              <a:off x="8132303" y="400478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59" name="TextBox 379"/>
            <p:cNvSpPr txBox="1"/>
            <p:nvPr/>
          </p:nvSpPr>
          <p:spPr>
            <a:xfrm>
              <a:off x="8132303" y="42998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60" name="TextBox 380"/>
            <p:cNvSpPr txBox="1"/>
            <p:nvPr/>
          </p:nvSpPr>
          <p:spPr>
            <a:xfrm>
              <a:off x="8132303" y="457419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161" name="TextBox 382"/>
            <p:cNvSpPr txBox="1"/>
            <p:nvPr/>
          </p:nvSpPr>
          <p:spPr>
            <a:xfrm>
              <a:off x="8411870" y="3699199"/>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62" name="TextBox 383"/>
            <p:cNvSpPr txBox="1"/>
            <p:nvPr/>
          </p:nvSpPr>
          <p:spPr>
            <a:xfrm>
              <a:off x="8410963" y="3997196"/>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163" name="TextBox 384"/>
            <p:cNvSpPr txBox="1"/>
            <p:nvPr/>
          </p:nvSpPr>
          <p:spPr>
            <a:xfrm>
              <a:off x="8419810" y="4269352"/>
              <a:ext cx="31771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164" name="TextBox 385"/>
            <p:cNvSpPr txBox="1"/>
            <p:nvPr/>
          </p:nvSpPr>
          <p:spPr>
            <a:xfrm>
              <a:off x="8407521" y="455548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sp>
        <p:nvSpPr>
          <p:cNvPr id="2" name="文本框 1">
            <a:extLst>
              <a:ext uri="{FF2B5EF4-FFF2-40B4-BE49-F238E27FC236}">
                <a16:creationId xmlns:a16="http://schemas.microsoft.com/office/drawing/2014/main" id="{BD220E24-8545-0951-E723-BE4C579D2349}"/>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936B474C-FF96-2A9E-A1C6-BAB982AF93E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时钟页面置换示例</a:t>
            </a:r>
          </a:p>
        </p:txBody>
      </p:sp>
    </p:spTree>
    <p:extLst>
      <p:ext uri="{BB962C8B-B14F-4D97-AF65-F5344CB8AC3E}">
        <p14:creationId xmlns:p14="http://schemas.microsoft.com/office/powerpoint/2010/main" val="123309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89"/>
                                        </p:tgtEl>
                                        <p:attrNameLst>
                                          <p:attrName>style.visibility</p:attrName>
                                        </p:attrNameLst>
                                      </p:cBhvr>
                                      <p:to>
                                        <p:strVal val="visible"/>
                                      </p:to>
                                    </p:set>
                                  </p:childTnLst>
                                </p:cTn>
                              </p:par>
                            </p:childTnLst>
                          </p:cTn>
                        </p:par>
                        <p:par>
                          <p:cTn id="11" fill="hold">
                            <p:stCondLst>
                              <p:cond delay="500"/>
                            </p:stCondLst>
                            <p:childTnLst>
                              <p:par>
                                <p:cTn id="12" presetID="35" presetClass="emph" presetSubtype="0" repeatCount="indefinite" fill="hold" grpId="1" nodeType="afterEffect">
                                  <p:stCondLst>
                                    <p:cond delay="0"/>
                                  </p:stCondLst>
                                  <p:endCondLst>
                                    <p:cond evt="onNext" delay="0">
                                      <p:tgtEl>
                                        <p:sldTgt/>
                                      </p:tgtEl>
                                    </p:cond>
                                  </p:endCondLst>
                                  <p:childTnLst>
                                    <p:anim calcmode="discrete" valueType="str">
                                      <p:cBhvr>
                                        <p:cTn id="13" dur="500" fill="hold"/>
                                        <p:tgtEl>
                                          <p:spTgt spid="489"/>
                                        </p:tgtEl>
                                        <p:attrNameLst>
                                          <p:attrName>style.visibility</p:attrName>
                                        </p:attrNameLst>
                                      </p:cBhvr>
                                      <p:tavLst>
                                        <p:tav tm="0">
                                          <p:val>
                                            <p:strVal val="hidden"/>
                                          </p:val>
                                        </p:tav>
                                        <p:tav tm="50000">
                                          <p:val>
                                            <p:strVal val="visible"/>
                                          </p:val>
                                        </p:tav>
                                      </p:tavLst>
                                    </p:anim>
                                  </p:childTnLst>
                                </p:cTn>
                              </p:par>
                              <p:par>
                                <p:cTn id="14" presetID="42" presetClass="path" presetSubtype="0" accel="50000" decel="50000" fill="hold" nodeType="withEffect">
                                  <p:stCondLst>
                                    <p:cond delay="0"/>
                                  </p:stCondLst>
                                  <p:childTnLst>
                                    <p:animMotion origin="layout" path="M -4.58333E-6 2.96296E-6 L 0.0513 -0.00047 " pathEditMode="relative" rAng="0" ptsTypes="AA">
                                      <p:cBhvr>
                                        <p:cTn id="15" dur="2000" fill="hold"/>
                                        <p:tgtEl>
                                          <p:spTgt spid="630"/>
                                        </p:tgtEl>
                                        <p:attrNameLst>
                                          <p:attrName>ppt_x</p:attrName>
                                          <p:attrName>ppt_y</p:attrName>
                                        </p:attrNameLst>
                                      </p:cBhvr>
                                      <p:rCtr x="2604" y="-23"/>
                                    </p:animMotion>
                                  </p:childTnLst>
                                </p:cTn>
                              </p:par>
                            </p:childTnLst>
                          </p:cTn>
                        </p:par>
                        <p:par>
                          <p:cTn id="16" fill="hold">
                            <p:stCondLst>
                              <p:cond delay="2500"/>
                            </p:stCondLst>
                            <p:childTnLst>
                              <p:par>
                                <p:cTn id="17" presetID="10" presetClass="entr" presetSubtype="0" fill="hold" nodeType="afterEffect">
                                  <p:stCondLst>
                                    <p:cond delay="0"/>
                                  </p:stCondLst>
                                  <p:childTnLst>
                                    <p:set>
                                      <p:cBhvr>
                                        <p:cTn id="18" dur="1" fill="hold">
                                          <p:stCondLst>
                                            <p:cond delay="0"/>
                                          </p:stCondLst>
                                        </p:cTn>
                                        <p:tgtEl>
                                          <p:spTgt spid="664"/>
                                        </p:tgtEl>
                                        <p:attrNameLst>
                                          <p:attrName>style.visibility</p:attrName>
                                        </p:attrNameLst>
                                      </p:cBhvr>
                                      <p:to>
                                        <p:strVal val="visible"/>
                                      </p:to>
                                    </p:set>
                                    <p:animEffect transition="in" filter="fade">
                                      <p:cBhvr>
                                        <p:cTn id="19" dur="500"/>
                                        <p:tgtEl>
                                          <p:spTgt spid="664"/>
                                        </p:tgtEl>
                                      </p:cBhvr>
                                    </p:animEffect>
                                  </p:childTnLst>
                                </p:cTn>
                              </p:par>
                            </p:childTnLst>
                          </p:cTn>
                        </p:par>
                        <p:par>
                          <p:cTn id="20" fill="hold">
                            <p:stCondLst>
                              <p:cond delay="3000"/>
                            </p:stCondLst>
                            <p:childTnLst>
                              <p:par>
                                <p:cTn id="21" presetID="1" presetClass="exit" presetSubtype="0" fill="hold" nodeType="afterEffect">
                                  <p:stCondLst>
                                    <p:cond delay="0"/>
                                  </p:stCondLst>
                                  <p:childTnLst>
                                    <p:set>
                                      <p:cBhvr>
                                        <p:cTn id="22" dur="1" fill="hold">
                                          <p:stCondLst>
                                            <p:cond delay="0"/>
                                          </p:stCondLst>
                                        </p:cTn>
                                        <p:tgtEl>
                                          <p:spTgt spid="63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2" nodeType="clickEffect">
                                  <p:stCondLst>
                                    <p:cond delay="0"/>
                                  </p:stCondLst>
                                  <p:childTnLst>
                                    <p:set>
                                      <p:cBhvr>
                                        <p:cTn id="26" dur="1" fill="hold">
                                          <p:stCondLst>
                                            <p:cond delay="0"/>
                                          </p:stCondLst>
                                        </p:cTn>
                                        <p:tgtEl>
                                          <p:spTgt spid="489"/>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421"/>
                                        </p:tgtEl>
                                        <p:attrNameLst>
                                          <p:attrName>style.visibility</p:attrName>
                                        </p:attrNameLst>
                                      </p:cBhvr>
                                      <p:to>
                                        <p:strVal val="visible"/>
                                      </p:to>
                                    </p:set>
                                    <p:animEffect transition="in" filter="fade">
                                      <p:cBhvr>
                                        <p:cTn id="29" dur="500"/>
                                        <p:tgtEl>
                                          <p:spTgt spid="421"/>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499"/>
                                        </p:tgtEl>
                                        <p:attrNameLst>
                                          <p:attrName>style.visibility</p:attrName>
                                        </p:attrNameLst>
                                      </p:cBhvr>
                                      <p:to>
                                        <p:strVal val="visible"/>
                                      </p:to>
                                    </p:set>
                                  </p:childTnLst>
                                </p:cTn>
                              </p:par>
                            </p:childTnLst>
                          </p:cTn>
                        </p:par>
                        <p:par>
                          <p:cTn id="33" fill="hold">
                            <p:stCondLst>
                              <p:cond delay="500"/>
                            </p:stCondLst>
                            <p:childTnLst>
                              <p:par>
                                <p:cTn id="34" presetID="35" presetClass="emph" presetSubtype="0" repeatCount="indefinite" fill="hold" grpId="1" nodeType="afterEffect">
                                  <p:stCondLst>
                                    <p:cond delay="0"/>
                                  </p:stCondLst>
                                  <p:endCondLst>
                                    <p:cond evt="onNext" delay="0">
                                      <p:tgtEl>
                                        <p:sldTgt/>
                                      </p:tgtEl>
                                    </p:cond>
                                  </p:endCondLst>
                                  <p:childTnLst>
                                    <p:anim calcmode="discrete" valueType="str">
                                      <p:cBhvr>
                                        <p:cTn id="35" dur="500" fill="hold"/>
                                        <p:tgtEl>
                                          <p:spTgt spid="499"/>
                                        </p:tgtEl>
                                        <p:attrNameLst>
                                          <p:attrName>style.visibility</p:attrName>
                                        </p:attrNameLst>
                                      </p:cBhvr>
                                      <p:tavLst>
                                        <p:tav tm="0">
                                          <p:val>
                                            <p:strVal val="hidden"/>
                                          </p:val>
                                        </p:tav>
                                        <p:tav tm="50000">
                                          <p:val>
                                            <p:strVal val="visible"/>
                                          </p:val>
                                        </p:tav>
                                      </p:tavLst>
                                    </p:anim>
                                  </p:childTnLst>
                                </p:cTn>
                              </p:par>
                              <p:par>
                                <p:cTn id="36" presetID="42" presetClass="path" presetSubtype="0" accel="50000" decel="50000" fill="hold" nodeType="withEffect">
                                  <p:stCondLst>
                                    <p:cond delay="0"/>
                                  </p:stCondLst>
                                  <p:childTnLst>
                                    <p:animMotion origin="layout" path="M 3.33333E-6 -4.07407E-6 L 0.05091 -4.07407E-6 " pathEditMode="relative" rAng="0" ptsTypes="AA">
                                      <p:cBhvr>
                                        <p:cTn id="37" dur="2000" fill="hold"/>
                                        <p:tgtEl>
                                          <p:spTgt spid="664"/>
                                        </p:tgtEl>
                                        <p:attrNameLst>
                                          <p:attrName>ppt_x</p:attrName>
                                          <p:attrName>ppt_y</p:attrName>
                                        </p:attrNameLst>
                                      </p:cBhvr>
                                      <p:rCtr x="2591" y="0"/>
                                    </p:animMotion>
                                  </p:childTnLst>
                                </p:cTn>
                              </p:par>
                            </p:childTnLst>
                          </p:cTn>
                        </p:par>
                        <p:par>
                          <p:cTn id="38" fill="hold">
                            <p:stCondLst>
                              <p:cond delay="2500"/>
                            </p:stCondLst>
                            <p:childTnLst>
                              <p:par>
                                <p:cTn id="39" presetID="10" presetClass="entr" presetSubtype="0" fill="hold" nodeType="afterEffect">
                                  <p:stCondLst>
                                    <p:cond delay="0"/>
                                  </p:stCondLst>
                                  <p:childTnLst>
                                    <p:set>
                                      <p:cBhvr>
                                        <p:cTn id="40" dur="1" fill="hold">
                                          <p:stCondLst>
                                            <p:cond delay="0"/>
                                          </p:stCondLst>
                                        </p:cTn>
                                        <p:tgtEl>
                                          <p:spTgt spid="681"/>
                                        </p:tgtEl>
                                        <p:attrNameLst>
                                          <p:attrName>style.visibility</p:attrName>
                                        </p:attrNameLst>
                                      </p:cBhvr>
                                      <p:to>
                                        <p:strVal val="visible"/>
                                      </p:to>
                                    </p:set>
                                    <p:animEffect transition="in" filter="fade">
                                      <p:cBhvr>
                                        <p:cTn id="41" dur="500"/>
                                        <p:tgtEl>
                                          <p:spTgt spid="681"/>
                                        </p:tgtEl>
                                      </p:cBhvr>
                                    </p:animEffect>
                                  </p:childTnLst>
                                </p:cTn>
                              </p:par>
                            </p:childTnLst>
                          </p:cTn>
                        </p:par>
                        <p:par>
                          <p:cTn id="42" fill="hold">
                            <p:stCondLst>
                              <p:cond delay="3000"/>
                            </p:stCondLst>
                            <p:childTnLst>
                              <p:par>
                                <p:cTn id="43" presetID="1" presetClass="exit" presetSubtype="0" fill="hold" nodeType="afterEffect">
                                  <p:stCondLst>
                                    <p:cond delay="0"/>
                                  </p:stCondLst>
                                  <p:childTnLst>
                                    <p:set>
                                      <p:cBhvr>
                                        <p:cTn id="44" dur="1" fill="hold">
                                          <p:stCondLst>
                                            <p:cond delay="0"/>
                                          </p:stCondLst>
                                        </p:cTn>
                                        <p:tgtEl>
                                          <p:spTgt spid="66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2" nodeType="clickEffect">
                                  <p:stCondLst>
                                    <p:cond delay="0"/>
                                  </p:stCondLst>
                                  <p:childTnLst>
                                    <p:set>
                                      <p:cBhvr>
                                        <p:cTn id="48" dur="1" fill="hold">
                                          <p:stCondLst>
                                            <p:cond delay="0"/>
                                          </p:stCondLst>
                                        </p:cTn>
                                        <p:tgtEl>
                                          <p:spTgt spid="499"/>
                                        </p:tgtEl>
                                        <p:attrNameLst>
                                          <p:attrName>style.visibility</p:attrName>
                                        </p:attrNameLst>
                                      </p:cBhvr>
                                      <p:to>
                                        <p:strVal val="hidden"/>
                                      </p:to>
                                    </p:set>
                                  </p:childTnLst>
                                </p:cTn>
                              </p:par>
                              <p:par>
                                <p:cTn id="49" presetID="10" presetClass="entr" presetSubtype="0" fill="hold" nodeType="withEffect">
                                  <p:stCondLst>
                                    <p:cond delay="0"/>
                                  </p:stCondLst>
                                  <p:childTnLst>
                                    <p:set>
                                      <p:cBhvr>
                                        <p:cTn id="50" dur="1" fill="hold">
                                          <p:stCondLst>
                                            <p:cond delay="0"/>
                                          </p:stCondLst>
                                        </p:cTn>
                                        <p:tgtEl>
                                          <p:spTgt spid="426"/>
                                        </p:tgtEl>
                                        <p:attrNameLst>
                                          <p:attrName>style.visibility</p:attrName>
                                        </p:attrNameLst>
                                      </p:cBhvr>
                                      <p:to>
                                        <p:strVal val="visible"/>
                                      </p:to>
                                    </p:set>
                                    <p:animEffect transition="in" filter="fade">
                                      <p:cBhvr>
                                        <p:cTn id="51" dur="500"/>
                                        <p:tgtEl>
                                          <p:spTgt spid="426"/>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527"/>
                                        </p:tgtEl>
                                        <p:attrNameLst>
                                          <p:attrName>style.visibility</p:attrName>
                                        </p:attrNameLst>
                                      </p:cBhvr>
                                      <p:to>
                                        <p:strVal val="visible"/>
                                      </p:to>
                                    </p:set>
                                  </p:childTnLst>
                                </p:cTn>
                              </p:par>
                            </p:childTnLst>
                          </p:cTn>
                        </p:par>
                        <p:par>
                          <p:cTn id="55" fill="hold">
                            <p:stCondLst>
                              <p:cond delay="500"/>
                            </p:stCondLst>
                            <p:childTnLst>
                              <p:par>
                                <p:cTn id="56" presetID="35" presetClass="emph" presetSubtype="0" repeatCount="indefinite" fill="hold" grpId="1" nodeType="afterEffect">
                                  <p:stCondLst>
                                    <p:cond delay="0"/>
                                  </p:stCondLst>
                                  <p:endCondLst>
                                    <p:cond evt="onNext" delay="0">
                                      <p:tgtEl>
                                        <p:sldTgt/>
                                      </p:tgtEl>
                                    </p:cond>
                                  </p:endCondLst>
                                  <p:childTnLst>
                                    <p:anim calcmode="discrete" valueType="str">
                                      <p:cBhvr>
                                        <p:cTn id="57" dur="500" fill="hold"/>
                                        <p:tgtEl>
                                          <p:spTgt spid="527"/>
                                        </p:tgtEl>
                                        <p:attrNameLst>
                                          <p:attrName>style.visibility</p:attrName>
                                        </p:attrNameLst>
                                      </p:cBhvr>
                                      <p:tavLst>
                                        <p:tav tm="0">
                                          <p:val>
                                            <p:strVal val="hidden"/>
                                          </p:val>
                                        </p:tav>
                                        <p:tav tm="50000">
                                          <p:val>
                                            <p:strVal val="visible"/>
                                          </p:val>
                                        </p:tav>
                                      </p:tavLst>
                                    </p:anim>
                                  </p:childTnLst>
                                </p:cTn>
                              </p:par>
                              <p:par>
                                <p:cTn id="58" presetID="42" presetClass="path" presetSubtype="0" accel="50000" decel="50000" fill="hold" nodeType="withEffect">
                                  <p:stCondLst>
                                    <p:cond delay="0"/>
                                  </p:stCondLst>
                                  <p:childTnLst>
                                    <p:animMotion origin="layout" path="M 1.875E-6 -4.07407E-6 L 0.05143 -4.07407E-6 " pathEditMode="relative" rAng="0" ptsTypes="AA">
                                      <p:cBhvr>
                                        <p:cTn id="59" dur="2000" fill="hold"/>
                                        <p:tgtEl>
                                          <p:spTgt spid="681"/>
                                        </p:tgtEl>
                                        <p:attrNameLst>
                                          <p:attrName>ppt_x</p:attrName>
                                          <p:attrName>ppt_y</p:attrName>
                                        </p:attrNameLst>
                                      </p:cBhvr>
                                      <p:rCtr x="2617" y="0"/>
                                    </p:animMotion>
                                  </p:childTnLst>
                                </p:cTn>
                              </p:par>
                            </p:childTnLst>
                          </p:cTn>
                        </p:par>
                        <p:par>
                          <p:cTn id="60" fill="hold">
                            <p:stCondLst>
                              <p:cond delay="2500"/>
                            </p:stCondLst>
                            <p:childTnLst>
                              <p:par>
                                <p:cTn id="61" presetID="10" presetClass="entr" presetSubtype="0" fill="hold" nodeType="afterEffect">
                                  <p:stCondLst>
                                    <p:cond delay="0"/>
                                  </p:stCondLst>
                                  <p:childTnLst>
                                    <p:set>
                                      <p:cBhvr>
                                        <p:cTn id="62" dur="1" fill="hold">
                                          <p:stCondLst>
                                            <p:cond delay="0"/>
                                          </p:stCondLst>
                                        </p:cTn>
                                        <p:tgtEl>
                                          <p:spTgt spid="698"/>
                                        </p:tgtEl>
                                        <p:attrNameLst>
                                          <p:attrName>style.visibility</p:attrName>
                                        </p:attrNameLst>
                                      </p:cBhvr>
                                      <p:to>
                                        <p:strVal val="visible"/>
                                      </p:to>
                                    </p:set>
                                    <p:animEffect transition="in" filter="fade">
                                      <p:cBhvr>
                                        <p:cTn id="63" dur="500"/>
                                        <p:tgtEl>
                                          <p:spTgt spid="698"/>
                                        </p:tgtEl>
                                      </p:cBhvr>
                                    </p:animEffect>
                                  </p:childTnLst>
                                </p:cTn>
                              </p:par>
                            </p:childTnLst>
                          </p:cTn>
                        </p:par>
                        <p:par>
                          <p:cTn id="64" fill="hold">
                            <p:stCondLst>
                              <p:cond delay="3000"/>
                            </p:stCondLst>
                            <p:childTnLst>
                              <p:par>
                                <p:cTn id="65" presetID="1" presetClass="exit" presetSubtype="0" fill="hold" nodeType="afterEffect">
                                  <p:stCondLst>
                                    <p:cond delay="0"/>
                                  </p:stCondLst>
                                  <p:childTnLst>
                                    <p:set>
                                      <p:cBhvr>
                                        <p:cTn id="66" dur="1" fill="hold">
                                          <p:stCondLst>
                                            <p:cond delay="0"/>
                                          </p:stCondLst>
                                        </p:cTn>
                                        <p:tgtEl>
                                          <p:spTgt spid="68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2" nodeType="clickEffect">
                                  <p:stCondLst>
                                    <p:cond delay="0"/>
                                  </p:stCondLst>
                                  <p:childTnLst>
                                    <p:set>
                                      <p:cBhvr>
                                        <p:cTn id="70" dur="1" fill="hold">
                                          <p:stCondLst>
                                            <p:cond delay="0"/>
                                          </p:stCondLst>
                                        </p:cTn>
                                        <p:tgtEl>
                                          <p:spTgt spid="527"/>
                                        </p:tgtEl>
                                        <p:attrNameLst>
                                          <p:attrName>style.visibility</p:attrName>
                                        </p:attrNameLst>
                                      </p:cBhvr>
                                      <p:to>
                                        <p:strVal val="hidden"/>
                                      </p:to>
                                    </p:set>
                                  </p:childTnLst>
                                </p:cTn>
                              </p:par>
                              <p:par>
                                <p:cTn id="71" presetID="10" presetClass="entr" presetSubtype="0" fill="hold" nodeType="withEffect">
                                  <p:stCondLst>
                                    <p:cond delay="0"/>
                                  </p:stCondLst>
                                  <p:childTnLst>
                                    <p:set>
                                      <p:cBhvr>
                                        <p:cTn id="72" dur="1" fill="hold">
                                          <p:stCondLst>
                                            <p:cond delay="0"/>
                                          </p:stCondLst>
                                        </p:cTn>
                                        <p:tgtEl>
                                          <p:spTgt spid="431"/>
                                        </p:tgtEl>
                                        <p:attrNameLst>
                                          <p:attrName>style.visibility</p:attrName>
                                        </p:attrNameLst>
                                      </p:cBhvr>
                                      <p:to>
                                        <p:strVal val="visible"/>
                                      </p:to>
                                    </p:set>
                                    <p:animEffect transition="in" filter="fade">
                                      <p:cBhvr>
                                        <p:cTn id="73" dur="500"/>
                                        <p:tgtEl>
                                          <p:spTgt spid="431"/>
                                        </p:tgtEl>
                                      </p:cBhvr>
                                    </p:animEffec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0"/>
                                          </p:stCondLst>
                                        </p:cTn>
                                        <p:tgtEl>
                                          <p:spTgt spid="585"/>
                                        </p:tgtEl>
                                        <p:attrNameLst>
                                          <p:attrName>style.visibility</p:attrName>
                                        </p:attrNameLst>
                                      </p:cBhvr>
                                      <p:to>
                                        <p:strVal val="visible"/>
                                      </p:to>
                                    </p:set>
                                  </p:childTnLst>
                                </p:cTn>
                              </p:par>
                            </p:childTnLst>
                          </p:cTn>
                        </p:par>
                        <p:par>
                          <p:cTn id="77" fill="hold">
                            <p:stCondLst>
                              <p:cond delay="500"/>
                            </p:stCondLst>
                            <p:childTnLst>
                              <p:par>
                                <p:cTn id="78" presetID="35" presetClass="emph" presetSubtype="0" repeatCount="indefinite" fill="hold" grpId="1" nodeType="afterEffect">
                                  <p:stCondLst>
                                    <p:cond delay="0"/>
                                  </p:stCondLst>
                                  <p:endCondLst>
                                    <p:cond evt="onNext" delay="0">
                                      <p:tgtEl>
                                        <p:sldTgt/>
                                      </p:tgtEl>
                                    </p:cond>
                                  </p:endCondLst>
                                  <p:childTnLst>
                                    <p:anim calcmode="discrete" valueType="str">
                                      <p:cBhvr>
                                        <p:cTn id="79" dur="500" fill="hold"/>
                                        <p:tgtEl>
                                          <p:spTgt spid="585"/>
                                        </p:tgtEl>
                                        <p:attrNameLst>
                                          <p:attrName>style.visibility</p:attrName>
                                        </p:attrNameLst>
                                      </p:cBhvr>
                                      <p:tavLst>
                                        <p:tav tm="0">
                                          <p:val>
                                            <p:strVal val="hidden"/>
                                          </p:val>
                                        </p:tav>
                                        <p:tav tm="50000">
                                          <p:val>
                                            <p:strVal val="visible"/>
                                          </p:val>
                                        </p:tav>
                                      </p:tavLst>
                                    </p:anim>
                                  </p:childTnLst>
                                </p:cTn>
                              </p:par>
                              <p:par>
                                <p:cTn id="80" presetID="42" presetClass="path" presetSubtype="0" accel="50000" decel="50000" fill="hold" nodeType="withEffect">
                                  <p:stCondLst>
                                    <p:cond delay="0"/>
                                  </p:stCondLst>
                                  <p:childTnLst>
                                    <p:animMotion origin="layout" path="M -4.16667E-7 -4.07407E-6 L 0.05091 -4.07407E-6 " pathEditMode="relative" rAng="0" ptsTypes="AA">
                                      <p:cBhvr>
                                        <p:cTn id="81" dur="2000" fill="hold"/>
                                        <p:tgtEl>
                                          <p:spTgt spid="698"/>
                                        </p:tgtEl>
                                        <p:attrNameLst>
                                          <p:attrName>ppt_x</p:attrName>
                                          <p:attrName>ppt_y</p:attrName>
                                        </p:attrNameLst>
                                      </p:cBhvr>
                                      <p:rCtr x="2617" y="0"/>
                                    </p:animMotion>
                                  </p:childTnLst>
                                </p:cTn>
                              </p:par>
                            </p:childTnLst>
                          </p:cTn>
                        </p:par>
                        <p:par>
                          <p:cTn id="82" fill="hold">
                            <p:stCondLst>
                              <p:cond delay="2500"/>
                            </p:stCondLst>
                            <p:childTnLst>
                              <p:par>
                                <p:cTn id="83" presetID="10" presetClass="entr" presetSubtype="0" fill="hold" nodeType="afterEffect">
                                  <p:stCondLst>
                                    <p:cond delay="0"/>
                                  </p:stCondLst>
                                  <p:childTnLst>
                                    <p:set>
                                      <p:cBhvr>
                                        <p:cTn id="84" dur="1" fill="hold">
                                          <p:stCondLst>
                                            <p:cond delay="0"/>
                                          </p:stCondLst>
                                        </p:cTn>
                                        <p:tgtEl>
                                          <p:spTgt spid="715"/>
                                        </p:tgtEl>
                                        <p:attrNameLst>
                                          <p:attrName>style.visibility</p:attrName>
                                        </p:attrNameLst>
                                      </p:cBhvr>
                                      <p:to>
                                        <p:strVal val="visible"/>
                                      </p:to>
                                    </p:set>
                                    <p:animEffect transition="in" filter="fade">
                                      <p:cBhvr>
                                        <p:cTn id="85" dur="500"/>
                                        <p:tgtEl>
                                          <p:spTgt spid="715"/>
                                        </p:tgtEl>
                                      </p:cBhvr>
                                    </p:animEffect>
                                  </p:childTnLst>
                                </p:cTn>
                              </p:par>
                            </p:childTnLst>
                          </p:cTn>
                        </p:par>
                        <p:par>
                          <p:cTn id="86" fill="hold">
                            <p:stCondLst>
                              <p:cond delay="3000"/>
                            </p:stCondLst>
                            <p:childTnLst>
                              <p:par>
                                <p:cTn id="87" presetID="1" presetClass="exit" presetSubtype="0" fill="hold" nodeType="afterEffect">
                                  <p:stCondLst>
                                    <p:cond delay="0"/>
                                  </p:stCondLst>
                                  <p:childTnLst>
                                    <p:set>
                                      <p:cBhvr>
                                        <p:cTn id="88" dur="1" fill="hold">
                                          <p:stCondLst>
                                            <p:cond delay="0"/>
                                          </p:stCondLst>
                                        </p:cTn>
                                        <p:tgtEl>
                                          <p:spTgt spid="698"/>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2" nodeType="clickEffect">
                                  <p:stCondLst>
                                    <p:cond delay="0"/>
                                  </p:stCondLst>
                                  <p:childTnLst>
                                    <p:set>
                                      <p:cBhvr>
                                        <p:cTn id="92" dur="1" fill="hold">
                                          <p:stCondLst>
                                            <p:cond delay="0"/>
                                          </p:stCondLst>
                                        </p:cTn>
                                        <p:tgtEl>
                                          <p:spTgt spid="585"/>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477"/>
                                        </p:tgtEl>
                                        <p:attrNameLst>
                                          <p:attrName>style.visibility</p:attrName>
                                        </p:attrNameLst>
                                      </p:cBhvr>
                                      <p:to>
                                        <p:strVal val="visible"/>
                                      </p:to>
                                    </p:set>
                                    <p:animEffect transition="in" filter="fade">
                                      <p:cBhvr>
                                        <p:cTn id="95" dur="500"/>
                                        <p:tgtEl>
                                          <p:spTgt spid="477"/>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path" presetSubtype="0" accel="50000" decel="50000" fill="hold" nodeType="clickEffect">
                                  <p:stCondLst>
                                    <p:cond delay="0"/>
                                  </p:stCondLst>
                                  <p:childTnLst>
                                    <p:animMotion origin="layout" path="M -1.875E-6 -4.07407E-6 L 0.05065 -0.00023 " pathEditMode="relative" rAng="0" ptsTypes="AA">
                                      <p:cBhvr>
                                        <p:cTn id="99" dur="2000" fill="hold"/>
                                        <p:tgtEl>
                                          <p:spTgt spid="715"/>
                                        </p:tgtEl>
                                        <p:attrNameLst>
                                          <p:attrName>ppt_x</p:attrName>
                                          <p:attrName>ppt_y</p:attrName>
                                        </p:attrNameLst>
                                      </p:cBhvr>
                                      <p:rCtr x="2565" y="23"/>
                                    </p:animMotion>
                                  </p:childTnLst>
                                </p:cTn>
                              </p:par>
                            </p:childTnLst>
                          </p:cTn>
                        </p:par>
                        <p:par>
                          <p:cTn id="100" fill="hold">
                            <p:stCondLst>
                              <p:cond delay="2000"/>
                            </p:stCondLst>
                            <p:childTnLst>
                              <p:par>
                                <p:cTn id="101" presetID="10" presetClass="entr" presetSubtype="0" fill="hold" nodeType="afterEffect">
                                  <p:stCondLst>
                                    <p:cond delay="1000"/>
                                  </p:stCondLst>
                                  <p:childTnLst>
                                    <p:set>
                                      <p:cBhvr>
                                        <p:cTn id="102" dur="1" fill="hold">
                                          <p:stCondLst>
                                            <p:cond delay="0"/>
                                          </p:stCondLst>
                                        </p:cTn>
                                        <p:tgtEl>
                                          <p:spTgt spid="732"/>
                                        </p:tgtEl>
                                        <p:attrNameLst>
                                          <p:attrName>style.visibility</p:attrName>
                                        </p:attrNameLst>
                                      </p:cBhvr>
                                      <p:to>
                                        <p:strVal val="visible"/>
                                      </p:to>
                                    </p:set>
                                    <p:animEffect transition="in" filter="fade">
                                      <p:cBhvr>
                                        <p:cTn id="103" dur="500"/>
                                        <p:tgtEl>
                                          <p:spTgt spid="732"/>
                                        </p:tgtEl>
                                      </p:cBhvr>
                                    </p:animEffect>
                                  </p:childTnLst>
                                </p:cTn>
                              </p:par>
                            </p:childTnLst>
                          </p:cTn>
                        </p:par>
                        <p:par>
                          <p:cTn id="104" fill="hold">
                            <p:stCondLst>
                              <p:cond delay="3500"/>
                            </p:stCondLst>
                            <p:childTnLst>
                              <p:par>
                                <p:cTn id="105" presetID="10" presetClass="entr" presetSubtype="0" fill="hold" nodeType="afterEffect">
                                  <p:stCondLst>
                                    <p:cond delay="1000"/>
                                  </p:stCondLst>
                                  <p:childTnLst>
                                    <p:set>
                                      <p:cBhvr>
                                        <p:cTn id="106" dur="1" fill="hold">
                                          <p:stCondLst>
                                            <p:cond delay="0"/>
                                          </p:stCondLst>
                                        </p:cTn>
                                        <p:tgtEl>
                                          <p:spTgt spid="766"/>
                                        </p:tgtEl>
                                        <p:attrNameLst>
                                          <p:attrName>style.visibility</p:attrName>
                                        </p:attrNameLst>
                                      </p:cBhvr>
                                      <p:to>
                                        <p:strVal val="visible"/>
                                      </p:to>
                                    </p:set>
                                    <p:animEffect transition="in" filter="fade">
                                      <p:cBhvr>
                                        <p:cTn id="107" dur="500"/>
                                        <p:tgtEl>
                                          <p:spTgt spid="766"/>
                                        </p:tgtEl>
                                      </p:cBhvr>
                                    </p:animEffect>
                                  </p:childTnLst>
                                </p:cTn>
                              </p:par>
                            </p:childTnLst>
                          </p:cTn>
                        </p:par>
                        <p:par>
                          <p:cTn id="108" fill="hold">
                            <p:stCondLst>
                              <p:cond delay="5000"/>
                            </p:stCondLst>
                            <p:childTnLst>
                              <p:par>
                                <p:cTn id="109" presetID="10" presetClass="entr" presetSubtype="0" fill="hold" nodeType="afterEffect">
                                  <p:stCondLst>
                                    <p:cond delay="1000"/>
                                  </p:stCondLst>
                                  <p:childTnLst>
                                    <p:set>
                                      <p:cBhvr>
                                        <p:cTn id="110" dur="1" fill="hold">
                                          <p:stCondLst>
                                            <p:cond delay="0"/>
                                          </p:stCondLst>
                                        </p:cTn>
                                        <p:tgtEl>
                                          <p:spTgt spid="783"/>
                                        </p:tgtEl>
                                        <p:attrNameLst>
                                          <p:attrName>style.visibility</p:attrName>
                                        </p:attrNameLst>
                                      </p:cBhvr>
                                      <p:to>
                                        <p:strVal val="visible"/>
                                      </p:to>
                                    </p:set>
                                    <p:animEffect transition="in" filter="fade">
                                      <p:cBhvr>
                                        <p:cTn id="111" dur="500"/>
                                        <p:tgtEl>
                                          <p:spTgt spid="783"/>
                                        </p:tgtEl>
                                      </p:cBhvr>
                                    </p:animEffect>
                                  </p:childTnLst>
                                </p:cTn>
                              </p:par>
                            </p:childTnLst>
                          </p:cTn>
                        </p:par>
                        <p:par>
                          <p:cTn id="112" fill="hold">
                            <p:stCondLst>
                              <p:cond delay="6500"/>
                            </p:stCondLst>
                            <p:childTnLst>
                              <p:par>
                                <p:cTn id="113" presetID="10" presetClass="entr" presetSubtype="0" fill="hold" nodeType="afterEffect">
                                  <p:stCondLst>
                                    <p:cond delay="1000"/>
                                  </p:stCondLst>
                                  <p:childTnLst>
                                    <p:set>
                                      <p:cBhvr>
                                        <p:cTn id="114" dur="1" fill="hold">
                                          <p:stCondLst>
                                            <p:cond delay="0"/>
                                          </p:stCondLst>
                                        </p:cTn>
                                        <p:tgtEl>
                                          <p:spTgt spid="801"/>
                                        </p:tgtEl>
                                        <p:attrNameLst>
                                          <p:attrName>style.visibility</p:attrName>
                                        </p:attrNameLst>
                                      </p:cBhvr>
                                      <p:to>
                                        <p:strVal val="visible"/>
                                      </p:to>
                                    </p:set>
                                    <p:animEffect transition="in" filter="fade">
                                      <p:cBhvr>
                                        <p:cTn id="115" dur="500"/>
                                        <p:tgtEl>
                                          <p:spTgt spid="801"/>
                                        </p:tgtEl>
                                      </p:cBhvr>
                                    </p:animEffect>
                                  </p:childTnLst>
                                </p:cTn>
                              </p:par>
                            </p:childTnLst>
                          </p:cTn>
                        </p:par>
                        <p:par>
                          <p:cTn id="116" fill="hold">
                            <p:stCondLst>
                              <p:cond delay="8000"/>
                            </p:stCondLst>
                            <p:childTnLst>
                              <p:par>
                                <p:cTn id="117" presetID="10" presetClass="entr" presetSubtype="0" fill="hold" nodeType="afterEffect">
                                  <p:stCondLst>
                                    <p:cond delay="1000"/>
                                  </p:stCondLst>
                                  <p:childTnLst>
                                    <p:set>
                                      <p:cBhvr>
                                        <p:cTn id="118" dur="1" fill="hold">
                                          <p:stCondLst>
                                            <p:cond delay="0"/>
                                          </p:stCondLst>
                                        </p:cTn>
                                        <p:tgtEl>
                                          <p:spTgt spid="818"/>
                                        </p:tgtEl>
                                        <p:attrNameLst>
                                          <p:attrName>style.visibility</p:attrName>
                                        </p:attrNameLst>
                                      </p:cBhvr>
                                      <p:to>
                                        <p:strVal val="visible"/>
                                      </p:to>
                                    </p:set>
                                    <p:animEffect transition="in" filter="fade">
                                      <p:cBhvr>
                                        <p:cTn id="119" dur="500"/>
                                        <p:tgtEl>
                                          <p:spTgt spid="818"/>
                                        </p:tgtEl>
                                      </p:cBhvr>
                                    </p:animEffect>
                                  </p:childTnLst>
                                </p:cTn>
                              </p:par>
                              <p:par>
                                <p:cTn id="120" presetID="10" presetClass="entr" presetSubtype="0" fill="hold" nodeType="withEffect">
                                  <p:stCondLst>
                                    <p:cond delay="1000"/>
                                  </p:stCondLst>
                                  <p:childTnLst>
                                    <p:set>
                                      <p:cBhvr>
                                        <p:cTn id="121" dur="1" fill="hold">
                                          <p:stCondLst>
                                            <p:cond delay="0"/>
                                          </p:stCondLst>
                                        </p:cTn>
                                        <p:tgtEl>
                                          <p:spTgt spid="96"/>
                                        </p:tgtEl>
                                        <p:attrNameLst>
                                          <p:attrName>style.visibility</p:attrName>
                                        </p:attrNameLst>
                                      </p:cBhvr>
                                      <p:to>
                                        <p:strVal val="visible"/>
                                      </p:to>
                                    </p:set>
                                    <p:animEffect transition="in" filter="fade">
                                      <p:cBhvr>
                                        <p:cTn id="122" dur="500"/>
                                        <p:tgtEl>
                                          <p:spTgt spid="96"/>
                                        </p:tgtEl>
                                      </p:cBhvr>
                                    </p:animEffect>
                                  </p:childTnLst>
                                </p:cTn>
                              </p:par>
                            </p:childTnLst>
                          </p:cTn>
                        </p:par>
                        <p:par>
                          <p:cTn id="123" fill="hold">
                            <p:stCondLst>
                              <p:cond delay="9500"/>
                            </p:stCondLst>
                            <p:childTnLst>
                              <p:par>
                                <p:cTn id="124" presetID="26" presetClass="emph" presetSubtype="0" repeatCount="3000" fill="hold" nodeType="afterEffect">
                                  <p:stCondLst>
                                    <p:cond delay="0"/>
                                  </p:stCondLst>
                                  <p:childTnLst>
                                    <p:animEffect transition="out" filter="fade">
                                      <p:cBhvr>
                                        <p:cTn id="125" dur="500" tmFilter="0, 0; .2, .5; .8, .5; 1, 0"/>
                                        <p:tgtEl>
                                          <p:spTgt spid="96"/>
                                        </p:tgtEl>
                                      </p:cBhvr>
                                    </p:animEffect>
                                    <p:animScale>
                                      <p:cBhvr>
                                        <p:cTn id="126" dur="250" autoRev="1" fill="hold"/>
                                        <p:tgtEl>
                                          <p:spTgt spid="96"/>
                                        </p:tgtEl>
                                      </p:cBhvr>
                                      <p:by x="105000" y="105000"/>
                                    </p:animScale>
                                  </p:childTnLst>
                                </p:cTn>
                              </p:par>
                            </p:childTnLst>
                          </p:cTn>
                        </p:par>
                        <p:par>
                          <p:cTn id="127" fill="hold">
                            <p:stCondLst>
                              <p:cond delay="11000"/>
                            </p:stCondLst>
                            <p:childTnLst>
                              <p:par>
                                <p:cTn id="128" presetID="10" presetClass="entr" presetSubtype="0" fill="hold" nodeType="afterEffect">
                                  <p:stCondLst>
                                    <p:cond delay="0"/>
                                  </p:stCondLst>
                                  <p:childTnLst>
                                    <p:set>
                                      <p:cBhvr>
                                        <p:cTn id="129" dur="1" fill="hold">
                                          <p:stCondLst>
                                            <p:cond delay="0"/>
                                          </p:stCondLst>
                                        </p:cTn>
                                        <p:tgtEl>
                                          <p:spTgt spid="841"/>
                                        </p:tgtEl>
                                        <p:attrNameLst>
                                          <p:attrName>style.visibility</p:attrName>
                                        </p:attrNameLst>
                                      </p:cBhvr>
                                      <p:to>
                                        <p:strVal val="visible"/>
                                      </p:to>
                                    </p:set>
                                    <p:animEffect transition="in" filter="fade">
                                      <p:cBhvr>
                                        <p:cTn id="130" dur="500"/>
                                        <p:tgtEl>
                                          <p:spTgt spid="841"/>
                                        </p:tgtEl>
                                      </p:cBhvr>
                                    </p:animEffect>
                                  </p:childTnLst>
                                </p:cTn>
                              </p:par>
                              <p:par>
                                <p:cTn id="131" presetID="10" presetClass="entr" presetSubtype="0" fill="hold" nodeType="withEffect">
                                  <p:stCondLst>
                                    <p:cond delay="1000"/>
                                  </p:stCondLst>
                                  <p:childTnLst>
                                    <p:set>
                                      <p:cBhvr>
                                        <p:cTn id="132" dur="1" fill="hold">
                                          <p:stCondLst>
                                            <p:cond delay="0"/>
                                          </p:stCondLst>
                                        </p:cTn>
                                        <p:tgtEl>
                                          <p:spTgt spid="858"/>
                                        </p:tgtEl>
                                        <p:attrNameLst>
                                          <p:attrName>style.visibility</p:attrName>
                                        </p:attrNameLst>
                                      </p:cBhvr>
                                      <p:to>
                                        <p:strVal val="visible"/>
                                      </p:to>
                                    </p:set>
                                    <p:animEffect transition="in" filter="fade">
                                      <p:cBhvr>
                                        <p:cTn id="133" dur="500"/>
                                        <p:tgtEl>
                                          <p:spTgt spid="858"/>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109"/>
                                        </p:tgtEl>
                                        <p:attrNameLst>
                                          <p:attrName>style.visibility</p:attrName>
                                        </p:attrNameLst>
                                      </p:cBhvr>
                                      <p:to>
                                        <p:strVal val="visible"/>
                                      </p:to>
                                    </p:set>
                                    <p:animEffect transition="in" filter="fade">
                                      <p:cBhvr>
                                        <p:cTn id="138" dur="500"/>
                                        <p:tgtEl>
                                          <p:spTgt spid="109"/>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442"/>
                                        </p:tgtEl>
                                        <p:attrNameLst>
                                          <p:attrName>style.visibility</p:attrName>
                                        </p:attrNameLst>
                                      </p:cBhvr>
                                      <p:to>
                                        <p:strVal val="visible"/>
                                      </p:to>
                                    </p:set>
                                    <p:animEffect transition="in" filter="fade">
                                      <p:cBhvr>
                                        <p:cTn id="143" dur="500"/>
                                        <p:tgtEl>
                                          <p:spTgt spid="442"/>
                                        </p:tgtEl>
                                      </p:cBhvr>
                                    </p:animEffect>
                                  </p:childTnLst>
                                </p:cTn>
                              </p:par>
                            </p:childTnLst>
                          </p:cTn>
                        </p:par>
                        <p:par>
                          <p:cTn id="144" fill="hold">
                            <p:stCondLst>
                              <p:cond delay="500"/>
                            </p:stCondLst>
                            <p:childTnLst>
                              <p:par>
                                <p:cTn id="145" presetID="1" presetClass="entr" presetSubtype="0" fill="hold" grpId="0" nodeType="afterEffect">
                                  <p:stCondLst>
                                    <p:cond delay="0"/>
                                  </p:stCondLst>
                                  <p:childTnLst>
                                    <p:set>
                                      <p:cBhvr>
                                        <p:cTn id="146" dur="1" fill="hold">
                                          <p:stCondLst>
                                            <p:cond delay="0"/>
                                          </p:stCondLst>
                                        </p:cTn>
                                        <p:tgtEl>
                                          <p:spTgt spid="881"/>
                                        </p:tgtEl>
                                        <p:attrNameLst>
                                          <p:attrName>style.visibility</p:attrName>
                                        </p:attrNameLst>
                                      </p:cBhvr>
                                      <p:to>
                                        <p:strVal val="visible"/>
                                      </p:to>
                                    </p:set>
                                  </p:childTnLst>
                                </p:cTn>
                              </p:par>
                            </p:childTnLst>
                          </p:cTn>
                        </p:par>
                        <p:par>
                          <p:cTn id="147" fill="hold">
                            <p:stCondLst>
                              <p:cond delay="500"/>
                            </p:stCondLst>
                            <p:childTnLst>
                              <p:par>
                                <p:cTn id="148" presetID="35" presetClass="emph" presetSubtype="0" repeatCount="indefinite" fill="hold" grpId="1" nodeType="afterEffect">
                                  <p:stCondLst>
                                    <p:cond delay="0"/>
                                  </p:stCondLst>
                                  <p:endCondLst>
                                    <p:cond evt="onNext" delay="0">
                                      <p:tgtEl>
                                        <p:sldTgt/>
                                      </p:tgtEl>
                                    </p:cond>
                                  </p:endCondLst>
                                  <p:childTnLst>
                                    <p:anim calcmode="discrete" valueType="str">
                                      <p:cBhvr>
                                        <p:cTn id="149" dur="500" fill="hold"/>
                                        <p:tgtEl>
                                          <p:spTgt spid="881"/>
                                        </p:tgtEl>
                                        <p:attrNameLst>
                                          <p:attrName>style.visibility</p:attrName>
                                        </p:attrNameLst>
                                      </p:cBhvr>
                                      <p:tavLst>
                                        <p:tav tm="0">
                                          <p:val>
                                            <p:strVal val="hidden"/>
                                          </p:val>
                                        </p:tav>
                                        <p:tav tm="50000">
                                          <p:val>
                                            <p:strVal val="visible"/>
                                          </p:val>
                                        </p:tav>
                                      </p:tavLst>
                                    </p:anim>
                                  </p:childTnLst>
                                </p:cTn>
                              </p:par>
                              <p:par>
                                <p:cTn id="150" presetID="1" presetClass="entr" presetSubtype="0" fill="hold" nodeType="withEffect">
                                  <p:stCondLst>
                                    <p:cond delay="0"/>
                                  </p:stCondLst>
                                  <p:childTnLst>
                                    <p:set>
                                      <p:cBhvr>
                                        <p:cTn id="151" dur="1" fill="hold">
                                          <p:stCondLst>
                                            <p:cond delay="0"/>
                                          </p:stCondLst>
                                        </p:cTn>
                                        <p:tgtEl>
                                          <p:spTgt spid="1114"/>
                                        </p:tgtEl>
                                        <p:attrNameLst>
                                          <p:attrName>style.visibility</p:attrName>
                                        </p:attrNameLst>
                                      </p:cBhvr>
                                      <p:to>
                                        <p:strVal val="visible"/>
                                      </p:to>
                                    </p:set>
                                  </p:childTnLst>
                                </p:cTn>
                              </p:par>
                            </p:childTnLst>
                          </p:cTn>
                        </p:par>
                        <p:par>
                          <p:cTn id="152" fill="hold">
                            <p:stCondLst>
                              <p:cond delay="1000"/>
                            </p:stCondLst>
                            <p:childTnLst>
                              <p:par>
                                <p:cTn id="153" presetID="42" presetClass="path" presetSubtype="0" accel="50000" decel="50000" fill="hold" nodeType="afterEffect">
                                  <p:stCondLst>
                                    <p:cond delay="0"/>
                                  </p:stCondLst>
                                  <p:childTnLst>
                                    <p:animMotion origin="layout" path="M -2.91667E-6 -2.59259E-6 L 0.05196 -0.00024 " pathEditMode="relative" rAng="0" ptsTypes="AA">
                                      <p:cBhvr>
                                        <p:cTn id="154" dur="2000" fill="hold"/>
                                        <p:tgtEl>
                                          <p:spTgt spid="841"/>
                                        </p:tgtEl>
                                        <p:attrNameLst>
                                          <p:attrName>ppt_x</p:attrName>
                                          <p:attrName>ppt_y</p:attrName>
                                        </p:attrNameLst>
                                      </p:cBhvr>
                                      <p:rCtr x="2656" y="0"/>
                                    </p:animMotion>
                                  </p:childTnLst>
                                </p:cTn>
                              </p:par>
                            </p:childTnLst>
                          </p:cTn>
                        </p:par>
                        <p:par>
                          <p:cTn id="155" fill="hold">
                            <p:stCondLst>
                              <p:cond delay="3000"/>
                            </p:stCondLst>
                            <p:childTnLst>
                              <p:par>
                                <p:cTn id="156" presetID="10" presetClass="entr" presetSubtype="0" fill="hold" nodeType="afterEffect">
                                  <p:stCondLst>
                                    <p:cond delay="0"/>
                                  </p:stCondLst>
                                  <p:childTnLst>
                                    <p:set>
                                      <p:cBhvr>
                                        <p:cTn id="157" dur="1" fill="hold">
                                          <p:stCondLst>
                                            <p:cond delay="0"/>
                                          </p:stCondLst>
                                        </p:cTn>
                                        <p:tgtEl>
                                          <p:spTgt spid="864"/>
                                        </p:tgtEl>
                                        <p:attrNameLst>
                                          <p:attrName>style.visibility</p:attrName>
                                        </p:attrNameLst>
                                      </p:cBhvr>
                                      <p:to>
                                        <p:strVal val="visible"/>
                                      </p:to>
                                    </p:set>
                                    <p:animEffect transition="in" filter="fade">
                                      <p:cBhvr>
                                        <p:cTn id="158" dur="500"/>
                                        <p:tgtEl>
                                          <p:spTgt spid="864"/>
                                        </p:tgtEl>
                                      </p:cBhvr>
                                    </p:animEffect>
                                  </p:childTnLst>
                                </p:cTn>
                              </p:par>
                            </p:childTnLst>
                          </p:cTn>
                        </p:par>
                        <p:par>
                          <p:cTn id="159" fill="hold">
                            <p:stCondLst>
                              <p:cond delay="3500"/>
                            </p:stCondLst>
                            <p:childTnLst>
                              <p:par>
                                <p:cTn id="160" presetID="1" presetClass="exit" presetSubtype="0" fill="hold" nodeType="afterEffect">
                                  <p:stCondLst>
                                    <p:cond delay="0"/>
                                  </p:stCondLst>
                                  <p:childTnLst>
                                    <p:set>
                                      <p:cBhvr>
                                        <p:cTn id="161" dur="1" fill="hold">
                                          <p:stCondLst>
                                            <p:cond delay="0"/>
                                          </p:stCondLst>
                                        </p:cTn>
                                        <p:tgtEl>
                                          <p:spTgt spid="841"/>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2" nodeType="clickEffect">
                                  <p:stCondLst>
                                    <p:cond delay="0"/>
                                  </p:stCondLst>
                                  <p:childTnLst>
                                    <p:set>
                                      <p:cBhvr>
                                        <p:cTn id="165" dur="1" fill="hold">
                                          <p:stCondLst>
                                            <p:cond delay="0"/>
                                          </p:stCondLst>
                                        </p:cTn>
                                        <p:tgtEl>
                                          <p:spTgt spid="881"/>
                                        </p:tgtEl>
                                        <p:attrNameLst>
                                          <p:attrName>style.visibility</p:attrName>
                                        </p:attrNameLst>
                                      </p:cBhvr>
                                      <p:to>
                                        <p:strVal val="hidden"/>
                                      </p:to>
                                    </p:set>
                                  </p:childTnLst>
                                </p:cTn>
                              </p:par>
                              <p:par>
                                <p:cTn id="166" presetID="10" presetClass="entr" presetSubtype="0" fill="hold" nodeType="withEffect">
                                  <p:stCondLst>
                                    <p:cond delay="0"/>
                                  </p:stCondLst>
                                  <p:childTnLst>
                                    <p:set>
                                      <p:cBhvr>
                                        <p:cTn id="167" dur="1" fill="hold">
                                          <p:stCondLst>
                                            <p:cond delay="0"/>
                                          </p:stCondLst>
                                        </p:cTn>
                                        <p:tgtEl>
                                          <p:spTgt spid="480"/>
                                        </p:tgtEl>
                                        <p:attrNameLst>
                                          <p:attrName>style.visibility</p:attrName>
                                        </p:attrNameLst>
                                      </p:cBhvr>
                                      <p:to>
                                        <p:strVal val="visible"/>
                                      </p:to>
                                    </p:set>
                                    <p:animEffect transition="in" filter="fade">
                                      <p:cBhvr>
                                        <p:cTn id="168" dur="500"/>
                                        <p:tgtEl>
                                          <p:spTgt spid="480"/>
                                        </p:tgtEl>
                                      </p:cBhvr>
                                    </p:animEffect>
                                  </p:childTnLst>
                                </p:cTn>
                              </p:par>
                            </p:childTnLst>
                          </p:cTn>
                        </p:par>
                      </p:childTnLst>
                    </p:cTn>
                  </p:par>
                  <p:par>
                    <p:cTn id="169" fill="hold">
                      <p:stCondLst>
                        <p:cond delay="indefinite"/>
                      </p:stCondLst>
                      <p:childTnLst>
                        <p:par>
                          <p:cTn id="170" fill="hold">
                            <p:stCondLst>
                              <p:cond delay="0"/>
                            </p:stCondLst>
                            <p:childTnLst>
                              <p:par>
                                <p:cTn id="171" presetID="42" presetClass="path" presetSubtype="0" accel="50000" decel="50000" fill="hold" nodeType="clickEffect">
                                  <p:stCondLst>
                                    <p:cond delay="0"/>
                                  </p:stCondLst>
                                  <p:childTnLst>
                                    <p:animMotion origin="layout" path="M 3.95833E-6 -1.11111E-6 L 0.05247 -7.40741E-7 " pathEditMode="relative" rAng="0" ptsTypes="AA">
                                      <p:cBhvr>
                                        <p:cTn id="172" dur="2000" fill="hold"/>
                                        <p:tgtEl>
                                          <p:spTgt spid="864"/>
                                        </p:tgtEl>
                                        <p:attrNameLst>
                                          <p:attrName>ppt_x</p:attrName>
                                          <p:attrName>ppt_y</p:attrName>
                                        </p:attrNameLst>
                                      </p:cBhvr>
                                      <p:rCtr x="2682" y="-93"/>
                                    </p:animMotion>
                                  </p:childTnLst>
                                </p:cTn>
                              </p:par>
                            </p:childTnLst>
                          </p:cTn>
                        </p:par>
                        <p:par>
                          <p:cTn id="173" fill="hold">
                            <p:stCondLst>
                              <p:cond delay="2000"/>
                            </p:stCondLst>
                            <p:childTnLst>
                              <p:par>
                                <p:cTn id="174" presetID="10" presetClass="entr" presetSubtype="0" fill="hold" nodeType="afterEffect">
                                  <p:stCondLst>
                                    <p:cond delay="0"/>
                                  </p:stCondLst>
                                  <p:childTnLst>
                                    <p:set>
                                      <p:cBhvr>
                                        <p:cTn id="175" dur="1" fill="hold">
                                          <p:stCondLst>
                                            <p:cond delay="0"/>
                                          </p:stCondLst>
                                        </p:cTn>
                                        <p:tgtEl>
                                          <p:spTgt spid="882"/>
                                        </p:tgtEl>
                                        <p:attrNameLst>
                                          <p:attrName>style.visibility</p:attrName>
                                        </p:attrNameLst>
                                      </p:cBhvr>
                                      <p:to>
                                        <p:strVal val="visible"/>
                                      </p:to>
                                    </p:set>
                                    <p:animEffect transition="in" filter="fade">
                                      <p:cBhvr>
                                        <p:cTn id="176" dur="500"/>
                                        <p:tgtEl>
                                          <p:spTgt spid="882"/>
                                        </p:tgtEl>
                                      </p:cBhvr>
                                    </p:animEffect>
                                  </p:childTnLst>
                                </p:cTn>
                              </p:par>
                            </p:childTnLst>
                          </p:cTn>
                        </p:par>
                        <p:par>
                          <p:cTn id="177" fill="hold">
                            <p:stCondLst>
                              <p:cond delay="2500"/>
                            </p:stCondLst>
                            <p:childTnLst>
                              <p:par>
                                <p:cTn id="178" presetID="10" presetClass="entr" presetSubtype="0" fill="hold" nodeType="afterEffect">
                                  <p:stCondLst>
                                    <p:cond delay="1000"/>
                                  </p:stCondLst>
                                  <p:childTnLst>
                                    <p:set>
                                      <p:cBhvr>
                                        <p:cTn id="179" dur="1" fill="hold">
                                          <p:stCondLst>
                                            <p:cond delay="0"/>
                                          </p:stCondLst>
                                        </p:cTn>
                                        <p:tgtEl>
                                          <p:spTgt spid="899"/>
                                        </p:tgtEl>
                                        <p:attrNameLst>
                                          <p:attrName>style.visibility</p:attrName>
                                        </p:attrNameLst>
                                      </p:cBhvr>
                                      <p:to>
                                        <p:strVal val="visible"/>
                                      </p:to>
                                    </p:set>
                                    <p:animEffect transition="in" filter="fade">
                                      <p:cBhvr>
                                        <p:cTn id="180" dur="500"/>
                                        <p:tgtEl>
                                          <p:spTgt spid="899"/>
                                        </p:tgtEl>
                                      </p:cBhvr>
                                    </p:animEffect>
                                  </p:childTnLst>
                                </p:cTn>
                              </p:par>
                              <p:par>
                                <p:cTn id="181" presetID="10" presetClass="entr" presetSubtype="0" fill="hold" nodeType="withEffect">
                                  <p:stCondLst>
                                    <p:cond delay="1000"/>
                                  </p:stCondLst>
                                  <p:childTnLst>
                                    <p:set>
                                      <p:cBhvr>
                                        <p:cTn id="182" dur="1" fill="hold">
                                          <p:stCondLst>
                                            <p:cond delay="0"/>
                                          </p:stCondLst>
                                        </p:cTn>
                                        <p:tgtEl>
                                          <p:spTgt spid="111"/>
                                        </p:tgtEl>
                                        <p:attrNameLst>
                                          <p:attrName>style.visibility</p:attrName>
                                        </p:attrNameLst>
                                      </p:cBhvr>
                                      <p:to>
                                        <p:strVal val="visible"/>
                                      </p:to>
                                    </p:set>
                                    <p:animEffect transition="in" filter="fade">
                                      <p:cBhvr>
                                        <p:cTn id="183" dur="500"/>
                                        <p:tgtEl>
                                          <p:spTgt spid="111"/>
                                        </p:tgtEl>
                                      </p:cBhvr>
                                    </p:animEffect>
                                  </p:childTnLst>
                                </p:cTn>
                              </p:par>
                            </p:childTnLst>
                          </p:cTn>
                        </p:par>
                        <p:par>
                          <p:cTn id="184" fill="hold">
                            <p:stCondLst>
                              <p:cond delay="4000"/>
                            </p:stCondLst>
                            <p:childTnLst>
                              <p:par>
                                <p:cTn id="185" presetID="26" presetClass="emph" presetSubtype="0" repeatCount="3000" fill="hold" nodeType="afterEffect">
                                  <p:stCondLst>
                                    <p:cond delay="0"/>
                                  </p:stCondLst>
                                  <p:childTnLst>
                                    <p:animEffect transition="out" filter="fade">
                                      <p:cBhvr>
                                        <p:cTn id="186" dur="500" tmFilter="0, 0; .2, .5; .8, .5; 1, 0"/>
                                        <p:tgtEl>
                                          <p:spTgt spid="111"/>
                                        </p:tgtEl>
                                      </p:cBhvr>
                                    </p:animEffect>
                                    <p:animScale>
                                      <p:cBhvr>
                                        <p:cTn id="187" dur="250" autoRev="1" fill="hold"/>
                                        <p:tgtEl>
                                          <p:spTgt spid="111"/>
                                        </p:tgtEl>
                                      </p:cBhvr>
                                      <p:by x="105000" y="105000"/>
                                    </p:animScale>
                                  </p:childTnLst>
                                </p:cTn>
                              </p:par>
                            </p:childTnLst>
                          </p:cTn>
                        </p:par>
                        <p:par>
                          <p:cTn id="188" fill="hold">
                            <p:stCondLst>
                              <p:cond delay="5500"/>
                            </p:stCondLst>
                            <p:childTnLst>
                              <p:par>
                                <p:cTn id="189" presetID="10" presetClass="entr" presetSubtype="0" fill="hold" nodeType="afterEffect">
                                  <p:stCondLst>
                                    <p:cond delay="0"/>
                                  </p:stCondLst>
                                  <p:childTnLst>
                                    <p:set>
                                      <p:cBhvr>
                                        <p:cTn id="190" dur="1" fill="hold">
                                          <p:stCondLst>
                                            <p:cond delay="0"/>
                                          </p:stCondLst>
                                        </p:cTn>
                                        <p:tgtEl>
                                          <p:spTgt spid="923"/>
                                        </p:tgtEl>
                                        <p:attrNameLst>
                                          <p:attrName>style.visibility</p:attrName>
                                        </p:attrNameLst>
                                      </p:cBhvr>
                                      <p:to>
                                        <p:strVal val="visible"/>
                                      </p:to>
                                    </p:set>
                                    <p:animEffect transition="in" filter="fade">
                                      <p:cBhvr>
                                        <p:cTn id="191" dur="500"/>
                                        <p:tgtEl>
                                          <p:spTgt spid="923"/>
                                        </p:tgtEl>
                                      </p:cBhvr>
                                    </p:animEffect>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nodeType="clickEffect">
                                  <p:stCondLst>
                                    <p:cond delay="0"/>
                                  </p:stCondLst>
                                  <p:childTnLst>
                                    <p:set>
                                      <p:cBhvr>
                                        <p:cTn id="195" dur="1" fill="hold">
                                          <p:stCondLst>
                                            <p:cond delay="0"/>
                                          </p:stCondLst>
                                        </p:cTn>
                                        <p:tgtEl>
                                          <p:spTgt spid="112"/>
                                        </p:tgtEl>
                                        <p:attrNameLst>
                                          <p:attrName>style.visibility</p:attrName>
                                        </p:attrNameLst>
                                      </p:cBhvr>
                                      <p:to>
                                        <p:strVal val="visible"/>
                                      </p:to>
                                    </p:set>
                                    <p:animEffect transition="in" filter="fade">
                                      <p:cBhvr>
                                        <p:cTn id="196" dur="500"/>
                                        <p:tgtEl>
                                          <p:spTgt spid="112"/>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nodeType="clickEffect">
                                  <p:stCondLst>
                                    <p:cond delay="0"/>
                                  </p:stCondLst>
                                  <p:childTnLst>
                                    <p:set>
                                      <p:cBhvr>
                                        <p:cTn id="200" dur="1" fill="hold">
                                          <p:stCondLst>
                                            <p:cond delay="0"/>
                                          </p:stCondLst>
                                        </p:cTn>
                                        <p:tgtEl>
                                          <p:spTgt spid="452"/>
                                        </p:tgtEl>
                                        <p:attrNameLst>
                                          <p:attrName>style.visibility</p:attrName>
                                        </p:attrNameLst>
                                      </p:cBhvr>
                                      <p:to>
                                        <p:strVal val="visible"/>
                                      </p:to>
                                    </p:set>
                                    <p:animEffect transition="in" filter="fade">
                                      <p:cBhvr>
                                        <p:cTn id="201" dur="500"/>
                                        <p:tgtEl>
                                          <p:spTgt spid="452"/>
                                        </p:tgtEl>
                                      </p:cBhvr>
                                    </p:animEffect>
                                  </p:childTnLst>
                                </p:cTn>
                              </p:par>
                            </p:childTnLst>
                          </p:cTn>
                        </p:par>
                        <p:par>
                          <p:cTn id="202" fill="hold">
                            <p:stCondLst>
                              <p:cond delay="500"/>
                            </p:stCondLst>
                            <p:childTnLst>
                              <p:par>
                                <p:cTn id="203" presetID="1" presetClass="entr" presetSubtype="0" fill="hold" grpId="0" nodeType="afterEffect">
                                  <p:stCondLst>
                                    <p:cond delay="0"/>
                                  </p:stCondLst>
                                  <p:childTnLst>
                                    <p:set>
                                      <p:cBhvr>
                                        <p:cTn id="204" dur="1" fill="hold">
                                          <p:stCondLst>
                                            <p:cond delay="0"/>
                                          </p:stCondLst>
                                        </p:cTn>
                                        <p:tgtEl>
                                          <p:spTgt spid="958"/>
                                        </p:tgtEl>
                                        <p:attrNameLst>
                                          <p:attrName>style.visibility</p:attrName>
                                        </p:attrNameLst>
                                      </p:cBhvr>
                                      <p:to>
                                        <p:strVal val="visible"/>
                                      </p:to>
                                    </p:set>
                                  </p:childTnLst>
                                </p:cTn>
                              </p:par>
                            </p:childTnLst>
                          </p:cTn>
                        </p:par>
                        <p:par>
                          <p:cTn id="205" fill="hold">
                            <p:stCondLst>
                              <p:cond delay="500"/>
                            </p:stCondLst>
                            <p:childTnLst>
                              <p:par>
                                <p:cTn id="206" presetID="35" presetClass="emph" presetSubtype="0" repeatCount="indefinite" fill="hold" grpId="1" nodeType="afterEffect">
                                  <p:stCondLst>
                                    <p:cond delay="0"/>
                                  </p:stCondLst>
                                  <p:endCondLst>
                                    <p:cond evt="onNext" delay="0">
                                      <p:tgtEl>
                                        <p:sldTgt/>
                                      </p:tgtEl>
                                    </p:cond>
                                  </p:endCondLst>
                                  <p:childTnLst>
                                    <p:anim calcmode="discrete" valueType="str">
                                      <p:cBhvr>
                                        <p:cTn id="207" dur="500" fill="hold"/>
                                        <p:tgtEl>
                                          <p:spTgt spid="958"/>
                                        </p:tgtEl>
                                        <p:attrNameLst>
                                          <p:attrName>style.visibility</p:attrName>
                                        </p:attrNameLst>
                                      </p:cBhvr>
                                      <p:tavLst>
                                        <p:tav tm="0">
                                          <p:val>
                                            <p:strVal val="hidden"/>
                                          </p:val>
                                        </p:tav>
                                        <p:tav tm="50000">
                                          <p:val>
                                            <p:strVal val="visible"/>
                                          </p:val>
                                        </p:tav>
                                      </p:tavLst>
                                    </p:anim>
                                  </p:childTnLst>
                                </p:cTn>
                              </p:par>
                              <p:par>
                                <p:cTn id="208" presetID="1" presetClass="entr" presetSubtype="0" fill="hold" nodeType="withEffect">
                                  <p:stCondLst>
                                    <p:cond delay="0"/>
                                  </p:stCondLst>
                                  <p:childTnLst>
                                    <p:set>
                                      <p:cBhvr>
                                        <p:cTn id="209" dur="1" fill="hold">
                                          <p:stCondLst>
                                            <p:cond delay="0"/>
                                          </p:stCondLst>
                                        </p:cTn>
                                        <p:tgtEl>
                                          <p:spTgt spid="1131"/>
                                        </p:tgtEl>
                                        <p:attrNameLst>
                                          <p:attrName>style.visibility</p:attrName>
                                        </p:attrNameLst>
                                      </p:cBhvr>
                                      <p:to>
                                        <p:strVal val="visible"/>
                                      </p:to>
                                    </p:set>
                                  </p:childTnLst>
                                </p:cTn>
                              </p:par>
                              <p:par>
                                <p:cTn id="210" presetID="42" presetClass="path" presetSubtype="0" accel="50000" decel="50000" fill="hold" nodeType="withEffect">
                                  <p:stCondLst>
                                    <p:cond delay="0"/>
                                  </p:stCondLst>
                                  <p:childTnLst>
                                    <p:animMotion origin="layout" path="M 1.11022E-16 -1.11111E-6 L 0.05196 0.00185 " pathEditMode="relative" rAng="0" ptsTypes="AA">
                                      <p:cBhvr>
                                        <p:cTn id="211" dur="2000" fill="hold"/>
                                        <p:tgtEl>
                                          <p:spTgt spid="923"/>
                                        </p:tgtEl>
                                        <p:attrNameLst>
                                          <p:attrName>ppt_x</p:attrName>
                                          <p:attrName>ppt_y</p:attrName>
                                        </p:attrNameLst>
                                      </p:cBhvr>
                                      <p:rCtr x="2656" y="46"/>
                                    </p:animMotion>
                                  </p:childTnLst>
                                </p:cTn>
                              </p:par>
                            </p:childTnLst>
                          </p:cTn>
                        </p:par>
                        <p:par>
                          <p:cTn id="212" fill="hold">
                            <p:stCondLst>
                              <p:cond delay="2500"/>
                            </p:stCondLst>
                            <p:childTnLst>
                              <p:par>
                                <p:cTn id="213" presetID="10" presetClass="entr" presetSubtype="0" fill="hold" nodeType="afterEffect">
                                  <p:stCondLst>
                                    <p:cond delay="0"/>
                                  </p:stCondLst>
                                  <p:childTnLst>
                                    <p:set>
                                      <p:cBhvr>
                                        <p:cTn id="214" dur="1" fill="hold">
                                          <p:stCondLst>
                                            <p:cond delay="0"/>
                                          </p:stCondLst>
                                        </p:cTn>
                                        <p:tgtEl>
                                          <p:spTgt spid="940"/>
                                        </p:tgtEl>
                                        <p:attrNameLst>
                                          <p:attrName>style.visibility</p:attrName>
                                        </p:attrNameLst>
                                      </p:cBhvr>
                                      <p:to>
                                        <p:strVal val="visible"/>
                                      </p:to>
                                    </p:set>
                                    <p:animEffect transition="in" filter="fade">
                                      <p:cBhvr>
                                        <p:cTn id="215" dur="500"/>
                                        <p:tgtEl>
                                          <p:spTgt spid="940"/>
                                        </p:tgtEl>
                                      </p:cBhvr>
                                    </p:animEffect>
                                  </p:childTnLst>
                                </p:cTn>
                              </p:par>
                            </p:childTnLst>
                          </p:cTn>
                        </p:par>
                        <p:par>
                          <p:cTn id="216" fill="hold">
                            <p:stCondLst>
                              <p:cond delay="3000"/>
                            </p:stCondLst>
                            <p:childTnLst>
                              <p:par>
                                <p:cTn id="217" presetID="1" presetClass="exit" presetSubtype="0" fill="hold" nodeType="afterEffect">
                                  <p:stCondLst>
                                    <p:cond delay="0"/>
                                  </p:stCondLst>
                                  <p:childTnLst>
                                    <p:set>
                                      <p:cBhvr>
                                        <p:cTn id="218" dur="1" fill="hold">
                                          <p:stCondLst>
                                            <p:cond delay="0"/>
                                          </p:stCondLst>
                                        </p:cTn>
                                        <p:tgtEl>
                                          <p:spTgt spid="923"/>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1" presetClass="exit" presetSubtype="0" fill="hold" grpId="2" nodeType="clickEffect">
                                  <p:stCondLst>
                                    <p:cond delay="0"/>
                                  </p:stCondLst>
                                  <p:childTnLst>
                                    <p:set>
                                      <p:cBhvr>
                                        <p:cTn id="222" dur="1" fill="hold">
                                          <p:stCondLst>
                                            <p:cond delay="0"/>
                                          </p:stCondLst>
                                        </p:cTn>
                                        <p:tgtEl>
                                          <p:spTgt spid="958"/>
                                        </p:tgtEl>
                                        <p:attrNameLst>
                                          <p:attrName>style.visibility</p:attrName>
                                        </p:attrNameLst>
                                      </p:cBhvr>
                                      <p:to>
                                        <p:strVal val="hidden"/>
                                      </p:to>
                                    </p:set>
                                  </p:childTnLst>
                                </p:cTn>
                              </p:par>
                              <p:par>
                                <p:cTn id="223" presetID="10" presetClass="entr" presetSubtype="0" fill="hold" nodeType="withEffect">
                                  <p:stCondLst>
                                    <p:cond delay="0"/>
                                  </p:stCondLst>
                                  <p:childTnLst>
                                    <p:set>
                                      <p:cBhvr>
                                        <p:cTn id="224" dur="1" fill="hold">
                                          <p:stCondLst>
                                            <p:cond delay="0"/>
                                          </p:stCondLst>
                                        </p:cTn>
                                        <p:tgtEl>
                                          <p:spTgt spid="483"/>
                                        </p:tgtEl>
                                        <p:attrNameLst>
                                          <p:attrName>style.visibility</p:attrName>
                                        </p:attrNameLst>
                                      </p:cBhvr>
                                      <p:to>
                                        <p:strVal val="visible"/>
                                      </p:to>
                                    </p:set>
                                    <p:animEffect transition="in" filter="fade">
                                      <p:cBhvr>
                                        <p:cTn id="225" dur="500"/>
                                        <p:tgtEl>
                                          <p:spTgt spid="483"/>
                                        </p:tgtEl>
                                      </p:cBhvr>
                                    </p:animEffect>
                                  </p:childTnLst>
                                </p:cTn>
                              </p:par>
                            </p:childTnLst>
                          </p:cTn>
                        </p:par>
                      </p:childTnLst>
                    </p:cTn>
                  </p:par>
                  <p:par>
                    <p:cTn id="226" fill="hold">
                      <p:stCondLst>
                        <p:cond delay="indefinite"/>
                      </p:stCondLst>
                      <p:childTnLst>
                        <p:par>
                          <p:cTn id="227" fill="hold">
                            <p:stCondLst>
                              <p:cond delay="0"/>
                            </p:stCondLst>
                            <p:childTnLst>
                              <p:par>
                                <p:cTn id="228" presetID="42" presetClass="path" presetSubtype="0" accel="50000" decel="50000" fill="hold" nodeType="clickEffect">
                                  <p:stCondLst>
                                    <p:cond delay="0"/>
                                  </p:stCondLst>
                                  <p:childTnLst>
                                    <p:animMotion origin="layout" path="M -3.125E-6 -2.96296E-6 L 0.0487 -0.00024 " pathEditMode="relative" rAng="0" ptsTypes="AA">
                                      <p:cBhvr>
                                        <p:cTn id="229" dur="2000" fill="hold"/>
                                        <p:tgtEl>
                                          <p:spTgt spid="940"/>
                                        </p:tgtEl>
                                        <p:attrNameLst>
                                          <p:attrName>ppt_x</p:attrName>
                                          <p:attrName>ppt_y</p:attrName>
                                        </p:attrNameLst>
                                      </p:cBhvr>
                                      <p:rCtr x="2448" y="0"/>
                                    </p:animMotion>
                                  </p:childTnLst>
                                </p:cTn>
                              </p:par>
                            </p:childTnLst>
                          </p:cTn>
                        </p:par>
                        <p:par>
                          <p:cTn id="230" fill="hold">
                            <p:stCondLst>
                              <p:cond delay="2500"/>
                            </p:stCondLst>
                            <p:childTnLst>
                              <p:par>
                                <p:cTn id="231" presetID="1" presetClass="entr" presetSubtype="0" fill="hold" nodeType="afterEffect">
                                  <p:stCondLst>
                                    <p:cond delay="0"/>
                                  </p:stCondLst>
                                  <p:childTnLst>
                                    <p:set>
                                      <p:cBhvr>
                                        <p:cTn id="232" dur="1" fill="hold">
                                          <p:stCondLst>
                                            <p:cond delay="0"/>
                                          </p:stCondLst>
                                        </p:cTn>
                                        <p:tgtEl>
                                          <p:spTgt spid="113"/>
                                        </p:tgtEl>
                                        <p:attrNameLst>
                                          <p:attrName>style.visibility</p:attrName>
                                        </p:attrNameLst>
                                      </p:cBhvr>
                                      <p:to>
                                        <p:strVal val="visible"/>
                                      </p:to>
                                    </p:set>
                                  </p:childTnLst>
                                </p:cTn>
                              </p:par>
                            </p:childTnLst>
                          </p:cTn>
                        </p:par>
                        <p:par>
                          <p:cTn id="233" fill="hold">
                            <p:stCondLst>
                              <p:cond delay="2500"/>
                            </p:stCondLst>
                            <p:childTnLst>
                              <p:par>
                                <p:cTn id="234" presetID="26" presetClass="emph" presetSubtype="0" repeatCount="3000" fill="hold" nodeType="afterEffect">
                                  <p:stCondLst>
                                    <p:cond delay="0"/>
                                  </p:stCondLst>
                                  <p:childTnLst>
                                    <p:animEffect transition="out" filter="fade">
                                      <p:cBhvr>
                                        <p:cTn id="235" dur="500" tmFilter="0, 0; .2, .5; .8, .5; 1, 0"/>
                                        <p:tgtEl>
                                          <p:spTgt spid="113"/>
                                        </p:tgtEl>
                                      </p:cBhvr>
                                    </p:animEffect>
                                    <p:animScale>
                                      <p:cBhvr>
                                        <p:cTn id="236" dur="250" autoRev="1" fill="hold"/>
                                        <p:tgtEl>
                                          <p:spTgt spid="113"/>
                                        </p:tgtEl>
                                      </p:cBhvr>
                                      <p:by x="105000" y="105000"/>
                                    </p:animScale>
                                  </p:childTnLst>
                                </p:cTn>
                              </p:par>
                            </p:childTnLst>
                          </p:cTn>
                        </p:par>
                        <p:par>
                          <p:cTn id="237" fill="hold">
                            <p:stCondLst>
                              <p:cond delay="4000"/>
                            </p:stCondLst>
                            <p:childTnLst>
                              <p:par>
                                <p:cTn id="238" presetID="10" presetClass="entr" presetSubtype="0" fill="hold" nodeType="afterEffect">
                                  <p:stCondLst>
                                    <p:cond delay="0"/>
                                  </p:stCondLst>
                                  <p:childTnLst>
                                    <p:set>
                                      <p:cBhvr>
                                        <p:cTn id="239" dur="1" fill="hold">
                                          <p:stCondLst>
                                            <p:cond delay="0"/>
                                          </p:stCondLst>
                                        </p:cTn>
                                        <p:tgtEl>
                                          <p:spTgt spid="959"/>
                                        </p:tgtEl>
                                        <p:attrNameLst>
                                          <p:attrName>style.visibility</p:attrName>
                                        </p:attrNameLst>
                                      </p:cBhvr>
                                      <p:to>
                                        <p:strVal val="visible"/>
                                      </p:to>
                                    </p:set>
                                    <p:animEffect transition="in" filter="fade">
                                      <p:cBhvr>
                                        <p:cTn id="240" dur="500"/>
                                        <p:tgtEl>
                                          <p:spTgt spid="959"/>
                                        </p:tgtEl>
                                      </p:cBhvr>
                                    </p:animEffect>
                                  </p:childTnLst>
                                </p:cTn>
                              </p:par>
                            </p:childTnLst>
                          </p:cTn>
                        </p:par>
                      </p:childTnLst>
                    </p:cTn>
                  </p:par>
                  <p:par>
                    <p:cTn id="241" fill="hold">
                      <p:stCondLst>
                        <p:cond delay="indefinite"/>
                      </p:stCondLst>
                      <p:childTnLst>
                        <p:par>
                          <p:cTn id="242" fill="hold">
                            <p:stCondLst>
                              <p:cond delay="0"/>
                            </p:stCondLst>
                            <p:childTnLst>
                              <p:par>
                                <p:cTn id="243" presetID="10" presetClass="entr" presetSubtype="0" fill="hold" nodeType="clickEffect">
                                  <p:stCondLst>
                                    <p:cond delay="0"/>
                                  </p:stCondLst>
                                  <p:childTnLst>
                                    <p:set>
                                      <p:cBhvr>
                                        <p:cTn id="244" dur="1" fill="hold">
                                          <p:stCondLst>
                                            <p:cond delay="0"/>
                                          </p:stCondLst>
                                        </p:cTn>
                                        <p:tgtEl>
                                          <p:spTgt spid="114"/>
                                        </p:tgtEl>
                                        <p:attrNameLst>
                                          <p:attrName>style.visibility</p:attrName>
                                        </p:attrNameLst>
                                      </p:cBhvr>
                                      <p:to>
                                        <p:strVal val="visible"/>
                                      </p:to>
                                    </p:set>
                                    <p:animEffect transition="in" filter="fade">
                                      <p:cBhvr>
                                        <p:cTn id="245" dur="500"/>
                                        <p:tgtEl>
                                          <p:spTgt spid="114"/>
                                        </p:tgtEl>
                                      </p:cBhvr>
                                    </p:animEffect>
                                  </p:childTnLst>
                                </p:cTn>
                              </p:par>
                            </p:childTnLst>
                          </p:cTn>
                        </p:par>
                      </p:childTnLst>
                    </p:cTn>
                  </p:par>
                  <p:par>
                    <p:cTn id="246" fill="hold">
                      <p:stCondLst>
                        <p:cond delay="indefinite"/>
                      </p:stCondLst>
                      <p:childTnLst>
                        <p:par>
                          <p:cTn id="247" fill="hold">
                            <p:stCondLst>
                              <p:cond delay="0"/>
                            </p:stCondLst>
                            <p:childTnLst>
                              <p:par>
                                <p:cTn id="248" presetID="10" presetClass="entr" presetSubtype="0" fill="hold" nodeType="clickEffect">
                                  <p:stCondLst>
                                    <p:cond delay="0"/>
                                  </p:stCondLst>
                                  <p:childTnLst>
                                    <p:set>
                                      <p:cBhvr>
                                        <p:cTn id="249" dur="1" fill="hold">
                                          <p:stCondLst>
                                            <p:cond delay="0"/>
                                          </p:stCondLst>
                                        </p:cTn>
                                        <p:tgtEl>
                                          <p:spTgt spid="486"/>
                                        </p:tgtEl>
                                        <p:attrNameLst>
                                          <p:attrName>style.visibility</p:attrName>
                                        </p:attrNameLst>
                                      </p:cBhvr>
                                      <p:to>
                                        <p:strVal val="visible"/>
                                      </p:to>
                                    </p:set>
                                    <p:animEffect transition="in" filter="fade">
                                      <p:cBhvr>
                                        <p:cTn id="250" dur="500"/>
                                        <p:tgtEl>
                                          <p:spTgt spid="486"/>
                                        </p:tgtEl>
                                      </p:cBhvr>
                                    </p:animEffect>
                                  </p:childTnLst>
                                </p:cTn>
                              </p:par>
                            </p:childTnLst>
                          </p:cTn>
                        </p:par>
                      </p:childTnLst>
                    </p:cTn>
                  </p:par>
                  <p:par>
                    <p:cTn id="251" fill="hold">
                      <p:stCondLst>
                        <p:cond delay="indefinite"/>
                      </p:stCondLst>
                      <p:childTnLst>
                        <p:par>
                          <p:cTn id="252" fill="hold">
                            <p:stCondLst>
                              <p:cond delay="0"/>
                            </p:stCondLst>
                            <p:childTnLst>
                              <p:par>
                                <p:cTn id="253" presetID="42" presetClass="path" presetSubtype="0" accel="50000" decel="50000" fill="hold" nodeType="clickEffect">
                                  <p:stCondLst>
                                    <p:cond delay="0"/>
                                  </p:stCondLst>
                                  <p:childTnLst>
                                    <p:animMotion origin="layout" path="M -1.04167E-6 -1.48148E-6 L 0.05261 0.00185 " pathEditMode="relative" rAng="0" ptsTypes="AA">
                                      <p:cBhvr>
                                        <p:cTn id="254" dur="2000" fill="hold"/>
                                        <p:tgtEl>
                                          <p:spTgt spid="959"/>
                                        </p:tgtEl>
                                        <p:attrNameLst>
                                          <p:attrName>ppt_x</p:attrName>
                                          <p:attrName>ppt_y</p:attrName>
                                        </p:attrNameLst>
                                      </p:cBhvr>
                                      <p:rCtr x="2630" y="93"/>
                                    </p:animMotion>
                                  </p:childTnLst>
                                </p:cTn>
                              </p:par>
                              <p:par>
                                <p:cTn id="255" presetID="1" presetClass="entr" presetSubtype="0" fill="hold" nodeType="withEffect">
                                  <p:stCondLst>
                                    <p:cond delay="0"/>
                                  </p:stCondLst>
                                  <p:childTnLst>
                                    <p:set>
                                      <p:cBhvr>
                                        <p:cTn id="256" dur="1" fill="hold">
                                          <p:stCondLst>
                                            <p:cond delay="0"/>
                                          </p:stCondLst>
                                        </p:cTn>
                                        <p:tgtEl>
                                          <p:spTgt spid="1148"/>
                                        </p:tgtEl>
                                        <p:attrNameLst>
                                          <p:attrName>style.visibility</p:attrName>
                                        </p:attrNameLst>
                                      </p:cBhvr>
                                      <p:to>
                                        <p:strVal val="visible"/>
                                      </p:to>
                                    </p:set>
                                  </p:childTnLst>
                                </p:cTn>
                              </p:par>
                            </p:childTnLst>
                          </p:cTn>
                        </p:par>
                        <p:par>
                          <p:cTn id="257" fill="hold">
                            <p:stCondLst>
                              <p:cond delay="2000"/>
                            </p:stCondLst>
                            <p:childTnLst>
                              <p:par>
                                <p:cTn id="258" presetID="10" presetClass="entr" presetSubtype="0" fill="hold" nodeType="afterEffect">
                                  <p:stCondLst>
                                    <p:cond delay="0"/>
                                  </p:stCondLst>
                                  <p:childTnLst>
                                    <p:set>
                                      <p:cBhvr>
                                        <p:cTn id="259" dur="1" fill="hold">
                                          <p:stCondLst>
                                            <p:cond delay="0"/>
                                          </p:stCondLst>
                                        </p:cTn>
                                        <p:tgtEl>
                                          <p:spTgt spid="976"/>
                                        </p:tgtEl>
                                        <p:attrNameLst>
                                          <p:attrName>style.visibility</p:attrName>
                                        </p:attrNameLst>
                                      </p:cBhvr>
                                      <p:to>
                                        <p:strVal val="visible"/>
                                      </p:to>
                                    </p:set>
                                    <p:animEffect transition="in" filter="fade">
                                      <p:cBhvr>
                                        <p:cTn id="260" dur="500"/>
                                        <p:tgtEl>
                                          <p:spTgt spid="976"/>
                                        </p:tgtEl>
                                      </p:cBhvr>
                                    </p:animEffect>
                                  </p:childTnLst>
                                </p:cTn>
                              </p:par>
                            </p:childTnLst>
                          </p:cTn>
                        </p:par>
                        <p:par>
                          <p:cTn id="261" fill="hold">
                            <p:stCondLst>
                              <p:cond delay="2500"/>
                            </p:stCondLst>
                            <p:childTnLst>
                              <p:par>
                                <p:cTn id="262" presetID="10" presetClass="entr" presetSubtype="0" fill="hold" nodeType="afterEffect">
                                  <p:stCondLst>
                                    <p:cond delay="1000"/>
                                  </p:stCondLst>
                                  <p:childTnLst>
                                    <p:set>
                                      <p:cBhvr>
                                        <p:cTn id="263" dur="1" fill="hold">
                                          <p:stCondLst>
                                            <p:cond delay="0"/>
                                          </p:stCondLst>
                                        </p:cTn>
                                        <p:tgtEl>
                                          <p:spTgt spid="995"/>
                                        </p:tgtEl>
                                        <p:attrNameLst>
                                          <p:attrName>style.visibility</p:attrName>
                                        </p:attrNameLst>
                                      </p:cBhvr>
                                      <p:to>
                                        <p:strVal val="visible"/>
                                      </p:to>
                                    </p:set>
                                    <p:animEffect transition="in" filter="fade">
                                      <p:cBhvr>
                                        <p:cTn id="264" dur="500"/>
                                        <p:tgtEl>
                                          <p:spTgt spid="995"/>
                                        </p:tgtEl>
                                      </p:cBhvr>
                                    </p:animEffect>
                                  </p:childTnLst>
                                </p:cTn>
                              </p:par>
                            </p:childTnLst>
                          </p:cTn>
                        </p:par>
                        <p:par>
                          <p:cTn id="265" fill="hold">
                            <p:stCondLst>
                              <p:cond delay="4000"/>
                            </p:stCondLst>
                            <p:childTnLst>
                              <p:par>
                                <p:cTn id="266" presetID="10" presetClass="entr" presetSubtype="0" fill="hold" nodeType="afterEffect">
                                  <p:stCondLst>
                                    <p:cond delay="1000"/>
                                  </p:stCondLst>
                                  <p:childTnLst>
                                    <p:set>
                                      <p:cBhvr>
                                        <p:cTn id="267" dur="1" fill="hold">
                                          <p:stCondLst>
                                            <p:cond delay="0"/>
                                          </p:stCondLst>
                                        </p:cTn>
                                        <p:tgtEl>
                                          <p:spTgt spid="1012"/>
                                        </p:tgtEl>
                                        <p:attrNameLst>
                                          <p:attrName>style.visibility</p:attrName>
                                        </p:attrNameLst>
                                      </p:cBhvr>
                                      <p:to>
                                        <p:strVal val="visible"/>
                                      </p:to>
                                    </p:set>
                                    <p:animEffect transition="in" filter="fade">
                                      <p:cBhvr>
                                        <p:cTn id="268" dur="500"/>
                                        <p:tgtEl>
                                          <p:spTgt spid="1012"/>
                                        </p:tgtEl>
                                      </p:cBhvr>
                                    </p:animEffect>
                                  </p:childTnLst>
                                </p:cTn>
                              </p:par>
                            </p:childTnLst>
                          </p:cTn>
                        </p:par>
                        <p:par>
                          <p:cTn id="269" fill="hold">
                            <p:stCondLst>
                              <p:cond delay="5500"/>
                            </p:stCondLst>
                            <p:childTnLst>
                              <p:par>
                                <p:cTn id="270" presetID="10" presetClass="entr" presetSubtype="0" fill="hold" nodeType="afterEffect">
                                  <p:stCondLst>
                                    <p:cond delay="1000"/>
                                  </p:stCondLst>
                                  <p:childTnLst>
                                    <p:set>
                                      <p:cBhvr>
                                        <p:cTn id="271" dur="1" fill="hold">
                                          <p:stCondLst>
                                            <p:cond delay="0"/>
                                          </p:stCondLst>
                                        </p:cTn>
                                        <p:tgtEl>
                                          <p:spTgt spid="1029"/>
                                        </p:tgtEl>
                                        <p:attrNameLst>
                                          <p:attrName>style.visibility</p:attrName>
                                        </p:attrNameLst>
                                      </p:cBhvr>
                                      <p:to>
                                        <p:strVal val="visible"/>
                                      </p:to>
                                    </p:set>
                                    <p:animEffect transition="in" filter="fade">
                                      <p:cBhvr>
                                        <p:cTn id="272" dur="500"/>
                                        <p:tgtEl>
                                          <p:spTgt spid="1029"/>
                                        </p:tgtEl>
                                      </p:cBhvr>
                                    </p:animEffect>
                                  </p:childTnLst>
                                </p:cTn>
                              </p:par>
                            </p:childTnLst>
                          </p:cTn>
                        </p:par>
                        <p:par>
                          <p:cTn id="273" fill="hold">
                            <p:stCondLst>
                              <p:cond delay="7000"/>
                            </p:stCondLst>
                            <p:childTnLst>
                              <p:par>
                                <p:cTn id="274" presetID="10" presetClass="entr" presetSubtype="0" fill="hold" nodeType="afterEffect">
                                  <p:stCondLst>
                                    <p:cond delay="1000"/>
                                  </p:stCondLst>
                                  <p:childTnLst>
                                    <p:set>
                                      <p:cBhvr>
                                        <p:cTn id="275" dur="1" fill="hold">
                                          <p:stCondLst>
                                            <p:cond delay="0"/>
                                          </p:stCondLst>
                                        </p:cTn>
                                        <p:tgtEl>
                                          <p:spTgt spid="1046"/>
                                        </p:tgtEl>
                                        <p:attrNameLst>
                                          <p:attrName>style.visibility</p:attrName>
                                        </p:attrNameLst>
                                      </p:cBhvr>
                                      <p:to>
                                        <p:strVal val="visible"/>
                                      </p:to>
                                    </p:set>
                                    <p:animEffect transition="in" filter="fade">
                                      <p:cBhvr>
                                        <p:cTn id="276" dur="500"/>
                                        <p:tgtEl>
                                          <p:spTgt spid="1046"/>
                                        </p:tgtEl>
                                      </p:cBhvr>
                                    </p:animEffect>
                                  </p:childTnLst>
                                </p:cTn>
                              </p:par>
                              <p:par>
                                <p:cTn id="277" presetID="10" presetClass="entr" presetSubtype="0" fill="hold" nodeType="withEffect">
                                  <p:stCondLst>
                                    <p:cond delay="1000"/>
                                  </p:stCondLst>
                                  <p:childTnLst>
                                    <p:set>
                                      <p:cBhvr>
                                        <p:cTn id="278" dur="1" fill="hold">
                                          <p:stCondLst>
                                            <p:cond delay="0"/>
                                          </p:stCondLst>
                                        </p:cTn>
                                        <p:tgtEl>
                                          <p:spTgt spid="119"/>
                                        </p:tgtEl>
                                        <p:attrNameLst>
                                          <p:attrName>style.visibility</p:attrName>
                                        </p:attrNameLst>
                                      </p:cBhvr>
                                      <p:to>
                                        <p:strVal val="visible"/>
                                      </p:to>
                                    </p:set>
                                    <p:animEffect transition="in" filter="fade">
                                      <p:cBhvr>
                                        <p:cTn id="279" dur="500"/>
                                        <p:tgtEl>
                                          <p:spTgt spid="119"/>
                                        </p:tgtEl>
                                      </p:cBhvr>
                                    </p:animEffect>
                                  </p:childTnLst>
                                </p:cTn>
                              </p:par>
                            </p:childTnLst>
                          </p:cTn>
                        </p:par>
                        <p:par>
                          <p:cTn id="280" fill="hold">
                            <p:stCondLst>
                              <p:cond delay="8500"/>
                            </p:stCondLst>
                            <p:childTnLst>
                              <p:par>
                                <p:cTn id="281" presetID="26" presetClass="emph" presetSubtype="0" repeatCount="3000" fill="hold" nodeType="afterEffect">
                                  <p:stCondLst>
                                    <p:cond delay="0"/>
                                  </p:stCondLst>
                                  <p:childTnLst>
                                    <p:animEffect transition="out" filter="fade">
                                      <p:cBhvr>
                                        <p:cTn id="282" dur="500" tmFilter="0, 0; .2, .5; .8, .5; 1, 0"/>
                                        <p:tgtEl>
                                          <p:spTgt spid="119"/>
                                        </p:tgtEl>
                                      </p:cBhvr>
                                    </p:animEffect>
                                    <p:animScale>
                                      <p:cBhvr>
                                        <p:cTn id="283" dur="250" autoRev="1" fill="hold"/>
                                        <p:tgtEl>
                                          <p:spTgt spid="119"/>
                                        </p:tgtEl>
                                      </p:cBhvr>
                                      <p:by x="105000" y="105000"/>
                                    </p:animScale>
                                  </p:childTnLst>
                                </p:cTn>
                              </p:par>
                            </p:childTnLst>
                          </p:cTn>
                        </p:par>
                        <p:par>
                          <p:cTn id="284" fill="hold">
                            <p:stCondLst>
                              <p:cond delay="10000"/>
                            </p:stCondLst>
                            <p:childTnLst>
                              <p:par>
                                <p:cTn id="285" presetID="10" presetClass="entr" presetSubtype="0" fill="hold" nodeType="afterEffect">
                                  <p:stCondLst>
                                    <p:cond delay="0"/>
                                  </p:stCondLst>
                                  <p:childTnLst>
                                    <p:set>
                                      <p:cBhvr>
                                        <p:cTn id="286" dur="1" fill="hold">
                                          <p:stCondLst>
                                            <p:cond delay="0"/>
                                          </p:stCondLst>
                                        </p:cTn>
                                        <p:tgtEl>
                                          <p:spTgt spid="1063"/>
                                        </p:tgtEl>
                                        <p:attrNameLst>
                                          <p:attrName>style.visibility</p:attrName>
                                        </p:attrNameLst>
                                      </p:cBhvr>
                                      <p:to>
                                        <p:strVal val="visible"/>
                                      </p:to>
                                    </p:set>
                                    <p:animEffect transition="in" filter="fade">
                                      <p:cBhvr>
                                        <p:cTn id="287" dur="500"/>
                                        <p:tgtEl>
                                          <p:spTgt spid="1063"/>
                                        </p:tgtEl>
                                      </p:cBhvr>
                                    </p:animEffect>
                                  </p:childTnLst>
                                </p:cTn>
                              </p:par>
                            </p:childTnLst>
                          </p:cTn>
                        </p:par>
                      </p:childTnLst>
                    </p:cTn>
                  </p:par>
                  <p:par>
                    <p:cTn id="288" fill="hold">
                      <p:stCondLst>
                        <p:cond delay="indefinite"/>
                      </p:stCondLst>
                      <p:childTnLst>
                        <p:par>
                          <p:cTn id="289" fill="hold">
                            <p:stCondLst>
                              <p:cond delay="0"/>
                            </p:stCondLst>
                            <p:childTnLst>
                              <p:par>
                                <p:cTn id="290" presetID="10" presetClass="entr" presetSubtype="0" fill="hold" nodeType="clickEffect">
                                  <p:stCondLst>
                                    <p:cond delay="0"/>
                                  </p:stCondLst>
                                  <p:childTnLst>
                                    <p:set>
                                      <p:cBhvr>
                                        <p:cTn id="291" dur="1" fill="hold">
                                          <p:stCondLst>
                                            <p:cond delay="0"/>
                                          </p:stCondLst>
                                        </p:cTn>
                                        <p:tgtEl>
                                          <p:spTgt spid="116"/>
                                        </p:tgtEl>
                                        <p:attrNameLst>
                                          <p:attrName>style.visibility</p:attrName>
                                        </p:attrNameLst>
                                      </p:cBhvr>
                                      <p:to>
                                        <p:strVal val="visible"/>
                                      </p:to>
                                    </p:set>
                                    <p:animEffect transition="in" filter="fade">
                                      <p:cBhvr>
                                        <p:cTn id="292"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 grpId="0"/>
      <p:bldP spid="489" grpId="1"/>
      <p:bldP spid="489" grpId="2"/>
      <p:bldP spid="499" grpId="0"/>
      <p:bldP spid="499" grpId="1"/>
      <p:bldP spid="499" grpId="2"/>
      <p:bldP spid="527" grpId="0"/>
      <p:bldP spid="527" grpId="1"/>
      <p:bldP spid="527" grpId="2"/>
      <p:bldP spid="585" grpId="0"/>
      <p:bldP spid="585" grpId="1"/>
      <p:bldP spid="585" grpId="2"/>
      <p:bldP spid="881" grpId="0"/>
      <p:bldP spid="881" grpId="1"/>
      <p:bldP spid="881" grpId="2"/>
      <p:bldP spid="958" grpId="0"/>
      <p:bldP spid="958" grpId="1"/>
      <p:bldP spid="958" grpId="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val 6"/>
          <p:cNvSpPr>
            <a:spLocks noChangeArrowheads="1"/>
          </p:cNvSpPr>
          <p:nvPr/>
        </p:nvSpPr>
        <p:spPr bwMode="auto">
          <a:xfrm>
            <a:off x="3593008" y="3457957"/>
            <a:ext cx="1880968" cy="1801115"/>
          </a:xfrm>
          <a:prstGeom prst="ellipse">
            <a:avLst/>
          </a:prstGeom>
          <a:noFill/>
          <a:ln w="63500">
            <a:solidFill>
              <a:srgbClr val="FDD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sz="2400" b="1">
              <a:solidFill>
                <a:srgbClr val="11576A"/>
              </a:solidFill>
              <a:latin typeface="微软雅黑" pitchFamily="34" charset="-122"/>
              <a:ea typeface="微软雅黑" pitchFamily="34" charset="-122"/>
              <a:sym typeface="MS PGothic" charset="0"/>
            </a:endParaRPr>
          </a:p>
        </p:txBody>
      </p:sp>
      <p:sp>
        <p:nvSpPr>
          <p:cNvPr id="37" name="Rectangle 7"/>
          <p:cNvSpPr>
            <a:spLocks noChangeArrowheads="1"/>
          </p:cNvSpPr>
          <p:nvPr/>
        </p:nvSpPr>
        <p:spPr bwMode="auto">
          <a:xfrm>
            <a:off x="2584439" y="5189130"/>
            <a:ext cx="644406" cy="680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nSpc>
                <a:spcPct val="80000"/>
              </a:lnSpc>
            </a:pPr>
            <a:r>
              <a:rPr lang="zh-CN" altLang="en-US" sz="1200" b="1" dirty="0">
                <a:solidFill>
                  <a:srgbClr val="11576A"/>
                </a:solidFill>
                <a:latin typeface="微软雅黑" pitchFamily="34" charset="-122"/>
                <a:ea typeface="微软雅黑" pitchFamily="34" charset="-122"/>
                <a:sym typeface="MS PGothic" charset="0"/>
              </a:rPr>
              <a:t>驻留位</a:t>
            </a:r>
            <a:endParaRPr lang="zh-CN" altLang="zh-CN" sz="1200" b="1" dirty="0">
              <a:solidFill>
                <a:srgbClr val="11576A"/>
              </a:solidFill>
              <a:latin typeface="微软雅黑" pitchFamily="34" charset="-122"/>
              <a:ea typeface="微软雅黑" pitchFamily="34" charset="-122"/>
              <a:sym typeface="MS PGothic" charset="0"/>
            </a:endParaRPr>
          </a:p>
          <a:p>
            <a:pPr>
              <a:lnSpc>
                <a:spcPct val="80000"/>
              </a:lnSpc>
            </a:pPr>
            <a:r>
              <a:rPr lang="zh-CN" altLang="en-US" sz="1200" b="1" dirty="0">
                <a:solidFill>
                  <a:srgbClr val="11576A"/>
                </a:solidFill>
                <a:latin typeface="微软雅黑" pitchFamily="34" charset="-122"/>
                <a:ea typeface="微软雅黑" pitchFamily="34" charset="-122"/>
                <a:sym typeface="MS PGothic" charset="0"/>
              </a:rPr>
              <a:t>访问位</a:t>
            </a:r>
            <a:endParaRPr lang="zh-CN" altLang="zh-CN" sz="1200" b="1" dirty="0">
              <a:solidFill>
                <a:srgbClr val="11576A"/>
              </a:solidFill>
              <a:latin typeface="微软雅黑" pitchFamily="34" charset="-122"/>
              <a:ea typeface="微软雅黑" pitchFamily="34" charset="-122"/>
              <a:sym typeface="MS PGothic" charset="0"/>
            </a:endParaRPr>
          </a:p>
          <a:p>
            <a:pPr>
              <a:lnSpc>
                <a:spcPct val="80000"/>
              </a:lnSpc>
            </a:pPr>
            <a:r>
              <a:rPr lang="zh-CN" altLang="en-US" sz="1200" b="1" dirty="0">
                <a:solidFill>
                  <a:srgbClr val="11576A"/>
                </a:solidFill>
                <a:latin typeface="微软雅黑" pitchFamily="34" charset="-122"/>
                <a:ea typeface="微软雅黑" pitchFamily="34" charset="-122"/>
                <a:sym typeface="MS PGothic" charset="0"/>
              </a:rPr>
              <a:t>修改位</a:t>
            </a:r>
            <a:endParaRPr lang="en-US" altLang="zh-CN" sz="1200" b="1" dirty="0">
              <a:solidFill>
                <a:srgbClr val="11576A"/>
              </a:solidFill>
              <a:latin typeface="微软雅黑" pitchFamily="34" charset="-122"/>
              <a:ea typeface="微软雅黑" pitchFamily="34" charset="-122"/>
              <a:sym typeface="MS PGothic" charset="0"/>
            </a:endParaRPr>
          </a:p>
          <a:p>
            <a:pPr>
              <a:lnSpc>
                <a:spcPct val="80000"/>
              </a:lnSpc>
            </a:pPr>
            <a:r>
              <a:rPr lang="zh-CN" altLang="en-US" sz="1200" b="1">
                <a:solidFill>
                  <a:srgbClr val="11576A"/>
                </a:solidFill>
                <a:latin typeface="微软雅黑" pitchFamily="34" charset="-122"/>
                <a:ea typeface="微软雅黑" pitchFamily="34" charset="-122"/>
                <a:sym typeface="MS PGothic" charset="0"/>
              </a:rPr>
              <a:t>页号</a:t>
            </a:r>
            <a:endParaRPr lang="zh-CN" altLang="en-US" sz="1200" b="1" dirty="0">
              <a:solidFill>
                <a:srgbClr val="11576A"/>
              </a:solidFill>
              <a:latin typeface="微软雅黑" pitchFamily="34" charset="-122"/>
              <a:ea typeface="微软雅黑" pitchFamily="34" charset="-122"/>
              <a:sym typeface="MS PGothic" charset="0"/>
            </a:endParaRPr>
          </a:p>
        </p:txBody>
      </p:sp>
      <p:sp>
        <p:nvSpPr>
          <p:cNvPr id="39" name="Rectangle 9"/>
          <p:cNvSpPr>
            <a:spLocks noChangeArrowheads="1"/>
          </p:cNvSpPr>
          <p:nvPr/>
        </p:nvSpPr>
        <p:spPr bwMode="auto">
          <a:xfrm>
            <a:off x="4617782" y="3333742"/>
            <a:ext cx="33715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0</a:t>
            </a:r>
          </a:p>
        </p:txBody>
      </p:sp>
      <p:sp>
        <p:nvSpPr>
          <p:cNvPr id="41" name="Rectangle 11"/>
          <p:cNvSpPr>
            <a:spLocks noChangeArrowheads="1"/>
          </p:cNvSpPr>
          <p:nvPr/>
        </p:nvSpPr>
        <p:spPr bwMode="auto">
          <a:xfrm>
            <a:off x="3269008" y="3313779"/>
            <a:ext cx="894475" cy="3359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sz="1500" b="1" spc="-100" dirty="0">
                <a:solidFill>
                  <a:srgbClr val="11576A"/>
                </a:solidFill>
                <a:latin typeface="微软雅黑" pitchFamily="34" charset="-122"/>
                <a:ea typeface="微软雅黑" pitchFamily="34" charset="-122"/>
                <a:sym typeface="MS PGothic" charset="0"/>
              </a:rPr>
              <a:t>页</a:t>
            </a:r>
            <a:r>
              <a:rPr lang="zh-CN" altLang="en-US" sz="1600" b="1" dirty="0">
                <a:solidFill>
                  <a:srgbClr val="11576A"/>
                </a:solidFill>
                <a:latin typeface="微软雅黑" pitchFamily="34" charset="-122"/>
                <a:ea typeface="微软雅黑" pitchFamily="34" charset="-122"/>
                <a:sym typeface="MS PGothic" charset="0"/>
              </a:rPr>
              <a:t>帧</a:t>
            </a:r>
            <a:r>
              <a:rPr lang="zh-CN" altLang="en-US" sz="1500" b="1" spc="-100" dirty="0">
                <a:solidFill>
                  <a:srgbClr val="11576A"/>
                </a:solidFill>
                <a:latin typeface="微软雅黑" pitchFamily="34" charset="-122"/>
                <a:ea typeface="微软雅黑" pitchFamily="34" charset="-122"/>
                <a:sym typeface="MS PGothic" charset="0"/>
              </a:rPr>
              <a:t>号</a:t>
            </a:r>
            <a:r>
              <a:rPr lang="en-US" altLang="zh-CN" sz="1500" b="1" spc="-100" dirty="0">
                <a:solidFill>
                  <a:srgbClr val="11576A"/>
                </a:solidFill>
                <a:latin typeface="微软雅黑" pitchFamily="34" charset="-122"/>
                <a:ea typeface="微软雅黑" pitchFamily="34" charset="-122"/>
                <a:sym typeface="MS PGothic" charset="0"/>
              </a:rPr>
              <a:t>7:</a:t>
            </a:r>
          </a:p>
        </p:txBody>
      </p:sp>
      <p:sp>
        <p:nvSpPr>
          <p:cNvPr id="72" name="Rectangle 12"/>
          <p:cNvSpPr>
            <a:spLocks noChangeArrowheads="1"/>
          </p:cNvSpPr>
          <p:nvPr/>
        </p:nvSpPr>
        <p:spPr bwMode="auto">
          <a:xfrm>
            <a:off x="4138668" y="3333742"/>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1</a:t>
            </a:r>
          </a:p>
        </p:txBody>
      </p:sp>
      <p:sp>
        <p:nvSpPr>
          <p:cNvPr id="75" name="Rectangle 13"/>
          <p:cNvSpPr>
            <a:spLocks noChangeArrowheads="1"/>
          </p:cNvSpPr>
          <p:nvPr/>
        </p:nvSpPr>
        <p:spPr bwMode="auto">
          <a:xfrm>
            <a:off x="3752714" y="3972561"/>
            <a:ext cx="33715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5</a:t>
            </a:r>
          </a:p>
        </p:txBody>
      </p:sp>
      <p:sp>
        <p:nvSpPr>
          <p:cNvPr id="76" name="Rectangle 14"/>
          <p:cNvSpPr>
            <a:spLocks noChangeArrowheads="1"/>
          </p:cNvSpPr>
          <p:nvPr/>
        </p:nvSpPr>
        <p:spPr bwMode="auto">
          <a:xfrm>
            <a:off x="3433305" y="3972561"/>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0</a:t>
            </a:r>
          </a:p>
        </p:txBody>
      </p:sp>
      <p:sp>
        <p:nvSpPr>
          <p:cNvPr id="77" name="Rectangle 15"/>
          <p:cNvSpPr>
            <a:spLocks noChangeArrowheads="1"/>
          </p:cNvSpPr>
          <p:nvPr/>
        </p:nvSpPr>
        <p:spPr bwMode="auto">
          <a:xfrm>
            <a:off x="2465018" y="3926892"/>
            <a:ext cx="894475" cy="3359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sz="1500" b="1" spc="-100" dirty="0">
                <a:solidFill>
                  <a:srgbClr val="11576A"/>
                </a:solidFill>
                <a:latin typeface="微软雅黑" pitchFamily="34" charset="-122"/>
                <a:ea typeface="微软雅黑" pitchFamily="34" charset="-122"/>
                <a:sym typeface="MS PGothic" charset="0"/>
              </a:rPr>
              <a:t>页</a:t>
            </a:r>
            <a:r>
              <a:rPr lang="zh-CN" altLang="en-US" sz="1600" b="1" dirty="0">
                <a:solidFill>
                  <a:srgbClr val="11576A"/>
                </a:solidFill>
                <a:latin typeface="微软雅黑" pitchFamily="34" charset="-122"/>
                <a:ea typeface="微软雅黑" pitchFamily="34" charset="-122"/>
                <a:sym typeface="MS PGothic" charset="0"/>
              </a:rPr>
              <a:t>帧</a:t>
            </a:r>
            <a:r>
              <a:rPr lang="zh-CN" altLang="en-US" sz="1500" b="1" spc="-100" dirty="0">
                <a:solidFill>
                  <a:srgbClr val="11576A"/>
                </a:solidFill>
                <a:latin typeface="微软雅黑" pitchFamily="34" charset="-122"/>
                <a:ea typeface="微软雅黑" pitchFamily="34" charset="-122"/>
                <a:sym typeface="MS PGothic" charset="0"/>
              </a:rPr>
              <a:t>号</a:t>
            </a:r>
            <a:r>
              <a:rPr lang="en-US" altLang="zh-CN" sz="1500" b="1" spc="-100" dirty="0">
                <a:solidFill>
                  <a:srgbClr val="11576A"/>
                </a:solidFill>
                <a:latin typeface="微软雅黑" pitchFamily="34" charset="-122"/>
                <a:ea typeface="微软雅黑" pitchFamily="34" charset="-122"/>
                <a:sym typeface="MS PGothic" charset="0"/>
              </a:rPr>
              <a:t>1:</a:t>
            </a:r>
          </a:p>
        </p:txBody>
      </p:sp>
      <p:sp>
        <p:nvSpPr>
          <p:cNvPr id="78" name="Rectangle 16"/>
          <p:cNvSpPr>
            <a:spLocks noChangeArrowheads="1"/>
          </p:cNvSpPr>
          <p:nvPr/>
        </p:nvSpPr>
        <p:spPr bwMode="auto">
          <a:xfrm>
            <a:off x="3273600" y="3972561"/>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1</a:t>
            </a:r>
          </a:p>
        </p:txBody>
      </p:sp>
      <p:sp>
        <p:nvSpPr>
          <p:cNvPr id="79" name="Rectangle 17"/>
          <p:cNvSpPr>
            <a:spLocks noChangeArrowheads="1"/>
          </p:cNvSpPr>
          <p:nvPr/>
        </p:nvSpPr>
        <p:spPr bwMode="auto">
          <a:xfrm>
            <a:off x="5544957" y="3972561"/>
            <a:ext cx="33715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3</a:t>
            </a:r>
          </a:p>
        </p:txBody>
      </p:sp>
      <p:sp>
        <p:nvSpPr>
          <p:cNvPr id="80" name="Rectangle 18"/>
          <p:cNvSpPr>
            <a:spLocks noChangeArrowheads="1"/>
          </p:cNvSpPr>
          <p:nvPr/>
        </p:nvSpPr>
        <p:spPr bwMode="auto">
          <a:xfrm>
            <a:off x="5225548" y="3972561"/>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0</a:t>
            </a:r>
          </a:p>
        </p:txBody>
      </p:sp>
      <p:sp>
        <p:nvSpPr>
          <p:cNvPr id="82" name="Rectangle 19"/>
          <p:cNvSpPr>
            <a:spLocks noChangeArrowheads="1"/>
          </p:cNvSpPr>
          <p:nvPr/>
        </p:nvSpPr>
        <p:spPr bwMode="auto">
          <a:xfrm>
            <a:off x="4173741" y="3952598"/>
            <a:ext cx="939359" cy="3359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sz="1500" b="1" spc="-100" dirty="0">
                <a:solidFill>
                  <a:srgbClr val="11576A"/>
                </a:solidFill>
                <a:latin typeface="微软雅黑" pitchFamily="34" charset="-122"/>
                <a:ea typeface="微软雅黑" pitchFamily="34" charset="-122"/>
                <a:sym typeface="MS PGothic" charset="0"/>
              </a:rPr>
              <a:t>页</a:t>
            </a:r>
            <a:r>
              <a:rPr lang="zh-CN" altLang="en-US" sz="1600" b="1" dirty="0">
                <a:solidFill>
                  <a:srgbClr val="11576A"/>
                </a:solidFill>
                <a:latin typeface="微软雅黑" pitchFamily="34" charset="-122"/>
                <a:ea typeface="微软雅黑" pitchFamily="34" charset="-122"/>
                <a:sym typeface="MS PGothic" charset="0"/>
              </a:rPr>
              <a:t>帧</a:t>
            </a:r>
            <a:r>
              <a:rPr lang="zh-CN" altLang="en-US" sz="1500" b="1" spc="-100" dirty="0">
                <a:solidFill>
                  <a:srgbClr val="11576A"/>
                </a:solidFill>
                <a:latin typeface="微软雅黑" pitchFamily="34" charset="-122"/>
                <a:ea typeface="微软雅黑" pitchFamily="34" charset="-122"/>
                <a:sym typeface="MS PGothic" charset="0"/>
              </a:rPr>
              <a:t>号 </a:t>
            </a:r>
            <a:r>
              <a:rPr lang="en-US" altLang="zh-CN" sz="1500" b="1" spc="-100" dirty="0">
                <a:solidFill>
                  <a:srgbClr val="11576A"/>
                </a:solidFill>
                <a:latin typeface="微软雅黑" pitchFamily="34" charset="-122"/>
                <a:ea typeface="微软雅黑" pitchFamily="34" charset="-122"/>
                <a:sym typeface="MS PGothic" charset="0"/>
              </a:rPr>
              <a:t>4:</a:t>
            </a:r>
          </a:p>
        </p:txBody>
      </p:sp>
      <p:sp>
        <p:nvSpPr>
          <p:cNvPr id="83" name="Rectangle 20"/>
          <p:cNvSpPr>
            <a:spLocks noChangeArrowheads="1"/>
          </p:cNvSpPr>
          <p:nvPr/>
        </p:nvSpPr>
        <p:spPr bwMode="auto">
          <a:xfrm>
            <a:off x="5065843" y="3972561"/>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1</a:t>
            </a:r>
          </a:p>
        </p:txBody>
      </p:sp>
      <p:sp>
        <p:nvSpPr>
          <p:cNvPr id="84" name="Rectangle 21"/>
          <p:cNvSpPr>
            <a:spLocks noChangeArrowheads="1"/>
          </p:cNvSpPr>
          <p:nvPr/>
        </p:nvSpPr>
        <p:spPr bwMode="auto">
          <a:xfrm>
            <a:off x="5475440" y="4868682"/>
            <a:ext cx="33715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4</a:t>
            </a:r>
          </a:p>
        </p:txBody>
      </p:sp>
      <p:sp>
        <p:nvSpPr>
          <p:cNvPr id="86" name="Rectangle 23"/>
          <p:cNvSpPr>
            <a:spLocks noChangeArrowheads="1"/>
          </p:cNvSpPr>
          <p:nvPr/>
        </p:nvSpPr>
        <p:spPr bwMode="auto">
          <a:xfrm>
            <a:off x="4192740" y="4825859"/>
            <a:ext cx="894475" cy="3359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sz="1500" b="1" spc="-100" dirty="0">
                <a:solidFill>
                  <a:srgbClr val="11576A"/>
                </a:solidFill>
                <a:latin typeface="微软雅黑" pitchFamily="34" charset="-122"/>
                <a:ea typeface="微软雅黑" pitchFamily="34" charset="-122"/>
                <a:sym typeface="MS PGothic" charset="0"/>
              </a:rPr>
              <a:t>页</a:t>
            </a:r>
            <a:r>
              <a:rPr lang="zh-CN" altLang="en-US" sz="1600" b="1" dirty="0">
                <a:solidFill>
                  <a:srgbClr val="11576A"/>
                </a:solidFill>
                <a:latin typeface="微软雅黑" pitchFamily="34" charset="-122"/>
                <a:ea typeface="微软雅黑" pitchFamily="34" charset="-122"/>
                <a:sym typeface="MS PGothic" charset="0"/>
              </a:rPr>
              <a:t>帧</a:t>
            </a:r>
            <a:r>
              <a:rPr lang="zh-CN" altLang="en-US" sz="1500" b="1" spc="-100" dirty="0">
                <a:solidFill>
                  <a:srgbClr val="11576A"/>
                </a:solidFill>
                <a:latin typeface="微软雅黑" pitchFamily="34" charset="-122"/>
                <a:ea typeface="微软雅黑" pitchFamily="34" charset="-122"/>
                <a:sym typeface="MS PGothic" charset="0"/>
              </a:rPr>
              <a:t>号</a:t>
            </a:r>
            <a:r>
              <a:rPr lang="en-US" altLang="zh-CN" sz="1500" b="1" spc="-100" dirty="0">
                <a:solidFill>
                  <a:srgbClr val="11576A"/>
                </a:solidFill>
                <a:latin typeface="微软雅黑" pitchFamily="34" charset="-122"/>
                <a:ea typeface="微软雅黑" pitchFamily="34" charset="-122"/>
                <a:sym typeface="MS PGothic" charset="0"/>
              </a:rPr>
              <a:t>0:</a:t>
            </a:r>
          </a:p>
        </p:txBody>
      </p:sp>
      <p:sp>
        <p:nvSpPr>
          <p:cNvPr id="87" name="Rectangle 24"/>
          <p:cNvSpPr>
            <a:spLocks noChangeArrowheads="1"/>
          </p:cNvSpPr>
          <p:nvPr/>
        </p:nvSpPr>
        <p:spPr bwMode="auto">
          <a:xfrm>
            <a:off x="4996326" y="4868682"/>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1</a:t>
            </a:r>
          </a:p>
        </p:txBody>
      </p:sp>
      <p:sp>
        <p:nvSpPr>
          <p:cNvPr id="88" name="Rectangle 25"/>
          <p:cNvSpPr>
            <a:spLocks noChangeArrowheads="1"/>
          </p:cNvSpPr>
          <p:nvPr/>
        </p:nvSpPr>
        <p:spPr bwMode="auto">
          <a:xfrm>
            <a:off x="3918682" y="4868682"/>
            <a:ext cx="33715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9</a:t>
            </a:r>
          </a:p>
        </p:txBody>
      </p:sp>
      <p:sp>
        <p:nvSpPr>
          <p:cNvPr id="90" name="Rectangle 27"/>
          <p:cNvSpPr>
            <a:spLocks noChangeArrowheads="1"/>
          </p:cNvSpPr>
          <p:nvPr/>
        </p:nvSpPr>
        <p:spPr bwMode="auto">
          <a:xfrm>
            <a:off x="2646107" y="4833479"/>
            <a:ext cx="894475" cy="3359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487" tIns="44450" rIns="90487" bIns="44450">
            <a:spAutoFit/>
          </a:bodyPr>
          <a:lstStyle/>
          <a:p>
            <a:pPr algn="ctr"/>
            <a:r>
              <a:rPr lang="zh-CN" altLang="en-US" sz="1500" b="1" spc="-100" dirty="0">
                <a:solidFill>
                  <a:srgbClr val="11576A"/>
                </a:solidFill>
                <a:latin typeface="微软雅黑" pitchFamily="34" charset="-122"/>
                <a:ea typeface="微软雅黑" pitchFamily="34" charset="-122"/>
                <a:sym typeface="MS PGothic" charset="0"/>
              </a:rPr>
              <a:t>页</a:t>
            </a:r>
            <a:r>
              <a:rPr lang="zh-CN" altLang="en-US" sz="1600" b="1" dirty="0">
                <a:solidFill>
                  <a:srgbClr val="11576A"/>
                </a:solidFill>
                <a:latin typeface="微软雅黑" pitchFamily="34" charset="-122"/>
                <a:ea typeface="微软雅黑" pitchFamily="34" charset="-122"/>
                <a:sym typeface="MS PGothic" charset="0"/>
              </a:rPr>
              <a:t>帧</a:t>
            </a:r>
            <a:r>
              <a:rPr lang="zh-CN" altLang="en-US" sz="1500" b="1" spc="-100" dirty="0">
                <a:solidFill>
                  <a:srgbClr val="11576A"/>
                </a:solidFill>
                <a:latin typeface="微软雅黑" pitchFamily="34" charset="-122"/>
                <a:ea typeface="微软雅黑" pitchFamily="34" charset="-122"/>
                <a:sym typeface="MS PGothic" charset="0"/>
              </a:rPr>
              <a:t>号</a:t>
            </a:r>
            <a:r>
              <a:rPr lang="en-US" altLang="zh-CN" sz="1500" b="1" spc="-100" dirty="0">
                <a:solidFill>
                  <a:srgbClr val="11576A"/>
                </a:solidFill>
                <a:latin typeface="微软雅黑" pitchFamily="34" charset="-122"/>
                <a:ea typeface="微软雅黑" pitchFamily="34" charset="-122"/>
                <a:sym typeface="MS PGothic" charset="0"/>
              </a:rPr>
              <a:t>3:</a:t>
            </a:r>
          </a:p>
        </p:txBody>
      </p:sp>
      <p:sp>
        <p:nvSpPr>
          <p:cNvPr id="91" name="Rectangle 28"/>
          <p:cNvSpPr>
            <a:spLocks noChangeArrowheads="1"/>
          </p:cNvSpPr>
          <p:nvPr/>
        </p:nvSpPr>
        <p:spPr bwMode="auto">
          <a:xfrm>
            <a:off x="3439567" y="4868682"/>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1</a:t>
            </a:r>
          </a:p>
        </p:txBody>
      </p:sp>
      <p:sp>
        <p:nvSpPr>
          <p:cNvPr id="92" name="Oval 29"/>
          <p:cNvSpPr>
            <a:spLocks noChangeArrowheads="1"/>
          </p:cNvSpPr>
          <p:nvPr/>
        </p:nvSpPr>
        <p:spPr bwMode="auto">
          <a:xfrm>
            <a:off x="4442005" y="4267536"/>
            <a:ext cx="161377" cy="161377"/>
          </a:xfrm>
          <a:prstGeom prst="ellipse">
            <a:avLst/>
          </a:prstGeom>
          <a:solidFill>
            <a:srgbClr val="C00000"/>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zh-CN" altLang="en-US" sz="2400" b="1">
              <a:solidFill>
                <a:srgbClr val="11576A"/>
              </a:solidFill>
              <a:latin typeface="微软雅黑" pitchFamily="34" charset="-122"/>
              <a:ea typeface="微软雅黑" pitchFamily="34" charset="-122"/>
              <a:sym typeface="MS PGothic" charset="0"/>
            </a:endParaRPr>
          </a:p>
        </p:txBody>
      </p:sp>
      <p:sp>
        <p:nvSpPr>
          <p:cNvPr id="93" name="Line 30"/>
          <p:cNvSpPr>
            <a:spLocks noChangeShapeType="1"/>
          </p:cNvSpPr>
          <p:nvPr/>
        </p:nvSpPr>
        <p:spPr bwMode="auto">
          <a:xfrm>
            <a:off x="3510545" y="5125982"/>
            <a:ext cx="0" cy="177450"/>
          </a:xfrm>
          <a:prstGeom prst="line">
            <a:avLst/>
          </a:prstGeom>
          <a:noFill/>
          <a:ln w="28575">
            <a:solidFill>
              <a:srgbClr val="11576A"/>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b="1">
              <a:solidFill>
                <a:srgbClr val="11576A"/>
              </a:solidFill>
              <a:latin typeface="微软雅黑" pitchFamily="34" charset="-122"/>
              <a:ea typeface="微软雅黑" pitchFamily="34" charset="-122"/>
            </a:endParaRPr>
          </a:p>
        </p:txBody>
      </p:sp>
      <p:sp>
        <p:nvSpPr>
          <p:cNvPr id="94" name="Line 31"/>
          <p:cNvSpPr>
            <a:spLocks noChangeShapeType="1"/>
          </p:cNvSpPr>
          <p:nvPr/>
        </p:nvSpPr>
        <p:spPr bwMode="auto">
          <a:xfrm>
            <a:off x="3679123" y="5121548"/>
            <a:ext cx="0" cy="301665"/>
          </a:xfrm>
          <a:prstGeom prst="line">
            <a:avLst/>
          </a:prstGeom>
          <a:noFill/>
          <a:ln w="28575">
            <a:solidFill>
              <a:srgbClr val="11576A"/>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95" name="Line 32"/>
          <p:cNvSpPr>
            <a:spLocks noChangeShapeType="1"/>
          </p:cNvSpPr>
          <p:nvPr/>
        </p:nvSpPr>
        <p:spPr bwMode="auto">
          <a:xfrm>
            <a:off x="4089867" y="5121546"/>
            <a:ext cx="0" cy="611710"/>
          </a:xfrm>
          <a:prstGeom prst="line">
            <a:avLst/>
          </a:prstGeom>
          <a:noFill/>
          <a:ln w="28575">
            <a:solidFill>
              <a:srgbClr val="11576A"/>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96" name="Line 33"/>
          <p:cNvSpPr>
            <a:spLocks noChangeShapeType="1"/>
          </p:cNvSpPr>
          <p:nvPr/>
        </p:nvSpPr>
        <p:spPr bwMode="auto">
          <a:xfrm>
            <a:off x="3124594" y="5733256"/>
            <a:ext cx="965275"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97" name="Line 34"/>
          <p:cNvSpPr>
            <a:spLocks noChangeShapeType="1"/>
          </p:cNvSpPr>
          <p:nvPr/>
        </p:nvSpPr>
        <p:spPr bwMode="auto">
          <a:xfrm>
            <a:off x="3177827" y="5427647"/>
            <a:ext cx="505732"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98" name="Line 35"/>
          <p:cNvSpPr>
            <a:spLocks noChangeShapeType="1"/>
          </p:cNvSpPr>
          <p:nvPr/>
        </p:nvSpPr>
        <p:spPr bwMode="auto">
          <a:xfrm>
            <a:off x="3302042" y="5303432"/>
            <a:ext cx="212940"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b="1">
              <a:solidFill>
                <a:srgbClr val="11576A"/>
              </a:solidFill>
              <a:latin typeface="微软雅黑" pitchFamily="34" charset="-122"/>
              <a:ea typeface="微软雅黑" pitchFamily="34" charset="-122"/>
            </a:endParaRPr>
          </a:p>
        </p:txBody>
      </p:sp>
      <p:grpSp>
        <p:nvGrpSpPr>
          <p:cNvPr id="7" name="组合 6"/>
          <p:cNvGrpSpPr/>
          <p:nvPr/>
        </p:nvGrpSpPr>
        <p:grpSpPr>
          <a:xfrm>
            <a:off x="4298373" y="3333742"/>
            <a:ext cx="319409" cy="230685"/>
            <a:chOff x="2774371" y="2476490"/>
            <a:chExt cx="319409" cy="230685"/>
          </a:xfrm>
        </p:grpSpPr>
        <p:sp>
          <p:nvSpPr>
            <p:cNvPr id="40" name="Rectangle 10"/>
            <p:cNvSpPr>
              <a:spLocks noChangeArrowheads="1"/>
            </p:cNvSpPr>
            <p:nvPr/>
          </p:nvSpPr>
          <p:spPr bwMode="auto">
            <a:xfrm>
              <a:off x="2774371" y="2476490"/>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1</a:t>
              </a:r>
            </a:p>
          </p:txBody>
        </p:sp>
        <p:sp>
          <p:nvSpPr>
            <p:cNvPr id="99" name="Rectangle 36"/>
            <p:cNvSpPr>
              <a:spLocks noChangeArrowheads="1"/>
            </p:cNvSpPr>
            <p:nvPr/>
          </p:nvSpPr>
          <p:spPr bwMode="auto">
            <a:xfrm>
              <a:off x="2934075" y="2476490"/>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0</a:t>
              </a:r>
            </a:p>
          </p:txBody>
        </p:sp>
      </p:grpSp>
      <p:sp>
        <p:nvSpPr>
          <p:cNvPr id="100" name="Rectangle 37"/>
          <p:cNvSpPr>
            <a:spLocks noChangeArrowheads="1"/>
          </p:cNvSpPr>
          <p:nvPr/>
        </p:nvSpPr>
        <p:spPr bwMode="auto">
          <a:xfrm>
            <a:off x="5385253" y="3972561"/>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0</a:t>
            </a:r>
          </a:p>
        </p:txBody>
      </p:sp>
      <p:grpSp>
        <p:nvGrpSpPr>
          <p:cNvPr id="4" name="组合 3"/>
          <p:cNvGrpSpPr/>
          <p:nvPr/>
        </p:nvGrpSpPr>
        <p:grpSpPr>
          <a:xfrm>
            <a:off x="5156028" y="4868682"/>
            <a:ext cx="319410" cy="230685"/>
            <a:chOff x="3632028" y="4011430"/>
            <a:chExt cx="319410" cy="230685"/>
          </a:xfrm>
        </p:grpSpPr>
        <p:sp>
          <p:nvSpPr>
            <p:cNvPr id="85" name="Rectangle 22"/>
            <p:cNvSpPr>
              <a:spLocks noChangeArrowheads="1"/>
            </p:cNvSpPr>
            <p:nvPr/>
          </p:nvSpPr>
          <p:spPr bwMode="auto">
            <a:xfrm>
              <a:off x="3632028" y="4011430"/>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1</a:t>
              </a:r>
            </a:p>
          </p:txBody>
        </p:sp>
        <p:sp>
          <p:nvSpPr>
            <p:cNvPr id="101" name="Rectangle 38"/>
            <p:cNvSpPr>
              <a:spLocks noChangeArrowheads="1"/>
            </p:cNvSpPr>
            <p:nvPr/>
          </p:nvSpPr>
          <p:spPr bwMode="auto">
            <a:xfrm>
              <a:off x="3791733" y="4011430"/>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1</a:t>
              </a:r>
            </a:p>
          </p:txBody>
        </p:sp>
      </p:grpSp>
      <p:sp>
        <p:nvSpPr>
          <p:cNvPr id="102" name="Rectangle 39"/>
          <p:cNvSpPr>
            <a:spLocks noChangeArrowheads="1"/>
          </p:cNvSpPr>
          <p:nvPr/>
        </p:nvSpPr>
        <p:spPr bwMode="auto">
          <a:xfrm>
            <a:off x="3593010" y="3972561"/>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0</a:t>
            </a:r>
          </a:p>
        </p:txBody>
      </p:sp>
      <p:grpSp>
        <p:nvGrpSpPr>
          <p:cNvPr id="6" name="组合 5"/>
          <p:cNvGrpSpPr/>
          <p:nvPr/>
        </p:nvGrpSpPr>
        <p:grpSpPr>
          <a:xfrm>
            <a:off x="3599270" y="4868682"/>
            <a:ext cx="319410" cy="230685"/>
            <a:chOff x="2075270" y="4011430"/>
            <a:chExt cx="319410" cy="230685"/>
          </a:xfrm>
        </p:grpSpPr>
        <p:sp>
          <p:nvSpPr>
            <p:cNvPr id="89" name="Rectangle 26"/>
            <p:cNvSpPr>
              <a:spLocks noChangeArrowheads="1"/>
            </p:cNvSpPr>
            <p:nvPr/>
          </p:nvSpPr>
          <p:spPr bwMode="auto">
            <a:xfrm>
              <a:off x="2075270" y="4011430"/>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a:solidFill>
                    <a:srgbClr val="11576A"/>
                  </a:solidFill>
                  <a:latin typeface="微软雅黑" pitchFamily="34" charset="-122"/>
                  <a:ea typeface="微软雅黑" pitchFamily="34" charset="-122"/>
                  <a:sym typeface="MS PGothic" charset="0"/>
                </a:rPr>
                <a:t>1</a:t>
              </a:r>
            </a:p>
          </p:txBody>
        </p:sp>
        <p:sp>
          <p:nvSpPr>
            <p:cNvPr id="103" name="Rectangle 40"/>
            <p:cNvSpPr>
              <a:spLocks noChangeArrowheads="1"/>
            </p:cNvSpPr>
            <p:nvPr/>
          </p:nvSpPr>
          <p:spPr bwMode="auto">
            <a:xfrm>
              <a:off x="2234975" y="4011430"/>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1</a:t>
              </a:r>
            </a:p>
          </p:txBody>
        </p:sp>
      </p:grpSp>
      <p:grpSp>
        <p:nvGrpSpPr>
          <p:cNvPr id="10" name="组合 9"/>
          <p:cNvGrpSpPr/>
          <p:nvPr/>
        </p:nvGrpSpPr>
        <p:grpSpPr>
          <a:xfrm>
            <a:off x="2368524" y="2244793"/>
            <a:ext cx="5942054" cy="984560"/>
            <a:chOff x="844524" y="1387543"/>
            <a:chExt cx="5942054" cy="984560"/>
          </a:xfrm>
        </p:grpSpPr>
        <p:sp>
          <p:nvSpPr>
            <p:cNvPr id="106" name="TextBox 105"/>
            <p:cNvSpPr txBox="1"/>
            <p:nvPr/>
          </p:nvSpPr>
          <p:spPr>
            <a:xfrm>
              <a:off x="1175432" y="1387543"/>
              <a:ext cx="1396304" cy="384721"/>
            </a:xfrm>
            <a:prstGeom prst="rect">
              <a:avLst/>
            </a:prstGeom>
            <a:noFill/>
            <a:effectLst/>
          </p:spPr>
          <p:txBody>
            <a:bodyPr wrap="square" rtlCol="0">
              <a:spAutoFit/>
            </a:bodyPr>
            <a:lstStyle/>
            <a:p>
              <a:pPr marL="0" lvl="1">
                <a:lnSpc>
                  <a:spcPct val="95000"/>
                </a:lnSpc>
                <a:tabLst>
                  <a:tab pos="715963" algn="l"/>
                </a:tabLst>
              </a:pPr>
              <a:r>
                <a:rPr lang="zh-CN" altLang="en-US" sz="2000" b="1" dirty="0">
                  <a:solidFill>
                    <a:srgbClr val="11576A"/>
                  </a:solidFill>
                  <a:latin typeface="微软雅黑" pitchFamily="34" charset="-122"/>
                  <a:ea typeface="微软雅黑" pitchFamily="34" charset="-122"/>
                </a:rPr>
                <a:t>算法</a:t>
              </a:r>
            </a:p>
          </p:txBody>
        </p:sp>
        <p:sp>
          <p:nvSpPr>
            <p:cNvPr id="108" name="TextBox 107"/>
            <p:cNvSpPr txBox="1"/>
            <p:nvPr/>
          </p:nvSpPr>
          <p:spPr>
            <a:xfrm>
              <a:off x="1431020" y="1711395"/>
              <a:ext cx="5212682" cy="369332"/>
            </a:xfrm>
            <a:prstGeom prst="rect">
              <a:avLst/>
            </a:prstGeom>
            <a:noFill/>
            <a:effectLst/>
          </p:spPr>
          <p:txBody>
            <a:bodyPr wrap="square" rtlCol="0">
              <a:spAutoFit/>
            </a:bodyPr>
            <a:lstStyle/>
            <a:p>
              <a:pPr marL="0" lvl="1"/>
              <a:r>
                <a:rPr lang="zh-CN" altLang="en-US" b="1" dirty="0">
                  <a:solidFill>
                    <a:srgbClr val="11576A"/>
                  </a:solidFill>
                  <a:latin typeface="微软雅黑" pitchFamily="34" charset="-122"/>
                  <a:ea typeface="微软雅黑" pitchFamily="34" charset="-122"/>
                </a:rPr>
                <a:t>在页面中增加修改位，并在访问时进行相应修改</a:t>
              </a:r>
            </a:p>
          </p:txBody>
        </p:sp>
        <p:sp>
          <p:nvSpPr>
            <p:cNvPr id="109" name="TextBox 108"/>
            <p:cNvSpPr txBox="1"/>
            <p:nvPr/>
          </p:nvSpPr>
          <p:spPr>
            <a:xfrm>
              <a:off x="1431021" y="2002771"/>
              <a:ext cx="5355557" cy="369332"/>
            </a:xfrm>
            <a:prstGeom prst="rect">
              <a:avLst/>
            </a:prstGeom>
            <a:noFill/>
            <a:effectLst/>
          </p:spPr>
          <p:txBody>
            <a:bodyPr wrap="square" rtlCol="0">
              <a:spAutoFit/>
            </a:bodyPr>
            <a:lstStyle/>
            <a:p>
              <a:pPr marL="0" lvl="1"/>
              <a:r>
                <a:rPr lang="zh-CN" altLang="en-US" b="1" dirty="0">
                  <a:solidFill>
                    <a:srgbClr val="11576A"/>
                  </a:solidFill>
                  <a:latin typeface="微软雅黑" pitchFamily="34" charset="-122"/>
                  <a:ea typeface="微软雅黑" pitchFamily="34" charset="-122"/>
                </a:rPr>
                <a:t>缺页时，修改页面标志位，以跳过有修改的页面</a:t>
              </a:r>
              <a:endParaRPr lang="en-US" altLang="zh-CN" b="1" dirty="0">
                <a:solidFill>
                  <a:srgbClr val="11576A"/>
                </a:solidFill>
                <a:latin typeface="微软雅黑" pitchFamily="34" charset="-122"/>
                <a:ea typeface="微软雅黑" pitchFamily="34" charset="-122"/>
              </a:endParaRPr>
            </a:p>
          </p:txBody>
        </p:sp>
        <p:pic>
          <p:nvPicPr>
            <p:cNvPr id="110" name="图片 109" descr="小点1.png"/>
            <p:cNvPicPr>
              <a:picLocks noChangeAspect="1"/>
            </p:cNvPicPr>
            <p:nvPr/>
          </p:nvPicPr>
          <p:blipFill>
            <a:blip r:embed="rId2" cstate="print"/>
            <a:stretch>
              <a:fillRect/>
            </a:stretch>
          </p:blipFill>
          <p:spPr>
            <a:xfrm>
              <a:off x="1284441" y="2096154"/>
              <a:ext cx="151066" cy="148997"/>
            </a:xfrm>
            <a:prstGeom prst="rect">
              <a:avLst/>
            </a:prstGeom>
            <a:effectLst/>
          </p:spPr>
        </p:pic>
        <p:pic>
          <p:nvPicPr>
            <p:cNvPr id="111" name="图片 110" descr="小点1.png"/>
            <p:cNvPicPr>
              <a:picLocks noChangeAspect="1"/>
            </p:cNvPicPr>
            <p:nvPr/>
          </p:nvPicPr>
          <p:blipFill>
            <a:blip r:embed="rId2" cstate="print"/>
            <a:stretch>
              <a:fillRect/>
            </a:stretch>
          </p:blipFill>
          <p:spPr>
            <a:xfrm>
              <a:off x="1284441" y="1820404"/>
              <a:ext cx="151066" cy="148997"/>
            </a:xfrm>
            <a:prstGeom prst="rect">
              <a:avLst/>
            </a:prstGeom>
            <a:effectLst/>
          </p:spPr>
        </p:pic>
        <p:sp>
          <p:nvSpPr>
            <p:cNvPr id="113" name="TextBox 112"/>
            <p:cNvSpPr txBox="1"/>
            <p:nvPr/>
          </p:nvSpPr>
          <p:spPr>
            <a:xfrm>
              <a:off x="844524" y="1387543"/>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9" name="组合 8"/>
          <p:cNvGrpSpPr/>
          <p:nvPr/>
        </p:nvGrpSpPr>
        <p:grpSpPr>
          <a:xfrm>
            <a:off x="2368524" y="1604952"/>
            <a:ext cx="3727476" cy="719113"/>
            <a:chOff x="844524" y="747700"/>
            <a:chExt cx="3727476" cy="719113"/>
          </a:xfrm>
        </p:grpSpPr>
        <p:sp>
          <p:nvSpPr>
            <p:cNvPr id="105" name="TextBox 104"/>
            <p:cNvSpPr txBox="1"/>
            <p:nvPr/>
          </p:nvSpPr>
          <p:spPr>
            <a:xfrm>
              <a:off x="1175432" y="747700"/>
              <a:ext cx="1396304" cy="384721"/>
            </a:xfrm>
            <a:prstGeom prst="rect">
              <a:avLst/>
            </a:prstGeom>
            <a:noFill/>
            <a:effectLst/>
          </p:spPr>
          <p:txBody>
            <a:bodyPr wrap="square" rtlCol="0">
              <a:spAutoFit/>
            </a:bodyPr>
            <a:lstStyle/>
            <a:p>
              <a:pPr marL="0" lvl="1">
                <a:lnSpc>
                  <a:spcPct val="95000"/>
                </a:lnSpc>
                <a:tabLst>
                  <a:tab pos="715963" algn="l"/>
                </a:tabLst>
              </a:pPr>
              <a:r>
                <a:rPr lang="zh-CN" altLang="en-US" sz="2000" b="1" dirty="0">
                  <a:solidFill>
                    <a:srgbClr val="11576A"/>
                  </a:solidFill>
                  <a:latin typeface="微软雅黑" pitchFamily="34" charset="-122"/>
                  <a:ea typeface="微软雅黑" pitchFamily="34" charset="-122"/>
                </a:rPr>
                <a:t>思路</a:t>
              </a:r>
            </a:p>
          </p:txBody>
        </p:sp>
        <p:sp>
          <p:nvSpPr>
            <p:cNvPr id="107" name="TextBox 106"/>
            <p:cNvSpPr txBox="1"/>
            <p:nvPr/>
          </p:nvSpPr>
          <p:spPr>
            <a:xfrm>
              <a:off x="1431021" y="1097481"/>
              <a:ext cx="3140979" cy="369332"/>
            </a:xfrm>
            <a:prstGeom prst="rect">
              <a:avLst/>
            </a:prstGeom>
            <a:noFill/>
            <a:effectLst/>
          </p:spPr>
          <p:txBody>
            <a:bodyPr wrap="square" rtlCol="0">
              <a:spAutoFit/>
            </a:bodyPr>
            <a:lstStyle/>
            <a:p>
              <a:pPr marL="0" lvl="1"/>
              <a:r>
                <a:rPr lang="zh-CN" altLang="en-US" b="1" dirty="0">
                  <a:solidFill>
                    <a:srgbClr val="11576A"/>
                  </a:solidFill>
                  <a:latin typeface="微软雅黑" pitchFamily="34" charset="-122"/>
                  <a:ea typeface="微软雅黑" pitchFamily="34" charset="-122"/>
                </a:rPr>
                <a:t>减少修改页的缺页处理开销</a:t>
              </a:r>
              <a:endParaRPr lang="en-US" altLang="zh-CN" b="1" dirty="0">
                <a:solidFill>
                  <a:srgbClr val="11576A"/>
                </a:solidFill>
                <a:latin typeface="微软雅黑" pitchFamily="34" charset="-122"/>
                <a:ea typeface="微软雅黑" pitchFamily="34" charset="-122"/>
              </a:endParaRPr>
            </a:p>
          </p:txBody>
        </p:sp>
        <p:pic>
          <p:nvPicPr>
            <p:cNvPr id="112" name="图片 111" descr="小点1.png"/>
            <p:cNvPicPr>
              <a:picLocks noChangeAspect="1"/>
            </p:cNvPicPr>
            <p:nvPr/>
          </p:nvPicPr>
          <p:blipFill>
            <a:blip r:embed="rId2" cstate="print"/>
            <a:stretch>
              <a:fillRect/>
            </a:stretch>
          </p:blipFill>
          <p:spPr>
            <a:xfrm>
              <a:off x="1284441" y="1195201"/>
              <a:ext cx="151066" cy="148997"/>
            </a:xfrm>
            <a:prstGeom prst="rect">
              <a:avLst/>
            </a:prstGeom>
            <a:effectLst/>
          </p:spPr>
        </p:pic>
        <p:sp>
          <p:nvSpPr>
            <p:cNvPr id="114" name="TextBox 113"/>
            <p:cNvSpPr txBox="1"/>
            <p:nvPr/>
          </p:nvSpPr>
          <p:spPr>
            <a:xfrm>
              <a:off x="844524" y="74770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grpSp>
      <p:grpSp>
        <p:nvGrpSpPr>
          <p:cNvPr id="11" name="组合 10"/>
          <p:cNvGrpSpPr/>
          <p:nvPr/>
        </p:nvGrpSpPr>
        <p:grpSpPr>
          <a:xfrm>
            <a:off x="6198932" y="3407832"/>
            <a:ext cx="2563742" cy="1937544"/>
            <a:chOff x="4693954" y="2663479"/>
            <a:chExt cx="2563742" cy="1937544"/>
          </a:xfrm>
        </p:grpSpPr>
        <p:sp>
          <p:nvSpPr>
            <p:cNvPr id="140" name="Rectangle 2"/>
            <p:cNvSpPr>
              <a:spLocks noChangeArrowheads="1"/>
            </p:cNvSpPr>
            <p:nvPr/>
          </p:nvSpPr>
          <p:spPr bwMode="auto">
            <a:xfrm>
              <a:off x="4693954" y="2663479"/>
              <a:ext cx="2563742" cy="1937544"/>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miter lim="800000"/>
              <a:headEnd/>
              <a:tailEnd/>
            </a:ln>
          </p:spPr>
          <p:txBody>
            <a:bodyPr wrap="none" anchor="ctr"/>
            <a:lstStyle/>
            <a:p>
              <a:endParaRPr lang="zh-CN" altLang="en-US" sz="1600" b="1">
                <a:solidFill>
                  <a:srgbClr val="11576A"/>
                </a:solidFill>
                <a:latin typeface="微软雅黑" pitchFamily="34" charset="-122"/>
                <a:ea typeface="微软雅黑" pitchFamily="34" charset="-122"/>
                <a:sym typeface="Times" charset="0"/>
              </a:endParaRPr>
            </a:p>
          </p:txBody>
        </p:sp>
        <p:sp>
          <p:nvSpPr>
            <p:cNvPr id="141" name="Rectangle 3"/>
            <p:cNvSpPr>
              <a:spLocks noChangeArrowheads="1"/>
            </p:cNvSpPr>
            <p:nvPr/>
          </p:nvSpPr>
          <p:spPr bwMode="auto">
            <a:xfrm>
              <a:off x="4833150" y="3176722"/>
              <a:ext cx="1027812" cy="1339244"/>
            </a:xfrm>
            <a:prstGeom prst="rect">
              <a:avLst/>
            </a:prstGeom>
            <a:noFill/>
            <a:ln w="28575">
              <a:solidFill>
                <a:srgbClr val="11576A"/>
              </a:solid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sz="1600" b="1">
                <a:solidFill>
                  <a:srgbClr val="11576A"/>
                </a:solidFill>
                <a:latin typeface="微软雅黑" pitchFamily="34" charset="-122"/>
                <a:ea typeface="微软雅黑" pitchFamily="34" charset="-122"/>
                <a:sym typeface="Times" charset="0"/>
              </a:endParaRPr>
            </a:p>
          </p:txBody>
        </p:sp>
        <p:sp>
          <p:nvSpPr>
            <p:cNvPr id="142" name="Text Box 41"/>
            <p:cNvSpPr>
              <a:spLocks noChangeArrowheads="1"/>
            </p:cNvSpPr>
            <p:nvPr/>
          </p:nvSpPr>
          <p:spPr bwMode="auto">
            <a:xfrm>
              <a:off x="4749978" y="2788484"/>
              <a:ext cx="1210588" cy="2704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lnSpc>
                  <a:spcPct val="70000"/>
                </a:lnSpc>
              </a:pPr>
              <a:r>
                <a:rPr lang="zh-CN" altLang="en-US" sz="1600" b="1" dirty="0">
                  <a:solidFill>
                    <a:srgbClr val="11576A"/>
                  </a:solidFill>
                  <a:latin typeface="微软雅黑" pitchFamily="34" charset="-122"/>
                  <a:ea typeface="微软雅黑" pitchFamily="34" charset="-122"/>
                  <a:sym typeface="MS PGothic" charset="0"/>
                </a:rPr>
                <a:t>指针扫过前</a:t>
              </a:r>
            </a:p>
          </p:txBody>
        </p:sp>
        <p:sp>
          <p:nvSpPr>
            <p:cNvPr id="143" name="Text Box 42"/>
            <p:cNvSpPr>
              <a:spLocks noChangeArrowheads="1"/>
            </p:cNvSpPr>
            <p:nvPr/>
          </p:nvSpPr>
          <p:spPr bwMode="auto">
            <a:xfrm>
              <a:off x="5972121" y="2788484"/>
              <a:ext cx="1210588" cy="2704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lnSpc>
                  <a:spcPct val="70000"/>
                </a:lnSpc>
              </a:pPr>
              <a:r>
                <a:rPr lang="zh-CN" altLang="en-US" sz="1600" b="1" dirty="0">
                  <a:solidFill>
                    <a:srgbClr val="11576A"/>
                  </a:solidFill>
                  <a:latin typeface="微软雅黑" pitchFamily="34" charset="-122"/>
                  <a:ea typeface="微软雅黑" pitchFamily="34" charset="-122"/>
                  <a:sym typeface="MS PGothic" charset="0"/>
                </a:rPr>
                <a:t>指针扫过后</a:t>
              </a:r>
            </a:p>
          </p:txBody>
        </p:sp>
        <p:sp>
          <p:nvSpPr>
            <p:cNvPr id="144" name="Text Box 43"/>
            <p:cNvSpPr>
              <a:spLocks noChangeArrowheads="1"/>
            </p:cNvSpPr>
            <p:nvPr/>
          </p:nvSpPr>
          <p:spPr bwMode="auto">
            <a:xfrm>
              <a:off x="4765858" y="3222003"/>
              <a:ext cx="60785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zh-CN" altLang="en-US" sz="1200" b="1" spc="-100" dirty="0">
                  <a:solidFill>
                    <a:srgbClr val="11576A"/>
                  </a:solidFill>
                  <a:latin typeface="微软雅黑" pitchFamily="34" charset="-122"/>
                  <a:ea typeface="微软雅黑" pitchFamily="34" charset="-122"/>
                  <a:sym typeface="MS PGothic" charset="0"/>
                </a:rPr>
                <a:t>使用位</a:t>
              </a:r>
            </a:p>
          </p:txBody>
        </p:sp>
        <p:sp>
          <p:nvSpPr>
            <p:cNvPr id="145" name="Text Box 44"/>
            <p:cNvSpPr>
              <a:spLocks noChangeArrowheads="1"/>
            </p:cNvSpPr>
            <p:nvPr/>
          </p:nvSpPr>
          <p:spPr bwMode="auto">
            <a:xfrm>
              <a:off x="5303073" y="3214627"/>
              <a:ext cx="60785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zh-CN" altLang="en-US" sz="1200" b="1" spc="-100" dirty="0">
                  <a:solidFill>
                    <a:srgbClr val="11576A"/>
                  </a:solidFill>
                  <a:latin typeface="微软雅黑" pitchFamily="34" charset="-122"/>
                  <a:ea typeface="微软雅黑" pitchFamily="34" charset="-122"/>
                  <a:sym typeface="MS PGothic" charset="0"/>
                </a:rPr>
                <a:t>修改位</a:t>
              </a:r>
            </a:p>
          </p:txBody>
        </p:sp>
        <p:sp>
          <p:nvSpPr>
            <p:cNvPr id="146" name="Text Box 45"/>
            <p:cNvSpPr>
              <a:spLocks noChangeArrowheads="1"/>
            </p:cNvSpPr>
            <p:nvPr/>
          </p:nvSpPr>
          <p:spPr bwMode="auto">
            <a:xfrm>
              <a:off x="5004048" y="3501785"/>
              <a:ext cx="311304" cy="1077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en-US" altLang="zh-CN" sz="1600" b="1">
                  <a:solidFill>
                    <a:srgbClr val="11576A"/>
                  </a:solidFill>
                  <a:latin typeface="微软雅黑" pitchFamily="34" charset="-122"/>
                  <a:ea typeface="微软雅黑" pitchFamily="34" charset="-122"/>
                  <a:sym typeface="MS PGothic" charset="0"/>
                </a:rPr>
                <a:t>0</a:t>
              </a:r>
            </a:p>
            <a:p>
              <a:pPr eaLnBrk="1" hangingPunct="1"/>
              <a:r>
                <a:rPr lang="en-US" altLang="zh-CN" sz="1600" b="1">
                  <a:solidFill>
                    <a:srgbClr val="11576A"/>
                  </a:solidFill>
                  <a:latin typeface="微软雅黑" pitchFamily="34" charset="-122"/>
                  <a:ea typeface="微软雅黑" pitchFamily="34" charset="-122"/>
                  <a:sym typeface="MS PGothic" charset="0"/>
                </a:rPr>
                <a:t>0</a:t>
              </a:r>
            </a:p>
            <a:p>
              <a:pPr eaLnBrk="1" hangingPunct="1"/>
              <a:r>
                <a:rPr lang="en-US" altLang="zh-CN" sz="1600" b="1">
                  <a:solidFill>
                    <a:srgbClr val="11576A"/>
                  </a:solidFill>
                  <a:latin typeface="微软雅黑" pitchFamily="34" charset="-122"/>
                  <a:ea typeface="微软雅黑" pitchFamily="34" charset="-122"/>
                  <a:sym typeface="MS PGothic" charset="0"/>
                </a:rPr>
                <a:t>1</a:t>
              </a:r>
            </a:p>
            <a:p>
              <a:pPr eaLnBrk="1" hangingPunct="1"/>
              <a:r>
                <a:rPr lang="en-US" altLang="zh-CN" sz="1600" b="1">
                  <a:solidFill>
                    <a:srgbClr val="11576A"/>
                  </a:solidFill>
                  <a:latin typeface="微软雅黑" pitchFamily="34" charset="-122"/>
                  <a:ea typeface="微软雅黑" pitchFamily="34" charset="-122"/>
                  <a:sym typeface="MS PGothic" charset="0"/>
                </a:rPr>
                <a:t>1</a:t>
              </a:r>
            </a:p>
          </p:txBody>
        </p:sp>
        <p:sp>
          <p:nvSpPr>
            <p:cNvPr id="147" name="Text Box 46"/>
            <p:cNvSpPr>
              <a:spLocks noChangeArrowheads="1"/>
            </p:cNvSpPr>
            <p:nvPr/>
          </p:nvSpPr>
          <p:spPr bwMode="auto">
            <a:xfrm>
              <a:off x="5404920" y="3501785"/>
              <a:ext cx="311304" cy="1077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en-US" altLang="zh-CN" sz="1600" b="1" dirty="0">
                  <a:solidFill>
                    <a:srgbClr val="11576A"/>
                  </a:solidFill>
                  <a:latin typeface="微软雅黑" pitchFamily="34" charset="-122"/>
                  <a:ea typeface="微软雅黑" pitchFamily="34" charset="-122"/>
                  <a:sym typeface="MS PGothic" charset="0"/>
                </a:rPr>
                <a:t>0</a:t>
              </a:r>
            </a:p>
            <a:p>
              <a:pPr eaLnBrk="1" hangingPunct="1"/>
              <a:r>
                <a:rPr lang="en-US" altLang="zh-CN" sz="1600" b="1" dirty="0">
                  <a:solidFill>
                    <a:srgbClr val="11576A"/>
                  </a:solidFill>
                  <a:latin typeface="微软雅黑" pitchFamily="34" charset="-122"/>
                  <a:ea typeface="微软雅黑" pitchFamily="34" charset="-122"/>
                  <a:sym typeface="MS PGothic" charset="0"/>
                </a:rPr>
                <a:t>1</a:t>
              </a:r>
            </a:p>
            <a:p>
              <a:pPr eaLnBrk="1" hangingPunct="1"/>
              <a:r>
                <a:rPr lang="en-US" altLang="zh-CN" sz="1600" b="1" dirty="0">
                  <a:solidFill>
                    <a:srgbClr val="11576A"/>
                  </a:solidFill>
                  <a:latin typeface="微软雅黑" pitchFamily="34" charset="-122"/>
                  <a:ea typeface="微软雅黑" pitchFamily="34" charset="-122"/>
                  <a:sym typeface="MS PGothic" charset="0"/>
                </a:rPr>
                <a:t>0</a:t>
              </a:r>
            </a:p>
            <a:p>
              <a:pPr eaLnBrk="1" hangingPunct="1"/>
              <a:r>
                <a:rPr lang="en-US" altLang="zh-CN" sz="1600" b="1" dirty="0">
                  <a:solidFill>
                    <a:srgbClr val="11576A"/>
                  </a:solidFill>
                  <a:latin typeface="微软雅黑" pitchFamily="34" charset="-122"/>
                  <a:ea typeface="微软雅黑" pitchFamily="34" charset="-122"/>
                  <a:sym typeface="MS PGothic" charset="0"/>
                </a:rPr>
                <a:t>1</a:t>
              </a:r>
            </a:p>
          </p:txBody>
        </p:sp>
        <p:sp>
          <p:nvSpPr>
            <p:cNvPr id="148" name="Line 47"/>
            <p:cNvSpPr>
              <a:spLocks noChangeShapeType="1"/>
            </p:cNvSpPr>
            <p:nvPr/>
          </p:nvSpPr>
          <p:spPr bwMode="auto">
            <a:xfrm>
              <a:off x="4833150" y="3486982"/>
              <a:ext cx="1027812"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sz="1600" b="1">
                <a:solidFill>
                  <a:srgbClr val="11576A"/>
                </a:solidFill>
                <a:latin typeface="微软雅黑" pitchFamily="34" charset="-122"/>
                <a:ea typeface="微软雅黑" pitchFamily="34" charset="-122"/>
              </a:endParaRPr>
            </a:p>
          </p:txBody>
        </p:sp>
        <p:sp>
          <p:nvSpPr>
            <p:cNvPr id="149" name="Rectangle 48"/>
            <p:cNvSpPr>
              <a:spLocks noChangeArrowheads="1"/>
            </p:cNvSpPr>
            <p:nvPr/>
          </p:nvSpPr>
          <p:spPr bwMode="auto">
            <a:xfrm>
              <a:off x="6133188" y="3176722"/>
              <a:ext cx="1043607" cy="1339244"/>
            </a:xfrm>
            <a:prstGeom prst="rect">
              <a:avLst/>
            </a:prstGeom>
            <a:noFill/>
            <a:ln w="28575">
              <a:solidFill>
                <a:srgbClr val="11576A"/>
              </a:solid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sz="1600" b="1">
                <a:solidFill>
                  <a:srgbClr val="11576A"/>
                </a:solidFill>
                <a:latin typeface="微软雅黑" pitchFamily="34" charset="-122"/>
                <a:ea typeface="微软雅黑" pitchFamily="34" charset="-122"/>
                <a:sym typeface="Times" charset="0"/>
              </a:endParaRPr>
            </a:p>
          </p:txBody>
        </p:sp>
        <p:grpSp>
          <p:nvGrpSpPr>
            <p:cNvPr id="150" name="Group 49"/>
            <p:cNvGrpSpPr>
              <a:grpSpLocks/>
            </p:cNvGrpSpPr>
            <p:nvPr/>
          </p:nvGrpSpPr>
          <p:grpSpPr bwMode="auto">
            <a:xfrm>
              <a:off x="6279064" y="3214627"/>
              <a:ext cx="584653" cy="338846"/>
              <a:chOff x="121" y="0"/>
              <a:chExt cx="509" cy="295"/>
            </a:xfrm>
          </p:grpSpPr>
          <p:sp>
            <p:nvSpPr>
              <p:cNvPr id="151" name="Text Box 50"/>
              <p:cNvSpPr>
                <a:spLocks noChangeArrowheads="1"/>
              </p:cNvSpPr>
              <p:nvPr/>
            </p:nvSpPr>
            <p:spPr bwMode="auto">
              <a:xfrm>
                <a:off x="121" y="0"/>
                <a:ext cx="161" cy="2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endParaRPr lang="zh-CN" altLang="en-US" sz="1600" b="1" dirty="0">
                  <a:solidFill>
                    <a:srgbClr val="11576A"/>
                  </a:solidFill>
                  <a:latin typeface="微软雅黑" pitchFamily="34" charset="-122"/>
                  <a:ea typeface="微软雅黑" pitchFamily="34" charset="-122"/>
                  <a:sym typeface="MS PGothic" charset="0"/>
                </a:endParaRPr>
              </a:p>
            </p:txBody>
          </p:sp>
          <p:sp>
            <p:nvSpPr>
              <p:cNvPr id="152" name="Text Box 51"/>
              <p:cNvSpPr>
                <a:spLocks noChangeArrowheads="1"/>
              </p:cNvSpPr>
              <p:nvPr/>
            </p:nvSpPr>
            <p:spPr bwMode="auto">
              <a:xfrm>
                <a:off x="469" y="0"/>
                <a:ext cx="161" cy="2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endParaRPr lang="zh-CN" altLang="en-US" sz="1600" b="1" dirty="0">
                  <a:solidFill>
                    <a:srgbClr val="11576A"/>
                  </a:solidFill>
                  <a:latin typeface="微软雅黑" pitchFamily="34" charset="-122"/>
                  <a:ea typeface="微软雅黑" pitchFamily="34" charset="-122"/>
                  <a:sym typeface="MS PGothic" charset="0"/>
                </a:endParaRPr>
              </a:p>
            </p:txBody>
          </p:sp>
        </p:grpSp>
        <p:grpSp>
          <p:nvGrpSpPr>
            <p:cNvPr id="153" name="Group 52"/>
            <p:cNvGrpSpPr>
              <a:grpSpLocks/>
            </p:cNvGrpSpPr>
            <p:nvPr/>
          </p:nvGrpSpPr>
          <p:grpSpPr bwMode="auto">
            <a:xfrm>
              <a:off x="6301370" y="3722322"/>
              <a:ext cx="712150" cy="830460"/>
              <a:chOff x="0" y="0"/>
              <a:chExt cx="620" cy="723"/>
            </a:xfrm>
          </p:grpSpPr>
          <p:sp>
            <p:nvSpPr>
              <p:cNvPr id="154" name="Text Box 53"/>
              <p:cNvSpPr>
                <a:spLocks noChangeArrowheads="1"/>
              </p:cNvSpPr>
              <p:nvPr/>
            </p:nvSpPr>
            <p:spPr bwMode="auto">
              <a:xfrm>
                <a:off x="0" y="0"/>
                <a:ext cx="271" cy="7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en-US" altLang="zh-CN" sz="1600" b="1">
                    <a:solidFill>
                      <a:srgbClr val="11576A"/>
                    </a:solidFill>
                    <a:latin typeface="微软雅黑" pitchFamily="34" charset="-122"/>
                    <a:ea typeface="微软雅黑" pitchFamily="34" charset="-122"/>
                    <a:sym typeface="MS PGothic" charset="0"/>
                  </a:rPr>
                  <a:t>0</a:t>
                </a:r>
              </a:p>
              <a:p>
                <a:pPr eaLnBrk="1" hangingPunct="1"/>
                <a:r>
                  <a:rPr lang="en-US" altLang="zh-CN" sz="1600" b="1">
                    <a:solidFill>
                      <a:srgbClr val="11576A"/>
                    </a:solidFill>
                    <a:latin typeface="微软雅黑" pitchFamily="34" charset="-122"/>
                    <a:ea typeface="微软雅黑" pitchFamily="34" charset="-122"/>
                    <a:sym typeface="MS PGothic" charset="0"/>
                  </a:rPr>
                  <a:t>0</a:t>
                </a:r>
              </a:p>
              <a:p>
                <a:pPr eaLnBrk="1" hangingPunct="1"/>
                <a:r>
                  <a:rPr lang="en-US" altLang="zh-CN" sz="1600" b="1">
                    <a:solidFill>
                      <a:srgbClr val="11576A"/>
                    </a:solidFill>
                    <a:latin typeface="微软雅黑" pitchFamily="34" charset="-122"/>
                    <a:ea typeface="微软雅黑" pitchFamily="34" charset="-122"/>
                    <a:sym typeface="MS PGothic" charset="0"/>
                  </a:rPr>
                  <a:t>0</a:t>
                </a:r>
              </a:p>
            </p:txBody>
          </p:sp>
          <p:sp>
            <p:nvSpPr>
              <p:cNvPr id="155" name="Text Box 54"/>
              <p:cNvSpPr>
                <a:spLocks noChangeArrowheads="1"/>
              </p:cNvSpPr>
              <p:nvPr/>
            </p:nvSpPr>
            <p:spPr bwMode="auto">
              <a:xfrm>
                <a:off x="349" y="0"/>
                <a:ext cx="271" cy="7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en-US" altLang="zh-CN" sz="1600" b="1">
                    <a:solidFill>
                      <a:srgbClr val="11576A"/>
                    </a:solidFill>
                    <a:latin typeface="微软雅黑" pitchFamily="34" charset="-122"/>
                    <a:ea typeface="微软雅黑" pitchFamily="34" charset="-122"/>
                    <a:sym typeface="MS PGothic" charset="0"/>
                  </a:rPr>
                  <a:t>0</a:t>
                </a:r>
              </a:p>
              <a:p>
                <a:pPr eaLnBrk="1" hangingPunct="1"/>
                <a:r>
                  <a:rPr lang="en-US" altLang="zh-CN" sz="1600" b="1">
                    <a:solidFill>
                      <a:srgbClr val="11576A"/>
                    </a:solidFill>
                    <a:latin typeface="微软雅黑" pitchFamily="34" charset="-122"/>
                    <a:ea typeface="微软雅黑" pitchFamily="34" charset="-122"/>
                    <a:sym typeface="MS PGothic" charset="0"/>
                  </a:rPr>
                  <a:t>0</a:t>
                </a:r>
              </a:p>
              <a:p>
                <a:pPr eaLnBrk="1" hangingPunct="1"/>
                <a:r>
                  <a:rPr lang="en-US" altLang="zh-CN" sz="1600" b="1">
                    <a:solidFill>
                      <a:srgbClr val="11576A"/>
                    </a:solidFill>
                    <a:latin typeface="微软雅黑" pitchFamily="34" charset="-122"/>
                    <a:ea typeface="微软雅黑" pitchFamily="34" charset="-122"/>
                    <a:sym typeface="MS PGothic" charset="0"/>
                  </a:rPr>
                  <a:t>1</a:t>
                </a:r>
              </a:p>
            </p:txBody>
          </p:sp>
        </p:grpSp>
        <p:sp>
          <p:nvSpPr>
            <p:cNvPr id="156" name="Text Box 55"/>
            <p:cNvSpPr>
              <a:spLocks noChangeArrowheads="1"/>
            </p:cNvSpPr>
            <p:nvPr/>
          </p:nvSpPr>
          <p:spPr bwMode="auto">
            <a:xfrm>
              <a:off x="6122935" y="3453542"/>
              <a:ext cx="808235"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eaLnBrk="1" hangingPunct="1"/>
              <a:r>
                <a:rPr lang="zh-CN" altLang="zh-CN" sz="1400" b="1" dirty="0">
                  <a:solidFill>
                    <a:srgbClr val="11576A"/>
                  </a:solidFill>
                  <a:latin typeface="微软雅黑" pitchFamily="34" charset="-122"/>
                  <a:ea typeface="微软雅黑" pitchFamily="34" charset="-122"/>
                  <a:sym typeface="MS PGothic" charset="0"/>
                </a:rPr>
                <a:t> </a:t>
              </a:r>
              <a:r>
                <a:rPr lang="zh-CN" altLang="en-US" sz="1400" b="1" dirty="0">
                  <a:solidFill>
                    <a:srgbClr val="11576A"/>
                  </a:solidFill>
                  <a:latin typeface="微软雅黑" pitchFamily="34" charset="-122"/>
                  <a:ea typeface="微软雅黑" pitchFamily="34" charset="-122"/>
                  <a:sym typeface="MS PGothic" charset="0"/>
                </a:rPr>
                <a:t>    置换</a:t>
              </a:r>
            </a:p>
          </p:txBody>
        </p:sp>
        <p:sp>
          <p:nvSpPr>
            <p:cNvPr id="157" name="Line 56"/>
            <p:cNvSpPr>
              <a:spLocks noChangeShapeType="1"/>
            </p:cNvSpPr>
            <p:nvPr/>
          </p:nvSpPr>
          <p:spPr bwMode="auto">
            <a:xfrm>
              <a:off x="6127444" y="3483471"/>
              <a:ext cx="1049351"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sz="1600" b="1">
                <a:solidFill>
                  <a:srgbClr val="11576A"/>
                </a:solidFill>
                <a:latin typeface="微软雅黑" pitchFamily="34" charset="-122"/>
                <a:ea typeface="微软雅黑" pitchFamily="34" charset="-122"/>
              </a:endParaRPr>
            </a:p>
          </p:txBody>
        </p:sp>
        <p:cxnSp>
          <p:nvCxnSpPr>
            <p:cNvPr id="158" name="直接箭头连接符 58"/>
            <p:cNvCxnSpPr>
              <a:cxnSpLocks noChangeShapeType="1"/>
            </p:cNvCxnSpPr>
            <p:nvPr/>
          </p:nvCxnSpPr>
          <p:spPr bwMode="auto">
            <a:xfrm>
              <a:off x="5869003" y="3617796"/>
              <a:ext cx="258441" cy="1149"/>
            </a:xfrm>
            <a:prstGeom prst="straightConnector1">
              <a:avLst/>
            </a:prstGeom>
            <a:noFill/>
            <a:ln w="28575">
              <a:solidFill>
                <a:srgbClr val="11576A"/>
              </a:solidFill>
              <a:round/>
              <a:headEnd type="none"/>
              <a:tailEnd type="triangle" w="med" len="med"/>
            </a:ln>
            <a:extLst>
              <a:ext uri="{909E8E84-426E-40dd-AFC4-6F175D3DCCD1}">
                <a14:hiddenFill xmlns:a14="http://schemas.microsoft.com/office/drawing/2010/main" xmlns="">
                  <a:noFill/>
                </a14:hiddenFill>
              </a:ext>
            </a:extLst>
          </p:spPr>
        </p:cxnSp>
        <p:cxnSp>
          <p:nvCxnSpPr>
            <p:cNvPr id="159" name="直接箭头连接符 59"/>
            <p:cNvCxnSpPr>
              <a:cxnSpLocks noChangeShapeType="1"/>
            </p:cNvCxnSpPr>
            <p:nvPr/>
          </p:nvCxnSpPr>
          <p:spPr bwMode="auto">
            <a:xfrm>
              <a:off x="5869003" y="3876238"/>
              <a:ext cx="258441" cy="1148"/>
            </a:xfrm>
            <a:prstGeom prst="straightConnector1">
              <a:avLst/>
            </a:prstGeom>
            <a:noFill/>
            <a:ln w="28575">
              <a:solidFill>
                <a:srgbClr val="11576A"/>
              </a:solidFill>
              <a:round/>
              <a:headEnd type="none"/>
              <a:tailEnd type="triangle" w="med" len="med"/>
            </a:ln>
            <a:extLst>
              <a:ext uri="{909E8E84-426E-40dd-AFC4-6F175D3DCCD1}">
                <a14:hiddenFill xmlns:a14="http://schemas.microsoft.com/office/drawing/2010/main" xmlns="">
                  <a:noFill/>
                </a14:hiddenFill>
              </a:ext>
            </a:extLst>
          </p:spPr>
        </p:cxnSp>
        <p:cxnSp>
          <p:nvCxnSpPr>
            <p:cNvPr id="160" name="直接箭头连接符 60"/>
            <p:cNvCxnSpPr>
              <a:cxnSpLocks noChangeShapeType="1"/>
            </p:cNvCxnSpPr>
            <p:nvPr/>
          </p:nvCxnSpPr>
          <p:spPr bwMode="auto">
            <a:xfrm>
              <a:off x="5869003" y="4140141"/>
              <a:ext cx="258441" cy="1148"/>
            </a:xfrm>
            <a:prstGeom prst="straightConnector1">
              <a:avLst/>
            </a:prstGeom>
            <a:noFill/>
            <a:ln w="28575">
              <a:solidFill>
                <a:srgbClr val="11576A"/>
              </a:solidFill>
              <a:round/>
              <a:headEnd type="none"/>
              <a:tailEnd type="triangle" w="med" len="med"/>
            </a:ln>
            <a:extLst>
              <a:ext uri="{909E8E84-426E-40dd-AFC4-6F175D3DCCD1}">
                <a14:hiddenFill xmlns:a14="http://schemas.microsoft.com/office/drawing/2010/main" xmlns="">
                  <a:noFill/>
                </a14:hiddenFill>
              </a:ext>
            </a:extLst>
          </p:spPr>
        </p:cxnSp>
        <p:cxnSp>
          <p:nvCxnSpPr>
            <p:cNvPr id="161" name="直接箭头连接符 61"/>
            <p:cNvCxnSpPr>
              <a:cxnSpLocks noChangeShapeType="1"/>
            </p:cNvCxnSpPr>
            <p:nvPr/>
          </p:nvCxnSpPr>
          <p:spPr bwMode="auto">
            <a:xfrm>
              <a:off x="5869003" y="4365945"/>
              <a:ext cx="258441" cy="1148"/>
            </a:xfrm>
            <a:prstGeom prst="straightConnector1">
              <a:avLst/>
            </a:prstGeom>
            <a:noFill/>
            <a:ln w="28575">
              <a:solidFill>
                <a:srgbClr val="11576A"/>
              </a:solidFill>
              <a:round/>
              <a:headEnd type="none"/>
              <a:tailEnd type="triangle" w="med" len="med"/>
            </a:ln>
            <a:extLst>
              <a:ext uri="{909E8E84-426E-40dd-AFC4-6F175D3DCCD1}">
                <a14:hiddenFill xmlns:a14="http://schemas.microsoft.com/office/drawing/2010/main" xmlns="">
                  <a:noFill/>
                </a14:hiddenFill>
              </a:ext>
            </a:extLst>
          </p:spPr>
        </p:cxnSp>
        <p:sp>
          <p:nvSpPr>
            <p:cNvPr id="162" name="Text Box 43"/>
            <p:cNvSpPr>
              <a:spLocks noChangeArrowheads="1"/>
            </p:cNvSpPr>
            <p:nvPr/>
          </p:nvSpPr>
          <p:spPr bwMode="auto">
            <a:xfrm>
              <a:off x="6105768" y="3211370"/>
              <a:ext cx="60785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zh-CN" altLang="en-US" sz="1200" b="1" spc="-100" dirty="0">
                  <a:solidFill>
                    <a:srgbClr val="11576A"/>
                  </a:solidFill>
                  <a:latin typeface="微软雅黑" pitchFamily="34" charset="-122"/>
                  <a:ea typeface="微软雅黑" pitchFamily="34" charset="-122"/>
                  <a:sym typeface="MS PGothic" charset="0"/>
                </a:rPr>
                <a:t>使用位</a:t>
              </a:r>
            </a:p>
          </p:txBody>
        </p:sp>
        <p:sp>
          <p:nvSpPr>
            <p:cNvPr id="163" name="Text Box 44"/>
            <p:cNvSpPr>
              <a:spLocks noChangeArrowheads="1"/>
            </p:cNvSpPr>
            <p:nvPr/>
          </p:nvSpPr>
          <p:spPr bwMode="auto">
            <a:xfrm>
              <a:off x="6586306" y="3211840"/>
              <a:ext cx="607859"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eaLnBrk="1" hangingPunct="1"/>
              <a:r>
                <a:rPr lang="zh-CN" altLang="en-US" sz="1200" b="1" spc="-100" dirty="0">
                  <a:solidFill>
                    <a:srgbClr val="11576A"/>
                  </a:solidFill>
                  <a:latin typeface="微软雅黑" pitchFamily="34" charset="-122"/>
                  <a:ea typeface="微软雅黑" pitchFamily="34" charset="-122"/>
                  <a:sym typeface="MS PGothic" charset="0"/>
                </a:rPr>
                <a:t>修改位</a:t>
              </a:r>
            </a:p>
          </p:txBody>
        </p:sp>
      </p:grpSp>
      <p:sp>
        <p:nvSpPr>
          <p:cNvPr id="73" name="Line 33"/>
          <p:cNvSpPr>
            <a:spLocks noChangeShapeType="1"/>
          </p:cNvSpPr>
          <p:nvPr/>
        </p:nvSpPr>
        <p:spPr bwMode="auto">
          <a:xfrm>
            <a:off x="3177827" y="5589240"/>
            <a:ext cx="661000" cy="0"/>
          </a:xfrm>
          <a:prstGeom prst="line">
            <a:avLst/>
          </a:prstGeom>
          <a:noFill/>
          <a:ln w="28575">
            <a:solidFill>
              <a:srgbClr val="11576A"/>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74" name="Line 32"/>
          <p:cNvSpPr>
            <a:spLocks noChangeShapeType="1"/>
          </p:cNvSpPr>
          <p:nvPr/>
        </p:nvSpPr>
        <p:spPr bwMode="auto">
          <a:xfrm>
            <a:off x="3838827" y="5101512"/>
            <a:ext cx="0" cy="487728"/>
          </a:xfrm>
          <a:prstGeom prst="line">
            <a:avLst/>
          </a:prstGeom>
          <a:noFill/>
          <a:ln w="28575">
            <a:solidFill>
              <a:srgbClr val="11576A"/>
            </a:solidFill>
            <a:round/>
            <a:headEnd type="triangle" w="med" len="med"/>
            <a:tailEnd/>
          </a:ln>
          <a:extLst>
            <a:ext uri="{909E8E84-426E-40dd-AFC4-6F175D3DCCD1}">
              <a14:hiddenFill xmlns:a14="http://schemas.microsoft.com/office/drawing/2010/main" xmlns="">
                <a:noFill/>
              </a14:hiddenFill>
            </a:ext>
          </a:extLst>
        </p:spPr>
        <p:txBody>
          <a:bodyPr wrap="none" anchor="ctr"/>
          <a:lstStyle/>
          <a:p>
            <a:endParaRPr lang="zh-CN" altLang="en-US"/>
          </a:p>
        </p:txBody>
      </p:sp>
      <p:grpSp>
        <p:nvGrpSpPr>
          <p:cNvPr id="2" name="组合 1"/>
          <p:cNvGrpSpPr/>
          <p:nvPr/>
        </p:nvGrpSpPr>
        <p:grpSpPr>
          <a:xfrm>
            <a:off x="3796585" y="3733749"/>
            <a:ext cx="1290393" cy="1100189"/>
            <a:chOff x="2279738" y="2884624"/>
            <a:chExt cx="1290393" cy="1100189"/>
          </a:xfrm>
        </p:grpSpPr>
        <p:sp>
          <p:nvSpPr>
            <p:cNvPr id="38" name="Line 8"/>
            <p:cNvSpPr>
              <a:spLocks noChangeShapeType="1"/>
            </p:cNvSpPr>
            <p:nvPr/>
          </p:nvSpPr>
          <p:spPr bwMode="auto">
            <a:xfrm>
              <a:off x="2993419" y="3496826"/>
              <a:ext cx="576712" cy="487987"/>
            </a:xfrm>
            <a:prstGeom prst="line">
              <a:avLst/>
            </a:prstGeom>
            <a:noFill/>
            <a:ln w="50800">
              <a:solidFill>
                <a:srgbClr val="C0000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b="1">
                <a:solidFill>
                  <a:srgbClr val="11576A"/>
                </a:solidFill>
                <a:latin typeface="微软雅黑" pitchFamily="34" charset="-122"/>
                <a:ea typeface="微软雅黑" pitchFamily="34" charset="-122"/>
              </a:endParaRPr>
            </a:p>
          </p:txBody>
        </p:sp>
        <p:sp>
          <p:nvSpPr>
            <p:cNvPr id="104" name="Line 8"/>
            <p:cNvSpPr>
              <a:spLocks noChangeShapeType="1"/>
            </p:cNvSpPr>
            <p:nvPr/>
          </p:nvSpPr>
          <p:spPr bwMode="auto">
            <a:xfrm>
              <a:off x="2279738" y="2884624"/>
              <a:ext cx="576712" cy="487987"/>
            </a:xfrm>
            <a:prstGeom prst="line">
              <a:avLst/>
            </a:prstGeom>
            <a:noFill/>
            <a:ln w="50800">
              <a:no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b="1">
                <a:solidFill>
                  <a:srgbClr val="11576A"/>
                </a:solidFill>
                <a:latin typeface="微软雅黑" pitchFamily="34" charset="-122"/>
                <a:ea typeface="微软雅黑" pitchFamily="34" charset="-122"/>
              </a:endParaRPr>
            </a:p>
          </p:txBody>
        </p:sp>
      </p:grpSp>
      <p:grpSp>
        <p:nvGrpSpPr>
          <p:cNvPr id="3" name="组合 2"/>
          <p:cNvGrpSpPr/>
          <p:nvPr/>
        </p:nvGrpSpPr>
        <p:grpSpPr>
          <a:xfrm>
            <a:off x="5157275" y="4868135"/>
            <a:ext cx="324024" cy="231230"/>
            <a:chOff x="3626431" y="4395165"/>
            <a:chExt cx="324024" cy="231230"/>
          </a:xfrm>
        </p:grpSpPr>
        <p:sp>
          <p:nvSpPr>
            <p:cNvPr id="115" name="Rectangle 38"/>
            <p:cNvSpPr>
              <a:spLocks noChangeArrowheads="1"/>
            </p:cNvSpPr>
            <p:nvPr/>
          </p:nvSpPr>
          <p:spPr bwMode="auto">
            <a:xfrm>
              <a:off x="3790750" y="4395710"/>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1</a:t>
              </a:r>
            </a:p>
          </p:txBody>
        </p:sp>
        <p:sp>
          <p:nvSpPr>
            <p:cNvPr id="116" name="Rectangle 22"/>
            <p:cNvSpPr>
              <a:spLocks noChangeArrowheads="1"/>
            </p:cNvSpPr>
            <p:nvPr/>
          </p:nvSpPr>
          <p:spPr bwMode="auto">
            <a:xfrm>
              <a:off x="3626431" y="4395165"/>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en-US" altLang="zh-CN" b="1" dirty="0">
                  <a:solidFill>
                    <a:srgbClr val="11576A"/>
                  </a:solidFill>
                  <a:latin typeface="微软雅黑" pitchFamily="34" charset="-122"/>
                  <a:ea typeface="微软雅黑" pitchFamily="34" charset="-122"/>
                  <a:sym typeface="MS PGothic" charset="0"/>
                </a:rPr>
                <a:t>0</a:t>
              </a:r>
              <a:endParaRPr lang="zh-CN" b="1" dirty="0">
                <a:solidFill>
                  <a:srgbClr val="11576A"/>
                </a:solidFill>
                <a:latin typeface="微软雅黑" pitchFamily="34" charset="-122"/>
                <a:ea typeface="微软雅黑" pitchFamily="34" charset="-122"/>
                <a:sym typeface="MS PGothic" charset="0"/>
              </a:endParaRPr>
            </a:p>
          </p:txBody>
        </p:sp>
      </p:grpSp>
      <p:grpSp>
        <p:nvGrpSpPr>
          <p:cNvPr id="5" name="组合 4"/>
          <p:cNvGrpSpPr/>
          <p:nvPr/>
        </p:nvGrpSpPr>
        <p:grpSpPr>
          <a:xfrm>
            <a:off x="3600516" y="4868681"/>
            <a:ext cx="319410" cy="230685"/>
            <a:chOff x="1873922" y="3607987"/>
            <a:chExt cx="319410" cy="230685"/>
          </a:xfrm>
        </p:grpSpPr>
        <p:sp>
          <p:nvSpPr>
            <p:cNvPr id="117" name="Rectangle 26"/>
            <p:cNvSpPr>
              <a:spLocks noChangeArrowheads="1"/>
            </p:cNvSpPr>
            <p:nvPr/>
          </p:nvSpPr>
          <p:spPr bwMode="auto">
            <a:xfrm>
              <a:off x="1873922" y="3607987"/>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en-US" altLang="zh-CN" b="1" dirty="0">
                  <a:solidFill>
                    <a:srgbClr val="11576A"/>
                  </a:solidFill>
                  <a:latin typeface="微软雅黑" pitchFamily="34" charset="-122"/>
                  <a:ea typeface="微软雅黑" pitchFamily="34" charset="-122"/>
                  <a:sym typeface="MS PGothic" charset="0"/>
                </a:rPr>
                <a:t>0</a:t>
              </a:r>
              <a:endParaRPr lang="zh-CN" b="1" dirty="0">
                <a:solidFill>
                  <a:srgbClr val="11576A"/>
                </a:solidFill>
                <a:latin typeface="微软雅黑" pitchFamily="34" charset="-122"/>
                <a:ea typeface="微软雅黑" pitchFamily="34" charset="-122"/>
                <a:sym typeface="MS PGothic" charset="0"/>
              </a:endParaRPr>
            </a:p>
          </p:txBody>
        </p:sp>
        <p:sp>
          <p:nvSpPr>
            <p:cNvPr id="118" name="Rectangle 40"/>
            <p:cNvSpPr>
              <a:spLocks noChangeArrowheads="1"/>
            </p:cNvSpPr>
            <p:nvPr/>
          </p:nvSpPr>
          <p:spPr bwMode="auto">
            <a:xfrm>
              <a:off x="2033627" y="3607987"/>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1</a:t>
              </a:r>
            </a:p>
          </p:txBody>
        </p:sp>
      </p:grpSp>
      <p:sp>
        <p:nvSpPr>
          <p:cNvPr id="121" name="Rectangle 13"/>
          <p:cNvSpPr>
            <a:spLocks noChangeArrowheads="1"/>
          </p:cNvSpPr>
          <p:nvPr/>
        </p:nvSpPr>
        <p:spPr bwMode="auto">
          <a:xfrm>
            <a:off x="3756891" y="3971849"/>
            <a:ext cx="33715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en-US" altLang="zh-CN" b="1" dirty="0">
                <a:solidFill>
                  <a:srgbClr val="11576A"/>
                </a:solidFill>
                <a:latin typeface="微软雅黑" pitchFamily="34" charset="-122"/>
                <a:ea typeface="微软雅黑" pitchFamily="34" charset="-122"/>
                <a:sym typeface="MS PGothic" charset="0"/>
              </a:rPr>
              <a:t>6</a:t>
            </a:r>
            <a:endParaRPr lang="zh-CN" b="1" dirty="0">
              <a:solidFill>
                <a:srgbClr val="11576A"/>
              </a:solidFill>
              <a:latin typeface="微软雅黑" pitchFamily="34" charset="-122"/>
              <a:ea typeface="微软雅黑" pitchFamily="34" charset="-122"/>
              <a:sym typeface="MS PGothic" charset="0"/>
            </a:endParaRPr>
          </a:p>
        </p:txBody>
      </p:sp>
      <p:grpSp>
        <p:nvGrpSpPr>
          <p:cNvPr id="8" name="组合 7"/>
          <p:cNvGrpSpPr/>
          <p:nvPr/>
        </p:nvGrpSpPr>
        <p:grpSpPr>
          <a:xfrm>
            <a:off x="4306547" y="3333741"/>
            <a:ext cx="319409" cy="230685"/>
            <a:chOff x="2774370" y="2800336"/>
            <a:chExt cx="319409" cy="230685"/>
          </a:xfrm>
        </p:grpSpPr>
        <p:sp>
          <p:nvSpPr>
            <p:cNvPr id="122" name="Rectangle 10"/>
            <p:cNvSpPr>
              <a:spLocks noChangeArrowheads="1"/>
            </p:cNvSpPr>
            <p:nvPr/>
          </p:nvSpPr>
          <p:spPr bwMode="auto">
            <a:xfrm>
              <a:off x="2774370" y="2800336"/>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en-US" altLang="zh-CN" b="1" dirty="0">
                  <a:solidFill>
                    <a:srgbClr val="11576A"/>
                  </a:solidFill>
                  <a:latin typeface="微软雅黑" pitchFamily="34" charset="-122"/>
                  <a:ea typeface="微软雅黑" pitchFamily="34" charset="-122"/>
                  <a:sym typeface="MS PGothic" charset="0"/>
                </a:rPr>
                <a:t>0</a:t>
              </a:r>
              <a:endParaRPr lang="zh-CN" b="1" dirty="0">
                <a:solidFill>
                  <a:srgbClr val="11576A"/>
                </a:solidFill>
                <a:latin typeface="微软雅黑" pitchFamily="34" charset="-122"/>
                <a:ea typeface="微软雅黑" pitchFamily="34" charset="-122"/>
                <a:sym typeface="MS PGothic" charset="0"/>
              </a:endParaRPr>
            </a:p>
          </p:txBody>
        </p:sp>
        <p:sp>
          <p:nvSpPr>
            <p:cNvPr id="123" name="Rectangle 36"/>
            <p:cNvSpPr>
              <a:spLocks noChangeArrowheads="1"/>
            </p:cNvSpPr>
            <p:nvPr/>
          </p:nvSpPr>
          <p:spPr bwMode="auto">
            <a:xfrm>
              <a:off x="2934074" y="2800336"/>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zh-CN" b="1" dirty="0">
                  <a:solidFill>
                    <a:srgbClr val="11576A"/>
                  </a:solidFill>
                  <a:latin typeface="微软雅黑" pitchFamily="34" charset="-122"/>
                  <a:ea typeface="微软雅黑" pitchFamily="34" charset="-122"/>
                  <a:sym typeface="MS PGothic" charset="0"/>
                </a:rPr>
                <a:t>0</a:t>
              </a:r>
            </a:p>
          </p:txBody>
        </p:sp>
      </p:grpSp>
      <p:sp>
        <p:nvSpPr>
          <p:cNvPr id="124" name="Rectangle 17"/>
          <p:cNvSpPr>
            <a:spLocks noChangeArrowheads="1"/>
          </p:cNvSpPr>
          <p:nvPr/>
        </p:nvSpPr>
        <p:spPr bwMode="auto">
          <a:xfrm>
            <a:off x="5543764" y="3974753"/>
            <a:ext cx="33715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en-US" altLang="zh-CN" b="1" dirty="0">
                <a:solidFill>
                  <a:srgbClr val="11576A"/>
                </a:solidFill>
                <a:latin typeface="微软雅黑" pitchFamily="34" charset="-122"/>
                <a:ea typeface="微软雅黑" pitchFamily="34" charset="-122"/>
                <a:sym typeface="MS PGothic" charset="0"/>
              </a:rPr>
              <a:t>7</a:t>
            </a:r>
            <a:endParaRPr lang="zh-CN" b="1" dirty="0">
              <a:solidFill>
                <a:srgbClr val="11576A"/>
              </a:solidFill>
              <a:latin typeface="微软雅黑" pitchFamily="34" charset="-122"/>
              <a:ea typeface="微软雅黑" pitchFamily="34" charset="-122"/>
              <a:sym typeface="MS PGothic" charset="0"/>
            </a:endParaRPr>
          </a:p>
        </p:txBody>
      </p:sp>
      <p:sp>
        <p:nvSpPr>
          <p:cNvPr id="119" name="Rectangle 14"/>
          <p:cNvSpPr>
            <a:spLocks noChangeArrowheads="1"/>
          </p:cNvSpPr>
          <p:nvPr/>
        </p:nvSpPr>
        <p:spPr bwMode="auto">
          <a:xfrm>
            <a:off x="3439049" y="3972581"/>
            <a:ext cx="159705" cy="230685"/>
          </a:xfrm>
          <a:prstGeom prst="rect">
            <a:avLst/>
          </a:prstGeom>
          <a:noFill/>
          <a:ln w="28575">
            <a:solidFill>
              <a:srgbClr val="11576A"/>
            </a:solidFill>
            <a:miter lim="800000"/>
            <a:headEnd/>
            <a:tailEnd/>
          </a:ln>
          <a:extLst>
            <a:ext uri="{909E8E84-426E-40dd-AFC4-6F175D3DCCD1}">
              <a14:hiddenFill xmlns:a14="http://schemas.microsoft.com/office/drawing/2010/main" xmlns="">
                <a:solidFill>
                  <a:srgbClr val="FFFFFF"/>
                </a:solidFill>
              </a14:hiddenFill>
            </a:ext>
          </a:extLst>
        </p:spPr>
        <p:txBody>
          <a:bodyPr wrap="none" lIns="90487" tIns="44450" rIns="90487" bIns="44450" anchor="ctr"/>
          <a:lstStyle/>
          <a:p>
            <a:pPr algn="ctr"/>
            <a:r>
              <a:rPr lang="en-US" altLang="zh-CN" b="1" dirty="0">
                <a:solidFill>
                  <a:srgbClr val="11576A"/>
                </a:solidFill>
                <a:latin typeface="微软雅黑" pitchFamily="34" charset="-122"/>
                <a:ea typeface="微软雅黑" pitchFamily="34" charset="-122"/>
                <a:sym typeface="MS PGothic" charset="0"/>
              </a:rPr>
              <a:t>1</a:t>
            </a:r>
            <a:endParaRPr lang="zh-CN" b="1" dirty="0">
              <a:solidFill>
                <a:srgbClr val="11576A"/>
              </a:solidFill>
              <a:latin typeface="微软雅黑" pitchFamily="34" charset="-122"/>
              <a:ea typeface="微软雅黑" pitchFamily="34" charset="-122"/>
              <a:sym typeface="MS PGothic" charset="0"/>
            </a:endParaRPr>
          </a:p>
        </p:txBody>
      </p:sp>
      <p:sp>
        <p:nvSpPr>
          <p:cNvPr id="12" name="文本框 11">
            <a:extLst>
              <a:ext uri="{FF2B5EF4-FFF2-40B4-BE49-F238E27FC236}">
                <a16:creationId xmlns:a16="http://schemas.microsoft.com/office/drawing/2014/main" id="{34C104D5-73CB-10F3-996E-86BE2CED4333}"/>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3" name="标题 8">
            <a:extLst>
              <a:ext uri="{FF2B5EF4-FFF2-40B4-BE49-F238E27FC236}">
                <a16:creationId xmlns:a16="http://schemas.microsoft.com/office/drawing/2014/main" id="{7A7F1EC3-06D4-FBFF-28E2-21E1F99C4A1E}"/>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改进的</a:t>
            </a:r>
            <a:r>
              <a:rPr lang="en-US" altLang="zh-CN" b="0" kern="0" dirty="0"/>
              <a:t>Clock</a:t>
            </a:r>
            <a:r>
              <a:rPr lang="zh-CN" altLang="en-US" b="0" kern="0" dirty="0"/>
              <a:t>算法</a:t>
            </a:r>
            <a:r>
              <a:rPr lang="en-US" altLang="zh-CN" b="0" kern="0" dirty="0"/>
              <a:t>(</a:t>
            </a:r>
            <a:r>
              <a:rPr lang="zh-CN" altLang="en-US" b="0" kern="0" dirty="0"/>
              <a:t>硬件增加一个</a:t>
            </a:r>
            <a:r>
              <a:rPr lang="en-US" altLang="zh-CN" b="0" kern="0" dirty="0"/>
              <a:t>bit</a:t>
            </a:r>
            <a:r>
              <a:rPr lang="zh-CN" altLang="en-US" b="0" kern="0" dirty="0"/>
              <a:t>之后的优化</a:t>
            </a:r>
            <a:r>
              <a:rPr lang="en-US" altLang="zh-CN" b="0" kern="0" dirty="0"/>
              <a:t>)</a:t>
            </a:r>
            <a:endParaRPr lang="zh-CN" altLang="en-US" b="0" kern="0" dirty="0"/>
          </a:p>
        </p:txBody>
      </p:sp>
      <p:pic>
        <p:nvPicPr>
          <p:cNvPr id="15" name="图片 14">
            <a:extLst>
              <a:ext uri="{FF2B5EF4-FFF2-40B4-BE49-F238E27FC236}">
                <a16:creationId xmlns:a16="http://schemas.microsoft.com/office/drawing/2014/main" id="{C8DCD8C9-D693-4172-8D51-4626828D6B9A}"/>
              </a:ext>
            </a:extLst>
          </p:cNvPr>
          <p:cNvPicPr>
            <a:picLocks noChangeAspect="1"/>
          </p:cNvPicPr>
          <p:nvPr/>
        </p:nvPicPr>
        <p:blipFill>
          <a:blip r:embed="rId3"/>
          <a:stretch>
            <a:fillRect/>
          </a:stretch>
        </p:blipFill>
        <p:spPr>
          <a:xfrm>
            <a:off x="1579911" y="1512624"/>
            <a:ext cx="7962900" cy="5086350"/>
          </a:xfrm>
          <a:prstGeom prst="rect">
            <a:avLst/>
          </a:prstGeom>
        </p:spPr>
      </p:pic>
    </p:spTree>
    <p:extLst>
      <p:ext uri="{BB962C8B-B14F-4D97-AF65-F5344CB8AC3E}">
        <p14:creationId xmlns:p14="http://schemas.microsoft.com/office/powerpoint/2010/main" val="365649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nodeType="clickEffect">
                                  <p:stCondLst>
                                    <p:cond delay="0"/>
                                  </p:stCondLst>
                                  <p:childTnLst>
                                    <p:animEffect transition="out" filter="wipe(down)">
                                      <p:cBhvr>
                                        <p:cTn id="12" dur="500"/>
                                        <p:tgtEl>
                                          <p:spTgt spid="15"/>
                                        </p:tgtEl>
                                      </p:cBhvr>
                                    </p:animEffect>
                                    <p:set>
                                      <p:cBhvr>
                                        <p:cTn id="13" dur="1" fill="hold">
                                          <p:stCondLst>
                                            <p:cond delay="499"/>
                                          </p:stCondLst>
                                        </p:cTn>
                                        <p:tgtEl>
                                          <p:spTgt spid="15"/>
                                        </p:tgtEl>
                                        <p:attrNameLst>
                                          <p:attrName>style.visibility</p:attrName>
                                        </p:attrNameLst>
                                      </p:cBhvr>
                                      <p:to>
                                        <p:strVal val="hidden"/>
                                      </p:to>
                                    </p:set>
                                  </p:childTnLst>
                                </p:cTn>
                              </p:par>
                              <p:par>
                                <p:cTn id="14" presetID="22" presetClass="entr" presetSubtype="8"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500"/>
                                        <p:tgtEl>
                                          <p:spTgt spid="2"/>
                                        </p:tgtEl>
                                      </p:cBhvr>
                                    </p:animEffect>
                                  </p:childTnLst>
                                </p:cTn>
                              </p:par>
                              <p:par>
                                <p:cTn id="35" presetID="10"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75"/>
                                        </p:tgtEl>
                                        <p:attrNameLst>
                                          <p:attrName>style.visibility</p:attrName>
                                        </p:attrNameLst>
                                      </p:cBhvr>
                                      <p:to>
                                        <p:strVal val="visible"/>
                                      </p:to>
                                    </p:set>
                                    <p:animEffect transition="in" filter="fade">
                                      <p:cBhvr>
                                        <p:cTn id="40" dur="500"/>
                                        <p:tgtEl>
                                          <p:spTgt spid="75"/>
                                        </p:tgtEl>
                                      </p:cBhvr>
                                    </p:animEffect>
                                  </p:childTnLst>
                                </p:cTn>
                              </p:par>
                              <p:par>
                                <p:cTn id="41" presetID="10"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fade">
                                      <p:cBhvr>
                                        <p:cTn id="46" dur="500"/>
                                        <p:tgtEl>
                                          <p:spTgt spid="7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00"/>
                                        <p:tgtEl>
                                          <p:spTgt spid="3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500"/>
                                        <p:tgtEl>
                                          <p:spTgt spid="3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fade">
                                      <p:cBhvr>
                                        <p:cTn id="58" dur="500"/>
                                        <p:tgtEl>
                                          <p:spTgt spid="4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fade">
                                      <p:cBhvr>
                                        <p:cTn id="61" dur="500"/>
                                        <p:tgtEl>
                                          <p:spTgt spid="7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500"/>
                                        <p:tgtEl>
                                          <p:spTgt spid="7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fade">
                                      <p:cBhvr>
                                        <p:cTn id="67" dur="500"/>
                                        <p:tgtEl>
                                          <p:spTgt spid="7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fade">
                                      <p:cBhvr>
                                        <p:cTn id="70" dur="500"/>
                                        <p:tgtEl>
                                          <p:spTgt spid="7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80"/>
                                        </p:tgtEl>
                                        <p:attrNameLst>
                                          <p:attrName>style.visibility</p:attrName>
                                        </p:attrNameLst>
                                      </p:cBhvr>
                                      <p:to>
                                        <p:strVal val="visible"/>
                                      </p:to>
                                    </p:set>
                                    <p:animEffect transition="in" filter="fade">
                                      <p:cBhvr>
                                        <p:cTn id="73" dur="500"/>
                                        <p:tgtEl>
                                          <p:spTgt spid="80"/>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82"/>
                                        </p:tgtEl>
                                        <p:attrNameLst>
                                          <p:attrName>style.visibility</p:attrName>
                                        </p:attrNameLst>
                                      </p:cBhvr>
                                      <p:to>
                                        <p:strVal val="visible"/>
                                      </p:to>
                                    </p:set>
                                    <p:animEffect transition="in" filter="fade">
                                      <p:cBhvr>
                                        <p:cTn id="76" dur="500"/>
                                        <p:tgtEl>
                                          <p:spTgt spid="8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fade">
                                      <p:cBhvr>
                                        <p:cTn id="79" dur="500"/>
                                        <p:tgtEl>
                                          <p:spTgt spid="8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84"/>
                                        </p:tgtEl>
                                        <p:attrNameLst>
                                          <p:attrName>style.visibility</p:attrName>
                                        </p:attrNameLst>
                                      </p:cBhvr>
                                      <p:to>
                                        <p:strVal val="visible"/>
                                      </p:to>
                                    </p:set>
                                    <p:animEffect transition="in" filter="fade">
                                      <p:cBhvr>
                                        <p:cTn id="82" dur="500"/>
                                        <p:tgtEl>
                                          <p:spTgt spid="8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6"/>
                                        </p:tgtEl>
                                        <p:attrNameLst>
                                          <p:attrName>style.visibility</p:attrName>
                                        </p:attrNameLst>
                                      </p:cBhvr>
                                      <p:to>
                                        <p:strVal val="visible"/>
                                      </p:to>
                                    </p:set>
                                    <p:animEffect transition="in" filter="fade">
                                      <p:cBhvr>
                                        <p:cTn id="85" dur="500"/>
                                        <p:tgtEl>
                                          <p:spTgt spid="8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87"/>
                                        </p:tgtEl>
                                        <p:attrNameLst>
                                          <p:attrName>style.visibility</p:attrName>
                                        </p:attrNameLst>
                                      </p:cBhvr>
                                      <p:to>
                                        <p:strVal val="visible"/>
                                      </p:to>
                                    </p:set>
                                    <p:animEffect transition="in" filter="fade">
                                      <p:cBhvr>
                                        <p:cTn id="88" dur="500"/>
                                        <p:tgtEl>
                                          <p:spTgt spid="8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8"/>
                                        </p:tgtEl>
                                        <p:attrNameLst>
                                          <p:attrName>style.visibility</p:attrName>
                                        </p:attrNameLst>
                                      </p:cBhvr>
                                      <p:to>
                                        <p:strVal val="visible"/>
                                      </p:to>
                                    </p:set>
                                    <p:animEffect transition="in" filter="fade">
                                      <p:cBhvr>
                                        <p:cTn id="91" dur="500"/>
                                        <p:tgtEl>
                                          <p:spTgt spid="8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90"/>
                                        </p:tgtEl>
                                        <p:attrNameLst>
                                          <p:attrName>style.visibility</p:attrName>
                                        </p:attrNameLst>
                                      </p:cBhvr>
                                      <p:to>
                                        <p:strVal val="visible"/>
                                      </p:to>
                                    </p:set>
                                    <p:animEffect transition="in" filter="fade">
                                      <p:cBhvr>
                                        <p:cTn id="94" dur="500"/>
                                        <p:tgtEl>
                                          <p:spTgt spid="9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91"/>
                                        </p:tgtEl>
                                        <p:attrNameLst>
                                          <p:attrName>style.visibility</p:attrName>
                                        </p:attrNameLst>
                                      </p:cBhvr>
                                      <p:to>
                                        <p:strVal val="visible"/>
                                      </p:to>
                                    </p:set>
                                    <p:animEffect transition="in" filter="fade">
                                      <p:cBhvr>
                                        <p:cTn id="97" dur="500"/>
                                        <p:tgtEl>
                                          <p:spTgt spid="9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92"/>
                                        </p:tgtEl>
                                        <p:attrNameLst>
                                          <p:attrName>style.visibility</p:attrName>
                                        </p:attrNameLst>
                                      </p:cBhvr>
                                      <p:to>
                                        <p:strVal val="visible"/>
                                      </p:to>
                                    </p:set>
                                    <p:animEffect transition="in" filter="fade">
                                      <p:cBhvr>
                                        <p:cTn id="100" dur="500"/>
                                        <p:tgtEl>
                                          <p:spTgt spid="9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93"/>
                                        </p:tgtEl>
                                        <p:attrNameLst>
                                          <p:attrName>style.visibility</p:attrName>
                                        </p:attrNameLst>
                                      </p:cBhvr>
                                      <p:to>
                                        <p:strVal val="visible"/>
                                      </p:to>
                                    </p:set>
                                    <p:animEffect transition="in" filter="fade">
                                      <p:cBhvr>
                                        <p:cTn id="103" dur="500"/>
                                        <p:tgtEl>
                                          <p:spTgt spid="9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94"/>
                                        </p:tgtEl>
                                        <p:attrNameLst>
                                          <p:attrName>style.visibility</p:attrName>
                                        </p:attrNameLst>
                                      </p:cBhvr>
                                      <p:to>
                                        <p:strVal val="visible"/>
                                      </p:to>
                                    </p:set>
                                    <p:animEffect transition="in" filter="fade">
                                      <p:cBhvr>
                                        <p:cTn id="106" dur="500"/>
                                        <p:tgtEl>
                                          <p:spTgt spid="9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95"/>
                                        </p:tgtEl>
                                        <p:attrNameLst>
                                          <p:attrName>style.visibility</p:attrName>
                                        </p:attrNameLst>
                                      </p:cBhvr>
                                      <p:to>
                                        <p:strVal val="visible"/>
                                      </p:to>
                                    </p:set>
                                    <p:animEffect transition="in" filter="fade">
                                      <p:cBhvr>
                                        <p:cTn id="109" dur="500"/>
                                        <p:tgtEl>
                                          <p:spTgt spid="9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96"/>
                                        </p:tgtEl>
                                        <p:attrNameLst>
                                          <p:attrName>style.visibility</p:attrName>
                                        </p:attrNameLst>
                                      </p:cBhvr>
                                      <p:to>
                                        <p:strVal val="visible"/>
                                      </p:to>
                                    </p:set>
                                    <p:animEffect transition="in" filter="fade">
                                      <p:cBhvr>
                                        <p:cTn id="112" dur="500"/>
                                        <p:tgtEl>
                                          <p:spTgt spid="9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97"/>
                                        </p:tgtEl>
                                        <p:attrNameLst>
                                          <p:attrName>style.visibility</p:attrName>
                                        </p:attrNameLst>
                                      </p:cBhvr>
                                      <p:to>
                                        <p:strVal val="visible"/>
                                      </p:to>
                                    </p:set>
                                    <p:animEffect transition="in" filter="fade">
                                      <p:cBhvr>
                                        <p:cTn id="115" dur="500"/>
                                        <p:tgtEl>
                                          <p:spTgt spid="97"/>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98"/>
                                        </p:tgtEl>
                                        <p:attrNameLst>
                                          <p:attrName>style.visibility</p:attrName>
                                        </p:attrNameLst>
                                      </p:cBhvr>
                                      <p:to>
                                        <p:strVal val="visible"/>
                                      </p:to>
                                    </p:set>
                                    <p:animEffect transition="in" filter="fade">
                                      <p:cBhvr>
                                        <p:cTn id="118" dur="500"/>
                                        <p:tgtEl>
                                          <p:spTgt spid="98"/>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00"/>
                                        </p:tgtEl>
                                        <p:attrNameLst>
                                          <p:attrName>style.visibility</p:attrName>
                                        </p:attrNameLst>
                                      </p:cBhvr>
                                      <p:to>
                                        <p:strVal val="visible"/>
                                      </p:to>
                                    </p:set>
                                    <p:animEffect transition="in" filter="fade">
                                      <p:cBhvr>
                                        <p:cTn id="121" dur="500"/>
                                        <p:tgtEl>
                                          <p:spTgt spid="10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02"/>
                                        </p:tgtEl>
                                        <p:attrNameLst>
                                          <p:attrName>style.visibility</p:attrName>
                                        </p:attrNameLst>
                                      </p:cBhvr>
                                      <p:to>
                                        <p:strVal val="visible"/>
                                      </p:to>
                                    </p:set>
                                    <p:animEffect transition="in" filter="fade">
                                      <p:cBhvr>
                                        <p:cTn id="124" dur="500"/>
                                        <p:tgtEl>
                                          <p:spTgt spid="10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73"/>
                                        </p:tgtEl>
                                        <p:attrNameLst>
                                          <p:attrName>style.visibility</p:attrName>
                                        </p:attrNameLst>
                                      </p:cBhvr>
                                      <p:to>
                                        <p:strVal val="visible"/>
                                      </p:to>
                                    </p:set>
                                    <p:animEffect transition="in" filter="fade">
                                      <p:cBhvr>
                                        <p:cTn id="127" dur="500"/>
                                        <p:tgtEl>
                                          <p:spTgt spid="73"/>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74"/>
                                        </p:tgtEl>
                                        <p:attrNameLst>
                                          <p:attrName>style.visibility</p:attrName>
                                        </p:attrNameLst>
                                      </p:cBhvr>
                                      <p:to>
                                        <p:strVal val="visible"/>
                                      </p:to>
                                    </p:set>
                                    <p:animEffect transition="in" filter="fade">
                                      <p:cBhvr>
                                        <p:cTn id="130" dur="500"/>
                                        <p:tgtEl>
                                          <p:spTgt spid="74"/>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nodeType="clickEffect">
                                  <p:stCondLst>
                                    <p:cond delay="0"/>
                                  </p:stCondLst>
                                  <p:childTnLst>
                                    <p:set>
                                      <p:cBhvr>
                                        <p:cTn id="134" dur="1" fill="hold">
                                          <p:stCondLst>
                                            <p:cond delay="0"/>
                                          </p:stCondLst>
                                        </p:cTn>
                                        <p:tgtEl>
                                          <p:spTgt spid="4"/>
                                        </p:tgtEl>
                                        <p:attrNameLst>
                                          <p:attrName>style.visibility</p:attrName>
                                        </p:attrNameLst>
                                      </p:cBhvr>
                                      <p:to>
                                        <p:strVal val="hidden"/>
                                      </p:to>
                                    </p:set>
                                  </p:childTnLst>
                                </p:cTn>
                              </p:par>
                              <p:par>
                                <p:cTn id="135" presetID="1" presetClass="entr" presetSubtype="0" fill="hold" nodeType="withEffect">
                                  <p:stCondLst>
                                    <p:cond delay="0"/>
                                  </p:stCondLst>
                                  <p:childTnLst>
                                    <p:set>
                                      <p:cBhvr>
                                        <p:cTn id="136" dur="1" fill="hold">
                                          <p:stCondLst>
                                            <p:cond delay="0"/>
                                          </p:stCondLst>
                                        </p:cTn>
                                        <p:tgtEl>
                                          <p:spTgt spid="3"/>
                                        </p:tgtEl>
                                        <p:attrNameLst>
                                          <p:attrName>style.visibility</p:attrName>
                                        </p:attrNameLst>
                                      </p:cBhvr>
                                      <p:to>
                                        <p:strVal val="visible"/>
                                      </p:to>
                                    </p:set>
                                  </p:childTnLst>
                                </p:cTn>
                              </p:par>
                              <p:par>
                                <p:cTn id="137" presetID="8" presetClass="emph" presetSubtype="0" fill="hold" nodeType="withEffect">
                                  <p:stCondLst>
                                    <p:cond delay="0"/>
                                  </p:stCondLst>
                                  <p:childTnLst>
                                    <p:animRot by="6000000">
                                      <p:cBhvr>
                                        <p:cTn id="138" dur="2000" fill="hold"/>
                                        <p:tgtEl>
                                          <p:spTgt spid="2"/>
                                        </p:tgtEl>
                                        <p:attrNameLst>
                                          <p:attrName>r</p:attrName>
                                        </p:attrNameLst>
                                      </p:cBhvr>
                                    </p:animRot>
                                  </p:childTnLst>
                                </p:cTn>
                              </p:par>
                            </p:childTnLst>
                          </p:cTn>
                        </p:par>
                        <p:par>
                          <p:cTn id="139" fill="hold">
                            <p:stCondLst>
                              <p:cond delay="2000"/>
                            </p:stCondLst>
                            <p:childTnLst>
                              <p:par>
                                <p:cTn id="140" presetID="1" presetClass="exit" presetSubtype="0" fill="hold" nodeType="afterEffect">
                                  <p:stCondLst>
                                    <p:cond delay="0"/>
                                  </p:stCondLst>
                                  <p:childTnLst>
                                    <p:set>
                                      <p:cBhvr>
                                        <p:cTn id="141" dur="1" fill="hold">
                                          <p:stCondLst>
                                            <p:cond delay="0"/>
                                          </p:stCondLst>
                                        </p:cTn>
                                        <p:tgtEl>
                                          <p:spTgt spid="6"/>
                                        </p:tgtEl>
                                        <p:attrNameLst>
                                          <p:attrName>style.visibility</p:attrName>
                                        </p:attrNameLst>
                                      </p:cBhvr>
                                      <p:to>
                                        <p:strVal val="hidden"/>
                                      </p:to>
                                    </p:set>
                                  </p:childTnLst>
                                </p:cTn>
                              </p:par>
                              <p:par>
                                <p:cTn id="142" presetID="1" presetClass="entr" presetSubtype="0" fill="hold" nodeType="withEffect">
                                  <p:stCondLst>
                                    <p:cond delay="0"/>
                                  </p:stCondLst>
                                  <p:childTnLst>
                                    <p:set>
                                      <p:cBhvr>
                                        <p:cTn id="143" dur="1" fill="hold">
                                          <p:stCondLst>
                                            <p:cond delay="0"/>
                                          </p:stCondLst>
                                        </p:cTn>
                                        <p:tgtEl>
                                          <p:spTgt spid="5"/>
                                        </p:tgtEl>
                                        <p:attrNameLst>
                                          <p:attrName>style.visibility</p:attrName>
                                        </p:attrNameLst>
                                      </p:cBhvr>
                                      <p:to>
                                        <p:strVal val="visible"/>
                                      </p:to>
                                    </p:set>
                                  </p:childTnLst>
                                </p:cTn>
                              </p:par>
                            </p:childTnLst>
                          </p:cTn>
                        </p:par>
                        <p:par>
                          <p:cTn id="144" fill="hold">
                            <p:stCondLst>
                              <p:cond delay="2000"/>
                            </p:stCondLst>
                            <p:childTnLst>
                              <p:par>
                                <p:cTn id="145" presetID="8" presetClass="emph" presetSubtype="0" fill="hold" nodeType="afterEffect">
                                  <p:stCondLst>
                                    <p:cond delay="0"/>
                                  </p:stCondLst>
                                  <p:childTnLst>
                                    <p:animRot by="3600000">
                                      <p:cBhvr>
                                        <p:cTn id="146" dur="2000" fill="hold"/>
                                        <p:tgtEl>
                                          <p:spTgt spid="2"/>
                                        </p:tgtEl>
                                        <p:attrNameLst>
                                          <p:attrName>r</p:attrName>
                                        </p:attrNameLst>
                                      </p:cBhvr>
                                    </p:animRot>
                                  </p:childTnLst>
                                </p:cTn>
                              </p:par>
                            </p:childTnLst>
                          </p:cTn>
                        </p:par>
                      </p:childTnLst>
                    </p:cTn>
                  </p:par>
                  <p:par>
                    <p:cTn id="147" fill="hold">
                      <p:stCondLst>
                        <p:cond delay="indefinite"/>
                      </p:stCondLst>
                      <p:childTnLst>
                        <p:par>
                          <p:cTn id="148" fill="hold">
                            <p:stCondLst>
                              <p:cond delay="0"/>
                            </p:stCondLst>
                            <p:childTnLst>
                              <p:par>
                                <p:cTn id="149" presetID="1" presetClass="exit" presetSubtype="0" fill="hold" grpId="0" nodeType="clickEffect">
                                  <p:stCondLst>
                                    <p:cond delay="0"/>
                                  </p:stCondLst>
                                  <p:childTnLst>
                                    <p:set>
                                      <p:cBhvr>
                                        <p:cTn id="150" dur="1" fill="hold">
                                          <p:stCondLst>
                                            <p:cond delay="0"/>
                                          </p:stCondLst>
                                        </p:cTn>
                                        <p:tgtEl>
                                          <p:spTgt spid="75"/>
                                        </p:tgtEl>
                                        <p:attrNameLst>
                                          <p:attrName>style.visibility</p:attrName>
                                        </p:attrNameLst>
                                      </p:cBhvr>
                                      <p:to>
                                        <p:strVal val="hidden"/>
                                      </p:to>
                                    </p:set>
                                  </p:childTnLst>
                                </p:cTn>
                              </p:par>
                            </p:childTnLst>
                          </p:cTn>
                        </p:par>
                        <p:par>
                          <p:cTn id="151" fill="hold">
                            <p:stCondLst>
                              <p:cond delay="0"/>
                            </p:stCondLst>
                            <p:childTnLst>
                              <p:par>
                                <p:cTn id="152" presetID="1" presetClass="exit" presetSubtype="0" fill="hold" grpId="1" nodeType="afterEffect">
                                  <p:stCondLst>
                                    <p:cond delay="0"/>
                                  </p:stCondLst>
                                  <p:childTnLst>
                                    <p:set>
                                      <p:cBhvr>
                                        <p:cTn id="153" dur="1" fill="hold">
                                          <p:stCondLst>
                                            <p:cond delay="0"/>
                                          </p:stCondLst>
                                        </p:cTn>
                                        <p:tgtEl>
                                          <p:spTgt spid="76"/>
                                        </p:tgtEl>
                                        <p:attrNameLst>
                                          <p:attrName>style.visibility</p:attrName>
                                        </p:attrNameLst>
                                      </p:cBhvr>
                                      <p:to>
                                        <p:strVal val="hidden"/>
                                      </p:to>
                                    </p:set>
                                  </p:childTnLst>
                                </p:cTn>
                              </p:par>
                              <p:par>
                                <p:cTn id="154" presetID="10" presetClass="entr" presetSubtype="0" fill="hold" grpId="0" nodeType="withEffect">
                                  <p:stCondLst>
                                    <p:cond delay="0"/>
                                  </p:stCondLst>
                                  <p:childTnLst>
                                    <p:set>
                                      <p:cBhvr>
                                        <p:cTn id="155" dur="1" fill="hold">
                                          <p:stCondLst>
                                            <p:cond delay="0"/>
                                          </p:stCondLst>
                                        </p:cTn>
                                        <p:tgtEl>
                                          <p:spTgt spid="119"/>
                                        </p:tgtEl>
                                        <p:attrNameLst>
                                          <p:attrName>style.visibility</p:attrName>
                                        </p:attrNameLst>
                                      </p:cBhvr>
                                      <p:to>
                                        <p:strVal val="visible"/>
                                      </p:to>
                                    </p:set>
                                    <p:animEffect transition="in" filter="fade">
                                      <p:cBhvr>
                                        <p:cTn id="156" dur="500"/>
                                        <p:tgtEl>
                                          <p:spTgt spid="119"/>
                                        </p:tgtEl>
                                      </p:cBhvr>
                                    </p:animEffect>
                                  </p:childTnLst>
                                </p:cTn>
                              </p:par>
                              <p:par>
                                <p:cTn id="157" presetID="1" presetClass="entr" presetSubtype="0" fill="hold" grpId="0" nodeType="withEffect">
                                  <p:stCondLst>
                                    <p:cond delay="0"/>
                                  </p:stCondLst>
                                  <p:childTnLst>
                                    <p:set>
                                      <p:cBhvr>
                                        <p:cTn id="158" dur="1" fill="hold">
                                          <p:stCondLst>
                                            <p:cond delay="0"/>
                                          </p:stCondLst>
                                        </p:cTn>
                                        <p:tgtEl>
                                          <p:spTgt spid="12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8" presetClass="emph" presetSubtype="0" fill="hold" nodeType="clickEffect">
                                  <p:stCondLst>
                                    <p:cond delay="0"/>
                                  </p:stCondLst>
                                  <p:childTnLst>
                                    <p:animRot by="3600000">
                                      <p:cBhvr>
                                        <p:cTn id="162" dur="2000" fill="hold"/>
                                        <p:tgtEl>
                                          <p:spTgt spid="2"/>
                                        </p:tgtEl>
                                        <p:attrNameLst>
                                          <p:attrName>r</p:attrName>
                                        </p:attrNameLst>
                                      </p:cBhvr>
                                    </p:animRot>
                                  </p:childTnLst>
                                </p:cTn>
                              </p:par>
                            </p:childTnLst>
                          </p:cTn>
                        </p:par>
                        <p:par>
                          <p:cTn id="163" fill="hold">
                            <p:stCondLst>
                              <p:cond delay="2000"/>
                            </p:stCondLst>
                            <p:childTnLst>
                              <p:par>
                                <p:cTn id="164" presetID="1" presetClass="exit" presetSubtype="0" fill="hold" nodeType="afterEffect">
                                  <p:stCondLst>
                                    <p:cond delay="0"/>
                                  </p:stCondLst>
                                  <p:childTnLst>
                                    <p:set>
                                      <p:cBhvr>
                                        <p:cTn id="165" dur="1" fill="hold">
                                          <p:stCondLst>
                                            <p:cond delay="0"/>
                                          </p:stCondLst>
                                        </p:cTn>
                                        <p:tgtEl>
                                          <p:spTgt spid="7"/>
                                        </p:tgtEl>
                                        <p:attrNameLst>
                                          <p:attrName>style.visibility</p:attrName>
                                        </p:attrNameLst>
                                      </p:cBhvr>
                                      <p:to>
                                        <p:strVal val="hidden"/>
                                      </p:to>
                                    </p:set>
                                  </p:childTnLst>
                                </p:cTn>
                              </p:par>
                              <p:par>
                                <p:cTn id="166" presetID="1" presetClass="entr" presetSubtype="0" fill="hold" nodeType="withEffect">
                                  <p:stCondLst>
                                    <p:cond delay="0"/>
                                  </p:stCondLst>
                                  <p:childTnLst>
                                    <p:set>
                                      <p:cBhvr>
                                        <p:cTn id="167" dur="1" fill="hold">
                                          <p:stCondLst>
                                            <p:cond delay="0"/>
                                          </p:stCondLst>
                                        </p:cTn>
                                        <p:tgtEl>
                                          <p:spTgt spid="8"/>
                                        </p:tgtEl>
                                        <p:attrNameLst>
                                          <p:attrName>style.visibility</p:attrName>
                                        </p:attrNameLst>
                                      </p:cBhvr>
                                      <p:to>
                                        <p:strVal val="visible"/>
                                      </p:to>
                                    </p:set>
                                  </p:childTnLst>
                                </p:cTn>
                              </p:par>
                            </p:childTnLst>
                          </p:cTn>
                        </p:par>
                        <p:par>
                          <p:cTn id="168" fill="hold">
                            <p:stCondLst>
                              <p:cond delay="2000"/>
                            </p:stCondLst>
                            <p:childTnLst>
                              <p:par>
                                <p:cTn id="169" presetID="8" presetClass="emph" presetSubtype="0" fill="hold" nodeType="afterEffect">
                                  <p:stCondLst>
                                    <p:cond delay="0"/>
                                  </p:stCondLst>
                                  <p:childTnLst>
                                    <p:animRot by="4800000">
                                      <p:cBhvr>
                                        <p:cTn id="170" dur="2000" fill="hold"/>
                                        <p:tgtEl>
                                          <p:spTgt spid="2"/>
                                        </p:tgtEl>
                                        <p:attrNameLst>
                                          <p:attrName>r</p:attrName>
                                        </p:attrNameLst>
                                      </p:cBhvr>
                                    </p:animRo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grpId="0" nodeType="clickEffect">
                                  <p:stCondLst>
                                    <p:cond delay="0"/>
                                  </p:stCondLst>
                                  <p:childTnLst>
                                    <p:set>
                                      <p:cBhvr>
                                        <p:cTn id="174" dur="1" fill="hold">
                                          <p:stCondLst>
                                            <p:cond delay="0"/>
                                          </p:stCondLst>
                                        </p:cTn>
                                        <p:tgtEl>
                                          <p:spTgt spid="79"/>
                                        </p:tgtEl>
                                        <p:attrNameLst>
                                          <p:attrName>style.visibility</p:attrName>
                                        </p:attrNameLst>
                                      </p:cBhvr>
                                      <p:to>
                                        <p:strVal val="hidden"/>
                                      </p:to>
                                    </p:set>
                                  </p:childTnLst>
                                </p:cTn>
                              </p:par>
                              <p:par>
                                <p:cTn id="175" presetID="1" presetClass="entr" presetSubtype="0" fill="hold" grpId="0" nodeType="withEffect">
                                  <p:stCondLst>
                                    <p:cond delay="0"/>
                                  </p:stCondLst>
                                  <p:childTnLst>
                                    <p:set>
                                      <p:cBhvr>
                                        <p:cTn id="176"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39" grpId="0" animBg="1"/>
      <p:bldP spid="41" grpId="0"/>
      <p:bldP spid="72" grpId="0" animBg="1"/>
      <p:bldP spid="75" grpId="0" animBg="1"/>
      <p:bldP spid="75" grpId="1" animBg="1"/>
      <p:bldP spid="76" grpId="0" animBg="1"/>
      <p:bldP spid="76" grpId="1" animBg="1"/>
      <p:bldP spid="77" grpId="0"/>
      <p:bldP spid="78" grpId="0" animBg="1"/>
      <p:bldP spid="79" grpId="0" animBg="1"/>
      <p:bldP spid="79" grpId="1" animBg="1"/>
      <p:bldP spid="80" grpId="0" animBg="1"/>
      <p:bldP spid="82" grpId="0"/>
      <p:bldP spid="83" grpId="0" animBg="1"/>
      <p:bldP spid="84" grpId="0" animBg="1"/>
      <p:bldP spid="86" grpId="0"/>
      <p:bldP spid="87" grpId="0" animBg="1"/>
      <p:bldP spid="88" grpId="0" animBg="1"/>
      <p:bldP spid="90" grpId="0"/>
      <p:bldP spid="91" grpId="0" animBg="1"/>
      <p:bldP spid="92" grpId="0" animBg="1"/>
      <p:bldP spid="93" grpId="0" animBg="1"/>
      <p:bldP spid="94" grpId="0" animBg="1"/>
      <p:bldP spid="95" grpId="0" animBg="1"/>
      <p:bldP spid="96" grpId="0" animBg="1"/>
      <p:bldP spid="97" grpId="0" animBg="1"/>
      <p:bldP spid="98" grpId="0" animBg="1"/>
      <p:bldP spid="100" grpId="0" animBg="1"/>
      <p:bldP spid="102" grpId="0" animBg="1"/>
      <p:bldP spid="73" grpId="0" animBg="1"/>
      <p:bldP spid="74" grpId="0" animBg="1"/>
      <p:bldP spid="121" grpId="0" animBg="1"/>
      <p:bldP spid="124" grpId="0" animBg="1"/>
      <p:bldP spid="1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矩形 268"/>
          <p:cNvSpPr/>
          <p:nvPr/>
        </p:nvSpPr>
        <p:spPr>
          <a:xfrm>
            <a:off x="2670507" y="1931301"/>
            <a:ext cx="7630694" cy="222949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dirty="0"/>
          </a:p>
        </p:txBody>
      </p:sp>
      <p:cxnSp>
        <p:nvCxnSpPr>
          <p:cNvPr id="270" name="直接连接符 269"/>
          <p:cNvCxnSpPr/>
          <p:nvPr/>
        </p:nvCxnSpPr>
        <p:spPr>
          <a:xfrm>
            <a:off x="2668353" y="2283094"/>
            <a:ext cx="7632848" cy="0"/>
          </a:xfrm>
          <a:prstGeom prst="line">
            <a:avLst/>
          </a:prstGeom>
          <a:ln w="158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2668353" y="2618328"/>
            <a:ext cx="763284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a:off x="2668353" y="3827381"/>
            <a:ext cx="763284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a:xfrm>
            <a:off x="4111290" y="1931301"/>
            <a:ext cx="0" cy="191453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75" name="TextBox 20"/>
          <p:cNvSpPr txBox="1"/>
          <p:nvPr/>
        </p:nvSpPr>
        <p:spPr>
          <a:xfrm>
            <a:off x="9523227" y="1836404"/>
            <a:ext cx="734827" cy="420628"/>
          </a:xfrm>
          <a:prstGeom prst="rect">
            <a:avLst/>
          </a:prstGeom>
          <a:noFill/>
          <a:effectLst/>
        </p:spPr>
        <p:txBody>
          <a:bodyPr wrap="square" rtlCol="0" anchor="ctr">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10</a:t>
            </a:r>
            <a:endParaRPr lang="zh-CN" altLang="en-US" sz="3200" b="1" baseline="-25000" dirty="0">
              <a:solidFill>
                <a:srgbClr val="11576A"/>
              </a:solidFill>
              <a:latin typeface="微软雅黑" pitchFamily="34" charset="-122"/>
              <a:ea typeface="微软雅黑" pitchFamily="34" charset="-122"/>
            </a:endParaRPr>
          </a:p>
        </p:txBody>
      </p:sp>
      <p:sp>
        <p:nvSpPr>
          <p:cNvPr id="276" name="TextBox 21"/>
          <p:cNvSpPr txBox="1"/>
          <p:nvPr/>
        </p:nvSpPr>
        <p:spPr>
          <a:xfrm>
            <a:off x="9071235" y="184290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9</a:t>
            </a:r>
            <a:endParaRPr lang="zh-CN" altLang="en-US" sz="3200" b="1" baseline="-25000" dirty="0">
              <a:solidFill>
                <a:srgbClr val="11576A"/>
              </a:solidFill>
              <a:latin typeface="微软雅黑" pitchFamily="34" charset="-122"/>
              <a:ea typeface="微软雅黑" pitchFamily="34" charset="-122"/>
            </a:endParaRPr>
          </a:p>
        </p:txBody>
      </p:sp>
      <p:sp>
        <p:nvSpPr>
          <p:cNvPr id="277" name="TextBox 24"/>
          <p:cNvSpPr txBox="1"/>
          <p:nvPr/>
        </p:nvSpPr>
        <p:spPr>
          <a:xfrm>
            <a:off x="7220840"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6</a:t>
            </a:r>
            <a:endParaRPr lang="zh-CN" altLang="en-US" sz="3200" b="1" baseline="-25000" dirty="0">
              <a:solidFill>
                <a:srgbClr val="11576A"/>
              </a:solidFill>
              <a:latin typeface="微软雅黑" pitchFamily="34" charset="-122"/>
              <a:ea typeface="微软雅黑" pitchFamily="34" charset="-122"/>
            </a:endParaRPr>
          </a:p>
        </p:txBody>
      </p:sp>
      <p:sp>
        <p:nvSpPr>
          <p:cNvPr id="278" name="TextBox 25"/>
          <p:cNvSpPr txBox="1"/>
          <p:nvPr/>
        </p:nvSpPr>
        <p:spPr>
          <a:xfrm>
            <a:off x="6623559"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5</a:t>
            </a:r>
            <a:endParaRPr lang="zh-CN" altLang="en-US" sz="3200" b="1" baseline="-25000" dirty="0">
              <a:solidFill>
                <a:srgbClr val="11576A"/>
              </a:solidFill>
              <a:latin typeface="微软雅黑" pitchFamily="34" charset="-122"/>
              <a:ea typeface="微软雅黑" pitchFamily="34" charset="-122"/>
            </a:endParaRPr>
          </a:p>
        </p:txBody>
      </p:sp>
      <p:sp>
        <p:nvSpPr>
          <p:cNvPr id="279" name="TextBox 26"/>
          <p:cNvSpPr txBox="1"/>
          <p:nvPr/>
        </p:nvSpPr>
        <p:spPr>
          <a:xfrm>
            <a:off x="5992057"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4</a:t>
            </a:r>
            <a:endParaRPr lang="zh-CN" altLang="en-US" sz="3200" b="1" baseline="-25000" dirty="0">
              <a:solidFill>
                <a:srgbClr val="11576A"/>
              </a:solidFill>
              <a:latin typeface="微软雅黑" pitchFamily="34" charset="-122"/>
              <a:ea typeface="微软雅黑" pitchFamily="34" charset="-122"/>
            </a:endParaRPr>
          </a:p>
        </p:txBody>
      </p:sp>
      <p:sp>
        <p:nvSpPr>
          <p:cNvPr id="280" name="TextBox 27"/>
          <p:cNvSpPr txBox="1"/>
          <p:nvPr/>
        </p:nvSpPr>
        <p:spPr>
          <a:xfrm>
            <a:off x="5395012" y="1830424"/>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sp>
        <p:nvSpPr>
          <p:cNvPr id="282" name="TextBox 28"/>
          <p:cNvSpPr txBox="1"/>
          <p:nvPr/>
        </p:nvSpPr>
        <p:spPr>
          <a:xfrm>
            <a:off x="4780778" y="1831168"/>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283" name="TextBox 29"/>
          <p:cNvSpPr txBox="1"/>
          <p:nvPr/>
        </p:nvSpPr>
        <p:spPr>
          <a:xfrm>
            <a:off x="4158252" y="18395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291" name="TextBox 104"/>
          <p:cNvSpPr txBox="1"/>
          <p:nvPr/>
        </p:nvSpPr>
        <p:spPr>
          <a:xfrm>
            <a:off x="3555990" y="183471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294" name="TextBox 105"/>
          <p:cNvSpPr txBox="1"/>
          <p:nvPr/>
        </p:nvSpPr>
        <p:spPr>
          <a:xfrm>
            <a:off x="2706138" y="2213606"/>
            <a:ext cx="1098348"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访问请求</a:t>
            </a:r>
          </a:p>
        </p:txBody>
      </p:sp>
      <p:sp>
        <p:nvSpPr>
          <p:cNvPr id="295" name="TextBox 106"/>
          <p:cNvSpPr txBox="1"/>
          <p:nvPr/>
        </p:nvSpPr>
        <p:spPr>
          <a:xfrm>
            <a:off x="2701859" y="1863218"/>
            <a:ext cx="871060" cy="338554"/>
          </a:xfrm>
          <a:prstGeom prst="rect">
            <a:avLst/>
          </a:prstGeom>
          <a:noFill/>
          <a:effectLst/>
        </p:spPr>
        <p:txBody>
          <a:bodyPr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时间</a:t>
            </a:r>
          </a:p>
        </p:txBody>
      </p:sp>
      <p:sp>
        <p:nvSpPr>
          <p:cNvPr id="296" name="TextBox 107"/>
          <p:cNvSpPr txBox="1"/>
          <p:nvPr/>
        </p:nvSpPr>
        <p:spPr>
          <a:xfrm>
            <a:off x="2706138" y="3793673"/>
            <a:ext cx="1169786" cy="299526"/>
          </a:xfrm>
          <a:prstGeom prst="rect">
            <a:avLst/>
          </a:prstGeom>
          <a:noFill/>
          <a:effectLst/>
        </p:spPr>
        <p:txBody>
          <a:bodyPr wrap="square" rtlCol="0">
            <a:spAutoFit/>
          </a:bodyPr>
          <a:lstStyle/>
          <a:p>
            <a:pPr marL="342900" indent="-342900">
              <a:spcBef>
                <a:spcPct val="20000"/>
              </a:spcBef>
            </a:pPr>
            <a:r>
              <a:rPr lang="zh-CN" altLang="en-US" sz="2000" b="1" baseline="-25000" dirty="0">
                <a:solidFill>
                  <a:srgbClr val="11576A"/>
                </a:solidFill>
                <a:latin typeface="微软雅黑" pitchFamily="34" charset="-122"/>
                <a:ea typeface="微软雅黑" pitchFamily="34" charset="-122"/>
              </a:rPr>
              <a:t>缺页状态</a:t>
            </a:r>
          </a:p>
        </p:txBody>
      </p:sp>
      <p:sp>
        <p:nvSpPr>
          <p:cNvPr id="297" name="TextBox 119"/>
          <p:cNvSpPr txBox="1"/>
          <p:nvPr/>
        </p:nvSpPr>
        <p:spPr>
          <a:xfrm>
            <a:off x="2742209" y="2820651"/>
            <a:ext cx="430887" cy="940977"/>
          </a:xfrm>
          <a:prstGeom prst="rect">
            <a:avLst/>
          </a:prstGeom>
          <a:noFill/>
          <a:effectLst/>
        </p:spPr>
        <p:txBody>
          <a:bodyPr vert="eaVert" wrap="square" rtlCol="0">
            <a:spAutoFit/>
          </a:bodyPr>
          <a:lstStyle/>
          <a:p>
            <a:pPr marL="342900" indent="-342900">
              <a:spcBef>
                <a:spcPct val="20000"/>
              </a:spcBef>
            </a:pPr>
            <a:r>
              <a:rPr lang="zh-CN" altLang="en-US" sz="2400" b="1" baseline="-25000" dirty="0">
                <a:solidFill>
                  <a:srgbClr val="11576A"/>
                </a:solidFill>
                <a:latin typeface="微软雅黑" pitchFamily="34" charset="-122"/>
                <a:ea typeface="微软雅黑" pitchFamily="34" charset="-122"/>
              </a:rPr>
              <a:t>物理帧号</a:t>
            </a:r>
          </a:p>
        </p:txBody>
      </p:sp>
      <p:sp>
        <p:nvSpPr>
          <p:cNvPr id="298" name="TextBox 175"/>
          <p:cNvSpPr txBox="1"/>
          <p:nvPr/>
        </p:nvSpPr>
        <p:spPr>
          <a:xfrm>
            <a:off x="7865203" y="1846755"/>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7</a:t>
            </a:r>
            <a:endParaRPr lang="zh-CN" altLang="en-US" sz="3200" b="1" baseline="-25000" dirty="0">
              <a:solidFill>
                <a:srgbClr val="11576A"/>
              </a:solidFill>
              <a:latin typeface="微软雅黑" pitchFamily="34" charset="-122"/>
              <a:ea typeface="微软雅黑" pitchFamily="34" charset="-122"/>
            </a:endParaRPr>
          </a:p>
        </p:txBody>
      </p:sp>
      <p:sp>
        <p:nvSpPr>
          <p:cNvPr id="299" name="TextBox 176"/>
          <p:cNvSpPr txBox="1"/>
          <p:nvPr/>
        </p:nvSpPr>
        <p:spPr>
          <a:xfrm>
            <a:off x="8445628" y="183590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8</a:t>
            </a:r>
            <a:endParaRPr lang="zh-CN" altLang="en-US" sz="3200" b="1" baseline="-25000" dirty="0">
              <a:solidFill>
                <a:srgbClr val="11576A"/>
              </a:solidFill>
              <a:latin typeface="微软雅黑" pitchFamily="34" charset="-122"/>
              <a:ea typeface="微软雅黑" pitchFamily="34" charset="-122"/>
            </a:endParaRPr>
          </a:p>
        </p:txBody>
      </p:sp>
      <p:grpSp>
        <p:nvGrpSpPr>
          <p:cNvPr id="365" name="组合 364"/>
          <p:cNvGrpSpPr/>
          <p:nvPr/>
        </p:nvGrpSpPr>
        <p:grpSpPr>
          <a:xfrm>
            <a:off x="7317574" y="2531783"/>
            <a:ext cx="292532" cy="1314568"/>
            <a:chOff x="1869542" y="1658095"/>
            <a:chExt cx="292532" cy="1314568"/>
          </a:xfrm>
        </p:grpSpPr>
        <p:sp>
          <p:nvSpPr>
            <p:cNvPr id="366" name="文本框 365"/>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68" name="文本框 367"/>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69" name="文本框 368"/>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70" name="文本框 369"/>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371" name="组合 370"/>
          <p:cNvGrpSpPr/>
          <p:nvPr/>
        </p:nvGrpSpPr>
        <p:grpSpPr>
          <a:xfrm>
            <a:off x="8537462" y="2533048"/>
            <a:ext cx="292532" cy="1314568"/>
            <a:chOff x="1869542" y="1658095"/>
            <a:chExt cx="292532" cy="1314568"/>
          </a:xfrm>
        </p:grpSpPr>
        <p:sp>
          <p:nvSpPr>
            <p:cNvPr id="372" name="文本框 371"/>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77" name="文本框 376"/>
            <p:cNvSpPr txBox="1"/>
            <p:nvPr/>
          </p:nvSpPr>
          <p:spPr>
            <a:xfrm>
              <a:off x="1876322" y="19537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78" name="文本框 377"/>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79" name="文本框 378"/>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380" name="文本框 379"/>
          <p:cNvSpPr txBox="1"/>
          <p:nvPr/>
        </p:nvSpPr>
        <p:spPr>
          <a:xfrm>
            <a:off x="4230404" y="2225798"/>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1" name="文本框 380"/>
          <p:cNvSpPr txBox="1"/>
          <p:nvPr/>
        </p:nvSpPr>
        <p:spPr>
          <a:xfrm>
            <a:off x="4849920" y="2225798"/>
            <a:ext cx="545093"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r>
              <a:rPr lang="en-US" altLang="zh-CN" sz="2000" b="1" baseline="30000" dirty="0">
                <a:solidFill>
                  <a:srgbClr val="11576A"/>
                </a:solidFill>
                <a:latin typeface="微软雅黑" panose="020B0503020204020204" pitchFamily="34" charset="-122"/>
                <a:ea typeface="微软雅黑" panose="020B0503020204020204" pitchFamily="34" charset="-122"/>
              </a:rPr>
              <a:t>w</a:t>
            </a:r>
            <a:endParaRPr lang="zh-CN" altLang="en-US" sz="2000" b="1" baseline="30000" dirty="0">
              <a:solidFill>
                <a:srgbClr val="11576A"/>
              </a:solidFill>
              <a:latin typeface="微软雅黑" panose="020B0503020204020204" pitchFamily="34" charset="-122"/>
              <a:ea typeface="微软雅黑" panose="020B0503020204020204" pitchFamily="34" charset="-122"/>
            </a:endParaRPr>
          </a:p>
        </p:txBody>
      </p:sp>
      <p:sp>
        <p:nvSpPr>
          <p:cNvPr id="382" name="文本框 381"/>
          <p:cNvSpPr txBox="1"/>
          <p:nvPr/>
        </p:nvSpPr>
        <p:spPr>
          <a:xfrm>
            <a:off x="5511750" y="2240119"/>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3" name="文本框 382"/>
          <p:cNvSpPr txBox="1"/>
          <p:nvPr/>
        </p:nvSpPr>
        <p:spPr>
          <a:xfrm>
            <a:off x="6099889" y="2231771"/>
            <a:ext cx="565613" cy="707886"/>
          </a:xfrm>
          <a:prstGeom prst="rect">
            <a:avLst/>
          </a:prstGeom>
          <a:noFill/>
        </p:spPr>
        <p:txBody>
          <a:bodyPr wrap="square" rtlCol="0">
            <a:spAutoFit/>
          </a:bodyPr>
          <a:lstStyle/>
          <a:p>
            <a:r>
              <a:rPr lang="en-US" altLang="zh-CN" sz="2000" b="1" dirty="0" err="1">
                <a:solidFill>
                  <a:srgbClr val="11576A"/>
                </a:solidFill>
                <a:latin typeface="微软雅黑" panose="020B0503020204020204" pitchFamily="34" charset="-122"/>
                <a:ea typeface="微软雅黑" panose="020B0503020204020204" pitchFamily="34" charset="-122"/>
              </a:rPr>
              <a:t>b</a:t>
            </a:r>
            <a:r>
              <a:rPr lang="en-US" altLang="zh-CN" sz="2000" b="1" baseline="30000" dirty="0" err="1">
                <a:solidFill>
                  <a:srgbClr val="11576A"/>
                </a:solidFill>
                <a:latin typeface="微软雅黑" panose="020B0503020204020204" pitchFamily="34" charset="-122"/>
                <a:ea typeface="微软雅黑" panose="020B0503020204020204" pitchFamily="34" charset="-122"/>
              </a:rPr>
              <a:t>w</a:t>
            </a:r>
            <a:endParaRPr lang="zh-CN" altLang="en-US" sz="2000" b="1" baseline="30000" dirty="0">
              <a:solidFill>
                <a:srgbClr val="11576A"/>
              </a:solidFill>
              <a:latin typeface="微软雅黑" panose="020B0503020204020204" pitchFamily="34" charset="-122"/>
              <a:ea typeface="微软雅黑" panose="020B0503020204020204" pitchFamily="34"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4" name="文本框 383"/>
          <p:cNvSpPr txBox="1"/>
          <p:nvPr/>
        </p:nvSpPr>
        <p:spPr>
          <a:xfrm>
            <a:off x="6740891" y="2231864"/>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5" name="文本框 384"/>
          <p:cNvSpPr txBox="1"/>
          <p:nvPr/>
        </p:nvSpPr>
        <p:spPr>
          <a:xfrm>
            <a:off x="7330990" y="2238562"/>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6" name="文本框 385"/>
          <p:cNvSpPr txBox="1"/>
          <p:nvPr/>
        </p:nvSpPr>
        <p:spPr>
          <a:xfrm>
            <a:off x="7978957" y="2230884"/>
            <a:ext cx="531446" cy="707886"/>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r>
              <a:rPr lang="en-US" altLang="zh-CN" sz="2000" b="1" baseline="30000" dirty="0">
                <a:solidFill>
                  <a:srgbClr val="11576A"/>
                </a:solidFill>
                <a:latin typeface="微软雅黑" panose="020B0503020204020204" pitchFamily="34" charset="-122"/>
                <a:ea typeface="微软雅黑" panose="020B0503020204020204" pitchFamily="34" charset="-122"/>
              </a:rPr>
              <a:t>w</a:t>
            </a:r>
            <a:endParaRPr lang="zh-CN" altLang="en-US" sz="2000" b="1" baseline="30000" dirty="0">
              <a:solidFill>
                <a:srgbClr val="11576A"/>
              </a:solidFill>
              <a:latin typeface="微软雅黑" panose="020B0503020204020204" pitchFamily="34" charset="-122"/>
              <a:ea typeface="微软雅黑" panose="020B0503020204020204" pitchFamily="34" charset="-122"/>
            </a:endParaRPr>
          </a:p>
          <a:p>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7" name="文本框 386"/>
          <p:cNvSpPr txBox="1"/>
          <p:nvPr/>
        </p:nvSpPr>
        <p:spPr>
          <a:xfrm>
            <a:off x="8553552" y="2230884"/>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8" name="文本框 387"/>
          <p:cNvSpPr txBox="1"/>
          <p:nvPr/>
        </p:nvSpPr>
        <p:spPr>
          <a:xfrm>
            <a:off x="9186696" y="2230807"/>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389" name="文本框 388"/>
          <p:cNvSpPr txBox="1"/>
          <p:nvPr/>
        </p:nvSpPr>
        <p:spPr>
          <a:xfrm>
            <a:off x="9764101" y="2231032"/>
            <a:ext cx="253678"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nvGrpSpPr>
          <p:cNvPr id="34" name="组合 33"/>
          <p:cNvGrpSpPr/>
          <p:nvPr/>
        </p:nvGrpSpPr>
        <p:grpSpPr>
          <a:xfrm>
            <a:off x="7965213" y="2524546"/>
            <a:ext cx="292532" cy="1314568"/>
            <a:chOff x="5620388" y="1667296"/>
            <a:chExt cx="292532" cy="1314568"/>
          </a:xfrm>
        </p:grpSpPr>
        <p:sp>
          <p:nvSpPr>
            <p:cNvPr id="423" name="文本框 422"/>
            <p:cNvSpPr txBox="1"/>
            <p:nvPr/>
          </p:nvSpPr>
          <p:spPr>
            <a:xfrm>
              <a:off x="5627168" y="1667296"/>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4" name="文本框 423"/>
            <p:cNvSpPr txBox="1"/>
            <p:nvPr/>
          </p:nvSpPr>
          <p:spPr>
            <a:xfrm>
              <a:off x="5627168" y="1955748"/>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5" name="文本框 424"/>
            <p:cNvSpPr txBox="1"/>
            <p:nvPr/>
          </p:nvSpPr>
          <p:spPr>
            <a:xfrm>
              <a:off x="5627168" y="2281566"/>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26" name="文本框 425"/>
            <p:cNvSpPr txBox="1"/>
            <p:nvPr/>
          </p:nvSpPr>
          <p:spPr>
            <a:xfrm>
              <a:off x="5620388" y="2581754"/>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536" name="矩形 535"/>
          <p:cNvSpPr/>
          <p:nvPr/>
        </p:nvSpPr>
        <p:spPr>
          <a:xfrm>
            <a:off x="2639616" y="4290292"/>
            <a:ext cx="7690322" cy="1491499"/>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3200" dirty="0"/>
          </a:p>
        </p:txBody>
      </p:sp>
      <p:sp>
        <p:nvSpPr>
          <p:cNvPr id="537" name="TextBox 437"/>
          <p:cNvSpPr txBox="1"/>
          <p:nvPr/>
        </p:nvSpPr>
        <p:spPr>
          <a:xfrm>
            <a:off x="2646753" y="4725144"/>
            <a:ext cx="864096" cy="523220"/>
          </a:xfrm>
          <a:prstGeom prst="rect">
            <a:avLst/>
          </a:prstGeom>
          <a:noFill/>
        </p:spPr>
        <p:txBody>
          <a:bodyPr wrap="square" rtlCol="0">
            <a:spAutoFit/>
          </a:bodyPr>
          <a:lstStyle/>
          <a:p>
            <a:r>
              <a:rPr lang="zh-CN" altLang="en-US" sz="1400" b="1" spc="-100" dirty="0">
                <a:solidFill>
                  <a:srgbClr val="11576A"/>
                </a:solidFill>
                <a:latin typeface="微软雅黑" pitchFamily="34" charset="-122"/>
                <a:ea typeface="微软雅黑" pitchFamily="34" charset="-122"/>
              </a:rPr>
              <a:t>驻留页面的页表项</a:t>
            </a:r>
          </a:p>
        </p:txBody>
      </p:sp>
      <p:grpSp>
        <p:nvGrpSpPr>
          <p:cNvPr id="41" name="组合 40"/>
          <p:cNvGrpSpPr/>
          <p:nvPr/>
        </p:nvGrpSpPr>
        <p:grpSpPr>
          <a:xfrm>
            <a:off x="6576233" y="2531792"/>
            <a:ext cx="436592" cy="1314568"/>
            <a:chOff x="4231408" y="1674542"/>
            <a:chExt cx="436592" cy="1314568"/>
          </a:xfrm>
        </p:grpSpPr>
        <p:grpSp>
          <p:nvGrpSpPr>
            <p:cNvPr id="407" name="组合 406"/>
            <p:cNvGrpSpPr/>
            <p:nvPr/>
          </p:nvGrpSpPr>
          <p:grpSpPr>
            <a:xfrm>
              <a:off x="4375468" y="1674542"/>
              <a:ext cx="292532" cy="1314568"/>
              <a:chOff x="1869542" y="1658095"/>
              <a:chExt cx="292532" cy="1314568"/>
            </a:xfrm>
          </p:grpSpPr>
          <p:sp>
            <p:nvSpPr>
              <p:cNvPr id="409" name="文本框 408"/>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10" name="文本框 409"/>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411" name="文本框 410"/>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C00000"/>
                    </a:solidFill>
                    <a:latin typeface="微软雅黑" panose="020B0503020204020204" pitchFamily="34" charset="-122"/>
                    <a:ea typeface="微软雅黑" panose="020B0503020204020204" pitchFamily="34" charset="-122"/>
                  </a:rPr>
                  <a:t>e</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412" name="文本框 411"/>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555" name="AutoShape 98"/>
            <p:cNvSpPr>
              <a:spLocks/>
            </p:cNvSpPr>
            <p:nvPr/>
          </p:nvSpPr>
          <p:spPr bwMode="auto">
            <a:xfrm>
              <a:off x="4231408" y="2469972"/>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grpSp>
        <p:nvGrpSpPr>
          <p:cNvPr id="42" name="组合 41"/>
          <p:cNvGrpSpPr/>
          <p:nvPr/>
        </p:nvGrpSpPr>
        <p:grpSpPr>
          <a:xfrm>
            <a:off x="9037390" y="2524546"/>
            <a:ext cx="425803" cy="1314568"/>
            <a:chOff x="6692563" y="1667296"/>
            <a:chExt cx="425803" cy="1314568"/>
          </a:xfrm>
        </p:grpSpPr>
        <p:grpSp>
          <p:nvGrpSpPr>
            <p:cNvPr id="435" name="组合 434"/>
            <p:cNvGrpSpPr/>
            <p:nvPr/>
          </p:nvGrpSpPr>
          <p:grpSpPr>
            <a:xfrm>
              <a:off x="6825834" y="1667296"/>
              <a:ext cx="292532" cy="1314568"/>
              <a:chOff x="1869542" y="1658095"/>
              <a:chExt cx="292532" cy="1314568"/>
            </a:xfrm>
          </p:grpSpPr>
          <p:sp>
            <p:nvSpPr>
              <p:cNvPr id="525" name="文本框 524"/>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526" name="文本框 525"/>
              <p:cNvSpPr txBox="1"/>
              <p:nvPr/>
            </p:nvSpPr>
            <p:spPr>
              <a:xfrm>
                <a:off x="1876322" y="19537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527" name="文本框 526"/>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528" name="文本框 527"/>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C00000"/>
                    </a:solidFill>
                    <a:latin typeface="微软雅黑" panose="020B0503020204020204" pitchFamily="34" charset="-122"/>
                    <a:ea typeface="微软雅黑" panose="020B0503020204020204" pitchFamily="34" charset="-122"/>
                  </a:rPr>
                  <a:t>c</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sp>
          <p:nvSpPr>
            <p:cNvPr id="556" name="AutoShape 98"/>
            <p:cNvSpPr>
              <a:spLocks/>
            </p:cNvSpPr>
            <p:nvPr/>
          </p:nvSpPr>
          <p:spPr bwMode="auto">
            <a:xfrm>
              <a:off x="6692563" y="2772183"/>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grpSp>
        <p:nvGrpSpPr>
          <p:cNvPr id="43" name="组合 42"/>
          <p:cNvGrpSpPr/>
          <p:nvPr/>
        </p:nvGrpSpPr>
        <p:grpSpPr>
          <a:xfrm>
            <a:off x="9630072" y="2531783"/>
            <a:ext cx="406832" cy="1314568"/>
            <a:chOff x="7285247" y="1674533"/>
            <a:chExt cx="406832" cy="1314568"/>
          </a:xfrm>
        </p:grpSpPr>
        <p:grpSp>
          <p:nvGrpSpPr>
            <p:cNvPr id="530" name="组合 529"/>
            <p:cNvGrpSpPr/>
            <p:nvPr/>
          </p:nvGrpSpPr>
          <p:grpSpPr>
            <a:xfrm>
              <a:off x="7399547" y="1674533"/>
              <a:ext cx="292532" cy="1314568"/>
              <a:chOff x="1869542" y="1658095"/>
              <a:chExt cx="292532" cy="1314568"/>
            </a:xfrm>
          </p:grpSpPr>
          <p:sp>
            <p:nvSpPr>
              <p:cNvPr id="532" name="文本框 531"/>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533" name="文本框 532"/>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C00000"/>
                    </a:solidFill>
                    <a:latin typeface="微软雅黑" panose="020B0503020204020204" pitchFamily="34" charset="-122"/>
                    <a:ea typeface="微软雅黑" panose="020B0503020204020204" pitchFamily="34" charset="-122"/>
                  </a:rPr>
                  <a:t>d</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534" name="文本框 533"/>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e</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535" name="文本框 534"/>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557" name="AutoShape 98"/>
            <p:cNvSpPr>
              <a:spLocks/>
            </p:cNvSpPr>
            <p:nvPr/>
          </p:nvSpPr>
          <p:spPr bwMode="auto">
            <a:xfrm>
              <a:off x="7285247" y="2133220"/>
              <a:ext cx="228600" cy="76200"/>
            </a:xfrm>
            <a:prstGeom prst="rightArrow">
              <a:avLst>
                <a:gd name="adj1" fmla="val 50000"/>
                <a:gd name="adj2" fmla="val 74986"/>
              </a:avLst>
            </a:prstGeom>
            <a:solidFill>
              <a:srgbClr val="C00000"/>
            </a:solidFill>
            <a:ln w="28575" cmpd="sng">
              <a:noFill/>
              <a:miter lim="800000"/>
              <a:headEnd/>
              <a:tailEnd/>
            </a:ln>
          </p:spPr>
          <p:txBody>
            <a:bodyPr wrap="none" anchor="ctr"/>
            <a:lstStyle/>
            <a:p>
              <a:endParaRPr lang="en-US" sz="3200">
                <a:solidFill>
                  <a:srgbClr val="7030A0"/>
                </a:solidFill>
              </a:endParaRPr>
            </a:p>
          </p:txBody>
        </p:sp>
      </p:grpSp>
      <p:cxnSp>
        <p:nvCxnSpPr>
          <p:cNvPr id="733" name="直接连接符 732"/>
          <p:cNvCxnSpPr/>
          <p:nvPr/>
        </p:nvCxnSpPr>
        <p:spPr>
          <a:xfrm>
            <a:off x="3719063" y="2618330"/>
            <a:ext cx="0" cy="1227511"/>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734" name="TextBox 96"/>
          <p:cNvSpPr txBox="1"/>
          <p:nvPr/>
        </p:nvSpPr>
        <p:spPr>
          <a:xfrm>
            <a:off x="3215729" y="2464289"/>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0</a:t>
            </a:r>
            <a:endParaRPr lang="zh-CN" altLang="en-US" sz="3200" b="1" baseline="-25000" dirty="0">
              <a:solidFill>
                <a:srgbClr val="11576A"/>
              </a:solidFill>
              <a:latin typeface="微软雅黑" pitchFamily="34" charset="-122"/>
              <a:ea typeface="微软雅黑" pitchFamily="34" charset="-122"/>
            </a:endParaRPr>
          </a:p>
        </p:txBody>
      </p:sp>
      <p:sp>
        <p:nvSpPr>
          <p:cNvPr id="735" name="TextBox 97"/>
          <p:cNvSpPr txBox="1"/>
          <p:nvPr/>
        </p:nvSpPr>
        <p:spPr>
          <a:xfrm>
            <a:off x="3215729" y="2770337"/>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1</a:t>
            </a:r>
            <a:endParaRPr lang="zh-CN" altLang="en-US" sz="3200" b="1" baseline="-25000" dirty="0">
              <a:solidFill>
                <a:srgbClr val="11576A"/>
              </a:solidFill>
              <a:latin typeface="微软雅黑" pitchFamily="34" charset="-122"/>
              <a:ea typeface="微软雅黑" pitchFamily="34" charset="-122"/>
            </a:endParaRPr>
          </a:p>
        </p:txBody>
      </p:sp>
      <p:sp>
        <p:nvSpPr>
          <p:cNvPr id="736" name="TextBox 98"/>
          <p:cNvSpPr txBox="1"/>
          <p:nvPr/>
        </p:nvSpPr>
        <p:spPr>
          <a:xfrm>
            <a:off x="3201892" y="3062780"/>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2</a:t>
            </a:r>
            <a:endParaRPr lang="zh-CN" altLang="en-US" sz="3200" b="1" baseline="-25000" dirty="0">
              <a:solidFill>
                <a:srgbClr val="11576A"/>
              </a:solidFill>
              <a:latin typeface="微软雅黑" pitchFamily="34" charset="-122"/>
              <a:ea typeface="微软雅黑" pitchFamily="34" charset="-122"/>
            </a:endParaRPr>
          </a:p>
        </p:txBody>
      </p:sp>
      <p:sp>
        <p:nvSpPr>
          <p:cNvPr id="737" name="TextBox 99"/>
          <p:cNvSpPr txBox="1"/>
          <p:nvPr/>
        </p:nvSpPr>
        <p:spPr>
          <a:xfrm>
            <a:off x="3202677" y="3355223"/>
            <a:ext cx="486000" cy="420628"/>
          </a:xfrm>
          <a:prstGeom prst="rect">
            <a:avLst/>
          </a:prstGeom>
          <a:noFill/>
          <a:effectLst/>
        </p:spPr>
        <p:txBody>
          <a:bodyPr wrap="square" rtlCol="0">
            <a:spAutoFit/>
          </a:bodyPr>
          <a:lstStyle/>
          <a:p>
            <a:pPr marL="342900" indent="-342900" algn="ctr">
              <a:spcBef>
                <a:spcPct val="20000"/>
              </a:spcBef>
            </a:pPr>
            <a:r>
              <a:rPr lang="en-US" altLang="zh-CN" sz="3200" b="1" baseline="-25000" dirty="0">
                <a:solidFill>
                  <a:srgbClr val="11576A"/>
                </a:solidFill>
                <a:latin typeface="微软雅黑" pitchFamily="34" charset="-122"/>
                <a:ea typeface="微软雅黑" pitchFamily="34" charset="-122"/>
              </a:rPr>
              <a:t>3</a:t>
            </a:r>
            <a:endParaRPr lang="zh-CN" altLang="en-US" sz="3200" b="1" baseline="-25000" dirty="0">
              <a:solidFill>
                <a:srgbClr val="11576A"/>
              </a:solidFill>
              <a:latin typeface="微软雅黑" pitchFamily="34" charset="-122"/>
              <a:ea typeface="微软雅黑" pitchFamily="34" charset="-122"/>
            </a:endParaRPr>
          </a:p>
        </p:txBody>
      </p:sp>
      <p:grpSp>
        <p:nvGrpSpPr>
          <p:cNvPr id="738" name="组合 737"/>
          <p:cNvGrpSpPr/>
          <p:nvPr/>
        </p:nvGrpSpPr>
        <p:grpSpPr>
          <a:xfrm>
            <a:off x="4214367" y="2529745"/>
            <a:ext cx="292532" cy="1314568"/>
            <a:chOff x="1869542" y="1658095"/>
            <a:chExt cx="292532" cy="1314568"/>
          </a:xfrm>
        </p:grpSpPr>
        <p:sp>
          <p:nvSpPr>
            <p:cNvPr id="739" name="文本框 738"/>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40" name="文本框 739"/>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41" name="文本框 740"/>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42" name="文本框 741"/>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743" name="组合 742"/>
          <p:cNvGrpSpPr/>
          <p:nvPr/>
        </p:nvGrpSpPr>
        <p:grpSpPr>
          <a:xfrm>
            <a:off x="3736577" y="2536148"/>
            <a:ext cx="292532" cy="1314568"/>
            <a:chOff x="1869542" y="1658095"/>
            <a:chExt cx="292532" cy="1314568"/>
          </a:xfrm>
        </p:grpSpPr>
        <p:sp>
          <p:nvSpPr>
            <p:cNvPr id="744" name="文本框 743"/>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45" name="文本框 744"/>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46" name="文本框 745"/>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47" name="文本框 746"/>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748" name="组合 747"/>
          <p:cNvGrpSpPr/>
          <p:nvPr/>
        </p:nvGrpSpPr>
        <p:grpSpPr>
          <a:xfrm>
            <a:off x="4828593" y="2515362"/>
            <a:ext cx="292532" cy="1314568"/>
            <a:chOff x="1869542" y="1658095"/>
            <a:chExt cx="292532" cy="1314568"/>
          </a:xfrm>
        </p:grpSpPr>
        <p:sp>
          <p:nvSpPr>
            <p:cNvPr id="749" name="文本框 748"/>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50" name="文本框 749"/>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51" name="文本框 750"/>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52" name="文本框 751"/>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753" name="组合 752"/>
          <p:cNvGrpSpPr/>
          <p:nvPr/>
        </p:nvGrpSpPr>
        <p:grpSpPr>
          <a:xfrm>
            <a:off x="5487442" y="2510359"/>
            <a:ext cx="292532" cy="1314568"/>
            <a:chOff x="1869542" y="1658095"/>
            <a:chExt cx="292532" cy="1314568"/>
          </a:xfrm>
        </p:grpSpPr>
        <p:sp>
          <p:nvSpPr>
            <p:cNvPr id="754" name="文本框 753"/>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55" name="文本框 754"/>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56" name="文本框 755"/>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57" name="文本框 756"/>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758" name="组合 757"/>
          <p:cNvGrpSpPr/>
          <p:nvPr/>
        </p:nvGrpSpPr>
        <p:grpSpPr>
          <a:xfrm>
            <a:off x="6086472" y="2510359"/>
            <a:ext cx="292532" cy="1314568"/>
            <a:chOff x="1869542" y="1658095"/>
            <a:chExt cx="292532" cy="1314568"/>
          </a:xfrm>
        </p:grpSpPr>
        <p:sp>
          <p:nvSpPr>
            <p:cNvPr id="759" name="文本框 758"/>
            <p:cNvSpPr txBox="1"/>
            <p:nvPr/>
          </p:nvSpPr>
          <p:spPr>
            <a:xfrm>
              <a:off x="1876322" y="165809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a</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60" name="文本框 759"/>
            <p:cNvSpPr txBox="1"/>
            <p:nvPr/>
          </p:nvSpPr>
          <p:spPr>
            <a:xfrm>
              <a:off x="1876322" y="1946547"/>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b</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61" name="文本框 760"/>
            <p:cNvSpPr txBox="1"/>
            <p:nvPr/>
          </p:nvSpPr>
          <p:spPr>
            <a:xfrm>
              <a:off x="1876322" y="2272365"/>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c</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762" name="文本框 761"/>
            <p:cNvSpPr txBox="1"/>
            <p:nvPr/>
          </p:nvSpPr>
          <p:spPr>
            <a:xfrm>
              <a:off x="1869542" y="2572553"/>
              <a:ext cx="285752" cy="400110"/>
            </a:xfrm>
            <a:prstGeom prst="rect">
              <a:avLst/>
            </a:prstGeom>
            <a:noFill/>
          </p:spPr>
          <p:txBody>
            <a:bodyPr wrap="square" rtlCol="0">
              <a:spAutoFit/>
            </a:bodyPr>
            <a:lstStyle/>
            <a:p>
              <a:r>
                <a:rPr lang="en-US" altLang="zh-CN" sz="2000" b="1" dirty="0">
                  <a:solidFill>
                    <a:srgbClr val="11576A"/>
                  </a:solidFill>
                  <a:latin typeface="微软雅黑" panose="020B0503020204020204" pitchFamily="34" charset="-122"/>
                  <a:ea typeface="微软雅黑" panose="020B0503020204020204" pitchFamily="34" charset="-122"/>
                </a:rPr>
                <a:t>d</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sp>
        <p:nvSpPr>
          <p:cNvPr id="763" name="TextBox 58"/>
          <p:cNvSpPr txBox="1"/>
          <p:nvPr/>
        </p:nvSpPr>
        <p:spPr>
          <a:xfrm>
            <a:off x="4221147" y="3144015"/>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c</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764" name="TextBox 58"/>
          <p:cNvSpPr txBox="1"/>
          <p:nvPr/>
        </p:nvSpPr>
        <p:spPr>
          <a:xfrm>
            <a:off x="4833920" y="2519447"/>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a</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765" name="TextBox 58"/>
          <p:cNvSpPr txBox="1"/>
          <p:nvPr/>
        </p:nvSpPr>
        <p:spPr>
          <a:xfrm>
            <a:off x="5488365" y="3424817"/>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d</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sp>
        <p:nvSpPr>
          <p:cNvPr id="766" name="TextBox 58"/>
          <p:cNvSpPr txBox="1"/>
          <p:nvPr/>
        </p:nvSpPr>
        <p:spPr>
          <a:xfrm>
            <a:off x="6091720" y="2793928"/>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767" name="组合 766"/>
          <p:cNvGrpSpPr/>
          <p:nvPr/>
        </p:nvGrpSpPr>
        <p:grpSpPr>
          <a:xfrm>
            <a:off x="3368128" y="4420490"/>
            <a:ext cx="704087" cy="1266793"/>
            <a:chOff x="8074316" y="3693574"/>
            <a:chExt cx="704087" cy="1266793"/>
          </a:xfrm>
        </p:grpSpPr>
        <p:sp>
          <p:nvSpPr>
            <p:cNvPr id="768" name="矩形 767"/>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69" name="矩形 768"/>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0" name="矩形 769"/>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1" name="矩形 770"/>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2" name="矩形 771"/>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3" name="矩形 772"/>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4" name="矩形 773"/>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5" name="矩形 774"/>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6" name="TextBox 377"/>
            <p:cNvSpPr txBox="1"/>
            <p:nvPr/>
          </p:nvSpPr>
          <p:spPr>
            <a:xfrm>
              <a:off x="8074316" y="371599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777"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778"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779" name="TextBox 380"/>
            <p:cNvSpPr txBox="1"/>
            <p:nvPr/>
          </p:nvSpPr>
          <p:spPr>
            <a:xfrm>
              <a:off x="80820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780"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81"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782"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783"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784" name="组合 783"/>
          <p:cNvGrpSpPr/>
          <p:nvPr/>
        </p:nvGrpSpPr>
        <p:grpSpPr>
          <a:xfrm>
            <a:off x="4001082" y="4418525"/>
            <a:ext cx="696887" cy="1266793"/>
            <a:chOff x="8081516" y="3693574"/>
            <a:chExt cx="696887" cy="1266793"/>
          </a:xfrm>
        </p:grpSpPr>
        <p:sp>
          <p:nvSpPr>
            <p:cNvPr id="785" name="矩形 784"/>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6" name="矩形 785"/>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7" name="矩形 786"/>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8" name="矩形 787"/>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89" name="矩形 788"/>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0" name="矩形 789"/>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1" name="矩形 790"/>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2" name="矩形 791"/>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3" name="TextBox 377"/>
            <p:cNvSpPr txBox="1"/>
            <p:nvPr/>
          </p:nvSpPr>
          <p:spPr>
            <a:xfrm>
              <a:off x="8081516" y="371599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794" name="TextBox 378"/>
            <p:cNvSpPr txBox="1"/>
            <p:nvPr/>
          </p:nvSpPr>
          <p:spPr>
            <a:xfrm>
              <a:off x="80815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795" name="TextBox 379"/>
            <p:cNvSpPr txBox="1"/>
            <p:nvPr/>
          </p:nvSpPr>
          <p:spPr>
            <a:xfrm>
              <a:off x="80892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796" name="TextBox 380"/>
            <p:cNvSpPr txBox="1"/>
            <p:nvPr/>
          </p:nvSpPr>
          <p:spPr>
            <a:xfrm>
              <a:off x="80892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797"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98"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799"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00"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01" name="组合 800"/>
          <p:cNvGrpSpPr/>
          <p:nvPr/>
        </p:nvGrpSpPr>
        <p:grpSpPr>
          <a:xfrm>
            <a:off x="4614742" y="4418525"/>
            <a:ext cx="704087" cy="1266793"/>
            <a:chOff x="8074316" y="3693574"/>
            <a:chExt cx="704087" cy="1266793"/>
          </a:xfrm>
        </p:grpSpPr>
        <p:sp>
          <p:nvSpPr>
            <p:cNvPr id="802" name="矩形 801"/>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3" name="矩形 802"/>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4" name="矩形 803"/>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5" name="矩形 804"/>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6" name="矩形 805"/>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7" name="矩形 806"/>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8" name="矩形 807"/>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9" name="矩形 808"/>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10" name="TextBox 377"/>
            <p:cNvSpPr txBox="1"/>
            <p:nvPr/>
          </p:nvSpPr>
          <p:spPr>
            <a:xfrm>
              <a:off x="8074316" y="371599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811"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812"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13" name="TextBox 380"/>
            <p:cNvSpPr txBox="1"/>
            <p:nvPr/>
          </p:nvSpPr>
          <p:spPr>
            <a:xfrm>
              <a:off x="80820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814"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815"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16"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17"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18" name="组合 817"/>
          <p:cNvGrpSpPr/>
          <p:nvPr/>
        </p:nvGrpSpPr>
        <p:grpSpPr>
          <a:xfrm>
            <a:off x="5249478" y="4418525"/>
            <a:ext cx="696887" cy="1266793"/>
            <a:chOff x="8081516" y="3693574"/>
            <a:chExt cx="696887" cy="1266793"/>
          </a:xfrm>
        </p:grpSpPr>
        <p:sp>
          <p:nvSpPr>
            <p:cNvPr id="819" name="矩形 818"/>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0" name="矩形 819"/>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1" name="矩形 820"/>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2" name="矩形 821"/>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3" name="矩形 822"/>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4" name="矩形 823"/>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5" name="矩形 824"/>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6" name="矩形 825"/>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7" name="TextBox 377"/>
            <p:cNvSpPr txBox="1"/>
            <p:nvPr/>
          </p:nvSpPr>
          <p:spPr>
            <a:xfrm>
              <a:off x="8081516" y="371599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828" name="TextBox 378"/>
            <p:cNvSpPr txBox="1"/>
            <p:nvPr/>
          </p:nvSpPr>
          <p:spPr>
            <a:xfrm>
              <a:off x="80815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829" name="TextBox 379"/>
            <p:cNvSpPr txBox="1"/>
            <p:nvPr/>
          </p:nvSpPr>
          <p:spPr>
            <a:xfrm>
              <a:off x="80892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30" name="TextBox 380"/>
            <p:cNvSpPr txBox="1"/>
            <p:nvPr/>
          </p:nvSpPr>
          <p:spPr>
            <a:xfrm>
              <a:off x="80892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31"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832"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33"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34"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35" name="组合 834"/>
          <p:cNvGrpSpPr/>
          <p:nvPr/>
        </p:nvGrpSpPr>
        <p:grpSpPr>
          <a:xfrm>
            <a:off x="5861829" y="4418525"/>
            <a:ext cx="704087" cy="1266793"/>
            <a:chOff x="8074316" y="3693574"/>
            <a:chExt cx="704087" cy="1266793"/>
          </a:xfrm>
        </p:grpSpPr>
        <p:sp>
          <p:nvSpPr>
            <p:cNvPr id="836" name="矩形 835"/>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7" name="矩形 836"/>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8" name="矩形 837"/>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9" name="矩形 838"/>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0" name="矩形 839"/>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1" name="矩形 840"/>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2" name="矩形 841"/>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3" name="矩形 842"/>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44" name="TextBox 377"/>
            <p:cNvSpPr txBox="1"/>
            <p:nvPr/>
          </p:nvSpPr>
          <p:spPr>
            <a:xfrm>
              <a:off x="8074316" y="371599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845"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846"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47" name="TextBox 380"/>
            <p:cNvSpPr txBox="1"/>
            <p:nvPr/>
          </p:nvSpPr>
          <p:spPr>
            <a:xfrm>
              <a:off x="80820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48"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849"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50"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51"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52" name="组合 851"/>
          <p:cNvGrpSpPr/>
          <p:nvPr/>
        </p:nvGrpSpPr>
        <p:grpSpPr>
          <a:xfrm>
            <a:off x="6790006" y="2330906"/>
            <a:ext cx="234000" cy="1734463"/>
            <a:chOff x="4525237" y="1803105"/>
            <a:chExt cx="234000" cy="1734463"/>
          </a:xfrm>
        </p:grpSpPr>
        <p:sp>
          <p:nvSpPr>
            <p:cNvPr id="853"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854" name="Oval 101"/>
            <p:cNvSpPr>
              <a:spLocks/>
            </p:cNvSpPr>
            <p:nvPr/>
          </p:nvSpPr>
          <p:spPr bwMode="auto">
            <a:xfrm>
              <a:off x="4525237" y="1803105"/>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855" name="组合 854"/>
          <p:cNvGrpSpPr/>
          <p:nvPr/>
        </p:nvGrpSpPr>
        <p:grpSpPr>
          <a:xfrm>
            <a:off x="9236680" y="2326072"/>
            <a:ext cx="234000" cy="1734463"/>
            <a:chOff x="4525237" y="1803105"/>
            <a:chExt cx="234000" cy="1734463"/>
          </a:xfrm>
        </p:grpSpPr>
        <p:sp>
          <p:nvSpPr>
            <p:cNvPr id="856"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857" name="Oval 101"/>
            <p:cNvSpPr>
              <a:spLocks/>
            </p:cNvSpPr>
            <p:nvPr/>
          </p:nvSpPr>
          <p:spPr bwMode="auto">
            <a:xfrm>
              <a:off x="4525237" y="1803105"/>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858" name="组合 857"/>
          <p:cNvGrpSpPr/>
          <p:nvPr/>
        </p:nvGrpSpPr>
        <p:grpSpPr>
          <a:xfrm>
            <a:off x="9818052" y="2326808"/>
            <a:ext cx="234000" cy="1734463"/>
            <a:chOff x="4525237" y="1803105"/>
            <a:chExt cx="234000" cy="1734463"/>
          </a:xfrm>
        </p:grpSpPr>
        <p:sp>
          <p:nvSpPr>
            <p:cNvPr id="859" name="AutoShape 100"/>
            <p:cNvSpPr>
              <a:spLocks noChangeArrowheads="1"/>
            </p:cNvSpPr>
            <p:nvPr/>
          </p:nvSpPr>
          <p:spPr bwMode="auto">
            <a:xfrm>
              <a:off x="4549262" y="335756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860" name="Oval 101"/>
            <p:cNvSpPr>
              <a:spLocks/>
            </p:cNvSpPr>
            <p:nvPr/>
          </p:nvSpPr>
          <p:spPr bwMode="auto">
            <a:xfrm>
              <a:off x="4525237" y="1803105"/>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861" name="组合 860"/>
          <p:cNvGrpSpPr/>
          <p:nvPr/>
        </p:nvGrpSpPr>
        <p:grpSpPr>
          <a:xfrm>
            <a:off x="6495892" y="4418525"/>
            <a:ext cx="704087" cy="1266793"/>
            <a:chOff x="8074316" y="3693574"/>
            <a:chExt cx="704087" cy="1266793"/>
          </a:xfrm>
        </p:grpSpPr>
        <p:sp>
          <p:nvSpPr>
            <p:cNvPr id="862" name="矩形 861"/>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3" name="矩形 862"/>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4" name="矩形 863"/>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5" name="矩形 864"/>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6" name="矩形 865"/>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7" name="矩形 866"/>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8" name="矩形 867"/>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69" name="矩形 868"/>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0" name="TextBox 377"/>
            <p:cNvSpPr txBox="1"/>
            <p:nvPr/>
          </p:nvSpPr>
          <p:spPr>
            <a:xfrm>
              <a:off x="8074316" y="371599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871"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872"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73" name="TextBox 380"/>
            <p:cNvSpPr txBox="1"/>
            <p:nvPr/>
          </p:nvSpPr>
          <p:spPr>
            <a:xfrm>
              <a:off x="80820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74" name="TextBox 382"/>
            <p:cNvSpPr txBox="1"/>
            <p:nvPr/>
          </p:nvSpPr>
          <p:spPr>
            <a:xfrm>
              <a:off x="8424515" y="369357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875"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76"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77"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78" name="组合 877"/>
          <p:cNvGrpSpPr/>
          <p:nvPr/>
        </p:nvGrpSpPr>
        <p:grpSpPr>
          <a:xfrm>
            <a:off x="6506925" y="4395511"/>
            <a:ext cx="696306" cy="1288170"/>
            <a:chOff x="8082097" y="3672197"/>
            <a:chExt cx="696306" cy="1288170"/>
          </a:xfrm>
        </p:grpSpPr>
        <p:sp>
          <p:nvSpPr>
            <p:cNvPr id="879" name="矩形 878"/>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0" name="矩形 879"/>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1" name="矩形 880"/>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2" name="矩形 881"/>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3" name="矩形 882"/>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4" name="矩形 883"/>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5" name="矩形 884"/>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6" name="矩形 885"/>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87" name="TextBox 377"/>
            <p:cNvSpPr txBox="1"/>
            <p:nvPr/>
          </p:nvSpPr>
          <p:spPr>
            <a:xfrm>
              <a:off x="8088078" y="3724324"/>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888" name="TextBox 378"/>
            <p:cNvSpPr txBox="1"/>
            <p:nvPr/>
          </p:nvSpPr>
          <p:spPr>
            <a:xfrm>
              <a:off x="8087747" y="4011093"/>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889"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90" name="TextBox 380"/>
            <p:cNvSpPr txBox="1"/>
            <p:nvPr/>
          </p:nvSpPr>
          <p:spPr>
            <a:xfrm>
              <a:off x="80820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891" name="TextBox 382"/>
            <p:cNvSpPr txBox="1"/>
            <p:nvPr/>
          </p:nvSpPr>
          <p:spPr>
            <a:xfrm>
              <a:off x="8426938" y="367219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892" name="TextBox 383"/>
            <p:cNvSpPr txBox="1"/>
            <p:nvPr/>
          </p:nvSpPr>
          <p:spPr>
            <a:xfrm>
              <a:off x="8415718" y="399553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93" name="TextBox 384"/>
            <p:cNvSpPr txBox="1"/>
            <p:nvPr/>
          </p:nvSpPr>
          <p:spPr>
            <a:xfrm>
              <a:off x="8439849" y="429734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94"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895" name="组合 894"/>
          <p:cNvGrpSpPr/>
          <p:nvPr/>
        </p:nvGrpSpPr>
        <p:grpSpPr>
          <a:xfrm>
            <a:off x="6506251" y="4395511"/>
            <a:ext cx="696306" cy="1288170"/>
            <a:chOff x="8082097" y="3672197"/>
            <a:chExt cx="696306" cy="1288170"/>
          </a:xfrm>
        </p:grpSpPr>
        <p:sp>
          <p:nvSpPr>
            <p:cNvPr id="896" name="矩形 895"/>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7" name="矩形 896"/>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8" name="矩形 897"/>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99" name="矩形 898"/>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0" name="矩形 899"/>
            <p:cNvSpPr/>
            <p:nvPr/>
          </p:nvSpPr>
          <p:spPr>
            <a:xfrm flipH="1">
              <a:off x="8154097"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1" name="矩形 900"/>
            <p:cNvSpPr/>
            <p:nvPr/>
          </p:nvSpPr>
          <p:spPr>
            <a:xfrm flipH="1">
              <a:off x="8439849"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2" name="矩形 901"/>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3" name="矩形 902"/>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04" name="TextBox 377"/>
            <p:cNvSpPr txBox="1"/>
            <p:nvPr/>
          </p:nvSpPr>
          <p:spPr>
            <a:xfrm>
              <a:off x="8088078" y="3724324"/>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905" name="TextBox 378"/>
            <p:cNvSpPr txBox="1"/>
            <p:nvPr/>
          </p:nvSpPr>
          <p:spPr>
            <a:xfrm>
              <a:off x="8088078" y="401755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906" name="TextBox 379"/>
            <p:cNvSpPr txBox="1"/>
            <p:nvPr/>
          </p:nvSpPr>
          <p:spPr>
            <a:xfrm>
              <a:off x="8082097" y="430429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07" name="TextBox 380"/>
            <p:cNvSpPr txBox="1"/>
            <p:nvPr/>
          </p:nvSpPr>
          <p:spPr>
            <a:xfrm>
              <a:off x="8082097" y="459103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908" name="TextBox 382"/>
            <p:cNvSpPr txBox="1"/>
            <p:nvPr/>
          </p:nvSpPr>
          <p:spPr>
            <a:xfrm>
              <a:off x="8426938" y="367219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09" name="TextBox 383"/>
            <p:cNvSpPr txBox="1"/>
            <p:nvPr/>
          </p:nvSpPr>
          <p:spPr>
            <a:xfrm>
              <a:off x="8426938" y="399469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10" name="TextBox 384"/>
            <p:cNvSpPr txBox="1"/>
            <p:nvPr/>
          </p:nvSpPr>
          <p:spPr>
            <a:xfrm>
              <a:off x="8426938" y="4268538"/>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911" name="TextBox 385"/>
            <p:cNvSpPr txBox="1"/>
            <p:nvPr/>
          </p:nvSpPr>
          <p:spPr>
            <a:xfrm>
              <a:off x="8439849" y="459103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912" name="组合 911"/>
          <p:cNvGrpSpPr/>
          <p:nvPr/>
        </p:nvGrpSpPr>
        <p:grpSpPr>
          <a:xfrm>
            <a:off x="6506927" y="4398350"/>
            <a:ext cx="684093" cy="1265879"/>
            <a:chOff x="8081399" y="3672197"/>
            <a:chExt cx="684093" cy="1265879"/>
          </a:xfrm>
        </p:grpSpPr>
        <p:sp>
          <p:nvSpPr>
            <p:cNvPr id="913" name="矩形 912"/>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4" name="矩形 913"/>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5" name="矩形 914"/>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6" name="矩形 915"/>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7" name="矩形 916"/>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8" name="矩形 917"/>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19" name="矩形 918"/>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0" name="矩形 919"/>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1" name="TextBox 377"/>
            <p:cNvSpPr txBox="1"/>
            <p:nvPr/>
          </p:nvSpPr>
          <p:spPr>
            <a:xfrm>
              <a:off x="8088078" y="3724324"/>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922" name="TextBox 378"/>
            <p:cNvSpPr txBox="1"/>
            <p:nvPr/>
          </p:nvSpPr>
          <p:spPr>
            <a:xfrm>
              <a:off x="8088078" y="401755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923" name="TextBox 379"/>
            <p:cNvSpPr txBox="1"/>
            <p:nvPr/>
          </p:nvSpPr>
          <p:spPr>
            <a:xfrm>
              <a:off x="8082830" y="430903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24" name="TextBox 380"/>
            <p:cNvSpPr txBox="1"/>
            <p:nvPr/>
          </p:nvSpPr>
          <p:spPr>
            <a:xfrm>
              <a:off x="8081399" y="459882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25" name="TextBox 382"/>
            <p:cNvSpPr txBox="1"/>
            <p:nvPr/>
          </p:nvSpPr>
          <p:spPr>
            <a:xfrm>
              <a:off x="8426938" y="367219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26" name="TextBox 383"/>
            <p:cNvSpPr txBox="1"/>
            <p:nvPr/>
          </p:nvSpPr>
          <p:spPr>
            <a:xfrm>
              <a:off x="8426938" y="399469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27" name="TextBox 384"/>
            <p:cNvSpPr txBox="1"/>
            <p:nvPr/>
          </p:nvSpPr>
          <p:spPr>
            <a:xfrm>
              <a:off x="8426938" y="427701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928" name="TextBox 385"/>
            <p:cNvSpPr txBox="1"/>
            <p:nvPr/>
          </p:nvSpPr>
          <p:spPr>
            <a:xfrm>
              <a:off x="8415814" y="4568744"/>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929" name="组合 928"/>
          <p:cNvGrpSpPr/>
          <p:nvPr/>
        </p:nvGrpSpPr>
        <p:grpSpPr>
          <a:xfrm>
            <a:off x="6504328" y="4411098"/>
            <a:ext cx="732571" cy="1250672"/>
            <a:chOff x="8073213" y="3685890"/>
            <a:chExt cx="732571" cy="1250672"/>
          </a:xfrm>
        </p:grpSpPr>
        <p:sp>
          <p:nvSpPr>
            <p:cNvPr id="930" name="矩形 929"/>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1" name="矩形 930"/>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2" name="矩形 931"/>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3" name="矩形 932"/>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4" name="矩形 933"/>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5" name="矩形 934"/>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6" name="矩形 935"/>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7" name="矩形 936"/>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38" name="TextBox 377"/>
            <p:cNvSpPr txBox="1"/>
            <p:nvPr/>
          </p:nvSpPr>
          <p:spPr>
            <a:xfrm>
              <a:off x="8073213" y="3739723"/>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39" name="TextBox 378"/>
            <p:cNvSpPr txBox="1"/>
            <p:nvPr/>
          </p:nvSpPr>
          <p:spPr>
            <a:xfrm>
              <a:off x="8088078" y="401755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940" name="TextBox 379"/>
            <p:cNvSpPr txBox="1"/>
            <p:nvPr/>
          </p:nvSpPr>
          <p:spPr>
            <a:xfrm>
              <a:off x="8082830" y="430903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41" name="TextBox 380"/>
            <p:cNvSpPr txBox="1"/>
            <p:nvPr/>
          </p:nvSpPr>
          <p:spPr>
            <a:xfrm>
              <a:off x="8082288" y="459140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42" name="TextBox 382"/>
            <p:cNvSpPr txBox="1"/>
            <p:nvPr/>
          </p:nvSpPr>
          <p:spPr>
            <a:xfrm>
              <a:off x="8375858" y="3685890"/>
              <a:ext cx="42992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43" name="TextBox 383"/>
            <p:cNvSpPr txBox="1"/>
            <p:nvPr/>
          </p:nvSpPr>
          <p:spPr>
            <a:xfrm>
              <a:off x="8426938" y="3994697"/>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44" name="TextBox 384"/>
            <p:cNvSpPr txBox="1"/>
            <p:nvPr/>
          </p:nvSpPr>
          <p:spPr>
            <a:xfrm>
              <a:off x="8426938" y="427701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945" name="TextBox 385"/>
            <p:cNvSpPr txBox="1"/>
            <p:nvPr/>
          </p:nvSpPr>
          <p:spPr>
            <a:xfrm>
              <a:off x="8409305" y="456723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946" name="组合 945"/>
          <p:cNvGrpSpPr/>
          <p:nvPr/>
        </p:nvGrpSpPr>
        <p:grpSpPr>
          <a:xfrm>
            <a:off x="6507384" y="4406966"/>
            <a:ext cx="731839" cy="1250672"/>
            <a:chOff x="8081063" y="3685890"/>
            <a:chExt cx="731839" cy="1250672"/>
          </a:xfrm>
        </p:grpSpPr>
        <p:sp>
          <p:nvSpPr>
            <p:cNvPr id="947" name="矩形 946"/>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8" name="矩形 947"/>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49" name="矩形 948"/>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0" name="矩形 949"/>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1" name="矩形 950"/>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2" name="矩形 951"/>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3" name="矩形 952"/>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4" name="矩形 953"/>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5" name="TextBox 377"/>
            <p:cNvSpPr txBox="1"/>
            <p:nvPr/>
          </p:nvSpPr>
          <p:spPr>
            <a:xfrm>
              <a:off x="8088637" y="372631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56" name="TextBox 378"/>
            <p:cNvSpPr txBox="1"/>
            <p:nvPr/>
          </p:nvSpPr>
          <p:spPr>
            <a:xfrm>
              <a:off x="8081063" y="402521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57" name="TextBox 379"/>
            <p:cNvSpPr txBox="1"/>
            <p:nvPr/>
          </p:nvSpPr>
          <p:spPr>
            <a:xfrm>
              <a:off x="8082830" y="430903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58" name="TextBox 380"/>
            <p:cNvSpPr txBox="1"/>
            <p:nvPr/>
          </p:nvSpPr>
          <p:spPr>
            <a:xfrm>
              <a:off x="8082288" y="459140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59" name="TextBox 382"/>
            <p:cNvSpPr txBox="1"/>
            <p:nvPr/>
          </p:nvSpPr>
          <p:spPr>
            <a:xfrm>
              <a:off x="8376538" y="3685890"/>
              <a:ext cx="42992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60" name="TextBox 383"/>
            <p:cNvSpPr txBox="1"/>
            <p:nvPr/>
          </p:nvSpPr>
          <p:spPr>
            <a:xfrm>
              <a:off x="8362138" y="4008493"/>
              <a:ext cx="45076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61" name="TextBox 384"/>
            <p:cNvSpPr txBox="1"/>
            <p:nvPr/>
          </p:nvSpPr>
          <p:spPr>
            <a:xfrm>
              <a:off x="8426938" y="427701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962" name="TextBox 385"/>
            <p:cNvSpPr txBox="1"/>
            <p:nvPr/>
          </p:nvSpPr>
          <p:spPr>
            <a:xfrm>
              <a:off x="8409305" y="456723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963" name="组合 962"/>
          <p:cNvGrpSpPr/>
          <p:nvPr/>
        </p:nvGrpSpPr>
        <p:grpSpPr>
          <a:xfrm>
            <a:off x="6507756" y="4410644"/>
            <a:ext cx="726954" cy="1250672"/>
            <a:chOff x="8082288" y="3685890"/>
            <a:chExt cx="726954" cy="1250672"/>
          </a:xfrm>
        </p:grpSpPr>
        <p:sp>
          <p:nvSpPr>
            <p:cNvPr id="964" name="矩形 963"/>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5" name="矩形 964"/>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6" name="矩形 965"/>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7" name="矩形 966"/>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8" name="矩形 967"/>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9" name="矩形 968"/>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70" name="矩形 969"/>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71" name="矩形 970"/>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72" name="TextBox 377"/>
            <p:cNvSpPr txBox="1"/>
            <p:nvPr/>
          </p:nvSpPr>
          <p:spPr>
            <a:xfrm>
              <a:off x="8088637" y="372631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73" name="TextBox 378"/>
            <p:cNvSpPr txBox="1"/>
            <p:nvPr/>
          </p:nvSpPr>
          <p:spPr>
            <a:xfrm>
              <a:off x="8088279" y="401952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74" name="TextBox 379"/>
            <p:cNvSpPr txBox="1"/>
            <p:nvPr/>
          </p:nvSpPr>
          <p:spPr>
            <a:xfrm>
              <a:off x="8082830" y="430903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75" name="TextBox 380"/>
            <p:cNvSpPr txBox="1"/>
            <p:nvPr/>
          </p:nvSpPr>
          <p:spPr>
            <a:xfrm>
              <a:off x="8082288" y="459140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76" name="TextBox 382"/>
            <p:cNvSpPr txBox="1"/>
            <p:nvPr/>
          </p:nvSpPr>
          <p:spPr>
            <a:xfrm>
              <a:off x="8369338" y="3685890"/>
              <a:ext cx="42992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977" name="TextBox 383"/>
            <p:cNvSpPr txBox="1"/>
            <p:nvPr/>
          </p:nvSpPr>
          <p:spPr>
            <a:xfrm>
              <a:off x="8358478" y="4003679"/>
              <a:ext cx="45076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978" name="TextBox 384"/>
            <p:cNvSpPr txBox="1"/>
            <p:nvPr/>
          </p:nvSpPr>
          <p:spPr>
            <a:xfrm>
              <a:off x="8426938" y="4277019"/>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979" name="TextBox 385"/>
            <p:cNvSpPr txBox="1"/>
            <p:nvPr/>
          </p:nvSpPr>
          <p:spPr>
            <a:xfrm>
              <a:off x="8409305" y="456723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46" name="组合 45"/>
          <p:cNvGrpSpPr/>
          <p:nvPr/>
        </p:nvGrpSpPr>
        <p:grpSpPr>
          <a:xfrm>
            <a:off x="6506784" y="4976296"/>
            <a:ext cx="644287" cy="388638"/>
            <a:chOff x="7162995" y="4197453"/>
            <a:chExt cx="644287" cy="388638"/>
          </a:xfrm>
        </p:grpSpPr>
        <p:sp>
          <p:nvSpPr>
            <p:cNvPr id="985" name="矩形 984"/>
            <p:cNvSpPr/>
            <p:nvPr/>
          </p:nvSpPr>
          <p:spPr>
            <a:xfrm flipH="1">
              <a:off x="7235778" y="4272378"/>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86" name="矩形 985"/>
            <p:cNvSpPr/>
            <p:nvPr/>
          </p:nvSpPr>
          <p:spPr>
            <a:xfrm flipH="1">
              <a:off x="7521530" y="4272378"/>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1" name="TextBox 379"/>
            <p:cNvSpPr txBox="1"/>
            <p:nvPr/>
          </p:nvSpPr>
          <p:spPr>
            <a:xfrm>
              <a:off x="7162995" y="424753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995" name="TextBox 384"/>
            <p:cNvSpPr txBox="1"/>
            <p:nvPr/>
          </p:nvSpPr>
          <p:spPr>
            <a:xfrm>
              <a:off x="7503977" y="4197453"/>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997" name="组合 996"/>
          <p:cNvGrpSpPr/>
          <p:nvPr/>
        </p:nvGrpSpPr>
        <p:grpSpPr>
          <a:xfrm>
            <a:off x="6503016" y="4409331"/>
            <a:ext cx="735879" cy="1256243"/>
            <a:chOff x="8073363" y="3685890"/>
            <a:chExt cx="735879" cy="1256243"/>
          </a:xfrm>
        </p:grpSpPr>
        <p:sp>
          <p:nvSpPr>
            <p:cNvPr id="998" name="矩形 997"/>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9" name="矩形 998"/>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0" name="矩形 999"/>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1" name="矩形 1000"/>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2" name="矩形 1001"/>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3" name="矩形 1002"/>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4" name="矩形 1003"/>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5" name="矩形 1004"/>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6" name="TextBox 377"/>
            <p:cNvSpPr txBox="1"/>
            <p:nvPr/>
          </p:nvSpPr>
          <p:spPr>
            <a:xfrm>
              <a:off x="8088637" y="372631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07" name="TextBox 378"/>
            <p:cNvSpPr txBox="1"/>
            <p:nvPr/>
          </p:nvSpPr>
          <p:spPr>
            <a:xfrm>
              <a:off x="8088279" y="401952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08" name="TextBox 379"/>
            <p:cNvSpPr txBox="1"/>
            <p:nvPr/>
          </p:nvSpPr>
          <p:spPr>
            <a:xfrm>
              <a:off x="8082830" y="430903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09" name="TextBox 380"/>
            <p:cNvSpPr txBox="1"/>
            <p:nvPr/>
          </p:nvSpPr>
          <p:spPr>
            <a:xfrm>
              <a:off x="8073363" y="4592374"/>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10" name="TextBox 382"/>
            <p:cNvSpPr txBox="1"/>
            <p:nvPr/>
          </p:nvSpPr>
          <p:spPr>
            <a:xfrm>
              <a:off x="8376538" y="3685890"/>
              <a:ext cx="42992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11" name="TextBox 383"/>
            <p:cNvSpPr txBox="1"/>
            <p:nvPr/>
          </p:nvSpPr>
          <p:spPr>
            <a:xfrm>
              <a:off x="8358478" y="4003679"/>
              <a:ext cx="45076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12" name="TextBox 384"/>
            <p:cNvSpPr txBox="1"/>
            <p:nvPr/>
          </p:nvSpPr>
          <p:spPr>
            <a:xfrm>
              <a:off x="8426938" y="4277019"/>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13" name="TextBox 385"/>
            <p:cNvSpPr txBox="1"/>
            <p:nvPr/>
          </p:nvSpPr>
          <p:spPr>
            <a:xfrm>
              <a:off x="8407702" y="457280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014" name="组合 1013"/>
          <p:cNvGrpSpPr/>
          <p:nvPr/>
        </p:nvGrpSpPr>
        <p:grpSpPr>
          <a:xfrm>
            <a:off x="6500904" y="4414629"/>
            <a:ext cx="689221" cy="1253577"/>
            <a:chOff x="8074316" y="3694256"/>
            <a:chExt cx="689221" cy="1253577"/>
          </a:xfrm>
        </p:grpSpPr>
        <p:sp>
          <p:nvSpPr>
            <p:cNvPr id="1015" name="矩形 1014"/>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6" name="矩形 1015"/>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7" name="矩形 1016"/>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8" name="矩形 1017"/>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19" name="矩形 1018"/>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0" name="矩形 1019"/>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1" name="矩形 1020"/>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2" name="矩形 1021"/>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3" name="TextBox 377"/>
            <p:cNvSpPr txBox="1"/>
            <p:nvPr/>
          </p:nvSpPr>
          <p:spPr>
            <a:xfrm>
              <a:off x="8082097" y="373760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24"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25"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26" name="TextBox 380"/>
            <p:cNvSpPr txBox="1"/>
            <p:nvPr/>
          </p:nvSpPr>
          <p:spPr>
            <a:xfrm>
              <a:off x="8080368" y="459835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27" name="TextBox 382"/>
            <p:cNvSpPr txBox="1"/>
            <p:nvPr/>
          </p:nvSpPr>
          <p:spPr>
            <a:xfrm>
              <a:off x="8436203" y="369425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28"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29"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30" name="TextBox 385"/>
            <p:cNvSpPr txBox="1"/>
            <p:nvPr/>
          </p:nvSpPr>
          <p:spPr>
            <a:xfrm>
              <a:off x="8409802" y="457850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sp>
        <p:nvSpPr>
          <p:cNvPr id="1031" name="TextBox 58"/>
          <p:cNvSpPr txBox="1"/>
          <p:nvPr/>
        </p:nvSpPr>
        <p:spPr>
          <a:xfrm>
            <a:off x="7324354" y="2824019"/>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1049" name="组合 1048"/>
          <p:cNvGrpSpPr/>
          <p:nvPr/>
        </p:nvGrpSpPr>
        <p:grpSpPr>
          <a:xfrm>
            <a:off x="7126808" y="4416357"/>
            <a:ext cx="689221" cy="1253577"/>
            <a:chOff x="8074316" y="3694256"/>
            <a:chExt cx="689221" cy="1253577"/>
          </a:xfrm>
        </p:grpSpPr>
        <p:sp>
          <p:nvSpPr>
            <p:cNvPr id="1050" name="矩形 1049"/>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1" name="矩形 1050"/>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2" name="矩形 1051"/>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3" name="矩形 1052"/>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4" name="矩形 1053"/>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5" name="矩形 1054"/>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6" name="矩形 1055"/>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7" name="矩形 1056"/>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8" name="TextBox 377"/>
            <p:cNvSpPr txBox="1"/>
            <p:nvPr/>
          </p:nvSpPr>
          <p:spPr>
            <a:xfrm>
              <a:off x="8082097" y="373760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59"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60"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61" name="TextBox 380"/>
            <p:cNvSpPr txBox="1"/>
            <p:nvPr/>
          </p:nvSpPr>
          <p:spPr>
            <a:xfrm>
              <a:off x="8080368" y="459835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62" name="TextBox 382"/>
            <p:cNvSpPr txBox="1"/>
            <p:nvPr/>
          </p:nvSpPr>
          <p:spPr>
            <a:xfrm>
              <a:off x="8436203" y="369425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63"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64"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65" name="TextBox 385"/>
            <p:cNvSpPr txBox="1"/>
            <p:nvPr/>
          </p:nvSpPr>
          <p:spPr>
            <a:xfrm>
              <a:off x="8409802" y="457850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066" name="组合 1065"/>
          <p:cNvGrpSpPr/>
          <p:nvPr/>
        </p:nvGrpSpPr>
        <p:grpSpPr>
          <a:xfrm>
            <a:off x="7751436" y="4411325"/>
            <a:ext cx="689221" cy="1253577"/>
            <a:chOff x="8074316" y="3694256"/>
            <a:chExt cx="689221" cy="1253577"/>
          </a:xfrm>
        </p:grpSpPr>
        <p:sp>
          <p:nvSpPr>
            <p:cNvPr id="1067" name="矩形 1066"/>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68" name="矩形 1067"/>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69" name="矩形 1068"/>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0" name="矩形 1069"/>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1" name="矩形 1070"/>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2" name="矩形 1071"/>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3" name="矩形 1072"/>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4" name="矩形 1073"/>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75" name="TextBox 377"/>
            <p:cNvSpPr txBox="1"/>
            <p:nvPr/>
          </p:nvSpPr>
          <p:spPr>
            <a:xfrm>
              <a:off x="8082097" y="373760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1076"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77"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78" name="TextBox 380"/>
            <p:cNvSpPr txBox="1"/>
            <p:nvPr/>
          </p:nvSpPr>
          <p:spPr>
            <a:xfrm>
              <a:off x="8080368" y="459835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79" name="TextBox 382"/>
            <p:cNvSpPr txBox="1"/>
            <p:nvPr/>
          </p:nvSpPr>
          <p:spPr>
            <a:xfrm>
              <a:off x="8436203" y="369425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80"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81"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082" name="TextBox 385"/>
            <p:cNvSpPr txBox="1"/>
            <p:nvPr/>
          </p:nvSpPr>
          <p:spPr>
            <a:xfrm>
              <a:off x="8409802" y="457850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sp>
        <p:nvSpPr>
          <p:cNvPr id="1083" name="TextBox 58"/>
          <p:cNvSpPr txBox="1"/>
          <p:nvPr/>
        </p:nvSpPr>
        <p:spPr>
          <a:xfrm>
            <a:off x="7971468" y="2524591"/>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a</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1084" name="组合 1083"/>
          <p:cNvGrpSpPr/>
          <p:nvPr/>
        </p:nvGrpSpPr>
        <p:grpSpPr>
          <a:xfrm>
            <a:off x="8369336" y="4410652"/>
            <a:ext cx="689221" cy="1253577"/>
            <a:chOff x="8074316" y="3694256"/>
            <a:chExt cx="689221" cy="1253577"/>
          </a:xfrm>
        </p:grpSpPr>
        <p:sp>
          <p:nvSpPr>
            <p:cNvPr id="1085" name="矩形 1084"/>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86" name="矩形 1085"/>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87" name="矩形 1086"/>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88" name="矩形 1087"/>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89" name="矩形 1088"/>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90" name="矩形 1089"/>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91" name="矩形 1090"/>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92" name="矩形 1091"/>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93" name="TextBox 377"/>
            <p:cNvSpPr txBox="1"/>
            <p:nvPr/>
          </p:nvSpPr>
          <p:spPr>
            <a:xfrm>
              <a:off x="8082097" y="373760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1094"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95"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096" name="TextBox 380"/>
            <p:cNvSpPr txBox="1"/>
            <p:nvPr/>
          </p:nvSpPr>
          <p:spPr>
            <a:xfrm>
              <a:off x="8080368" y="459835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097" name="TextBox 382"/>
            <p:cNvSpPr txBox="1"/>
            <p:nvPr/>
          </p:nvSpPr>
          <p:spPr>
            <a:xfrm>
              <a:off x="8436203" y="369425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098"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099"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00" name="TextBox 385"/>
            <p:cNvSpPr txBox="1"/>
            <p:nvPr/>
          </p:nvSpPr>
          <p:spPr>
            <a:xfrm>
              <a:off x="8409802" y="457850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sp>
        <p:nvSpPr>
          <p:cNvPr id="1101" name="TextBox 58"/>
          <p:cNvSpPr txBox="1"/>
          <p:nvPr/>
        </p:nvSpPr>
        <p:spPr>
          <a:xfrm>
            <a:off x="8547459" y="2824019"/>
            <a:ext cx="486000" cy="400110"/>
          </a:xfrm>
          <a:prstGeom prst="rect">
            <a:avLst/>
          </a:prstGeom>
          <a:noFill/>
          <a:effectLst/>
        </p:spPr>
        <p:txBody>
          <a:bodyPr wrap="square" rtlCol="0">
            <a:spAutoFit/>
          </a:bodyPr>
          <a:lstStyle/>
          <a:p>
            <a:pPr indent="-342900">
              <a:spcBef>
                <a:spcPct val="20000"/>
              </a:spcBef>
            </a:pPr>
            <a:r>
              <a:rPr lang="en-US" altLang="zh-CN" sz="2000" b="1" dirty="0">
                <a:solidFill>
                  <a:srgbClr val="C00000"/>
                </a:solidFill>
                <a:latin typeface="微软雅黑" panose="020B0503020204020204" pitchFamily="34" charset="-122"/>
                <a:ea typeface="微软雅黑" panose="020B0503020204020204" pitchFamily="34" charset="-122"/>
              </a:rPr>
              <a:t>b</a:t>
            </a:r>
            <a:endParaRPr lang="zh-CN" altLang="en-US" sz="2000" b="1" dirty="0">
              <a:solidFill>
                <a:srgbClr val="C00000"/>
              </a:solidFill>
              <a:latin typeface="微软雅黑" panose="020B0503020204020204" pitchFamily="34" charset="-122"/>
              <a:ea typeface="微软雅黑" panose="020B0503020204020204" pitchFamily="34" charset="-122"/>
            </a:endParaRPr>
          </a:p>
        </p:txBody>
      </p:sp>
      <p:grpSp>
        <p:nvGrpSpPr>
          <p:cNvPr id="1105" name="组合 1104"/>
          <p:cNvGrpSpPr/>
          <p:nvPr/>
        </p:nvGrpSpPr>
        <p:grpSpPr>
          <a:xfrm>
            <a:off x="9005011" y="5294895"/>
            <a:ext cx="667988" cy="369332"/>
            <a:chOff x="8080368" y="4578501"/>
            <a:chExt cx="667988" cy="369332"/>
          </a:xfrm>
        </p:grpSpPr>
        <p:sp>
          <p:nvSpPr>
            <p:cNvPr id="1112" name="矩形 1111"/>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3" name="矩形 1112"/>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7" name="TextBox 380"/>
            <p:cNvSpPr txBox="1"/>
            <p:nvPr/>
          </p:nvSpPr>
          <p:spPr>
            <a:xfrm>
              <a:off x="8080368" y="459835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121" name="TextBox 385"/>
            <p:cNvSpPr txBox="1"/>
            <p:nvPr/>
          </p:nvSpPr>
          <p:spPr>
            <a:xfrm>
              <a:off x="8409802" y="4578501"/>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grpSp>
      <p:grpSp>
        <p:nvGrpSpPr>
          <p:cNvPr id="1122" name="组合 1121"/>
          <p:cNvGrpSpPr/>
          <p:nvPr/>
        </p:nvGrpSpPr>
        <p:grpSpPr>
          <a:xfrm>
            <a:off x="9003861" y="4411838"/>
            <a:ext cx="688531" cy="1241277"/>
            <a:chOff x="8074316" y="3695043"/>
            <a:chExt cx="688531" cy="1241277"/>
          </a:xfrm>
        </p:grpSpPr>
        <p:sp>
          <p:nvSpPr>
            <p:cNvPr id="1123" name="矩形 1122"/>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4" name="矩形 1123"/>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5" name="矩形 1124"/>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6" name="矩形 1125"/>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7" name="矩形 1126"/>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8" name="矩形 1127"/>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9" name="矩形 1128"/>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0" name="矩形 1129"/>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1" name="TextBox 377"/>
            <p:cNvSpPr txBox="1"/>
            <p:nvPr/>
          </p:nvSpPr>
          <p:spPr>
            <a:xfrm>
              <a:off x="8075997" y="373721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1132"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33"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34" name="TextBox 380"/>
            <p:cNvSpPr txBox="1"/>
            <p:nvPr/>
          </p:nvSpPr>
          <p:spPr>
            <a:xfrm>
              <a:off x="8082097" y="459776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35" name="TextBox 382"/>
            <p:cNvSpPr txBox="1"/>
            <p:nvPr/>
          </p:nvSpPr>
          <p:spPr>
            <a:xfrm>
              <a:off x="8421820" y="36950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136"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137"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38" name="TextBox 385"/>
            <p:cNvSpPr txBox="1"/>
            <p:nvPr/>
          </p:nvSpPr>
          <p:spPr>
            <a:xfrm>
              <a:off x="8431081" y="4557624"/>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139" name="组合 1138"/>
          <p:cNvGrpSpPr/>
          <p:nvPr/>
        </p:nvGrpSpPr>
        <p:grpSpPr>
          <a:xfrm>
            <a:off x="9003861" y="4413322"/>
            <a:ext cx="688531" cy="1241277"/>
            <a:chOff x="8074316" y="3695043"/>
            <a:chExt cx="688531" cy="1241277"/>
          </a:xfrm>
        </p:grpSpPr>
        <p:sp>
          <p:nvSpPr>
            <p:cNvPr id="1140" name="矩形 1139"/>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1" name="矩形 1140"/>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2" name="矩形 1141"/>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3" name="矩形 1142"/>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4" name="矩形 1143"/>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5" name="矩形 1144"/>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6" name="矩形 1145"/>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7" name="矩形 1146"/>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48" name="TextBox 377"/>
            <p:cNvSpPr txBox="1"/>
            <p:nvPr/>
          </p:nvSpPr>
          <p:spPr>
            <a:xfrm>
              <a:off x="8075997" y="373721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11</a:t>
              </a:r>
              <a:endParaRPr lang="zh-CN" altLang="en-US" sz="1600" b="1" dirty="0">
                <a:solidFill>
                  <a:srgbClr val="11576A"/>
                </a:solidFill>
                <a:latin typeface="微软雅黑" pitchFamily="34" charset="-122"/>
                <a:ea typeface="微软雅黑" pitchFamily="34" charset="-122"/>
              </a:endParaRPr>
            </a:p>
          </p:txBody>
        </p:sp>
        <p:sp>
          <p:nvSpPr>
            <p:cNvPr id="1149"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50"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51" name="TextBox 380"/>
            <p:cNvSpPr txBox="1"/>
            <p:nvPr/>
          </p:nvSpPr>
          <p:spPr>
            <a:xfrm>
              <a:off x="8082097" y="459776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52" name="TextBox 382"/>
            <p:cNvSpPr txBox="1"/>
            <p:nvPr/>
          </p:nvSpPr>
          <p:spPr>
            <a:xfrm>
              <a:off x="8421820" y="36950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153"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154"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55" name="TextBox 385"/>
            <p:cNvSpPr txBox="1"/>
            <p:nvPr/>
          </p:nvSpPr>
          <p:spPr>
            <a:xfrm>
              <a:off x="8431081" y="4557624"/>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156" name="组合 1155"/>
          <p:cNvGrpSpPr/>
          <p:nvPr/>
        </p:nvGrpSpPr>
        <p:grpSpPr>
          <a:xfrm>
            <a:off x="9633847" y="4413153"/>
            <a:ext cx="688531" cy="1241277"/>
            <a:chOff x="8074316" y="3695043"/>
            <a:chExt cx="688531" cy="1241277"/>
          </a:xfrm>
        </p:grpSpPr>
        <p:sp>
          <p:nvSpPr>
            <p:cNvPr id="1157" name="矩形 1156"/>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8" name="矩形 1157"/>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59" name="矩形 1158"/>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60" name="矩形 1159"/>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61" name="矩形 1160"/>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62" name="矩形 1161"/>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63" name="矩形 1162"/>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64" name="矩形 1163"/>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65" name="TextBox 377"/>
            <p:cNvSpPr txBox="1"/>
            <p:nvPr/>
          </p:nvSpPr>
          <p:spPr>
            <a:xfrm>
              <a:off x="8075997" y="373721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1166" name="TextBox 378"/>
            <p:cNvSpPr txBox="1"/>
            <p:nvPr/>
          </p:nvSpPr>
          <p:spPr>
            <a:xfrm>
              <a:off x="8074316" y="400368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67"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68" name="TextBox 380"/>
            <p:cNvSpPr txBox="1"/>
            <p:nvPr/>
          </p:nvSpPr>
          <p:spPr>
            <a:xfrm>
              <a:off x="8082097" y="459776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69" name="TextBox 382"/>
            <p:cNvSpPr txBox="1"/>
            <p:nvPr/>
          </p:nvSpPr>
          <p:spPr>
            <a:xfrm>
              <a:off x="8421820" y="3695043"/>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170" name="TextBox 383"/>
            <p:cNvSpPr txBox="1"/>
            <p:nvPr/>
          </p:nvSpPr>
          <p:spPr>
            <a:xfrm>
              <a:off x="8424293" y="400365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171"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72" name="TextBox 385"/>
            <p:cNvSpPr txBox="1"/>
            <p:nvPr/>
          </p:nvSpPr>
          <p:spPr>
            <a:xfrm>
              <a:off x="8431081" y="4557624"/>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173" name="组合 1172"/>
          <p:cNvGrpSpPr/>
          <p:nvPr/>
        </p:nvGrpSpPr>
        <p:grpSpPr>
          <a:xfrm>
            <a:off x="9634580" y="4412840"/>
            <a:ext cx="684815" cy="1240565"/>
            <a:chOff x="8074352" y="3695755"/>
            <a:chExt cx="684815" cy="1240565"/>
          </a:xfrm>
        </p:grpSpPr>
        <p:sp>
          <p:nvSpPr>
            <p:cNvPr id="1174" name="矩形 1173"/>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5" name="矩形 1174"/>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6" name="矩形 1175"/>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7" name="矩形 1176"/>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8" name="矩形 1177"/>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9" name="矩形 1178"/>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80" name="矩形 1179"/>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81" name="矩形 1180"/>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82" name="TextBox 377"/>
            <p:cNvSpPr txBox="1"/>
            <p:nvPr/>
          </p:nvSpPr>
          <p:spPr>
            <a:xfrm>
              <a:off x="8082065" y="372891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1183" name="TextBox 378"/>
            <p:cNvSpPr txBox="1"/>
            <p:nvPr/>
          </p:nvSpPr>
          <p:spPr>
            <a:xfrm>
              <a:off x="8074352" y="402165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184" name="TextBox 379"/>
            <p:cNvSpPr txBox="1"/>
            <p:nvPr/>
          </p:nvSpPr>
          <p:spPr>
            <a:xfrm>
              <a:off x="8082097" y="429734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85" name="TextBox 380"/>
            <p:cNvSpPr txBox="1"/>
            <p:nvPr/>
          </p:nvSpPr>
          <p:spPr>
            <a:xfrm>
              <a:off x="8082097" y="459776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186" name="TextBox 382"/>
            <p:cNvSpPr txBox="1"/>
            <p:nvPr/>
          </p:nvSpPr>
          <p:spPr>
            <a:xfrm>
              <a:off x="8419058" y="369575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187" name="TextBox 383"/>
            <p:cNvSpPr txBox="1"/>
            <p:nvPr/>
          </p:nvSpPr>
          <p:spPr>
            <a:xfrm>
              <a:off x="8420613" y="3996924"/>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188" name="TextBox 384"/>
            <p:cNvSpPr txBox="1"/>
            <p:nvPr/>
          </p:nvSpPr>
          <p:spPr>
            <a:xfrm>
              <a:off x="8439849" y="4297345"/>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189" name="TextBox 385"/>
            <p:cNvSpPr txBox="1"/>
            <p:nvPr/>
          </p:nvSpPr>
          <p:spPr>
            <a:xfrm>
              <a:off x="8431081" y="4557624"/>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190" name="组合 1189"/>
          <p:cNvGrpSpPr/>
          <p:nvPr/>
        </p:nvGrpSpPr>
        <p:grpSpPr>
          <a:xfrm>
            <a:off x="9642552" y="4412928"/>
            <a:ext cx="675609" cy="1240565"/>
            <a:chOff x="8080640" y="3695755"/>
            <a:chExt cx="675609" cy="1240565"/>
          </a:xfrm>
        </p:grpSpPr>
        <p:sp>
          <p:nvSpPr>
            <p:cNvPr id="1191" name="矩形 1190"/>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2" name="矩形 1191"/>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3" name="矩形 1192"/>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4" name="矩形 1193"/>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5" name="矩形 1194"/>
            <p:cNvSpPr/>
            <p:nvPr/>
          </p:nvSpPr>
          <p:spPr>
            <a:xfrm flipH="1">
              <a:off x="8154097"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6" name="矩形 1195"/>
            <p:cNvSpPr/>
            <p:nvPr/>
          </p:nvSpPr>
          <p:spPr>
            <a:xfrm flipH="1">
              <a:off x="8439849"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7" name="矩形 1196"/>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8" name="矩形 1197"/>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99" name="TextBox 377"/>
            <p:cNvSpPr txBox="1"/>
            <p:nvPr/>
          </p:nvSpPr>
          <p:spPr>
            <a:xfrm>
              <a:off x="8082065" y="372891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1200" name="TextBox 378"/>
            <p:cNvSpPr txBox="1"/>
            <p:nvPr/>
          </p:nvSpPr>
          <p:spPr>
            <a:xfrm>
              <a:off x="8080640" y="402165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01" name="TextBox 379"/>
            <p:cNvSpPr txBox="1"/>
            <p:nvPr/>
          </p:nvSpPr>
          <p:spPr>
            <a:xfrm>
              <a:off x="8081779" y="4303932"/>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02" name="TextBox 380"/>
            <p:cNvSpPr txBox="1"/>
            <p:nvPr/>
          </p:nvSpPr>
          <p:spPr>
            <a:xfrm>
              <a:off x="8082097" y="4597766"/>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203" name="TextBox 382"/>
            <p:cNvSpPr txBox="1"/>
            <p:nvPr/>
          </p:nvSpPr>
          <p:spPr>
            <a:xfrm>
              <a:off x="8419058" y="369575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204" name="TextBox 383"/>
            <p:cNvSpPr txBox="1"/>
            <p:nvPr/>
          </p:nvSpPr>
          <p:spPr>
            <a:xfrm>
              <a:off x="8417695" y="4018393"/>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205" name="TextBox 384"/>
            <p:cNvSpPr txBox="1"/>
            <p:nvPr/>
          </p:nvSpPr>
          <p:spPr>
            <a:xfrm>
              <a:off x="8417695" y="4267938"/>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206" name="TextBox 385"/>
            <p:cNvSpPr txBox="1"/>
            <p:nvPr/>
          </p:nvSpPr>
          <p:spPr>
            <a:xfrm>
              <a:off x="8431081" y="4557624"/>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207" name="组合 1206"/>
          <p:cNvGrpSpPr/>
          <p:nvPr/>
        </p:nvGrpSpPr>
        <p:grpSpPr>
          <a:xfrm>
            <a:off x="9631757" y="4407606"/>
            <a:ext cx="683391" cy="1226054"/>
            <a:chOff x="8072858" y="3695755"/>
            <a:chExt cx="683391" cy="1226054"/>
          </a:xfrm>
        </p:grpSpPr>
        <p:sp>
          <p:nvSpPr>
            <p:cNvPr id="1208" name="矩形 1207"/>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09" name="矩形 1208"/>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0" name="矩形 1209"/>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1" name="矩形 1210"/>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2" name="矩形 1211"/>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3" name="矩形 1212"/>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4" name="矩形 1213"/>
            <p:cNvSpPr/>
            <p:nvPr/>
          </p:nvSpPr>
          <p:spPr>
            <a:xfrm flipH="1">
              <a:off x="8154097"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5" name="矩形 1214"/>
            <p:cNvSpPr/>
            <p:nvPr/>
          </p:nvSpPr>
          <p:spPr>
            <a:xfrm flipH="1">
              <a:off x="8439849" y="4613895"/>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6" name="TextBox 377"/>
            <p:cNvSpPr txBox="1"/>
            <p:nvPr/>
          </p:nvSpPr>
          <p:spPr>
            <a:xfrm>
              <a:off x="8082065" y="372891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01</a:t>
              </a:r>
              <a:endParaRPr lang="zh-CN" altLang="en-US" sz="1600" b="1" dirty="0">
                <a:solidFill>
                  <a:srgbClr val="11576A"/>
                </a:solidFill>
                <a:latin typeface="微软雅黑" pitchFamily="34" charset="-122"/>
                <a:ea typeface="微软雅黑" pitchFamily="34" charset="-122"/>
              </a:endParaRPr>
            </a:p>
          </p:txBody>
        </p:sp>
        <p:sp>
          <p:nvSpPr>
            <p:cNvPr id="1217" name="TextBox 378"/>
            <p:cNvSpPr txBox="1"/>
            <p:nvPr/>
          </p:nvSpPr>
          <p:spPr>
            <a:xfrm>
              <a:off x="8080640" y="402165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18" name="TextBox 379"/>
            <p:cNvSpPr txBox="1"/>
            <p:nvPr/>
          </p:nvSpPr>
          <p:spPr>
            <a:xfrm>
              <a:off x="8072858" y="430272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19" name="TextBox 380"/>
            <p:cNvSpPr txBox="1"/>
            <p:nvPr/>
          </p:nvSpPr>
          <p:spPr>
            <a:xfrm>
              <a:off x="8080963" y="4583255"/>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20" name="TextBox 382"/>
            <p:cNvSpPr txBox="1"/>
            <p:nvPr/>
          </p:nvSpPr>
          <p:spPr>
            <a:xfrm>
              <a:off x="8419058" y="3695755"/>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221" name="TextBox 383"/>
            <p:cNvSpPr txBox="1"/>
            <p:nvPr/>
          </p:nvSpPr>
          <p:spPr>
            <a:xfrm>
              <a:off x="8417695" y="4018393"/>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222" name="TextBox 384"/>
            <p:cNvSpPr txBox="1"/>
            <p:nvPr/>
          </p:nvSpPr>
          <p:spPr>
            <a:xfrm>
              <a:off x="8423066" y="4267009"/>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223" name="TextBox 385"/>
            <p:cNvSpPr txBox="1"/>
            <p:nvPr/>
          </p:nvSpPr>
          <p:spPr>
            <a:xfrm>
              <a:off x="8425984" y="4552107"/>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224" name="组合 1223"/>
          <p:cNvGrpSpPr/>
          <p:nvPr/>
        </p:nvGrpSpPr>
        <p:grpSpPr>
          <a:xfrm>
            <a:off x="9629363" y="4413251"/>
            <a:ext cx="725256" cy="1240081"/>
            <a:chOff x="8072858" y="3694720"/>
            <a:chExt cx="725256" cy="1240081"/>
          </a:xfrm>
        </p:grpSpPr>
        <p:sp>
          <p:nvSpPr>
            <p:cNvPr id="1225" name="矩形 1224"/>
            <p:cNvSpPr/>
            <p:nvPr/>
          </p:nvSpPr>
          <p:spPr>
            <a:xfrm flipH="1">
              <a:off x="8154097"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26" name="矩形 1225"/>
            <p:cNvSpPr/>
            <p:nvPr/>
          </p:nvSpPr>
          <p:spPr>
            <a:xfrm flipH="1">
              <a:off x="8439849" y="3756639"/>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27" name="矩形 1226"/>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28" name="矩形 1227"/>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29" name="矩形 1228"/>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30" name="矩形 1229"/>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31" name="矩形 1230"/>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32" name="矩形 1231"/>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33" name="TextBox 377"/>
            <p:cNvSpPr txBox="1"/>
            <p:nvPr/>
          </p:nvSpPr>
          <p:spPr>
            <a:xfrm>
              <a:off x="8077246" y="3728138"/>
              <a:ext cx="445956"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34" name="TextBox 378"/>
            <p:cNvSpPr txBox="1"/>
            <p:nvPr/>
          </p:nvSpPr>
          <p:spPr>
            <a:xfrm>
              <a:off x="8080640" y="402165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35" name="TextBox 379"/>
            <p:cNvSpPr txBox="1"/>
            <p:nvPr/>
          </p:nvSpPr>
          <p:spPr>
            <a:xfrm>
              <a:off x="8072858" y="430272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36" name="TextBox 380"/>
            <p:cNvSpPr txBox="1"/>
            <p:nvPr/>
          </p:nvSpPr>
          <p:spPr>
            <a:xfrm>
              <a:off x="8072858" y="459624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37" name="TextBox 382"/>
            <p:cNvSpPr txBox="1"/>
            <p:nvPr/>
          </p:nvSpPr>
          <p:spPr>
            <a:xfrm>
              <a:off x="8368188" y="3694720"/>
              <a:ext cx="42992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238" name="TextBox 383"/>
            <p:cNvSpPr txBox="1"/>
            <p:nvPr/>
          </p:nvSpPr>
          <p:spPr>
            <a:xfrm>
              <a:off x="8417695" y="4018393"/>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239" name="TextBox 384"/>
            <p:cNvSpPr txBox="1"/>
            <p:nvPr/>
          </p:nvSpPr>
          <p:spPr>
            <a:xfrm>
              <a:off x="8423066" y="4267009"/>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240" name="TextBox 385"/>
            <p:cNvSpPr txBox="1"/>
            <p:nvPr/>
          </p:nvSpPr>
          <p:spPr>
            <a:xfrm>
              <a:off x="8422313" y="454657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241" name="组合 1240"/>
          <p:cNvGrpSpPr/>
          <p:nvPr/>
        </p:nvGrpSpPr>
        <p:grpSpPr>
          <a:xfrm>
            <a:off x="9635930" y="4403201"/>
            <a:ext cx="733255" cy="1247834"/>
            <a:chOff x="8072858" y="3686967"/>
            <a:chExt cx="733255" cy="1247834"/>
          </a:xfrm>
        </p:grpSpPr>
        <p:sp>
          <p:nvSpPr>
            <p:cNvPr id="1242" name="矩形 1241"/>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43" name="矩形 1242"/>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44" name="矩形 1243"/>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45" name="矩形 1244"/>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46" name="矩形 1245"/>
            <p:cNvSpPr/>
            <p:nvPr/>
          </p:nvSpPr>
          <p:spPr>
            <a:xfrm flipH="1">
              <a:off x="8154097"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47" name="矩形 1246"/>
            <p:cNvSpPr/>
            <p:nvPr/>
          </p:nvSpPr>
          <p:spPr>
            <a:xfrm flipH="1">
              <a:off x="8439849" y="4328143"/>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48" name="矩形 1247"/>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49" name="矩形 1248"/>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50" name="TextBox 377"/>
            <p:cNvSpPr txBox="1"/>
            <p:nvPr/>
          </p:nvSpPr>
          <p:spPr>
            <a:xfrm>
              <a:off x="8080640" y="372551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51" name="TextBox 378"/>
            <p:cNvSpPr txBox="1"/>
            <p:nvPr/>
          </p:nvSpPr>
          <p:spPr>
            <a:xfrm>
              <a:off x="8080640" y="402165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52" name="TextBox 379"/>
            <p:cNvSpPr txBox="1"/>
            <p:nvPr/>
          </p:nvSpPr>
          <p:spPr>
            <a:xfrm>
              <a:off x="8072858" y="430272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53" name="TextBox 380"/>
            <p:cNvSpPr txBox="1"/>
            <p:nvPr/>
          </p:nvSpPr>
          <p:spPr>
            <a:xfrm>
              <a:off x="8072858" y="459624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54" name="TextBox 382"/>
            <p:cNvSpPr txBox="1"/>
            <p:nvPr/>
          </p:nvSpPr>
          <p:spPr>
            <a:xfrm>
              <a:off x="8376187" y="3686967"/>
              <a:ext cx="42992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255" name="TextBox 383"/>
            <p:cNvSpPr txBox="1"/>
            <p:nvPr/>
          </p:nvSpPr>
          <p:spPr>
            <a:xfrm>
              <a:off x="8403295" y="4018393"/>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256" name="TextBox 384"/>
            <p:cNvSpPr txBox="1"/>
            <p:nvPr/>
          </p:nvSpPr>
          <p:spPr>
            <a:xfrm>
              <a:off x="8423066" y="4267009"/>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257" name="TextBox 385"/>
            <p:cNvSpPr txBox="1"/>
            <p:nvPr/>
          </p:nvSpPr>
          <p:spPr>
            <a:xfrm>
              <a:off x="8422313" y="454657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grpSp>
        <p:nvGrpSpPr>
          <p:cNvPr id="1258" name="组合 1257"/>
          <p:cNvGrpSpPr/>
          <p:nvPr/>
        </p:nvGrpSpPr>
        <p:grpSpPr>
          <a:xfrm>
            <a:off x="9642168" y="4710215"/>
            <a:ext cx="668911" cy="369332"/>
            <a:chOff x="8078003" y="4001925"/>
            <a:chExt cx="668911" cy="369332"/>
          </a:xfrm>
        </p:grpSpPr>
        <p:sp>
          <p:nvSpPr>
            <p:cNvPr id="1261" name="矩形 1260"/>
            <p:cNvSpPr/>
            <p:nvPr/>
          </p:nvSpPr>
          <p:spPr>
            <a:xfrm flipH="1">
              <a:off x="8154097"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62" name="矩形 1261"/>
            <p:cNvSpPr/>
            <p:nvPr/>
          </p:nvSpPr>
          <p:spPr>
            <a:xfrm flipH="1">
              <a:off x="8439849" y="4042391"/>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68" name="TextBox 378"/>
            <p:cNvSpPr txBox="1"/>
            <p:nvPr/>
          </p:nvSpPr>
          <p:spPr>
            <a:xfrm>
              <a:off x="8078003" y="4019170"/>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72" name="TextBox 383"/>
            <p:cNvSpPr txBox="1"/>
            <p:nvPr/>
          </p:nvSpPr>
          <p:spPr>
            <a:xfrm>
              <a:off x="8408360" y="4001925"/>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grpSp>
      <p:grpSp>
        <p:nvGrpSpPr>
          <p:cNvPr id="1275" name="组合 1274"/>
          <p:cNvGrpSpPr/>
          <p:nvPr/>
        </p:nvGrpSpPr>
        <p:grpSpPr>
          <a:xfrm>
            <a:off x="9631404" y="4401722"/>
            <a:ext cx="733255" cy="1247834"/>
            <a:chOff x="8072858" y="3686967"/>
            <a:chExt cx="733255" cy="1247834"/>
          </a:xfrm>
        </p:grpSpPr>
        <p:sp>
          <p:nvSpPr>
            <p:cNvPr id="1276" name="矩形 1275"/>
            <p:cNvSpPr/>
            <p:nvPr/>
          </p:nvSpPr>
          <p:spPr>
            <a:xfrm flipH="1">
              <a:off x="8154097"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77" name="矩形 1276"/>
            <p:cNvSpPr/>
            <p:nvPr/>
          </p:nvSpPr>
          <p:spPr>
            <a:xfrm flipH="1">
              <a:off x="8439849" y="3756639"/>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78" name="矩形 1277"/>
            <p:cNvSpPr/>
            <p:nvPr/>
          </p:nvSpPr>
          <p:spPr>
            <a:xfrm flipH="1">
              <a:off x="8154097"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79" name="矩形 1278"/>
            <p:cNvSpPr/>
            <p:nvPr/>
          </p:nvSpPr>
          <p:spPr>
            <a:xfrm flipH="1">
              <a:off x="8439849" y="4042391"/>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80" name="矩形 1279"/>
            <p:cNvSpPr/>
            <p:nvPr/>
          </p:nvSpPr>
          <p:spPr>
            <a:xfrm flipH="1">
              <a:off x="8154097"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81" name="矩形 1280"/>
            <p:cNvSpPr/>
            <p:nvPr/>
          </p:nvSpPr>
          <p:spPr>
            <a:xfrm flipH="1">
              <a:off x="8439849" y="4328143"/>
              <a:ext cx="285752" cy="285752"/>
            </a:xfrm>
            <a:prstGeom prst="rect">
              <a:avLst/>
            </a:prstGeom>
            <a:solidFill>
              <a:srgbClr val="00B0F0"/>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82" name="矩形 1281"/>
            <p:cNvSpPr/>
            <p:nvPr/>
          </p:nvSpPr>
          <p:spPr>
            <a:xfrm flipH="1">
              <a:off x="8154097"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83" name="矩形 1282"/>
            <p:cNvSpPr/>
            <p:nvPr/>
          </p:nvSpPr>
          <p:spPr>
            <a:xfrm flipH="1">
              <a:off x="8439849" y="4613895"/>
              <a:ext cx="285752" cy="285752"/>
            </a:xfrm>
            <a:prstGeom prst="rect">
              <a:avLst/>
            </a:prstGeom>
            <a:solidFill>
              <a:schemeClr val="bg1"/>
            </a:soli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84" name="TextBox 377"/>
            <p:cNvSpPr txBox="1"/>
            <p:nvPr/>
          </p:nvSpPr>
          <p:spPr>
            <a:xfrm>
              <a:off x="8080640" y="372551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85" name="TextBox 378"/>
            <p:cNvSpPr txBox="1"/>
            <p:nvPr/>
          </p:nvSpPr>
          <p:spPr>
            <a:xfrm>
              <a:off x="8080640" y="4021658"/>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10</a:t>
              </a:r>
              <a:endParaRPr lang="zh-CN" altLang="en-US" sz="1600" b="1" dirty="0">
                <a:solidFill>
                  <a:srgbClr val="11576A"/>
                </a:solidFill>
                <a:latin typeface="微软雅黑" pitchFamily="34" charset="-122"/>
                <a:ea typeface="微软雅黑" pitchFamily="34" charset="-122"/>
              </a:endParaRPr>
            </a:p>
          </p:txBody>
        </p:sp>
        <p:sp>
          <p:nvSpPr>
            <p:cNvPr id="1286" name="TextBox 379"/>
            <p:cNvSpPr txBox="1"/>
            <p:nvPr/>
          </p:nvSpPr>
          <p:spPr>
            <a:xfrm>
              <a:off x="8080640" y="4300822"/>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87" name="TextBox 380"/>
            <p:cNvSpPr txBox="1"/>
            <p:nvPr/>
          </p:nvSpPr>
          <p:spPr>
            <a:xfrm>
              <a:off x="8072858" y="4596247"/>
              <a:ext cx="437940" cy="338554"/>
            </a:xfrm>
            <a:prstGeom prst="rect">
              <a:avLst/>
            </a:prstGeom>
            <a:noFill/>
          </p:spPr>
          <p:txBody>
            <a:bodyPr wrap="none" rtlCol="0">
              <a:spAutoFit/>
            </a:bodyPr>
            <a:lstStyle/>
            <a:p>
              <a:r>
                <a:rPr lang="en-US" altLang="zh-CN" sz="1600" b="1" dirty="0">
                  <a:solidFill>
                    <a:srgbClr val="11576A"/>
                  </a:solidFill>
                  <a:latin typeface="微软雅黑" pitchFamily="34" charset="-122"/>
                  <a:ea typeface="微软雅黑" pitchFamily="34" charset="-122"/>
                </a:rPr>
                <a:t>00</a:t>
              </a:r>
              <a:endParaRPr lang="zh-CN" altLang="en-US" sz="1600" b="1" dirty="0">
                <a:solidFill>
                  <a:srgbClr val="11576A"/>
                </a:solidFill>
                <a:latin typeface="微软雅黑" pitchFamily="34" charset="-122"/>
                <a:ea typeface="微软雅黑" pitchFamily="34" charset="-122"/>
              </a:endParaRPr>
            </a:p>
          </p:txBody>
        </p:sp>
        <p:sp>
          <p:nvSpPr>
            <p:cNvPr id="1288" name="TextBox 382"/>
            <p:cNvSpPr txBox="1"/>
            <p:nvPr/>
          </p:nvSpPr>
          <p:spPr>
            <a:xfrm>
              <a:off x="8376187" y="3686967"/>
              <a:ext cx="429926"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289" name="TextBox 383"/>
            <p:cNvSpPr txBox="1"/>
            <p:nvPr/>
          </p:nvSpPr>
          <p:spPr>
            <a:xfrm>
              <a:off x="8417695" y="4018393"/>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sp>
          <p:nvSpPr>
            <p:cNvPr id="1290" name="TextBox 384"/>
            <p:cNvSpPr txBox="1"/>
            <p:nvPr/>
          </p:nvSpPr>
          <p:spPr>
            <a:xfrm>
              <a:off x="8414298" y="4266889"/>
              <a:ext cx="31931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291" name="TextBox 385"/>
            <p:cNvSpPr txBox="1"/>
            <p:nvPr/>
          </p:nvSpPr>
          <p:spPr>
            <a:xfrm>
              <a:off x="8422313" y="4546575"/>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grpSp>
      <p:sp>
        <p:nvSpPr>
          <p:cNvPr id="2" name="文本框 1">
            <a:extLst>
              <a:ext uri="{FF2B5EF4-FFF2-40B4-BE49-F238E27FC236}">
                <a16:creationId xmlns:a16="http://schemas.microsoft.com/office/drawing/2014/main" id="{9F42210E-9B90-3212-EBA0-D5E9EED7B409}"/>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90C168B4-A8E7-1CD0-4264-ABE7ED09054E}"/>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改进的</a:t>
            </a:r>
            <a:r>
              <a:rPr lang="en-US" altLang="zh-CN" b="0" kern="0" dirty="0"/>
              <a:t>Clock</a:t>
            </a:r>
            <a:r>
              <a:rPr lang="zh-CN" altLang="en-US" b="0" kern="0" dirty="0"/>
              <a:t>算法</a:t>
            </a:r>
          </a:p>
        </p:txBody>
      </p:sp>
    </p:spTree>
    <p:extLst>
      <p:ext uri="{BB962C8B-B14F-4D97-AF65-F5344CB8AC3E}">
        <p14:creationId xmlns:p14="http://schemas.microsoft.com/office/powerpoint/2010/main" val="266711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8"/>
                                        </p:tgtEl>
                                        <p:attrNameLst>
                                          <p:attrName>style.visibility</p:attrName>
                                        </p:attrNameLst>
                                      </p:cBhvr>
                                      <p:to>
                                        <p:strVal val="visible"/>
                                      </p:to>
                                    </p:set>
                                    <p:animEffect transition="in" filter="fade">
                                      <p:cBhvr>
                                        <p:cTn id="7" dur="500"/>
                                        <p:tgtEl>
                                          <p:spTgt spid="738"/>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763"/>
                                        </p:tgtEl>
                                        <p:attrNameLst>
                                          <p:attrName>style.visibility</p:attrName>
                                        </p:attrNameLst>
                                      </p:cBhvr>
                                      <p:to>
                                        <p:strVal val="visible"/>
                                      </p:to>
                                    </p:set>
                                  </p:childTnLst>
                                </p:cTn>
                              </p:par>
                            </p:childTnLst>
                          </p:cTn>
                        </p:par>
                        <p:par>
                          <p:cTn id="11" fill="hold">
                            <p:stCondLst>
                              <p:cond delay="500"/>
                            </p:stCondLst>
                            <p:childTnLst>
                              <p:par>
                                <p:cTn id="12" presetID="35" presetClass="emph" presetSubtype="0" repeatCount="indefinite" fill="hold" grpId="1" nodeType="afterEffect">
                                  <p:stCondLst>
                                    <p:cond delay="0"/>
                                  </p:stCondLst>
                                  <p:endCondLst>
                                    <p:cond evt="onNext" delay="0">
                                      <p:tgtEl>
                                        <p:sldTgt/>
                                      </p:tgtEl>
                                    </p:cond>
                                  </p:endCondLst>
                                  <p:childTnLst>
                                    <p:anim calcmode="discrete" valueType="str">
                                      <p:cBhvr>
                                        <p:cTn id="13" dur="500" fill="hold"/>
                                        <p:tgtEl>
                                          <p:spTgt spid="763"/>
                                        </p:tgtEl>
                                        <p:attrNameLst>
                                          <p:attrName>style.visibility</p:attrName>
                                        </p:attrNameLst>
                                      </p:cBhvr>
                                      <p:tavLst>
                                        <p:tav tm="0">
                                          <p:val>
                                            <p:strVal val="hidden"/>
                                          </p:val>
                                        </p:tav>
                                        <p:tav tm="50000">
                                          <p:val>
                                            <p:strVal val="visible"/>
                                          </p:val>
                                        </p:tav>
                                      </p:tavLst>
                                    </p:anim>
                                  </p:childTnLst>
                                </p:cTn>
                              </p:par>
                              <p:par>
                                <p:cTn id="14" presetID="42" presetClass="path" presetSubtype="0" accel="50000" decel="50000" fill="hold" nodeType="withEffect">
                                  <p:stCondLst>
                                    <p:cond delay="0"/>
                                  </p:stCondLst>
                                  <p:childTnLst>
                                    <p:animMotion origin="layout" path="M 1.875E-6 2.96296E-6 L 0.05156 -0.00046 " pathEditMode="fixed" rAng="0" ptsTypes="AA">
                                      <p:cBhvr>
                                        <p:cTn id="15" dur="2000" fill="hold"/>
                                        <p:tgtEl>
                                          <p:spTgt spid="767"/>
                                        </p:tgtEl>
                                        <p:attrNameLst>
                                          <p:attrName>ppt_x</p:attrName>
                                          <p:attrName>ppt_y</p:attrName>
                                        </p:attrNameLst>
                                      </p:cBhvr>
                                      <p:rCtr x="2591" y="-23"/>
                                    </p:animMotion>
                                  </p:childTnLst>
                                </p:cTn>
                              </p:par>
                            </p:childTnLst>
                          </p:cTn>
                        </p:par>
                        <p:par>
                          <p:cTn id="16" fill="hold">
                            <p:stCondLst>
                              <p:cond delay="2500"/>
                            </p:stCondLst>
                            <p:childTnLst>
                              <p:par>
                                <p:cTn id="17" presetID="10" presetClass="entr" presetSubtype="0" fill="hold" nodeType="afterEffect">
                                  <p:stCondLst>
                                    <p:cond delay="0"/>
                                  </p:stCondLst>
                                  <p:childTnLst>
                                    <p:set>
                                      <p:cBhvr>
                                        <p:cTn id="18" dur="1" fill="hold">
                                          <p:stCondLst>
                                            <p:cond delay="0"/>
                                          </p:stCondLst>
                                        </p:cTn>
                                        <p:tgtEl>
                                          <p:spTgt spid="784"/>
                                        </p:tgtEl>
                                        <p:attrNameLst>
                                          <p:attrName>style.visibility</p:attrName>
                                        </p:attrNameLst>
                                      </p:cBhvr>
                                      <p:to>
                                        <p:strVal val="visible"/>
                                      </p:to>
                                    </p:set>
                                    <p:animEffect transition="in" filter="fade">
                                      <p:cBhvr>
                                        <p:cTn id="19" dur="500"/>
                                        <p:tgtEl>
                                          <p:spTgt spid="784"/>
                                        </p:tgtEl>
                                      </p:cBhvr>
                                    </p:animEffect>
                                  </p:childTnLst>
                                </p:cTn>
                              </p:par>
                            </p:childTnLst>
                          </p:cTn>
                        </p:par>
                        <p:par>
                          <p:cTn id="20" fill="hold">
                            <p:stCondLst>
                              <p:cond delay="3000"/>
                            </p:stCondLst>
                            <p:childTnLst>
                              <p:par>
                                <p:cTn id="21" presetID="1" presetClass="exit" presetSubtype="0" fill="hold" nodeType="afterEffect">
                                  <p:stCondLst>
                                    <p:cond delay="0"/>
                                  </p:stCondLst>
                                  <p:childTnLst>
                                    <p:set>
                                      <p:cBhvr>
                                        <p:cTn id="22" dur="1" fill="hold">
                                          <p:stCondLst>
                                            <p:cond delay="0"/>
                                          </p:stCondLst>
                                        </p:cTn>
                                        <p:tgtEl>
                                          <p:spTgt spid="76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2" nodeType="clickEffect">
                                  <p:stCondLst>
                                    <p:cond delay="0"/>
                                  </p:stCondLst>
                                  <p:childTnLst>
                                    <p:set>
                                      <p:cBhvr>
                                        <p:cTn id="26" dur="1" fill="hold">
                                          <p:stCondLst>
                                            <p:cond delay="0"/>
                                          </p:stCondLst>
                                        </p:cTn>
                                        <p:tgtEl>
                                          <p:spTgt spid="763"/>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748"/>
                                        </p:tgtEl>
                                        <p:attrNameLst>
                                          <p:attrName>style.visibility</p:attrName>
                                        </p:attrNameLst>
                                      </p:cBhvr>
                                      <p:to>
                                        <p:strVal val="visible"/>
                                      </p:to>
                                    </p:set>
                                    <p:animEffect transition="in" filter="fade">
                                      <p:cBhvr>
                                        <p:cTn id="29" dur="500"/>
                                        <p:tgtEl>
                                          <p:spTgt spid="748"/>
                                        </p:tgtEl>
                                      </p:cBhvr>
                                    </p:animEffec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764"/>
                                        </p:tgtEl>
                                        <p:attrNameLst>
                                          <p:attrName>style.visibility</p:attrName>
                                        </p:attrNameLst>
                                      </p:cBhvr>
                                      <p:to>
                                        <p:strVal val="visible"/>
                                      </p:to>
                                    </p:set>
                                  </p:childTnLst>
                                </p:cTn>
                              </p:par>
                            </p:childTnLst>
                          </p:cTn>
                        </p:par>
                        <p:par>
                          <p:cTn id="33" fill="hold">
                            <p:stCondLst>
                              <p:cond delay="500"/>
                            </p:stCondLst>
                            <p:childTnLst>
                              <p:par>
                                <p:cTn id="34" presetID="35" presetClass="emph" presetSubtype="0" repeatCount="indefinite" fill="hold" grpId="1" nodeType="afterEffect">
                                  <p:stCondLst>
                                    <p:cond delay="0"/>
                                  </p:stCondLst>
                                  <p:endCondLst>
                                    <p:cond evt="onNext" delay="0">
                                      <p:tgtEl>
                                        <p:sldTgt/>
                                      </p:tgtEl>
                                    </p:cond>
                                  </p:endCondLst>
                                  <p:childTnLst>
                                    <p:anim calcmode="discrete" valueType="str">
                                      <p:cBhvr>
                                        <p:cTn id="35" dur="500" fill="hold"/>
                                        <p:tgtEl>
                                          <p:spTgt spid="764"/>
                                        </p:tgtEl>
                                        <p:attrNameLst>
                                          <p:attrName>style.visibility</p:attrName>
                                        </p:attrNameLst>
                                      </p:cBhvr>
                                      <p:tavLst>
                                        <p:tav tm="0">
                                          <p:val>
                                            <p:strVal val="hidden"/>
                                          </p:val>
                                        </p:tav>
                                        <p:tav tm="50000">
                                          <p:val>
                                            <p:strVal val="visible"/>
                                          </p:val>
                                        </p:tav>
                                      </p:tavLst>
                                    </p:anim>
                                  </p:childTnLst>
                                </p:cTn>
                              </p:par>
                              <p:par>
                                <p:cTn id="36" presetID="42" presetClass="path" presetSubtype="0" accel="50000" decel="50000" fill="hold" nodeType="withEffect">
                                  <p:stCondLst>
                                    <p:cond delay="0"/>
                                  </p:stCondLst>
                                  <p:childTnLst>
                                    <p:animMotion origin="layout" path="M -6.25E-7 -4.07407E-6 L 0.05065 4.44444E-6 " pathEditMode="relative" rAng="0" ptsTypes="AA">
                                      <p:cBhvr>
                                        <p:cTn id="37" dur="2000" fill="hold"/>
                                        <p:tgtEl>
                                          <p:spTgt spid="784"/>
                                        </p:tgtEl>
                                        <p:attrNameLst>
                                          <p:attrName>ppt_x</p:attrName>
                                          <p:attrName>ppt_y</p:attrName>
                                        </p:attrNameLst>
                                      </p:cBhvr>
                                      <p:rCtr x="2565" y="0"/>
                                    </p:animMotion>
                                  </p:childTnLst>
                                </p:cTn>
                              </p:par>
                            </p:childTnLst>
                          </p:cTn>
                        </p:par>
                        <p:par>
                          <p:cTn id="38" fill="hold">
                            <p:stCondLst>
                              <p:cond delay="2500"/>
                            </p:stCondLst>
                            <p:childTnLst>
                              <p:par>
                                <p:cTn id="39" presetID="10" presetClass="entr" presetSubtype="0" fill="hold" nodeType="afterEffect">
                                  <p:stCondLst>
                                    <p:cond delay="0"/>
                                  </p:stCondLst>
                                  <p:childTnLst>
                                    <p:set>
                                      <p:cBhvr>
                                        <p:cTn id="40" dur="1" fill="hold">
                                          <p:stCondLst>
                                            <p:cond delay="0"/>
                                          </p:stCondLst>
                                        </p:cTn>
                                        <p:tgtEl>
                                          <p:spTgt spid="801"/>
                                        </p:tgtEl>
                                        <p:attrNameLst>
                                          <p:attrName>style.visibility</p:attrName>
                                        </p:attrNameLst>
                                      </p:cBhvr>
                                      <p:to>
                                        <p:strVal val="visible"/>
                                      </p:to>
                                    </p:set>
                                    <p:animEffect transition="in" filter="fade">
                                      <p:cBhvr>
                                        <p:cTn id="41" dur="500"/>
                                        <p:tgtEl>
                                          <p:spTgt spid="801"/>
                                        </p:tgtEl>
                                      </p:cBhvr>
                                    </p:animEffect>
                                  </p:childTnLst>
                                </p:cTn>
                              </p:par>
                            </p:childTnLst>
                          </p:cTn>
                        </p:par>
                        <p:par>
                          <p:cTn id="42" fill="hold">
                            <p:stCondLst>
                              <p:cond delay="3000"/>
                            </p:stCondLst>
                            <p:childTnLst>
                              <p:par>
                                <p:cTn id="43" presetID="1" presetClass="exit" presetSubtype="0" fill="hold" nodeType="afterEffect">
                                  <p:stCondLst>
                                    <p:cond delay="0"/>
                                  </p:stCondLst>
                                  <p:childTnLst>
                                    <p:set>
                                      <p:cBhvr>
                                        <p:cTn id="44" dur="1" fill="hold">
                                          <p:stCondLst>
                                            <p:cond delay="0"/>
                                          </p:stCondLst>
                                        </p:cTn>
                                        <p:tgtEl>
                                          <p:spTgt spid="78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2" nodeType="clickEffect">
                                  <p:stCondLst>
                                    <p:cond delay="0"/>
                                  </p:stCondLst>
                                  <p:childTnLst>
                                    <p:set>
                                      <p:cBhvr>
                                        <p:cTn id="48" dur="1" fill="hold">
                                          <p:stCondLst>
                                            <p:cond delay="0"/>
                                          </p:stCondLst>
                                        </p:cTn>
                                        <p:tgtEl>
                                          <p:spTgt spid="764"/>
                                        </p:tgtEl>
                                        <p:attrNameLst>
                                          <p:attrName>style.visibility</p:attrName>
                                        </p:attrNameLst>
                                      </p:cBhvr>
                                      <p:to>
                                        <p:strVal val="hidden"/>
                                      </p:to>
                                    </p:set>
                                  </p:childTnLst>
                                </p:cTn>
                              </p:par>
                              <p:par>
                                <p:cTn id="49" presetID="10" presetClass="entr" presetSubtype="0" fill="hold" nodeType="withEffect">
                                  <p:stCondLst>
                                    <p:cond delay="0"/>
                                  </p:stCondLst>
                                  <p:childTnLst>
                                    <p:set>
                                      <p:cBhvr>
                                        <p:cTn id="50" dur="1" fill="hold">
                                          <p:stCondLst>
                                            <p:cond delay="0"/>
                                          </p:stCondLst>
                                        </p:cTn>
                                        <p:tgtEl>
                                          <p:spTgt spid="753"/>
                                        </p:tgtEl>
                                        <p:attrNameLst>
                                          <p:attrName>style.visibility</p:attrName>
                                        </p:attrNameLst>
                                      </p:cBhvr>
                                      <p:to>
                                        <p:strVal val="visible"/>
                                      </p:to>
                                    </p:set>
                                    <p:animEffect transition="in" filter="fade">
                                      <p:cBhvr>
                                        <p:cTn id="51" dur="500"/>
                                        <p:tgtEl>
                                          <p:spTgt spid="753"/>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0"/>
                                          </p:stCondLst>
                                        </p:cTn>
                                        <p:tgtEl>
                                          <p:spTgt spid="765"/>
                                        </p:tgtEl>
                                        <p:attrNameLst>
                                          <p:attrName>style.visibility</p:attrName>
                                        </p:attrNameLst>
                                      </p:cBhvr>
                                      <p:to>
                                        <p:strVal val="visible"/>
                                      </p:to>
                                    </p:set>
                                  </p:childTnLst>
                                </p:cTn>
                              </p:par>
                            </p:childTnLst>
                          </p:cTn>
                        </p:par>
                        <p:par>
                          <p:cTn id="55" fill="hold">
                            <p:stCondLst>
                              <p:cond delay="500"/>
                            </p:stCondLst>
                            <p:childTnLst>
                              <p:par>
                                <p:cTn id="56" presetID="35" presetClass="emph" presetSubtype="0" repeatCount="indefinite" fill="hold" grpId="1" nodeType="afterEffect">
                                  <p:stCondLst>
                                    <p:cond delay="0"/>
                                  </p:stCondLst>
                                  <p:endCondLst>
                                    <p:cond evt="onNext" delay="0">
                                      <p:tgtEl>
                                        <p:sldTgt/>
                                      </p:tgtEl>
                                    </p:cond>
                                  </p:endCondLst>
                                  <p:childTnLst>
                                    <p:anim calcmode="discrete" valueType="str">
                                      <p:cBhvr>
                                        <p:cTn id="57" dur="500" fill="hold"/>
                                        <p:tgtEl>
                                          <p:spTgt spid="765"/>
                                        </p:tgtEl>
                                        <p:attrNameLst>
                                          <p:attrName>style.visibility</p:attrName>
                                        </p:attrNameLst>
                                      </p:cBhvr>
                                      <p:tavLst>
                                        <p:tav tm="0">
                                          <p:val>
                                            <p:strVal val="hidden"/>
                                          </p:val>
                                        </p:tav>
                                        <p:tav tm="50000">
                                          <p:val>
                                            <p:strVal val="visible"/>
                                          </p:val>
                                        </p:tav>
                                      </p:tavLst>
                                    </p:anim>
                                  </p:childTnLst>
                                </p:cTn>
                              </p:par>
                              <p:par>
                                <p:cTn id="58" presetID="42" presetClass="path" presetSubtype="0" accel="50000" decel="50000" fill="hold" nodeType="withEffect">
                                  <p:stCondLst>
                                    <p:cond delay="0"/>
                                  </p:stCondLst>
                                  <p:childTnLst>
                                    <p:animMotion origin="layout" path="M -1.66667E-6 -4.07407E-6 L 0.05183 -2.59259E-6 " pathEditMode="relative" rAng="0" ptsTypes="AA">
                                      <p:cBhvr>
                                        <p:cTn id="59" dur="2000" fill="hold"/>
                                        <p:tgtEl>
                                          <p:spTgt spid="801"/>
                                        </p:tgtEl>
                                        <p:attrNameLst>
                                          <p:attrName>ppt_x</p:attrName>
                                          <p:attrName>ppt_y</p:attrName>
                                        </p:attrNameLst>
                                      </p:cBhvr>
                                      <p:rCtr x="2617" y="-23"/>
                                    </p:animMotion>
                                  </p:childTnLst>
                                </p:cTn>
                              </p:par>
                            </p:childTnLst>
                          </p:cTn>
                        </p:par>
                        <p:par>
                          <p:cTn id="60" fill="hold">
                            <p:stCondLst>
                              <p:cond delay="2500"/>
                            </p:stCondLst>
                            <p:childTnLst>
                              <p:par>
                                <p:cTn id="61" presetID="10" presetClass="entr" presetSubtype="0" fill="hold" nodeType="afterEffect">
                                  <p:stCondLst>
                                    <p:cond delay="0"/>
                                  </p:stCondLst>
                                  <p:childTnLst>
                                    <p:set>
                                      <p:cBhvr>
                                        <p:cTn id="62" dur="1" fill="hold">
                                          <p:stCondLst>
                                            <p:cond delay="0"/>
                                          </p:stCondLst>
                                        </p:cTn>
                                        <p:tgtEl>
                                          <p:spTgt spid="818"/>
                                        </p:tgtEl>
                                        <p:attrNameLst>
                                          <p:attrName>style.visibility</p:attrName>
                                        </p:attrNameLst>
                                      </p:cBhvr>
                                      <p:to>
                                        <p:strVal val="visible"/>
                                      </p:to>
                                    </p:set>
                                    <p:animEffect transition="in" filter="fade">
                                      <p:cBhvr>
                                        <p:cTn id="63" dur="500"/>
                                        <p:tgtEl>
                                          <p:spTgt spid="818"/>
                                        </p:tgtEl>
                                      </p:cBhvr>
                                    </p:animEffect>
                                  </p:childTnLst>
                                </p:cTn>
                              </p:par>
                            </p:childTnLst>
                          </p:cTn>
                        </p:par>
                        <p:par>
                          <p:cTn id="64" fill="hold">
                            <p:stCondLst>
                              <p:cond delay="3000"/>
                            </p:stCondLst>
                            <p:childTnLst>
                              <p:par>
                                <p:cTn id="65" presetID="1" presetClass="exit" presetSubtype="0" fill="hold" nodeType="afterEffect">
                                  <p:stCondLst>
                                    <p:cond delay="0"/>
                                  </p:stCondLst>
                                  <p:childTnLst>
                                    <p:set>
                                      <p:cBhvr>
                                        <p:cTn id="66" dur="1" fill="hold">
                                          <p:stCondLst>
                                            <p:cond delay="0"/>
                                          </p:stCondLst>
                                        </p:cTn>
                                        <p:tgtEl>
                                          <p:spTgt spid="801"/>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2" nodeType="clickEffect">
                                  <p:stCondLst>
                                    <p:cond delay="0"/>
                                  </p:stCondLst>
                                  <p:childTnLst>
                                    <p:set>
                                      <p:cBhvr>
                                        <p:cTn id="70" dur="1" fill="hold">
                                          <p:stCondLst>
                                            <p:cond delay="0"/>
                                          </p:stCondLst>
                                        </p:cTn>
                                        <p:tgtEl>
                                          <p:spTgt spid="765"/>
                                        </p:tgtEl>
                                        <p:attrNameLst>
                                          <p:attrName>style.visibility</p:attrName>
                                        </p:attrNameLst>
                                      </p:cBhvr>
                                      <p:to>
                                        <p:strVal val="hidden"/>
                                      </p:to>
                                    </p:set>
                                  </p:childTnLst>
                                </p:cTn>
                              </p:par>
                              <p:par>
                                <p:cTn id="71" presetID="10" presetClass="entr" presetSubtype="0" fill="hold" nodeType="withEffect">
                                  <p:stCondLst>
                                    <p:cond delay="0"/>
                                  </p:stCondLst>
                                  <p:childTnLst>
                                    <p:set>
                                      <p:cBhvr>
                                        <p:cTn id="72" dur="1" fill="hold">
                                          <p:stCondLst>
                                            <p:cond delay="0"/>
                                          </p:stCondLst>
                                        </p:cTn>
                                        <p:tgtEl>
                                          <p:spTgt spid="758"/>
                                        </p:tgtEl>
                                        <p:attrNameLst>
                                          <p:attrName>style.visibility</p:attrName>
                                        </p:attrNameLst>
                                      </p:cBhvr>
                                      <p:to>
                                        <p:strVal val="visible"/>
                                      </p:to>
                                    </p:set>
                                    <p:animEffect transition="in" filter="fade">
                                      <p:cBhvr>
                                        <p:cTn id="73" dur="500"/>
                                        <p:tgtEl>
                                          <p:spTgt spid="758"/>
                                        </p:tgtEl>
                                      </p:cBhvr>
                                    </p:animEffect>
                                  </p:childTnLst>
                                </p:cTn>
                              </p:par>
                            </p:childTnLst>
                          </p:cTn>
                        </p:par>
                        <p:par>
                          <p:cTn id="74" fill="hold">
                            <p:stCondLst>
                              <p:cond delay="500"/>
                            </p:stCondLst>
                            <p:childTnLst>
                              <p:par>
                                <p:cTn id="75" presetID="1" presetClass="entr" presetSubtype="0" fill="hold" grpId="0" nodeType="afterEffect">
                                  <p:stCondLst>
                                    <p:cond delay="0"/>
                                  </p:stCondLst>
                                  <p:childTnLst>
                                    <p:set>
                                      <p:cBhvr>
                                        <p:cTn id="76" dur="1" fill="hold">
                                          <p:stCondLst>
                                            <p:cond delay="0"/>
                                          </p:stCondLst>
                                        </p:cTn>
                                        <p:tgtEl>
                                          <p:spTgt spid="766"/>
                                        </p:tgtEl>
                                        <p:attrNameLst>
                                          <p:attrName>style.visibility</p:attrName>
                                        </p:attrNameLst>
                                      </p:cBhvr>
                                      <p:to>
                                        <p:strVal val="visible"/>
                                      </p:to>
                                    </p:set>
                                  </p:childTnLst>
                                </p:cTn>
                              </p:par>
                            </p:childTnLst>
                          </p:cTn>
                        </p:par>
                        <p:par>
                          <p:cTn id="77" fill="hold">
                            <p:stCondLst>
                              <p:cond delay="500"/>
                            </p:stCondLst>
                            <p:childTnLst>
                              <p:par>
                                <p:cTn id="78" presetID="35" presetClass="emph" presetSubtype="0" repeatCount="indefinite" fill="hold" grpId="1" nodeType="afterEffect">
                                  <p:stCondLst>
                                    <p:cond delay="0"/>
                                  </p:stCondLst>
                                  <p:endCondLst>
                                    <p:cond evt="onNext" delay="0">
                                      <p:tgtEl>
                                        <p:sldTgt/>
                                      </p:tgtEl>
                                    </p:cond>
                                  </p:endCondLst>
                                  <p:childTnLst>
                                    <p:anim calcmode="discrete" valueType="str">
                                      <p:cBhvr>
                                        <p:cTn id="79" dur="500" fill="hold"/>
                                        <p:tgtEl>
                                          <p:spTgt spid="766"/>
                                        </p:tgtEl>
                                        <p:attrNameLst>
                                          <p:attrName>style.visibility</p:attrName>
                                        </p:attrNameLst>
                                      </p:cBhvr>
                                      <p:tavLst>
                                        <p:tav tm="0">
                                          <p:val>
                                            <p:strVal val="hidden"/>
                                          </p:val>
                                        </p:tav>
                                        <p:tav tm="50000">
                                          <p:val>
                                            <p:strVal val="visible"/>
                                          </p:val>
                                        </p:tav>
                                      </p:tavLst>
                                    </p:anim>
                                  </p:childTnLst>
                                </p:cTn>
                              </p:par>
                              <p:par>
                                <p:cTn id="80" presetID="42" presetClass="path" presetSubtype="0" accel="50000" decel="50000" fill="hold" nodeType="withEffect">
                                  <p:stCondLst>
                                    <p:cond delay="0"/>
                                  </p:stCondLst>
                                  <p:childTnLst>
                                    <p:animMotion origin="layout" path="M -4.58333E-6 -4.07407E-6 L 0.05053 -2.59259E-6 " pathEditMode="relative" rAng="0" ptsTypes="AA">
                                      <p:cBhvr>
                                        <p:cTn id="81" dur="2000" fill="hold"/>
                                        <p:tgtEl>
                                          <p:spTgt spid="818"/>
                                        </p:tgtEl>
                                        <p:attrNameLst>
                                          <p:attrName>ppt_x</p:attrName>
                                          <p:attrName>ppt_y</p:attrName>
                                        </p:attrNameLst>
                                      </p:cBhvr>
                                      <p:rCtr x="2539" y="-23"/>
                                    </p:animMotion>
                                  </p:childTnLst>
                                </p:cTn>
                              </p:par>
                            </p:childTnLst>
                          </p:cTn>
                        </p:par>
                        <p:par>
                          <p:cTn id="82" fill="hold">
                            <p:stCondLst>
                              <p:cond delay="2500"/>
                            </p:stCondLst>
                            <p:childTnLst>
                              <p:par>
                                <p:cTn id="83" presetID="10" presetClass="entr" presetSubtype="0" fill="hold" nodeType="afterEffect">
                                  <p:stCondLst>
                                    <p:cond delay="0"/>
                                  </p:stCondLst>
                                  <p:childTnLst>
                                    <p:set>
                                      <p:cBhvr>
                                        <p:cTn id="84" dur="1" fill="hold">
                                          <p:stCondLst>
                                            <p:cond delay="0"/>
                                          </p:stCondLst>
                                        </p:cTn>
                                        <p:tgtEl>
                                          <p:spTgt spid="835"/>
                                        </p:tgtEl>
                                        <p:attrNameLst>
                                          <p:attrName>style.visibility</p:attrName>
                                        </p:attrNameLst>
                                      </p:cBhvr>
                                      <p:to>
                                        <p:strVal val="visible"/>
                                      </p:to>
                                    </p:set>
                                    <p:animEffect transition="in" filter="fade">
                                      <p:cBhvr>
                                        <p:cTn id="85" dur="500"/>
                                        <p:tgtEl>
                                          <p:spTgt spid="835"/>
                                        </p:tgtEl>
                                      </p:cBhvr>
                                    </p:animEffect>
                                  </p:childTnLst>
                                </p:cTn>
                              </p:par>
                            </p:childTnLst>
                          </p:cTn>
                        </p:par>
                        <p:par>
                          <p:cTn id="86" fill="hold">
                            <p:stCondLst>
                              <p:cond delay="3000"/>
                            </p:stCondLst>
                            <p:childTnLst>
                              <p:par>
                                <p:cTn id="87" presetID="1" presetClass="exit" presetSubtype="0" fill="hold" nodeType="afterEffect">
                                  <p:stCondLst>
                                    <p:cond delay="0"/>
                                  </p:stCondLst>
                                  <p:childTnLst>
                                    <p:set>
                                      <p:cBhvr>
                                        <p:cTn id="88" dur="1" fill="hold">
                                          <p:stCondLst>
                                            <p:cond delay="0"/>
                                          </p:stCondLst>
                                        </p:cTn>
                                        <p:tgtEl>
                                          <p:spTgt spid="818"/>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grpId="2" nodeType="clickEffect">
                                  <p:stCondLst>
                                    <p:cond delay="0"/>
                                  </p:stCondLst>
                                  <p:childTnLst>
                                    <p:set>
                                      <p:cBhvr>
                                        <p:cTn id="92" dur="1" fill="hold">
                                          <p:stCondLst>
                                            <p:cond delay="0"/>
                                          </p:stCondLst>
                                        </p:cTn>
                                        <p:tgtEl>
                                          <p:spTgt spid="766"/>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852"/>
                                        </p:tgtEl>
                                        <p:attrNameLst>
                                          <p:attrName>style.visibility</p:attrName>
                                        </p:attrNameLst>
                                      </p:cBhvr>
                                      <p:to>
                                        <p:strVal val="visible"/>
                                      </p:to>
                                    </p:set>
                                    <p:animEffect transition="in" filter="fade">
                                      <p:cBhvr>
                                        <p:cTn id="95" dur="500"/>
                                        <p:tgtEl>
                                          <p:spTgt spid="852"/>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path" presetSubtype="0" accel="50000" decel="50000" fill="hold" nodeType="clickEffect">
                                  <p:stCondLst>
                                    <p:cond delay="0"/>
                                  </p:stCondLst>
                                  <p:childTnLst>
                                    <p:animMotion origin="layout" path="M 4.58333E-6 -4.07407E-6 L 0.05182 -0.00138 " pathEditMode="relative" rAng="0" ptsTypes="AA">
                                      <p:cBhvr>
                                        <p:cTn id="99" dur="2000" fill="hold"/>
                                        <p:tgtEl>
                                          <p:spTgt spid="835"/>
                                        </p:tgtEl>
                                        <p:attrNameLst>
                                          <p:attrName>ppt_x</p:attrName>
                                          <p:attrName>ppt_y</p:attrName>
                                        </p:attrNameLst>
                                      </p:cBhvr>
                                      <p:rCtr x="2630" y="-69"/>
                                    </p:animMotion>
                                  </p:childTnLst>
                                </p:cTn>
                              </p:par>
                            </p:childTnLst>
                          </p:cTn>
                        </p:par>
                        <p:par>
                          <p:cTn id="100" fill="hold">
                            <p:stCondLst>
                              <p:cond delay="2000"/>
                            </p:stCondLst>
                            <p:childTnLst>
                              <p:par>
                                <p:cTn id="101" presetID="10" presetClass="entr" presetSubtype="0" fill="hold" nodeType="afterEffect">
                                  <p:stCondLst>
                                    <p:cond delay="0"/>
                                  </p:stCondLst>
                                  <p:childTnLst>
                                    <p:set>
                                      <p:cBhvr>
                                        <p:cTn id="102" dur="1" fill="hold">
                                          <p:stCondLst>
                                            <p:cond delay="0"/>
                                          </p:stCondLst>
                                        </p:cTn>
                                        <p:tgtEl>
                                          <p:spTgt spid="861"/>
                                        </p:tgtEl>
                                        <p:attrNameLst>
                                          <p:attrName>style.visibility</p:attrName>
                                        </p:attrNameLst>
                                      </p:cBhvr>
                                      <p:to>
                                        <p:strVal val="visible"/>
                                      </p:to>
                                    </p:set>
                                    <p:animEffect transition="in" filter="fade">
                                      <p:cBhvr>
                                        <p:cTn id="103" dur="500"/>
                                        <p:tgtEl>
                                          <p:spTgt spid="861"/>
                                        </p:tgtEl>
                                      </p:cBhvr>
                                    </p:animEffect>
                                  </p:childTnLst>
                                </p:cTn>
                              </p:par>
                            </p:childTnLst>
                          </p:cTn>
                        </p:par>
                        <p:par>
                          <p:cTn id="104" fill="hold">
                            <p:stCondLst>
                              <p:cond delay="2500"/>
                            </p:stCondLst>
                            <p:childTnLst>
                              <p:par>
                                <p:cTn id="105" presetID="10" presetClass="entr" presetSubtype="0" fill="hold" nodeType="afterEffect">
                                  <p:stCondLst>
                                    <p:cond delay="1000"/>
                                  </p:stCondLst>
                                  <p:childTnLst>
                                    <p:set>
                                      <p:cBhvr>
                                        <p:cTn id="106" dur="1" fill="hold">
                                          <p:stCondLst>
                                            <p:cond delay="0"/>
                                          </p:stCondLst>
                                        </p:cTn>
                                        <p:tgtEl>
                                          <p:spTgt spid="878"/>
                                        </p:tgtEl>
                                        <p:attrNameLst>
                                          <p:attrName>style.visibility</p:attrName>
                                        </p:attrNameLst>
                                      </p:cBhvr>
                                      <p:to>
                                        <p:strVal val="visible"/>
                                      </p:to>
                                    </p:set>
                                    <p:animEffect transition="in" filter="fade">
                                      <p:cBhvr>
                                        <p:cTn id="107" dur="500"/>
                                        <p:tgtEl>
                                          <p:spTgt spid="878"/>
                                        </p:tgtEl>
                                      </p:cBhvr>
                                    </p:animEffect>
                                  </p:childTnLst>
                                </p:cTn>
                              </p:par>
                            </p:childTnLst>
                          </p:cTn>
                        </p:par>
                        <p:par>
                          <p:cTn id="108" fill="hold">
                            <p:stCondLst>
                              <p:cond delay="4000"/>
                            </p:stCondLst>
                            <p:childTnLst>
                              <p:par>
                                <p:cTn id="109" presetID="10" presetClass="entr" presetSubtype="0" fill="hold" nodeType="afterEffect">
                                  <p:stCondLst>
                                    <p:cond delay="1000"/>
                                  </p:stCondLst>
                                  <p:childTnLst>
                                    <p:set>
                                      <p:cBhvr>
                                        <p:cTn id="110" dur="1" fill="hold">
                                          <p:stCondLst>
                                            <p:cond delay="0"/>
                                          </p:stCondLst>
                                        </p:cTn>
                                        <p:tgtEl>
                                          <p:spTgt spid="895"/>
                                        </p:tgtEl>
                                        <p:attrNameLst>
                                          <p:attrName>style.visibility</p:attrName>
                                        </p:attrNameLst>
                                      </p:cBhvr>
                                      <p:to>
                                        <p:strVal val="visible"/>
                                      </p:to>
                                    </p:set>
                                    <p:animEffect transition="in" filter="fade">
                                      <p:cBhvr>
                                        <p:cTn id="111" dur="500"/>
                                        <p:tgtEl>
                                          <p:spTgt spid="895"/>
                                        </p:tgtEl>
                                      </p:cBhvr>
                                    </p:animEffect>
                                  </p:childTnLst>
                                </p:cTn>
                              </p:par>
                            </p:childTnLst>
                          </p:cTn>
                        </p:par>
                        <p:par>
                          <p:cTn id="112" fill="hold">
                            <p:stCondLst>
                              <p:cond delay="5500"/>
                            </p:stCondLst>
                            <p:childTnLst>
                              <p:par>
                                <p:cTn id="113" presetID="10" presetClass="entr" presetSubtype="0" fill="hold" nodeType="afterEffect">
                                  <p:stCondLst>
                                    <p:cond delay="1000"/>
                                  </p:stCondLst>
                                  <p:childTnLst>
                                    <p:set>
                                      <p:cBhvr>
                                        <p:cTn id="114" dur="1" fill="hold">
                                          <p:stCondLst>
                                            <p:cond delay="0"/>
                                          </p:stCondLst>
                                        </p:cTn>
                                        <p:tgtEl>
                                          <p:spTgt spid="912"/>
                                        </p:tgtEl>
                                        <p:attrNameLst>
                                          <p:attrName>style.visibility</p:attrName>
                                        </p:attrNameLst>
                                      </p:cBhvr>
                                      <p:to>
                                        <p:strVal val="visible"/>
                                      </p:to>
                                    </p:set>
                                    <p:animEffect transition="in" filter="fade">
                                      <p:cBhvr>
                                        <p:cTn id="115" dur="500"/>
                                        <p:tgtEl>
                                          <p:spTgt spid="912"/>
                                        </p:tgtEl>
                                      </p:cBhvr>
                                    </p:animEffect>
                                  </p:childTnLst>
                                </p:cTn>
                              </p:par>
                            </p:childTnLst>
                          </p:cTn>
                        </p:par>
                        <p:par>
                          <p:cTn id="116" fill="hold">
                            <p:stCondLst>
                              <p:cond delay="7000"/>
                            </p:stCondLst>
                            <p:childTnLst>
                              <p:par>
                                <p:cTn id="117" presetID="10" presetClass="entr" presetSubtype="0" fill="hold" nodeType="afterEffect">
                                  <p:stCondLst>
                                    <p:cond delay="1000"/>
                                  </p:stCondLst>
                                  <p:childTnLst>
                                    <p:set>
                                      <p:cBhvr>
                                        <p:cTn id="118" dur="1" fill="hold">
                                          <p:stCondLst>
                                            <p:cond delay="0"/>
                                          </p:stCondLst>
                                        </p:cTn>
                                        <p:tgtEl>
                                          <p:spTgt spid="929"/>
                                        </p:tgtEl>
                                        <p:attrNameLst>
                                          <p:attrName>style.visibility</p:attrName>
                                        </p:attrNameLst>
                                      </p:cBhvr>
                                      <p:to>
                                        <p:strVal val="visible"/>
                                      </p:to>
                                    </p:set>
                                    <p:animEffect transition="in" filter="fade">
                                      <p:cBhvr>
                                        <p:cTn id="119" dur="500"/>
                                        <p:tgtEl>
                                          <p:spTgt spid="929"/>
                                        </p:tgtEl>
                                      </p:cBhvr>
                                    </p:animEffect>
                                  </p:childTnLst>
                                </p:cTn>
                              </p:par>
                            </p:childTnLst>
                          </p:cTn>
                        </p:par>
                        <p:par>
                          <p:cTn id="120" fill="hold">
                            <p:stCondLst>
                              <p:cond delay="8500"/>
                            </p:stCondLst>
                            <p:childTnLst>
                              <p:par>
                                <p:cTn id="121" presetID="10" presetClass="entr" presetSubtype="0" fill="hold" nodeType="afterEffect">
                                  <p:stCondLst>
                                    <p:cond delay="1000"/>
                                  </p:stCondLst>
                                  <p:childTnLst>
                                    <p:set>
                                      <p:cBhvr>
                                        <p:cTn id="122" dur="1" fill="hold">
                                          <p:stCondLst>
                                            <p:cond delay="0"/>
                                          </p:stCondLst>
                                        </p:cTn>
                                        <p:tgtEl>
                                          <p:spTgt spid="946"/>
                                        </p:tgtEl>
                                        <p:attrNameLst>
                                          <p:attrName>style.visibility</p:attrName>
                                        </p:attrNameLst>
                                      </p:cBhvr>
                                      <p:to>
                                        <p:strVal val="visible"/>
                                      </p:to>
                                    </p:set>
                                    <p:animEffect transition="in" filter="fade">
                                      <p:cBhvr>
                                        <p:cTn id="123" dur="500"/>
                                        <p:tgtEl>
                                          <p:spTgt spid="946"/>
                                        </p:tgtEl>
                                      </p:cBhvr>
                                    </p:animEffect>
                                  </p:childTnLst>
                                </p:cTn>
                              </p:par>
                            </p:childTnLst>
                          </p:cTn>
                        </p:par>
                        <p:par>
                          <p:cTn id="124" fill="hold">
                            <p:stCondLst>
                              <p:cond delay="10000"/>
                            </p:stCondLst>
                            <p:childTnLst>
                              <p:par>
                                <p:cTn id="125" presetID="10" presetClass="entr" presetSubtype="0" fill="hold" nodeType="afterEffect">
                                  <p:stCondLst>
                                    <p:cond delay="1000"/>
                                  </p:stCondLst>
                                  <p:childTnLst>
                                    <p:set>
                                      <p:cBhvr>
                                        <p:cTn id="126" dur="1" fill="hold">
                                          <p:stCondLst>
                                            <p:cond delay="0"/>
                                          </p:stCondLst>
                                        </p:cTn>
                                        <p:tgtEl>
                                          <p:spTgt spid="963"/>
                                        </p:tgtEl>
                                        <p:attrNameLst>
                                          <p:attrName>style.visibility</p:attrName>
                                        </p:attrNameLst>
                                      </p:cBhvr>
                                      <p:to>
                                        <p:strVal val="visible"/>
                                      </p:to>
                                    </p:set>
                                    <p:animEffect transition="in" filter="fade">
                                      <p:cBhvr>
                                        <p:cTn id="127" dur="500"/>
                                        <p:tgtEl>
                                          <p:spTgt spid="963"/>
                                        </p:tgtEl>
                                      </p:cBhvr>
                                    </p:animEffect>
                                  </p:childTnLst>
                                </p:cTn>
                              </p:par>
                              <p:par>
                                <p:cTn id="128" presetID="10" presetClass="entr" presetSubtype="0" fill="hold" nodeType="withEffect">
                                  <p:stCondLst>
                                    <p:cond delay="100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childTnLst>
                          </p:cTn>
                        </p:par>
                        <p:par>
                          <p:cTn id="131" fill="hold">
                            <p:stCondLst>
                              <p:cond delay="11500"/>
                            </p:stCondLst>
                            <p:childTnLst>
                              <p:par>
                                <p:cTn id="132" presetID="26" presetClass="emph" presetSubtype="0" repeatCount="3000" fill="hold" nodeType="afterEffect">
                                  <p:stCondLst>
                                    <p:cond delay="0"/>
                                  </p:stCondLst>
                                  <p:childTnLst>
                                    <p:animEffect transition="out" filter="fade">
                                      <p:cBhvr>
                                        <p:cTn id="133" dur="500" tmFilter="0, 0; .2, .5; .8, .5; 1, 0"/>
                                        <p:tgtEl>
                                          <p:spTgt spid="46"/>
                                        </p:tgtEl>
                                      </p:cBhvr>
                                    </p:animEffect>
                                    <p:animScale>
                                      <p:cBhvr>
                                        <p:cTn id="134" dur="250" autoRev="1" fill="hold"/>
                                        <p:tgtEl>
                                          <p:spTgt spid="46"/>
                                        </p:tgtEl>
                                      </p:cBhvr>
                                      <p:by x="105000" y="105000"/>
                                    </p:animScale>
                                  </p:childTnLst>
                                </p:cTn>
                              </p:par>
                            </p:childTnLst>
                          </p:cTn>
                        </p:par>
                        <p:par>
                          <p:cTn id="135" fill="hold">
                            <p:stCondLst>
                              <p:cond delay="13000"/>
                            </p:stCondLst>
                            <p:childTnLst>
                              <p:par>
                                <p:cTn id="136" presetID="10" presetClass="entr" presetSubtype="0" fill="hold" nodeType="afterEffect">
                                  <p:stCondLst>
                                    <p:cond delay="0"/>
                                  </p:stCondLst>
                                  <p:childTnLst>
                                    <p:set>
                                      <p:cBhvr>
                                        <p:cTn id="137" dur="1" fill="hold">
                                          <p:stCondLst>
                                            <p:cond delay="0"/>
                                          </p:stCondLst>
                                        </p:cTn>
                                        <p:tgtEl>
                                          <p:spTgt spid="997"/>
                                        </p:tgtEl>
                                        <p:attrNameLst>
                                          <p:attrName>style.visibility</p:attrName>
                                        </p:attrNameLst>
                                      </p:cBhvr>
                                      <p:to>
                                        <p:strVal val="visible"/>
                                      </p:to>
                                    </p:set>
                                    <p:animEffect transition="in" filter="fade">
                                      <p:cBhvr>
                                        <p:cTn id="138" dur="500"/>
                                        <p:tgtEl>
                                          <p:spTgt spid="997"/>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fade">
                                      <p:cBhvr>
                                        <p:cTn id="143" dur="500"/>
                                        <p:tgtEl>
                                          <p:spTgt spid="41"/>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nodeType="clickEffect">
                                  <p:stCondLst>
                                    <p:cond delay="0"/>
                                  </p:stCondLst>
                                  <p:childTnLst>
                                    <p:set>
                                      <p:cBhvr>
                                        <p:cTn id="147" dur="1" fill="hold">
                                          <p:stCondLst>
                                            <p:cond delay="0"/>
                                          </p:stCondLst>
                                        </p:cTn>
                                        <p:tgtEl>
                                          <p:spTgt spid="365"/>
                                        </p:tgtEl>
                                        <p:attrNameLst>
                                          <p:attrName>style.visibility</p:attrName>
                                        </p:attrNameLst>
                                      </p:cBhvr>
                                      <p:to>
                                        <p:strVal val="visible"/>
                                      </p:to>
                                    </p:set>
                                    <p:animEffect transition="in" filter="fade">
                                      <p:cBhvr>
                                        <p:cTn id="148" dur="500"/>
                                        <p:tgtEl>
                                          <p:spTgt spid="365"/>
                                        </p:tgtEl>
                                      </p:cBhvr>
                                    </p:animEffect>
                                  </p:childTnLst>
                                </p:cTn>
                              </p:par>
                            </p:childTnLst>
                          </p:cTn>
                        </p:par>
                        <p:par>
                          <p:cTn id="149" fill="hold">
                            <p:stCondLst>
                              <p:cond delay="500"/>
                            </p:stCondLst>
                            <p:childTnLst>
                              <p:par>
                                <p:cTn id="150" presetID="1" presetClass="entr" presetSubtype="0" fill="hold" grpId="0" nodeType="afterEffect">
                                  <p:stCondLst>
                                    <p:cond delay="0"/>
                                  </p:stCondLst>
                                  <p:childTnLst>
                                    <p:set>
                                      <p:cBhvr>
                                        <p:cTn id="151" dur="1" fill="hold">
                                          <p:stCondLst>
                                            <p:cond delay="0"/>
                                          </p:stCondLst>
                                        </p:cTn>
                                        <p:tgtEl>
                                          <p:spTgt spid="1031"/>
                                        </p:tgtEl>
                                        <p:attrNameLst>
                                          <p:attrName>style.visibility</p:attrName>
                                        </p:attrNameLst>
                                      </p:cBhvr>
                                      <p:to>
                                        <p:strVal val="visible"/>
                                      </p:to>
                                    </p:set>
                                  </p:childTnLst>
                                </p:cTn>
                              </p:par>
                            </p:childTnLst>
                          </p:cTn>
                        </p:par>
                        <p:par>
                          <p:cTn id="152" fill="hold">
                            <p:stCondLst>
                              <p:cond delay="500"/>
                            </p:stCondLst>
                            <p:childTnLst>
                              <p:par>
                                <p:cTn id="153" presetID="35" presetClass="emph" presetSubtype="0" repeatCount="indefinite" fill="hold" grpId="1" nodeType="afterEffect">
                                  <p:stCondLst>
                                    <p:cond delay="0"/>
                                  </p:stCondLst>
                                  <p:endCondLst>
                                    <p:cond evt="onNext" delay="0">
                                      <p:tgtEl>
                                        <p:sldTgt/>
                                      </p:tgtEl>
                                    </p:cond>
                                  </p:endCondLst>
                                  <p:childTnLst>
                                    <p:anim calcmode="discrete" valueType="str">
                                      <p:cBhvr>
                                        <p:cTn id="154" dur="500" fill="hold"/>
                                        <p:tgtEl>
                                          <p:spTgt spid="1031"/>
                                        </p:tgtEl>
                                        <p:attrNameLst>
                                          <p:attrName>style.visibility</p:attrName>
                                        </p:attrNameLst>
                                      </p:cBhvr>
                                      <p:tavLst>
                                        <p:tav tm="0">
                                          <p:val>
                                            <p:strVal val="hidden"/>
                                          </p:val>
                                        </p:tav>
                                        <p:tav tm="50000">
                                          <p:val>
                                            <p:strVal val="visible"/>
                                          </p:val>
                                        </p:tav>
                                      </p:tavLst>
                                    </p:anim>
                                  </p:childTnLst>
                                </p:cTn>
                              </p:par>
                              <p:par>
                                <p:cTn id="155" presetID="10" presetClass="entr" presetSubtype="0" fill="hold" nodeType="withEffect">
                                  <p:stCondLst>
                                    <p:cond delay="0"/>
                                  </p:stCondLst>
                                  <p:childTnLst>
                                    <p:set>
                                      <p:cBhvr>
                                        <p:cTn id="156" dur="1" fill="hold">
                                          <p:stCondLst>
                                            <p:cond delay="0"/>
                                          </p:stCondLst>
                                        </p:cTn>
                                        <p:tgtEl>
                                          <p:spTgt spid="1014"/>
                                        </p:tgtEl>
                                        <p:attrNameLst>
                                          <p:attrName>style.visibility</p:attrName>
                                        </p:attrNameLst>
                                      </p:cBhvr>
                                      <p:to>
                                        <p:strVal val="visible"/>
                                      </p:to>
                                    </p:set>
                                    <p:animEffect transition="in" filter="fade">
                                      <p:cBhvr>
                                        <p:cTn id="157" dur="500"/>
                                        <p:tgtEl>
                                          <p:spTgt spid="1014"/>
                                        </p:tgtEl>
                                      </p:cBhvr>
                                    </p:animEffect>
                                  </p:childTnLst>
                                </p:cTn>
                              </p:par>
                              <p:par>
                                <p:cTn id="158" presetID="42" presetClass="path" presetSubtype="0" accel="50000" decel="50000" fill="hold" nodeType="withEffect">
                                  <p:stCondLst>
                                    <p:cond delay="0"/>
                                  </p:stCondLst>
                                  <p:childTnLst>
                                    <p:animMotion origin="layout" path="M 1.66667E-6 4.81481E-6 L 0.0513 0.00023 " pathEditMode="relative" rAng="0" ptsTypes="AA">
                                      <p:cBhvr>
                                        <p:cTn id="159" dur="2000" fill="hold"/>
                                        <p:tgtEl>
                                          <p:spTgt spid="1014"/>
                                        </p:tgtEl>
                                        <p:attrNameLst>
                                          <p:attrName>ppt_x</p:attrName>
                                          <p:attrName>ppt_y</p:attrName>
                                        </p:attrNameLst>
                                      </p:cBhvr>
                                      <p:rCtr x="2630" y="23"/>
                                    </p:animMotion>
                                  </p:childTnLst>
                                </p:cTn>
                              </p:par>
                            </p:childTnLst>
                          </p:cTn>
                        </p:par>
                        <p:par>
                          <p:cTn id="160" fill="hold">
                            <p:stCondLst>
                              <p:cond delay="2500"/>
                            </p:stCondLst>
                            <p:childTnLst>
                              <p:par>
                                <p:cTn id="161" presetID="10" presetClass="entr" presetSubtype="0" fill="hold" nodeType="afterEffect">
                                  <p:stCondLst>
                                    <p:cond delay="0"/>
                                  </p:stCondLst>
                                  <p:childTnLst>
                                    <p:set>
                                      <p:cBhvr>
                                        <p:cTn id="162" dur="1" fill="hold">
                                          <p:stCondLst>
                                            <p:cond delay="0"/>
                                          </p:stCondLst>
                                        </p:cTn>
                                        <p:tgtEl>
                                          <p:spTgt spid="1049"/>
                                        </p:tgtEl>
                                        <p:attrNameLst>
                                          <p:attrName>style.visibility</p:attrName>
                                        </p:attrNameLst>
                                      </p:cBhvr>
                                      <p:to>
                                        <p:strVal val="visible"/>
                                      </p:to>
                                    </p:set>
                                    <p:animEffect transition="in" filter="fade">
                                      <p:cBhvr>
                                        <p:cTn id="163" dur="500"/>
                                        <p:tgtEl>
                                          <p:spTgt spid="1049"/>
                                        </p:tgtEl>
                                      </p:cBhvr>
                                    </p:animEffect>
                                  </p:childTnLst>
                                </p:cTn>
                              </p:par>
                            </p:childTnLst>
                          </p:cTn>
                        </p:par>
                        <p:par>
                          <p:cTn id="164" fill="hold">
                            <p:stCondLst>
                              <p:cond delay="3000"/>
                            </p:stCondLst>
                            <p:childTnLst>
                              <p:par>
                                <p:cTn id="165" presetID="1" presetClass="exit" presetSubtype="0" fill="hold" nodeType="afterEffect">
                                  <p:stCondLst>
                                    <p:cond delay="0"/>
                                  </p:stCondLst>
                                  <p:childTnLst>
                                    <p:set>
                                      <p:cBhvr>
                                        <p:cTn id="166" dur="1" fill="hold">
                                          <p:stCondLst>
                                            <p:cond delay="0"/>
                                          </p:stCondLst>
                                        </p:cTn>
                                        <p:tgtEl>
                                          <p:spTgt spid="1014"/>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2" nodeType="clickEffect">
                                  <p:stCondLst>
                                    <p:cond delay="0"/>
                                  </p:stCondLst>
                                  <p:childTnLst>
                                    <p:set>
                                      <p:cBhvr>
                                        <p:cTn id="170" dur="1" fill="hold">
                                          <p:stCondLst>
                                            <p:cond delay="0"/>
                                          </p:stCondLst>
                                        </p:cTn>
                                        <p:tgtEl>
                                          <p:spTgt spid="1031"/>
                                        </p:tgtEl>
                                        <p:attrNameLst>
                                          <p:attrName>style.visibility</p:attrName>
                                        </p:attrNameLst>
                                      </p:cBhvr>
                                      <p:to>
                                        <p:strVal val="hidden"/>
                                      </p:to>
                                    </p:set>
                                  </p:childTnLst>
                                </p:cTn>
                              </p:par>
                              <p:par>
                                <p:cTn id="171" presetID="10" presetClass="entr" presetSubtype="0" fill="hold" nodeType="withEffect">
                                  <p:stCondLst>
                                    <p:cond delay="0"/>
                                  </p:stCondLst>
                                  <p:childTnLst>
                                    <p:set>
                                      <p:cBhvr>
                                        <p:cTn id="172" dur="1" fill="hold">
                                          <p:stCondLst>
                                            <p:cond delay="0"/>
                                          </p:stCondLst>
                                        </p:cTn>
                                        <p:tgtEl>
                                          <p:spTgt spid="34"/>
                                        </p:tgtEl>
                                        <p:attrNameLst>
                                          <p:attrName>style.visibility</p:attrName>
                                        </p:attrNameLst>
                                      </p:cBhvr>
                                      <p:to>
                                        <p:strVal val="visible"/>
                                      </p:to>
                                    </p:set>
                                    <p:animEffect transition="in" filter="fade">
                                      <p:cBhvr>
                                        <p:cTn id="173" dur="500"/>
                                        <p:tgtEl>
                                          <p:spTgt spid="34"/>
                                        </p:tgtEl>
                                      </p:cBhvr>
                                    </p:animEffect>
                                  </p:childTnLst>
                                </p:cTn>
                              </p:par>
                            </p:childTnLst>
                          </p:cTn>
                        </p:par>
                        <p:par>
                          <p:cTn id="174" fill="hold">
                            <p:stCondLst>
                              <p:cond delay="500"/>
                            </p:stCondLst>
                            <p:childTnLst>
                              <p:par>
                                <p:cTn id="175" presetID="1" presetClass="entr" presetSubtype="0" fill="hold" grpId="0" nodeType="afterEffect">
                                  <p:stCondLst>
                                    <p:cond delay="0"/>
                                  </p:stCondLst>
                                  <p:childTnLst>
                                    <p:set>
                                      <p:cBhvr>
                                        <p:cTn id="176" dur="1" fill="hold">
                                          <p:stCondLst>
                                            <p:cond delay="0"/>
                                          </p:stCondLst>
                                        </p:cTn>
                                        <p:tgtEl>
                                          <p:spTgt spid="1083"/>
                                        </p:tgtEl>
                                        <p:attrNameLst>
                                          <p:attrName>style.visibility</p:attrName>
                                        </p:attrNameLst>
                                      </p:cBhvr>
                                      <p:to>
                                        <p:strVal val="visible"/>
                                      </p:to>
                                    </p:set>
                                  </p:childTnLst>
                                </p:cTn>
                              </p:par>
                            </p:childTnLst>
                          </p:cTn>
                        </p:par>
                        <p:par>
                          <p:cTn id="177" fill="hold">
                            <p:stCondLst>
                              <p:cond delay="500"/>
                            </p:stCondLst>
                            <p:childTnLst>
                              <p:par>
                                <p:cTn id="178" presetID="35" presetClass="emph" presetSubtype="0" repeatCount="indefinite" fill="hold" grpId="1" nodeType="afterEffect">
                                  <p:stCondLst>
                                    <p:cond delay="0"/>
                                  </p:stCondLst>
                                  <p:endCondLst>
                                    <p:cond evt="onNext" delay="0">
                                      <p:tgtEl>
                                        <p:sldTgt/>
                                      </p:tgtEl>
                                    </p:cond>
                                  </p:endCondLst>
                                  <p:childTnLst>
                                    <p:anim calcmode="discrete" valueType="str">
                                      <p:cBhvr>
                                        <p:cTn id="179" dur="500" fill="hold"/>
                                        <p:tgtEl>
                                          <p:spTgt spid="1083"/>
                                        </p:tgtEl>
                                        <p:attrNameLst>
                                          <p:attrName>style.visibility</p:attrName>
                                        </p:attrNameLst>
                                      </p:cBhvr>
                                      <p:tavLst>
                                        <p:tav tm="0">
                                          <p:val>
                                            <p:strVal val="hidden"/>
                                          </p:val>
                                        </p:tav>
                                        <p:tav tm="50000">
                                          <p:val>
                                            <p:strVal val="visible"/>
                                          </p:val>
                                        </p:tav>
                                      </p:tavLst>
                                    </p:anim>
                                  </p:childTnLst>
                                </p:cTn>
                              </p:par>
                              <p:par>
                                <p:cTn id="180" presetID="42" presetClass="path" presetSubtype="0" accel="50000" decel="50000" fill="hold" nodeType="withEffect">
                                  <p:stCondLst>
                                    <p:cond delay="0"/>
                                  </p:stCondLst>
                                  <p:childTnLst>
                                    <p:animMotion origin="layout" path="M -4.16667E-7 3.33333E-6 L 0.0513 -0.00093 " pathEditMode="relative" rAng="0" ptsTypes="AA">
                                      <p:cBhvr>
                                        <p:cTn id="181" dur="2000" fill="hold"/>
                                        <p:tgtEl>
                                          <p:spTgt spid="1049"/>
                                        </p:tgtEl>
                                        <p:attrNameLst>
                                          <p:attrName>ppt_x</p:attrName>
                                          <p:attrName>ppt_y</p:attrName>
                                        </p:attrNameLst>
                                      </p:cBhvr>
                                      <p:rCtr x="2630" y="-69"/>
                                    </p:animMotion>
                                  </p:childTnLst>
                                </p:cTn>
                              </p:par>
                            </p:childTnLst>
                          </p:cTn>
                        </p:par>
                        <p:par>
                          <p:cTn id="182" fill="hold">
                            <p:stCondLst>
                              <p:cond delay="2500"/>
                            </p:stCondLst>
                            <p:childTnLst>
                              <p:par>
                                <p:cTn id="183" presetID="10" presetClass="entr" presetSubtype="0" fill="hold" nodeType="afterEffect">
                                  <p:stCondLst>
                                    <p:cond delay="0"/>
                                  </p:stCondLst>
                                  <p:childTnLst>
                                    <p:set>
                                      <p:cBhvr>
                                        <p:cTn id="184" dur="1" fill="hold">
                                          <p:stCondLst>
                                            <p:cond delay="0"/>
                                          </p:stCondLst>
                                        </p:cTn>
                                        <p:tgtEl>
                                          <p:spTgt spid="1066"/>
                                        </p:tgtEl>
                                        <p:attrNameLst>
                                          <p:attrName>style.visibility</p:attrName>
                                        </p:attrNameLst>
                                      </p:cBhvr>
                                      <p:to>
                                        <p:strVal val="visible"/>
                                      </p:to>
                                    </p:set>
                                    <p:animEffect transition="in" filter="fade">
                                      <p:cBhvr>
                                        <p:cTn id="185" dur="500"/>
                                        <p:tgtEl>
                                          <p:spTgt spid="1066"/>
                                        </p:tgtEl>
                                      </p:cBhvr>
                                    </p:animEffect>
                                  </p:childTnLst>
                                </p:cTn>
                              </p:par>
                            </p:childTnLst>
                          </p:cTn>
                        </p:par>
                        <p:par>
                          <p:cTn id="186" fill="hold">
                            <p:stCondLst>
                              <p:cond delay="3000"/>
                            </p:stCondLst>
                            <p:childTnLst>
                              <p:par>
                                <p:cTn id="187" presetID="1" presetClass="exit" presetSubtype="0" fill="hold" nodeType="afterEffect">
                                  <p:stCondLst>
                                    <p:cond delay="0"/>
                                  </p:stCondLst>
                                  <p:childTnLst>
                                    <p:set>
                                      <p:cBhvr>
                                        <p:cTn id="188" dur="1" fill="hold">
                                          <p:stCondLst>
                                            <p:cond delay="0"/>
                                          </p:stCondLst>
                                        </p:cTn>
                                        <p:tgtEl>
                                          <p:spTgt spid="1049"/>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2" nodeType="clickEffect">
                                  <p:stCondLst>
                                    <p:cond delay="0"/>
                                  </p:stCondLst>
                                  <p:childTnLst>
                                    <p:set>
                                      <p:cBhvr>
                                        <p:cTn id="192" dur="1" fill="hold">
                                          <p:stCondLst>
                                            <p:cond delay="0"/>
                                          </p:stCondLst>
                                        </p:cTn>
                                        <p:tgtEl>
                                          <p:spTgt spid="1083"/>
                                        </p:tgtEl>
                                        <p:attrNameLst>
                                          <p:attrName>style.visibility</p:attrName>
                                        </p:attrNameLst>
                                      </p:cBhvr>
                                      <p:to>
                                        <p:strVal val="hidden"/>
                                      </p:to>
                                    </p:set>
                                  </p:childTnLst>
                                </p:cTn>
                              </p:par>
                              <p:par>
                                <p:cTn id="193" presetID="10" presetClass="entr" presetSubtype="0" fill="hold" nodeType="withEffect">
                                  <p:stCondLst>
                                    <p:cond delay="0"/>
                                  </p:stCondLst>
                                  <p:childTnLst>
                                    <p:set>
                                      <p:cBhvr>
                                        <p:cTn id="194" dur="1" fill="hold">
                                          <p:stCondLst>
                                            <p:cond delay="0"/>
                                          </p:stCondLst>
                                        </p:cTn>
                                        <p:tgtEl>
                                          <p:spTgt spid="371"/>
                                        </p:tgtEl>
                                        <p:attrNameLst>
                                          <p:attrName>style.visibility</p:attrName>
                                        </p:attrNameLst>
                                      </p:cBhvr>
                                      <p:to>
                                        <p:strVal val="visible"/>
                                      </p:to>
                                    </p:set>
                                    <p:animEffect transition="in" filter="fade">
                                      <p:cBhvr>
                                        <p:cTn id="195" dur="500"/>
                                        <p:tgtEl>
                                          <p:spTgt spid="371"/>
                                        </p:tgtEl>
                                      </p:cBhvr>
                                    </p:animEffect>
                                  </p:childTnLst>
                                </p:cTn>
                              </p:par>
                            </p:childTnLst>
                          </p:cTn>
                        </p:par>
                        <p:par>
                          <p:cTn id="196" fill="hold">
                            <p:stCondLst>
                              <p:cond delay="500"/>
                            </p:stCondLst>
                            <p:childTnLst>
                              <p:par>
                                <p:cTn id="197" presetID="1" presetClass="entr" presetSubtype="0" fill="hold" grpId="0" nodeType="afterEffect">
                                  <p:stCondLst>
                                    <p:cond delay="0"/>
                                  </p:stCondLst>
                                  <p:childTnLst>
                                    <p:set>
                                      <p:cBhvr>
                                        <p:cTn id="198" dur="1" fill="hold">
                                          <p:stCondLst>
                                            <p:cond delay="0"/>
                                          </p:stCondLst>
                                        </p:cTn>
                                        <p:tgtEl>
                                          <p:spTgt spid="1101"/>
                                        </p:tgtEl>
                                        <p:attrNameLst>
                                          <p:attrName>style.visibility</p:attrName>
                                        </p:attrNameLst>
                                      </p:cBhvr>
                                      <p:to>
                                        <p:strVal val="visible"/>
                                      </p:to>
                                    </p:set>
                                  </p:childTnLst>
                                </p:cTn>
                              </p:par>
                            </p:childTnLst>
                          </p:cTn>
                        </p:par>
                        <p:par>
                          <p:cTn id="199" fill="hold">
                            <p:stCondLst>
                              <p:cond delay="500"/>
                            </p:stCondLst>
                            <p:childTnLst>
                              <p:par>
                                <p:cTn id="200" presetID="35" presetClass="emph" presetSubtype="0" repeatCount="indefinite" fill="hold" grpId="1" nodeType="afterEffect">
                                  <p:stCondLst>
                                    <p:cond delay="0"/>
                                  </p:stCondLst>
                                  <p:endCondLst>
                                    <p:cond evt="onNext" delay="0">
                                      <p:tgtEl>
                                        <p:sldTgt/>
                                      </p:tgtEl>
                                    </p:cond>
                                  </p:endCondLst>
                                  <p:childTnLst>
                                    <p:anim calcmode="discrete" valueType="str">
                                      <p:cBhvr>
                                        <p:cTn id="201" dur="500" fill="hold"/>
                                        <p:tgtEl>
                                          <p:spTgt spid="1101"/>
                                        </p:tgtEl>
                                        <p:attrNameLst>
                                          <p:attrName>style.visibility</p:attrName>
                                        </p:attrNameLst>
                                      </p:cBhvr>
                                      <p:tavLst>
                                        <p:tav tm="0">
                                          <p:val>
                                            <p:strVal val="hidden"/>
                                          </p:val>
                                        </p:tav>
                                        <p:tav tm="50000">
                                          <p:val>
                                            <p:strVal val="visible"/>
                                          </p:val>
                                        </p:tav>
                                      </p:tavLst>
                                    </p:anim>
                                  </p:childTnLst>
                                </p:cTn>
                              </p:par>
                              <p:par>
                                <p:cTn id="202" presetID="42" presetClass="path" presetSubtype="0" accel="50000" decel="50000" fill="hold" nodeType="withEffect">
                                  <p:stCondLst>
                                    <p:cond delay="0"/>
                                  </p:stCondLst>
                                  <p:childTnLst>
                                    <p:animMotion origin="layout" path="M -2.5E-6 -7.40741E-7 L 0.05066 7.40741E-7 " pathEditMode="relative" rAng="0" ptsTypes="AA">
                                      <p:cBhvr>
                                        <p:cTn id="203" dur="2000" fill="hold"/>
                                        <p:tgtEl>
                                          <p:spTgt spid="1066"/>
                                        </p:tgtEl>
                                        <p:attrNameLst>
                                          <p:attrName>ppt_x</p:attrName>
                                          <p:attrName>ppt_y</p:attrName>
                                        </p:attrNameLst>
                                      </p:cBhvr>
                                      <p:rCtr x="2604" y="-23"/>
                                    </p:animMotion>
                                  </p:childTnLst>
                                </p:cTn>
                              </p:par>
                            </p:childTnLst>
                          </p:cTn>
                        </p:par>
                        <p:par>
                          <p:cTn id="204" fill="hold">
                            <p:stCondLst>
                              <p:cond delay="2500"/>
                            </p:stCondLst>
                            <p:childTnLst>
                              <p:par>
                                <p:cTn id="205" presetID="10" presetClass="entr" presetSubtype="0" fill="hold" nodeType="afterEffect">
                                  <p:stCondLst>
                                    <p:cond delay="0"/>
                                  </p:stCondLst>
                                  <p:childTnLst>
                                    <p:set>
                                      <p:cBhvr>
                                        <p:cTn id="206" dur="1" fill="hold">
                                          <p:stCondLst>
                                            <p:cond delay="0"/>
                                          </p:stCondLst>
                                        </p:cTn>
                                        <p:tgtEl>
                                          <p:spTgt spid="1084"/>
                                        </p:tgtEl>
                                        <p:attrNameLst>
                                          <p:attrName>style.visibility</p:attrName>
                                        </p:attrNameLst>
                                      </p:cBhvr>
                                      <p:to>
                                        <p:strVal val="visible"/>
                                      </p:to>
                                    </p:set>
                                    <p:animEffect transition="in" filter="fade">
                                      <p:cBhvr>
                                        <p:cTn id="207" dur="500"/>
                                        <p:tgtEl>
                                          <p:spTgt spid="1084"/>
                                        </p:tgtEl>
                                      </p:cBhvr>
                                    </p:animEffect>
                                  </p:childTnLst>
                                </p:cTn>
                              </p:par>
                            </p:childTnLst>
                          </p:cTn>
                        </p:par>
                        <p:par>
                          <p:cTn id="208" fill="hold">
                            <p:stCondLst>
                              <p:cond delay="3000"/>
                            </p:stCondLst>
                            <p:childTnLst>
                              <p:par>
                                <p:cTn id="209" presetID="1" presetClass="exit" presetSubtype="0" fill="hold" nodeType="afterEffect">
                                  <p:stCondLst>
                                    <p:cond delay="0"/>
                                  </p:stCondLst>
                                  <p:childTnLst>
                                    <p:set>
                                      <p:cBhvr>
                                        <p:cTn id="210" dur="1" fill="hold">
                                          <p:stCondLst>
                                            <p:cond delay="0"/>
                                          </p:stCondLst>
                                        </p:cTn>
                                        <p:tgtEl>
                                          <p:spTgt spid="1066"/>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1" presetClass="exit" presetSubtype="0" fill="hold" grpId="2" nodeType="clickEffect">
                                  <p:stCondLst>
                                    <p:cond delay="0"/>
                                  </p:stCondLst>
                                  <p:childTnLst>
                                    <p:set>
                                      <p:cBhvr>
                                        <p:cTn id="214" dur="1" fill="hold">
                                          <p:stCondLst>
                                            <p:cond delay="0"/>
                                          </p:stCondLst>
                                        </p:cTn>
                                        <p:tgtEl>
                                          <p:spTgt spid="1101"/>
                                        </p:tgtEl>
                                        <p:attrNameLst>
                                          <p:attrName>style.visibility</p:attrName>
                                        </p:attrNameLst>
                                      </p:cBhvr>
                                      <p:to>
                                        <p:strVal val="hidden"/>
                                      </p:to>
                                    </p:set>
                                  </p:childTnLst>
                                </p:cTn>
                              </p:par>
                              <p:par>
                                <p:cTn id="215" presetID="10" presetClass="entr" presetSubtype="0" fill="hold" nodeType="withEffect">
                                  <p:stCondLst>
                                    <p:cond delay="0"/>
                                  </p:stCondLst>
                                  <p:childTnLst>
                                    <p:set>
                                      <p:cBhvr>
                                        <p:cTn id="216" dur="1" fill="hold">
                                          <p:stCondLst>
                                            <p:cond delay="0"/>
                                          </p:stCondLst>
                                        </p:cTn>
                                        <p:tgtEl>
                                          <p:spTgt spid="855"/>
                                        </p:tgtEl>
                                        <p:attrNameLst>
                                          <p:attrName>style.visibility</p:attrName>
                                        </p:attrNameLst>
                                      </p:cBhvr>
                                      <p:to>
                                        <p:strVal val="visible"/>
                                      </p:to>
                                    </p:set>
                                    <p:animEffect transition="in" filter="fade">
                                      <p:cBhvr>
                                        <p:cTn id="217" dur="500"/>
                                        <p:tgtEl>
                                          <p:spTgt spid="855"/>
                                        </p:tgtEl>
                                      </p:cBhvr>
                                    </p:animEffect>
                                  </p:childTnLst>
                                </p:cTn>
                              </p:par>
                            </p:childTnLst>
                          </p:cTn>
                        </p:par>
                      </p:childTnLst>
                    </p:cTn>
                  </p:par>
                  <p:par>
                    <p:cTn id="218" fill="hold">
                      <p:stCondLst>
                        <p:cond delay="indefinite"/>
                      </p:stCondLst>
                      <p:childTnLst>
                        <p:par>
                          <p:cTn id="219" fill="hold">
                            <p:stCondLst>
                              <p:cond delay="0"/>
                            </p:stCondLst>
                            <p:childTnLst>
                              <p:par>
                                <p:cTn id="220" presetID="42" presetClass="path" presetSubtype="0" accel="50000" decel="50000" fill="hold" nodeType="clickEffect">
                                  <p:stCondLst>
                                    <p:cond delay="0"/>
                                  </p:stCondLst>
                                  <p:childTnLst>
                                    <p:animMotion origin="layout" path="M -3.54167E-6 -7.40741E-7 L 0.05196 -0.00047 " pathEditMode="relative" rAng="0" ptsTypes="AA">
                                      <p:cBhvr>
                                        <p:cTn id="221" dur="2000" fill="hold"/>
                                        <p:tgtEl>
                                          <p:spTgt spid="1084"/>
                                        </p:tgtEl>
                                        <p:attrNameLst>
                                          <p:attrName>ppt_x</p:attrName>
                                          <p:attrName>ppt_y</p:attrName>
                                        </p:attrNameLst>
                                      </p:cBhvr>
                                      <p:rCtr x="2630" y="-69"/>
                                    </p:animMotion>
                                  </p:childTnLst>
                                </p:cTn>
                              </p:par>
                            </p:childTnLst>
                          </p:cTn>
                        </p:par>
                        <p:par>
                          <p:cTn id="222" fill="hold">
                            <p:stCondLst>
                              <p:cond delay="2000"/>
                            </p:stCondLst>
                            <p:childTnLst>
                              <p:par>
                                <p:cTn id="223" presetID="1" presetClass="entr" presetSubtype="0" fill="hold" nodeType="afterEffect">
                                  <p:stCondLst>
                                    <p:cond delay="0"/>
                                  </p:stCondLst>
                                  <p:childTnLst>
                                    <p:set>
                                      <p:cBhvr>
                                        <p:cTn id="224" dur="1" fill="hold">
                                          <p:stCondLst>
                                            <p:cond delay="0"/>
                                          </p:stCondLst>
                                        </p:cTn>
                                        <p:tgtEl>
                                          <p:spTgt spid="1105"/>
                                        </p:tgtEl>
                                        <p:attrNameLst>
                                          <p:attrName>style.visibility</p:attrName>
                                        </p:attrNameLst>
                                      </p:cBhvr>
                                      <p:to>
                                        <p:strVal val="visible"/>
                                      </p:to>
                                    </p:set>
                                  </p:childTnLst>
                                </p:cTn>
                              </p:par>
                            </p:childTnLst>
                          </p:cTn>
                        </p:par>
                        <p:par>
                          <p:cTn id="225" fill="hold">
                            <p:stCondLst>
                              <p:cond delay="2000"/>
                            </p:stCondLst>
                            <p:childTnLst>
                              <p:par>
                                <p:cTn id="226" presetID="26" presetClass="emph" presetSubtype="0" repeatCount="3000" fill="hold" nodeType="afterEffect">
                                  <p:stCondLst>
                                    <p:cond delay="0"/>
                                  </p:stCondLst>
                                  <p:childTnLst>
                                    <p:animEffect transition="out" filter="fade">
                                      <p:cBhvr>
                                        <p:cTn id="227" dur="500" tmFilter="0, 0; .2, .5; .8, .5; 1, 0"/>
                                        <p:tgtEl>
                                          <p:spTgt spid="1105"/>
                                        </p:tgtEl>
                                      </p:cBhvr>
                                    </p:animEffect>
                                    <p:animScale>
                                      <p:cBhvr>
                                        <p:cTn id="228" dur="250" autoRev="1" fill="hold"/>
                                        <p:tgtEl>
                                          <p:spTgt spid="1105"/>
                                        </p:tgtEl>
                                      </p:cBhvr>
                                      <p:by x="105000" y="105000"/>
                                    </p:animScale>
                                  </p:childTnLst>
                                </p:cTn>
                              </p:par>
                            </p:childTnLst>
                          </p:cTn>
                        </p:par>
                        <p:par>
                          <p:cTn id="229" fill="hold">
                            <p:stCondLst>
                              <p:cond delay="3500"/>
                            </p:stCondLst>
                            <p:childTnLst>
                              <p:par>
                                <p:cTn id="230" presetID="1" presetClass="exit" presetSubtype="0" fill="hold" nodeType="afterEffect">
                                  <p:stCondLst>
                                    <p:cond delay="0"/>
                                  </p:stCondLst>
                                  <p:childTnLst>
                                    <p:set>
                                      <p:cBhvr>
                                        <p:cTn id="231" dur="1" fill="hold">
                                          <p:stCondLst>
                                            <p:cond delay="0"/>
                                          </p:stCondLst>
                                        </p:cTn>
                                        <p:tgtEl>
                                          <p:spTgt spid="1105"/>
                                        </p:tgtEl>
                                        <p:attrNameLst>
                                          <p:attrName>style.visibility</p:attrName>
                                        </p:attrNameLst>
                                      </p:cBhvr>
                                      <p:to>
                                        <p:strVal val="hidden"/>
                                      </p:to>
                                    </p:set>
                                  </p:childTnLst>
                                </p:cTn>
                              </p:par>
                            </p:childTnLst>
                          </p:cTn>
                        </p:par>
                        <p:par>
                          <p:cTn id="232" fill="hold">
                            <p:stCondLst>
                              <p:cond delay="3500"/>
                            </p:stCondLst>
                            <p:childTnLst>
                              <p:par>
                                <p:cTn id="233" presetID="10" presetClass="entr" presetSubtype="0" fill="hold" nodeType="afterEffect">
                                  <p:stCondLst>
                                    <p:cond delay="0"/>
                                  </p:stCondLst>
                                  <p:childTnLst>
                                    <p:set>
                                      <p:cBhvr>
                                        <p:cTn id="234" dur="1" fill="hold">
                                          <p:stCondLst>
                                            <p:cond delay="0"/>
                                          </p:stCondLst>
                                        </p:cTn>
                                        <p:tgtEl>
                                          <p:spTgt spid="1122"/>
                                        </p:tgtEl>
                                        <p:attrNameLst>
                                          <p:attrName>style.visibility</p:attrName>
                                        </p:attrNameLst>
                                      </p:cBhvr>
                                      <p:to>
                                        <p:strVal val="visible"/>
                                      </p:to>
                                    </p:set>
                                    <p:animEffect transition="in" filter="fade">
                                      <p:cBhvr>
                                        <p:cTn id="235" dur="500"/>
                                        <p:tgtEl>
                                          <p:spTgt spid="1122"/>
                                        </p:tgtEl>
                                      </p:cBhvr>
                                    </p:animEffect>
                                  </p:childTnLst>
                                </p:cTn>
                              </p:par>
                            </p:childTnLst>
                          </p:cTn>
                        </p:par>
                        <p:par>
                          <p:cTn id="236" fill="hold">
                            <p:stCondLst>
                              <p:cond delay="4000"/>
                            </p:stCondLst>
                            <p:childTnLst>
                              <p:par>
                                <p:cTn id="237" presetID="10" presetClass="entr" presetSubtype="0" fill="hold" nodeType="afterEffect">
                                  <p:stCondLst>
                                    <p:cond delay="0"/>
                                  </p:stCondLst>
                                  <p:childTnLst>
                                    <p:set>
                                      <p:cBhvr>
                                        <p:cTn id="238" dur="1" fill="hold">
                                          <p:stCondLst>
                                            <p:cond delay="0"/>
                                          </p:stCondLst>
                                        </p:cTn>
                                        <p:tgtEl>
                                          <p:spTgt spid="1139"/>
                                        </p:tgtEl>
                                        <p:attrNameLst>
                                          <p:attrName>style.visibility</p:attrName>
                                        </p:attrNameLst>
                                      </p:cBhvr>
                                      <p:to>
                                        <p:strVal val="visible"/>
                                      </p:to>
                                    </p:set>
                                    <p:animEffect transition="in" filter="fade">
                                      <p:cBhvr>
                                        <p:cTn id="239" dur="500"/>
                                        <p:tgtEl>
                                          <p:spTgt spid="1139"/>
                                        </p:tgtEl>
                                      </p:cBhvr>
                                    </p:animEffect>
                                  </p:childTnLst>
                                </p:cTn>
                              </p:par>
                            </p:childTnLst>
                          </p:cTn>
                        </p:par>
                      </p:childTnLst>
                    </p:cTn>
                  </p:par>
                  <p:par>
                    <p:cTn id="240" fill="hold">
                      <p:stCondLst>
                        <p:cond delay="indefinite"/>
                      </p:stCondLst>
                      <p:childTnLst>
                        <p:par>
                          <p:cTn id="241" fill="hold">
                            <p:stCondLst>
                              <p:cond delay="0"/>
                            </p:stCondLst>
                            <p:childTnLst>
                              <p:par>
                                <p:cTn id="242" presetID="1" presetClass="entr" presetSubtype="0" fill="hold" nodeType="clickEffect">
                                  <p:stCondLst>
                                    <p:cond delay="0"/>
                                  </p:stCondLst>
                                  <p:childTnLst>
                                    <p:set>
                                      <p:cBhvr>
                                        <p:cTn id="243" dur="1" fill="hold">
                                          <p:stCondLst>
                                            <p:cond delay="0"/>
                                          </p:stCondLst>
                                        </p:cTn>
                                        <p:tgtEl>
                                          <p:spTgt spid="42"/>
                                        </p:tgtEl>
                                        <p:attrNameLst>
                                          <p:attrName>style.visibility</p:attrName>
                                        </p:attrNameLst>
                                      </p:cBhvr>
                                      <p:to>
                                        <p:strVal val="visible"/>
                                      </p:to>
                                    </p:set>
                                  </p:childTnLst>
                                </p:cTn>
                              </p:par>
                            </p:childTnLst>
                          </p:cTn>
                        </p:par>
                      </p:childTnLst>
                    </p:cTn>
                  </p:par>
                  <p:par>
                    <p:cTn id="244" fill="hold">
                      <p:stCondLst>
                        <p:cond delay="indefinite"/>
                      </p:stCondLst>
                      <p:childTnLst>
                        <p:par>
                          <p:cTn id="245" fill="hold">
                            <p:stCondLst>
                              <p:cond delay="0"/>
                            </p:stCondLst>
                            <p:childTnLst>
                              <p:par>
                                <p:cTn id="246" presetID="10" presetClass="entr" presetSubtype="0" fill="hold" nodeType="clickEffect">
                                  <p:stCondLst>
                                    <p:cond delay="0"/>
                                  </p:stCondLst>
                                  <p:childTnLst>
                                    <p:set>
                                      <p:cBhvr>
                                        <p:cTn id="247" dur="1" fill="hold">
                                          <p:stCondLst>
                                            <p:cond delay="0"/>
                                          </p:stCondLst>
                                        </p:cTn>
                                        <p:tgtEl>
                                          <p:spTgt spid="858"/>
                                        </p:tgtEl>
                                        <p:attrNameLst>
                                          <p:attrName>style.visibility</p:attrName>
                                        </p:attrNameLst>
                                      </p:cBhvr>
                                      <p:to>
                                        <p:strVal val="visible"/>
                                      </p:to>
                                    </p:set>
                                    <p:animEffect transition="in" filter="fade">
                                      <p:cBhvr>
                                        <p:cTn id="248" dur="500"/>
                                        <p:tgtEl>
                                          <p:spTgt spid="858"/>
                                        </p:tgtEl>
                                      </p:cBhvr>
                                    </p:animEffect>
                                  </p:childTnLst>
                                </p:cTn>
                              </p:par>
                            </p:childTnLst>
                          </p:cTn>
                        </p:par>
                      </p:childTnLst>
                    </p:cTn>
                  </p:par>
                  <p:par>
                    <p:cTn id="249" fill="hold">
                      <p:stCondLst>
                        <p:cond delay="indefinite"/>
                      </p:stCondLst>
                      <p:childTnLst>
                        <p:par>
                          <p:cTn id="250" fill="hold">
                            <p:stCondLst>
                              <p:cond delay="0"/>
                            </p:stCondLst>
                            <p:childTnLst>
                              <p:par>
                                <p:cTn id="251" presetID="42" presetClass="path" presetSubtype="0" accel="50000" decel="50000" fill="hold" nodeType="clickEffect">
                                  <p:stCondLst>
                                    <p:cond delay="0"/>
                                  </p:stCondLst>
                                  <p:childTnLst>
                                    <p:animMotion origin="layout" path="M 3.33333E-6 2.22222E-6 L 0.05078 -0.00023 " pathEditMode="relative" rAng="0" ptsTypes="AA">
                                      <p:cBhvr>
                                        <p:cTn id="252" dur="2000" fill="hold"/>
                                        <p:tgtEl>
                                          <p:spTgt spid="1139"/>
                                        </p:tgtEl>
                                        <p:attrNameLst>
                                          <p:attrName>ppt_x</p:attrName>
                                          <p:attrName>ppt_y</p:attrName>
                                        </p:attrNameLst>
                                      </p:cBhvr>
                                      <p:rCtr x="2539" y="-23"/>
                                    </p:animMotion>
                                  </p:childTnLst>
                                </p:cTn>
                              </p:par>
                            </p:childTnLst>
                          </p:cTn>
                        </p:par>
                        <p:par>
                          <p:cTn id="253" fill="hold">
                            <p:stCondLst>
                              <p:cond delay="2000"/>
                            </p:stCondLst>
                            <p:childTnLst>
                              <p:par>
                                <p:cTn id="254" presetID="10" presetClass="entr" presetSubtype="0" fill="hold" nodeType="afterEffect">
                                  <p:stCondLst>
                                    <p:cond delay="0"/>
                                  </p:stCondLst>
                                  <p:childTnLst>
                                    <p:set>
                                      <p:cBhvr>
                                        <p:cTn id="255" dur="1" fill="hold">
                                          <p:stCondLst>
                                            <p:cond delay="0"/>
                                          </p:stCondLst>
                                        </p:cTn>
                                        <p:tgtEl>
                                          <p:spTgt spid="1156"/>
                                        </p:tgtEl>
                                        <p:attrNameLst>
                                          <p:attrName>style.visibility</p:attrName>
                                        </p:attrNameLst>
                                      </p:cBhvr>
                                      <p:to>
                                        <p:strVal val="visible"/>
                                      </p:to>
                                    </p:set>
                                    <p:animEffect transition="in" filter="fade">
                                      <p:cBhvr>
                                        <p:cTn id="256" dur="500"/>
                                        <p:tgtEl>
                                          <p:spTgt spid="1156"/>
                                        </p:tgtEl>
                                      </p:cBhvr>
                                    </p:animEffect>
                                  </p:childTnLst>
                                </p:cTn>
                              </p:par>
                            </p:childTnLst>
                          </p:cTn>
                        </p:par>
                        <p:par>
                          <p:cTn id="257" fill="hold">
                            <p:stCondLst>
                              <p:cond delay="2500"/>
                            </p:stCondLst>
                            <p:childTnLst>
                              <p:par>
                                <p:cTn id="258" presetID="10" presetClass="entr" presetSubtype="0" fill="hold" nodeType="afterEffect">
                                  <p:stCondLst>
                                    <p:cond delay="1000"/>
                                  </p:stCondLst>
                                  <p:childTnLst>
                                    <p:set>
                                      <p:cBhvr>
                                        <p:cTn id="259" dur="1" fill="hold">
                                          <p:stCondLst>
                                            <p:cond delay="0"/>
                                          </p:stCondLst>
                                        </p:cTn>
                                        <p:tgtEl>
                                          <p:spTgt spid="1173"/>
                                        </p:tgtEl>
                                        <p:attrNameLst>
                                          <p:attrName>style.visibility</p:attrName>
                                        </p:attrNameLst>
                                      </p:cBhvr>
                                      <p:to>
                                        <p:strVal val="visible"/>
                                      </p:to>
                                    </p:set>
                                    <p:animEffect transition="in" filter="fade">
                                      <p:cBhvr>
                                        <p:cTn id="260" dur="500"/>
                                        <p:tgtEl>
                                          <p:spTgt spid="1173"/>
                                        </p:tgtEl>
                                      </p:cBhvr>
                                    </p:animEffect>
                                  </p:childTnLst>
                                </p:cTn>
                              </p:par>
                            </p:childTnLst>
                          </p:cTn>
                        </p:par>
                        <p:par>
                          <p:cTn id="261" fill="hold">
                            <p:stCondLst>
                              <p:cond delay="4000"/>
                            </p:stCondLst>
                            <p:childTnLst>
                              <p:par>
                                <p:cTn id="262" presetID="10" presetClass="entr" presetSubtype="0" fill="hold" nodeType="afterEffect">
                                  <p:stCondLst>
                                    <p:cond delay="1000"/>
                                  </p:stCondLst>
                                  <p:childTnLst>
                                    <p:set>
                                      <p:cBhvr>
                                        <p:cTn id="263" dur="1" fill="hold">
                                          <p:stCondLst>
                                            <p:cond delay="0"/>
                                          </p:stCondLst>
                                        </p:cTn>
                                        <p:tgtEl>
                                          <p:spTgt spid="1190"/>
                                        </p:tgtEl>
                                        <p:attrNameLst>
                                          <p:attrName>style.visibility</p:attrName>
                                        </p:attrNameLst>
                                      </p:cBhvr>
                                      <p:to>
                                        <p:strVal val="visible"/>
                                      </p:to>
                                    </p:set>
                                    <p:animEffect transition="in" filter="fade">
                                      <p:cBhvr>
                                        <p:cTn id="264" dur="500"/>
                                        <p:tgtEl>
                                          <p:spTgt spid="1190"/>
                                        </p:tgtEl>
                                      </p:cBhvr>
                                    </p:animEffect>
                                  </p:childTnLst>
                                </p:cTn>
                              </p:par>
                            </p:childTnLst>
                          </p:cTn>
                        </p:par>
                        <p:par>
                          <p:cTn id="265" fill="hold">
                            <p:stCondLst>
                              <p:cond delay="5500"/>
                            </p:stCondLst>
                            <p:childTnLst>
                              <p:par>
                                <p:cTn id="266" presetID="10" presetClass="entr" presetSubtype="0" fill="hold" nodeType="afterEffect">
                                  <p:stCondLst>
                                    <p:cond delay="1000"/>
                                  </p:stCondLst>
                                  <p:childTnLst>
                                    <p:set>
                                      <p:cBhvr>
                                        <p:cTn id="267" dur="1" fill="hold">
                                          <p:stCondLst>
                                            <p:cond delay="0"/>
                                          </p:stCondLst>
                                        </p:cTn>
                                        <p:tgtEl>
                                          <p:spTgt spid="1207"/>
                                        </p:tgtEl>
                                        <p:attrNameLst>
                                          <p:attrName>style.visibility</p:attrName>
                                        </p:attrNameLst>
                                      </p:cBhvr>
                                      <p:to>
                                        <p:strVal val="visible"/>
                                      </p:to>
                                    </p:set>
                                    <p:animEffect transition="in" filter="fade">
                                      <p:cBhvr>
                                        <p:cTn id="268" dur="500"/>
                                        <p:tgtEl>
                                          <p:spTgt spid="1207"/>
                                        </p:tgtEl>
                                      </p:cBhvr>
                                    </p:animEffect>
                                  </p:childTnLst>
                                </p:cTn>
                              </p:par>
                            </p:childTnLst>
                          </p:cTn>
                        </p:par>
                        <p:par>
                          <p:cTn id="269" fill="hold">
                            <p:stCondLst>
                              <p:cond delay="7000"/>
                            </p:stCondLst>
                            <p:childTnLst>
                              <p:par>
                                <p:cTn id="270" presetID="10" presetClass="entr" presetSubtype="0" fill="hold" nodeType="afterEffect">
                                  <p:stCondLst>
                                    <p:cond delay="1000"/>
                                  </p:stCondLst>
                                  <p:childTnLst>
                                    <p:set>
                                      <p:cBhvr>
                                        <p:cTn id="271" dur="1" fill="hold">
                                          <p:stCondLst>
                                            <p:cond delay="0"/>
                                          </p:stCondLst>
                                        </p:cTn>
                                        <p:tgtEl>
                                          <p:spTgt spid="1224"/>
                                        </p:tgtEl>
                                        <p:attrNameLst>
                                          <p:attrName>style.visibility</p:attrName>
                                        </p:attrNameLst>
                                      </p:cBhvr>
                                      <p:to>
                                        <p:strVal val="visible"/>
                                      </p:to>
                                    </p:set>
                                    <p:animEffect transition="in" filter="fade">
                                      <p:cBhvr>
                                        <p:cTn id="272" dur="500"/>
                                        <p:tgtEl>
                                          <p:spTgt spid="1224"/>
                                        </p:tgtEl>
                                      </p:cBhvr>
                                    </p:animEffect>
                                  </p:childTnLst>
                                </p:cTn>
                              </p:par>
                            </p:childTnLst>
                          </p:cTn>
                        </p:par>
                        <p:par>
                          <p:cTn id="273" fill="hold">
                            <p:stCondLst>
                              <p:cond delay="8500"/>
                            </p:stCondLst>
                            <p:childTnLst>
                              <p:par>
                                <p:cTn id="274" presetID="10" presetClass="entr" presetSubtype="0" fill="hold" nodeType="afterEffect">
                                  <p:stCondLst>
                                    <p:cond delay="1000"/>
                                  </p:stCondLst>
                                  <p:childTnLst>
                                    <p:set>
                                      <p:cBhvr>
                                        <p:cTn id="275" dur="1" fill="hold">
                                          <p:stCondLst>
                                            <p:cond delay="0"/>
                                          </p:stCondLst>
                                        </p:cTn>
                                        <p:tgtEl>
                                          <p:spTgt spid="1241"/>
                                        </p:tgtEl>
                                        <p:attrNameLst>
                                          <p:attrName>style.visibility</p:attrName>
                                        </p:attrNameLst>
                                      </p:cBhvr>
                                      <p:to>
                                        <p:strVal val="visible"/>
                                      </p:to>
                                    </p:set>
                                    <p:animEffect transition="in" filter="fade">
                                      <p:cBhvr>
                                        <p:cTn id="276" dur="500"/>
                                        <p:tgtEl>
                                          <p:spTgt spid="1241"/>
                                        </p:tgtEl>
                                      </p:cBhvr>
                                    </p:animEffect>
                                  </p:childTnLst>
                                </p:cTn>
                              </p:par>
                              <p:par>
                                <p:cTn id="277" presetID="10" presetClass="entr" presetSubtype="0" fill="hold" nodeType="withEffect">
                                  <p:stCondLst>
                                    <p:cond delay="1000"/>
                                  </p:stCondLst>
                                  <p:childTnLst>
                                    <p:set>
                                      <p:cBhvr>
                                        <p:cTn id="278" dur="1" fill="hold">
                                          <p:stCondLst>
                                            <p:cond delay="0"/>
                                          </p:stCondLst>
                                        </p:cTn>
                                        <p:tgtEl>
                                          <p:spTgt spid="1258"/>
                                        </p:tgtEl>
                                        <p:attrNameLst>
                                          <p:attrName>style.visibility</p:attrName>
                                        </p:attrNameLst>
                                      </p:cBhvr>
                                      <p:to>
                                        <p:strVal val="visible"/>
                                      </p:to>
                                    </p:set>
                                    <p:animEffect transition="in" filter="fade">
                                      <p:cBhvr>
                                        <p:cTn id="279" dur="500"/>
                                        <p:tgtEl>
                                          <p:spTgt spid="1258"/>
                                        </p:tgtEl>
                                      </p:cBhvr>
                                    </p:animEffect>
                                  </p:childTnLst>
                                </p:cTn>
                              </p:par>
                            </p:childTnLst>
                          </p:cTn>
                        </p:par>
                        <p:par>
                          <p:cTn id="280" fill="hold">
                            <p:stCondLst>
                              <p:cond delay="10000"/>
                            </p:stCondLst>
                            <p:childTnLst>
                              <p:par>
                                <p:cTn id="281" presetID="26" presetClass="emph" presetSubtype="0" repeatCount="3000" fill="hold" nodeType="afterEffect">
                                  <p:stCondLst>
                                    <p:cond delay="0"/>
                                  </p:stCondLst>
                                  <p:childTnLst>
                                    <p:animEffect transition="out" filter="fade">
                                      <p:cBhvr>
                                        <p:cTn id="282" dur="500" tmFilter="0, 0; .2, .5; .8, .5; 1, 0"/>
                                        <p:tgtEl>
                                          <p:spTgt spid="1258"/>
                                        </p:tgtEl>
                                      </p:cBhvr>
                                    </p:animEffect>
                                    <p:animScale>
                                      <p:cBhvr>
                                        <p:cTn id="283" dur="250" autoRev="1" fill="hold"/>
                                        <p:tgtEl>
                                          <p:spTgt spid="1258"/>
                                        </p:tgtEl>
                                      </p:cBhvr>
                                      <p:by x="105000" y="105000"/>
                                    </p:animScale>
                                  </p:childTnLst>
                                </p:cTn>
                              </p:par>
                            </p:childTnLst>
                          </p:cTn>
                        </p:par>
                        <p:par>
                          <p:cTn id="284" fill="hold">
                            <p:stCondLst>
                              <p:cond delay="11500"/>
                            </p:stCondLst>
                            <p:childTnLst>
                              <p:par>
                                <p:cTn id="285" presetID="10" presetClass="entr" presetSubtype="0" fill="hold" nodeType="afterEffect">
                                  <p:stCondLst>
                                    <p:cond delay="0"/>
                                  </p:stCondLst>
                                  <p:childTnLst>
                                    <p:set>
                                      <p:cBhvr>
                                        <p:cTn id="286" dur="1" fill="hold">
                                          <p:stCondLst>
                                            <p:cond delay="0"/>
                                          </p:stCondLst>
                                        </p:cTn>
                                        <p:tgtEl>
                                          <p:spTgt spid="1275"/>
                                        </p:tgtEl>
                                        <p:attrNameLst>
                                          <p:attrName>style.visibility</p:attrName>
                                        </p:attrNameLst>
                                      </p:cBhvr>
                                      <p:to>
                                        <p:strVal val="visible"/>
                                      </p:to>
                                    </p:set>
                                    <p:animEffect transition="in" filter="fade">
                                      <p:cBhvr>
                                        <p:cTn id="287" dur="500"/>
                                        <p:tgtEl>
                                          <p:spTgt spid="1275"/>
                                        </p:tgtEl>
                                      </p:cBhvr>
                                    </p:animEffect>
                                  </p:childTnLst>
                                </p:cTn>
                              </p:par>
                            </p:childTnLst>
                          </p:cTn>
                        </p:par>
                      </p:childTnLst>
                    </p:cTn>
                  </p:par>
                  <p:par>
                    <p:cTn id="288" fill="hold">
                      <p:stCondLst>
                        <p:cond delay="indefinite"/>
                      </p:stCondLst>
                      <p:childTnLst>
                        <p:par>
                          <p:cTn id="289" fill="hold">
                            <p:stCondLst>
                              <p:cond delay="0"/>
                            </p:stCondLst>
                            <p:childTnLst>
                              <p:par>
                                <p:cTn id="290" presetID="10" presetClass="entr" presetSubtype="0" fill="hold" nodeType="clickEffect">
                                  <p:stCondLst>
                                    <p:cond delay="0"/>
                                  </p:stCondLst>
                                  <p:childTnLst>
                                    <p:set>
                                      <p:cBhvr>
                                        <p:cTn id="291" dur="1" fill="hold">
                                          <p:stCondLst>
                                            <p:cond delay="0"/>
                                          </p:stCondLst>
                                        </p:cTn>
                                        <p:tgtEl>
                                          <p:spTgt spid="43"/>
                                        </p:tgtEl>
                                        <p:attrNameLst>
                                          <p:attrName>style.visibility</p:attrName>
                                        </p:attrNameLst>
                                      </p:cBhvr>
                                      <p:to>
                                        <p:strVal val="visible"/>
                                      </p:to>
                                    </p:set>
                                    <p:animEffect transition="in" filter="fade">
                                      <p:cBhvr>
                                        <p:cTn id="29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 grpId="0"/>
      <p:bldP spid="763" grpId="1"/>
      <p:bldP spid="763" grpId="2"/>
      <p:bldP spid="764" grpId="0"/>
      <p:bldP spid="764" grpId="1"/>
      <p:bldP spid="764" grpId="2"/>
      <p:bldP spid="765" grpId="0"/>
      <p:bldP spid="765" grpId="1"/>
      <p:bldP spid="765" grpId="2"/>
      <p:bldP spid="766" grpId="0"/>
      <p:bldP spid="766" grpId="1"/>
      <p:bldP spid="766" grpId="2"/>
      <p:bldP spid="1031" grpId="0"/>
      <p:bldP spid="1031" grpId="1"/>
      <p:bldP spid="1031" grpId="2"/>
      <p:bldP spid="1083" grpId="0"/>
      <p:bldP spid="1083" grpId="1"/>
      <p:bldP spid="1083" grpId="2"/>
      <p:bldP spid="1101" grpId="0"/>
      <p:bldP spid="1101" grpId="1"/>
      <p:bldP spid="1101" grpId="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9"/>
          <p:cNvSpPr txBox="1"/>
          <p:nvPr/>
        </p:nvSpPr>
        <p:spPr>
          <a:xfrm>
            <a:off x="731520" y="1556792"/>
            <a:ext cx="7704856" cy="497957"/>
          </a:xfrm>
          <a:prstGeom prst="rect">
            <a:avLst/>
          </a:prstGeom>
          <a:noFill/>
          <a:effectLst/>
        </p:spPr>
        <p:txBody>
          <a:bodyPr wrap="square" rtlCol="0">
            <a:spAutoFit/>
          </a:bodyPr>
          <a:lstStyle/>
          <a:p>
            <a:pPr marL="0" lvl="1">
              <a:lnSpc>
                <a:spcPct val="120000"/>
              </a:lnSpc>
              <a:tabLst>
                <a:tab pos="715963" algn="l"/>
              </a:tabLst>
            </a:pPr>
            <a:r>
              <a:rPr lang="zh-CN" altLang="en-US" sz="2400" b="1" dirty="0">
                <a:solidFill>
                  <a:srgbClr val="11576A"/>
                </a:solidFill>
                <a:latin typeface="张海山锐谐体2.0-授权联系：Samtype@QQ.com" pitchFamily="2" charset="-122"/>
                <a:ea typeface="张海山锐谐体2.0-授权联系：Samtype@QQ.com" pitchFamily="2" charset="-122"/>
              </a:rPr>
              <a:t>■</a:t>
            </a:r>
            <a:r>
              <a:rPr lang="zh-CN" altLang="en-US" sz="2400" b="1" dirty="0">
                <a:solidFill>
                  <a:srgbClr val="11576A"/>
                </a:solidFill>
                <a:latin typeface="微软雅黑" pitchFamily="34" charset="-122"/>
                <a:ea typeface="微软雅黑" pitchFamily="34" charset="-122"/>
              </a:rPr>
              <a:t> 局部页面置换算法</a:t>
            </a:r>
            <a:r>
              <a:rPr lang="en-US" altLang="zh-CN" sz="2400" b="1" dirty="0">
                <a:solidFill>
                  <a:srgbClr val="11576A"/>
                </a:solidFill>
                <a:latin typeface="微软雅黑" pitchFamily="34" charset="-122"/>
                <a:ea typeface="微软雅黑" pitchFamily="34" charset="-122"/>
              </a:rPr>
              <a:t>(</a:t>
            </a:r>
            <a:r>
              <a:rPr lang="zh-CN" altLang="en-US" sz="2400" b="1" dirty="0">
                <a:solidFill>
                  <a:srgbClr val="11576A"/>
                </a:solidFill>
                <a:latin typeface="微软雅黑" pitchFamily="34" charset="-122"/>
                <a:ea typeface="微软雅黑" pitchFamily="34" charset="-122"/>
              </a:rPr>
              <a:t>古早</a:t>
            </a:r>
            <a:r>
              <a:rPr lang="en-US" altLang="zh-CN" sz="2400" b="1" dirty="0">
                <a:solidFill>
                  <a:srgbClr val="11576A"/>
                </a:solidFill>
                <a:latin typeface="微软雅黑" pitchFamily="34" charset="-122"/>
                <a:ea typeface="微软雅黑" pitchFamily="34" charset="-122"/>
              </a:rPr>
              <a:t>OS</a:t>
            </a:r>
            <a:r>
              <a:rPr lang="zh-CN" altLang="en-US" sz="2400" b="1" dirty="0">
                <a:solidFill>
                  <a:srgbClr val="11576A"/>
                </a:solidFill>
                <a:latin typeface="微软雅黑" pitchFamily="34" charset="-122"/>
                <a:ea typeface="微软雅黑" pitchFamily="34" charset="-122"/>
              </a:rPr>
              <a:t>使用</a:t>
            </a:r>
            <a:r>
              <a:rPr lang="en-US" altLang="zh-CN" sz="2400" b="1" dirty="0">
                <a:solidFill>
                  <a:srgbClr val="11576A"/>
                </a:solidFill>
                <a:latin typeface="微软雅黑" pitchFamily="34" charset="-122"/>
                <a:ea typeface="微软雅黑" pitchFamily="34" charset="-122"/>
              </a:rPr>
              <a:t>)</a:t>
            </a:r>
          </a:p>
        </p:txBody>
      </p:sp>
      <p:sp>
        <p:nvSpPr>
          <p:cNvPr id="14" name="TextBox 9"/>
          <p:cNvSpPr txBox="1"/>
          <p:nvPr/>
        </p:nvSpPr>
        <p:spPr>
          <a:xfrm>
            <a:off x="731520" y="3015653"/>
            <a:ext cx="7704856" cy="497957"/>
          </a:xfrm>
          <a:prstGeom prst="rect">
            <a:avLst/>
          </a:prstGeom>
          <a:noFill/>
          <a:effectLst/>
        </p:spPr>
        <p:txBody>
          <a:bodyPr wrap="square" rtlCol="0">
            <a:spAutoFit/>
          </a:bodyPr>
          <a:lstStyle/>
          <a:p>
            <a:pPr marL="0" lvl="1">
              <a:lnSpc>
                <a:spcPct val="120000"/>
              </a:lnSpc>
              <a:tabLst>
                <a:tab pos="715963" algn="l"/>
              </a:tabLst>
            </a:pPr>
            <a:r>
              <a:rPr lang="zh-CN" altLang="en-US" sz="2400" b="1" dirty="0">
                <a:solidFill>
                  <a:srgbClr val="11576A"/>
                </a:solidFill>
                <a:latin typeface="张海山锐谐体2.0-授权联系：Samtype@QQ.com" pitchFamily="2" charset="-122"/>
                <a:ea typeface="张海山锐谐体2.0-授权联系：Samtype@QQ.com" pitchFamily="2" charset="-122"/>
              </a:rPr>
              <a:t>■</a:t>
            </a:r>
            <a:r>
              <a:rPr lang="zh-CN" altLang="en-US" sz="2400" b="1" dirty="0">
                <a:solidFill>
                  <a:srgbClr val="11576A"/>
                </a:solidFill>
                <a:latin typeface="微软雅黑" pitchFamily="34" charset="-122"/>
                <a:ea typeface="微软雅黑" pitchFamily="34" charset="-122"/>
              </a:rPr>
              <a:t> 全局页面置换算法</a:t>
            </a:r>
            <a:r>
              <a:rPr lang="en-US" altLang="zh-CN" sz="2400" b="1" dirty="0">
                <a:solidFill>
                  <a:srgbClr val="11576A"/>
                </a:solidFill>
                <a:latin typeface="微软雅黑" pitchFamily="34" charset="-122"/>
                <a:ea typeface="微软雅黑" pitchFamily="34" charset="-122"/>
              </a:rPr>
              <a:t>(</a:t>
            </a:r>
            <a:r>
              <a:rPr lang="zh-CN" altLang="en-US" sz="2400" b="1" dirty="0">
                <a:solidFill>
                  <a:srgbClr val="11576A"/>
                </a:solidFill>
                <a:latin typeface="微软雅黑" pitchFamily="34" charset="-122"/>
                <a:ea typeface="微软雅黑" pitchFamily="34" charset="-122"/>
              </a:rPr>
              <a:t>现代</a:t>
            </a:r>
            <a:r>
              <a:rPr lang="en-US" altLang="zh-CN" sz="2400" b="1" dirty="0">
                <a:solidFill>
                  <a:srgbClr val="11576A"/>
                </a:solidFill>
                <a:latin typeface="微软雅黑" pitchFamily="34" charset="-122"/>
                <a:ea typeface="微软雅黑" pitchFamily="34" charset="-122"/>
              </a:rPr>
              <a:t>OS</a:t>
            </a:r>
            <a:r>
              <a:rPr lang="zh-CN" altLang="en-US" sz="2400" b="1" dirty="0">
                <a:solidFill>
                  <a:srgbClr val="11576A"/>
                </a:solidFill>
                <a:latin typeface="微软雅黑" pitchFamily="34" charset="-122"/>
                <a:ea typeface="微软雅黑" pitchFamily="34" charset="-122"/>
              </a:rPr>
              <a:t>使用</a:t>
            </a:r>
            <a:r>
              <a:rPr lang="en-US" altLang="zh-CN" sz="2400" b="1" dirty="0">
                <a:solidFill>
                  <a:srgbClr val="11576A"/>
                </a:solidFill>
                <a:latin typeface="微软雅黑" pitchFamily="34" charset="-122"/>
                <a:ea typeface="微软雅黑" pitchFamily="34" charset="-122"/>
              </a:rPr>
              <a:t>)</a:t>
            </a:r>
          </a:p>
        </p:txBody>
      </p:sp>
      <p:grpSp>
        <p:nvGrpSpPr>
          <p:cNvPr id="3" name="组合 2"/>
          <p:cNvGrpSpPr/>
          <p:nvPr/>
        </p:nvGrpSpPr>
        <p:grpSpPr>
          <a:xfrm>
            <a:off x="1162108" y="1955212"/>
            <a:ext cx="7871203" cy="430374"/>
            <a:chOff x="1475656" y="1416293"/>
            <a:chExt cx="7871203" cy="430374"/>
          </a:xfrm>
        </p:grpSpPr>
        <p:pic>
          <p:nvPicPr>
            <p:cNvPr id="5" name="图片 4" descr="小点1.png"/>
            <p:cNvPicPr>
              <a:picLocks noChangeAspect="1"/>
            </p:cNvPicPr>
            <p:nvPr/>
          </p:nvPicPr>
          <p:blipFill>
            <a:blip r:embed="rId2" cstate="print"/>
            <a:stretch>
              <a:fillRect/>
            </a:stretch>
          </p:blipFill>
          <p:spPr>
            <a:xfrm>
              <a:off x="1475656" y="1557890"/>
              <a:ext cx="151066" cy="148997"/>
            </a:xfrm>
            <a:prstGeom prst="rect">
              <a:avLst/>
            </a:prstGeom>
            <a:effectLst/>
          </p:spPr>
        </p:pic>
        <p:sp>
          <p:nvSpPr>
            <p:cNvPr id="12" name="TextBox 9"/>
            <p:cNvSpPr txBox="1"/>
            <p:nvPr/>
          </p:nvSpPr>
          <p:spPr>
            <a:xfrm>
              <a:off x="1642003" y="1416293"/>
              <a:ext cx="7704856" cy="430374"/>
            </a:xfrm>
            <a:prstGeom prst="rect">
              <a:avLst/>
            </a:prstGeom>
            <a:noFill/>
            <a:effectLst/>
          </p:spPr>
          <p:txBody>
            <a:bodyPr wrap="square" rtlCol="0">
              <a:spAutoFit/>
            </a:bodyPr>
            <a:lstStyle/>
            <a:p>
              <a:pPr marL="0" lvl="1">
                <a:lnSpc>
                  <a:spcPct val="120000"/>
                </a:lnSpc>
                <a:tabLst>
                  <a:tab pos="715963" algn="l"/>
                </a:tabLst>
              </a:pPr>
              <a:r>
                <a:rPr lang="zh-CN" altLang="en-US" sz="2000" b="1" dirty="0">
                  <a:solidFill>
                    <a:srgbClr val="11576A"/>
                  </a:solidFill>
                  <a:latin typeface="微软雅黑" pitchFamily="34" charset="-122"/>
                  <a:ea typeface="微软雅黑" pitchFamily="34" charset="-122"/>
                </a:rPr>
                <a:t>置换页面的选择范围仅限于当前进程占用的物理页面内</a:t>
              </a:r>
              <a:endParaRPr lang="en-US" altLang="zh-CN" sz="20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1165022" y="2281497"/>
            <a:ext cx="7868289" cy="430374"/>
            <a:chOff x="1478570" y="1742578"/>
            <a:chExt cx="7868289" cy="430374"/>
          </a:xfrm>
        </p:grpSpPr>
        <p:pic>
          <p:nvPicPr>
            <p:cNvPr id="6" name="图片 5" descr="小点1.png"/>
            <p:cNvPicPr>
              <a:picLocks noChangeAspect="1"/>
            </p:cNvPicPr>
            <p:nvPr/>
          </p:nvPicPr>
          <p:blipFill>
            <a:blip r:embed="rId2" cstate="print"/>
            <a:stretch>
              <a:fillRect/>
            </a:stretch>
          </p:blipFill>
          <p:spPr>
            <a:xfrm>
              <a:off x="1478570" y="1886560"/>
              <a:ext cx="151066" cy="148997"/>
            </a:xfrm>
            <a:prstGeom prst="rect">
              <a:avLst/>
            </a:prstGeom>
            <a:effectLst/>
          </p:spPr>
        </p:pic>
        <p:sp>
          <p:nvSpPr>
            <p:cNvPr id="16" name="TextBox 9"/>
            <p:cNvSpPr txBox="1"/>
            <p:nvPr/>
          </p:nvSpPr>
          <p:spPr>
            <a:xfrm>
              <a:off x="1642003" y="1742578"/>
              <a:ext cx="7704856" cy="430374"/>
            </a:xfrm>
            <a:prstGeom prst="rect">
              <a:avLst/>
            </a:prstGeom>
            <a:noFill/>
            <a:effectLst/>
          </p:spPr>
          <p:txBody>
            <a:bodyPr wrap="square" rtlCol="0">
              <a:spAutoFit/>
            </a:bodyPr>
            <a:lstStyle/>
            <a:p>
              <a:pPr marL="0" lvl="1">
                <a:lnSpc>
                  <a:spcPct val="120000"/>
                </a:lnSpc>
                <a:tabLst>
                  <a:tab pos="715963" algn="l"/>
                </a:tabLst>
              </a:pPr>
              <a:r>
                <a:rPr lang="zh-CN" altLang="en-US" sz="2000" b="1" dirty="0">
                  <a:solidFill>
                    <a:srgbClr val="11576A"/>
                  </a:solidFill>
                  <a:latin typeface="微软雅黑" pitchFamily="34" charset="-122"/>
                  <a:ea typeface="微软雅黑" pitchFamily="34" charset="-122"/>
                </a:rPr>
                <a:t>最优算法、先进先出算法、最近最久未使用算法</a:t>
              </a:r>
              <a:endParaRPr lang="en-US" altLang="zh-CN" sz="2000" b="1" dirty="0">
                <a:solidFill>
                  <a:srgbClr val="11576A"/>
                </a:solidFill>
                <a:latin typeface="微软雅黑" pitchFamily="34" charset="-122"/>
                <a:ea typeface="微软雅黑" pitchFamily="34" charset="-122"/>
              </a:endParaRPr>
            </a:p>
          </p:txBody>
        </p:sp>
      </p:grpSp>
      <p:grpSp>
        <p:nvGrpSpPr>
          <p:cNvPr id="10" name="组合 9"/>
          <p:cNvGrpSpPr/>
          <p:nvPr/>
        </p:nvGrpSpPr>
        <p:grpSpPr>
          <a:xfrm>
            <a:off x="1162106" y="2638586"/>
            <a:ext cx="7883570" cy="430374"/>
            <a:chOff x="1475656" y="2099667"/>
            <a:chExt cx="7883570" cy="430374"/>
          </a:xfrm>
        </p:grpSpPr>
        <p:pic>
          <p:nvPicPr>
            <p:cNvPr id="7" name="图片 6" descr="小点1.png"/>
            <p:cNvPicPr>
              <a:picLocks noChangeAspect="1"/>
            </p:cNvPicPr>
            <p:nvPr/>
          </p:nvPicPr>
          <p:blipFill>
            <a:blip r:embed="rId2" cstate="print"/>
            <a:stretch>
              <a:fillRect/>
            </a:stretch>
          </p:blipFill>
          <p:spPr>
            <a:xfrm>
              <a:off x="1475656" y="2245581"/>
              <a:ext cx="151066" cy="148997"/>
            </a:xfrm>
            <a:prstGeom prst="rect">
              <a:avLst/>
            </a:prstGeom>
            <a:effectLst/>
          </p:spPr>
        </p:pic>
        <p:sp>
          <p:nvSpPr>
            <p:cNvPr id="17" name="TextBox 9"/>
            <p:cNvSpPr txBox="1"/>
            <p:nvPr/>
          </p:nvSpPr>
          <p:spPr>
            <a:xfrm>
              <a:off x="1654370" y="2099667"/>
              <a:ext cx="7704856" cy="430374"/>
            </a:xfrm>
            <a:prstGeom prst="rect">
              <a:avLst/>
            </a:prstGeom>
            <a:noFill/>
            <a:effectLst/>
          </p:spPr>
          <p:txBody>
            <a:bodyPr wrap="square" rtlCol="0">
              <a:spAutoFit/>
            </a:bodyPr>
            <a:lstStyle/>
            <a:p>
              <a:pPr marL="0" lvl="1">
                <a:lnSpc>
                  <a:spcPct val="120000"/>
                </a:lnSpc>
                <a:tabLst>
                  <a:tab pos="715963" algn="l"/>
                </a:tabLst>
              </a:pPr>
              <a:r>
                <a:rPr lang="zh-CN" altLang="en-US" sz="2000" b="1" dirty="0">
                  <a:solidFill>
                    <a:srgbClr val="11576A"/>
                  </a:solidFill>
                  <a:latin typeface="微软雅黑" pitchFamily="34" charset="-122"/>
                  <a:ea typeface="微软雅黑" pitchFamily="34" charset="-122"/>
                </a:rPr>
                <a:t>时钟算法、最不常用算法</a:t>
              </a:r>
              <a:endParaRPr lang="en-US" altLang="zh-CN" sz="2000" b="1" dirty="0">
                <a:solidFill>
                  <a:srgbClr val="11576A"/>
                </a:solidFill>
                <a:latin typeface="微软雅黑" pitchFamily="34" charset="-122"/>
                <a:ea typeface="微软雅黑" pitchFamily="34" charset="-122"/>
              </a:endParaRPr>
            </a:p>
          </p:txBody>
        </p:sp>
      </p:grpSp>
      <p:grpSp>
        <p:nvGrpSpPr>
          <p:cNvPr id="20" name="组合 19"/>
          <p:cNvGrpSpPr/>
          <p:nvPr/>
        </p:nvGrpSpPr>
        <p:grpSpPr>
          <a:xfrm>
            <a:off x="1147919" y="3434126"/>
            <a:ext cx="7855922" cy="430374"/>
            <a:chOff x="1461469" y="2861836"/>
            <a:chExt cx="7855922" cy="430374"/>
          </a:xfrm>
        </p:grpSpPr>
        <p:pic>
          <p:nvPicPr>
            <p:cNvPr id="8" name="图片 7" descr="小点1.png"/>
            <p:cNvPicPr>
              <a:picLocks noChangeAspect="1"/>
            </p:cNvPicPr>
            <p:nvPr/>
          </p:nvPicPr>
          <p:blipFill>
            <a:blip r:embed="rId2" cstate="print"/>
            <a:stretch>
              <a:fillRect/>
            </a:stretch>
          </p:blipFill>
          <p:spPr>
            <a:xfrm>
              <a:off x="1461469" y="3001497"/>
              <a:ext cx="151066" cy="148997"/>
            </a:xfrm>
            <a:prstGeom prst="rect">
              <a:avLst/>
            </a:prstGeom>
            <a:effectLst/>
          </p:spPr>
        </p:pic>
        <p:sp>
          <p:nvSpPr>
            <p:cNvPr id="18" name="TextBox 9"/>
            <p:cNvSpPr txBox="1"/>
            <p:nvPr/>
          </p:nvSpPr>
          <p:spPr>
            <a:xfrm>
              <a:off x="1612535" y="2861836"/>
              <a:ext cx="7704856" cy="430374"/>
            </a:xfrm>
            <a:prstGeom prst="rect">
              <a:avLst/>
            </a:prstGeom>
            <a:noFill/>
            <a:effectLst/>
          </p:spPr>
          <p:txBody>
            <a:bodyPr wrap="square" rtlCol="0">
              <a:spAutoFit/>
            </a:bodyPr>
            <a:lstStyle/>
            <a:p>
              <a:pPr marL="0" lvl="1">
                <a:lnSpc>
                  <a:spcPct val="120000"/>
                </a:lnSpc>
                <a:tabLst>
                  <a:tab pos="715963" algn="l"/>
                </a:tabLst>
              </a:pPr>
              <a:r>
                <a:rPr lang="zh-CN" altLang="en-US" sz="2000" b="1" dirty="0">
                  <a:solidFill>
                    <a:srgbClr val="11576A"/>
                  </a:solidFill>
                  <a:latin typeface="微软雅黑" pitchFamily="34" charset="-122"/>
                  <a:ea typeface="微软雅黑" pitchFamily="34" charset="-122"/>
                </a:rPr>
                <a:t>置换页面的选择范围是所有可换出的物理页面</a:t>
              </a:r>
              <a:endParaRPr lang="en-US" altLang="zh-CN" sz="2000" b="1" dirty="0">
                <a:solidFill>
                  <a:srgbClr val="11576A"/>
                </a:solidFill>
                <a:latin typeface="微软雅黑" pitchFamily="34" charset="-122"/>
                <a:ea typeface="微软雅黑" pitchFamily="34" charset="-122"/>
              </a:endParaRPr>
            </a:p>
          </p:txBody>
        </p:sp>
      </p:grpSp>
      <p:grpSp>
        <p:nvGrpSpPr>
          <p:cNvPr id="21" name="组合 20"/>
          <p:cNvGrpSpPr/>
          <p:nvPr/>
        </p:nvGrpSpPr>
        <p:grpSpPr>
          <a:xfrm>
            <a:off x="1147919" y="3790714"/>
            <a:ext cx="7855922" cy="430374"/>
            <a:chOff x="1461469" y="3218424"/>
            <a:chExt cx="7855922" cy="430374"/>
          </a:xfrm>
        </p:grpSpPr>
        <p:pic>
          <p:nvPicPr>
            <p:cNvPr id="9" name="图片 8" descr="小点1.png"/>
            <p:cNvPicPr>
              <a:picLocks noChangeAspect="1"/>
            </p:cNvPicPr>
            <p:nvPr/>
          </p:nvPicPr>
          <p:blipFill>
            <a:blip r:embed="rId2" cstate="print"/>
            <a:stretch>
              <a:fillRect/>
            </a:stretch>
          </p:blipFill>
          <p:spPr>
            <a:xfrm>
              <a:off x="1461469" y="3347925"/>
              <a:ext cx="151066" cy="148997"/>
            </a:xfrm>
            <a:prstGeom prst="rect">
              <a:avLst/>
            </a:prstGeom>
            <a:effectLst/>
          </p:spPr>
        </p:pic>
        <p:sp>
          <p:nvSpPr>
            <p:cNvPr id="19" name="TextBox 9"/>
            <p:cNvSpPr txBox="1"/>
            <p:nvPr/>
          </p:nvSpPr>
          <p:spPr>
            <a:xfrm>
              <a:off x="1612535" y="3218424"/>
              <a:ext cx="7704856" cy="430374"/>
            </a:xfrm>
            <a:prstGeom prst="rect">
              <a:avLst/>
            </a:prstGeom>
            <a:noFill/>
            <a:effectLst/>
          </p:spPr>
          <p:txBody>
            <a:bodyPr wrap="square" rtlCol="0">
              <a:spAutoFit/>
            </a:bodyPr>
            <a:lstStyle/>
            <a:p>
              <a:pPr marL="0" lvl="1">
                <a:lnSpc>
                  <a:spcPct val="120000"/>
                </a:lnSpc>
                <a:tabLst>
                  <a:tab pos="715963" algn="l"/>
                </a:tabLst>
              </a:pPr>
              <a:r>
                <a:rPr lang="zh-CN" altLang="en-US" sz="2000" b="1" dirty="0">
                  <a:solidFill>
                    <a:srgbClr val="11576A"/>
                  </a:solidFill>
                  <a:latin typeface="微软雅黑" pitchFamily="34" charset="-122"/>
                  <a:ea typeface="微软雅黑" pitchFamily="34" charset="-122"/>
                </a:rPr>
                <a:t>工作集算法、缺页率算法</a:t>
              </a:r>
            </a:p>
          </p:txBody>
        </p:sp>
      </p:grpSp>
      <p:sp>
        <p:nvSpPr>
          <p:cNvPr id="13" name="文本框 12">
            <a:extLst>
              <a:ext uri="{FF2B5EF4-FFF2-40B4-BE49-F238E27FC236}">
                <a16:creationId xmlns:a16="http://schemas.microsoft.com/office/drawing/2014/main" id="{06A1DE90-90B6-470A-4270-16806695B88F}"/>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5" name="标题 8">
            <a:extLst>
              <a:ext uri="{FF2B5EF4-FFF2-40B4-BE49-F238E27FC236}">
                <a16:creationId xmlns:a16="http://schemas.microsoft.com/office/drawing/2014/main" id="{1BBA32B0-7F34-B895-9F96-EB803F19872F}"/>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页面置换算法分类</a:t>
            </a:r>
          </a:p>
        </p:txBody>
      </p:sp>
    </p:spTree>
    <p:extLst>
      <p:ext uri="{BB962C8B-B14F-4D97-AF65-F5344CB8AC3E}">
        <p14:creationId xmlns:p14="http://schemas.microsoft.com/office/powerpoint/2010/main" val="287705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left)">
                                      <p:cBhvr>
                                        <p:cTn id="3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38054" y="2424584"/>
            <a:ext cx="4254382" cy="474012"/>
            <a:chOff x="899592" y="1485501"/>
            <a:chExt cx="4254382" cy="474012"/>
          </a:xfrm>
        </p:grpSpPr>
        <p:sp>
          <p:nvSpPr>
            <p:cNvPr id="14" name="TextBox 16"/>
            <p:cNvSpPr txBox="1"/>
            <p:nvPr/>
          </p:nvSpPr>
          <p:spPr>
            <a:xfrm>
              <a:off x="899592" y="1497848"/>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15" name="TextBox 8"/>
            <p:cNvSpPr txBox="1"/>
            <p:nvPr/>
          </p:nvSpPr>
          <p:spPr>
            <a:xfrm>
              <a:off x="1259632" y="1485501"/>
              <a:ext cx="3894342" cy="461665"/>
            </a:xfrm>
            <a:prstGeom prst="rect">
              <a:avLst/>
            </a:prstGeom>
            <a:noFill/>
            <a:effectLst/>
          </p:spPr>
          <p:txBody>
            <a:bodyPr wrap="square" rtlCol="0">
              <a:spAutoFit/>
            </a:bodyPr>
            <a:lstStyle/>
            <a:p>
              <a:pPr marL="0" lvl="1"/>
              <a:r>
                <a:rPr lang="zh-CN" altLang="en-US" sz="2400" b="1" dirty="0">
                  <a:solidFill>
                    <a:srgbClr val="11576A"/>
                  </a:solidFill>
                  <a:latin typeface="微软雅黑" pitchFamily="34" charset="-122"/>
                  <a:ea typeface="微软雅黑" pitchFamily="34" charset="-122"/>
                </a:rPr>
                <a:t>全局置换算法要解决的问题</a:t>
              </a:r>
              <a:endParaRPr lang="en-US" altLang="zh-CN" sz="2400" b="1" dirty="0">
                <a:solidFill>
                  <a:srgbClr val="11576A"/>
                </a:solidFill>
                <a:latin typeface="微软雅黑" pitchFamily="34" charset="-122"/>
                <a:ea typeface="微软雅黑" pitchFamily="34" charset="-122"/>
              </a:endParaRPr>
            </a:p>
          </p:txBody>
        </p:sp>
      </p:grpSp>
      <p:grpSp>
        <p:nvGrpSpPr>
          <p:cNvPr id="5" name="组合 4"/>
          <p:cNvGrpSpPr/>
          <p:nvPr/>
        </p:nvGrpSpPr>
        <p:grpSpPr>
          <a:xfrm>
            <a:off x="1256651" y="3532946"/>
            <a:ext cx="6437610" cy="400110"/>
            <a:chOff x="1418189" y="2593865"/>
            <a:chExt cx="6437610" cy="400110"/>
          </a:xfrm>
        </p:grpSpPr>
        <p:sp>
          <p:nvSpPr>
            <p:cNvPr id="21" name="TextBox 20"/>
            <p:cNvSpPr txBox="1"/>
            <p:nvPr/>
          </p:nvSpPr>
          <p:spPr>
            <a:xfrm>
              <a:off x="1569255" y="2593865"/>
              <a:ext cx="6286544"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全局置换算法需要确定分配给进程的物理页面数</a:t>
              </a:r>
              <a:endParaRPr lang="en-US" altLang="zh-CN" sz="2000" b="1" dirty="0">
                <a:solidFill>
                  <a:srgbClr val="11576A"/>
                </a:solidFill>
                <a:latin typeface="微软雅黑" pitchFamily="34" charset="-122"/>
                <a:ea typeface="微软雅黑" pitchFamily="34" charset="-122"/>
              </a:endParaRPr>
            </a:p>
          </p:txBody>
        </p:sp>
        <p:pic>
          <p:nvPicPr>
            <p:cNvPr id="12" name="图片 11" descr="小点1.png"/>
            <p:cNvPicPr>
              <a:picLocks noChangeAspect="1"/>
            </p:cNvPicPr>
            <p:nvPr/>
          </p:nvPicPr>
          <p:blipFill>
            <a:blip r:embed="rId2" cstate="print"/>
            <a:stretch>
              <a:fillRect/>
            </a:stretch>
          </p:blipFill>
          <p:spPr>
            <a:xfrm>
              <a:off x="1418189" y="2707074"/>
              <a:ext cx="151066" cy="148997"/>
            </a:xfrm>
            <a:prstGeom prst="rect">
              <a:avLst/>
            </a:prstGeom>
            <a:effectLst/>
          </p:spPr>
        </p:pic>
      </p:grpSp>
      <p:grpSp>
        <p:nvGrpSpPr>
          <p:cNvPr id="4" name="组合 3"/>
          <p:cNvGrpSpPr/>
          <p:nvPr/>
        </p:nvGrpSpPr>
        <p:grpSpPr>
          <a:xfrm>
            <a:off x="1256651" y="3169697"/>
            <a:ext cx="5919468" cy="400110"/>
            <a:chOff x="1418189" y="2230616"/>
            <a:chExt cx="5919468" cy="400110"/>
          </a:xfrm>
        </p:grpSpPr>
        <p:sp>
          <p:nvSpPr>
            <p:cNvPr id="23" name="TextBox 22"/>
            <p:cNvSpPr txBox="1"/>
            <p:nvPr/>
          </p:nvSpPr>
          <p:spPr>
            <a:xfrm>
              <a:off x="1569254" y="2230616"/>
              <a:ext cx="5768403"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分配给进程的内存也需要在不同阶段有所变化</a:t>
              </a:r>
              <a:endParaRPr lang="en-US" altLang="zh-CN" sz="2000" b="1" dirty="0">
                <a:solidFill>
                  <a:srgbClr val="11576A"/>
                </a:solidFill>
                <a:latin typeface="微软雅黑" pitchFamily="34" charset="-122"/>
                <a:ea typeface="微软雅黑" pitchFamily="34" charset="-122"/>
              </a:endParaRPr>
            </a:p>
          </p:txBody>
        </p:sp>
        <p:pic>
          <p:nvPicPr>
            <p:cNvPr id="13" name="图片 12" descr="小点1.png"/>
            <p:cNvPicPr>
              <a:picLocks noChangeAspect="1"/>
            </p:cNvPicPr>
            <p:nvPr/>
          </p:nvPicPr>
          <p:blipFill>
            <a:blip r:embed="rId2" cstate="print"/>
            <a:stretch>
              <a:fillRect/>
            </a:stretch>
          </p:blipFill>
          <p:spPr>
            <a:xfrm>
              <a:off x="1418189" y="2346864"/>
              <a:ext cx="151066" cy="148997"/>
            </a:xfrm>
            <a:prstGeom prst="rect">
              <a:avLst/>
            </a:prstGeom>
            <a:effectLst/>
          </p:spPr>
        </p:pic>
      </p:grpSp>
      <p:grpSp>
        <p:nvGrpSpPr>
          <p:cNvPr id="3" name="组合 2"/>
          <p:cNvGrpSpPr/>
          <p:nvPr/>
        </p:nvGrpSpPr>
        <p:grpSpPr>
          <a:xfrm>
            <a:off x="1256651" y="2818609"/>
            <a:ext cx="4623324" cy="400110"/>
            <a:chOff x="1418189" y="1879528"/>
            <a:chExt cx="4623324" cy="400110"/>
          </a:xfrm>
        </p:grpSpPr>
        <p:sp>
          <p:nvSpPr>
            <p:cNvPr id="9" name="TextBox 8"/>
            <p:cNvSpPr txBox="1"/>
            <p:nvPr/>
          </p:nvSpPr>
          <p:spPr>
            <a:xfrm>
              <a:off x="1569254" y="1879528"/>
              <a:ext cx="4472259"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rPr>
                <a:t>进程在不同阶段的内存需求是变化的</a:t>
              </a:r>
              <a:endParaRPr lang="en-US" altLang="zh-CN" sz="2000" b="1" dirty="0">
                <a:solidFill>
                  <a:srgbClr val="11576A"/>
                </a:solidFill>
                <a:latin typeface="微软雅黑" pitchFamily="34" charset="-122"/>
                <a:ea typeface="微软雅黑" pitchFamily="34" charset="-122"/>
              </a:endParaRPr>
            </a:p>
          </p:txBody>
        </p:sp>
        <p:pic>
          <p:nvPicPr>
            <p:cNvPr id="16" name="图片 15" descr="小点1.png"/>
            <p:cNvPicPr>
              <a:picLocks noChangeAspect="1"/>
            </p:cNvPicPr>
            <p:nvPr/>
          </p:nvPicPr>
          <p:blipFill>
            <a:blip r:embed="rId2" cstate="print"/>
            <a:stretch>
              <a:fillRect/>
            </a:stretch>
          </p:blipFill>
          <p:spPr>
            <a:xfrm>
              <a:off x="1418189" y="1988432"/>
              <a:ext cx="151066" cy="148997"/>
            </a:xfrm>
            <a:prstGeom prst="rect">
              <a:avLst/>
            </a:prstGeom>
            <a:effectLst/>
          </p:spPr>
        </p:pic>
      </p:grpSp>
      <p:grpSp>
        <p:nvGrpSpPr>
          <p:cNvPr id="6" name="组合 5"/>
          <p:cNvGrpSpPr/>
          <p:nvPr/>
        </p:nvGrpSpPr>
        <p:grpSpPr>
          <a:xfrm>
            <a:off x="731520" y="1556792"/>
            <a:ext cx="6335530" cy="830997"/>
            <a:chOff x="921391" y="1070209"/>
            <a:chExt cx="6335530" cy="830997"/>
          </a:xfrm>
        </p:grpSpPr>
        <p:sp>
          <p:nvSpPr>
            <p:cNvPr id="8" name="TextBox 7"/>
            <p:cNvSpPr txBox="1"/>
            <p:nvPr/>
          </p:nvSpPr>
          <p:spPr>
            <a:xfrm>
              <a:off x="921391" y="1070209"/>
              <a:ext cx="6335530" cy="830997"/>
            </a:xfrm>
            <a:prstGeom prst="rect">
              <a:avLst/>
            </a:prstGeom>
            <a:noFill/>
            <a:effectLst/>
          </p:spPr>
          <p:txBody>
            <a:bodyPr wrap="square" rtlCol="0">
              <a:spAutoFit/>
            </a:bodyPr>
            <a:lstStyle/>
            <a:p>
              <a:r>
                <a:rPr lang="zh-CN" altLang="en-US" sz="2400" b="1" dirty="0">
                  <a:solidFill>
                    <a:srgbClr val="11576A"/>
                  </a:solidFill>
                  <a:latin typeface="张海山锐谐体2.0-授权联系：Samtype@QQ.com" pitchFamily="2" charset="-122"/>
                  <a:ea typeface="张海山锐谐体2.0-授权联系：Samtype@QQ.com" pitchFamily="2" charset="-122"/>
                </a:rPr>
                <a:t>■</a:t>
              </a:r>
              <a:r>
                <a:rPr lang="zh-CN" altLang="en-US" sz="2400" b="1" dirty="0">
                  <a:solidFill>
                    <a:srgbClr val="11576A"/>
                  </a:solidFill>
                  <a:latin typeface="微软雅黑" pitchFamily="34" charset="-122"/>
                  <a:ea typeface="微软雅黑" pitchFamily="34" charset="-122"/>
                </a:rPr>
                <a:t>  思路</a:t>
              </a:r>
              <a:endParaRPr lang="en-US" altLang="zh-CN" sz="2400" b="1" dirty="0">
                <a:solidFill>
                  <a:srgbClr val="11576A"/>
                </a:solidFill>
                <a:latin typeface="微软雅黑" pitchFamily="34" charset="-122"/>
                <a:ea typeface="微软雅黑" pitchFamily="34" charset="-122"/>
              </a:endParaRPr>
            </a:p>
            <a:p>
              <a:r>
                <a:rPr lang="en-US" altLang="zh-CN" sz="2400" b="1" dirty="0">
                  <a:solidFill>
                    <a:srgbClr val="11576A"/>
                  </a:solidFill>
                  <a:latin typeface="微软雅黑" pitchFamily="34" charset="-122"/>
                  <a:ea typeface="微软雅黑" pitchFamily="34" charset="-122"/>
                </a:rPr>
                <a:t>       </a:t>
              </a:r>
              <a:r>
                <a:rPr lang="zh-CN" altLang="en-US" sz="2000" b="1" dirty="0">
                  <a:solidFill>
                    <a:srgbClr val="11576A"/>
                  </a:solidFill>
                  <a:latin typeface="微软雅黑" pitchFamily="34" charset="-122"/>
                  <a:ea typeface="微软雅黑" pitchFamily="34" charset="-122"/>
                </a:rPr>
                <a:t>全局置换算法为进程分配</a:t>
              </a:r>
              <a:r>
                <a:rPr lang="zh-CN" altLang="en-US" sz="2000" b="1" dirty="0">
                  <a:solidFill>
                    <a:srgbClr val="C00000"/>
                  </a:solidFill>
                  <a:latin typeface="微软雅黑" pitchFamily="34" charset="-122"/>
                  <a:ea typeface="微软雅黑" pitchFamily="34" charset="-122"/>
                </a:rPr>
                <a:t>可变数目</a:t>
              </a:r>
              <a:r>
                <a:rPr lang="zh-CN" altLang="en-US" sz="2000" b="1" dirty="0">
                  <a:solidFill>
                    <a:srgbClr val="11576A"/>
                  </a:solidFill>
                  <a:latin typeface="微软雅黑" pitchFamily="34" charset="-122"/>
                  <a:ea typeface="微软雅黑" pitchFamily="34" charset="-122"/>
                </a:rPr>
                <a:t>的物理页面</a:t>
              </a:r>
              <a:endParaRPr lang="en-US" altLang="zh-CN" sz="2000" b="1" dirty="0">
                <a:solidFill>
                  <a:srgbClr val="11576A"/>
                </a:solidFill>
                <a:latin typeface="微软雅黑" pitchFamily="34" charset="-122"/>
                <a:ea typeface="微软雅黑" pitchFamily="34" charset="-122"/>
              </a:endParaRPr>
            </a:p>
          </p:txBody>
        </p:sp>
        <p:pic>
          <p:nvPicPr>
            <p:cNvPr id="17" name="图片 16" descr="小点1.png"/>
            <p:cNvPicPr>
              <a:picLocks noChangeAspect="1"/>
            </p:cNvPicPr>
            <p:nvPr/>
          </p:nvPicPr>
          <p:blipFill>
            <a:blip r:embed="rId2" cstate="print"/>
            <a:stretch>
              <a:fillRect/>
            </a:stretch>
          </p:blipFill>
          <p:spPr>
            <a:xfrm>
              <a:off x="1446522" y="1607379"/>
              <a:ext cx="151066" cy="148997"/>
            </a:xfrm>
            <a:prstGeom prst="rect">
              <a:avLst/>
            </a:prstGeom>
            <a:effectLst/>
          </p:spPr>
        </p:pic>
      </p:grpSp>
      <p:sp>
        <p:nvSpPr>
          <p:cNvPr id="7" name="文本框 6">
            <a:extLst>
              <a:ext uri="{FF2B5EF4-FFF2-40B4-BE49-F238E27FC236}">
                <a16:creationId xmlns:a16="http://schemas.microsoft.com/office/drawing/2014/main" id="{F4AE2045-5148-C250-9AE0-BAFC41A92AD7}"/>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0" name="标题 8">
            <a:extLst>
              <a:ext uri="{FF2B5EF4-FFF2-40B4-BE49-F238E27FC236}">
                <a16:creationId xmlns:a16="http://schemas.microsoft.com/office/drawing/2014/main" id="{107759BA-9AEA-C631-4FBA-CAD8E681D8A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全局置换算法</a:t>
            </a:r>
          </a:p>
        </p:txBody>
      </p:sp>
    </p:spTree>
    <p:extLst>
      <p:ext uri="{BB962C8B-B14F-4D97-AF65-F5344CB8AC3E}">
        <p14:creationId xmlns:p14="http://schemas.microsoft.com/office/powerpoint/2010/main" val="1531921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2381226" y="1670946"/>
            <a:ext cx="5191161" cy="400110"/>
          </a:xfrm>
          <a:prstGeom prst="rect">
            <a:avLst/>
          </a:prstGeom>
          <a:noFill/>
          <a:effectLst/>
        </p:spPr>
        <p:txBody>
          <a:bodyPr wrap="square" rtlCol="0">
            <a:spAutoFit/>
          </a:bodyPr>
          <a:lstStyle/>
          <a:p>
            <a:pPr marL="0" lvl="1"/>
            <a:r>
              <a:rPr lang="zh-CN" altLang="en-US" sz="2000" b="1" dirty="0">
                <a:solidFill>
                  <a:srgbClr val="11576A"/>
                </a:solidFill>
                <a:latin typeface="微软雅黑" pitchFamily="34" charset="-122"/>
                <a:ea typeface="微软雅黑" pitchFamily="34" charset="-122"/>
                <a:sym typeface="MS PGothic" charset="0"/>
              </a:rPr>
              <a:t>FIFO 页面置换算法: 假设初始顺序 a-&gt;b-&gt;c </a:t>
            </a:r>
          </a:p>
        </p:txBody>
      </p:sp>
      <p:grpSp>
        <p:nvGrpSpPr>
          <p:cNvPr id="59" name="组合 58"/>
          <p:cNvGrpSpPr/>
          <p:nvPr/>
        </p:nvGrpSpPr>
        <p:grpSpPr>
          <a:xfrm>
            <a:off x="2473520" y="2480483"/>
            <a:ext cx="6483372" cy="584495"/>
            <a:chOff x="949520" y="1623231"/>
            <a:chExt cx="6483372" cy="584495"/>
          </a:xfrm>
        </p:grpSpPr>
        <p:sp>
          <p:nvSpPr>
            <p:cNvPr id="176" name="矩形 175"/>
            <p:cNvSpPr/>
            <p:nvPr/>
          </p:nvSpPr>
          <p:spPr>
            <a:xfrm>
              <a:off x="949520" y="1625584"/>
              <a:ext cx="6480000" cy="582142"/>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TextBox 29"/>
            <p:cNvSpPr txBox="1"/>
            <p:nvPr/>
          </p:nvSpPr>
          <p:spPr>
            <a:xfrm>
              <a:off x="6997520"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12</a:t>
              </a:r>
              <a:endParaRPr lang="zh-CN" altLang="en-US" sz="1400" b="1" dirty="0">
                <a:solidFill>
                  <a:srgbClr val="11576A"/>
                </a:solidFill>
                <a:latin typeface="微软雅黑" pitchFamily="34" charset="-122"/>
                <a:ea typeface="微软雅黑" pitchFamily="34" charset="-122"/>
              </a:endParaRPr>
            </a:p>
          </p:txBody>
        </p:sp>
        <p:sp>
          <p:nvSpPr>
            <p:cNvPr id="31" name="TextBox 30"/>
            <p:cNvSpPr txBox="1"/>
            <p:nvPr/>
          </p:nvSpPr>
          <p:spPr>
            <a:xfrm>
              <a:off x="6568892"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11</a:t>
              </a:r>
              <a:endParaRPr lang="zh-CN" altLang="en-US" sz="1400" b="1" dirty="0">
                <a:solidFill>
                  <a:srgbClr val="11576A"/>
                </a:solidFill>
                <a:latin typeface="微软雅黑" pitchFamily="34" charset="-122"/>
                <a:ea typeface="微软雅黑" pitchFamily="34" charset="-122"/>
              </a:endParaRPr>
            </a:p>
          </p:txBody>
        </p:sp>
        <p:sp>
          <p:nvSpPr>
            <p:cNvPr id="32" name="TextBox 31"/>
            <p:cNvSpPr txBox="1"/>
            <p:nvPr/>
          </p:nvSpPr>
          <p:spPr>
            <a:xfrm>
              <a:off x="6140264"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10</a:t>
              </a:r>
              <a:endParaRPr lang="zh-CN" altLang="en-US" sz="1400" b="1" dirty="0">
                <a:solidFill>
                  <a:srgbClr val="11576A"/>
                </a:solidFill>
                <a:latin typeface="微软雅黑" pitchFamily="34" charset="-122"/>
                <a:ea typeface="微软雅黑" pitchFamily="34" charset="-122"/>
              </a:endParaRPr>
            </a:p>
          </p:txBody>
        </p:sp>
        <p:sp>
          <p:nvSpPr>
            <p:cNvPr id="33" name="TextBox 32"/>
            <p:cNvSpPr txBox="1"/>
            <p:nvPr/>
          </p:nvSpPr>
          <p:spPr>
            <a:xfrm>
              <a:off x="5711636"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9</a:t>
              </a:r>
              <a:endParaRPr lang="zh-CN" altLang="en-US" sz="1400" b="1" dirty="0">
                <a:solidFill>
                  <a:srgbClr val="11576A"/>
                </a:solidFill>
                <a:latin typeface="微软雅黑" pitchFamily="34" charset="-122"/>
                <a:ea typeface="微软雅黑" pitchFamily="34" charset="-122"/>
              </a:endParaRPr>
            </a:p>
          </p:txBody>
        </p:sp>
        <p:sp>
          <p:nvSpPr>
            <p:cNvPr id="34" name="TextBox 33"/>
            <p:cNvSpPr txBox="1"/>
            <p:nvPr/>
          </p:nvSpPr>
          <p:spPr>
            <a:xfrm>
              <a:off x="5283008"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8</a:t>
              </a:r>
              <a:endParaRPr lang="zh-CN" altLang="en-US" sz="1400" b="1" dirty="0">
                <a:solidFill>
                  <a:srgbClr val="11576A"/>
                </a:solidFill>
                <a:latin typeface="微软雅黑" pitchFamily="34" charset="-122"/>
                <a:ea typeface="微软雅黑" pitchFamily="34" charset="-122"/>
              </a:endParaRPr>
            </a:p>
          </p:txBody>
        </p:sp>
        <p:sp>
          <p:nvSpPr>
            <p:cNvPr id="35" name="TextBox 34"/>
            <p:cNvSpPr txBox="1"/>
            <p:nvPr/>
          </p:nvSpPr>
          <p:spPr>
            <a:xfrm>
              <a:off x="4854380"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7</a:t>
              </a:r>
              <a:endParaRPr lang="zh-CN" altLang="en-US" sz="1400" b="1" dirty="0">
                <a:solidFill>
                  <a:srgbClr val="11576A"/>
                </a:solidFill>
                <a:latin typeface="微软雅黑" pitchFamily="34" charset="-122"/>
                <a:ea typeface="微软雅黑" pitchFamily="34" charset="-122"/>
              </a:endParaRPr>
            </a:p>
          </p:txBody>
        </p:sp>
        <p:sp>
          <p:nvSpPr>
            <p:cNvPr id="36" name="TextBox 35"/>
            <p:cNvSpPr txBox="1"/>
            <p:nvPr/>
          </p:nvSpPr>
          <p:spPr>
            <a:xfrm>
              <a:off x="4425752"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6</a:t>
              </a:r>
              <a:endParaRPr lang="zh-CN" altLang="en-US" sz="1400" b="1" dirty="0">
                <a:solidFill>
                  <a:srgbClr val="11576A"/>
                </a:solidFill>
                <a:latin typeface="微软雅黑" pitchFamily="34" charset="-122"/>
                <a:ea typeface="微软雅黑" pitchFamily="34" charset="-122"/>
              </a:endParaRPr>
            </a:p>
          </p:txBody>
        </p:sp>
        <p:sp>
          <p:nvSpPr>
            <p:cNvPr id="37" name="TextBox 36"/>
            <p:cNvSpPr txBox="1"/>
            <p:nvPr/>
          </p:nvSpPr>
          <p:spPr>
            <a:xfrm>
              <a:off x="3997124"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5</a:t>
              </a:r>
              <a:endParaRPr lang="zh-CN" altLang="en-US" sz="1400" b="1" dirty="0">
                <a:solidFill>
                  <a:srgbClr val="11576A"/>
                </a:solidFill>
                <a:latin typeface="微软雅黑" pitchFamily="34" charset="-122"/>
                <a:ea typeface="微软雅黑" pitchFamily="34" charset="-122"/>
              </a:endParaRPr>
            </a:p>
          </p:txBody>
        </p:sp>
        <p:sp>
          <p:nvSpPr>
            <p:cNvPr id="38" name="TextBox 37"/>
            <p:cNvSpPr txBox="1"/>
            <p:nvPr/>
          </p:nvSpPr>
          <p:spPr>
            <a:xfrm>
              <a:off x="3568496"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4</a:t>
              </a:r>
              <a:endParaRPr lang="zh-CN" altLang="en-US" sz="1400" b="1" dirty="0">
                <a:solidFill>
                  <a:srgbClr val="11576A"/>
                </a:solidFill>
                <a:latin typeface="微软雅黑" pitchFamily="34" charset="-122"/>
                <a:ea typeface="微软雅黑" pitchFamily="34" charset="-122"/>
              </a:endParaRPr>
            </a:p>
          </p:txBody>
        </p:sp>
        <p:sp>
          <p:nvSpPr>
            <p:cNvPr id="39" name="TextBox 38"/>
            <p:cNvSpPr txBox="1"/>
            <p:nvPr/>
          </p:nvSpPr>
          <p:spPr>
            <a:xfrm>
              <a:off x="3139868"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3</a:t>
              </a:r>
              <a:endParaRPr lang="zh-CN" altLang="en-US" sz="1400" b="1" dirty="0">
                <a:solidFill>
                  <a:srgbClr val="11576A"/>
                </a:solidFill>
                <a:latin typeface="微软雅黑" pitchFamily="34" charset="-122"/>
                <a:ea typeface="微软雅黑" pitchFamily="34" charset="-122"/>
              </a:endParaRPr>
            </a:p>
          </p:txBody>
        </p:sp>
        <p:sp>
          <p:nvSpPr>
            <p:cNvPr id="40" name="TextBox 39"/>
            <p:cNvSpPr txBox="1"/>
            <p:nvPr/>
          </p:nvSpPr>
          <p:spPr>
            <a:xfrm>
              <a:off x="2711240"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2</a:t>
              </a:r>
              <a:endParaRPr lang="zh-CN" altLang="en-US" sz="1400" b="1" dirty="0">
                <a:solidFill>
                  <a:srgbClr val="11576A"/>
                </a:solidFill>
                <a:latin typeface="微软雅黑" pitchFamily="34" charset="-122"/>
                <a:ea typeface="微软雅黑" pitchFamily="34" charset="-122"/>
              </a:endParaRPr>
            </a:p>
          </p:txBody>
        </p:sp>
        <p:sp>
          <p:nvSpPr>
            <p:cNvPr id="41" name="TextBox 40"/>
            <p:cNvSpPr txBox="1"/>
            <p:nvPr/>
          </p:nvSpPr>
          <p:spPr>
            <a:xfrm>
              <a:off x="2282612"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1</a:t>
              </a:r>
              <a:endParaRPr lang="zh-CN" altLang="en-US" sz="1400" b="1" dirty="0">
                <a:solidFill>
                  <a:srgbClr val="11576A"/>
                </a:solidFill>
                <a:latin typeface="微软雅黑" pitchFamily="34" charset="-122"/>
                <a:ea typeface="微软雅黑" pitchFamily="34" charset="-122"/>
              </a:endParaRPr>
            </a:p>
          </p:txBody>
        </p:sp>
        <p:sp>
          <p:nvSpPr>
            <p:cNvPr id="42" name="TextBox 41"/>
            <p:cNvSpPr txBox="1"/>
            <p:nvPr/>
          </p:nvSpPr>
          <p:spPr>
            <a:xfrm>
              <a:off x="1853984" y="162323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0</a:t>
              </a:r>
              <a:endParaRPr lang="zh-CN" altLang="en-US" sz="1400" b="1" dirty="0">
                <a:solidFill>
                  <a:srgbClr val="11576A"/>
                </a:solidFill>
                <a:latin typeface="微软雅黑" pitchFamily="34" charset="-122"/>
                <a:ea typeface="微软雅黑" pitchFamily="34" charset="-122"/>
              </a:endParaRPr>
            </a:p>
          </p:txBody>
        </p:sp>
        <p:sp>
          <p:nvSpPr>
            <p:cNvPr id="43" name="TextBox 42"/>
            <p:cNvSpPr txBox="1"/>
            <p:nvPr/>
          </p:nvSpPr>
          <p:spPr>
            <a:xfrm>
              <a:off x="7000892"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44" name="TextBox 43"/>
            <p:cNvSpPr txBox="1"/>
            <p:nvPr/>
          </p:nvSpPr>
          <p:spPr>
            <a:xfrm>
              <a:off x="6572264"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45" name="TextBox 44"/>
            <p:cNvSpPr txBox="1"/>
            <p:nvPr/>
          </p:nvSpPr>
          <p:spPr>
            <a:xfrm>
              <a:off x="6143636"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46" name="TextBox 45"/>
            <p:cNvSpPr txBox="1"/>
            <p:nvPr/>
          </p:nvSpPr>
          <p:spPr>
            <a:xfrm>
              <a:off x="5715008"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47" name="TextBox 46"/>
            <p:cNvSpPr txBox="1"/>
            <p:nvPr/>
          </p:nvSpPr>
          <p:spPr>
            <a:xfrm>
              <a:off x="5286380"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48" name="TextBox 47"/>
            <p:cNvSpPr txBox="1"/>
            <p:nvPr/>
          </p:nvSpPr>
          <p:spPr>
            <a:xfrm>
              <a:off x="4857752"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49" name="TextBox 48"/>
            <p:cNvSpPr txBox="1"/>
            <p:nvPr/>
          </p:nvSpPr>
          <p:spPr>
            <a:xfrm>
              <a:off x="4429124"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50" name="TextBox 49"/>
            <p:cNvSpPr txBox="1"/>
            <p:nvPr/>
          </p:nvSpPr>
          <p:spPr>
            <a:xfrm>
              <a:off x="4000496"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51" name="TextBox 50"/>
            <p:cNvSpPr txBox="1"/>
            <p:nvPr/>
          </p:nvSpPr>
          <p:spPr>
            <a:xfrm>
              <a:off x="3571868"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52" name="TextBox 51"/>
            <p:cNvSpPr txBox="1"/>
            <p:nvPr/>
          </p:nvSpPr>
          <p:spPr>
            <a:xfrm>
              <a:off x="3143240"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53" name="TextBox 52"/>
            <p:cNvSpPr txBox="1"/>
            <p:nvPr/>
          </p:nvSpPr>
          <p:spPr>
            <a:xfrm>
              <a:off x="2714612"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54" name="TextBox 53"/>
            <p:cNvSpPr txBox="1"/>
            <p:nvPr/>
          </p:nvSpPr>
          <p:spPr>
            <a:xfrm>
              <a:off x="2285984" y="1892908"/>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25" name="TextBox 324"/>
            <p:cNvSpPr txBox="1"/>
            <p:nvPr/>
          </p:nvSpPr>
          <p:spPr>
            <a:xfrm>
              <a:off x="972478" y="1630851"/>
              <a:ext cx="785818" cy="307777"/>
            </a:xfrm>
            <a:prstGeom prst="rect">
              <a:avLst/>
            </a:prstGeom>
            <a:noFill/>
          </p:spPr>
          <p:txBody>
            <a:bodyPr wrap="square" rtlCol="0">
              <a:spAutoFit/>
            </a:bodyPr>
            <a:lstStyle/>
            <a:p>
              <a:r>
                <a:rPr lang="zh-CN" altLang="en-US" sz="1400" b="1" dirty="0">
                  <a:solidFill>
                    <a:srgbClr val="11576A"/>
                  </a:solidFill>
                  <a:latin typeface="微软雅黑" pitchFamily="34" charset="-122"/>
                  <a:ea typeface="微软雅黑" pitchFamily="34" charset="-122"/>
                </a:rPr>
                <a:t>时间</a:t>
              </a:r>
            </a:p>
          </p:txBody>
        </p:sp>
        <p:sp>
          <p:nvSpPr>
            <p:cNvPr id="326" name="TextBox 325"/>
            <p:cNvSpPr txBox="1"/>
            <p:nvPr/>
          </p:nvSpPr>
          <p:spPr>
            <a:xfrm>
              <a:off x="972478" y="1892908"/>
              <a:ext cx="1099192" cy="307777"/>
            </a:xfrm>
            <a:prstGeom prst="rect">
              <a:avLst/>
            </a:prstGeom>
            <a:noFill/>
          </p:spPr>
          <p:txBody>
            <a:bodyPr wrap="square" rtlCol="0">
              <a:spAutoFit/>
            </a:bodyPr>
            <a:lstStyle/>
            <a:p>
              <a:r>
                <a:rPr lang="zh-CN" altLang="en-US" sz="1400" b="1" dirty="0">
                  <a:solidFill>
                    <a:srgbClr val="11576A"/>
                  </a:solidFill>
                  <a:latin typeface="微软雅黑" pitchFamily="34" charset="-122"/>
                  <a:ea typeface="微软雅黑" pitchFamily="34" charset="-122"/>
                </a:rPr>
                <a:t>访问页面</a:t>
              </a:r>
            </a:p>
          </p:txBody>
        </p:sp>
        <p:cxnSp>
          <p:nvCxnSpPr>
            <p:cNvPr id="4" name="直接连接符 3"/>
            <p:cNvCxnSpPr>
              <a:stCxn id="176" idx="1"/>
            </p:cNvCxnSpPr>
            <p:nvPr/>
          </p:nvCxnSpPr>
          <p:spPr>
            <a:xfrm>
              <a:off x="949520" y="1916655"/>
              <a:ext cx="6480000" cy="14353"/>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2260869" y="1624632"/>
              <a:ext cx="0" cy="58132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2473520" y="2805466"/>
            <a:ext cx="6480000" cy="1559638"/>
            <a:chOff x="949520" y="1555488"/>
            <a:chExt cx="6480000" cy="1559638"/>
          </a:xfrm>
        </p:grpSpPr>
        <p:sp>
          <p:nvSpPr>
            <p:cNvPr id="13" name="矩形 12"/>
            <p:cNvSpPr/>
            <p:nvPr/>
          </p:nvSpPr>
          <p:spPr>
            <a:xfrm>
              <a:off x="949520" y="1814625"/>
              <a:ext cx="6480000" cy="1260000"/>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4" name="直接连接符 23"/>
            <p:cNvCxnSpPr/>
            <p:nvPr/>
          </p:nvCxnSpPr>
          <p:spPr>
            <a:xfrm>
              <a:off x="2260437" y="1823380"/>
              <a:ext cx="0" cy="1006486"/>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875747" y="1821666"/>
              <a:ext cx="0" cy="992827"/>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99" name="TextBox 198"/>
            <p:cNvSpPr txBox="1"/>
            <p:nvPr/>
          </p:nvSpPr>
          <p:spPr>
            <a:xfrm>
              <a:off x="3565240" y="1796486"/>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200" name="TextBox 199"/>
            <p:cNvSpPr txBox="1"/>
            <p:nvPr/>
          </p:nvSpPr>
          <p:spPr>
            <a:xfrm>
              <a:off x="3136853" y="1796486"/>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201" name="TextBox 200"/>
            <p:cNvSpPr txBox="1"/>
            <p:nvPr/>
          </p:nvSpPr>
          <p:spPr>
            <a:xfrm>
              <a:off x="2708466" y="1796486"/>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202" name="TextBox 201"/>
            <p:cNvSpPr txBox="1"/>
            <p:nvPr/>
          </p:nvSpPr>
          <p:spPr>
            <a:xfrm>
              <a:off x="2286823" y="1795745"/>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203" name="TextBox 202"/>
            <p:cNvSpPr txBox="1"/>
            <p:nvPr/>
          </p:nvSpPr>
          <p:spPr>
            <a:xfrm>
              <a:off x="1859070" y="1793412"/>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204" name="TextBox 203"/>
            <p:cNvSpPr txBox="1"/>
            <p:nvPr/>
          </p:nvSpPr>
          <p:spPr>
            <a:xfrm>
              <a:off x="1425125" y="1827396"/>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0</a:t>
              </a:r>
              <a:endParaRPr lang="zh-CN" altLang="en-US" sz="1400" b="1" dirty="0">
                <a:solidFill>
                  <a:srgbClr val="11576A"/>
                </a:solidFill>
                <a:latin typeface="微软雅黑" pitchFamily="34" charset="-122"/>
                <a:ea typeface="微软雅黑" pitchFamily="34" charset="-122"/>
              </a:endParaRPr>
            </a:p>
          </p:txBody>
        </p:sp>
        <p:sp>
          <p:nvSpPr>
            <p:cNvPr id="214" name="TextBox 213"/>
            <p:cNvSpPr txBox="1"/>
            <p:nvPr/>
          </p:nvSpPr>
          <p:spPr>
            <a:xfrm>
              <a:off x="3566444"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215" name="TextBox 214"/>
            <p:cNvSpPr txBox="1"/>
            <p:nvPr/>
          </p:nvSpPr>
          <p:spPr>
            <a:xfrm>
              <a:off x="3137816"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216" name="TextBox 215"/>
            <p:cNvSpPr txBox="1"/>
            <p:nvPr/>
          </p:nvSpPr>
          <p:spPr>
            <a:xfrm>
              <a:off x="2709188"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217" name="TextBox 216"/>
            <p:cNvSpPr txBox="1"/>
            <p:nvPr/>
          </p:nvSpPr>
          <p:spPr>
            <a:xfrm>
              <a:off x="2280560"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218" name="TextBox 217"/>
            <p:cNvSpPr txBox="1"/>
            <p:nvPr/>
          </p:nvSpPr>
          <p:spPr>
            <a:xfrm>
              <a:off x="1851932"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219" name="TextBox 218"/>
            <p:cNvSpPr txBox="1"/>
            <p:nvPr/>
          </p:nvSpPr>
          <p:spPr>
            <a:xfrm>
              <a:off x="1423304"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2</a:t>
              </a:r>
              <a:endParaRPr lang="zh-CN" altLang="en-US" sz="1400" b="1" dirty="0">
                <a:solidFill>
                  <a:srgbClr val="11576A"/>
                </a:solidFill>
                <a:latin typeface="微软雅黑" pitchFamily="34" charset="-122"/>
                <a:ea typeface="微软雅黑" pitchFamily="34" charset="-122"/>
              </a:endParaRPr>
            </a:p>
          </p:txBody>
        </p:sp>
        <p:sp>
          <p:nvSpPr>
            <p:cNvPr id="229" name="TextBox 228"/>
            <p:cNvSpPr txBox="1"/>
            <p:nvPr/>
          </p:nvSpPr>
          <p:spPr>
            <a:xfrm>
              <a:off x="3566444" y="2546997"/>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d</a:t>
              </a:r>
              <a:endParaRPr lang="zh-CN" altLang="en-US" sz="1400" b="1" dirty="0">
                <a:solidFill>
                  <a:srgbClr val="C00000"/>
                </a:solidFill>
                <a:latin typeface="微软雅黑" pitchFamily="34" charset="-122"/>
                <a:ea typeface="微软雅黑" pitchFamily="34" charset="-122"/>
              </a:endParaRPr>
            </a:p>
          </p:txBody>
        </p:sp>
        <p:sp>
          <p:nvSpPr>
            <p:cNvPr id="233" name="TextBox 232"/>
            <p:cNvSpPr txBox="1"/>
            <p:nvPr/>
          </p:nvSpPr>
          <p:spPr>
            <a:xfrm>
              <a:off x="1851932" y="2546997"/>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t>
              </a:r>
              <a:endParaRPr lang="zh-CN" altLang="en-US" sz="1400" b="1" dirty="0">
                <a:solidFill>
                  <a:srgbClr val="11576A"/>
                </a:solidFill>
                <a:latin typeface="微软雅黑" pitchFamily="34" charset="-122"/>
                <a:ea typeface="微软雅黑" pitchFamily="34" charset="-122"/>
              </a:endParaRPr>
            </a:p>
          </p:txBody>
        </p:sp>
        <p:sp>
          <p:nvSpPr>
            <p:cNvPr id="234" name="TextBox 233"/>
            <p:cNvSpPr txBox="1"/>
            <p:nvPr/>
          </p:nvSpPr>
          <p:spPr>
            <a:xfrm>
              <a:off x="1423304" y="2546997"/>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3</a:t>
              </a:r>
              <a:endParaRPr lang="zh-CN" altLang="en-US" sz="1400" b="1" dirty="0">
                <a:solidFill>
                  <a:srgbClr val="11576A"/>
                </a:solidFill>
                <a:latin typeface="微软雅黑" pitchFamily="34" charset="-122"/>
                <a:ea typeface="微软雅黑" pitchFamily="34" charset="-122"/>
              </a:endParaRPr>
            </a:p>
          </p:txBody>
        </p:sp>
        <p:sp>
          <p:nvSpPr>
            <p:cNvPr id="275" name="TextBox 274"/>
            <p:cNvSpPr txBox="1"/>
            <p:nvPr/>
          </p:nvSpPr>
          <p:spPr>
            <a:xfrm>
              <a:off x="3565240"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276" name="TextBox 275"/>
            <p:cNvSpPr txBox="1"/>
            <p:nvPr/>
          </p:nvSpPr>
          <p:spPr>
            <a:xfrm>
              <a:off x="3136853"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277" name="TextBox 276"/>
            <p:cNvSpPr txBox="1"/>
            <p:nvPr/>
          </p:nvSpPr>
          <p:spPr>
            <a:xfrm>
              <a:off x="2708466"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278" name="TextBox 277"/>
            <p:cNvSpPr txBox="1"/>
            <p:nvPr/>
          </p:nvSpPr>
          <p:spPr>
            <a:xfrm>
              <a:off x="2280079"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279" name="TextBox 278"/>
            <p:cNvSpPr txBox="1"/>
            <p:nvPr/>
          </p:nvSpPr>
          <p:spPr>
            <a:xfrm>
              <a:off x="1851691"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280" name="TextBox 279"/>
            <p:cNvSpPr txBox="1"/>
            <p:nvPr/>
          </p:nvSpPr>
          <p:spPr>
            <a:xfrm>
              <a:off x="1423304"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1</a:t>
              </a:r>
              <a:endParaRPr lang="zh-CN" altLang="en-US" sz="1400" b="1" dirty="0">
                <a:solidFill>
                  <a:srgbClr val="11576A"/>
                </a:solidFill>
                <a:latin typeface="微软雅黑" pitchFamily="34" charset="-122"/>
                <a:ea typeface="微软雅黑" pitchFamily="34" charset="-122"/>
              </a:endParaRPr>
            </a:p>
          </p:txBody>
        </p:sp>
        <p:sp>
          <p:nvSpPr>
            <p:cNvPr id="292" name="TextBox 291"/>
            <p:cNvSpPr txBox="1"/>
            <p:nvPr/>
          </p:nvSpPr>
          <p:spPr>
            <a:xfrm>
              <a:off x="3986248" y="1796486"/>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293" name="TextBox 292"/>
            <p:cNvSpPr txBox="1"/>
            <p:nvPr/>
          </p:nvSpPr>
          <p:spPr>
            <a:xfrm>
              <a:off x="3987452"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294" name="TextBox 293"/>
            <p:cNvSpPr txBox="1"/>
            <p:nvPr/>
          </p:nvSpPr>
          <p:spPr>
            <a:xfrm>
              <a:off x="3987452" y="2546997"/>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295" name="TextBox 294"/>
            <p:cNvSpPr txBox="1"/>
            <p:nvPr/>
          </p:nvSpPr>
          <p:spPr>
            <a:xfrm>
              <a:off x="3986248"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296" name="TextBox 295"/>
            <p:cNvSpPr txBox="1"/>
            <p:nvPr/>
          </p:nvSpPr>
          <p:spPr>
            <a:xfrm>
              <a:off x="4410332" y="1796486"/>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297" name="TextBox 296"/>
            <p:cNvSpPr txBox="1"/>
            <p:nvPr/>
          </p:nvSpPr>
          <p:spPr>
            <a:xfrm>
              <a:off x="4411536"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298" name="TextBox 297"/>
            <p:cNvSpPr txBox="1"/>
            <p:nvPr/>
          </p:nvSpPr>
          <p:spPr>
            <a:xfrm>
              <a:off x="4411536" y="2546997"/>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299" name="TextBox 298"/>
            <p:cNvSpPr txBox="1"/>
            <p:nvPr/>
          </p:nvSpPr>
          <p:spPr>
            <a:xfrm>
              <a:off x="4410332"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00" name="TextBox 299"/>
            <p:cNvSpPr txBox="1"/>
            <p:nvPr/>
          </p:nvSpPr>
          <p:spPr>
            <a:xfrm>
              <a:off x="4851124" y="1796486"/>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01" name="TextBox 300"/>
            <p:cNvSpPr txBox="1"/>
            <p:nvPr/>
          </p:nvSpPr>
          <p:spPr>
            <a:xfrm>
              <a:off x="4852328" y="23106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02" name="TextBox 301"/>
            <p:cNvSpPr txBox="1"/>
            <p:nvPr/>
          </p:nvSpPr>
          <p:spPr>
            <a:xfrm>
              <a:off x="4852328" y="2546997"/>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03" name="TextBox 302"/>
            <p:cNvSpPr txBox="1"/>
            <p:nvPr/>
          </p:nvSpPr>
          <p:spPr>
            <a:xfrm>
              <a:off x="4851124" y="2067057"/>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04" name="TextBox 303"/>
            <p:cNvSpPr txBox="1"/>
            <p:nvPr/>
          </p:nvSpPr>
          <p:spPr>
            <a:xfrm>
              <a:off x="5262858" y="1797438"/>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05" name="TextBox 304"/>
            <p:cNvSpPr txBox="1"/>
            <p:nvPr/>
          </p:nvSpPr>
          <p:spPr>
            <a:xfrm>
              <a:off x="5264062" y="23116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06" name="TextBox 305"/>
            <p:cNvSpPr txBox="1"/>
            <p:nvPr/>
          </p:nvSpPr>
          <p:spPr>
            <a:xfrm>
              <a:off x="5264062" y="2547949"/>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07" name="TextBox 306"/>
            <p:cNvSpPr txBox="1"/>
            <p:nvPr/>
          </p:nvSpPr>
          <p:spPr>
            <a:xfrm>
              <a:off x="5262858" y="2068009"/>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08" name="TextBox 307"/>
            <p:cNvSpPr txBox="1"/>
            <p:nvPr/>
          </p:nvSpPr>
          <p:spPr>
            <a:xfrm>
              <a:off x="5697902" y="1797438"/>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09" name="TextBox 308"/>
            <p:cNvSpPr txBox="1"/>
            <p:nvPr/>
          </p:nvSpPr>
          <p:spPr>
            <a:xfrm>
              <a:off x="5699106" y="23116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10" name="TextBox 309"/>
            <p:cNvSpPr txBox="1"/>
            <p:nvPr/>
          </p:nvSpPr>
          <p:spPr>
            <a:xfrm>
              <a:off x="5699106" y="2547949"/>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11" name="TextBox 310"/>
            <p:cNvSpPr txBox="1"/>
            <p:nvPr/>
          </p:nvSpPr>
          <p:spPr>
            <a:xfrm>
              <a:off x="5697902" y="2068009"/>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12" name="TextBox 311"/>
            <p:cNvSpPr txBox="1"/>
            <p:nvPr/>
          </p:nvSpPr>
          <p:spPr>
            <a:xfrm>
              <a:off x="6137008" y="1797438"/>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13" name="TextBox 312"/>
            <p:cNvSpPr txBox="1"/>
            <p:nvPr/>
          </p:nvSpPr>
          <p:spPr>
            <a:xfrm>
              <a:off x="6138212" y="23116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14" name="TextBox 313"/>
            <p:cNvSpPr txBox="1"/>
            <p:nvPr/>
          </p:nvSpPr>
          <p:spPr>
            <a:xfrm>
              <a:off x="6138212" y="2547949"/>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15" name="TextBox 314"/>
            <p:cNvSpPr txBox="1"/>
            <p:nvPr/>
          </p:nvSpPr>
          <p:spPr>
            <a:xfrm>
              <a:off x="6137008" y="2068009"/>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16" name="TextBox 315"/>
            <p:cNvSpPr txBox="1"/>
            <p:nvPr/>
          </p:nvSpPr>
          <p:spPr>
            <a:xfrm>
              <a:off x="6555158" y="1797438"/>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17" name="TextBox 316"/>
            <p:cNvSpPr txBox="1"/>
            <p:nvPr/>
          </p:nvSpPr>
          <p:spPr>
            <a:xfrm>
              <a:off x="6556362" y="23116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18" name="TextBox 317"/>
            <p:cNvSpPr txBox="1"/>
            <p:nvPr/>
          </p:nvSpPr>
          <p:spPr>
            <a:xfrm>
              <a:off x="6556362" y="2547949"/>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19" name="TextBox 318"/>
            <p:cNvSpPr txBox="1"/>
            <p:nvPr/>
          </p:nvSpPr>
          <p:spPr>
            <a:xfrm>
              <a:off x="6555158" y="2068009"/>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20" name="TextBox 319"/>
            <p:cNvSpPr txBox="1"/>
            <p:nvPr/>
          </p:nvSpPr>
          <p:spPr>
            <a:xfrm>
              <a:off x="6968546" y="1797438"/>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21" name="TextBox 320"/>
            <p:cNvSpPr txBox="1"/>
            <p:nvPr/>
          </p:nvSpPr>
          <p:spPr>
            <a:xfrm>
              <a:off x="6969750" y="23116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22" name="TextBox 321"/>
            <p:cNvSpPr txBox="1"/>
            <p:nvPr/>
          </p:nvSpPr>
          <p:spPr>
            <a:xfrm>
              <a:off x="6969750" y="2547949"/>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23" name="TextBox 322"/>
            <p:cNvSpPr txBox="1"/>
            <p:nvPr/>
          </p:nvSpPr>
          <p:spPr>
            <a:xfrm>
              <a:off x="6968546" y="2068009"/>
              <a:ext cx="431757"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28" name="TextBox 327"/>
            <p:cNvSpPr txBox="1"/>
            <p:nvPr/>
          </p:nvSpPr>
          <p:spPr>
            <a:xfrm>
              <a:off x="967054" y="2807349"/>
              <a:ext cx="1007234" cy="307777"/>
            </a:xfrm>
            <a:prstGeom prst="rect">
              <a:avLst/>
            </a:prstGeom>
            <a:noFill/>
          </p:spPr>
          <p:txBody>
            <a:bodyPr wrap="square" rtlCol="0">
              <a:spAutoFit/>
            </a:bodyPr>
            <a:lstStyle/>
            <a:p>
              <a:r>
                <a:rPr lang="zh-CN" altLang="en-US" sz="1400" b="1" dirty="0">
                  <a:solidFill>
                    <a:srgbClr val="11576A"/>
                  </a:solidFill>
                  <a:latin typeface="微软雅黑" pitchFamily="34" charset="-122"/>
                  <a:ea typeface="微软雅黑" pitchFamily="34" charset="-122"/>
                </a:rPr>
                <a:t>缺页状态</a:t>
              </a:r>
            </a:p>
          </p:txBody>
        </p:sp>
        <p:sp>
          <p:nvSpPr>
            <p:cNvPr id="175" name="TextBox 328"/>
            <p:cNvSpPr txBox="1"/>
            <p:nvPr/>
          </p:nvSpPr>
          <p:spPr>
            <a:xfrm>
              <a:off x="958655" y="1986803"/>
              <a:ext cx="369332" cy="707886"/>
            </a:xfrm>
            <a:prstGeom prst="rect">
              <a:avLst/>
            </a:prstGeom>
            <a:noFill/>
          </p:spPr>
          <p:txBody>
            <a:bodyPr vert="eaVert" wrap="none" rtlCol="0">
              <a:spAutoFit/>
            </a:bodyPr>
            <a:lstStyle/>
            <a:p>
              <a:pPr algn="ctr"/>
              <a:r>
                <a:rPr lang="zh-CN" altLang="en-US" sz="1200" b="1" dirty="0">
                  <a:solidFill>
                    <a:srgbClr val="11576A"/>
                  </a:solidFill>
                  <a:latin typeface="微软雅黑" pitchFamily="34" charset="-122"/>
                  <a:ea typeface="微软雅黑" pitchFamily="34" charset="-122"/>
                </a:rPr>
                <a:t>物理帧号</a:t>
              </a:r>
              <a:endParaRPr lang="en-US" altLang="zh-CN" sz="1200" b="1" dirty="0">
                <a:solidFill>
                  <a:srgbClr val="11576A"/>
                </a:solidFill>
                <a:latin typeface="微软雅黑" pitchFamily="34" charset="-122"/>
                <a:ea typeface="微软雅黑" pitchFamily="34" charset="-122"/>
              </a:endParaRPr>
            </a:p>
          </p:txBody>
        </p:sp>
        <p:cxnSp>
          <p:nvCxnSpPr>
            <p:cNvPr id="56" name="直接连接符 55"/>
            <p:cNvCxnSpPr/>
            <p:nvPr/>
          </p:nvCxnSpPr>
          <p:spPr>
            <a:xfrm>
              <a:off x="949520" y="2822991"/>
              <a:ext cx="6480000"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a:xfrm>
              <a:off x="3679570" y="1555488"/>
              <a:ext cx="234000" cy="1489560"/>
              <a:chOff x="3679570" y="1555488"/>
              <a:chExt cx="234000" cy="1489560"/>
            </a:xfrm>
          </p:grpSpPr>
          <p:sp>
            <p:nvSpPr>
              <p:cNvPr id="225" name="AutoShape 100"/>
              <p:cNvSpPr>
                <a:spLocks noChangeArrowheads="1"/>
              </p:cNvSpPr>
              <p:nvPr/>
            </p:nvSpPr>
            <p:spPr bwMode="auto">
              <a:xfrm>
                <a:off x="3706570" y="2865048"/>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26" name="Oval 101"/>
              <p:cNvSpPr>
                <a:spLocks/>
              </p:cNvSpPr>
              <p:nvPr/>
            </p:nvSpPr>
            <p:spPr bwMode="auto">
              <a:xfrm>
                <a:off x="3679570" y="1555488"/>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grpSp>
        <p:nvGrpSpPr>
          <p:cNvPr id="227" name="组合 226"/>
          <p:cNvGrpSpPr/>
          <p:nvPr/>
        </p:nvGrpSpPr>
        <p:grpSpPr>
          <a:xfrm>
            <a:off x="2473520" y="2785218"/>
            <a:ext cx="6480000" cy="1349257"/>
            <a:chOff x="949520" y="1535238"/>
            <a:chExt cx="6480000" cy="1349257"/>
          </a:xfrm>
        </p:grpSpPr>
        <p:grpSp>
          <p:nvGrpSpPr>
            <p:cNvPr id="228" name="组合 227"/>
            <p:cNvGrpSpPr/>
            <p:nvPr/>
          </p:nvGrpSpPr>
          <p:grpSpPr>
            <a:xfrm>
              <a:off x="949520" y="1815608"/>
              <a:ext cx="6480000" cy="1068887"/>
              <a:chOff x="954944" y="1987328"/>
              <a:chExt cx="6480000" cy="1068887"/>
            </a:xfrm>
          </p:grpSpPr>
          <p:sp>
            <p:nvSpPr>
              <p:cNvPr id="274" name="矩形 273"/>
              <p:cNvSpPr/>
              <p:nvPr/>
            </p:nvSpPr>
            <p:spPr>
              <a:xfrm>
                <a:off x="954944" y="1988779"/>
                <a:ext cx="6480000" cy="1058301"/>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89" name="直接连接符 288"/>
              <p:cNvCxnSpPr/>
              <p:nvPr/>
            </p:nvCxnSpPr>
            <p:spPr>
              <a:xfrm>
                <a:off x="1902885" y="1987328"/>
                <a:ext cx="0" cy="779821"/>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90" name="直接连接符 289"/>
              <p:cNvCxnSpPr/>
              <p:nvPr/>
            </p:nvCxnSpPr>
            <p:spPr>
              <a:xfrm>
                <a:off x="2260869" y="1994370"/>
                <a:ext cx="0" cy="772779"/>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333" name="TextBox 145"/>
              <p:cNvSpPr txBox="1"/>
              <p:nvPr/>
            </p:nvSpPr>
            <p:spPr>
              <a:xfrm>
                <a:off x="7000892" y="1995686"/>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34" name="TextBox 146"/>
              <p:cNvSpPr txBox="1"/>
              <p:nvPr/>
            </p:nvSpPr>
            <p:spPr>
              <a:xfrm>
                <a:off x="6572264" y="1995686"/>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35" name="TextBox 147"/>
              <p:cNvSpPr txBox="1"/>
              <p:nvPr/>
            </p:nvSpPr>
            <p:spPr>
              <a:xfrm>
                <a:off x="6143636" y="1995686"/>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b</a:t>
                </a:r>
                <a:endParaRPr lang="zh-CN" altLang="en-US" sz="1400" b="1" dirty="0">
                  <a:solidFill>
                    <a:srgbClr val="C00000"/>
                  </a:solidFill>
                  <a:latin typeface="微软雅黑" pitchFamily="34" charset="-122"/>
                  <a:ea typeface="微软雅黑" pitchFamily="34" charset="-122"/>
                </a:endParaRPr>
              </a:p>
            </p:txBody>
          </p:sp>
          <p:sp>
            <p:nvSpPr>
              <p:cNvPr id="336" name="TextBox 148"/>
              <p:cNvSpPr txBox="1"/>
              <p:nvPr/>
            </p:nvSpPr>
            <p:spPr>
              <a:xfrm>
                <a:off x="5715008" y="1995686"/>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37" name="TextBox 149"/>
              <p:cNvSpPr txBox="1"/>
              <p:nvPr/>
            </p:nvSpPr>
            <p:spPr>
              <a:xfrm>
                <a:off x="5286380" y="1995686"/>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38" name="TextBox 150"/>
              <p:cNvSpPr txBox="1"/>
              <p:nvPr/>
            </p:nvSpPr>
            <p:spPr>
              <a:xfrm>
                <a:off x="4857752" y="1995686"/>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c</a:t>
                </a:r>
                <a:endParaRPr lang="zh-CN" altLang="en-US" sz="1400" b="1" dirty="0">
                  <a:solidFill>
                    <a:srgbClr val="C00000"/>
                  </a:solidFill>
                  <a:latin typeface="微软雅黑" pitchFamily="34" charset="-122"/>
                  <a:ea typeface="微软雅黑" pitchFamily="34" charset="-122"/>
                </a:endParaRPr>
              </a:p>
            </p:txBody>
          </p:sp>
          <p:sp>
            <p:nvSpPr>
              <p:cNvPr id="339" name="TextBox 151"/>
              <p:cNvSpPr txBox="1"/>
              <p:nvPr/>
            </p:nvSpPr>
            <p:spPr>
              <a:xfrm>
                <a:off x="4429124" y="20187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40" name="TextBox 152"/>
              <p:cNvSpPr txBox="1"/>
              <p:nvPr/>
            </p:nvSpPr>
            <p:spPr>
              <a:xfrm>
                <a:off x="4000496" y="20187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41" name="TextBox 153"/>
              <p:cNvSpPr txBox="1"/>
              <p:nvPr/>
            </p:nvSpPr>
            <p:spPr>
              <a:xfrm>
                <a:off x="3571868" y="2018771"/>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d</a:t>
                </a:r>
                <a:endParaRPr lang="zh-CN" altLang="en-US" sz="1400" b="1" dirty="0">
                  <a:solidFill>
                    <a:srgbClr val="C00000"/>
                  </a:solidFill>
                  <a:latin typeface="微软雅黑" pitchFamily="34" charset="-122"/>
                  <a:ea typeface="微软雅黑" pitchFamily="34" charset="-122"/>
                </a:endParaRPr>
              </a:p>
            </p:txBody>
          </p:sp>
          <p:sp>
            <p:nvSpPr>
              <p:cNvPr id="342" name="TextBox 154"/>
              <p:cNvSpPr txBox="1"/>
              <p:nvPr/>
            </p:nvSpPr>
            <p:spPr>
              <a:xfrm>
                <a:off x="3143240" y="20187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43" name="TextBox 155"/>
              <p:cNvSpPr txBox="1"/>
              <p:nvPr/>
            </p:nvSpPr>
            <p:spPr>
              <a:xfrm>
                <a:off x="2714612" y="20187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44" name="TextBox 156"/>
              <p:cNvSpPr txBox="1"/>
              <p:nvPr/>
            </p:nvSpPr>
            <p:spPr>
              <a:xfrm>
                <a:off x="2285984" y="2025646"/>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45" name="TextBox 157"/>
              <p:cNvSpPr txBox="1"/>
              <p:nvPr/>
            </p:nvSpPr>
            <p:spPr>
              <a:xfrm>
                <a:off x="1860485" y="201697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46" name="TextBox 158"/>
              <p:cNvSpPr txBox="1"/>
              <p:nvPr/>
            </p:nvSpPr>
            <p:spPr>
              <a:xfrm>
                <a:off x="1436005" y="2033277"/>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0</a:t>
                </a:r>
                <a:endParaRPr lang="zh-CN" altLang="en-US" sz="1400" b="1" dirty="0">
                  <a:solidFill>
                    <a:srgbClr val="11576A"/>
                  </a:solidFill>
                  <a:latin typeface="微软雅黑" pitchFamily="34" charset="-122"/>
                  <a:ea typeface="微软雅黑" pitchFamily="34" charset="-122"/>
                </a:endParaRPr>
              </a:p>
            </p:txBody>
          </p:sp>
          <p:sp>
            <p:nvSpPr>
              <p:cNvPr id="347" name="TextBox 160"/>
              <p:cNvSpPr txBox="1"/>
              <p:nvPr/>
            </p:nvSpPr>
            <p:spPr>
              <a:xfrm>
                <a:off x="7000892" y="2460823"/>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d</a:t>
                </a:r>
                <a:endParaRPr lang="zh-CN" altLang="en-US" sz="1400" b="1" dirty="0">
                  <a:solidFill>
                    <a:srgbClr val="C00000"/>
                  </a:solidFill>
                  <a:latin typeface="微软雅黑" pitchFamily="34" charset="-122"/>
                  <a:ea typeface="微软雅黑" pitchFamily="34" charset="-122"/>
                </a:endParaRPr>
              </a:p>
            </p:txBody>
          </p:sp>
          <p:sp>
            <p:nvSpPr>
              <p:cNvPr id="348" name="TextBox 161"/>
              <p:cNvSpPr txBox="1"/>
              <p:nvPr/>
            </p:nvSpPr>
            <p:spPr>
              <a:xfrm>
                <a:off x="6572264"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49" name="TextBox 162"/>
              <p:cNvSpPr txBox="1"/>
              <p:nvPr/>
            </p:nvSpPr>
            <p:spPr>
              <a:xfrm>
                <a:off x="6143636"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50" name="TextBox 163"/>
              <p:cNvSpPr txBox="1"/>
              <p:nvPr/>
            </p:nvSpPr>
            <p:spPr>
              <a:xfrm>
                <a:off x="5715008" y="2460823"/>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a</a:t>
                </a:r>
                <a:endParaRPr lang="zh-CN" altLang="en-US" sz="1400" b="1" dirty="0">
                  <a:solidFill>
                    <a:srgbClr val="C00000"/>
                  </a:solidFill>
                  <a:latin typeface="微软雅黑" pitchFamily="34" charset="-122"/>
                  <a:ea typeface="微软雅黑" pitchFamily="34" charset="-122"/>
                </a:endParaRPr>
              </a:p>
            </p:txBody>
          </p:sp>
          <p:sp>
            <p:nvSpPr>
              <p:cNvPr id="351" name="TextBox 164"/>
              <p:cNvSpPr txBox="1"/>
              <p:nvPr/>
            </p:nvSpPr>
            <p:spPr>
              <a:xfrm>
                <a:off x="5286380"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52" name="TextBox 165"/>
              <p:cNvSpPr txBox="1"/>
              <p:nvPr/>
            </p:nvSpPr>
            <p:spPr>
              <a:xfrm>
                <a:off x="4857752"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53" name="TextBox 166"/>
              <p:cNvSpPr txBox="1"/>
              <p:nvPr/>
            </p:nvSpPr>
            <p:spPr>
              <a:xfrm>
                <a:off x="4429124" y="2460823"/>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b</a:t>
                </a:r>
                <a:endParaRPr lang="zh-CN" altLang="en-US" sz="1400" b="1" dirty="0">
                  <a:solidFill>
                    <a:srgbClr val="C00000"/>
                  </a:solidFill>
                  <a:latin typeface="微软雅黑" pitchFamily="34" charset="-122"/>
                  <a:ea typeface="微软雅黑" pitchFamily="34" charset="-122"/>
                </a:endParaRPr>
              </a:p>
            </p:txBody>
          </p:sp>
          <p:sp>
            <p:nvSpPr>
              <p:cNvPr id="354" name="TextBox 167"/>
              <p:cNvSpPr txBox="1"/>
              <p:nvPr/>
            </p:nvSpPr>
            <p:spPr>
              <a:xfrm>
                <a:off x="4000496"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55" name="TextBox 168"/>
              <p:cNvSpPr txBox="1"/>
              <p:nvPr/>
            </p:nvSpPr>
            <p:spPr>
              <a:xfrm>
                <a:off x="3571868"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56" name="TextBox 169"/>
              <p:cNvSpPr txBox="1"/>
              <p:nvPr/>
            </p:nvSpPr>
            <p:spPr>
              <a:xfrm>
                <a:off x="3143240"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57" name="TextBox 170"/>
              <p:cNvSpPr txBox="1"/>
              <p:nvPr/>
            </p:nvSpPr>
            <p:spPr>
              <a:xfrm>
                <a:off x="2714612"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58" name="TextBox 171"/>
              <p:cNvSpPr txBox="1"/>
              <p:nvPr/>
            </p:nvSpPr>
            <p:spPr>
              <a:xfrm>
                <a:off x="2285984"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59" name="TextBox 172"/>
              <p:cNvSpPr txBox="1"/>
              <p:nvPr/>
            </p:nvSpPr>
            <p:spPr>
              <a:xfrm>
                <a:off x="1857356"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60" name="TextBox 173"/>
              <p:cNvSpPr txBox="1"/>
              <p:nvPr/>
            </p:nvSpPr>
            <p:spPr>
              <a:xfrm>
                <a:off x="1428728" y="2460823"/>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2</a:t>
                </a:r>
                <a:endParaRPr lang="zh-CN" altLang="en-US" sz="1400" b="1" dirty="0">
                  <a:solidFill>
                    <a:srgbClr val="11576A"/>
                  </a:solidFill>
                  <a:latin typeface="微软雅黑" pitchFamily="34" charset="-122"/>
                  <a:ea typeface="微软雅黑" pitchFamily="34" charset="-122"/>
                </a:endParaRPr>
              </a:p>
            </p:txBody>
          </p:sp>
          <p:sp>
            <p:nvSpPr>
              <p:cNvPr id="361" name="TextBox 251"/>
              <p:cNvSpPr txBox="1"/>
              <p:nvPr/>
            </p:nvSpPr>
            <p:spPr>
              <a:xfrm>
                <a:off x="7000892"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c</a:t>
                </a:r>
                <a:endParaRPr lang="zh-CN" altLang="en-US" sz="1400" b="1" dirty="0">
                  <a:solidFill>
                    <a:srgbClr val="11576A"/>
                  </a:solidFill>
                  <a:latin typeface="微软雅黑" pitchFamily="34" charset="-122"/>
                  <a:ea typeface="微软雅黑" pitchFamily="34" charset="-122"/>
                </a:endParaRPr>
              </a:p>
            </p:txBody>
          </p:sp>
          <p:sp>
            <p:nvSpPr>
              <p:cNvPr id="362" name="TextBox 252"/>
              <p:cNvSpPr txBox="1"/>
              <p:nvPr/>
            </p:nvSpPr>
            <p:spPr>
              <a:xfrm>
                <a:off x="6572264" y="2246411"/>
                <a:ext cx="432000" cy="307777"/>
              </a:xfrm>
              <a:prstGeom prst="rect">
                <a:avLst/>
              </a:prstGeom>
              <a:noFill/>
              <a:ln>
                <a:noFill/>
              </a:ln>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c</a:t>
                </a:r>
                <a:endParaRPr lang="zh-CN" altLang="en-US" sz="1400" b="1" dirty="0">
                  <a:solidFill>
                    <a:srgbClr val="C00000"/>
                  </a:solidFill>
                  <a:latin typeface="微软雅黑" pitchFamily="34" charset="-122"/>
                  <a:ea typeface="微软雅黑" pitchFamily="34" charset="-122"/>
                </a:endParaRPr>
              </a:p>
            </p:txBody>
          </p:sp>
          <p:sp>
            <p:nvSpPr>
              <p:cNvPr id="363" name="TextBox 253"/>
              <p:cNvSpPr txBox="1"/>
              <p:nvPr/>
            </p:nvSpPr>
            <p:spPr>
              <a:xfrm>
                <a:off x="6143636"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64" name="TextBox 254"/>
              <p:cNvSpPr txBox="1"/>
              <p:nvPr/>
            </p:nvSpPr>
            <p:spPr>
              <a:xfrm>
                <a:off x="5715008"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d</a:t>
                </a:r>
                <a:endParaRPr lang="zh-CN" altLang="en-US" sz="1400" b="1" dirty="0">
                  <a:solidFill>
                    <a:srgbClr val="11576A"/>
                  </a:solidFill>
                  <a:latin typeface="微软雅黑" pitchFamily="34" charset="-122"/>
                  <a:ea typeface="微软雅黑" pitchFamily="34" charset="-122"/>
                </a:endParaRPr>
              </a:p>
            </p:txBody>
          </p:sp>
          <p:sp>
            <p:nvSpPr>
              <p:cNvPr id="365" name="TextBox 255"/>
              <p:cNvSpPr txBox="1"/>
              <p:nvPr/>
            </p:nvSpPr>
            <p:spPr>
              <a:xfrm>
                <a:off x="5286380" y="2246411"/>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d</a:t>
                </a:r>
                <a:endParaRPr lang="zh-CN" altLang="en-US" sz="1400" b="1" dirty="0">
                  <a:solidFill>
                    <a:srgbClr val="C00000"/>
                  </a:solidFill>
                  <a:latin typeface="微软雅黑" pitchFamily="34" charset="-122"/>
                  <a:ea typeface="微软雅黑" pitchFamily="34" charset="-122"/>
                </a:endParaRPr>
              </a:p>
            </p:txBody>
          </p:sp>
          <p:sp>
            <p:nvSpPr>
              <p:cNvPr id="366" name="TextBox 256"/>
              <p:cNvSpPr txBox="1"/>
              <p:nvPr/>
            </p:nvSpPr>
            <p:spPr>
              <a:xfrm>
                <a:off x="4857752"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67" name="TextBox 257"/>
              <p:cNvSpPr txBox="1"/>
              <p:nvPr/>
            </p:nvSpPr>
            <p:spPr>
              <a:xfrm>
                <a:off x="4429124"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a</a:t>
                </a:r>
                <a:endParaRPr lang="zh-CN" altLang="en-US" sz="1400" b="1" dirty="0">
                  <a:solidFill>
                    <a:srgbClr val="11576A"/>
                  </a:solidFill>
                  <a:latin typeface="微软雅黑" pitchFamily="34" charset="-122"/>
                  <a:ea typeface="微软雅黑" pitchFamily="34" charset="-122"/>
                </a:endParaRPr>
              </a:p>
            </p:txBody>
          </p:sp>
          <p:sp>
            <p:nvSpPr>
              <p:cNvPr id="368" name="TextBox 258"/>
              <p:cNvSpPr txBox="1"/>
              <p:nvPr/>
            </p:nvSpPr>
            <p:spPr>
              <a:xfrm>
                <a:off x="4000496" y="2246411"/>
                <a:ext cx="432000" cy="307777"/>
              </a:xfrm>
              <a:prstGeom prst="rect">
                <a:avLst/>
              </a:prstGeom>
              <a:noFill/>
            </p:spPr>
            <p:txBody>
              <a:bodyPr wrap="square" rtlCol="0">
                <a:spAutoFit/>
              </a:bodyPr>
              <a:lstStyle/>
              <a:p>
                <a:pPr algn="ctr"/>
                <a:r>
                  <a:rPr lang="en-US" altLang="zh-CN" sz="1400" b="1" dirty="0">
                    <a:solidFill>
                      <a:srgbClr val="C00000"/>
                    </a:solidFill>
                    <a:latin typeface="微软雅黑" pitchFamily="34" charset="-122"/>
                    <a:ea typeface="微软雅黑" pitchFamily="34" charset="-122"/>
                  </a:rPr>
                  <a:t>a</a:t>
                </a:r>
                <a:endParaRPr lang="zh-CN" altLang="en-US" sz="1400" b="1" dirty="0">
                  <a:solidFill>
                    <a:srgbClr val="C00000"/>
                  </a:solidFill>
                  <a:latin typeface="微软雅黑" pitchFamily="34" charset="-122"/>
                  <a:ea typeface="微软雅黑" pitchFamily="34" charset="-122"/>
                </a:endParaRPr>
              </a:p>
            </p:txBody>
          </p:sp>
          <p:sp>
            <p:nvSpPr>
              <p:cNvPr id="369" name="TextBox 259"/>
              <p:cNvSpPr txBox="1"/>
              <p:nvPr/>
            </p:nvSpPr>
            <p:spPr>
              <a:xfrm>
                <a:off x="3571868"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70" name="TextBox 260"/>
              <p:cNvSpPr txBox="1"/>
              <p:nvPr/>
            </p:nvSpPr>
            <p:spPr>
              <a:xfrm>
                <a:off x="3143240"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71" name="TextBox 261"/>
              <p:cNvSpPr txBox="1"/>
              <p:nvPr/>
            </p:nvSpPr>
            <p:spPr>
              <a:xfrm>
                <a:off x="2714612"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72" name="TextBox 262"/>
              <p:cNvSpPr txBox="1"/>
              <p:nvPr/>
            </p:nvSpPr>
            <p:spPr>
              <a:xfrm>
                <a:off x="2285984"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73" name="TextBox 263"/>
              <p:cNvSpPr txBox="1"/>
              <p:nvPr/>
            </p:nvSpPr>
            <p:spPr>
              <a:xfrm>
                <a:off x="1860485" y="2240714"/>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b</a:t>
                </a:r>
                <a:endParaRPr lang="zh-CN" altLang="en-US" sz="1400" b="1" dirty="0">
                  <a:solidFill>
                    <a:srgbClr val="11576A"/>
                  </a:solidFill>
                  <a:latin typeface="微软雅黑" pitchFamily="34" charset="-122"/>
                  <a:ea typeface="微软雅黑" pitchFamily="34" charset="-122"/>
                </a:endParaRPr>
              </a:p>
            </p:txBody>
          </p:sp>
          <p:sp>
            <p:nvSpPr>
              <p:cNvPr id="374" name="TextBox 264"/>
              <p:cNvSpPr txBox="1"/>
              <p:nvPr/>
            </p:nvSpPr>
            <p:spPr>
              <a:xfrm>
                <a:off x="1428728" y="2246411"/>
                <a:ext cx="432000" cy="307777"/>
              </a:xfrm>
              <a:prstGeom prst="rect">
                <a:avLst/>
              </a:prstGeom>
              <a:noFill/>
            </p:spPr>
            <p:txBody>
              <a:bodyPr wrap="square" rtlCol="0">
                <a:spAutoFit/>
              </a:bodyPr>
              <a:lstStyle/>
              <a:p>
                <a:pPr algn="ctr"/>
                <a:r>
                  <a:rPr lang="en-US" altLang="zh-CN" sz="1400" b="1" dirty="0">
                    <a:solidFill>
                      <a:srgbClr val="11576A"/>
                    </a:solidFill>
                    <a:latin typeface="微软雅黑" pitchFamily="34" charset="-122"/>
                    <a:ea typeface="微软雅黑" pitchFamily="34" charset="-122"/>
                  </a:rPr>
                  <a:t>1</a:t>
                </a:r>
                <a:endParaRPr lang="zh-CN" altLang="en-US" sz="1400" b="1" dirty="0">
                  <a:solidFill>
                    <a:srgbClr val="11576A"/>
                  </a:solidFill>
                  <a:latin typeface="微软雅黑" pitchFamily="34" charset="-122"/>
                  <a:ea typeface="微软雅黑" pitchFamily="34" charset="-122"/>
                </a:endParaRPr>
              </a:p>
            </p:txBody>
          </p:sp>
          <p:sp>
            <p:nvSpPr>
              <p:cNvPr id="375" name="TextBox 326"/>
              <p:cNvSpPr txBox="1"/>
              <p:nvPr/>
            </p:nvSpPr>
            <p:spPr>
              <a:xfrm>
                <a:off x="964953" y="2748438"/>
                <a:ext cx="1007234" cy="307777"/>
              </a:xfrm>
              <a:prstGeom prst="rect">
                <a:avLst/>
              </a:prstGeom>
              <a:noFill/>
            </p:spPr>
            <p:txBody>
              <a:bodyPr wrap="square" rtlCol="0">
                <a:spAutoFit/>
              </a:bodyPr>
              <a:lstStyle/>
              <a:p>
                <a:r>
                  <a:rPr lang="zh-CN" altLang="en-US" sz="1400" b="1" dirty="0">
                    <a:solidFill>
                      <a:srgbClr val="11576A"/>
                    </a:solidFill>
                    <a:latin typeface="微软雅黑" pitchFamily="34" charset="-122"/>
                    <a:ea typeface="微软雅黑" pitchFamily="34" charset="-122"/>
                  </a:rPr>
                  <a:t>缺页状态</a:t>
                </a:r>
              </a:p>
            </p:txBody>
          </p:sp>
          <p:sp>
            <p:nvSpPr>
              <p:cNvPr id="376" name="TextBox 328"/>
              <p:cNvSpPr txBox="1"/>
              <p:nvPr/>
            </p:nvSpPr>
            <p:spPr>
              <a:xfrm>
                <a:off x="964079" y="2000307"/>
                <a:ext cx="369332" cy="707886"/>
              </a:xfrm>
              <a:prstGeom prst="rect">
                <a:avLst/>
              </a:prstGeom>
              <a:noFill/>
            </p:spPr>
            <p:txBody>
              <a:bodyPr vert="eaVert" wrap="none" rtlCol="0">
                <a:spAutoFit/>
              </a:bodyPr>
              <a:lstStyle/>
              <a:p>
                <a:pPr algn="ctr"/>
                <a:r>
                  <a:rPr lang="zh-CN" altLang="en-US" sz="1200" b="1" dirty="0">
                    <a:solidFill>
                      <a:srgbClr val="11576A"/>
                    </a:solidFill>
                    <a:latin typeface="微软雅黑" pitchFamily="34" charset="-122"/>
                    <a:ea typeface="微软雅黑" pitchFamily="34" charset="-122"/>
                  </a:rPr>
                  <a:t>物理帧号</a:t>
                </a:r>
                <a:endParaRPr lang="en-US" altLang="zh-CN" sz="1200" b="1" dirty="0">
                  <a:solidFill>
                    <a:srgbClr val="11576A"/>
                  </a:solidFill>
                  <a:latin typeface="微软雅黑" pitchFamily="34" charset="-122"/>
                  <a:ea typeface="微软雅黑" pitchFamily="34" charset="-122"/>
                </a:endParaRPr>
              </a:p>
            </p:txBody>
          </p:sp>
          <p:cxnSp>
            <p:nvCxnSpPr>
              <p:cNvPr id="377" name="直接连接符 376"/>
              <p:cNvCxnSpPr/>
              <p:nvPr/>
            </p:nvCxnSpPr>
            <p:spPr>
              <a:xfrm>
                <a:off x="964079" y="2768600"/>
                <a:ext cx="6465441"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grpSp>
        <p:grpSp>
          <p:nvGrpSpPr>
            <p:cNvPr id="230" name="组合 229"/>
            <p:cNvGrpSpPr/>
            <p:nvPr/>
          </p:nvGrpSpPr>
          <p:grpSpPr>
            <a:xfrm>
              <a:off x="3679570" y="1555488"/>
              <a:ext cx="234000" cy="1268270"/>
              <a:chOff x="4518037" y="1556793"/>
              <a:chExt cx="234000" cy="1268270"/>
            </a:xfrm>
          </p:grpSpPr>
          <p:sp>
            <p:nvSpPr>
              <p:cNvPr id="272" name="AutoShape 100"/>
              <p:cNvSpPr>
                <a:spLocks noChangeArrowheads="1"/>
              </p:cNvSpPr>
              <p:nvPr/>
            </p:nvSpPr>
            <p:spPr bwMode="auto">
              <a:xfrm>
                <a:off x="4545037" y="264506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73"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31" name="组合 230"/>
            <p:cNvGrpSpPr/>
            <p:nvPr/>
          </p:nvGrpSpPr>
          <p:grpSpPr>
            <a:xfrm>
              <a:off x="4099267" y="1548808"/>
              <a:ext cx="234000" cy="1274950"/>
              <a:chOff x="4518037" y="1556793"/>
              <a:chExt cx="234000" cy="1274950"/>
            </a:xfrm>
          </p:grpSpPr>
          <p:sp>
            <p:nvSpPr>
              <p:cNvPr id="270" name="AutoShape 100"/>
              <p:cNvSpPr>
                <a:spLocks noChangeArrowheads="1"/>
              </p:cNvSpPr>
              <p:nvPr/>
            </p:nvSpPr>
            <p:spPr bwMode="auto">
              <a:xfrm>
                <a:off x="4545037" y="265174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71"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32" name="组合 231"/>
            <p:cNvGrpSpPr/>
            <p:nvPr/>
          </p:nvGrpSpPr>
          <p:grpSpPr>
            <a:xfrm>
              <a:off x="4524752" y="1548808"/>
              <a:ext cx="234000" cy="1274950"/>
              <a:chOff x="4518037" y="1556793"/>
              <a:chExt cx="234000" cy="1274950"/>
            </a:xfrm>
          </p:grpSpPr>
          <p:sp>
            <p:nvSpPr>
              <p:cNvPr id="268" name="AutoShape 100"/>
              <p:cNvSpPr>
                <a:spLocks noChangeArrowheads="1"/>
              </p:cNvSpPr>
              <p:nvPr/>
            </p:nvSpPr>
            <p:spPr bwMode="auto">
              <a:xfrm>
                <a:off x="4545037" y="265174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69"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35" name="组合 234"/>
            <p:cNvGrpSpPr/>
            <p:nvPr/>
          </p:nvGrpSpPr>
          <p:grpSpPr>
            <a:xfrm>
              <a:off x="4957783" y="1542279"/>
              <a:ext cx="234000" cy="1281479"/>
              <a:chOff x="4518037" y="1556793"/>
              <a:chExt cx="234000" cy="1281479"/>
            </a:xfrm>
          </p:grpSpPr>
          <p:sp>
            <p:nvSpPr>
              <p:cNvPr id="266" name="AutoShape 100"/>
              <p:cNvSpPr>
                <a:spLocks noChangeArrowheads="1"/>
              </p:cNvSpPr>
              <p:nvPr/>
            </p:nvSpPr>
            <p:spPr bwMode="auto">
              <a:xfrm>
                <a:off x="4545037" y="2658272"/>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67"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36" name="组合 235"/>
            <p:cNvGrpSpPr/>
            <p:nvPr/>
          </p:nvGrpSpPr>
          <p:grpSpPr>
            <a:xfrm>
              <a:off x="5382008" y="1535238"/>
              <a:ext cx="234000" cy="1288520"/>
              <a:chOff x="4518037" y="1556793"/>
              <a:chExt cx="234000" cy="1288520"/>
            </a:xfrm>
          </p:grpSpPr>
          <p:sp>
            <p:nvSpPr>
              <p:cNvPr id="250" name="AutoShape 100"/>
              <p:cNvSpPr>
                <a:spLocks noChangeArrowheads="1"/>
              </p:cNvSpPr>
              <p:nvPr/>
            </p:nvSpPr>
            <p:spPr bwMode="auto">
              <a:xfrm>
                <a:off x="4545037" y="266531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51"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37" name="组合 236"/>
            <p:cNvGrpSpPr/>
            <p:nvPr/>
          </p:nvGrpSpPr>
          <p:grpSpPr>
            <a:xfrm>
              <a:off x="5806650" y="1548808"/>
              <a:ext cx="234000" cy="1274950"/>
              <a:chOff x="4518037" y="1556793"/>
              <a:chExt cx="234000" cy="1274950"/>
            </a:xfrm>
          </p:grpSpPr>
          <p:sp>
            <p:nvSpPr>
              <p:cNvPr id="248" name="AutoShape 100"/>
              <p:cNvSpPr>
                <a:spLocks noChangeArrowheads="1"/>
              </p:cNvSpPr>
              <p:nvPr/>
            </p:nvSpPr>
            <p:spPr bwMode="auto">
              <a:xfrm>
                <a:off x="4545037" y="265174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49"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38" name="组合 237"/>
            <p:cNvGrpSpPr/>
            <p:nvPr/>
          </p:nvGrpSpPr>
          <p:grpSpPr>
            <a:xfrm>
              <a:off x="6247492" y="1548808"/>
              <a:ext cx="234000" cy="1274950"/>
              <a:chOff x="4518037" y="1556793"/>
              <a:chExt cx="234000" cy="1274950"/>
            </a:xfrm>
          </p:grpSpPr>
          <p:sp>
            <p:nvSpPr>
              <p:cNvPr id="246" name="AutoShape 100"/>
              <p:cNvSpPr>
                <a:spLocks noChangeArrowheads="1"/>
              </p:cNvSpPr>
              <p:nvPr/>
            </p:nvSpPr>
            <p:spPr bwMode="auto">
              <a:xfrm>
                <a:off x="4545037" y="265174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47"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39" name="组合 238"/>
            <p:cNvGrpSpPr/>
            <p:nvPr/>
          </p:nvGrpSpPr>
          <p:grpSpPr>
            <a:xfrm>
              <a:off x="6675000" y="1548808"/>
              <a:ext cx="234000" cy="1274950"/>
              <a:chOff x="4518037" y="1556793"/>
              <a:chExt cx="234000" cy="1274950"/>
            </a:xfrm>
          </p:grpSpPr>
          <p:sp>
            <p:nvSpPr>
              <p:cNvPr id="243" name="AutoShape 100"/>
              <p:cNvSpPr>
                <a:spLocks noChangeArrowheads="1"/>
              </p:cNvSpPr>
              <p:nvPr/>
            </p:nvSpPr>
            <p:spPr bwMode="auto">
              <a:xfrm>
                <a:off x="4545037" y="2651743"/>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45"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nvGrpSpPr>
            <p:cNvPr id="240" name="组合 239"/>
            <p:cNvGrpSpPr/>
            <p:nvPr/>
          </p:nvGrpSpPr>
          <p:grpSpPr>
            <a:xfrm>
              <a:off x="7101384" y="1542279"/>
              <a:ext cx="234000" cy="1281479"/>
              <a:chOff x="4518037" y="1556793"/>
              <a:chExt cx="234000" cy="1281479"/>
            </a:xfrm>
          </p:grpSpPr>
          <p:sp>
            <p:nvSpPr>
              <p:cNvPr id="241" name="AutoShape 100"/>
              <p:cNvSpPr>
                <a:spLocks noChangeArrowheads="1"/>
              </p:cNvSpPr>
              <p:nvPr/>
            </p:nvSpPr>
            <p:spPr bwMode="auto">
              <a:xfrm>
                <a:off x="4545037" y="2658272"/>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sp>
            <p:nvSpPr>
              <p:cNvPr id="242" name="Oval 101"/>
              <p:cNvSpPr>
                <a:spLocks/>
              </p:cNvSpPr>
              <p:nvPr/>
            </p:nvSpPr>
            <p:spPr bwMode="auto">
              <a:xfrm>
                <a:off x="4518037" y="1556793"/>
                <a:ext cx="234000" cy="234000"/>
              </a:xfrm>
              <a:prstGeom prst="ellipse">
                <a:avLst/>
              </a:prstGeom>
              <a:noFill/>
              <a:ln w="28575" cmpd="sng">
                <a:solidFill>
                  <a:srgbClr val="7030A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sz="3200">
                  <a:solidFill>
                    <a:srgbClr val="000099"/>
                  </a:solidFill>
                </a:endParaRPr>
              </a:p>
            </p:txBody>
          </p:sp>
        </p:grpSp>
      </p:grpSp>
      <p:sp>
        <p:nvSpPr>
          <p:cNvPr id="378" name="TextBox 257"/>
          <p:cNvSpPr txBox="1"/>
          <p:nvPr/>
        </p:nvSpPr>
        <p:spPr>
          <a:xfrm>
            <a:off x="2406772" y="2068094"/>
            <a:ext cx="2649032" cy="400110"/>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sym typeface="Times New Roman" charset="0"/>
              </a:rPr>
              <a:t>物理页面数: </a:t>
            </a:r>
            <a:r>
              <a:rPr lang="en-US" altLang="zh-CN" sz="2000" b="1" dirty="0">
                <a:solidFill>
                  <a:srgbClr val="11576A"/>
                </a:solidFill>
                <a:latin typeface="微软雅黑" pitchFamily="34" charset="-122"/>
                <a:ea typeface="微软雅黑" pitchFamily="34" charset="-122"/>
                <a:sym typeface="Times New Roman" charset="0"/>
              </a:rPr>
              <a:t>3</a:t>
            </a:r>
            <a:endParaRPr lang="zh-CN" altLang="en-US" sz="2000" b="1" dirty="0">
              <a:solidFill>
                <a:srgbClr val="11576A"/>
              </a:solidFill>
              <a:latin typeface="微软雅黑" pitchFamily="34" charset="-122"/>
              <a:ea typeface="微软雅黑" pitchFamily="34" charset="-122"/>
              <a:sym typeface="Times New Roman" charset="0"/>
            </a:endParaRPr>
          </a:p>
        </p:txBody>
      </p:sp>
      <p:sp>
        <p:nvSpPr>
          <p:cNvPr id="379" name="TextBox 257"/>
          <p:cNvSpPr txBox="1"/>
          <p:nvPr/>
        </p:nvSpPr>
        <p:spPr>
          <a:xfrm>
            <a:off x="4662971" y="2068094"/>
            <a:ext cx="2253404" cy="400110"/>
          </a:xfrm>
          <a:prstGeom prst="rect">
            <a:avLst/>
          </a:prstGeom>
          <a:noFill/>
          <a:effectLst/>
        </p:spPr>
        <p:txBody>
          <a:bodyPr wrap="square" rtlCol="0">
            <a:spAutoFit/>
          </a:bodyPr>
          <a:lstStyle/>
          <a:p>
            <a:r>
              <a:rPr lang="zh-CN" altLang="en-US" sz="2000" b="1" dirty="0">
                <a:solidFill>
                  <a:srgbClr val="C00000"/>
                </a:solidFill>
                <a:latin typeface="微软雅黑" pitchFamily="34" charset="-122"/>
                <a:ea typeface="微软雅黑" pitchFamily="34" charset="-122"/>
                <a:sym typeface="Times New Roman" charset="0"/>
              </a:rPr>
              <a:t>缺页次数: </a:t>
            </a:r>
            <a:r>
              <a:rPr lang="en-US" altLang="zh-CN" sz="2000" b="1" dirty="0">
                <a:solidFill>
                  <a:srgbClr val="C00000"/>
                </a:solidFill>
                <a:latin typeface="微软雅黑" pitchFamily="34" charset="-122"/>
                <a:ea typeface="微软雅黑" pitchFamily="34" charset="-122"/>
                <a:sym typeface="Times New Roman" charset="0"/>
              </a:rPr>
              <a:t>9</a:t>
            </a:r>
            <a:endParaRPr lang="zh-CN" altLang="en-US" sz="2000" b="1" dirty="0">
              <a:solidFill>
                <a:srgbClr val="C00000"/>
              </a:solidFill>
              <a:latin typeface="微软雅黑" pitchFamily="34" charset="-122"/>
              <a:ea typeface="微软雅黑" pitchFamily="34" charset="-122"/>
              <a:sym typeface="Times New Roman" charset="0"/>
            </a:endParaRPr>
          </a:p>
        </p:txBody>
      </p:sp>
      <p:sp>
        <p:nvSpPr>
          <p:cNvPr id="380" name="TextBox 257"/>
          <p:cNvSpPr txBox="1"/>
          <p:nvPr/>
        </p:nvSpPr>
        <p:spPr>
          <a:xfrm>
            <a:off x="2406772" y="2068094"/>
            <a:ext cx="2649032" cy="400110"/>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sym typeface="Times New Roman" charset="0"/>
              </a:rPr>
              <a:t>物理页面数: </a:t>
            </a:r>
            <a:r>
              <a:rPr lang="en-US" altLang="zh-CN" sz="2000" b="1" dirty="0">
                <a:solidFill>
                  <a:srgbClr val="11576A"/>
                </a:solidFill>
                <a:latin typeface="微软雅黑" pitchFamily="34" charset="-122"/>
                <a:ea typeface="微软雅黑" pitchFamily="34" charset="-122"/>
                <a:sym typeface="Times New Roman" charset="0"/>
              </a:rPr>
              <a:t>4</a:t>
            </a:r>
            <a:endParaRPr lang="zh-CN" altLang="en-US" sz="2000" b="1" dirty="0">
              <a:solidFill>
                <a:srgbClr val="11576A"/>
              </a:solidFill>
              <a:latin typeface="微软雅黑" pitchFamily="34" charset="-122"/>
              <a:ea typeface="微软雅黑" pitchFamily="34" charset="-122"/>
              <a:sym typeface="Times New Roman" charset="0"/>
            </a:endParaRPr>
          </a:p>
        </p:txBody>
      </p:sp>
      <p:sp>
        <p:nvSpPr>
          <p:cNvPr id="381" name="TextBox 257"/>
          <p:cNvSpPr txBox="1"/>
          <p:nvPr/>
        </p:nvSpPr>
        <p:spPr>
          <a:xfrm>
            <a:off x="4662971" y="2068094"/>
            <a:ext cx="2253404" cy="400110"/>
          </a:xfrm>
          <a:prstGeom prst="rect">
            <a:avLst/>
          </a:prstGeom>
          <a:noFill/>
          <a:effectLst/>
        </p:spPr>
        <p:txBody>
          <a:bodyPr wrap="square" rtlCol="0">
            <a:spAutoFit/>
          </a:bodyPr>
          <a:lstStyle/>
          <a:p>
            <a:r>
              <a:rPr lang="zh-CN" altLang="en-US" sz="2000" b="1" dirty="0">
                <a:solidFill>
                  <a:srgbClr val="C00000"/>
                </a:solidFill>
                <a:latin typeface="微软雅黑" pitchFamily="34" charset="-122"/>
                <a:ea typeface="微软雅黑" pitchFamily="34" charset="-122"/>
                <a:sym typeface="Times New Roman" charset="0"/>
              </a:rPr>
              <a:t>缺页次数: </a:t>
            </a:r>
            <a:r>
              <a:rPr lang="en-US" altLang="zh-CN" sz="2000" b="1" dirty="0">
                <a:solidFill>
                  <a:srgbClr val="C00000"/>
                </a:solidFill>
                <a:latin typeface="微软雅黑" pitchFamily="34" charset="-122"/>
                <a:ea typeface="微软雅黑" pitchFamily="34" charset="-122"/>
                <a:sym typeface="Times New Roman" charset="0"/>
              </a:rPr>
              <a:t>1</a:t>
            </a:r>
            <a:endParaRPr lang="zh-CN" altLang="en-US" sz="2000" b="1" dirty="0">
              <a:solidFill>
                <a:srgbClr val="C00000"/>
              </a:solidFill>
              <a:latin typeface="微软雅黑" pitchFamily="34" charset="-122"/>
              <a:ea typeface="微软雅黑" pitchFamily="34" charset="-122"/>
              <a:sym typeface="Times New Roman" charset="0"/>
            </a:endParaRPr>
          </a:p>
        </p:txBody>
      </p:sp>
      <p:sp>
        <p:nvSpPr>
          <p:cNvPr id="2" name="文本框 1">
            <a:extLst>
              <a:ext uri="{FF2B5EF4-FFF2-40B4-BE49-F238E27FC236}">
                <a16:creationId xmlns:a16="http://schemas.microsoft.com/office/drawing/2014/main" id="{5AEF39F6-D34F-7A43-9067-204383ACB271}"/>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3E9B72B1-71AE-4F7C-88B2-9F864547BA96}"/>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物理页面分配不足带来的问题</a:t>
            </a:r>
          </a:p>
        </p:txBody>
      </p:sp>
      <p:sp>
        <p:nvSpPr>
          <p:cNvPr id="5" name="文本框 4">
            <a:extLst>
              <a:ext uri="{FF2B5EF4-FFF2-40B4-BE49-F238E27FC236}">
                <a16:creationId xmlns:a16="http://schemas.microsoft.com/office/drawing/2014/main" id="{51BFDA94-B8E7-4BCF-A0F4-2F5F85BB23E5}"/>
              </a:ext>
            </a:extLst>
          </p:cNvPr>
          <p:cNvSpPr txBox="1"/>
          <p:nvPr/>
        </p:nvSpPr>
        <p:spPr>
          <a:xfrm>
            <a:off x="2207568" y="5301208"/>
            <a:ext cx="7704856" cy="369332"/>
          </a:xfrm>
          <a:prstGeom prst="rect">
            <a:avLst/>
          </a:prstGeom>
          <a:noFill/>
        </p:spPr>
        <p:txBody>
          <a:bodyPr wrap="square" rtlCol="0">
            <a:spAutoFit/>
          </a:bodyPr>
          <a:lstStyle/>
          <a:p>
            <a:r>
              <a:rPr lang="zh-CN" altLang="en-US" dirty="0"/>
              <a:t>找到近期程序频繁访问的页面的数量，并为之分配物理页</a:t>
            </a:r>
          </a:p>
        </p:txBody>
      </p:sp>
    </p:spTree>
    <p:extLst>
      <p:ext uri="{BB962C8B-B14F-4D97-AF65-F5344CB8AC3E}">
        <p14:creationId xmlns:p14="http://schemas.microsoft.com/office/powerpoint/2010/main" val="270639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
                                        </p:tgtEl>
                                        <p:attrNameLst>
                                          <p:attrName>style.visibility</p:attrName>
                                        </p:attrNameLst>
                                      </p:cBhvr>
                                      <p:to>
                                        <p:strVal val="visible"/>
                                      </p:to>
                                    </p:set>
                                    <p:animEffect transition="in" filter="wipe(left)">
                                      <p:cBhvr>
                                        <p:cTn id="7" dur="500"/>
                                        <p:tgtEl>
                                          <p:spTgt spid="378"/>
                                        </p:tgtEl>
                                      </p:cBhvr>
                                    </p:animEffect>
                                  </p:childTnLst>
                                </p:cTn>
                              </p:par>
                              <p:par>
                                <p:cTn id="8" presetID="22" presetClass="entr" presetSubtype="8" fill="hold"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wipe(left)">
                                      <p:cBhvr>
                                        <p:cTn id="10" dur="500"/>
                                        <p:tgtEl>
                                          <p:spTgt spid="59"/>
                                        </p:tgtEl>
                                      </p:cBhvr>
                                    </p:animEffect>
                                  </p:childTnLst>
                                </p:cTn>
                              </p:par>
                              <p:par>
                                <p:cTn id="11" presetID="22" presetClass="entr" presetSubtype="8" fill="hold" nodeType="withEffect">
                                  <p:stCondLst>
                                    <p:cond delay="0"/>
                                  </p:stCondLst>
                                  <p:childTnLst>
                                    <p:set>
                                      <p:cBhvr>
                                        <p:cTn id="12" dur="1" fill="hold">
                                          <p:stCondLst>
                                            <p:cond delay="0"/>
                                          </p:stCondLst>
                                        </p:cTn>
                                        <p:tgtEl>
                                          <p:spTgt spid="227"/>
                                        </p:tgtEl>
                                        <p:attrNameLst>
                                          <p:attrName>style.visibility</p:attrName>
                                        </p:attrNameLst>
                                      </p:cBhvr>
                                      <p:to>
                                        <p:strVal val="visible"/>
                                      </p:to>
                                    </p:set>
                                    <p:animEffect transition="in" filter="wipe(left)">
                                      <p:cBhvr>
                                        <p:cTn id="13" dur="500"/>
                                        <p:tgtEl>
                                          <p:spTgt spid="2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79"/>
                                        </p:tgtEl>
                                        <p:attrNameLst>
                                          <p:attrName>style.visibility</p:attrName>
                                        </p:attrNameLst>
                                      </p:cBhvr>
                                      <p:to>
                                        <p:strVal val="visible"/>
                                      </p:to>
                                    </p:set>
                                    <p:animEffect transition="in" filter="wipe(left)">
                                      <p:cBhvr>
                                        <p:cTn id="18" dur="500"/>
                                        <p:tgtEl>
                                          <p:spTgt spid="37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8" fill="hold" grpId="1" nodeType="clickEffect">
                                  <p:stCondLst>
                                    <p:cond delay="0"/>
                                  </p:stCondLst>
                                  <p:childTnLst>
                                    <p:animEffect transition="out" filter="wipe(left)">
                                      <p:cBhvr>
                                        <p:cTn id="22" dur="500"/>
                                        <p:tgtEl>
                                          <p:spTgt spid="378"/>
                                        </p:tgtEl>
                                      </p:cBhvr>
                                    </p:animEffect>
                                    <p:set>
                                      <p:cBhvr>
                                        <p:cTn id="23" dur="1" fill="hold">
                                          <p:stCondLst>
                                            <p:cond delay="499"/>
                                          </p:stCondLst>
                                        </p:cTn>
                                        <p:tgtEl>
                                          <p:spTgt spid="378"/>
                                        </p:tgtEl>
                                        <p:attrNameLst>
                                          <p:attrName>style.visibility</p:attrName>
                                        </p:attrNameLst>
                                      </p:cBhvr>
                                      <p:to>
                                        <p:strVal val="hidden"/>
                                      </p:to>
                                    </p:set>
                                  </p:childTnLst>
                                </p:cTn>
                              </p:par>
                              <p:par>
                                <p:cTn id="24" presetID="22" presetClass="exit" presetSubtype="8" fill="hold" nodeType="withEffect">
                                  <p:stCondLst>
                                    <p:cond delay="0"/>
                                  </p:stCondLst>
                                  <p:childTnLst>
                                    <p:animEffect transition="out" filter="wipe(left)">
                                      <p:cBhvr>
                                        <p:cTn id="25" dur="500"/>
                                        <p:tgtEl>
                                          <p:spTgt spid="227"/>
                                        </p:tgtEl>
                                      </p:cBhvr>
                                    </p:animEffect>
                                    <p:set>
                                      <p:cBhvr>
                                        <p:cTn id="26" dur="1" fill="hold">
                                          <p:stCondLst>
                                            <p:cond delay="499"/>
                                          </p:stCondLst>
                                        </p:cTn>
                                        <p:tgtEl>
                                          <p:spTgt spid="227"/>
                                        </p:tgtEl>
                                        <p:attrNameLst>
                                          <p:attrName>style.visibility</p:attrName>
                                        </p:attrNameLst>
                                      </p:cBhvr>
                                      <p:to>
                                        <p:strVal val="hidden"/>
                                      </p:to>
                                    </p:set>
                                  </p:childTnLst>
                                </p:cTn>
                              </p:par>
                              <p:par>
                                <p:cTn id="27" presetID="22" presetClass="exit" presetSubtype="8" fill="hold" grpId="1" nodeType="withEffect">
                                  <p:stCondLst>
                                    <p:cond delay="0"/>
                                  </p:stCondLst>
                                  <p:childTnLst>
                                    <p:animEffect transition="out" filter="wipe(left)">
                                      <p:cBhvr>
                                        <p:cTn id="28" dur="500"/>
                                        <p:tgtEl>
                                          <p:spTgt spid="379"/>
                                        </p:tgtEl>
                                      </p:cBhvr>
                                    </p:animEffect>
                                    <p:set>
                                      <p:cBhvr>
                                        <p:cTn id="29" dur="1" fill="hold">
                                          <p:stCondLst>
                                            <p:cond delay="499"/>
                                          </p:stCondLst>
                                        </p:cTn>
                                        <p:tgtEl>
                                          <p:spTgt spid="379"/>
                                        </p:tgtEl>
                                        <p:attrNameLst>
                                          <p:attrName>style.visibility</p:attrName>
                                        </p:attrNameLst>
                                      </p:cBhvr>
                                      <p:to>
                                        <p:strVal val="hidden"/>
                                      </p:to>
                                    </p:se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380"/>
                                        </p:tgtEl>
                                        <p:attrNameLst>
                                          <p:attrName>style.visibility</p:attrName>
                                        </p:attrNameLst>
                                      </p:cBhvr>
                                      <p:to>
                                        <p:strVal val="visible"/>
                                      </p:to>
                                    </p:set>
                                    <p:animEffect transition="in" filter="wipe(left)">
                                      <p:cBhvr>
                                        <p:cTn id="33" dur="500"/>
                                        <p:tgtEl>
                                          <p:spTgt spid="380"/>
                                        </p:tgtEl>
                                      </p:cBhvr>
                                    </p:animEffect>
                                  </p:childTnLst>
                                </p:cTn>
                              </p:par>
                              <p:par>
                                <p:cTn id="34" presetID="22" presetClass="entr" presetSubtype="8" fill="hold"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wipe(left)">
                                      <p:cBhvr>
                                        <p:cTn id="36" dur="500"/>
                                        <p:tgtEl>
                                          <p:spTgt spid="5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81"/>
                                        </p:tgtEl>
                                        <p:attrNameLst>
                                          <p:attrName>style.visibility</p:attrName>
                                        </p:attrNameLst>
                                      </p:cBhvr>
                                      <p:to>
                                        <p:strVal val="visible"/>
                                      </p:to>
                                    </p:set>
                                    <p:animEffect transition="in" filter="wipe(left)">
                                      <p:cBhvr>
                                        <p:cTn id="41" dur="500"/>
                                        <p:tgtEl>
                                          <p:spTgt spid="381"/>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500" fill="hold"/>
                                        <p:tgtEl>
                                          <p:spTgt spid="5"/>
                                        </p:tgtEl>
                                        <p:attrNameLst>
                                          <p:attrName>ppt_x</p:attrName>
                                        </p:attrNameLst>
                                      </p:cBhvr>
                                      <p:tavLst>
                                        <p:tav tm="0">
                                          <p:val>
                                            <p:strVal val="#ppt_x"/>
                                          </p:val>
                                        </p:tav>
                                        <p:tav tm="100000">
                                          <p:val>
                                            <p:strVal val="#ppt_x"/>
                                          </p:val>
                                        </p:tav>
                                      </p:tavLst>
                                    </p:anim>
                                    <p:anim calcmode="lin" valueType="num">
                                      <p:cBhvr additive="base">
                                        <p:cTn id="4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 grpId="0"/>
      <p:bldP spid="378" grpId="1"/>
      <p:bldP spid="379" grpId="0"/>
      <p:bldP spid="379" grpId="1"/>
      <p:bldP spid="380" grpId="0"/>
      <p:bldP spid="381" grpId="0"/>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731520" y="1556792"/>
            <a:ext cx="7877858" cy="400110"/>
          </a:xfrm>
          <a:prstGeom prst="rect">
            <a:avLst/>
          </a:prstGeom>
          <a:noFill/>
          <a:effectLst/>
        </p:spPr>
        <p:txBody>
          <a:bodyPr wrap="square" rtlCol="0">
            <a:spAutoFit/>
          </a:bodyPr>
          <a:lstStyle/>
          <a:p>
            <a:pPr marL="476250" indent="-476250">
              <a:buClr>
                <a:srgbClr val="FFFF66"/>
              </a:buClr>
            </a:pPr>
            <a:r>
              <a:rPr lang="zh-CN" altLang="en-US" sz="2000" b="1" dirty="0">
                <a:solidFill>
                  <a:srgbClr val="11576A"/>
                </a:solidFill>
                <a:latin typeface="微软雅黑" panose="020B0503020204020204" pitchFamily="34" charset="-122"/>
                <a:ea typeface="微软雅黑" panose="020B0503020204020204" pitchFamily="34" charset="-122"/>
                <a:sym typeface="MS PGothic" charset="0"/>
              </a:rPr>
              <a:t>一个进程当前正在使用的逻辑页面集合，可表示为二元函数W(t, </a:t>
            </a:r>
            <a:r>
              <a:rPr lang="zh-CN" altLang="en-US" sz="2000" b="1" dirty="0">
                <a:solidFill>
                  <a:srgbClr val="11576A"/>
                </a:solidFill>
                <a:latin typeface="微软雅黑" panose="020B0503020204020204" pitchFamily="34" charset="-122"/>
                <a:ea typeface="微软雅黑" panose="020B0503020204020204" pitchFamily="34" charset="-122"/>
                <a:sym typeface="Symbol" charset="0"/>
              </a:rPr>
              <a:t></a:t>
            </a:r>
            <a:r>
              <a:rPr lang="zh-CN" altLang="en-US" sz="2000" b="1" dirty="0">
                <a:solidFill>
                  <a:srgbClr val="11576A"/>
                </a:solidFill>
                <a:latin typeface="微软雅黑" panose="020B0503020204020204" pitchFamily="34" charset="-122"/>
                <a:ea typeface="微软雅黑" panose="020B0503020204020204" pitchFamily="34" charset="-122"/>
                <a:sym typeface="MS PGothic" charset="0"/>
              </a:rPr>
              <a:t>)</a:t>
            </a:r>
          </a:p>
        </p:txBody>
      </p:sp>
      <p:grpSp>
        <p:nvGrpSpPr>
          <p:cNvPr id="3" name="组合 2"/>
          <p:cNvGrpSpPr/>
          <p:nvPr/>
        </p:nvGrpSpPr>
        <p:grpSpPr>
          <a:xfrm>
            <a:off x="1425560" y="2060176"/>
            <a:ext cx="10071040" cy="782414"/>
            <a:chOff x="945560" y="1687738"/>
            <a:chExt cx="10071040" cy="782414"/>
          </a:xfrm>
        </p:grpSpPr>
        <p:sp>
          <p:nvSpPr>
            <p:cNvPr id="83" name="TextBox 82"/>
            <p:cNvSpPr txBox="1"/>
            <p:nvPr/>
          </p:nvSpPr>
          <p:spPr>
            <a:xfrm>
              <a:off x="945560" y="171109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微软雅黑" pitchFamily="34" charset="-122"/>
                  <a:ea typeface="微软雅黑" pitchFamily="34" charset="-122"/>
                </a:rPr>
                <a:t>■</a:t>
              </a:r>
            </a:p>
          </p:txBody>
        </p:sp>
        <p:sp>
          <p:nvSpPr>
            <p:cNvPr id="11" name="TextBox 10"/>
            <p:cNvSpPr txBox="1"/>
            <p:nvPr/>
          </p:nvSpPr>
          <p:spPr>
            <a:xfrm>
              <a:off x="1285972" y="1687738"/>
              <a:ext cx="3005158" cy="400110"/>
            </a:xfrm>
            <a:prstGeom prst="rect">
              <a:avLst/>
            </a:prstGeom>
            <a:noFill/>
            <a:effectLst/>
          </p:spPr>
          <p:txBody>
            <a:bodyPr wrap="square" rtlCol="0">
              <a:spAutoFit/>
            </a:bodyPr>
            <a:lstStyle/>
            <a:p>
              <a:pPr marL="342900" indent="-342900">
                <a:spcBef>
                  <a:spcPct val="20000"/>
                </a:spcBef>
              </a:pPr>
              <a:r>
                <a:rPr lang="zh-CN" altLang="zh-CN" sz="2000" b="1" dirty="0">
                  <a:solidFill>
                    <a:srgbClr val="11576A"/>
                  </a:solidFill>
                  <a:latin typeface="微软雅黑" panose="020B0503020204020204" pitchFamily="34" charset="-122"/>
                  <a:ea typeface="微软雅黑" panose="020B0503020204020204" pitchFamily="34" charset="-122"/>
                  <a:sym typeface="MS PGothic" charset="0"/>
                </a:rPr>
                <a:t>t是当前的执行时刻</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945560" y="2070042"/>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微软雅黑" pitchFamily="34" charset="-122"/>
                  <a:ea typeface="微软雅黑" pitchFamily="34" charset="-122"/>
                </a:rPr>
                <a:t>■</a:t>
              </a:r>
            </a:p>
          </p:txBody>
        </p:sp>
        <p:sp>
          <p:nvSpPr>
            <p:cNvPr id="9" name="TextBox 8"/>
            <p:cNvSpPr txBox="1"/>
            <p:nvPr/>
          </p:nvSpPr>
          <p:spPr>
            <a:xfrm>
              <a:off x="1285972" y="2046682"/>
              <a:ext cx="9730628" cy="400110"/>
            </a:xfrm>
            <a:prstGeom prst="rect">
              <a:avLst/>
            </a:prstGeom>
            <a:noFill/>
            <a:effectLst/>
          </p:spPr>
          <p:txBody>
            <a:bodyPr wrap="square" rtlCol="0">
              <a:spAutoFit/>
            </a:bodyPr>
            <a:lstStyle/>
            <a:p>
              <a:pPr>
                <a:spcBef>
                  <a:spcPct val="20000"/>
                </a:spcBef>
              </a:pPr>
              <a:r>
                <a:rPr lang="zh-CN" altLang="zh-CN" sz="2000" b="1" dirty="0">
                  <a:solidFill>
                    <a:srgbClr val="11576A"/>
                  </a:solidFill>
                  <a:latin typeface="微软雅黑" panose="020B0503020204020204" pitchFamily="34" charset="-122"/>
                  <a:ea typeface="微软雅黑" panose="020B0503020204020204" pitchFamily="34" charset="-122"/>
                  <a:sym typeface="Symbol" charset="0"/>
                </a:rPr>
                <a:t> 称为工作集窗口（working-set window ），即一个定长的页面访问时间窗口</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425560" y="2780928"/>
            <a:ext cx="9711000" cy="804144"/>
            <a:chOff x="945560" y="2684466"/>
            <a:chExt cx="9711000" cy="804144"/>
          </a:xfrm>
        </p:grpSpPr>
        <p:sp>
          <p:nvSpPr>
            <p:cNvPr id="13" name="TextBox 12"/>
            <p:cNvSpPr txBox="1"/>
            <p:nvPr/>
          </p:nvSpPr>
          <p:spPr>
            <a:xfrm>
              <a:off x="945560" y="270782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微软雅黑" pitchFamily="34" charset="-122"/>
                  <a:ea typeface="微软雅黑" pitchFamily="34" charset="-122"/>
                </a:rPr>
                <a:t>■</a:t>
              </a:r>
            </a:p>
          </p:txBody>
        </p:sp>
        <p:sp>
          <p:nvSpPr>
            <p:cNvPr id="14" name="TextBox 13"/>
            <p:cNvSpPr txBox="1"/>
            <p:nvPr/>
          </p:nvSpPr>
          <p:spPr>
            <a:xfrm>
              <a:off x="1285972" y="2684466"/>
              <a:ext cx="9370588" cy="400110"/>
            </a:xfrm>
            <a:prstGeom prst="rect">
              <a:avLst/>
            </a:prstGeom>
            <a:noFill/>
            <a:effectLst/>
          </p:spPr>
          <p:txBody>
            <a:bodyPr wrap="square" rtlCol="0">
              <a:spAutoFit/>
            </a:bodyPr>
            <a:lstStyle/>
            <a:p>
              <a:pPr>
                <a:spcBef>
                  <a:spcPct val="20000"/>
                </a:spcBef>
              </a:pPr>
              <a:r>
                <a:rPr lang="zh-CN" altLang="zh-CN" sz="2000" b="1" dirty="0">
                  <a:solidFill>
                    <a:srgbClr val="11576A"/>
                  </a:solidFill>
                  <a:latin typeface="微软雅黑" panose="020B0503020204020204" pitchFamily="34" charset="-122"/>
                  <a:ea typeface="微软雅黑" panose="020B0503020204020204" pitchFamily="34" charset="-122"/>
                  <a:sym typeface="MS PGothic" charset="0"/>
                </a:rPr>
                <a:t>W(t, </a:t>
              </a:r>
              <a:r>
                <a:rPr lang="zh-CN" altLang="zh-CN" sz="2000" b="1" dirty="0">
                  <a:solidFill>
                    <a:srgbClr val="11576A"/>
                  </a:solidFill>
                  <a:latin typeface="微软雅黑" panose="020B0503020204020204" pitchFamily="34" charset="-122"/>
                  <a:ea typeface="微软雅黑" panose="020B0503020204020204" pitchFamily="34" charset="-122"/>
                  <a:sym typeface="Symbol" charset="0"/>
                </a:rPr>
                <a:t></a:t>
              </a:r>
              <a:r>
                <a:rPr lang="zh-CN" altLang="zh-CN" sz="2000" b="1" dirty="0">
                  <a:solidFill>
                    <a:srgbClr val="11576A"/>
                  </a:solidFill>
                  <a:latin typeface="微软雅黑" panose="020B0503020204020204" pitchFamily="34" charset="-122"/>
                  <a:ea typeface="微软雅黑" panose="020B0503020204020204" pitchFamily="34" charset="-122"/>
                  <a:sym typeface="MS PGothic" charset="0"/>
                </a:rPr>
                <a:t>)</a:t>
              </a:r>
              <a:r>
                <a:rPr lang="zh-CN" altLang="en-US" sz="2000" b="1" dirty="0">
                  <a:solidFill>
                    <a:srgbClr val="11576A"/>
                  </a:solidFill>
                  <a:latin typeface="微软雅黑" panose="020B0503020204020204" pitchFamily="34" charset="-122"/>
                  <a:ea typeface="微软雅黑" panose="020B0503020204020204" pitchFamily="34" charset="-122"/>
                  <a:sym typeface="MS PGothic" charset="0"/>
                </a:rPr>
                <a:t>是指</a:t>
              </a:r>
              <a:r>
                <a:rPr lang="zh-CN" altLang="zh-CN" sz="2000" b="1" dirty="0">
                  <a:solidFill>
                    <a:srgbClr val="11576A"/>
                  </a:solidFill>
                  <a:latin typeface="微软雅黑" panose="020B0503020204020204" pitchFamily="34" charset="-122"/>
                  <a:ea typeface="微软雅黑" panose="020B0503020204020204" pitchFamily="34" charset="-122"/>
                  <a:sym typeface="MS PGothic" charset="0"/>
                </a:rPr>
                <a:t>在当前时刻 t 前</a:t>
              </a:r>
              <a:r>
                <a:rPr lang="zh-CN" altLang="en-US" sz="2000" b="1" dirty="0">
                  <a:solidFill>
                    <a:srgbClr val="11576A"/>
                  </a:solidFill>
                  <a:latin typeface="微软雅黑" panose="020B0503020204020204" pitchFamily="34" charset="-122"/>
                  <a:ea typeface="微软雅黑" panose="020B0503020204020204" pitchFamily="34" charset="-122"/>
                  <a:sym typeface="MS PGothic" charset="0"/>
                </a:rPr>
                <a:t>的</a:t>
              </a:r>
              <a:r>
                <a:rPr lang="zh-CN" altLang="zh-CN" sz="2000" b="1" dirty="0">
                  <a:solidFill>
                    <a:srgbClr val="11576A"/>
                  </a:solidFill>
                  <a:latin typeface="微软雅黑" panose="020B0503020204020204" pitchFamily="34" charset="-122"/>
                  <a:ea typeface="微软雅黑" panose="020B0503020204020204" pitchFamily="34" charset="-122"/>
                  <a:sym typeface="MS PGothic" charset="0"/>
                </a:rPr>
                <a:t> </a:t>
              </a:r>
              <a:r>
                <a:rPr lang="zh-CN" altLang="zh-CN" sz="2000" b="1" dirty="0">
                  <a:solidFill>
                    <a:srgbClr val="11576A"/>
                  </a:solidFill>
                  <a:latin typeface="微软雅黑" panose="020B0503020204020204" pitchFamily="34" charset="-122"/>
                  <a:ea typeface="微软雅黑" panose="020B0503020204020204" pitchFamily="34" charset="-122"/>
                  <a:sym typeface="Symbol" charset="0"/>
                </a:rPr>
                <a:t>时间窗口中的所有</a:t>
              </a:r>
              <a:r>
                <a:rPr lang="zh-CN" altLang="en-US" sz="2000" b="1" dirty="0">
                  <a:solidFill>
                    <a:srgbClr val="11576A"/>
                  </a:solidFill>
                  <a:latin typeface="微软雅黑" panose="020B0503020204020204" pitchFamily="34" charset="-122"/>
                  <a:ea typeface="微软雅黑" panose="020B0503020204020204" pitchFamily="34" charset="-122"/>
                  <a:sym typeface="Symbol" charset="0"/>
                </a:rPr>
                <a:t>访问</a:t>
              </a:r>
              <a:r>
                <a:rPr lang="zh-CN" altLang="zh-CN" sz="2000" b="1" dirty="0">
                  <a:solidFill>
                    <a:srgbClr val="11576A"/>
                  </a:solidFill>
                  <a:latin typeface="微软雅黑" panose="020B0503020204020204" pitchFamily="34" charset="-122"/>
                  <a:ea typeface="微软雅黑" panose="020B0503020204020204" pitchFamily="34" charset="-122"/>
                  <a:sym typeface="Symbol" charset="0"/>
                </a:rPr>
                <a:t>页面所组成的集合</a:t>
              </a:r>
              <a:endParaRPr lang="zh-CN" altLang="en-US" sz="2000" b="1" dirty="0">
                <a:solidFill>
                  <a:srgbClr val="11576A"/>
                </a:solidFill>
                <a:latin typeface="微软雅黑" panose="020B0503020204020204" pitchFamily="34" charset="-122"/>
                <a:ea typeface="微软雅黑" panose="020B0503020204020204" pitchFamily="34" charset="-122"/>
              </a:endParaRPr>
            </a:p>
          </p:txBody>
        </p:sp>
        <p:sp>
          <p:nvSpPr>
            <p:cNvPr id="15" name="TextBox 14"/>
            <p:cNvSpPr txBox="1"/>
            <p:nvPr/>
          </p:nvSpPr>
          <p:spPr>
            <a:xfrm>
              <a:off x="945560" y="3088500"/>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微软雅黑" pitchFamily="34" charset="-122"/>
                  <a:ea typeface="微软雅黑" pitchFamily="34" charset="-122"/>
                </a:rPr>
                <a:t>■</a:t>
              </a:r>
            </a:p>
          </p:txBody>
        </p:sp>
        <p:sp>
          <p:nvSpPr>
            <p:cNvPr id="16" name="TextBox 15"/>
            <p:cNvSpPr txBox="1"/>
            <p:nvPr/>
          </p:nvSpPr>
          <p:spPr>
            <a:xfrm>
              <a:off x="1285972" y="3065140"/>
              <a:ext cx="5022200" cy="400110"/>
            </a:xfrm>
            <a:prstGeom prst="rect">
              <a:avLst/>
            </a:prstGeom>
            <a:noFill/>
            <a:effectLst/>
          </p:spPr>
          <p:txBody>
            <a:bodyPr wrap="square" rtlCol="0">
              <a:spAutoFit/>
            </a:bodyPr>
            <a:lstStyle/>
            <a:p>
              <a:pPr>
                <a:spcBef>
                  <a:spcPct val="50000"/>
                </a:spcBef>
                <a:buClr>
                  <a:srgbClr val="FFFF66"/>
                </a:buClr>
              </a:pPr>
              <a:r>
                <a:rPr lang="zh-CN" altLang="zh-CN" sz="2000" b="1" dirty="0">
                  <a:solidFill>
                    <a:srgbClr val="11576A"/>
                  </a:solidFill>
                  <a:latin typeface="微软雅黑" panose="020B0503020204020204" pitchFamily="34" charset="-122"/>
                  <a:ea typeface="微软雅黑" panose="020B0503020204020204" pitchFamily="34" charset="-122"/>
                  <a:sym typeface="Symbol" charset="0"/>
                </a:rPr>
                <a:t>| W(t, ) | 指工作集的大小，即页面数目</a:t>
              </a:r>
            </a:p>
          </p:txBody>
        </p:sp>
      </p:grpSp>
      <p:sp>
        <p:nvSpPr>
          <p:cNvPr id="2" name="文本框 1">
            <a:extLst>
              <a:ext uri="{FF2B5EF4-FFF2-40B4-BE49-F238E27FC236}">
                <a16:creationId xmlns:a16="http://schemas.microsoft.com/office/drawing/2014/main" id="{225CD793-357F-F437-370C-2D6572CDAEDA}"/>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B9361267-41CB-60AD-3402-F42D967084D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工作集</a:t>
            </a:r>
          </a:p>
        </p:txBody>
      </p:sp>
    </p:spTree>
    <p:extLst>
      <p:ext uri="{BB962C8B-B14F-4D97-AF65-F5344CB8AC3E}">
        <p14:creationId xmlns:p14="http://schemas.microsoft.com/office/powerpoint/2010/main" val="119811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4"/>
          <p:cNvSpPr>
            <a:spLocks noChangeArrowheads="1"/>
          </p:cNvSpPr>
          <p:nvPr/>
        </p:nvSpPr>
        <p:spPr bwMode="auto">
          <a:xfrm>
            <a:off x="2355846" y="2428868"/>
            <a:ext cx="7801002" cy="400110"/>
          </a:xfrm>
          <a:prstGeom prst="rect">
            <a:avLst/>
          </a:prstGeom>
          <a:noFill/>
          <a:ln>
            <a:noFill/>
          </a:ln>
          <a:effectLst/>
          <a:extLst>
            <a:ext uri="{909E8E84-426E-40dd-AFC4-6F175D3DCCD1}">
              <a14:hiddenFill xmlns=""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r>
              <a:rPr lang="en-US" altLang="zh-CN" sz="2000" b="1" dirty="0">
                <a:solidFill>
                  <a:srgbClr val="11576A"/>
                </a:solidFill>
                <a:latin typeface="微软雅黑" pitchFamily="34" charset="-122"/>
                <a:ea typeface="微软雅黑" pitchFamily="34" charset="-122"/>
                <a:sym typeface="MS PGothic" charset="0"/>
              </a:rPr>
              <a:t>2 6 1 5 7 7 7 7 5 1 6 2 3 4 1 2 3 4 4 4 3 4 3 4 4 4 1 3 2 7 </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41" name="TextBox 40"/>
          <p:cNvSpPr txBox="1"/>
          <p:nvPr/>
        </p:nvSpPr>
        <p:spPr>
          <a:xfrm>
            <a:off x="2381224" y="1892944"/>
            <a:ext cx="208848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微软雅黑" pitchFamily="34" charset="-122"/>
                <a:ea typeface="微软雅黑" pitchFamily="34" charset="-122"/>
                <a:sym typeface="MS PGothic" charset="0"/>
              </a:rPr>
              <a:t>页面访问顺序：</a:t>
            </a:r>
            <a:endParaRPr lang="zh-CN" altLang="en-US" sz="2000" b="1" dirty="0">
              <a:solidFill>
                <a:srgbClr val="11576A"/>
              </a:solidFill>
              <a:latin typeface="微软雅黑" pitchFamily="34" charset="-122"/>
              <a:ea typeface="微软雅黑" pitchFamily="34" charset="-122"/>
            </a:endParaRPr>
          </a:p>
        </p:txBody>
      </p:sp>
      <p:grpSp>
        <p:nvGrpSpPr>
          <p:cNvPr id="6" name="组合 5">
            <a:extLst>
              <a:ext uri="{FF2B5EF4-FFF2-40B4-BE49-F238E27FC236}">
                <a16:creationId xmlns:a16="http://schemas.microsoft.com/office/drawing/2014/main" id="{5F4F8054-C71F-42C6-B1A0-4B32D73233AF}"/>
              </a:ext>
            </a:extLst>
          </p:cNvPr>
          <p:cNvGrpSpPr/>
          <p:nvPr/>
        </p:nvGrpSpPr>
        <p:grpSpPr>
          <a:xfrm>
            <a:off x="3683762" y="2678448"/>
            <a:ext cx="2143140" cy="1580263"/>
            <a:chOff x="3683762" y="2678448"/>
            <a:chExt cx="2143140" cy="1580263"/>
          </a:xfrm>
        </p:grpSpPr>
        <p:sp>
          <p:nvSpPr>
            <p:cNvPr id="38" name="矩形 37"/>
            <p:cNvSpPr/>
            <p:nvPr/>
          </p:nvSpPr>
          <p:spPr>
            <a:xfrm>
              <a:off x="4551986" y="2815402"/>
              <a:ext cx="432000" cy="576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0" name="直接箭头连接符 49"/>
            <p:cNvCxnSpPr/>
            <p:nvPr/>
          </p:nvCxnSpPr>
          <p:spPr>
            <a:xfrm>
              <a:off x="3683762" y="3503390"/>
              <a:ext cx="2143140" cy="1588"/>
            </a:xfrm>
            <a:prstGeom prst="straightConnector1">
              <a:avLst/>
            </a:prstGeom>
            <a:ln w="28575">
              <a:solidFill>
                <a:srgbClr val="11576A"/>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4276563" y="3682711"/>
              <a:ext cx="432000" cy="576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Rectangle 4"/>
            <p:cNvSpPr>
              <a:spLocks noChangeArrowheads="1"/>
            </p:cNvSpPr>
            <p:nvPr/>
          </p:nvSpPr>
          <p:spPr bwMode="auto">
            <a:xfrm>
              <a:off x="4551986" y="2762538"/>
              <a:ext cx="375424" cy="646331"/>
            </a:xfrm>
            <a:prstGeom prst="rect">
              <a:avLst/>
            </a:prstGeom>
            <a:noFill/>
            <a:ln>
              <a:noFill/>
            </a:ln>
            <a:effectLst/>
            <a:extLst>
              <a:ext uri="{909E8E84-426E-40dd-AFC4-6F175D3DCCD1}">
                <a14:hiddenFill xmlns=""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spcBef>
                  <a:spcPct val="0"/>
                </a:spcBef>
                <a:buClrTx/>
                <a:buSzTx/>
                <a:defRPr/>
              </a:pPr>
              <a:r>
                <a:rPr lang="zh-CN" altLang="zh-CN" sz="3600" b="1" dirty="0">
                  <a:solidFill>
                    <a:schemeClr val="bg1"/>
                  </a:solidFill>
                  <a:latin typeface="微软雅黑" pitchFamily="34" charset="-122"/>
                  <a:ea typeface="微软雅黑" pitchFamily="34" charset="-122"/>
                </a:rPr>
                <a:t>t</a:t>
              </a:r>
              <a:endParaRPr lang="zh-CN" altLang="zh-CN" sz="3600" b="1" baseline="-25000" dirty="0">
                <a:solidFill>
                  <a:schemeClr val="bg1"/>
                </a:solidFill>
                <a:latin typeface="微软雅黑" pitchFamily="34" charset="-122"/>
                <a:ea typeface="微软雅黑" pitchFamily="34" charset="-122"/>
              </a:endParaRPr>
            </a:p>
          </p:txBody>
        </p:sp>
        <p:cxnSp>
          <p:nvCxnSpPr>
            <p:cNvPr id="52" name="直接箭头连接符 51"/>
            <p:cNvCxnSpPr/>
            <p:nvPr/>
          </p:nvCxnSpPr>
          <p:spPr>
            <a:xfrm rot="5400000" flipH="1" flipV="1">
              <a:off x="4362517" y="3064886"/>
              <a:ext cx="776340" cy="3463"/>
            </a:xfrm>
            <a:prstGeom prst="straightConnector1">
              <a:avLst/>
            </a:prstGeom>
            <a:ln w="28575">
              <a:solidFill>
                <a:srgbClr val="11576A"/>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4"/>
            <p:cNvSpPr>
              <a:spLocks noChangeArrowheads="1"/>
            </p:cNvSpPr>
            <p:nvPr/>
          </p:nvSpPr>
          <p:spPr bwMode="auto">
            <a:xfrm>
              <a:off x="4223792" y="3573016"/>
              <a:ext cx="466794" cy="646331"/>
            </a:xfrm>
            <a:prstGeom prst="rect">
              <a:avLst/>
            </a:prstGeom>
            <a:noFill/>
            <a:ln>
              <a:noFill/>
            </a:ln>
            <a:effectLst/>
            <a:extLst>
              <a:ext uri="{909E8E84-426E-40dd-AFC4-6F175D3DCCD1}">
                <a14:hiddenFill xmlns=""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zh-CN" altLang="en-US" sz="3600" b="1" dirty="0">
                  <a:solidFill>
                    <a:schemeClr val="bg1"/>
                  </a:solidFill>
                  <a:latin typeface="微软雅黑" pitchFamily="34" charset="-122"/>
                  <a:ea typeface="微软雅黑" pitchFamily="34" charset="-122"/>
                  <a:sym typeface="Symbol" charset="0"/>
                </a:rPr>
                <a:t></a:t>
              </a:r>
            </a:p>
          </p:txBody>
        </p:sp>
      </p:grpSp>
      <p:sp>
        <p:nvSpPr>
          <p:cNvPr id="44" name="TextBox 41"/>
          <p:cNvSpPr txBox="1"/>
          <p:nvPr/>
        </p:nvSpPr>
        <p:spPr>
          <a:xfrm>
            <a:off x="4551988" y="2109194"/>
            <a:ext cx="406689"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0070C0"/>
                </a:solidFill>
                <a:latin typeface="微软雅黑" pitchFamily="34" charset="-122"/>
                <a:ea typeface="微软雅黑" pitchFamily="34" charset="-122"/>
                <a:sym typeface="MS PGothic" charset="0"/>
              </a:rPr>
              <a:t>t</a:t>
            </a:r>
            <a:r>
              <a:rPr lang="en-US" altLang="zh-CN" sz="2000" b="1" baseline="-25000" dirty="0">
                <a:solidFill>
                  <a:srgbClr val="0070C0"/>
                </a:solidFill>
                <a:latin typeface="微软雅黑" pitchFamily="34" charset="-122"/>
                <a:ea typeface="微软雅黑" pitchFamily="34" charset="-122"/>
                <a:sym typeface="MS PGothic" charset="0"/>
              </a:rPr>
              <a:t>1</a:t>
            </a:r>
          </a:p>
        </p:txBody>
      </p:sp>
      <p:sp>
        <p:nvSpPr>
          <p:cNvPr id="45" name="TextBox 41"/>
          <p:cNvSpPr txBox="1"/>
          <p:nvPr/>
        </p:nvSpPr>
        <p:spPr>
          <a:xfrm>
            <a:off x="8286668" y="2122770"/>
            <a:ext cx="406689"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0070C0"/>
                </a:solidFill>
                <a:latin typeface="微软雅黑" pitchFamily="34" charset="-122"/>
                <a:ea typeface="微软雅黑" pitchFamily="34" charset="-122"/>
                <a:sym typeface="MS PGothic" charset="0"/>
              </a:rPr>
              <a:t>t</a:t>
            </a:r>
            <a:r>
              <a:rPr lang="en-US" altLang="zh-CN" sz="2000" b="1" baseline="-25000" dirty="0">
                <a:solidFill>
                  <a:srgbClr val="0070C0"/>
                </a:solidFill>
                <a:latin typeface="微软雅黑" pitchFamily="34" charset="-122"/>
                <a:ea typeface="微软雅黑" pitchFamily="34" charset="-122"/>
                <a:sym typeface="MS PGothic" charset="0"/>
              </a:rPr>
              <a:t>2</a:t>
            </a:r>
          </a:p>
        </p:txBody>
      </p:sp>
      <p:sp>
        <p:nvSpPr>
          <p:cNvPr id="2" name="文本框 1">
            <a:extLst>
              <a:ext uri="{FF2B5EF4-FFF2-40B4-BE49-F238E27FC236}">
                <a16:creationId xmlns:a16="http://schemas.microsoft.com/office/drawing/2014/main" id="{9A02F3D9-D874-4FAD-FCD5-2B071A4D820F}"/>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369626E3-BD1E-78DE-8901-D305E0652B7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进程的工作集示例</a:t>
            </a:r>
          </a:p>
        </p:txBody>
      </p:sp>
    </p:spTree>
    <p:extLst>
      <p:ext uri="{BB962C8B-B14F-4D97-AF65-F5344CB8AC3E}">
        <p14:creationId xmlns:p14="http://schemas.microsoft.com/office/powerpoint/2010/main" val="136517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3.95833E-6 2.96296E-6 L 0.30378 -0.00093 " pathEditMode="relative" rAng="0" ptsTypes="AA">
                                      <p:cBhvr>
                                        <p:cTn id="14" dur="3000" fill="hold"/>
                                        <p:tgtEl>
                                          <p:spTgt spid="6"/>
                                        </p:tgtEl>
                                        <p:attrNameLst>
                                          <p:attrName>ppt_x</p:attrName>
                                          <p:attrName>ppt_y</p:attrName>
                                        </p:attrNameLst>
                                      </p:cBhvr>
                                      <p:rCtr x="15182"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4"/>
          <p:cNvSpPr>
            <a:spLocks noChangeArrowheads="1"/>
          </p:cNvSpPr>
          <p:nvPr/>
        </p:nvSpPr>
        <p:spPr bwMode="auto">
          <a:xfrm>
            <a:off x="2355846" y="2428868"/>
            <a:ext cx="7801002" cy="400110"/>
          </a:xfrm>
          <a:prstGeom prst="rect">
            <a:avLst/>
          </a:prstGeom>
          <a:noFill/>
          <a:ln>
            <a:noFill/>
          </a:ln>
          <a:effectLst/>
          <a:extLst>
            <a:ext uri="{909E8E84-426E-40dd-AFC4-6F175D3DCCD1}">
              <a14:hiddenFill xmlns=""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r>
              <a:rPr lang="en-US" altLang="zh-CN" sz="2000" b="1" dirty="0">
                <a:solidFill>
                  <a:srgbClr val="11576A"/>
                </a:solidFill>
                <a:latin typeface="微软雅黑" pitchFamily="34" charset="-122"/>
                <a:ea typeface="微软雅黑" pitchFamily="34" charset="-122"/>
                <a:sym typeface="MS PGothic" charset="0"/>
              </a:rPr>
              <a:t>2 6 1 5 7 7 7 7 5 1 6 2 3 4 1 2 3 4 4 4 3 4 3 4 4 4 1 3 2 7 </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41" name="TextBox 40"/>
          <p:cNvSpPr txBox="1"/>
          <p:nvPr/>
        </p:nvSpPr>
        <p:spPr>
          <a:xfrm>
            <a:off x="2381224" y="1892944"/>
            <a:ext cx="208848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微软雅黑" pitchFamily="34" charset="-122"/>
                <a:ea typeface="微软雅黑" pitchFamily="34" charset="-122"/>
                <a:sym typeface="MS PGothic" charset="0"/>
              </a:rPr>
              <a:t>页面访问顺序：</a:t>
            </a:r>
            <a:endParaRPr lang="zh-CN" altLang="en-US" sz="2000" b="1" dirty="0">
              <a:solidFill>
                <a:srgbClr val="11576A"/>
              </a:solidFill>
              <a:latin typeface="微软雅黑" pitchFamily="34" charset="-122"/>
              <a:ea typeface="微软雅黑" pitchFamily="34" charset="-122"/>
            </a:endParaRPr>
          </a:p>
        </p:txBody>
      </p:sp>
      <p:sp>
        <p:nvSpPr>
          <p:cNvPr id="42" name="TextBox 41"/>
          <p:cNvSpPr txBox="1"/>
          <p:nvPr/>
        </p:nvSpPr>
        <p:spPr>
          <a:xfrm>
            <a:off x="2381224" y="4149080"/>
            <a:ext cx="458881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微软雅黑" pitchFamily="34" charset="-122"/>
                <a:ea typeface="微软雅黑" pitchFamily="34" charset="-122"/>
                <a:sym typeface="MS PGothic" charset="0"/>
              </a:rPr>
              <a:t>如果 </a:t>
            </a:r>
            <a:r>
              <a:rPr lang="zh-CN" altLang="en-US" sz="2000" b="1" dirty="0">
                <a:solidFill>
                  <a:srgbClr val="11576A"/>
                </a:solidFill>
                <a:latin typeface="微软雅黑" pitchFamily="34" charset="-122"/>
                <a:ea typeface="微软雅黑" pitchFamily="34" charset="-122"/>
                <a:sym typeface="Symbol" charset="0"/>
              </a:rPr>
              <a:t> 时间窗口的长度为</a:t>
            </a:r>
            <a:r>
              <a:rPr lang="en-US" altLang="zh-CN" sz="2000" b="1" dirty="0">
                <a:solidFill>
                  <a:srgbClr val="11576A"/>
                </a:solidFill>
                <a:latin typeface="微软雅黑" pitchFamily="34" charset="-122"/>
                <a:ea typeface="微软雅黑" pitchFamily="34" charset="-122"/>
                <a:sym typeface="Symbol" charset="0"/>
              </a:rPr>
              <a:t>10</a:t>
            </a:r>
            <a:r>
              <a:rPr lang="zh-CN" altLang="en-US" sz="2000" b="1" dirty="0">
                <a:solidFill>
                  <a:srgbClr val="11576A"/>
                </a:solidFill>
                <a:latin typeface="微软雅黑" pitchFamily="34" charset="-122"/>
                <a:ea typeface="微软雅黑" pitchFamily="34" charset="-122"/>
                <a:sym typeface="Symbol" charset="0"/>
              </a:rPr>
              <a:t>，那么：</a:t>
            </a:r>
            <a:endParaRPr lang="zh-CN" altLang="en-US" sz="2000" b="1" dirty="0">
              <a:solidFill>
                <a:srgbClr val="11576A"/>
              </a:solidFill>
              <a:latin typeface="微软雅黑" pitchFamily="34" charset="-122"/>
              <a:ea typeface="微软雅黑" pitchFamily="34" charset="-122"/>
              <a:sym typeface="MS PGothic" charset="0"/>
            </a:endParaRPr>
          </a:p>
        </p:txBody>
      </p:sp>
      <p:grpSp>
        <p:nvGrpSpPr>
          <p:cNvPr id="5" name="组合 4"/>
          <p:cNvGrpSpPr/>
          <p:nvPr/>
        </p:nvGrpSpPr>
        <p:grpSpPr>
          <a:xfrm>
            <a:off x="2394965" y="2678448"/>
            <a:ext cx="2563710" cy="1379537"/>
            <a:chOff x="925965" y="1821196"/>
            <a:chExt cx="2563710" cy="1379537"/>
          </a:xfrm>
        </p:grpSpPr>
        <p:grpSp>
          <p:nvGrpSpPr>
            <p:cNvPr id="4" name="组合 3"/>
            <p:cNvGrpSpPr/>
            <p:nvPr/>
          </p:nvGrpSpPr>
          <p:grpSpPr>
            <a:xfrm>
              <a:off x="925965" y="1821196"/>
              <a:ext cx="2563710" cy="1379537"/>
              <a:chOff x="928662" y="1775455"/>
              <a:chExt cx="2563710" cy="1379537"/>
            </a:xfrm>
          </p:grpSpPr>
          <p:sp>
            <p:nvSpPr>
              <p:cNvPr id="38" name="矩形 37"/>
              <p:cNvSpPr/>
              <p:nvPr/>
            </p:nvSpPr>
            <p:spPr>
              <a:xfrm>
                <a:off x="3060372" y="2548890"/>
                <a:ext cx="432000" cy="576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0" name="直接箭头连接符 49"/>
              <p:cNvCxnSpPr/>
              <p:nvPr/>
            </p:nvCxnSpPr>
            <p:spPr>
              <a:xfrm>
                <a:off x="928662" y="2570162"/>
                <a:ext cx="2143140" cy="1588"/>
              </a:xfrm>
              <a:prstGeom prst="straightConnector1">
                <a:avLst/>
              </a:prstGeom>
              <a:ln w="28575">
                <a:solidFill>
                  <a:srgbClr val="11576A"/>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1958954" y="2172150"/>
                <a:ext cx="432000" cy="576000"/>
              </a:xfrm>
              <a:prstGeom prst="rect">
                <a:avLst/>
              </a:prstGeom>
              <a:gradFill>
                <a:gsLst>
                  <a:gs pos="100000">
                    <a:srgbClr val="11576A"/>
                  </a:gs>
                  <a:gs pos="0">
                    <a:srgbClr val="0EB1C8"/>
                  </a:gs>
                  <a:gs pos="100000">
                    <a:schemeClr val="accent1">
                      <a:tint val="23500"/>
                      <a:satMod val="160000"/>
                    </a:schemeClr>
                  </a:gs>
                </a:gsLst>
                <a:lin ang="5400000" scaled="0"/>
              </a:gra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Rectangle 4"/>
              <p:cNvSpPr>
                <a:spLocks noChangeArrowheads="1"/>
              </p:cNvSpPr>
              <p:nvPr/>
            </p:nvSpPr>
            <p:spPr bwMode="auto">
              <a:xfrm>
                <a:off x="3085683" y="2508661"/>
                <a:ext cx="375424" cy="646331"/>
              </a:xfrm>
              <a:prstGeom prst="rect">
                <a:avLst/>
              </a:prstGeom>
              <a:noFill/>
              <a:ln>
                <a:noFill/>
              </a:ln>
              <a:effectLst/>
              <a:extLst>
                <a:ext uri="{909E8E84-426E-40dd-AFC4-6F175D3DCCD1}">
                  <a14:hiddenFill xmlns=""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pPr>
                  <a:spcBef>
                    <a:spcPct val="0"/>
                  </a:spcBef>
                  <a:buClrTx/>
                  <a:buSzTx/>
                  <a:defRPr/>
                </a:pPr>
                <a:r>
                  <a:rPr lang="zh-CN" altLang="zh-CN" sz="3600" b="1" dirty="0">
                    <a:solidFill>
                      <a:schemeClr val="bg1"/>
                    </a:solidFill>
                    <a:latin typeface="微软雅黑" pitchFamily="34" charset="-122"/>
                    <a:ea typeface="微软雅黑" pitchFamily="34" charset="-122"/>
                  </a:rPr>
                  <a:t>t</a:t>
                </a:r>
                <a:endParaRPr lang="zh-CN" altLang="zh-CN" sz="3600" b="1" baseline="-25000" dirty="0">
                  <a:solidFill>
                    <a:schemeClr val="bg1"/>
                  </a:solidFill>
                  <a:latin typeface="微软雅黑" pitchFamily="34" charset="-122"/>
                  <a:ea typeface="微软雅黑" pitchFamily="34" charset="-122"/>
                </a:endParaRPr>
              </a:p>
            </p:txBody>
          </p:sp>
          <p:cxnSp>
            <p:nvCxnSpPr>
              <p:cNvPr id="52" name="直接箭头连接符 51"/>
              <p:cNvCxnSpPr/>
              <p:nvPr/>
            </p:nvCxnSpPr>
            <p:spPr>
              <a:xfrm rot="5400000" flipH="1" flipV="1">
                <a:off x="2896214" y="2161893"/>
                <a:ext cx="776340" cy="3463"/>
              </a:xfrm>
              <a:prstGeom prst="straightConnector1">
                <a:avLst/>
              </a:prstGeom>
              <a:ln w="28575">
                <a:solidFill>
                  <a:srgbClr val="11576A"/>
                </a:solidFill>
                <a:tailEnd type="arrow"/>
              </a:ln>
            </p:spPr>
            <p:style>
              <a:lnRef idx="1">
                <a:schemeClr val="accent1"/>
              </a:lnRef>
              <a:fillRef idx="0">
                <a:schemeClr val="accent1"/>
              </a:fillRef>
              <a:effectRef idx="0">
                <a:schemeClr val="accent1"/>
              </a:effectRef>
              <a:fontRef idx="minor">
                <a:schemeClr val="tx1"/>
              </a:fontRef>
            </p:style>
          </p:cxnSp>
        </p:grpSp>
        <p:sp>
          <p:nvSpPr>
            <p:cNvPr id="24" name="Rectangle 4"/>
            <p:cNvSpPr>
              <a:spLocks noChangeArrowheads="1"/>
            </p:cNvSpPr>
            <p:nvPr/>
          </p:nvSpPr>
          <p:spPr bwMode="auto">
            <a:xfrm>
              <a:off x="1928794" y="2143122"/>
              <a:ext cx="466794" cy="646331"/>
            </a:xfrm>
            <a:prstGeom prst="rect">
              <a:avLst/>
            </a:prstGeom>
            <a:noFill/>
            <a:ln>
              <a:noFill/>
            </a:ln>
            <a:effectLst/>
            <a:extLst>
              <a:ext uri="{909E8E84-426E-40dd-AFC4-6F175D3DCCD1}">
                <a14:hiddenFill xmlns=""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spAutoFit/>
            </a:bodyPr>
            <a:lstStyle/>
            <a:p>
              <a:r>
                <a:rPr lang="zh-CN" altLang="en-US" sz="3600" b="1" dirty="0">
                  <a:solidFill>
                    <a:schemeClr val="bg1"/>
                  </a:solidFill>
                  <a:latin typeface="微软雅黑" pitchFamily="34" charset="-122"/>
                  <a:ea typeface="微软雅黑" pitchFamily="34" charset="-122"/>
                  <a:sym typeface="Symbol" charset="0"/>
                </a:rPr>
                <a:t></a:t>
              </a:r>
            </a:p>
          </p:txBody>
        </p:sp>
      </p:grpSp>
      <p:sp>
        <p:nvSpPr>
          <p:cNvPr id="31" name="TextBox 41"/>
          <p:cNvSpPr txBox="1"/>
          <p:nvPr/>
        </p:nvSpPr>
        <p:spPr>
          <a:xfrm>
            <a:off x="2491275" y="5010063"/>
            <a:ext cx="458881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W(t</a:t>
            </a:r>
            <a:r>
              <a:rPr lang="en-US" altLang="zh-CN" sz="2000" b="1" baseline="-25000" dirty="0">
                <a:solidFill>
                  <a:srgbClr val="11576A"/>
                </a:solidFill>
                <a:latin typeface="微软雅黑" pitchFamily="34" charset="-122"/>
                <a:ea typeface="微软雅黑" pitchFamily="34" charset="-122"/>
                <a:sym typeface="MS PGothic" charset="0"/>
              </a:rPr>
              <a:t>1</a:t>
            </a:r>
            <a:r>
              <a:rPr lang="en-US" altLang="zh-CN" sz="2000" b="1" dirty="0">
                <a:solidFill>
                  <a:srgbClr val="11576A"/>
                </a:solidFill>
                <a:latin typeface="微软雅黑" pitchFamily="34" charset="-122"/>
                <a:ea typeface="微软雅黑" pitchFamily="34" charset="-122"/>
                <a:sym typeface="MS PGothic" charset="0"/>
              </a:rPr>
              <a:t>, </a:t>
            </a:r>
            <a:r>
              <a:rPr lang="zh-CN" altLang="en-US" sz="2000" b="1" dirty="0">
                <a:solidFill>
                  <a:srgbClr val="11576A"/>
                </a:solidFill>
                <a:latin typeface="微软雅黑" pitchFamily="34" charset="-122"/>
                <a:ea typeface="微软雅黑" pitchFamily="34" charset="-122"/>
                <a:sym typeface="Symbol" charset="0"/>
              </a:rPr>
              <a:t></a:t>
            </a:r>
            <a:r>
              <a:rPr lang="en-US" altLang="zh-CN" sz="2000" b="1" dirty="0">
                <a:solidFill>
                  <a:srgbClr val="11576A"/>
                </a:solidFill>
                <a:latin typeface="微软雅黑" pitchFamily="34" charset="-122"/>
                <a:ea typeface="微软雅黑" pitchFamily="34" charset="-122"/>
                <a:sym typeface="MS PGothic" charset="0"/>
              </a:rPr>
              <a:t>) = {1, 2, 5, 6, 7}</a:t>
            </a:r>
          </a:p>
        </p:txBody>
      </p:sp>
      <p:sp>
        <p:nvSpPr>
          <p:cNvPr id="32" name="TextBox 41"/>
          <p:cNvSpPr txBox="1"/>
          <p:nvPr/>
        </p:nvSpPr>
        <p:spPr>
          <a:xfrm>
            <a:off x="2491275" y="5382236"/>
            <a:ext cx="458881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W(t</a:t>
            </a:r>
            <a:r>
              <a:rPr lang="en-US" altLang="zh-CN" sz="2000" b="1" baseline="-25000" dirty="0">
                <a:solidFill>
                  <a:srgbClr val="11576A"/>
                </a:solidFill>
                <a:latin typeface="微软雅黑" pitchFamily="34" charset="-122"/>
                <a:ea typeface="微软雅黑" pitchFamily="34" charset="-122"/>
                <a:sym typeface="MS PGothic" charset="0"/>
              </a:rPr>
              <a:t>2</a:t>
            </a:r>
            <a:r>
              <a:rPr lang="en-US" altLang="zh-CN" sz="2000" b="1" dirty="0">
                <a:solidFill>
                  <a:srgbClr val="11576A"/>
                </a:solidFill>
                <a:latin typeface="微软雅黑" pitchFamily="34" charset="-122"/>
                <a:ea typeface="微软雅黑" pitchFamily="34" charset="-122"/>
                <a:sym typeface="MS PGothic" charset="0"/>
              </a:rPr>
              <a:t>, </a:t>
            </a:r>
            <a:r>
              <a:rPr lang="zh-CN" altLang="en-US" sz="2000" b="1" dirty="0">
                <a:solidFill>
                  <a:srgbClr val="11576A"/>
                </a:solidFill>
                <a:latin typeface="微软雅黑" pitchFamily="34" charset="-122"/>
                <a:ea typeface="微软雅黑" pitchFamily="34" charset="-122"/>
                <a:sym typeface="Symbol" charset="0"/>
              </a:rPr>
              <a:t></a:t>
            </a:r>
            <a:r>
              <a:rPr lang="en-US" altLang="zh-CN" sz="2000" b="1" dirty="0">
                <a:solidFill>
                  <a:srgbClr val="11576A"/>
                </a:solidFill>
                <a:latin typeface="微软雅黑" pitchFamily="34" charset="-122"/>
                <a:ea typeface="微软雅黑" pitchFamily="34" charset="-122"/>
                <a:sym typeface="MS PGothic" charset="0"/>
              </a:rPr>
              <a:t>) = {3, 4}</a:t>
            </a:r>
            <a:endParaRPr lang="zh-CN" altLang="en-US" sz="2000" b="1" dirty="0">
              <a:solidFill>
                <a:srgbClr val="11576A"/>
              </a:solidFill>
              <a:latin typeface="微软雅黑" pitchFamily="34" charset="-122"/>
              <a:ea typeface="微软雅黑" pitchFamily="34" charset="-122"/>
              <a:sym typeface="MS PGothic" charset="0"/>
            </a:endParaRPr>
          </a:p>
        </p:txBody>
      </p:sp>
      <p:sp>
        <p:nvSpPr>
          <p:cNvPr id="33" name="TextBox 41"/>
          <p:cNvSpPr txBox="1"/>
          <p:nvPr/>
        </p:nvSpPr>
        <p:spPr>
          <a:xfrm>
            <a:off x="3843507" y="4530044"/>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2, 5, 6, 7}  </a:t>
            </a:r>
          </a:p>
        </p:txBody>
      </p:sp>
      <p:sp>
        <p:nvSpPr>
          <p:cNvPr id="34" name="TextBox 41"/>
          <p:cNvSpPr txBox="1"/>
          <p:nvPr/>
        </p:nvSpPr>
        <p:spPr>
          <a:xfrm>
            <a:off x="3842781" y="4529444"/>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5, 6, 7}  </a:t>
            </a:r>
          </a:p>
        </p:txBody>
      </p:sp>
      <p:sp>
        <p:nvSpPr>
          <p:cNvPr id="40" name="TextBox 41"/>
          <p:cNvSpPr txBox="1"/>
          <p:nvPr/>
        </p:nvSpPr>
        <p:spPr>
          <a:xfrm>
            <a:off x="3842055" y="4529444"/>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2, 5, 6, 7}  </a:t>
            </a:r>
          </a:p>
        </p:txBody>
      </p:sp>
      <p:sp>
        <p:nvSpPr>
          <p:cNvPr id="43" name="TextBox 41"/>
          <p:cNvSpPr txBox="1"/>
          <p:nvPr/>
        </p:nvSpPr>
        <p:spPr>
          <a:xfrm>
            <a:off x="3841329" y="4528167"/>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2, 3, 5, 6, 7}  </a:t>
            </a:r>
          </a:p>
        </p:txBody>
      </p:sp>
      <p:sp>
        <p:nvSpPr>
          <p:cNvPr id="46" name="TextBox 41"/>
          <p:cNvSpPr txBox="1"/>
          <p:nvPr/>
        </p:nvSpPr>
        <p:spPr>
          <a:xfrm>
            <a:off x="3841329" y="4528167"/>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2, 3, 4, 5, 6, 7}  </a:t>
            </a:r>
          </a:p>
        </p:txBody>
      </p:sp>
      <p:sp>
        <p:nvSpPr>
          <p:cNvPr id="51" name="TextBox 41"/>
          <p:cNvSpPr txBox="1"/>
          <p:nvPr/>
        </p:nvSpPr>
        <p:spPr>
          <a:xfrm>
            <a:off x="3841329" y="4526267"/>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2, 3, 4, 5, 6}  </a:t>
            </a:r>
          </a:p>
        </p:txBody>
      </p:sp>
      <p:sp>
        <p:nvSpPr>
          <p:cNvPr id="55" name="TextBox 41"/>
          <p:cNvSpPr txBox="1"/>
          <p:nvPr/>
        </p:nvSpPr>
        <p:spPr>
          <a:xfrm>
            <a:off x="3841329" y="4528529"/>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2, 3, 4, 6}  </a:t>
            </a:r>
          </a:p>
        </p:txBody>
      </p:sp>
      <p:sp>
        <p:nvSpPr>
          <p:cNvPr id="57" name="TextBox 41"/>
          <p:cNvSpPr txBox="1"/>
          <p:nvPr/>
        </p:nvSpPr>
        <p:spPr>
          <a:xfrm>
            <a:off x="3841851" y="4527865"/>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{1, 2, 3, 4}  </a:t>
            </a:r>
          </a:p>
        </p:txBody>
      </p:sp>
      <p:sp>
        <p:nvSpPr>
          <p:cNvPr id="58" name="TextBox 41"/>
          <p:cNvSpPr txBox="1"/>
          <p:nvPr/>
        </p:nvSpPr>
        <p:spPr>
          <a:xfrm>
            <a:off x="3839151" y="4524367"/>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{2, 3, 4}  </a:t>
            </a:r>
          </a:p>
        </p:txBody>
      </p:sp>
      <p:sp>
        <p:nvSpPr>
          <p:cNvPr id="59" name="TextBox 41"/>
          <p:cNvSpPr txBox="1"/>
          <p:nvPr/>
        </p:nvSpPr>
        <p:spPr>
          <a:xfrm>
            <a:off x="3839151" y="4524533"/>
            <a:ext cx="300724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{3, 4}  </a:t>
            </a:r>
          </a:p>
        </p:txBody>
      </p:sp>
      <p:sp>
        <p:nvSpPr>
          <p:cNvPr id="39" name="TextBox 41"/>
          <p:cNvSpPr txBox="1"/>
          <p:nvPr/>
        </p:nvSpPr>
        <p:spPr>
          <a:xfrm>
            <a:off x="2491275" y="4518856"/>
            <a:ext cx="4588810"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11576A"/>
                </a:solidFill>
                <a:latin typeface="微软雅黑" pitchFamily="34" charset="-122"/>
                <a:ea typeface="微软雅黑" pitchFamily="34" charset="-122"/>
                <a:sym typeface="MS PGothic" charset="0"/>
              </a:rPr>
              <a:t>W(t, </a:t>
            </a:r>
            <a:r>
              <a:rPr lang="zh-CN" altLang="en-US" sz="2000" b="1" dirty="0">
                <a:solidFill>
                  <a:srgbClr val="11576A"/>
                </a:solidFill>
                <a:latin typeface="微软雅黑" pitchFamily="34" charset="-122"/>
                <a:ea typeface="微软雅黑" pitchFamily="34" charset="-122"/>
                <a:sym typeface="Symbol" charset="0"/>
              </a:rPr>
              <a:t></a:t>
            </a:r>
            <a:r>
              <a:rPr lang="en-US" altLang="zh-CN" sz="2000" b="1" dirty="0">
                <a:solidFill>
                  <a:srgbClr val="11576A"/>
                </a:solidFill>
                <a:latin typeface="微软雅黑" pitchFamily="34" charset="-122"/>
                <a:ea typeface="微软雅黑" pitchFamily="34" charset="-122"/>
                <a:sym typeface="MS PGothic" charset="0"/>
              </a:rPr>
              <a:t>) =</a:t>
            </a:r>
          </a:p>
        </p:txBody>
      </p:sp>
      <p:sp>
        <p:nvSpPr>
          <p:cNvPr id="44" name="TextBox 41"/>
          <p:cNvSpPr txBox="1"/>
          <p:nvPr/>
        </p:nvSpPr>
        <p:spPr>
          <a:xfrm>
            <a:off x="4551988" y="2109194"/>
            <a:ext cx="406689"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0070C0"/>
                </a:solidFill>
                <a:latin typeface="微软雅黑" pitchFamily="34" charset="-122"/>
                <a:ea typeface="微软雅黑" pitchFamily="34" charset="-122"/>
                <a:sym typeface="MS PGothic" charset="0"/>
              </a:rPr>
              <a:t>t</a:t>
            </a:r>
            <a:r>
              <a:rPr lang="en-US" altLang="zh-CN" sz="2000" b="1" baseline="-25000" dirty="0">
                <a:solidFill>
                  <a:srgbClr val="0070C0"/>
                </a:solidFill>
                <a:latin typeface="微软雅黑" pitchFamily="34" charset="-122"/>
                <a:ea typeface="微软雅黑" pitchFamily="34" charset="-122"/>
                <a:sym typeface="MS PGothic" charset="0"/>
              </a:rPr>
              <a:t>1</a:t>
            </a:r>
          </a:p>
        </p:txBody>
      </p:sp>
      <p:sp>
        <p:nvSpPr>
          <p:cNvPr id="45" name="TextBox 41"/>
          <p:cNvSpPr txBox="1"/>
          <p:nvPr/>
        </p:nvSpPr>
        <p:spPr>
          <a:xfrm>
            <a:off x="8286668" y="2122770"/>
            <a:ext cx="406689" cy="400110"/>
          </a:xfrm>
          <a:prstGeom prst="rect">
            <a:avLst/>
          </a:prstGeom>
          <a:noFill/>
          <a:effectLst/>
        </p:spPr>
        <p:txBody>
          <a:bodyPr wrap="square" rtlCol="0">
            <a:spAutoFit/>
          </a:bodyPr>
          <a:lstStyle/>
          <a:p>
            <a:pPr marL="342900" indent="-342900">
              <a:spcBef>
                <a:spcPct val="20000"/>
              </a:spcBef>
            </a:pPr>
            <a:r>
              <a:rPr lang="en-US" altLang="zh-CN" sz="2000" b="1" dirty="0">
                <a:solidFill>
                  <a:srgbClr val="0070C0"/>
                </a:solidFill>
                <a:latin typeface="微软雅黑" pitchFamily="34" charset="-122"/>
                <a:ea typeface="微软雅黑" pitchFamily="34" charset="-122"/>
                <a:sym typeface="MS PGothic" charset="0"/>
              </a:rPr>
              <a:t>t</a:t>
            </a:r>
            <a:r>
              <a:rPr lang="en-US" altLang="zh-CN" sz="2000" b="1" baseline="-25000" dirty="0">
                <a:solidFill>
                  <a:srgbClr val="0070C0"/>
                </a:solidFill>
                <a:latin typeface="微软雅黑" pitchFamily="34" charset="-122"/>
                <a:ea typeface="微软雅黑" pitchFamily="34" charset="-122"/>
                <a:sym typeface="MS PGothic" charset="0"/>
              </a:rPr>
              <a:t>2</a:t>
            </a:r>
          </a:p>
        </p:txBody>
      </p:sp>
      <p:sp>
        <p:nvSpPr>
          <p:cNvPr id="2" name="文本框 1">
            <a:extLst>
              <a:ext uri="{FF2B5EF4-FFF2-40B4-BE49-F238E27FC236}">
                <a16:creationId xmlns:a16="http://schemas.microsoft.com/office/drawing/2014/main" id="{9A02F3D9-D874-4FAD-FCD5-2B071A4D820F}"/>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369626E3-BD1E-78DE-8901-D305E0652B7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进程的工作集示例</a:t>
            </a:r>
          </a:p>
        </p:txBody>
      </p:sp>
    </p:spTree>
    <p:extLst>
      <p:ext uri="{BB962C8B-B14F-4D97-AF65-F5344CB8AC3E}">
        <p14:creationId xmlns:p14="http://schemas.microsoft.com/office/powerpoint/2010/main" val="163182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fill="hold" nodeType="clickEffect">
                                  <p:stCondLst>
                                    <p:cond delay="0"/>
                                  </p:stCondLst>
                                  <p:childTnLst>
                                    <p:animMotion origin="layout" path="M 3.33333E-6 -2.96296E-6 L 0.41024 0.00309 " pathEditMode="relative" rAng="0" ptsTypes="AA">
                                      <p:cBhvr>
                                        <p:cTn id="6" dur="16000" fill="hold"/>
                                        <p:tgtEl>
                                          <p:spTgt spid="5"/>
                                        </p:tgtEl>
                                        <p:attrNameLst>
                                          <p:attrName>ppt_x</p:attrName>
                                          <p:attrName>ppt_y</p:attrName>
                                        </p:attrNameLst>
                                      </p:cBhvr>
                                      <p:rCtr x="20503" y="154"/>
                                    </p:animMotion>
                                  </p:childTnLst>
                                </p:cTn>
                              </p:par>
                              <p:par>
                                <p:cTn id="7" presetID="10"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animEffect transition="in" filter="fade">
                                      <p:cBhvr>
                                        <p:cTn id="9" dur="500"/>
                                        <p:tgtEl>
                                          <p:spTgt spid="44"/>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par>
                                <p:cTn id="13" presetID="1" presetClass="exit" presetSubtype="0" fill="hold" grpId="0" nodeType="withEffect">
                                  <p:stCondLst>
                                    <p:cond delay="1000"/>
                                  </p:stCondLst>
                                  <p:childTnLst>
                                    <p:set>
                                      <p:cBhvr>
                                        <p:cTn id="14" dur="1" fill="hold">
                                          <p:stCondLst>
                                            <p:cond delay="0"/>
                                          </p:stCondLst>
                                        </p:cTn>
                                        <p:tgtEl>
                                          <p:spTgt spid="33"/>
                                        </p:tgtEl>
                                        <p:attrNameLst>
                                          <p:attrName>style.visibility</p:attrName>
                                        </p:attrNameLst>
                                      </p:cBhvr>
                                      <p:to>
                                        <p:strVal val="hidden"/>
                                      </p:to>
                                    </p:set>
                                  </p:childTnLst>
                                </p:cTn>
                              </p:par>
                              <p:par>
                                <p:cTn id="15" presetID="1" presetClass="entr" presetSubtype="0" fill="hold" grpId="0" nodeType="withEffect">
                                  <p:stCondLst>
                                    <p:cond delay="100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xit" presetSubtype="0" fill="hold" grpId="1" nodeType="withEffect">
                                  <p:stCondLst>
                                    <p:cond delay="2000"/>
                                  </p:stCondLst>
                                  <p:childTnLst>
                                    <p:set>
                                      <p:cBhvr>
                                        <p:cTn id="18" dur="1" fill="hold">
                                          <p:stCondLst>
                                            <p:cond delay="0"/>
                                          </p:stCondLst>
                                        </p:cTn>
                                        <p:tgtEl>
                                          <p:spTgt spid="34"/>
                                        </p:tgtEl>
                                        <p:attrNameLst>
                                          <p:attrName>style.visibility</p:attrName>
                                        </p:attrNameLst>
                                      </p:cBhvr>
                                      <p:to>
                                        <p:strVal val="hidden"/>
                                      </p:to>
                                    </p:set>
                                  </p:childTnLst>
                                </p:cTn>
                              </p:par>
                              <p:par>
                                <p:cTn id="19" presetID="1" presetClass="entr" presetSubtype="0" fill="hold" grpId="0" nodeType="withEffect">
                                  <p:stCondLst>
                                    <p:cond delay="200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xit" presetSubtype="0" fill="hold" grpId="1" nodeType="withEffect">
                                  <p:stCondLst>
                                    <p:cond delay="3000"/>
                                  </p:stCondLst>
                                  <p:childTnLst>
                                    <p:set>
                                      <p:cBhvr>
                                        <p:cTn id="22" dur="1" fill="hold">
                                          <p:stCondLst>
                                            <p:cond delay="0"/>
                                          </p:stCondLst>
                                        </p:cTn>
                                        <p:tgtEl>
                                          <p:spTgt spid="40"/>
                                        </p:tgtEl>
                                        <p:attrNameLst>
                                          <p:attrName>style.visibility</p:attrName>
                                        </p:attrNameLst>
                                      </p:cBhvr>
                                      <p:to>
                                        <p:strVal val="hidden"/>
                                      </p:to>
                                    </p:set>
                                  </p:childTnLst>
                                </p:cTn>
                              </p:par>
                              <p:par>
                                <p:cTn id="23" presetID="1" presetClass="entr" presetSubtype="0" fill="hold" grpId="0" nodeType="withEffect">
                                  <p:stCondLst>
                                    <p:cond delay="300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xit" presetSubtype="0" fill="hold" grpId="1" nodeType="withEffect">
                                  <p:stCondLst>
                                    <p:cond delay="4000"/>
                                  </p:stCondLst>
                                  <p:childTnLst>
                                    <p:set>
                                      <p:cBhvr>
                                        <p:cTn id="26" dur="1" fill="hold">
                                          <p:stCondLst>
                                            <p:cond delay="0"/>
                                          </p:stCondLst>
                                        </p:cTn>
                                        <p:tgtEl>
                                          <p:spTgt spid="43"/>
                                        </p:tgtEl>
                                        <p:attrNameLst>
                                          <p:attrName>style.visibility</p:attrName>
                                        </p:attrNameLst>
                                      </p:cBhvr>
                                      <p:to>
                                        <p:strVal val="hidden"/>
                                      </p:to>
                                    </p:set>
                                  </p:childTnLst>
                                </p:cTn>
                              </p:par>
                              <p:par>
                                <p:cTn id="27" presetID="1" presetClass="entr" presetSubtype="0" fill="hold" grpId="0" nodeType="withEffect">
                                  <p:stCondLst>
                                    <p:cond delay="400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xit" presetSubtype="0" fill="hold" grpId="1" nodeType="withEffect">
                                  <p:stCondLst>
                                    <p:cond delay="8000"/>
                                  </p:stCondLst>
                                  <p:childTnLst>
                                    <p:set>
                                      <p:cBhvr>
                                        <p:cTn id="30" dur="1" fill="hold">
                                          <p:stCondLst>
                                            <p:cond delay="0"/>
                                          </p:stCondLst>
                                        </p:cTn>
                                        <p:tgtEl>
                                          <p:spTgt spid="46"/>
                                        </p:tgtEl>
                                        <p:attrNameLst>
                                          <p:attrName>style.visibility</p:attrName>
                                        </p:attrNameLst>
                                      </p:cBhvr>
                                      <p:to>
                                        <p:strVal val="hidden"/>
                                      </p:to>
                                    </p:set>
                                  </p:childTnLst>
                                </p:cTn>
                              </p:par>
                              <p:par>
                                <p:cTn id="31" presetID="1" presetClass="entr" presetSubtype="0" fill="hold" grpId="0" nodeType="withEffect">
                                  <p:stCondLst>
                                    <p:cond delay="800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xit" presetSubtype="0" fill="hold" grpId="1" nodeType="withEffect">
                                  <p:stCondLst>
                                    <p:cond delay="9000"/>
                                  </p:stCondLst>
                                  <p:childTnLst>
                                    <p:set>
                                      <p:cBhvr>
                                        <p:cTn id="34" dur="1" fill="hold">
                                          <p:stCondLst>
                                            <p:cond delay="0"/>
                                          </p:stCondLst>
                                        </p:cTn>
                                        <p:tgtEl>
                                          <p:spTgt spid="51"/>
                                        </p:tgtEl>
                                        <p:attrNameLst>
                                          <p:attrName>style.visibility</p:attrName>
                                        </p:attrNameLst>
                                      </p:cBhvr>
                                      <p:to>
                                        <p:strVal val="hidden"/>
                                      </p:to>
                                    </p:set>
                                  </p:childTnLst>
                                </p:cTn>
                              </p:par>
                              <p:par>
                                <p:cTn id="35" presetID="1" presetClass="entr" presetSubtype="0" fill="hold" grpId="0" nodeType="withEffect">
                                  <p:stCondLst>
                                    <p:cond delay="900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xit" presetSubtype="0" fill="hold" grpId="1" nodeType="withEffect">
                                  <p:stCondLst>
                                    <p:cond delay="11000"/>
                                  </p:stCondLst>
                                  <p:childTnLst>
                                    <p:set>
                                      <p:cBhvr>
                                        <p:cTn id="38" dur="1" fill="hold">
                                          <p:stCondLst>
                                            <p:cond delay="0"/>
                                          </p:stCondLst>
                                        </p:cTn>
                                        <p:tgtEl>
                                          <p:spTgt spid="55"/>
                                        </p:tgtEl>
                                        <p:attrNameLst>
                                          <p:attrName>style.visibility</p:attrName>
                                        </p:attrNameLst>
                                      </p:cBhvr>
                                      <p:to>
                                        <p:strVal val="hidden"/>
                                      </p:to>
                                    </p:set>
                                  </p:childTnLst>
                                </p:cTn>
                              </p:par>
                              <p:par>
                                <p:cTn id="39" presetID="1" presetClass="entr" presetSubtype="0" fill="hold" grpId="0" nodeType="withEffect">
                                  <p:stCondLst>
                                    <p:cond delay="1100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xit" presetSubtype="0" fill="hold" grpId="1" nodeType="withEffect">
                                  <p:stCondLst>
                                    <p:cond delay="15000"/>
                                  </p:stCondLst>
                                  <p:childTnLst>
                                    <p:set>
                                      <p:cBhvr>
                                        <p:cTn id="42" dur="1" fill="hold">
                                          <p:stCondLst>
                                            <p:cond delay="0"/>
                                          </p:stCondLst>
                                        </p:cTn>
                                        <p:tgtEl>
                                          <p:spTgt spid="57"/>
                                        </p:tgtEl>
                                        <p:attrNameLst>
                                          <p:attrName>style.visibility</p:attrName>
                                        </p:attrNameLst>
                                      </p:cBhvr>
                                      <p:to>
                                        <p:strVal val="hidden"/>
                                      </p:to>
                                    </p:set>
                                  </p:childTnLst>
                                </p:cTn>
                              </p:par>
                              <p:par>
                                <p:cTn id="43" presetID="1" presetClass="entr" presetSubtype="0" fill="hold" grpId="0" nodeType="withEffect">
                                  <p:stCondLst>
                                    <p:cond delay="1500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xit" presetSubtype="0" fill="hold" grpId="1" nodeType="withEffect">
                                  <p:stCondLst>
                                    <p:cond delay="16000"/>
                                  </p:stCondLst>
                                  <p:childTnLst>
                                    <p:set>
                                      <p:cBhvr>
                                        <p:cTn id="46" dur="1" fill="hold">
                                          <p:stCondLst>
                                            <p:cond delay="0"/>
                                          </p:stCondLst>
                                        </p:cTn>
                                        <p:tgtEl>
                                          <p:spTgt spid="58"/>
                                        </p:tgtEl>
                                        <p:attrNameLst>
                                          <p:attrName>style.visibility</p:attrName>
                                        </p:attrNameLst>
                                      </p:cBhvr>
                                      <p:to>
                                        <p:strVal val="hidden"/>
                                      </p:to>
                                    </p:set>
                                  </p:childTnLst>
                                </p:cTn>
                              </p:par>
                              <p:par>
                                <p:cTn id="47" presetID="1" presetClass="entr" presetSubtype="0" fill="hold" grpId="0" nodeType="withEffect">
                                  <p:stCondLst>
                                    <p:cond delay="16000"/>
                                  </p:stCondLst>
                                  <p:childTnLst>
                                    <p:set>
                                      <p:cBhvr>
                                        <p:cTn id="48" dur="1" fill="hold">
                                          <p:stCondLst>
                                            <p:cond delay="0"/>
                                          </p:stCondLst>
                                        </p:cTn>
                                        <p:tgtEl>
                                          <p:spTgt spid="59"/>
                                        </p:tgtEl>
                                        <p:attrNameLst>
                                          <p:attrName>style.visibility</p:attrName>
                                        </p:attrNameLst>
                                      </p:cBhvr>
                                      <p:to>
                                        <p:strVal val="visible"/>
                                      </p:to>
                                    </p:set>
                                  </p:childTnLst>
                                </p:cTn>
                              </p:par>
                            </p:childTnLst>
                          </p:cTn>
                        </p:par>
                        <p:par>
                          <p:cTn id="49" fill="hold">
                            <p:stCondLst>
                              <p:cond delay="16000"/>
                            </p:stCondLst>
                            <p:childTnLst>
                              <p:par>
                                <p:cTn id="50" presetID="22" presetClass="entr" presetSubtype="8" fill="hold" grpId="0" nodeType="after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left)">
                                      <p:cBhvr>
                                        <p:cTn id="52" dur="500"/>
                                        <p:tgtEl>
                                          <p:spTgt spid="3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fade">
                                      <p:cBhvr>
                                        <p:cTn id="5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4" grpId="1"/>
      <p:bldP spid="40" grpId="0"/>
      <p:bldP spid="40" grpId="1"/>
      <p:bldP spid="43" grpId="0"/>
      <p:bldP spid="43" grpId="1"/>
      <p:bldP spid="46" grpId="0"/>
      <p:bldP spid="46" grpId="1"/>
      <p:bldP spid="51" grpId="0"/>
      <p:bldP spid="51" grpId="1"/>
      <p:bldP spid="55" grpId="0"/>
      <p:bldP spid="55" grpId="1"/>
      <p:bldP spid="57" grpId="0"/>
      <p:bldP spid="57" grpId="1"/>
      <p:bldP spid="58" grpId="0"/>
      <p:bldP spid="58" grpId="1"/>
      <p:bldP spid="59" grpId="0"/>
      <p:bldP spid="44" grpId="0"/>
      <p:bldP spid="4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4558" y="3952338"/>
            <a:ext cx="6577057" cy="707886"/>
            <a:chOff x="840556" y="3095088"/>
            <a:chExt cx="6577057" cy="707886"/>
          </a:xfrm>
        </p:grpSpPr>
        <p:sp>
          <p:nvSpPr>
            <p:cNvPr id="83" name="TextBox 82"/>
            <p:cNvSpPr txBox="1"/>
            <p:nvPr/>
          </p:nvSpPr>
          <p:spPr>
            <a:xfrm>
              <a:off x="840556" y="309508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sp>
          <p:nvSpPr>
            <p:cNvPr id="12" name="TextBox 11"/>
            <p:cNvSpPr txBox="1"/>
            <p:nvPr/>
          </p:nvSpPr>
          <p:spPr>
            <a:xfrm>
              <a:off x="1154882" y="3095088"/>
              <a:ext cx="6262731" cy="707886"/>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rPr>
                <a:t>进程开始执行后，随着访问新页面逐步建立较稳定的工作集</a:t>
              </a:r>
            </a:p>
          </p:txBody>
        </p:sp>
      </p:grpSp>
      <p:grpSp>
        <p:nvGrpSpPr>
          <p:cNvPr id="4" name="组合 3"/>
          <p:cNvGrpSpPr/>
          <p:nvPr/>
        </p:nvGrpSpPr>
        <p:grpSpPr>
          <a:xfrm>
            <a:off x="2364558" y="4559978"/>
            <a:ext cx="6577057" cy="707886"/>
            <a:chOff x="840556" y="3702728"/>
            <a:chExt cx="6577057" cy="707886"/>
          </a:xfrm>
        </p:grpSpPr>
        <p:sp>
          <p:nvSpPr>
            <p:cNvPr id="8" name="TextBox 7"/>
            <p:cNvSpPr txBox="1"/>
            <p:nvPr/>
          </p:nvSpPr>
          <p:spPr>
            <a:xfrm>
              <a:off x="840556" y="370272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sp>
          <p:nvSpPr>
            <p:cNvPr id="9" name="TextBox 8"/>
            <p:cNvSpPr txBox="1"/>
            <p:nvPr/>
          </p:nvSpPr>
          <p:spPr>
            <a:xfrm>
              <a:off x="1154882" y="3702728"/>
              <a:ext cx="6262731" cy="707886"/>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rPr>
                <a:t>当内存访问的局部性区域的位置</a:t>
              </a:r>
              <a:r>
                <a:rPr lang="zh-CN" altLang="en-US" sz="2000" b="1" dirty="0">
                  <a:solidFill>
                    <a:srgbClr val="C00000"/>
                  </a:solidFill>
                  <a:latin typeface="微软雅黑" pitchFamily="34" charset="-122"/>
                  <a:ea typeface="微软雅黑" pitchFamily="34" charset="-122"/>
                </a:rPr>
                <a:t>大致稳定</a:t>
              </a:r>
              <a:r>
                <a:rPr lang="zh-CN" altLang="en-US" sz="2000" b="1" dirty="0">
                  <a:solidFill>
                    <a:srgbClr val="11576A"/>
                  </a:solidFill>
                  <a:latin typeface="微软雅黑" pitchFamily="34" charset="-122"/>
                  <a:ea typeface="微软雅黑" pitchFamily="34" charset="-122"/>
                </a:rPr>
                <a:t>时，工作集大小也大致稳定</a:t>
              </a:r>
            </a:p>
          </p:txBody>
        </p:sp>
      </p:grpSp>
      <p:grpSp>
        <p:nvGrpSpPr>
          <p:cNvPr id="5" name="组合 4"/>
          <p:cNvGrpSpPr/>
          <p:nvPr/>
        </p:nvGrpSpPr>
        <p:grpSpPr>
          <a:xfrm>
            <a:off x="2364558" y="5188516"/>
            <a:ext cx="6577057" cy="707886"/>
            <a:chOff x="840556" y="4331266"/>
            <a:chExt cx="6577057" cy="707886"/>
          </a:xfrm>
        </p:grpSpPr>
        <p:sp>
          <p:nvSpPr>
            <p:cNvPr id="13" name="TextBox 12"/>
            <p:cNvSpPr txBox="1"/>
            <p:nvPr/>
          </p:nvSpPr>
          <p:spPr>
            <a:xfrm>
              <a:off x="840556" y="4331266"/>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sp>
          <p:nvSpPr>
            <p:cNvPr id="14" name="TextBox 13"/>
            <p:cNvSpPr txBox="1"/>
            <p:nvPr/>
          </p:nvSpPr>
          <p:spPr>
            <a:xfrm>
              <a:off x="1154882" y="4331266"/>
              <a:ext cx="6262731" cy="707886"/>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rPr>
                <a:t>局部性区域的位置改变时，工作集</a:t>
              </a:r>
              <a:r>
                <a:rPr lang="zh-CN" altLang="en-US" sz="2000" b="1" dirty="0">
                  <a:solidFill>
                    <a:srgbClr val="C00000"/>
                  </a:solidFill>
                  <a:latin typeface="微软雅黑" pitchFamily="34" charset="-122"/>
                  <a:ea typeface="微软雅黑" pitchFamily="34" charset="-122"/>
                </a:rPr>
                <a:t>快速扩张和收缩</a:t>
              </a:r>
              <a:r>
                <a:rPr lang="zh-CN" altLang="en-US" sz="2000" b="1" dirty="0">
                  <a:solidFill>
                    <a:srgbClr val="11576A"/>
                  </a:solidFill>
                  <a:latin typeface="微软雅黑" pitchFamily="34" charset="-122"/>
                  <a:ea typeface="微软雅黑" pitchFamily="34" charset="-122"/>
                </a:rPr>
                <a:t>过渡到下一个稳定值</a:t>
              </a:r>
            </a:p>
          </p:txBody>
        </p:sp>
      </p:grpSp>
      <p:grpSp>
        <p:nvGrpSpPr>
          <p:cNvPr id="2" name="组合 1"/>
          <p:cNvGrpSpPr/>
          <p:nvPr/>
        </p:nvGrpSpPr>
        <p:grpSpPr>
          <a:xfrm>
            <a:off x="2678882" y="1645933"/>
            <a:ext cx="4506786" cy="2286016"/>
            <a:chOff x="1565412" y="2714626"/>
            <a:chExt cx="4506786" cy="2286016"/>
          </a:xfrm>
        </p:grpSpPr>
        <p:cxnSp>
          <p:nvCxnSpPr>
            <p:cNvPr id="19" name="直接箭头连接符 18"/>
            <p:cNvCxnSpPr/>
            <p:nvPr/>
          </p:nvCxnSpPr>
          <p:spPr>
            <a:xfrm>
              <a:off x="1795444" y="4452953"/>
              <a:ext cx="3786214" cy="1588"/>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rot="5400000" flipH="1" flipV="1">
              <a:off x="988196" y="3631416"/>
              <a:ext cx="1643074" cy="1588"/>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804970" y="3105150"/>
              <a:ext cx="3643338" cy="1588"/>
            </a:xfrm>
            <a:prstGeom prst="line">
              <a:avLst/>
            </a:prstGeom>
            <a:ln w="28575">
              <a:solidFill>
                <a:srgbClr val="11576A"/>
              </a:solidFill>
              <a:prstDash val="sysDot"/>
            </a:ln>
          </p:spPr>
          <p:style>
            <a:lnRef idx="1">
              <a:schemeClr val="accent1"/>
            </a:lnRef>
            <a:fillRef idx="0">
              <a:schemeClr val="accent1"/>
            </a:fillRef>
            <a:effectRef idx="0">
              <a:schemeClr val="accent1"/>
            </a:effectRef>
            <a:fontRef idx="minor">
              <a:schemeClr val="tx1"/>
            </a:fontRef>
          </p:style>
        </p:cxnSp>
        <p:sp>
          <p:nvSpPr>
            <p:cNvPr id="35" name="任意多边形 34"/>
            <p:cNvSpPr/>
            <p:nvPr/>
          </p:nvSpPr>
          <p:spPr>
            <a:xfrm>
              <a:off x="1828800" y="3129492"/>
              <a:ext cx="3302000" cy="1302808"/>
            </a:xfrm>
            <a:custGeom>
              <a:avLst/>
              <a:gdLst>
                <a:gd name="connsiteX0" fmla="*/ 0 w 3302000"/>
                <a:gd name="connsiteY0" fmla="*/ 1302808 h 1302808"/>
                <a:gd name="connsiteX1" fmla="*/ 19050 w 3302000"/>
                <a:gd name="connsiteY1" fmla="*/ 1194858 h 1302808"/>
                <a:gd name="connsiteX2" fmla="*/ 47625 w 3302000"/>
                <a:gd name="connsiteY2" fmla="*/ 1147233 h 1302808"/>
                <a:gd name="connsiteX3" fmla="*/ 57150 w 3302000"/>
                <a:gd name="connsiteY3" fmla="*/ 1077383 h 1302808"/>
                <a:gd name="connsiteX4" fmla="*/ 63500 w 3302000"/>
                <a:gd name="connsiteY4" fmla="*/ 1013883 h 1302808"/>
                <a:gd name="connsiteX5" fmla="*/ 88900 w 3302000"/>
                <a:gd name="connsiteY5" fmla="*/ 975783 h 1302808"/>
                <a:gd name="connsiteX6" fmla="*/ 98425 w 3302000"/>
                <a:gd name="connsiteY6" fmla="*/ 921808 h 1302808"/>
                <a:gd name="connsiteX7" fmla="*/ 123825 w 3302000"/>
                <a:gd name="connsiteY7" fmla="*/ 883708 h 1302808"/>
                <a:gd name="connsiteX8" fmla="*/ 136525 w 3302000"/>
                <a:gd name="connsiteY8" fmla="*/ 829733 h 1302808"/>
                <a:gd name="connsiteX9" fmla="*/ 174625 w 3302000"/>
                <a:gd name="connsiteY9" fmla="*/ 766233 h 1302808"/>
                <a:gd name="connsiteX10" fmla="*/ 222250 w 3302000"/>
                <a:gd name="connsiteY10" fmla="*/ 715433 h 1302808"/>
                <a:gd name="connsiteX11" fmla="*/ 269875 w 3302000"/>
                <a:gd name="connsiteY11" fmla="*/ 712258 h 1302808"/>
                <a:gd name="connsiteX12" fmla="*/ 320675 w 3302000"/>
                <a:gd name="connsiteY12" fmla="*/ 772583 h 1302808"/>
                <a:gd name="connsiteX13" fmla="*/ 368300 w 3302000"/>
                <a:gd name="connsiteY13" fmla="*/ 791633 h 1302808"/>
                <a:gd name="connsiteX14" fmla="*/ 419100 w 3302000"/>
                <a:gd name="connsiteY14" fmla="*/ 791633 h 1302808"/>
                <a:gd name="connsiteX15" fmla="*/ 460375 w 3302000"/>
                <a:gd name="connsiteY15" fmla="*/ 769408 h 1302808"/>
                <a:gd name="connsiteX16" fmla="*/ 511175 w 3302000"/>
                <a:gd name="connsiteY16" fmla="*/ 744008 h 1302808"/>
                <a:gd name="connsiteX17" fmla="*/ 539750 w 3302000"/>
                <a:gd name="connsiteY17" fmla="*/ 718608 h 1302808"/>
                <a:gd name="connsiteX18" fmla="*/ 600075 w 3302000"/>
                <a:gd name="connsiteY18" fmla="*/ 721783 h 1302808"/>
                <a:gd name="connsiteX19" fmla="*/ 628650 w 3302000"/>
                <a:gd name="connsiteY19" fmla="*/ 750358 h 1302808"/>
                <a:gd name="connsiteX20" fmla="*/ 673100 w 3302000"/>
                <a:gd name="connsiteY20" fmla="*/ 759883 h 1302808"/>
                <a:gd name="connsiteX21" fmla="*/ 717550 w 3302000"/>
                <a:gd name="connsiteY21" fmla="*/ 788458 h 1302808"/>
                <a:gd name="connsiteX22" fmla="*/ 746125 w 3302000"/>
                <a:gd name="connsiteY22" fmla="*/ 756708 h 1302808"/>
                <a:gd name="connsiteX23" fmla="*/ 774700 w 3302000"/>
                <a:gd name="connsiteY23" fmla="*/ 718608 h 1302808"/>
                <a:gd name="connsiteX24" fmla="*/ 806450 w 3302000"/>
                <a:gd name="connsiteY24" fmla="*/ 705908 h 1302808"/>
                <a:gd name="connsiteX25" fmla="*/ 806450 w 3302000"/>
                <a:gd name="connsiteY25" fmla="*/ 613833 h 1302808"/>
                <a:gd name="connsiteX26" fmla="*/ 831850 w 3302000"/>
                <a:gd name="connsiteY26" fmla="*/ 512233 h 1302808"/>
                <a:gd name="connsiteX27" fmla="*/ 866775 w 3302000"/>
                <a:gd name="connsiteY27" fmla="*/ 423333 h 1302808"/>
                <a:gd name="connsiteX28" fmla="*/ 879475 w 3302000"/>
                <a:gd name="connsiteY28" fmla="*/ 388408 h 1302808"/>
                <a:gd name="connsiteX29" fmla="*/ 885825 w 3302000"/>
                <a:gd name="connsiteY29" fmla="*/ 340783 h 1302808"/>
                <a:gd name="connsiteX30" fmla="*/ 898525 w 3302000"/>
                <a:gd name="connsiteY30" fmla="*/ 280458 h 1302808"/>
                <a:gd name="connsiteX31" fmla="*/ 923925 w 3302000"/>
                <a:gd name="connsiteY31" fmla="*/ 242358 h 1302808"/>
                <a:gd name="connsiteX32" fmla="*/ 930275 w 3302000"/>
                <a:gd name="connsiteY32" fmla="*/ 223308 h 1302808"/>
                <a:gd name="connsiteX33" fmla="*/ 974725 w 3302000"/>
                <a:gd name="connsiteY33" fmla="*/ 236008 h 1302808"/>
                <a:gd name="connsiteX34" fmla="*/ 1031875 w 3302000"/>
                <a:gd name="connsiteY34" fmla="*/ 274108 h 1302808"/>
                <a:gd name="connsiteX35" fmla="*/ 1050925 w 3302000"/>
                <a:gd name="connsiteY35" fmla="*/ 312208 h 1302808"/>
                <a:gd name="connsiteX36" fmla="*/ 1073150 w 3302000"/>
                <a:gd name="connsiteY36" fmla="*/ 372533 h 1302808"/>
                <a:gd name="connsiteX37" fmla="*/ 1104900 w 3302000"/>
                <a:gd name="connsiteY37" fmla="*/ 470958 h 1302808"/>
                <a:gd name="connsiteX38" fmla="*/ 1133475 w 3302000"/>
                <a:gd name="connsiteY38" fmla="*/ 547158 h 1302808"/>
                <a:gd name="connsiteX39" fmla="*/ 1162050 w 3302000"/>
                <a:gd name="connsiteY39" fmla="*/ 610658 h 1302808"/>
                <a:gd name="connsiteX40" fmla="*/ 1225550 w 3302000"/>
                <a:gd name="connsiteY40" fmla="*/ 610658 h 1302808"/>
                <a:gd name="connsiteX41" fmla="*/ 1266825 w 3302000"/>
                <a:gd name="connsiteY41" fmla="*/ 582083 h 1302808"/>
                <a:gd name="connsiteX42" fmla="*/ 1285875 w 3302000"/>
                <a:gd name="connsiteY42" fmla="*/ 556683 h 1302808"/>
                <a:gd name="connsiteX43" fmla="*/ 1323975 w 3302000"/>
                <a:gd name="connsiteY43" fmla="*/ 543983 h 1302808"/>
                <a:gd name="connsiteX44" fmla="*/ 1371600 w 3302000"/>
                <a:gd name="connsiteY44" fmla="*/ 569383 h 1302808"/>
                <a:gd name="connsiteX45" fmla="*/ 1431925 w 3302000"/>
                <a:gd name="connsiteY45" fmla="*/ 604308 h 1302808"/>
                <a:gd name="connsiteX46" fmla="*/ 1501775 w 3302000"/>
                <a:gd name="connsiteY46" fmla="*/ 620183 h 1302808"/>
                <a:gd name="connsiteX47" fmla="*/ 1552575 w 3302000"/>
                <a:gd name="connsiteY47" fmla="*/ 610658 h 1302808"/>
                <a:gd name="connsiteX48" fmla="*/ 1584325 w 3302000"/>
                <a:gd name="connsiteY48" fmla="*/ 563033 h 1302808"/>
                <a:gd name="connsiteX49" fmla="*/ 1600200 w 3302000"/>
                <a:gd name="connsiteY49" fmla="*/ 524933 h 1302808"/>
                <a:gd name="connsiteX50" fmla="*/ 1625600 w 3302000"/>
                <a:gd name="connsiteY50" fmla="*/ 451908 h 1302808"/>
                <a:gd name="connsiteX51" fmla="*/ 1631950 w 3302000"/>
                <a:gd name="connsiteY51" fmla="*/ 372533 h 1302808"/>
                <a:gd name="connsiteX52" fmla="*/ 1644650 w 3302000"/>
                <a:gd name="connsiteY52" fmla="*/ 280458 h 1302808"/>
                <a:gd name="connsiteX53" fmla="*/ 1660525 w 3302000"/>
                <a:gd name="connsiteY53" fmla="*/ 213783 h 1302808"/>
                <a:gd name="connsiteX54" fmla="*/ 1679575 w 3302000"/>
                <a:gd name="connsiteY54" fmla="*/ 140758 h 1302808"/>
                <a:gd name="connsiteX55" fmla="*/ 1692275 w 3302000"/>
                <a:gd name="connsiteY55" fmla="*/ 89958 h 1302808"/>
                <a:gd name="connsiteX56" fmla="*/ 1717675 w 3302000"/>
                <a:gd name="connsiteY56" fmla="*/ 39158 h 1302808"/>
                <a:gd name="connsiteX57" fmla="*/ 1739900 w 3302000"/>
                <a:gd name="connsiteY57" fmla="*/ 1058 h 1302808"/>
                <a:gd name="connsiteX58" fmla="*/ 1781175 w 3302000"/>
                <a:gd name="connsiteY58" fmla="*/ 32808 h 1302808"/>
                <a:gd name="connsiteX59" fmla="*/ 1835150 w 3302000"/>
                <a:gd name="connsiteY59" fmla="*/ 86783 h 1302808"/>
                <a:gd name="connsiteX60" fmla="*/ 1854200 w 3302000"/>
                <a:gd name="connsiteY60" fmla="*/ 156633 h 1302808"/>
                <a:gd name="connsiteX61" fmla="*/ 1882775 w 3302000"/>
                <a:gd name="connsiteY61" fmla="*/ 213783 h 1302808"/>
                <a:gd name="connsiteX62" fmla="*/ 1898650 w 3302000"/>
                <a:gd name="connsiteY62" fmla="*/ 299508 h 1302808"/>
                <a:gd name="connsiteX63" fmla="*/ 1927225 w 3302000"/>
                <a:gd name="connsiteY63" fmla="*/ 353483 h 1302808"/>
                <a:gd name="connsiteX64" fmla="*/ 2003425 w 3302000"/>
                <a:gd name="connsiteY64" fmla="*/ 356658 h 1302808"/>
                <a:gd name="connsiteX65" fmla="*/ 2051050 w 3302000"/>
                <a:gd name="connsiteY65" fmla="*/ 283633 h 1302808"/>
                <a:gd name="connsiteX66" fmla="*/ 2085975 w 3302000"/>
                <a:gd name="connsiteY66" fmla="*/ 251883 h 1302808"/>
                <a:gd name="connsiteX67" fmla="*/ 2133600 w 3302000"/>
                <a:gd name="connsiteY67" fmla="*/ 248708 h 1302808"/>
                <a:gd name="connsiteX68" fmla="*/ 2200275 w 3302000"/>
                <a:gd name="connsiteY68" fmla="*/ 289983 h 1302808"/>
                <a:gd name="connsiteX69" fmla="*/ 2244725 w 3302000"/>
                <a:gd name="connsiteY69" fmla="*/ 334433 h 1302808"/>
                <a:gd name="connsiteX70" fmla="*/ 2384425 w 3302000"/>
                <a:gd name="connsiteY70" fmla="*/ 334433 h 1302808"/>
                <a:gd name="connsiteX71" fmla="*/ 2390775 w 3302000"/>
                <a:gd name="connsiteY71" fmla="*/ 302683 h 1302808"/>
                <a:gd name="connsiteX72" fmla="*/ 2409825 w 3302000"/>
                <a:gd name="connsiteY72" fmla="*/ 277283 h 1302808"/>
                <a:gd name="connsiteX73" fmla="*/ 2451100 w 3302000"/>
                <a:gd name="connsiteY73" fmla="*/ 261408 h 1302808"/>
                <a:gd name="connsiteX74" fmla="*/ 2476500 w 3302000"/>
                <a:gd name="connsiteY74" fmla="*/ 239183 h 1302808"/>
                <a:gd name="connsiteX75" fmla="*/ 2508250 w 3302000"/>
                <a:gd name="connsiteY75" fmla="*/ 175683 h 1302808"/>
                <a:gd name="connsiteX76" fmla="*/ 2511425 w 3302000"/>
                <a:gd name="connsiteY76" fmla="*/ 121708 h 1302808"/>
                <a:gd name="connsiteX77" fmla="*/ 2520950 w 3302000"/>
                <a:gd name="connsiteY77" fmla="*/ 86783 h 1302808"/>
                <a:gd name="connsiteX78" fmla="*/ 2590800 w 3302000"/>
                <a:gd name="connsiteY78" fmla="*/ 83608 h 1302808"/>
                <a:gd name="connsiteX79" fmla="*/ 2651125 w 3302000"/>
                <a:gd name="connsiteY79" fmla="*/ 201083 h 1302808"/>
                <a:gd name="connsiteX80" fmla="*/ 2711450 w 3302000"/>
                <a:gd name="connsiteY80" fmla="*/ 372533 h 1302808"/>
                <a:gd name="connsiteX81" fmla="*/ 2762250 w 3302000"/>
                <a:gd name="connsiteY81" fmla="*/ 512233 h 1302808"/>
                <a:gd name="connsiteX82" fmla="*/ 2806700 w 3302000"/>
                <a:gd name="connsiteY82" fmla="*/ 540808 h 1302808"/>
                <a:gd name="connsiteX83" fmla="*/ 2851150 w 3302000"/>
                <a:gd name="connsiteY83" fmla="*/ 512233 h 1302808"/>
                <a:gd name="connsiteX84" fmla="*/ 2892425 w 3302000"/>
                <a:gd name="connsiteY84" fmla="*/ 455083 h 1302808"/>
                <a:gd name="connsiteX85" fmla="*/ 2930525 w 3302000"/>
                <a:gd name="connsiteY85" fmla="*/ 413808 h 1302808"/>
                <a:gd name="connsiteX86" fmla="*/ 2968625 w 3302000"/>
                <a:gd name="connsiteY86" fmla="*/ 397933 h 1302808"/>
                <a:gd name="connsiteX87" fmla="*/ 3041650 w 3302000"/>
                <a:gd name="connsiteY87" fmla="*/ 413808 h 1302808"/>
                <a:gd name="connsiteX88" fmla="*/ 3124200 w 3302000"/>
                <a:gd name="connsiteY88" fmla="*/ 470958 h 1302808"/>
                <a:gd name="connsiteX89" fmla="*/ 3209925 w 3302000"/>
                <a:gd name="connsiteY89" fmla="*/ 486833 h 1302808"/>
                <a:gd name="connsiteX90" fmla="*/ 3257550 w 3302000"/>
                <a:gd name="connsiteY90" fmla="*/ 474133 h 1302808"/>
                <a:gd name="connsiteX91" fmla="*/ 3292475 w 3302000"/>
                <a:gd name="connsiteY91" fmla="*/ 455083 h 1302808"/>
                <a:gd name="connsiteX92" fmla="*/ 3302000 w 3302000"/>
                <a:gd name="connsiteY92" fmla="*/ 432858 h 130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302000" h="1302808">
                  <a:moveTo>
                    <a:pt x="0" y="1302808"/>
                  </a:moveTo>
                  <a:cubicBezTo>
                    <a:pt x="5556" y="1261797"/>
                    <a:pt x="11113" y="1220787"/>
                    <a:pt x="19050" y="1194858"/>
                  </a:cubicBezTo>
                  <a:cubicBezTo>
                    <a:pt x="26987" y="1168929"/>
                    <a:pt x="41275" y="1166812"/>
                    <a:pt x="47625" y="1147233"/>
                  </a:cubicBezTo>
                  <a:cubicBezTo>
                    <a:pt x="53975" y="1127654"/>
                    <a:pt x="54504" y="1099608"/>
                    <a:pt x="57150" y="1077383"/>
                  </a:cubicBezTo>
                  <a:cubicBezTo>
                    <a:pt x="59796" y="1055158"/>
                    <a:pt x="58208" y="1030816"/>
                    <a:pt x="63500" y="1013883"/>
                  </a:cubicBezTo>
                  <a:cubicBezTo>
                    <a:pt x="68792" y="996950"/>
                    <a:pt x="83079" y="991129"/>
                    <a:pt x="88900" y="975783"/>
                  </a:cubicBezTo>
                  <a:cubicBezTo>
                    <a:pt x="94721" y="960437"/>
                    <a:pt x="92604" y="937154"/>
                    <a:pt x="98425" y="921808"/>
                  </a:cubicBezTo>
                  <a:cubicBezTo>
                    <a:pt x="104246" y="906462"/>
                    <a:pt x="117475" y="899054"/>
                    <a:pt x="123825" y="883708"/>
                  </a:cubicBezTo>
                  <a:cubicBezTo>
                    <a:pt x="130175" y="868362"/>
                    <a:pt x="128058" y="849312"/>
                    <a:pt x="136525" y="829733"/>
                  </a:cubicBezTo>
                  <a:cubicBezTo>
                    <a:pt x="144992" y="810154"/>
                    <a:pt x="160338" y="785283"/>
                    <a:pt x="174625" y="766233"/>
                  </a:cubicBezTo>
                  <a:cubicBezTo>
                    <a:pt x="188913" y="747183"/>
                    <a:pt x="206375" y="724429"/>
                    <a:pt x="222250" y="715433"/>
                  </a:cubicBezTo>
                  <a:cubicBezTo>
                    <a:pt x="238125" y="706437"/>
                    <a:pt x="253471" y="702733"/>
                    <a:pt x="269875" y="712258"/>
                  </a:cubicBezTo>
                  <a:cubicBezTo>
                    <a:pt x="286279" y="721783"/>
                    <a:pt x="304271" y="759354"/>
                    <a:pt x="320675" y="772583"/>
                  </a:cubicBezTo>
                  <a:cubicBezTo>
                    <a:pt x="337079" y="785812"/>
                    <a:pt x="351896" y="788458"/>
                    <a:pt x="368300" y="791633"/>
                  </a:cubicBezTo>
                  <a:cubicBezTo>
                    <a:pt x="384704" y="794808"/>
                    <a:pt x="403754" y="795337"/>
                    <a:pt x="419100" y="791633"/>
                  </a:cubicBezTo>
                  <a:cubicBezTo>
                    <a:pt x="434446" y="787929"/>
                    <a:pt x="445029" y="777345"/>
                    <a:pt x="460375" y="769408"/>
                  </a:cubicBezTo>
                  <a:cubicBezTo>
                    <a:pt x="475721" y="761471"/>
                    <a:pt x="497946" y="752475"/>
                    <a:pt x="511175" y="744008"/>
                  </a:cubicBezTo>
                  <a:cubicBezTo>
                    <a:pt x="524404" y="735541"/>
                    <a:pt x="524933" y="722312"/>
                    <a:pt x="539750" y="718608"/>
                  </a:cubicBezTo>
                  <a:cubicBezTo>
                    <a:pt x="554567" y="714904"/>
                    <a:pt x="585258" y="716491"/>
                    <a:pt x="600075" y="721783"/>
                  </a:cubicBezTo>
                  <a:cubicBezTo>
                    <a:pt x="614892" y="727075"/>
                    <a:pt x="616479" y="744008"/>
                    <a:pt x="628650" y="750358"/>
                  </a:cubicBezTo>
                  <a:cubicBezTo>
                    <a:pt x="640821" y="756708"/>
                    <a:pt x="658283" y="753533"/>
                    <a:pt x="673100" y="759883"/>
                  </a:cubicBezTo>
                  <a:cubicBezTo>
                    <a:pt x="687917" y="766233"/>
                    <a:pt x="705379" y="788987"/>
                    <a:pt x="717550" y="788458"/>
                  </a:cubicBezTo>
                  <a:cubicBezTo>
                    <a:pt x="729721" y="787929"/>
                    <a:pt x="736600" y="768350"/>
                    <a:pt x="746125" y="756708"/>
                  </a:cubicBezTo>
                  <a:cubicBezTo>
                    <a:pt x="755650" y="745066"/>
                    <a:pt x="764646" y="727075"/>
                    <a:pt x="774700" y="718608"/>
                  </a:cubicBezTo>
                  <a:cubicBezTo>
                    <a:pt x="784754" y="710141"/>
                    <a:pt x="801158" y="723370"/>
                    <a:pt x="806450" y="705908"/>
                  </a:cubicBezTo>
                  <a:cubicBezTo>
                    <a:pt x="811742" y="688446"/>
                    <a:pt x="802217" y="646112"/>
                    <a:pt x="806450" y="613833"/>
                  </a:cubicBezTo>
                  <a:cubicBezTo>
                    <a:pt x="810683" y="581554"/>
                    <a:pt x="821796" y="543983"/>
                    <a:pt x="831850" y="512233"/>
                  </a:cubicBezTo>
                  <a:cubicBezTo>
                    <a:pt x="841904" y="480483"/>
                    <a:pt x="858838" y="443971"/>
                    <a:pt x="866775" y="423333"/>
                  </a:cubicBezTo>
                  <a:cubicBezTo>
                    <a:pt x="874713" y="402696"/>
                    <a:pt x="876300" y="402166"/>
                    <a:pt x="879475" y="388408"/>
                  </a:cubicBezTo>
                  <a:cubicBezTo>
                    <a:pt x="882650" y="374650"/>
                    <a:pt x="882650" y="358775"/>
                    <a:pt x="885825" y="340783"/>
                  </a:cubicBezTo>
                  <a:cubicBezTo>
                    <a:pt x="889000" y="322791"/>
                    <a:pt x="892175" y="296862"/>
                    <a:pt x="898525" y="280458"/>
                  </a:cubicBezTo>
                  <a:cubicBezTo>
                    <a:pt x="904875" y="264054"/>
                    <a:pt x="918633" y="251883"/>
                    <a:pt x="923925" y="242358"/>
                  </a:cubicBezTo>
                  <a:cubicBezTo>
                    <a:pt x="929217" y="232833"/>
                    <a:pt x="921808" y="224366"/>
                    <a:pt x="930275" y="223308"/>
                  </a:cubicBezTo>
                  <a:cubicBezTo>
                    <a:pt x="938742" y="222250"/>
                    <a:pt x="957792" y="227541"/>
                    <a:pt x="974725" y="236008"/>
                  </a:cubicBezTo>
                  <a:cubicBezTo>
                    <a:pt x="991658" y="244475"/>
                    <a:pt x="1019175" y="261408"/>
                    <a:pt x="1031875" y="274108"/>
                  </a:cubicBezTo>
                  <a:cubicBezTo>
                    <a:pt x="1044575" y="286808"/>
                    <a:pt x="1044046" y="295804"/>
                    <a:pt x="1050925" y="312208"/>
                  </a:cubicBezTo>
                  <a:cubicBezTo>
                    <a:pt x="1057804" y="328612"/>
                    <a:pt x="1064154" y="346075"/>
                    <a:pt x="1073150" y="372533"/>
                  </a:cubicBezTo>
                  <a:cubicBezTo>
                    <a:pt x="1082146" y="398991"/>
                    <a:pt x="1094846" y="441854"/>
                    <a:pt x="1104900" y="470958"/>
                  </a:cubicBezTo>
                  <a:cubicBezTo>
                    <a:pt x="1114954" y="500062"/>
                    <a:pt x="1123950" y="523875"/>
                    <a:pt x="1133475" y="547158"/>
                  </a:cubicBezTo>
                  <a:cubicBezTo>
                    <a:pt x="1143000" y="570441"/>
                    <a:pt x="1146704" y="600075"/>
                    <a:pt x="1162050" y="610658"/>
                  </a:cubicBezTo>
                  <a:cubicBezTo>
                    <a:pt x="1177396" y="621241"/>
                    <a:pt x="1208087" y="615421"/>
                    <a:pt x="1225550" y="610658"/>
                  </a:cubicBezTo>
                  <a:cubicBezTo>
                    <a:pt x="1243013" y="605895"/>
                    <a:pt x="1256771" y="591079"/>
                    <a:pt x="1266825" y="582083"/>
                  </a:cubicBezTo>
                  <a:cubicBezTo>
                    <a:pt x="1276879" y="573087"/>
                    <a:pt x="1276350" y="563033"/>
                    <a:pt x="1285875" y="556683"/>
                  </a:cubicBezTo>
                  <a:cubicBezTo>
                    <a:pt x="1295400" y="550333"/>
                    <a:pt x="1309688" y="541866"/>
                    <a:pt x="1323975" y="543983"/>
                  </a:cubicBezTo>
                  <a:cubicBezTo>
                    <a:pt x="1338263" y="546100"/>
                    <a:pt x="1353608" y="559329"/>
                    <a:pt x="1371600" y="569383"/>
                  </a:cubicBezTo>
                  <a:cubicBezTo>
                    <a:pt x="1389592" y="579437"/>
                    <a:pt x="1410229" y="595841"/>
                    <a:pt x="1431925" y="604308"/>
                  </a:cubicBezTo>
                  <a:cubicBezTo>
                    <a:pt x="1453621" y="612775"/>
                    <a:pt x="1481667" y="619125"/>
                    <a:pt x="1501775" y="620183"/>
                  </a:cubicBezTo>
                  <a:cubicBezTo>
                    <a:pt x="1521883" y="621241"/>
                    <a:pt x="1538817" y="620183"/>
                    <a:pt x="1552575" y="610658"/>
                  </a:cubicBezTo>
                  <a:cubicBezTo>
                    <a:pt x="1566333" y="601133"/>
                    <a:pt x="1576388" y="577320"/>
                    <a:pt x="1584325" y="563033"/>
                  </a:cubicBezTo>
                  <a:cubicBezTo>
                    <a:pt x="1592262" y="548746"/>
                    <a:pt x="1593321" y="543454"/>
                    <a:pt x="1600200" y="524933"/>
                  </a:cubicBezTo>
                  <a:cubicBezTo>
                    <a:pt x="1607079" y="506412"/>
                    <a:pt x="1620308" y="477308"/>
                    <a:pt x="1625600" y="451908"/>
                  </a:cubicBezTo>
                  <a:cubicBezTo>
                    <a:pt x="1630892" y="426508"/>
                    <a:pt x="1628775" y="401108"/>
                    <a:pt x="1631950" y="372533"/>
                  </a:cubicBezTo>
                  <a:cubicBezTo>
                    <a:pt x="1635125" y="343958"/>
                    <a:pt x="1639888" y="306916"/>
                    <a:pt x="1644650" y="280458"/>
                  </a:cubicBezTo>
                  <a:cubicBezTo>
                    <a:pt x="1649412" y="254000"/>
                    <a:pt x="1654704" y="237066"/>
                    <a:pt x="1660525" y="213783"/>
                  </a:cubicBezTo>
                  <a:cubicBezTo>
                    <a:pt x="1666346" y="190500"/>
                    <a:pt x="1674283" y="161395"/>
                    <a:pt x="1679575" y="140758"/>
                  </a:cubicBezTo>
                  <a:cubicBezTo>
                    <a:pt x="1684867" y="120121"/>
                    <a:pt x="1685925" y="106891"/>
                    <a:pt x="1692275" y="89958"/>
                  </a:cubicBezTo>
                  <a:cubicBezTo>
                    <a:pt x="1698625" y="73025"/>
                    <a:pt x="1709738" y="53975"/>
                    <a:pt x="1717675" y="39158"/>
                  </a:cubicBezTo>
                  <a:cubicBezTo>
                    <a:pt x="1725613" y="24341"/>
                    <a:pt x="1729317" y="2116"/>
                    <a:pt x="1739900" y="1058"/>
                  </a:cubicBezTo>
                  <a:cubicBezTo>
                    <a:pt x="1750483" y="0"/>
                    <a:pt x="1765300" y="18521"/>
                    <a:pt x="1781175" y="32808"/>
                  </a:cubicBezTo>
                  <a:cubicBezTo>
                    <a:pt x="1797050" y="47096"/>
                    <a:pt x="1822979" y="66146"/>
                    <a:pt x="1835150" y="86783"/>
                  </a:cubicBezTo>
                  <a:cubicBezTo>
                    <a:pt x="1847321" y="107420"/>
                    <a:pt x="1846263" y="135466"/>
                    <a:pt x="1854200" y="156633"/>
                  </a:cubicBezTo>
                  <a:cubicBezTo>
                    <a:pt x="1862138" y="177800"/>
                    <a:pt x="1875367" y="189971"/>
                    <a:pt x="1882775" y="213783"/>
                  </a:cubicBezTo>
                  <a:cubicBezTo>
                    <a:pt x="1890183" y="237596"/>
                    <a:pt x="1891242" y="276225"/>
                    <a:pt x="1898650" y="299508"/>
                  </a:cubicBezTo>
                  <a:cubicBezTo>
                    <a:pt x="1906058" y="322791"/>
                    <a:pt x="1909763" y="343958"/>
                    <a:pt x="1927225" y="353483"/>
                  </a:cubicBezTo>
                  <a:cubicBezTo>
                    <a:pt x="1944688" y="363008"/>
                    <a:pt x="1982788" y="368300"/>
                    <a:pt x="2003425" y="356658"/>
                  </a:cubicBezTo>
                  <a:cubicBezTo>
                    <a:pt x="2024062" y="345016"/>
                    <a:pt x="2037292" y="301095"/>
                    <a:pt x="2051050" y="283633"/>
                  </a:cubicBezTo>
                  <a:cubicBezTo>
                    <a:pt x="2064808" y="266171"/>
                    <a:pt x="2072217" y="257704"/>
                    <a:pt x="2085975" y="251883"/>
                  </a:cubicBezTo>
                  <a:cubicBezTo>
                    <a:pt x="2099733" y="246062"/>
                    <a:pt x="2114550" y="242358"/>
                    <a:pt x="2133600" y="248708"/>
                  </a:cubicBezTo>
                  <a:cubicBezTo>
                    <a:pt x="2152650" y="255058"/>
                    <a:pt x="2181754" y="275696"/>
                    <a:pt x="2200275" y="289983"/>
                  </a:cubicBezTo>
                  <a:cubicBezTo>
                    <a:pt x="2218796" y="304270"/>
                    <a:pt x="2214033" y="327025"/>
                    <a:pt x="2244725" y="334433"/>
                  </a:cubicBezTo>
                  <a:cubicBezTo>
                    <a:pt x="2275417" y="341841"/>
                    <a:pt x="2360083" y="339725"/>
                    <a:pt x="2384425" y="334433"/>
                  </a:cubicBezTo>
                  <a:cubicBezTo>
                    <a:pt x="2408767" y="329141"/>
                    <a:pt x="2386542" y="312208"/>
                    <a:pt x="2390775" y="302683"/>
                  </a:cubicBezTo>
                  <a:cubicBezTo>
                    <a:pt x="2395008" y="293158"/>
                    <a:pt x="2399771" y="284162"/>
                    <a:pt x="2409825" y="277283"/>
                  </a:cubicBezTo>
                  <a:cubicBezTo>
                    <a:pt x="2419879" y="270404"/>
                    <a:pt x="2439988" y="267758"/>
                    <a:pt x="2451100" y="261408"/>
                  </a:cubicBezTo>
                  <a:cubicBezTo>
                    <a:pt x="2462212" y="255058"/>
                    <a:pt x="2466975" y="253470"/>
                    <a:pt x="2476500" y="239183"/>
                  </a:cubicBezTo>
                  <a:cubicBezTo>
                    <a:pt x="2486025" y="224896"/>
                    <a:pt x="2502429" y="195262"/>
                    <a:pt x="2508250" y="175683"/>
                  </a:cubicBezTo>
                  <a:cubicBezTo>
                    <a:pt x="2514071" y="156104"/>
                    <a:pt x="2509308" y="136525"/>
                    <a:pt x="2511425" y="121708"/>
                  </a:cubicBezTo>
                  <a:cubicBezTo>
                    <a:pt x="2513542" y="106891"/>
                    <a:pt x="2507721" y="93133"/>
                    <a:pt x="2520950" y="86783"/>
                  </a:cubicBezTo>
                  <a:cubicBezTo>
                    <a:pt x="2534179" y="80433"/>
                    <a:pt x="2569104" y="64558"/>
                    <a:pt x="2590800" y="83608"/>
                  </a:cubicBezTo>
                  <a:cubicBezTo>
                    <a:pt x="2612496" y="102658"/>
                    <a:pt x="2631017" y="152929"/>
                    <a:pt x="2651125" y="201083"/>
                  </a:cubicBezTo>
                  <a:cubicBezTo>
                    <a:pt x="2671233" y="249237"/>
                    <a:pt x="2692929" y="320675"/>
                    <a:pt x="2711450" y="372533"/>
                  </a:cubicBezTo>
                  <a:cubicBezTo>
                    <a:pt x="2729971" y="424391"/>
                    <a:pt x="2746375" y="484187"/>
                    <a:pt x="2762250" y="512233"/>
                  </a:cubicBezTo>
                  <a:cubicBezTo>
                    <a:pt x="2778125" y="540279"/>
                    <a:pt x="2791883" y="540808"/>
                    <a:pt x="2806700" y="540808"/>
                  </a:cubicBezTo>
                  <a:cubicBezTo>
                    <a:pt x="2821517" y="540808"/>
                    <a:pt x="2836863" y="526520"/>
                    <a:pt x="2851150" y="512233"/>
                  </a:cubicBezTo>
                  <a:cubicBezTo>
                    <a:pt x="2865437" y="497946"/>
                    <a:pt x="2879196" y="471487"/>
                    <a:pt x="2892425" y="455083"/>
                  </a:cubicBezTo>
                  <a:cubicBezTo>
                    <a:pt x="2905654" y="438679"/>
                    <a:pt x="2917825" y="423333"/>
                    <a:pt x="2930525" y="413808"/>
                  </a:cubicBezTo>
                  <a:cubicBezTo>
                    <a:pt x="2943225" y="404283"/>
                    <a:pt x="2950104" y="397933"/>
                    <a:pt x="2968625" y="397933"/>
                  </a:cubicBezTo>
                  <a:cubicBezTo>
                    <a:pt x="2987146" y="397933"/>
                    <a:pt x="3015721" y="401637"/>
                    <a:pt x="3041650" y="413808"/>
                  </a:cubicBezTo>
                  <a:cubicBezTo>
                    <a:pt x="3067579" y="425979"/>
                    <a:pt x="3096154" y="458787"/>
                    <a:pt x="3124200" y="470958"/>
                  </a:cubicBezTo>
                  <a:cubicBezTo>
                    <a:pt x="3152246" y="483129"/>
                    <a:pt x="3187700" y="486304"/>
                    <a:pt x="3209925" y="486833"/>
                  </a:cubicBezTo>
                  <a:cubicBezTo>
                    <a:pt x="3232150" y="487362"/>
                    <a:pt x="3243792" y="479425"/>
                    <a:pt x="3257550" y="474133"/>
                  </a:cubicBezTo>
                  <a:cubicBezTo>
                    <a:pt x="3271308" y="468841"/>
                    <a:pt x="3285067" y="461962"/>
                    <a:pt x="3292475" y="455083"/>
                  </a:cubicBezTo>
                  <a:cubicBezTo>
                    <a:pt x="3299883" y="448204"/>
                    <a:pt x="3300941" y="440531"/>
                    <a:pt x="3302000" y="432858"/>
                  </a:cubicBezTo>
                </a:path>
              </a:pathLst>
            </a:custGeom>
            <a:ln w="28575">
              <a:solidFill>
                <a:srgbClr val="0E4DC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7" name="直接连接符 36"/>
            <p:cNvCxnSpPr/>
            <p:nvPr/>
          </p:nvCxnSpPr>
          <p:spPr>
            <a:xfrm rot="5400000" flipH="1" flipV="1">
              <a:off x="2328177" y="4153554"/>
              <a:ext cx="576000" cy="3193"/>
            </a:xfrm>
            <a:prstGeom prst="line">
              <a:avLst/>
            </a:prstGeom>
            <a:ln w="19050">
              <a:solidFill>
                <a:srgbClr val="11576A"/>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5400000" flipH="1" flipV="1">
              <a:off x="1760404" y="4164129"/>
              <a:ext cx="540000" cy="3193"/>
            </a:xfrm>
            <a:prstGeom prst="line">
              <a:avLst/>
            </a:prstGeom>
            <a:ln w="19050">
              <a:solidFill>
                <a:srgbClr val="11576A"/>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rot="5400000" flipH="1" flipV="1">
              <a:off x="2568379" y="4062587"/>
              <a:ext cx="756000" cy="3193"/>
            </a:xfrm>
            <a:prstGeom prst="line">
              <a:avLst/>
            </a:prstGeom>
            <a:ln w="19050">
              <a:solidFill>
                <a:srgbClr val="11576A"/>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rot="5400000" flipH="1" flipV="1">
              <a:off x="3048364" y="4076337"/>
              <a:ext cx="720000" cy="3193"/>
            </a:xfrm>
            <a:prstGeom prst="line">
              <a:avLst/>
            </a:prstGeom>
            <a:ln w="19050">
              <a:solidFill>
                <a:srgbClr val="11576A"/>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rot="5400000" flipH="1" flipV="1">
              <a:off x="3257310" y="3968973"/>
              <a:ext cx="972000" cy="3193"/>
            </a:xfrm>
            <a:prstGeom prst="line">
              <a:avLst/>
            </a:prstGeom>
            <a:ln w="19050">
              <a:solidFill>
                <a:srgbClr val="11576A"/>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rot="5400000" flipH="1" flipV="1">
              <a:off x="3765845" y="3927185"/>
              <a:ext cx="1044000" cy="3193"/>
            </a:xfrm>
            <a:prstGeom prst="line">
              <a:avLst/>
            </a:prstGeom>
            <a:ln w="19050">
              <a:solidFill>
                <a:srgbClr val="11576A"/>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rot="5400000" flipH="1" flipV="1">
              <a:off x="4174404" y="4038453"/>
              <a:ext cx="792000" cy="3193"/>
            </a:xfrm>
            <a:prstGeom prst="line">
              <a:avLst/>
            </a:prstGeom>
            <a:ln w="19050">
              <a:solidFill>
                <a:srgbClr val="11576A"/>
              </a:solidFill>
              <a:prstDash val="sysDot"/>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565412" y="3000378"/>
              <a:ext cx="279244" cy="276999"/>
            </a:xfrm>
            <a:prstGeom prst="rect">
              <a:avLst/>
            </a:prstGeom>
            <a:noFill/>
          </p:spPr>
          <p:txBody>
            <a:bodyPr wrap="none" rtlCol="0">
              <a:spAutoFit/>
            </a:bodyPr>
            <a:lstStyle/>
            <a:p>
              <a:r>
                <a:rPr lang="zh-CN" altLang="en-US" sz="1200" b="1" dirty="0">
                  <a:solidFill>
                    <a:srgbClr val="11576A"/>
                  </a:solidFill>
                  <a:latin typeface="微软雅黑" pitchFamily="34" charset="-122"/>
                  <a:ea typeface="微软雅黑" pitchFamily="34" charset="-122"/>
                  <a:sym typeface="Symbol" charset="0"/>
                </a:rPr>
                <a:t></a:t>
              </a:r>
            </a:p>
          </p:txBody>
        </p:sp>
        <p:sp>
          <p:nvSpPr>
            <p:cNvPr id="45" name="TextBox 44"/>
            <p:cNvSpPr txBox="1"/>
            <p:nvPr/>
          </p:nvSpPr>
          <p:spPr>
            <a:xfrm>
              <a:off x="1928794" y="2714626"/>
              <a:ext cx="1071570" cy="276999"/>
            </a:xfrm>
            <a:prstGeom prst="rect">
              <a:avLst/>
            </a:prstGeom>
            <a:noFill/>
          </p:spPr>
          <p:txBody>
            <a:bodyPr wrap="square" rtlCol="0">
              <a:spAutoFit/>
            </a:bodyPr>
            <a:lstStyle/>
            <a:p>
              <a:r>
                <a:rPr lang="zh-CN" altLang="en-US" sz="1200" b="1" dirty="0">
                  <a:solidFill>
                    <a:srgbClr val="11576A"/>
                  </a:solidFill>
                  <a:latin typeface="微软雅黑" pitchFamily="34" charset="-122"/>
                  <a:ea typeface="微软雅黑" pitchFamily="34" charset="-122"/>
                </a:rPr>
                <a:t>工作集大小</a:t>
              </a:r>
            </a:p>
          </p:txBody>
        </p:sp>
        <p:sp>
          <p:nvSpPr>
            <p:cNvPr id="46" name="TextBox 45"/>
            <p:cNvSpPr txBox="1"/>
            <p:nvPr/>
          </p:nvSpPr>
          <p:spPr>
            <a:xfrm>
              <a:off x="5214942" y="4509329"/>
              <a:ext cx="857256" cy="276999"/>
            </a:xfrm>
            <a:prstGeom prst="rect">
              <a:avLst/>
            </a:prstGeom>
            <a:noFill/>
          </p:spPr>
          <p:txBody>
            <a:bodyPr wrap="square" rtlCol="0">
              <a:spAutoFit/>
            </a:bodyPr>
            <a:lstStyle/>
            <a:p>
              <a:r>
                <a:rPr lang="zh-CN" altLang="en-US" sz="1200" b="1" dirty="0">
                  <a:solidFill>
                    <a:srgbClr val="11576A"/>
                  </a:solidFill>
                  <a:latin typeface="微软雅黑" pitchFamily="34" charset="-122"/>
                  <a:ea typeface="微软雅黑" pitchFamily="34" charset="-122"/>
                </a:rPr>
                <a:t>过渡阶段</a:t>
              </a:r>
            </a:p>
          </p:txBody>
        </p:sp>
        <p:sp>
          <p:nvSpPr>
            <p:cNvPr id="47" name="TextBox 46"/>
            <p:cNvSpPr txBox="1"/>
            <p:nvPr/>
          </p:nvSpPr>
          <p:spPr>
            <a:xfrm>
              <a:off x="5214942" y="4723643"/>
              <a:ext cx="857256" cy="276999"/>
            </a:xfrm>
            <a:prstGeom prst="rect">
              <a:avLst/>
            </a:prstGeom>
            <a:noFill/>
          </p:spPr>
          <p:txBody>
            <a:bodyPr wrap="square" rtlCol="0">
              <a:spAutoFit/>
            </a:bodyPr>
            <a:lstStyle/>
            <a:p>
              <a:r>
                <a:rPr lang="zh-CN" altLang="en-US" sz="1200" b="1" dirty="0">
                  <a:solidFill>
                    <a:srgbClr val="11576A"/>
                  </a:solidFill>
                  <a:latin typeface="微软雅黑" pitchFamily="34" charset="-122"/>
                  <a:ea typeface="微软雅黑" pitchFamily="34" charset="-122"/>
                </a:rPr>
                <a:t>稳定阶段</a:t>
              </a:r>
            </a:p>
          </p:txBody>
        </p:sp>
        <p:cxnSp>
          <p:nvCxnSpPr>
            <p:cNvPr id="51" name="直接连接符 50"/>
            <p:cNvCxnSpPr/>
            <p:nvPr/>
          </p:nvCxnSpPr>
          <p:spPr>
            <a:xfrm>
              <a:off x="1819256" y="4610114"/>
              <a:ext cx="214314"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2609836" y="4610114"/>
              <a:ext cx="32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409942" y="4610114"/>
              <a:ext cx="32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4254350" y="4610114"/>
              <a:ext cx="32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2019282" y="4830778"/>
              <a:ext cx="540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2954326" y="4830778"/>
              <a:ext cx="432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3754432" y="4830778"/>
              <a:ext cx="5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4643438" y="4830778"/>
              <a:ext cx="504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5214942" y="4148148"/>
              <a:ext cx="500066" cy="276999"/>
            </a:xfrm>
            <a:prstGeom prst="rect">
              <a:avLst/>
            </a:prstGeom>
            <a:noFill/>
          </p:spPr>
          <p:txBody>
            <a:bodyPr wrap="square" rtlCol="0">
              <a:spAutoFit/>
            </a:bodyPr>
            <a:lstStyle/>
            <a:p>
              <a:r>
                <a:rPr lang="zh-CN" altLang="en-US" sz="1200" b="1" dirty="0">
                  <a:solidFill>
                    <a:srgbClr val="11576A"/>
                  </a:solidFill>
                  <a:latin typeface="微软雅黑" pitchFamily="34" charset="-122"/>
                  <a:ea typeface="微软雅黑" pitchFamily="34" charset="-122"/>
                </a:rPr>
                <a:t>时间</a:t>
              </a:r>
            </a:p>
          </p:txBody>
        </p:sp>
      </p:grpSp>
      <p:cxnSp>
        <p:nvCxnSpPr>
          <p:cNvPr id="48" name="直接连接符 47"/>
          <p:cNvCxnSpPr/>
          <p:nvPr/>
        </p:nvCxnSpPr>
        <p:spPr>
          <a:xfrm>
            <a:off x="2934838" y="3545840"/>
            <a:ext cx="214314"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3136734" y="3759883"/>
            <a:ext cx="3128156" cy="1588"/>
            <a:chOff x="1761152" y="3057235"/>
            <a:chExt cx="3128156" cy="1588"/>
          </a:xfrm>
        </p:grpSpPr>
        <p:cxnSp>
          <p:nvCxnSpPr>
            <p:cNvPr id="49" name="直接连接符 48"/>
            <p:cNvCxnSpPr/>
            <p:nvPr/>
          </p:nvCxnSpPr>
          <p:spPr>
            <a:xfrm>
              <a:off x="1761152" y="3057235"/>
              <a:ext cx="540000"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696196" y="3057235"/>
              <a:ext cx="432000"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3496302" y="3057235"/>
              <a:ext cx="504000"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4385308" y="3057235"/>
              <a:ext cx="504000"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3723306" y="3542302"/>
            <a:ext cx="1968514" cy="1588"/>
            <a:chOff x="2351706" y="2836571"/>
            <a:chExt cx="1968514" cy="1588"/>
          </a:xfrm>
        </p:grpSpPr>
        <p:cxnSp>
          <p:nvCxnSpPr>
            <p:cNvPr id="62" name="直接连接符 61"/>
            <p:cNvCxnSpPr/>
            <p:nvPr/>
          </p:nvCxnSpPr>
          <p:spPr>
            <a:xfrm>
              <a:off x="2351706" y="2836571"/>
              <a:ext cx="324000"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3151812" y="2836571"/>
              <a:ext cx="324000"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3996220" y="2836571"/>
              <a:ext cx="324000"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6006C676-79D1-E831-8066-6857DB04179F}"/>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1" name="标题 8">
            <a:extLst>
              <a:ext uri="{FF2B5EF4-FFF2-40B4-BE49-F238E27FC236}">
                <a16:creationId xmlns:a16="http://schemas.microsoft.com/office/drawing/2014/main" id="{142F3F1E-8231-4E87-302A-ABF10A518E9F}"/>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工作集的变化</a:t>
            </a:r>
          </a:p>
        </p:txBody>
      </p:sp>
    </p:spTree>
    <p:extLst>
      <p:ext uri="{BB962C8B-B14F-4D97-AF65-F5344CB8AC3E}">
        <p14:creationId xmlns:p14="http://schemas.microsoft.com/office/powerpoint/2010/main" val="350294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1" presetClass="entr" presetSubtype="0" fill="hold" nodeType="withEffect">
                                  <p:stCondLst>
                                    <p:cond delay="0"/>
                                  </p:stCondLst>
                                  <p:childTnLst>
                                    <p:set>
                                      <p:cBhvr>
                                        <p:cTn id="9" dur="1" fill="hold">
                                          <p:stCondLst>
                                            <p:cond delay="0"/>
                                          </p:stCondLst>
                                        </p:cTn>
                                        <p:tgtEl>
                                          <p:spTgt spid="48"/>
                                        </p:tgtEl>
                                        <p:attrNameLst>
                                          <p:attrName>style.visibility</p:attrName>
                                        </p:attrNameLst>
                                      </p:cBhvr>
                                      <p:to>
                                        <p:strVal val="visible"/>
                                      </p:to>
                                    </p:set>
                                  </p:childTnLst>
                                </p:cTn>
                              </p:par>
                              <p:par>
                                <p:cTn id="10" presetID="35" presetClass="emph" presetSubtype="0" repeatCount="indefinite" fill="hold" nodeType="withEffect">
                                  <p:stCondLst>
                                    <p:cond delay="0"/>
                                  </p:stCondLst>
                                  <p:endCondLst>
                                    <p:cond evt="onNext" delay="0">
                                      <p:tgtEl>
                                        <p:sldTgt/>
                                      </p:tgtEl>
                                    </p:cond>
                                  </p:endCondLst>
                                  <p:childTnLst>
                                    <p:anim calcmode="discrete" valueType="str">
                                      <p:cBhvr>
                                        <p:cTn id="11"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48"/>
                                        </p:tgtEl>
                                        <p:attrNameLst>
                                          <p:attrName>style.visibility</p:attrName>
                                        </p:attrNameLst>
                                      </p:cBhvr>
                                      <p:to>
                                        <p:strVal val="hidden"/>
                                      </p:to>
                                    </p:set>
                                  </p:childTnLst>
                                </p:cTn>
                              </p:par>
                              <p:par>
                                <p:cTn id="16" presetID="22" presetClass="entr" presetSubtype="8"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35" presetClass="emph" presetSubtype="0" repeatCount="indefinite" fill="hold" nodeType="withEffect">
                                  <p:stCondLst>
                                    <p:cond delay="0"/>
                                  </p:stCondLst>
                                  <p:endCondLst>
                                    <p:cond evt="onNext" delay="0">
                                      <p:tgtEl>
                                        <p:sldTgt/>
                                      </p:tgtEl>
                                    </p:cond>
                                  </p:endCondLst>
                                  <p:childTnLst>
                                    <p:anim calcmode="discrete" valueType="str">
                                      <p:cBhvr>
                                        <p:cTn id="22" dur="5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22" presetClass="entr" presetSubtype="8"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par>
                                <p:cTn id="30" presetID="1"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childTnLst>
                                </p:cTn>
                              </p:par>
                              <p:par>
                                <p:cTn id="32" presetID="35" presetClass="emph" presetSubtype="0" repeatCount="indefinite" fill="hold" nodeType="withEffect">
                                  <p:stCondLst>
                                    <p:cond delay="0"/>
                                  </p:stCondLst>
                                  <p:endCondLst>
                                    <p:cond evt="onNext" delay="0">
                                      <p:tgtEl>
                                        <p:sldTgt/>
                                      </p:tgtEl>
                                    </p:cond>
                                  </p:endCondLst>
                                  <p:childTnLst>
                                    <p:anim calcmode="discrete" valueType="str">
                                      <p:cBhvr>
                                        <p:cTn id="33" dur="5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731520" y="1556792"/>
            <a:ext cx="11197128" cy="461665"/>
          </a:xfrm>
          <a:prstGeom prst="rect">
            <a:avLst/>
          </a:prstGeom>
          <a:noFill/>
          <a:effectLst/>
        </p:spPr>
        <p:txBody>
          <a:bodyPr wrap="square" rtlCol="0">
            <a:spAutoFit/>
          </a:bodyPr>
          <a:lstStyle/>
          <a:p>
            <a:pPr marL="288925" indent="-288925">
              <a:buClr>
                <a:srgbClr val="FFFF66"/>
              </a:buClr>
            </a:pPr>
            <a:r>
              <a:rPr lang="zh-CN" altLang="en-US" sz="2400" b="1" dirty="0">
                <a:solidFill>
                  <a:srgbClr val="11576A"/>
                </a:solidFill>
                <a:latin typeface="微软雅黑" pitchFamily="34" charset="-122"/>
                <a:ea typeface="微软雅黑" pitchFamily="34" charset="-122"/>
                <a:sym typeface="MS PGothic" charset="0"/>
              </a:rPr>
              <a:t>在当前时刻，进程实际驻留在内存当中的页面集合</a:t>
            </a:r>
            <a:r>
              <a:rPr lang="en-US" altLang="zh-CN" sz="2400" b="1" dirty="0">
                <a:solidFill>
                  <a:srgbClr val="11576A"/>
                </a:solidFill>
                <a:latin typeface="微软雅黑" pitchFamily="34" charset="-122"/>
                <a:ea typeface="微软雅黑" pitchFamily="34" charset="-122"/>
                <a:sym typeface="MS PGothic" charset="0"/>
              </a:rPr>
              <a:t>(</a:t>
            </a:r>
            <a:r>
              <a:rPr lang="zh-CN" altLang="en-US" sz="2400" b="1" dirty="0">
                <a:solidFill>
                  <a:srgbClr val="11576A"/>
                </a:solidFill>
                <a:latin typeface="微软雅黑" pitchFamily="34" charset="-122"/>
                <a:ea typeface="微软雅黑" pitchFamily="34" charset="-122"/>
                <a:sym typeface="MS PGothic" charset="0"/>
              </a:rPr>
              <a:t>也就是进程被分配的页框数量</a:t>
            </a:r>
            <a:r>
              <a:rPr lang="en-US" altLang="zh-CN" sz="2400" b="1" dirty="0">
                <a:solidFill>
                  <a:srgbClr val="11576A"/>
                </a:solidFill>
                <a:latin typeface="微软雅黑" pitchFamily="34" charset="-122"/>
                <a:ea typeface="微软雅黑" pitchFamily="34" charset="-122"/>
                <a:sym typeface="MS PGothic" charset="0"/>
              </a:rPr>
              <a:t>)</a:t>
            </a:r>
            <a:endParaRPr lang="zh-CN" altLang="en-US" sz="2400" b="1" dirty="0">
              <a:solidFill>
                <a:srgbClr val="11576A"/>
              </a:solidFill>
              <a:latin typeface="微软雅黑" pitchFamily="34" charset="-122"/>
              <a:ea typeface="微软雅黑" pitchFamily="34" charset="-122"/>
            </a:endParaRPr>
          </a:p>
        </p:txBody>
      </p:sp>
      <p:grpSp>
        <p:nvGrpSpPr>
          <p:cNvPr id="5" name="组合 4"/>
          <p:cNvGrpSpPr/>
          <p:nvPr/>
        </p:nvGrpSpPr>
        <p:grpSpPr>
          <a:xfrm>
            <a:off x="731520" y="1988840"/>
            <a:ext cx="4716408" cy="502152"/>
            <a:chOff x="837948" y="1674007"/>
            <a:chExt cx="4716408" cy="502152"/>
          </a:xfrm>
        </p:grpSpPr>
        <p:sp>
          <p:nvSpPr>
            <p:cNvPr id="83" name="TextBox 82"/>
            <p:cNvSpPr txBox="1"/>
            <p:nvPr/>
          </p:nvSpPr>
          <p:spPr>
            <a:xfrm>
              <a:off x="837948" y="1674007"/>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10" name="TextBox 9"/>
            <p:cNvSpPr txBox="1"/>
            <p:nvPr/>
          </p:nvSpPr>
          <p:spPr>
            <a:xfrm>
              <a:off x="1124832" y="1714494"/>
              <a:ext cx="4429524" cy="461665"/>
            </a:xfrm>
            <a:prstGeom prst="rect">
              <a:avLst/>
            </a:prstGeom>
            <a:noFill/>
            <a:effectLst/>
          </p:spPr>
          <p:txBody>
            <a:bodyPr wrap="square" rtlCol="0">
              <a:spAutoFit/>
            </a:bodyPr>
            <a:lstStyle/>
            <a:p>
              <a:pPr marL="288925" indent="-288925">
                <a:spcBef>
                  <a:spcPct val="30000"/>
                </a:spcBef>
                <a:buClr>
                  <a:srgbClr val="FFFF66"/>
                </a:buClr>
              </a:pPr>
              <a:r>
                <a:rPr lang="zh-CN" altLang="en-US" sz="2400" b="1" dirty="0">
                  <a:solidFill>
                    <a:srgbClr val="11576A"/>
                  </a:solidFill>
                  <a:latin typeface="微软雅黑" pitchFamily="34" charset="-122"/>
                  <a:ea typeface="微软雅黑" pitchFamily="34" charset="-122"/>
                  <a:sym typeface="MS PGothic" charset="0"/>
                </a:rPr>
                <a:t>工作集与常驻集的关系</a:t>
              </a:r>
              <a:endParaRPr lang="en-US" altLang="zh-CN" sz="2400" b="1" dirty="0">
                <a:solidFill>
                  <a:srgbClr val="11576A"/>
                </a:solidFill>
                <a:latin typeface="微软雅黑" pitchFamily="34" charset="-122"/>
                <a:ea typeface="微软雅黑" pitchFamily="34" charset="-122"/>
                <a:sym typeface="MS PGothic" charset="0"/>
              </a:endParaRPr>
            </a:p>
          </p:txBody>
        </p:sp>
      </p:grpSp>
      <p:grpSp>
        <p:nvGrpSpPr>
          <p:cNvPr id="4" name="组合 3"/>
          <p:cNvGrpSpPr/>
          <p:nvPr/>
        </p:nvGrpSpPr>
        <p:grpSpPr>
          <a:xfrm>
            <a:off x="1114310" y="2370873"/>
            <a:ext cx="8582090" cy="731156"/>
            <a:chOff x="1220738" y="2056038"/>
            <a:chExt cx="8582090" cy="731156"/>
          </a:xfrm>
        </p:grpSpPr>
        <p:sp>
          <p:nvSpPr>
            <p:cNvPr id="11" name="TextBox 10"/>
            <p:cNvSpPr txBox="1"/>
            <p:nvPr/>
          </p:nvSpPr>
          <p:spPr>
            <a:xfrm>
              <a:off x="1387450" y="2056038"/>
              <a:ext cx="4857784" cy="400110"/>
            </a:xfrm>
            <a:prstGeom prst="rect">
              <a:avLst/>
            </a:prstGeom>
            <a:noFill/>
            <a:effectLst/>
          </p:spPr>
          <p:txBody>
            <a:bodyPr wrap="square" rtlCol="0">
              <a:spAutoFit/>
            </a:bodyPr>
            <a:lstStyle/>
            <a:p>
              <a:pPr marL="0" lvl="1">
                <a:spcBef>
                  <a:spcPct val="3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工作集是进程在运行过程中固有的性质</a:t>
              </a:r>
              <a:endParaRPr lang="en-US" altLang="zh-CN" sz="2000" b="1" dirty="0">
                <a:solidFill>
                  <a:srgbClr val="11576A"/>
                </a:solidFill>
                <a:latin typeface="微软雅黑" pitchFamily="34" charset="-122"/>
                <a:ea typeface="微软雅黑" pitchFamily="34" charset="-122"/>
                <a:sym typeface="MS PGothic" charset="0"/>
              </a:endParaRPr>
            </a:p>
          </p:txBody>
        </p:sp>
        <p:pic>
          <p:nvPicPr>
            <p:cNvPr id="7" name="图片 6" descr="小点1.png"/>
            <p:cNvPicPr>
              <a:picLocks noChangeAspect="1"/>
            </p:cNvPicPr>
            <p:nvPr/>
          </p:nvPicPr>
          <p:blipFill>
            <a:blip r:embed="rId2" cstate="print"/>
            <a:stretch>
              <a:fillRect/>
            </a:stretch>
          </p:blipFill>
          <p:spPr>
            <a:xfrm>
              <a:off x="1220738" y="2157636"/>
              <a:ext cx="151066" cy="148997"/>
            </a:xfrm>
            <a:prstGeom prst="rect">
              <a:avLst/>
            </a:prstGeom>
            <a:effectLst/>
          </p:spPr>
        </p:pic>
        <p:sp>
          <p:nvSpPr>
            <p:cNvPr id="8" name="TextBox 7"/>
            <p:cNvSpPr txBox="1"/>
            <p:nvPr/>
          </p:nvSpPr>
          <p:spPr>
            <a:xfrm>
              <a:off x="1387450" y="2387084"/>
              <a:ext cx="8415378" cy="400110"/>
            </a:xfrm>
            <a:prstGeom prst="rect">
              <a:avLst/>
            </a:prstGeom>
            <a:noFill/>
            <a:effectLst/>
          </p:spPr>
          <p:txBody>
            <a:bodyPr wrap="square" rtlCol="0">
              <a:spAutoFit/>
            </a:bodyPr>
            <a:lstStyle/>
            <a:p>
              <a:pPr marL="0" lvl="1">
                <a:spcBef>
                  <a:spcPct val="3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常驻集取决于系统分配给进程的物理页面数目</a:t>
              </a:r>
              <a:r>
                <a:rPr lang="zh-CN" altLang="en-US" sz="2000" b="1" dirty="0">
                  <a:solidFill>
                    <a:srgbClr val="11576A"/>
                  </a:solidFill>
                  <a:latin typeface="微软雅黑" pitchFamily="34" charset="-122"/>
                  <a:ea typeface="微软雅黑" pitchFamily="34" charset="-122"/>
                  <a:sym typeface="MS PGothic" charset="0"/>
                </a:rPr>
                <a:t>和</a:t>
              </a:r>
              <a:r>
                <a:rPr lang="zh-CN" altLang="zh-CN" sz="2000" b="1" dirty="0">
                  <a:solidFill>
                    <a:srgbClr val="11576A"/>
                  </a:solidFill>
                  <a:latin typeface="微软雅黑" pitchFamily="34" charset="-122"/>
                  <a:ea typeface="微软雅黑" pitchFamily="34" charset="-122"/>
                  <a:sym typeface="MS PGothic" charset="0"/>
                </a:rPr>
                <a:t>页面置换算法</a:t>
              </a:r>
              <a:endParaRPr lang="en-US" altLang="zh-CN" sz="2000" b="1" dirty="0">
                <a:solidFill>
                  <a:srgbClr val="11576A"/>
                </a:solidFill>
                <a:latin typeface="微软雅黑" pitchFamily="34" charset="-122"/>
                <a:ea typeface="微软雅黑" pitchFamily="34" charset="-122"/>
                <a:sym typeface="MS PGothic" charset="0"/>
              </a:endParaRPr>
            </a:p>
          </p:txBody>
        </p:sp>
        <p:pic>
          <p:nvPicPr>
            <p:cNvPr id="9" name="图片 8" descr="小点1.png"/>
            <p:cNvPicPr>
              <a:picLocks noChangeAspect="1"/>
            </p:cNvPicPr>
            <p:nvPr/>
          </p:nvPicPr>
          <p:blipFill>
            <a:blip r:embed="rId2" cstate="print"/>
            <a:stretch>
              <a:fillRect/>
            </a:stretch>
          </p:blipFill>
          <p:spPr>
            <a:xfrm>
              <a:off x="1220738" y="2488682"/>
              <a:ext cx="151066" cy="148997"/>
            </a:xfrm>
            <a:prstGeom prst="rect">
              <a:avLst/>
            </a:prstGeom>
            <a:effectLst/>
          </p:spPr>
        </p:pic>
      </p:grpSp>
      <p:grpSp>
        <p:nvGrpSpPr>
          <p:cNvPr id="3" name="组合 2"/>
          <p:cNvGrpSpPr/>
          <p:nvPr/>
        </p:nvGrpSpPr>
        <p:grpSpPr>
          <a:xfrm>
            <a:off x="731520" y="2348880"/>
            <a:ext cx="7812752" cy="1339944"/>
            <a:chOff x="837948" y="2917800"/>
            <a:chExt cx="7812752" cy="1339944"/>
          </a:xfrm>
        </p:grpSpPr>
        <p:sp>
          <p:nvSpPr>
            <p:cNvPr id="13" name="TextBox 12"/>
            <p:cNvSpPr txBox="1"/>
            <p:nvPr/>
          </p:nvSpPr>
          <p:spPr>
            <a:xfrm>
              <a:off x="837948" y="2917800"/>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14" name="TextBox 13"/>
            <p:cNvSpPr txBox="1"/>
            <p:nvPr/>
          </p:nvSpPr>
          <p:spPr>
            <a:xfrm>
              <a:off x="1124832" y="2957968"/>
              <a:ext cx="4213500" cy="461665"/>
            </a:xfrm>
            <a:prstGeom prst="rect">
              <a:avLst/>
            </a:prstGeom>
            <a:noFill/>
            <a:effectLst/>
          </p:spPr>
          <p:txBody>
            <a:bodyPr wrap="square" rtlCol="0">
              <a:spAutoFit/>
            </a:bodyPr>
            <a:lstStyle/>
            <a:p>
              <a:pPr marL="288925" indent="-288925">
                <a:spcBef>
                  <a:spcPct val="30000"/>
                </a:spcBef>
                <a:buClr>
                  <a:srgbClr val="FFFF66"/>
                </a:buClr>
              </a:pPr>
              <a:r>
                <a:rPr lang="zh-CN" altLang="en-US" sz="2400" b="1" dirty="0">
                  <a:solidFill>
                    <a:srgbClr val="11576A"/>
                  </a:solidFill>
                  <a:latin typeface="微软雅黑" pitchFamily="34" charset="-122"/>
                  <a:ea typeface="微软雅黑" pitchFamily="34" charset="-122"/>
                  <a:sym typeface="MS PGothic" charset="0"/>
                </a:rPr>
                <a:t>缺页率与常驻集的关系</a:t>
              </a:r>
              <a:endParaRPr lang="en-US" altLang="zh-CN" sz="2400" b="1" dirty="0">
                <a:solidFill>
                  <a:srgbClr val="11576A"/>
                </a:solidFill>
                <a:latin typeface="微软雅黑" pitchFamily="34" charset="-122"/>
                <a:ea typeface="微软雅黑" pitchFamily="34" charset="-122"/>
                <a:sym typeface="MS PGothic" charset="0"/>
              </a:endParaRPr>
            </a:p>
          </p:txBody>
        </p:sp>
        <p:sp>
          <p:nvSpPr>
            <p:cNvPr id="15" name="TextBox 14"/>
            <p:cNvSpPr txBox="1"/>
            <p:nvPr/>
          </p:nvSpPr>
          <p:spPr>
            <a:xfrm>
              <a:off x="1387450" y="3286130"/>
              <a:ext cx="4454938" cy="400110"/>
            </a:xfrm>
            <a:prstGeom prst="rect">
              <a:avLst/>
            </a:prstGeom>
            <a:noFill/>
            <a:effectLst/>
          </p:spPr>
          <p:txBody>
            <a:bodyPr wrap="square" rtlCol="0">
              <a:spAutoFit/>
            </a:bodyPr>
            <a:lstStyle/>
            <a:p>
              <a:pPr marL="0" lvl="1">
                <a:spcBef>
                  <a:spcPct val="3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常驻集 </a:t>
              </a:r>
              <a:r>
                <a:rPr lang="zh-CN" altLang="zh-CN" sz="2000" b="1" dirty="0">
                  <a:solidFill>
                    <a:srgbClr val="11576A"/>
                  </a:solidFill>
                  <a:latin typeface="微软雅黑" pitchFamily="34" charset="-122"/>
                  <a:ea typeface="微软雅黑" pitchFamily="34" charset="-122"/>
                  <a:sym typeface="Symbol" charset="0"/>
                </a:rPr>
                <a:t></a:t>
              </a:r>
              <a:r>
                <a:rPr lang="zh-CN" altLang="en-US" sz="2000" b="1" dirty="0">
                  <a:solidFill>
                    <a:srgbClr val="11576A"/>
                  </a:solidFill>
                  <a:latin typeface="微软雅黑" pitchFamily="34" charset="-122"/>
                  <a:ea typeface="微软雅黑" pitchFamily="34" charset="-122"/>
                  <a:sym typeface="Symbol" charset="0"/>
                </a:rPr>
                <a:t> </a:t>
              </a:r>
              <a:r>
                <a:rPr lang="zh-CN" altLang="zh-CN" sz="2000" b="1" dirty="0">
                  <a:solidFill>
                    <a:srgbClr val="11576A"/>
                  </a:solidFill>
                  <a:latin typeface="微软雅黑" pitchFamily="34" charset="-122"/>
                  <a:ea typeface="微软雅黑" pitchFamily="34" charset="-122"/>
                  <a:sym typeface="Symbol" charset="0"/>
                </a:rPr>
                <a:t>工作集</a:t>
              </a:r>
              <a:r>
                <a:rPr lang="zh-CN" altLang="en-US" sz="2000" b="1" dirty="0">
                  <a:solidFill>
                    <a:srgbClr val="11576A"/>
                  </a:solidFill>
                  <a:latin typeface="微软雅黑" pitchFamily="34" charset="-122"/>
                  <a:ea typeface="微软雅黑" pitchFamily="34" charset="-122"/>
                  <a:sym typeface="Symbol" charset="0"/>
                </a:rPr>
                <a:t>时</a:t>
              </a:r>
              <a:r>
                <a:rPr lang="zh-CN" altLang="zh-CN" sz="2000" b="1" dirty="0">
                  <a:solidFill>
                    <a:srgbClr val="11576A"/>
                  </a:solidFill>
                  <a:latin typeface="微软雅黑" pitchFamily="34" charset="-122"/>
                  <a:ea typeface="微软雅黑" pitchFamily="34" charset="-122"/>
                  <a:sym typeface="Symbol" charset="0"/>
                </a:rPr>
                <a:t>，缺页</a:t>
              </a:r>
              <a:r>
                <a:rPr lang="zh-CN" altLang="en-US" sz="2000" b="1" dirty="0">
                  <a:solidFill>
                    <a:srgbClr val="11576A"/>
                  </a:solidFill>
                  <a:latin typeface="微软雅黑" pitchFamily="34" charset="-122"/>
                  <a:ea typeface="微软雅黑" pitchFamily="34" charset="-122"/>
                  <a:sym typeface="Symbol" charset="0"/>
                </a:rPr>
                <a:t>较少</a:t>
              </a:r>
              <a:endParaRPr lang="en-US" altLang="zh-CN" sz="2000" b="1" dirty="0">
                <a:solidFill>
                  <a:srgbClr val="11576A"/>
                </a:solidFill>
                <a:latin typeface="微软雅黑" pitchFamily="34" charset="-122"/>
                <a:ea typeface="微软雅黑" pitchFamily="34" charset="-122"/>
                <a:sym typeface="Symbol" charset="0"/>
              </a:endParaRPr>
            </a:p>
          </p:txBody>
        </p:sp>
        <p:pic>
          <p:nvPicPr>
            <p:cNvPr id="16" name="图片 15" descr="小点1.png"/>
            <p:cNvPicPr>
              <a:picLocks noChangeAspect="1"/>
            </p:cNvPicPr>
            <p:nvPr/>
          </p:nvPicPr>
          <p:blipFill>
            <a:blip r:embed="rId2" cstate="print"/>
            <a:stretch>
              <a:fillRect/>
            </a:stretch>
          </p:blipFill>
          <p:spPr>
            <a:xfrm>
              <a:off x="1220738" y="3387728"/>
              <a:ext cx="151066" cy="148997"/>
            </a:xfrm>
            <a:prstGeom prst="rect">
              <a:avLst/>
            </a:prstGeom>
            <a:effectLst/>
          </p:spPr>
        </p:pic>
        <p:sp>
          <p:nvSpPr>
            <p:cNvPr id="17" name="TextBox 16"/>
            <p:cNvSpPr txBox="1"/>
            <p:nvPr/>
          </p:nvSpPr>
          <p:spPr>
            <a:xfrm>
              <a:off x="1387450" y="3571882"/>
              <a:ext cx="6111122" cy="400110"/>
            </a:xfrm>
            <a:prstGeom prst="rect">
              <a:avLst/>
            </a:prstGeom>
            <a:noFill/>
            <a:effectLst/>
          </p:spPr>
          <p:txBody>
            <a:bodyPr wrap="square" rtlCol="0">
              <a:spAutoFit/>
            </a:bodyPr>
            <a:lstStyle/>
            <a:p>
              <a:pPr marL="0" lvl="1">
                <a:spcBef>
                  <a:spcPct val="30000"/>
                </a:spcBef>
                <a:buClr>
                  <a:srgbClr val="FFFF66"/>
                </a:buClr>
              </a:pPr>
              <a:r>
                <a:rPr lang="zh-CN" altLang="zh-CN" sz="2000" b="1" dirty="0">
                  <a:solidFill>
                    <a:srgbClr val="11576A"/>
                  </a:solidFill>
                  <a:latin typeface="微软雅黑" pitchFamily="34" charset="-122"/>
                  <a:ea typeface="微软雅黑" pitchFamily="34" charset="-122"/>
                  <a:sym typeface="Symbol" charset="0"/>
                </a:rPr>
                <a:t>工作集发生剧烈变动</a:t>
              </a:r>
              <a:r>
                <a:rPr lang="zh-CN" altLang="en-US" sz="2000" b="1" dirty="0">
                  <a:solidFill>
                    <a:srgbClr val="11576A"/>
                  </a:solidFill>
                  <a:latin typeface="微软雅黑" pitchFamily="34" charset="-122"/>
                  <a:ea typeface="微软雅黑" pitchFamily="34" charset="-122"/>
                  <a:sym typeface="Symbol" charset="0"/>
                </a:rPr>
                <a:t>（</a:t>
              </a:r>
              <a:r>
                <a:rPr lang="zh-CN" altLang="zh-CN" sz="2000" b="1" dirty="0">
                  <a:solidFill>
                    <a:srgbClr val="11576A"/>
                  </a:solidFill>
                  <a:latin typeface="微软雅黑" pitchFamily="34" charset="-122"/>
                  <a:ea typeface="微软雅黑" pitchFamily="34" charset="-122"/>
                  <a:sym typeface="Symbol" charset="0"/>
                </a:rPr>
                <a:t>过渡</a:t>
              </a:r>
              <a:r>
                <a:rPr lang="zh-CN" altLang="en-US" sz="2000" b="1" dirty="0">
                  <a:solidFill>
                    <a:srgbClr val="11576A"/>
                  </a:solidFill>
                  <a:latin typeface="微软雅黑" pitchFamily="34" charset="-122"/>
                  <a:ea typeface="微软雅黑" pitchFamily="34" charset="-122"/>
                  <a:sym typeface="Symbol" charset="0"/>
                </a:rPr>
                <a:t>）时</a:t>
              </a:r>
              <a:r>
                <a:rPr lang="zh-CN" altLang="zh-CN" sz="2000" b="1" dirty="0">
                  <a:solidFill>
                    <a:srgbClr val="11576A"/>
                  </a:solidFill>
                  <a:latin typeface="微软雅黑" pitchFamily="34" charset="-122"/>
                  <a:ea typeface="微软雅黑" pitchFamily="34" charset="-122"/>
                  <a:sym typeface="Symbol" charset="0"/>
                </a:rPr>
                <a:t>，</a:t>
              </a:r>
              <a:r>
                <a:rPr lang="zh-CN" altLang="en-US" sz="2000" b="1" dirty="0">
                  <a:solidFill>
                    <a:srgbClr val="11576A"/>
                  </a:solidFill>
                  <a:latin typeface="微软雅黑" pitchFamily="34" charset="-122"/>
                  <a:ea typeface="微软雅黑" pitchFamily="34" charset="-122"/>
                  <a:sym typeface="Symbol" charset="0"/>
                </a:rPr>
                <a:t>缺页较多</a:t>
              </a:r>
              <a:endParaRPr lang="en-US" altLang="zh-CN" sz="2000" b="1" dirty="0">
                <a:solidFill>
                  <a:srgbClr val="11576A"/>
                </a:solidFill>
                <a:latin typeface="微软雅黑" pitchFamily="34" charset="-122"/>
                <a:ea typeface="微软雅黑" pitchFamily="34" charset="-122"/>
                <a:sym typeface="MS PGothic" charset="0"/>
              </a:endParaRPr>
            </a:p>
          </p:txBody>
        </p:sp>
        <p:pic>
          <p:nvPicPr>
            <p:cNvPr id="18" name="图片 17" descr="小点1.png"/>
            <p:cNvPicPr>
              <a:picLocks noChangeAspect="1"/>
            </p:cNvPicPr>
            <p:nvPr/>
          </p:nvPicPr>
          <p:blipFill>
            <a:blip r:embed="rId2" cstate="print"/>
            <a:stretch>
              <a:fillRect/>
            </a:stretch>
          </p:blipFill>
          <p:spPr>
            <a:xfrm>
              <a:off x="1220738" y="3673480"/>
              <a:ext cx="151066" cy="148997"/>
            </a:xfrm>
            <a:prstGeom prst="rect">
              <a:avLst/>
            </a:prstGeom>
            <a:effectLst/>
          </p:spPr>
        </p:pic>
        <p:sp>
          <p:nvSpPr>
            <p:cNvPr id="19" name="TextBox 18"/>
            <p:cNvSpPr txBox="1"/>
            <p:nvPr/>
          </p:nvSpPr>
          <p:spPr>
            <a:xfrm>
              <a:off x="1387450" y="3857634"/>
              <a:ext cx="7263250" cy="400110"/>
            </a:xfrm>
            <a:prstGeom prst="rect">
              <a:avLst/>
            </a:prstGeom>
            <a:noFill/>
            <a:effectLst/>
          </p:spPr>
          <p:txBody>
            <a:bodyPr wrap="square" rtlCol="0">
              <a:spAutoFit/>
            </a:bodyPr>
            <a:lstStyle/>
            <a:p>
              <a:pPr marL="0" lvl="1">
                <a:spcBef>
                  <a:spcPct val="3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进程常驻集大小达到</a:t>
              </a:r>
              <a:r>
                <a:rPr lang="zh-CN" altLang="en-US" sz="2000" b="1" dirty="0">
                  <a:solidFill>
                    <a:srgbClr val="11576A"/>
                  </a:solidFill>
                  <a:latin typeface="微软雅黑" pitchFamily="34" charset="-122"/>
                  <a:ea typeface="微软雅黑" pitchFamily="34" charset="-122"/>
                  <a:sym typeface="MS PGothic" charset="0"/>
                </a:rPr>
                <a:t>一定</a:t>
              </a:r>
              <a:r>
                <a:rPr lang="zh-CN" altLang="zh-CN" sz="2000" b="1" dirty="0">
                  <a:solidFill>
                    <a:srgbClr val="11576A"/>
                  </a:solidFill>
                  <a:latin typeface="微软雅黑" pitchFamily="34" charset="-122"/>
                  <a:ea typeface="微软雅黑" pitchFamily="34" charset="-122"/>
                  <a:sym typeface="MS PGothic" charset="0"/>
                </a:rPr>
                <a:t>数目后，缺页率也不会明显下降</a:t>
              </a:r>
            </a:p>
          </p:txBody>
        </p:sp>
        <p:pic>
          <p:nvPicPr>
            <p:cNvPr id="20" name="图片 19" descr="小点1.png"/>
            <p:cNvPicPr>
              <a:picLocks noChangeAspect="1"/>
            </p:cNvPicPr>
            <p:nvPr/>
          </p:nvPicPr>
          <p:blipFill>
            <a:blip r:embed="rId2" cstate="print"/>
            <a:stretch>
              <a:fillRect/>
            </a:stretch>
          </p:blipFill>
          <p:spPr>
            <a:xfrm>
              <a:off x="1220738" y="3959232"/>
              <a:ext cx="151066" cy="148997"/>
            </a:xfrm>
            <a:prstGeom prst="rect">
              <a:avLst/>
            </a:prstGeom>
            <a:effectLst/>
          </p:spPr>
        </p:pic>
      </p:grpSp>
      <p:sp>
        <p:nvSpPr>
          <p:cNvPr id="2" name="文本框 1">
            <a:extLst>
              <a:ext uri="{FF2B5EF4-FFF2-40B4-BE49-F238E27FC236}">
                <a16:creationId xmlns:a16="http://schemas.microsoft.com/office/drawing/2014/main" id="{62A06563-CC01-E456-D27F-07E43B3E9AB4}"/>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6" name="标题 8">
            <a:extLst>
              <a:ext uri="{FF2B5EF4-FFF2-40B4-BE49-F238E27FC236}">
                <a16:creationId xmlns:a16="http://schemas.microsoft.com/office/drawing/2014/main" id="{39969653-D8F8-F87D-A15D-ED7053FA545A}"/>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常驻集</a:t>
            </a:r>
          </a:p>
        </p:txBody>
      </p:sp>
    </p:spTree>
    <p:extLst>
      <p:ext uri="{BB962C8B-B14F-4D97-AF65-F5344CB8AC3E}">
        <p14:creationId xmlns:p14="http://schemas.microsoft.com/office/powerpoint/2010/main" val="208885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xit" presetSubtype="8" fill="hold" nodeType="clickEffect">
                                  <p:stCondLst>
                                    <p:cond delay="0"/>
                                  </p:stCondLst>
                                  <p:childTnLst>
                                    <p:animEffect transition="out" filter="wipe(left)">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31518" y="2266293"/>
            <a:ext cx="7956770" cy="751623"/>
            <a:chOff x="895962" y="1634092"/>
            <a:chExt cx="7956770" cy="751623"/>
          </a:xfrm>
        </p:grpSpPr>
        <p:sp>
          <p:nvSpPr>
            <p:cNvPr id="83" name="TextBox 82"/>
            <p:cNvSpPr txBox="1"/>
            <p:nvPr/>
          </p:nvSpPr>
          <p:spPr>
            <a:xfrm>
              <a:off x="895962" y="164747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11" name="TextBox 10"/>
            <p:cNvSpPr txBox="1"/>
            <p:nvPr/>
          </p:nvSpPr>
          <p:spPr>
            <a:xfrm>
              <a:off x="1428686" y="1985605"/>
              <a:ext cx="7424046" cy="400110"/>
            </a:xfrm>
            <a:prstGeom prst="rect">
              <a:avLst/>
            </a:prstGeom>
            <a:noFill/>
            <a:effectLst/>
          </p:spPr>
          <p:txBody>
            <a:bodyPr wrap="square" rtlCol="0">
              <a:spAutoFit/>
            </a:bodyPr>
            <a:lstStyle/>
            <a:p>
              <a:pPr marL="342900" indent="-342900"/>
              <a:r>
                <a:rPr lang="zh-CN" altLang="en-US" sz="2000" b="1" dirty="0">
                  <a:solidFill>
                    <a:srgbClr val="11576A"/>
                  </a:solidFill>
                  <a:latin typeface="微软雅黑" pitchFamily="34" charset="-122"/>
                  <a:ea typeface="微软雅黑" pitchFamily="34" charset="-122"/>
                  <a:sym typeface="华文楷体" charset="0"/>
                </a:rPr>
                <a:t>当前时刻前</a:t>
              </a:r>
              <a:r>
                <a:rPr lang="zh-CN" altLang="zh-CN" sz="2000" b="1" dirty="0">
                  <a:solidFill>
                    <a:srgbClr val="11576A"/>
                  </a:solidFill>
                  <a:latin typeface="微软雅黑" pitchFamily="34" charset="-122"/>
                  <a:ea typeface="微软雅黑" pitchFamily="34" charset="-122"/>
                  <a:sym typeface="华文楷体" charset="0"/>
                </a:rPr>
                <a:t>τ</a:t>
              </a:r>
              <a:r>
                <a:rPr lang="zh-CN" altLang="en-US" sz="2000" b="1" dirty="0">
                  <a:solidFill>
                    <a:srgbClr val="11576A"/>
                  </a:solidFill>
                  <a:latin typeface="微软雅黑" pitchFamily="34" charset="-122"/>
                  <a:ea typeface="微软雅黑" pitchFamily="34" charset="-122"/>
                </a:rPr>
                <a:t>个内存访问的页引用是工作集，</a:t>
              </a:r>
              <a:r>
                <a:rPr lang="zh-CN" altLang="zh-CN" sz="2000" b="1" dirty="0">
                  <a:solidFill>
                    <a:srgbClr val="11576A"/>
                  </a:solidFill>
                  <a:latin typeface="微软雅黑" pitchFamily="34" charset="-122"/>
                  <a:ea typeface="微软雅黑" pitchFamily="34" charset="-122"/>
                  <a:sym typeface="华文楷体" charset="0"/>
                </a:rPr>
                <a:t>τ</a:t>
              </a:r>
              <a:r>
                <a:rPr lang="zh-CN" altLang="en-US" sz="2000" b="1" dirty="0">
                  <a:solidFill>
                    <a:srgbClr val="11576A"/>
                  </a:solidFill>
                  <a:latin typeface="微软雅黑" pitchFamily="34" charset="-122"/>
                  <a:ea typeface="微软雅黑" pitchFamily="34" charset="-122"/>
                  <a:sym typeface="华文楷体" charset="0"/>
                </a:rPr>
                <a:t>被称为窗口大小</a:t>
              </a:r>
              <a:endParaRPr lang="en-US" altLang="zh-CN" sz="2000" b="1" dirty="0">
                <a:solidFill>
                  <a:srgbClr val="11576A"/>
                </a:solidFill>
                <a:latin typeface="微软雅黑" pitchFamily="34" charset="-122"/>
                <a:ea typeface="微软雅黑" pitchFamily="34" charset="-122"/>
              </a:endParaRPr>
            </a:p>
          </p:txBody>
        </p:sp>
        <p:pic>
          <p:nvPicPr>
            <p:cNvPr id="7" name="图片 6" descr="小点1.png"/>
            <p:cNvPicPr>
              <a:picLocks noChangeAspect="1"/>
            </p:cNvPicPr>
            <p:nvPr/>
          </p:nvPicPr>
          <p:blipFill>
            <a:blip r:embed="rId2" cstate="print"/>
            <a:stretch>
              <a:fillRect/>
            </a:stretch>
          </p:blipFill>
          <p:spPr>
            <a:xfrm>
              <a:off x="1320030" y="2098833"/>
              <a:ext cx="151066" cy="148997"/>
            </a:xfrm>
            <a:prstGeom prst="rect">
              <a:avLst/>
            </a:prstGeom>
            <a:effectLst/>
          </p:spPr>
        </p:pic>
        <p:sp>
          <p:nvSpPr>
            <p:cNvPr id="8" name="TextBox 7"/>
            <p:cNvSpPr txBox="1"/>
            <p:nvPr/>
          </p:nvSpPr>
          <p:spPr>
            <a:xfrm>
              <a:off x="1214372" y="1634092"/>
              <a:ext cx="1715644" cy="461665"/>
            </a:xfrm>
            <a:prstGeom prst="rect">
              <a:avLst/>
            </a:prstGeom>
            <a:noFill/>
            <a:effectLst/>
          </p:spPr>
          <p:txBody>
            <a:bodyPr wrap="square" rtlCol="0">
              <a:spAutoFit/>
            </a:bodyPr>
            <a:lstStyle/>
            <a:p>
              <a:r>
                <a:rPr lang="zh-CN" altLang="en-US" sz="2400" b="1" dirty="0">
                  <a:solidFill>
                    <a:srgbClr val="11576A"/>
                  </a:solidFill>
                  <a:latin typeface="微软雅黑" pitchFamily="34" charset="-122"/>
                  <a:ea typeface="微软雅黑" pitchFamily="34" charset="-122"/>
                  <a:sym typeface="华文楷体" charset="0"/>
                </a:rPr>
                <a:t>窗口大小</a:t>
              </a:r>
              <a:r>
                <a:rPr lang="zh-CN" altLang="zh-CN" sz="2400" b="1" dirty="0">
                  <a:solidFill>
                    <a:srgbClr val="11576A"/>
                  </a:solidFill>
                  <a:latin typeface="微软雅黑" pitchFamily="34" charset="-122"/>
                  <a:ea typeface="微软雅黑" pitchFamily="34" charset="-122"/>
                  <a:sym typeface="华文楷体" charset="0"/>
                </a:rPr>
                <a:t>τ</a:t>
              </a:r>
              <a:endParaRPr lang="en-US" altLang="zh-CN" sz="2400" b="1" dirty="0">
                <a:solidFill>
                  <a:srgbClr val="11576A"/>
                </a:solidFill>
                <a:latin typeface="微软雅黑" pitchFamily="34" charset="-122"/>
                <a:ea typeface="微软雅黑" pitchFamily="34" charset="-122"/>
              </a:endParaRPr>
            </a:p>
          </p:txBody>
        </p:sp>
      </p:grpSp>
      <p:grpSp>
        <p:nvGrpSpPr>
          <p:cNvPr id="4" name="组合 3"/>
          <p:cNvGrpSpPr/>
          <p:nvPr/>
        </p:nvGrpSpPr>
        <p:grpSpPr>
          <a:xfrm>
            <a:off x="731518" y="3028982"/>
            <a:ext cx="7492462" cy="1408130"/>
            <a:chOff x="895962" y="2324775"/>
            <a:chExt cx="7492462" cy="1408130"/>
          </a:xfrm>
        </p:grpSpPr>
        <p:sp>
          <p:nvSpPr>
            <p:cNvPr id="9" name="TextBox 8"/>
            <p:cNvSpPr txBox="1"/>
            <p:nvPr/>
          </p:nvSpPr>
          <p:spPr>
            <a:xfrm>
              <a:off x="895962" y="2338157"/>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13" name="TextBox 12"/>
            <p:cNvSpPr txBox="1"/>
            <p:nvPr/>
          </p:nvSpPr>
          <p:spPr>
            <a:xfrm>
              <a:off x="1214372" y="2324775"/>
              <a:ext cx="1715644" cy="461665"/>
            </a:xfrm>
            <a:prstGeom prst="rect">
              <a:avLst/>
            </a:prstGeom>
            <a:noFill/>
            <a:effectLst/>
          </p:spPr>
          <p:txBody>
            <a:bodyPr wrap="square" rtlCol="0">
              <a:spAutoFit/>
            </a:bodyPr>
            <a:lstStyle/>
            <a:p>
              <a:r>
                <a:rPr lang="zh-CN" altLang="en-US" sz="2400" b="1" dirty="0">
                  <a:solidFill>
                    <a:srgbClr val="11576A"/>
                  </a:solidFill>
                  <a:latin typeface="微软雅黑" pitchFamily="34" charset="-122"/>
                  <a:ea typeface="微软雅黑" pitchFamily="34" charset="-122"/>
                  <a:sym typeface="华文楷体" charset="0"/>
                </a:rPr>
                <a:t>实现方法</a:t>
              </a:r>
              <a:endParaRPr lang="en-US" altLang="zh-CN" sz="2400" b="1" dirty="0">
                <a:solidFill>
                  <a:srgbClr val="11576A"/>
                </a:solidFill>
                <a:latin typeface="微软雅黑" pitchFamily="34" charset="-122"/>
                <a:ea typeface="微软雅黑" pitchFamily="34" charset="-122"/>
                <a:sym typeface="华文楷体" charset="0"/>
              </a:endParaRPr>
            </a:p>
          </p:txBody>
        </p:sp>
        <p:sp>
          <p:nvSpPr>
            <p:cNvPr id="14" name="TextBox 13"/>
            <p:cNvSpPr txBox="1"/>
            <p:nvPr/>
          </p:nvSpPr>
          <p:spPr>
            <a:xfrm>
              <a:off x="1428686" y="2706450"/>
              <a:ext cx="5551838" cy="400110"/>
            </a:xfrm>
            <a:prstGeom prst="rect">
              <a:avLst/>
            </a:prstGeom>
            <a:noFill/>
            <a:effectLst/>
          </p:spPr>
          <p:txBody>
            <a:bodyPr wrap="square" rtlCol="0">
              <a:spAutoFit/>
            </a:bodyPr>
            <a:lstStyle/>
            <a:p>
              <a:pPr marL="457200" indent="-457200"/>
              <a:r>
                <a:rPr lang="zh-CN" altLang="en-US" sz="2000" b="1" dirty="0">
                  <a:solidFill>
                    <a:srgbClr val="11576A"/>
                  </a:solidFill>
                  <a:latin typeface="微软雅黑" pitchFamily="34" charset="-122"/>
                  <a:ea typeface="微软雅黑" pitchFamily="34" charset="-122"/>
                </a:rPr>
                <a:t>访存链表：维护窗口内的访存页面链表</a:t>
              </a:r>
              <a:endParaRPr lang="en-US" altLang="zh-CN" sz="2000" b="1" dirty="0">
                <a:solidFill>
                  <a:srgbClr val="11576A"/>
                </a:solidFill>
                <a:latin typeface="微软雅黑" pitchFamily="34" charset="-122"/>
                <a:ea typeface="微软雅黑" pitchFamily="34" charset="-122"/>
              </a:endParaRPr>
            </a:p>
          </p:txBody>
        </p:sp>
        <p:pic>
          <p:nvPicPr>
            <p:cNvPr id="15" name="图片 14" descr="小点1.png"/>
            <p:cNvPicPr>
              <a:picLocks noChangeAspect="1"/>
            </p:cNvPicPr>
            <p:nvPr/>
          </p:nvPicPr>
          <p:blipFill>
            <a:blip r:embed="rId2" cstate="print"/>
            <a:stretch>
              <a:fillRect/>
            </a:stretch>
          </p:blipFill>
          <p:spPr>
            <a:xfrm>
              <a:off x="1320030" y="2819678"/>
              <a:ext cx="151066" cy="148997"/>
            </a:xfrm>
            <a:prstGeom prst="rect">
              <a:avLst/>
            </a:prstGeom>
            <a:effectLst/>
          </p:spPr>
        </p:pic>
        <p:sp>
          <p:nvSpPr>
            <p:cNvPr id="16" name="TextBox 15"/>
            <p:cNvSpPr txBox="1"/>
            <p:nvPr/>
          </p:nvSpPr>
          <p:spPr>
            <a:xfrm>
              <a:off x="1428686" y="3028840"/>
              <a:ext cx="6959738" cy="400110"/>
            </a:xfrm>
            <a:prstGeom prst="rect">
              <a:avLst/>
            </a:prstGeom>
            <a:noFill/>
            <a:effectLst/>
          </p:spPr>
          <p:txBody>
            <a:bodyPr wrap="square" rtlCol="0">
              <a:spAutoFit/>
            </a:bodyPr>
            <a:lstStyle/>
            <a:p>
              <a:pPr marL="457200" indent="-457200"/>
              <a:r>
                <a:rPr lang="zh-CN" altLang="en-US" sz="2000" b="1" dirty="0">
                  <a:solidFill>
                    <a:srgbClr val="11576A"/>
                  </a:solidFill>
                  <a:latin typeface="微软雅黑" pitchFamily="34" charset="-122"/>
                  <a:ea typeface="微软雅黑" pitchFamily="34" charset="-122"/>
                </a:rPr>
                <a:t>访存时，换出不在工作集的页面（</a:t>
              </a:r>
              <a:r>
                <a:rPr lang="en-US" altLang="zh-CN" sz="2000" b="1" dirty="0">
                  <a:solidFill>
                    <a:srgbClr val="FF0000"/>
                  </a:solidFill>
                  <a:latin typeface="微软雅黑" pitchFamily="34" charset="-122"/>
                  <a:ea typeface="微软雅黑" pitchFamily="34" charset="-122"/>
                </a:rPr>
                <a:t>How?</a:t>
              </a:r>
              <a:r>
                <a:rPr lang="zh-CN" altLang="en-US" sz="2000" b="1" dirty="0">
                  <a:solidFill>
                    <a:srgbClr val="11576A"/>
                  </a:solidFill>
                  <a:latin typeface="微软雅黑" pitchFamily="34" charset="-122"/>
                  <a:ea typeface="微软雅黑" pitchFamily="34" charset="-122"/>
                </a:rPr>
                <a:t>）；更新访存链表</a:t>
              </a:r>
              <a:endParaRPr lang="en-US" altLang="zh-CN" sz="2000" b="1" dirty="0">
                <a:solidFill>
                  <a:srgbClr val="11576A"/>
                </a:solidFill>
                <a:latin typeface="微软雅黑" pitchFamily="34" charset="-122"/>
                <a:ea typeface="微软雅黑" pitchFamily="34" charset="-122"/>
              </a:endParaRPr>
            </a:p>
          </p:txBody>
        </p:sp>
        <p:pic>
          <p:nvPicPr>
            <p:cNvPr id="17" name="图片 16" descr="小点1.png"/>
            <p:cNvPicPr>
              <a:picLocks noChangeAspect="1"/>
            </p:cNvPicPr>
            <p:nvPr/>
          </p:nvPicPr>
          <p:blipFill>
            <a:blip r:embed="rId2" cstate="print"/>
            <a:stretch>
              <a:fillRect/>
            </a:stretch>
          </p:blipFill>
          <p:spPr>
            <a:xfrm>
              <a:off x="1320030" y="3142068"/>
              <a:ext cx="151066" cy="148997"/>
            </a:xfrm>
            <a:prstGeom prst="rect">
              <a:avLst/>
            </a:prstGeom>
            <a:effectLst/>
          </p:spPr>
        </p:pic>
        <p:sp>
          <p:nvSpPr>
            <p:cNvPr id="18" name="TextBox 17"/>
            <p:cNvSpPr txBox="1"/>
            <p:nvPr/>
          </p:nvSpPr>
          <p:spPr>
            <a:xfrm>
              <a:off x="1428686" y="3332795"/>
              <a:ext cx="4831758" cy="400110"/>
            </a:xfrm>
            <a:prstGeom prst="rect">
              <a:avLst/>
            </a:prstGeom>
            <a:noFill/>
            <a:effectLst/>
          </p:spPr>
          <p:txBody>
            <a:bodyPr wrap="square" rtlCol="0">
              <a:spAutoFit/>
            </a:bodyPr>
            <a:lstStyle/>
            <a:p>
              <a:pPr marL="457200" indent="-457200"/>
              <a:r>
                <a:rPr lang="zh-CN" altLang="en-US" sz="2000" b="1" dirty="0">
                  <a:solidFill>
                    <a:srgbClr val="11576A"/>
                  </a:solidFill>
                  <a:latin typeface="微软雅黑" pitchFamily="34" charset="-122"/>
                  <a:ea typeface="微软雅黑" pitchFamily="34" charset="-122"/>
                </a:rPr>
                <a:t>缺页时，换入页面；更新访存链表</a:t>
              </a:r>
              <a:endParaRPr lang="en-US" altLang="zh-CN" sz="2000" b="1" dirty="0">
                <a:solidFill>
                  <a:srgbClr val="11576A"/>
                </a:solidFill>
                <a:latin typeface="微软雅黑" pitchFamily="34" charset="-122"/>
                <a:ea typeface="微软雅黑" pitchFamily="34" charset="-122"/>
              </a:endParaRPr>
            </a:p>
          </p:txBody>
        </p:sp>
        <p:pic>
          <p:nvPicPr>
            <p:cNvPr id="19" name="图片 18" descr="小点1.png"/>
            <p:cNvPicPr>
              <a:picLocks noChangeAspect="1"/>
            </p:cNvPicPr>
            <p:nvPr/>
          </p:nvPicPr>
          <p:blipFill>
            <a:blip r:embed="rId2" cstate="print"/>
            <a:stretch>
              <a:fillRect/>
            </a:stretch>
          </p:blipFill>
          <p:spPr>
            <a:xfrm>
              <a:off x="1320030" y="3446023"/>
              <a:ext cx="151066" cy="148997"/>
            </a:xfrm>
            <a:prstGeom prst="rect">
              <a:avLst/>
            </a:prstGeom>
            <a:effectLst/>
          </p:spPr>
        </p:pic>
      </p:grpSp>
      <p:grpSp>
        <p:nvGrpSpPr>
          <p:cNvPr id="2" name="组合 1"/>
          <p:cNvGrpSpPr/>
          <p:nvPr/>
        </p:nvGrpSpPr>
        <p:grpSpPr>
          <a:xfrm>
            <a:off x="731520" y="1556792"/>
            <a:ext cx="4119591" cy="769441"/>
            <a:chOff x="895962" y="1018347"/>
            <a:chExt cx="4119591" cy="769441"/>
          </a:xfrm>
        </p:grpSpPr>
        <p:sp>
          <p:nvSpPr>
            <p:cNvPr id="12" name="TextBox 11"/>
            <p:cNvSpPr txBox="1"/>
            <p:nvPr/>
          </p:nvSpPr>
          <p:spPr>
            <a:xfrm>
              <a:off x="895962" y="1018347"/>
              <a:ext cx="4119591" cy="769441"/>
            </a:xfrm>
            <a:prstGeom prst="rect">
              <a:avLst/>
            </a:prstGeom>
            <a:noFill/>
            <a:effectLst/>
          </p:spPr>
          <p:txBody>
            <a:bodyPr wrap="square" rtlCol="0">
              <a:spAutoFit/>
            </a:bodyPr>
            <a:lstStyle/>
            <a:p>
              <a:r>
                <a:rPr lang="zh-CN" altLang="en-US" sz="2400" b="1" dirty="0">
                  <a:solidFill>
                    <a:srgbClr val="11576A"/>
                  </a:solidFill>
                  <a:latin typeface="张海山锐谐体2.0-授权联系：Samtype@QQ.com" pitchFamily="2" charset="-122"/>
                  <a:ea typeface="张海山锐谐体2.0-授权联系：Samtype@QQ.com" pitchFamily="2" charset="-122"/>
                </a:rPr>
                <a:t>■</a:t>
              </a:r>
              <a:r>
                <a:rPr lang="zh-CN" altLang="en-US" sz="2400" b="1" dirty="0">
                  <a:solidFill>
                    <a:srgbClr val="11576A"/>
                  </a:solidFill>
                  <a:latin typeface="微软雅黑" pitchFamily="34" charset="-122"/>
                  <a:ea typeface="微软雅黑" pitchFamily="34" charset="-122"/>
                </a:rPr>
                <a:t> 思路</a:t>
              </a:r>
              <a:endParaRPr lang="en-US" altLang="zh-CN" sz="2400" b="1" dirty="0">
                <a:solidFill>
                  <a:srgbClr val="11576A"/>
                </a:solidFill>
                <a:latin typeface="微软雅黑" pitchFamily="34" charset="-122"/>
                <a:ea typeface="微软雅黑" pitchFamily="34" charset="-122"/>
              </a:endParaRPr>
            </a:p>
            <a:p>
              <a:r>
                <a:rPr lang="zh-CN" altLang="en-US" sz="2000" b="1" dirty="0">
                  <a:solidFill>
                    <a:srgbClr val="11576A"/>
                  </a:solidFill>
                  <a:latin typeface="微软雅黑" pitchFamily="34" charset="-122"/>
                  <a:ea typeface="微软雅黑" pitchFamily="34" charset="-122"/>
                </a:rPr>
                <a:t>        换出不在工作集中的页面</a:t>
              </a:r>
              <a:endParaRPr lang="en-US" altLang="zh-CN" sz="2000" b="1" dirty="0">
                <a:solidFill>
                  <a:srgbClr val="11576A"/>
                </a:solidFill>
                <a:latin typeface="微软雅黑" pitchFamily="34" charset="-122"/>
                <a:ea typeface="微软雅黑" pitchFamily="34" charset="-122"/>
              </a:endParaRPr>
            </a:p>
          </p:txBody>
        </p:sp>
        <p:pic>
          <p:nvPicPr>
            <p:cNvPr id="22" name="图片 21" descr="小点1.png"/>
            <p:cNvPicPr>
              <a:picLocks noChangeAspect="1"/>
            </p:cNvPicPr>
            <p:nvPr/>
          </p:nvPicPr>
          <p:blipFill>
            <a:blip r:embed="rId2" cstate="print"/>
            <a:stretch>
              <a:fillRect/>
            </a:stretch>
          </p:blipFill>
          <p:spPr>
            <a:xfrm>
              <a:off x="1320030" y="1439807"/>
              <a:ext cx="151066" cy="148997"/>
            </a:xfrm>
            <a:prstGeom prst="rect">
              <a:avLst/>
            </a:prstGeom>
            <a:effectLst/>
          </p:spPr>
        </p:pic>
      </p:grpSp>
      <p:sp>
        <p:nvSpPr>
          <p:cNvPr id="5" name="文本框 4">
            <a:extLst>
              <a:ext uri="{FF2B5EF4-FFF2-40B4-BE49-F238E27FC236}">
                <a16:creationId xmlns:a16="http://schemas.microsoft.com/office/drawing/2014/main" id="{F342A11C-CC7B-4485-B06F-67632E872AFB}"/>
              </a:ext>
            </a:extLst>
          </p:cNvPr>
          <p:cNvSpPr txBox="1"/>
          <p:nvPr/>
        </p:nvSpPr>
        <p:spPr>
          <a:xfrm>
            <a:off x="731518" y="5085185"/>
            <a:ext cx="10544054"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核心理念：在过去的</a:t>
            </a:r>
            <a:r>
              <a:rPr lang="el-GR" altLang="zh-CN" dirty="0">
                <a:latin typeface="微软雅黑" panose="020B0503020204020204" pitchFamily="34" charset="-122"/>
                <a:ea typeface="微软雅黑" panose="020B0503020204020204" pitchFamily="34" charset="-122"/>
              </a:rPr>
              <a:t>τ</a:t>
            </a:r>
            <a:r>
              <a:rPr lang="zh-CN" altLang="en-US" dirty="0">
                <a:latin typeface="微软雅黑" panose="020B0503020204020204" pitchFamily="34" charset="-122"/>
                <a:ea typeface="微软雅黑" panose="020B0503020204020204" pitchFamily="34" charset="-122"/>
              </a:rPr>
              <a:t>个时间单位里面没有访问的内容，未来也不会再访问了，它不再是工作集的一部分（对吗？）</a:t>
            </a:r>
          </a:p>
        </p:txBody>
      </p:sp>
      <p:sp>
        <p:nvSpPr>
          <p:cNvPr id="6" name="文本框 5">
            <a:extLst>
              <a:ext uri="{FF2B5EF4-FFF2-40B4-BE49-F238E27FC236}">
                <a16:creationId xmlns:a16="http://schemas.microsoft.com/office/drawing/2014/main" id="{3EEECAF7-4C14-DB4D-D19A-BE8030C34987}"/>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0" name="标题 8">
            <a:extLst>
              <a:ext uri="{FF2B5EF4-FFF2-40B4-BE49-F238E27FC236}">
                <a16:creationId xmlns:a16="http://schemas.microsoft.com/office/drawing/2014/main" id="{19D2D590-53FA-4717-296B-AD8AC1DA846D}"/>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工作集置换算法</a:t>
            </a:r>
          </a:p>
        </p:txBody>
      </p:sp>
    </p:spTree>
    <p:extLst>
      <p:ext uri="{BB962C8B-B14F-4D97-AF65-F5344CB8AC3E}">
        <p14:creationId xmlns:p14="http://schemas.microsoft.com/office/powerpoint/2010/main" val="64452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2567608" y="2564904"/>
            <a:ext cx="6552728" cy="2376264"/>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TextBox 22"/>
          <p:cNvSpPr txBox="1"/>
          <p:nvPr/>
        </p:nvSpPr>
        <p:spPr>
          <a:xfrm>
            <a:off x="8548398" y="2564904"/>
            <a:ext cx="470000"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10</a:t>
            </a:r>
            <a:endParaRPr lang="zh-CN" altLang="en-US" b="1" dirty="0">
              <a:solidFill>
                <a:srgbClr val="11576A"/>
              </a:solidFill>
              <a:latin typeface="微软雅黑" pitchFamily="34" charset="-122"/>
              <a:ea typeface="微软雅黑" pitchFamily="34" charset="-122"/>
            </a:endParaRPr>
          </a:p>
        </p:txBody>
      </p:sp>
      <p:cxnSp>
        <p:nvCxnSpPr>
          <p:cNvPr id="27" name="直接连接符 26"/>
          <p:cNvCxnSpPr/>
          <p:nvPr/>
        </p:nvCxnSpPr>
        <p:spPr>
          <a:xfrm>
            <a:off x="2567608" y="3286653"/>
            <a:ext cx="655272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567608" y="2899032"/>
            <a:ext cx="655272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567608" y="4549048"/>
            <a:ext cx="655272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872700" y="3293530"/>
            <a:ext cx="0" cy="1246355"/>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379276" y="2557203"/>
            <a:ext cx="0" cy="1986847"/>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8139772"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9</a:t>
            </a:r>
            <a:endParaRPr lang="zh-CN" altLang="en-US" b="1" dirty="0">
              <a:solidFill>
                <a:srgbClr val="11576A"/>
              </a:solidFill>
              <a:latin typeface="微软雅黑" pitchFamily="34" charset="-122"/>
              <a:ea typeface="微软雅黑" pitchFamily="34" charset="-122"/>
            </a:endParaRPr>
          </a:p>
        </p:txBody>
      </p:sp>
      <p:sp>
        <p:nvSpPr>
          <p:cNvPr id="61" name="TextBox 60"/>
          <p:cNvSpPr txBox="1"/>
          <p:nvPr/>
        </p:nvSpPr>
        <p:spPr>
          <a:xfrm>
            <a:off x="7688284"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8</a:t>
            </a:r>
            <a:endParaRPr lang="zh-CN" altLang="en-US" b="1" dirty="0">
              <a:solidFill>
                <a:srgbClr val="11576A"/>
              </a:solidFill>
              <a:latin typeface="微软雅黑" pitchFamily="34" charset="-122"/>
              <a:ea typeface="微软雅黑" pitchFamily="34" charset="-122"/>
            </a:endParaRPr>
          </a:p>
        </p:txBody>
      </p:sp>
      <p:sp>
        <p:nvSpPr>
          <p:cNvPr id="62" name="TextBox 61"/>
          <p:cNvSpPr txBox="1"/>
          <p:nvPr/>
        </p:nvSpPr>
        <p:spPr>
          <a:xfrm>
            <a:off x="7211078"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7</a:t>
            </a:r>
            <a:endParaRPr lang="zh-CN" altLang="en-US" b="1" dirty="0">
              <a:solidFill>
                <a:srgbClr val="11576A"/>
              </a:solidFill>
              <a:latin typeface="微软雅黑" pitchFamily="34" charset="-122"/>
              <a:ea typeface="微软雅黑" pitchFamily="34" charset="-122"/>
            </a:endParaRPr>
          </a:p>
        </p:txBody>
      </p:sp>
      <p:sp>
        <p:nvSpPr>
          <p:cNvPr id="63" name="TextBox 62"/>
          <p:cNvSpPr txBox="1"/>
          <p:nvPr/>
        </p:nvSpPr>
        <p:spPr>
          <a:xfrm>
            <a:off x="6759590"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6</a:t>
            </a:r>
            <a:endParaRPr lang="zh-CN" altLang="en-US" b="1" dirty="0">
              <a:solidFill>
                <a:srgbClr val="11576A"/>
              </a:solidFill>
              <a:latin typeface="微软雅黑" pitchFamily="34" charset="-122"/>
              <a:ea typeface="微软雅黑" pitchFamily="34" charset="-122"/>
            </a:endParaRPr>
          </a:p>
        </p:txBody>
      </p:sp>
      <p:sp>
        <p:nvSpPr>
          <p:cNvPr id="64" name="TextBox 63"/>
          <p:cNvSpPr txBox="1"/>
          <p:nvPr/>
        </p:nvSpPr>
        <p:spPr>
          <a:xfrm>
            <a:off x="6282384"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65" name="TextBox 64"/>
          <p:cNvSpPr txBox="1"/>
          <p:nvPr/>
        </p:nvSpPr>
        <p:spPr>
          <a:xfrm>
            <a:off x="5830896"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66" name="TextBox 65"/>
          <p:cNvSpPr txBox="1"/>
          <p:nvPr/>
        </p:nvSpPr>
        <p:spPr>
          <a:xfrm>
            <a:off x="5353690"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67" name="TextBox 66"/>
          <p:cNvSpPr txBox="1"/>
          <p:nvPr/>
        </p:nvSpPr>
        <p:spPr>
          <a:xfrm>
            <a:off x="4902202"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68" name="TextBox 67"/>
          <p:cNvSpPr txBox="1"/>
          <p:nvPr/>
        </p:nvSpPr>
        <p:spPr>
          <a:xfrm>
            <a:off x="4424996"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69" name="TextBox 68"/>
          <p:cNvSpPr txBox="1"/>
          <p:nvPr/>
        </p:nvSpPr>
        <p:spPr>
          <a:xfrm>
            <a:off x="3973508" y="25649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71" name="TextBox 70"/>
          <p:cNvSpPr txBox="1"/>
          <p:nvPr/>
        </p:nvSpPr>
        <p:spPr>
          <a:xfrm>
            <a:off x="2567608" y="2587524"/>
            <a:ext cx="714380"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时间</a:t>
            </a:r>
          </a:p>
        </p:txBody>
      </p:sp>
      <p:sp>
        <p:nvSpPr>
          <p:cNvPr id="72" name="TextBox 71"/>
          <p:cNvSpPr txBox="1"/>
          <p:nvPr/>
        </p:nvSpPr>
        <p:spPr>
          <a:xfrm>
            <a:off x="2567608" y="2918910"/>
            <a:ext cx="1285884"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访问页面</a:t>
            </a:r>
          </a:p>
        </p:txBody>
      </p:sp>
      <p:sp>
        <p:nvSpPr>
          <p:cNvPr id="73" name="TextBox 72"/>
          <p:cNvSpPr txBox="1"/>
          <p:nvPr/>
        </p:nvSpPr>
        <p:spPr>
          <a:xfrm>
            <a:off x="2596108" y="4581128"/>
            <a:ext cx="1051620"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缺页状态</a:t>
            </a:r>
          </a:p>
        </p:txBody>
      </p:sp>
      <p:sp>
        <p:nvSpPr>
          <p:cNvPr id="75" name="TextBox 74"/>
          <p:cNvSpPr txBox="1"/>
          <p:nvPr/>
        </p:nvSpPr>
        <p:spPr>
          <a:xfrm>
            <a:off x="8594118" y="291891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sp>
        <p:nvSpPr>
          <p:cNvPr id="76" name="TextBox 75"/>
          <p:cNvSpPr txBox="1"/>
          <p:nvPr/>
        </p:nvSpPr>
        <p:spPr>
          <a:xfrm>
            <a:off x="8139772" y="291891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77" name="TextBox 76"/>
          <p:cNvSpPr txBox="1"/>
          <p:nvPr/>
        </p:nvSpPr>
        <p:spPr>
          <a:xfrm>
            <a:off x="7688284" y="291891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78" name="TextBox 77"/>
          <p:cNvSpPr txBox="1"/>
          <p:nvPr/>
        </p:nvSpPr>
        <p:spPr>
          <a:xfrm>
            <a:off x="7211078" y="291891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79" name="TextBox 78"/>
          <p:cNvSpPr txBox="1"/>
          <p:nvPr/>
        </p:nvSpPr>
        <p:spPr>
          <a:xfrm>
            <a:off x="6759590" y="291891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80" name="TextBox 79"/>
          <p:cNvSpPr txBox="1"/>
          <p:nvPr/>
        </p:nvSpPr>
        <p:spPr>
          <a:xfrm>
            <a:off x="6282384" y="291891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2" name="TextBox 81"/>
          <p:cNvSpPr txBox="1"/>
          <p:nvPr/>
        </p:nvSpPr>
        <p:spPr>
          <a:xfrm>
            <a:off x="5830896" y="291891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84" name="TextBox 83"/>
          <p:cNvSpPr txBox="1"/>
          <p:nvPr/>
        </p:nvSpPr>
        <p:spPr>
          <a:xfrm>
            <a:off x="5353690" y="291891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sp>
        <p:nvSpPr>
          <p:cNvPr id="85" name="TextBox 84"/>
          <p:cNvSpPr txBox="1"/>
          <p:nvPr/>
        </p:nvSpPr>
        <p:spPr>
          <a:xfrm>
            <a:off x="4902202" y="291891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6" name="TextBox 85"/>
          <p:cNvSpPr txBox="1"/>
          <p:nvPr/>
        </p:nvSpPr>
        <p:spPr>
          <a:xfrm>
            <a:off x="4424996" y="291891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87" name="TextBox 86"/>
          <p:cNvSpPr txBox="1"/>
          <p:nvPr/>
        </p:nvSpPr>
        <p:spPr>
          <a:xfrm>
            <a:off x="3067992" y="3275896"/>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a</a:t>
            </a:r>
            <a:endParaRPr lang="zh-CN" altLang="en-US" sz="1600" b="1" dirty="0">
              <a:solidFill>
                <a:srgbClr val="11576A"/>
              </a:solidFill>
              <a:latin typeface="微软雅黑" pitchFamily="34" charset="-122"/>
              <a:ea typeface="微软雅黑" pitchFamily="34" charset="-122"/>
            </a:endParaRPr>
          </a:p>
        </p:txBody>
      </p:sp>
      <p:sp>
        <p:nvSpPr>
          <p:cNvPr id="89" name="TextBox 88"/>
          <p:cNvSpPr txBox="1"/>
          <p:nvPr/>
        </p:nvSpPr>
        <p:spPr>
          <a:xfrm>
            <a:off x="3067186" y="3514030"/>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b</a:t>
            </a:r>
            <a:endParaRPr lang="zh-CN" altLang="en-US" sz="1600" b="1" dirty="0">
              <a:solidFill>
                <a:srgbClr val="11576A"/>
              </a:solidFill>
              <a:latin typeface="微软雅黑" pitchFamily="34" charset="-122"/>
              <a:ea typeface="微软雅黑" pitchFamily="34" charset="-122"/>
            </a:endParaRPr>
          </a:p>
        </p:txBody>
      </p:sp>
      <p:sp>
        <p:nvSpPr>
          <p:cNvPr id="90" name="TextBox 89"/>
          <p:cNvSpPr txBox="1"/>
          <p:nvPr/>
        </p:nvSpPr>
        <p:spPr>
          <a:xfrm>
            <a:off x="3061057" y="3986655"/>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d</a:t>
            </a:r>
            <a:endParaRPr lang="zh-CN" altLang="en-US" sz="1600" b="1" dirty="0">
              <a:solidFill>
                <a:srgbClr val="11576A"/>
              </a:solidFill>
              <a:latin typeface="微软雅黑" pitchFamily="34" charset="-122"/>
              <a:ea typeface="微软雅黑" pitchFamily="34" charset="-122"/>
            </a:endParaRPr>
          </a:p>
        </p:txBody>
      </p:sp>
      <p:sp>
        <p:nvSpPr>
          <p:cNvPr id="91" name="TextBox 90"/>
          <p:cNvSpPr txBox="1"/>
          <p:nvPr/>
        </p:nvSpPr>
        <p:spPr>
          <a:xfrm>
            <a:off x="3060374" y="4234368"/>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e</a:t>
            </a:r>
            <a:endParaRPr lang="zh-CN" altLang="en-US" sz="1600" b="1" dirty="0">
              <a:solidFill>
                <a:srgbClr val="11576A"/>
              </a:solidFill>
              <a:latin typeface="微软雅黑" pitchFamily="34" charset="-122"/>
              <a:ea typeface="微软雅黑" pitchFamily="34" charset="-122"/>
            </a:endParaRPr>
          </a:p>
        </p:txBody>
      </p:sp>
      <p:sp>
        <p:nvSpPr>
          <p:cNvPr id="93" name="TextBox 92"/>
          <p:cNvSpPr txBox="1"/>
          <p:nvPr/>
        </p:nvSpPr>
        <p:spPr>
          <a:xfrm>
            <a:off x="3066973" y="3751418"/>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c</a:t>
            </a:r>
            <a:endParaRPr lang="zh-CN" altLang="en-US" sz="1600" b="1" dirty="0">
              <a:solidFill>
                <a:srgbClr val="11576A"/>
              </a:solidFill>
              <a:latin typeface="微软雅黑" pitchFamily="34" charset="-122"/>
              <a:ea typeface="微软雅黑" pitchFamily="34" charset="-122"/>
            </a:endParaRPr>
          </a:p>
        </p:txBody>
      </p:sp>
      <p:sp>
        <p:nvSpPr>
          <p:cNvPr id="134" name="TextBox 133"/>
          <p:cNvSpPr txBox="1"/>
          <p:nvPr/>
        </p:nvSpPr>
        <p:spPr>
          <a:xfrm>
            <a:off x="2553163" y="3287888"/>
            <a:ext cx="554853" cy="1323439"/>
          </a:xfrm>
          <a:prstGeom prst="rect">
            <a:avLst/>
          </a:prstGeom>
          <a:noFill/>
        </p:spPr>
        <p:txBody>
          <a:bodyPr vert="horz" wrap="square" rtlCol="0">
            <a:spAutoFit/>
          </a:bodyPr>
          <a:lstStyle/>
          <a:p>
            <a:pPr algn="ctr">
              <a:lnSpc>
                <a:spcPts val="1600"/>
              </a:lnSpc>
            </a:pPr>
            <a:r>
              <a:rPr lang="zh-CN" altLang="en-US" sz="1600" b="1" spc="-100" dirty="0">
                <a:solidFill>
                  <a:srgbClr val="11576A"/>
                </a:solidFill>
                <a:latin typeface="微软雅黑" pitchFamily="34" charset="-122"/>
                <a:ea typeface="微软雅黑" pitchFamily="34" charset="-122"/>
              </a:rPr>
              <a:t>逻辑面页状态</a:t>
            </a:r>
            <a:endParaRPr lang="en-US" altLang="zh-CN" sz="1600" b="1" spc="-100" dirty="0">
              <a:solidFill>
                <a:srgbClr val="11576A"/>
              </a:solidFill>
              <a:latin typeface="微软雅黑" pitchFamily="34" charset="-122"/>
              <a:ea typeface="微软雅黑" pitchFamily="34" charset="-122"/>
            </a:endParaRPr>
          </a:p>
        </p:txBody>
      </p:sp>
      <p:sp>
        <p:nvSpPr>
          <p:cNvPr id="7" name="椭圆 6"/>
          <p:cNvSpPr/>
          <p:nvPr/>
        </p:nvSpPr>
        <p:spPr>
          <a:xfrm>
            <a:off x="4045031" y="3342662"/>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9" name="椭圆 138"/>
          <p:cNvSpPr/>
          <p:nvPr/>
        </p:nvSpPr>
        <p:spPr>
          <a:xfrm>
            <a:off x="4049905" y="4054168"/>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0" name="椭圆 139"/>
          <p:cNvSpPr/>
          <p:nvPr/>
        </p:nvSpPr>
        <p:spPr>
          <a:xfrm>
            <a:off x="4052043" y="429054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 name="组合 8"/>
          <p:cNvGrpSpPr/>
          <p:nvPr/>
        </p:nvGrpSpPr>
        <p:grpSpPr>
          <a:xfrm>
            <a:off x="4972451" y="3342662"/>
            <a:ext cx="178672" cy="885303"/>
            <a:chOff x="3448451" y="2485410"/>
            <a:chExt cx="178672" cy="885303"/>
          </a:xfrm>
        </p:grpSpPr>
        <p:sp>
          <p:nvSpPr>
            <p:cNvPr id="195" name="椭圆 194"/>
            <p:cNvSpPr/>
            <p:nvPr/>
          </p:nvSpPr>
          <p:spPr>
            <a:xfrm>
              <a:off x="3448452"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7" name="椭圆 196"/>
            <p:cNvSpPr/>
            <p:nvPr/>
          </p:nvSpPr>
          <p:spPr>
            <a:xfrm>
              <a:off x="3453326"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9" name="椭圆 198"/>
            <p:cNvSpPr/>
            <p:nvPr/>
          </p:nvSpPr>
          <p:spPr>
            <a:xfrm>
              <a:off x="3448451"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1" name="组合 10"/>
          <p:cNvGrpSpPr/>
          <p:nvPr/>
        </p:nvGrpSpPr>
        <p:grpSpPr>
          <a:xfrm>
            <a:off x="5436798" y="3342662"/>
            <a:ext cx="178672" cy="885303"/>
            <a:chOff x="3912798" y="2485410"/>
            <a:chExt cx="178672" cy="885303"/>
          </a:xfrm>
        </p:grpSpPr>
        <p:sp>
          <p:nvSpPr>
            <p:cNvPr id="200" name="椭圆 199"/>
            <p:cNvSpPr/>
            <p:nvPr/>
          </p:nvSpPr>
          <p:spPr>
            <a:xfrm>
              <a:off x="3912799"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2" name="椭圆 201"/>
            <p:cNvSpPr/>
            <p:nvPr/>
          </p:nvSpPr>
          <p:spPr>
            <a:xfrm>
              <a:off x="3917673"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4" name="椭圆 203"/>
            <p:cNvSpPr/>
            <p:nvPr/>
          </p:nvSpPr>
          <p:spPr>
            <a:xfrm>
              <a:off x="3912798"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3" name="组合 12"/>
          <p:cNvGrpSpPr/>
          <p:nvPr/>
        </p:nvGrpSpPr>
        <p:grpSpPr>
          <a:xfrm>
            <a:off x="6363024" y="3573018"/>
            <a:ext cx="178672" cy="654947"/>
            <a:chOff x="4839024" y="2715766"/>
            <a:chExt cx="178672" cy="654947"/>
          </a:xfrm>
        </p:grpSpPr>
        <p:sp>
          <p:nvSpPr>
            <p:cNvPr id="211" name="椭圆 210"/>
            <p:cNvSpPr/>
            <p:nvPr/>
          </p:nvSpPr>
          <p:spPr>
            <a:xfrm>
              <a:off x="4839026" y="271576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2" name="椭圆 211"/>
            <p:cNvSpPr/>
            <p:nvPr/>
          </p:nvSpPr>
          <p:spPr>
            <a:xfrm>
              <a:off x="4843899"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4" name="椭圆 213"/>
            <p:cNvSpPr/>
            <p:nvPr/>
          </p:nvSpPr>
          <p:spPr>
            <a:xfrm>
              <a:off x="4839024"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5" name="组合 14"/>
          <p:cNvGrpSpPr/>
          <p:nvPr/>
        </p:nvGrpSpPr>
        <p:grpSpPr>
          <a:xfrm>
            <a:off x="7288641" y="3573016"/>
            <a:ext cx="180810" cy="891320"/>
            <a:chOff x="5764641" y="2715766"/>
            <a:chExt cx="180810" cy="891320"/>
          </a:xfrm>
        </p:grpSpPr>
        <p:sp>
          <p:nvSpPr>
            <p:cNvPr id="221" name="椭圆 220"/>
            <p:cNvSpPr/>
            <p:nvPr/>
          </p:nvSpPr>
          <p:spPr>
            <a:xfrm>
              <a:off x="5764643" y="271576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3" name="椭圆 222"/>
            <p:cNvSpPr/>
            <p:nvPr/>
          </p:nvSpPr>
          <p:spPr>
            <a:xfrm>
              <a:off x="5771654"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4" name="椭圆 223"/>
            <p:cNvSpPr/>
            <p:nvPr/>
          </p:nvSpPr>
          <p:spPr>
            <a:xfrm>
              <a:off x="5764641"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6" name="组合 15"/>
          <p:cNvGrpSpPr/>
          <p:nvPr/>
        </p:nvGrpSpPr>
        <p:grpSpPr>
          <a:xfrm>
            <a:off x="7769420" y="3814026"/>
            <a:ext cx="180810" cy="662165"/>
            <a:chOff x="6245420" y="2956774"/>
            <a:chExt cx="180810" cy="662165"/>
          </a:xfrm>
        </p:grpSpPr>
        <p:sp>
          <p:nvSpPr>
            <p:cNvPr id="228" name="椭圆 227"/>
            <p:cNvSpPr/>
            <p:nvPr/>
          </p:nvSpPr>
          <p:spPr>
            <a:xfrm>
              <a:off x="6252433" y="3445142"/>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9" name="椭圆 228"/>
            <p:cNvSpPr/>
            <p:nvPr/>
          </p:nvSpPr>
          <p:spPr>
            <a:xfrm>
              <a:off x="6245420" y="2956774"/>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40" name="TextBox 134"/>
          <p:cNvSpPr txBox="1"/>
          <p:nvPr/>
        </p:nvSpPr>
        <p:spPr>
          <a:xfrm>
            <a:off x="3931991" y="3442433"/>
            <a:ext cx="413896" cy="246221"/>
          </a:xfrm>
          <a:prstGeom prst="rect">
            <a:avLst/>
          </a:prstGeom>
          <a:noFill/>
        </p:spPr>
        <p:txBody>
          <a:bodyPr wrap="none" rtlCol="0">
            <a:spAutoFit/>
          </a:bodyPr>
          <a:lstStyle/>
          <a:p>
            <a:r>
              <a:rPr lang="en-US" altLang="zh-CN" sz="1000" b="1" dirty="0">
                <a:solidFill>
                  <a:srgbClr val="C00000"/>
                </a:solidFill>
                <a:latin typeface="微软雅黑" pitchFamily="34" charset="-122"/>
                <a:ea typeface="微软雅黑" pitchFamily="34" charset="-122"/>
              </a:rPr>
              <a:t>t=0</a:t>
            </a:r>
            <a:endParaRPr lang="zh-CN" altLang="en-US" sz="1000" b="1" dirty="0">
              <a:solidFill>
                <a:srgbClr val="C00000"/>
              </a:solidFill>
              <a:latin typeface="微软雅黑" pitchFamily="34" charset="-122"/>
              <a:ea typeface="微软雅黑" pitchFamily="34" charset="-122"/>
            </a:endParaRPr>
          </a:p>
        </p:txBody>
      </p:sp>
      <p:sp>
        <p:nvSpPr>
          <p:cNvPr id="241" name="TextBox 135"/>
          <p:cNvSpPr txBox="1"/>
          <p:nvPr/>
        </p:nvSpPr>
        <p:spPr>
          <a:xfrm>
            <a:off x="3914107" y="4129027"/>
            <a:ext cx="470000" cy="246221"/>
          </a:xfrm>
          <a:prstGeom prst="rect">
            <a:avLst/>
          </a:prstGeom>
          <a:noFill/>
        </p:spPr>
        <p:txBody>
          <a:bodyPr wrap="none" rtlCol="0">
            <a:spAutoFit/>
          </a:bodyPr>
          <a:lstStyle/>
          <a:p>
            <a:r>
              <a:rPr lang="en-US" altLang="zh-CN" sz="1000" b="1" dirty="0">
                <a:solidFill>
                  <a:srgbClr val="C00000"/>
                </a:solidFill>
                <a:latin typeface="微软雅黑" pitchFamily="34" charset="-122"/>
                <a:ea typeface="微软雅黑" pitchFamily="34" charset="-122"/>
              </a:rPr>
              <a:t>t=-1</a:t>
            </a:r>
            <a:endParaRPr lang="zh-CN" altLang="en-US" sz="1000" b="1" dirty="0">
              <a:solidFill>
                <a:srgbClr val="C00000"/>
              </a:solidFill>
              <a:latin typeface="微软雅黑" pitchFamily="34" charset="-122"/>
              <a:ea typeface="微软雅黑" pitchFamily="34" charset="-122"/>
            </a:endParaRPr>
          </a:p>
        </p:txBody>
      </p:sp>
      <p:sp>
        <p:nvSpPr>
          <p:cNvPr id="242" name="TextBox 136"/>
          <p:cNvSpPr txBox="1"/>
          <p:nvPr/>
        </p:nvSpPr>
        <p:spPr>
          <a:xfrm>
            <a:off x="3908593" y="4363528"/>
            <a:ext cx="470000" cy="246221"/>
          </a:xfrm>
          <a:prstGeom prst="rect">
            <a:avLst/>
          </a:prstGeom>
          <a:noFill/>
        </p:spPr>
        <p:txBody>
          <a:bodyPr wrap="none" rtlCol="0">
            <a:spAutoFit/>
          </a:bodyPr>
          <a:lstStyle/>
          <a:p>
            <a:r>
              <a:rPr lang="en-US" altLang="zh-CN" sz="1000" b="1" dirty="0">
                <a:solidFill>
                  <a:srgbClr val="C00000"/>
                </a:solidFill>
                <a:latin typeface="微软雅黑" pitchFamily="34" charset="-122"/>
                <a:ea typeface="微软雅黑" pitchFamily="34" charset="-122"/>
              </a:rPr>
              <a:t>t=-2</a:t>
            </a:r>
            <a:endParaRPr lang="zh-CN" altLang="en-US" sz="1000" b="1" dirty="0">
              <a:solidFill>
                <a:srgbClr val="C00000"/>
              </a:solidFill>
              <a:latin typeface="微软雅黑" pitchFamily="34" charset="-122"/>
              <a:ea typeface="微软雅黑" pitchFamily="34" charset="-122"/>
            </a:endParaRPr>
          </a:p>
        </p:txBody>
      </p:sp>
      <p:grpSp>
        <p:nvGrpSpPr>
          <p:cNvPr id="8" name="组合 7"/>
          <p:cNvGrpSpPr/>
          <p:nvPr/>
        </p:nvGrpSpPr>
        <p:grpSpPr>
          <a:xfrm>
            <a:off x="4499788" y="3342662"/>
            <a:ext cx="187013" cy="1481911"/>
            <a:chOff x="2975786" y="2485410"/>
            <a:chExt cx="187013" cy="1481911"/>
          </a:xfrm>
        </p:grpSpPr>
        <p:sp>
          <p:nvSpPr>
            <p:cNvPr id="190" name="椭圆 189"/>
            <p:cNvSpPr/>
            <p:nvPr/>
          </p:nvSpPr>
          <p:spPr>
            <a:xfrm>
              <a:off x="2981990"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2" name="椭圆 191"/>
            <p:cNvSpPr/>
            <p:nvPr/>
          </p:nvSpPr>
          <p:spPr>
            <a:xfrm>
              <a:off x="2986864"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3" name="椭圆 192"/>
            <p:cNvSpPr/>
            <p:nvPr/>
          </p:nvSpPr>
          <p:spPr>
            <a:xfrm>
              <a:off x="2989002"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4" name="椭圆 193"/>
            <p:cNvSpPr/>
            <p:nvPr/>
          </p:nvSpPr>
          <p:spPr>
            <a:xfrm>
              <a:off x="2981989" y="2944921"/>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C00000"/>
                </a:solidFill>
              </a:endParaRPr>
            </a:p>
          </p:txBody>
        </p:sp>
        <p:sp>
          <p:nvSpPr>
            <p:cNvPr id="243" name="AutoShape 100"/>
            <p:cNvSpPr>
              <a:spLocks noChangeArrowheads="1"/>
            </p:cNvSpPr>
            <p:nvPr/>
          </p:nvSpPr>
          <p:spPr bwMode="auto">
            <a:xfrm>
              <a:off x="2975786" y="3787321"/>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2" name="组合 11"/>
          <p:cNvGrpSpPr/>
          <p:nvPr/>
        </p:nvGrpSpPr>
        <p:grpSpPr>
          <a:xfrm>
            <a:off x="5915566" y="3573018"/>
            <a:ext cx="184875" cy="1264629"/>
            <a:chOff x="4391564" y="2715766"/>
            <a:chExt cx="184875" cy="1264629"/>
          </a:xfrm>
        </p:grpSpPr>
        <p:sp>
          <p:nvSpPr>
            <p:cNvPr id="206" name="椭圆 205"/>
            <p:cNvSpPr/>
            <p:nvPr/>
          </p:nvSpPr>
          <p:spPr>
            <a:xfrm>
              <a:off x="4397769" y="2715766"/>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7" name="椭圆 206"/>
            <p:cNvSpPr/>
            <p:nvPr/>
          </p:nvSpPr>
          <p:spPr>
            <a:xfrm>
              <a:off x="4402642"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9" name="椭圆 208"/>
            <p:cNvSpPr/>
            <p:nvPr/>
          </p:nvSpPr>
          <p:spPr>
            <a:xfrm>
              <a:off x="4397767"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4" name="AutoShape 100"/>
            <p:cNvSpPr>
              <a:spLocks noChangeArrowheads="1"/>
            </p:cNvSpPr>
            <p:nvPr/>
          </p:nvSpPr>
          <p:spPr bwMode="auto">
            <a:xfrm>
              <a:off x="4391564" y="3800395"/>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4" name="组合 13"/>
          <p:cNvGrpSpPr/>
          <p:nvPr/>
        </p:nvGrpSpPr>
        <p:grpSpPr>
          <a:xfrm>
            <a:off x="6832377" y="3573016"/>
            <a:ext cx="188016" cy="1258876"/>
            <a:chOff x="5308377" y="2715766"/>
            <a:chExt cx="188016" cy="1258876"/>
          </a:xfrm>
        </p:grpSpPr>
        <p:sp>
          <p:nvSpPr>
            <p:cNvPr id="216" name="椭圆 215"/>
            <p:cNvSpPr/>
            <p:nvPr/>
          </p:nvSpPr>
          <p:spPr>
            <a:xfrm>
              <a:off x="5315585" y="271576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7" name="椭圆 216"/>
            <p:cNvSpPr/>
            <p:nvPr/>
          </p:nvSpPr>
          <p:spPr>
            <a:xfrm>
              <a:off x="5320458"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8" name="椭圆 217"/>
            <p:cNvSpPr/>
            <p:nvPr/>
          </p:nvSpPr>
          <p:spPr>
            <a:xfrm>
              <a:off x="5322596" y="3433289"/>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9" name="椭圆 218"/>
            <p:cNvSpPr/>
            <p:nvPr/>
          </p:nvSpPr>
          <p:spPr>
            <a:xfrm>
              <a:off x="5315583"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5" name="AutoShape 100"/>
            <p:cNvSpPr>
              <a:spLocks noChangeArrowheads="1"/>
            </p:cNvSpPr>
            <p:nvPr/>
          </p:nvSpPr>
          <p:spPr bwMode="auto">
            <a:xfrm>
              <a:off x="5308377" y="3794642"/>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7" name="组合 16"/>
          <p:cNvGrpSpPr/>
          <p:nvPr/>
        </p:nvGrpSpPr>
        <p:grpSpPr>
          <a:xfrm>
            <a:off x="8215663" y="3342660"/>
            <a:ext cx="187013" cy="1497390"/>
            <a:chOff x="6691661" y="2485410"/>
            <a:chExt cx="187013" cy="1497390"/>
          </a:xfrm>
        </p:grpSpPr>
        <p:sp>
          <p:nvSpPr>
            <p:cNvPr id="230" name="椭圆 229"/>
            <p:cNvSpPr/>
            <p:nvPr/>
          </p:nvSpPr>
          <p:spPr>
            <a:xfrm>
              <a:off x="6691662" y="2485410"/>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3" name="椭圆 232"/>
            <p:cNvSpPr/>
            <p:nvPr/>
          </p:nvSpPr>
          <p:spPr>
            <a:xfrm>
              <a:off x="6698674"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4" name="椭圆 233"/>
            <p:cNvSpPr/>
            <p:nvPr/>
          </p:nvSpPr>
          <p:spPr>
            <a:xfrm>
              <a:off x="6691661"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6" name="AutoShape 100"/>
            <p:cNvSpPr>
              <a:spLocks noChangeArrowheads="1"/>
            </p:cNvSpPr>
            <p:nvPr/>
          </p:nvSpPr>
          <p:spPr bwMode="auto">
            <a:xfrm>
              <a:off x="6698674" y="3802800"/>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grpSp>
        <p:nvGrpSpPr>
          <p:cNvPr id="18" name="组合 17"/>
          <p:cNvGrpSpPr/>
          <p:nvPr/>
        </p:nvGrpSpPr>
        <p:grpSpPr>
          <a:xfrm>
            <a:off x="8669342" y="3342660"/>
            <a:ext cx="180810" cy="1497390"/>
            <a:chOff x="7145342" y="2485410"/>
            <a:chExt cx="180810" cy="1497390"/>
          </a:xfrm>
        </p:grpSpPr>
        <p:sp>
          <p:nvSpPr>
            <p:cNvPr id="235" name="椭圆 234"/>
            <p:cNvSpPr/>
            <p:nvPr/>
          </p:nvSpPr>
          <p:spPr>
            <a:xfrm>
              <a:off x="7145343"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7" name="椭圆 236"/>
            <p:cNvSpPr/>
            <p:nvPr/>
          </p:nvSpPr>
          <p:spPr>
            <a:xfrm>
              <a:off x="7150217" y="3196916"/>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8" name="椭圆 237"/>
            <p:cNvSpPr/>
            <p:nvPr/>
          </p:nvSpPr>
          <p:spPr>
            <a:xfrm>
              <a:off x="7152355"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9" name="椭圆 238"/>
            <p:cNvSpPr/>
            <p:nvPr/>
          </p:nvSpPr>
          <p:spPr>
            <a:xfrm>
              <a:off x="7145342"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7" name="AutoShape 100"/>
            <p:cNvSpPr>
              <a:spLocks noChangeArrowheads="1"/>
            </p:cNvSpPr>
            <p:nvPr/>
          </p:nvSpPr>
          <p:spPr bwMode="auto">
            <a:xfrm>
              <a:off x="7145342" y="3802800"/>
              <a:ext cx="180000" cy="180000"/>
            </a:xfrm>
            <a:prstGeom prst="octagon">
              <a:avLst>
                <a:gd name="adj" fmla="val 29282"/>
              </a:avLst>
            </a:prstGeom>
            <a:solidFill>
              <a:srgbClr val="7030A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en-US">
                <a:solidFill>
                  <a:srgbClr val="000099"/>
                </a:solidFill>
              </a:endParaRPr>
            </a:p>
          </p:txBody>
        </p:sp>
      </p:grpSp>
      <p:sp>
        <p:nvSpPr>
          <p:cNvPr id="92" name="TextBox 19"/>
          <p:cNvSpPr txBox="1"/>
          <p:nvPr/>
        </p:nvSpPr>
        <p:spPr>
          <a:xfrm>
            <a:off x="2598829" y="2143990"/>
            <a:ext cx="1472302" cy="369332"/>
          </a:xfrm>
          <a:prstGeom prst="rect">
            <a:avLst/>
          </a:prstGeom>
          <a:noFill/>
          <a:effectLst/>
        </p:spPr>
        <p:txBody>
          <a:bodyPr wrap="square" rtlCol="0">
            <a:spAutoFit/>
          </a:bodyPr>
          <a:lstStyle/>
          <a:p>
            <a:pPr marL="457200" indent="-457200"/>
            <a:r>
              <a:rPr lang="zh-CN" altLang="en-US" b="1" dirty="0">
                <a:solidFill>
                  <a:srgbClr val="11576A"/>
                </a:solidFill>
                <a:latin typeface="微软雅黑" pitchFamily="34" charset="-122"/>
                <a:ea typeface="微软雅黑" pitchFamily="34" charset="-122"/>
                <a:sym typeface="华文楷体" charset="0"/>
              </a:rPr>
              <a:t>τ </a:t>
            </a:r>
            <a:r>
              <a:rPr lang="zh-CN" altLang="en-US" b="1" dirty="0">
                <a:solidFill>
                  <a:srgbClr val="11576A"/>
                </a:solidFill>
                <a:latin typeface="微软雅黑" pitchFamily="34" charset="-122"/>
                <a:ea typeface="微软雅黑" pitchFamily="34" charset="-122"/>
              </a:rPr>
              <a:t>= 4</a:t>
            </a:r>
          </a:p>
        </p:txBody>
      </p:sp>
      <p:sp>
        <p:nvSpPr>
          <p:cNvPr id="2" name="文本框 1">
            <a:extLst>
              <a:ext uri="{FF2B5EF4-FFF2-40B4-BE49-F238E27FC236}">
                <a16:creationId xmlns:a16="http://schemas.microsoft.com/office/drawing/2014/main" id="{9879BAC8-F7B3-07EB-C728-C01136506B2C}"/>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07B5C194-2BB8-CC11-97E0-CEF3A1709FF0}"/>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工作集置换算法</a:t>
            </a:r>
          </a:p>
        </p:txBody>
      </p:sp>
      <p:sp>
        <p:nvSpPr>
          <p:cNvPr id="4" name="文本框 3">
            <a:extLst>
              <a:ext uri="{FF2B5EF4-FFF2-40B4-BE49-F238E27FC236}">
                <a16:creationId xmlns:a16="http://schemas.microsoft.com/office/drawing/2014/main" id="{8ED1A1C5-E5E8-456D-9DB6-7091DAF055AF}"/>
              </a:ext>
            </a:extLst>
          </p:cNvPr>
          <p:cNvSpPr txBox="1"/>
          <p:nvPr/>
        </p:nvSpPr>
        <p:spPr>
          <a:xfrm>
            <a:off x="2596108" y="5589240"/>
            <a:ext cx="6552728" cy="646331"/>
          </a:xfrm>
          <a:prstGeom prst="rect">
            <a:avLst/>
          </a:prstGeom>
          <a:noFill/>
        </p:spPr>
        <p:txBody>
          <a:bodyPr wrap="square" rtlCol="0">
            <a:spAutoFit/>
          </a:bodyPr>
          <a:lstStyle/>
          <a:p>
            <a:r>
              <a:rPr lang="zh-CN" altLang="en-US" dirty="0">
                <a:latin typeface="+mn-ea"/>
                <a:ea typeface="+mn-ea"/>
              </a:rPr>
              <a:t>不断查看内存，找到过去的</a:t>
            </a:r>
            <a:r>
              <a:rPr lang="el-GR" altLang="zh-CN" dirty="0">
                <a:latin typeface="+mn-ea"/>
                <a:ea typeface="+mn-ea"/>
              </a:rPr>
              <a:t>τ</a:t>
            </a:r>
            <a:r>
              <a:rPr lang="zh-CN" altLang="en-US" dirty="0">
                <a:latin typeface="+mn-ea"/>
                <a:ea typeface="+mn-ea"/>
              </a:rPr>
              <a:t>个时间单位中没被访问的页面，</a:t>
            </a:r>
            <a:r>
              <a:rPr lang="en-US" altLang="zh-CN" dirty="0">
                <a:latin typeface="+mn-ea"/>
                <a:ea typeface="+mn-ea"/>
              </a:rPr>
              <a:t>OS</a:t>
            </a:r>
            <a:r>
              <a:rPr lang="zh-CN" altLang="en-US" dirty="0">
                <a:latin typeface="+mn-ea"/>
                <a:ea typeface="+mn-ea"/>
              </a:rPr>
              <a:t>主动换出这些页面</a:t>
            </a:r>
          </a:p>
        </p:txBody>
      </p:sp>
    </p:spTree>
    <p:extLst>
      <p:ext uri="{BB962C8B-B14F-4D97-AF65-F5344CB8AC3E}">
        <p14:creationId xmlns:p14="http://schemas.microsoft.com/office/powerpoint/2010/main" val="187551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
                                            <p:txEl>
                                              <p:pRg st="0" end="0"/>
                                            </p:txEl>
                                          </p:spTgt>
                                        </p:tgtEl>
                                        <p:attrNameLst>
                                          <p:attrName>style.visibility</p:attrName>
                                        </p:attrNameLst>
                                      </p:cBhvr>
                                      <p:to>
                                        <p:strVal val="visible"/>
                                      </p:to>
                                    </p:set>
                                    <p:anim calcmode="lin" valueType="num">
                                      <p:cBhvr additive="base">
                                        <p:cTn id="5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工作集函数曲线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4063" y="1716211"/>
            <a:ext cx="3492500"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descr="工作集算法示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4089" y="1700214"/>
            <a:ext cx="456247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8"/>
          <p:cNvSpPr txBox="1">
            <a:spLocks noChangeArrowheads="1"/>
          </p:cNvSpPr>
          <p:nvPr/>
        </p:nvSpPr>
        <p:spPr bwMode="auto">
          <a:xfrm>
            <a:off x="2024064" y="4071938"/>
            <a:ext cx="5572125" cy="2419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lang="en-US" altLang="zh-CN" sz="1800" b="1">
                <a:solidFill>
                  <a:schemeClr val="tx1"/>
                </a:solidFill>
              </a:rPr>
              <a:t>Scan the R bit of all pages</a:t>
            </a:r>
            <a:endParaRPr lang="zh-CN" altLang="en-US" sz="1800" b="1">
              <a:solidFill>
                <a:schemeClr val="tx1"/>
              </a:solidFill>
            </a:endParaRPr>
          </a:p>
          <a:p>
            <a:pPr>
              <a:lnSpc>
                <a:spcPct val="80000"/>
              </a:lnSpc>
              <a:buClrTx/>
              <a:buFont typeface="Wingdings" panose="05000000000000000000" pitchFamily="2" charset="2"/>
              <a:buNone/>
            </a:pPr>
            <a:r>
              <a:rPr lang="zh-CN" altLang="en-US" sz="1800" b="1">
                <a:solidFill>
                  <a:schemeClr val="tx1"/>
                </a:solidFill>
              </a:rPr>
              <a:t>      </a:t>
            </a:r>
            <a:r>
              <a:rPr lang="en-US" altLang="zh-CN" sz="1800" b="1">
                <a:solidFill>
                  <a:schemeClr val="tx1"/>
                </a:solidFill>
              </a:rPr>
              <a:t>if(R=1)</a:t>
            </a:r>
            <a:endParaRPr lang="zh-CN" altLang="en-US" sz="1800" b="1">
              <a:solidFill>
                <a:schemeClr val="tx1"/>
              </a:solidFill>
            </a:endParaRPr>
          </a:p>
          <a:p>
            <a:pPr>
              <a:lnSpc>
                <a:spcPct val="80000"/>
              </a:lnSpc>
              <a:buClrTx/>
              <a:buFont typeface="Wingdings" panose="05000000000000000000" pitchFamily="2" charset="2"/>
              <a:buNone/>
            </a:pPr>
            <a:r>
              <a:rPr lang="zh-CN" altLang="en-US" sz="1800" b="1">
                <a:solidFill>
                  <a:schemeClr val="tx1"/>
                </a:solidFill>
              </a:rPr>
              <a:t>      </a:t>
            </a:r>
            <a:r>
              <a:rPr lang="en-US" altLang="zh-CN" sz="1800" b="1">
                <a:solidFill>
                  <a:schemeClr val="tx1"/>
                </a:solidFill>
              </a:rPr>
              <a:t>    set “last using time” as current time</a:t>
            </a:r>
            <a:endParaRPr lang="zh-CN" altLang="en-US" sz="1800" b="1">
              <a:solidFill>
                <a:schemeClr val="tx1"/>
              </a:solidFill>
            </a:endParaRPr>
          </a:p>
          <a:p>
            <a:pPr>
              <a:lnSpc>
                <a:spcPct val="80000"/>
              </a:lnSpc>
              <a:buClrTx/>
              <a:buFont typeface="Wingdings" panose="05000000000000000000" pitchFamily="2" charset="2"/>
              <a:buNone/>
            </a:pPr>
            <a:r>
              <a:rPr lang="zh-CN" altLang="en-US" sz="1800" b="1">
                <a:solidFill>
                  <a:schemeClr val="tx1"/>
                </a:solidFill>
              </a:rPr>
              <a:t>      </a:t>
            </a:r>
            <a:r>
              <a:rPr lang="en-US" altLang="zh-CN" sz="1800" b="1">
                <a:solidFill>
                  <a:schemeClr val="tx1"/>
                </a:solidFill>
              </a:rPr>
              <a:t>if(R=0 &amp;&amp; Age&gt;T),replace this page</a:t>
            </a:r>
            <a:endParaRPr lang="zh-CN" altLang="en-US" sz="1800" b="1">
              <a:solidFill>
                <a:schemeClr val="tx1"/>
              </a:solidFill>
            </a:endParaRPr>
          </a:p>
          <a:p>
            <a:pPr>
              <a:lnSpc>
                <a:spcPct val="80000"/>
              </a:lnSpc>
              <a:buClrTx/>
              <a:buFont typeface="Wingdings" panose="05000000000000000000" pitchFamily="2" charset="2"/>
              <a:buNone/>
            </a:pPr>
            <a:r>
              <a:rPr lang="zh-CN" altLang="en-US" sz="1800" b="1">
                <a:solidFill>
                  <a:schemeClr val="tx1"/>
                </a:solidFill>
              </a:rPr>
              <a:t>      </a:t>
            </a:r>
            <a:r>
              <a:rPr lang="en-US" altLang="zh-CN" sz="1800" b="1">
                <a:solidFill>
                  <a:schemeClr val="tx1"/>
                </a:solidFill>
              </a:rPr>
              <a:t>if(R=</a:t>
            </a:r>
            <a:r>
              <a:rPr lang="zh-CN" altLang="en-US" sz="1800" b="1">
                <a:solidFill>
                  <a:schemeClr val="tx1"/>
                </a:solidFill>
              </a:rPr>
              <a:t> </a:t>
            </a:r>
            <a:r>
              <a:rPr lang="en-US" altLang="zh-CN" sz="1800" b="1">
                <a:solidFill>
                  <a:schemeClr val="tx1"/>
                </a:solidFill>
              </a:rPr>
              <a:t>0 &amp;&amp; Age&lt;= T),update “last using time)</a:t>
            </a:r>
            <a:endParaRPr lang="zh-CN" altLang="en-US" sz="1800" b="1">
              <a:solidFill>
                <a:schemeClr val="tx1"/>
              </a:solidFill>
            </a:endParaRPr>
          </a:p>
          <a:p>
            <a:pPr>
              <a:lnSpc>
                <a:spcPct val="80000"/>
              </a:lnSpc>
              <a:buClrTx/>
              <a:buFont typeface="Wingdings" panose="05000000000000000000" pitchFamily="2" charset="2"/>
              <a:buNone/>
            </a:pPr>
            <a:r>
              <a:rPr lang="zh-CN" altLang="en-US" sz="1800" b="1">
                <a:solidFill>
                  <a:schemeClr val="tx1"/>
                </a:solidFill>
              </a:rPr>
              <a:t>      </a:t>
            </a:r>
            <a:endParaRPr lang="en-US" altLang="zh-CN" sz="1800" b="1">
              <a:solidFill>
                <a:schemeClr val="tx1"/>
              </a:solidFill>
            </a:endParaRPr>
          </a:p>
          <a:p>
            <a:pPr>
              <a:lnSpc>
                <a:spcPct val="80000"/>
              </a:lnSpc>
              <a:buClrTx/>
              <a:buFont typeface="Wingdings" panose="05000000000000000000" pitchFamily="2" charset="2"/>
              <a:buNone/>
            </a:pPr>
            <a:r>
              <a:rPr lang="en-US" altLang="zh-CN" sz="1800" b="1">
                <a:solidFill>
                  <a:schemeClr val="tx1"/>
                </a:solidFill>
              </a:rPr>
              <a:t>   worst condition: replace page randomly</a:t>
            </a:r>
            <a:endParaRPr lang="zh-CN" altLang="en-US" sz="1800" b="1">
              <a:solidFill>
                <a:schemeClr val="tx1"/>
              </a:solidFill>
            </a:endParaRPr>
          </a:p>
        </p:txBody>
      </p:sp>
      <p:sp>
        <p:nvSpPr>
          <p:cNvPr id="2" name="文本框 1">
            <a:extLst>
              <a:ext uri="{FF2B5EF4-FFF2-40B4-BE49-F238E27FC236}">
                <a16:creationId xmlns:a16="http://schemas.microsoft.com/office/drawing/2014/main" id="{F96797DE-A2F5-DADC-D3E4-201E77FAF028}"/>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AE48E73F-73F8-45E7-9D95-E3E2FE45C1B0}"/>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Working set algorithm(</a:t>
            </a:r>
            <a:r>
              <a:rPr lang="zh-CN" altLang="en-US" b="0" kern="0" dirty="0"/>
              <a:t>一种模拟实现方式</a:t>
            </a:r>
            <a:r>
              <a:rPr lang="en-US" altLang="zh-CN" b="0" kern="0" dirty="0"/>
              <a:t>)</a:t>
            </a:r>
            <a:endParaRPr lang="zh-CN" altLang="en-US" b="0"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31520" y="1556792"/>
            <a:ext cx="7956768" cy="469485"/>
            <a:chOff x="1166789" y="1004544"/>
            <a:chExt cx="7956768" cy="469485"/>
          </a:xfrm>
        </p:grpSpPr>
        <p:sp>
          <p:nvSpPr>
            <p:cNvPr id="12" name="TextBox 11"/>
            <p:cNvSpPr txBox="1"/>
            <p:nvPr/>
          </p:nvSpPr>
          <p:spPr>
            <a:xfrm>
              <a:off x="1166789" y="1012364"/>
              <a:ext cx="3603426" cy="461665"/>
            </a:xfrm>
            <a:prstGeom prst="rect">
              <a:avLst/>
            </a:prstGeom>
            <a:noFill/>
            <a:effectLst/>
          </p:spPr>
          <p:txBody>
            <a:bodyPr wrap="square" rtlCol="0">
              <a:spAutoFit/>
            </a:bodyPr>
            <a:lstStyle/>
            <a:p>
              <a:pPr marL="0" lvl="1">
                <a:buClr>
                  <a:srgbClr val="FFFF66"/>
                </a:buClr>
              </a:pPr>
              <a:r>
                <a:rPr lang="zh-CN" altLang="en-US" sz="2400" b="1" dirty="0">
                  <a:solidFill>
                    <a:srgbClr val="11576A"/>
                  </a:solidFill>
                  <a:latin typeface="微软雅黑" pitchFamily="34" charset="-122"/>
                  <a:ea typeface="微软雅黑" pitchFamily="34" charset="-122"/>
                  <a:sym typeface="MS PGothic" charset="0"/>
                </a:rPr>
                <a:t>缺页次数 / 内存访问次数</a:t>
              </a:r>
              <a:endParaRPr lang="en-US" altLang="zh-CN" sz="2400" b="1" dirty="0">
                <a:solidFill>
                  <a:srgbClr val="11576A"/>
                </a:solidFill>
                <a:latin typeface="微软雅黑" pitchFamily="34" charset="-122"/>
                <a:ea typeface="微软雅黑" pitchFamily="34" charset="-122"/>
                <a:sym typeface="MS PGothic" charset="0"/>
              </a:endParaRPr>
            </a:p>
          </p:txBody>
        </p:sp>
        <p:sp>
          <p:nvSpPr>
            <p:cNvPr id="9" name="TextBox 8"/>
            <p:cNvSpPr txBox="1"/>
            <p:nvPr/>
          </p:nvSpPr>
          <p:spPr>
            <a:xfrm>
              <a:off x="4804385" y="1004544"/>
              <a:ext cx="476253" cy="461665"/>
            </a:xfrm>
            <a:prstGeom prst="rect">
              <a:avLst/>
            </a:prstGeom>
            <a:noFill/>
            <a:effectLst/>
          </p:spPr>
          <p:txBody>
            <a:bodyPr wrap="square" rtlCol="0">
              <a:spAutoFit/>
            </a:bodyPr>
            <a:lstStyle/>
            <a:p>
              <a:pPr marL="0" lvl="1">
                <a:buClr>
                  <a:srgbClr val="FFFF66"/>
                </a:buClr>
              </a:pPr>
              <a:r>
                <a:rPr lang="zh-CN" altLang="en-US" sz="2400" b="1" dirty="0">
                  <a:solidFill>
                    <a:srgbClr val="11576A"/>
                  </a:solidFill>
                  <a:latin typeface="微软雅黑" pitchFamily="34" charset="-122"/>
                  <a:ea typeface="微软雅黑" pitchFamily="34" charset="-122"/>
                  <a:sym typeface="MS PGothic" charset="0"/>
                </a:rPr>
                <a:t>或</a:t>
              </a:r>
              <a:endParaRPr lang="en-US" altLang="zh-CN" sz="2400" b="1" dirty="0">
                <a:solidFill>
                  <a:srgbClr val="11576A"/>
                </a:solidFill>
                <a:latin typeface="微软雅黑" pitchFamily="34" charset="-122"/>
                <a:ea typeface="微软雅黑" pitchFamily="34" charset="-122"/>
                <a:sym typeface="MS PGothic" charset="0"/>
              </a:endParaRPr>
            </a:p>
          </p:txBody>
        </p:sp>
        <p:sp>
          <p:nvSpPr>
            <p:cNvPr id="14" name="TextBox 13"/>
            <p:cNvSpPr txBox="1"/>
            <p:nvPr/>
          </p:nvSpPr>
          <p:spPr>
            <a:xfrm>
              <a:off x="5358306" y="1012364"/>
              <a:ext cx="3765251" cy="461665"/>
            </a:xfrm>
            <a:prstGeom prst="rect">
              <a:avLst/>
            </a:prstGeom>
            <a:noFill/>
            <a:effectLst/>
          </p:spPr>
          <p:txBody>
            <a:bodyPr wrap="square" rtlCol="0">
              <a:spAutoFit/>
            </a:bodyPr>
            <a:lstStyle/>
            <a:p>
              <a:pPr marL="0" lvl="1">
                <a:buClr>
                  <a:srgbClr val="FFFF66"/>
                </a:buClr>
              </a:pPr>
              <a:r>
                <a:rPr lang="zh-CN" altLang="en-US" sz="2400" b="1" dirty="0">
                  <a:solidFill>
                    <a:srgbClr val="11576A"/>
                  </a:solidFill>
                  <a:latin typeface="微软雅黑" pitchFamily="34" charset="-122"/>
                  <a:ea typeface="微软雅黑" pitchFamily="34" charset="-122"/>
                  <a:sym typeface="MS PGothic" charset="0"/>
                </a:rPr>
                <a:t>缺页平均时间间隔的倒数</a:t>
              </a:r>
              <a:endParaRPr lang="en-US" altLang="zh-CN" sz="2400" b="1" dirty="0">
                <a:solidFill>
                  <a:srgbClr val="11576A"/>
                </a:solidFill>
                <a:latin typeface="微软雅黑" pitchFamily="34" charset="-122"/>
                <a:ea typeface="微软雅黑" pitchFamily="34" charset="-122"/>
                <a:sym typeface="MS PGothic" charset="0"/>
              </a:endParaRPr>
            </a:p>
          </p:txBody>
        </p:sp>
      </p:grpSp>
      <p:grpSp>
        <p:nvGrpSpPr>
          <p:cNvPr id="3" name="组合 2"/>
          <p:cNvGrpSpPr/>
          <p:nvPr/>
        </p:nvGrpSpPr>
        <p:grpSpPr>
          <a:xfrm>
            <a:off x="731520" y="2205146"/>
            <a:ext cx="4284360" cy="1657476"/>
            <a:chOff x="928555" y="1649253"/>
            <a:chExt cx="4284360" cy="1657476"/>
          </a:xfrm>
        </p:grpSpPr>
        <p:sp>
          <p:nvSpPr>
            <p:cNvPr id="11" name="TextBox 10"/>
            <p:cNvSpPr txBox="1"/>
            <p:nvPr/>
          </p:nvSpPr>
          <p:spPr>
            <a:xfrm>
              <a:off x="1526823" y="2049363"/>
              <a:ext cx="3005158" cy="400110"/>
            </a:xfrm>
            <a:prstGeom prst="rect">
              <a:avLst/>
            </a:prstGeom>
            <a:noFill/>
            <a:effectLst/>
          </p:spPr>
          <p:txBody>
            <a:bodyPr wrap="square" rtlCol="0">
              <a:spAutoFit/>
            </a:bodyPr>
            <a:lstStyle/>
            <a:p>
              <a:pPr marL="87313" lvl="3" indent="-87313">
                <a:spcBef>
                  <a:spcPct val="5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页面置换算法</a:t>
              </a:r>
            </a:p>
          </p:txBody>
        </p:sp>
        <p:pic>
          <p:nvPicPr>
            <p:cNvPr id="7" name="图片 6" descr="小点1.png"/>
            <p:cNvPicPr>
              <a:picLocks noChangeAspect="1"/>
            </p:cNvPicPr>
            <p:nvPr/>
          </p:nvPicPr>
          <p:blipFill>
            <a:blip r:embed="rId2" cstate="print"/>
            <a:stretch>
              <a:fillRect/>
            </a:stretch>
          </p:blipFill>
          <p:spPr>
            <a:xfrm>
              <a:off x="1392105" y="2157072"/>
              <a:ext cx="151066" cy="148997"/>
            </a:xfrm>
            <a:prstGeom prst="rect">
              <a:avLst/>
            </a:prstGeom>
            <a:effectLst/>
          </p:spPr>
        </p:pic>
        <p:sp>
          <p:nvSpPr>
            <p:cNvPr id="15" name="TextBox 14"/>
            <p:cNvSpPr txBox="1"/>
            <p:nvPr/>
          </p:nvSpPr>
          <p:spPr>
            <a:xfrm>
              <a:off x="928555" y="1663003"/>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16" name="TextBox 15"/>
            <p:cNvSpPr txBox="1"/>
            <p:nvPr/>
          </p:nvSpPr>
          <p:spPr>
            <a:xfrm>
              <a:off x="1242881" y="1649253"/>
              <a:ext cx="3405211" cy="461665"/>
            </a:xfrm>
            <a:prstGeom prst="rect">
              <a:avLst/>
            </a:prstGeom>
            <a:noFill/>
            <a:effectLst/>
          </p:spPr>
          <p:txBody>
            <a:bodyPr wrap="square" rtlCol="0">
              <a:spAutoFit/>
            </a:bodyPr>
            <a:lstStyle/>
            <a:p>
              <a:pPr marL="457200" indent="-457200">
                <a:buClr>
                  <a:srgbClr val="FFFF66"/>
                </a:buClr>
              </a:pPr>
              <a:r>
                <a:rPr lang="zh-CN" altLang="en-US" sz="2400" b="1" dirty="0">
                  <a:solidFill>
                    <a:srgbClr val="11576A"/>
                  </a:solidFill>
                  <a:latin typeface="微软雅黑" pitchFamily="34" charset="-122"/>
                  <a:ea typeface="微软雅黑" pitchFamily="34" charset="-122"/>
                  <a:sym typeface="MS PGothic" charset="0"/>
                </a:rPr>
                <a:t>影响缺页率的因素</a:t>
              </a:r>
            </a:p>
          </p:txBody>
        </p:sp>
        <p:sp>
          <p:nvSpPr>
            <p:cNvPr id="17" name="TextBox 16"/>
            <p:cNvSpPr txBox="1"/>
            <p:nvPr/>
          </p:nvSpPr>
          <p:spPr>
            <a:xfrm>
              <a:off x="1526823" y="2335115"/>
              <a:ext cx="3686092" cy="400110"/>
            </a:xfrm>
            <a:prstGeom prst="rect">
              <a:avLst/>
            </a:prstGeom>
            <a:noFill/>
            <a:effectLst/>
          </p:spPr>
          <p:txBody>
            <a:bodyPr wrap="square" rtlCol="0">
              <a:spAutoFit/>
            </a:bodyPr>
            <a:lstStyle/>
            <a:p>
              <a:pPr marL="87313" lvl="3" indent="-87313">
                <a:spcBef>
                  <a:spcPct val="5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分配给进程的物理页面数目</a:t>
              </a:r>
            </a:p>
          </p:txBody>
        </p:sp>
        <p:pic>
          <p:nvPicPr>
            <p:cNvPr id="18" name="图片 17" descr="小点1.png"/>
            <p:cNvPicPr>
              <a:picLocks noChangeAspect="1"/>
            </p:cNvPicPr>
            <p:nvPr/>
          </p:nvPicPr>
          <p:blipFill>
            <a:blip r:embed="rId2" cstate="print"/>
            <a:stretch>
              <a:fillRect/>
            </a:stretch>
          </p:blipFill>
          <p:spPr>
            <a:xfrm>
              <a:off x="1392105" y="2442824"/>
              <a:ext cx="151066" cy="148997"/>
            </a:xfrm>
            <a:prstGeom prst="rect">
              <a:avLst/>
            </a:prstGeom>
            <a:effectLst/>
          </p:spPr>
        </p:pic>
        <p:sp>
          <p:nvSpPr>
            <p:cNvPr id="19" name="TextBox 18"/>
            <p:cNvSpPr txBox="1"/>
            <p:nvPr/>
          </p:nvSpPr>
          <p:spPr>
            <a:xfrm>
              <a:off x="1526823" y="2620867"/>
              <a:ext cx="3005158" cy="400110"/>
            </a:xfrm>
            <a:prstGeom prst="rect">
              <a:avLst/>
            </a:prstGeom>
            <a:noFill/>
            <a:effectLst/>
          </p:spPr>
          <p:txBody>
            <a:bodyPr wrap="square" rtlCol="0">
              <a:spAutoFit/>
            </a:bodyPr>
            <a:lstStyle/>
            <a:p>
              <a:pPr marL="0" lvl="3">
                <a:spcBef>
                  <a:spcPct val="5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页面大小</a:t>
              </a:r>
            </a:p>
          </p:txBody>
        </p:sp>
        <p:pic>
          <p:nvPicPr>
            <p:cNvPr id="20" name="图片 19" descr="小点1.png"/>
            <p:cNvPicPr>
              <a:picLocks noChangeAspect="1"/>
            </p:cNvPicPr>
            <p:nvPr/>
          </p:nvPicPr>
          <p:blipFill>
            <a:blip r:embed="rId2" cstate="print"/>
            <a:stretch>
              <a:fillRect/>
            </a:stretch>
          </p:blipFill>
          <p:spPr>
            <a:xfrm>
              <a:off x="1392105" y="2728576"/>
              <a:ext cx="151066" cy="148997"/>
            </a:xfrm>
            <a:prstGeom prst="rect">
              <a:avLst/>
            </a:prstGeom>
            <a:effectLst/>
          </p:spPr>
        </p:pic>
        <p:sp>
          <p:nvSpPr>
            <p:cNvPr id="21" name="TextBox 20"/>
            <p:cNvSpPr txBox="1"/>
            <p:nvPr/>
          </p:nvSpPr>
          <p:spPr>
            <a:xfrm>
              <a:off x="1526823" y="2906619"/>
              <a:ext cx="3005158" cy="400110"/>
            </a:xfrm>
            <a:prstGeom prst="rect">
              <a:avLst/>
            </a:prstGeom>
            <a:noFill/>
            <a:effectLst/>
          </p:spPr>
          <p:txBody>
            <a:bodyPr wrap="square" rtlCol="0">
              <a:spAutoFit/>
            </a:bodyPr>
            <a:lstStyle/>
            <a:p>
              <a:pPr marL="0" lvl="3">
                <a:spcBef>
                  <a:spcPct val="50000"/>
                </a:spcBef>
                <a:buClr>
                  <a:srgbClr val="FFFF66"/>
                </a:buClr>
              </a:pPr>
              <a:r>
                <a:rPr lang="zh-CN" altLang="zh-CN" sz="2000" b="1" dirty="0">
                  <a:solidFill>
                    <a:srgbClr val="11576A"/>
                  </a:solidFill>
                  <a:latin typeface="微软雅黑" pitchFamily="34" charset="-122"/>
                  <a:ea typeface="微软雅黑" pitchFamily="34" charset="-122"/>
                  <a:sym typeface="MS PGothic" charset="0"/>
                </a:rPr>
                <a:t>程序的编写方法</a:t>
              </a:r>
            </a:p>
          </p:txBody>
        </p:sp>
        <p:pic>
          <p:nvPicPr>
            <p:cNvPr id="22" name="图片 21" descr="小点1.png"/>
            <p:cNvPicPr>
              <a:picLocks noChangeAspect="1"/>
            </p:cNvPicPr>
            <p:nvPr/>
          </p:nvPicPr>
          <p:blipFill>
            <a:blip r:embed="rId2" cstate="print"/>
            <a:stretch>
              <a:fillRect/>
            </a:stretch>
          </p:blipFill>
          <p:spPr>
            <a:xfrm>
              <a:off x="1392105" y="3014328"/>
              <a:ext cx="151066" cy="148997"/>
            </a:xfrm>
            <a:prstGeom prst="rect">
              <a:avLst/>
            </a:prstGeom>
            <a:effectLst/>
          </p:spPr>
        </p:pic>
      </p:grpSp>
      <p:sp>
        <p:nvSpPr>
          <p:cNvPr id="4" name="文本框 3">
            <a:extLst>
              <a:ext uri="{FF2B5EF4-FFF2-40B4-BE49-F238E27FC236}">
                <a16:creationId xmlns:a16="http://schemas.microsoft.com/office/drawing/2014/main" id="{CAA77752-E4F3-35E9-3211-3B96D39A480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D0A307B6-CD05-202D-E62A-4800ED1736A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sz="3200" b="0" kern="0" dirty="0"/>
              <a:t>缺页率</a:t>
            </a:r>
            <a:r>
              <a:rPr lang="en-US" altLang="zh-CN" sz="3200" b="0" kern="0" dirty="0"/>
              <a:t>(page fault rate)(</a:t>
            </a:r>
            <a:r>
              <a:rPr lang="zh-CN" altLang="en-US" sz="3200" b="0" kern="0" dirty="0"/>
              <a:t>通过缺页率对工作集的观察）</a:t>
            </a:r>
            <a:endParaRPr lang="en-US" altLang="zh-CN" sz="3200" b="0" kern="0" dirty="0"/>
          </a:p>
        </p:txBody>
      </p:sp>
    </p:spTree>
    <p:extLst>
      <p:ext uri="{BB962C8B-B14F-4D97-AF65-F5344CB8AC3E}">
        <p14:creationId xmlns:p14="http://schemas.microsoft.com/office/powerpoint/2010/main" val="312475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376462" y="4899918"/>
            <a:ext cx="6862810" cy="400110"/>
            <a:chOff x="852462" y="4042668"/>
            <a:chExt cx="6862810" cy="400110"/>
          </a:xfrm>
        </p:grpSpPr>
        <p:sp>
          <p:nvSpPr>
            <p:cNvPr id="83" name="TextBox 82"/>
            <p:cNvSpPr txBox="1"/>
            <p:nvPr/>
          </p:nvSpPr>
          <p:spPr>
            <a:xfrm>
              <a:off x="852462" y="4042668"/>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sp>
          <p:nvSpPr>
            <p:cNvPr id="12" name="TextBox 11"/>
            <p:cNvSpPr txBox="1"/>
            <p:nvPr/>
          </p:nvSpPr>
          <p:spPr>
            <a:xfrm>
              <a:off x="1166788" y="4042668"/>
              <a:ext cx="6548484" cy="400110"/>
            </a:xfrm>
            <a:prstGeom prst="rect">
              <a:avLst/>
            </a:prstGeom>
            <a:noFill/>
            <a:effectLst/>
          </p:spPr>
          <p:txBody>
            <a:bodyPr wrap="square" rtlCol="0">
              <a:spAutoFit/>
            </a:bodyPr>
            <a:lstStyle/>
            <a:p>
              <a:pPr marL="342900" indent="-342900"/>
              <a:r>
                <a:rPr lang="zh-CN" altLang="en-US" sz="2000" b="1" dirty="0">
                  <a:solidFill>
                    <a:srgbClr val="11576A"/>
                  </a:solidFill>
                  <a:latin typeface="微软雅黑" pitchFamily="34" charset="-122"/>
                  <a:ea typeface="微软雅黑" pitchFamily="34" charset="-122"/>
                </a:rPr>
                <a:t>若进程缺页率过高，则增加常驻集以分配更多的物理页面</a:t>
              </a:r>
            </a:p>
          </p:txBody>
        </p:sp>
      </p:grpSp>
      <p:sp>
        <p:nvSpPr>
          <p:cNvPr id="8" name="TextBox 7"/>
          <p:cNvSpPr txBox="1"/>
          <p:nvPr/>
        </p:nvSpPr>
        <p:spPr>
          <a:xfrm>
            <a:off x="2376462" y="4413174"/>
            <a:ext cx="8467582" cy="400110"/>
          </a:xfrm>
          <a:prstGeom prst="rect">
            <a:avLst/>
          </a:prstGeom>
          <a:noFill/>
          <a:effectLst/>
        </p:spPr>
        <p:txBody>
          <a:bodyPr wrap="square" rtlCol="0">
            <a:spAutoFit/>
          </a:bodyPr>
          <a:lstStyle/>
          <a:p>
            <a:r>
              <a:rPr lang="zh-CN" altLang="en-US" sz="2000" b="1" dirty="0">
                <a:solidFill>
                  <a:srgbClr val="11576A"/>
                </a:solidFill>
                <a:latin typeface="微软雅黑" pitchFamily="34" charset="-122"/>
                <a:ea typeface="微软雅黑" pitchFamily="34" charset="-122"/>
              </a:rPr>
              <a:t>通过调节常驻集大小，</a:t>
            </a:r>
            <a:r>
              <a:rPr lang="zh-CN" altLang="zh-CN" sz="2000" b="1" dirty="0">
                <a:solidFill>
                  <a:srgbClr val="11576A"/>
                </a:solidFill>
                <a:latin typeface="微软雅黑" pitchFamily="34" charset="-122"/>
                <a:ea typeface="微软雅黑" pitchFamily="34" charset="-122"/>
              </a:rPr>
              <a:t>使每个</a:t>
            </a:r>
            <a:r>
              <a:rPr lang="zh-CN" altLang="en-US" sz="2000" b="1" dirty="0">
                <a:solidFill>
                  <a:srgbClr val="11576A"/>
                </a:solidFill>
                <a:latin typeface="微软雅黑" pitchFamily="34" charset="-122"/>
                <a:ea typeface="微软雅黑" pitchFamily="34" charset="-122"/>
              </a:rPr>
              <a:t>进程</a:t>
            </a:r>
            <a:r>
              <a:rPr lang="zh-CN" altLang="zh-CN" sz="2000" b="1" dirty="0">
                <a:solidFill>
                  <a:srgbClr val="11576A"/>
                </a:solidFill>
                <a:latin typeface="微软雅黑" pitchFamily="34" charset="-122"/>
                <a:ea typeface="微软雅黑" pitchFamily="34" charset="-122"/>
              </a:rPr>
              <a:t>的缺页率保持在一个合理的范围内</a:t>
            </a:r>
            <a:endParaRPr lang="en-US" altLang="zh-CN" sz="2000" b="1" dirty="0">
              <a:solidFill>
                <a:srgbClr val="11576A"/>
              </a:solidFill>
              <a:latin typeface="微软雅黑" pitchFamily="34" charset="-122"/>
              <a:ea typeface="微软雅黑" pitchFamily="34" charset="-122"/>
            </a:endParaRPr>
          </a:p>
        </p:txBody>
      </p:sp>
      <p:grpSp>
        <p:nvGrpSpPr>
          <p:cNvPr id="6" name="组合 5"/>
          <p:cNvGrpSpPr/>
          <p:nvPr/>
        </p:nvGrpSpPr>
        <p:grpSpPr>
          <a:xfrm>
            <a:off x="2376462" y="5261675"/>
            <a:ext cx="6862810" cy="400110"/>
            <a:chOff x="852462" y="4404425"/>
            <a:chExt cx="6862810" cy="400110"/>
          </a:xfrm>
        </p:grpSpPr>
        <p:sp>
          <p:nvSpPr>
            <p:cNvPr id="9" name="TextBox 8"/>
            <p:cNvSpPr txBox="1"/>
            <p:nvPr/>
          </p:nvSpPr>
          <p:spPr>
            <a:xfrm>
              <a:off x="852462" y="4404425"/>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sp>
          <p:nvSpPr>
            <p:cNvPr id="13" name="TextBox 12"/>
            <p:cNvSpPr txBox="1"/>
            <p:nvPr/>
          </p:nvSpPr>
          <p:spPr>
            <a:xfrm>
              <a:off x="1166788" y="4404425"/>
              <a:ext cx="6548484" cy="400110"/>
            </a:xfrm>
            <a:prstGeom prst="rect">
              <a:avLst/>
            </a:prstGeom>
            <a:noFill/>
            <a:effectLst/>
          </p:spPr>
          <p:txBody>
            <a:bodyPr wrap="square" rtlCol="0">
              <a:spAutoFit/>
            </a:bodyPr>
            <a:lstStyle/>
            <a:p>
              <a:pPr marL="342900" indent="-342900"/>
              <a:r>
                <a:rPr lang="zh-CN" altLang="en-US" sz="2000" b="1" dirty="0">
                  <a:solidFill>
                    <a:srgbClr val="11576A"/>
                  </a:solidFill>
                  <a:latin typeface="微软雅黑" pitchFamily="34" charset="-122"/>
                  <a:ea typeface="微软雅黑" pitchFamily="34" charset="-122"/>
                </a:rPr>
                <a:t>若进程缺页率过低，则减少常驻集以减少它的物理页面数</a:t>
              </a:r>
            </a:p>
          </p:txBody>
        </p:sp>
      </p:grpSp>
      <p:grpSp>
        <p:nvGrpSpPr>
          <p:cNvPr id="4" name="组合 3"/>
          <p:cNvGrpSpPr/>
          <p:nvPr/>
        </p:nvGrpSpPr>
        <p:grpSpPr>
          <a:xfrm>
            <a:off x="3647728" y="1717892"/>
            <a:ext cx="4058154" cy="2342095"/>
            <a:chOff x="1363582" y="1131590"/>
            <a:chExt cx="4058154" cy="2342095"/>
          </a:xfrm>
        </p:grpSpPr>
        <p:cxnSp>
          <p:nvCxnSpPr>
            <p:cNvPr id="23" name="直接箭头连接符 22"/>
            <p:cNvCxnSpPr/>
            <p:nvPr/>
          </p:nvCxnSpPr>
          <p:spPr>
            <a:xfrm>
              <a:off x="1715274" y="3144842"/>
              <a:ext cx="3648814" cy="0"/>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V="1">
              <a:off x="1727307" y="1131590"/>
              <a:ext cx="0" cy="2017263"/>
            </a:xfrm>
            <a:prstGeom prst="straightConnector1">
              <a:avLst/>
            </a:prstGeom>
            <a:ln w="28575">
              <a:solidFill>
                <a:srgbClr val="11576A"/>
              </a:solidFill>
              <a:tailEnd type="triangle"/>
            </a:ln>
          </p:spPr>
          <p:style>
            <a:lnRef idx="1">
              <a:schemeClr val="accent1"/>
            </a:lnRef>
            <a:fillRef idx="0">
              <a:schemeClr val="accent1"/>
            </a:fillRef>
            <a:effectRef idx="0">
              <a:schemeClr val="accent1"/>
            </a:effectRef>
            <a:fontRef idx="minor">
              <a:schemeClr val="tx1"/>
            </a:fontRef>
          </p:style>
        </p:cxnSp>
        <p:sp>
          <p:nvSpPr>
            <p:cNvPr id="28" name="任意多边形 27"/>
            <p:cNvSpPr/>
            <p:nvPr/>
          </p:nvSpPr>
          <p:spPr>
            <a:xfrm>
              <a:off x="2006600" y="1333500"/>
              <a:ext cx="2768600" cy="1720850"/>
            </a:xfrm>
            <a:custGeom>
              <a:avLst/>
              <a:gdLst>
                <a:gd name="connsiteX0" fmla="*/ 0 w 2768600"/>
                <a:gd name="connsiteY0" fmla="*/ 0 h 1720850"/>
                <a:gd name="connsiteX1" fmla="*/ 495300 w 2768600"/>
                <a:gd name="connsiteY1" fmla="*/ 920750 h 1720850"/>
                <a:gd name="connsiteX2" fmla="*/ 1098550 w 2768600"/>
                <a:gd name="connsiteY2" fmla="*/ 1365250 h 1720850"/>
                <a:gd name="connsiteX3" fmla="*/ 1714500 w 2768600"/>
                <a:gd name="connsiteY3" fmla="*/ 1593850 h 1720850"/>
                <a:gd name="connsiteX4" fmla="*/ 2336800 w 2768600"/>
                <a:gd name="connsiteY4" fmla="*/ 1689100 h 1720850"/>
                <a:gd name="connsiteX5" fmla="*/ 2768600 w 2768600"/>
                <a:gd name="connsiteY5" fmla="*/ 1720850 h 1720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8600" h="1720850">
                  <a:moveTo>
                    <a:pt x="0" y="0"/>
                  </a:moveTo>
                  <a:cubicBezTo>
                    <a:pt x="156104" y="346604"/>
                    <a:pt x="312208" y="693208"/>
                    <a:pt x="495300" y="920750"/>
                  </a:cubicBezTo>
                  <a:cubicBezTo>
                    <a:pt x="678392" y="1148292"/>
                    <a:pt x="895350" y="1253067"/>
                    <a:pt x="1098550" y="1365250"/>
                  </a:cubicBezTo>
                  <a:cubicBezTo>
                    <a:pt x="1301750" y="1477433"/>
                    <a:pt x="1508125" y="1539875"/>
                    <a:pt x="1714500" y="1593850"/>
                  </a:cubicBezTo>
                  <a:cubicBezTo>
                    <a:pt x="1920875" y="1647825"/>
                    <a:pt x="2161117" y="1667933"/>
                    <a:pt x="2336800" y="1689100"/>
                  </a:cubicBezTo>
                  <a:cubicBezTo>
                    <a:pt x="2512483" y="1710267"/>
                    <a:pt x="2640541" y="1715558"/>
                    <a:pt x="2768600" y="1720850"/>
                  </a:cubicBezTo>
                </a:path>
              </a:pathLst>
            </a:custGeom>
            <a:ln w="38100">
              <a:solidFill>
                <a:srgbClr val="0E4DC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TextBox 35"/>
            <p:cNvSpPr txBox="1"/>
            <p:nvPr/>
          </p:nvSpPr>
          <p:spPr>
            <a:xfrm>
              <a:off x="3877724" y="3206518"/>
              <a:ext cx="1544012" cy="267167"/>
            </a:xfrm>
            <a:prstGeom prst="rect">
              <a:avLst/>
            </a:prstGeom>
            <a:noFill/>
          </p:spPr>
          <p:txBody>
            <a:bodyPr wrap="none" rtlCol="0">
              <a:spAutoFit/>
            </a:bodyPr>
            <a:lstStyle/>
            <a:p>
              <a:pPr>
                <a:lnSpc>
                  <a:spcPts val="1300"/>
                </a:lnSpc>
              </a:pPr>
              <a:r>
                <a:rPr lang="zh-CN" altLang="en-US" sz="1400" b="1" spc="-100" dirty="0">
                  <a:solidFill>
                    <a:srgbClr val="11576A"/>
                  </a:solidFill>
                  <a:latin typeface="微软雅黑" pitchFamily="34" charset="-122"/>
                  <a:ea typeface="微软雅黑" pitchFamily="34" charset="-122"/>
                </a:rPr>
                <a:t>进程的物理页面数</a:t>
              </a:r>
            </a:p>
          </p:txBody>
        </p:sp>
        <p:sp>
          <p:nvSpPr>
            <p:cNvPr id="37" name="TextBox 36"/>
            <p:cNvSpPr txBox="1"/>
            <p:nvPr/>
          </p:nvSpPr>
          <p:spPr>
            <a:xfrm>
              <a:off x="1363582" y="1276796"/>
              <a:ext cx="400110" cy="592470"/>
            </a:xfrm>
            <a:prstGeom prst="rect">
              <a:avLst/>
            </a:prstGeom>
            <a:noFill/>
          </p:spPr>
          <p:txBody>
            <a:bodyPr vert="vert270" wrap="none" rtlCol="0">
              <a:spAutoFit/>
            </a:bodyPr>
            <a:lstStyle/>
            <a:p>
              <a:r>
                <a:rPr lang="zh-CN" altLang="en-US" sz="1400" b="1" spc="-100" dirty="0">
                  <a:solidFill>
                    <a:srgbClr val="11576A"/>
                  </a:solidFill>
                  <a:latin typeface="微软雅黑" pitchFamily="34" charset="-122"/>
                  <a:ea typeface="微软雅黑" pitchFamily="34" charset="-122"/>
                </a:rPr>
                <a:t>缺页率</a:t>
              </a:r>
            </a:p>
          </p:txBody>
        </p:sp>
      </p:grpSp>
      <p:grpSp>
        <p:nvGrpSpPr>
          <p:cNvPr id="2" name="组合 1"/>
          <p:cNvGrpSpPr/>
          <p:nvPr/>
        </p:nvGrpSpPr>
        <p:grpSpPr>
          <a:xfrm>
            <a:off x="4044666" y="2564523"/>
            <a:ext cx="3485273" cy="307777"/>
            <a:chOff x="1682788" y="1756224"/>
            <a:chExt cx="3485273" cy="307777"/>
          </a:xfrm>
        </p:grpSpPr>
        <p:cxnSp>
          <p:nvCxnSpPr>
            <p:cNvPr id="20" name="直接连接符 19"/>
            <p:cNvCxnSpPr/>
            <p:nvPr/>
          </p:nvCxnSpPr>
          <p:spPr>
            <a:xfrm>
              <a:off x="1682788" y="1921125"/>
              <a:ext cx="2988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2" name="TextBox 31"/>
            <p:cNvSpPr txBox="1"/>
            <p:nvPr/>
          </p:nvSpPr>
          <p:spPr>
            <a:xfrm>
              <a:off x="4637146" y="1756224"/>
              <a:ext cx="530915" cy="307777"/>
            </a:xfrm>
            <a:prstGeom prst="rect">
              <a:avLst/>
            </a:prstGeom>
            <a:noFill/>
          </p:spPr>
          <p:txBody>
            <a:bodyPr wrap="none" rtlCol="0">
              <a:spAutoFit/>
            </a:bodyPr>
            <a:lstStyle/>
            <a:p>
              <a:r>
                <a:rPr lang="zh-CN" altLang="en-US" sz="1400" b="1" spc="-100" dirty="0">
                  <a:solidFill>
                    <a:srgbClr val="11576A"/>
                  </a:solidFill>
                  <a:latin typeface="微软雅黑" pitchFamily="34" charset="-122"/>
                  <a:ea typeface="微软雅黑" pitchFamily="34" charset="-122"/>
                </a:rPr>
                <a:t>上限</a:t>
              </a:r>
            </a:p>
          </p:txBody>
        </p:sp>
      </p:grpSp>
      <p:grpSp>
        <p:nvGrpSpPr>
          <p:cNvPr id="3" name="组合 2"/>
          <p:cNvGrpSpPr/>
          <p:nvPr/>
        </p:nvGrpSpPr>
        <p:grpSpPr>
          <a:xfrm>
            <a:off x="4044666" y="3158052"/>
            <a:ext cx="3485273" cy="307777"/>
            <a:chOff x="1682788" y="2349753"/>
            <a:chExt cx="3485273" cy="307777"/>
          </a:xfrm>
        </p:grpSpPr>
        <p:cxnSp>
          <p:nvCxnSpPr>
            <p:cNvPr id="21" name="直接连接符 20"/>
            <p:cNvCxnSpPr/>
            <p:nvPr/>
          </p:nvCxnSpPr>
          <p:spPr>
            <a:xfrm>
              <a:off x="1682788" y="2492629"/>
              <a:ext cx="2988000" cy="1588"/>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24" name="TextBox 33"/>
            <p:cNvSpPr txBox="1"/>
            <p:nvPr/>
          </p:nvSpPr>
          <p:spPr>
            <a:xfrm>
              <a:off x="4637146" y="2349753"/>
              <a:ext cx="530915" cy="307777"/>
            </a:xfrm>
            <a:prstGeom prst="rect">
              <a:avLst/>
            </a:prstGeom>
            <a:noFill/>
          </p:spPr>
          <p:txBody>
            <a:bodyPr wrap="none" rtlCol="0">
              <a:spAutoFit/>
            </a:bodyPr>
            <a:lstStyle/>
            <a:p>
              <a:r>
                <a:rPr lang="zh-CN" altLang="en-US" sz="1400" b="1" spc="-100" dirty="0">
                  <a:solidFill>
                    <a:srgbClr val="11576A"/>
                  </a:solidFill>
                  <a:latin typeface="微软雅黑" pitchFamily="34" charset="-122"/>
                  <a:ea typeface="微软雅黑" pitchFamily="34" charset="-122"/>
                </a:rPr>
                <a:t>下限</a:t>
              </a:r>
            </a:p>
          </p:txBody>
        </p:sp>
      </p:grpSp>
      <p:sp>
        <p:nvSpPr>
          <p:cNvPr id="7" name="文本框 6">
            <a:extLst>
              <a:ext uri="{FF2B5EF4-FFF2-40B4-BE49-F238E27FC236}">
                <a16:creationId xmlns:a16="http://schemas.microsoft.com/office/drawing/2014/main" id="{F33A78D5-5FD7-0BF7-7C75-924CD4F18E2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0" name="标题 8">
            <a:extLst>
              <a:ext uri="{FF2B5EF4-FFF2-40B4-BE49-F238E27FC236}">
                <a16:creationId xmlns:a16="http://schemas.microsoft.com/office/drawing/2014/main" id="{AC66DC73-9C3B-3215-9366-352BAFFB5903}"/>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缺页率置换算法（</a:t>
            </a:r>
            <a:r>
              <a:rPr lang="en-US" altLang="zh-CN" b="0" kern="0" dirty="0"/>
              <a:t>PFF, Page-Fault-Frequency</a:t>
            </a:r>
            <a:r>
              <a:rPr lang="zh-CN" altLang="en-US" b="0" kern="0" dirty="0"/>
              <a:t>）</a:t>
            </a:r>
          </a:p>
        </p:txBody>
      </p:sp>
    </p:spTree>
    <p:extLst>
      <p:ext uri="{BB962C8B-B14F-4D97-AF65-F5344CB8AC3E}">
        <p14:creationId xmlns:p14="http://schemas.microsoft.com/office/powerpoint/2010/main" val="2544488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par>
                                <p:cTn id="21" presetID="22" presetClass="entr" presetSubtype="8"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31520" y="1556792"/>
            <a:ext cx="4068336" cy="475047"/>
            <a:chOff x="852462" y="1415360"/>
            <a:chExt cx="4068336" cy="475047"/>
          </a:xfrm>
        </p:grpSpPr>
        <p:sp>
          <p:nvSpPr>
            <p:cNvPr id="83" name="TextBox 82"/>
            <p:cNvSpPr txBox="1"/>
            <p:nvPr/>
          </p:nvSpPr>
          <p:spPr>
            <a:xfrm>
              <a:off x="852462" y="1428742"/>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10" name="TextBox 9"/>
            <p:cNvSpPr txBox="1"/>
            <p:nvPr/>
          </p:nvSpPr>
          <p:spPr>
            <a:xfrm>
              <a:off x="1184254" y="1415360"/>
              <a:ext cx="3736544"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微软雅黑" pitchFamily="34" charset="-122"/>
                  <a:ea typeface="微软雅黑" pitchFamily="34" charset="-122"/>
                  <a:sym typeface="Times New Roman" charset="0"/>
                </a:rPr>
                <a:t>访存时，设置引用位标志</a:t>
              </a:r>
              <a:endParaRPr lang="zh-CN" altLang="en-US" sz="2400" b="1" dirty="0">
                <a:solidFill>
                  <a:srgbClr val="11576A"/>
                </a:solidFill>
                <a:latin typeface="微软雅黑" pitchFamily="34" charset="-122"/>
                <a:ea typeface="微软雅黑" pitchFamily="34" charset="-122"/>
              </a:endParaRPr>
            </a:p>
          </p:txBody>
        </p:sp>
      </p:grpSp>
      <p:grpSp>
        <p:nvGrpSpPr>
          <p:cNvPr id="3" name="组合 2"/>
          <p:cNvGrpSpPr/>
          <p:nvPr/>
        </p:nvGrpSpPr>
        <p:grpSpPr>
          <a:xfrm>
            <a:off x="731520" y="2001915"/>
            <a:ext cx="8892872" cy="497957"/>
            <a:chOff x="852462" y="1785932"/>
            <a:chExt cx="8892872" cy="497957"/>
          </a:xfrm>
        </p:grpSpPr>
        <p:sp>
          <p:nvSpPr>
            <p:cNvPr id="8" name="TextBox 7"/>
            <p:cNvSpPr txBox="1"/>
            <p:nvPr/>
          </p:nvSpPr>
          <p:spPr>
            <a:xfrm>
              <a:off x="852462" y="1799314"/>
              <a:ext cx="433390" cy="461665"/>
            </a:xfrm>
            <a:prstGeom prst="rect">
              <a:avLst/>
            </a:prstGeom>
            <a:noFill/>
            <a:effectLst/>
          </p:spPr>
          <p:txBody>
            <a:bodyPr wrap="square" rtlCol="0">
              <a:spAutoFit/>
            </a:bodyPr>
            <a:lstStyle/>
            <a:p>
              <a:pPr marL="342900" indent="-342900">
                <a:spcBef>
                  <a:spcPct val="20000"/>
                </a:spcBef>
              </a:pPr>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solidFill>
                  <a:srgbClr val="11576A"/>
                </a:solidFill>
                <a:latin typeface="微软雅黑" pitchFamily="34" charset="-122"/>
                <a:ea typeface="微软雅黑" pitchFamily="34" charset="-122"/>
              </a:endParaRPr>
            </a:p>
          </p:txBody>
        </p:sp>
        <p:sp>
          <p:nvSpPr>
            <p:cNvPr id="9" name="TextBox 8"/>
            <p:cNvSpPr txBox="1"/>
            <p:nvPr/>
          </p:nvSpPr>
          <p:spPr>
            <a:xfrm>
              <a:off x="1184254" y="1785932"/>
              <a:ext cx="8561080" cy="497957"/>
            </a:xfrm>
            <a:prstGeom prst="rect">
              <a:avLst/>
            </a:prstGeom>
            <a:noFill/>
            <a:effectLst/>
          </p:spPr>
          <p:txBody>
            <a:bodyPr wrap="square" rtlCol="0">
              <a:spAutoFit/>
            </a:bodyPr>
            <a:lstStyle/>
            <a:p>
              <a:pPr marL="0" lvl="1">
                <a:lnSpc>
                  <a:spcPct val="120000"/>
                </a:lnSpc>
              </a:pPr>
              <a:r>
                <a:rPr lang="zh-CN" altLang="en-US" sz="2400" b="1" dirty="0">
                  <a:solidFill>
                    <a:srgbClr val="11576A"/>
                  </a:solidFill>
                  <a:latin typeface="微软雅黑" pitchFamily="34" charset="-122"/>
                  <a:ea typeface="微软雅黑" pitchFamily="34" charset="-122"/>
                  <a:sym typeface="Times New Roman" charset="0"/>
                </a:rPr>
                <a:t>缺页时，计算从上次缺页时间</a:t>
              </a:r>
              <a:r>
                <a:rPr lang="zh-CN" altLang="zh-CN" sz="2400" b="1" i="1" dirty="0">
                  <a:solidFill>
                    <a:srgbClr val="11576A"/>
                  </a:solidFill>
                  <a:latin typeface="微软雅黑" pitchFamily="34" charset="-122"/>
                  <a:ea typeface="微软雅黑" pitchFamily="34" charset="-122"/>
                  <a:sym typeface="Times New Roman" charset="0"/>
                </a:rPr>
                <a:t>t</a:t>
              </a:r>
              <a:r>
                <a:rPr lang="zh-CN" altLang="zh-CN" sz="2400" b="1" i="1" baseline="-25000" dirty="0">
                  <a:solidFill>
                    <a:srgbClr val="11576A"/>
                  </a:solidFill>
                  <a:latin typeface="微软雅黑" pitchFamily="34" charset="-122"/>
                  <a:ea typeface="微软雅黑" pitchFamily="34" charset="-122"/>
                  <a:sym typeface="Times New Roman" charset="0"/>
                </a:rPr>
                <a:t>last</a:t>
              </a:r>
              <a:r>
                <a:rPr lang="en-US" altLang="zh-CN" sz="2400" b="1" i="1" baseline="-25000" dirty="0">
                  <a:solidFill>
                    <a:srgbClr val="11576A"/>
                  </a:solidFill>
                  <a:latin typeface="微软雅黑" pitchFamily="34" charset="-122"/>
                  <a:ea typeface="微软雅黑" pitchFamily="34" charset="-122"/>
                  <a:sym typeface="Times New Roman" charset="0"/>
                </a:rPr>
                <a:t> </a:t>
              </a:r>
              <a:r>
                <a:rPr lang="zh-CN" altLang="en-US" sz="2400" b="1" dirty="0">
                  <a:solidFill>
                    <a:srgbClr val="11576A"/>
                  </a:solidFill>
                  <a:latin typeface="微软雅黑" pitchFamily="34" charset="-122"/>
                  <a:ea typeface="微软雅黑" pitchFamily="34" charset="-122"/>
                  <a:sym typeface="Times New Roman" charset="0"/>
                </a:rPr>
                <a:t>到现在</a:t>
              </a:r>
              <a:r>
                <a:rPr lang="zh-CN" altLang="zh-CN" sz="2400" b="1" i="1" dirty="0">
                  <a:solidFill>
                    <a:srgbClr val="11576A"/>
                  </a:solidFill>
                  <a:latin typeface="微软雅黑" pitchFamily="34" charset="-122"/>
                  <a:ea typeface="微软雅黑" pitchFamily="34" charset="-122"/>
                  <a:sym typeface="Times New Roman" charset="0"/>
                </a:rPr>
                <a:t>t</a:t>
              </a:r>
              <a:r>
                <a:rPr lang="zh-CN" altLang="zh-CN" sz="2400" b="1" i="1" baseline="-25000" dirty="0">
                  <a:solidFill>
                    <a:srgbClr val="11576A"/>
                  </a:solidFill>
                  <a:latin typeface="微软雅黑" pitchFamily="34" charset="-122"/>
                  <a:ea typeface="微软雅黑" pitchFamily="34" charset="-122"/>
                  <a:sym typeface="Times New Roman" charset="0"/>
                </a:rPr>
                <a:t>current</a:t>
              </a:r>
              <a:r>
                <a:rPr lang="en-US" altLang="zh-CN" sz="2400" b="1" i="1" baseline="-25000" dirty="0">
                  <a:solidFill>
                    <a:srgbClr val="11576A"/>
                  </a:solidFill>
                  <a:latin typeface="微软雅黑" pitchFamily="34" charset="-122"/>
                  <a:ea typeface="微软雅黑" pitchFamily="34" charset="-122"/>
                  <a:sym typeface="Times New Roman" charset="0"/>
                </a:rPr>
                <a:t> </a:t>
              </a:r>
              <a:r>
                <a:rPr lang="zh-CN" altLang="en-US" sz="2400" b="1" dirty="0">
                  <a:solidFill>
                    <a:srgbClr val="11576A"/>
                  </a:solidFill>
                  <a:latin typeface="微软雅黑" pitchFamily="34" charset="-122"/>
                  <a:ea typeface="微软雅黑" pitchFamily="34" charset="-122"/>
                  <a:sym typeface="Times New Roman" charset="0"/>
                </a:rPr>
                <a:t>的时间间隔</a:t>
              </a:r>
              <a:endParaRPr lang="en-US" altLang="zh-CN" sz="2400" b="1" dirty="0">
                <a:solidFill>
                  <a:srgbClr val="11576A"/>
                </a:solidFill>
                <a:latin typeface="微软雅黑" pitchFamily="34" charset="-122"/>
                <a:ea typeface="微软雅黑" pitchFamily="34" charset="-122"/>
                <a:sym typeface="Times New Roman" charset="0"/>
              </a:endParaRPr>
            </a:p>
          </p:txBody>
        </p:sp>
      </p:grpSp>
      <p:grpSp>
        <p:nvGrpSpPr>
          <p:cNvPr id="4" name="组合 3"/>
          <p:cNvGrpSpPr/>
          <p:nvPr/>
        </p:nvGrpSpPr>
        <p:grpSpPr>
          <a:xfrm>
            <a:off x="1143338" y="2566578"/>
            <a:ext cx="8769086" cy="430374"/>
            <a:chOff x="1264280" y="2571750"/>
            <a:chExt cx="8769086" cy="430374"/>
          </a:xfrm>
        </p:grpSpPr>
        <p:pic>
          <p:nvPicPr>
            <p:cNvPr id="7" name="图片 6" descr="小点1.png"/>
            <p:cNvPicPr>
              <a:picLocks noChangeAspect="1"/>
            </p:cNvPicPr>
            <p:nvPr/>
          </p:nvPicPr>
          <p:blipFill>
            <a:blip r:embed="rId2" cstate="print"/>
            <a:stretch>
              <a:fillRect/>
            </a:stretch>
          </p:blipFill>
          <p:spPr>
            <a:xfrm>
              <a:off x="1264280" y="2701244"/>
              <a:ext cx="151066" cy="148997"/>
            </a:xfrm>
            <a:prstGeom prst="rect">
              <a:avLst/>
            </a:prstGeom>
            <a:effectLst/>
          </p:spPr>
        </p:pic>
        <p:sp>
          <p:nvSpPr>
            <p:cNvPr id="13" name="TextBox 12"/>
            <p:cNvSpPr txBox="1"/>
            <p:nvPr/>
          </p:nvSpPr>
          <p:spPr>
            <a:xfrm>
              <a:off x="1411950" y="2571750"/>
              <a:ext cx="8621416" cy="430374"/>
            </a:xfrm>
            <a:prstGeom prst="rect">
              <a:avLst/>
            </a:prstGeom>
            <a:noFill/>
            <a:effectLst/>
          </p:spPr>
          <p:txBody>
            <a:bodyPr wrap="square" rtlCol="0">
              <a:spAutoFit/>
            </a:bodyPr>
            <a:lstStyle/>
            <a:p>
              <a:pPr marL="0" lvl="1">
                <a:lnSpc>
                  <a:spcPct val="120000"/>
                </a:lnSpc>
              </a:pPr>
              <a:r>
                <a:rPr lang="zh-CN" altLang="en-US" sz="2000" b="1" dirty="0">
                  <a:solidFill>
                    <a:srgbClr val="11576A"/>
                  </a:solidFill>
                  <a:latin typeface="微软雅黑" pitchFamily="34" charset="-122"/>
                  <a:ea typeface="微软雅黑" pitchFamily="34" charset="-122"/>
                  <a:sym typeface="Times New Roman" charset="0"/>
                </a:rPr>
                <a:t>如果 </a:t>
              </a:r>
              <a:r>
                <a:rPr lang="zh-CN" altLang="en-US" sz="2000" b="1" i="1" dirty="0">
                  <a:solidFill>
                    <a:srgbClr val="11576A"/>
                  </a:solidFill>
                  <a:latin typeface="微软雅黑" pitchFamily="34" charset="-122"/>
                  <a:ea typeface="微软雅黑" pitchFamily="34" charset="-122"/>
                  <a:sym typeface="Times New Roman" charset="0"/>
                </a:rPr>
                <a:t>t</a:t>
              </a:r>
              <a:r>
                <a:rPr lang="zh-CN" altLang="en-US" sz="2000" b="1" i="1" baseline="-25000" dirty="0">
                  <a:solidFill>
                    <a:srgbClr val="11576A"/>
                  </a:solidFill>
                  <a:latin typeface="微软雅黑" pitchFamily="34" charset="-122"/>
                  <a:ea typeface="微软雅黑" pitchFamily="34" charset="-122"/>
                  <a:sym typeface="Times New Roman" charset="0"/>
                </a:rPr>
                <a:t>current </a:t>
              </a:r>
              <a:r>
                <a:rPr lang="zh-CN" altLang="en-US" sz="2000" b="1" i="1" dirty="0">
                  <a:solidFill>
                    <a:srgbClr val="11576A"/>
                  </a:solidFill>
                  <a:latin typeface="微软雅黑" pitchFamily="34" charset="-122"/>
                  <a:ea typeface="微软雅黑" pitchFamily="34" charset="-122"/>
                  <a:sym typeface="Times New Roman" charset="0"/>
                </a:rPr>
                <a:t>– t</a:t>
              </a:r>
              <a:r>
                <a:rPr lang="zh-CN" altLang="en-US" sz="2000" b="1" i="1" baseline="-25000" dirty="0">
                  <a:solidFill>
                    <a:srgbClr val="11576A"/>
                  </a:solidFill>
                  <a:latin typeface="微软雅黑" pitchFamily="34" charset="-122"/>
                  <a:ea typeface="微软雅黑" pitchFamily="34" charset="-122"/>
                  <a:sym typeface="Times New Roman" charset="0"/>
                </a:rPr>
                <a:t>last</a:t>
              </a:r>
              <a:r>
                <a:rPr lang="zh-CN" altLang="en-US" sz="2000" b="1" dirty="0">
                  <a:solidFill>
                    <a:srgbClr val="11576A"/>
                  </a:solidFill>
                  <a:latin typeface="微软雅黑" pitchFamily="34" charset="-122"/>
                  <a:ea typeface="微软雅黑" pitchFamily="34" charset="-122"/>
                  <a:sym typeface="Times New Roman" charset="0"/>
                </a:rPr>
                <a:t>&gt;T, 则置换所有在[</a:t>
              </a:r>
              <a:r>
                <a:rPr lang="zh-CN" altLang="en-US" sz="2000" b="1" i="1" dirty="0">
                  <a:solidFill>
                    <a:srgbClr val="11576A"/>
                  </a:solidFill>
                  <a:latin typeface="微软雅黑" pitchFamily="34" charset="-122"/>
                  <a:ea typeface="微软雅黑" pitchFamily="34" charset="-122"/>
                  <a:sym typeface="Times New Roman" charset="0"/>
                </a:rPr>
                <a:t>t</a:t>
              </a:r>
              <a:r>
                <a:rPr lang="zh-CN" altLang="en-US" sz="2000" b="1" i="1" baseline="-25000" dirty="0">
                  <a:solidFill>
                    <a:srgbClr val="11576A"/>
                  </a:solidFill>
                  <a:latin typeface="微软雅黑" pitchFamily="34" charset="-122"/>
                  <a:ea typeface="微软雅黑" pitchFamily="34" charset="-122"/>
                  <a:sym typeface="Times New Roman" charset="0"/>
                </a:rPr>
                <a:t>last </a:t>
              </a:r>
              <a:r>
                <a:rPr lang="zh-CN" altLang="en-US" sz="2000" b="1" i="1" dirty="0">
                  <a:solidFill>
                    <a:srgbClr val="11576A"/>
                  </a:solidFill>
                  <a:latin typeface="微软雅黑" pitchFamily="34" charset="-122"/>
                  <a:ea typeface="微软雅黑" pitchFamily="34" charset="-122"/>
                  <a:sym typeface="Times New Roman" charset="0"/>
                </a:rPr>
                <a:t>,  t</a:t>
              </a:r>
              <a:r>
                <a:rPr lang="zh-CN" altLang="en-US" sz="2000" b="1" i="1" baseline="-25000" dirty="0">
                  <a:solidFill>
                    <a:srgbClr val="11576A"/>
                  </a:solidFill>
                  <a:latin typeface="微软雅黑" pitchFamily="34" charset="-122"/>
                  <a:ea typeface="微软雅黑" pitchFamily="34" charset="-122"/>
                  <a:sym typeface="Times New Roman" charset="0"/>
                </a:rPr>
                <a:t>current</a:t>
              </a:r>
              <a:r>
                <a:rPr lang="zh-CN" altLang="en-US" sz="2000" b="1" i="1" dirty="0">
                  <a:solidFill>
                    <a:srgbClr val="11576A"/>
                  </a:solidFill>
                  <a:latin typeface="微软雅黑" pitchFamily="34" charset="-122"/>
                  <a:ea typeface="微软雅黑" pitchFamily="34" charset="-122"/>
                  <a:sym typeface="Times New Roman" charset="0"/>
                </a:rPr>
                <a:t> </a:t>
              </a:r>
              <a:r>
                <a:rPr lang="zh-CN" altLang="en-US" sz="2000" b="1" dirty="0">
                  <a:solidFill>
                    <a:srgbClr val="11576A"/>
                  </a:solidFill>
                  <a:latin typeface="微软雅黑" pitchFamily="34" charset="-122"/>
                  <a:ea typeface="微软雅黑" pitchFamily="34" charset="-122"/>
                  <a:sym typeface="Times New Roman" charset="0"/>
                </a:rPr>
                <a:t>]时间内没有被引用的页</a:t>
              </a:r>
            </a:p>
          </p:txBody>
        </p:sp>
      </p:grpSp>
      <p:grpSp>
        <p:nvGrpSpPr>
          <p:cNvPr id="5" name="组合 4"/>
          <p:cNvGrpSpPr/>
          <p:nvPr/>
        </p:nvGrpSpPr>
        <p:grpSpPr>
          <a:xfrm>
            <a:off x="1143338" y="3070634"/>
            <a:ext cx="6032782" cy="430374"/>
            <a:chOff x="1264280" y="3214692"/>
            <a:chExt cx="6032782" cy="430374"/>
          </a:xfrm>
        </p:grpSpPr>
        <p:pic>
          <p:nvPicPr>
            <p:cNvPr id="14" name="图片 13" descr="小点1.png"/>
            <p:cNvPicPr>
              <a:picLocks noChangeAspect="1"/>
            </p:cNvPicPr>
            <p:nvPr/>
          </p:nvPicPr>
          <p:blipFill>
            <a:blip r:embed="rId2" cstate="print"/>
            <a:stretch>
              <a:fillRect/>
            </a:stretch>
          </p:blipFill>
          <p:spPr>
            <a:xfrm>
              <a:off x="1264280" y="3344186"/>
              <a:ext cx="151066" cy="148997"/>
            </a:xfrm>
            <a:prstGeom prst="rect">
              <a:avLst/>
            </a:prstGeom>
            <a:effectLst/>
          </p:spPr>
        </p:pic>
        <p:sp>
          <p:nvSpPr>
            <p:cNvPr id="15" name="TextBox 14"/>
            <p:cNvSpPr txBox="1"/>
            <p:nvPr/>
          </p:nvSpPr>
          <p:spPr>
            <a:xfrm>
              <a:off x="1411950" y="3214692"/>
              <a:ext cx="5885112" cy="430374"/>
            </a:xfrm>
            <a:prstGeom prst="rect">
              <a:avLst/>
            </a:prstGeom>
            <a:noFill/>
            <a:effectLst/>
          </p:spPr>
          <p:txBody>
            <a:bodyPr wrap="square" rtlCol="0">
              <a:spAutoFit/>
            </a:bodyPr>
            <a:lstStyle/>
            <a:p>
              <a:pPr marL="0" lvl="1">
                <a:lnSpc>
                  <a:spcPct val="120000"/>
                </a:lnSpc>
              </a:pPr>
              <a:r>
                <a:rPr lang="zh-CN" altLang="en-US" sz="2000" b="1" dirty="0">
                  <a:solidFill>
                    <a:srgbClr val="11576A"/>
                  </a:solidFill>
                  <a:latin typeface="微软雅黑" pitchFamily="34" charset="-122"/>
                  <a:ea typeface="微软雅黑" pitchFamily="34" charset="-122"/>
                  <a:sym typeface="Times New Roman" charset="0"/>
                </a:rPr>
                <a:t>如果</a:t>
              </a:r>
              <a:r>
                <a:rPr lang="zh-CN" altLang="en-US" sz="2000" b="1" i="1" dirty="0">
                  <a:solidFill>
                    <a:srgbClr val="11576A"/>
                  </a:solidFill>
                  <a:latin typeface="微软雅黑" pitchFamily="34" charset="-122"/>
                  <a:ea typeface="微软雅黑" pitchFamily="34" charset="-122"/>
                  <a:sym typeface="Times New Roman" charset="0"/>
                </a:rPr>
                <a:t>t</a:t>
              </a:r>
              <a:r>
                <a:rPr lang="zh-CN" altLang="en-US" sz="2000" b="1" i="1" baseline="-25000" dirty="0">
                  <a:solidFill>
                    <a:srgbClr val="11576A"/>
                  </a:solidFill>
                  <a:latin typeface="微软雅黑" pitchFamily="34" charset="-122"/>
                  <a:ea typeface="微软雅黑" pitchFamily="34" charset="-122"/>
                  <a:sym typeface="Times New Roman" charset="0"/>
                </a:rPr>
                <a:t>current</a:t>
              </a:r>
              <a:r>
                <a:rPr lang="zh-CN" altLang="en-US" sz="2000" b="1" i="1" dirty="0">
                  <a:solidFill>
                    <a:srgbClr val="11576A"/>
                  </a:solidFill>
                  <a:latin typeface="微软雅黑" pitchFamily="34" charset="-122"/>
                  <a:ea typeface="微软雅黑" pitchFamily="34" charset="-122"/>
                  <a:sym typeface="Times New Roman" charset="0"/>
                </a:rPr>
                <a:t> – t</a:t>
              </a:r>
              <a:r>
                <a:rPr lang="zh-CN" altLang="en-US" sz="2000" b="1" i="1" baseline="-25000" dirty="0">
                  <a:solidFill>
                    <a:srgbClr val="11576A"/>
                  </a:solidFill>
                  <a:latin typeface="微软雅黑" pitchFamily="34" charset="-122"/>
                  <a:ea typeface="微软雅黑" pitchFamily="34" charset="-122"/>
                  <a:sym typeface="Times New Roman" charset="0"/>
                </a:rPr>
                <a:t>last</a:t>
              </a:r>
              <a:r>
                <a:rPr lang="zh-CN" altLang="en-US" sz="2000" b="1" i="1" dirty="0">
                  <a:solidFill>
                    <a:srgbClr val="11576A"/>
                  </a:solidFill>
                  <a:latin typeface="微软雅黑" pitchFamily="34" charset="-122"/>
                  <a:ea typeface="微软雅黑" pitchFamily="34" charset="-122"/>
                  <a:sym typeface="Times New Roman" charset="0"/>
                </a:rPr>
                <a:t> </a:t>
              </a:r>
              <a:r>
                <a:rPr lang="zh-CN" altLang="en-US" sz="2000" b="1" dirty="0">
                  <a:solidFill>
                    <a:srgbClr val="11576A"/>
                  </a:solidFill>
                  <a:latin typeface="微软雅黑" pitchFamily="34" charset="-122"/>
                  <a:ea typeface="微软雅黑" pitchFamily="34" charset="-122"/>
                  <a:sym typeface="Times New Roman" charset="0"/>
                </a:rPr>
                <a:t>≤ T, 则增加缺失页到工作集中</a:t>
              </a:r>
              <a:endParaRPr lang="en-US" altLang="zh-CN" sz="2000" b="1" dirty="0">
                <a:solidFill>
                  <a:srgbClr val="11576A"/>
                </a:solidFill>
                <a:latin typeface="微软雅黑" pitchFamily="34" charset="-122"/>
                <a:ea typeface="微软雅黑" pitchFamily="34" charset="-122"/>
                <a:sym typeface="Times New Roman" charset="0"/>
              </a:endParaRPr>
            </a:p>
          </p:txBody>
        </p:sp>
      </p:grpSp>
      <p:sp>
        <p:nvSpPr>
          <p:cNvPr id="6" name="文本框 5">
            <a:extLst>
              <a:ext uri="{FF2B5EF4-FFF2-40B4-BE49-F238E27FC236}">
                <a16:creationId xmlns:a16="http://schemas.microsoft.com/office/drawing/2014/main" id="{205088E6-E4CC-7C36-22A2-1EEA8ADD4B24}"/>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1" name="标题 8">
            <a:extLst>
              <a:ext uri="{FF2B5EF4-FFF2-40B4-BE49-F238E27FC236}">
                <a16:creationId xmlns:a16="http://schemas.microsoft.com/office/drawing/2014/main" id="{51DF1919-CA4F-70A0-A6B8-1B9494D6587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缺页率置换算法的实现</a:t>
            </a:r>
          </a:p>
        </p:txBody>
      </p:sp>
    </p:spTree>
    <p:extLst>
      <p:ext uri="{BB962C8B-B14F-4D97-AF65-F5344CB8AC3E}">
        <p14:creationId xmlns:p14="http://schemas.microsoft.com/office/powerpoint/2010/main" val="354865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376464" y="1700808"/>
            <a:ext cx="3319485" cy="400110"/>
            <a:chOff x="852462" y="1000114"/>
            <a:chExt cx="3319485" cy="400110"/>
          </a:xfrm>
        </p:grpSpPr>
        <p:sp>
          <p:nvSpPr>
            <p:cNvPr id="83" name="TextBox 82"/>
            <p:cNvSpPr txBox="1"/>
            <p:nvPr/>
          </p:nvSpPr>
          <p:spPr>
            <a:xfrm>
              <a:off x="852462" y="1000114"/>
              <a:ext cx="433390" cy="400110"/>
            </a:xfrm>
            <a:prstGeom prst="rect">
              <a:avLst/>
            </a:prstGeom>
            <a:noFill/>
            <a:effectLst/>
          </p:spPr>
          <p:txBody>
            <a:bodyPr wrap="square" rtlCol="0">
              <a:spAutoFit/>
            </a:bodyPr>
            <a:lstStyle/>
            <a:p>
              <a:pPr marL="342900" indent="-342900">
                <a:spcBef>
                  <a:spcPct val="20000"/>
                </a:spcBef>
              </a:pPr>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微软雅黑" pitchFamily="34" charset="-122"/>
                <a:ea typeface="微软雅黑" pitchFamily="34" charset="-122"/>
              </a:endParaRPr>
            </a:p>
          </p:txBody>
        </p:sp>
        <p:sp>
          <p:nvSpPr>
            <p:cNvPr id="12" name="TextBox 11"/>
            <p:cNvSpPr txBox="1"/>
            <p:nvPr/>
          </p:nvSpPr>
          <p:spPr>
            <a:xfrm>
              <a:off x="1166789" y="1000114"/>
              <a:ext cx="3005158" cy="400110"/>
            </a:xfrm>
            <a:prstGeom prst="rect">
              <a:avLst/>
            </a:prstGeom>
            <a:noFill/>
            <a:effectLst/>
          </p:spPr>
          <p:txBody>
            <a:bodyPr wrap="square" rtlCol="0">
              <a:spAutoFit/>
            </a:bodyPr>
            <a:lstStyle/>
            <a:p>
              <a:pPr defTabSz="0">
                <a:spcBef>
                  <a:spcPct val="20000"/>
                </a:spcBef>
                <a:buClr>
                  <a:schemeClr val="folHlink"/>
                </a:buClr>
                <a:buSzPct val="75000"/>
              </a:pPr>
              <a:r>
                <a:rPr lang="zh-CN" altLang="en-US" sz="2000" b="1" dirty="0">
                  <a:solidFill>
                    <a:srgbClr val="11576A"/>
                  </a:solidFill>
                  <a:latin typeface="微软雅黑" pitchFamily="34" charset="-122"/>
                  <a:ea typeface="微软雅黑" pitchFamily="34" charset="-122"/>
                </a:rPr>
                <a:t>假定窗口大小为 2</a:t>
              </a:r>
            </a:p>
          </p:txBody>
        </p:sp>
      </p:grpSp>
      <p:grpSp>
        <p:nvGrpSpPr>
          <p:cNvPr id="115" name="组合 114"/>
          <p:cNvGrpSpPr/>
          <p:nvPr/>
        </p:nvGrpSpPr>
        <p:grpSpPr>
          <a:xfrm>
            <a:off x="2553163" y="2420890"/>
            <a:ext cx="6567175" cy="2671999"/>
            <a:chOff x="1029161" y="1699951"/>
            <a:chExt cx="6567175" cy="2671999"/>
          </a:xfrm>
        </p:grpSpPr>
        <p:sp>
          <p:nvSpPr>
            <p:cNvPr id="116" name="矩形 115"/>
            <p:cNvSpPr/>
            <p:nvPr/>
          </p:nvSpPr>
          <p:spPr>
            <a:xfrm>
              <a:off x="1043608" y="1707654"/>
              <a:ext cx="6552728" cy="2664296"/>
            </a:xfrm>
            <a:prstGeom prst="rect">
              <a:avLst/>
            </a:prstGeom>
            <a:gradFill>
              <a:gsLst>
                <a:gs pos="100000">
                  <a:srgbClr val="FDD000"/>
                </a:gs>
                <a:gs pos="0">
                  <a:srgbClr val="FFF9B1"/>
                </a:gs>
                <a:gs pos="100000">
                  <a:schemeClr val="accent1">
                    <a:tint val="23500"/>
                    <a:satMod val="160000"/>
                  </a:schemeClr>
                </a:gs>
              </a:gsLst>
              <a:lin ang="5400000" scaled="0"/>
            </a:gradFill>
            <a:ln w="28575">
              <a:solidFill>
                <a:srgbClr val="11576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7" name="TextBox 22"/>
            <p:cNvSpPr txBox="1"/>
            <p:nvPr/>
          </p:nvSpPr>
          <p:spPr>
            <a:xfrm>
              <a:off x="7024398" y="1707654"/>
              <a:ext cx="470000"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10</a:t>
              </a:r>
              <a:endParaRPr lang="zh-CN" altLang="en-US" b="1" dirty="0">
                <a:solidFill>
                  <a:srgbClr val="11576A"/>
                </a:solidFill>
                <a:latin typeface="微软雅黑" pitchFamily="34" charset="-122"/>
                <a:ea typeface="微软雅黑" pitchFamily="34" charset="-122"/>
              </a:endParaRPr>
            </a:p>
          </p:txBody>
        </p:sp>
        <p:cxnSp>
          <p:nvCxnSpPr>
            <p:cNvPr id="118" name="直接连接符 117"/>
            <p:cNvCxnSpPr/>
            <p:nvPr/>
          </p:nvCxnSpPr>
          <p:spPr>
            <a:xfrm>
              <a:off x="1043608" y="2429403"/>
              <a:ext cx="655272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1043608" y="2041782"/>
              <a:ext cx="655272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43608" y="3691798"/>
              <a:ext cx="655272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2348700" y="2436278"/>
              <a:ext cx="0" cy="1246355"/>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2855276" y="1699951"/>
              <a:ext cx="0" cy="1986847"/>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23" name="TextBox 59"/>
            <p:cNvSpPr txBox="1"/>
            <p:nvPr/>
          </p:nvSpPr>
          <p:spPr>
            <a:xfrm>
              <a:off x="6615772"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9</a:t>
              </a:r>
              <a:endParaRPr lang="zh-CN" altLang="en-US" b="1" dirty="0">
                <a:solidFill>
                  <a:srgbClr val="11576A"/>
                </a:solidFill>
                <a:latin typeface="微软雅黑" pitchFamily="34" charset="-122"/>
                <a:ea typeface="微软雅黑" pitchFamily="34" charset="-122"/>
              </a:endParaRPr>
            </a:p>
          </p:txBody>
        </p:sp>
        <p:sp>
          <p:nvSpPr>
            <p:cNvPr id="124" name="TextBox 60"/>
            <p:cNvSpPr txBox="1"/>
            <p:nvPr/>
          </p:nvSpPr>
          <p:spPr>
            <a:xfrm>
              <a:off x="6164284"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8</a:t>
              </a:r>
              <a:endParaRPr lang="zh-CN" altLang="en-US" b="1" dirty="0">
                <a:solidFill>
                  <a:srgbClr val="11576A"/>
                </a:solidFill>
                <a:latin typeface="微软雅黑" pitchFamily="34" charset="-122"/>
                <a:ea typeface="微软雅黑" pitchFamily="34" charset="-122"/>
              </a:endParaRPr>
            </a:p>
          </p:txBody>
        </p:sp>
        <p:sp>
          <p:nvSpPr>
            <p:cNvPr id="125" name="TextBox 61"/>
            <p:cNvSpPr txBox="1"/>
            <p:nvPr/>
          </p:nvSpPr>
          <p:spPr>
            <a:xfrm>
              <a:off x="5687078"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7</a:t>
              </a:r>
              <a:endParaRPr lang="zh-CN" altLang="en-US" b="1" dirty="0">
                <a:solidFill>
                  <a:srgbClr val="11576A"/>
                </a:solidFill>
                <a:latin typeface="微软雅黑" pitchFamily="34" charset="-122"/>
                <a:ea typeface="微软雅黑" pitchFamily="34" charset="-122"/>
              </a:endParaRPr>
            </a:p>
          </p:txBody>
        </p:sp>
        <p:sp>
          <p:nvSpPr>
            <p:cNvPr id="126" name="TextBox 62"/>
            <p:cNvSpPr txBox="1"/>
            <p:nvPr/>
          </p:nvSpPr>
          <p:spPr>
            <a:xfrm>
              <a:off x="5235590"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6</a:t>
              </a:r>
              <a:endParaRPr lang="zh-CN" altLang="en-US" b="1" dirty="0">
                <a:solidFill>
                  <a:srgbClr val="11576A"/>
                </a:solidFill>
                <a:latin typeface="微软雅黑" pitchFamily="34" charset="-122"/>
                <a:ea typeface="微软雅黑" pitchFamily="34" charset="-122"/>
              </a:endParaRPr>
            </a:p>
          </p:txBody>
        </p:sp>
        <p:sp>
          <p:nvSpPr>
            <p:cNvPr id="127" name="TextBox 63"/>
            <p:cNvSpPr txBox="1"/>
            <p:nvPr/>
          </p:nvSpPr>
          <p:spPr>
            <a:xfrm>
              <a:off x="4758384"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5</a:t>
              </a:r>
              <a:endParaRPr lang="zh-CN" altLang="en-US" b="1" dirty="0">
                <a:solidFill>
                  <a:srgbClr val="11576A"/>
                </a:solidFill>
                <a:latin typeface="微软雅黑" pitchFamily="34" charset="-122"/>
                <a:ea typeface="微软雅黑" pitchFamily="34" charset="-122"/>
              </a:endParaRPr>
            </a:p>
          </p:txBody>
        </p:sp>
        <p:sp>
          <p:nvSpPr>
            <p:cNvPr id="128" name="TextBox 64"/>
            <p:cNvSpPr txBox="1"/>
            <p:nvPr/>
          </p:nvSpPr>
          <p:spPr>
            <a:xfrm>
              <a:off x="4306896"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4</a:t>
              </a:r>
              <a:endParaRPr lang="zh-CN" altLang="en-US" b="1" dirty="0">
                <a:solidFill>
                  <a:srgbClr val="11576A"/>
                </a:solidFill>
                <a:latin typeface="微软雅黑" pitchFamily="34" charset="-122"/>
                <a:ea typeface="微软雅黑" pitchFamily="34" charset="-122"/>
              </a:endParaRPr>
            </a:p>
          </p:txBody>
        </p:sp>
        <p:sp>
          <p:nvSpPr>
            <p:cNvPr id="129" name="TextBox 65"/>
            <p:cNvSpPr txBox="1"/>
            <p:nvPr/>
          </p:nvSpPr>
          <p:spPr>
            <a:xfrm>
              <a:off x="3829690"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sp>
          <p:nvSpPr>
            <p:cNvPr id="130" name="TextBox 66"/>
            <p:cNvSpPr txBox="1"/>
            <p:nvPr/>
          </p:nvSpPr>
          <p:spPr>
            <a:xfrm>
              <a:off x="3378202"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sp>
          <p:nvSpPr>
            <p:cNvPr id="131" name="TextBox 67"/>
            <p:cNvSpPr txBox="1"/>
            <p:nvPr/>
          </p:nvSpPr>
          <p:spPr>
            <a:xfrm>
              <a:off x="2900996"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sp>
          <p:nvSpPr>
            <p:cNvPr id="132" name="TextBox 68"/>
            <p:cNvSpPr txBox="1"/>
            <p:nvPr/>
          </p:nvSpPr>
          <p:spPr>
            <a:xfrm>
              <a:off x="2449508" y="170765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0</a:t>
              </a:r>
              <a:endParaRPr lang="zh-CN" altLang="en-US" b="1" dirty="0">
                <a:solidFill>
                  <a:srgbClr val="11576A"/>
                </a:solidFill>
                <a:latin typeface="微软雅黑" pitchFamily="34" charset="-122"/>
                <a:ea typeface="微软雅黑" pitchFamily="34" charset="-122"/>
              </a:endParaRPr>
            </a:p>
          </p:txBody>
        </p:sp>
        <p:sp>
          <p:nvSpPr>
            <p:cNvPr id="133" name="TextBox 70"/>
            <p:cNvSpPr txBox="1"/>
            <p:nvPr/>
          </p:nvSpPr>
          <p:spPr>
            <a:xfrm>
              <a:off x="1043608" y="1730274"/>
              <a:ext cx="714380"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时间</a:t>
              </a:r>
            </a:p>
          </p:txBody>
        </p:sp>
        <p:sp>
          <p:nvSpPr>
            <p:cNvPr id="134" name="TextBox 71"/>
            <p:cNvSpPr txBox="1"/>
            <p:nvPr/>
          </p:nvSpPr>
          <p:spPr>
            <a:xfrm>
              <a:off x="1043608" y="2061660"/>
              <a:ext cx="1285884"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访问页面</a:t>
              </a:r>
            </a:p>
          </p:txBody>
        </p:sp>
        <p:sp>
          <p:nvSpPr>
            <p:cNvPr id="135" name="TextBox 72"/>
            <p:cNvSpPr txBox="1"/>
            <p:nvPr/>
          </p:nvSpPr>
          <p:spPr>
            <a:xfrm>
              <a:off x="1072108" y="3723878"/>
              <a:ext cx="1051620"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缺页状态</a:t>
              </a:r>
            </a:p>
          </p:txBody>
        </p:sp>
        <p:sp>
          <p:nvSpPr>
            <p:cNvPr id="136" name="TextBox 74"/>
            <p:cNvSpPr txBox="1"/>
            <p:nvPr/>
          </p:nvSpPr>
          <p:spPr>
            <a:xfrm>
              <a:off x="7070118" y="206166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sp>
          <p:nvSpPr>
            <p:cNvPr id="137" name="TextBox 75"/>
            <p:cNvSpPr txBox="1"/>
            <p:nvPr/>
          </p:nvSpPr>
          <p:spPr>
            <a:xfrm>
              <a:off x="6615772" y="206166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a</a:t>
              </a:r>
              <a:endParaRPr lang="zh-CN" altLang="en-US" b="1" dirty="0">
                <a:solidFill>
                  <a:srgbClr val="11576A"/>
                </a:solidFill>
                <a:latin typeface="微软雅黑" pitchFamily="34" charset="-122"/>
                <a:ea typeface="微软雅黑" pitchFamily="34" charset="-122"/>
              </a:endParaRPr>
            </a:p>
          </p:txBody>
        </p:sp>
        <p:sp>
          <p:nvSpPr>
            <p:cNvPr id="138" name="TextBox 76"/>
            <p:cNvSpPr txBox="1"/>
            <p:nvPr/>
          </p:nvSpPr>
          <p:spPr>
            <a:xfrm>
              <a:off x="6164284" y="206166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39" name="TextBox 77"/>
            <p:cNvSpPr txBox="1"/>
            <p:nvPr/>
          </p:nvSpPr>
          <p:spPr>
            <a:xfrm>
              <a:off x="5687078" y="206166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140" name="TextBox 78"/>
            <p:cNvSpPr txBox="1"/>
            <p:nvPr/>
          </p:nvSpPr>
          <p:spPr>
            <a:xfrm>
              <a:off x="5235590" y="2061660"/>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e</a:t>
              </a:r>
              <a:endParaRPr lang="zh-CN" altLang="en-US" b="1" dirty="0">
                <a:solidFill>
                  <a:srgbClr val="11576A"/>
                </a:solidFill>
                <a:latin typeface="微软雅黑" pitchFamily="34" charset="-122"/>
                <a:ea typeface="微软雅黑" pitchFamily="34" charset="-122"/>
              </a:endParaRPr>
            </a:p>
          </p:txBody>
        </p:sp>
        <p:sp>
          <p:nvSpPr>
            <p:cNvPr id="141" name="TextBox 79"/>
            <p:cNvSpPr txBox="1"/>
            <p:nvPr/>
          </p:nvSpPr>
          <p:spPr>
            <a:xfrm>
              <a:off x="4758384" y="206166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142" name="TextBox 81"/>
            <p:cNvSpPr txBox="1"/>
            <p:nvPr/>
          </p:nvSpPr>
          <p:spPr>
            <a:xfrm>
              <a:off x="4306896" y="206166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b</a:t>
              </a:r>
              <a:endParaRPr lang="zh-CN" altLang="en-US" b="1" dirty="0">
                <a:solidFill>
                  <a:srgbClr val="11576A"/>
                </a:solidFill>
                <a:latin typeface="微软雅黑" pitchFamily="34" charset="-122"/>
                <a:ea typeface="微软雅黑" pitchFamily="34" charset="-122"/>
              </a:endParaRPr>
            </a:p>
          </p:txBody>
        </p:sp>
        <p:sp>
          <p:nvSpPr>
            <p:cNvPr id="143" name="TextBox 83"/>
            <p:cNvSpPr txBox="1"/>
            <p:nvPr/>
          </p:nvSpPr>
          <p:spPr>
            <a:xfrm>
              <a:off x="3829690" y="2061660"/>
              <a:ext cx="33855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d</a:t>
              </a:r>
              <a:endParaRPr lang="zh-CN" altLang="en-US" b="1" dirty="0">
                <a:solidFill>
                  <a:srgbClr val="11576A"/>
                </a:solidFill>
                <a:latin typeface="微软雅黑" pitchFamily="34" charset="-122"/>
                <a:ea typeface="微软雅黑" pitchFamily="34" charset="-122"/>
              </a:endParaRPr>
            </a:p>
          </p:txBody>
        </p:sp>
        <p:sp>
          <p:nvSpPr>
            <p:cNvPr id="144" name="TextBox 84"/>
            <p:cNvSpPr txBox="1"/>
            <p:nvPr/>
          </p:nvSpPr>
          <p:spPr>
            <a:xfrm>
              <a:off x="3378202" y="206166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145" name="TextBox 85"/>
            <p:cNvSpPr txBox="1"/>
            <p:nvPr/>
          </p:nvSpPr>
          <p:spPr>
            <a:xfrm>
              <a:off x="2900996" y="2061660"/>
              <a:ext cx="303288"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c</a:t>
              </a:r>
              <a:endParaRPr lang="zh-CN" altLang="en-US" b="1" dirty="0">
                <a:solidFill>
                  <a:srgbClr val="11576A"/>
                </a:solidFill>
                <a:latin typeface="微软雅黑" pitchFamily="34" charset="-122"/>
                <a:ea typeface="微软雅黑" pitchFamily="34" charset="-122"/>
              </a:endParaRPr>
            </a:p>
          </p:txBody>
        </p:sp>
        <p:sp>
          <p:nvSpPr>
            <p:cNvPr id="146" name="TextBox 86"/>
            <p:cNvSpPr txBox="1"/>
            <p:nvPr/>
          </p:nvSpPr>
          <p:spPr>
            <a:xfrm>
              <a:off x="1543992" y="2418646"/>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a</a:t>
              </a:r>
              <a:endParaRPr lang="zh-CN" altLang="en-US" sz="1600" b="1" dirty="0">
                <a:solidFill>
                  <a:srgbClr val="11576A"/>
                </a:solidFill>
                <a:latin typeface="微软雅黑" pitchFamily="34" charset="-122"/>
                <a:ea typeface="微软雅黑" pitchFamily="34" charset="-122"/>
              </a:endParaRPr>
            </a:p>
          </p:txBody>
        </p:sp>
        <p:sp>
          <p:nvSpPr>
            <p:cNvPr id="147" name="TextBox 88"/>
            <p:cNvSpPr txBox="1"/>
            <p:nvPr/>
          </p:nvSpPr>
          <p:spPr>
            <a:xfrm>
              <a:off x="1543186" y="2656780"/>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b</a:t>
              </a:r>
              <a:endParaRPr lang="zh-CN" altLang="en-US" sz="1600" b="1" dirty="0">
                <a:solidFill>
                  <a:srgbClr val="11576A"/>
                </a:solidFill>
                <a:latin typeface="微软雅黑" pitchFamily="34" charset="-122"/>
                <a:ea typeface="微软雅黑" pitchFamily="34" charset="-122"/>
              </a:endParaRPr>
            </a:p>
          </p:txBody>
        </p:sp>
        <p:sp>
          <p:nvSpPr>
            <p:cNvPr id="148" name="TextBox 89"/>
            <p:cNvSpPr txBox="1"/>
            <p:nvPr/>
          </p:nvSpPr>
          <p:spPr>
            <a:xfrm>
              <a:off x="1537057" y="3129405"/>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d</a:t>
              </a:r>
              <a:endParaRPr lang="zh-CN" altLang="en-US" sz="1600" b="1" dirty="0">
                <a:solidFill>
                  <a:srgbClr val="11576A"/>
                </a:solidFill>
                <a:latin typeface="微软雅黑" pitchFamily="34" charset="-122"/>
                <a:ea typeface="微软雅黑" pitchFamily="34" charset="-122"/>
              </a:endParaRPr>
            </a:p>
          </p:txBody>
        </p:sp>
        <p:sp>
          <p:nvSpPr>
            <p:cNvPr id="149" name="TextBox 90"/>
            <p:cNvSpPr txBox="1"/>
            <p:nvPr/>
          </p:nvSpPr>
          <p:spPr>
            <a:xfrm>
              <a:off x="1536374" y="3377118"/>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e</a:t>
              </a:r>
              <a:endParaRPr lang="zh-CN" altLang="en-US" sz="1600" b="1" dirty="0">
                <a:solidFill>
                  <a:srgbClr val="11576A"/>
                </a:solidFill>
                <a:latin typeface="微软雅黑" pitchFamily="34" charset="-122"/>
                <a:ea typeface="微软雅黑" pitchFamily="34" charset="-122"/>
              </a:endParaRPr>
            </a:p>
          </p:txBody>
        </p:sp>
        <p:sp>
          <p:nvSpPr>
            <p:cNvPr id="150" name="TextBox 92"/>
            <p:cNvSpPr txBox="1"/>
            <p:nvPr/>
          </p:nvSpPr>
          <p:spPr>
            <a:xfrm>
              <a:off x="1542973" y="2894168"/>
              <a:ext cx="1000132" cy="338554"/>
            </a:xfrm>
            <a:prstGeom prst="rect">
              <a:avLst/>
            </a:prstGeom>
            <a:noFill/>
            <a:effectLst/>
          </p:spPr>
          <p:txBody>
            <a:bodyPr wrap="square" rtlCol="0">
              <a:spAutoFit/>
            </a:bodyPr>
            <a:lstStyle/>
            <a:p>
              <a:pPr marL="457200" indent="-457200"/>
              <a:r>
                <a:rPr lang="zh-CN" altLang="en-US" sz="1600" b="1" dirty="0">
                  <a:solidFill>
                    <a:srgbClr val="11576A"/>
                  </a:solidFill>
                  <a:latin typeface="微软雅黑" pitchFamily="34" charset="-122"/>
                  <a:ea typeface="微软雅黑" pitchFamily="34" charset="-122"/>
                </a:rPr>
                <a:t>页面</a:t>
              </a:r>
              <a:r>
                <a:rPr lang="en-US" altLang="zh-CN" sz="1600" b="1" dirty="0">
                  <a:solidFill>
                    <a:srgbClr val="11576A"/>
                  </a:solidFill>
                  <a:latin typeface="微软雅黑" pitchFamily="34" charset="-122"/>
                  <a:ea typeface="微软雅黑" pitchFamily="34" charset="-122"/>
                </a:rPr>
                <a:t>c</a:t>
              </a:r>
              <a:endParaRPr lang="zh-CN" altLang="en-US" sz="1600" b="1" dirty="0">
                <a:solidFill>
                  <a:srgbClr val="11576A"/>
                </a:solidFill>
                <a:latin typeface="微软雅黑" pitchFamily="34" charset="-122"/>
                <a:ea typeface="微软雅黑" pitchFamily="34" charset="-122"/>
              </a:endParaRPr>
            </a:p>
          </p:txBody>
        </p:sp>
        <p:sp>
          <p:nvSpPr>
            <p:cNvPr id="151" name="TextBox 133"/>
            <p:cNvSpPr txBox="1"/>
            <p:nvPr/>
          </p:nvSpPr>
          <p:spPr>
            <a:xfrm>
              <a:off x="1029161" y="2430636"/>
              <a:ext cx="554853" cy="1323439"/>
            </a:xfrm>
            <a:prstGeom prst="rect">
              <a:avLst/>
            </a:prstGeom>
            <a:noFill/>
          </p:spPr>
          <p:txBody>
            <a:bodyPr vert="horz" wrap="square" rtlCol="0">
              <a:spAutoFit/>
            </a:bodyPr>
            <a:lstStyle/>
            <a:p>
              <a:pPr algn="ctr">
                <a:lnSpc>
                  <a:spcPts val="1600"/>
                </a:lnSpc>
              </a:pPr>
              <a:r>
                <a:rPr lang="zh-CN" altLang="en-US" sz="1600" b="1" spc="-100" dirty="0">
                  <a:solidFill>
                    <a:srgbClr val="11576A"/>
                  </a:solidFill>
                  <a:latin typeface="微软雅黑" pitchFamily="34" charset="-122"/>
                  <a:ea typeface="微软雅黑" pitchFamily="34" charset="-122"/>
                </a:rPr>
                <a:t>逻辑面页状态</a:t>
              </a:r>
              <a:endParaRPr lang="en-US" altLang="zh-CN" sz="1600" b="1" spc="-100" dirty="0">
                <a:solidFill>
                  <a:srgbClr val="11576A"/>
                </a:solidFill>
                <a:latin typeface="微软雅黑" pitchFamily="34" charset="-122"/>
                <a:ea typeface="微软雅黑" pitchFamily="34" charset="-122"/>
              </a:endParaRPr>
            </a:p>
          </p:txBody>
        </p:sp>
        <p:sp>
          <p:nvSpPr>
            <p:cNvPr id="152" name="椭圆 151"/>
            <p:cNvSpPr/>
            <p:nvPr/>
          </p:nvSpPr>
          <p:spPr>
            <a:xfrm>
              <a:off x="2521029"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3" name="椭圆 152"/>
            <p:cNvSpPr/>
            <p:nvPr/>
          </p:nvSpPr>
          <p:spPr>
            <a:xfrm>
              <a:off x="2525903"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4" name="椭圆 153"/>
            <p:cNvSpPr/>
            <p:nvPr/>
          </p:nvSpPr>
          <p:spPr>
            <a:xfrm>
              <a:off x="2528041"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55" name="直接连接符 154"/>
            <p:cNvCxnSpPr/>
            <p:nvPr/>
          </p:nvCxnSpPr>
          <p:spPr>
            <a:xfrm>
              <a:off x="1043608" y="4055379"/>
              <a:ext cx="6552728" cy="0"/>
            </a:xfrm>
            <a:prstGeom prst="line">
              <a:avLst/>
            </a:prstGeom>
            <a:ln w="28575">
              <a:solidFill>
                <a:srgbClr val="11576A"/>
              </a:solidFill>
            </a:ln>
          </p:spPr>
          <p:style>
            <a:lnRef idx="1">
              <a:schemeClr val="accent1"/>
            </a:lnRef>
            <a:fillRef idx="0">
              <a:schemeClr val="accent1"/>
            </a:fillRef>
            <a:effectRef idx="0">
              <a:schemeClr val="accent1"/>
            </a:effectRef>
            <a:fontRef idx="minor">
              <a:schemeClr val="tx1"/>
            </a:fontRef>
          </p:style>
        </p:cxnSp>
        <p:sp>
          <p:nvSpPr>
            <p:cNvPr id="156" name="TextBox 97"/>
            <p:cNvSpPr txBox="1"/>
            <p:nvPr/>
          </p:nvSpPr>
          <p:spPr>
            <a:xfrm>
              <a:off x="1081897" y="4029812"/>
              <a:ext cx="1285884" cy="338554"/>
            </a:xfrm>
            <a:prstGeom prst="rect">
              <a:avLst/>
            </a:prstGeom>
            <a:noFill/>
            <a:effectLst/>
          </p:spPr>
          <p:txBody>
            <a:bodyPr wrap="square" rtlCol="0">
              <a:spAutoFit/>
            </a:bodyPr>
            <a:lstStyle/>
            <a:p>
              <a:r>
                <a:rPr lang="zh-CN" altLang="zh-CN" sz="1600" b="1" dirty="0">
                  <a:solidFill>
                    <a:srgbClr val="11576A"/>
                  </a:solidFill>
                  <a:latin typeface="微软雅黑" pitchFamily="34" charset="-122"/>
                  <a:ea typeface="微软雅黑" pitchFamily="34" charset="-122"/>
                  <a:sym typeface="MS PGothic" charset="0"/>
                </a:rPr>
                <a:t>t</a:t>
              </a:r>
              <a:r>
                <a:rPr lang="zh-CN" altLang="zh-CN" sz="1600" b="1" baseline="-25000" dirty="0">
                  <a:solidFill>
                    <a:srgbClr val="11576A"/>
                  </a:solidFill>
                  <a:latin typeface="微软雅黑" pitchFamily="34" charset="-122"/>
                  <a:ea typeface="微软雅黑" pitchFamily="34" charset="-122"/>
                  <a:sym typeface="MS PGothic" charset="0"/>
                </a:rPr>
                <a:t>cur</a:t>
              </a:r>
              <a:r>
                <a:rPr lang="zh-CN" altLang="zh-CN" sz="1600" b="1" dirty="0">
                  <a:solidFill>
                    <a:srgbClr val="11576A"/>
                  </a:solidFill>
                  <a:latin typeface="微软雅黑" pitchFamily="34" charset="-122"/>
                  <a:ea typeface="微软雅黑" pitchFamily="34" charset="-122"/>
                  <a:sym typeface="MS PGothic" charset="0"/>
                </a:rPr>
                <a:t> – t</a:t>
              </a:r>
              <a:r>
                <a:rPr lang="zh-CN" altLang="zh-CN" sz="1600" b="1" baseline="-25000" dirty="0">
                  <a:solidFill>
                    <a:srgbClr val="11576A"/>
                  </a:solidFill>
                  <a:latin typeface="微软雅黑" pitchFamily="34" charset="-122"/>
                  <a:ea typeface="微软雅黑" pitchFamily="34" charset="-122"/>
                  <a:sym typeface="MS PGothic" charset="0"/>
                </a:rPr>
                <a:t>last</a:t>
              </a:r>
            </a:p>
          </p:txBody>
        </p:sp>
      </p:grpSp>
      <p:grpSp>
        <p:nvGrpSpPr>
          <p:cNvPr id="157" name="组合 156"/>
          <p:cNvGrpSpPr/>
          <p:nvPr/>
        </p:nvGrpSpPr>
        <p:grpSpPr>
          <a:xfrm>
            <a:off x="4972451" y="3206349"/>
            <a:ext cx="178672" cy="1128179"/>
            <a:chOff x="3448451" y="2485410"/>
            <a:chExt cx="178672" cy="1128179"/>
          </a:xfrm>
        </p:grpSpPr>
        <p:sp>
          <p:nvSpPr>
            <p:cNvPr id="158" name="椭圆 157"/>
            <p:cNvSpPr/>
            <p:nvPr/>
          </p:nvSpPr>
          <p:spPr>
            <a:xfrm>
              <a:off x="3448452"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9" name="椭圆 158"/>
            <p:cNvSpPr/>
            <p:nvPr/>
          </p:nvSpPr>
          <p:spPr>
            <a:xfrm>
              <a:off x="3453326"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0" name="椭圆 159"/>
            <p:cNvSpPr/>
            <p:nvPr/>
          </p:nvSpPr>
          <p:spPr>
            <a:xfrm>
              <a:off x="3448451"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8" name="椭圆 107"/>
            <p:cNvSpPr/>
            <p:nvPr/>
          </p:nvSpPr>
          <p:spPr>
            <a:xfrm>
              <a:off x="3451959" y="3439792"/>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61" name="组合 160"/>
          <p:cNvGrpSpPr/>
          <p:nvPr/>
        </p:nvGrpSpPr>
        <p:grpSpPr>
          <a:xfrm>
            <a:off x="5436800" y="3206349"/>
            <a:ext cx="182231" cy="1127463"/>
            <a:chOff x="3912798" y="2485410"/>
            <a:chExt cx="182231" cy="1127463"/>
          </a:xfrm>
        </p:grpSpPr>
        <p:sp>
          <p:nvSpPr>
            <p:cNvPr id="162" name="椭圆 161"/>
            <p:cNvSpPr/>
            <p:nvPr/>
          </p:nvSpPr>
          <p:spPr>
            <a:xfrm>
              <a:off x="3912799"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3" name="椭圆 162"/>
            <p:cNvSpPr/>
            <p:nvPr/>
          </p:nvSpPr>
          <p:spPr>
            <a:xfrm>
              <a:off x="3917673"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4" name="椭圆 163"/>
            <p:cNvSpPr/>
            <p:nvPr/>
          </p:nvSpPr>
          <p:spPr>
            <a:xfrm>
              <a:off x="3912798"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9" name="椭圆 108"/>
            <p:cNvSpPr/>
            <p:nvPr/>
          </p:nvSpPr>
          <p:spPr>
            <a:xfrm>
              <a:off x="3921232" y="343907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65" name="组合 164"/>
          <p:cNvGrpSpPr/>
          <p:nvPr/>
        </p:nvGrpSpPr>
        <p:grpSpPr>
          <a:xfrm>
            <a:off x="6363024" y="3436705"/>
            <a:ext cx="178672" cy="654947"/>
            <a:chOff x="4839024" y="2715766"/>
            <a:chExt cx="178672" cy="654947"/>
          </a:xfrm>
        </p:grpSpPr>
        <p:sp>
          <p:nvSpPr>
            <p:cNvPr id="166" name="椭圆 165"/>
            <p:cNvSpPr/>
            <p:nvPr/>
          </p:nvSpPr>
          <p:spPr>
            <a:xfrm>
              <a:off x="4839026" y="271576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7" name="椭圆 166"/>
            <p:cNvSpPr/>
            <p:nvPr/>
          </p:nvSpPr>
          <p:spPr>
            <a:xfrm>
              <a:off x="4843899"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8" name="椭圆 167"/>
            <p:cNvSpPr/>
            <p:nvPr/>
          </p:nvSpPr>
          <p:spPr>
            <a:xfrm>
              <a:off x="4839024"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69" name="组合 168"/>
          <p:cNvGrpSpPr/>
          <p:nvPr/>
        </p:nvGrpSpPr>
        <p:grpSpPr>
          <a:xfrm>
            <a:off x="7288641" y="3436703"/>
            <a:ext cx="180810" cy="891320"/>
            <a:chOff x="5764641" y="2715766"/>
            <a:chExt cx="180810" cy="891320"/>
          </a:xfrm>
        </p:grpSpPr>
        <p:sp>
          <p:nvSpPr>
            <p:cNvPr id="170" name="椭圆 169"/>
            <p:cNvSpPr/>
            <p:nvPr/>
          </p:nvSpPr>
          <p:spPr>
            <a:xfrm>
              <a:off x="5764643" y="271576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1" name="椭圆 170"/>
            <p:cNvSpPr/>
            <p:nvPr/>
          </p:nvSpPr>
          <p:spPr>
            <a:xfrm>
              <a:off x="5771654"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2" name="椭圆 171"/>
            <p:cNvSpPr/>
            <p:nvPr/>
          </p:nvSpPr>
          <p:spPr>
            <a:xfrm>
              <a:off x="5764641"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3" name="椭圆 112"/>
            <p:cNvSpPr/>
            <p:nvPr/>
          </p:nvSpPr>
          <p:spPr>
            <a:xfrm>
              <a:off x="5771653" y="3174337"/>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73" name="组合 172"/>
          <p:cNvGrpSpPr/>
          <p:nvPr/>
        </p:nvGrpSpPr>
        <p:grpSpPr>
          <a:xfrm>
            <a:off x="7769420" y="3436705"/>
            <a:ext cx="180810" cy="903173"/>
            <a:chOff x="6245420" y="2715766"/>
            <a:chExt cx="180810" cy="903173"/>
          </a:xfrm>
        </p:grpSpPr>
        <p:sp>
          <p:nvSpPr>
            <p:cNvPr id="174" name="椭圆 173"/>
            <p:cNvSpPr/>
            <p:nvPr/>
          </p:nvSpPr>
          <p:spPr>
            <a:xfrm>
              <a:off x="6252433" y="3445142"/>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5" name="椭圆 174"/>
            <p:cNvSpPr/>
            <p:nvPr/>
          </p:nvSpPr>
          <p:spPr>
            <a:xfrm>
              <a:off x="6245420" y="2956774"/>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1" name="椭圆 110"/>
            <p:cNvSpPr/>
            <p:nvPr/>
          </p:nvSpPr>
          <p:spPr>
            <a:xfrm>
              <a:off x="6246978" y="271576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2" name="椭圆 111"/>
            <p:cNvSpPr/>
            <p:nvPr/>
          </p:nvSpPr>
          <p:spPr>
            <a:xfrm>
              <a:off x="6252432" y="319055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76" name="组合 175"/>
          <p:cNvGrpSpPr/>
          <p:nvPr/>
        </p:nvGrpSpPr>
        <p:grpSpPr>
          <a:xfrm>
            <a:off x="4420602" y="3206349"/>
            <a:ext cx="327334" cy="1925639"/>
            <a:chOff x="2896602" y="2485410"/>
            <a:chExt cx="327334" cy="1925639"/>
          </a:xfrm>
        </p:grpSpPr>
        <p:grpSp>
          <p:nvGrpSpPr>
            <p:cNvPr id="177" name="组合 176"/>
            <p:cNvGrpSpPr/>
            <p:nvPr/>
          </p:nvGrpSpPr>
          <p:grpSpPr>
            <a:xfrm>
              <a:off x="2975786" y="2485410"/>
              <a:ext cx="187013" cy="1481911"/>
              <a:chOff x="2975786" y="2485410"/>
              <a:chExt cx="187013" cy="1481911"/>
            </a:xfrm>
          </p:grpSpPr>
          <p:sp>
            <p:nvSpPr>
              <p:cNvPr id="179" name="椭圆 178"/>
              <p:cNvSpPr/>
              <p:nvPr/>
            </p:nvSpPr>
            <p:spPr>
              <a:xfrm>
                <a:off x="2981990"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0" name="椭圆 179"/>
              <p:cNvSpPr/>
              <p:nvPr/>
            </p:nvSpPr>
            <p:spPr>
              <a:xfrm>
                <a:off x="2986864"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1" name="椭圆 180"/>
              <p:cNvSpPr/>
              <p:nvPr/>
            </p:nvSpPr>
            <p:spPr>
              <a:xfrm>
                <a:off x="2989002"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2" name="椭圆 181"/>
              <p:cNvSpPr/>
              <p:nvPr/>
            </p:nvSpPr>
            <p:spPr>
              <a:xfrm>
                <a:off x="2981989" y="2944921"/>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C00000"/>
                  </a:solidFill>
                </a:endParaRPr>
              </a:p>
            </p:txBody>
          </p:sp>
          <p:sp>
            <p:nvSpPr>
              <p:cNvPr id="183" name="AutoShape 100"/>
              <p:cNvSpPr>
                <a:spLocks noChangeArrowheads="1"/>
              </p:cNvSpPr>
              <p:nvPr/>
            </p:nvSpPr>
            <p:spPr bwMode="auto">
              <a:xfrm>
                <a:off x="2975786" y="3787321"/>
                <a:ext cx="180000" cy="180000"/>
              </a:xfrm>
              <a:prstGeom prst="octagon">
                <a:avLst>
                  <a:gd name="adj" fmla="val 29282"/>
                </a:avLst>
              </a:prstGeom>
              <a:solidFill>
                <a:srgbClr val="7030A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solidFill>
                    <a:srgbClr val="000099"/>
                  </a:solidFill>
                </a:endParaRPr>
              </a:p>
            </p:txBody>
          </p:sp>
        </p:grpSp>
        <p:sp>
          <p:nvSpPr>
            <p:cNvPr id="178" name="TextBox 98"/>
            <p:cNvSpPr txBox="1"/>
            <p:nvPr/>
          </p:nvSpPr>
          <p:spPr>
            <a:xfrm>
              <a:off x="2896602" y="4041717"/>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grpSp>
      <p:grpSp>
        <p:nvGrpSpPr>
          <p:cNvPr id="185" name="组合 184"/>
          <p:cNvGrpSpPr/>
          <p:nvPr/>
        </p:nvGrpSpPr>
        <p:grpSpPr>
          <a:xfrm>
            <a:off x="5921767" y="3436705"/>
            <a:ext cx="178672" cy="654947"/>
            <a:chOff x="4397767" y="2715766"/>
            <a:chExt cx="178672" cy="654947"/>
          </a:xfrm>
        </p:grpSpPr>
        <p:sp>
          <p:nvSpPr>
            <p:cNvPr id="187" name="椭圆 186"/>
            <p:cNvSpPr/>
            <p:nvPr/>
          </p:nvSpPr>
          <p:spPr>
            <a:xfrm>
              <a:off x="4397769" y="2715766"/>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8" name="椭圆 187"/>
            <p:cNvSpPr/>
            <p:nvPr/>
          </p:nvSpPr>
          <p:spPr>
            <a:xfrm>
              <a:off x="4402642"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9" name="椭圆 188"/>
            <p:cNvSpPr/>
            <p:nvPr/>
          </p:nvSpPr>
          <p:spPr>
            <a:xfrm>
              <a:off x="4397767"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92" name="组合 191"/>
          <p:cNvGrpSpPr/>
          <p:nvPr/>
        </p:nvGrpSpPr>
        <p:grpSpPr>
          <a:xfrm>
            <a:off x="6839583" y="3436703"/>
            <a:ext cx="180810" cy="891320"/>
            <a:chOff x="5315583" y="2715766"/>
            <a:chExt cx="180810" cy="891320"/>
          </a:xfrm>
        </p:grpSpPr>
        <p:sp>
          <p:nvSpPr>
            <p:cNvPr id="194" name="椭圆 193"/>
            <p:cNvSpPr/>
            <p:nvPr/>
          </p:nvSpPr>
          <p:spPr>
            <a:xfrm>
              <a:off x="5315585" y="271576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5" name="椭圆 194"/>
            <p:cNvSpPr/>
            <p:nvPr/>
          </p:nvSpPr>
          <p:spPr>
            <a:xfrm>
              <a:off x="5320458" y="3196916"/>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6" name="椭圆 195"/>
            <p:cNvSpPr/>
            <p:nvPr/>
          </p:nvSpPr>
          <p:spPr>
            <a:xfrm>
              <a:off x="5322596" y="3433289"/>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7" name="椭圆 196"/>
            <p:cNvSpPr/>
            <p:nvPr/>
          </p:nvSpPr>
          <p:spPr>
            <a:xfrm>
              <a:off x="5315583"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00" name="组合 199"/>
          <p:cNvGrpSpPr/>
          <p:nvPr/>
        </p:nvGrpSpPr>
        <p:grpSpPr>
          <a:xfrm>
            <a:off x="8215661" y="3206347"/>
            <a:ext cx="180810" cy="1121676"/>
            <a:chOff x="6691661" y="2485410"/>
            <a:chExt cx="180810" cy="1121676"/>
          </a:xfrm>
        </p:grpSpPr>
        <p:sp>
          <p:nvSpPr>
            <p:cNvPr id="202" name="椭圆 201"/>
            <p:cNvSpPr/>
            <p:nvPr/>
          </p:nvSpPr>
          <p:spPr>
            <a:xfrm>
              <a:off x="6691662" y="2485410"/>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3" name="椭圆 202"/>
            <p:cNvSpPr/>
            <p:nvPr/>
          </p:nvSpPr>
          <p:spPr>
            <a:xfrm>
              <a:off x="6698674"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4" name="椭圆 203"/>
            <p:cNvSpPr/>
            <p:nvPr/>
          </p:nvSpPr>
          <p:spPr>
            <a:xfrm>
              <a:off x="6691661"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07" name="组合 206"/>
          <p:cNvGrpSpPr/>
          <p:nvPr/>
        </p:nvGrpSpPr>
        <p:grpSpPr>
          <a:xfrm>
            <a:off x="8669342" y="3206347"/>
            <a:ext cx="180810" cy="1121676"/>
            <a:chOff x="7145342" y="2485410"/>
            <a:chExt cx="180810" cy="1121676"/>
          </a:xfrm>
        </p:grpSpPr>
        <p:sp>
          <p:nvSpPr>
            <p:cNvPr id="209" name="椭圆 208"/>
            <p:cNvSpPr/>
            <p:nvPr/>
          </p:nvSpPr>
          <p:spPr>
            <a:xfrm>
              <a:off x="7145343" y="2485410"/>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0" name="椭圆 209"/>
            <p:cNvSpPr/>
            <p:nvPr/>
          </p:nvSpPr>
          <p:spPr>
            <a:xfrm>
              <a:off x="7150217" y="3196916"/>
              <a:ext cx="173797" cy="173797"/>
            </a:xfrm>
            <a:prstGeom prst="ellipse">
              <a:avLst/>
            </a:prstGeom>
            <a:solidFill>
              <a:srgbClr val="C00000"/>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1" name="椭圆 210"/>
            <p:cNvSpPr/>
            <p:nvPr/>
          </p:nvSpPr>
          <p:spPr>
            <a:xfrm>
              <a:off x="7152355" y="3433289"/>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2" name="椭圆 211"/>
            <p:cNvSpPr/>
            <p:nvPr/>
          </p:nvSpPr>
          <p:spPr>
            <a:xfrm>
              <a:off x="7145342" y="2944921"/>
              <a:ext cx="173797" cy="173797"/>
            </a:xfrm>
            <a:prstGeom prst="ellipse">
              <a:avLst/>
            </a:prstGeom>
            <a:solidFill>
              <a:srgbClr val="11576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6" name="组合 5"/>
          <p:cNvGrpSpPr/>
          <p:nvPr/>
        </p:nvGrpSpPr>
        <p:grpSpPr>
          <a:xfrm>
            <a:off x="5849873" y="4521332"/>
            <a:ext cx="327334" cy="610654"/>
            <a:chOff x="4325873" y="3664082"/>
            <a:chExt cx="327334" cy="610654"/>
          </a:xfrm>
        </p:grpSpPr>
        <p:sp>
          <p:nvSpPr>
            <p:cNvPr id="110" name="AutoShape 100"/>
            <p:cNvSpPr>
              <a:spLocks noChangeArrowheads="1"/>
            </p:cNvSpPr>
            <p:nvPr/>
          </p:nvSpPr>
          <p:spPr bwMode="auto">
            <a:xfrm>
              <a:off x="4391564" y="3664082"/>
              <a:ext cx="180000" cy="180000"/>
            </a:xfrm>
            <a:prstGeom prst="octagon">
              <a:avLst>
                <a:gd name="adj" fmla="val 29282"/>
              </a:avLst>
            </a:prstGeom>
            <a:solidFill>
              <a:srgbClr val="7030A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solidFill>
                  <a:srgbClr val="000099"/>
                </a:solidFill>
              </a:endParaRPr>
            </a:p>
          </p:txBody>
        </p:sp>
        <p:sp>
          <p:nvSpPr>
            <p:cNvPr id="220" name="TextBox 98"/>
            <p:cNvSpPr txBox="1"/>
            <p:nvPr/>
          </p:nvSpPr>
          <p:spPr>
            <a:xfrm>
              <a:off x="4325873" y="39054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grpSp>
      <p:grpSp>
        <p:nvGrpSpPr>
          <p:cNvPr id="7" name="组合 6"/>
          <p:cNvGrpSpPr/>
          <p:nvPr/>
        </p:nvGrpSpPr>
        <p:grpSpPr>
          <a:xfrm>
            <a:off x="6767689" y="4515581"/>
            <a:ext cx="327334" cy="616407"/>
            <a:chOff x="5243689" y="3658329"/>
            <a:chExt cx="327334" cy="616407"/>
          </a:xfrm>
        </p:grpSpPr>
        <p:sp>
          <p:nvSpPr>
            <p:cNvPr id="114" name="AutoShape 100"/>
            <p:cNvSpPr>
              <a:spLocks noChangeArrowheads="1"/>
            </p:cNvSpPr>
            <p:nvPr/>
          </p:nvSpPr>
          <p:spPr bwMode="auto">
            <a:xfrm>
              <a:off x="5308377" y="3658329"/>
              <a:ext cx="180000" cy="180000"/>
            </a:xfrm>
            <a:prstGeom prst="octagon">
              <a:avLst>
                <a:gd name="adj" fmla="val 29282"/>
              </a:avLst>
            </a:prstGeom>
            <a:solidFill>
              <a:srgbClr val="7030A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solidFill>
                  <a:srgbClr val="000099"/>
                </a:solidFill>
              </a:endParaRPr>
            </a:p>
          </p:txBody>
        </p:sp>
        <p:sp>
          <p:nvSpPr>
            <p:cNvPr id="221" name="TextBox 98"/>
            <p:cNvSpPr txBox="1"/>
            <p:nvPr/>
          </p:nvSpPr>
          <p:spPr>
            <a:xfrm>
              <a:off x="5243689" y="39054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2</a:t>
              </a:r>
              <a:endParaRPr lang="zh-CN" altLang="en-US" b="1" dirty="0">
                <a:solidFill>
                  <a:srgbClr val="11576A"/>
                </a:solidFill>
                <a:latin typeface="微软雅黑" pitchFamily="34" charset="-122"/>
                <a:ea typeface="微软雅黑" pitchFamily="34" charset="-122"/>
              </a:endParaRPr>
            </a:p>
          </p:txBody>
        </p:sp>
      </p:grpSp>
      <p:grpSp>
        <p:nvGrpSpPr>
          <p:cNvPr id="9" name="组合 8"/>
          <p:cNvGrpSpPr/>
          <p:nvPr/>
        </p:nvGrpSpPr>
        <p:grpSpPr>
          <a:xfrm>
            <a:off x="8145905" y="4523739"/>
            <a:ext cx="327334" cy="608249"/>
            <a:chOff x="6621905" y="3666487"/>
            <a:chExt cx="327334" cy="608249"/>
          </a:xfrm>
        </p:grpSpPr>
        <p:sp>
          <p:nvSpPr>
            <p:cNvPr id="214" name="AutoShape 100"/>
            <p:cNvSpPr>
              <a:spLocks noChangeArrowheads="1"/>
            </p:cNvSpPr>
            <p:nvPr/>
          </p:nvSpPr>
          <p:spPr bwMode="auto">
            <a:xfrm>
              <a:off x="6698674" y="3666487"/>
              <a:ext cx="180000" cy="180000"/>
            </a:xfrm>
            <a:prstGeom prst="octagon">
              <a:avLst>
                <a:gd name="adj" fmla="val 29282"/>
              </a:avLst>
            </a:prstGeom>
            <a:solidFill>
              <a:srgbClr val="7030A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solidFill>
                  <a:srgbClr val="000099"/>
                </a:solidFill>
              </a:endParaRPr>
            </a:p>
          </p:txBody>
        </p:sp>
        <p:sp>
          <p:nvSpPr>
            <p:cNvPr id="222" name="TextBox 98"/>
            <p:cNvSpPr txBox="1"/>
            <p:nvPr/>
          </p:nvSpPr>
          <p:spPr>
            <a:xfrm>
              <a:off x="6621905" y="3905404"/>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3</a:t>
              </a:r>
              <a:endParaRPr lang="zh-CN" altLang="en-US" b="1" dirty="0">
                <a:solidFill>
                  <a:srgbClr val="11576A"/>
                </a:solidFill>
                <a:latin typeface="微软雅黑" pitchFamily="34" charset="-122"/>
                <a:ea typeface="微软雅黑" pitchFamily="34" charset="-122"/>
              </a:endParaRPr>
            </a:p>
          </p:txBody>
        </p:sp>
      </p:grpSp>
      <p:grpSp>
        <p:nvGrpSpPr>
          <p:cNvPr id="10" name="组合 9"/>
          <p:cNvGrpSpPr/>
          <p:nvPr/>
        </p:nvGrpSpPr>
        <p:grpSpPr>
          <a:xfrm>
            <a:off x="8599586" y="4523739"/>
            <a:ext cx="327334" cy="621911"/>
            <a:chOff x="7075586" y="3666487"/>
            <a:chExt cx="327334" cy="621911"/>
          </a:xfrm>
        </p:grpSpPr>
        <p:sp>
          <p:nvSpPr>
            <p:cNvPr id="215" name="AutoShape 100"/>
            <p:cNvSpPr>
              <a:spLocks noChangeArrowheads="1"/>
            </p:cNvSpPr>
            <p:nvPr/>
          </p:nvSpPr>
          <p:spPr bwMode="auto">
            <a:xfrm>
              <a:off x="7145342" y="3666487"/>
              <a:ext cx="180000" cy="180000"/>
            </a:xfrm>
            <a:prstGeom prst="octagon">
              <a:avLst>
                <a:gd name="adj" fmla="val 29282"/>
              </a:avLst>
            </a:prstGeom>
            <a:solidFill>
              <a:srgbClr val="7030A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solidFill>
                  <a:srgbClr val="000099"/>
                </a:solidFill>
              </a:endParaRPr>
            </a:p>
          </p:txBody>
        </p:sp>
        <p:sp>
          <p:nvSpPr>
            <p:cNvPr id="223" name="TextBox 98"/>
            <p:cNvSpPr txBox="1"/>
            <p:nvPr/>
          </p:nvSpPr>
          <p:spPr>
            <a:xfrm>
              <a:off x="7075586" y="3919066"/>
              <a:ext cx="327334" cy="369332"/>
            </a:xfrm>
            <a:prstGeom prst="rect">
              <a:avLst/>
            </a:prstGeom>
            <a:noFill/>
          </p:spPr>
          <p:txBody>
            <a:bodyPr wrap="none" rtlCol="0">
              <a:spAutoFit/>
            </a:bodyPr>
            <a:lstStyle/>
            <a:p>
              <a:r>
                <a:rPr lang="en-US" altLang="zh-CN" b="1" dirty="0">
                  <a:solidFill>
                    <a:srgbClr val="11576A"/>
                  </a:solidFill>
                  <a:latin typeface="微软雅黑" pitchFamily="34" charset="-122"/>
                  <a:ea typeface="微软雅黑" pitchFamily="34" charset="-122"/>
                </a:rPr>
                <a:t>1</a:t>
              </a:r>
              <a:endParaRPr lang="zh-CN" altLang="en-US" b="1" dirty="0">
                <a:solidFill>
                  <a:srgbClr val="11576A"/>
                </a:solidFill>
                <a:latin typeface="微软雅黑" pitchFamily="34" charset="-122"/>
                <a:ea typeface="微软雅黑" pitchFamily="34" charset="-122"/>
              </a:endParaRPr>
            </a:p>
          </p:txBody>
        </p:sp>
      </p:grpSp>
      <p:sp>
        <p:nvSpPr>
          <p:cNvPr id="2" name="文本框 1">
            <a:extLst>
              <a:ext uri="{FF2B5EF4-FFF2-40B4-BE49-F238E27FC236}">
                <a16:creationId xmlns:a16="http://schemas.microsoft.com/office/drawing/2014/main" id="{BB9FB1DC-5F48-414C-B831-9F68BD2FD972}"/>
              </a:ext>
            </a:extLst>
          </p:cNvPr>
          <p:cNvSpPr txBox="1"/>
          <p:nvPr/>
        </p:nvSpPr>
        <p:spPr>
          <a:xfrm>
            <a:off x="3060376" y="5373216"/>
            <a:ext cx="6492009" cy="923330"/>
          </a:xfrm>
          <a:prstGeom prst="rect">
            <a:avLst/>
          </a:prstGeom>
          <a:noFill/>
        </p:spPr>
        <p:txBody>
          <a:bodyPr wrap="square" rtlCol="0">
            <a:spAutoFit/>
          </a:bodyPr>
          <a:lstStyle/>
          <a:p>
            <a:pPr marL="342900" indent="-342900">
              <a:buAutoNum type="arabicPeriod"/>
            </a:pPr>
            <a:r>
              <a:rPr lang="zh-CN" altLang="en-US" dirty="0">
                <a:latin typeface="微软雅黑" panose="020B0503020204020204" pitchFamily="34" charset="-122"/>
                <a:ea typeface="微软雅黑" panose="020B0503020204020204" pitchFamily="34" charset="-122"/>
              </a:rPr>
              <a:t>仅在缺页事件发生时处理系统内存</a:t>
            </a: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r>
              <a:rPr lang="zh-CN" altLang="en-US" dirty="0">
                <a:latin typeface="微软雅黑" panose="020B0503020204020204" pitchFamily="34" charset="-122"/>
                <a:ea typeface="微软雅黑" panose="020B0503020204020204" pitchFamily="34" charset="-122"/>
              </a:rPr>
              <a:t>缺页过于频繁（间隔小于等于</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）时增加内存</a:t>
            </a:r>
            <a:endParaRPr lang="en-US" altLang="zh-CN" dirty="0">
              <a:latin typeface="微软雅黑" panose="020B0503020204020204" pitchFamily="34" charset="-122"/>
              <a:ea typeface="微软雅黑" panose="020B0503020204020204" pitchFamily="34" charset="-122"/>
            </a:endParaRPr>
          </a:p>
          <a:p>
            <a:pPr marL="342900" indent="-342900">
              <a:buAutoNum type="arabicPeriod"/>
            </a:pPr>
            <a:r>
              <a:rPr lang="zh-CN" altLang="en-US" dirty="0">
                <a:latin typeface="微软雅黑" panose="020B0503020204020204" pitchFamily="34" charset="-122"/>
                <a:ea typeface="微软雅黑" panose="020B0503020204020204" pitchFamily="34" charset="-122"/>
              </a:rPr>
              <a:t>缺页如果不频繁（间隔大于</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），则回收不用的内存</a:t>
            </a:r>
          </a:p>
        </p:txBody>
      </p:sp>
      <p:sp>
        <p:nvSpPr>
          <p:cNvPr id="3" name="文本框 2">
            <a:extLst>
              <a:ext uri="{FF2B5EF4-FFF2-40B4-BE49-F238E27FC236}">
                <a16:creationId xmlns:a16="http://schemas.microsoft.com/office/drawing/2014/main" id="{656BA7C8-9CDB-BEBB-1F33-C630556E533C}"/>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4" name="标题 8">
            <a:extLst>
              <a:ext uri="{FF2B5EF4-FFF2-40B4-BE49-F238E27FC236}">
                <a16:creationId xmlns:a16="http://schemas.microsoft.com/office/drawing/2014/main" id="{BB85EEEA-C801-9877-143E-73F578A68F3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缺页率置换算法示例</a:t>
            </a:r>
          </a:p>
        </p:txBody>
      </p:sp>
    </p:spTree>
    <p:extLst>
      <p:ext uri="{BB962C8B-B14F-4D97-AF65-F5344CB8AC3E}">
        <p14:creationId xmlns:p14="http://schemas.microsoft.com/office/powerpoint/2010/main" val="407531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wipe(left)">
                                      <p:cBhvr>
                                        <p:cTn id="12" dur="500"/>
                                        <p:tgtEl>
                                          <p:spTgt spid="1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6"/>
                                        </p:tgtEl>
                                        <p:attrNameLst>
                                          <p:attrName>style.visibility</p:attrName>
                                        </p:attrNameLst>
                                      </p:cBhvr>
                                      <p:to>
                                        <p:strVal val="visible"/>
                                      </p:to>
                                    </p:set>
                                    <p:animEffect transition="in" filter="fade">
                                      <p:cBhvr>
                                        <p:cTn id="17" dur="500"/>
                                        <p:tgtEl>
                                          <p:spTgt spid="17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7"/>
                                        </p:tgtEl>
                                        <p:attrNameLst>
                                          <p:attrName>style.visibility</p:attrName>
                                        </p:attrNameLst>
                                      </p:cBhvr>
                                      <p:to>
                                        <p:strVal val="visible"/>
                                      </p:to>
                                    </p:set>
                                    <p:animEffect transition="in" filter="fade">
                                      <p:cBhvr>
                                        <p:cTn id="22" dur="500"/>
                                        <p:tgtEl>
                                          <p:spTgt spid="15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1"/>
                                        </p:tgtEl>
                                        <p:attrNameLst>
                                          <p:attrName>style.visibility</p:attrName>
                                        </p:attrNameLst>
                                      </p:cBhvr>
                                      <p:to>
                                        <p:strVal val="visible"/>
                                      </p:to>
                                    </p:set>
                                    <p:animEffect transition="in" filter="fade">
                                      <p:cBhvr>
                                        <p:cTn id="27" dur="500"/>
                                        <p:tgtEl>
                                          <p:spTgt spid="16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85"/>
                                        </p:tgtEl>
                                        <p:attrNameLst>
                                          <p:attrName>style.visibility</p:attrName>
                                        </p:attrNameLst>
                                      </p:cBhvr>
                                      <p:to>
                                        <p:strVal val="visible"/>
                                      </p:to>
                                    </p:set>
                                    <p:animEffect transition="in" filter="fade">
                                      <p:cBhvr>
                                        <p:cTn id="37" dur="500"/>
                                        <p:tgtEl>
                                          <p:spTgt spid="18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5"/>
                                        </p:tgtEl>
                                        <p:attrNameLst>
                                          <p:attrName>style.visibility</p:attrName>
                                        </p:attrNameLst>
                                      </p:cBhvr>
                                      <p:to>
                                        <p:strVal val="visible"/>
                                      </p:to>
                                    </p:set>
                                    <p:animEffect transition="in" filter="fade">
                                      <p:cBhvr>
                                        <p:cTn id="42" dur="500"/>
                                        <p:tgtEl>
                                          <p:spTgt spid="16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92"/>
                                        </p:tgtEl>
                                        <p:attrNameLst>
                                          <p:attrName>style.visibility</p:attrName>
                                        </p:attrNameLst>
                                      </p:cBhvr>
                                      <p:to>
                                        <p:strVal val="visible"/>
                                      </p:to>
                                    </p:set>
                                    <p:animEffect transition="in" filter="fade">
                                      <p:cBhvr>
                                        <p:cTn id="52" dur="500"/>
                                        <p:tgtEl>
                                          <p:spTgt spid="19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69"/>
                                        </p:tgtEl>
                                        <p:attrNameLst>
                                          <p:attrName>style.visibility</p:attrName>
                                        </p:attrNameLst>
                                      </p:cBhvr>
                                      <p:to>
                                        <p:strVal val="visible"/>
                                      </p:to>
                                    </p:set>
                                    <p:animEffect transition="in" filter="fade">
                                      <p:cBhvr>
                                        <p:cTn id="57" dur="500"/>
                                        <p:tgtEl>
                                          <p:spTgt spid="16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73"/>
                                        </p:tgtEl>
                                        <p:attrNameLst>
                                          <p:attrName>style.visibility</p:attrName>
                                        </p:attrNameLst>
                                      </p:cBhvr>
                                      <p:to>
                                        <p:strVal val="visible"/>
                                      </p:to>
                                    </p:set>
                                    <p:animEffect transition="in" filter="fade">
                                      <p:cBhvr>
                                        <p:cTn id="62" dur="500"/>
                                        <p:tgtEl>
                                          <p:spTgt spid="17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5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00"/>
                                        </p:tgtEl>
                                        <p:attrNameLst>
                                          <p:attrName>style.visibility</p:attrName>
                                        </p:attrNameLst>
                                      </p:cBhvr>
                                      <p:to>
                                        <p:strVal val="visible"/>
                                      </p:to>
                                    </p:set>
                                    <p:animEffect transition="in" filter="fade">
                                      <p:cBhvr>
                                        <p:cTn id="72" dur="500"/>
                                        <p:tgtEl>
                                          <p:spTgt spid="20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fade">
                                      <p:cBhvr>
                                        <p:cTn id="77" dur="500"/>
                                        <p:tgtEl>
                                          <p:spTgt spid="1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207"/>
                                        </p:tgtEl>
                                        <p:attrNameLst>
                                          <p:attrName>style.visibility</p:attrName>
                                        </p:attrNameLst>
                                      </p:cBhvr>
                                      <p:to>
                                        <p:strVal val="visible"/>
                                      </p:to>
                                    </p:set>
                                    <p:animEffect transition="in" filter="fade">
                                      <p:cBhvr>
                                        <p:cTn id="82" dur="500"/>
                                        <p:tgtEl>
                                          <p:spTgt spid="207"/>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2"/>
                                        </p:tgtEl>
                                        <p:attrNameLst>
                                          <p:attrName>style.visibility</p:attrName>
                                        </p:attrNameLst>
                                      </p:cBhvr>
                                      <p:to>
                                        <p:strVal val="visible"/>
                                      </p:to>
                                    </p:set>
                                    <p:anim calcmode="lin" valueType="num">
                                      <p:cBhvr additive="base">
                                        <p:cTn id="87" dur="500" fill="hold"/>
                                        <p:tgtEl>
                                          <p:spTgt spid="2"/>
                                        </p:tgtEl>
                                        <p:attrNameLst>
                                          <p:attrName>ppt_x</p:attrName>
                                        </p:attrNameLst>
                                      </p:cBhvr>
                                      <p:tavLst>
                                        <p:tav tm="0">
                                          <p:val>
                                            <p:strVal val="#ppt_x"/>
                                          </p:val>
                                        </p:tav>
                                        <p:tav tm="100000">
                                          <p:val>
                                            <p:strVal val="#ppt_x"/>
                                          </p:val>
                                        </p:tav>
                                      </p:tavLst>
                                    </p:anim>
                                    <p:anim calcmode="lin" valueType="num">
                                      <p:cBhvr additive="base">
                                        <p:cTn id="8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839416" y="6099698"/>
            <a:ext cx="8532832" cy="461665"/>
          </a:xfrm>
          <a:prstGeom prst="rect">
            <a:avLst/>
          </a:prstGeom>
          <a:noFill/>
          <a:effectLst/>
        </p:spPr>
        <p:txBody>
          <a:bodyPr wrap="square" rtlCol="0">
            <a:spAutoFit/>
          </a:bodyPr>
          <a:lstStyle/>
          <a:p>
            <a:pPr algn="l"/>
            <a:r>
              <a:rPr lang="en-US" altLang="zh-CN" sz="1800" b="0" i="0" u="none" strike="noStrike" baseline="0" dirty="0">
                <a:solidFill>
                  <a:srgbClr val="4472C5"/>
                </a:solidFill>
                <a:latin typeface="ArialNova"/>
              </a:rPr>
              <a:t>TMO: Transparent Memory Offloading in Datacenters</a:t>
            </a:r>
            <a:r>
              <a:rPr lang="en-US" altLang="zh-CN" dirty="0">
                <a:solidFill>
                  <a:srgbClr val="4472C5"/>
                </a:solidFill>
                <a:latin typeface="ArialNova"/>
              </a:rPr>
              <a:t>(CMU @ </a:t>
            </a:r>
            <a:r>
              <a:rPr lang="en-US" altLang="zh-CN" dirty="0" err="1">
                <a:solidFill>
                  <a:srgbClr val="4472C5"/>
                </a:solidFill>
                <a:latin typeface="ArialNova"/>
              </a:rPr>
              <a:t>asplos</a:t>
            </a:r>
            <a:r>
              <a:rPr lang="zh-CN" altLang="en-US" dirty="0">
                <a:solidFill>
                  <a:srgbClr val="4472C5"/>
                </a:solidFill>
                <a:latin typeface="ArialNova"/>
              </a:rPr>
              <a:t> </a:t>
            </a:r>
            <a:r>
              <a:rPr lang="en-US" altLang="zh-CN" dirty="0">
                <a:solidFill>
                  <a:srgbClr val="4472C5"/>
                </a:solidFill>
                <a:latin typeface="ArialNova"/>
              </a:rPr>
              <a:t>2022)</a:t>
            </a:r>
            <a:endParaRPr lang="en-US" altLang="zh-CN" sz="2400" b="1" dirty="0">
              <a:solidFill>
                <a:srgbClr val="11576A"/>
              </a:solidFill>
              <a:latin typeface="微软雅黑" pitchFamily="34" charset="-122"/>
              <a:ea typeface="微软雅黑" pitchFamily="34" charset="-122"/>
              <a:sym typeface="MS PGothic" charset="0"/>
            </a:endParaRPr>
          </a:p>
        </p:txBody>
      </p:sp>
      <p:sp>
        <p:nvSpPr>
          <p:cNvPr id="4" name="文本框 3">
            <a:extLst>
              <a:ext uri="{FF2B5EF4-FFF2-40B4-BE49-F238E27FC236}">
                <a16:creationId xmlns:a16="http://schemas.microsoft.com/office/drawing/2014/main" id="{CAA77752-E4F3-35E9-3211-3B96D39A480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D0A307B6-CD05-202D-E62A-4800ED1736A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sz="3200" b="0" kern="0" dirty="0"/>
              <a:t>处用缺页事件对内存压力的测量</a:t>
            </a:r>
            <a:endParaRPr lang="en-US" altLang="zh-CN" sz="3200" b="0" kern="0" dirty="0"/>
          </a:p>
        </p:txBody>
      </p:sp>
      <p:pic>
        <p:nvPicPr>
          <p:cNvPr id="8" name="图片 7">
            <a:extLst>
              <a:ext uri="{FF2B5EF4-FFF2-40B4-BE49-F238E27FC236}">
                <a16:creationId xmlns:a16="http://schemas.microsoft.com/office/drawing/2014/main" id="{8A3958B5-8FEA-45CA-A9AC-A0E27DE80DEE}"/>
              </a:ext>
            </a:extLst>
          </p:cNvPr>
          <p:cNvPicPr>
            <a:picLocks noChangeAspect="1"/>
          </p:cNvPicPr>
          <p:nvPr/>
        </p:nvPicPr>
        <p:blipFill>
          <a:blip r:embed="rId3"/>
          <a:stretch>
            <a:fillRect/>
          </a:stretch>
        </p:blipFill>
        <p:spPr>
          <a:xfrm>
            <a:off x="323920" y="1570834"/>
            <a:ext cx="11136560" cy="4514822"/>
          </a:xfrm>
          <a:prstGeom prst="rect">
            <a:avLst/>
          </a:prstGeom>
        </p:spPr>
      </p:pic>
    </p:spTree>
    <p:extLst>
      <p:ext uri="{BB962C8B-B14F-4D97-AF65-F5344CB8AC3E}">
        <p14:creationId xmlns:p14="http://schemas.microsoft.com/office/powerpoint/2010/main" val="20566580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 name="Group 6"/>
          <p:cNvGraphicFramePr>
            <a:graphicFrameLocks noGrp="1"/>
          </p:cNvGraphicFramePr>
          <p:nvPr>
            <p:ph idx="4294967295"/>
            <p:extLst>
              <p:ext uri="{D42A27DB-BD31-4B8C-83A1-F6EECF244321}">
                <p14:modId xmlns:p14="http://schemas.microsoft.com/office/powerpoint/2010/main" val="1794876646"/>
              </p:ext>
            </p:extLst>
          </p:nvPr>
        </p:nvGraphicFramePr>
        <p:xfrm>
          <a:off x="1967328" y="1556792"/>
          <a:ext cx="8072437" cy="4877174"/>
        </p:xfrm>
        <a:graphic>
          <a:graphicData uri="http://schemas.openxmlformats.org/drawingml/2006/table">
            <a:tbl>
              <a:tblPr/>
              <a:tblGrid>
                <a:gridCol w="1785917">
                  <a:extLst>
                    <a:ext uri="{9D8B030D-6E8A-4147-A177-3AD203B41FA5}">
                      <a16:colId xmlns:a16="http://schemas.microsoft.com/office/drawing/2014/main" val="20000"/>
                    </a:ext>
                  </a:extLst>
                </a:gridCol>
                <a:gridCol w="2643196">
                  <a:extLst>
                    <a:ext uri="{9D8B030D-6E8A-4147-A177-3AD203B41FA5}">
                      <a16:colId xmlns:a16="http://schemas.microsoft.com/office/drawing/2014/main" val="20001"/>
                    </a:ext>
                  </a:extLst>
                </a:gridCol>
                <a:gridCol w="3643324">
                  <a:extLst>
                    <a:ext uri="{9D8B030D-6E8A-4147-A177-3AD203B41FA5}">
                      <a16:colId xmlns:a16="http://schemas.microsoft.com/office/drawing/2014/main" val="20002"/>
                    </a:ext>
                  </a:extLst>
                </a:gridCol>
              </a:tblGrid>
              <a:tr h="685905">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endParaRPr kumimoji="0" lang="zh-CN" altLang="zh-CN"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Principle </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Performance</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1148">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rPr>
                        <a:t>最优方法</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预知未来情况的上限</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永远不可能达到</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85905">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FIFO</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按时间排序，最直接最简单</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来得最早，和最不可能用到之间没有关系</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85905">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LRU &amp; LFU</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利用过去使用的频度和次数预测未来</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目前可达的最佳效果，代价略高</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85905">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CLOCK</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FIFO</a:t>
                      </a:r>
                      <a:r>
                        <a:rPr kumimoji="0" lang="zh-CN" altLang="en-US" sz="2000" b="1" i="0" u="none" strike="noStrike" cap="none" normalizeH="0" baseline="0" dirty="0">
                          <a:ln>
                            <a:noFill/>
                          </a:ln>
                          <a:solidFill>
                            <a:srgbClr val="9C4E00"/>
                          </a:solidFill>
                          <a:effectLst/>
                          <a:latin typeface="Tahoma" pitchFamily="34" charset="0"/>
                          <a:ea typeface="宋体" pitchFamily="2" charset="-122"/>
                        </a:rPr>
                        <a:t>与</a:t>
                      </a:r>
                      <a:r>
                        <a:rPr kumimoji="0" lang="en-US" altLang="zh-CN" sz="2000" b="1" i="0" u="none" strike="noStrike" cap="none" normalizeH="0" baseline="0" dirty="0">
                          <a:ln>
                            <a:noFill/>
                          </a:ln>
                          <a:solidFill>
                            <a:srgbClr val="9C4E00"/>
                          </a:solidFill>
                          <a:effectLst/>
                          <a:latin typeface="Tahoma" pitchFamily="34" charset="0"/>
                          <a:ea typeface="宋体" pitchFamily="2" charset="-122"/>
                        </a:rPr>
                        <a:t>LFU</a:t>
                      </a:r>
                      <a:r>
                        <a:rPr kumimoji="0" lang="zh-CN" altLang="en-US" sz="2000" b="1" i="0" u="none" strike="noStrike" cap="none" normalizeH="0" baseline="0" dirty="0">
                          <a:ln>
                            <a:noFill/>
                          </a:ln>
                          <a:solidFill>
                            <a:srgbClr val="9C4E00"/>
                          </a:solidFill>
                          <a:effectLst/>
                          <a:latin typeface="Tahoma" pitchFamily="34" charset="0"/>
                          <a:ea typeface="宋体" pitchFamily="2" charset="-122"/>
                        </a:rPr>
                        <a:t>的折衷</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足够简单，也有一定的合理性，在</a:t>
                      </a:r>
                      <a:r>
                        <a:rPr kumimoji="0" lang="en-US" altLang="zh-CN" sz="2000" b="1" i="0" u="none" strike="noStrike" cap="none" normalizeH="0" baseline="0" dirty="0">
                          <a:ln>
                            <a:noFill/>
                          </a:ln>
                          <a:solidFill>
                            <a:srgbClr val="9C4E00"/>
                          </a:solidFill>
                          <a:effectLst/>
                          <a:latin typeface="Tahoma" pitchFamily="34" charset="0"/>
                          <a:ea typeface="宋体" pitchFamily="2" charset="-122"/>
                        </a:rPr>
                        <a:t>OS</a:t>
                      </a:r>
                      <a:r>
                        <a:rPr kumimoji="0" lang="zh-CN" altLang="en-US" sz="2000" b="1" i="0" u="none" strike="noStrike" cap="none" normalizeH="0" baseline="0" dirty="0">
                          <a:ln>
                            <a:noFill/>
                          </a:ln>
                          <a:solidFill>
                            <a:srgbClr val="9C4E00"/>
                          </a:solidFill>
                          <a:effectLst/>
                          <a:latin typeface="Tahoma" pitchFamily="34" charset="0"/>
                          <a:ea typeface="宋体" pitchFamily="2" charset="-122"/>
                        </a:rPr>
                        <a:t>中大量使用</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0003236"/>
                  </a:ext>
                </a:extLst>
              </a:tr>
              <a:tr h="685905">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Working set</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只给进程需要的内存</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不现实</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85905">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Page Fault Frequency</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根据缺页事情的频度预测内存的需求</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zh-CN" altLang="en-US" sz="2000" b="1" i="0" u="none" strike="noStrike" cap="none" normalizeH="0" baseline="0" dirty="0">
                          <a:ln>
                            <a:noFill/>
                          </a:ln>
                          <a:solidFill>
                            <a:srgbClr val="9C4E00"/>
                          </a:solidFill>
                          <a:effectLst/>
                          <a:latin typeface="Tahoma" pitchFamily="34" charset="0"/>
                          <a:ea typeface="宋体" pitchFamily="2" charset="-122"/>
                        </a:rPr>
                        <a:t>相对现实</a:t>
                      </a:r>
                    </a:p>
                  </a:txBody>
                  <a:tcPr marT="45727" marB="45727"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9372401"/>
                  </a:ext>
                </a:extLst>
              </a:tr>
            </a:tbl>
          </a:graphicData>
        </a:graphic>
      </p:graphicFrame>
      <p:sp>
        <p:nvSpPr>
          <p:cNvPr id="2" name="文本框 1">
            <a:extLst>
              <a:ext uri="{FF2B5EF4-FFF2-40B4-BE49-F238E27FC236}">
                <a16:creationId xmlns:a16="http://schemas.microsoft.com/office/drawing/2014/main" id="{95EBEAB8-8BDB-428B-7007-6E9414F73326}"/>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B63FD31D-B72D-CBA1-ACD7-684DE2C4EE86}"/>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Summary: Page replacement algorithm</a:t>
            </a:r>
            <a:endParaRPr lang="zh-CN" altLang="en-US" b="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76016-283A-56A2-EC49-F9F6C2A244E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D517CC5-4068-62EA-894C-DC3BDBDF0B84}"/>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6C303EF9-72F1-BE9D-0133-AD4227447B06}"/>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思考：机器学习方法 </a:t>
            </a:r>
            <a:r>
              <a:rPr lang="en-US" altLang="zh-CN" b="0" kern="0" dirty="0"/>
              <a:t>vs </a:t>
            </a:r>
            <a:r>
              <a:rPr lang="zh-CN" altLang="en-US" b="0" kern="0" dirty="0"/>
              <a:t>启发式方法</a:t>
            </a:r>
          </a:p>
        </p:txBody>
      </p:sp>
      <p:sp>
        <p:nvSpPr>
          <p:cNvPr id="4" name="文本框 3">
            <a:extLst>
              <a:ext uri="{FF2B5EF4-FFF2-40B4-BE49-F238E27FC236}">
                <a16:creationId xmlns:a16="http://schemas.microsoft.com/office/drawing/2014/main" id="{B97CAD7E-0F36-FB76-A135-0C2B9AAB643A}"/>
              </a:ext>
            </a:extLst>
          </p:cNvPr>
          <p:cNvSpPr txBox="1"/>
          <p:nvPr/>
        </p:nvSpPr>
        <p:spPr>
          <a:xfrm>
            <a:off x="1271464" y="1569761"/>
            <a:ext cx="9217024" cy="4524315"/>
          </a:xfrm>
          <a:prstGeom prst="rect">
            <a:avLst/>
          </a:prstGeom>
          <a:noFill/>
        </p:spPr>
        <p:txBody>
          <a:bodyPr wrap="square" rtlCol="0">
            <a:spAutoFit/>
          </a:bodyPr>
          <a:lstStyle/>
          <a:p>
            <a:r>
              <a:rPr lang="zh-CN" altLang="en-US" sz="3200" dirty="0"/>
              <a:t>机器学习方法：根据理论方法，获得最优解</a:t>
            </a:r>
            <a:r>
              <a:rPr lang="en-US" altLang="zh-CN" sz="3200" dirty="0"/>
              <a:t>(</a:t>
            </a:r>
            <a:r>
              <a:rPr lang="zh-CN" altLang="en-US" sz="3200" dirty="0"/>
              <a:t>如</a:t>
            </a:r>
            <a:r>
              <a:rPr lang="en-US" altLang="zh-CN" sz="3200" dirty="0"/>
              <a:t>OPT</a:t>
            </a:r>
            <a:r>
              <a:rPr lang="zh-CN" altLang="en-US" sz="3200" dirty="0"/>
              <a:t>方法</a:t>
            </a:r>
            <a:r>
              <a:rPr lang="en-US" altLang="zh-CN" sz="3200" dirty="0"/>
              <a:t>)</a:t>
            </a:r>
            <a:r>
              <a:rPr lang="zh-CN" altLang="en-US" sz="3200" dirty="0"/>
              <a:t>；采集可用信息做为参数</a:t>
            </a:r>
            <a:r>
              <a:rPr lang="en-US" altLang="zh-CN" sz="3200" dirty="0"/>
              <a:t>(</a:t>
            </a:r>
            <a:r>
              <a:rPr lang="zh-CN" altLang="en-US" sz="3200" dirty="0"/>
              <a:t>如访存事件的地址，时间等</a:t>
            </a:r>
            <a:r>
              <a:rPr lang="en-US" altLang="zh-CN" sz="3200" dirty="0"/>
              <a:t>)</a:t>
            </a:r>
            <a:r>
              <a:rPr lang="zh-CN" altLang="en-US" sz="3200" dirty="0"/>
              <a:t>；利用一个数学函数，建立参数与最优解的对应关系</a:t>
            </a:r>
            <a:endParaRPr lang="en-US" altLang="zh-CN" sz="3200" dirty="0"/>
          </a:p>
          <a:p>
            <a:endParaRPr lang="en-US" altLang="zh-CN" sz="3200" dirty="0"/>
          </a:p>
          <a:p>
            <a:r>
              <a:rPr lang="zh-CN" altLang="en-US" sz="3200" dirty="0"/>
              <a:t>启发式方式：观测一个规律</a:t>
            </a:r>
            <a:r>
              <a:rPr lang="en-US" altLang="zh-CN" sz="3200" dirty="0"/>
              <a:t>(</a:t>
            </a:r>
            <a:r>
              <a:rPr lang="zh-CN" altLang="en-US" sz="3200" dirty="0"/>
              <a:t>最近用过的不久之后还用，最近用得多的不久之后还用</a:t>
            </a:r>
            <a:r>
              <a:rPr lang="en-US" altLang="zh-CN" sz="3200" dirty="0"/>
              <a:t>)</a:t>
            </a:r>
            <a:r>
              <a:rPr lang="zh-CN" altLang="en-US" sz="3200" dirty="0"/>
              <a:t>，建立可采样数据与规律之间的关系；比对这个方法与最优解的差异证明其可用性</a:t>
            </a:r>
            <a:endParaRPr lang="en-US" altLang="zh-CN" sz="3200" dirty="0"/>
          </a:p>
        </p:txBody>
      </p:sp>
      <p:pic>
        <p:nvPicPr>
          <p:cNvPr id="6" name="图片 5">
            <a:extLst>
              <a:ext uri="{FF2B5EF4-FFF2-40B4-BE49-F238E27FC236}">
                <a16:creationId xmlns:a16="http://schemas.microsoft.com/office/drawing/2014/main" id="{4E8E1AAF-3830-9F2F-4328-C1ACC7D8D350}"/>
              </a:ext>
            </a:extLst>
          </p:cNvPr>
          <p:cNvPicPr>
            <a:picLocks noChangeAspect="1"/>
          </p:cNvPicPr>
          <p:nvPr/>
        </p:nvPicPr>
        <p:blipFill>
          <a:blip r:embed="rId3"/>
          <a:stretch>
            <a:fillRect/>
          </a:stretch>
        </p:blipFill>
        <p:spPr>
          <a:xfrm>
            <a:off x="0" y="1883124"/>
            <a:ext cx="12192000" cy="3091751"/>
          </a:xfrm>
          <a:prstGeom prst="rect">
            <a:avLst/>
          </a:prstGeom>
        </p:spPr>
      </p:pic>
    </p:spTree>
    <p:extLst>
      <p:ext uri="{BB962C8B-B14F-4D97-AF65-F5344CB8AC3E}">
        <p14:creationId xmlns:p14="http://schemas.microsoft.com/office/powerpoint/2010/main" val="84114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分页系统的“策略”与“机制”分离"/>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1921" y="1719123"/>
            <a:ext cx="7151688"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1EFF6923-65EE-65C1-3521-FB6A094F5223}"/>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087151A1-7452-D4D4-3040-385944275ED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机制与策略</a:t>
            </a:r>
          </a:p>
        </p:txBody>
      </p:sp>
    </p:spTree>
    <p:extLst>
      <p:ext uri="{BB962C8B-B14F-4D97-AF65-F5344CB8AC3E}">
        <p14:creationId xmlns:p14="http://schemas.microsoft.com/office/powerpoint/2010/main" val="2779185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2363ED3-097C-4682-A151-117CC84563A4}"/>
              </a:ext>
            </a:extLst>
          </p:cNvPr>
          <p:cNvSpPr>
            <a:spLocks noGrp="1"/>
          </p:cNvSpPr>
          <p:nvPr>
            <p:ph idx="4294967295"/>
          </p:nvPr>
        </p:nvSpPr>
        <p:spPr>
          <a:xfrm>
            <a:off x="731520" y="1561067"/>
            <a:ext cx="10752137" cy="5010150"/>
          </a:xfrm>
          <a:prstGeom prst="rect">
            <a:avLst/>
          </a:prstGeom>
        </p:spPr>
        <p:txBody>
          <a:bodyPr/>
          <a:lstStyle/>
          <a:p>
            <a:r>
              <a:rPr lang="zh-CN" altLang="en-US" dirty="0"/>
              <a:t>内存回收与内存分配分隔开来</a:t>
            </a:r>
            <a:endParaRPr lang="en-US" altLang="zh-CN" dirty="0"/>
          </a:p>
          <a:p>
            <a:r>
              <a:rPr lang="zh-CN" altLang="en-US" dirty="0"/>
              <a:t>尽可能异步内存回收，避免系统阻塞</a:t>
            </a:r>
            <a:endParaRPr lang="en-US" altLang="zh-CN" dirty="0"/>
          </a:p>
          <a:p>
            <a:r>
              <a:rPr lang="zh-CN" altLang="en-US" dirty="0"/>
              <a:t>回收的内存用</a:t>
            </a:r>
            <a:r>
              <a:rPr lang="en-US" altLang="zh-CN" dirty="0"/>
              <a:t>buddy system</a:t>
            </a:r>
            <a:r>
              <a:rPr lang="zh-CN" altLang="en-US" dirty="0"/>
              <a:t>管理</a:t>
            </a:r>
          </a:p>
        </p:txBody>
      </p:sp>
      <p:pic>
        <p:nvPicPr>
          <p:cNvPr id="8194" name="Picture 2" descr="https://pic4.zhimg.com/v2-2b289083028742d621e49b4ad19df3eb_r.jpg">
            <a:extLst>
              <a:ext uri="{FF2B5EF4-FFF2-40B4-BE49-F238E27FC236}">
                <a16:creationId xmlns:a16="http://schemas.microsoft.com/office/drawing/2014/main" id="{D466B2D0-7305-4574-838F-54CC2DBA4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720" y="3039098"/>
            <a:ext cx="4680520" cy="318275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8018AA5-6135-4EC8-4498-9794F17477C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305B7733-B0DF-8082-671D-38CDCC58195C}"/>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Linux</a:t>
            </a:r>
            <a:r>
              <a:rPr lang="zh-CN" altLang="en-US" b="0" kern="0" dirty="0"/>
              <a:t>内核中的水位线管理</a:t>
            </a:r>
            <a:r>
              <a:rPr lang="en-US" altLang="zh-CN" b="0" kern="0" dirty="0"/>
              <a:t>(</a:t>
            </a:r>
            <a:r>
              <a:rPr lang="zh-CN" altLang="en-US" b="0" kern="0" dirty="0"/>
              <a:t>何时启动置换流程</a:t>
            </a:r>
            <a:r>
              <a:rPr lang="en-US" altLang="zh-CN" b="0" kern="0" dirty="0"/>
              <a:t>)</a:t>
            </a:r>
            <a:endParaRPr lang="zh-CN" altLang="en-US" b="0" kern="0" dirty="0"/>
          </a:p>
        </p:txBody>
      </p:sp>
    </p:spTree>
    <p:extLst>
      <p:ext uri="{BB962C8B-B14F-4D97-AF65-F5344CB8AC3E}">
        <p14:creationId xmlns:p14="http://schemas.microsoft.com/office/powerpoint/2010/main" val="1635239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gtEl>
                                        <p:attrNameLst>
                                          <p:attrName>style.visibility</p:attrName>
                                        </p:attrNameLst>
                                      </p:cBhvr>
                                      <p:to>
                                        <p:strVal val="visible"/>
                                      </p:to>
                                    </p:set>
                                    <p:anim calcmode="lin" valueType="num">
                                      <p:cBhvr additive="base">
                                        <p:cTn id="19" dur="500" fill="hold"/>
                                        <p:tgtEl>
                                          <p:spTgt spid="8194"/>
                                        </p:tgtEl>
                                        <p:attrNameLst>
                                          <p:attrName>ppt_x</p:attrName>
                                        </p:attrNameLst>
                                      </p:cBhvr>
                                      <p:tavLst>
                                        <p:tav tm="0">
                                          <p:val>
                                            <p:strVal val="#ppt_x"/>
                                          </p:val>
                                        </p:tav>
                                        <p:tav tm="100000">
                                          <p:val>
                                            <p:strVal val="#ppt_x"/>
                                          </p:val>
                                        </p:tav>
                                      </p:tavLst>
                                    </p:anim>
                                    <p:anim calcmode="lin" valueType="num">
                                      <p:cBhvr additive="base">
                                        <p:cTn id="20" dur="500" fill="hold"/>
                                        <p:tgtEl>
                                          <p:spTgt spid="819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nodeType="clickEffect">
                                  <p:stCondLst>
                                    <p:cond delay="0"/>
                                  </p:stCondLst>
                                  <p:childTnLst>
                                    <p:animEffect transition="out" filter="wipe(down)">
                                      <p:cBhvr>
                                        <p:cTn id="24" dur="500"/>
                                        <p:tgtEl>
                                          <p:spTgt spid="8194"/>
                                        </p:tgtEl>
                                      </p:cBhvr>
                                    </p:animEffect>
                                    <p:set>
                                      <p:cBhvr>
                                        <p:cTn id="25" dur="1" fill="hold">
                                          <p:stCondLst>
                                            <p:cond delay="499"/>
                                          </p:stCondLst>
                                        </p:cTn>
                                        <p:tgtEl>
                                          <p:spTgt spid="819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 calcmode="lin" valueType="num">
                                      <p:cBhvr additive="base">
                                        <p:cTn id="3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E8B09ACA-B310-4353-AB37-61FB9A8F932A}"/>
              </a:ext>
            </a:extLst>
          </p:cNvPr>
          <p:cNvPicPr>
            <a:picLocks noGrp="1" noChangeAspect="1"/>
          </p:cNvPicPr>
          <p:nvPr>
            <p:ph idx="4294967295"/>
          </p:nvPr>
        </p:nvPicPr>
        <p:blipFill>
          <a:blip r:embed="rId3"/>
          <a:stretch>
            <a:fillRect/>
          </a:stretch>
        </p:blipFill>
        <p:spPr>
          <a:xfrm>
            <a:off x="790021" y="867816"/>
            <a:ext cx="10693615" cy="5593160"/>
          </a:xfrm>
          <a:prstGeom prst="rect">
            <a:avLst/>
          </a:prstGeom>
        </p:spPr>
      </p:pic>
      <p:sp>
        <p:nvSpPr>
          <p:cNvPr id="7" name="文本框 6">
            <a:extLst>
              <a:ext uri="{FF2B5EF4-FFF2-40B4-BE49-F238E27FC236}">
                <a16:creationId xmlns:a16="http://schemas.microsoft.com/office/drawing/2014/main" id="{18018AA5-6135-4EC8-4498-9794F17477C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305B7733-B0DF-8082-671D-38CDCC58195C}"/>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solidFill>
                  <a:srgbClr val="FF0000"/>
                </a:solidFill>
              </a:rPr>
              <a:t>MGLRU</a:t>
            </a:r>
            <a:r>
              <a:rPr lang="zh-CN" altLang="en-US" b="0" kern="0" dirty="0">
                <a:solidFill>
                  <a:srgbClr val="FF0000"/>
                </a:solidFill>
              </a:rPr>
              <a:t>（</a:t>
            </a:r>
            <a:r>
              <a:rPr lang="en-US" altLang="zh-CN" b="0" kern="0" dirty="0">
                <a:solidFill>
                  <a:srgbClr val="FF0000"/>
                </a:solidFill>
              </a:rPr>
              <a:t>Linux</a:t>
            </a:r>
            <a:r>
              <a:rPr lang="zh-CN" altLang="en-US" b="0" kern="0" dirty="0">
                <a:solidFill>
                  <a:srgbClr val="FF0000"/>
                </a:solidFill>
              </a:rPr>
              <a:t>内核中决策换出哪一页的新机制）</a:t>
            </a:r>
          </a:p>
        </p:txBody>
      </p:sp>
      <p:sp>
        <p:nvSpPr>
          <p:cNvPr id="10" name="文本框 9">
            <a:extLst>
              <a:ext uri="{FF2B5EF4-FFF2-40B4-BE49-F238E27FC236}">
                <a16:creationId xmlns:a16="http://schemas.microsoft.com/office/drawing/2014/main" id="{CAAC9C1F-8D76-4C59-8AE0-3653BB83640D}"/>
              </a:ext>
            </a:extLst>
          </p:cNvPr>
          <p:cNvSpPr txBox="1"/>
          <p:nvPr/>
        </p:nvSpPr>
        <p:spPr>
          <a:xfrm>
            <a:off x="1661736" y="6174355"/>
            <a:ext cx="8106671" cy="369332"/>
          </a:xfrm>
          <a:prstGeom prst="rect">
            <a:avLst/>
          </a:prstGeom>
          <a:noFill/>
        </p:spPr>
        <p:txBody>
          <a:bodyPr wrap="square">
            <a:spAutoFit/>
          </a:bodyPr>
          <a:lstStyle/>
          <a:p>
            <a:r>
              <a:rPr lang="zh-CN" altLang="en-US" dirty="0"/>
              <a:t>图片来源：</a:t>
            </a:r>
            <a:r>
              <a:rPr lang="en-US" altLang="zh-CN" dirty="0"/>
              <a:t>https://www.youtube.com/watch?v=9HvJfN21H9Y</a:t>
            </a:r>
            <a:endParaRPr lang="zh-CN" altLang="en-US" dirty="0"/>
          </a:p>
        </p:txBody>
      </p:sp>
    </p:spTree>
    <p:extLst>
      <p:ext uri="{BB962C8B-B14F-4D97-AF65-F5344CB8AC3E}">
        <p14:creationId xmlns:p14="http://schemas.microsoft.com/office/powerpoint/2010/main" val="27710399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2"/>
          <p:cNvGrpSpPr/>
          <p:nvPr/>
        </p:nvGrpSpPr>
        <p:grpSpPr>
          <a:xfrm>
            <a:off x="731520" y="3511630"/>
            <a:ext cx="7558159" cy="1498786"/>
            <a:chOff x="830263" y="2386646"/>
            <a:chExt cx="7558159" cy="1498786"/>
          </a:xfrm>
        </p:grpSpPr>
        <p:sp>
          <p:nvSpPr>
            <p:cNvPr id="12" name="TextBox 4"/>
            <p:cNvSpPr txBox="1">
              <a:spLocks noChangeArrowheads="1"/>
            </p:cNvSpPr>
            <p:nvPr/>
          </p:nvSpPr>
          <p:spPr bwMode="auto">
            <a:xfrm>
              <a:off x="1187451" y="2386646"/>
              <a:ext cx="5799380" cy="461665"/>
            </a:xfrm>
            <a:prstGeom prst="rect">
              <a:avLst/>
            </a:prstGeom>
            <a:noFill/>
            <a:ln w="9525">
              <a:noFill/>
              <a:miter lim="800000"/>
              <a:headEnd/>
              <a:tailEnd/>
            </a:ln>
          </p:spPr>
          <p:txBody>
            <a:bodyPr wrap="square">
              <a:spAutoFit/>
            </a:bodyPr>
            <a:lstStyle/>
            <a:p>
              <a:r>
                <a:rPr lang="zh-CN" altLang="en-US" sz="2400" b="1" dirty="0">
                  <a:solidFill>
                    <a:srgbClr val="11576A"/>
                  </a:solidFill>
                  <a:latin typeface="微软雅黑" pitchFamily="34" charset="-122"/>
                  <a:ea typeface="微软雅黑" pitchFamily="34" charset="-122"/>
                </a:rPr>
                <a:t>虚拟页式存储中的优先换出的内容</a:t>
              </a:r>
              <a:endParaRPr lang="en-US" altLang="zh-CN" sz="2400" b="1" dirty="0">
                <a:solidFill>
                  <a:srgbClr val="11576A"/>
                </a:solidFill>
                <a:latin typeface="微软雅黑" pitchFamily="34" charset="-122"/>
                <a:ea typeface="微软雅黑" pitchFamily="34" charset="-122"/>
              </a:endParaRPr>
            </a:p>
          </p:txBody>
        </p:sp>
        <p:sp>
          <p:nvSpPr>
            <p:cNvPr id="13" name="矩形 6"/>
            <p:cNvSpPr>
              <a:spLocks noChangeArrowheads="1"/>
            </p:cNvSpPr>
            <p:nvPr/>
          </p:nvSpPr>
          <p:spPr bwMode="auto">
            <a:xfrm>
              <a:off x="830263" y="2386646"/>
              <a:ext cx="340158" cy="400110"/>
            </a:xfrm>
            <a:prstGeom prst="rect">
              <a:avLst/>
            </a:prstGeom>
            <a:noFill/>
            <a:ln w="9525">
              <a:noFill/>
              <a:miter lim="800000"/>
              <a:headEnd/>
              <a:tailEnd/>
            </a:ln>
          </p:spPr>
          <p:txBody>
            <a:bodyPr wrap="non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Calibri" pitchFamily="34" charset="0"/>
              </a:endParaRPr>
            </a:p>
          </p:txBody>
        </p:sp>
        <p:sp>
          <p:nvSpPr>
            <p:cNvPr id="16" name="TextBox 7"/>
            <p:cNvSpPr txBox="1">
              <a:spLocks noChangeArrowheads="1"/>
            </p:cNvSpPr>
            <p:nvPr/>
          </p:nvSpPr>
          <p:spPr bwMode="auto">
            <a:xfrm>
              <a:off x="1495457" y="2728914"/>
              <a:ext cx="6148377" cy="461665"/>
            </a:xfrm>
            <a:prstGeom prst="rect">
              <a:avLst/>
            </a:prstGeom>
            <a:noFill/>
            <a:ln w="9525">
              <a:noFill/>
              <a:miter lim="800000"/>
              <a:headEnd/>
              <a:tailEnd/>
            </a:ln>
          </p:spPr>
          <p:txBody>
            <a:bodyPr wrap="square">
              <a:spAutoFit/>
            </a:bodyPr>
            <a:lstStyle/>
            <a:p>
              <a:pPr marL="0" lvl="1"/>
              <a:r>
                <a:rPr lang="zh-CN" altLang="en-US" sz="2400" b="1" dirty="0">
                  <a:solidFill>
                    <a:srgbClr val="11576A"/>
                  </a:solidFill>
                  <a:latin typeface="微软雅黑" pitchFamily="34" charset="-122"/>
                  <a:ea typeface="微软雅黑" pitchFamily="34" charset="-122"/>
                </a:rPr>
                <a:t>代码段和常量段：可执行二进制文件</a:t>
              </a:r>
              <a:endParaRPr lang="en-US" altLang="zh-CN" sz="2400" b="1" dirty="0">
                <a:solidFill>
                  <a:srgbClr val="11576A"/>
                </a:solidFill>
                <a:latin typeface="微软雅黑" pitchFamily="34" charset="-122"/>
                <a:ea typeface="微软雅黑" pitchFamily="34" charset="-122"/>
              </a:endParaRPr>
            </a:p>
          </p:txBody>
        </p:sp>
        <p:pic>
          <p:nvPicPr>
            <p:cNvPr id="17" name="图片 8" descr="小点1.png"/>
            <p:cNvPicPr>
              <a:picLocks noChangeAspect="1"/>
            </p:cNvPicPr>
            <p:nvPr/>
          </p:nvPicPr>
          <p:blipFill>
            <a:blip r:embed="rId2" cstate="print"/>
            <a:srcRect/>
            <a:stretch>
              <a:fillRect/>
            </a:stretch>
          </p:blipFill>
          <p:spPr bwMode="auto">
            <a:xfrm>
              <a:off x="1292225" y="2857501"/>
              <a:ext cx="149225" cy="149225"/>
            </a:xfrm>
            <a:prstGeom prst="rect">
              <a:avLst/>
            </a:prstGeom>
            <a:noFill/>
            <a:ln w="9525">
              <a:noFill/>
              <a:miter lim="800000"/>
              <a:headEnd/>
              <a:tailEnd/>
            </a:ln>
          </p:spPr>
        </p:pic>
        <p:sp>
          <p:nvSpPr>
            <p:cNvPr id="18" name="TextBox 7"/>
            <p:cNvSpPr txBox="1">
              <a:spLocks noChangeArrowheads="1"/>
            </p:cNvSpPr>
            <p:nvPr/>
          </p:nvSpPr>
          <p:spPr bwMode="auto">
            <a:xfrm>
              <a:off x="1495457" y="3068565"/>
              <a:ext cx="6892965" cy="461665"/>
            </a:xfrm>
            <a:prstGeom prst="rect">
              <a:avLst/>
            </a:prstGeom>
            <a:noFill/>
            <a:ln w="9525">
              <a:noFill/>
              <a:miter lim="800000"/>
              <a:headEnd/>
              <a:tailEnd/>
            </a:ln>
          </p:spPr>
          <p:txBody>
            <a:bodyPr wrap="square">
              <a:spAutoFit/>
            </a:bodyPr>
            <a:lstStyle/>
            <a:p>
              <a:pPr marL="0" lvl="1"/>
              <a:r>
                <a:rPr lang="zh-CN" altLang="en-US" sz="2400" b="1" dirty="0">
                  <a:solidFill>
                    <a:srgbClr val="11576A"/>
                  </a:solidFill>
                  <a:latin typeface="微软雅黑" pitchFamily="34" charset="-122"/>
                  <a:ea typeface="微软雅黑" pitchFamily="34" charset="-122"/>
                </a:rPr>
                <a:t>动态加载的共享库程序段：动态调用的库文件</a:t>
              </a:r>
              <a:endParaRPr lang="en-US" altLang="zh-CN" sz="2400" b="1" dirty="0">
                <a:solidFill>
                  <a:srgbClr val="11576A"/>
                </a:solidFill>
                <a:latin typeface="微软雅黑" pitchFamily="34" charset="-122"/>
                <a:ea typeface="微软雅黑" pitchFamily="34" charset="-122"/>
              </a:endParaRPr>
            </a:p>
          </p:txBody>
        </p:sp>
        <p:pic>
          <p:nvPicPr>
            <p:cNvPr id="19" name="图片 8" descr="小点1.png"/>
            <p:cNvPicPr>
              <a:picLocks noChangeAspect="1"/>
            </p:cNvPicPr>
            <p:nvPr/>
          </p:nvPicPr>
          <p:blipFill>
            <a:blip r:embed="rId2" cstate="print"/>
            <a:srcRect/>
            <a:stretch>
              <a:fillRect/>
            </a:stretch>
          </p:blipFill>
          <p:spPr bwMode="auto">
            <a:xfrm>
              <a:off x="1292225" y="3197152"/>
              <a:ext cx="149225" cy="149225"/>
            </a:xfrm>
            <a:prstGeom prst="rect">
              <a:avLst/>
            </a:prstGeom>
            <a:noFill/>
            <a:ln w="9525">
              <a:noFill/>
              <a:miter lim="800000"/>
              <a:headEnd/>
              <a:tailEnd/>
            </a:ln>
          </p:spPr>
        </p:pic>
        <p:sp>
          <p:nvSpPr>
            <p:cNvPr id="20" name="TextBox 7"/>
            <p:cNvSpPr txBox="1">
              <a:spLocks noChangeArrowheads="1"/>
            </p:cNvSpPr>
            <p:nvPr/>
          </p:nvSpPr>
          <p:spPr bwMode="auto">
            <a:xfrm>
              <a:off x="1495457" y="3423767"/>
              <a:ext cx="6148377" cy="461665"/>
            </a:xfrm>
            <a:prstGeom prst="rect">
              <a:avLst/>
            </a:prstGeom>
            <a:noFill/>
            <a:ln w="9525">
              <a:noFill/>
              <a:miter lim="800000"/>
              <a:headEnd/>
              <a:tailEnd/>
            </a:ln>
          </p:spPr>
          <p:txBody>
            <a:bodyPr wrap="square">
              <a:spAutoFit/>
            </a:bodyPr>
            <a:lstStyle/>
            <a:p>
              <a:pPr marL="0" lvl="1"/>
              <a:r>
                <a:rPr lang="zh-CN" altLang="en-US" sz="2400" b="1" dirty="0">
                  <a:solidFill>
                    <a:srgbClr val="11576A"/>
                  </a:solidFill>
                  <a:latin typeface="微软雅黑" pitchFamily="34" charset="-122"/>
                  <a:ea typeface="微软雅黑" pitchFamily="34" charset="-122"/>
                </a:rPr>
                <a:t>其它段：交换空间</a:t>
              </a:r>
            </a:p>
          </p:txBody>
        </p:sp>
        <p:pic>
          <p:nvPicPr>
            <p:cNvPr id="21" name="图片 8" descr="小点1.png"/>
            <p:cNvPicPr>
              <a:picLocks noChangeAspect="1"/>
            </p:cNvPicPr>
            <p:nvPr/>
          </p:nvPicPr>
          <p:blipFill>
            <a:blip r:embed="rId2" cstate="print"/>
            <a:srcRect/>
            <a:stretch>
              <a:fillRect/>
            </a:stretch>
          </p:blipFill>
          <p:spPr bwMode="auto">
            <a:xfrm>
              <a:off x="1292225" y="3552354"/>
              <a:ext cx="149225" cy="149225"/>
            </a:xfrm>
            <a:prstGeom prst="rect">
              <a:avLst/>
            </a:prstGeom>
            <a:noFill/>
            <a:ln w="9525">
              <a:noFill/>
              <a:miter lim="800000"/>
              <a:headEnd/>
              <a:tailEnd/>
            </a:ln>
          </p:spPr>
        </p:pic>
      </p:grpSp>
      <p:grpSp>
        <p:nvGrpSpPr>
          <p:cNvPr id="2" name="组合 1"/>
          <p:cNvGrpSpPr/>
          <p:nvPr/>
        </p:nvGrpSpPr>
        <p:grpSpPr>
          <a:xfrm>
            <a:off x="731520" y="1844824"/>
            <a:ext cx="6813571" cy="1518251"/>
            <a:chOff x="830263" y="1013187"/>
            <a:chExt cx="6813571" cy="1518251"/>
          </a:xfrm>
        </p:grpSpPr>
        <p:sp>
          <p:nvSpPr>
            <p:cNvPr id="5" name="TextBox 4"/>
            <p:cNvSpPr txBox="1">
              <a:spLocks noChangeArrowheads="1"/>
            </p:cNvSpPr>
            <p:nvPr/>
          </p:nvSpPr>
          <p:spPr bwMode="auto">
            <a:xfrm>
              <a:off x="1187451" y="1013187"/>
              <a:ext cx="5544787" cy="461665"/>
            </a:xfrm>
            <a:prstGeom prst="rect">
              <a:avLst/>
            </a:prstGeom>
            <a:noFill/>
            <a:ln w="9525">
              <a:noFill/>
              <a:miter lim="800000"/>
              <a:headEnd/>
              <a:tailEnd/>
            </a:ln>
          </p:spPr>
          <p:txBody>
            <a:bodyPr wrap="square">
              <a:spAutoFit/>
            </a:bodyPr>
            <a:lstStyle/>
            <a:p>
              <a:r>
                <a:rPr lang="zh-CN" altLang="en-US" sz="2400" b="1" dirty="0">
                  <a:solidFill>
                    <a:srgbClr val="11576A"/>
                  </a:solidFill>
                  <a:latin typeface="微软雅黑" pitchFamily="34" charset="-122"/>
                  <a:ea typeface="微软雅黑" pitchFamily="34" charset="-122"/>
                </a:rPr>
                <a:t>在何处保存未被映射的页？</a:t>
              </a:r>
              <a:endParaRPr lang="en-US" altLang="zh-CN" sz="2400" b="1" dirty="0">
                <a:solidFill>
                  <a:srgbClr val="11576A"/>
                </a:solidFill>
                <a:latin typeface="微软雅黑" pitchFamily="34" charset="-122"/>
                <a:ea typeface="微软雅黑" pitchFamily="34" charset="-122"/>
              </a:endParaRPr>
            </a:p>
          </p:txBody>
        </p:sp>
        <p:sp>
          <p:nvSpPr>
            <p:cNvPr id="6" name="矩形 6"/>
            <p:cNvSpPr>
              <a:spLocks noChangeArrowheads="1"/>
            </p:cNvSpPr>
            <p:nvPr/>
          </p:nvSpPr>
          <p:spPr bwMode="auto">
            <a:xfrm>
              <a:off x="830263" y="1035412"/>
              <a:ext cx="340158" cy="400110"/>
            </a:xfrm>
            <a:prstGeom prst="rect">
              <a:avLst/>
            </a:prstGeom>
            <a:noFill/>
            <a:ln w="9525">
              <a:noFill/>
              <a:miter lim="800000"/>
              <a:headEnd/>
              <a:tailEnd/>
            </a:ln>
          </p:spPr>
          <p:txBody>
            <a:bodyPr wrap="none">
              <a:spAutoFit/>
            </a:bodyPr>
            <a:lstStyle/>
            <a:p>
              <a:r>
                <a:rPr lang="zh-CN" altLang="en-US" sz="2000" b="1" dirty="0">
                  <a:solidFill>
                    <a:srgbClr val="11576A"/>
                  </a:solidFill>
                  <a:latin typeface="张海山锐谐体2.0-授权联系：Samtype@QQ.com" pitchFamily="2" charset="-122"/>
                  <a:ea typeface="张海山锐谐体2.0-授权联系：Samtype@QQ.com" pitchFamily="2" charset="-122"/>
                </a:rPr>
                <a:t>■</a:t>
              </a:r>
              <a:endParaRPr lang="zh-CN" altLang="en-US" sz="2000" b="1" dirty="0">
                <a:solidFill>
                  <a:srgbClr val="11576A"/>
                </a:solidFill>
                <a:latin typeface="Calibri" pitchFamily="34" charset="0"/>
              </a:endParaRPr>
            </a:p>
          </p:txBody>
        </p:sp>
        <p:sp>
          <p:nvSpPr>
            <p:cNvPr id="7" name="TextBox 7"/>
            <p:cNvSpPr txBox="1">
              <a:spLocks noChangeArrowheads="1"/>
            </p:cNvSpPr>
            <p:nvPr/>
          </p:nvSpPr>
          <p:spPr bwMode="auto">
            <a:xfrm>
              <a:off x="1495457" y="1344975"/>
              <a:ext cx="6148377" cy="461665"/>
            </a:xfrm>
            <a:prstGeom prst="rect">
              <a:avLst/>
            </a:prstGeom>
            <a:noFill/>
            <a:ln w="9525">
              <a:noFill/>
              <a:miter lim="800000"/>
              <a:headEnd/>
              <a:tailEnd/>
            </a:ln>
          </p:spPr>
          <p:txBody>
            <a:bodyPr wrap="square">
              <a:spAutoFit/>
            </a:bodyPr>
            <a:lstStyle/>
            <a:p>
              <a:pPr marL="0" lvl="1"/>
              <a:r>
                <a:rPr lang="zh-CN" altLang="en-US" sz="2400" b="1" dirty="0">
                  <a:solidFill>
                    <a:srgbClr val="11576A"/>
                  </a:solidFill>
                  <a:latin typeface="微软雅黑" pitchFamily="34" charset="-122"/>
                  <a:ea typeface="微软雅黑" pitchFamily="34" charset="-122"/>
                </a:rPr>
                <a:t>应能方便地找到在外存中的页面内容</a:t>
              </a:r>
              <a:endParaRPr lang="en-US" altLang="zh-CN" sz="2400" b="1" dirty="0">
                <a:solidFill>
                  <a:srgbClr val="11576A"/>
                </a:solidFill>
                <a:latin typeface="微软雅黑" pitchFamily="34" charset="-122"/>
                <a:ea typeface="微软雅黑" pitchFamily="34" charset="-122"/>
              </a:endParaRPr>
            </a:p>
          </p:txBody>
        </p:sp>
        <p:pic>
          <p:nvPicPr>
            <p:cNvPr id="8" name="图片 8" descr="小点1.png"/>
            <p:cNvPicPr>
              <a:picLocks noChangeAspect="1"/>
            </p:cNvPicPr>
            <p:nvPr/>
          </p:nvPicPr>
          <p:blipFill>
            <a:blip r:embed="rId2" cstate="print"/>
            <a:srcRect/>
            <a:stretch>
              <a:fillRect/>
            </a:stretch>
          </p:blipFill>
          <p:spPr bwMode="auto">
            <a:xfrm>
              <a:off x="1292225" y="1473562"/>
              <a:ext cx="149225" cy="149225"/>
            </a:xfrm>
            <a:prstGeom prst="rect">
              <a:avLst/>
            </a:prstGeom>
            <a:noFill/>
            <a:ln w="9525">
              <a:noFill/>
              <a:miter lim="800000"/>
              <a:headEnd/>
              <a:tailEnd/>
            </a:ln>
          </p:spPr>
        </p:pic>
        <p:sp>
          <p:nvSpPr>
            <p:cNvPr id="10" name="TextBox 7"/>
            <p:cNvSpPr txBox="1">
              <a:spLocks noChangeArrowheads="1"/>
            </p:cNvSpPr>
            <p:nvPr/>
          </p:nvSpPr>
          <p:spPr bwMode="auto">
            <a:xfrm>
              <a:off x="1495457" y="1700441"/>
              <a:ext cx="6148377" cy="830997"/>
            </a:xfrm>
            <a:prstGeom prst="rect">
              <a:avLst/>
            </a:prstGeom>
            <a:noFill/>
            <a:ln w="9525">
              <a:noFill/>
              <a:miter lim="800000"/>
              <a:headEnd/>
              <a:tailEnd/>
            </a:ln>
          </p:spPr>
          <p:txBody>
            <a:bodyPr wrap="square">
              <a:spAutoFit/>
            </a:bodyPr>
            <a:lstStyle/>
            <a:p>
              <a:pPr marL="0" lvl="1"/>
              <a:r>
                <a:rPr lang="zh-CN" altLang="en-US" sz="2400" b="1" dirty="0">
                  <a:solidFill>
                    <a:srgbClr val="11576A"/>
                  </a:solidFill>
                  <a:latin typeface="微软雅黑" pitchFamily="34" charset="-122"/>
                  <a:ea typeface="微软雅黑" pitchFamily="34" charset="-122"/>
                </a:rPr>
                <a:t>交换空间（磁盘或者文件）</a:t>
              </a:r>
              <a:endParaRPr lang="en-US" altLang="zh-CN" sz="2400" b="1" dirty="0">
                <a:solidFill>
                  <a:srgbClr val="11576A"/>
                </a:solidFill>
                <a:latin typeface="微软雅黑" pitchFamily="34" charset="-122"/>
                <a:ea typeface="微软雅黑" pitchFamily="34" charset="-122"/>
              </a:endParaRPr>
            </a:p>
            <a:p>
              <a:pPr marL="0" lvl="1"/>
              <a:r>
                <a:rPr lang="zh-CN" altLang="zh-CN" sz="2400" b="1" dirty="0">
                  <a:solidFill>
                    <a:srgbClr val="11576A"/>
                  </a:solidFill>
                  <a:latin typeface="微软雅黑" pitchFamily="34" charset="-122"/>
                  <a:ea typeface="微软雅黑" pitchFamily="34" charset="-122"/>
                </a:rPr>
                <a:t> </a:t>
              </a:r>
              <a:r>
                <a:rPr lang="zh-CN" altLang="en-US" sz="2400" b="1" dirty="0">
                  <a:solidFill>
                    <a:srgbClr val="11576A"/>
                  </a:solidFill>
                  <a:latin typeface="微软雅黑" pitchFamily="34" charset="-122"/>
                  <a:ea typeface="微软雅黑" pitchFamily="34" charset="-122"/>
                </a:rPr>
                <a:t>  </a:t>
              </a:r>
              <a:r>
                <a:rPr lang="zh-CN" altLang="en-US" sz="2000" b="1" dirty="0">
                  <a:solidFill>
                    <a:srgbClr val="0070C0"/>
                  </a:solidFill>
                  <a:latin typeface="微软雅黑" pitchFamily="34" charset="-122"/>
                  <a:ea typeface="微软雅黑" pitchFamily="34" charset="-122"/>
                </a:rPr>
                <a:t>采用特殊格式存储未被映射的页面</a:t>
              </a:r>
              <a:endParaRPr lang="en-US" altLang="zh-CN" sz="2000" b="1" dirty="0">
                <a:solidFill>
                  <a:srgbClr val="0070C0"/>
                </a:solidFill>
                <a:latin typeface="微软雅黑" pitchFamily="34" charset="-122"/>
                <a:ea typeface="微软雅黑" pitchFamily="34" charset="-122"/>
              </a:endParaRPr>
            </a:p>
          </p:txBody>
        </p:sp>
        <p:pic>
          <p:nvPicPr>
            <p:cNvPr id="11" name="图片 8" descr="小点1.png"/>
            <p:cNvPicPr>
              <a:picLocks noChangeAspect="1"/>
            </p:cNvPicPr>
            <p:nvPr/>
          </p:nvPicPr>
          <p:blipFill>
            <a:blip r:embed="rId2" cstate="print"/>
            <a:srcRect/>
            <a:stretch>
              <a:fillRect/>
            </a:stretch>
          </p:blipFill>
          <p:spPr bwMode="auto">
            <a:xfrm>
              <a:off x="1292225" y="1829028"/>
              <a:ext cx="149225" cy="149225"/>
            </a:xfrm>
            <a:prstGeom prst="rect">
              <a:avLst/>
            </a:prstGeom>
            <a:noFill/>
            <a:ln w="9525">
              <a:noFill/>
              <a:miter lim="800000"/>
              <a:headEnd/>
              <a:tailEnd/>
            </a:ln>
          </p:spPr>
        </p:pic>
        <p:pic>
          <p:nvPicPr>
            <p:cNvPr id="22" name="图片 8" descr="小点1.png"/>
            <p:cNvPicPr>
              <a:picLocks noChangeAspect="1"/>
            </p:cNvPicPr>
            <p:nvPr/>
          </p:nvPicPr>
          <p:blipFill>
            <a:blip r:embed="rId2" cstate="print"/>
            <a:srcRect/>
            <a:stretch>
              <a:fillRect/>
            </a:stretch>
          </p:blipFill>
          <p:spPr bwMode="auto">
            <a:xfrm>
              <a:off x="1601467" y="2236008"/>
              <a:ext cx="149225" cy="149225"/>
            </a:xfrm>
            <a:prstGeom prst="rect">
              <a:avLst/>
            </a:prstGeom>
            <a:noFill/>
            <a:ln w="9525">
              <a:noFill/>
              <a:miter lim="800000"/>
              <a:headEnd/>
              <a:tailEnd/>
            </a:ln>
          </p:spPr>
        </p:pic>
      </p:grpSp>
      <p:sp>
        <p:nvSpPr>
          <p:cNvPr id="9" name="文本框 8">
            <a:extLst>
              <a:ext uri="{FF2B5EF4-FFF2-40B4-BE49-F238E27FC236}">
                <a16:creationId xmlns:a16="http://schemas.microsoft.com/office/drawing/2014/main" id="{4DD4B55F-FA72-10F4-C0AC-1EBA45618E47}"/>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14" name="标题 8">
            <a:extLst>
              <a:ext uri="{FF2B5EF4-FFF2-40B4-BE49-F238E27FC236}">
                <a16:creationId xmlns:a16="http://schemas.microsoft.com/office/drawing/2014/main" id="{A9B60137-05AB-B963-92A0-18864FB1D5D4}"/>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虚拟页式存储中的外存管理</a:t>
            </a:r>
          </a:p>
        </p:txBody>
      </p:sp>
    </p:spTree>
    <p:extLst>
      <p:ext uri="{BB962C8B-B14F-4D97-AF65-F5344CB8AC3E}">
        <p14:creationId xmlns:p14="http://schemas.microsoft.com/office/powerpoint/2010/main" val="1031419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1097412" y="1556792"/>
            <a:ext cx="4278508" cy="384721"/>
          </a:xfrm>
          <a:prstGeom prst="rect">
            <a:avLst/>
          </a:prstGeom>
          <a:noFill/>
        </p:spPr>
        <p:txBody>
          <a:bodyPr wrap="square" rtlCol="0">
            <a:spAutoFit/>
          </a:bodyPr>
          <a:lstStyle/>
          <a:p>
            <a:pPr marL="342900" lvl="1" indent="-342900">
              <a:lnSpc>
                <a:spcPct val="95000"/>
              </a:lnSpc>
              <a:spcBef>
                <a:spcPct val="20000"/>
              </a:spcBef>
            </a:pPr>
            <a:r>
              <a:rPr lang="zh-CN" altLang="en-US" sz="2000" b="1" dirty="0">
                <a:solidFill>
                  <a:srgbClr val="11576A"/>
                </a:solidFill>
                <a:latin typeface="微软雅黑" pitchFamily="34" charset="-122"/>
                <a:ea typeface="微软雅黑" pitchFamily="34" charset="-122"/>
                <a:sym typeface="Times New Roman" charset="0"/>
              </a:rPr>
              <a:t>进程的段地址空间由多个段组成</a:t>
            </a:r>
          </a:p>
        </p:txBody>
      </p:sp>
      <p:sp>
        <p:nvSpPr>
          <p:cNvPr id="21" name="TextBox 20"/>
          <p:cNvSpPr txBox="1"/>
          <p:nvPr/>
        </p:nvSpPr>
        <p:spPr>
          <a:xfrm>
            <a:off x="1344758" y="1913982"/>
            <a:ext cx="3168352" cy="384721"/>
          </a:xfrm>
          <a:prstGeom prst="rect">
            <a:avLst/>
          </a:prstGeom>
          <a:noFill/>
        </p:spPr>
        <p:txBody>
          <a:bodyPr wrap="square" rtlCol="0">
            <a:spAutoFit/>
          </a:bodyPr>
          <a:lstStyle/>
          <a:p>
            <a:pPr marL="342900" lvl="1" indent="-342900">
              <a:lnSpc>
                <a:spcPct val="95000"/>
              </a:lnSpc>
              <a:spcBef>
                <a:spcPct val="20000"/>
              </a:spcBef>
            </a:pPr>
            <a:r>
              <a:rPr lang="zh-CN" altLang="en-US" sz="2000" b="1" dirty="0">
                <a:solidFill>
                  <a:srgbClr val="11576A"/>
                </a:solidFill>
                <a:latin typeface="微软雅黑" pitchFamily="34" charset="-122"/>
                <a:ea typeface="微软雅黑" pitchFamily="34" charset="-122"/>
                <a:sym typeface="Times New Roman" charset="0"/>
              </a:rPr>
              <a:t>主代码段</a:t>
            </a:r>
          </a:p>
        </p:txBody>
      </p:sp>
      <p:pic>
        <p:nvPicPr>
          <p:cNvPr id="22" name="图片 21" descr="小点1.png"/>
          <p:cNvPicPr>
            <a:picLocks noChangeAspect="1"/>
          </p:cNvPicPr>
          <p:nvPr/>
        </p:nvPicPr>
        <p:blipFill>
          <a:blip r:embed="rId2" cstate="print"/>
          <a:stretch>
            <a:fillRect/>
          </a:stretch>
        </p:blipFill>
        <p:spPr>
          <a:xfrm>
            <a:off x="1193692" y="2018838"/>
            <a:ext cx="151066" cy="148997"/>
          </a:xfrm>
          <a:prstGeom prst="rect">
            <a:avLst/>
          </a:prstGeom>
        </p:spPr>
      </p:pic>
      <p:sp>
        <p:nvSpPr>
          <p:cNvPr id="23" name="TextBox 22"/>
          <p:cNvSpPr txBox="1"/>
          <p:nvPr/>
        </p:nvSpPr>
        <p:spPr>
          <a:xfrm>
            <a:off x="1344758" y="2263762"/>
            <a:ext cx="3168352" cy="384721"/>
          </a:xfrm>
          <a:prstGeom prst="rect">
            <a:avLst/>
          </a:prstGeom>
          <a:noFill/>
        </p:spPr>
        <p:txBody>
          <a:bodyPr wrap="square" rtlCol="0">
            <a:spAutoFit/>
          </a:bodyPr>
          <a:lstStyle/>
          <a:p>
            <a:pPr marL="342900" lvl="1" indent="-342900">
              <a:lnSpc>
                <a:spcPct val="95000"/>
              </a:lnSpc>
              <a:spcBef>
                <a:spcPct val="200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11576A"/>
                </a:solidFill>
                <a:latin typeface="微软雅黑" pitchFamily="34" charset="-122"/>
                <a:ea typeface="微软雅黑" pitchFamily="34" charset="-122"/>
                <a:sym typeface="Times New Roman" charset="0"/>
              </a:rPr>
              <a:t>子模块代码段</a:t>
            </a:r>
          </a:p>
        </p:txBody>
      </p:sp>
      <p:pic>
        <p:nvPicPr>
          <p:cNvPr id="24" name="图片 23" descr="小点1.png"/>
          <p:cNvPicPr>
            <a:picLocks noChangeAspect="1"/>
          </p:cNvPicPr>
          <p:nvPr/>
        </p:nvPicPr>
        <p:blipFill>
          <a:blip r:embed="rId2" cstate="print"/>
          <a:stretch>
            <a:fillRect/>
          </a:stretch>
        </p:blipFill>
        <p:spPr>
          <a:xfrm>
            <a:off x="1193692" y="2368618"/>
            <a:ext cx="151066" cy="148997"/>
          </a:xfrm>
          <a:prstGeom prst="rect">
            <a:avLst/>
          </a:prstGeom>
        </p:spPr>
      </p:pic>
      <p:sp>
        <p:nvSpPr>
          <p:cNvPr id="25" name="TextBox 24"/>
          <p:cNvSpPr txBox="1"/>
          <p:nvPr/>
        </p:nvSpPr>
        <p:spPr>
          <a:xfrm>
            <a:off x="1344758" y="2622867"/>
            <a:ext cx="3168352" cy="369332"/>
          </a:xfrm>
          <a:prstGeom prst="rect">
            <a:avLst/>
          </a:prstGeom>
          <a:noFill/>
        </p:spPr>
        <p:txBody>
          <a:bodyPr wrap="square" rtlCol="0">
            <a:spAutoFit/>
          </a:bodyPr>
          <a:lstStyle/>
          <a:p>
            <a:pPr marL="0" lvl="1" indent="-284163">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11576A"/>
                </a:solidFill>
                <a:latin typeface="微软雅黑" pitchFamily="34" charset="-122"/>
                <a:ea typeface="微软雅黑" pitchFamily="34" charset="-122"/>
                <a:sym typeface="Times New Roman" charset="0"/>
              </a:rPr>
              <a:t>公用库代码段</a:t>
            </a:r>
            <a:endParaRPr lang="en-US" altLang="zh-CN" sz="2000" b="1" dirty="0">
              <a:solidFill>
                <a:srgbClr val="11576A"/>
              </a:solidFill>
              <a:latin typeface="微软雅黑" pitchFamily="34" charset="-122"/>
              <a:ea typeface="微软雅黑" pitchFamily="34" charset="-122"/>
              <a:sym typeface="Times New Roman" charset="0"/>
            </a:endParaRPr>
          </a:p>
        </p:txBody>
      </p:sp>
      <p:pic>
        <p:nvPicPr>
          <p:cNvPr id="26" name="图片 25" descr="小点1.png"/>
          <p:cNvPicPr>
            <a:picLocks noChangeAspect="1"/>
          </p:cNvPicPr>
          <p:nvPr/>
        </p:nvPicPr>
        <p:blipFill>
          <a:blip r:embed="rId2" cstate="print"/>
          <a:stretch>
            <a:fillRect/>
          </a:stretch>
        </p:blipFill>
        <p:spPr>
          <a:xfrm>
            <a:off x="1193692" y="2727725"/>
            <a:ext cx="151066" cy="148997"/>
          </a:xfrm>
          <a:prstGeom prst="rect">
            <a:avLst/>
          </a:prstGeom>
        </p:spPr>
      </p:pic>
      <p:sp>
        <p:nvSpPr>
          <p:cNvPr id="27" name="TextBox 26"/>
          <p:cNvSpPr txBox="1"/>
          <p:nvPr/>
        </p:nvSpPr>
        <p:spPr>
          <a:xfrm>
            <a:off x="1344758" y="2972647"/>
            <a:ext cx="3168352" cy="369332"/>
          </a:xfrm>
          <a:prstGeom prst="rect">
            <a:avLst/>
          </a:prstGeom>
          <a:noFill/>
        </p:spPr>
        <p:txBody>
          <a:bodyPr wrap="square" rtlCol="0">
            <a:spAutoFit/>
          </a:bodyPr>
          <a:lstStyle/>
          <a:p>
            <a:pPr marL="0" lvl="1">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11576A"/>
                </a:solidFill>
                <a:latin typeface="微软雅黑" pitchFamily="34" charset="-122"/>
                <a:ea typeface="微软雅黑" pitchFamily="34" charset="-122"/>
                <a:sym typeface="Times New Roman" charset="0"/>
              </a:rPr>
              <a:t>堆栈段</a:t>
            </a:r>
            <a:r>
              <a:rPr lang="en-US" altLang="zh-CN" sz="2000" b="1" dirty="0">
                <a:solidFill>
                  <a:srgbClr val="11576A"/>
                </a:solidFill>
                <a:latin typeface="微软雅黑" pitchFamily="34" charset="-122"/>
                <a:ea typeface="微软雅黑" pitchFamily="34" charset="-122"/>
                <a:sym typeface="Times New Roman" charset="0"/>
              </a:rPr>
              <a:t>(stack)</a:t>
            </a:r>
            <a:endParaRPr lang="zh-CN" altLang="en-US" sz="2000" b="1" dirty="0">
              <a:solidFill>
                <a:srgbClr val="11576A"/>
              </a:solidFill>
              <a:latin typeface="微软雅黑" pitchFamily="34" charset="-122"/>
              <a:ea typeface="微软雅黑" pitchFamily="34" charset="-122"/>
              <a:sym typeface="Times New Roman" charset="0"/>
            </a:endParaRPr>
          </a:p>
        </p:txBody>
      </p:sp>
      <p:pic>
        <p:nvPicPr>
          <p:cNvPr id="28" name="图片 27" descr="小点1.png"/>
          <p:cNvPicPr>
            <a:picLocks noChangeAspect="1"/>
          </p:cNvPicPr>
          <p:nvPr/>
        </p:nvPicPr>
        <p:blipFill>
          <a:blip r:embed="rId2" cstate="print"/>
          <a:stretch>
            <a:fillRect/>
          </a:stretch>
        </p:blipFill>
        <p:spPr>
          <a:xfrm>
            <a:off x="1193692" y="3077505"/>
            <a:ext cx="151066" cy="148997"/>
          </a:xfrm>
          <a:prstGeom prst="rect">
            <a:avLst/>
          </a:prstGeom>
        </p:spPr>
      </p:pic>
      <p:sp>
        <p:nvSpPr>
          <p:cNvPr id="49" name="矩形 8"/>
          <p:cNvSpPr>
            <a:spLocks noChangeArrowheads="1"/>
          </p:cNvSpPr>
          <p:nvPr/>
        </p:nvSpPr>
        <p:spPr bwMode="auto">
          <a:xfrm>
            <a:off x="746223" y="1573941"/>
            <a:ext cx="32412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itchFamily="34" charset="0"/>
            </a:endParaRPr>
          </a:p>
        </p:txBody>
      </p:sp>
      <p:grpSp>
        <p:nvGrpSpPr>
          <p:cNvPr id="2" name="组合 1"/>
          <p:cNvGrpSpPr/>
          <p:nvPr/>
        </p:nvGrpSpPr>
        <p:grpSpPr>
          <a:xfrm>
            <a:off x="746221" y="4434491"/>
            <a:ext cx="3841320" cy="1057584"/>
            <a:chOff x="416438" y="3829582"/>
            <a:chExt cx="3841320" cy="1057584"/>
          </a:xfrm>
        </p:grpSpPr>
        <p:sp>
          <p:nvSpPr>
            <p:cNvPr id="29" name="TextBox 28"/>
            <p:cNvSpPr txBox="1"/>
            <p:nvPr/>
          </p:nvSpPr>
          <p:spPr>
            <a:xfrm>
              <a:off x="770052" y="3835596"/>
              <a:ext cx="3487706" cy="1051570"/>
            </a:xfrm>
            <a:prstGeom prst="rect">
              <a:avLst/>
            </a:prstGeom>
            <a:noFill/>
          </p:spPr>
          <p:txBody>
            <a:bodyPr wrap="square" rtlCol="0">
              <a:spAutoFit/>
            </a:bodyPr>
            <a:lstStyle/>
            <a:p>
              <a:pPr marL="0" lvl="1" indent="-284163">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11576A"/>
                  </a:solidFill>
                  <a:latin typeface="微软雅黑" pitchFamily="34" charset="-122"/>
                  <a:ea typeface="微软雅黑" pitchFamily="34" charset="-122"/>
                  <a:sym typeface="Times New Roman" charset="0"/>
                </a:rPr>
                <a:t>段式存储管理的目的</a:t>
              </a:r>
              <a:endParaRPr lang="en-US" altLang="zh-CN" sz="2000" b="1" dirty="0">
                <a:solidFill>
                  <a:srgbClr val="11576A"/>
                </a:solidFill>
                <a:latin typeface="微软雅黑" pitchFamily="34" charset="-122"/>
                <a:ea typeface="微软雅黑" pitchFamily="34" charset="-122"/>
                <a:sym typeface="Times New Roman" charset="0"/>
              </a:endParaRPr>
            </a:p>
            <a:p>
              <a:pPr marL="0" lvl="1" indent="-284163">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C00000"/>
                  </a:solidFill>
                  <a:latin typeface="微软雅黑" pitchFamily="34" charset="-122"/>
                  <a:ea typeface="微软雅黑" pitchFamily="34" charset="-122"/>
                  <a:sym typeface="Times New Roman" charset="0"/>
                </a:rPr>
                <a:t>更细粒度和灵活的分离与共享</a:t>
              </a:r>
              <a:endParaRPr lang="en-US" altLang="zh-CN" sz="2000" b="1" dirty="0">
                <a:solidFill>
                  <a:srgbClr val="C00000"/>
                </a:solidFill>
                <a:latin typeface="微软雅黑" pitchFamily="34" charset="-122"/>
                <a:ea typeface="微软雅黑" pitchFamily="34" charset="-122"/>
                <a:sym typeface="Times New Roman" charset="0"/>
              </a:endParaRPr>
            </a:p>
            <a:p>
              <a:pPr marL="0" lvl="1" indent="-284163">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C00000"/>
                  </a:solidFill>
                  <a:latin typeface="微软雅黑" pitchFamily="34" charset="-122"/>
                  <a:ea typeface="微软雅黑" pitchFamily="34" charset="-122"/>
                  <a:sym typeface="Times New Roman" charset="0"/>
                </a:rPr>
                <a:t>加入更多“程序员的意志”</a:t>
              </a:r>
            </a:p>
          </p:txBody>
        </p:sp>
        <p:sp>
          <p:nvSpPr>
            <p:cNvPr id="50" name="矩形 8"/>
            <p:cNvSpPr>
              <a:spLocks noChangeArrowheads="1"/>
            </p:cNvSpPr>
            <p:nvPr/>
          </p:nvSpPr>
          <p:spPr bwMode="auto">
            <a:xfrm>
              <a:off x="416438" y="3829582"/>
              <a:ext cx="32412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itchFamily="34" charset="0"/>
              </a:endParaRPr>
            </a:p>
          </p:txBody>
        </p:sp>
      </p:grpSp>
      <p:sp>
        <p:nvSpPr>
          <p:cNvPr id="65" name="TextBox 64"/>
          <p:cNvSpPr txBox="1"/>
          <p:nvPr/>
        </p:nvSpPr>
        <p:spPr>
          <a:xfrm>
            <a:off x="1344758" y="3343880"/>
            <a:ext cx="3347864" cy="369332"/>
          </a:xfrm>
          <a:prstGeom prst="rect">
            <a:avLst/>
          </a:prstGeom>
          <a:noFill/>
        </p:spPr>
        <p:txBody>
          <a:bodyPr wrap="square" rtlCol="0">
            <a:spAutoFit/>
          </a:bodyPr>
          <a:lstStyle/>
          <a:p>
            <a:pPr marL="0" lvl="1" indent="-284163">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11576A"/>
                </a:solidFill>
                <a:latin typeface="微软雅黑" pitchFamily="34" charset="-122"/>
                <a:ea typeface="微软雅黑" pitchFamily="34" charset="-122"/>
                <a:sym typeface="Times New Roman" charset="0"/>
              </a:rPr>
              <a:t>堆数据</a:t>
            </a:r>
            <a:r>
              <a:rPr lang="en-US" altLang="zh-CN" sz="2000" b="1" dirty="0">
                <a:solidFill>
                  <a:srgbClr val="11576A"/>
                </a:solidFill>
                <a:latin typeface="微软雅黑" pitchFamily="34" charset="-122"/>
                <a:ea typeface="微软雅黑" pitchFamily="34" charset="-122"/>
                <a:sym typeface="Times New Roman" charset="0"/>
              </a:rPr>
              <a:t>(heap)</a:t>
            </a:r>
          </a:p>
        </p:txBody>
      </p:sp>
      <p:pic>
        <p:nvPicPr>
          <p:cNvPr id="66" name="图片 65" descr="小点1.png"/>
          <p:cNvPicPr>
            <a:picLocks noChangeAspect="1"/>
          </p:cNvPicPr>
          <p:nvPr/>
        </p:nvPicPr>
        <p:blipFill>
          <a:blip r:embed="rId2" cstate="print"/>
          <a:stretch>
            <a:fillRect/>
          </a:stretch>
        </p:blipFill>
        <p:spPr>
          <a:xfrm>
            <a:off x="1193692" y="3448738"/>
            <a:ext cx="151066" cy="148997"/>
          </a:xfrm>
          <a:prstGeom prst="rect">
            <a:avLst/>
          </a:prstGeom>
        </p:spPr>
      </p:pic>
      <p:sp>
        <p:nvSpPr>
          <p:cNvPr id="67" name="TextBox 66"/>
          <p:cNvSpPr txBox="1"/>
          <p:nvPr/>
        </p:nvSpPr>
        <p:spPr>
          <a:xfrm>
            <a:off x="1344758" y="3693660"/>
            <a:ext cx="3168352" cy="369332"/>
          </a:xfrm>
          <a:prstGeom prst="rect">
            <a:avLst/>
          </a:prstGeom>
          <a:noFill/>
        </p:spPr>
        <p:txBody>
          <a:bodyPr wrap="square" rtlCol="0">
            <a:spAutoFit/>
          </a:bodyPr>
          <a:lstStyle/>
          <a:p>
            <a:pPr marL="0" lvl="1">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11576A"/>
                </a:solidFill>
                <a:latin typeface="微软雅黑" pitchFamily="34" charset="-122"/>
                <a:ea typeface="微软雅黑" pitchFamily="34" charset="-122"/>
                <a:sym typeface="Times New Roman" charset="0"/>
              </a:rPr>
              <a:t>初始化数据段</a:t>
            </a:r>
            <a:endParaRPr lang="en-US" altLang="zh-CN" sz="2000" b="1" dirty="0">
              <a:solidFill>
                <a:srgbClr val="11576A"/>
              </a:solidFill>
              <a:latin typeface="微软雅黑" pitchFamily="34" charset="-122"/>
              <a:ea typeface="微软雅黑" pitchFamily="34" charset="-122"/>
              <a:sym typeface="Times New Roman" charset="0"/>
            </a:endParaRPr>
          </a:p>
        </p:txBody>
      </p:sp>
      <p:pic>
        <p:nvPicPr>
          <p:cNvPr id="68" name="图片 67" descr="小点1.png"/>
          <p:cNvPicPr>
            <a:picLocks noChangeAspect="1"/>
          </p:cNvPicPr>
          <p:nvPr/>
        </p:nvPicPr>
        <p:blipFill>
          <a:blip r:embed="rId2" cstate="print"/>
          <a:stretch>
            <a:fillRect/>
          </a:stretch>
        </p:blipFill>
        <p:spPr>
          <a:xfrm>
            <a:off x="1193692" y="3798518"/>
            <a:ext cx="151066" cy="148997"/>
          </a:xfrm>
          <a:prstGeom prst="rect">
            <a:avLst/>
          </a:prstGeom>
        </p:spPr>
      </p:pic>
      <p:sp>
        <p:nvSpPr>
          <p:cNvPr id="70" name="TextBox 69"/>
          <p:cNvSpPr txBox="1"/>
          <p:nvPr/>
        </p:nvSpPr>
        <p:spPr>
          <a:xfrm>
            <a:off x="1344758" y="4062992"/>
            <a:ext cx="3168352" cy="369332"/>
          </a:xfrm>
          <a:prstGeom prst="rect">
            <a:avLst/>
          </a:prstGeom>
          <a:noFill/>
        </p:spPr>
        <p:txBody>
          <a:bodyPr wrap="square" rtlCol="0">
            <a:spAutoFit/>
          </a:bodyPr>
          <a:lstStyle/>
          <a:p>
            <a:pPr marL="0" lvl="1">
              <a:lnSpc>
                <a:spcPct val="90000"/>
              </a:lnSpc>
              <a:spcBef>
                <a:spcPts val="500"/>
              </a:spcBef>
              <a:buClr>
                <a:srgbClr val="000099"/>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000" b="1" dirty="0">
                <a:solidFill>
                  <a:srgbClr val="11576A"/>
                </a:solidFill>
                <a:latin typeface="微软雅黑" pitchFamily="34" charset="-122"/>
                <a:ea typeface="微软雅黑" pitchFamily="34" charset="-122"/>
                <a:sym typeface="Times New Roman" charset="0"/>
              </a:rPr>
              <a:t>符号表等</a:t>
            </a:r>
          </a:p>
        </p:txBody>
      </p:sp>
      <p:pic>
        <p:nvPicPr>
          <p:cNvPr id="71" name="图片 70" descr="小点1.png"/>
          <p:cNvPicPr>
            <a:picLocks noChangeAspect="1"/>
          </p:cNvPicPr>
          <p:nvPr/>
        </p:nvPicPr>
        <p:blipFill>
          <a:blip r:embed="rId2" cstate="print"/>
          <a:stretch>
            <a:fillRect/>
          </a:stretch>
        </p:blipFill>
        <p:spPr>
          <a:xfrm>
            <a:off x="1193692" y="4168818"/>
            <a:ext cx="151066" cy="148997"/>
          </a:xfrm>
          <a:prstGeom prst="rect">
            <a:avLst/>
          </a:prstGeom>
        </p:spPr>
      </p:pic>
      <p:grpSp>
        <p:nvGrpSpPr>
          <p:cNvPr id="74" name="组合 73"/>
          <p:cNvGrpSpPr/>
          <p:nvPr/>
        </p:nvGrpSpPr>
        <p:grpSpPr>
          <a:xfrm>
            <a:off x="6322963" y="1601365"/>
            <a:ext cx="2711858" cy="3481227"/>
            <a:chOff x="971600" y="1059582"/>
            <a:chExt cx="3384376" cy="4344543"/>
          </a:xfrm>
        </p:grpSpPr>
        <p:sp>
          <p:nvSpPr>
            <p:cNvPr id="52" name="椭圆 51"/>
            <p:cNvSpPr/>
            <p:nvPr/>
          </p:nvSpPr>
          <p:spPr>
            <a:xfrm>
              <a:off x="971600" y="1059582"/>
              <a:ext cx="3384376" cy="3960440"/>
            </a:xfrm>
            <a:prstGeom prst="ellipse">
              <a:avLst/>
            </a:prstGeom>
            <a:gradFill>
              <a:gsLst>
                <a:gs pos="100000">
                  <a:srgbClr val="005072"/>
                </a:gs>
                <a:gs pos="0">
                  <a:srgbClr val="0093DD"/>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1619672" y="1707654"/>
              <a:ext cx="936104" cy="1080120"/>
            </a:xfrm>
            <a:prstGeom prst="rect">
              <a:avLst/>
            </a:prstGeom>
            <a:gradFill>
              <a:gsLst>
                <a:gs pos="100000">
                  <a:srgbClr val="FDD000"/>
                </a:gs>
                <a:gs pos="0">
                  <a:srgbClr val="FFF9B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2771800" y="1707654"/>
              <a:ext cx="936104" cy="504056"/>
            </a:xfrm>
            <a:prstGeom prst="rect">
              <a:avLst/>
            </a:prstGeom>
            <a:gradFill>
              <a:gsLst>
                <a:gs pos="100000">
                  <a:schemeClr val="tx1">
                    <a:lumMod val="50000"/>
                    <a:lumOff val="50000"/>
                  </a:schemeClr>
                </a:gs>
                <a:gs pos="0">
                  <a:schemeClr val="bg1">
                    <a:lumMod val="9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1619671" y="3291830"/>
              <a:ext cx="728089" cy="1080120"/>
            </a:xfrm>
            <a:prstGeom prst="rect">
              <a:avLst/>
            </a:prstGeom>
            <a:gradFill>
              <a:gsLst>
                <a:gs pos="100000">
                  <a:schemeClr val="tx1">
                    <a:lumMod val="50000"/>
                    <a:lumOff val="50000"/>
                  </a:schemeClr>
                </a:gs>
                <a:gs pos="0">
                  <a:schemeClr val="bg1">
                    <a:lumMod val="9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3131840" y="2499742"/>
              <a:ext cx="936104" cy="792088"/>
            </a:xfrm>
            <a:prstGeom prst="rect">
              <a:avLst/>
            </a:prstGeom>
            <a:gradFill>
              <a:gsLst>
                <a:gs pos="100000">
                  <a:srgbClr val="FDD000"/>
                </a:gs>
                <a:gs pos="0">
                  <a:srgbClr val="FFF9B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2699792" y="3579862"/>
              <a:ext cx="936104" cy="864096"/>
            </a:xfrm>
            <a:prstGeom prst="rect">
              <a:avLst/>
            </a:prstGeom>
            <a:gradFill>
              <a:gsLst>
                <a:gs pos="100000">
                  <a:schemeClr val="tx1">
                    <a:lumMod val="50000"/>
                    <a:lumOff val="50000"/>
                  </a:schemeClr>
                </a:gs>
                <a:gs pos="0">
                  <a:schemeClr val="bg1">
                    <a:lumMod val="9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TextBox 57"/>
            <p:cNvSpPr txBox="1"/>
            <p:nvPr/>
          </p:nvSpPr>
          <p:spPr>
            <a:xfrm>
              <a:off x="1629592" y="1953898"/>
              <a:ext cx="902641" cy="652974"/>
            </a:xfrm>
            <a:prstGeom prst="rect">
              <a:avLst/>
            </a:prstGeom>
            <a:noFill/>
          </p:spPr>
          <p:txBody>
            <a:bodyPr wrap="none" rtlCol="0">
              <a:spAutoFit/>
            </a:bodyPr>
            <a:lstStyle/>
            <a:p>
              <a:r>
                <a:rPr lang="zh-CN" altLang="en-US" sz="1400" b="1" dirty="0">
                  <a:solidFill>
                    <a:srgbClr val="005072"/>
                  </a:solidFill>
                  <a:latin typeface="微软雅黑" pitchFamily="34" charset="-122"/>
                  <a:ea typeface="微软雅黑" pitchFamily="34" charset="-122"/>
                </a:rPr>
                <a:t>代码子</a:t>
              </a:r>
              <a:endParaRPr lang="en-US" altLang="zh-CN" sz="1400" b="1" dirty="0">
                <a:solidFill>
                  <a:srgbClr val="005072"/>
                </a:solidFill>
                <a:latin typeface="微软雅黑" pitchFamily="34" charset="-122"/>
                <a:ea typeface="微软雅黑" pitchFamily="34" charset="-122"/>
              </a:endParaRPr>
            </a:p>
            <a:p>
              <a:pPr algn="ctr"/>
              <a:r>
                <a:rPr lang="zh-CN" altLang="en-US" sz="1400" b="1" dirty="0">
                  <a:solidFill>
                    <a:srgbClr val="005072"/>
                  </a:solidFill>
                  <a:latin typeface="微软雅黑" pitchFamily="34" charset="-122"/>
                  <a:ea typeface="微软雅黑" pitchFamily="34" charset="-122"/>
                </a:rPr>
                <a:t>模块</a:t>
              </a:r>
            </a:p>
          </p:txBody>
        </p:sp>
        <p:sp>
          <p:nvSpPr>
            <p:cNvPr id="61" name="TextBox 60"/>
            <p:cNvSpPr txBox="1"/>
            <p:nvPr/>
          </p:nvSpPr>
          <p:spPr>
            <a:xfrm>
              <a:off x="2889562" y="1764956"/>
              <a:ext cx="678582" cy="384103"/>
            </a:xfrm>
            <a:prstGeom prst="rect">
              <a:avLst/>
            </a:prstGeom>
            <a:noFill/>
          </p:spPr>
          <p:txBody>
            <a:bodyPr wrap="none" rtlCol="0">
              <a:spAutoFit/>
            </a:bodyPr>
            <a:lstStyle/>
            <a:p>
              <a:r>
                <a:rPr lang="zh-CN" altLang="en-US" sz="1400" b="1" dirty="0">
                  <a:solidFill>
                    <a:srgbClr val="005072"/>
                  </a:solidFill>
                  <a:latin typeface="微软雅黑" pitchFamily="34" charset="-122"/>
                  <a:ea typeface="微软雅黑" pitchFamily="34" charset="-122"/>
                </a:rPr>
                <a:t>堆栈</a:t>
              </a:r>
            </a:p>
          </p:txBody>
        </p:sp>
        <p:sp>
          <p:nvSpPr>
            <p:cNvPr id="63" name="TextBox 62"/>
            <p:cNvSpPr txBox="1"/>
            <p:nvPr/>
          </p:nvSpPr>
          <p:spPr>
            <a:xfrm>
              <a:off x="3134449" y="2724845"/>
              <a:ext cx="902642" cy="384103"/>
            </a:xfrm>
            <a:prstGeom prst="rect">
              <a:avLst/>
            </a:prstGeom>
            <a:noFill/>
          </p:spPr>
          <p:txBody>
            <a:bodyPr wrap="none" rtlCol="0">
              <a:spAutoFit/>
            </a:bodyPr>
            <a:lstStyle/>
            <a:p>
              <a:pPr algn="ctr"/>
              <a:r>
                <a:rPr lang="zh-CN" altLang="en-US" sz="1400" b="1" dirty="0">
                  <a:solidFill>
                    <a:srgbClr val="005072"/>
                  </a:solidFill>
                  <a:latin typeface="微软雅黑" pitchFamily="34" charset="-122"/>
                  <a:ea typeface="微软雅黑" pitchFamily="34" charset="-122"/>
                </a:rPr>
                <a:t>符号表</a:t>
              </a:r>
            </a:p>
          </p:txBody>
        </p:sp>
        <p:sp>
          <p:nvSpPr>
            <p:cNvPr id="64" name="TextBox 63"/>
            <p:cNvSpPr txBox="1"/>
            <p:nvPr/>
          </p:nvSpPr>
          <p:spPr>
            <a:xfrm>
              <a:off x="2688529" y="3828269"/>
              <a:ext cx="902641" cy="384103"/>
            </a:xfrm>
            <a:prstGeom prst="rect">
              <a:avLst/>
            </a:prstGeom>
            <a:noFill/>
          </p:spPr>
          <p:txBody>
            <a:bodyPr wrap="none" rtlCol="0">
              <a:spAutoFit/>
            </a:bodyPr>
            <a:lstStyle/>
            <a:p>
              <a:pPr algn="ctr"/>
              <a:r>
                <a:rPr lang="zh-CN" altLang="en-US" sz="1400" b="1" dirty="0">
                  <a:solidFill>
                    <a:srgbClr val="005072"/>
                  </a:solidFill>
                  <a:latin typeface="微软雅黑" pitchFamily="34" charset="-122"/>
                  <a:ea typeface="微软雅黑" pitchFamily="34" charset="-122"/>
                </a:rPr>
                <a:t>主代码</a:t>
              </a:r>
            </a:p>
          </p:txBody>
        </p:sp>
        <p:sp>
          <p:nvSpPr>
            <p:cNvPr id="73" name="TextBox 72"/>
            <p:cNvSpPr txBox="1"/>
            <p:nvPr/>
          </p:nvSpPr>
          <p:spPr>
            <a:xfrm>
              <a:off x="1905986" y="5020022"/>
              <a:ext cx="1728193" cy="384103"/>
            </a:xfrm>
            <a:prstGeom prst="rect">
              <a:avLst/>
            </a:prstGeom>
            <a:noFill/>
          </p:spPr>
          <p:txBody>
            <a:bodyPr wrap="square" rtlCol="0">
              <a:spAutoFit/>
            </a:bodyPr>
            <a:lstStyle/>
            <a:p>
              <a:r>
                <a:rPr lang="zh-CN" altLang="en-US" sz="1400" b="1" dirty="0">
                  <a:solidFill>
                    <a:srgbClr val="005072"/>
                  </a:solidFill>
                  <a:latin typeface="微软雅黑" pitchFamily="34" charset="-122"/>
                  <a:ea typeface="微软雅黑" pitchFamily="34" charset="-122"/>
                </a:rPr>
                <a:t>逻辑地址空间</a:t>
              </a:r>
            </a:p>
          </p:txBody>
        </p:sp>
        <p:sp>
          <p:nvSpPr>
            <p:cNvPr id="34" name="TextBox 33"/>
            <p:cNvSpPr txBox="1"/>
            <p:nvPr/>
          </p:nvSpPr>
          <p:spPr>
            <a:xfrm>
              <a:off x="1529349" y="3606661"/>
              <a:ext cx="902641" cy="384103"/>
            </a:xfrm>
            <a:prstGeom prst="rect">
              <a:avLst/>
            </a:prstGeom>
            <a:noFill/>
          </p:spPr>
          <p:txBody>
            <a:bodyPr wrap="none" rtlCol="0">
              <a:spAutoFit/>
            </a:bodyPr>
            <a:lstStyle/>
            <a:p>
              <a:r>
                <a:rPr lang="zh-CN" altLang="en-US" sz="1400" b="1" dirty="0">
                  <a:solidFill>
                    <a:srgbClr val="005072"/>
                  </a:solidFill>
                  <a:latin typeface="微软雅黑" pitchFamily="34" charset="-122"/>
                  <a:ea typeface="微软雅黑" pitchFamily="34" charset="-122"/>
                </a:rPr>
                <a:t>公用库</a:t>
              </a:r>
            </a:p>
          </p:txBody>
        </p:sp>
      </p:grpSp>
      <p:sp>
        <p:nvSpPr>
          <p:cNvPr id="3" name="文本框 2">
            <a:extLst>
              <a:ext uri="{FF2B5EF4-FFF2-40B4-BE49-F238E27FC236}">
                <a16:creationId xmlns:a16="http://schemas.microsoft.com/office/drawing/2014/main" id="{2724328B-ABEA-DF4E-B928-30625C0804C9}"/>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4" name="标题 8">
            <a:extLst>
              <a:ext uri="{FF2B5EF4-FFF2-40B4-BE49-F238E27FC236}">
                <a16:creationId xmlns:a16="http://schemas.microsoft.com/office/drawing/2014/main" id="{E8BEAF23-713E-96C0-AD75-C320DF557D85}"/>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段地址空间</a:t>
            </a:r>
          </a:p>
        </p:txBody>
      </p:sp>
    </p:spTree>
    <p:extLst>
      <p:ext uri="{BB962C8B-B14F-4D97-AF65-F5344CB8AC3E}">
        <p14:creationId xmlns:p14="http://schemas.microsoft.com/office/powerpoint/2010/main" val="47588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999656" y="2132856"/>
            <a:ext cx="1569660" cy="3473717"/>
            <a:chOff x="467544" y="1233813"/>
            <a:chExt cx="1569660" cy="3473717"/>
          </a:xfrm>
        </p:grpSpPr>
        <p:sp>
          <p:nvSpPr>
            <p:cNvPr id="178" name="Rectangle 26"/>
            <p:cNvSpPr>
              <a:spLocks noChangeArrowheads="1"/>
            </p:cNvSpPr>
            <p:nvPr/>
          </p:nvSpPr>
          <p:spPr bwMode="auto">
            <a:xfrm>
              <a:off x="999586" y="1237884"/>
              <a:ext cx="870150" cy="2857760"/>
            </a:xfrm>
            <a:prstGeom prst="rect">
              <a:avLst/>
            </a:prstGeom>
            <a:solidFill>
              <a:srgbClr val="CCFFFF"/>
            </a:solidFill>
            <a:ln w="12600" cmpd="sng">
              <a:no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80" name="Rectangle 28"/>
            <p:cNvSpPr>
              <a:spLocks noChangeArrowheads="1"/>
            </p:cNvSpPr>
            <p:nvPr/>
          </p:nvSpPr>
          <p:spPr bwMode="auto">
            <a:xfrm>
              <a:off x="1020958" y="3456515"/>
              <a:ext cx="848779" cy="635057"/>
            </a:xfrm>
            <a:prstGeom prst="rect">
              <a:avLst/>
            </a:prstGeom>
            <a:solidFill>
              <a:srgbClr val="FFFFCC"/>
            </a:solidFill>
            <a:ln w="12600" cmpd="sng">
              <a:noFill/>
              <a:miter lim="800000"/>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p:txBody>
        </p:sp>
        <p:sp>
          <p:nvSpPr>
            <p:cNvPr id="181" name="Rectangle 29"/>
            <p:cNvSpPr>
              <a:spLocks noChangeArrowheads="1"/>
            </p:cNvSpPr>
            <p:nvPr/>
          </p:nvSpPr>
          <p:spPr bwMode="auto">
            <a:xfrm>
              <a:off x="1007203" y="3879887"/>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83" name="Rectangle 31"/>
            <p:cNvSpPr>
              <a:spLocks noChangeArrowheads="1"/>
            </p:cNvSpPr>
            <p:nvPr/>
          </p:nvSpPr>
          <p:spPr bwMode="auto">
            <a:xfrm>
              <a:off x="1007203" y="3676343"/>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84" name="Rectangle 32"/>
            <p:cNvSpPr>
              <a:spLocks noChangeArrowheads="1"/>
            </p:cNvSpPr>
            <p:nvPr/>
          </p:nvSpPr>
          <p:spPr bwMode="auto">
            <a:xfrm>
              <a:off x="1007203" y="3472799"/>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85" name="Rectangle 33"/>
            <p:cNvSpPr>
              <a:spLocks noChangeArrowheads="1"/>
            </p:cNvSpPr>
            <p:nvPr/>
          </p:nvSpPr>
          <p:spPr bwMode="auto">
            <a:xfrm>
              <a:off x="1007203" y="3269255"/>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86" name="Rectangle 34"/>
            <p:cNvSpPr>
              <a:spLocks noChangeArrowheads="1"/>
            </p:cNvSpPr>
            <p:nvPr/>
          </p:nvSpPr>
          <p:spPr bwMode="auto">
            <a:xfrm>
              <a:off x="1007203" y="3065710"/>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87" name="Rectangle 35"/>
            <p:cNvSpPr>
              <a:spLocks noChangeArrowheads="1"/>
            </p:cNvSpPr>
            <p:nvPr/>
          </p:nvSpPr>
          <p:spPr bwMode="auto">
            <a:xfrm>
              <a:off x="1007203" y="2862167"/>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88" name="Rectangle 36"/>
            <p:cNvSpPr>
              <a:spLocks noChangeArrowheads="1"/>
            </p:cNvSpPr>
            <p:nvPr/>
          </p:nvSpPr>
          <p:spPr bwMode="auto">
            <a:xfrm>
              <a:off x="1007203" y="2658623"/>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89" name="Rectangle 37"/>
            <p:cNvSpPr>
              <a:spLocks noChangeArrowheads="1"/>
            </p:cNvSpPr>
            <p:nvPr/>
          </p:nvSpPr>
          <p:spPr bwMode="auto">
            <a:xfrm>
              <a:off x="1012816" y="1241955"/>
              <a:ext cx="848779" cy="606562"/>
            </a:xfrm>
            <a:prstGeom prst="rect">
              <a:avLst/>
            </a:prstGeom>
            <a:solidFill>
              <a:srgbClr val="9999FF"/>
            </a:solidFill>
            <a:ln w="12600" cmpd="sng">
              <a:no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91" name="Rectangle 39"/>
            <p:cNvSpPr>
              <a:spLocks noChangeArrowheads="1"/>
            </p:cNvSpPr>
            <p:nvPr/>
          </p:nvSpPr>
          <p:spPr bwMode="auto">
            <a:xfrm>
              <a:off x="1007203" y="1640902"/>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92" name="Rectangle 40"/>
            <p:cNvSpPr>
              <a:spLocks noChangeArrowheads="1"/>
            </p:cNvSpPr>
            <p:nvPr/>
          </p:nvSpPr>
          <p:spPr bwMode="auto">
            <a:xfrm>
              <a:off x="1007203" y="1437358"/>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93" name="Rectangle 41"/>
            <p:cNvSpPr>
              <a:spLocks noChangeArrowheads="1"/>
            </p:cNvSpPr>
            <p:nvPr/>
          </p:nvSpPr>
          <p:spPr bwMode="auto">
            <a:xfrm>
              <a:off x="1007203" y="1233813"/>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94" name="Rectangle 42"/>
            <p:cNvSpPr>
              <a:spLocks noChangeArrowheads="1"/>
            </p:cNvSpPr>
            <p:nvPr/>
          </p:nvSpPr>
          <p:spPr bwMode="auto">
            <a:xfrm>
              <a:off x="1012816" y="1836304"/>
              <a:ext cx="848779" cy="806034"/>
            </a:xfrm>
            <a:prstGeom prst="rect">
              <a:avLst/>
            </a:prstGeom>
            <a:solidFill>
              <a:srgbClr val="99FFCC"/>
            </a:solidFill>
            <a:ln w="12600" cmpd="sng">
              <a:noFill/>
              <a:miter lim="800000"/>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p:txBody>
        </p:sp>
        <p:sp>
          <p:nvSpPr>
            <p:cNvPr id="195" name="Rectangle 43"/>
            <p:cNvSpPr>
              <a:spLocks noChangeArrowheads="1"/>
            </p:cNvSpPr>
            <p:nvPr/>
          </p:nvSpPr>
          <p:spPr bwMode="auto">
            <a:xfrm>
              <a:off x="1007203" y="2455078"/>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96" name="Rectangle 44"/>
            <p:cNvSpPr>
              <a:spLocks noChangeArrowheads="1"/>
            </p:cNvSpPr>
            <p:nvPr/>
          </p:nvSpPr>
          <p:spPr bwMode="auto">
            <a:xfrm>
              <a:off x="1007203" y="1844445"/>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97" name="Rectangle 45"/>
            <p:cNvSpPr>
              <a:spLocks noChangeArrowheads="1"/>
            </p:cNvSpPr>
            <p:nvPr/>
          </p:nvSpPr>
          <p:spPr bwMode="auto">
            <a:xfrm>
              <a:off x="1007203" y="2251534"/>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98" name="Rectangle 46"/>
            <p:cNvSpPr>
              <a:spLocks noChangeArrowheads="1"/>
            </p:cNvSpPr>
            <p:nvPr/>
          </p:nvSpPr>
          <p:spPr bwMode="auto">
            <a:xfrm>
              <a:off x="1007203" y="2047990"/>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99" name="Rectangle 47"/>
            <p:cNvSpPr>
              <a:spLocks noChangeArrowheads="1"/>
            </p:cNvSpPr>
            <p:nvPr/>
          </p:nvSpPr>
          <p:spPr bwMode="auto">
            <a:xfrm>
              <a:off x="955472" y="2008651"/>
              <a:ext cx="930197"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堆栈</a:t>
              </a:r>
              <a:endParaRPr lang="zh-CN" altLang="en-US" sz="1400" b="1" dirty="0">
                <a:solidFill>
                  <a:srgbClr val="11576A"/>
                </a:solidFill>
                <a:latin typeface="微软雅黑" pitchFamily="34" charset="-122"/>
                <a:ea typeface="微软雅黑" pitchFamily="34" charset="-122"/>
              </a:endParaRPr>
            </a:p>
          </p:txBody>
        </p:sp>
        <p:sp>
          <p:nvSpPr>
            <p:cNvPr id="231" name="矩形 4"/>
            <p:cNvSpPr>
              <a:spLocks noChangeArrowheads="1"/>
            </p:cNvSpPr>
            <p:nvPr/>
          </p:nvSpPr>
          <p:spPr bwMode="auto">
            <a:xfrm>
              <a:off x="467544" y="4338198"/>
              <a:ext cx="156966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b="1" dirty="0">
                  <a:solidFill>
                    <a:srgbClr val="11576A"/>
                  </a:solidFill>
                  <a:latin typeface="微软雅黑" pitchFamily="34" charset="-122"/>
                  <a:ea typeface="微软雅黑" pitchFamily="34" charset="-122"/>
                  <a:sym typeface="Times New Roman" charset="0"/>
                </a:rPr>
                <a:t>逻辑地址空间</a:t>
              </a:r>
            </a:p>
          </p:txBody>
        </p:sp>
        <p:sp>
          <p:nvSpPr>
            <p:cNvPr id="179" name="Rectangle 27"/>
            <p:cNvSpPr>
              <a:spLocks noChangeArrowheads="1"/>
            </p:cNvSpPr>
            <p:nvPr/>
          </p:nvSpPr>
          <p:spPr bwMode="auto">
            <a:xfrm>
              <a:off x="949984" y="2831498"/>
              <a:ext cx="930197"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数据段</a:t>
              </a:r>
            </a:p>
          </p:txBody>
        </p:sp>
        <p:sp>
          <p:nvSpPr>
            <p:cNvPr id="182" name="Rectangle 30"/>
            <p:cNvSpPr>
              <a:spLocks noChangeArrowheads="1"/>
            </p:cNvSpPr>
            <p:nvPr/>
          </p:nvSpPr>
          <p:spPr bwMode="auto">
            <a:xfrm>
              <a:off x="935470" y="3644192"/>
              <a:ext cx="930197"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代码段</a:t>
              </a:r>
            </a:p>
          </p:txBody>
        </p:sp>
        <p:sp>
          <p:nvSpPr>
            <p:cNvPr id="190" name="Rectangle 38"/>
            <p:cNvSpPr>
              <a:spLocks noChangeArrowheads="1"/>
            </p:cNvSpPr>
            <p:nvPr/>
          </p:nvSpPr>
          <p:spPr bwMode="auto">
            <a:xfrm>
              <a:off x="1228623" y="1410100"/>
              <a:ext cx="362021"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堆</a:t>
              </a:r>
            </a:p>
          </p:txBody>
        </p:sp>
      </p:grpSp>
      <p:grpSp>
        <p:nvGrpSpPr>
          <p:cNvPr id="3" name="组合 2"/>
          <p:cNvGrpSpPr/>
          <p:nvPr/>
        </p:nvGrpSpPr>
        <p:grpSpPr>
          <a:xfrm>
            <a:off x="4445085" y="1924224"/>
            <a:ext cx="4381468" cy="3682349"/>
            <a:chOff x="1912974" y="1025181"/>
            <a:chExt cx="4381468" cy="3682349"/>
          </a:xfrm>
        </p:grpSpPr>
        <p:sp>
          <p:nvSpPr>
            <p:cNvPr id="168" name="Rectangle 2"/>
            <p:cNvSpPr>
              <a:spLocks noChangeArrowheads="1"/>
            </p:cNvSpPr>
            <p:nvPr/>
          </p:nvSpPr>
          <p:spPr bwMode="auto">
            <a:xfrm>
              <a:off x="5372206" y="3692627"/>
              <a:ext cx="788733" cy="533285"/>
            </a:xfrm>
            <a:prstGeom prst="rect">
              <a:avLst/>
            </a:prstGeom>
            <a:solidFill>
              <a:srgbClr val="FFFF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p:txBody>
        </p:sp>
        <p:sp>
          <p:nvSpPr>
            <p:cNvPr id="169" name="Rectangle 3"/>
            <p:cNvSpPr>
              <a:spLocks noChangeArrowheads="1"/>
            </p:cNvSpPr>
            <p:nvPr/>
          </p:nvSpPr>
          <p:spPr bwMode="auto">
            <a:xfrm>
              <a:off x="5370171" y="3061640"/>
              <a:ext cx="792804" cy="256466"/>
            </a:xfrm>
            <a:prstGeom prst="rect">
              <a:avLst/>
            </a:prstGeom>
            <a:solidFill>
              <a:srgbClr val="FFFFCC"/>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70" name="Rectangle 16"/>
            <p:cNvSpPr>
              <a:spLocks noChangeArrowheads="1"/>
            </p:cNvSpPr>
            <p:nvPr/>
          </p:nvSpPr>
          <p:spPr bwMode="auto">
            <a:xfrm>
              <a:off x="5280860" y="3063467"/>
              <a:ext cx="931214" cy="29410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函数库</a:t>
              </a:r>
            </a:p>
          </p:txBody>
        </p:sp>
        <p:sp>
          <p:nvSpPr>
            <p:cNvPr id="171" name="Rectangle 17"/>
            <p:cNvSpPr>
              <a:spLocks noChangeArrowheads="1"/>
            </p:cNvSpPr>
            <p:nvPr/>
          </p:nvSpPr>
          <p:spPr bwMode="auto">
            <a:xfrm>
              <a:off x="5370171" y="3696697"/>
              <a:ext cx="792804" cy="25646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72" name="Line 20"/>
            <p:cNvSpPr>
              <a:spLocks noChangeShapeType="1"/>
            </p:cNvSpPr>
            <p:nvPr/>
          </p:nvSpPr>
          <p:spPr bwMode="auto">
            <a:xfrm>
              <a:off x="1912975" y="1555414"/>
              <a:ext cx="3409363" cy="1018"/>
            </a:xfrm>
            <a:prstGeom prst="line">
              <a:avLst/>
            </a:prstGeom>
            <a:noFill/>
            <a:ln w="1908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73" name="Line 21"/>
            <p:cNvSpPr>
              <a:spLocks noChangeShapeType="1"/>
            </p:cNvSpPr>
            <p:nvPr/>
          </p:nvSpPr>
          <p:spPr bwMode="auto">
            <a:xfrm>
              <a:off x="1912974" y="2206755"/>
              <a:ext cx="2294960" cy="1018"/>
            </a:xfrm>
            <a:prstGeom prst="line">
              <a:avLst/>
            </a:prstGeom>
            <a:noFill/>
            <a:ln w="1908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74" name="Line 22"/>
            <p:cNvSpPr>
              <a:spLocks noChangeShapeType="1"/>
            </p:cNvSpPr>
            <p:nvPr/>
          </p:nvSpPr>
          <p:spPr bwMode="auto">
            <a:xfrm>
              <a:off x="1912974" y="3000577"/>
              <a:ext cx="1301665" cy="1018"/>
            </a:xfrm>
            <a:prstGeom prst="line">
              <a:avLst/>
            </a:prstGeom>
            <a:noFill/>
            <a:ln w="1908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75" name="Line 23"/>
            <p:cNvSpPr>
              <a:spLocks noChangeShapeType="1"/>
            </p:cNvSpPr>
            <p:nvPr/>
          </p:nvSpPr>
          <p:spPr bwMode="auto">
            <a:xfrm>
              <a:off x="1912974" y="3745548"/>
              <a:ext cx="301245" cy="1018"/>
            </a:xfrm>
            <a:prstGeom prst="line">
              <a:avLst/>
            </a:prstGeom>
            <a:noFill/>
            <a:ln w="1908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76" name="Line 24"/>
            <p:cNvSpPr>
              <a:spLocks noChangeShapeType="1"/>
            </p:cNvSpPr>
            <p:nvPr/>
          </p:nvSpPr>
          <p:spPr bwMode="auto">
            <a:xfrm>
              <a:off x="4552941" y="3973614"/>
              <a:ext cx="659483" cy="1018"/>
            </a:xfrm>
            <a:prstGeom prst="line">
              <a:avLst/>
            </a:prstGeom>
            <a:noFill/>
            <a:ln w="2556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77" name="Line 25"/>
            <p:cNvSpPr>
              <a:spLocks noChangeShapeType="1"/>
            </p:cNvSpPr>
            <p:nvPr/>
          </p:nvSpPr>
          <p:spPr bwMode="auto">
            <a:xfrm>
              <a:off x="4569225" y="3159438"/>
              <a:ext cx="659483" cy="1018"/>
            </a:xfrm>
            <a:prstGeom prst="line">
              <a:avLst/>
            </a:prstGeom>
            <a:noFill/>
            <a:ln w="2556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01" name="Rectangle 49"/>
            <p:cNvSpPr>
              <a:spLocks noChangeArrowheads="1"/>
            </p:cNvSpPr>
            <p:nvPr/>
          </p:nvSpPr>
          <p:spPr bwMode="auto">
            <a:xfrm>
              <a:off x="2247894" y="3456516"/>
              <a:ext cx="848866" cy="635057"/>
            </a:xfrm>
            <a:prstGeom prst="rect">
              <a:avLst/>
            </a:prstGeom>
            <a:solidFill>
              <a:srgbClr val="FFFFCC"/>
            </a:solidFill>
            <a:ln w="12600" cmpd="sng">
              <a:noFill/>
              <a:miter lim="800000"/>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p:txBody>
        </p:sp>
        <p:sp>
          <p:nvSpPr>
            <p:cNvPr id="202" name="Rectangle 50"/>
            <p:cNvSpPr>
              <a:spLocks noChangeArrowheads="1"/>
            </p:cNvSpPr>
            <p:nvPr/>
          </p:nvSpPr>
          <p:spPr bwMode="auto">
            <a:xfrm>
              <a:off x="2268125" y="3879888"/>
              <a:ext cx="848866"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04" name="Rectangle 52"/>
            <p:cNvSpPr>
              <a:spLocks noChangeArrowheads="1"/>
            </p:cNvSpPr>
            <p:nvPr/>
          </p:nvSpPr>
          <p:spPr bwMode="auto">
            <a:xfrm>
              <a:off x="2268125" y="3676344"/>
              <a:ext cx="848866"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05" name="Rectangle 53"/>
            <p:cNvSpPr>
              <a:spLocks noChangeArrowheads="1"/>
            </p:cNvSpPr>
            <p:nvPr/>
          </p:nvSpPr>
          <p:spPr bwMode="auto">
            <a:xfrm>
              <a:off x="2268125" y="3472799"/>
              <a:ext cx="848866"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03" name="Rectangle 51"/>
            <p:cNvSpPr>
              <a:spLocks noChangeArrowheads="1"/>
            </p:cNvSpPr>
            <p:nvPr/>
          </p:nvSpPr>
          <p:spPr bwMode="auto">
            <a:xfrm>
              <a:off x="2204807" y="3640444"/>
              <a:ext cx="930195"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代码</a:t>
              </a:r>
            </a:p>
          </p:txBody>
        </p:sp>
        <p:sp>
          <p:nvSpPr>
            <p:cNvPr id="206" name="Line 54"/>
            <p:cNvSpPr>
              <a:spLocks noChangeShapeType="1"/>
            </p:cNvSpPr>
            <p:nvPr/>
          </p:nvSpPr>
          <p:spPr bwMode="auto">
            <a:xfrm>
              <a:off x="3190214" y="3745548"/>
              <a:ext cx="1171396" cy="1018"/>
            </a:xfrm>
            <a:prstGeom prst="line">
              <a:avLst/>
            </a:prstGeom>
            <a:noFill/>
            <a:ln w="25560"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08" name="Rectangle 56"/>
            <p:cNvSpPr>
              <a:spLocks noChangeArrowheads="1"/>
            </p:cNvSpPr>
            <p:nvPr/>
          </p:nvSpPr>
          <p:spPr bwMode="auto">
            <a:xfrm>
              <a:off x="3314435" y="2662693"/>
              <a:ext cx="838602" cy="814177"/>
            </a:xfrm>
            <a:prstGeom prst="rect">
              <a:avLst/>
            </a:prstGeom>
            <a:solidFill>
              <a:srgbClr val="CCFFFF"/>
            </a:solidFill>
            <a:ln w="12600" cmpd="sng">
              <a:no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210" name="Rectangle 58"/>
            <p:cNvSpPr>
              <a:spLocks noChangeArrowheads="1"/>
            </p:cNvSpPr>
            <p:nvPr/>
          </p:nvSpPr>
          <p:spPr bwMode="auto">
            <a:xfrm>
              <a:off x="3317428" y="3269255"/>
              <a:ext cx="849797"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11" name="Rectangle 59"/>
            <p:cNvSpPr>
              <a:spLocks noChangeArrowheads="1"/>
            </p:cNvSpPr>
            <p:nvPr/>
          </p:nvSpPr>
          <p:spPr bwMode="auto">
            <a:xfrm>
              <a:off x="3317428" y="3065711"/>
              <a:ext cx="849797"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12" name="Rectangle 60"/>
            <p:cNvSpPr>
              <a:spLocks noChangeArrowheads="1"/>
            </p:cNvSpPr>
            <p:nvPr/>
          </p:nvSpPr>
          <p:spPr bwMode="auto">
            <a:xfrm>
              <a:off x="3317428" y="2862167"/>
              <a:ext cx="849797"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13" name="Rectangle 61"/>
            <p:cNvSpPr>
              <a:spLocks noChangeArrowheads="1"/>
            </p:cNvSpPr>
            <p:nvPr/>
          </p:nvSpPr>
          <p:spPr bwMode="auto">
            <a:xfrm>
              <a:off x="3317428" y="2658623"/>
              <a:ext cx="849797"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09" name="Rectangle 57"/>
            <p:cNvSpPr>
              <a:spLocks noChangeArrowheads="1"/>
            </p:cNvSpPr>
            <p:nvPr/>
          </p:nvSpPr>
          <p:spPr bwMode="auto">
            <a:xfrm>
              <a:off x="3259859" y="2832342"/>
              <a:ext cx="931214"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程序数据</a:t>
              </a:r>
            </a:p>
          </p:txBody>
        </p:sp>
        <p:sp>
          <p:nvSpPr>
            <p:cNvPr id="214" name="Rectangle 62"/>
            <p:cNvSpPr>
              <a:spLocks noChangeArrowheads="1"/>
            </p:cNvSpPr>
            <p:nvPr/>
          </p:nvSpPr>
          <p:spPr bwMode="auto">
            <a:xfrm>
              <a:off x="4364828" y="1836304"/>
              <a:ext cx="848779" cy="806034"/>
            </a:xfrm>
            <a:prstGeom prst="rect">
              <a:avLst/>
            </a:prstGeom>
            <a:solidFill>
              <a:srgbClr val="99FFCC"/>
            </a:solidFill>
            <a:ln w="12600" cmpd="sng">
              <a:noFill/>
              <a:miter lim="800000"/>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p:txBody>
        </p:sp>
        <p:sp>
          <p:nvSpPr>
            <p:cNvPr id="215" name="Rectangle 63"/>
            <p:cNvSpPr>
              <a:spLocks noChangeArrowheads="1"/>
            </p:cNvSpPr>
            <p:nvPr/>
          </p:nvSpPr>
          <p:spPr bwMode="auto">
            <a:xfrm>
              <a:off x="4367716" y="2455078"/>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16" name="Rectangle 64"/>
            <p:cNvSpPr>
              <a:spLocks noChangeArrowheads="1"/>
            </p:cNvSpPr>
            <p:nvPr/>
          </p:nvSpPr>
          <p:spPr bwMode="auto">
            <a:xfrm>
              <a:off x="4367716" y="1844445"/>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17" name="Rectangle 65"/>
            <p:cNvSpPr>
              <a:spLocks noChangeArrowheads="1"/>
            </p:cNvSpPr>
            <p:nvPr/>
          </p:nvSpPr>
          <p:spPr bwMode="auto">
            <a:xfrm>
              <a:off x="4367716" y="2251534"/>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18" name="Rectangle 66"/>
            <p:cNvSpPr>
              <a:spLocks noChangeArrowheads="1"/>
            </p:cNvSpPr>
            <p:nvPr/>
          </p:nvSpPr>
          <p:spPr bwMode="auto">
            <a:xfrm>
              <a:off x="4367716" y="2047990"/>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19" name="Rectangle 67"/>
            <p:cNvSpPr>
              <a:spLocks noChangeArrowheads="1"/>
            </p:cNvSpPr>
            <p:nvPr/>
          </p:nvSpPr>
          <p:spPr bwMode="auto">
            <a:xfrm>
              <a:off x="4305163" y="2011390"/>
              <a:ext cx="930197"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堆栈</a:t>
              </a:r>
            </a:p>
          </p:txBody>
        </p:sp>
        <p:sp>
          <p:nvSpPr>
            <p:cNvPr id="220" name="Rectangle 68"/>
            <p:cNvSpPr>
              <a:spLocks noChangeArrowheads="1"/>
            </p:cNvSpPr>
            <p:nvPr/>
          </p:nvSpPr>
          <p:spPr bwMode="auto">
            <a:xfrm>
              <a:off x="5445663" y="1241955"/>
              <a:ext cx="848779" cy="606562"/>
            </a:xfrm>
            <a:prstGeom prst="rect">
              <a:avLst/>
            </a:prstGeom>
            <a:solidFill>
              <a:srgbClr val="9999FF"/>
            </a:solidFill>
            <a:ln w="12600" cmpd="sng">
              <a:no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222" name="Rectangle 70"/>
            <p:cNvSpPr>
              <a:spLocks noChangeArrowheads="1"/>
            </p:cNvSpPr>
            <p:nvPr/>
          </p:nvSpPr>
          <p:spPr bwMode="auto">
            <a:xfrm>
              <a:off x="5433269" y="1640902"/>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23" name="Rectangle 71"/>
            <p:cNvSpPr>
              <a:spLocks noChangeArrowheads="1"/>
            </p:cNvSpPr>
            <p:nvPr/>
          </p:nvSpPr>
          <p:spPr bwMode="auto">
            <a:xfrm>
              <a:off x="5433269" y="1437358"/>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24" name="Rectangle 72"/>
            <p:cNvSpPr>
              <a:spLocks noChangeArrowheads="1"/>
            </p:cNvSpPr>
            <p:nvPr/>
          </p:nvSpPr>
          <p:spPr bwMode="auto">
            <a:xfrm>
              <a:off x="5433269" y="1233813"/>
              <a:ext cx="848779" cy="203544"/>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25" name="AutoShape 73"/>
            <p:cNvSpPr>
              <a:spLocks/>
            </p:cNvSpPr>
            <p:nvPr/>
          </p:nvSpPr>
          <p:spPr bwMode="auto">
            <a:xfrm>
              <a:off x="4353468" y="3159341"/>
              <a:ext cx="203544" cy="814176"/>
            </a:xfrm>
            <a:prstGeom prst="leftBrace">
              <a:avLst>
                <a:gd name="adj1" fmla="val 33315"/>
                <a:gd name="adj2" fmla="val 71000"/>
              </a:avLst>
            </a:prstGeom>
            <a:noFill/>
            <a:ln w="19080" cmpd="sng">
              <a:solidFill>
                <a:srgbClr val="007C8B"/>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26" name="Rectangle 74"/>
            <p:cNvSpPr>
              <a:spLocks noChangeArrowheads="1"/>
            </p:cNvSpPr>
            <p:nvPr/>
          </p:nvSpPr>
          <p:spPr bwMode="auto">
            <a:xfrm>
              <a:off x="5370171" y="3953163"/>
              <a:ext cx="792804" cy="25646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cxnSp>
          <p:nvCxnSpPr>
            <p:cNvPr id="229" name="直接连接符 2"/>
            <p:cNvCxnSpPr>
              <a:cxnSpLocks noChangeShapeType="1"/>
            </p:cNvCxnSpPr>
            <p:nvPr/>
          </p:nvCxnSpPr>
          <p:spPr bwMode="auto">
            <a:xfrm>
              <a:off x="2063597" y="1025181"/>
              <a:ext cx="0" cy="3375779"/>
            </a:xfrm>
            <a:prstGeom prst="line">
              <a:avLst/>
            </a:prstGeom>
            <a:noFill/>
            <a:ln w="15875" cmpd="sng">
              <a:solidFill>
                <a:srgbClr val="007C8B"/>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30" name="矩形 3"/>
            <p:cNvSpPr>
              <a:spLocks noChangeArrowheads="1"/>
            </p:cNvSpPr>
            <p:nvPr/>
          </p:nvSpPr>
          <p:spPr bwMode="auto">
            <a:xfrm>
              <a:off x="3491880" y="4338198"/>
              <a:ext cx="156966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b="1" dirty="0">
                  <a:solidFill>
                    <a:srgbClr val="11576A"/>
                  </a:solidFill>
                  <a:latin typeface="微软雅黑" pitchFamily="34" charset="-122"/>
                  <a:ea typeface="微软雅黑" pitchFamily="34" charset="-122"/>
                  <a:sym typeface="Times New Roman" charset="0"/>
                </a:rPr>
                <a:t>物理地址空间</a:t>
              </a:r>
              <a:endParaRPr lang="zh-CN" altLang="en-US" b="1" dirty="0">
                <a:solidFill>
                  <a:srgbClr val="11576A"/>
                </a:solidFill>
                <a:latin typeface="微软雅黑" pitchFamily="34" charset="-122"/>
                <a:ea typeface="微软雅黑" pitchFamily="34" charset="-122"/>
                <a:sym typeface="Comic Sans MS" charset="0"/>
              </a:endParaRPr>
            </a:p>
          </p:txBody>
        </p:sp>
        <p:sp>
          <p:nvSpPr>
            <p:cNvPr id="221" name="Rectangle 69"/>
            <p:cNvSpPr>
              <a:spLocks noChangeArrowheads="1"/>
            </p:cNvSpPr>
            <p:nvPr/>
          </p:nvSpPr>
          <p:spPr bwMode="auto">
            <a:xfrm>
              <a:off x="5481957" y="1410100"/>
              <a:ext cx="721094"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堆数据</a:t>
              </a:r>
            </a:p>
          </p:txBody>
        </p:sp>
        <p:sp>
          <p:nvSpPr>
            <p:cNvPr id="227" name="Rectangle 75"/>
            <p:cNvSpPr>
              <a:spLocks noChangeArrowheads="1"/>
            </p:cNvSpPr>
            <p:nvPr/>
          </p:nvSpPr>
          <p:spPr bwMode="auto">
            <a:xfrm>
              <a:off x="5280860" y="3691298"/>
              <a:ext cx="931214" cy="283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lnSpc>
                  <a:spcPct val="9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11576A"/>
                  </a:solidFill>
                  <a:latin typeface="微软雅黑" pitchFamily="34" charset="-122"/>
                  <a:ea typeface="微软雅黑" pitchFamily="34" charset="-122"/>
                  <a:sym typeface="Comic Sans MS" charset="0"/>
                </a:rPr>
                <a:t>用户代码</a:t>
              </a:r>
            </a:p>
          </p:txBody>
        </p:sp>
      </p:grpSp>
      <p:sp>
        <p:nvSpPr>
          <p:cNvPr id="4" name="文本框 3">
            <a:extLst>
              <a:ext uri="{FF2B5EF4-FFF2-40B4-BE49-F238E27FC236}">
                <a16:creationId xmlns:a16="http://schemas.microsoft.com/office/drawing/2014/main" id="{A1E383BC-F909-F791-BA77-671963EE2AED}"/>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C900764C-2029-B984-A85C-E4069FBC7D2C}"/>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段式地址空间的不连续二维结构</a:t>
            </a:r>
          </a:p>
        </p:txBody>
      </p:sp>
    </p:spTree>
    <p:extLst>
      <p:ext uri="{BB962C8B-B14F-4D97-AF65-F5344CB8AC3E}">
        <p14:creationId xmlns:p14="http://schemas.microsoft.com/office/powerpoint/2010/main" val="408399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1"/>
          <p:cNvSpPr>
            <a:spLocks noChangeArrowheads="1"/>
          </p:cNvSpPr>
          <p:nvPr/>
        </p:nvSpPr>
        <p:spPr bwMode="auto">
          <a:xfrm>
            <a:off x="6361856" y="-758825"/>
            <a:ext cx="7956550" cy="600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nchor="b"/>
          <a:lstStyle/>
          <a:p>
            <a:pPr eaLnBrk="1" hangingPunct="1">
              <a:buSzPct val="100000"/>
            </a:pPr>
            <a:endParaRPr lang="zh-CN" altLang="en-US"/>
          </a:p>
        </p:txBody>
      </p:sp>
      <p:grpSp>
        <p:nvGrpSpPr>
          <p:cNvPr id="2" name="组合 1"/>
          <p:cNvGrpSpPr/>
          <p:nvPr/>
        </p:nvGrpSpPr>
        <p:grpSpPr>
          <a:xfrm>
            <a:off x="3300464" y="2026221"/>
            <a:ext cx="2153399" cy="3902095"/>
            <a:chOff x="683568" y="862698"/>
            <a:chExt cx="2153399" cy="3902095"/>
          </a:xfrm>
        </p:grpSpPr>
        <p:sp>
          <p:nvSpPr>
            <p:cNvPr id="18" name="Oval 3"/>
            <p:cNvSpPr>
              <a:spLocks noChangeArrowheads="1"/>
            </p:cNvSpPr>
            <p:nvPr/>
          </p:nvSpPr>
          <p:spPr bwMode="auto">
            <a:xfrm>
              <a:off x="683568" y="862698"/>
              <a:ext cx="2153399" cy="3411258"/>
            </a:xfrm>
            <a:prstGeom prst="ellipse">
              <a:avLst/>
            </a:prstGeom>
            <a:gradFill>
              <a:gsLst>
                <a:gs pos="100000">
                  <a:srgbClr val="005072"/>
                </a:gs>
                <a:gs pos="0">
                  <a:srgbClr val="0EB1C8"/>
                </a:gs>
              </a:gsLst>
              <a:lin ang="5400000" scaled="0"/>
            </a:gradFill>
            <a:ln w="9360" cmpd="sng">
              <a:solidFill>
                <a:srgbClr val="007C8B"/>
              </a:solidFill>
              <a:round/>
              <a:headEnd/>
              <a:tailEnd/>
            </a:ln>
          </p:spPr>
          <p:txBody>
            <a:bodyPr wrap="none" anchor="ctr"/>
            <a:lstStyle/>
            <a:p>
              <a:pPr>
                <a:buSzPct val="100000"/>
              </a:pPr>
              <a:endParaRPr lang="zh-CN" altLang="en-US">
                <a:solidFill>
                  <a:srgbClr val="000099"/>
                </a:solidFill>
                <a:sym typeface="Comic Sans MS" charset="0"/>
              </a:endParaRPr>
            </a:p>
          </p:txBody>
        </p:sp>
        <p:sp>
          <p:nvSpPr>
            <p:cNvPr id="19" name="Rectangle 4"/>
            <p:cNvSpPr>
              <a:spLocks noChangeArrowheads="1"/>
            </p:cNvSpPr>
            <p:nvPr/>
          </p:nvSpPr>
          <p:spPr bwMode="auto">
            <a:xfrm>
              <a:off x="1338430" y="1560638"/>
              <a:ext cx="835200" cy="459392"/>
            </a:xfrm>
            <a:prstGeom prst="rect">
              <a:avLst/>
            </a:prstGeom>
            <a:gradFill>
              <a:gsLst>
                <a:gs pos="100000">
                  <a:srgbClr val="FDD000"/>
                </a:gs>
                <a:gs pos="0">
                  <a:srgbClr val="FFF9B1"/>
                </a:gs>
              </a:gsLst>
              <a:lin ang="5400000" scaled="0"/>
            </a:gradFill>
            <a:ln w="9360" cmpd="sng">
              <a:solidFill>
                <a:srgbClr val="007C8B"/>
              </a:solidFill>
              <a:miter lim="800000"/>
              <a:headEnd/>
              <a:tailEnd/>
            </a:ln>
          </p:spPr>
          <p:txBody>
            <a:bodyPr wrap="none" lIns="90000" tIns="46800" rIns="90000" bIns="4680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solidFill>
                    <a:srgbClr val="000099"/>
                  </a:solidFill>
                  <a:sym typeface="Times New Roman" charset="0"/>
                </a:rPr>
                <a:t>1</a:t>
              </a:r>
              <a:endParaRPr lang="zh-CN" altLang="en-US" dirty="0"/>
            </a:p>
          </p:txBody>
        </p:sp>
        <p:sp>
          <p:nvSpPr>
            <p:cNvPr id="20" name="Rectangle 5"/>
            <p:cNvSpPr>
              <a:spLocks noChangeArrowheads="1"/>
            </p:cNvSpPr>
            <p:nvPr/>
          </p:nvSpPr>
          <p:spPr bwMode="auto">
            <a:xfrm>
              <a:off x="1334373" y="2350252"/>
              <a:ext cx="836749" cy="787529"/>
            </a:xfrm>
            <a:prstGeom prst="rect">
              <a:avLst/>
            </a:prstGeom>
            <a:gradFill>
              <a:gsLst>
                <a:gs pos="100000">
                  <a:srgbClr val="FDD000"/>
                </a:gs>
                <a:gs pos="0">
                  <a:srgbClr val="FFF9B1"/>
                </a:gs>
              </a:gsLst>
              <a:lin ang="5400000" scaled="0"/>
            </a:gradFill>
            <a:ln w="9360" cmpd="sng">
              <a:solidFill>
                <a:srgbClr val="007C8B"/>
              </a:solidFill>
              <a:miter lim="800000"/>
              <a:headEnd/>
              <a:tailEnd/>
            </a:ln>
          </p:spPr>
          <p:txBody>
            <a:bodyPr wrap="none" lIns="90000" tIns="46800" rIns="90000" bIns="4680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a:solidFill>
                    <a:srgbClr val="000099"/>
                  </a:solidFill>
                  <a:sym typeface="Times New Roman" charset="0"/>
                </a:rPr>
                <a:t>3</a:t>
              </a:r>
              <a:endParaRPr lang="zh-CN" altLang="en-US"/>
            </a:p>
          </p:txBody>
        </p:sp>
        <p:sp>
          <p:nvSpPr>
            <p:cNvPr id="21" name="Rectangle 6"/>
            <p:cNvSpPr>
              <a:spLocks noChangeArrowheads="1"/>
            </p:cNvSpPr>
            <p:nvPr/>
          </p:nvSpPr>
          <p:spPr bwMode="auto">
            <a:xfrm>
              <a:off x="1334373" y="2009811"/>
              <a:ext cx="836749" cy="340442"/>
            </a:xfrm>
            <a:prstGeom prst="rect">
              <a:avLst/>
            </a:prstGeom>
            <a:gradFill>
              <a:gsLst>
                <a:gs pos="100000">
                  <a:srgbClr val="FDD000"/>
                </a:gs>
                <a:gs pos="0">
                  <a:srgbClr val="FFF9B1"/>
                </a:gs>
              </a:gsLst>
              <a:lin ang="5400000" scaled="0"/>
            </a:gradFill>
            <a:ln w="9360" cmpd="sng">
              <a:solidFill>
                <a:srgbClr val="007C8B"/>
              </a:solidFill>
              <a:miter lim="800000"/>
              <a:headEnd/>
              <a:tailEnd/>
            </a:ln>
          </p:spPr>
          <p:txBody>
            <a:bodyPr wrap="none" lIns="90000" tIns="46800" rIns="90000" bIns="4680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a:solidFill>
                    <a:srgbClr val="000099"/>
                  </a:solidFill>
                  <a:sym typeface="Times New Roman" charset="0"/>
                </a:rPr>
                <a:t>2</a:t>
              </a:r>
              <a:endParaRPr lang="zh-CN" altLang="en-US"/>
            </a:p>
          </p:txBody>
        </p:sp>
        <p:sp>
          <p:nvSpPr>
            <p:cNvPr id="22" name="Rectangle 7"/>
            <p:cNvSpPr>
              <a:spLocks noChangeArrowheads="1"/>
            </p:cNvSpPr>
            <p:nvPr/>
          </p:nvSpPr>
          <p:spPr bwMode="auto">
            <a:xfrm>
              <a:off x="1334373" y="3125477"/>
              <a:ext cx="836749" cy="459392"/>
            </a:xfrm>
            <a:prstGeom prst="rect">
              <a:avLst/>
            </a:prstGeom>
            <a:gradFill>
              <a:gsLst>
                <a:gs pos="100000">
                  <a:srgbClr val="FDD000"/>
                </a:gs>
                <a:gs pos="0">
                  <a:srgbClr val="FFF9B1"/>
                </a:gs>
              </a:gsLst>
              <a:lin ang="5400000" scaled="0"/>
            </a:gradFill>
            <a:ln w="9360" cmpd="sng">
              <a:solidFill>
                <a:srgbClr val="007C8B"/>
              </a:solidFill>
              <a:miter lim="800000"/>
              <a:headEnd/>
              <a:tailEnd/>
            </a:ln>
          </p:spPr>
          <p:txBody>
            <a:bodyPr wrap="none" lIns="90000" tIns="46800" rIns="90000" bIns="4680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a:solidFill>
                    <a:srgbClr val="000099"/>
                  </a:solidFill>
                  <a:sym typeface="Times New Roman" charset="0"/>
                </a:rPr>
                <a:t>4</a:t>
              </a:r>
              <a:endParaRPr lang="zh-CN" altLang="en-US"/>
            </a:p>
          </p:txBody>
        </p:sp>
        <p:sp>
          <p:nvSpPr>
            <p:cNvPr id="50" name="Text Box 22"/>
            <p:cNvSpPr>
              <a:spLocks noChangeArrowheads="1"/>
            </p:cNvSpPr>
            <p:nvPr/>
          </p:nvSpPr>
          <p:spPr bwMode="auto">
            <a:xfrm>
              <a:off x="980258" y="4365560"/>
              <a:ext cx="1747330" cy="399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nchor="ctr">
              <a:spAutoFit/>
            </a:bodyPr>
            <a:lstStyle/>
            <a:p>
              <a:pPr algn="ctr" eaLnBrk="1" hangingPunct="1">
                <a:spcBef>
                  <a:spcPts val="1500"/>
                </a:spcBef>
                <a:buSzPct val="100000"/>
              </a:pPr>
              <a:r>
                <a:rPr lang="zh-CN" altLang="en-US" sz="2000" b="1" dirty="0">
                  <a:solidFill>
                    <a:srgbClr val="11576A"/>
                  </a:solidFill>
                  <a:latin typeface="微软雅黑" pitchFamily="34" charset="-122"/>
                  <a:ea typeface="微软雅黑" pitchFamily="34" charset="-122"/>
                  <a:sym typeface="Times New Roman" charset="0"/>
                </a:rPr>
                <a:t>逻辑地址空间</a:t>
              </a:r>
              <a:endParaRPr lang="zh-CN" altLang="en-US" sz="2000" b="1" dirty="0">
                <a:solidFill>
                  <a:srgbClr val="11576A"/>
                </a:solidFill>
                <a:latin typeface="微软雅黑" pitchFamily="34" charset="-122"/>
                <a:ea typeface="微软雅黑" pitchFamily="34" charset="-122"/>
                <a:sym typeface="Comic Sans MS" charset="0"/>
              </a:endParaRPr>
            </a:p>
          </p:txBody>
        </p:sp>
      </p:grpSp>
      <p:grpSp>
        <p:nvGrpSpPr>
          <p:cNvPr id="3" name="组合 2"/>
          <p:cNvGrpSpPr/>
          <p:nvPr/>
        </p:nvGrpSpPr>
        <p:grpSpPr>
          <a:xfrm>
            <a:off x="5694966" y="2056300"/>
            <a:ext cx="3569386" cy="3964989"/>
            <a:chOff x="3078072" y="892777"/>
            <a:chExt cx="3569386" cy="3964989"/>
          </a:xfrm>
        </p:grpSpPr>
        <p:grpSp>
          <p:nvGrpSpPr>
            <p:cNvPr id="24" name="Group 9"/>
            <p:cNvGrpSpPr>
              <a:grpSpLocks/>
            </p:cNvGrpSpPr>
            <p:nvPr/>
          </p:nvGrpSpPr>
          <p:grpSpPr bwMode="auto">
            <a:xfrm>
              <a:off x="5303463" y="892777"/>
              <a:ext cx="983044" cy="917416"/>
              <a:chOff x="0" y="0"/>
              <a:chExt cx="719" cy="671"/>
            </a:xfrm>
          </p:grpSpPr>
          <p:sp>
            <p:nvSpPr>
              <p:cNvPr id="48" name="Rectangle 10"/>
              <p:cNvSpPr>
                <a:spLocks noChangeArrowheads="1"/>
              </p:cNvSpPr>
              <p:nvPr/>
            </p:nvSpPr>
            <p:spPr bwMode="auto">
              <a:xfrm>
                <a:off x="0" y="0"/>
                <a:ext cx="720" cy="672"/>
              </a:xfrm>
              <a:prstGeom prst="rect">
                <a:avLst/>
              </a:prstGeom>
              <a:gradFill>
                <a:gsLst>
                  <a:gs pos="100000">
                    <a:srgbClr val="FDD000"/>
                  </a:gs>
                  <a:gs pos="0">
                    <a:srgbClr val="FFF9B1"/>
                  </a:gs>
                </a:gsLst>
                <a:lin ang="5400000" scaled="0"/>
              </a:gradFill>
              <a:ln w="936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49" name="Line 11"/>
              <p:cNvSpPr>
                <a:spLocks noChangeShapeType="1"/>
              </p:cNvSpPr>
              <p:nvPr/>
            </p:nvSpPr>
            <p:spPr bwMode="auto">
              <a:xfrm>
                <a:off x="0" y="336"/>
                <a:ext cx="720" cy="1"/>
              </a:xfrm>
              <a:prstGeom prst="line">
                <a:avLst/>
              </a:prstGeom>
              <a:noFill/>
              <a:ln w="9360"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grpSp>
          <p:nvGrpSpPr>
            <p:cNvPr id="25" name="Group 12"/>
            <p:cNvGrpSpPr>
              <a:grpSpLocks/>
            </p:cNvGrpSpPr>
            <p:nvPr/>
          </p:nvGrpSpPr>
          <p:grpSpPr bwMode="auto">
            <a:xfrm>
              <a:off x="5303463" y="1811561"/>
              <a:ext cx="983044" cy="917416"/>
              <a:chOff x="0" y="0"/>
              <a:chExt cx="719" cy="671"/>
            </a:xfrm>
          </p:grpSpPr>
          <p:sp>
            <p:nvSpPr>
              <p:cNvPr id="46" name="Rectangle 13"/>
              <p:cNvSpPr>
                <a:spLocks noChangeArrowheads="1"/>
              </p:cNvSpPr>
              <p:nvPr/>
            </p:nvSpPr>
            <p:spPr bwMode="auto">
              <a:xfrm>
                <a:off x="0" y="0"/>
                <a:ext cx="720" cy="672"/>
              </a:xfrm>
              <a:prstGeom prst="rect">
                <a:avLst/>
              </a:prstGeom>
              <a:gradFill>
                <a:gsLst>
                  <a:gs pos="100000">
                    <a:srgbClr val="11576A"/>
                  </a:gs>
                  <a:gs pos="0">
                    <a:srgbClr val="0EB1C8"/>
                  </a:gs>
                </a:gsLst>
                <a:lin ang="5400000" scaled="0"/>
              </a:gradFill>
              <a:ln w="936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47" name="Line 14"/>
              <p:cNvSpPr>
                <a:spLocks noChangeShapeType="1"/>
              </p:cNvSpPr>
              <p:nvPr/>
            </p:nvSpPr>
            <p:spPr bwMode="auto">
              <a:xfrm>
                <a:off x="0" y="336"/>
                <a:ext cx="720" cy="1"/>
              </a:xfrm>
              <a:prstGeom prst="line">
                <a:avLst/>
              </a:prstGeom>
              <a:noFill/>
              <a:ln w="9360"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sp>
          <p:nvSpPr>
            <p:cNvPr id="26" name="Text Box 15"/>
            <p:cNvSpPr>
              <a:spLocks noChangeArrowheads="1"/>
            </p:cNvSpPr>
            <p:nvPr/>
          </p:nvSpPr>
          <p:spPr bwMode="auto">
            <a:xfrm>
              <a:off x="5597555" y="970897"/>
              <a:ext cx="329234" cy="371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nchor="ctr">
              <a:spAutoFit/>
            </a:bodyPr>
            <a:lstStyle/>
            <a:p>
              <a:pPr algn="ctr" eaLnBrk="1" hangingPunct="1">
                <a:spcBef>
                  <a:spcPts val="1125"/>
                </a:spcBef>
                <a:buSzPct val="100000"/>
              </a:pPr>
              <a:r>
                <a:rPr lang="zh-CN" altLang="en-US">
                  <a:solidFill>
                    <a:srgbClr val="000099"/>
                  </a:solidFill>
                  <a:sym typeface="Times New Roman" charset="0"/>
                </a:rPr>
                <a:t>1</a:t>
              </a:r>
              <a:endParaRPr lang="zh-CN" altLang="en-US"/>
            </a:p>
          </p:txBody>
        </p:sp>
        <p:sp>
          <p:nvSpPr>
            <p:cNvPr id="27" name="Text Box 16"/>
            <p:cNvSpPr>
              <a:spLocks noChangeArrowheads="1"/>
            </p:cNvSpPr>
            <p:nvPr/>
          </p:nvSpPr>
          <p:spPr bwMode="auto">
            <a:xfrm>
              <a:off x="5600289" y="1390639"/>
              <a:ext cx="329234" cy="371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nchor="ctr">
              <a:spAutoFit/>
            </a:bodyPr>
            <a:lstStyle/>
            <a:p>
              <a:pPr algn="ctr" eaLnBrk="1" hangingPunct="1">
                <a:spcBef>
                  <a:spcPts val="1125"/>
                </a:spcBef>
                <a:buSzPct val="100000"/>
              </a:pPr>
              <a:r>
                <a:rPr lang="zh-CN" altLang="en-US">
                  <a:solidFill>
                    <a:srgbClr val="000099"/>
                  </a:solidFill>
                  <a:sym typeface="Times New Roman" charset="0"/>
                </a:rPr>
                <a:t>4</a:t>
              </a:r>
              <a:endParaRPr lang="zh-CN" altLang="en-US"/>
            </a:p>
          </p:txBody>
        </p:sp>
        <p:sp>
          <p:nvSpPr>
            <p:cNvPr id="28" name="Rectangle 17"/>
            <p:cNvSpPr>
              <a:spLocks noChangeArrowheads="1"/>
            </p:cNvSpPr>
            <p:nvPr/>
          </p:nvSpPr>
          <p:spPr bwMode="auto">
            <a:xfrm>
              <a:off x="5303463" y="2730344"/>
              <a:ext cx="984411" cy="1246921"/>
            </a:xfrm>
            <a:prstGeom prst="rect">
              <a:avLst/>
            </a:prstGeom>
            <a:gradFill>
              <a:gsLst>
                <a:gs pos="100000">
                  <a:srgbClr val="FDD000"/>
                </a:gs>
                <a:gs pos="0">
                  <a:srgbClr val="FFF9B1"/>
                </a:gs>
              </a:gsLst>
              <a:lin ang="5400000" scaled="0"/>
            </a:gradFill>
            <a:ln w="936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29" name="Rectangle 18"/>
            <p:cNvSpPr>
              <a:spLocks noChangeArrowheads="1"/>
            </p:cNvSpPr>
            <p:nvPr/>
          </p:nvSpPr>
          <p:spPr bwMode="auto">
            <a:xfrm>
              <a:off x="5303463" y="3977265"/>
              <a:ext cx="984411" cy="328137"/>
            </a:xfrm>
            <a:prstGeom prst="rect">
              <a:avLst/>
            </a:prstGeom>
            <a:gradFill>
              <a:gsLst>
                <a:gs pos="100000">
                  <a:srgbClr val="11576A"/>
                </a:gs>
                <a:gs pos="0">
                  <a:srgbClr val="0EB1C8"/>
                </a:gs>
              </a:gsLst>
              <a:lin ang="5400000" scaled="0"/>
            </a:gradFill>
            <a:ln w="936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37" name="Line 19"/>
            <p:cNvSpPr>
              <a:spLocks noChangeShapeType="1"/>
            </p:cNvSpPr>
            <p:nvPr/>
          </p:nvSpPr>
          <p:spPr bwMode="auto">
            <a:xfrm>
              <a:off x="5303463" y="3058481"/>
              <a:ext cx="984411" cy="1367"/>
            </a:xfrm>
            <a:prstGeom prst="line">
              <a:avLst/>
            </a:prstGeom>
            <a:noFill/>
            <a:ln w="9360"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4" name="Text Box 20"/>
            <p:cNvSpPr>
              <a:spLocks noChangeArrowheads="1"/>
            </p:cNvSpPr>
            <p:nvPr/>
          </p:nvSpPr>
          <p:spPr bwMode="auto">
            <a:xfrm>
              <a:off x="5600289" y="2742837"/>
              <a:ext cx="329234" cy="371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nchor="ctr">
              <a:spAutoFit/>
            </a:bodyPr>
            <a:lstStyle/>
            <a:p>
              <a:pPr algn="ctr" eaLnBrk="1" hangingPunct="1">
                <a:spcBef>
                  <a:spcPts val="1125"/>
                </a:spcBef>
                <a:buSzPct val="100000"/>
              </a:pPr>
              <a:r>
                <a:rPr lang="zh-CN" altLang="en-US">
                  <a:solidFill>
                    <a:srgbClr val="000099"/>
                  </a:solidFill>
                  <a:sym typeface="Times New Roman" charset="0"/>
                </a:rPr>
                <a:t>2</a:t>
              </a:r>
              <a:endParaRPr lang="zh-CN" altLang="en-US"/>
            </a:p>
          </p:txBody>
        </p:sp>
        <p:sp>
          <p:nvSpPr>
            <p:cNvPr id="45" name="Text Box 21"/>
            <p:cNvSpPr>
              <a:spLocks noChangeArrowheads="1"/>
            </p:cNvSpPr>
            <p:nvPr/>
          </p:nvSpPr>
          <p:spPr bwMode="auto">
            <a:xfrm>
              <a:off x="5600289" y="3371767"/>
              <a:ext cx="329234" cy="371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nchor="ctr">
              <a:spAutoFit/>
            </a:bodyPr>
            <a:lstStyle/>
            <a:p>
              <a:pPr algn="ctr" eaLnBrk="1" hangingPunct="1">
                <a:spcBef>
                  <a:spcPts val="1125"/>
                </a:spcBef>
                <a:buSzPct val="100000"/>
              </a:pPr>
              <a:r>
                <a:rPr lang="zh-CN" altLang="en-US">
                  <a:solidFill>
                    <a:srgbClr val="000099"/>
                  </a:solidFill>
                  <a:sym typeface="Times New Roman" charset="0"/>
                </a:rPr>
                <a:t>3</a:t>
              </a:r>
              <a:endParaRPr lang="zh-CN" altLang="en-US"/>
            </a:p>
          </p:txBody>
        </p:sp>
        <p:sp>
          <p:nvSpPr>
            <p:cNvPr id="51" name="Text Box 23"/>
            <p:cNvSpPr>
              <a:spLocks noChangeArrowheads="1"/>
            </p:cNvSpPr>
            <p:nvPr/>
          </p:nvSpPr>
          <p:spPr bwMode="auto">
            <a:xfrm>
              <a:off x="4900128" y="4458533"/>
              <a:ext cx="1747330" cy="399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000" tIns="46800" rIns="90000" bIns="46800" anchor="ctr">
              <a:spAutoFit/>
            </a:bodyPr>
            <a:lstStyle/>
            <a:p>
              <a:pPr algn="ctr" eaLnBrk="1" hangingPunct="1">
                <a:spcBef>
                  <a:spcPts val="1500"/>
                </a:spcBef>
                <a:buSzPct val="100000"/>
              </a:pPr>
              <a:r>
                <a:rPr lang="zh-CN" altLang="en-US" sz="2000" b="1" dirty="0">
                  <a:solidFill>
                    <a:srgbClr val="11576A"/>
                  </a:solidFill>
                  <a:latin typeface="微软雅黑" pitchFamily="34" charset="-122"/>
                  <a:ea typeface="微软雅黑" pitchFamily="34" charset="-122"/>
                  <a:sym typeface="Times New Roman" charset="0"/>
                </a:rPr>
                <a:t>物理地址空间</a:t>
              </a:r>
              <a:endParaRPr lang="zh-CN" altLang="en-US" sz="2000" b="1" dirty="0">
                <a:solidFill>
                  <a:srgbClr val="11576A"/>
                </a:solidFill>
                <a:latin typeface="微软雅黑" pitchFamily="34" charset="-122"/>
                <a:ea typeface="微软雅黑" pitchFamily="34" charset="-122"/>
                <a:sym typeface="Comic Sans MS" charset="0"/>
              </a:endParaRPr>
            </a:p>
          </p:txBody>
        </p:sp>
        <p:sp>
          <p:nvSpPr>
            <p:cNvPr id="52" name="AutoShape 24"/>
            <p:cNvSpPr>
              <a:spLocks noChangeArrowheads="1"/>
            </p:cNvSpPr>
            <p:nvPr/>
          </p:nvSpPr>
          <p:spPr bwMode="auto">
            <a:xfrm>
              <a:off x="3235397" y="2351620"/>
              <a:ext cx="1656184" cy="433414"/>
            </a:xfrm>
            <a:prstGeom prst="rightArrow">
              <a:avLst>
                <a:gd name="adj1" fmla="val 50000"/>
                <a:gd name="adj2" fmla="val 118038"/>
              </a:avLst>
            </a:prstGeom>
            <a:solidFill>
              <a:srgbClr val="0EB1C8"/>
            </a:solidFill>
            <a:ln w="12600" cmpd="sng">
              <a:noFill/>
              <a:miter lim="800000"/>
              <a:headEnd/>
              <a:tailEnd/>
            </a:ln>
          </p:spPr>
          <p:txBody>
            <a:bodyPr wrap="none" lIns="90000" tIns="46800" rIns="90000" bIns="46800" anchor="ct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dirty="0"/>
            </a:p>
          </p:txBody>
        </p:sp>
        <p:sp>
          <p:nvSpPr>
            <p:cNvPr id="53" name="Text Box 25"/>
            <p:cNvSpPr>
              <a:spLocks noChangeArrowheads="1"/>
            </p:cNvSpPr>
            <p:nvPr/>
          </p:nvSpPr>
          <p:spPr bwMode="auto">
            <a:xfrm>
              <a:off x="3078072" y="2785034"/>
              <a:ext cx="2286016" cy="4022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0000" tIns="46800" rIns="90000" bIns="46800">
              <a:spAutoFit/>
            </a:bodyPr>
            <a:lstStyle/>
            <a:p>
              <a:pPr eaLnBrk="1" hangingPunct="1">
                <a:buSzPct val="100000"/>
              </a:pPr>
              <a:r>
                <a:rPr lang="zh-CN" altLang="en-US" sz="2000" b="1" dirty="0">
                  <a:solidFill>
                    <a:srgbClr val="11576A"/>
                  </a:solidFill>
                  <a:latin typeface="微软雅黑" pitchFamily="34" charset="-122"/>
                  <a:ea typeface="微软雅黑" pitchFamily="34" charset="-122"/>
                  <a:sym typeface="Comic Sans MS" charset="0"/>
                </a:rPr>
                <a:t>段式存储管理</a:t>
              </a:r>
              <a:endParaRPr lang="zh-CN" altLang="en-US" b="1" dirty="0">
                <a:solidFill>
                  <a:srgbClr val="11576A"/>
                </a:solidFill>
                <a:latin typeface="微软雅黑" pitchFamily="34" charset="-122"/>
                <a:ea typeface="微软雅黑" pitchFamily="34" charset="-122"/>
              </a:endParaRPr>
            </a:p>
          </p:txBody>
        </p:sp>
      </p:grpSp>
      <p:sp>
        <p:nvSpPr>
          <p:cNvPr id="4" name="文本框 3">
            <a:extLst>
              <a:ext uri="{FF2B5EF4-FFF2-40B4-BE49-F238E27FC236}">
                <a16:creationId xmlns:a16="http://schemas.microsoft.com/office/drawing/2014/main" id="{5F8EC718-630C-6349-B115-571774D188DA}"/>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1FC4B692-55C8-05F1-D0BF-DCF0DBED09E9}"/>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段地址空间的逻辑视图</a:t>
            </a:r>
          </a:p>
        </p:txBody>
      </p:sp>
    </p:spTree>
    <p:extLst>
      <p:ext uri="{BB962C8B-B14F-4D97-AF65-F5344CB8AC3E}">
        <p14:creationId xmlns:p14="http://schemas.microsoft.com/office/powerpoint/2010/main" val="161863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4731" y="1822181"/>
            <a:ext cx="7602537" cy="362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A8D22B7-7C0E-F2F3-2DC3-F994496D3A71}"/>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04960943-B113-50C8-0A4D-C32C3C0F45CC}"/>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Description of segments</a:t>
            </a:r>
            <a:endParaRPr lang="zh-CN" altLang="en-US" b="0"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dissolv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3F500141-97B0-3507-728B-021456F8DFF4}"/>
              </a:ext>
            </a:extLst>
          </p:cNvPr>
          <p:cNvGrpSpPr/>
          <p:nvPr/>
        </p:nvGrpSpPr>
        <p:grpSpPr>
          <a:xfrm>
            <a:off x="2218531" y="1641835"/>
            <a:ext cx="7754938" cy="4712022"/>
            <a:chOff x="1905000" y="1268760"/>
            <a:chExt cx="7935416" cy="5072062"/>
          </a:xfrm>
          <a:solidFill>
            <a:schemeClr val="tx1">
              <a:lumMod val="50000"/>
              <a:lumOff val="50000"/>
            </a:schemeClr>
          </a:solidFill>
        </p:grpSpPr>
        <p:sp>
          <p:nvSpPr>
            <p:cNvPr id="3" name="矩形 2">
              <a:extLst>
                <a:ext uri="{FF2B5EF4-FFF2-40B4-BE49-F238E27FC236}">
                  <a16:creationId xmlns:a16="http://schemas.microsoft.com/office/drawing/2014/main" id="{112B68E0-6627-A354-8395-DF1D2F31663B}"/>
                </a:ext>
              </a:extLst>
            </p:cNvPr>
            <p:cNvSpPr/>
            <p:nvPr/>
          </p:nvSpPr>
          <p:spPr bwMode="auto">
            <a:xfrm>
              <a:off x="1905000" y="1268760"/>
              <a:ext cx="7935416" cy="5072062"/>
            </a:xfrm>
            <a:prstGeom prst="rect">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Times New Roman" pitchFamily="18" charset="0"/>
              </a:endParaRPr>
            </a:p>
          </p:txBody>
        </p:sp>
        <p:graphicFrame>
          <p:nvGraphicFramePr>
            <p:cNvPr id="116739" name="Object 4"/>
            <p:cNvGraphicFramePr>
              <a:graphicFrameLocks noChangeAspect="1"/>
            </p:cNvGraphicFramePr>
            <p:nvPr>
              <p:extLst>
                <p:ext uri="{D42A27DB-BD31-4B8C-83A1-F6EECF244321}">
                  <p14:modId xmlns:p14="http://schemas.microsoft.com/office/powerpoint/2010/main" val="2669413835"/>
                </p:ext>
              </p:extLst>
            </p:nvPr>
          </p:nvGraphicFramePr>
          <p:xfrm>
            <a:off x="2117725" y="1268760"/>
            <a:ext cx="7575550" cy="5072062"/>
          </p:xfrm>
          <a:graphic>
            <a:graphicData uri="http://schemas.openxmlformats.org/presentationml/2006/ole">
              <mc:AlternateContent xmlns:mc="http://schemas.openxmlformats.org/markup-compatibility/2006">
                <mc:Choice xmlns:v="urn:schemas-microsoft-com:vml" Requires="v">
                  <p:oleObj name="VISIO" r:id="rId2" imgW="7076520" imgH="5113440" progId="Visio.Drawing.6">
                    <p:embed/>
                  </p:oleObj>
                </mc:Choice>
                <mc:Fallback>
                  <p:oleObj name="VISIO" r:id="rId2" imgW="7076520" imgH="5113440" progId="Visio.Drawing.6">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725" y="1268760"/>
                          <a:ext cx="7575550" cy="5072062"/>
                        </a:xfrm>
                        <a:prstGeom prst="rect">
                          <a:avLst/>
                        </a:prstGeom>
                        <a:noFill/>
                        <a:ln>
                          <a:noFill/>
                        </a:ln>
                        <a:effectLst/>
                      </p:spPr>
                    </p:pic>
                  </p:oleObj>
                </mc:Fallback>
              </mc:AlternateContent>
            </a:graphicData>
          </a:graphic>
        </p:graphicFrame>
      </p:grpSp>
      <p:sp>
        <p:nvSpPr>
          <p:cNvPr id="2" name="文本框 1">
            <a:extLst>
              <a:ext uri="{FF2B5EF4-FFF2-40B4-BE49-F238E27FC236}">
                <a16:creationId xmlns:a16="http://schemas.microsoft.com/office/drawing/2014/main" id="{C4711B09-B0D9-F090-3FE6-60ACB581D24C}"/>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AEE17508-0D4F-14E9-9E2F-898FF2A0AED0}"/>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段式管理内存分配效果</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 Box 2"/>
          <p:cNvSpPr>
            <a:spLocks noChangeArrowheads="1"/>
          </p:cNvSpPr>
          <p:nvPr/>
        </p:nvSpPr>
        <p:spPr bwMode="auto">
          <a:xfrm>
            <a:off x="12932235" y="-2072481"/>
            <a:ext cx="7956550" cy="600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nchor="b"/>
          <a:lstStyle/>
          <a:p>
            <a:pPr eaLnBrk="1" hangingPunct="1">
              <a:buSzPct val="100000"/>
            </a:pPr>
            <a:endParaRPr lang="zh-CN" altLang="en-US"/>
          </a:p>
        </p:txBody>
      </p:sp>
      <p:grpSp>
        <p:nvGrpSpPr>
          <p:cNvPr id="12" name="组合 11"/>
          <p:cNvGrpSpPr/>
          <p:nvPr/>
        </p:nvGrpSpPr>
        <p:grpSpPr>
          <a:xfrm>
            <a:off x="2894958" y="3982783"/>
            <a:ext cx="2515051" cy="1757917"/>
            <a:chOff x="1064083" y="3060462"/>
            <a:chExt cx="2515051" cy="1757917"/>
          </a:xfrm>
        </p:grpSpPr>
        <p:sp>
          <p:nvSpPr>
            <p:cNvPr id="109" name="Rectangle 27"/>
            <p:cNvSpPr>
              <a:spLocks noChangeArrowheads="1"/>
            </p:cNvSpPr>
            <p:nvPr/>
          </p:nvSpPr>
          <p:spPr bwMode="auto">
            <a:xfrm>
              <a:off x="1499417" y="4482733"/>
              <a:ext cx="1618776" cy="3356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solidFill>
                    <a:srgbClr val="11576A"/>
                  </a:solidFill>
                  <a:latin typeface="微软雅黑" pitchFamily="34" charset="-122"/>
                  <a:ea typeface="微软雅黑" pitchFamily="34" charset="-122"/>
                  <a:sym typeface="Times New Roman" charset="0"/>
                </a:rPr>
                <a:t>单地址实现方案</a:t>
              </a:r>
            </a:p>
          </p:txBody>
        </p:sp>
        <p:sp>
          <p:nvSpPr>
            <p:cNvPr id="114" name="Rectangle 32"/>
            <p:cNvSpPr>
              <a:spLocks noChangeArrowheads="1"/>
            </p:cNvSpPr>
            <p:nvPr/>
          </p:nvSpPr>
          <p:spPr bwMode="auto">
            <a:xfrm>
              <a:off x="1110051" y="3060462"/>
              <a:ext cx="2396365" cy="1243916"/>
            </a:xfrm>
            <a:prstGeom prst="rect">
              <a:avLst/>
            </a:prstGeom>
            <a:gradFill>
              <a:gsLst>
                <a:gs pos="100000">
                  <a:srgbClr val="005072"/>
                </a:gs>
                <a:gs pos="0">
                  <a:srgbClr val="0093DD"/>
                </a:gs>
              </a:gsLst>
              <a:lin ang="5400000" scaled="0"/>
            </a:gradFill>
            <a:ln w="12600" cmpd="sng">
              <a:solidFill>
                <a:srgbClr val="11576A"/>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15" name="Rectangle 33"/>
            <p:cNvSpPr>
              <a:spLocks noChangeArrowheads="1"/>
            </p:cNvSpPr>
            <p:nvPr/>
          </p:nvSpPr>
          <p:spPr bwMode="auto">
            <a:xfrm>
              <a:off x="3249173" y="3428606"/>
              <a:ext cx="329961" cy="3664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solidFill>
                    <a:srgbClr val="FFF9B1"/>
                  </a:solidFill>
                  <a:sym typeface="Comic Sans MS" charset="0"/>
                </a:rPr>
                <a:t>0</a:t>
              </a:r>
              <a:endParaRPr lang="zh-CN" altLang="en-US" dirty="0">
                <a:solidFill>
                  <a:srgbClr val="FFF9B1"/>
                </a:solidFill>
              </a:endParaRPr>
            </a:p>
          </p:txBody>
        </p:sp>
        <p:sp>
          <p:nvSpPr>
            <p:cNvPr id="116" name="Rectangle 34"/>
            <p:cNvSpPr>
              <a:spLocks noChangeArrowheads="1"/>
            </p:cNvSpPr>
            <p:nvPr/>
          </p:nvSpPr>
          <p:spPr bwMode="auto">
            <a:xfrm>
              <a:off x="1302126"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17" name="Rectangle 35"/>
            <p:cNvSpPr>
              <a:spLocks noChangeArrowheads="1"/>
            </p:cNvSpPr>
            <p:nvPr/>
          </p:nvSpPr>
          <p:spPr bwMode="auto">
            <a:xfrm>
              <a:off x="1448469"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18" name="Rectangle 36"/>
            <p:cNvSpPr>
              <a:spLocks noChangeArrowheads="1"/>
            </p:cNvSpPr>
            <p:nvPr/>
          </p:nvSpPr>
          <p:spPr bwMode="auto">
            <a:xfrm>
              <a:off x="1594812"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19" name="Rectangle 37"/>
            <p:cNvSpPr>
              <a:spLocks noChangeArrowheads="1"/>
            </p:cNvSpPr>
            <p:nvPr/>
          </p:nvSpPr>
          <p:spPr bwMode="auto">
            <a:xfrm>
              <a:off x="1741155"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0" name="Rectangle 38"/>
            <p:cNvSpPr>
              <a:spLocks noChangeArrowheads="1"/>
            </p:cNvSpPr>
            <p:nvPr/>
          </p:nvSpPr>
          <p:spPr bwMode="auto">
            <a:xfrm>
              <a:off x="1887498"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1" name="Rectangle 39"/>
            <p:cNvSpPr>
              <a:spLocks noChangeArrowheads="1"/>
            </p:cNvSpPr>
            <p:nvPr/>
          </p:nvSpPr>
          <p:spPr bwMode="auto">
            <a:xfrm>
              <a:off x="2033840"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2" name="Rectangle 40"/>
            <p:cNvSpPr>
              <a:spLocks noChangeArrowheads="1"/>
            </p:cNvSpPr>
            <p:nvPr/>
          </p:nvSpPr>
          <p:spPr bwMode="auto">
            <a:xfrm>
              <a:off x="2180183"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3" name="Rectangle 41"/>
            <p:cNvSpPr>
              <a:spLocks noChangeArrowheads="1"/>
            </p:cNvSpPr>
            <p:nvPr/>
          </p:nvSpPr>
          <p:spPr bwMode="auto">
            <a:xfrm>
              <a:off x="2326526"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4" name="Rectangle 42"/>
            <p:cNvSpPr>
              <a:spLocks noChangeArrowheads="1"/>
            </p:cNvSpPr>
            <p:nvPr/>
          </p:nvSpPr>
          <p:spPr bwMode="auto">
            <a:xfrm>
              <a:off x="2472869"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5" name="Rectangle 43"/>
            <p:cNvSpPr>
              <a:spLocks noChangeArrowheads="1"/>
            </p:cNvSpPr>
            <p:nvPr/>
          </p:nvSpPr>
          <p:spPr bwMode="auto">
            <a:xfrm>
              <a:off x="2619212"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6" name="Rectangle 44"/>
            <p:cNvSpPr>
              <a:spLocks noChangeArrowheads="1"/>
            </p:cNvSpPr>
            <p:nvPr/>
          </p:nvSpPr>
          <p:spPr bwMode="auto">
            <a:xfrm>
              <a:off x="2765555"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7" name="Rectangle 45"/>
            <p:cNvSpPr>
              <a:spLocks noChangeArrowheads="1"/>
            </p:cNvSpPr>
            <p:nvPr/>
          </p:nvSpPr>
          <p:spPr bwMode="auto">
            <a:xfrm>
              <a:off x="2911898"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8" name="Rectangle 46"/>
            <p:cNvSpPr>
              <a:spLocks noChangeArrowheads="1"/>
            </p:cNvSpPr>
            <p:nvPr/>
          </p:nvSpPr>
          <p:spPr bwMode="auto">
            <a:xfrm>
              <a:off x="3058241"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29" name="Rectangle 47"/>
            <p:cNvSpPr>
              <a:spLocks noChangeArrowheads="1"/>
            </p:cNvSpPr>
            <p:nvPr/>
          </p:nvSpPr>
          <p:spPr bwMode="auto">
            <a:xfrm>
              <a:off x="3204584" y="3170219"/>
              <a:ext cx="137196" cy="283540"/>
            </a:xfrm>
            <a:prstGeom prst="rect">
              <a:avLst/>
            </a:prstGeom>
            <a:solidFill>
              <a:srgbClr val="CCFFFF"/>
            </a:solidFill>
            <a:ln w="635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31" name="Rectangle 49"/>
            <p:cNvSpPr>
              <a:spLocks noChangeArrowheads="1"/>
            </p:cNvSpPr>
            <p:nvPr/>
          </p:nvSpPr>
          <p:spPr bwMode="auto">
            <a:xfrm>
              <a:off x="1064083" y="3340294"/>
              <a:ext cx="858952" cy="3664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i="1" dirty="0">
                  <a:solidFill>
                    <a:srgbClr val="FFF9B1"/>
                  </a:solidFill>
                  <a:sym typeface="Comic Sans MS" charset="0"/>
                </a:rPr>
                <a:t>n</a:t>
              </a:r>
              <a:r>
                <a:rPr lang="en-US" altLang="zh-CN" i="1" baseline="-25000" dirty="0">
                  <a:solidFill>
                    <a:srgbClr val="FFF9B1"/>
                  </a:solidFill>
                  <a:sym typeface="Comic Sans MS" charset="0"/>
                </a:rPr>
                <a:t>1</a:t>
              </a:r>
              <a:r>
                <a:rPr lang="en-US" altLang="zh-CN" i="1" dirty="0">
                  <a:solidFill>
                    <a:srgbClr val="FFF9B1"/>
                  </a:solidFill>
                  <a:sym typeface="Comic Sans MS" charset="0"/>
                </a:rPr>
                <a:t>+n</a:t>
              </a:r>
              <a:r>
                <a:rPr lang="en-US" altLang="zh-CN" i="1" baseline="-25000" dirty="0">
                  <a:solidFill>
                    <a:srgbClr val="FFF9B1"/>
                  </a:solidFill>
                  <a:sym typeface="Comic Sans MS" charset="0"/>
                </a:rPr>
                <a:t>2</a:t>
              </a:r>
              <a:endParaRPr lang="zh-CN" altLang="en-US" baseline="-25000" dirty="0">
                <a:solidFill>
                  <a:srgbClr val="FFF9B1"/>
                </a:solidFill>
              </a:endParaRPr>
            </a:p>
          </p:txBody>
        </p:sp>
      </p:grpSp>
      <p:grpSp>
        <p:nvGrpSpPr>
          <p:cNvPr id="10" name="组合 9"/>
          <p:cNvGrpSpPr/>
          <p:nvPr/>
        </p:nvGrpSpPr>
        <p:grpSpPr>
          <a:xfrm>
            <a:off x="3149939" y="4595455"/>
            <a:ext cx="2014923" cy="582693"/>
            <a:chOff x="1305555" y="3668699"/>
            <a:chExt cx="2014923" cy="582693"/>
          </a:xfrm>
        </p:grpSpPr>
        <p:sp>
          <p:nvSpPr>
            <p:cNvPr id="130" name="Rectangle 48"/>
            <p:cNvSpPr>
              <a:spLocks noChangeArrowheads="1"/>
            </p:cNvSpPr>
            <p:nvPr/>
          </p:nvSpPr>
          <p:spPr bwMode="auto">
            <a:xfrm>
              <a:off x="1490192" y="3937377"/>
              <a:ext cx="329272" cy="304868"/>
            </a:xfrm>
            <a:prstGeom prst="rect">
              <a:avLst/>
            </a:prstGeom>
            <a:gradFill>
              <a:gsLst>
                <a:gs pos="100000">
                  <a:srgbClr val="FDD000"/>
                </a:gs>
                <a:gs pos="0">
                  <a:srgbClr val="FFF9B1"/>
                </a:gs>
              </a:gsLst>
              <a:lin ang="5400000" scaled="0"/>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i="1" dirty="0">
                  <a:solidFill>
                    <a:srgbClr val="007C8B"/>
                  </a:solidFill>
                  <a:sym typeface="Comic Sans MS" charset="0"/>
                </a:rPr>
                <a:t>s</a:t>
              </a:r>
              <a:endParaRPr lang="zh-CN" altLang="en-US" sz="1400" dirty="0">
                <a:solidFill>
                  <a:srgbClr val="007C8B"/>
                </a:solidFill>
              </a:endParaRPr>
            </a:p>
          </p:txBody>
        </p:sp>
        <p:sp>
          <p:nvSpPr>
            <p:cNvPr id="132" name="AutoShape 50"/>
            <p:cNvSpPr>
              <a:spLocks/>
            </p:cNvSpPr>
            <p:nvPr/>
          </p:nvSpPr>
          <p:spPr bwMode="auto">
            <a:xfrm rot="16200000">
              <a:off x="2532531" y="3054535"/>
              <a:ext cx="173784" cy="1402111"/>
            </a:xfrm>
            <a:prstGeom prst="leftBrace">
              <a:avLst>
                <a:gd name="adj1" fmla="val 43791"/>
                <a:gd name="adj2" fmla="val 50000"/>
              </a:avLst>
            </a:prstGeom>
            <a:noFill/>
            <a:ln w="12600" cmpd="sng">
              <a:solidFill>
                <a:srgbClr val="FFF9B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33" name="AutoShape 51"/>
            <p:cNvSpPr>
              <a:spLocks/>
            </p:cNvSpPr>
            <p:nvPr/>
          </p:nvSpPr>
          <p:spPr bwMode="auto">
            <a:xfrm rot="16200000">
              <a:off x="1502204" y="3472052"/>
              <a:ext cx="173782" cy="567079"/>
            </a:xfrm>
            <a:prstGeom prst="leftBrace">
              <a:avLst>
                <a:gd name="adj1" fmla="val 27193"/>
                <a:gd name="adj2" fmla="val 50000"/>
              </a:avLst>
            </a:prstGeom>
            <a:noFill/>
            <a:ln w="12600" cmpd="sng">
              <a:solidFill>
                <a:srgbClr val="FFF9B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34" name="Rectangle 52"/>
            <p:cNvSpPr>
              <a:spLocks noChangeArrowheads="1"/>
            </p:cNvSpPr>
            <p:nvPr/>
          </p:nvSpPr>
          <p:spPr bwMode="auto">
            <a:xfrm>
              <a:off x="2343676" y="3946524"/>
              <a:ext cx="658440" cy="304868"/>
            </a:xfrm>
            <a:prstGeom prst="rect">
              <a:avLst/>
            </a:prstGeom>
            <a:gradFill>
              <a:gsLst>
                <a:gs pos="100000">
                  <a:srgbClr val="FDD000"/>
                </a:gs>
                <a:gs pos="0">
                  <a:srgbClr val="FFF9B1"/>
                </a:gs>
              </a:gsLst>
              <a:lin ang="5400000" scaled="0"/>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i="1" dirty="0">
                  <a:solidFill>
                    <a:srgbClr val="007C8B"/>
                  </a:solidFill>
                  <a:sym typeface="Comic Sans MS" charset="0"/>
                </a:rPr>
                <a:t>addr</a:t>
              </a:r>
              <a:endParaRPr lang="zh-CN" altLang="en-US" sz="1400" dirty="0">
                <a:solidFill>
                  <a:srgbClr val="007C8B"/>
                </a:solidFill>
              </a:endParaRPr>
            </a:p>
          </p:txBody>
        </p:sp>
      </p:grpSp>
      <p:grpSp>
        <p:nvGrpSpPr>
          <p:cNvPr id="8" name="组合 7"/>
          <p:cNvGrpSpPr/>
          <p:nvPr/>
        </p:nvGrpSpPr>
        <p:grpSpPr>
          <a:xfrm>
            <a:off x="2351584" y="1818837"/>
            <a:ext cx="8587795" cy="613177"/>
            <a:chOff x="520709" y="896516"/>
            <a:chExt cx="8587795" cy="613177"/>
          </a:xfrm>
        </p:grpSpPr>
        <p:sp>
          <p:nvSpPr>
            <p:cNvPr id="31" name="TextBox 30"/>
            <p:cNvSpPr txBox="1"/>
            <p:nvPr/>
          </p:nvSpPr>
          <p:spPr>
            <a:xfrm>
              <a:off x="893166" y="915566"/>
              <a:ext cx="8215338" cy="326243"/>
            </a:xfrm>
            <a:prstGeom prst="rect">
              <a:avLst/>
            </a:prstGeom>
            <a:noFill/>
          </p:spPr>
          <p:txBody>
            <a:bodyPr wrap="square" rtlCol="0">
              <a:spAutoFit/>
            </a:bodyPr>
            <a:lstStyle/>
            <a:p>
              <a:pPr marL="342900" lvl="1" indent="-342900">
                <a:lnSpc>
                  <a:spcPct val="95000"/>
                </a:lnSpc>
                <a:spcBef>
                  <a:spcPct val="20000"/>
                </a:spcBef>
              </a:pPr>
              <a:r>
                <a:rPr lang="zh-CN" altLang="en-US" sz="1600" b="1" dirty="0">
                  <a:solidFill>
                    <a:srgbClr val="11576A"/>
                  </a:solidFill>
                  <a:latin typeface="微软雅黑" pitchFamily="34" charset="-122"/>
                  <a:ea typeface="微软雅黑" pitchFamily="34" charset="-122"/>
                  <a:sym typeface="Times New Roman" charset="0"/>
                </a:rPr>
                <a:t>段的概念</a:t>
              </a:r>
              <a:endParaRPr lang="en-US" altLang="zh-CN" sz="1600" dirty="0">
                <a:solidFill>
                  <a:srgbClr val="000000"/>
                </a:solidFill>
                <a:sym typeface="Times New Roman" charset="0"/>
              </a:endParaRPr>
            </a:p>
          </p:txBody>
        </p:sp>
        <p:sp>
          <p:nvSpPr>
            <p:cNvPr id="32" name="TextBox 31"/>
            <p:cNvSpPr txBox="1"/>
            <p:nvPr/>
          </p:nvSpPr>
          <p:spPr>
            <a:xfrm>
              <a:off x="1142106" y="1183450"/>
              <a:ext cx="7207048" cy="326243"/>
            </a:xfrm>
            <a:prstGeom prst="rect">
              <a:avLst/>
            </a:prstGeom>
            <a:noFill/>
          </p:spPr>
          <p:txBody>
            <a:bodyPr wrap="square" rtlCol="0">
              <a:spAutoFit/>
            </a:bodyPr>
            <a:lstStyle/>
            <a:p>
              <a:pPr marL="342900" lvl="1" indent="-342900">
                <a:lnSpc>
                  <a:spcPct val="95000"/>
                </a:lnSpc>
                <a:spcBef>
                  <a:spcPct val="20000"/>
                </a:spcBef>
              </a:pPr>
              <a:r>
                <a:rPr lang="zh-CN" altLang="en-US" sz="1600" b="1" dirty="0">
                  <a:solidFill>
                    <a:srgbClr val="C00000"/>
                  </a:solidFill>
                  <a:latin typeface="微软雅黑" pitchFamily="34" charset="-122"/>
                  <a:ea typeface="微软雅黑" pitchFamily="34" charset="-122"/>
                  <a:sym typeface="Times New Roman" charset="0"/>
                </a:rPr>
                <a:t>段表示访问方式和存储数据等属性相同的一段地址空间</a:t>
              </a:r>
            </a:p>
          </p:txBody>
        </p:sp>
        <p:pic>
          <p:nvPicPr>
            <p:cNvPr id="33" name="图片 32" descr="小点1.png"/>
            <p:cNvPicPr>
              <a:picLocks noChangeAspect="1"/>
            </p:cNvPicPr>
            <p:nvPr/>
          </p:nvPicPr>
          <p:blipFill>
            <a:blip r:embed="rId2" cstate="print"/>
            <a:stretch>
              <a:fillRect/>
            </a:stretch>
          </p:blipFill>
          <p:spPr>
            <a:xfrm>
              <a:off x="991040" y="1274674"/>
              <a:ext cx="151066" cy="148997"/>
            </a:xfrm>
            <a:prstGeom prst="rect">
              <a:avLst/>
            </a:prstGeom>
          </p:spPr>
        </p:pic>
        <p:sp>
          <p:nvSpPr>
            <p:cNvPr id="36" name="矩形 8"/>
            <p:cNvSpPr>
              <a:spLocks noChangeArrowheads="1"/>
            </p:cNvSpPr>
            <p:nvPr/>
          </p:nvSpPr>
          <p:spPr bwMode="auto">
            <a:xfrm>
              <a:off x="520709" y="896516"/>
              <a:ext cx="32412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itchFamily="34" charset="0"/>
              </a:endParaRPr>
            </a:p>
          </p:txBody>
        </p:sp>
      </p:grpSp>
      <p:grpSp>
        <p:nvGrpSpPr>
          <p:cNvPr id="9" name="组合 8"/>
          <p:cNvGrpSpPr/>
          <p:nvPr/>
        </p:nvGrpSpPr>
        <p:grpSpPr>
          <a:xfrm>
            <a:off x="2821913" y="2413019"/>
            <a:ext cx="7358114" cy="614275"/>
            <a:chOff x="991040" y="1490698"/>
            <a:chExt cx="7358114" cy="614275"/>
          </a:xfrm>
        </p:grpSpPr>
        <p:sp>
          <p:nvSpPr>
            <p:cNvPr id="34" name="TextBox 33"/>
            <p:cNvSpPr txBox="1"/>
            <p:nvPr/>
          </p:nvSpPr>
          <p:spPr>
            <a:xfrm>
              <a:off x="1142106" y="1490698"/>
              <a:ext cx="7207048" cy="326243"/>
            </a:xfrm>
            <a:prstGeom prst="rect">
              <a:avLst/>
            </a:prstGeom>
            <a:noFill/>
          </p:spPr>
          <p:txBody>
            <a:bodyPr wrap="square" rtlCol="0">
              <a:spAutoFit/>
            </a:bodyPr>
            <a:lstStyle/>
            <a:p>
              <a:pPr marL="342900" lvl="1" indent="-342900">
                <a:lnSpc>
                  <a:spcPct val="95000"/>
                </a:lnSpc>
                <a:spcBef>
                  <a:spcPct val="20000"/>
                </a:spcBef>
              </a:pPr>
              <a:r>
                <a:rPr lang="zh-CN" altLang="en-US" sz="1600" b="1" dirty="0">
                  <a:solidFill>
                    <a:srgbClr val="11576A"/>
                  </a:solidFill>
                  <a:latin typeface="微软雅黑" pitchFamily="34" charset="-122"/>
                  <a:ea typeface="微软雅黑" pitchFamily="34" charset="-122"/>
                  <a:sym typeface="Times New Roman" charset="0"/>
                </a:rPr>
                <a:t>对应一个连续的内存“块”</a:t>
              </a:r>
              <a:endParaRPr lang="en-US" altLang="zh-CN" sz="1600" b="1" dirty="0">
                <a:solidFill>
                  <a:srgbClr val="11576A"/>
                </a:solidFill>
                <a:latin typeface="微软雅黑" pitchFamily="34" charset="-122"/>
                <a:ea typeface="微软雅黑" pitchFamily="34" charset="-122"/>
                <a:sym typeface="Times New Roman" charset="0"/>
              </a:endParaRPr>
            </a:p>
          </p:txBody>
        </p:sp>
        <p:pic>
          <p:nvPicPr>
            <p:cNvPr id="35" name="图片 34" descr="小点1.png"/>
            <p:cNvPicPr>
              <a:picLocks noChangeAspect="1"/>
            </p:cNvPicPr>
            <p:nvPr/>
          </p:nvPicPr>
          <p:blipFill>
            <a:blip r:embed="rId2" cstate="print"/>
            <a:stretch>
              <a:fillRect/>
            </a:stretch>
          </p:blipFill>
          <p:spPr>
            <a:xfrm>
              <a:off x="991040" y="1581922"/>
              <a:ext cx="151066" cy="148997"/>
            </a:xfrm>
            <a:prstGeom prst="rect">
              <a:avLst/>
            </a:prstGeom>
          </p:spPr>
        </p:pic>
        <p:sp>
          <p:nvSpPr>
            <p:cNvPr id="136" name="TextBox 135"/>
            <p:cNvSpPr txBox="1"/>
            <p:nvPr/>
          </p:nvSpPr>
          <p:spPr>
            <a:xfrm>
              <a:off x="1142106" y="1778730"/>
              <a:ext cx="7207048" cy="326243"/>
            </a:xfrm>
            <a:prstGeom prst="rect">
              <a:avLst/>
            </a:prstGeom>
            <a:noFill/>
          </p:spPr>
          <p:txBody>
            <a:bodyPr wrap="square" rtlCol="0">
              <a:spAutoFit/>
            </a:bodyPr>
            <a:lstStyle/>
            <a:p>
              <a:pPr marL="342900" lvl="1" indent="-342900">
                <a:lnSpc>
                  <a:spcPct val="95000"/>
                </a:lnSpc>
                <a:spcBef>
                  <a:spcPct val="20000"/>
                </a:spcBef>
              </a:pPr>
              <a:r>
                <a:rPr lang="zh-CN" altLang="en-US" sz="1600" b="1" dirty="0">
                  <a:solidFill>
                    <a:srgbClr val="11576A"/>
                  </a:solidFill>
                  <a:latin typeface="微软雅黑" pitchFamily="34" charset="-122"/>
                  <a:ea typeface="微软雅黑" pitchFamily="34" charset="-122"/>
                  <a:sym typeface="Times New Roman" charset="0"/>
                </a:rPr>
                <a:t>若干个段组成进程逻辑地址空间</a:t>
              </a:r>
              <a:endParaRPr lang="en-US" altLang="zh-CN" sz="1600" b="1" dirty="0">
                <a:solidFill>
                  <a:srgbClr val="11576A"/>
                </a:solidFill>
                <a:latin typeface="微软雅黑" pitchFamily="34" charset="-122"/>
                <a:ea typeface="微软雅黑" pitchFamily="34" charset="-122"/>
                <a:sym typeface="Times New Roman" charset="0"/>
              </a:endParaRPr>
            </a:p>
          </p:txBody>
        </p:sp>
        <p:pic>
          <p:nvPicPr>
            <p:cNvPr id="137" name="图片 136" descr="小点1.png"/>
            <p:cNvPicPr>
              <a:picLocks noChangeAspect="1"/>
            </p:cNvPicPr>
            <p:nvPr/>
          </p:nvPicPr>
          <p:blipFill>
            <a:blip r:embed="rId2" cstate="print"/>
            <a:stretch>
              <a:fillRect/>
            </a:stretch>
          </p:blipFill>
          <p:spPr>
            <a:xfrm>
              <a:off x="991040" y="1869954"/>
              <a:ext cx="151066" cy="148997"/>
            </a:xfrm>
            <a:prstGeom prst="rect">
              <a:avLst/>
            </a:prstGeom>
          </p:spPr>
        </p:pic>
      </p:grpSp>
      <p:grpSp>
        <p:nvGrpSpPr>
          <p:cNvPr id="7" name="组合 6"/>
          <p:cNvGrpSpPr/>
          <p:nvPr/>
        </p:nvGrpSpPr>
        <p:grpSpPr>
          <a:xfrm>
            <a:off x="2351584" y="2977819"/>
            <a:ext cx="8587795" cy="902362"/>
            <a:chOff x="520709" y="2055500"/>
            <a:chExt cx="8587795" cy="902362"/>
          </a:xfrm>
        </p:grpSpPr>
        <p:sp>
          <p:nvSpPr>
            <p:cNvPr id="138" name="TextBox 137"/>
            <p:cNvSpPr txBox="1"/>
            <p:nvPr/>
          </p:nvSpPr>
          <p:spPr>
            <a:xfrm>
              <a:off x="893166" y="2074550"/>
              <a:ext cx="8215338" cy="609398"/>
            </a:xfrm>
            <a:prstGeom prst="rect">
              <a:avLst/>
            </a:prstGeom>
            <a:noFill/>
          </p:spPr>
          <p:txBody>
            <a:bodyPr wrap="square" rtlCol="0">
              <a:spAutoFit/>
            </a:bodyPr>
            <a:lstStyle/>
            <a:p>
              <a:pPr marL="342900" lvl="1" indent="-342900">
                <a:lnSpc>
                  <a:spcPct val="95000"/>
                </a:lnSpc>
                <a:spcBef>
                  <a:spcPct val="20000"/>
                </a:spcBef>
              </a:pPr>
              <a:r>
                <a:rPr lang="zh-CN" altLang="en-US" sz="1600" b="1" dirty="0">
                  <a:solidFill>
                    <a:srgbClr val="11576A"/>
                  </a:solidFill>
                  <a:latin typeface="微软雅黑" pitchFamily="34" charset="-122"/>
                  <a:ea typeface="微软雅黑" pitchFamily="34" charset="-122"/>
                  <a:sym typeface="Times New Roman" charset="0"/>
                </a:rPr>
                <a:t>段访问：逻辑地址由二元组(s, addr)表示</a:t>
              </a:r>
            </a:p>
            <a:p>
              <a:pPr marL="342900" lvl="1" indent="-342900">
                <a:lnSpc>
                  <a:spcPct val="95000"/>
                </a:lnSpc>
                <a:spcBef>
                  <a:spcPct val="20000"/>
                </a:spcBef>
              </a:pPr>
              <a:endParaRPr lang="en-US" altLang="zh-CN" sz="1600" dirty="0">
                <a:solidFill>
                  <a:srgbClr val="000000"/>
                </a:solidFill>
                <a:sym typeface="Times New Roman" charset="0"/>
              </a:endParaRPr>
            </a:p>
          </p:txBody>
        </p:sp>
        <p:sp>
          <p:nvSpPr>
            <p:cNvPr id="139" name="TextBox 138"/>
            <p:cNvSpPr txBox="1"/>
            <p:nvPr/>
          </p:nvSpPr>
          <p:spPr>
            <a:xfrm>
              <a:off x="1142106" y="2362582"/>
              <a:ext cx="7207048" cy="326243"/>
            </a:xfrm>
            <a:prstGeom prst="rect">
              <a:avLst/>
            </a:prstGeom>
            <a:noFill/>
          </p:spPr>
          <p:txBody>
            <a:bodyPr wrap="square" rtlCol="0">
              <a:spAutoFit/>
            </a:bodyPr>
            <a:lstStyle/>
            <a:p>
              <a:pPr marL="342900" lvl="1" indent="-342900">
                <a:lnSpc>
                  <a:spcPct val="95000"/>
                </a:lnSpc>
                <a:spcBef>
                  <a:spcPct val="20000"/>
                </a:spcBef>
              </a:pPr>
              <a:r>
                <a:rPr lang="zh-CN" altLang="en-US" sz="1600" b="1" dirty="0">
                  <a:solidFill>
                    <a:srgbClr val="11576A"/>
                  </a:solidFill>
                  <a:latin typeface="微软雅黑" pitchFamily="34" charset="-122"/>
                  <a:ea typeface="微软雅黑" pitchFamily="34" charset="-122"/>
                  <a:sym typeface="Times New Roman" charset="0"/>
                </a:rPr>
                <a:t>s — 段号</a:t>
              </a:r>
            </a:p>
          </p:txBody>
        </p:sp>
        <p:pic>
          <p:nvPicPr>
            <p:cNvPr id="140" name="图片 139" descr="小点1.png"/>
            <p:cNvPicPr>
              <a:picLocks noChangeAspect="1"/>
            </p:cNvPicPr>
            <p:nvPr/>
          </p:nvPicPr>
          <p:blipFill>
            <a:blip r:embed="rId2" cstate="print"/>
            <a:stretch>
              <a:fillRect/>
            </a:stretch>
          </p:blipFill>
          <p:spPr>
            <a:xfrm>
              <a:off x="991040" y="2453806"/>
              <a:ext cx="151066" cy="148997"/>
            </a:xfrm>
            <a:prstGeom prst="rect">
              <a:avLst/>
            </a:prstGeom>
          </p:spPr>
        </p:pic>
        <p:sp>
          <p:nvSpPr>
            <p:cNvPr id="141" name="TextBox 140"/>
            <p:cNvSpPr txBox="1"/>
            <p:nvPr/>
          </p:nvSpPr>
          <p:spPr>
            <a:xfrm>
              <a:off x="1142106" y="2631619"/>
              <a:ext cx="7207048" cy="326243"/>
            </a:xfrm>
            <a:prstGeom prst="rect">
              <a:avLst/>
            </a:prstGeom>
            <a:noFill/>
          </p:spPr>
          <p:txBody>
            <a:bodyPr wrap="square" rtlCol="0">
              <a:spAutoFit/>
            </a:bodyPr>
            <a:lstStyle/>
            <a:p>
              <a:pPr marL="342900" lvl="1" indent="-342900">
                <a:lnSpc>
                  <a:spcPct val="95000"/>
                </a:lnSpc>
                <a:spcBef>
                  <a:spcPct val="20000"/>
                </a:spcBef>
              </a:pPr>
              <a:r>
                <a:rPr lang="zh-CN" altLang="en-US" sz="1600" b="1" dirty="0">
                  <a:solidFill>
                    <a:srgbClr val="11576A"/>
                  </a:solidFill>
                  <a:latin typeface="微软雅黑" pitchFamily="34" charset="-122"/>
                  <a:ea typeface="微软雅黑" pitchFamily="34" charset="-122"/>
                  <a:sym typeface="Times New Roman" charset="0"/>
                </a:rPr>
                <a:t>addr — 段内偏移</a:t>
              </a:r>
            </a:p>
          </p:txBody>
        </p:sp>
        <p:pic>
          <p:nvPicPr>
            <p:cNvPr id="142" name="图片 141" descr="小点1.png"/>
            <p:cNvPicPr>
              <a:picLocks noChangeAspect="1"/>
            </p:cNvPicPr>
            <p:nvPr/>
          </p:nvPicPr>
          <p:blipFill>
            <a:blip r:embed="rId2" cstate="print"/>
            <a:stretch>
              <a:fillRect/>
            </a:stretch>
          </p:blipFill>
          <p:spPr>
            <a:xfrm>
              <a:off x="991040" y="2722843"/>
              <a:ext cx="151066" cy="148997"/>
            </a:xfrm>
            <a:prstGeom prst="rect">
              <a:avLst/>
            </a:prstGeom>
          </p:spPr>
        </p:pic>
        <p:sp>
          <p:nvSpPr>
            <p:cNvPr id="143" name="矩形 8"/>
            <p:cNvSpPr>
              <a:spLocks noChangeArrowheads="1"/>
            </p:cNvSpPr>
            <p:nvPr/>
          </p:nvSpPr>
          <p:spPr bwMode="auto">
            <a:xfrm>
              <a:off x="520709" y="2055500"/>
              <a:ext cx="32412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solidFill>
                  <a:srgbClr val="11576A"/>
                </a:solidFill>
                <a:latin typeface="Calibri" pitchFamily="34" charset="0"/>
              </a:endParaRPr>
            </a:p>
          </p:txBody>
        </p:sp>
      </p:grpSp>
      <p:grpSp>
        <p:nvGrpSpPr>
          <p:cNvPr id="5" name="组合 4"/>
          <p:cNvGrpSpPr/>
          <p:nvPr/>
        </p:nvGrpSpPr>
        <p:grpSpPr>
          <a:xfrm>
            <a:off x="6027151" y="3969709"/>
            <a:ext cx="3278013" cy="1757917"/>
            <a:chOff x="994460" y="3030514"/>
            <a:chExt cx="3278013" cy="1757917"/>
          </a:xfrm>
        </p:grpSpPr>
        <p:sp>
          <p:nvSpPr>
            <p:cNvPr id="83" name="Rectangle 1"/>
            <p:cNvSpPr>
              <a:spLocks noChangeArrowheads="1"/>
            </p:cNvSpPr>
            <p:nvPr/>
          </p:nvSpPr>
          <p:spPr bwMode="auto">
            <a:xfrm>
              <a:off x="998504" y="3030514"/>
              <a:ext cx="3246983" cy="1262208"/>
            </a:xfrm>
            <a:prstGeom prst="rect">
              <a:avLst/>
            </a:prstGeom>
            <a:gradFill>
              <a:gsLst>
                <a:gs pos="100000">
                  <a:srgbClr val="005072"/>
                </a:gs>
                <a:gs pos="0">
                  <a:srgbClr val="0093DD"/>
                </a:gs>
              </a:gsLst>
              <a:lin ang="5400000" scaled="0"/>
            </a:gradFill>
            <a:ln w="12600" cmpd="sng">
              <a:solidFill>
                <a:srgbClr val="11576A"/>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86" name="Rectangle 4"/>
            <p:cNvSpPr>
              <a:spLocks noChangeArrowheads="1"/>
            </p:cNvSpPr>
            <p:nvPr/>
          </p:nvSpPr>
          <p:spPr bwMode="auto">
            <a:xfrm>
              <a:off x="1143891" y="4452785"/>
              <a:ext cx="3005372" cy="3356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solidFill>
                    <a:srgbClr val="11576A"/>
                  </a:solidFill>
                  <a:latin typeface="微软雅黑" pitchFamily="34" charset="-122"/>
                  <a:ea typeface="微软雅黑" pitchFamily="34" charset="-122"/>
                  <a:sym typeface="Times New Roman" charset="0"/>
                </a:rPr>
                <a:t>“段基址</a:t>
              </a:r>
              <a:r>
                <a:rPr lang="en-US" altLang="en-US" sz="1600" b="1" dirty="0">
                  <a:solidFill>
                    <a:srgbClr val="11576A"/>
                  </a:solidFill>
                  <a:latin typeface="微软雅黑" pitchFamily="34" charset="-122"/>
                  <a:ea typeface="微软雅黑" pitchFamily="34" charset="-122"/>
                  <a:sym typeface="Times New Roman" charset="0"/>
                </a:rPr>
                <a:t>+</a:t>
              </a:r>
              <a:r>
                <a:rPr lang="zh-CN" altLang="en-US" sz="1600" b="1" dirty="0">
                  <a:solidFill>
                    <a:srgbClr val="11576A"/>
                  </a:solidFill>
                  <a:latin typeface="微软雅黑" pitchFamily="34" charset="-122"/>
                  <a:ea typeface="微软雅黑" pitchFamily="34" charset="-122"/>
                  <a:sym typeface="Times New Roman" charset="0"/>
                </a:rPr>
                <a:t>段内偏移”实现方案</a:t>
              </a:r>
            </a:p>
          </p:txBody>
        </p:sp>
        <p:sp>
          <p:nvSpPr>
            <p:cNvPr id="87" name="Rectangle 5"/>
            <p:cNvSpPr>
              <a:spLocks noChangeArrowheads="1"/>
            </p:cNvSpPr>
            <p:nvPr/>
          </p:nvSpPr>
          <p:spPr bwMode="auto">
            <a:xfrm>
              <a:off x="1484409" y="3928995"/>
              <a:ext cx="329272" cy="304868"/>
            </a:xfrm>
            <a:prstGeom prst="rect">
              <a:avLst/>
            </a:prstGeom>
            <a:gradFill>
              <a:gsLst>
                <a:gs pos="100000">
                  <a:srgbClr val="FDD000"/>
                </a:gs>
                <a:gs pos="0">
                  <a:srgbClr val="FFF9B1"/>
                </a:gs>
              </a:gsLst>
              <a:lin ang="5400000" scaled="0"/>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i="1" dirty="0">
                  <a:solidFill>
                    <a:srgbClr val="007C8B"/>
                  </a:solidFill>
                  <a:sym typeface="Comic Sans MS" charset="0"/>
                </a:rPr>
                <a:t>s</a:t>
              </a:r>
              <a:endParaRPr lang="zh-CN" altLang="en-US" sz="1400" dirty="0">
                <a:solidFill>
                  <a:srgbClr val="007C8B"/>
                </a:solidFill>
              </a:endParaRPr>
            </a:p>
          </p:txBody>
        </p:sp>
        <p:grpSp>
          <p:nvGrpSpPr>
            <p:cNvPr id="89" name="Group 8"/>
            <p:cNvGrpSpPr>
              <a:grpSpLocks/>
            </p:cNvGrpSpPr>
            <p:nvPr/>
          </p:nvGrpSpPr>
          <p:grpSpPr bwMode="auto">
            <a:xfrm>
              <a:off x="2436781" y="3131125"/>
              <a:ext cx="1599482" cy="282397"/>
              <a:chOff x="0" y="0"/>
              <a:chExt cx="1399" cy="247"/>
            </a:xfrm>
          </p:grpSpPr>
          <p:sp>
            <p:nvSpPr>
              <p:cNvPr id="97" name="Rectangle 8"/>
              <p:cNvSpPr>
                <a:spLocks noChangeArrowheads="1"/>
              </p:cNvSpPr>
              <p:nvPr/>
            </p:nvSpPr>
            <p:spPr bwMode="auto">
              <a:xfrm>
                <a:off x="0"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8" name="Rectangle 9"/>
              <p:cNvSpPr>
                <a:spLocks noChangeArrowheads="1"/>
              </p:cNvSpPr>
              <p:nvPr/>
            </p:nvSpPr>
            <p:spPr bwMode="auto">
              <a:xfrm>
                <a:off x="128"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9" name="Rectangle 10"/>
              <p:cNvSpPr>
                <a:spLocks noChangeArrowheads="1"/>
              </p:cNvSpPr>
              <p:nvPr/>
            </p:nvSpPr>
            <p:spPr bwMode="auto">
              <a:xfrm>
                <a:off x="256"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0" name="Rectangle 11"/>
              <p:cNvSpPr>
                <a:spLocks noChangeArrowheads="1"/>
              </p:cNvSpPr>
              <p:nvPr/>
            </p:nvSpPr>
            <p:spPr bwMode="auto">
              <a:xfrm>
                <a:off x="384"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1" name="Rectangle 12"/>
              <p:cNvSpPr>
                <a:spLocks noChangeArrowheads="1"/>
              </p:cNvSpPr>
              <p:nvPr/>
            </p:nvSpPr>
            <p:spPr bwMode="auto">
              <a:xfrm>
                <a:off x="512"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2" name="Rectangle 13"/>
              <p:cNvSpPr>
                <a:spLocks noChangeArrowheads="1"/>
              </p:cNvSpPr>
              <p:nvPr/>
            </p:nvSpPr>
            <p:spPr bwMode="auto">
              <a:xfrm>
                <a:off x="640"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3" name="Rectangle 14"/>
              <p:cNvSpPr>
                <a:spLocks noChangeArrowheads="1"/>
              </p:cNvSpPr>
              <p:nvPr/>
            </p:nvSpPr>
            <p:spPr bwMode="auto">
              <a:xfrm>
                <a:off x="768"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4" name="Rectangle 15"/>
              <p:cNvSpPr>
                <a:spLocks noChangeArrowheads="1"/>
              </p:cNvSpPr>
              <p:nvPr/>
            </p:nvSpPr>
            <p:spPr bwMode="auto">
              <a:xfrm>
                <a:off x="896"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5" name="Rectangle 16"/>
              <p:cNvSpPr>
                <a:spLocks noChangeArrowheads="1"/>
              </p:cNvSpPr>
              <p:nvPr/>
            </p:nvSpPr>
            <p:spPr bwMode="auto">
              <a:xfrm>
                <a:off x="1024"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6" name="Rectangle 17"/>
              <p:cNvSpPr>
                <a:spLocks noChangeArrowheads="1"/>
              </p:cNvSpPr>
              <p:nvPr/>
            </p:nvSpPr>
            <p:spPr bwMode="auto">
              <a:xfrm>
                <a:off x="1152"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7" name="Rectangle 18"/>
              <p:cNvSpPr>
                <a:spLocks noChangeArrowheads="1"/>
              </p:cNvSpPr>
              <p:nvPr/>
            </p:nvSpPr>
            <p:spPr bwMode="auto">
              <a:xfrm>
                <a:off x="1280"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grpSp>
        <p:grpSp>
          <p:nvGrpSpPr>
            <p:cNvPr id="90" name="Group 20"/>
            <p:cNvGrpSpPr>
              <a:grpSpLocks/>
            </p:cNvGrpSpPr>
            <p:nvPr/>
          </p:nvGrpSpPr>
          <p:grpSpPr bwMode="auto">
            <a:xfrm>
              <a:off x="1208872" y="3131125"/>
              <a:ext cx="867768" cy="282397"/>
              <a:chOff x="0" y="0"/>
              <a:chExt cx="759" cy="247"/>
            </a:xfrm>
          </p:grpSpPr>
          <p:sp>
            <p:nvSpPr>
              <p:cNvPr id="91" name="Rectangle 20"/>
              <p:cNvSpPr>
                <a:spLocks noChangeArrowheads="1"/>
              </p:cNvSpPr>
              <p:nvPr/>
            </p:nvSpPr>
            <p:spPr bwMode="auto">
              <a:xfrm>
                <a:off x="0"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2" name="Rectangle 21"/>
              <p:cNvSpPr>
                <a:spLocks noChangeArrowheads="1"/>
              </p:cNvSpPr>
              <p:nvPr/>
            </p:nvSpPr>
            <p:spPr bwMode="auto">
              <a:xfrm>
                <a:off x="128"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3" name="Rectangle 22"/>
              <p:cNvSpPr>
                <a:spLocks noChangeArrowheads="1"/>
              </p:cNvSpPr>
              <p:nvPr/>
            </p:nvSpPr>
            <p:spPr bwMode="auto">
              <a:xfrm>
                <a:off x="256"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4" name="Rectangle 23"/>
              <p:cNvSpPr>
                <a:spLocks noChangeArrowheads="1"/>
              </p:cNvSpPr>
              <p:nvPr/>
            </p:nvSpPr>
            <p:spPr bwMode="auto">
              <a:xfrm>
                <a:off x="384"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5" name="Rectangle 24"/>
              <p:cNvSpPr>
                <a:spLocks noChangeArrowheads="1"/>
              </p:cNvSpPr>
              <p:nvPr/>
            </p:nvSpPr>
            <p:spPr bwMode="auto">
              <a:xfrm>
                <a:off x="512"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6" name="Rectangle 25"/>
              <p:cNvSpPr>
                <a:spLocks noChangeArrowheads="1"/>
              </p:cNvSpPr>
              <p:nvPr/>
            </p:nvSpPr>
            <p:spPr bwMode="auto">
              <a:xfrm>
                <a:off x="640" y="0"/>
                <a:ext cx="120" cy="248"/>
              </a:xfrm>
              <a:prstGeom prst="rect">
                <a:avLst/>
              </a:prstGeom>
              <a:solidFill>
                <a:srgbClr val="CCFFFF"/>
              </a:solidFill>
              <a:ln w="12700"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grpSp>
        <p:sp>
          <p:nvSpPr>
            <p:cNvPr id="108" name="Rectangle 26"/>
            <p:cNvSpPr>
              <a:spLocks noChangeArrowheads="1"/>
            </p:cNvSpPr>
            <p:nvPr/>
          </p:nvSpPr>
          <p:spPr bwMode="auto">
            <a:xfrm>
              <a:off x="3013006" y="3928995"/>
              <a:ext cx="731714" cy="304868"/>
            </a:xfrm>
            <a:prstGeom prst="rect">
              <a:avLst/>
            </a:prstGeom>
            <a:gradFill>
              <a:gsLst>
                <a:gs pos="100000">
                  <a:srgbClr val="FDD000"/>
                </a:gs>
                <a:gs pos="0">
                  <a:srgbClr val="FFF9B1"/>
                </a:gs>
              </a:gsLst>
              <a:lin ang="5400000" scaled="0"/>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i="1" dirty="0">
                  <a:solidFill>
                    <a:srgbClr val="007C8B"/>
                  </a:solidFill>
                  <a:sym typeface="Comic Sans MS" charset="0"/>
                </a:rPr>
                <a:t>addr</a:t>
              </a:r>
              <a:endParaRPr lang="zh-CN" altLang="en-US" sz="1400" dirty="0">
                <a:solidFill>
                  <a:srgbClr val="007C8B"/>
                </a:solidFill>
              </a:endParaRPr>
            </a:p>
          </p:txBody>
        </p:sp>
        <p:sp>
          <p:nvSpPr>
            <p:cNvPr id="110" name="Rectangle 28"/>
            <p:cNvSpPr>
              <a:spLocks noChangeArrowheads="1"/>
            </p:cNvSpPr>
            <p:nvPr/>
          </p:nvSpPr>
          <p:spPr bwMode="auto">
            <a:xfrm>
              <a:off x="2299567" y="3375267"/>
              <a:ext cx="426141" cy="3664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i="1" dirty="0">
                  <a:solidFill>
                    <a:srgbClr val="FFF9B1"/>
                  </a:solidFill>
                  <a:sym typeface="Comic Sans MS" charset="0"/>
                </a:rPr>
                <a:t>n</a:t>
              </a:r>
              <a:r>
                <a:rPr lang="zh-CN" altLang="en-US" baseline="-25000" dirty="0">
                  <a:solidFill>
                    <a:srgbClr val="FFF9B1"/>
                  </a:solidFill>
                  <a:sym typeface="Comic Sans MS" charset="0"/>
                </a:rPr>
                <a:t>1</a:t>
              </a:r>
              <a:endParaRPr lang="zh-CN" altLang="en-US" dirty="0">
                <a:solidFill>
                  <a:srgbClr val="FFF9B1"/>
                </a:solidFill>
              </a:endParaRPr>
            </a:p>
          </p:txBody>
        </p:sp>
        <p:sp>
          <p:nvSpPr>
            <p:cNvPr id="111" name="Rectangle 29"/>
            <p:cNvSpPr>
              <a:spLocks noChangeArrowheads="1"/>
            </p:cNvSpPr>
            <p:nvPr/>
          </p:nvSpPr>
          <p:spPr bwMode="auto">
            <a:xfrm>
              <a:off x="1985176" y="3435244"/>
              <a:ext cx="329961" cy="3664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solidFill>
                    <a:srgbClr val="FFF9B1"/>
                  </a:solidFill>
                  <a:sym typeface="Comic Sans MS" charset="0"/>
                </a:rPr>
                <a:t>0</a:t>
              </a:r>
              <a:endParaRPr lang="zh-CN" altLang="en-US" dirty="0">
                <a:solidFill>
                  <a:srgbClr val="FFF9B1"/>
                </a:solidFill>
              </a:endParaRPr>
            </a:p>
          </p:txBody>
        </p:sp>
        <p:sp>
          <p:nvSpPr>
            <p:cNvPr id="112" name="Rectangle 30"/>
            <p:cNvSpPr>
              <a:spLocks noChangeArrowheads="1"/>
            </p:cNvSpPr>
            <p:nvPr/>
          </p:nvSpPr>
          <p:spPr bwMode="auto">
            <a:xfrm>
              <a:off x="3942512" y="3435244"/>
              <a:ext cx="329961" cy="3664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dirty="0">
                  <a:solidFill>
                    <a:srgbClr val="FFF9B1"/>
                  </a:solidFill>
                  <a:sym typeface="Comic Sans MS" charset="0"/>
                </a:rPr>
                <a:t>0</a:t>
              </a:r>
              <a:endParaRPr lang="zh-CN" altLang="en-US" dirty="0">
                <a:solidFill>
                  <a:srgbClr val="FFF9B1"/>
                </a:solidFill>
              </a:endParaRPr>
            </a:p>
          </p:txBody>
        </p:sp>
        <p:sp>
          <p:nvSpPr>
            <p:cNvPr id="113" name="Rectangle 31"/>
            <p:cNvSpPr>
              <a:spLocks noChangeArrowheads="1"/>
            </p:cNvSpPr>
            <p:nvPr/>
          </p:nvSpPr>
          <p:spPr bwMode="auto">
            <a:xfrm>
              <a:off x="994460" y="3370694"/>
              <a:ext cx="426141" cy="3664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i="1" dirty="0">
                  <a:solidFill>
                    <a:srgbClr val="FFF9B1"/>
                  </a:solidFill>
                  <a:sym typeface="Comic Sans MS" charset="0"/>
                </a:rPr>
                <a:t>n</a:t>
              </a:r>
              <a:r>
                <a:rPr lang="zh-CN" altLang="en-US" baseline="-25000" dirty="0">
                  <a:solidFill>
                    <a:srgbClr val="FFF9B1"/>
                  </a:solidFill>
                  <a:sym typeface="Comic Sans MS" charset="0"/>
                </a:rPr>
                <a:t>2</a:t>
              </a:r>
              <a:endParaRPr lang="zh-CN" altLang="en-US" dirty="0">
                <a:solidFill>
                  <a:srgbClr val="FFF9B1"/>
                </a:solidFill>
              </a:endParaRPr>
            </a:p>
          </p:txBody>
        </p:sp>
        <p:sp>
          <p:nvSpPr>
            <p:cNvPr id="71" name="AutoShape 50"/>
            <p:cNvSpPr>
              <a:spLocks/>
            </p:cNvSpPr>
            <p:nvPr/>
          </p:nvSpPr>
          <p:spPr bwMode="auto">
            <a:xfrm rot="16200000">
              <a:off x="3150203" y="2982474"/>
              <a:ext cx="173783" cy="1600623"/>
            </a:xfrm>
            <a:prstGeom prst="leftBrace">
              <a:avLst>
                <a:gd name="adj1" fmla="val 43791"/>
                <a:gd name="adj2" fmla="val 50000"/>
              </a:avLst>
            </a:prstGeom>
            <a:noFill/>
            <a:ln w="12600" cmpd="sng">
              <a:solidFill>
                <a:srgbClr val="FFF9B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72" name="AutoShape 50"/>
            <p:cNvSpPr>
              <a:spLocks/>
            </p:cNvSpPr>
            <p:nvPr/>
          </p:nvSpPr>
          <p:spPr bwMode="auto">
            <a:xfrm rot="16200000">
              <a:off x="1553612" y="3345502"/>
              <a:ext cx="173782" cy="874568"/>
            </a:xfrm>
            <a:prstGeom prst="leftBrace">
              <a:avLst>
                <a:gd name="adj1" fmla="val 43791"/>
                <a:gd name="adj2" fmla="val 50000"/>
              </a:avLst>
            </a:prstGeom>
            <a:noFill/>
            <a:ln w="12600" cmpd="sng">
              <a:solidFill>
                <a:srgbClr val="FFF9B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grpSp>
      <p:sp>
        <p:nvSpPr>
          <p:cNvPr id="13" name="右箭头 12"/>
          <p:cNvSpPr/>
          <p:nvPr/>
        </p:nvSpPr>
        <p:spPr>
          <a:xfrm>
            <a:off x="5441833" y="4445825"/>
            <a:ext cx="508479" cy="271524"/>
          </a:xfrm>
          <a:prstGeom prst="rightArrow">
            <a:avLst/>
          </a:prstGeom>
          <a:solidFill>
            <a:srgbClr val="FFFF00"/>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04E2820-842F-5DC7-2267-37F2BBC9F033}"/>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92AA2D98-4901-D292-BCC8-5624C9906DF3}"/>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段访问机制</a:t>
            </a:r>
          </a:p>
        </p:txBody>
      </p:sp>
    </p:spTree>
    <p:extLst>
      <p:ext uri="{BB962C8B-B14F-4D97-AF65-F5344CB8AC3E}">
        <p14:creationId xmlns:p14="http://schemas.microsoft.com/office/powerpoint/2010/main" val="2919006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679522" y="1960500"/>
            <a:ext cx="1512822" cy="3540602"/>
            <a:chOff x="5004048" y="1103250"/>
            <a:chExt cx="1512822" cy="3540602"/>
          </a:xfrm>
        </p:grpSpPr>
        <p:sp>
          <p:nvSpPr>
            <p:cNvPr id="20" name="Rectangle 5"/>
            <p:cNvSpPr>
              <a:spLocks noChangeArrowheads="1"/>
            </p:cNvSpPr>
            <p:nvPr/>
          </p:nvSpPr>
          <p:spPr bwMode="auto">
            <a:xfrm>
              <a:off x="5565096" y="1439135"/>
              <a:ext cx="800645" cy="3128504"/>
            </a:xfrm>
            <a:prstGeom prst="rect">
              <a:avLst/>
            </a:prstGeom>
            <a:solidFill>
              <a:srgbClr val="FFFFFF"/>
            </a:solidFill>
            <a:ln w="12600" cmpd="sng">
              <a:solidFill>
                <a:srgbClr val="000099"/>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21" name="Rectangle 6"/>
            <p:cNvSpPr>
              <a:spLocks noChangeArrowheads="1"/>
            </p:cNvSpPr>
            <p:nvPr/>
          </p:nvSpPr>
          <p:spPr bwMode="auto">
            <a:xfrm>
              <a:off x="5562052" y="2223545"/>
              <a:ext cx="803689" cy="974169"/>
            </a:xfrm>
            <a:prstGeom prst="rect">
              <a:avLst/>
            </a:prstGeom>
            <a:solidFill>
              <a:srgbClr val="99FFC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altLang="en-US" sz="800">
                <a:solidFill>
                  <a:srgbClr val="000099"/>
                </a:solidFill>
                <a:sym typeface="Comic Sans MS" charset="0"/>
              </a:endParaRPr>
            </a:p>
          </p:txBody>
        </p:sp>
        <p:sp>
          <p:nvSpPr>
            <p:cNvPr id="22" name="Rectangle 7"/>
            <p:cNvSpPr>
              <a:spLocks noChangeArrowheads="1"/>
            </p:cNvSpPr>
            <p:nvPr/>
          </p:nvSpPr>
          <p:spPr bwMode="auto">
            <a:xfrm>
              <a:off x="5567055" y="4366717"/>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3" name="Rectangle 8"/>
            <p:cNvSpPr>
              <a:spLocks noChangeArrowheads="1"/>
            </p:cNvSpPr>
            <p:nvPr/>
          </p:nvSpPr>
          <p:spPr bwMode="auto">
            <a:xfrm>
              <a:off x="5567055" y="4171883"/>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4" name="Rectangle 9"/>
            <p:cNvSpPr>
              <a:spLocks noChangeArrowheads="1"/>
            </p:cNvSpPr>
            <p:nvPr/>
          </p:nvSpPr>
          <p:spPr bwMode="auto">
            <a:xfrm>
              <a:off x="5567055" y="3977049"/>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5" name="Rectangle 10"/>
            <p:cNvSpPr>
              <a:spLocks noChangeArrowheads="1"/>
            </p:cNvSpPr>
            <p:nvPr/>
          </p:nvSpPr>
          <p:spPr bwMode="auto">
            <a:xfrm>
              <a:off x="5567055" y="3782215"/>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6" name="Rectangle 11"/>
            <p:cNvSpPr>
              <a:spLocks noChangeArrowheads="1"/>
            </p:cNvSpPr>
            <p:nvPr/>
          </p:nvSpPr>
          <p:spPr bwMode="auto">
            <a:xfrm>
              <a:off x="5567055" y="3587381"/>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7" name="Rectangle 12"/>
            <p:cNvSpPr>
              <a:spLocks noChangeArrowheads="1"/>
            </p:cNvSpPr>
            <p:nvPr/>
          </p:nvSpPr>
          <p:spPr bwMode="auto">
            <a:xfrm>
              <a:off x="5567055" y="3392548"/>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8" name="Rectangle 13"/>
            <p:cNvSpPr>
              <a:spLocks noChangeArrowheads="1"/>
            </p:cNvSpPr>
            <p:nvPr/>
          </p:nvSpPr>
          <p:spPr bwMode="auto">
            <a:xfrm>
              <a:off x="5567055" y="3197714"/>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29" name="Rectangle 14"/>
            <p:cNvSpPr>
              <a:spLocks noChangeArrowheads="1"/>
            </p:cNvSpPr>
            <p:nvPr/>
          </p:nvSpPr>
          <p:spPr bwMode="auto">
            <a:xfrm>
              <a:off x="5567055" y="3002880"/>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37" name="Rectangle 15"/>
            <p:cNvSpPr>
              <a:spLocks noChangeArrowheads="1"/>
            </p:cNvSpPr>
            <p:nvPr/>
          </p:nvSpPr>
          <p:spPr bwMode="auto">
            <a:xfrm>
              <a:off x="5567055" y="2808046"/>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44" name="Rectangle 16"/>
            <p:cNvSpPr>
              <a:spLocks noChangeArrowheads="1"/>
            </p:cNvSpPr>
            <p:nvPr/>
          </p:nvSpPr>
          <p:spPr bwMode="auto">
            <a:xfrm>
              <a:off x="5567055" y="2613212"/>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45" name="Rectangle 17"/>
            <p:cNvSpPr>
              <a:spLocks noChangeArrowheads="1"/>
            </p:cNvSpPr>
            <p:nvPr/>
          </p:nvSpPr>
          <p:spPr bwMode="auto">
            <a:xfrm>
              <a:off x="5567055" y="2418378"/>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46" name="Rectangle 18"/>
            <p:cNvSpPr>
              <a:spLocks noChangeArrowheads="1"/>
            </p:cNvSpPr>
            <p:nvPr/>
          </p:nvSpPr>
          <p:spPr bwMode="auto">
            <a:xfrm>
              <a:off x="5567055" y="2223545"/>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47" name="Rectangle 19"/>
            <p:cNvSpPr>
              <a:spLocks noChangeArrowheads="1"/>
            </p:cNvSpPr>
            <p:nvPr/>
          </p:nvSpPr>
          <p:spPr bwMode="auto">
            <a:xfrm>
              <a:off x="5567055" y="2028711"/>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48" name="Rectangle 20"/>
            <p:cNvSpPr>
              <a:spLocks noChangeArrowheads="1"/>
            </p:cNvSpPr>
            <p:nvPr/>
          </p:nvSpPr>
          <p:spPr bwMode="auto">
            <a:xfrm>
              <a:off x="5567055" y="1833877"/>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49" name="Rectangle 21"/>
            <p:cNvSpPr>
              <a:spLocks noChangeArrowheads="1"/>
            </p:cNvSpPr>
            <p:nvPr/>
          </p:nvSpPr>
          <p:spPr bwMode="auto">
            <a:xfrm>
              <a:off x="5567055" y="1639043"/>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50" name="Rectangle 22"/>
            <p:cNvSpPr>
              <a:spLocks noChangeArrowheads="1"/>
            </p:cNvSpPr>
            <p:nvPr/>
          </p:nvSpPr>
          <p:spPr bwMode="auto">
            <a:xfrm>
              <a:off x="5567055" y="1444209"/>
              <a:ext cx="803689" cy="186716"/>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51" name="Rectangle 23"/>
            <p:cNvSpPr>
              <a:spLocks noChangeArrowheads="1"/>
            </p:cNvSpPr>
            <p:nvPr/>
          </p:nvSpPr>
          <p:spPr bwMode="auto">
            <a:xfrm>
              <a:off x="5287979" y="4369761"/>
              <a:ext cx="277063"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urier New" charset="0"/>
                </a:rPr>
                <a:t>0</a:t>
              </a:r>
            </a:p>
          </p:txBody>
        </p:sp>
        <p:sp>
          <p:nvSpPr>
            <p:cNvPr id="52" name="Rectangle 24"/>
            <p:cNvSpPr>
              <a:spLocks noChangeArrowheads="1"/>
            </p:cNvSpPr>
            <p:nvPr/>
          </p:nvSpPr>
          <p:spPr bwMode="auto">
            <a:xfrm>
              <a:off x="5498122" y="2380832"/>
              <a:ext cx="936623"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5072"/>
                  </a:solidFill>
                  <a:latin typeface="微软雅黑" pitchFamily="34" charset="-122"/>
                  <a:ea typeface="微软雅黑" pitchFamily="34" charset="-122"/>
                  <a:sym typeface="Comic Sans MS" charset="0"/>
                </a:rPr>
                <a:t>程序段</a:t>
              </a:r>
              <a:endParaRPr lang="zh-CN" altLang="en-US" sz="1200" b="1" dirty="0">
                <a:solidFill>
                  <a:srgbClr val="005072"/>
                </a:solidFill>
                <a:latin typeface="微软雅黑" pitchFamily="34" charset="-122"/>
                <a:ea typeface="微软雅黑" pitchFamily="34" charset="-122"/>
                <a:sym typeface="Times New Roman" charset="0"/>
              </a:endParaRPr>
            </a:p>
          </p:txBody>
        </p:sp>
        <p:sp>
          <p:nvSpPr>
            <p:cNvPr id="53" name="Line 26"/>
            <p:cNvSpPr>
              <a:spLocks noChangeShapeType="1"/>
            </p:cNvSpPr>
            <p:nvPr/>
          </p:nvSpPr>
          <p:spPr bwMode="auto">
            <a:xfrm>
              <a:off x="5420930" y="3191817"/>
              <a:ext cx="1095940" cy="1014"/>
            </a:xfrm>
            <a:prstGeom prst="line">
              <a:avLst/>
            </a:prstGeom>
            <a:noFill/>
            <a:ln w="28575"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4" name="Line 27"/>
            <p:cNvSpPr>
              <a:spLocks noChangeShapeType="1"/>
            </p:cNvSpPr>
            <p:nvPr/>
          </p:nvSpPr>
          <p:spPr bwMode="auto">
            <a:xfrm>
              <a:off x="5420930" y="2217648"/>
              <a:ext cx="1095940" cy="1014"/>
            </a:xfrm>
            <a:prstGeom prst="line">
              <a:avLst/>
            </a:prstGeom>
            <a:noFill/>
            <a:ln w="28575"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55" name="Rectangle 28"/>
            <p:cNvSpPr>
              <a:spLocks noChangeArrowheads="1"/>
            </p:cNvSpPr>
            <p:nvPr/>
          </p:nvSpPr>
          <p:spPr bwMode="auto">
            <a:xfrm>
              <a:off x="5004048" y="2957215"/>
              <a:ext cx="560794"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urier New" charset="0"/>
                </a:rPr>
                <a:t>1000</a:t>
              </a:r>
            </a:p>
          </p:txBody>
        </p:sp>
        <p:sp>
          <p:nvSpPr>
            <p:cNvPr id="56" name="Rectangle 29"/>
            <p:cNvSpPr>
              <a:spLocks noChangeArrowheads="1"/>
            </p:cNvSpPr>
            <p:nvPr/>
          </p:nvSpPr>
          <p:spPr bwMode="auto">
            <a:xfrm>
              <a:off x="5004048" y="2169762"/>
              <a:ext cx="560794"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urier New" charset="0"/>
                </a:rPr>
                <a:t>1500</a:t>
              </a:r>
              <a:endParaRPr lang="zh-CN" altLang="en-US" sz="1200" b="1" dirty="0">
                <a:solidFill>
                  <a:srgbClr val="007C8B"/>
                </a:solidFill>
                <a:latin typeface="微软雅黑" pitchFamily="34" charset="-122"/>
                <a:ea typeface="微软雅黑" pitchFamily="34" charset="-122"/>
                <a:sym typeface="Times New Roman" charset="0"/>
              </a:endParaRPr>
            </a:p>
          </p:txBody>
        </p:sp>
        <p:sp>
          <p:nvSpPr>
            <p:cNvPr id="68" name="Rectangle 41"/>
            <p:cNvSpPr>
              <a:spLocks noChangeArrowheads="1"/>
            </p:cNvSpPr>
            <p:nvPr/>
          </p:nvSpPr>
          <p:spPr bwMode="auto">
            <a:xfrm>
              <a:off x="5554660" y="1103250"/>
              <a:ext cx="798038"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Times New Roman" charset="0"/>
                </a:rPr>
                <a:t>物理地址</a:t>
              </a:r>
              <a:endParaRPr lang="zh-CN" altLang="en-US" sz="1200" b="1" dirty="0">
                <a:solidFill>
                  <a:srgbClr val="007C8B"/>
                </a:solidFill>
                <a:latin typeface="微软雅黑" pitchFamily="34" charset="-122"/>
                <a:ea typeface="微软雅黑" pitchFamily="34" charset="-122"/>
                <a:sym typeface="Comic Sans MS" charset="0"/>
              </a:endParaRPr>
            </a:p>
          </p:txBody>
        </p:sp>
      </p:grpSp>
      <p:grpSp>
        <p:nvGrpSpPr>
          <p:cNvPr id="10" name="组合 9"/>
          <p:cNvGrpSpPr/>
          <p:nvPr/>
        </p:nvGrpSpPr>
        <p:grpSpPr>
          <a:xfrm>
            <a:off x="6339430" y="3698783"/>
            <a:ext cx="1897842" cy="1322528"/>
            <a:chOff x="3663956" y="2841533"/>
            <a:chExt cx="1897842" cy="1322528"/>
          </a:xfrm>
        </p:grpSpPr>
        <p:sp>
          <p:nvSpPr>
            <p:cNvPr id="59" name="Rectangle 32"/>
            <p:cNvSpPr>
              <a:spLocks noChangeArrowheads="1"/>
            </p:cNvSpPr>
            <p:nvPr/>
          </p:nvSpPr>
          <p:spPr bwMode="auto">
            <a:xfrm>
              <a:off x="4141002" y="3779171"/>
              <a:ext cx="644150" cy="3848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lnSpc>
                  <a:spcPct val="8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Times New Roman" charset="0"/>
                </a:rPr>
                <a:t>段基址</a:t>
              </a:r>
              <a:endParaRPr lang="en-US" altLang="zh-CN" sz="1200" b="1" dirty="0">
                <a:solidFill>
                  <a:srgbClr val="007C8B"/>
                </a:solidFill>
                <a:latin typeface="微软雅黑" pitchFamily="34" charset="-122"/>
                <a:ea typeface="微软雅黑" pitchFamily="34" charset="-122"/>
                <a:sym typeface="Times New Roman" charset="0"/>
              </a:endParaRPr>
            </a:p>
            <a:p>
              <a:pPr algn="ctr">
                <a:lnSpc>
                  <a:spcPct val="8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Times New Roman" charset="0"/>
                </a:rPr>
                <a:t>寄存器</a:t>
              </a:r>
            </a:p>
          </p:txBody>
        </p:sp>
        <p:sp>
          <p:nvSpPr>
            <p:cNvPr id="57" name="Oval 30"/>
            <p:cNvSpPr>
              <a:spLocks noChangeArrowheads="1"/>
            </p:cNvSpPr>
            <p:nvPr/>
          </p:nvSpPr>
          <p:spPr bwMode="auto">
            <a:xfrm>
              <a:off x="4248457" y="2841533"/>
              <a:ext cx="300369" cy="308487"/>
            </a:xfrm>
            <a:prstGeom prst="ellipse">
              <a:avLst/>
            </a:prstGeom>
            <a:solidFill>
              <a:srgbClr val="CCFFFF"/>
            </a:solidFill>
            <a:ln w="25560" cmpd="sng">
              <a:solidFill>
                <a:srgbClr val="007C8B"/>
              </a:solidFill>
              <a:round/>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000" b="1" dirty="0">
                  <a:solidFill>
                    <a:srgbClr val="007C8B"/>
                  </a:solidFill>
                  <a:sym typeface="Comic Sans MS" charset="0"/>
                </a:rPr>
                <a:t>+</a:t>
              </a:r>
              <a:endParaRPr lang="zh-CN" altLang="en-US" sz="2000" dirty="0">
                <a:solidFill>
                  <a:srgbClr val="007C8B"/>
                </a:solidFill>
              </a:endParaRPr>
            </a:p>
          </p:txBody>
        </p:sp>
        <p:sp>
          <p:nvSpPr>
            <p:cNvPr id="58" name="Rectangle 31"/>
            <p:cNvSpPr>
              <a:spLocks noChangeArrowheads="1"/>
            </p:cNvSpPr>
            <p:nvPr/>
          </p:nvSpPr>
          <p:spPr bwMode="auto">
            <a:xfrm>
              <a:off x="4142922" y="3434152"/>
              <a:ext cx="511439" cy="235424"/>
            </a:xfrm>
            <a:prstGeom prst="rect">
              <a:avLst/>
            </a:prstGeom>
            <a:solidFill>
              <a:srgbClr val="FFFFFF"/>
            </a:solidFill>
            <a:ln w="28575" cmpd="sng">
              <a:solidFill>
                <a:srgbClr val="007C8B"/>
              </a:solidFill>
              <a:miter lim="800000"/>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mic Sans MS" charset="0"/>
                </a:rPr>
                <a:t>1000</a:t>
              </a:r>
            </a:p>
          </p:txBody>
        </p:sp>
        <p:sp>
          <p:nvSpPr>
            <p:cNvPr id="60" name="Line 33"/>
            <p:cNvSpPr>
              <a:spLocks noChangeShapeType="1"/>
            </p:cNvSpPr>
            <p:nvPr/>
          </p:nvSpPr>
          <p:spPr bwMode="auto">
            <a:xfrm flipH="1">
              <a:off x="3683236" y="3003894"/>
              <a:ext cx="554059" cy="1015"/>
            </a:xfrm>
            <a:prstGeom prst="line">
              <a:avLst/>
            </a:prstGeom>
            <a:noFill/>
            <a:ln w="19080" cmpd="sng">
              <a:solidFill>
                <a:srgbClr val="007C8B"/>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sp>
          <p:nvSpPr>
            <p:cNvPr id="69" name="Rectangle 42"/>
            <p:cNvSpPr>
              <a:spLocks noChangeArrowheads="1"/>
            </p:cNvSpPr>
            <p:nvPr/>
          </p:nvSpPr>
          <p:spPr bwMode="auto">
            <a:xfrm>
              <a:off x="3663956" y="2963304"/>
              <a:ext cx="362021" cy="3048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007C8B"/>
                  </a:solidFill>
                  <a:latin typeface="微软雅黑" pitchFamily="34" charset="-122"/>
                  <a:ea typeface="微软雅黑" pitchFamily="34" charset="-122"/>
                  <a:sym typeface="Times New Roman" charset="0"/>
                </a:rPr>
                <a:t>是</a:t>
              </a:r>
            </a:p>
          </p:txBody>
        </p:sp>
        <p:sp>
          <p:nvSpPr>
            <p:cNvPr id="72" name="Line 47"/>
            <p:cNvSpPr>
              <a:spLocks noChangeShapeType="1"/>
            </p:cNvSpPr>
            <p:nvPr/>
          </p:nvSpPr>
          <p:spPr bwMode="auto">
            <a:xfrm>
              <a:off x="4552885" y="2995777"/>
              <a:ext cx="1008913" cy="0"/>
            </a:xfrm>
            <a:prstGeom prst="line">
              <a:avLst/>
            </a:prstGeom>
            <a:noFill/>
            <a:ln w="1908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73" name="Line 48"/>
            <p:cNvSpPr>
              <a:spLocks noChangeShapeType="1"/>
            </p:cNvSpPr>
            <p:nvPr/>
          </p:nvSpPr>
          <p:spPr bwMode="auto">
            <a:xfrm>
              <a:off x="4399656" y="3154079"/>
              <a:ext cx="1015" cy="255719"/>
            </a:xfrm>
            <a:prstGeom prst="line">
              <a:avLst/>
            </a:prstGeom>
            <a:noFill/>
            <a:ln w="19080" cmpd="sng">
              <a:solidFill>
                <a:srgbClr val="007C8B"/>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grpSp>
      <p:sp>
        <p:nvSpPr>
          <p:cNvPr id="107" name="AutoShape 81"/>
          <p:cNvSpPr>
            <a:spLocks/>
          </p:cNvSpPr>
          <p:nvPr/>
        </p:nvSpPr>
        <p:spPr bwMode="auto">
          <a:xfrm flipV="1">
            <a:off x="6863046" y="4591771"/>
            <a:ext cx="170480" cy="168450"/>
          </a:xfrm>
          <a:custGeom>
            <a:avLst/>
            <a:gdLst/>
            <a:ahLst/>
            <a:cxnLst/>
            <a:rect l="0" t="0" r="0" b="0"/>
            <a:pathLst/>
          </a:custGeom>
          <a:noFill/>
          <a:ln w="19080" cmpd="sng">
            <a:solidFill>
              <a:srgbClr val="0066FF"/>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nvGrpSpPr>
          <p:cNvPr id="3" name="组合 2"/>
          <p:cNvGrpSpPr/>
          <p:nvPr/>
        </p:nvGrpSpPr>
        <p:grpSpPr>
          <a:xfrm>
            <a:off x="3575068" y="3674429"/>
            <a:ext cx="1545637" cy="1857116"/>
            <a:chOff x="899592" y="2817179"/>
            <a:chExt cx="1545637" cy="1857116"/>
          </a:xfrm>
        </p:grpSpPr>
        <p:sp>
          <p:nvSpPr>
            <p:cNvPr id="18" name="Rectangle 3"/>
            <p:cNvSpPr>
              <a:spLocks noChangeArrowheads="1"/>
            </p:cNvSpPr>
            <p:nvPr/>
          </p:nvSpPr>
          <p:spPr bwMode="auto">
            <a:xfrm>
              <a:off x="1563708" y="3556939"/>
              <a:ext cx="876752" cy="819926"/>
            </a:xfrm>
            <a:prstGeom prst="rect">
              <a:avLst/>
            </a:prstGeom>
            <a:solidFill>
              <a:srgbClr val="FFFFFF"/>
            </a:solidFill>
            <a:ln w="12600" cmpd="sng">
              <a:no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9" name="Rectangle 4"/>
            <p:cNvSpPr>
              <a:spLocks noChangeArrowheads="1"/>
            </p:cNvSpPr>
            <p:nvPr/>
          </p:nvSpPr>
          <p:spPr bwMode="auto">
            <a:xfrm>
              <a:off x="1567463" y="3568101"/>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74" name="Rectangle 49"/>
            <p:cNvSpPr>
              <a:spLocks noChangeArrowheads="1"/>
            </p:cNvSpPr>
            <p:nvPr/>
          </p:nvSpPr>
          <p:spPr bwMode="auto">
            <a:xfrm>
              <a:off x="1750054" y="4400204"/>
              <a:ext cx="490261"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Times New Roman" charset="0"/>
                </a:rPr>
                <a:t>段表</a:t>
              </a:r>
              <a:endParaRPr lang="zh-CN" altLang="en-US" sz="1200" b="1" dirty="0">
                <a:solidFill>
                  <a:srgbClr val="007C8B"/>
                </a:solidFill>
                <a:latin typeface="微软雅黑" pitchFamily="34" charset="-122"/>
                <a:ea typeface="微软雅黑" pitchFamily="34" charset="-122"/>
                <a:sym typeface="Comic Sans MS" charset="0"/>
              </a:endParaRPr>
            </a:p>
          </p:txBody>
        </p:sp>
        <p:sp>
          <p:nvSpPr>
            <p:cNvPr id="75" name="Rectangle 50"/>
            <p:cNvSpPr>
              <a:spLocks noChangeArrowheads="1"/>
            </p:cNvSpPr>
            <p:nvPr/>
          </p:nvSpPr>
          <p:spPr bwMode="auto">
            <a:xfrm>
              <a:off x="1043608" y="4055320"/>
              <a:ext cx="552029"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mic Sans MS" charset="0"/>
                </a:rPr>
                <a:t>段号</a:t>
              </a:r>
            </a:p>
          </p:txBody>
        </p:sp>
        <p:sp>
          <p:nvSpPr>
            <p:cNvPr id="76" name="Line 51"/>
            <p:cNvSpPr>
              <a:spLocks noChangeShapeType="1"/>
            </p:cNvSpPr>
            <p:nvPr/>
          </p:nvSpPr>
          <p:spPr bwMode="auto">
            <a:xfrm flipV="1">
              <a:off x="1508607" y="3961827"/>
              <a:ext cx="1014" cy="448524"/>
            </a:xfrm>
            <a:prstGeom prst="line">
              <a:avLst/>
            </a:prstGeom>
            <a:noFill/>
            <a:ln w="12600" cmpd="sng">
              <a:solidFill>
                <a:srgbClr val="007C8B"/>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77" name="Rectangle 52"/>
            <p:cNvSpPr>
              <a:spLocks noChangeArrowheads="1"/>
            </p:cNvSpPr>
            <p:nvPr/>
          </p:nvSpPr>
          <p:spPr bwMode="auto">
            <a:xfrm>
              <a:off x="1567463" y="4176956"/>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94" name="Rectangle 68"/>
            <p:cNvSpPr>
              <a:spLocks noChangeArrowheads="1"/>
            </p:cNvSpPr>
            <p:nvPr/>
          </p:nvSpPr>
          <p:spPr bwMode="auto">
            <a:xfrm>
              <a:off x="2005839" y="4176956"/>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95" name="Rectangle 69"/>
            <p:cNvSpPr>
              <a:spLocks noChangeArrowheads="1"/>
            </p:cNvSpPr>
            <p:nvPr/>
          </p:nvSpPr>
          <p:spPr bwMode="auto">
            <a:xfrm>
              <a:off x="1567463" y="3974005"/>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96" name="Rectangle 70"/>
            <p:cNvSpPr>
              <a:spLocks noChangeArrowheads="1"/>
            </p:cNvSpPr>
            <p:nvPr/>
          </p:nvSpPr>
          <p:spPr bwMode="auto">
            <a:xfrm>
              <a:off x="2005839" y="3974005"/>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97" name="Rectangle 71"/>
            <p:cNvSpPr>
              <a:spLocks noChangeArrowheads="1"/>
            </p:cNvSpPr>
            <p:nvPr/>
          </p:nvSpPr>
          <p:spPr bwMode="auto">
            <a:xfrm>
              <a:off x="1567463" y="3771053"/>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lIns="90000" tIns="46800" rIns="90000" bIns="4680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mic Sans MS" charset="0"/>
                </a:rPr>
                <a:t>基址</a:t>
              </a:r>
            </a:p>
          </p:txBody>
        </p:sp>
        <p:sp>
          <p:nvSpPr>
            <p:cNvPr id="98" name="Rectangle 72"/>
            <p:cNvSpPr>
              <a:spLocks noChangeArrowheads="1"/>
            </p:cNvSpPr>
            <p:nvPr/>
          </p:nvSpPr>
          <p:spPr bwMode="auto">
            <a:xfrm>
              <a:off x="2005839" y="3771053"/>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lIns="90000" tIns="46800" rIns="90000" bIns="4680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mic Sans MS" charset="0"/>
                </a:rPr>
                <a:t>长度</a:t>
              </a:r>
            </a:p>
          </p:txBody>
        </p:sp>
        <p:sp>
          <p:nvSpPr>
            <p:cNvPr id="99" name="Rectangle 73"/>
            <p:cNvSpPr>
              <a:spLocks noChangeArrowheads="1"/>
            </p:cNvSpPr>
            <p:nvPr/>
          </p:nvSpPr>
          <p:spPr bwMode="auto">
            <a:xfrm>
              <a:off x="2005839" y="3568101"/>
              <a:ext cx="439390" cy="202952"/>
            </a:xfrm>
            <a:prstGeom prst="rect">
              <a:avLst/>
            </a:prstGeom>
            <a:noFill/>
            <a:ln w="28575" cmpd="sng">
              <a:solidFill>
                <a:srgbClr val="007C8B"/>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a:buSzPct val="100000"/>
              </a:pPr>
              <a:endParaRPr lang="zh-CN" altLang="en-US">
                <a:solidFill>
                  <a:srgbClr val="000099"/>
                </a:solidFill>
                <a:sym typeface="Comic Sans MS" charset="0"/>
              </a:endParaRPr>
            </a:p>
          </p:txBody>
        </p:sp>
        <p:sp>
          <p:nvSpPr>
            <p:cNvPr id="101" name="AutoShape 75"/>
            <p:cNvSpPr>
              <a:spLocks/>
            </p:cNvSpPr>
            <p:nvPr/>
          </p:nvSpPr>
          <p:spPr bwMode="auto">
            <a:xfrm>
              <a:off x="908884" y="3694946"/>
              <a:ext cx="186716" cy="186716"/>
            </a:xfrm>
            <a:custGeom>
              <a:avLst/>
              <a:gdLst/>
              <a:ahLst/>
              <a:cxnLst/>
              <a:rect l="0" t="0" r="0" b="0"/>
              <a:pathLst/>
            </a:custGeom>
            <a:noFill/>
            <a:ln w="19080" cmpd="sng">
              <a:solidFill>
                <a:srgbClr val="000099"/>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02" name="Line 76"/>
            <p:cNvSpPr>
              <a:spLocks noChangeShapeType="1"/>
            </p:cNvSpPr>
            <p:nvPr/>
          </p:nvSpPr>
          <p:spPr bwMode="auto">
            <a:xfrm>
              <a:off x="906855" y="2817179"/>
              <a:ext cx="4059" cy="1077675"/>
            </a:xfrm>
            <a:prstGeom prst="line">
              <a:avLst/>
            </a:prstGeom>
            <a:noFill/>
            <a:ln w="19080"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103" name="Line 77"/>
            <p:cNvSpPr>
              <a:spLocks noChangeShapeType="1"/>
            </p:cNvSpPr>
            <p:nvPr/>
          </p:nvSpPr>
          <p:spPr bwMode="auto">
            <a:xfrm>
              <a:off x="910914" y="3892139"/>
              <a:ext cx="638284" cy="10148"/>
            </a:xfrm>
            <a:prstGeom prst="line">
              <a:avLst/>
            </a:prstGeom>
            <a:noFill/>
            <a:ln w="1908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113" name="TextBox 114"/>
            <p:cNvSpPr>
              <a:spLocks noChangeArrowheads="1"/>
            </p:cNvSpPr>
            <p:nvPr/>
          </p:nvSpPr>
          <p:spPr bwMode="auto">
            <a:xfrm>
              <a:off x="899592" y="3651870"/>
              <a:ext cx="758425"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buSzPct val="100000"/>
              </a:pPr>
              <a:r>
                <a:rPr lang="zh-CN" altLang="en-US" sz="1000" b="1" dirty="0">
                  <a:solidFill>
                    <a:srgbClr val="C00000"/>
                  </a:solidFill>
                  <a:latin typeface="微软雅黑" pitchFamily="34" charset="-122"/>
                  <a:ea typeface="微软雅黑" pitchFamily="34" charset="-122"/>
                  <a:sym typeface="Comic Sans MS" charset="0"/>
                </a:rPr>
                <a:t>段描述符</a:t>
              </a:r>
            </a:p>
          </p:txBody>
        </p:sp>
      </p:grpSp>
      <p:grpSp>
        <p:nvGrpSpPr>
          <p:cNvPr id="4" name="组合 3"/>
          <p:cNvGrpSpPr/>
          <p:nvPr/>
        </p:nvGrpSpPr>
        <p:grpSpPr>
          <a:xfrm>
            <a:off x="5150132" y="4959114"/>
            <a:ext cx="2349168" cy="437362"/>
            <a:chOff x="2474658" y="4101864"/>
            <a:chExt cx="2349168" cy="437362"/>
          </a:xfrm>
        </p:grpSpPr>
        <p:sp>
          <p:nvSpPr>
            <p:cNvPr id="115" name="Line 90"/>
            <p:cNvSpPr>
              <a:spLocks noChangeShapeType="1"/>
            </p:cNvSpPr>
            <p:nvPr/>
          </p:nvSpPr>
          <p:spPr bwMode="auto">
            <a:xfrm flipH="1" flipV="1">
              <a:off x="2474658" y="4101864"/>
              <a:ext cx="875737" cy="321679"/>
            </a:xfrm>
            <a:prstGeom prst="line">
              <a:avLst/>
            </a:prstGeom>
            <a:noFill/>
            <a:ln w="38100" cap="rnd" cmpd="sng">
              <a:solidFill>
                <a:srgbClr val="007C8B"/>
              </a:solidFill>
              <a:prstDash val="sysDot"/>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16" name="AutoShape 91"/>
            <p:cNvSpPr>
              <a:spLocks noChangeArrowheads="1"/>
            </p:cNvSpPr>
            <p:nvPr/>
          </p:nvSpPr>
          <p:spPr bwMode="auto">
            <a:xfrm>
              <a:off x="3259067" y="4239872"/>
              <a:ext cx="1564759" cy="299354"/>
            </a:xfrm>
            <a:prstGeom prst="flowChartAlternateProcess">
              <a:avLst/>
            </a:prstGeom>
            <a:gradFill>
              <a:gsLst>
                <a:gs pos="100000">
                  <a:srgbClr val="005072"/>
                </a:gs>
                <a:gs pos="0">
                  <a:srgbClr val="0093DD"/>
                </a:gs>
              </a:gsLst>
              <a:lin ang="5400000" scaled="0"/>
            </a:gradFill>
            <a:ln w="9525" cmpd="sng">
              <a:solidFill>
                <a:srgbClr val="007C8B"/>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FFF9B1"/>
                  </a:solidFill>
                  <a:latin typeface="微软雅黑" pitchFamily="34" charset="-122"/>
                  <a:ea typeface="微软雅黑" pitchFamily="34" charset="-122"/>
                  <a:sym typeface="Times New Roman" charset="0"/>
                </a:rPr>
                <a:t>操作系统设置段表</a:t>
              </a:r>
            </a:p>
          </p:txBody>
        </p:sp>
      </p:grpSp>
      <p:sp>
        <p:nvSpPr>
          <p:cNvPr id="106" name="Line 80"/>
          <p:cNvSpPr>
            <a:spLocks noChangeShapeType="1"/>
          </p:cNvSpPr>
          <p:nvPr/>
        </p:nvSpPr>
        <p:spPr bwMode="auto">
          <a:xfrm flipV="1">
            <a:off x="4551020" y="4545092"/>
            <a:ext cx="2257231" cy="219909"/>
          </a:xfrm>
          <a:prstGeom prst="line">
            <a:avLst/>
          </a:prstGeom>
          <a:noFill/>
          <a:ln w="19080" cmpd="sng">
            <a:solidFill>
              <a:schemeClr val="tx1">
                <a:lumMod val="95000"/>
                <a:lumOff val="5000"/>
              </a:schemeClr>
            </a:solidFill>
            <a:prstDash val="sysDot"/>
            <a:round/>
            <a:headEnd/>
            <a:tailEnd type="arrow" w="med" len="med"/>
          </a:ln>
          <a:extLst>
            <a:ext uri="{909E8E84-426E-40dd-AFC4-6F175D3DCCD1}">
              <a14:hiddenFill xmlns:a14="http://schemas.microsoft.com/office/drawing/2010/main" xmlns="">
                <a:noFill/>
              </a14:hiddenFill>
            </a:ext>
          </a:extLst>
        </p:spPr>
        <p:txBody>
          <a:bodyPr/>
          <a:lstStyle/>
          <a:p>
            <a:endParaRPr lang="zh-CN" altLang="en-US"/>
          </a:p>
        </p:txBody>
      </p:sp>
      <p:sp>
        <p:nvSpPr>
          <p:cNvPr id="104" name="Line 78"/>
          <p:cNvSpPr>
            <a:spLocks noChangeShapeType="1"/>
          </p:cNvSpPr>
          <p:nvPr/>
        </p:nvSpPr>
        <p:spPr bwMode="auto">
          <a:xfrm flipV="1">
            <a:off x="4976959" y="4545091"/>
            <a:ext cx="956569" cy="111626"/>
          </a:xfrm>
          <a:prstGeom prst="line">
            <a:avLst/>
          </a:prstGeom>
          <a:noFill/>
          <a:ln w="19080" cmpd="sng">
            <a:solidFill>
              <a:schemeClr val="tx1">
                <a:lumMod val="95000"/>
                <a:lumOff val="5000"/>
              </a:schemeClr>
            </a:solidFill>
            <a:prstDash val="sysDot"/>
            <a:round/>
            <a:headEnd/>
            <a:tailEnd type="arrow" w="med" len="med"/>
          </a:ln>
          <a:extLst>
            <a:ext uri="{909E8E84-426E-40dd-AFC4-6F175D3DCCD1}">
              <a14:hiddenFill xmlns:a14="http://schemas.microsoft.com/office/drawing/2010/main" xmlns="">
                <a:noFill/>
              </a14:hiddenFill>
            </a:ext>
          </a:extLst>
        </p:spPr>
        <p:txBody>
          <a:bodyPr/>
          <a:lstStyle/>
          <a:p>
            <a:endParaRPr lang="zh-CN" altLang="en-US"/>
          </a:p>
        </p:txBody>
      </p:sp>
      <p:grpSp>
        <p:nvGrpSpPr>
          <p:cNvPr id="11" name="组合 10"/>
          <p:cNvGrpSpPr/>
          <p:nvPr/>
        </p:nvGrpSpPr>
        <p:grpSpPr>
          <a:xfrm>
            <a:off x="3251840" y="2015297"/>
            <a:ext cx="1384722" cy="2047834"/>
            <a:chOff x="576366" y="1158047"/>
            <a:chExt cx="1384722" cy="2047834"/>
          </a:xfrm>
        </p:grpSpPr>
        <p:sp>
          <p:nvSpPr>
            <p:cNvPr id="17" name="AutoShape 2"/>
            <p:cNvSpPr>
              <a:spLocks noChangeArrowheads="1"/>
            </p:cNvSpPr>
            <p:nvPr/>
          </p:nvSpPr>
          <p:spPr bwMode="auto">
            <a:xfrm rot="16200000" flipH="1">
              <a:off x="1086467" y="1437523"/>
              <a:ext cx="235424" cy="592619"/>
            </a:xfrm>
            <a:prstGeom prst="rightArrow">
              <a:avLst>
                <a:gd name="adj1" fmla="val 75000"/>
                <a:gd name="adj2" fmla="val 50005"/>
              </a:avLst>
            </a:prstGeom>
            <a:solidFill>
              <a:srgbClr val="007C8B"/>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pPr>
                <a:buSzPct val="100000"/>
              </a:pPr>
              <a:endParaRPr lang="zh-CN" altLang="en-US">
                <a:solidFill>
                  <a:srgbClr val="000099"/>
                </a:solidFill>
                <a:sym typeface="Comic Sans MS" charset="0"/>
              </a:endParaRPr>
            </a:p>
          </p:txBody>
        </p:sp>
        <p:sp>
          <p:nvSpPr>
            <p:cNvPr id="78" name="Oval 53"/>
            <p:cNvSpPr>
              <a:spLocks noChangeArrowheads="1"/>
            </p:cNvSpPr>
            <p:nvPr/>
          </p:nvSpPr>
          <p:spPr bwMode="auto">
            <a:xfrm>
              <a:off x="956578" y="1883600"/>
              <a:ext cx="495203" cy="430258"/>
            </a:xfrm>
            <a:prstGeom prst="ellipse">
              <a:avLst/>
            </a:prstGeom>
            <a:solidFill>
              <a:srgbClr val="FFFFCC"/>
            </a:solidFill>
            <a:ln w="28440" cmpd="sng">
              <a:solidFill>
                <a:srgbClr val="007C8B"/>
              </a:solidFill>
              <a:round/>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005072"/>
                  </a:solidFill>
                  <a:sym typeface="Times New Roman" charset="0"/>
                </a:rPr>
                <a:t>CPU</a:t>
              </a:r>
              <a:endParaRPr lang="zh-CN" altLang="en-US" sz="1400" dirty="0">
                <a:solidFill>
                  <a:srgbClr val="005072"/>
                </a:solidFill>
              </a:endParaRPr>
            </a:p>
          </p:txBody>
        </p:sp>
        <p:sp>
          <p:nvSpPr>
            <p:cNvPr id="79" name="Rectangle 54"/>
            <p:cNvSpPr>
              <a:spLocks noChangeArrowheads="1"/>
            </p:cNvSpPr>
            <p:nvPr/>
          </p:nvSpPr>
          <p:spPr bwMode="auto">
            <a:xfrm>
              <a:off x="1587962" y="2749190"/>
              <a:ext cx="261032" cy="243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000" b="1" dirty="0">
                  <a:solidFill>
                    <a:srgbClr val="007C8B"/>
                  </a:solidFill>
                  <a:latin typeface="微软雅黑" pitchFamily="34" charset="-122"/>
                  <a:ea typeface="微软雅黑" pitchFamily="34" charset="-122"/>
                  <a:sym typeface="Comic Sans MS" charset="0"/>
                </a:rPr>
                <a:t>0</a:t>
              </a:r>
            </a:p>
          </p:txBody>
        </p:sp>
        <p:sp>
          <p:nvSpPr>
            <p:cNvPr id="80" name="Rectangle 55"/>
            <p:cNvSpPr>
              <a:spLocks noChangeArrowheads="1"/>
            </p:cNvSpPr>
            <p:nvPr/>
          </p:nvSpPr>
          <p:spPr bwMode="auto">
            <a:xfrm>
              <a:off x="576366" y="2749190"/>
              <a:ext cx="339580" cy="243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000" b="1" dirty="0">
                  <a:solidFill>
                    <a:srgbClr val="007C8B"/>
                  </a:solidFill>
                  <a:latin typeface="微软雅黑" pitchFamily="34" charset="-122"/>
                  <a:ea typeface="微软雅黑" pitchFamily="34" charset="-122"/>
                  <a:sym typeface="Comic Sans MS" charset="0"/>
                </a:rPr>
                <a:t>19</a:t>
              </a:r>
              <a:endParaRPr lang="zh-CN" altLang="en-US" sz="1000" b="1" dirty="0">
                <a:solidFill>
                  <a:srgbClr val="007C8B"/>
                </a:solidFill>
                <a:latin typeface="微软雅黑" pitchFamily="34" charset="-122"/>
                <a:ea typeface="微软雅黑" pitchFamily="34" charset="-122"/>
                <a:sym typeface="Times New Roman" charset="0"/>
              </a:endParaRPr>
            </a:p>
          </p:txBody>
        </p:sp>
        <p:sp>
          <p:nvSpPr>
            <p:cNvPr id="81" name="Rectangle 56"/>
            <p:cNvSpPr>
              <a:spLocks noChangeArrowheads="1"/>
            </p:cNvSpPr>
            <p:nvPr/>
          </p:nvSpPr>
          <p:spPr bwMode="auto">
            <a:xfrm>
              <a:off x="1052169" y="2749190"/>
              <a:ext cx="261032" cy="243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000" b="1" dirty="0">
                  <a:solidFill>
                    <a:srgbClr val="007C8B"/>
                  </a:solidFill>
                  <a:latin typeface="微软雅黑" pitchFamily="34" charset="-122"/>
                  <a:ea typeface="微软雅黑" pitchFamily="34" charset="-122"/>
                  <a:sym typeface="Comic Sans MS" charset="0"/>
                </a:rPr>
                <a:t>9</a:t>
              </a:r>
            </a:p>
          </p:txBody>
        </p:sp>
        <p:sp>
          <p:nvSpPr>
            <p:cNvPr id="83" name="Rectangle 57"/>
            <p:cNvSpPr>
              <a:spLocks noChangeArrowheads="1"/>
            </p:cNvSpPr>
            <p:nvPr/>
          </p:nvSpPr>
          <p:spPr bwMode="auto">
            <a:xfrm>
              <a:off x="704918" y="2608138"/>
              <a:ext cx="95387" cy="146125"/>
            </a:xfrm>
            <a:prstGeom prst="rect">
              <a:avLst/>
            </a:prstGeom>
            <a:solidFill>
              <a:srgbClr val="00FF00"/>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84" name="Rectangle 58"/>
            <p:cNvSpPr>
              <a:spLocks noChangeArrowheads="1"/>
            </p:cNvSpPr>
            <p:nvPr/>
          </p:nvSpPr>
          <p:spPr bwMode="auto">
            <a:xfrm>
              <a:off x="810453" y="2608138"/>
              <a:ext cx="95387" cy="146125"/>
            </a:xfrm>
            <a:prstGeom prst="rect">
              <a:avLst/>
            </a:prstGeom>
            <a:solidFill>
              <a:srgbClr val="00FF00"/>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85" name="Rectangle 59"/>
            <p:cNvSpPr>
              <a:spLocks noChangeArrowheads="1"/>
            </p:cNvSpPr>
            <p:nvPr/>
          </p:nvSpPr>
          <p:spPr bwMode="auto">
            <a:xfrm>
              <a:off x="914973" y="2608138"/>
              <a:ext cx="95387" cy="146125"/>
            </a:xfrm>
            <a:prstGeom prst="rect">
              <a:avLst/>
            </a:prstGeom>
            <a:solidFill>
              <a:srgbClr val="00FF00"/>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86" name="Rectangle 60"/>
            <p:cNvSpPr>
              <a:spLocks noChangeArrowheads="1"/>
            </p:cNvSpPr>
            <p:nvPr/>
          </p:nvSpPr>
          <p:spPr bwMode="auto">
            <a:xfrm>
              <a:off x="892970" y="2749190"/>
              <a:ext cx="339580" cy="243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000" b="1" dirty="0">
                  <a:solidFill>
                    <a:srgbClr val="007C8B"/>
                  </a:solidFill>
                  <a:latin typeface="微软雅黑" pitchFamily="34" charset="-122"/>
                  <a:ea typeface="微软雅黑" pitchFamily="34" charset="-122"/>
                  <a:sym typeface="Comic Sans MS" charset="0"/>
                </a:rPr>
                <a:t>10</a:t>
              </a:r>
            </a:p>
          </p:txBody>
        </p:sp>
        <p:sp>
          <p:nvSpPr>
            <p:cNvPr id="87" name="Rectangle 61"/>
            <p:cNvSpPr>
              <a:spLocks noChangeArrowheads="1"/>
            </p:cNvSpPr>
            <p:nvPr/>
          </p:nvSpPr>
          <p:spPr bwMode="auto">
            <a:xfrm>
              <a:off x="1020508" y="2608138"/>
              <a:ext cx="95387" cy="146125"/>
            </a:xfrm>
            <a:prstGeom prst="rect">
              <a:avLst/>
            </a:prstGeom>
            <a:solidFill>
              <a:srgbClr val="00FF00"/>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88" name="Rectangle 62"/>
            <p:cNvSpPr>
              <a:spLocks noChangeArrowheads="1"/>
            </p:cNvSpPr>
            <p:nvPr/>
          </p:nvSpPr>
          <p:spPr bwMode="auto">
            <a:xfrm>
              <a:off x="1126043" y="2608138"/>
              <a:ext cx="95387" cy="146125"/>
            </a:xfrm>
            <a:prstGeom prst="rect">
              <a:avLst/>
            </a:prstGeom>
            <a:solidFill>
              <a:srgbClr val="A2C1FE"/>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89" name="Rectangle 63"/>
            <p:cNvSpPr>
              <a:spLocks noChangeArrowheads="1"/>
            </p:cNvSpPr>
            <p:nvPr/>
          </p:nvSpPr>
          <p:spPr bwMode="auto">
            <a:xfrm>
              <a:off x="1231578" y="2608138"/>
              <a:ext cx="95387" cy="146125"/>
            </a:xfrm>
            <a:prstGeom prst="rect">
              <a:avLst/>
            </a:prstGeom>
            <a:solidFill>
              <a:srgbClr val="A2C1FE"/>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90" name="Rectangle 64"/>
            <p:cNvSpPr>
              <a:spLocks noChangeArrowheads="1"/>
            </p:cNvSpPr>
            <p:nvPr/>
          </p:nvSpPr>
          <p:spPr bwMode="auto">
            <a:xfrm>
              <a:off x="611560" y="2355726"/>
              <a:ext cx="621033"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mic Sans MS" charset="0"/>
                </a:rPr>
                <a:t>段号</a:t>
              </a:r>
            </a:p>
          </p:txBody>
        </p:sp>
        <p:sp>
          <p:nvSpPr>
            <p:cNvPr id="91" name="Rectangle 65"/>
            <p:cNvSpPr>
              <a:spLocks noChangeArrowheads="1"/>
            </p:cNvSpPr>
            <p:nvPr/>
          </p:nvSpPr>
          <p:spPr bwMode="auto">
            <a:xfrm>
              <a:off x="1259632" y="2355726"/>
              <a:ext cx="701456"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mic Sans MS" charset="0"/>
                </a:rPr>
                <a:t>偏移</a:t>
              </a:r>
            </a:p>
          </p:txBody>
        </p:sp>
        <p:sp>
          <p:nvSpPr>
            <p:cNvPr id="92" name="Line 66"/>
            <p:cNvSpPr>
              <a:spLocks noChangeShapeType="1"/>
            </p:cNvSpPr>
            <p:nvPr/>
          </p:nvSpPr>
          <p:spPr bwMode="auto">
            <a:xfrm flipH="1">
              <a:off x="1199105" y="2346330"/>
              <a:ext cx="10148" cy="251660"/>
            </a:xfrm>
            <a:prstGeom prst="line">
              <a:avLst/>
            </a:prstGeom>
            <a:noFill/>
            <a:ln w="19080" cmpd="sng">
              <a:solidFill>
                <a:srgbClr val="007C8B"/>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93" name="Rectangle 67"/>
            <p:cNvSpPr>
              <a:spLocks noChangeArrowheads="1"/>
            </p:cNvSpPr>
            <p:nvPr/>
          </p:nvSpPr>
          <p:spPr bwMode="auto">
            <a:xfrm>
              <a:off x="810453" y="1158047"/>
              <a:ext cx="787453" cy="454612"/>
            </a:xfrm>
            <a:prstGeom prst="rect">
              <a:avLst/>
            </a:prstGeom>
            <a:solidFill>
              <a:srgbClr val="99FFCC"/>
            </a:solidFill>
            <a:ln w="25560" cmpd="sng">
              <a:solidFill>
                <a:srgbClr val="007C8B"/>
              </a:solidFill>
              <a:miter lim="800000"/>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005072"/>
                  </a:solidFill>
                  <a:latin typeface="微软雅黑" pitchFamily="34" charset="-122"/>
                  <a:ea typeface="微软雅黑" pitchFamily="34" charset="-122"/>
                  <a:sym typeface="Comic Sans MS" charset="0"/>
                </a:rPr>
                <a:t>程序</a:t>
              </a:r>
              <a:r>
                <a:rPr lang="zh-CN" altLang="en-US" sz="1400" b="1" i="1" dirty="0">
                  <a:solidFill>
                    <a:srgbClr val="005072"/>
                  </a:solidFill>
                  <a:latin typeface="微软雅黑" pitchFamily="34" charset="-122"/>
                  <a:ea typeface="微软雅黑" pitchFamily="34" charset="-122"/>
                  <a:sym typeface="Comic Sans MS" charset="0"/>
                </a:rPr>
                <a:t>P</a:t>
              </a:r>
              <a:endParaRPr lang="zh-CN" altLang="en-US" sz="1400" b="1" dirty="0">
                <a:solidFill>
                  <a:srgbClr val="005072"/>
                </a:solidFill>
                <a:latin typeface="微软雅黑" pitchFamily="34" charset="-122"/>
                <a:ea typeface="微软雅黑" pitchFamily="34" charset="-122"/>
              </a:endParaRPr>
            </a:p>
          </p:txBody>
        </p:sp>
        <p:sp>
          <p:nvSpPr>
            <p:cNvPr id="100" name="AutoShape 74"/>
            <p:cNvSpPr>
              <a:spLocks/>
            </p:cNvSpPr>
            <p:nvPr/>
          </p:nvSpPr>
          <p:spPr bwMode="auto">
            <a:xfrm>
              <a:off x="1436559" y="2817179"/>
              <a:ext cx="194834" cy="186716"/>
            </a:xfrm>
            <a:custGeom>
              <a:avLst/>
              <a:gdLst/>
              <a:ahLst/>
              <a:cxnLst/>
              <a:rect l="0" t="0" r="0" b="0"/>
              <a:pathLst/>
            </a:custGeom>
            <a:noFill/>
            <a:ln w="19080" cmpd="sng">
              <a:solidFill>
                <a:srgbClr val="000099"/>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08" name="Rectangle 84"/>
            <p:cNvSpPr>
              <a:spLocks noChangeArrowheads="1"/>
            </p:cNvSpPr>
            <p:nvPr/>
          </p:nvSpPr>
          <p:spPr bwMode="auto">
            <a:xfrm>
              <a:off x="1333053" y="2608138"/>
              <a:ext cx="95387" cy="146125"/>
            </a:xfrm>
            <a:prstGeom prst="rect">
              <a:avLst/>
            </a:prstGeom>
            <a:solidFill>
              <a:srgbClr val="A2C1FE"/>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09" name="Rectangle 85"/>
            <p:cNvSpPr>
              <a:spLocks noChangeArrowheads="1"/>
            </p:cNvSpPr>
            <p:nvPr/>
          </p:nvSpPr>
          <p:spPr bwMode="auto">
            <a:xfrm>
              <a:off x="1438588" y="2608138"/>
              <a:ext cx="95387" cy="146125"/>
            </a:xfrm>
            <a:prstGeom prst="rect">
              <a:avLst/>
            </a:prstGeom>
            <a:solidFill>
              <a:srgbClr val="A2C1FE"/>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10" name="Rectangle 86"/>
            <p:cNvSpPr>
              <a:spLocks noChangeArrowheads="1"/>
            </p:cNvSpPr>
            <p:nvPr/>
          </p:nvSpPr>
          <p:spPr bwMode="auto">
            <a:xfrm>
              <a:off x="1543109" y="2608138"/>
              <a:ext cx="95387" cy="146125"/>
            </a:xfrm>
            <a:prstGeom prst="rect">
              <a:avLst/>
            </a:prstGeom>
            <a:solidFill>
              <a:srgbClr val="A2C1FE"/>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11" name="Rectangle 87"/>
            <p:cNvSpPr>
              <a:spLocks noChangeArrowheads="1"/>
            </p:cNvSpPr>
            <p:nvPr/>
          </p:nvSpPr>
          <p:spPr bwMode="auto">
            <a:xfrm>
              <a:off x="1648644" y="2608138"/>
              <a:ext cx="95387" cy="146125"/>
            </a:xfrm>
            <a:prstGeom prst="rect">
              <a:avLst/>
            </a:prstGeom>
            <a:solidFill>
              <a:srgbClr val="A2C1FE"/>
            </a:solidFill>
            <a:ln w="28575" cmpd="sng">
              <a:solidFill>
                <a:srgbClr val="007C8B"/>
              </a:solidFill>
              <a:miter lim="800000"/>
              <a:headEnd/>
              <a:tailEnd/>
            </a:ln>
          </p:spPr>
          <p:txBody>
            <a:bodyPr wrap="none" anchor="ctr"/>
            <a:lstStyle/>
            <a:p>
              <a:pPr>
                <a:buSzPct val="100000"/>
              </a:pPr>
              <a:endParaRPr lang="zh-CN" altLang="en-US">
                <a:solidFill>
                  <a:srgbClr val="000099"/>
                </a:solidFill>
                <a:sym typeface="Comic Sans MS" charset="0"/>
              </a:endParaRPr>
            </a:p>
          </p:txBody>
        </p:sp>
        <p:sp>
          <p:nvSpPr>
            <p:cNvPr id="114" name="Rectangle 35"/>
            <p:cNvSpPr>
              <a:spLocks noChangeArrowheads="1"/>
            </p:cNvSpPr>
            <p:nvPr/>
          </p:nvSpPr>
          <p:spPr bwMode="auto">
            <a:xfrm>
              <a:off x="863019" y="2931790"/>
              <a:ext cx="798038"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Times New Roman" charset="0"/>
                </a:rPr>
                <a:t>逻辑地址</a:t>
              </a:r>
              <a:endParaRPr lang="zh-CN" altLang="en-US" sz="1200" b="1" dirty="0">
                <a:solidFill>
                  <a:srgbClr val="007C8B"/>
                </a:solidFill>
                <a:latin typeface="微软雅黑" pitchFamily="34" charset="-122"/>
                <a:ea typeface="微软雅黑" pitchFamily="34" charset="-122"/>
                <a:sym typeface="Comic Sans MS" charset="0"/>
              </a:endParaRPr>
            </a:p>
          </p:txBody>
        </p:sp>
      </p:grpSp>
      <p:grpSp>
        <p:nvGrpSpPr>
          <p:cNvPr id="12" name="组合 11"/>
          <p:cNvGrpSpPr/>
          <p:nvPr/>
        </p:nvGrpSpPr>
        <p:grpSpPr>
          <a:xfrm>
            <a:off x="4296719" y="3108195"/>
            <a:ext cx="2496308" cy="1936457"/>
            <a:chOff x="1621245" y="2250943"/>
            <a:chExt cx="2496308" cy="1936457"/>
          </a:xfrm>
        </p:grpSpPr>
        <p:sp>
          <p:nvSpPr>
            <p:cNvPr id="65" name="Rectangle 38"/>
            <p:cNvSpPr>
              <a:spLocks noChangeArrowheads="1"/>
            </p:cNvSpPr>
            <p:nvPr/>
          </p:nvSpPr>
          <p:spPr bwMode="auto">
            <a:xfrm>
              <a:off x="3220108" y="3802510"/>
              <a:ext cx="644150" cy="3848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lgn="ctr">
                <a:lnSpc>
                  <a:spcPct val="8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Times New Roman" charset="0"/>
                </a:rPr>
                <a:t>段长度</a:t>
              </a:r>
              <a:endParaRPr lang="en-US" altLang="zh-CN" sz="1200" b="1" dirty="0">
                <a:solidFill>
                  <a:srgbClr val="007C8B"/>
                </a:solidFill>
                <a:latin typeface="微软雅黑" pitchFamily="34" charset="-122"/>
                <a:ea typeface="微软雅黑" pitchFamily="34" charset="-122"/>
                <a:sym typeface="Times New Roman" charset="0"/>
              </a:endParaRPr>
            </a:p>
            <a:p>
              <a:pPr algn="ctr">
                <a:lnSpc>
                  <a:spcPct val="80000"/>
                </a:lnSpc>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Times New Roman" charset="0"/>
                </a:rPr>
                <a:t>寄存器</a:t>
              </a:r>
            </a:p>
          </p:txBody>
        </p:sp>
        <p:sp>
          <p:nvSpPr>
            <p:cNvPr id="61" name="Line 34"/>
            <p:cNvSpPr>
              <a:spLocks noChangeShapeType="1"/>
            </p:cNvSpPr>
            <p:nvPr/>
          </p:nvSpPr>
          <p:spPr bwMode="auto">
            <a:xfrm flipH="1">
              <a:off x="1621245" y="3003894"/>
              <a:ext cx="1747415" cy="1015"/>
            </a:xfrm>
            <a:prstGeom prst="line">
              <a:avLst/>
            </a:prstGeom>
            <a:noFill/>
            <a:ln w="19080" cmpd="sng">
              <a:solidFill>
                <a:srgbClr val="007C8B"/>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sp>
          <p:nvSpPr>
            <p:cNvPr id="63" name="Oval 36"/>
            <p:cNvSpPr>
              <a:spLocks noChangeArrowheads="1"/>
            </p:cNvSpPr>
            <p:nvPr/>
          </p:nvSpPr>
          <p:spPr bwMode="auto">
            <a:xfrm>
              <a:off x="3376779" y="2841533"/>
              <a:ext cx="300369" cy="308487"/>
            </a:xfrm>
            <a:prstGeom prst="ellipse">
              <a:avLst/>
            </a:prstGeom>
            <a:solidFill>
              <a:srgbClr val="CCFFFF"/>
            </a:solidFill>
            <a:ln w="25560" cmpd="sng">
              <a:solidFill>
                <a:srgbClr val="007C8B"/>
              </a:solidFill>
              <a:round/>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007C8B"/>
                  </a:solidFill>
                  <a:sym typeface="Comic Sans MS" charset="0"/>
                </a:rPr>
                <a:t>≤</a:t>
              </a:r>
              <a:endParaRPr lang="zh-CN" altLang="en-US" dirty="0">
                <a:solidFill>
                  <a:srgbClr val="007C8B"/>
                </a:solidFill>
              </a:endParaRPr>
            </a:p>
          </p:txBody>
        </p:sp>
        <p:sp>
          <p:nvSpPr>
            <p:cNvPr id="64" name="Rectangle 37"/>
            <p:cNvSpPr>
              <a:spLocks noChangeArrowheads="1"/>
            </p:cNvSpPr>
            <p:nvPr/>
          </p:nvSpPr>
          <p:spPr bwMode="auto">
            <a:xfrm>
              <a:off x="3271244" y="3434152"/>
              <a:ext cx="511439" cy="235424"/>
            </a:xfrm>
            <a:prstGeom prst="rect">
              <a:avLst/>
            </a:prstGeom>
            <a:solidFill>
              <a:srgbClr val="FFFFFF"/>
            </a:solidFill>
            <a:ln w="28575" cmpd="sng">
              <a:solidFill>
                <a:srgbClr val="007C8B"/>
              </a:solidFill>
              <a:miter lim="800000"/>
              <a:headEnd/>
              <a:tailEnd/>
            </a:ln>
          </p:spPr>
          <p:txBody>
            <a:bodyPr wrap="none" lIns="90360" tIns="44280" rIns="90360" bIns="44280" anchor="ct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Comic Sans MS" charset="0"/>
                </a:rPr>
                <a:t>500</a:t>
              </a:r>
              <a:endParaRPr lang="zh-CN" altLang="en-US" sz="1200" b="1" dirty="0">
                <a:solidFill>
                  <a:srgbClr val="007C8B"/>
                </a:solidFill>
                <a:latin typeface="微软雅黑" pitchFamily="34" charset="-122"/>
                <a:ea typeface="微软雅黑" pitchFamily="34" charset="-122"/>
              </a:endParaRPr>
            </a:p>
          </p:txBody>
        </p:sp>
        <p:sp>
          <p:nvSpPr>
            <p:cNvPr id="66" name="Line 39"/>
            <p:cNvSpPr>
              <a:spLocks noChangeShapeType="1"/>
            </p:cNvSpPr>
            <p:nvPr/>
          </p:nvSpPr>
          <p:spPr bwMode="auto">
            <a:xfrm>
              <a:off x="3534067" y="2455924"/>
              <a:ext cx="1014" cy="377491"/>
            </a:xfrm>
            <a:prstGeom prst="line">
              <a:avLst/>
            </a:prstGeom>
            <a:noFill/>
            <a:ln w="19080" cmpd="sng">
              <a:solidFill>
                <a:srgbClr val="007C8B"/>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sp>
          <p:nvSpPr>
            <p:cNvPr id="67" name="Rectangle 40"/>
            <p:cNvSpPr>
              <a:spLocks noChangeArrowheads="1"/>
            </p:cNvSpPr>
            <p:nvPr/>
          </p:nvSpPr>
          <p:spPr bwMode="auto">
            <a:xfrm>
              <a:off x="2958698" y="2250943"/>
              <a:ext cx="1158855" cy="2740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360" tIns="44280" rIns="90360" bIns="44280">
              <a:spAutoFit/>
            </a:bodyPr>
            <a:lstStyle/>
            <a:p>
              <a:pPr algn="ct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200" b="1" dirty="0">
                  <a:solidFill>
                    <a:srgbClr val="007C8B"/>
                  </a:solidFill>
                  <a:latin typeface="微软雅黑" pitchFamily="34" charset="-122"/>
                  <a:ea typeface="微软雅黑" pitchFamily="34" charset="-122"/>
                  <a:sym typeface="Verdana" charset="0"/>
                </a:rPr>
                <a:t>内存异常</a:t>
              </a:r>
              <a:endParaRPr lang="zh-CN" altLang="en-US" sz="1200" b="1" dirty="0">
                <a:solidFill>
                  <a:srgbClr val="007C8B"/>
                </a:solidFill>
                <a:latin typeface="微软雅黑" pitchFamily="34" charset="-122"/>
                <a:ea typeface="微软雅黑" pitchFamily="34" charset="-122"/>
                <a:sym typeface="Comic Sans MS" charset="0"/>
              </a:endParaRPr>
            </a:p>
          </p:txBody>
        </p:sp>
        <p:sp>
          <p:nvSpPr>
            <p:cNvPr id="70" name="Rectangle 43"/>
            <p:cNvSpPr>
              <a:spLocks noChangeArrowheads="1"/>
            </p:cNvSpPr>
            <p:nvPr/>
          </p:nvSpPr>
          <p:spPr bwMode="auto">
            <a:xfrm>
              <a:off x="3508697" y="2589872"/>
              <a:ext cx="362021" cy="3048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90360" tIns="44280" rIns="90360" bIns="44280">
              <a:spAutoFit/>
            </a:bodyPr>
            <a:lstStyle/>
            <a:p>
              <a:pPr>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400" b="1" dirty="0">
                  <a:solidFill>
                    <a:srgbClr val="007C8B"/>
                  </a:solidFill>
                  <a:latin typeface="微软雅黑" pitchFamily="34" charset="-122"/>
                  <a:ea typeface="微软雅黑" pitchFamily="34" charset="-122"/>
                </a:rPr>
                <a:t>否</a:t>
              </a:r>
            </a:p>
          </p:txBody>
        </p:sp>
        <p:sp>
          <p:nvSpPr>
            <p:cNvPr id="71" name="Line 46"/>
            <p:cNvSpPr>
              <a:spLocks noChangeShapeType="1"/>
            </p:cNvSpPr>
            <p:nvPr/>
          </p:nvSpPr>
          <p:spPr bwMode="auto">
            <a:xfrm>
              <a:off x="3522904" y="3162197"/>
              <a:ext cx="1015" cy="255719"/>
            </a:xfrm>
            <a:prstGeom prst="line">
              <a:avLst/>
            </a:prstGeom>
            <a:noFill/>
            <a:ln w="19080" cmpd="sng">
              <a:solidFill>
                <a:srgbClr val="007C8B"/>
              </a:solidFill>
              <a:round/>
              <a:headEnd type="triangle" w="med" len="med"/>
              <a:tailEnd/>
            </a:ln>
            <a:extLst>
              <a:ext uri="{909E8E84-426E-40dd-AFC4-6F175D3DCCD1}">
                <a14:hiddenFill xmlns:a14="http://schemas.microsoft.com/office/drawing/2010/main" xmlns="">
                  <a:noFill/>
                </a14:hiddenFill>
              </a:ext>
            </a:extLst>
          </p:spPr>
          <p:txBody>
            <a:bodyPr/>
            <a:lstStyle/>
            <a:p>
              <a:endParaRPr lang="zh-CN" altLang="en-US"/>
            </a:p>
          </p:txBody>
        </p:sp>
        <p:sp>
          <p:nvSpPr>
            <p:cNvPr id="105" name="AutoShape 79"/>
            <p:cNvSpPr>
              <a:spLocks/>
            </p:cNvSpPr>
            <p:nvPr/>
          </p:nvSpPr>
          <p:spPr bwMode="auto">
            <a:xfrm flipV="1">
              <a:off x="3327056" y="3675665"/>
              <a:ext cx="170480" cy="156273"/>
            </a:xfrm>
            <a:custGeom>
              <a:avLst/>
              <a:gdLst/>
              <a:ahLst/>
              <a:cxnLst/>
              <a:rect l="0" t="0" r="0" b="0"/>
              <a:pathLst/>
            </a:custGeom>
            <a:noFill/>
            <a:ln w="19080" cmpd="sng">
              <a:solidFill>
                <a:srgbClr val="0066FF"/>
              </a:solidFill>
              <a:round/>
              <a:headEnd/>
              <a:tailEnd type="triangle" w="med" len="me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112" name="TextBox 97"/>
            <p:cNvSpPr>
              <a:spLocks noChangeArrowheads="1"/>
            </p:cNvSpPr>
            <p:nvPr/>
          </p:nvSpPr>
          <p:spPr bwMode="auto">
            <a:xfrm>
              <a:off x="2751687" y="2675112"/>
              <a:ext cx="639298"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SzPct val="100000"/>
              </a:pPr>
              <a:r>
                <a:rPr lang="zh-CN" altLang="en-US" sz="1200" dirty="0">
                  <a:solidFill>
                    <a:srgbClr val="C00000"/>
                  </a:solidFill>
                  <a:latin typeface="微软雅黑" pitchFamily="34" charset="-122"/>
                  <a:ea typeface="微软雅黑" pitchFamily="34" charset="-122"/>
                  <a:sym typeface="Comic Sans MS" charset="0"/>
                </a:rPr>
                <a:t>MMU</a:t>
              </a:r>
              <a:endParaRPr lang="zh-CN" altLang="en-US" sz="1200" dirty="0">
                <a:solidFill>
                  <a:srgbClr val="C00000"/>
                </a:solidFill>
                <a:latin typeface="微软雅黑" pitchFamily="34" charset="-122"/>
                <a:ea typeface="微软雅黑" pitchFamily="34" charset="-122"/>
              </a:endParaRPr>
            </a:p>
          </p:txBody>
        </p:sp>
        <p:sp>
          <p:nvSpPr>
            <p:cNvPr id="117" name="Line 76"/>
            <p:cNvSpPr>
              <a:spLocks noChangeShapeType="1"/>
            </p:cNvSpPr>
            <p:nvPr/>
          </p:nvSpPr>
          <p:spPr bwMode="auto">
            <a:xfrm>
              <a:off x="1628387" y="2794854"/>
              <a:ext cx="0" cy="208026"/>
            </a:xfrm>
            <a:prstGeom prst="line">
              <a:avLst/>
            </a:prstGeom>
            <a:noFill/>
            <a:ln w="19080" cmpd="sng">
              <a:solidFill>
                <a:srgbClr val="007C8B"/>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sp>
        <p:nvSpPr>
          <p:cNvPr id="2" name="文本框 1">
            <a:extLst>
              <a:ext uri="{FF2B5EF4-FFF2-40B4-BE49-F238E27FC236}">
                <a16:creationId xmlns:a16="http://schemas.microsoft.com/office/drawing/2014/main" id="{A387152D-E408-D95F-F178-38F34D4E814C}"/>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6" name="标题 8">
            <a:extLst>
              <a:ext uri="{FF2B5EF4-FFF2-40B4-BE49-F238E27FC236}">
                <a16:creationId xmlns:a16="http://schemas.microsoft.com/office/drawing/2014/main" id="{81817933-5690-E8DC-A310-0F68E8588FDD}"/>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段访问的硬件实现</a:t>
            </a:r>
          </a:p>
        </p:txBody>
      </p:sp>
    </p:spTree>
    <p:extLst>
      <p:ext uri="{BB962C8B-B14F-4D97-AF65-F5344CB8AC3E}">
        <p14:creationId xmlns:p14="http://schemas.microsoft.com/office/powerpoint/2010/main" val="204992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par>
                                <p:cTn id="8" presetID="22" presetClass="entr" presetSubtype="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up)">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wipe(left)">
                                      <p:cBhvr>
                                        <p:cTn id="25" dur="500"/>
                                        <p:tgtEl>
                                          <p:spTgt spid="104"/>
                                        </p:tgtEl>
                                      </p:cBhvr>
                                    </p:animEffect>
                                  </p:childTnLst>
                                </p:cTn>
                              </p:par>
                              <p:par>
                                <p:cTn id="26" presetID="22" presetClass="entr" presetSubtype="8"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6"/>
                                        </p:tgtEl>
                                        <p:attrNameLst>
                                          <p:attrName>style.visibility</p:attrName>
                                        </p:attrNameLst>
                                      </p:cBhvr>
                                      <p:to>
                                        <p:strVal val="visible"/>
                                      </p:to>
                                    </p:set>
                                    <p:animEffect transition="in" filter="wipe(left)">
                                      <p:cBhvr>
                                        <p:cTn id="33" dur="500"/>
                                        <p:tgtEl>
                                          <p:spTgt spid="106"/>
                                        </p:tgtEl>
                                      </p:cBhvr>
                                    </p:animEffect>
                                  </p:childTnLst>
                                </p:cTn>
                              </p:par>
                              <p:par>
                                <p:cTn id="34" presetID="22" presetClass="entr" presetSubtype="8"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9"/>
          <p:cNvGrpSpPr>
            <a:grpSpLocks/>
          </p:cNvGrpSpPr>
          <p:nvPr/>
        </p:nvGrpSpPr>
        <p:grpSpPr bwMode="auto">
          <a:xfrm>
            <a:off x="2348071" y="1521685"/>
            <a:ext cx="7799387" cy="4981575"/>
            <a:chOff x="1214438" y="1357313"/>
            <a:chExt cx="7800005" cy="4981593"/>
          </a:xfrm>
        </p:grpSpPr>
        <p:sp>
          <p:nvSpPr>
            <p:cNvPr id="118791" name="Text Box 50"/>
            <p:cNvSpPr txBox="1">
              <a:spLocks noChangeArrowheads="1"/>
            </p:cNvSpPr>
            <p:nvPr/>
          </p:nvSpPr>
          <p:spPr bwMode="auto">
            <a:xfrm>
              <a:off x="6000760" y="6000768"/>
              <a:ext cx="2038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ea typeface="楷体_GB2312" pitchFamily="49" charset="-122"/>
                </a:rPr>
                <a:t>Physical Address</a:t>
              </a:r>
              <a:endParaRPr kumimoji="1" lang="zh-CN" altLang="en-US" sz="2000" b="1">
                <a:solidFill>
                  <a:srgbClr val="000000"/>
                </a:solidFill>
                <a:latin typeface="Times New Roman" panose="02020603050405020304" pitchFamily="18" charset="0"/>
                <a:ea typeface="楷体_GB2312" pitchFamily="49" charset="-122"/>
              </a:endParaRPr>
            </a:p>
          </p:txBody>
        </p:sp>
        <p:sp>
          <p:nvSpPr>
            <p:cNvPr id="118792" name="Rectangle 7"/>
            <p:cNvSpPr>
              <a:spLocks noChangeArrowheads="1"/>
            </p:cNvSpPr>
            <p:nvPr/>
          </p:nvSpPr>
          <p:spPr bwMode="auto">
            <a:xfrm>
              <a:off x="2382838" y="3560763"/>
              <a:ext cx="1250950" cy="1787525"/>
            </a:xfrm>
            <a:prstGeom prst="rect">
              <a:avLst/>
            </a:prstGeom>
            <a:solidFill>
              <a:schemeClr val="accent2"/>
            </a:solidFill>
            <a:ln w="38100">
              <a:solidFill>
                <a:srgbClr val="000000"/>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None/>
              </a:pPr>
              <a:endParaRPr kumimoji="1" lang="en-US" altLang="zh-CN" sz="2400" b="1">
                <a:solidFill>
                  <a:srgbClr val="000000"/>
                </a:solidFill>
                <a:latin typeface="Times New Roman" panose="02020603050405020304" pitchFamily="18" charset="0"/>
                <a:ea typeface="楷体_GB2312" pitchFamily="49" charset="-122"/>
              </a:endParaRPr>
            </a:p>
            <a:p>
              <a:pPr algn="ctr">
                <a:lnSpc>
                  <a:spcPct val="80000"/>
                </a:lnSpc>
                <a:buClrTx/>
                <a:buFont typeface="Wingdings" panose="05000000000000000000" pitchFamily="2" charset="2"/>
                <a:buNone/>
              </a:pPr>
              <a:r>
                <a:rPr kumimoji="1" lang="en-US" altLang="zh-CN" sz="2400" b="1">
                  <a:solidFill>
                    <a:srgbClr val="000000"/>
                  </a:solidFill>
                  <a:latin typeface="Times New Roman" panose="02020603050405020304" pitchFamily="18" charset="0"/>
                  <a:ea typeface="楷体_GB2312" pitchFamily="49" charset="-122"/>
                </a:rPr>
                <a:t>L       b</a:t>
              </a:r>
            </a:p>
          </p:txBody>
        </p:sp>
        <p:sp>
          <p:nvSpPr>
            <p:cNvPr id="118793" name="Text Box 8"/>
            <p:cNvSpPr txBox="1">
              <a:spLocks noChangeArrowheads="1"/>
            </p:cNvSpPr>
            <p:nvPr/>
          </p:nvSpPr>
          <p:spPr bwMode="auto">
            <a:xfrm>
              <a:off x="2654301" y="3086101"/>
              <a:ext cx="1441228"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400" b="1">
                  <a:solidFill>
                    <a:srgbClr val="000000"/>
                  </a:solidFill>
                  <a:latin typeface="Times New Roman" panose="02020603050405020304" pitchFamily="18" charset="0"/>
                  <a:ea typeface="楷体_GB2312" pitchFamily="49" charset="-122"/>
                </a:rPr>
                <a:t>Seg Table</a:t>
              </a:r>
              <a:endParaRPr kumimoji="1" lang="zh-CN" altLang="en-US" sz="2400" b="1">
                <a:solidFill>
                  <a:srgbClr val="000000"/>
                </a:solidFill>
                <a:latin typeface="Times New Roman" panose="02020603050405020304" pitchFamily="18" charset="0"/>
                <a:ea typeface="楷体_GB2312" pitchFamily="49" charset="-122"/>
              </a:endParaRPr>
            </a:p>
          </p:txBody>
        </p:sp>
        <p:sp>
          <p:nvSpPr>
            <p:cNvPr id="118794" name="Line 9"/>
            <p:cNvSpPr>
              <a:spLocks noChangeShapeType="1"/>
            </p:cNvSpPr>
            <p:nvPr/>
          </p:nvSpPr>
          <p:spPr bwMode="auto">
            <a:xfrm>
              <a:off x="2428860" y="4357694"/>
              <a:ext cx="1250950"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5" name="Line 10"/>
            <p:cNvSpPr>
              <a:spLocks noChangeShapeType="1"/>
            </p:cNvSpPr>
            <p:nvPr/>
          </p:nvSpPr>
          <p:spPr bwMode="auto">
            <a:xfrm>
              <a:off x="2382838" y="4930776"/>
              <a:ext cx="1250950"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6" name="Text Box 11"/>
            <p:cNvSpPr txBox="1">
              <a:spLocks noChangeArrowheads="1"/>
            </p:cNvSpPr>
            <p:nvPr/>
          </p:nvSpPr>
          <p:spPr bwMode="auto">
            <a:xfrm>
              <a:off x="3841751" y="3798888"/>
              <a:ext cx="1209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ea typeface="楷体_GB2312" pitchFamily="49" charset="-122"/>
                </a:rPr>
                <a:t>Overflow</a:t>
              </a:r>
              <a:endParaRPr kumimoji="1" lang="zh-CN" altLang="en-US" sz="2400" b="1">
                <a:solidFill>
                  <a:srgbClr val="000000"/>
                </a:solidFill>
                <a:latin typeface="Times New Roman" panose="02020603050405020304" pitchFamily="18" charset="0"/>
                <a:ea typeface="楷体_GB2312" pitchFamily="49" charset="-122"/>
              </a:endParaRPr>
            </a:p>
          </p:txBody>
        </p:sp>
        <p:sp>
          <p:nvSpPr>
            <p:cNvPr id="118797" name="Rectangle 12"/>
            <p:cNvSpPr>
              <a:spLocks noChangeArrowheads="1"/>
            </p:cNvSpPr>
            <p:nvPr/>
          </p:nvSpPr>
          <p:spPr bwMode="auto">
            <a:xfrm>
              <a:off x="3633788" y="1773238"/>
              <a:ext cx="1530350" cy="357188"/>
            </a:xfrm>
            <a:prstGeom prst="rect">
              <a:avLst/>
            </a:prstGeom>
            <a:solidFill>
              <a:schemeClr val="accent2"/>
            </a:solidFill>
            <a:ln w="38100">
              <a:solidFill>
                <a:srgbClr val="000000"/>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rPr>
                <a:t>ST Length</a:t>
              </a:r>
            </a:p>
          </p:txBody>
        </p:sp>
        <p:sp>
          <p:nvSpPr>
            <p:cNvPr id="118798" name="Oval 13"/>
            <p:cNvSpPr>
              <a:spLocks noChangeArrowheads="1"/>
            </p:cNvSpPr>
            <p:nvPr/>
          </p:nvSpPr>
          <p:spPr bwMode="auto">
            <a:xfrm>
              <a:off x="4121151" y="2606676"/>
              <a:ext cx="555625" cy="417513"/>
            </a:xfrm>
            <a:prstGeom prst="ellipse">
              <a:avLst/>
            </a:prstGeom>
            <a:solidFill>
              <a:schemeClr val="accent2"/>
            </a:solidFill>
            <a:ln w="38100">
              <a:solidFill>
                <a:srgbClr val="000000"/>
              </a:solidFill>
              <a:round/>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None/>
              </a:pPr>
              <a:r>
                <a:rPr kumimoji="1" lang="en-US" altLang="zh-CN" sz="1800" b="1">
                  <a:solidFill>
                    <a:srgbClr val="000000"/>
                  </a:solidFill>
                  <a:latin typeface="Times New Roman" panose="02020603050405020304" pitchFamily="18" charset="0"/>
                  <a:ea typeface="楷体_GB2312" pitchFamily="49" charset="-122"/>
                </a:rPr>
                <a:t>check</a:t>
              </a:r>
              <a:endParaRPr kumimoji="1" lang="zh-CN" altLang="en-US" sz="1800" b="1">
                <a:solidFill>
                  <a:srgbClr val="000000"/>
                </a:solidFill>
                <a:latin typeface="Times New Roman" panose="02020603050405020304" pitchFamily="18" charset="0"/>
                <a:ea typeface="楷体_GB2312" pitchFamily="49" charset="-122"/>
              </a:endParaRPr>
            </a:p>
          </p:txBody>
        </p:sp>
        <p:sp>
          <p:nvSpPr>
            <p:cNvPr id="118799" name="Text Box 14"/>
            <p:cNvSpPr txBox="1">
              <a:spLocks noChangeArrowheads="1"/>
            </p:cNvSpPr>
            <p:nvPr/>
          </p:nvSpPr>
          <p:spPr bwMode="auto">
            <a:xfrm>
              <a:off x="4440238" y="3041651"/>
              <a:ext cx="910827"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400" b="1">
                  <a:solidFill>
                    <a:srgbClr val="000000"/>
                  </a:solidFill>
                  <a:latin typeface="Times New Roman" panose="02020603050405020304" pitchFamily="18" charset="0"/>
                  <a:ea typeface="楷体_GB2312" pitchFamily="49" charset="-122"/>
                </a:rPr>
                <a:t>S&gt;=L</a:t>
              </a:r>
            </a:p>
          </p:txBody>
        </p:sp>
        <p:sp>
          <p:nvSpPr>
            <p:cNvPr id="118800" name="Line 15"/>
            <p:cNvSpPr>
              <a:spLocks noChangeShapeType="1"/>
            </p:cNvSpPr>
            <p:nvPr/>
          </p:nvSpPr>
          <p:spPr bwMode="auto">
            <a:xfrm>
              <a:off x="4398963" y="2130426"/>
              <a:ext cx="1588" cy="476250"/>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1" name="Line 16"/>
            <p:cNvSpPr>
              <a:spLocks noChangeShapeType="1"/>
            </p:cNvSpPr>
            <p:nvPr/>
          </p:nvSpPr>
          <p:spPr bwMode="auto">
            <a:xfrm>
              <a:off x="4398963" y="3044826"/>
              <a:ext cx="1588" cy="714375"/>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2" name="Line 17"/>
            <p:cNvSpPr>
              <a:spLocks noChangeShapeType="1"/>
            </p:cNvSpPr>
            <p:nvPr/>
          </p:nvSpPr>
          <p:spPr bwMode="auto">
            <a:xfrm flipH="1">
              <a:off x="2382838" y="2846388"/>
              <a:ext cx="1738313" cy="0"/>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3" name="Rectangle 18"/>
            <p:cNvSpPr>
              <a:spLocks noChangeArrowheads="1"/>
            </p:cNvSpPr>
            <p:nvPr/>
          </p:nvSpPr>
          <p:spPr bwMode="auto">
            <a:xfrm>
              <a:off x="5719763" y="3560763"/>
              <a:ext cx="1042988" cy="1370013"/>
            </a:xfrm>
            <a:prstGeom prst="rect">
              <a:avLst/>
            </a:prstGeom>
            <a:solidFill>
              <a:schemeClr val="accent2"/>
            </a:solidFill>
            <a:ln w="38100">
              <a:solidFill>
                <a:srgbClr val="000000"/>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Char char="•"/>
              </a:pPr>
              <a:endParaRPr kumimoji="1" lang="en-US" altLang="zh-CN" sz="2400" b="1">
                <a:solidFill>
                  <a:srgbClr val="000000"/>
                </a:solidFill>
                <a:latin typeface="Times New Roman" panose="02020603050405020304" pitchFamily="18" charset="0"/>
                <a:ea typeface="楷体_GB2312" pitchFamily="49" charset="-122"/>
              </a:endParaRPr>
            </a:p>
            <a:p>
              <a:pPr algn="ctr">
                <a:lnSpc>
                  <a:spcPct val="80000"/>
                </a:lnSpc>
                <a:buClrTx/>
                <a:buFont typeface="Wingdings" panose="05000000000000000000" pitchFamily="2" charset="2"/>
                <a:buChar char="•"/>
              </a:pPr>
              <a:endParaRPr kumimoji="1" lang="en-US" altLang="zh-CN" sz="2400" b="1">
                <a:solidFill>
                  <a:srgbClr val="000000"/>
                </a:solidFill>
                <a:latin typeface="Times New Roman" panose="02020603050405020304" pitchFamily="18" charset="0"/>
                <a:ea typeface="楷体_GB2312" pitchFamily="49" charset="-122"/>
              </a:endParaRPr>
            </a:p>
          </p:txBody>
        </p:sp>
        <p:sp>
          <p:nvSpPr>
            <p:cNvPr id="118804" name="Text Box 19"/>
            <p:cNvSpPr txBox="1">
              <a:spLocks noChangeArrowheads="1"/>
            </p:cNvSpPr>
            <p:nvPr/>
          </p:nvSpPr>
          <p:spPr bwMode="auto">
            <a:xfrm>
              <a:off x="5789613" y="4115200"/>
              <a:ext cx="347663"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1800" b="1">
                  <a:solidFill>
                    <a:srgbClr val="000000"/>
                  </a:solidFill>
                  <a:latin typeface="Times New Roman" panose="02020603050405020304" pitchFamily="18" charset="0"/>
                  <a:ea typeface="楷体_GB2312" pitchFamily="49" charset="-122"/>
                </a:rPr>
                <a:t>S</a:t>
              </a:r>
            </a:p>
          </p:txBody>
        </p:sp>
        <p:sp>
          <p:nvSpPr>
            <p:cNvPr id="118805" name="Text Box 20"/>
            <p:cNvSpPr txBox="1">
              <a:spLocks noChangeArrowheads="1"/>
            </p:cNvSpPr>
            <p:nvPr/>
          </p:nvSpPr>
          <p:spPr bwMode="auto">
            <a:xfrm>
              <a:off x="6372241" y="4114807"/>
              <a:ext cx="4857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1800" b="1">
                  <a:solidFill>
                    <a:srgbClr val="000000"/>
                  </a:solidFill>
                  <a:latin typeface="Times New Roman" panose="02020603050405020304" pitchFamily="18" charset="0"/>
                  <a:ea typeface="楷体_GB2312" pitchFamily="49" charset="-122"/>
                </a:rPr>
                <a:t>b</a:t>
              </a:r>
            </a:p>
          </p:txBody>
        </p:sp>
        <p:sp>
          <p:nvSpPr>
            <p:cNvPr id="118806" name="Line 21"/>
            <p:cNvSpPr>
              <a:spLocks noChangeShapeType="1"/>
            </p:cNvSpPr>
            <p:nvPr/>
          </p:nvSpPr>
          <p:spPr bwMode="auto">
            <a:xfrm>
              <a:off x="5719763" y="3738563"/>
              <a:ext cx="1042988"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7" name="Line 22"/>
            <p:cNvSpPr>
              <a:spLocks noChangeShapeType="1"/>
            </p:cNvSpPr>
            <p:nvPr/>
          </p:nvSpPr>
          <p:spPr bwMode="auto">
            <a:xfrm>
              <a:off x="5719763" y="4071938"/>
              <a:ext cx="1042988"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8" name="Line 23"/>
            <p:cNvSpPr>
              <a:spLocks noChangeShapeType="1"/>
            </p:cNvSpPr>
            <p:nvPr/>
          </p:nvSpPr>
          <p:spPr bwMode="auto">
            <a:xfrm>
              <a:off x="5719763" y="4394201"/>
              <a:ext cx="1042988"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9" name="Text Box 24"/>
            <p:cNvSpPr txBox="1">
              <a:spLocks noChangeArrowheads="1"/>
            </p:cNvSpPr>
            <p:nvPr/>
          </p:nvSpPr>
          <p:spPr bwMode="auto">
            <a:xfrm>
              <a:off x="5927726" y="4394201"/>
              <a:ext cx="18415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endParaRPr kumimoji="1" lang="en-US" altLang="zh-CN" sz="2400" b="1">
                <a:solidFill>
                  <a:srgbClr val="000000"/>
                </a:solidFill>
                <a:latin typeface="Times New Roman" panose="02020603050405020304" pitchFamily="18" charset="0"/>
                <a:ea typeface="楷体_GB2312" pitchFamily="49" charset="-122"/>
              </a:endParaRPr>
            </a:p>
          </p:txBody>
        </p:sp>
        <p:sp>
          <p:nvSpPr>
            <p:cNvPr id="118810" name="Text Box 25"/>
            <p:cNvSpPr txBox="1">
              <a:spLocks noChangeArrowheads="1"/>
            </p:cNvSpPr>
            <p:nvPr/>
          </p:nvSpPr>
          <p:spPr bwMode="auto">
            <a:xfrm>
              <a:off x="6096001" y="4394201"/>
              <a:ext cx="26193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400" b="1">
                  <a:solidFill>
                    <a:srgbClr val="000000"/>
                  </a:solidFill>
                  <a:latin typeface="Times New Roman" panose="02020603050405020304" pitchFamily="18" charset="0"/>
                  <a:ea typeface="楷体_GB2312" pitchFamily="49" charset="-122"/>
                </a:rPr>
                <a:t>.</a:t>
              </a:r>
            </a:p>
          </p:txBody>
        </p:sp>
        <p:sp>
          <p:nvSpPr>
            <p:cNvPr id="118811" name="Text Box 26"/>
            <p:cNvSpPr txBox="1">
              <a:spLocks noChangeArrowheads="1"/>
            </p:cNvSpPr>
            <p:nvPr/>
          </p:nvSpPr>
          <p:spPr bwMode="auto">
            <a:xfrm>
              <a:off x="6275388" y="4394201"/>
              <a:ext cx="26193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400" b="1">
                  <a:solidFill>
                    <a:srgbClr val="000000"/>
                  </a:solidFill>
                  <a:latin typeface="Times New Roman" panose="02020603050405020304" pitchFamily="18" charset="0"/>
                  <a:ea typeface="楷体_GB2312" pitchFamily="49" charset="-122"/>
                </a:rPr>
                <a:t>.</a:t>
              </a:r>
            </a:p>
          </p:txBody>
        </p:sp>
        <p:sp>
          <p:nvSpPr>
            <p:cNvPr id="118812" name="Text Box 27"/>
            <p:cNvSpPr txBox="1">
              <a:spLocks noChangeArrowheads="1"/>
            </p:cNvSpPr>
            <p:nvPr/>
          </p:nvSpPr>
          <p:spPr bwMode="auto">
            <a:xfrm>
              <a:off x="5857876" y="3163888"/>
              <a:ext cx="8001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400" b="1">
                  <a:solidFill>
                    <a:srgbClr val="000000"/>
                  </a:solidFill>
                  <a:latin typeface="Times New Roman" panose="02020603050405020304" pitchFamily="18" charset="0"/>
                  <a:ea typeface="楷体_GB2312" pitchFamily="49" charset="-122"/>
                </a:rPr>
                <a:t>TLB</a:t>
              </a:r>
            </a:p>
          </p:txBody>
        </p:sp>
        <p:sp>
          <p:nvSpPr>
            <p:cNvPr id="118813" name="Line 28"/>
            <p:cNvSpPr>
              <a:spLocks noChangeShapeType="1"/>
            </p:cNvSpPr>
            <p:nvPr/>
          </p:nvSpPr>
          <p:spPr bwMode="auto">
            <a:xfrm>
              <a:off x="6067426" y="4097338"/>
              <a:ext cx="1588" cy="29686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4" name="Line 29"/>
            <p:cNvSpPr>
              <a:spLocks noChangeShapeType="1"/>
            </p:cNvSpPr>
            <p:nvPr/>
          </p:nvSpPr>
          <p:spPr bwMode="auto">
            <a:xfrm>
              <a:off x="6345238" y="4097338"/>
              <a:ext cx="1588" cy="29686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5" name="Line 30"/>
            <p:cNvSpPr>
              <a:spLocks noChangeShapeType="1"/>
            </p:cNvSpPr>
            <p:nvPr/>
          </p:nvSpPr>
          <p:spPr bwMode="auto">
            <a:xfrm>
              <a:off x="5302251" y="2846388"/>
              <a:ext cx="1588" cy="1965325"/>
            </a:xfrm>
            <a:prstGeom prst="line">
              <a:avLst/>
            </a:prstGeom>
            <a:noFill/>
            <a:ln w="38100">
              <a:solidFill>
                <a:srgbClr val="3399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6" name="Line 31"/>
            <p:cNvSpPr>
              <a:spLocks noChangeShapeType="1"/>
            </p:cNvSpPr>
            <p:nvPr/>
          </p:nvSpPr>
          <p:spPr bwMode="auto">
            <a:xfrm>
              <a:off x="5302251" y="3619501"/>
              <a:ext cx="417513" cy="1588"/>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7" name="Line 32"/>
            <p:cNvSpPr>
              <a:spLocks noChangeShapeType="1"/>
            </p:cNvSpPr>
            <p:nvPr/>
          </p:nvSpPr>
          <p:spPr bwMode="auto">
            <a:xfrm>
              <a:off x="5302251" y="3917951"/>
              <a:ext cx="417513" cy="1588"/>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8" name="Line 33"/>
            <p:cNvSpPr>
              <a:spLocks noChangeShapeType="1"/>
            </p:cNvSpPr>
            <p:nvPr/>
          </p:nvSpPr>
          <p:spPr bwMode="auto">
            <a:xfrm>
              <a:off x="5302251" y="4216401"/>
              <a:ext cx="417513" cy="0"/>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19" name="Line 34"/>
            <p:cNvSpPr>
              <a:spLocks noChangeShapeType="1"/>
            </p:cNvSpPr>
            <p:nvPr/>
          </p:nvSpPr>
          <p:spPr bwMode="auto">
            <a:xfrm>
              <a:off x="5302251" y="4513263"/>
              <a:ext cx="417513" cy="1588"/>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20" name="Line 35"/>
            <p:cNvSpPr>
              <a:spLocks noChangeShapeType="1"/>
            </p:cNvSpPr>
            <p:nvPr/>
          </p:nvSpPr>
          <p:spPr bwMode="auto">
            <a:xfrm>
              <a:off x="5302251" y="4811713"/>
              <a:ext cx="417513" cy="1588"/>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21" name="Line 36"/>
            <p:cNvSpPr>
              <a:spLocks noChangeShapeType="1"/>
            </p:cNvSpPr>
            <p:nvPr/>
          </p:nvSpPr>
          <p:spPr bwMode="auto">
            <a:xfrm>
              <a:off x="6762751" y="4216401"/>
              <a:ext cx="48577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22" name="Rectangle 37"/>
            <p:cNvSpPr>
              <a:spLocks noChangeArrowheads="1"/>
            </p:cNvSpPr>
            <p:nvPr/>
          </p:nvSpPr>
          <p:spPr bwMode="auto">
            <a:xfrm>
              <a:off x="1341438" y="1773238"/>
              <a:ext cx="1528763" cy="357188"/>
            </a:xfrm>
            <a:prstGeom prst="rect">
              <a:avLst/>
            </a:prstGeom>
            <a:solidFill>
              <a:schemeClr val="accent2"/>
            </a:solidFill>
            <a:ln w="38100">
              <a:solidFill>
                <a:srgbClr val="000000"/>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rPr>
                <a:t>ST Address</a:t>
              </a:r>
              <a:endParaRPr kumimoji="1" lang="en-US" altLang="zh-CN" sz="2000">
                <a:solidFill>
                  <a:srgbClr val="000000"/>
                </a:solidFill>
                <a:latin typeface="Times New Roman" panose="02020603050405020304" pitchFamily="18" charset="0"/>
              </a:endParaRPr>
            </a:p>
          </p:txBody>
        </p:sp>
        <p:sp>
          <p:nvSpPr>
            <p:cNvPr id="118823" name="Oval 38"/>
            <p:cNvSpPr>
              <a:spLocks noChangeArrowheads="1"/>
            </p:cNvSpPr>
            <p:nvPr/>
          </p:nvSpPr>
          <p:spPr bwMode="auto">
            <a:xfrm>
              <a:off x="1827213" y="2606676"/>
              <a:ext cx="555625" cy="417513"/>
            </a:xfrm>
            <a:prstGeom prst="ellipse">
              <a:avLst/>
            </a:prstGeom>
            <a:solidFill>
              <a:schemeClr val="accent2"/>
            </a:solidFill>
            <a:ln w="38100">
              <a:solidFill>
                <a:srgbClr val="000000"/>
              </a:solidFill>
              <a:round/>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None/>
              </a:pPr>
              <a:r>
                <a:rPr kumimoji="1" lang="en-US" altLang="zh-CN" sz="3200" b="1">
                  <a:solidFill>
                    <a:srgbClr val="000000"/>
                  </a:solidFill>
                  <a:latin typeface="Times New Roman" panose="02020603050405020304" pitchFamily="18" charset="0"/>
                </a:rPr>
                <a:t>+</a:t>
              </a:r>
              <a:endParaRPr kumimoji="1" lang="en-US" altLang="zh-CN" sz="2400" b="1">
                <a:solidFill>
                  <a:srgbClr val="000000"/>
                </a:solidFill>
                <a:latin typeface="Times New Roman" panose="02020603050405020304" pitchFamily="18" charset="0"/>
              </a:endParaRPr>
            </a:p>
          </p:txBody>
        </p:sp>
        <p:sp>
          <p:nvSpPr>
            <p:cNvPr id="118824" name="Line 39"/>
            <p:cNvSpPr>
              <a:spLocks noChangeShapeType="1"/>
            </p:cNvSpPr>
            <p:nvPr/>
          </p:nvSpPr>
          <p:spPr bwMode="auto">
            <a:xfrm>
              <a:off x="2105026" y="2130426"/>
              <a:ext cx="0" cy="476250"/>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25" name="Line 40"/>
            <p:cNvSpPr>
              <a:spLocks noChangeShapeType="1"/>
            </p:cNvSpPr>
            <p:nvPr/>
          </p:nvSpPr>
          <p:spPr bwMode="auto">
            <a:xfrm>
              <a:off x="2105026" y="3024188"/>
              <a:ext cx="0" cy="1727200"/>
            </a:xfrm>
            <a:prstGeom prst="line">
              <a:avLst/>
            </a:prstGeom>
            <a:noFill/>
            <a:ln w="38100">
              <a:solidFill>
                <a:srgbClr val="3399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26" name="Line 41"/>
            <p:cNvSpPr>
              <a:spLocks noChangeShapeType="1"/>
            </p:cNvSpPr>
            <p:nvPr/>
          </p:nvSpPr>
          <p:spPr bwMode="auto">
            <a:xfrm>
              <a:off x="2105026" y="4751388"/>
              <a:ext cx="277813" cy="0"/>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8827" name="Group 63"/>
            <p:cNvGrpSpPr>
              <a:grpSpLocks/>
            </p:cNvGrpSpPr>
            <p:nvPr/>
          </p:nvGrpSpPr>
          <p:grpSpPr bwMode="auto">
            <a:xfrm>
              <a:off x="5857876" y="1773238"/>
              <a:ext cx="2989263" cy="357188"/>
              <a:chOff x="3356" y="1288"/>
              <a:chExt cx="1883" cy="225"/>
            </a:xfrm>
          </p:grpSpPr>
          <p:sp>
            <p:nvSpPr>
              <p:cNvPr id="118850" name="Rectangle 42"/>
              <p:cNvSpPr>
                <a:spLocks noChangeArrowheads="1"/>
              </p:cNvSpPr>
              <p:nvPr/>
            </p:nvSpPr>
            <p:spPr bwMode="auto">
              <a:xfrm>
                <a:off x="3356" y="1288"/>
                <a:ext cx="1883" cy="225"/>
              </a:xfrm>
              <a:prstGeom prst="rect">
                <a:avLst/>
              </a:prstGeom>
              <a:solidFill>
                <a:schemeClr val="hlink"/>
              </a:solidFill>
              <a:ln w="38100">
                <a:solidFill>
                  <a:srgbClr val="000000"/>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None/>
                </a:pPr>
                <a:r>
                  <a:rPr kumimoji="1" lang="en-US" altLang="zh-CN" sz="2400" b="1" dirty="0" err="1">
                    <a:solidFill>
                      <a:srgbClr val="000000"/>
                    </a:solidFill>
                    <a:latin typeface="楷体_GB2312" pitchFamily="49" charset="-122"/>
                    <a:ea typeface="楷体_GB2312" pitchFamily="49" charset="-122"/>
                  </a:rPr>
                  <a:t>Seg_ID</a:t>
                </a:r>
                <a:r>
                  <a:rPr kumimoji="1" lang="en-US" altLang="zh-CN" sz="2400" b="1" dirty="0">
                    <a:solidFill>
                      <a:srgbClr val="000000"/>
                    </a:solidFill>
                    <a:latin typeface="楷体_GB2312" pitchFamily="49" charset="-122"/>
                    <a:ea typeface="楷体_GB2312" pitchFamily="49" charset="-122"/>
                  </a:rPr>
                  <a:t>   Offset D</a:t>
                </a:r>
                <a:endParaRPr kumimoji="1" lang="en-US" altLang="zh-CN" sz="2400" b="1" dirty="0">
                  <a:solidFill>
                    <a:srgbClr val="000000"/>
                  </a:solidFill>
                  <a:latin typeface="Times New Roman" panose="02020603050405020304" pitchFamily="18" charset="0"/>
                </a:endParaRPr>
              </a:p>
            </p:txBody>
          </p:sp>
          <p:sp>
            <p:nvSpPr>
              <p:cNvPr id="118851" name="Line 43"/>
              <p:cNvSpPr>
                <a:spLocks noChangeShapeType="1"/>
              </p:cNvSpPr>
              <p:nvPr/>
            </p:nvSpPr>
            <p:spPr bwMode="auto">
              <a:xfrm>
                <a:off x="4256" y="1288"/>
                <a:ext cx="0" cy="2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8828" name="Line 44"/>
            <p:cNvSpPr>
              <a:spLocks noChangeShapeType="1"/>
            </p:cNvSpPr>
            <p:nvPr/>
          </p:nvSpPr>
          <p:spPr bwMode="auto">
            <a:xfrm>
              <a:off x="6483351" y="2130426"/>
              <a:ext cx="0" cy="715963"/>
            </a:xfrm>
            <a:prstGeom prst="line">
              <a:avLst/>
            </a:prstGeom>
            <a:noFill/>
            <a:ln w="38100">
              <a:solidFill>
                <a:srgbClr val="3399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29" name="Line 45"/>
            <p:cNvSpPr>
              <a:spLocks noChangeShapeType="1"/>
            </p:cNvSpPr>
            <p:nvPr/>
          </p:nvSpPr>
          <p:spPr bwMode="auto">
            <a:xfrm flipH="1">
              <a:off x="4676776" y="2846388"/>
              <a:ext cx="1806575" cy="0"/>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0" name="Rectangle 46"/>
            <p:cNvSpPr>
              <a:spLocks noChangeArrowheads="1"/>
            </p:cNvSpPr>
            <p:nvPr/>
          </p:nvSpPr>
          <p:spPr bwMode="auto">
            <a:xfrm>
              <a:off x="6572264" y="5674136"/>
              <a:ext cx="1000132" cy="319103"/>
            </a:xfrm>
            <a:prstGeom prst="rect">
              <a:avLst/>
            </a:prstGeom>
            <a:solidFill>
              <a:schemeClr val="hlink"/>
            </a:solidFill>
            <a:ln w="38100">
              <a:solidFill>
                <a:srgbClr val="000000"/>
              </a:solidFill>
              <a:miter lim="800000"/>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Char char="•"/>
              </a:pPr>
              <a:endParaRPr kumimoji="1" lang="zh-CN" altLang="zh-CN" sz="1800">
                <a:solidFill>
                  <a:srgbClr val="000000"/>
                </a:solidFill>
                <a:latin typeface="Times New Roman" panose="02020603050405020304" pitchFamily="18" charset="0"/>
                <a:ea typeface="楷体_GB2312" pitchFamily="49" charset="-122"/>
              </a:endParaRPr>
            </a:p>
          </p:txBody>
        </p:sp>
        <p:sp>
          <p:nvSpPr>
            <p:cNvPr id="118831" name="Text Box 48"/>
            <p:cNvSpPr txBox="1">
              <a:spLocks noChangeArrowheads="1"/>
            </p:cNvSpPr>
            <p:nvPr/>
          </p:nvSpPr>
          <p:spPr bwMode="auto">
            <a:xfrm>
              <a:off x="6696088" y="5686836"/>
              <a:ext cx="688009"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1800" b="1">
                  <a:solidFill>
                    <a:srgbClr val="000000"/>
                  </a:solidFill>
                  <a:latin typeface="Times New Roman" panose="02020603050405020304" pitchFamily="18" charset="0"/>
                  <a:ea typeface="楷体_GB2312" pitchFamily="49" charset="-122"/>
                </a:rPr>
                <a:t>b + d</a:t>
              </a:r>
            </a:p>
          </p:txBody>
        </p:sp>
        <p:sp>
          <p:nvSpPr>
            <p:cNvPr id="118832" name="Line 51"/>
            <p:cNvSpPr>
              <a:spLocks noChangeShapeType="1"/>
            </p:cNvSpPr>
            <p:nvPr/>
          </p:nvSpPr>
          <p:spPr bwMode="auto">
            <a:xfrm>
              <a:off x="4094163" y="4719638"/>
              <a:ext cx="1588" cy="454025"/>
            </a:xfrm>
            <a:prstGeom prst="line">
              <a:avLst/>
            </a:prstGeom>
            <a:noFill/>
            <a:ln w="38100">
              <a:solidFill>
                <a:srgbClr val="3399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3" name="Line 52"/>
            <p:cNvSpPr>
              <a:spLocks noChangeShapeType="1"/>
            </p:cNvSpPr>
            <p:nvPr/>
          </p:nvSpPr>
          <p:spPr bwMode="auto">
            <a:xfrm flipV="1">
              <a:off x="4094163" y="5170488"/>
              <a:ext cx="2876550" cy="3175"/>
            </a:xfrm>
            <a:prstGeom prst="line">
              <a:avLst/>
            </a:prstGeom>
            <a:noFill/>
            <a:ln w="38100">
              <a:solidFill>
                <a:srgbClr val="3399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4" name="Line 53"/>
            <p:cNvSpPr>
              <a:spLocks noChangeShapeType="1"/>
            </p:cNvSpPr>
            <p:nvPr/>
          </p:nvSpPr>
          <p:spPr bwMode="auto">
            <a:xfrm flipV="1">
              <a:off x="6970712" y="4714884"/>
              <a:ext cx="601683" cy="454017"/>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5" name="Line 54"/>
            <p:cNvSpPr>
              <a:spLocks noChangeShapeType="1"/>
            </p:cNvSpPr>
            <p:nvPr/>
          </p:nvSpPr>
          <p:spPr bwMode="auto">
            <a:xfrm flipV="1">
              <a:off x="6205538" y="4930776"/>
              <a:ext cx="1588" cy="238125"/>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6" name="Line 55"/>
            <p:cNvSpPr>
              <a:spLocks noChangeShapeType="1"/>
            </p:cNvSpPr>
            <p:nvPr/>
          </p:nvSpPr>
          <p:spPr bwMode="auto">
            <a:xfrm>
              <a:off x="6762751" y="4216401"/>
              <a:ext cx="485775" cy="0"/>
            </a:xfrm>
            <a:prstGeom prst="line">
              <a:avLst/>
            </a:prstGeom>
            <a:noFill/>
            <a:ln w="38100">
              <a:solidFill>
                <a:srgbClr val="66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7" name="Line 56"/>
            <p:cNvSpPr>
              <a:spLocks noChangeShapeType="1"/>
            </p:cNvSpPr>
            <p:nvPr/>
          </p:nvSpPr>
          <p:spPr bwMode="auto">
            <a:xfrm>
              <a:off x="7248526" y="4216401"/>
              <a:ext cx="323870" cy="212731"/>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8" name="Line 57"/>
            <p:cNvSpPr>
              <a:spLocks noChangeShapeType="1"/>
            </p:cNvSpPr>
            <p:nvPr/>
          </p:nvSpPr>
          <p:spPr bwMode="auto">
            <a:xfrm flipH="1">
              <a:off x="7786710" y="2130427"/>
              <a:ext cx="157141" cy="2227268"/>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39" name="Text Box 58"/>
            <p:cNvSpPr txBox="1">
              <a:spLocks noChangeArrowheads="1"/>
            </p:cNvSpPr>
            <p:nvPr/>
          </p:nvSpPr>
          <p:spPr bwMode="auto">
            <a:xfrm>
              <a:off x="1214438" y="1357313"/>
              <a:ext cx="10953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ea typeface="楷体_GB2312" pitchFamily="49" charset="-122"/>
                </a:rPr>
                <a:t>Register</a:t>
              </a:r>
              <a:endParaRPr kumimoji="1" lang="zh-CN" altLang="en-US" sz="2000" b="1">
                <a:solidFill>
                  <a:srgbClr val="000000"/>
                </a:solidFill>
                <a:latin typeface="Times New Roman" panose="02020603050405020304" pitchFamily="18" charset="0"/>
                <a:ea typeface="楷体_GB2312" pitchFamily="49" charset="-122"/>
              </a:endParaRPr>
            </a:p>
          </p:txBody>
        </p:sp>
        <p:sp>
          <p:nvSpPr>
            <p:cNvPr id="118840" name="Text Box 59"/>
            <p:cNvSpPr txBox="1">
              <a:spLocks noChangeArrowheads="1"/>
            </p:cNvSpPr>
            <p:nvPr/>
          </p:nvSpPr>
          <p:spPr bwMode="auto">
            <a:xfrm>
              <a:off x="3446463" y="1357313"/>
              <a:ext cx="10953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ea typeface="楷体_GB2312" pitchFamily="49" charset="-122"/>
                </a:rPr>
                <a:t>Register</a:t>
              </a:r>
              <a:endParaRPr kumimoji="1" lang="zh-CN" altLang="en-US" sz="2000" b="1">
                <a:solidFill>
                  <a:srgbClr val="000000"/>
                </a:solidFill>
                <a:latin typeface="Times New Roman" panose="02020603050405020304" pitchFamily="18" charset="0"/>
                <a:ea typeface="楷体_GB2312" pitchFamily="49" charset="-122"/>
              </a:endParaRPr>
            </a:p>
          </p:txBody>
        </p:sp>
        <p:sp>
          <p:nvSpPr>
            <p:cNvPr id="118841" name="Text Box 60"/>
            <p:cNvSpPr txBox="1">
              <a:spLocks noChangeArrowheads="1"/>
            </p:cNvSpPr>
            <p:nvPr/>
          </p:nvSpPr>
          <p:spPr bwMode="auto">
            <a:xfrm>
              <a:off x="6902451" y="1357313"/>
              <a:ext cx="1895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ea typeface="楷体_GB2312" pitchFamily="49" charset="-122"/>
                </a:rPr>
                <a:t>Logical address</a:t>
              </a:r>
              <a:endParaRPr kumimoji="1" lang="zh-CN" altLang="en-US" sz="2000" b="1">
                <a:solidFill>
                  <a:srgbClr val="000000"/>
                </a:solidFill>
                <a:latin typeface="Times New Roman" panose="02020603050405020304" pitchFamily="18" charset="0"/>
                <a:ea typeface="楷体_GB2312" pitchFamily="49" charset="-122"/>
              </a:endParaRPr>
            </a:p>
          </p:txBody>
        </p:sp>
        <p:sp>
          <p:nvSpPr>
            <p:cNvPr id="118842" name="Line 64"/>
            <p:cNvSpPr>
              <a:spLocks noChangeShapeType="1"/>
            </p:cNvSpPr>
            <p:nvPr/>
          </p:nvSpPr>
          <p:spPr bwMode="auto">
            <a:xfrm flipV="1">
              <a:off x="3446463" y="4741863"/>
              <a:ext cx="647700" cy="3175"/>
            </a:xfrm>
            <a:prstGeom prst="line">
              <a:avLst/>
            </a:prstGeom>
            <a:noFill/>
            <a:ln w="38100">
              <a:solidFill>
                <a:srgbClr val="3399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43" name="Line 28"/>
            <p:cNvSpPr>
              <a:spLocks noChangeShapeType="1"/>
            </p:cNvSpPr>
            <p:nvPr/>
          </p:nvSpPr>
          <p:spPr bwMode="auto">
            <a:xfrm>
              <a:off x="2857488" y="4357694"/>
              <a:ext cx="1588" cy="5400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44" name="Text Box 19"/>
            <p:cNvSpPr txBox="1">
              <a:spLocks noChangeArrowheads="1"/>
            </p:cNvSpPr>
            <p:nvPr/>
          </p:nvSpPr>
          <p:spPr bwMode="auto">
            <a:xfrm>
              <a:off x="6081725" y="4115200"/>
              <a:ext cx="347663"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1800" b="1">
                  <a:solidFill>
                    <a:srgbClr val="000000"/>
                  </a:solidFill>
                  <a:latin typeface="Times New Roman" panose="02020603050405020304" pitchFamily="18" charset="0"/>
                  <a:ea typeface="楷体_GB2312" pitchFamily="49" charset="-122"/>
                </a:rPr>
                <a:t>L</a:t>
              </a:r>
            </a:p>
          </p:txBody>
        </p:sp>
        <p:sp>
          <p:nvSpPr>
            <p:cNvPr id="118845" name="Oval 13"/>
            <p:cNvSpPr>
              <a:spLocks noChangeArrowheads="1"/>
            </p:cNvSpPr>
            <p:nvPr/>
          </p:nvSpPr>
          <p:spPr bwMode="auto">
            <a:xfrm>
              <a:off x="7572396" y="4357694"/>
              <a:ext cx="555625" cy="417513"/>
            </a:xfrm>
            <a:prstGeom prst="ellipse">
              <a:avLst/>
            </a:prstGeom>
            <a:solidFill>
              <a:schemeClr val="accent2"/>
            </a:solidFill>
            <a:ln w="38100">
              <a:solidFill>
                <a:srgbClr val="000000"/>
              </a:solidFill>
              <a:round/>
              <a:headEnd/>
              <a:tailEnd/>
            </a:ln>
          </p:spPr>
          <p:txBody>
            <a:bodyPr wrap="none" anchor="ct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gn="ctr">
                <a:lnSpc>
                  <a:spcPct val="80000"/>
                </a:lnSpc>
                <a:buClrTx/>
                <a:buFont typeface="Wingdings" panose="05000000000000000000" pitchFamily="2" charset="2"/>
                <a:buNone/>
              </a:pPr>
              <a:r>
                <a:rPr kumimoji="1" lang="en-US" altLang="zh-CN" sz="1800" b="1">
                  <a:solidFill>
                    <a:srgbClr val="000000"/>
                  </a:solidFill>
                  <a:latin typeface="Times New Roman" panose="02020603050405020304" pitchFamily="18" charset="0"/>
                  <a:ea typeface="楷体_GB2312" pitchFamily="49" charset="-122"/>
                </a:rPr>
                <a:t>check</a:t>
              </a:r>
              <a:endParaRPr kumimoji="1" lang="zh-CN" altLang="en-US" sz="1800" b="1">
                <a:solidFill>
                  <a:srgbClr val="000000"/>
                </a:solidFill>
                <a:latin typeface="Times New Roman" panose="02020603050405020304" pitchFamily="18" charset="0"/>
                <a:ea typeface="楷体_GB2312" pitchFamily="49" charset="-122"/>
              </a:endParaRPr>
            </a:p>
          </p:txBody>
        </p:sp>
        <p:sp>
          <p:nvSpPr>
            <p:cNvPr id="118846" name="Text Box 14"/>
            <p:cNvSpPr txBox="1">
              <a:spLocks noChangeArrowheads="1"/>
            </p:cNvSpPr>
            <p:nvPr/>
          </p:nvSpPr>
          <p:spPr bwMode="auto">
            <a:xfrm>
              <a:off x="8001024" y="3929066"/>
              <a:ext cx="1013419"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400" b="1">
                  <a:solidFill>
                    <a:srgbClr val="000000"/>
                  </a:solidFill>
                  <a:latin typeface="Times New Roman" panose="02020603050405020304" pitchFamily="18" charset="0"/>
                  <a:ea typeface="楷体_GB2312" pitchFamily="49" charset="-122"/>
                </a:rPr>
                <a:t>D&gt;=Sl</a:t>
              </a:r>
            </a:p>
          </p:txBody>
        </p:sp>
        <p:sp>
          <p:nvSpPr>
            <p:cNvPr id="118847" name="Line 16"/>
            <p:cNvSpPr>
              <a:spLocks noChangeShapeType="1"/>
            </p:cNvSpPr>
            <p:nvPr/>
          </p:nvSpPr>
          <p:spPr bwMode="auto">
            <a:xfrm>
              <a:off x="8143900" y="4643447"/>
              <a:ext cx="357190" cy="214314"/>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48" name="Text Box 11"/>
            <p:cNvSpPr txBox="1">
              <a:spLocks noChangeArrowheads="1"/>
            </p:cNvSpPr>
            <p:nvPr/>
          </p:nvSpPr>
          <p:spPr bwMode="auto">
            <a:xfrm>
              <a:off x="7786710" y="4929198"/>
              <a:ext cx="12096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
                <a:defRPr sz="2800">
                  <a:solidFill>
                    <a:schemeClr val="tx2"/>
                  </a:solidFill>
                  <a:latin typeface="Verdana" panose="020B0604030504040204" pitchFamily="34" charset="0"/>
                </a:defRPr>
              </a:lvl1pPr>
              <a:lvl2pPr marL="742950" indent="-285750">
                <a:spcBef>
                  <a:spcPct val="20000"/>
                </a:spcBef>
                <a:buClr>
                  <a:schemeClr val="accent1"/>
                </a:buClr>
                <a:buSzPct val="80000"/>
                <a:buFont typeface="Wingdings" panose="05000000000000000000" pitchFamily="2" charset="2"/>
                <a:buChar char="l"/>
                <a:defRPr sz="2400">
                  <a:solidFill>
                    <a:schemeClr val="tx1"/>
                  </a:solidFill>
                  <a:latin typeface="Verdana" panose="020B0604030504040204" pitchFamily="34" charset="0"/>
                </a:defRPr>
              </a:lvl2pPr>
              <a:lvl3pPr marL="1143000" indent="-228600">
                <a:spcBef>
                  <a:spcPct val="20000"/>
                </a:spcBef>
                <a:buClr>
                  <a:schemeClr val="folHlink"/>
                </a:buClr>
                <a:buSzPct val="70000"/>
                <a:buFont typeface="Wingdings" panose="05000000000000000000" pitchFamily="2" charset="2"/>
                <a:buChar char="l"/>
                <a:defRPr sz="2400">
                  <a:solidFill>
                    <a:schemeClr val="tx1"/>
                  </a:solidFill>
                  <a:latin typeface="Verdana" panose="020B0604030504040204" pitchFamily="34" charset="0"/>
                </a:defRPr>
              </a:lvl3pPr>
              <a:lvl4pPr marL="1600200" indent="-228600">
                <a:spcBef>
                  <a:spcPct val="20000"/>
                </a:spcBef>
                <a:buClr>
                  <a:schemeClr val="tx1"/>
                </a:buClr>
                <a:buSzPct val="60000"/>
                <a:buFont typeface="Wingdings" panose="05000000000000000000" pitchFamily="2" charset="2"/>
                <a:buChar char="l"/>
                <a:defRPr sz="2000">
                  <a:solidFill>
                    <a:schemeClr val="tx1"/>
                  </a:solidFill>
                  <a:latin typeface="Verdana" panose="020B0604030504040204" pitchFamily="34" charset="0"/>
                </a:defRPr>
              </a:lvl4pPr>
              <a:lvl5pPr marL="2057400" indent="-228600">
                <a:spcBef>
                  <a:spcPct val="20000"/>
                </a:spcBef>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hlink"/>
                </a:buClr>
                <a:buSzPct val="50000"/>
                <a:buFont typeface="Wingdings" panose="05000000000000000000" pitchFamily="2" charset="2"/>
                <a:buChar char="l"/>
                <a:defRPr sz="2000">
                  <a:solidFill>
                    <a:schemeClr val="tx1"/>
                  </a:solidFill>
                  <a:latin typeface="Verdana" panose="020B0604030504040204" pitchFamily="34" charset="0"/>
                </a:defRPr>
              </a:lvl9pPr>
            </a:lstStyle>
            <a:p>
              <a:pPr>
                <a:lnSpc>
                  <a:spcPct val="80000"/>
                </a:lnSpc>
                <a:buClrTx/>
                <a:buFont typeface="Wingdings" panose="05000000000000000000" pitchFamily="2" charset="2"/>
                <a:buNone/>
              </a:pPr>
              <a:r>
                <a:rPr kumimoji="1" lang="en-US" altLang="zh-CN" sz="2000" b="1">
                  <a:solidFill>
                    <a:srgbClr val="000000"/>
                  </a:solidFill>
                  <a:latin typeface="Times New Roman" panose="02020603050405020304" pitchFamily="18" charset="0"/>
                  <a:ea typeface="楷体_GB2312" pitchFamily="49" charset="-122"/>
                </a:rPr>
                <a:t>Overflow</a:t>
              </a:r>
              <a:endParaRPr kumimoji="1" lang="zh-CN" altLang="en-US" sz="2400" b="1">
                <a:solidFill>
                  <a:srgbClr val="000000"/>
                </a:solidFill>
                <a:latin typeface="Times New Roman" panose="02020603050405020304" pitchFamily="18" charset="0"/>
                <a:ea typeface="楷体_GB2312" pitchFamily="49" charset="-122"/>
              </a:endParaRPr>
            </a:p>
          </p:txBody>
        </p:sp>
        <p:sp>
          <p:nvSpPr>
            <p:cNvPr id="118849" name="Line 16"/>
            <p:cNvSpPr>
              <a:spLocks noChangeShapeType="1"/>
            </p:cNvSpPr>
            <p:nvPr/>
          </p:nvSpPr>
          <p:spPr bwMode="auto">
            <a:xfrm flipH="1">
              <a:off x="7072329" y="4786321"/>
              <a:ext cx="714379" cy="857256"/>
            </a:xfrm>
            <a:prstGeom prst="line">
              <a:avLst/>
            </a:prstGeom>
            <a:noFill/>
            <a:ln w="38100">
              <a:solidFill>
                <a:srgbClr val="33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文本框 2">
            <a:extLst>
              <a:ext uri="{FF2B5EF4-FFF2-40B4-BE49-F238E27FC236}">
                <a16:creationId xmlns:a16="http://schemas.microsoft.com/office/drawing/2014/main" id="{8E597119-A683-2312-CED3-96AEF588C91A}"/>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6" name="标题 8">
            <a:extLst>
              <a:ext uri="{FF2B5EF4-FFF2-40B4-BE49-F238E27FC236}">
                <a16:creationId xmlns:a16="http://schemas.microsoft.com/office/drawing/2014/main" id="{426DA39B-A9C1-EC9B-D323-2A8B6240DFA2}"/>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Mechanism of TLB</a:t>
            </a:r>
            <a:endParaRPr lang="zh-CN" altLang="en-US" b="0"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2348328" y="1696211"/>
            <a:ext cx="7310437" cy="4286250"/>
          </a:xfrm>
          <a:prstGeom prst="rect">
            <a:avLst/>
          </a:prstGeom>
          <a:noFill/>
        </p:spPr>
      </p:pic>
      <p:sp>
        <p:nvSpPr>
          <p:cNvPr id="2" name="文本框 1">
            <a:extLst>
              <a:ext uri="{FF2B5EF4-FFF2-40B4-BE49-F238E27FC236}">
                <a16:creationId xmlns:a16="http://schemas.microsoft.com/office/drawing/2014/main" id="{25EFA4A6-EED1-FE85-74F8-167973D7D424}"/>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D7CF4551-FD0D-C72F-C209-E439CAE40F7D}"/>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Pure segmentation: External fragment</a:t>
            </a:r>
            <a:endParaRPr lang="zh-CN" altLang="en-US" b="0"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31520" y="1556792"/>
            <a:ext cx="10477047" cy="759182"/>
            <a:chOff x="758825" y="939187"/>
            <a:chExt cx="10477047" cy="759182"/>
          </a:xfrm>
        </p:grpSpPr>
        <p:sp>
          <p:nvSpPr>
            <p:cNvPr id="21" name="TextBox 4"/>
            <p:cNvSpPr txBox="1">
              <a:spLocks noChangeArrowheads="1"/>
            </p:cNvSpPr>
            <p:nvPr/>
          </p:nvSpPr>
          <p:spPr bwMode="auto">
            <a:xfrm>
              <a:off x="1197657" y="939187"/>
              <a:ext cx="10038215" cy="759182"/>
            </a:xfrm>
            <a:prstGeom prst="rect">
              <a:avLst/>
            </a:prstGeom>
            <a:noFill/>
            <a:ln w="9525">
              <a:noFill/>
              <a:miter lim="800000"/>
              <a:headEnd/>
              <a:tailEnd/>
            </a:ln>
          </p:spPr>
          <p:txBody>
            <a:bodyPr wrap="square">
              <a:spAutoFit/>
            </a:bodyPr>
            <a:lstStyle/>
            <a:p>
              <a:pPr marL="0" lvl="1" indent="-307975">
                <a:lnSpc>
                  <a:spcPts val="2600"/>
                </a:lnSpc>
                <a:buClr>
                  <a:srgbClr val="000099"/>
                </a:buClr>
                <a:buSzPct val="100000"/>
                <a:defRPr/>
              </a:pPr>
              <a:r>
                <a:rPr lang="zh-CN" altLang="en-US" sz="2400" b="1" dirty="0">
                  <a:solidFill>
                    <a:srgbClr val="11576A"/>
                  </a:solidFill>
                  <a:latin typeface="微软雅黑" pitchFamily="34" charset="-122"/>
                  <a:ea typeface="微软雅黑" pitchFamily="34" charset="-122"/>
                  <a:cs typeface="宋体" charset="0"/>
                  <a:sym typeface="Times New Roman" charset="0"/>
                </a:rPr>
                <a:t>段式存储在内存保护方面有优势，页式存储在内存利用和优化转移到后备存储方面有优势。</a:t>
              </a:r>
            </a:p>
          </p:txBody>
        </p:sp>
        <p:sp>
          <p:nvSpPr>
            <p:cNvPr id="22" name="矩形 6"/>
            <p:cNvSpPr>
              <a:spLocks noChangeArrowheads="1"/>
            </p:cNvSpPr>
            <p:nvPr/>
          </p:nvSpPr>
          <p:spPr bwMode="auto">
            <a:xfrm>
              <a:off x="758825" y="950901"/>
              <a:ext cx="370614" cy="461665"/>
            </a:xfrm>
            <a:prstGeom prst="rect">
              <a:avLst/>
            </a:prstGeom>
            <a:noFill/>
            <a:ln w="9525">
              <a:noFill/>
              <a:miter lim="800000"/>
              <a:headEnd/>
              <a:tailEnd/>
            </a:ln>
          </p:spPr>
          <p:txBody>
            <a:bodyPr wrap="none">
              <a:spAutoFit/>
            </a:bodyPr>
            <a:lstStyle/>
            <a:p>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latin typeface="Calibri" pitchFamily="34" charset="0"/>
              </a:endParaRPr>
            </a:p>
          </p:txBody>
        </p:sp>
      </p:grpSp>
      <p:grpSp>
        <p:nvGrpSpPr>
          <p:cNvPr id="3" name="组合 2"/>
          <p:cNvGrpSpPr/>
          <p:nvPr/>
        </p:nvGrpSpPr>
        <p:grpSpPr>
          <a:xfrm>
            <a:off x="731520" y="2396248"/>
            <a:ext cx="9678639" cy="484231"/>
            <a:chOff x="765148" y="1639895"/>
            <a:chExt cx="9678639" cy="484231"/>
          </a:xfrm>
        </p:grpSpPr>
        <p:sp>
          <p:nvSpPr>
            <p:cNvPr id="16" name="矩形 6"/>
            <p:cNvSpPr>
              <a:spLocks noChangeArrowheads="1"/>
            </p:cNvSpPr>
            <p:nvPr/>
          </p:nvSpPr>
          <p:spPr bwMode="auto">
            <a:xfrm>
              <a:off x="765148" y="1639895"/>
              <a:ext cx="370614" cy="461665"/>
            </a:xfrm>
            <a:prstGeom prst="rect">
              <a:avLst/>
            </a:prstGeom>
            <a:noFill/>
            <a:ln w="9525">
              <a:noFill/>
              <a:miter lim="800000"/>
              <a:headEnd/>
              <a:tailEnd/>
            </a:ln>
          </p:spPr>
          <p:txBody>
            <a:bodyPr wrap="none">
              <a:spAutoFit/>
            </a:bodyPr>
            <a:lstStyle/>
            <a:p>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latin typeface="Calibri" pitchFamily="34" charset="0"/>
              </a:endParaRPr>
            </a:p>
          </p:txBody>
        </p:sp>
        <p:sp>
          <p:nvSpPr>
            <p:cNvPr id="6" name="TextBox 4"/>
            <p:cNvSpPr txBox="1">
              <a:spLocks noChangeArrowheads="1"/>
            </p:cNvSpPr>
            <p:nvPr/>
          </p:nvSpPr>
          <p:spPr bwMode="auto">
            <a:xfrm>
              <a:off x="1197659" y="1698368"/>
              <a:ext cx="9246128" cy="425758"/>
            </a:xfrm>
            <a:prstGeom prst="rect">
              <a:avLst/>
            </a:prstGeom>
            <a:noFill/>
            <a:ln w="9525">
              <a:noFill/>
              <a:miter lim="800000"/>
              <a:headEnd/>
              <a:tailEnd/>
            </a:ln>
          </p:spPr>
          <p:txBody>
            <a:bodyPr wrap="square">
              <a:spAutoFit/>
            </a:bodyPr>
            <a:lstStyle/>
            <a:p>
              <a:pPr marL="0" lvl="1" indent="-307975">
                <a:lnSpc>
                  <a:spcPts val="2600"/>
                </a:lnSpc>
                <a:buClr>
                  <a:srgbClr val="000099"/>
                </a:buClr>
                <a:buSzPct val="100000"/>
                <a:defRPr/>
              </a:pPr>
              <a:r>
                <a:rPr lang="zh-CN" altLang="en-US" sz="2400" b="1" dirty="0">
                  <a:solidFill>
                    <a:srgbClr val="11576A"/>
                  </a:solidFill>
                  <a:latin typeface="微软雅黑" pitchFamily="34" charset="-122"/>
                  <a:ea typeface="微软雅黑" pitchFamily="34" charset="-122"/>
                  <a:cs typeface="宋体" charset="0"/>
                  <a:sym typeface="Times New Roman" charset="0"/>
                </a:rPr>
                <a:t>段机制缺少完善的硬件支持</a:t>
              </a:r>
              <a:r>
                <a:rPr lang="en-US" altLang="zh-CN" sz="2400" b="1" dirty="0">
                  <a:solidFill>
                    <a:srgbClr val="11576A"/>
                  </a:solidFill>
                  <a:latin typeface="微软雅黑" pitchFamily="34" charset="-122"/>
                  <a:ea typeface="微软雅黑" pitchFamily="34" charset="-122"/>
                  <a:cs typeface="宋体" charset="0"/>
                  <a:sym typeface="Times New Roman" charset="0"/>
                </a:rPr>
                <a:t>(</a:t>
              </a:r>
              <a:r>
                <a:rPr lang="zh-CN" altLang="en-US" sz="2400" b="1" dirty="0">
                  <a:solidFill>
                    <a:srgbClr val="11576A"/>
                  </a:solidFill>
                  <a:latin typeface="微软雅黑" pitchFamily="34" charset="-122"/>
                  <a:ea typeface="微软雅黑" pitchFamily="34" charset="-122"/>
                  <a:cs typeface="宋体" charset="0"/>
                  <a:sym typeface="Times New Roman" charset="0"/>
                </a:rPr>
                <a:t>借助页机制已经可以满足要求）</a:t>
              </a:r>
              <a:endParaRPr lang="zh-CN" altLang="en-US" sz="2400" b="1" dirty="0">
                <a:solidFill>
                  <a:srgbClr val="11576A"/>
                </a:solidFill>
                <a:latin typeface="微软雅黑" pitchFamily="34" charset="-122"/>
                <a:ea typeface="微软雅黑" pitchFamily="34" charset="-122"/>
                <a:cs typeface="宋体" charset="0"/>
              </a:endParaRPr>
            </a:p>
          </p:txBody>
        </p:sp>
      </p:grpSp>
      <p:sp>
        <p:nvSpPr>
          <p:cNvPr id="4" name="文本框 3">
            <a:extLst>
              <a:ext uri="{FF2B5EF4-FFF2-40B4-BE49-F238E27FC236}">
                <a16:creationId xmlns:a16="http://schemas.microsoft.com/office/drawing/2014/main" id="{02ACEF9B-9AB5-7B64-BB71-EC702D26EAC7}"/>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5" name="标题 8">
            <a:extLst>
              <a:ext uri="{FF2B5EF4-FFF2-40B4-BE49-F238E27FC236}">
                <a16:creationId xmlns:a16="http://schemas.microsoft.com/office/drawing/2014/main" id="{86CBFCDD-DDE7-6625-85CF-247067304BB0}"/>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段页式存储管理的需求</a:t>
            </a:r>
          </a:p>
        </p:txBody>
      </p:sp>
      <p:grpSp>
        <p:nvGrpSpPr>
          <p:cNvPr id="10" name="组合 9">
            <a:extLst>
              <a:ext uri="{FF2B5EF4-FFF2-40B4-BE49-F238E27FC236}">
                <a16:creationId xmlns:a16="http://schemas.microsoft.com/office/drawing/2014/main" id="{75E9F6B1-C085-404C-AD98-76DF4244991F}"/>
              </a:ext>
            </a:extLst>
          </p:cNvPr>
          <p:cNvGrpSpPr/>
          <p:nvPr/>
        </p:nvGrpSpPr>
        <p:grpSpPr>
          <a:xfrm>
            <a:off x="731520" y="3019226"/>
            <a:ext cx="10117007" cy="484231"/>
            <a:chOff x="765148" y="1639895"/>
            <a:chExt cx="10117007" cy="484231"/>
          </a:xfrm>
        </p:grpSpPr>
        <p:sp>
          <p:nvSpPr>
            <p:cNvPr id="11" name="矩形 6">
              <a:extLst>
                <a:ext uri="{FF2B5EF4-FFF2-40B4-BE49-F238E27FC236}">
                  <a16:creationId xmlns:a16="http://schemas.microsoft.com/office/drawing/2014/main" id="{88C69F08-159E-42B9-AB49-A1D2620D3C57}"/>
                </a:ext>
              </a:extLst>
            </p:cNvPr>
            <p:cNvSpPr>
              <a:spLocks noChangeArrowheads="1"/>
            </p:cNvSpPr>
            <p:nvPr/>
          </p:nvSpPr>
          <p:spPr bwMode="auto">
            <a:xfrm>
              <a:off x="765148" y="1639895"/>
              <a:ext cx="370614" cy="461665"/>
            </a:xfrm>
            <a:prstGeom prst="rect">
              <a:avLst/>
            </a:prstGeom>
            <a:noFill/>
            <a:ln w="9525">
              <a:noFill/>
              <a:miter lim="800000"/>
              <a:headEnd/>
              <a:tailEnd/>
            </a:ln>
          </p:spPr>
          <p:txBody>
            <a:bodyPr wrap="none">
              <a:spAutoFit/>
            </a:bodyPr>
            <a:lstStyle/>
            <a:p>
              <a:r>
                <a:rPr lang="zh-CN" altLang="en-US" sz="2400" b="1" dirty="0">
                  <a:solidFill>
                    <a:srgbClr val="11576A"/>
                  </a:solidFill>
                  <a:latin typeface="张海山锐谐体2.0-授权联系：Samtype@QQ.com" pitchFamily="2" charset="-122"/>
                  <a:ea typeface="张海山锐谐体2.0-授权联系：Samtype@QQ.com" pitchFamily="2" charset="-122"/>
                </a:rPr>
                <a:t>■</a:t>
              </a:r>
              <a:endParaRPr lang="zh-CN" altLang="en-US" sz="2400" b="1" dirty="0">
                <a:latin typeface="Calibri" pitchFamily="34" charset="0"/>
              </a:endParaRPr>
            </a:p>
          </p:txBody>
        </p:sp>
        <p:sp>
          <p:nvSpPr>
            <p:cNvPr id="12" name="TextBox 4">
              <a:extLst>
                <a:ext uri="{FF2B5EF4-FFF2-40B4-BE49-F238E27FC236}">
                  <a16:creationId xmlns:a16="http://schemas.microsoft.com/office/drawing/2014/main" id="{CAF01CFF-F9D7-4EE6-A2C7-ECA0071E65AF}"/>
                </a:ext>
              </a:extLst>
            </p:cNvPr>
            <p:cNvSpPr txBox="1">
              <a:spLocks noChangeArrowheads="1"/>
            </p:cNvSpPr>
            <p:nvPr/>
          </p:nvSpPr>
          <p:spPr bwMode="auto">
            <a:xfrm>
              <a:off x="1197658" y="1698368"/>
              <a:ext cx="9684497" cy="425758"/>
            </a:xfrm>
            <a:prstGeom prst="rect">
              <a:avLst/>
            </a:prstGeom>
            <a:noFill/>
            <a:ln w="9525">
              <a:noFill/>
              <a:miter lim="800000"/>
              <a:headEnd/>
              <a:tailEnd/>
            </a:ln>
          </p:spPr>
          <p:txBody>
            <a:bodyPr wrap="square">
              <a:spAutoFit/>
            </a:bodyPr>
            <a:lstStyle/>
            <a:p>
              <a:pPr marL="0" lvl="1" indent="-307975">
                <a:lnSpc>
                  <a:spcPts val="2600"/>
                </a:lnSpc>
                <a:buClr>
                  <a:srgbClr val="000099"/>
                </a:buClr>
                <a:buSzPct val="100000"/>
                <a:defRPr/>
              </a:pPr>
              <a:r>
                <a:rPr lang="zh-CN" altLang="en-US" sz="2400" b="1" dirty="0">
                  <a:solidFill>
                    <a:srgbClr val="11576A"/>
                  </a:solidFill>
                  <a:latin typeface="微软雅黑" pitchFamily="34" charset="-122"/>
                  <a:ea typeface="微软雅黑" pitchFamily="34" charset="-122"/>
                  <a:cs typeface="宋体" charset="0"/>
                  <a:sym typeface="Times New Roman" charset="0"/>
                </a:rPr>
                <a:t>段式存储、页式存储能否结合？</a:t>
              </a:r>
              <a:r>
                <a:rPr lang="en-US" altLang="zh-CN" sz="2400" b="1" dirty="0">
                  <a:solidFill>
                    <a:srgbClr val="11576A"/>
                  </a:solidFill>
                  <a:latin typeface="微软雅黑" pitchFamily="34" charset="-122"/>
                  <a:ea typeface="微软雅黑" pitchFamily="34" charset="-122"/>
                  <a:cs typeface="宋体" charset="0"/>
                  <a:sym typeface="Times New Roman" charset="0"/>
                </a:rPr>
                <a:t>(</a:t>
              </a:r>
              <a:r>
                <a:rPr lang="zh-CN" altLang="en-US" sz="2400" b="1" dirty="0">
                  <a:solidFill>
                    <a:srgbClr val="11576A"/>
                  </a:solidFill>
                  <a:latin typeface="微软雅黑" pitchFamily="34" charset="-122"/>
                  <a:ea typeface="微软雅黑" pitchFamily="34" charset="-122"/>
                  <a:cs typeface="宋体" charset="0"/>
                  <a:sym typeface="Times New Roman" charset="0"/>
                </a:rPr>
                <a:t>仅用于</a:t>
              </a:r>
              <a:r>
                <a:rPr lang="en-US" altLang="zh-CN" sz="2400" b="1" dirty="0" err="1">
                  <a:solidFill>
                    <a:srgbClr val="11576A"/>
                  </a:solidFill>
                  <a:latin typeface="微软雅黑" pitchFamily="34" charset="-122"/>
                  <a:ea typeface="微软雅黑" pitchFamily="34" charset="-122"/>
                  <a:cs typeface="宋体" charset="0"/>
                  <a:sym typeface="Times New Roman" charset="0"/>
                </a:rPr>
                <a:t>win+intel</a:t>
              </a:r>
              <a:r>
                <a:rPr lang="zh-CN" altLang="en-US" sz="2400" b="1" dirty="0">
                  <a:solidFill>
                    <a:srgbClr val="11576A"/>
                  </a:solidFill>
                  <a:latin typeface="微软雅黑" pitchFamily="34" charset="-122"/>
                  <a:ea typeface="微软雅黑" pitchFamily="34" charset="-122"/>
                  <a:cs typeface="宋体" charset="0"/>
                  <a:sym typeface="Times New Roman" charset="0"/>
                </a:rPr>
                <a:t>，因为过于复杂）</a:t>
              </a:r>
              <a:endParaRPr lang="zh-CN" altLang="en-US" sz="2400" b="1" dirty="0">
                <a:solidFill>
                  <a:srgbClr val="11576A"/>
                </a:solidFill>
                <a:latin typeface="微软雅黑" pitchFamily="34" charset="-122"/>
                <a:ea typeface="微软雅黑" pitchFamily="34" charset="-122"/>
                <a:cs typeface="宋体" charset="0"/>
              </a:endParaRPr>
            </a:p>
          </p:txBody>
        </p:sp>
      </p:grpSp>
    </p:spTree>
    <p:extLst>
      <p:ext uri="{BB962C8B-B14F-4D97-AF65-F5344CB8AC3E}">
        <p14:creationId xmlns:p14="http://schemas.microsoft.com/office/powerpoint/2010/main" val="106515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13150" y="1714488"/>
            <a:ext cx="7099275" cy="403444"/>
            <a:chOff x="758825" y="857238"/>
            <a:chExt cx="7099275" cy="403444"/>
          </a:xfrm>
        </p:grpSpPr>
        <p:sp>
          <p:nvSpPr>
            <p:cNvPr id="21" name="TextBox 4"/>
            <p:cNvSpPr txBox="1">
              <a:spLocks noChangeArrowheads="1"/>
            </p:cNvSpPr>
            <p:nvPr/>
          </p:nvSpPr>
          <p:spPr bwMode="auto">
            <a:xfrm>
              <a:off x="1000100" y="857238"/>
              <a:ext cx="6858000" cy="403444"/>
            </a:xfrm>
            <a:prstGeom prst="rect">
              <a:avLst/>
            </a:prstGeom>
            <a:noFill/>
            <a:ln w="9525">
              <a:noFill/>
              <a:miter lim="800000"/>
              <a:headEnd/>
              <a:tailEnd/>
            </a:ln>
          </p:spPr>
          <p:txBody>
            <a:bodyPr>
              <a:spAutoFit/>
            </a:bodyPr>
            <a:lstStyle/>
            <a:p>
              <a:pPr lvl="1" indent="-307975" eaLnBrk="1" hangingPunct="1">
                <a:lnSpc>
                  <a:spcPts val="2600"/>
                </a:lnSpc>
                <a:buClr>
                  <a:srgbClr val="000099"/>
                </a:buClr>
                <a:buSzPct val="75000"/>
                <a:defRPr/>
              </a:pPr>
              <a:r>
                <a:rPr lang="zh-CN" altLang="en-US" sz="2000" b="1" dirty="0">
                  <a:solidFill>
                    <a:srgbClr val="11576A"/>
                  </a:solidFill>
                  <a:latin typeface="微软雅黑" pitchFamily="34" charset="-122"/>
                  <a:ea typeface="微软雅黑" pitchFamily="34" charset="-122"/>
                  <a:cs typeface="宋体" charset="0"/>
                  <a:sym typeface="Times New Roman" charset="0"/>
                </a:rPr>
                <a:t>在段式存储管理基础上，给每个段加一级页表</a:t>
              </a:r>
              <a:endParaRPr lang="en-US" altLang="zh-CN" sz="2000" b="1" dirty="0">
                <a:solidFill>
                  <a:srgbClr val="11576A"/>
                </a:solidFill>
                <a:latin typeface="微软雅黑" pitchFamily="34" charset="-122"/>
                <a:ea typeface="微软雅黑" pitchFamily="34" charset="-122"/>
                <a:cs typeface="宋体" charset="0"/>
              </a:endParaRPr>
            </a:p>
          </p:txBody>
        </p:sp>
        <p:sp>
          <p:nvSpPr>
            <p:cNvPr id="22" name="矩形 6"/>
            <p:cNvSpPr>
              <a:spLocks noChangeArrowheads="1"/>
            </p:cNvSpPr>
            <p:nvPr/>
          </p:nvSpPr>
          <p:spPr bwMode="auto">
            <a:xfrm>
              <a:off x="758825" y="882638"/>
              <a:ext cx="324128" cy="369332"/>
            </a:xfrm>
            <a:prstGeom prst="rect">
              <a:avLst/>
            </a:prstGeom>
            <a:noFill/>
            <a:ln w="9525">
              <a:noFill/>
              <a:miter lim="800000"/>
              <a:headEnd/>
              <a:tailEnd/>
            </a:ln>
          </p:spPr>
          <p:txBody>
            <a:bodyPr wrap="none">
              <a:spAutoFit/>
            </a:bodyPr>
            <a:lstStyle/>
            <a:p>
              <a:r>
                <a:rPr lang="zh-CN" altLang="en-US" b="1" dirty="0">
                  <a:solidFill>
                    <a:srgbClr val="11576A"/>
                  </a:solidFill>
                  <a:latin typeface="张海山锐谐体2.0-授权联系：Samtype@QQ.com" pitchFamily="2" charset="-122"/>
                  <a:ea typeface="张海山锐谐体2.0-授权联系：Samtype@QQ.com" pitchFamily="2" charset="-122"/>
                </a:rPr>
                <a:t>■</a:t>
              </a:r>
              <a:endParaRPr lang="zh-CN" altLang="en-US" b="1" dirty="0">
                <a:latin typeface="Calibri" pitchFamily="34" charset="0"/>
              </a:endParaRPr>
            </a:p>
          </p:txBody>
        </p:sp>
      </p:grpSp>
      <p:sp>
        <p:nvSpPr>
          <p:cNvPr id="63" name="Line 37"/>
          <p:cNvSpPr>
            <a:spLocks noChangeShapeType="1"/>
          </p:cNvSpPr>
          <p:nvPr/>
        </p:nvSpPr>
        <p:spPr bwMode="auto">
          <a:xfrm>
            <a:off x="3501962" y="3306065"/>
            <a:ext cx="1280" cy="1321172"/>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p>
        </p:txBody>
      </p:sp>
      <p:grpSp>
        <p:nvGrpSpPr>
          <p:cNvPr id="9" name="组合 8"/>
          <p:cNvGrpSpPr/>
          <p:nvPr/>
        </p:nvGrpSpPr>
        <p:grpSpPr>
          <a:xfrm>
            <a:off x="4700237" y="3331669"/>
            <a:ext cx="4389823" cy="477516"/>
            <a:chOff x="2645912" y="2474419"/>
            <a:chExt cx="4389823" cy="477516"/>
          </a:xfrm>
        </p:grpSpPr>
        <p:sp>
          <p:nvSpPr>
            <p:cNvPr id="33" name="Line 7"/>
            <p:cNvSpPr>
              <a:spLocks noChangeShapeType="1"/>
            </p:cNvSpPr>
            <p:nvPr/>
          </p:nvSpPr>
          <p:spPr bwMode="auto">
            <a:xfrm flipH="1">
              <a:off x="2823860" y="2950655"/>
              <a:ext cx="4027526" cy="1280"/>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sp>
          <p:nvSpPr>
            <p:cNvPr id="47" name="AutoShape 21"/>
            <p:cNvSpPr>
              <a:spLocks noChangeArrowheads="1"/>
            </p:cNvSpPr>
            <p:nvPr/>
          </p:nvSpPr>
          <p:spPr bwMode="auto">
            <a:xfrm>
              <a:off x="6829623" y="2731740"/>
              <a:ext cx="204833" cy="21507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9080">
              <a:solidFill>
                <a:srgbClr val="007C8B"/>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solidFill>
                  <a:srgbClr val="005072"/>
                </a:solidFill>
              </a:endParaRPr>
            </a:p>
          </p:txBody>
        </p:sp>
        <p:sp>
          <p:nvSpPr>
            <p:cNvPr id="48" name="AutoShape 22"/>
            <p:cNvSpPr>
              <a:spLocks noChangeArrowheads="1"/>
            </p:cNvSpPr>
            <p:nvPr/>
          </p:nvSpPr>
          <p:spPr bwMode="auto">
            <a:xfrm>
              <a:off x="2647192" y="2701015"/>
              <a:ext cx="184350" cy="2457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80">
              <a:solidFill>
                <a:srgbClr val="007C8B"/>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solidFill>
                  <a:srgbClr val="005072"/>
                </a:solidFill>
              </a:endParaRPr>
            </a:p>
          </p:txBody>
        </p:sp>
        <p:sp>
          <p:nvSpPr>
            <p:cNvPr id="59" name="Line 33"/>
            <p:cNvSpPr>
              <a:spLocks noChangeShapeType="1"/>
            </p:cNvSpPr>
            <p:nvPr/>
          </p:nvSpPr>
          <p:spPr bwMode="auto">
            <a:xfrm>
              <a:off x="7034455" y="2474419"/>
              <a:ext cx="1280" cy="256041"/>
            </a:xfrm>
            <a:prstGeom prst="line">
              <a:avLst/>
            </a:prstGeom>
            <a:noFill/>
            <a:ln w="19080">
              <a:solidFill>
                <a:srgbClr val="007C8B"/>
              </a:solidFill>
              <a:miter lim="800000"/>
              <a:headEnd type="triangle" w="med" len="med"/>
              <a:tailEn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sp>
          <p:nvSpPr>
            <p:cNvPr id="85" name="Line 59"/>
            <p:cNvSpPr>
              <a:spLocks noChangeShapeType="1"/>
            </p:cNvSpPr>
            <p:nvPr/>
          </p:nvSpPr>
          <p:spPr bwMode="auto">
            <a:xfrm>
              <a:off x="2645912" y="2484660"/>
              <a:ext cx="1280" cy="221476"/>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grpSp>
      <p:grpSp>
        <p:nvGrpSpPr>
          <p:cNvPr id="7" name="组合 6"/>
          <p:cNvGrpSpPr/>
          <p:nvPr/>
        </p:nvGrpSpPr>
        <p:grpSpPr>
          <a:xfrm>
            <a:off x="4037088" y="3344473"/>
            <a:ext cx="1956154" cy="1231557"/>
            <a:chOff x="1982765" y="2487221"/>
            <a:chExt cx="1956154" cy="1231557"/>
          </a:xfrm>
        </p:grpSpPr>
        <p:sp>
          <p:nvSpPr>
            <p:cNvPr id="95" name="Line 69"/>
            <p:cNvSpPr>
              <a:spLocks noChangeShapeType="1"/>
            </p:cNvSpPr>
            <p:nvPr/>
          </p:nvSpPr>
          <p:spPr bwMode="auto">
            <a:xfrm flipH="1">
              <a:off x="2165835" y="3158049"/>
              <a:ext cx="1620740" cy="1280"/>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sp>
          <p:nvSpPr>
            <p:cNvPr id="96" name="AutoShape 70"/>
            <p:cNvSpPr>
              <a:spLocks noChangeArrowheads="1"/>
            </p:cNvSpPr>
            <p:nvPr/>
          </p:nvSpPr>
          <p:spPr bwMode="auto">
            <a:xfrm rot="10800000">
              <a:off x="3734086" y="3152928"/>
              <a:ext cx="204833" cy="21507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80">
              <a:solidFill>
                <a:srgbClr val="007C8B"/>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solidFill>
                  <a:srgbClr val="005072"/>
                </a:solidFill>
              </a:endParaRPr>
            </a:p>
          </p:txBody>
        </p:sp>
        <p:sp>
          <p:nvSpPr>
            <p:cNvPr id="97" name="AutoShape 71"/>
            <p:cNvSpPr>
              <a:spLocks noChangeArrowheads="1"/>
            </p:cNvSpPr>
            <p:nvPr/>
          </p:nvSpPr>
          <p:spPr bwMode="auto">
            <a:xfrm>
              <a:off x="1984045" y="2914809"/>
              <a:ext cx="184350" cy="2457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80">
              <a:solidFill>
                <a:srgbClr val="007C8B"/>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solidFill>
                  <a:srgbClr val="005072"/>
                </a:solidFill>
              </a:endParaRPr>
            </a:p>
          </p:txBody>
        </p:sp>
        <p:sp>
          <p:nvSpPr>
            <p:cNvPr id="98" name="Line 72"/>
            <p:cNvSpPr>
              <a:spLocks noChangeShapeType="1"/>
            </p:cNvSpPr>
            <p:nvPr/>
          </p:nvSpPr>
          <p:spPr bwMode="auto">
            <a:xfrm>
              <a:off x="1982765" y="2487221"/>
              <a:ext cx="1280" cy="419907"/>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sp>
          <p:nvSpPr>
            <p:cNvPr id="99" name="Line 73"/>
            <p:cNvSpPr>
              <a:spLocks noChangeShapeType="1"/>
            </p:cNvSpPr>
            <p:nvPr/>
          </p:nvSpPr>
          <p:spPr bwMode="auto">
            <a:xfrm>
              <a:off x="3936359" y="3350079"/>
              <a:ext cx="1280" cy="368699"/>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grpSp>
      <p:grpSp>
        <p:nvGrpSpPr>
          <p:cNvPr id="5" name="组合 4"/>
          <p:cNvGrpSpPr/>
          <p:nvPr/>
        </p:nvGrpSpPr>
        <p:grpSpPr>
          <a:xfrm>
            <a:off x="3125584" y="2082188"/>
            <a:ext cx="6606775" cy="1427608"/>
            <a:chOff x="1071259" y="1224938"/>
            <a:chExt cx="6606775" cy="1427608"/>
          </a:xfrm>
        </p:grpSpPr>
        <p:sp>
          <p:nvSpPr>
            <p:cNvPr id="35" name="Rectangle 9"/>
            <p:cNvSpPr>
              <a:spLocks noChangeArrowheads="1"/>
            </p:cNvSpPr>
            <p:nvPr/>
          </p:nvSpPr>
          <p:spPr bwMode="auto">
            <a:xfrm>
              <a:off x="2992847" y="2347678"/>
              <a:ext cx="310725" cy="304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1" dirty="0">
                  <a:solidFill>
                    <a:srgbClr val="005072"/>
                  </a:solidFill>
                </a:rPr>
                <a:t>0</a:t>
              </a:r>
            </a:p>
          </p:txBody>
        </p:sp>
        <p:sp>
          <p:nvSpPr>
            <p:cNvPr id="36" name="Rectangle 10"/>
            <p:cNvSpPr>
              <a:spLocks noChangeArrowheads="1"/>
            </p:cNvSpPr>
            <p:nvPr/>
          </p:nvSpPr>
          <p:spPr bwMode="auto">
            <a:xfrm>
              <a:off x="1071259" y="2347678"/>
              <a:ext cx="438965" cy="304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1" dirty="0">
                  <a:solidFill>
                    <a:srgbClr val="005072"/>
                  </a:solidFill>
                </a:rPr>
                <a:t>19</a:t>
              </a:r>
            </a:p>
          </p:txBody>
        </p:sp>
        <p:sp>
          <p:nvSpPr>
            <p:cNvPr id="37" name="Rectangle 11"/>
            <p:cNvSpPr>
              <a:spLocks noChangeArrowheads="1"/>
            </p:cNvSpPr>
            <p:nvPr/>
          </p:nvSpPr>
          <p:spPr bwMode="auto">
            <a:xfrm>
              <a:off x="2121027" y="2347678"/>
              <a:ext cx="310725" cy="304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1" dirty="0">
                  <a:solidFill>
                    <a:srgbClr val="005072"/>
                  </a:solidFill>
                </a:rPr>
                <a:t>9</a:t>
              </a:r>
            </a:p>
          </p:txBody>
        </p:sp>
        <p:sp>
          <p:nvSpPr>
            <p:cNvPr id="38" name="Rectangle 12"/>
            <p:cNvSpPr>
              <a:spLocks noChangeArrowheads="1"/>
            </p:cNvSpPr>
            <p:nvPr/>
          </p:nvSpPr>
          <p:spPr bwMode="auto">
            <a:xfrm>
              <a:off x="1537254" y="2347678"/>
              <a:ext cx="438965" cy="304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1" dirty="0">
                  <a:solidFill>
                    <a:srgbClr val="005072"/>
                  </a:solidFill>
                </a:rPr>
                <a:t>15</a:t>
              </a:r>
            </a:p>
          </p:txBody>
        </p:sp>
        <p:sp>
          <p:nvSpPr>
            <p:cNvPr id="39" name="Rectangle 13"/>
            <p:cNvSpPr>
              <a:spLocks noChangeArrowheads="1"/>
            </p:cNvSpPr>
            <p:nvPr/>
          </p:nvSpPr>
          <p:spPr bwMode="auto">
            <a:xfrm>
              <a:off x="1272251" y="1815113"/>
              <a:ext cx="327733"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1" i="1" dirty="0">
                  <a:solidFill>
                    <a:srgbClr val="005072"/>
                  </a:solidFill>
                </a:rPr>
                <a:t>s</a:t>
              </a:r>
            </a:p>
          </p:txBody>
        </p:sp>
        <p:sp>
          <p:nvSpPr>
            <p:cNvPr id="40" name="Rectangle 14"/>
            <p:cNvSpPr>
              <a:spLocks noChangeArrowheads="1"/>
            </p:cNvSpPr>
            <p:nvPr/>
          </p:nvSpPr>
          <p:spPr bwMode="auto">
            <a:xfrm>
              <a:off x="2439799" y="1815113"/>
              <a:ext cx="368699"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1" i="1" dirty="0">
                  <a:solidFill>
                    <a:srgbClr val="005072"/>
                  </a:solidFill>
                </a:rPr>
                <a:t>o</a:t>
              </a:r>
            </a:p>
          </p:txBody>
        </p:sp>
        <p:sp>
          <p:nvSpPr>
            <p:cNvPr id="41" name="Rectangle 15"/>
            <p:cNvSpPr>
              <a:spLocks noChangeArrowheads="1"/>
            </p:cNvSpPr>
            <p:nvPr/>
          </p:nvSpPr>
          <p:spPr bwMode="auto">
            <a:xfrm>
              <a:off x="7367309" y="2347678"/>
              <a:ext cx="310725" cy="304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1" dirty="0">
                  <a:solidFill>
                    <a:srgbClr val="005072"/>
                  </a:solidFill>
                </a:rPr>
                <a:t>0</a:t>
              </a:r>
            </a:p>
          </p:txBody>
        </p:sp>
        <p:sp>
          <p:nvSpPr>
            <p:cNvPr id="42" name="Rectangle 16"/>
            <p:cNvSpPr>
              <a:spLocks noChangeArrowheads="1"/>
            </p:cNvSpPr>
            <p:nvPr/>
          </p:nvSpPr>
          <p:spPr bwMode="auto">
            <a:xfrm>
              <a:off x="6143433" y="2347678"/>
              <a:ext cx="438965" cy="304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1" dirty="0">
                  <a:solidFill>
                    <a:srgbClr val="005072"/>
                  </a:solidFill>
                </a:rPr>
                <a:t>11</a:t>
              </a:r>
            </a:p>
          </p:txBody>
        </p:sp>
        <p:sp>
          <p:nvSpPr>
            <p:cNvPr id="43" name="Rectangle 17"/>
            <p:cNvSpPr>
              <a:spLocks noChangeArrowheads="1"/>
            </p:cNvSpPr>
            <p:nvPr/>
          </p:nvSpPr>
          <p:spPr bwMode="auto">
            <a:xfrm>
              <a:off x="6556939" y="2347678"/>
              <a:ext cx="310725" cy="304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400" b="1" dirty="0">
                  <a:solidFill>
                    <a:srgbClr val="005072"/>
                  </a:solidFill>
                </a:rPr>
                <a:t>9</a:t>
              </a:r>
            </a:p>
          </p:txBody>
        </p:sp>
        <p:sp>
          <p:nvSpPr>
            <p:cNvPr id="44" name="Rectangle 18"/>
            <p:cNvSpPr>
              <a:spLocks noChangeArrowheads="1"/>
            </p:cNvSpPr>
            <p:nvPr/>
          </p:nvSpPr>
          <p:spPr bwMode="auto">
            <a:xfrm>
              <a:off x="6270173" y="1815113"/>
              <a:ext cx="368699"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1" i="1" dirty="0">
                  <a:solidFill>
                    <a:srgbClr val="005072"/>
                  </a:solidFill>
                </a:rPr>
                <a:t>f</a:t>
              </a:r>
            </a:p>
          </p:txBody>
        </p:sp>
        <p:sp>
          <p:nvSpPr>
            <p:cNvPr id="45" name="Rectangle 19"/>
            <p:cNvSpPr>
              <a:spLocks noChangeArrowheads="1"/>
            </p:cNvSpPr>
            <p:nvPr/>
          </p:nvSpPr>
          <p:spPr bwMode="auto">
            <a:xfrm>
              <a:off x="6987088" y="1815113"/>
              <a:ext cx="368699"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1" i="1" dirty="0">
                  <a:solidFill>
                    <a:srgbClr val="005072"/>
                  </a:solidFill>
                </a:rPr>
                <a:t>o</a:t>
              </a:r>
            </a:p>
          </p:txBody>
        </p:sp>
        <p:sp>
          <p:nvSpPr>
            <p:cNvPr id="46" name="Rectangle 20"/>
            <p:cNvSpPr>
              <a:spLocks noChangeArrowheads="1"/>
            </p:cNvSpPr>
            <p:nvPr/>
          </p:nvSpPr>
          <p:spPr bwMode="auto">
            <a:xfrm>
              <a:off x="5146153" y="2077555"/>
              <a:ext cx="1106097"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005072"/>
                  </a:solidFill>
                  <a:latin typeface="微软雅黑" panose="020B0503020204020204" pitchFamily="34" charset="-122"/>
                  <a:ea typeface="微软雅黑" panose="020B0503020204020204" pitchFamily="34" charset="-122"/>
                </a:rPr>
                <a:t>物理地址</a:t>
              </a:r>
              <a:endParaRPr lang="en-US" altLang="zh-CN" b="1" dirty="0">
                <a:solidFill>
                  <a:srgbClr val="005072"/>
                </a:solidFill>
                <a:latin typeface="微软雅黑" panose="020B0503020204020204" pitchFamily="34" charset="-122"/>
                <a:ea typeface="微软雅黑" panose="020B0503020204020204" pitchFamily="34" charset="-122"/>
              </a:endParaRPr>
            </a:p>
          </p:txBody>
        </p:sp>
        <p:sp>
          <p:nvSpPr>
            <p:cNvPr id="49" name="Rectangle 23"/>
            <p:cNvSpPr>
              <a:spLocks noChangeArrowheads="1"/>
            </p:cNvSpPr>
            <p:nvPr/>
          </p:nvSpPr>
          <p:spPr bwMode="auto">
            <a:xfrm>
              <a:off x="3178477" y="2077555"/>
              <a:ext cx="1106097"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005072"/>
                  </a:solidFill>
                  <a:latin typeface="微软雅黑" panose="020B0503020204020204" pitchFamily="34" charset="-122"/>
                  <a:ea typeface="微软雅黑" panose="020B0503020204020204" pitchFamily="34" charset="-122"/>
                </a:rPr>
                <a:t>逻辑地址</a:t>
              </a:r>
              <a:endParaRPr lang="en-US" altLang="zh-CN" b="1" dirty="0">
                <a:solidFill>
                  <a:srgbClr val="005072"/>
                </a:solidFill>
                <a:latin typeface="微软雅黑" panose="020B0503020204020204" pitchFamily="34" charset="-122"/>
                <a:ea typeface="微软雅黑" panose="020B0503020204020204" pitchFamily="34" charset="-122"/>
              </a:endParaRPr>
            </a:p>
          </p:txBody>
        </p:sp>
        <p:sp>
          <p:nvSpPr>
            <p:cNvPr id="53" name="Oval 27"/>
            <p:cNvSpPr>
              <a:spLocks noChangeArrowheads="1"/>
            </p:cNvSpPr>
            <p:nvPr/>
          </p:nvSpPr>
          <p:spPr bwMode="auto">
            <a:xfrm>
              <a:off x="1877788" y="1224938"/>
              <a:ext cx="583774" cy="522324"/>
            </a:xfrm>
            <a:prstGeom prst="ellipse">
              <a:avLst/>
            </a:prstGeom>
            <a:solidFill>
              <a:srgbClr val="FFFFCC"/>
            </a:solidFill>
            <a:ln w="28440">
              <a:solidFill>
                <a:srgbClr val="007C8B"/>
              </a:solidFill>
              <a:miter lim="800000"/>
              <a:headEnd/>
              <a:tailEnd/>
            </a:ln>
            <a:effectLst/>
          </p:spPr>
          <p:txBody>
            <a:bodyPr wrap="none" lIns="90360" tIns="44280" rIns="90360" bIns="4428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b="1" dirty="0">
                  <a:solidFill>
                    <a:srgbClr val="005072"/>
                  </a:solidFill>
                  <a:latin typeface="微软雅黑" pitchFamily="34" charset="-122"/>
                  <a:ea typeface="微软雅黑" pitchFamily="34" charset="-122"/>
                </a:rPr>
                <a:t>CPU</a:t>
              </a:r>
            </a:p>
          </p:txBody>
        </p:sp>
        <p:sp>
          <p:nvSpPr>
            <p:cNvPr id="54" name="Line 28"/>
            <p:cNvSpPr>
              <a:spLocks noChangeShapeType="1"/>
            </p:cNvSpPr>
            <p:nvPr/>
          </p:nvSpPr>
          <p:spPr bwMode="auto">
            <a:xfrm flipH="1">
              <a:off x="2161994" y="1770306"/>
              <a:ext cx="0" cy="381501"/>
            </a:xfrm>
            <a:prstGeom prst="line">
              <a:avLst/>
            </a:prstGeom>
            <a:noFill/>
            <a:ln w="19080">
              <a:solidFill>
                <a:srgbClr val="007C8B"/>
              </a:solidFill>
              <a:miter lim="800000"/>
              <a:headEnd/>
              <a:tailEnd type="triangle" w="med" len="med"/>
            </a:ln>
            <a:extLst>
              <a:ext uri="{909E8E84-426E-40dd-AFC4-6F175D3DCCD1}">
                <a14:hiddenFill xmlns="" xmlns:a14="http://schemas.microsoft.com/office/drawing/2010/main">
                  <a:noFill/>
                </a14:hiddenFill>
              </a:ext>
            </a:extLst>
          </p:spPr>
          <p:txBody>
            <a:bodyPr/>
            <a:lstStyle/>
            <a:p>
              <a:endParaRPr lang="zh-CN" altLang="en-US"/>
            </a:p>
          </p:txBody>
        </p:sp>
        <p:sp>
          <p:nvSpPr>
            <p:cNvPr id="70" name="Rectangle 44"/>
            <p:cNvSpPr>
              <a:spLocks noChangeArrowheads="1"/>
            </p:cNvSpPr>
            <p:nvPr/>
          </p:nvSpPr>
          <p:spPr bwMode="auto">
            <a:xfrm>
              <a:off x="1242807" y="2164609"/>
              <a:ext cx="120339" cy="184350"/>
            </a:xfrm>
            <a:prstGeom prst="rect">
              <a:avLst/>
            </a:prstGeom>
            <a:solidFill>
              <a:srgbClr val="00FF00"/>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1" name="Rectangle 45"/>
            <p:cNvSpPr>
              <a:spLocks noChangeArrowheads="1"/>
            </p:cNvSpPr>
            <p:nvPr/>
          </p:nvSpPr>
          <p:spPr bwMode="auto">
            <a:xfrm>
              <a:off x="1375948" y="2164609"/>
              <a:ext cx="120339" cy="184350"/>
            </a:xfrm>
            <a:prstGeom prst="rect">
              <a:avLst/>
            </a:prstGeom>
            <a:solidFill>
              <a:srgbClr val="00FF00"/>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2" name="Rectangle 46"/>
            <p:cNvSpPr>
              <a:spLocks noChangeArrowheads="1"/>
            </p:cNvSpPr>
            <p:nvPr/>
          </p:nvSpPr>
          <p:spPr bwMode="auto">
            <a:xfrm>
              <a:off x="1507809" y="2164609"/>
              <a:ext cx="120339" cy="184350"/>
            </a:xfrm>
            <a:prstGeom prst="rect">
              <a:avLst/>
            </a:prstGeom>
            <a:solidFill>
              <a:srgbClr val="00FF00"/>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3" name="Rectangle 47"/>
            <p:cNvSpPr>
              <a:spLocks noChangeArrowheads="1"/>
            </p:cNvSpPr>
            <p:nvPr/>
          </p:nvSpPr>
          <p:spPr bwMode="auto">
            <a:xfrm>
              <a:off x="2045495" y="2164609"/>
              <a:ext cx="120339" cy="184350"/>
            </a:xfrm>
            <a:prstGeom prst="rect">
              <a:avLst/>
            </a:prstGeom>
            <a:solidFill>
              <a:srgbClr val="CCFFFF"/>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4" name="Rectangle 48"/>
            <p:cNvSpPr>
              <a:spLocks noChangeArrowheads="1"/>
            </p:cNvSpPr>
            <p:nvPr/>
          </p:nvSpPr>
          <p:spPr bwMode="auto">
            <a:xfrm>
              <a:off x="2178637"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5" name="Rectangle 49"/>
            <p:cNvSpPr>
              <a:spLocks noChangeArrowheads="1"/>
            </p:cNvSpPr>
            <p:nvPr/>
          </p:nvSpPr>
          <p:spPr bwMode="auto">
            <a:xfrm>
              <a:off x="2310498"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6" name="Rectangle 50"/>
            <p:cNvSpPr>
              <a:spLocks noChangeArrowheads="1"/>
            </p:cNvSpPr>
            <p:nvPr/>
          </p:nvSpPr>
          <p:spPr bwMode="auto">
            <a:xfrm>
              <a:off x="2443639"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7" name="Rectangle 51"/>
            <p:cNvSpPr>
              <a:spLocks noChangeArrowheads="1"/>
            </p:cNvSpPr>
            <p:nvPr/>
          </p:nvSpPr>
          <p:spPr bwMode="auto">
            <a:xfrm>
              <a:off x="1640950" y="2164609"/>
              <a:ext cx="120339" cy="184350"/>
            </a:xfrm>
            <a:prstGeom prst="rect">
              <a:avLst/>
            </a:prstGeom>
            <a:solidFill>
              <a:srgbClr val="CCFFFF"/>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8" name="Rectangle 52"/>
            <p:cNvSpPr>
              <a:spLocks noChangeArrowheads="1"/>
            </p:cNvSpPr>
            <p:nvPr/>
          </p:nvSpPr>
          <p:spPr bwMode="auto">
            <a:xfrm>
              <a:off x="1774092" y="2164609"/>
              <a:ext cx="120339" cy="184350"/>
            </a:xfrm>
            <a:prstGeom prst="rect">
              <a:avLst/>
            </a:prstGeom>
            <a:solidFill>
              <a:srgbClr val="CCFFFF"/>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79" name="Rectangle 53"/>
            <p:cNvSpPr>
              <a:spLocks noChangeArrowheads="1"/>
            </p:cNvSpPr>
            <p:nvPr/>
          </p:nvSpPr>
          <p:spPr bwMode="auto">
            <a:xfrm>
              <a:off x="1907233" y="2164609"/>
              <a:ext cx="120339" cy="184350"/>
            </a:xfrm>
            <a:prstGeom prst="rect">
              <a:avLst/>
            </a:prstGeom>
            <a:solidFill>
              <a:srgbClr val="CCFFFF"/>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0" name="Rectangle 54"/>
            <p:cNvSpPr>
              <a:spLocks noChangeArrowheads="1"/>
            </p:cNvSpPr>
            <p:nvPr/>
          </p:nvSpPr>
          <p:spPr bwMode="auto">
            <a:xfrm>
              <a:off x="2576781"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1" name="Rectangle 55"/>
            <p:cNvSpPr>
              <a:spLocks noChangeArrowheads="1"/>
            </p:cNvSpPr>
            <p:nvPr/>
          </p:nvSpPr>
          <p:spPr bwMode="auto">
            <a:xfrm>
              <a:off x="2709922"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2" name="Rectangle 56"/>
            <p:cNvSpPr>
              <a:spLocks noChangeArrowheads="1"/>
            </p:cNvSpPr>
            <p:nvPr/>
          </p:nvSpPr>
          <p:spPr bwMode="auto">
            <a:xfrm>
              <a:off x="2843063"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3" name="Rectangle 57"/>
            <p:cNvSpPr>
              <a:spLocks noChangeArrowheads="1"/>
            </p:cNvSpPr>
            <p:nvPr/>
          </p:nvSpPr>
          <p:spPr bwMode="auto">
            <a:xfrm>
              <a:off x="2976205"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4" name="Rectangle 58"/>
            <p:cNvSpPr>
              <a:spLocks noChangeArrowheads="1"/>
            </p:cNvSpPr>
            <p:nvPr/>
          </p:nvSpPr>
          <p:spPr bwMode="auto">
            <a:xfrm>
              <a:off x="1712642" y="1815113"/>
              <a:ext cx="368699"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1" i="1" dirty="0">
                  <a:solidFill>
                    <a:srgbClr val="005072"/>
                  </a:solidFill>
                </a:rPr>
                <a:t>p</a:t>
              </a:r>
            </a:p>
          </p:txBody>
        </p:sp>
        <p:sp>
          <p:nvSpPr>
            <p:cNvPr id="86" name="Rectangle 60"/>
            <p:cNvSpPr>
              <a:spLocks noChangeArrowheads="1"/>
            </p:cNvSpPr>
            <p:nvPr/>
          </p:nvSpPr>
          <p:spPr bwMode="auto">
            <a:xfrm>
              <a:off x="6331623" y="2164609"/>
              <a:ext cx="120339" cy="184350"/>
            </a:xfrm>
            <a:prstGeom prst="rect">
              <a:avLst/>
            </a:prstGeom>
            <a:solidFill>
              <a:srgbClr val="DC0081"/>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7" name="Rectangle 61"/>
            <p:cNvSpPr>
              <a:spLocks noChangeArrowheads="1"/>
            </p:cNvSpPr>
            <p:nvPr/>
          </p:nvSpPr>
          <p:spPr bwMode="auto">
            <a:xfrm>
              <a:off x="6869309"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8" name="Rectangle 62"/>
            <p:cNvSpPr>
              <a:spLocks noChangeArrowheads="1"/>
            </p:cNvSpPr>
            <p:nvPr/>
          </p:nvSpPr>
          <p:spPr bwMode="auto">
            <a:xfrm>
              <a:off x="7002450"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89" name="Rectangle 63"/>
            <p:cNvSpPr>
              <a:spLocks noChangeArrowheads="1"/>
            </p:cNvSpPr>
            <p:nvPr/>
          </p:nvSpPr>
          <p:spPr bwMode="auto">
            <a:xfrm>
              <a:off x="7134311"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90" name="Rectangle 64"/>
            <p:cNvSpPr>
              <a:spLocks noChangeArrowheads="1"/>
            </p:cNvSpPr>
            <p:nvPr/>
          </p:nvSpPr>
          <p:spPr bwMode="auto">
            <a:xfrm>
              <a:off x="7267453"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91" name="Rectangle 65"/>
            <p:cNvSpPr>
              <a:spLocks noChangeArrowheads="1"/>
            </p:cNvSpPr>
            <p:nvPr/>
          </p:nvSpPr>
          <p:spPr bwMode="auto">
            <a:xfrm>
              <a:off x="6464764" y="2164609"/>
              <a:ext cx="120339" cy="184350"/>
            </a:xfrm>
            <a:prstGeom prst="rect">
              <a:avLst/>
            </a:prstGeom>
            <a:solidFill>
              <a:srgbClr val="DC0081"/>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92" name="Rectangle 66"/>
            <p:cNvSpPr>
              <a:spLocks noChangeArrowheads="1"/>
            </p:cNvSpPr>
            <p:nvPr/>
          </p:nvSpPr>
          <p:spPr bwMode="auto">
            <a:xfrm>
              <a:off x="6597905"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93" name="Rectangle 67"/>
            <p:cNvSpPr>
              <a:spLocks noChangeArrowheads="1"/>
            </p:cNvSpPr>
            <p:nvPr/>
          </p:nvSpPr>
          <p:spPr bwMode="auto">
            <a:xfrm>
              <a:off x="6731047"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94" name="Rectangle 68"/>
            <p:cNvSpPr>
              <a:spLocks noChangeArrowheads="1"/>
            </p:cNvSpPr>
            <p:nvPr/>
          </p:nvSpPr>
          <p:spPr bwMode="auto">
            <a:xfrm>
              <a:off x="7400594" y="2164609"/>
              <a:ext cx="120339" cy="184350"/>
            </a:xfrm>
            <a:prstGeom prst="rect">
              <a:avLst/>
            </a:prstGeom>
            <a:solidFill>
              <a:srgbClr val="A2C1FE"/>
            </a:solidFill>
            <a:ln w="25560">
              <a:solidFill>
                <a:srgbClr val="6666FF"/>
              </a:solidFill>
              <a:miter lim="800000"/>
              <a:headEnd/>
              <a:tailEnd/>
            </a:ln>
            <a:effectLst>
              <a:outerShdw dist="17819" dir="2700000" algn="ctr" rotWithShape="0">
                <a:srgbClr val="3D3D99"/>
              </a:outerShdw>
            </a:effectLst>
          </p:spPr>
          <p:txBody>
            <a:bodyPr wrap="none" anchor="ctr"/>
            <a:lstStyle/>
            <a:p>
              <a:endParaRPr lang="zh-CN" altLang="en-US"/>
            </a:p>
          </p:txBody>
        </p:sp>
        <p:sp>
          <p:nvSpPr>
            <p:cNvPr id="107" name="Rectangle 80"/>
            <p:cNvSpPr>
              <a:spLocks noChangeArrowheads="1"/>
            </p:cNvSpPr>
            <p:nvPr/>
          </p:nvSpPr>
          <p:spPr bwMode="auto">
            <a:xfrm>
              <a:off x="6445561" y="1306871"/>
              <a:ext cx="880781" cy="358458"/>
            </a:xfrm>
            <a:prstGeom prst="rect">
              <a:avLst/>
            </a:prstGeom>
            <a:solidFill>
              <a:srgbClr val="FFFFCC"/>
            </a:solidFill>
            <a:ln w="28440">
              <a:solidFill>
                <a:srgbClr val="007C8B"/>
              </a:solidFill>
              <a:miter lim="800000"/>
              <a:headEnd/>
              <a:tailEnd/>
            </a:ln>
            <a:effectLst/>
          </p:spPr>
          <p:txBody>
            <a:bodyPr wrap="none" lIns="90360" tIns="44280" rIns="90360" bIns="4428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2000" b="1" dirty="0">
                  <a:solidFill>
                    <a:srgbClr val="005072"/>
                  </a:solidFill>
                  <a:latin typeface="微软雅黑" pitchFamily="34" charset="-122"/>
                  <a:ea typeface="微软雅黑" pitchFamily="34" charset="-122"/>
                </a:rPr>
                <a:t>内存</a:t>
              </a:r>
              <a:endParaRPr lang="en-US" altLang="zh-CN" sz="2000" b="1" dirty="0">
                <a:solidFill>
                  <a:srgbClr val="005072"/>
                </a:solidFill>
                <a:latin typeface="微软雅黑" pitchFamily="34" charset="-122"/>
                <a:ea typeface="微软雅黑" pitchFamily="34" charset="-122"/>
              </a:endParaRPr>
            </a:p>
          </p:txBody>
        </p:sp>
        <p:sp>
          <p:nvSpPr>
            <p:cNvPr id="113" name="Line 86"/>
            <p:cNvSpPr>
              <a:spLocks noChangeShapeType="1"/>
            </p:cNvSpPr>
            <p:nvPr/>
          </p:nvSpPr>
          <p:spPr bwMode="auto">
            <a:xfrm flipV="1">
              <a:off x="6905155" y="1669169"/>
              <a:ext cx="1280" cy="494159"/>
            </a:xfrm>
            <a:prstGeom prst="line">
              <a:avLst/>
            </a:prstGeom>
            <a:noFill/>
            <a:ln w="19080">
              <a:solidFill>
                <a:srgbClr val="007C8B"/>
              </a:solidFill>
              <a:miter lim="800000"/>
              <a:headEnd/>
              <a:tailEnd type="triangle" w="med" len="med"/>
            </a:ln>
            <a:extLst>
              <a:ext uri="{909E8E84-426E-40dd-AFC4-6F175D3DCCD1}">
                <a14:hiddenFill xmlns="" xmlns:a14="http://schemas.microsoft.com/office/drawing/2010/main">
                  <a:noFill/>
                </a14:hiddenFill>
              </a:ext>
            </a:extLst>
          </p:spPr>
          <p:txBody>
            <a:bodyPr/>
            <a:lstStyle/>
            <a:p>
              <a:endParaRPr lang="zh-CN" altLang="en-US"/>
            </a:p>
          </p:txBody>
        </p:sp>
      </p:grpSp>
      <p:grpSp>
        <p:nvGrpSpPr>
          <p:cNvPr id="6" name="组合 5"/>
          <p:cNvGrpSpPr/>
          <p:nvPr/>
        </p:nvGrpSpPr>
        <p:grpSpPr>
          <a:xfrm>
            <a:off x="2482919" y="4371198"/>
            <a:ext cx="3212062" cy="1435395"/>
            <a:chOff x="428596" y="3513946"/>
            <a:chExt cx="3212062" cy="1435395"/>
          </a:xfrm>
        </p:grpSpPr>
        <p:sp>
          <p:nvSpPr>
            <p:cNvPr id="32" name="Rectangle 6"/>
            <p:cNvSpPr>
              <a:spLocks noChangeArrowheads="1"/>
            </p:cNvSpPr>
            <p:nvPr/>
          </p:nvSpPr>
          <p:spPr bwMode="auto">
            <a:xfrm>
              <a:off x="2261850" y="4212938"/>
              <a:ext cx="1054889" cy="371260"/>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55" name="Rectangle 29"/>
            <p:cNvSpPr>
              <a:spLocks noChangeArrowheads="1"/>
            </p:cNvSpPr>
            <p:nvPr/>
          </p:nvSpPr>
          <p:spPr bwMode="auto">
            <a:xfrm>
              <a:off x="2151725" y="4582917"/>
              <a:ext cx="1488933" cy="366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005072"/>
                  </a:solidFill>
                  <a:latin typeface="微软雅黑" panose="020B0503020204020204" pitchFamily="34" charset="-122"/>
                  <a:ea typeface="微软雅黑" panose="020B0503020204020204" pitchFamily="34" charset="-122"/>
                </a:rPr>
                <a:t>进程</a:t>
              </a:r>
              <a:r>
                <a:rPr lang="en-US" altLang="zh-CN" b="1" dirty="0">
                  <a:solidFill>
                    <a:srgbClr val="005072"/>
                  </a:solidFill>
                  <a:latin typeface="微软雅黑" panose="020B0503020204020204" pitchFamily="34" charset="-122"/>
                  <a:ea typeface="微软雅黑" panose="020B0503020204020204" pitchFamily="34" charset="-122"/>
                </a:rPr>
                <a:t>P</a:t>
              </a:r>
              <a:r>
                <a:rPr lang="zh-CN" altLang="en-US" b="1" dirty="0">
                  <a:solidFill>
                    <a:srgbClr val="005072"/>
                  </a:solidFill>
                  <a:latin typeface="微软雅黑" panose="020B0503020204020204" pitchFamily="34" charset="-122"/>
                  <a:ea typeface="微软雅黑" panose="020B0503020204020204" pitchFamily="34" charset="-122"/>
                </a:rPr>
                <a:t>的段表</a:t>
              </a:r>
              <a:endParaRPr lang="en-US" altLang="zh-CN" b="1" dirty="0">
                <a:solidFill>
                  <a:srgbClr val="005072"/>
                </a:solidFill>
                <a:latin typeface="微软雅黑" panose="020B0503020204020204" pitchFamily="34" charset="-122"/>
                <a:ea typeface="微软雅黑" panose="020B0503020204020204" pitchFamily="34" charset="-122"/>
              </a:endParaRPr>
            </a:p>
          </p:txBody>
        </p:sp>
        <p:sp>
          <p:nvSpPr>
            <p:cNvPr id="56" name="Rectangle 30"/>
            <p:cNvSpPr>
              <a:spLocks noChangeArrowheads="1"/>
            </p:cNvSpPr>
            <p:nvPr/>
          </p:nvSpPr>
          <p:spPr bwMode="auto">
            <a:xfrm>
              <a:off x="2241367" y="3849360"/>
              <a:ext cx="1095856" cy="3661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007C8B"/>
                  </a:solidFill>
                  <a:latin typeface="微软雅黑" pitchFamily="34" charset="-122"/>
                  <a:ea typeface="微软雅黑" pitchFamily="34" charset="-122"/>
                </a:rPr>
                <a:t>段表项</a:t>
              </a:r>
              <a:endParaRPr lang="en-US" altLang="zh-CN" b="1" dirty="0">
                <a:solidFill>
                  <a:srgbClr val="007C8B"/>
                </a:solidFill>
                <a:latin typeface="微软雅黑" pitchFamily="34" charset="-122"/>
                <a:ea typeface="微软雅黑" pitchFamily="34" charset="-122"/>
              </a:endParaRPr>
            </a:p>
          </p:txBody>
        </p:sp>
        <p:sp>
          <p:nvSpPr>
            <p:cNvPr id="61" name="Line 35"/>
            <p:cNvSpPr>
              <a:spLocks noChangeShapeType="1"/>
            </p:cNvSpPr>
            <p:nvPr/>
          </p:nvSpPr>
          <p:spPr bwMode="auto">
            <a:xfrm flipH="1">
              <a:off x="1630709" y="3896727"/>
              <a:ext cx="617059" cy="1280"/>
            </a:xfrm>
            <a:prstGeom prst="line">
              <a:avLst/>
            </a:prstGeom>
            <a:noFill/>
            <a:ln w="19080">
              <a:solidFill>
                <a:srgbClr val="007C8B"/>
              </a:solidFill>
              <a:miter lim="800000"/>
              <a:headEnd type="triangle" w="med" len="med"/>
              <a:tailEnd/>
            </a:ln>
            <a:extLst>
              <a:ext uri="{909E8E84-426E-40dd-AFC4-6F175D3DCCD1}">
                <a14:hiddenFill xmlns="" xmlns:a14="http://schemas.microsoft.com/office/drawing/2010/main">
                  <a:noFill/>
                </a14:hiddenFill>
              </a:ext>
            </a:extLst>
          </p:spPr>
          <p:txBody>
            <a:bodyPr/>
            <a:lstStyle/>
            <a:p>
              <a:endParaRPr lang="zh-CN" altLang="en-US"/>
            </a:p>
          </p:txBody>
        </p:sp>
        <p:sp>
          <p:nvSpPr>
            <p:cNvPr id="62" name="Rectangle 36"/>
            <p:cNvSpPr>
              <a:spLocks noChangeArrowheads="1"/>
            </p:cNvSpPr>
            <p:nvPr/>
          </p:nvSpPr>
          <p:spPr bwMode="auto">
            <a:xfrm>
              <a:off x="1902112" y="4100280"/>
              <a:ext cx="368699" cy="3968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b="1" dirty="0">
                  <a:solidFill>
                    <a:srgbClr val="005072"/>
                  </a:solidFill>
                  <a:latin typeface="微软雅黑" pitchFamily="34" charset="-122"/>
                  <a:ea typeface="微软雅黑" pitchFamily="34" charset="-122"/>
                </a:rPr>
                <a:t>s</a:t>
              </a:r>
            </a:p>
          </p:txBody>
        </p:sp>
        <p:sp>
          <p:nvSpPr>
            <p:cNvPr id="64" name="Line 38"/>
            <p:cNvSpPr>
              <a:spLocks noChangeShapeType="1"/>
            </p:cNvSpPr>
            <p:nvPr/>
          </p:nvSpPr>
          <p:spPr bwMode="auto">
            <a:xfrm flipV="1">
              <a:off x="2185038" y="4024748"/>
              <a:ext cx="1280" cy="514643"/>
            </a:xfrm>
            <a:prstGeom prst="line">
              <a:avLst/>
            </a:prstGeom>
            <a:noFill/>
            <a:ln w="12600">
              <a:solidFill>
                <a:srgbClr val="007C8B"/>
              </a:solidFill>
              <a:miter lim="800000"/>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sp>
          <p:nvSpPr>
            <p:cNvPr id="65" name="Rectangle 39"/>
            <p:cNvSpPr>
              <a:spLocks noChangeArrowheads="1"/>
            </p:cNvSpPr>
            <p:nvPr/>
          </p:nvSpPr>
          <p:spPr bwMode="auto">
            <a:xfrm>
              <a:off x="428596" y="3739262"/>
              <a:ext cx="629861" cy="300848"/>
            </a:xfrm>
            <a:prstGeom prst="rect">
              <a:avLst/>
            </a:prstGeom>
            <a:solidFill>
              <a:srgbClr val="FFFFCC"/>
            </a:solidFill>
            <a:ln w="28440">
              <a:solidFill>
                <a:srgbClr val="007C8B"/>
              </a:solidFill>
              <a:miter lim="800000"/>
              <a:headEnd/>
              <a:tailEnd/>
            </a:ln>
            <a:effectLst/>
          </p:spPr>
          <p:txBody>
            <a:bodyPr wrap="none" lIns="90360" tIns="44280" rIns="90360" bIns="4428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b="1" dirty="0">
                  <a:solidFill>
                    <a:srgbClr val="007C8B"/>
                  </a:solidFill>
                  <a:latin typeface="微软雅黑" pitchFamily="34" charset="-122"/>
                  <a:ea typeface="微软雅黑" pitchFamily="34" charset="-122"/>
                </a:rPr>
                <a:t>STBR</a:t>
              </a:r>
            </a:p>
          </p:txBody>
        </p:sp>
        <p:sp>
          <p:nvSpPr>
            <p:cNvPr id="66" name="Line 40"/>
            <p:cNvSpPr>
              <a:spLocks noChangeShapeType="1"/>
            </p:cNvSpPr>
            <p:nvPr/>
          </p:nvSpPr>
          <p:spPr bwMode="auto">
            <a:xfrm>
              <a:off x="751208" y="4036270"/>
              <a:ext cx="1280" cy="384062"/>
            </a:xfrm>
            <a:prstGeom prst="line">
              <a:avLst/>
            </a:prstGeom>
            <a:noFill/>
            <a:ln w="19080">
              <a:solidFill>
                <a:srgbClr val="007C8B"/>
              </a:solidFill>
              <a:prstDash val="dash"/>
              <a:miter lim="800000"/>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67" name="Line 41"/>
            <p:cNvSpPr>
              <a:spLocks noChangeShapeType="1"/>
            </p:cNvSpPr>
            <p:nvPr/>
          </p:nvSpPr>
          <p:spPr bwMode="auto">
            <a:xfrm>
              <a:off x="894591" y="4562434"/>
              <a:ext cx="1321172" cy="1280"/>
            </a:xfrm>
            <a:prstGeom prst="line">
              <a:avLst/>
            </a:prstGeom>
            <a:noFill/>
            <a:ln w="19080">
              <a:solidFill>
                <a:srgbClr val="007C8B"/>
              </a:solidFill>
              <a:prstDash val="dash"/>
              <a:miter lim="800000"/>
              <a:headEnd/>
              <a:tailEnd type="triangle" w="med" len="med"/>
            </a:ln>
            <a:extLst>
              <a:ext uri="{909E8E84-426E-40dd-AFC4-6F175D3DCCD1}">
                <a14:hiddenFill xmlns="" xmlns:a14="http://schemas.microsoft.com/office/drawing/2010/main">
                  <a:noFill/>
                </a14:hiddenFill>
              </a:ext>
            </a:extLst>
          </p:spPr>
          <p:txBody>
            <a:bodyPr/>
            <a:lstStyle/>
            <a:p>
              <a:endParaRPr lang="zh-CN" altLang="en-US"/>
            </a:p>
          </p:txBody>
        </p:sp>
        <p:sp>
          <p:nvSpPr>
            <p:cNvPr id="68" name="AutoShape 42"/>
            <p:cNvSpPr>
              <a:spLocks noChangeArrowheads="1"/>
            </p:cNvSpPr>
            <p:nvPr/>
          </p:nvSpPr>
          <p:spPr bwMode="auto">
            <a:xfrm>
              <a:off x="752488" y="4404969"/>
              <a:ext cx="184350" cy="15362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80" cap="rnd">
              <a:solidFill>
                <a:srgbClr val="007C8B"/>
              </a:solidFill>
              <a:prstDash val="dash"/>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69" name="Line 43"/>
            <p:cNvSpPr>
              <a:spLocks noChangeShapeType="1"/>
            </p:cNvSpPr>
            <p:nvPr/>
          </p:nvSpPr>
          <p:spPr bwMode="auto">
            <a:xfrm flipH="1">
              <a:off x="1067418" y="3896727"/>
              <a:ext cx="217635" cy="1280"/>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6" name="Oval 79"/>
            <p:cNvSpPr>
              <a:spLocks noChangeArrowheads="1"/>
            </p:cNvSpPr>
            <p:nvPr/>
          </p:nvSpPr>
          <p:spPr bwMode="auto">
            <a:xfrm>
              <a:off x="1283773" y="3729020"/>
              <a:ext cx="327733" cy="317491"/>
            </a:xfrm>
            <a:prstGeom prst="ellipse">
              <a:avLst/>
            </a:prstGeom>
            <a:solidFill>
              <a:srgbClr val="CCFFFF"/>
            </a:solidFill>
            <a:ln w="28440">
              <a:solidFill>
                <a:srgbClr val="000099"/>
              </a:solidFill>
              <a:miter lim="800000"/>
              <a:headEnd/>
              <a:tailEnd/>
            </a:ln>
            <a:effectLst/>
          </p:spPr>
          <p:txBody>
            <a:bodyPr wrap="none" lIns="90360" tIns="44280" rIns="90360" bIns="4428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b="1">
                  <a:solidFill>
                    <a:srgbClr val="000099"/>
                  </a:solidFill>
                  <a:latin typeface="Arial" charset="0"/>
                </a:rPr>
                <a:t>+</a:t>
              </a:r>
            </a:p>
          </p:txBody>
        </p:sp>
        <p:sp>
          <p:nvSpPr>
            <p:cNvPr id="114" name="Rectangle 87"/>
            <p:cNvSpPr>
              <a:spLocks noChangeArrowheads="1"/>
            </p:cNvSpPr>
            <p:nvPr/>
          </p:nvSpPr>
          <p:spPr bwMode="auto">
            <a:xfrm>
              <a:off x="2261850" y="3868563"/>
              <a:ext cx="1054889" cy="343095"/>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116" name="Rectangle 89"/>
            <p:cNvSpPr>
              <a:spLocks noChangeArrowheads="1"/>
            </p:cNvSpPr>
            <p:nvPr/>
          </p:nvSpPr>
          <p:spPr bwMode="auto">
            <a:xfrm>
              <a:off x="2261850" y="3513946"/>
              <a:ext cx="1054889" cy="354617"/>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grpSp>
      <p:grpSp>
        <p:nvGrpSpPr>
          <p:cNvPr id="11" name="组合 10"/>
          <p:cNvGrpSpPr/>
          <p:nvPr/>
        </p:nvGrpSpPr>
        <p:grpSpPr>
          <a:xfrm>
            <a:off x="5202075" y="4026822"/>
            <a:ext cx="2770364" cy="1779771"/>
            <a:chOff x="3147752" y="3169570"/>
            <a:chExt cx="2770364" cy="1779771"/>
          </a:xfrm>
        </p:grpSpPr>
        <p:sp>
          <p:nvSpPr>
            <p:cNvPr id="102" name="Line 76"/>
            <p:cNvSpPr>
              <a:spLocks noChangeShapeType="1"/>
            </p:cNvSpPr>
            <p:nvPr/>
          </p:nvSpPr>
          <p:spPr bwMode="auto">
            <a:xfrm>
              <a:off x="3147752" y="4026028"/>
              <a:ext cx="1280" cy="440391"/>
            </a:xfrm>
            <a:prstGeom prst="line">
              <a:avLst/>
            </a:prstGeom>
            <a:noFill/>
            <a:ln w="19080">
              <a:solidFill>
                <a:srgbClr val="007C8B"/>
              </a:solidFill>
              <a:prstDash val="dash"/>
              <a:miter lim="800000"/>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4" name="Line 77"/>
            <p:cNvSpPr>
              <a:spLocks noChangeShapeType="1"/>
            </p:cNvSpPr>
            <p:nvPr/>
          </p:nvSpPr>
          <p:spPr bwMode="auto">
            <a:xfrm flipH="1">
              <a:off x="3351305" y="4572676"/>
              <a:ext cx="1057450" cy="1280"/>
            </a:xfrm>
            <a:prstGeom prst="line">
              <a:avLst/>
            </a:prstGeom>
            <a:noFill/>
            <a:ln w="19080">
              <a:solidFill>
                <a:srgbClr val="007C8B"/>
              </a:solidFill>
              <a:prstDash val="dash"/>
              <a:miter lim="800000"/>
              <a:headEnd type="triangle" w="med" len="med"/>
              <a:tailEnd/>
            </a:ln>
            <a:extLst>
              <a:ext uri="{909E8E84-426E-40dd-AFC4-6F175D3DCCD1}">
                <a14:hiddenFill xmlns="" xmlns:a14="http://schemas.microsoft.com/office/drawing/2010/main">
                  <a:noFill/>
                </a14:hiddenFill>
              </a:ext>
            </a:extLst>
          </p:spPr>
          <p:txBody>
            <a:bodyPr/>
            <a:lstStyle/>
            <a:p>
              <a:endParaRPr lang="zh-CN" altLang="en-US"/>
            </a:p>
          </p:txBody>
        </p:sp>
        <p:sp>
          <p:nvSpPr>
            <p:cNvPr id="105" name="AutoShape 78"/>
            <p:cNvSpPr>
              <a:spLocks noChangeArrowheads="1"/>
            </p:cNvSpPr>
            <p:nvPr/>
          </p:nvSpPr>
          <p:spPr bwMode="auto">
            <a:xfrm>
              <a:off x="3149032" y="4415210"/>
              <a:ext cx="184350" cy="15362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9080" cap="rnd">
              <a:solidFill>
                <a:srgbClr val="007C8B"/>
              </a:solidFill>
              <a:prstDash val="dash"/>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grpSp>
          <p:nvGrpSpPr>
            <p:cNvPr id="8" name="组合 7"/>
            <p:cNvGrpSpPr/>
            <p:nvPr/>
          </p:nvGrpSpPr>
          <p:grpSpPr>
            <a:xfrm>
              <a:off x="3341063" y="3169570"/>
              <a:ext cx="2577053" cy="1779771"/>
              <a:chOff x="3341063" y="3169570"/>
              <a:chExt cx="2577053" cy="1779771"/>
            </a:xfrm>
          </p:grpSpPr>
          <p:sp>
            <p:nvSpPr>
              <p:cNvPr id="34" name="Rectangle 8"/>
              <p:cNvSpPr>
                <a:spLocks noChangeArrowheads="1"/>
              </p:cNvSpPr>
              <p:nvPr/>
            </p:nvSpPr>
            <p:spPr bwMode="auto">
              <a:xfrm>
                <a:off x="4584426" y="4582917"/>
                <a:ext cx="1314205" cy="3664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wrap="none" lIns="90360" tIns="44280" rIns="90360" bIns="44280">
                <a:sp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solidFill>
                      <a:srgbClr val="005072"/>
                    </a:solidFill>
                    <a:latin typeface="微软雅黑" panose="020B0503020204020204" pitchFamily="34" charset="-122"/>
                    <a:ea typeface="微软雅黑" panose="020B0503020204020204" pitchFamily="34" charset="-122"/>
                  </a:rPr>
                  <a:t>段</a:t>
                </a:r>
                <a:r>
                  <a:rPr lang="en-US" altLang="zh-CN" b="1" i="1" dirty="0">
                    <a:solidFill>
                      <a:srgbClr val="005072"/>
                    </a:solidFill>
                    <a:latin typeface="微软雅黑" panose="020B0503020204020204" pitchFamily="34" charset="-122"/>
                    <a:ea typeface="微软雅黑" panose="020B0503020204020204" pitchFamily="34" charset="-122"/>
                  </a:rPr>
                  <a:t>S </a:t>
                </a:r>
                <a:r>
                  <a:rPr lang="zh-CN" altLang="en-US" b="1" dirty="0">
                    <a:solidFill>
                      <a:srgbClr val="005072"/>
                    </a:solidFill>
                    <a:latin typeface="微软雅黑" panose="020B0503020204020204" pitchFamily="34" charset="-122"/>
                    <a:ea typeface="微软雅黑" panose="020B0503020204020204" pitchFamily="34" charset="-122"/>
                  </a:rPr>
                  <a:t>的页表</a:t>
                </a:r>
                <a:endParaRPr lang="en-US" altLang="zh-CN" b="1" dirty="0">
                  <a:solidFill>
                    <a:srgbClr val="005072"/>
                  </a:solidFill>
                  <a:latin typeface="微软雅黑" panose="020B0503020204020204" pitchFamily="34" charset="-122"/>
                  <a:ea typeface="微软雅黑" panose="020B0503020204020204" pitchFamily="34" charset="-122"/>
                </a:endParaRPr>
              </a:p>
            </p:txBody>
          </p:sp>
          <p:sp>
            <p:nvSpPr>
              <p:cNvPr id="57" name="Rectangle 31"/>
              <p:cNvSpPr>
                <a:spLocks noChangeArrowheads="1"/>
              </p:cNvSpPr>
              <p:nvPr/>
            </p:nvSpPr>
            <p:spPr bwMode="auto">
              <a:xfrm>
                <a:off x="4143752" y="4069555"/>
                <a:ext cx="230437" cy="3968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b="1" dirty="0">
                    <a:solidFill>
                      <a:srgbClr val="005072"/>
                    </a:solidFill>
                    <a:latin typeface="微软雅黑" pitchFamily="34" charset="-122"/>
                    <a:ea typeface="微软雅黑" pitchFamily="34" charset="-122"/>
                  </a:rPr>
                  <a:t>p</a:t>
                </a:r>
              </a:p>
            </p:txBody>
          </p:sp>
          <p:sp>
            <p:nvSpPr>
              <p:cNvPr id="58" name="Line 32"/>
              <p:cNvSpPr>
                <a:spLocks noChangeShapeType="1"/>
              </p:cNvSpPr>
              <p:nvPr/>
            </p:nvSpPr>
            <p:spPr bwMode="auto">
              <a:xfrm flipV="1">
                <a:off x="4458682" y="4034989"/>
                <a:ext cx="1280" cy="590175"/>
              </a:xfrm>
              <a:prstGeom prst="line">
                <a:avLst/>
              </a:prstGeom>
              <a:noFill/>
              <a:ln w="12600">
                <a:solidFill>
                  <a:srgbClr val="007C8B"/>
                </a:solidFill>
                <a:miter lim="800000"/>
                <a:headEnd type="triangle" w="med" len="med"/>
                <a:tailEnd type="triangle" w="med" len="me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sp>
            <p:nvSpPr>
              <p:cNvPr id="60" name="Rectangle 34"/>
              <p:cNvSpPr>
                <a:spLocks noChangeArrowheads="1"/>
              </p:cNvSpPr>
              <p:nvPr/>
            </p:nvSpPr>
            <p:spPr bwMode="auto">
              <a:xfrm>
                <a:off x="5134631" y="3711097"/>
                <a:ext cx="368699" cy="3968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lIns="90360" tIns="44280" rIns="90360" bIns="44280">
                <a:sp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i="1" dirty="0">
                    <a:solidFill>
                      <a:srgbClr val="005072"/>
                    </a:solidFill>
                  </a:rPr>
                  <a:t>f</a:t>
                </a:r>
              </a:p>
            </p:txBody>
          </p:sp>
          <p:sp>
            <p:nvSpPr>
              <p:cNvPr id="100" name="Oval 74"/>
              <p:cNvSpPr>
                <a:spLocks noChangeArrowheads="1"/>
              </p:cNvSpPr>
              <p:nvPr/>
            </p:nvSpPr>
            <p:spPr bwMode="auto">
              <a:xfrm>
                <a:off x="3762251" y="3739262"/>
                <a:ext cx="327733" cy="317491"/>
              </a:xfrm>
              <a:prstGeom prst="ellipse">
                <a:avLst/>
              </a:prstGeom>
              <a:solidFill>
                <a:srgbClr val="CCFFFF"/>
              </a:solidFill>
              <a:ln w="28440">
                <a:solidFill>
                  <a:srgbClr val="000099"/>
                </a:solidFill>
                <a:miter lim="800000"/>
                <a:headEnd/>
                <a:tailEnd/>
              </a:ln>
              <a:effectLst/>
            </p:spPr>
            <p:txBody>
              <a:bodyPr wrap="none" lIns="90360" tIns="44280" rIns="90360" bIns="44280" anchor="ct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2000" b="1">
                    <a:solidFill>
                      <a:srgbClr val="000099"/>
                    </a:solidFill>
                    <a:latin typeface="Arial" charset="0"/>
                  </a:rPr>
                  <a:t>+</a:t>
                </a:r>
              </a:p>
            </p:txBody>
          </p:sp>
          <p:sp>
            <p:nvSpPr>
              <p:cNvPr id="101" name="Line 75"/>
              <p:cNvSpPr>
                <a:spLocks noChangeShapeType="1"/>
              </p:cNvSpPr>
              <p:nvPr/>
            </p:nvSpPr>
            <p:spPr bwMode="auto">
              <a:xfrm flipH="1">
                <a:off x="3341063" y="3896727"/>
                <a:ext cx="412226" cy="1280"/>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p>
            </p:txBody>
          </p:sp>
          <p:sp>
            <p:nvSpPr>
              <p:cNvPr id="108" name="Rectangle 81"/>
              <p:cNvSpPr>
                <a:spLocks noChangeArrowheads="1"/>
              </p:cNvSpPr>
              <p:nvPr/>
            </p:nvSpPr>
            <p:spPr bwMode="auto">
              <a:xfrm>
                <a:off x="4557258" y="4316635"/>
                <a:ext cx="1360858" cy="286766"/>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109" name="Rectangle 82"/>
              <p:cNvSpPr>
                <a:spLocks noChangeArrowheads="1"/>
              </p:cNvSpPr>
              <p:nvPr/>
            </p:nvSpPr>
            <p:spPr bwMode="auto">
              <a:xfrm>
                <a:off x="4557258" y="4029869"/>
                <a:ext cx="1360858" cy="286766"/>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110" name="Rectangle 83"/>
              <p:cNvSpPr>
                <a:spLocks noChangeArrowheads="1"/>
              </p:cNvSpPr>
              <p:nvPr/>
            </p:nvSpPr>
            <p:spPr bwMode="auto">
              <a:xfrm>
                <a:off x="4557258" y="3456336"/>
                <a:ext cx="1360858" cy="286766"/>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111" name="Rectangle 84"/>
              <p:cNvSpPr>
                <a:spLocks noChangeArrowheads="1"/>
              </p:cNvSpPr>
              <p:nvPr/>
            </p:nvSpPr>
            <p:spPr bwMode="auto">
              <a:xfrm>
                <a:off x="4557258" y="3169570"/>
                <a:ext cx="1360858" cy="286766"/>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112" name="Rectangle 85"/>
              <p:cNvSpPr>
                <a:spLocks noChangeArrowheads="1"/>
              </p:cNvSpPr>
              <p:nvPr/>
            </p:nvSpPr>
            <p:spPr bwMode="auto">
              <a:xfrm>
                <a:off x="4557258" y="3743102"/>
                <a:ext cx="1360858" cy="286766"/>
              </a:xfrm>
              <a:prstGeom prst="rect">
                <a:avLst/>
              </a:prstGeom>
              <a:noFill/>
              <a:ln w="28575">
                <a:solidFill>
                  <a:srgbClr val="007C8B"/>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117" name="Line 90"/>
              <p:cNvSpPr>
                <a:spLocks noChangeShapeType="1"/>
              </p:cNvSpPr>
              <p:nvPr/>
            </p:nvSpPr>
            <p:spPr bwMode="auto">
              <a:xfrm flipH="1">
                <a:off x="4098945" y="3896727"/>
                <a:ext cx="442951" cy="1280"/>
              </a:xfrm>
              <a:prstGeom prst="line">
                <a:avLst/>
              </a:prstGeom>
              <a:noFill/>
              <a:ln w="19080">
                <a:solidFill>
                  <a:srgbClr val="007C8B"/>
                </a:solidFill>
                <a:miter lim="800000"/>
                <a:headEnd type="triangle" w="med" len="med"/>
                <a:tailEnd/>
              </a:ln>
              <a:extLst>
                <a:ext uri="{909E8E84-426E-40dd-AFC4-6F175D3DCCD1}">
                  <a14:hiddenFill xmlns="" xmlns:a14="http://schemas.microsoft.com/office/drawing/2010/main">
                    <a:noFill/>
                  </a14:hiddenFill>
                </a:ext>
              </a:extLst>
            </p:spPr>
            <p:txBody>
              <a:bodyPr/>
              <a:lstStyle/>
              <a:p>
                <a:endParaRPr lang="zh-CN" altLang="en-US">
                  <a:solidFill>
                    <a:srgbClr val="005072"/>
                  </a:solidFill>
                </a:endParaRPr>
              </a:p>
            </p:txBody>
          </p:sp>
        </p:grpSp>
      </p:grpSp>
      <p:grpSp>
        <p:nvGrpSpPr>
          <p:cNvPr id="10" name="组合 9"/>
          <p:cNvGrpSpPr/>
          <p:nvPr/>
        </p:nvGrpSpPr>
        <p:grpSpPr>
          <a:xfrm>
            <a:off x="8017249" y="3316306"/>
            <a:ext cx="503121" cy="1440232"/>
            <a:chOff x="5962924" y="2459056"/>
            <a:chExt cx="503121" cy="1440232"/>
          </a:xfrm>
        </p:grpSpPr>
        <p:sp>
          <p:nvSpPr>
            <p:cNvPr id="50" name="AutoShape 24"/>
            <p:cNvSpPr>
              <a:spLocks noChangeArrowheads="1"/>
            </p:cNvSpPr>
            <p:nvPr/>
          </p:nvSpPr>
          <p:spPr bwMode="auto">
            <a:xfrm>
              <a:off x="6230487" y="3725180"/>
              <a:ext cx="235558" cy="1741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9080">
              <a:solidFill>
                <a:srgbClr val="007C8B"/>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zh-CN" altLang="en-US"/>
            </a:p>
          </p:txBody>
        </p:sp>
        <p:sp>
          <p:nvSpPr>
            <p:cNvPr id="51" name="Line 25"/>
            <p:cNvSpPr>
              <a:spLocks noChangeShapeType="1"/>
            </p:cNvSpPr>
            <p:nvPr/>
          </p:nvSpPr>
          <p:spPr bwMode="auto">
            <a:xfrm>
              <a:off x="6460923" y="2459056"/>
              <a:ext cx="1280" cy="1280206"/>
            </a:xfrm>
            <a:prstGeom prst="line">
              <a:avLst/>
            </a:prstGeom>
            <a:noFill/>
            <a:ln w="19080">
              <a:solidFill>
                <a:srgbClr val="007C8B"/>
              </a:solidFill>
              <a:miter lim="800000"/>
              <a:headEnd type="triangle" w="med" len="med"/>
              <a:tailEnd/>
            </a:ln>
            <a:extLst>
              <a:ext uri="{909E8E84-426E-40dd-AFC4-6F175D3DCCD1}">
                <a14:hiddenFill xmlns="" xmlns:a14="http://schemas.microsoft.com/office/drawing/2010/main">
                  <a:noFill/>
                </a14:hiddenFill>
              </a:ext>
            </a:extLst>
          </p:spPr>
          <p:txBody>
            <a:bodyPr/>
            <a:lstStyle/>
            <a:p>
              <a:endParaRPr lang="zh-CN" altLang="en-US"/>
            </a:p>
          </p:txBody>
        </p:sp>
        <p:sp>
          <p:nvSpPr>
            <p:cNvPr id="115" name="Line 26"/>
            <p:cNvSpPr>
              <a:spLocks noChangeShapeType="1"/>
            </p:cNvSpPr>
            <p:nvPr/>
          </p:nvSpPr>
          <p:spPr bwMode="auto">
            <a:xfrm flipH="1">
              <a:off x="5962924" y="3896727"/>
              <a:ext cx="268843" cy="1280"/>
            </a:xfrm>
            <a:prstGeom prst="line">
              <a:avLst/>
            </a:prstGeom>
            <a:noFill/>
            <a:ln w="19080">
              <a:solidFill>
                <a:srgbClr val="007C8B"/>
              </a:solidFill>
              <a:miter lim="800000"/>
              <a:headEnd/>
              <a:tailEnd/>
            </a:ln>
            <a:extLst>
              <a:ext uri="{909E8E84-426E-40dd-AFC4-6F175D3DCCD1}">
                <a14:hiddenFill xmlns="" xmlns:a14="http://schemas.microsoft.com/office/drawing/2010/main">
                  <a:noFill/>
                </a14:hiddenFill>
              </a:ext>
            </a:extLst>
          </p:spPr>
          <p:txBody>
            <a:bodyPr/>
            <a:lstStyle/>
            <a:p>
              <a:endParaRPr lang="zh-CN" altLang="en-US"/>
            </a:p>
          </p:txBody>
        </p:sp>
      </p:grpSp>
      <p:sp>
        <p:nvSpPr>
          <p:cNvPr id="2" name="文本框 1">
            <a:extLst>
              <a:ext uri="{FF2B5EF4-FFF2-40B4-BE49-F238E27FC236}">
                <a16:creationId xmlns:a16="http://schemas.microsoft.com/office/drawing/2014/main" id="{CFC99C34-9508-574F-8E8D-F7C4890A499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4" name="标题 8">
            <a:extLst>
              <a:ext uri="{FF2B5EF4-FFF2-40B4-BE49-F238E27FC236}">
                <a16:creationId xmlns:a16="http://schemas.microsoft.com/office/drawing/2014/main" id="{0C8D2FCB-980E-F472-1556-955916FB6516}"/>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段页式存储管理</a:t>
            </a:r>
          </a:p>
        </p:txBody>
      </p:sp>
    </p:spTree>
    <p:extLst>
      <p:ext uri="{BB962C8B-B14F-4D97-AF65-F5344CB8AC3E}">
        <p14:creationId xmlns:p14="http://schemas.microsoft.com/office/powerpoint/2010/main" val="161468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wipe(up)">
                                      <p:cBhvr>
                                        <p:cTn id="15" dur="500"/>
                                        <p:tgtEl>
                                          <p:spTgt spid="63"/>
                                        </p:tgtEl>
                                      </p:cBhvr>
                                    </p:animEffect>
                                  </p:childTnLst>
                                </p:cTn>
                              </p:par>
                              <p:par>
                                <p:cTn id="16" presetID="22" presetClass="entr" presetSubtype="8"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par>
                                <p:cTn id="24" presetID="22" presetClass="entr" presetSubtype="8" fill="hold" nodeType="withEffect">
                                  <p:stCondLst>
                                    <p:cond delay="25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750"/>
                            </p:stCondLst>
                            <p:childTnLst>
                              <p:par>
                                <p:cTn id="28" presetID="22" presetClass="entr" presetSubtype="4"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dow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Group 6"/>
          <p:cNvGraphicFramePr>
            <a:graphicFrameLocks noGrp="1"/>
          </p:cNvGraphicFramePr>
          <p:nvPr>
            <p:ph idx="4294967295"/>
            <p:extLst>
              <p:ext uri="{D42A27DB-BD31-4B8C-83A1-F6EECF244321}">
                <p14:modId xmlns:p14="http://schemas.microsoft.com/office/powerpoint/2010/main" val="1379728771"/>
              </p:ext>
            </p:extLst>
          </p:nvPr>
        </p:nvGraphicFramePr>
        <p:xfrm>
          <a:off x="1753015" y="1799184"/>
          <a:ext cx="8501063" cy="4191000"/>
        </p:xfrm>
        <a:graphic>
          <a:graphicData uri="http://schemas.openxmlformats.org/drawingml/2006/table">
            <a:tbl>
              <a:tblPr/>
              <a:tblGrid>
                <a:gridCol w="5190904">
                  <a:extLst>
                    <a:ext uri="{9D8B030D-6E8A-4147-A177-3AD203B41FA5}">
                      <a16:colId xmlns:a16="http://schemas.microsoft.com/office/drawing/2014/main" val="20000"/>
                    </a:ext>
                  </a:extLst>
                </a:gridCol>
                <a:gridCol w="1128463">
                  <a:extLst>
                    <a:ext uri="{9D8B030D-6E8A-4147-A177-3AD203B41FA5}">
                      <a16:colId xmlns:a16="http://schemas.microsoft.com/office/drawing/2014/main" val="20001"/>
                    </a:ext>
                  </a:extLst>
                </a:gridCol>
                <a:gridCol w="2181696">
                  <a:extLst>
                    <a:ext uri="{9D8B030D-6E8A-4147-A177-3AD203B41FA5}">
                      <a16:colId xmlns:a16="http://schemas.microsoft.com/office/drawing/2014/main" val="20002"/>
                    </a:ext>
                  </a:extLst>
                </a:gridCol>
              </a:tblGrid>
              <a:tr h="685800">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Consideration</a:t>
                      </a:r>
                      <a:endParaRPr kumimoji="0" lang="zh-CN" altLang="zh-CN"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Paging</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Segmentation</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685800">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Need the programmer be aware that this technique is being used?</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No </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Yes</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685800">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How many linear address spaces are there?</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1</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Many</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85800">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Can procedure and data be distinguished and separately protected</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No</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Yes</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85800">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Can tables whose size fluctuates be accommodated easily</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No </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Yes</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685800">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chemeClr val="accent5">
                              <a:lumMod val="50000"/>
                            </a:schemeClr>
                          </a:solidFill>
                          <a:effectLst/>
                          <a:latin typeface="Tahoma" pitchFamily="34" charset="0"/>
                          <a:ea typeface="宋体" pitchFamily="2" charset="-122"/>
                        </a:rPr>
                        <a:t>Is sharing of procedures between user facilitated</a:t>
                      </a:r>
                      <a:endParaRPr kumimoji="0" lang="zh-CN" altLang="en-US" sz="2000" b="1" i="0" u="none" strike="noStrike" cap="none" normalizeH="0" baseline="0" dirty="0">
                        <a:ln>
                          <a:noFill/>
                        </a:ln>
                        <a:solidFill>
                          <a:schemeClr val="accent5">
                            <a:lumMod val="50000"/>
                          </a:schemeClr>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No </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120000"/>
                        <a:buFont typeface="Wingdings" pitchFamily="2" charset="2"/>
                        <a:buNone/>
                        <a:tabLst/>
                      </a:pPr>
                      <a:r>
                        <a:rPr kumimoji="0" lang="en-US" altLang="zh-CN" sz="2000" b="1" i="0" u="none" strike="noStrike" cap="none" normalizeH="0" baseline="0" dirty="0">
                          <a:ln>
                            <a:noFill/>
                          </a:ln>
                          <a:solidFill>
                            <a:srgbClr val="9C4E00"/>
                          </a:solidFill>
                          <a:effectLst/>
                          <a:latin typeface="Tahoma" pitchFamily="34" charset="0"/>
                          <a:ea typeface="宋体" pitchFamily="2" charset="-122"/>
                        </a:rPr>
                        <a:t>Yes</a:t>
                      </a:r>
                      <a:endParaRPr kumimoji="0" lang="zh-CN" altLang="en-US" sz="2000" b="1" i="0" u="none" strike="noStrike" cap="none" normalizeH="0" baseline="0" dirty="0">
                        <a:ln>
                          <a:noFill/>
                        </a:ln>
                        <a:solidFill>
                          <a:srgbClr val="9C4E00"/>
                        </a:solidFill>
                        <a:effectLst/>
                        <a:latin typeface="Tahoma" pitchFamily="34" charset="0"/>
                        <a:ea typeface="宋体" pitchFamily="2" charset="-122"/>
                      </a:endParaRPr>
                    </a:p>
                  </a:txBody>
                  <a:tcPr marL="91439" marR="91439" horzOverflow="overflow">
                    <a:lnL w="19050" cap="flat" cmpd="sng" algn="ctr">
                      <a:solidFill>
                        <a:srgbClr val="9C4E00"/>
                      </a:solidFill>
                      <a:prstDash val="solid"/>
                      <a:round/>
                      <a:headEnd type="none" w="med" len="med"/>
                      <a:tailEnd type="none" w="med" len="med"/>
                    </a:lnL>
                    <a:lnR w="19050" cap="flat" cmpd="sng" algn="ctr">
                      <a:solidFill>
                        <a:srgbClr val="9C4E00"/>
                      </a:solidFill>
                      <a:prstDash val="solid"/>
                      <a:round/>
                      <a:headEnd type="none" w="med" len="med"/>
                      <a:tailEnd type="none" w="med" len="med"/>
                    </a:lnR>
                    <a:lnT w="19050" cap="flat" cmpd="sng" algn="ctr">
                      <a:solidFill>
                        <a:srgbClr val="9C4E00"/>
                      </a:solidFill>
                      <a:prstDash val="solid"/>
                      <a:round/>
                      <a:headEnd type="none" w="med" len="med"/>
                      <a:tailEnd type="none" w="med" len="med"/>
                    </a:lnT>
                    <a:lnB w="19050" cap="flat" cmpd="sng" algn="ctr">
                      <a:solidFill>
                        <a:srgbClr val="9C4E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2" name="文本框 1">
            <a:extLst>
              <a:ext uri="{FF2B5EF4-FFF2-40B4-BE49-F238E27FC236}">
                <a16:creationId xmlns:a16="http://schemas.microsoft.com/office/drawing/2014/main" id="{A81EB5DB-61BE-3302-1B63-76C497E6B1E0}"/>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3" name="标题 8">
            <a:extLst>
              <a:ext uri="{FF2B5EF4-FFF2-40B4-BE49-F238E27FC236}">
                <a16:creationId xmlns:a16="http://schemas.microsoft.com/office/drawing/2014/main" id="{32DE21E6-A845-3A76-7BBC-9BE4E03AEBD7}"/>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en-US" altLang="zh-CN" b="0" kern="0" dirty="0"/>
              <a:t>Summary: Paging VS Segmentation</a:t>
            </a:r>
            <a:endParaRPr lang="zh-CN" altLang="en-US" b="0"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731521" y="1553089"/>
            <a:ext cx="10728960" cy="5010150"/>
          </a:xfrm>
          <a:prstGeom prst="rect">
            <a:avLst/>
          </a:prstGeom>
        </p:spPr>
        <p:txBody>
          <a:bodyPr>
            <a:normAutofit/>
          </a:bodyPr>
          <a:lstStyle/>
          <a:p>
            <a:r>
              <a:rPr lang="en-US" altLang="zh-CN" dirty="0">
                <a:latin typeface="Verdana" panose="020B0604030504040204" pitchFamily="34" charset="0"/>
                <a:ea typeface="Verdana" panose="020B0604030504040204" pitchFamily="34" charset="0"/>
              </a:rPr>
              <a:t>Lim K, Chang J, </a:t>
            </a:r>
            <a:r>
              <a:rPr lang="en-US" altLang="zh-CN" dirty="0" err="1">
                <a:latin typeface="Verdana" panose="020B0604030504040204" pitchFamily="34" charset="0"/>
                <a:ea typeface="Verdana" panose="020B0604030504040204" pitchFamily="34" charset="0"/>
              </a:rPr>
              <a:t>Mudge</a:t>
            </a:r>
            <a:r>
              <a:rPr lang="en-US" altLang="zh-CN" dirty="0">
                <a:latin typeface="Verdana" panose="020B0604030504040204" pitchFamily="34" charset="0"/>
                <a:ea typeface="Verdana" panose="020B0604030504040204" pitchFamily="34" charset="0"/>
              </a:rPr>
              <a:t> T, et al. Disaggregated memory for expansion and sharing in blade servers[J]. ACM IGARCH Computer Architecture News, 2009, 37(3):267.</a:t>
            </a:r>
          </a:p>
          <a:p>
            <a:r>
              <a:rPr lang="en-US" altLang="zh-CN" dirty="0" err="1">
                <a:latin typeface="Verdana" panose="020B0604030504040204" pitchFamily="34" charset="0"/>
                <a:ea typeface="Verdana" panose="020B0604030504040204" pitchFamily="34" charset="0"/>
              </a:rPr>
              <a:t>Boroumand</a:t>
            </a:r>
            <a:r>
              <a:rPr lang="en-US" altLang="zh-CN" dirty="0">
                <a:latin typeface="Verdana" panose="020B0604030504040204" pitchFamily="34" charset="0"/>
                <a:ea typeface="Verdana" panose="020B0604030504040204" pitchFamily="34" charset="0"/>
              </a:rPr>
              <a:t> A, </a:t>
            </a:r>
            <a:r>
              <a:rPr lang="en-US" altLang="zh-CN" dirty="0" err="1">
                <a:latin typeface="Verdana" panose="020B0604030504040204" pitchFamily="34" charset="0"/>
                <a:ea typeface="Verdana" panose="020B0604030504040204" pitchFamily="34" charset="0"/>
              </a:rPr>
              <a:t>Ghose</a:t>
            </a:r>
            <a:r>
              <a:rPr lang="en-US" altLang="zh-CN" dirty="0">
                <a:latin typeface="Verdana" panose="020B0604030504040204" pitchFamily="34" charset="0"/>
                <a:ea typeface="Verdana" panose="020B0604030504040204" pitchFamily="34" charset="0"/>
              </a:rPr>
              <a:t> S, Kim Y, et al. Google Workloads for Consumer Devices: Mitigating Data Movement Bottlenecks[C]//Proceedings of ASPLOS, 2018.</a:t>
            </a:r>
          </a:p>
          <a:p>
            <a:r>
              <a:rPr lang="en-US" altLang="zh-CN" dirty="0">
                <a:latin typeface="Verdana" panose="020B0604030504040204" pitchFamily="34" charset="0"/>
                <a:ea typeface="Verdana" panose="020B0604030504040204" pitchFamily="34" charset="0"/>
              </a:rPr>
              <a:t>The Traditional RDBMS Wisdom is All Wrong. </a:t>
            </a:r>
            <a:r>
              <a:rPr lang="en-US" altLang="zh-CN" dirty="0">
                <a:latin typeface="Verdana" panose="020B0604030504040204" pitchFamily="34" charset="0"/>
                <a:ea typeface="Verdana" panose="020B0604030504040204" pitchFamily="34" charset="0"/>
                <a:hlinkClick r:id="rId2"/>
              </a:rPr>
              <a:t>http://www.hpts.ws/papers/2013/allwrong.pdf</a:t>
            </a:r>
            <a:endParaRPr lang="en-US" altLang="zh-CN" dirty="0">
              <a:latin typeface="Verdana" panose="020B0604030504040204" pitchFamily="34" charset="0"/>
              <a:ea typeface="Verdana" panose="020B0604030504040204" pitchFamily="34" charset="0"/>
            </a:endParaRPr>
          </a:p>
          <a:p>
            <a:r>
              <a:rPr lang="zh-CN" altLang="en-US" dirty="0">
                <a:latin typeface="Verdana" panose="020B0604030504040204" pitchFamily="34" charset="0"/>
              </a:rPr>
              <a:t>低延时数据中心操作系统：</a:t>
            </a:r>
            <a:r>
              <a:rPr lang="en-US" altLang="zh-CN" dirty="0">
                <a:latin typeface="Verdana" panose="020B0604030504040204" pitchFamily="34" charset="0"/>
                <a:ea typeface="Verdana" panose="020B0604030504040204" pitchFamily="34" charset="0"/>
                <a:hlinkClick r:id="rId3"/>
              </a:rPr>
              <a:t>http://www.sohu.com/a/280207137_610499</a:t>
            </a:r>
            <a:endParaRPr lang="en-US" altLang="zh-CN" dirty="0">
              <a:latin typeface="Verdana" panose="020B0604030504040204" pitchFamily="34" charset="0"/>
              <a:ea typeface="Verdana" panose="020B0604030504040204" pitchFamily="34" charset="0"/>
            </a:endParaRPr>
          </a:p>
          <a:p>
            <a:endParaRPr lang="zh-CN" altLang="en-US" dirty="0">
              <a:latin typeface="Verdana" panose="020B0604030504040204" pitchFamily="34" charset="0"/>
            </a:endParaRPr>
          </a:p>
        </p:txBody>
      </p:sp>
      <p:sp>
        <p:nvSpPr>
          <p:cNvPr id="7" name="文本框 6">
            <a:extLst>
              <a:ext uri="{FF2B5EF4-FFF2-40B4-BE49-F238E27FC236}">
                <a16:creationId xmlns:a16="http://schemas.microsoft.com/office/drawing/2014/main" id="{7285FDC6-A03C-4E34-034F-28CA451082BC}"/>
              </a:ext>
            </a:extLst>
          </p:cNvPr>
          <p:cNvSpPr txBox="1"/>
          <p:nvPr/>
        </p:nvSpPr>
        <p:spPr>
          <a:xfrm>
            <a:off x="152400" y="0"/>
            <a:ext cx="6095365" cy="705485"/>
          </a:xfrm>
          <a:prstGeom prst="rect">
            <a:avLst/>
          </a:prstGeom>
          <a:noFill/>
        </p:spPr>
        <p:txBody>
          <a:bodyPr wrap="square" rtlCol="0" anchor="t">
            <a:noAutofit/>
          </a:bodyPr>
          <a:lstStyle/>
          <a:p>
            <a:pPr algn="l"/>
            <a:r>
              <a:rPr lang="zh-CN" altLang="en-US" sz="3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章节4：内存管理</a:t>
            </a:r>
          </a:p>
        </p:txBody>
      </p:sp>
      <p:sp>
        <p:nvSpPr>
          <p:cNvPr id="8" name="标题 8">
            <a:extLst>
              <a:ext uri="{FF2B5EF4-FFF2-40B4-BE49-F238E27FC236}">
                <a16:creationId xmlns:a16="http://schemas.microsoft.com/office/drawing/2014/main" id="{9CF5548A-82C4-C030-FAF1-4A8B8CF9E825}"/>
              </a:ext>
            </a:extLst>
          </p:cNvPr>
          <p:cNvSpPr txBox="1">
            <a:spLocks/>
          </p:cNvSpPr>
          <p:nvPr/>
        </p:nvSpPr>
        <p:spPr>
          <a:xfrm>
            <a:off x="731520" y="867816"/>
            <a:ext cx="10544054" cy="688976"/>
          </a:xfrm>
          <a:prstGeom prst="rect">
            <a:avLst/>
          </a:prstGeom>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Times New Roman" pitchFamily="18" charset="0"/>
              </a:defRPr>
            </a:lvl2pPr>
            <a:lvl3pPr algn="ctr" rtl="0" eaLnBrk="0" fontAlgn="base" hangingPunct="0">
              <a:spcBef>
                <a:spcPct val="0"/>
              </a:spcBef>
              <a:spcAft>
                <a:spcPct val="0"/>
              </a:spcAft>
              <a:defRPr sz="4000" b="1">
                <a:solidFill>
                  <a:schemeClr val="tx1"/>
                </a:solidFill>
                <a:latin typeface="Times New Roman" pitchFamily="18" charset="0"/>
              </a:defRPr>
            </a:lvl3pPr>
            <a:lvl4pPr algn="ctr" rtl="0" eaLnBrk="0" fontAlgn="base" hangingPunct="0">
              <a:spcBef>
                <a:spcPct val="0"/>
              </a:spcBef>
              <a:spcAft>
                <a:spcPct val="0"/>
              </a:spcAft>
              <a:defRPr sz="4000" b="1">
                <a:solidFill>
                  <a:schemeClr val="tx1"/>
                </a:solidFill>
                <a:latin typeface="Times New Roman" pitchFamily="18" charset="0"/>
              </a:defRPr>
            </a:lvl4pPr>
            <a:lvl5pPr algn="ctr" rtl="0" eaLnBrk="0" fontAlgn="base" hangingPunct="0">
              <a:spcBef>
                <a:spcPct val="0"/>
              </a:spcBef>
              <a:spcAft>
                <a:spcPct val="0"/>
              </a:spcAft>
              <a:defRPr sz="4000" b="1">
                <a:solidFill>
                  <a:schemeClr val="tx1"/>
                </a:solidFill>
                <a:latin typeface="Times New Roman" pitchFamily="18" charset="0"/>
              </a:defRPr>
            </a:lvl5pPr>
            <a:lvl6pPr marL="457200" algn="ctr" rtl="0" fontAlgn="base">
              <a:spcBef>
                <a:spcPct val="0"/>
              </a:spcBef>
              <a:spcAft>
                <a:spcPct val="0"/>
              </a:spcAft>
              <a:defRPr sz="4000" b="1">
                <a:solidFill>
                  <a:schemeClr val="tx1"/>
                </a:solidFill>
                <a:latin typeface="Times New Roman" pitchFamily="18" charset="0"/>
              </a:defRPr>
            </a:lvl6pPr>
            <a:lvl7pPr marL="914400" algn="ctr" rtl="0" fontAlgn="base">
              <a:spcBef>
                <a:spcPct val="0"/>
              </a:spcBef>
              <a:spcAft>
                <a:spcPct val="0"/>
              </a:spcAft>
              <a:defRPr sz="4000" b="1">
                <a:solidFill>
                  <a:schemeClr val="tx1"/>
                </a:solidFill>
                <a:latin typeface="Times New Roman" pitchFamily="18" charset="0"/>
              </a:defRPr>
            </a:lvl7pPr>
            <a:lvl8pPr marL="1371600" algn="ctr" rtl="0" fontAlgn="base">
              <a:spcBef>
                <a:spcPct val="0"/>
              </a:spcBef>
              <a:spcAft>
                <a:spcPct val="0"/>
              </a:spcAft>
              <a:defRPr sz="4000" b="1">
                <a:solidFill>
                  <a:schemeClr val="tx1"/>
                </a:solidFill>
                <a:latin typeface="Times New Roman" pitchFamily="18" charset="0"/>
              </a:defRPr>
            </a:lvl8pPr>
            <a:lvl9pPr marL="1828800" algn="ctr" rtl="0" fontAlgn="base">
              <a:spcBef>
                <a:spcPct val="0"/>
              </a:spcBef>
              <a:spcAft>
                <a:spcPct val="0"/>
              </a:spcAft>
              <a:defRPr sz="4000" b="1">
                <a:solidFill>
                  <a:schemeClr val="tx1"/>
                </a:solidFill>
                <a:latin typeface="Times New Roman" pitchFamily="18" charset="0"/>
              </a:defRPr>
            </a:lvl9pPr>
          </a:lstStyle>
          <a:p>
            <a:r>
              <a:rPr lang="zh-CN" altLang="en-US" b="0" kern="0" dirty="0"/>
              <a:t>延伸阅读</a:t>
            </a:r>
          </a:p>
        </p:txBody>
      </p:sp>
    </p:spTree>
    <p:extLst>
      <p:ext uri="{BB962C8B-B14F-4D97-AF65-F5344CB8AC3E}">
        <p14:creationId xmlns:p14="http://schemas.microsoft.com/office/powerpoint/2010/main" val="4603315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5" name="Rectangle 2"/>
          <p:cNvSpPr>
            <a:spLocks noGrp="1" noChangeArrowheads="1"/>
          </p:cNvSpPr>
          <p:nvPr>
            <p:ph type="title" idx="4294967295"/>
          </p:nvPr>
        </p:nvSpPr>
        <p:spPr>
          <a:xfrm>
            <a:off x="2207419" y="2348880"/>
            <a:ext cx="7777162" cy="2016497"/>
          </a:xfrm>
          <a:prstGeom prst="rect">
            <a:avLst/>
          </a:prstGeom>
        </p:spPr>
        <p:txBody>
          <a:bodyPr/>
          <a:lstStyle/>
          <a:p>
            <a:pPr eaLnBrk="1" hangingPunct="1"/>
            <a:r>
              <a:rPr lang="en-US" altLang="zh-CN" sz="5400" i="1" dirty="0">
                <a:solidFill>
                  <a:srgbClr val="993300"/>
                </a:solidFill>
                <a:ea typeface="宋体" panose="02010600030101010101" pitchFamily="2" charset="-122"/>
              </a:rPr>
              <a:t>Thanks for your time!</a:t>
            </a:r>
            <a:br>
              <a:rPr lang="en-US" altLang="zh-CN" sz="5400" i="1" dirty="0">
                <a:solidFill>
                  <a:srgbClr val="993300"/>
                </a:solidFill>
                <a:ea typeface="宋体" panose="02010600030101010101" pitchFamily="2" charset="-122"/>
              </a:rPr>
            </a:br>
            <a:r>
              <a:rPr lang="en-US" altLang="zh-CN" sz="5400" i="1" dirty="0">
                <a:solidFill>
                  <a:srgbClr val="993300"/>
                </a:solidFill>
                <a:ea typeface="宋体" panose="02010600030101010101" pitchFamily="2" charset="-122"/>
              </a:rPr>
              <a:t>Questions &amp; Answers</a:t>
            </a:r>
            <a:endParaRPr lang="en-US" altLang="ko-KR" sz="5400" i="1" dirty="0">
              <a:solidFill>
                <a:srgbClr val="993300"/>
              </a:solidFill>
              <a:ea typeface="굴림" pitchFamily="34" charset="-127"/>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C4C0C-CADD-C121-3CDE-B52EBC2216B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6B3786E-E090-908F-2841-43C3C30C3E62}"/>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7209BB76-661F-4F23-A2E6-DCF093FEDF36}" type="slidenum">
              <a:rPr kumimoji="0" lang="zh-CN" altLang="en-US" sz="1600" b="1"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0" fontAlgn="base" latinLnBrk="0" hangingPunct="0">
                <a:lnSpc>
                  <a:spcPct val="100000"/>
                </a:lnSpc>
                <a:spcBef>
                  <a:spcPct val="0"/>
                </a:spcBef>
                <a:spcAft>
                  <a:spcPct val="0"/>
                </a:spcAft>
                <a:buClrTx/>
                <a:buSzTx/>
                <a:buFontTx/>
                <a:buNone/>
                <a:tabLst/>
                <a:defRPr/>
              </a:pPr>
              <a:t>73</a:t>
            </a:fld>
            <a:endParaRPr kumimoji="0" lang="zh-CN" altLang="en-US"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标题 1">
            <a:extLst>
              <a:ext uri="{FF2B5EF4-FFF2-40B4-BE49-F238E27FC236}">
                <a16:creationId xmlns:a16="http://schemas.microsoft.com/office/drawing/2014/main" id="{A98E4B27-6808-C743-B0E4-2684D515B131}"/>
              </a:ext>
            </a:extLst>
          </p:cNvPr>
          <p:cNvSpPr>
            <a:spLocks noGrp="1"/>
          </p:cNvSpPr>
          <p:nvPr>
            <p:ph type="title"/>
          </p:nvPr>
        </p:nvSpPr>
        <p:spPr/>
        <p:txBody>
          <a:bodyPr/>
          <a:lstStyle/>
          <a:p>
            <a:r>
              <a:rPr lang="zh-CN" altLang="en-US" dirty="0"/>
              <a:t>前情提要</a:t>
            </a:r>
          </a:p>
        </p:txBody>
      </p:sp>
      <p:sp>
        <p:nvSpPr>
          <p:cNvPr id="3" name="内容占位符 2">
            <a:extLst>
              <a:ext uri="{FF2B5EF4-FFF2-40B4-BE49-F238E27FC236}">
                <a16:creationId xmlns:a16="http://schemas.microsoft.com/office/drawing/2014/main" id="{412FA932-5A20-7C96-E24A-DD2EDB9FAA1A}"/>
              </a:ext>
            </a:extLst>
          </p:cNvPr>
          <p:cNvSpPr>
            <a:spLocks noGrp="1"/>
          </p:cNvSpPr>
          <p:nvPr>
            <p:ph idx="1"/>
          </p:nvPr>
        </p:nvSpPr>
        <p:spPr>
          <a:xfrm>
            <a:off x="695400" y="1484784"/>
            <a:ext cx="10801200" cy="4351338"/>
          </a:xfrm>
          <a:prstGeom prst="rect">
            <a:avLst/>
          </a:prstGeom>
        </p:spPr>
        <p:txBody>
          <a:bodyPr>
            <a:noAutofit/>
          </a:bodyPr>
          <a:lstStyle/>
          <a:p>
            <a:pPr algn="just" fontAlgn="base">
              <a:lnSpc>
                <a:spcPct val="130000"/>
              </a:lnSpc>
              <a:spcBef>
                <a:spcPts val="0"/>
              </a:spcBef>
              <a:spcAft>
                <a:spcPts val="600"/>
              </a:spcAft>
              <a:buClr>
                <a:srgbClr val="000000"/>
              </a:buClr>
              <a:buSzPct val="80000"/>
              <a:buFont typeface="Wingdings" panose="05000000000000000000" pitchFamily="2" charset="2"/>
              <a:buChar char=""/>
            </a:pPr>
            <a:r>
              <a:rPr lang="zh-CN" altLang="en-US" sz="2000" dirty="0">
                <a:solidFill>
                  <a:srgbClr val="003366"/>
                </a:solidFill>
                <a:latin typeface="微软雅黑" panose="020B0503020204020204" pitchFamily="34" charset="-122"/>
                <a:ea typeface="微软雅黑" panose="020B0503020204020204" pitchFamily="34" charset="-122"/>
              </a:rPr>
              <a:t>虚拟地址空间是指程序员“臆想”的空间，是</a:t>
            </a:r>
            <a:r>
              <a:rPr lang="en-US" altLang="zh-CN" sz="2000" dirty="0">
                <a:solidFill>
                  <a:srgbClr val="003366"/>
                </a:solidFill>
                <a:latin typeface="微软雅黑" panose="020B0503020204020204" pitchFamily="34" charset="-122"/>
                <a:ea typeface="微软雅黑" panose="020B0503020204020204" pitchFamily="34" charset="-122"/>
              </a:rPr>
              <a:t>OS</a:t>
            </a:r>
            <a:r>
              <a:rPr lang="zh-CN" altLang="en-US" sz="2000" dirty="0">
                <a:solidFill>
                  <a:srgbClr val="003366"/>
                </a:solidFill>
                <a:latin typeface="微软雅黑" panose="020B0503020204020204" pitchFamily="34" charset="-122"/>
                <a:ea typeface="微软雅黑" panose="020B0503020204020204" pitchFamily="34" charset="-122"/>
              </a:rPr>
              <a:t>帮应用程序开发人员制造的“幻觉”</a:t>
            </a:r>
            <a:endParaRPr lang="en-US" altLang="zh-CN" sz="2000" dirty="0">
              <a:solidFill>
                <a:srgbClr val="003366"/>
              </a:solidFill>
              <a:latin typeface="微软雅黑" panose="020B0503020204020204" pitchFamily="34" charset="-122"/>
              <a:ea typeface="微软雅黑" panose="020B0503020204020204" pitchFamily="34" charset="-122"/>
            </a:endParaRPr>
          </a:p>
          <a:p>
            <a:pPr algn="just">
              <a:spcBef>
                <a:spcPts val="0"/>
              </a:spcBef>
              <a:spcAft>
                <a:spcPts val="600"/>
              </a:spcAft>
              <a:buSzPct val="80000"/>
              <a:buFont typeface="Wingdings" panose="05000000000000000000" pitchFamily="2" charset="2"/>
              <a:buChar char=""/>
            </a:pPr>
            <a:r>
              <a:rPr lang="zh-CN" altLang="en-US" sz="2000" dirty="0">
                <a:solidFill>
                  <a:srgbClr val="003366"/>
                </a:solidFill>
                <a:latin typeface="微软雅黑" panose="020B0503020204020204" pitchFamily="34" charset="-122"/>
                <a:ea typeface="微软雅黑" panose="020B0503020204020204" pitchFamily="34" charset="-122"/>
              </a:rPr>
              <a:t>虚拟地址空间实际是由</a:t>
            </a:r>
            <a:r>
              <a:rPr lang="zh-CN" altLang="en-US" sz="2000" dirty="0">
                <a:solidFill>
                  <a:srgbClr val="FF0000"/>
                </a:solidFill>
              </a:rPr>
              <a:t>物理内存和其他存储（通常是硬盘，也可以是网络等）共同组成的</a:t>
            </a:r>
            <a:endParaRPr lang="en-US" altLang="zh-CN" sz="2000" dirty="0">
              <a:solidFill>
                <a:srgbClr val="FF0000"/>
              </a:solidFill>
            </a:endParaRPr>
          </a:p>
          <a:p>
            <a:pPr algn="just">
              <a:spcBef>
                <a:spcPts val="0"/>
              </a:spcBef>
              <a:spcAft>
                <a:spcPts val="600"/>
              </a:spcAft>
              <a:buSzPct val="80000"/>
              <a:buFont typeface="Wingdings" panose="05000000000000000000" pitchFamily="2" charset="2"/>
              <a:buChar char=""/>
            </a:pPr>
            <a:r>
              <a:rPr lang="en-US" altLang="zh-CN" sz="2000" dirty="0">
                <a:solidFill>
                  <a:srgbClr val="003366"/>
                </a:solidFill>
                <a:latin typeface="微软雅黑" panose="020B0503020204020204" pitchFamily="34" charset="-122"/>
                <a:ea typeface="微软雅黑" panose="020B0503020204020204" pitchFamily="34" charset="-122"/>
              </a:rPr>
              <a:t>OS</a:t>
            </a:r>
            <a:r>
              <a:rPr lang="zh-CN" altLang="en-US" sz="2000" dirty="0">
                <a:solidFill>
                  <a:srgbClr val="003366"/>
                </a:solidFill>
                <a:latin typeface="微软雅黑" panose="020B0503020204020204" pitchFamily="34" charset="-122"/>
                <a:ea typeface="微软雅黑" panose="020B0503020204020204" pitchFamily="34" charset="-122"/>
              </a:rPr>
              <a:t>的作用是确保应用程序</a:t>
            </a:r>
            <a:r>
              <a:rPr lang="zh-CN" altLang="en-US" sz="2000" dirty="0">
                <a:solidFill>
                  <a:srgbClr val="FF0000"/>
                </a:solidFill>
              </a:rPr>
              <a:t>正在和即将使用的数据保存在内存</a:t>
            </a:r>
            <a:r>
              <a:rPr lang="zh-CN" altLang="en-US" sz="2000" dirty="0">
                <a:solidFill>
                  <a:srgbClr val="003366"/>
                </a:solidFill>
                <a:latin typeface="微软雅黑" panose="020B0503020204020204" pitchFamily="34" charset="-122"/>
                <a:ea typeface="微软雅黑" panose="020B0503020204020204" pitchFamily="34" charset="-122"/>
              </a:rPr>
              <a:t>中，以确保程序的性能和正确性。这时就需要一个好的换页算法</a:t>
            </a:r>
            <a:endParaRPr lang="en-US" altLang="zh-CN" sz="2000" dirty="0">
              <a:solidFill>
                <a:srgbClr val="003366"/>
              </a:solidFill>
              <a:latin typeface="微软雅黑" panose="020B0503020204020204" pitchFamily="34" charset="-122"/>
              <a:ea typeface="微软雅黑" panose="020B0503020204020204" pitchFamily="34" charset="-122"/>
            </a:endParaRPr>
          </a:p>
          <a:p>
            <a:pPr algn="just" fontAlgn="base">
              <a:lnSpc>
                <a:spcPct val="130000"/>
              </a:lnSpc>
              <a:spcBef>
                <a:spcPts val="0"/>
              </a:spcBef>
              <a:spcAft>
                <a:spcPts val="600"/>
              </a:spcAft>
              <a:buClr>
                <a:srgbClr val="000000"/>
              </a:buClr>
              <a:buSzPct val="80000"/>
              <a:buFont typeface="Wingdings" panose="05000000000000000000" pitchFamily="2" charset="2"/>
              <a:buChar char=""/>
            </a:pPr>
            <a:r>
              <a:rPr lang="en-US" altLang="zh-CN" sz="2000" dirty="0" err="1">
                <a:solidFill>
                  <a:srgbClr val="003366"/>
                </a:solidFill>
                <a:latin typeface="微软雅黑" panose="020B0503020204020204" pitchFamily="34" charset="-122"/>
                <a:ea typeface="微软雅黑" panose="020B0503020204020204" pitchFamily="34" charset="-122"/>
              </a:rPr>
              <a:t>Belady</a:t>
            </a:r>
            <a:r>
              <a:rPr lang="zh-CN" altLang="en-US" sz="2000" dirty="0">
                <a:solidFill>
                  <a:srgbClr val="003366"/>
                </a:solidFill>
              </a:rPr>
              <a:t>提出了一种异常现象，</a:t>
            </a:r>
            <a:r>
              <a:rPr lang="zh-CN" altLang="en-US" sz="2000" dirty="0">
                <a:solidFill>
                  <a:srgbClr val="FF0000"/>
                </a:solidFill>
              </a:rPr>
              <a:t>增加</a:t>
            </a:r>
            <a:r>
              <a:rPr lang="en-US" altLang="zh-CN" sz="2000" dirty="0" err="1">
                <a:solidFill>
                  <a:srgbClr val="FF0000"/>
                </a:solidFill>
              </a:rPr>
              <a:t>pageframe</a:t>
            </a:r>
            <a:r>
              <a:rPr lang="zh-CN" altLang="en-US" sz="2000" dirty="0">
                <a:solidFill>
                  <a:srgbClr val="FF0000"/>
                </a:solidFill>
              </a:rPr>
              <a:t>增加了缺页次数</a:t>
            </a:r>
            <a:r>
              <a:rPr lang="zh-CN" altLang="en-US" sz="2000" dirty="0">
                <a:solidFill>
                  <a:srgbClr val="003366"/>
                </a:solidFill>
              </a:rPr>
              <a:t>，使得</a:t>
            </a:r>
            <a:r>
              <a:rPr lang="en-US" altLang="zh-CN" sz="2000" dirty="0">
                <a:solidFill>
                  <a:srgbClr val="003366"/>
                </a:solidFill>
              </a:rPr>
              <a:t>FIFO</a:t>
            </a:r>
            <a:r>
              <a:rPr lang="zh-CN" altLang="en-US" sz="2000" dirty="0">
                <a:solidFill>
                  <a:srgbClr val="003366"/>
                </a:solidFill>
              </a:rPr>
              <a:t>被抛弃</a:t>
            </a:r>
            <a:endParaRPr lang="en-US" altLang="zh-CN" sz="2000" dirty="0">
              <a:solidFill>
                <a:srgbClr val="003366"/>
              </a:solidFill>
              <a:latin typeface="微软雅黑" panose="020B0503020204020204" pitchFamily="34" charset="-122"/>
              <a:ea typeface="微软雅黑" panose="020B0503020204020204" pitchFamily="34" charset="-122"/>
            </a:endParaRPr>
          </a:p>
          <a:p>
            <a:pPr algn="just" fontAlgn="base">
              <a:lnSpc>
                <a:spcPct val="130000"/>
              </a:lnSpc>
              <a:spcBef>
                <a:spcPts val="0"/>
              </a:spcBef>
              <a:spcAft>
                <a:spcPts val="600"/>
              </a:spcAft>
              <a:buClr>
                <a:srgbClr val="000000"/>
              </a:buClr>
              <a:buSzPct val="80000"/>
              <a:buFont typeface="Wingdings" panose="05000000000000000000" pitchFamily="2" charset="2"/>
              <a:buChar char=""/>
            </a:pPr>
            <a:r>
              <a:rPr lang="zh-CN" altLang="en-US" sz="2000" dirty="0">
                <a:solidFill>
                  <a:srgbClr val="003366"/>
                </a:solidFill>
                <a:latin typeface="微软雅黑" panose="020B0503020204020204" pitchFamily="34" charset="-122"/>
                <a:ea typeface="微软雅黑" panose="020B0503020204020204" pitchFamily="34" charset="-122"/>
              </a:rPr>
              <a:t>预测未来才能完美换页，</a:t>
            </a:r>
            <a:r>
              <a:rPr lang="en-US" altLang="zh-CN" sz="2000" dirty="0">
                <a:solidFill>
                  <a:srgbClr val="003366"/>
                </a:solidFill>
                <a:latin typeface="微软雅黑" panose="020B0503020204020204" pitchFamily="34" charset="-122"/>
                <a:ea typeface="微软雅黑" panose="020B0503020204020204" pitchFamily="34" charset="-122"/>
              </a:rPr>
              <a:t>LRU</a:t>
            </a:r>
            <a:r>
              <a:rPr lang="zh-CN" altLang="en-US" sz="2000" dirty="0">
                <a:solidFill>
                  <a:srgbClr val="003366"/>
                </a:solidFill>
                <a:latin typeface="微软雅黑" panose="020B0503020204020204" pitchFamily="34" charset="-122"/>
                <a:ea typeface="微软雅黑" panose="020B0503020204020204" pitchFamily="34" charset="-122"/>
              </a:rPr>
              <a:t>和</a:t>
            </a:r>
            <a:r>
              <a:rPr lang="en-US" altLang="zh-CN" sz="2000" dirty="0">
                <a:solidFill>
                  <a:srgbClr val="003366"/>
                </a:solidFill>
                <a:latin typeface="微软雅黑" panose="020B0503020204020204" pitchFamily="34" charset="-122"/>
                <a:ea typeface="微软雅黑" panose="020B0503020204020204" pitchFamily="34" charset="-122"/>
              </a:rPr>
              <a:t>LFU</a:t>
            </a:r>
            <a:r>
              <a:rPr lang="zh-CN" altLang="en-US" sz="2000" dirty="0">
                <a:solidFill>
                  <a:srgbClr val="003366"/>
                </a:solidFill>
                <a:latin typeface="微软雅黑" panose="020B0503020204020204" pitchFamily="34" charset="-122"/>
                <a:ea typeface="微软雅黑" panose="020B0503020204020204" pitchFamily="34" charset="-122"/>
              </a:rPr>
              <a:t>都是对未来的模拟，</a:t>
            </a:r>
            <a:r>
              <a:rPr lang="zh-CN" altLang="en-US" sz="2000" dirty="0">
                <a:solidFill>
                  <a:srgbClr val="FF0000"/>
                </a:solidFill>
              </a:rPr>
              <a:t>时钟算法</a:t>
            </a:r>
            <a:r>
              <a:rPr lang="zh-CN" altLang="en-US" sz="2000" dirty="0">
                <a:solidFill>
                  <a:srgbClr val="003366"/>
                </a:solidFill>
                <a:latin typeface="微软雅黑" panose="020B0503020204020204" pitchFamily="34" charset="-122"/>
                <a:ea typeface="微软雅黑" panose="020B0503020204020204" pitchFamily="34" charset="-122"/>
              </a:rPr>
              <a:t>才是成本和硬件相对可行的模拟方案。用一个</a:t>
            </a:r>
            <a:r>
              <a:rPr lang="en-US" altLang="zh-CN" sz="2000" dirty="0">
                <a:solidFill>
                  <a:srgbClr val="003366"/>
                </a:solidFill>
                <a:latin typeface="微软雅黑" panose="020B0503020204020204" pitchFamily="34" charset="-122"/>
                <a:ea typeface="微软雅黑" panose="020B0503020204020204" pitchFamily="34" charset="-122"/>
              </a:rPr>
              <a:t>(</a:t>
            </a:r>
            <a:r>
              <a:rPr lang="zh-CN" altLang="en-US" sz="2000" dirty="0">
                <a:solidFill>
                  <a:srgbClr val="003366"/>
                </a:solidFill>
                <a:latin typeface="微软雅黑" panose="020B0503020204020204" pitchFamily="34" charset="-122"/>
                <a:ea typeface="微软雅黑" panose="020B0503020204020204" pitchFamily="34" charset="-122"/>
              </a:rPr>
              <a:t>或者</a:t>
            </a:r>
            <a:r>
              <a:rPr lang="en-US" altLang="zh-CN" sz="2000" dirty="0">
                <a:solidFill>
                  <a:srgbClr val="003366"/>
                </a:solidFill>
                <a:latin typeface="微软雅黑" panose="020B0503020204020204" pitchFamily="34" charset="-122"/>
                <a:ea typeface="微软雅黑" panose="020B0503020204020204" pitchFamily="34" charset="-122"/>
              </a:rPr>
              <a:t>2</a:t>
            </a:r>
            <a:r>
              <a:rPr lang="zh-CN" altLang="en-US" sz="2000" dirty="0">
                <a:solidFill>
                  <a:srgbClr val="003366"/>
                </a:solidFill>
                <a:latin typeface="微软雅黑" panose="020B0503020204020204" pitchFamily="34" charset="-122"/>
                <a:ea typeface="微软雅黑" panose="020B0503020204020204" pitchFamily="34" charset="-122"/>
              </a:rPr>
              <a:t>个</a:t>
            </a:r>
            <a:r>
              <a:rPr lang="en-US" altLang="zh-CN" sz="2000" dirty="0">
                <a:solidFill>
                  <a:srgbClr val="003366"/>
                </a:solidFill>
                <a:latin typeface="微软雅黑" panose="020B0503020204020204" pitchFamily="34" charset="-122"/>
                <a:ea typeface="微软雅黑" panose="020B0503020204020204" pitchFamily="34" charset="-122"/>
              </a:rPr>
              <a:t>)bit</a:t>
            </a:r>
            <a:r>
              <a:rPr lang="zh-CN" altLang="en-US" sz="2000" dirty="0">
                <a:solidFill>
                  <a:srgbClr val="003366"/>
                </a:solidFill>
                <a:latin typeface="微软雅黑" panose="020B0503020204020204" pitchFamily="34" charset="-122"/>
                <a:ea typeface="微软雅黑" panose="020B0503020204020204" pitchFamily="34" charset="-122"/>
              </a:rPr>
              <a:t>表示访问修改，用一个定期任务</a:t>
            </a:r>
            <a:r>
              <a:rPr lang="en-US" altLang="zh-CN" sz="2000" dirty="0">
                <a:solidFill>
                  <a:srgbClr val="003366"/>
                </a:solidFill>
                <a:latin typeface="微软雅黑" panose="020B0503020204020204" pitchFamily="34" charset="-122"/>
                <a:ea typeface="微软雅黑" panose="020B0503020204020204" pitchFamily="34" charset="-122"/>
              </a:rPr>
              <a:t>clear bit</a:t>
            </a:r>
            <a:r>
              <a:rPr lang="zh-CN" altLang="en-US" sz="2000" dirty="0">
                <a:solidFill>
                  <a:srgbClr val="003366"/>
                </a:solidFill>
                <a:latin typeface="微软雅黑" panose="020B0503020204020204" pitchFamily="34" charset="-122"/>
                <a:ea typeface="微软雅黑" panose="020B0503020204020204" pitchFamily="34" charset="-122"/>
              </a:rPr>
              <a:t>达到轮转计时的效果。这是典型的</a:t>
            </a:r>
            <a:r>
              <a:rPr lang="en-US" altLang="zh-CN" sz="2000" dirty="0">
                <a:solidFill>
                  <a:srgbClr val="003366"/>
                </a:solidFill>
                <a:latin typeface="微软雅黑" panose="020B0503020204020204" pitchFamily="34" charset="-122"/>
                <a:ea typeface="微软雅黑" panose="020B0503020204020204" pitchFamily="34" charset="-122"/>
              </a:rPr>
              <a:t>OS</a:t>
            </a:r>
            <a:r>
              <a:rPr lang="zh-CN" altLang="en-US" sz="2000" dirty="0">
                <a:solidFill>
                  <a:srgbClr val="003366"/>
                </a:solidFill>
                <a:latin typeface="微软雅黑" panose="020B0503020204020204" pitchFamily="34" charset="-122"/>
                <a:ea typeface="微软雅黑" panose="020B0503020204020204" pitchFamily="34" charset="-122"/>
              </a:rPr>
              <a:t>中解决工程问题的思路，利用</a:t>
            </a:r>
            <a:r>
              <a:rPr lang="zh-CN" altLang="en-US" sz="2000" dirty="0">
                <a:solidFill>
                  <a:srgbClr val="FF0000"/>
                </a:solidFill>
                <a:latin typeface="微软雅黑" panose="020B0503020204020204" pitchFamily="34" charset="-122"/>
                <a:ea typeface="微软雅黑" panose="020B0503020204020204" pitchFamily="34" charset="-122"/>
              </a:rPr>
              <a:t>相对合理的软硬件代价找到可以接受的结果</a:t>
            </a:r>
            <a:endParaRPr lang="en-US" altLang="zh-CN" sz="2000" dirty="0">
              <a:solidFill>
                <a:srgbClr val="FF0000"/>
              </a:solidFill>
              <a:latin typeface="微软雅黑" panose="020B0503020204020204" pitchFamily="34" charset="-122"/>
              <a:ea typeface="微软雅黑" panose="020B0503020204020204" pitchFamily="34" charset="-122"/>
            </a:endParaRPr>
          </a:p>
          <a:p>
            <a:pPr algn="just">
              <a:spcBef>
                <a:spcPts val="0"/>
              </a:spcBef>
              <a:spcAft>
                <a:spcPts val="600"/>
              </a:spcAft>
              <a:buSzPct val="80000"/>
              <a:buFont typeface="Wingdings" panose="05000000000000000000" pitchFamily="2" charset="2"/>
              <a:buChar char=""/>
            </a:pPr>
            <a:r>
              <a:rPr lang="zh-CN" altLang="en-US" sz="2000" dirty="0">
                <a:solidFill>
                  <a:srgbClr val="003366"/>
                </a:solidFill>
                <a:latin typeface="微软雅黑" panose="020B0503020204020204" pitchFamily="34" charset="-122"/>
                <a:ea typeface="微软雅黑" panose="020B0503020204020204" pitchFamily="34" charset="-122"/>
              </a:rPr>
              <a:t>在多个任务并存且共享系统资源时，需要</a:t>
            </a:r>
            <a:r>
              <a:rPr lang="en-US" altLang="zh-CN" sz="2000" dirty="0">
                <a:solidFill>
                  <a:srgbClr val="003366"/>
                </a:solidFill>
                <a:latin typeface="微软雅黑" panose="020B0503020204020204" pitchFamily="34" charset="-122"/>
                <a:ea typeface="微软雅黑" panose="020B0503020204020204" pitchFamily="34" charset="-122"/>
              </a:rPr>
              <a:t>OS</a:t>
            </a:r>
            <a:r>
              <a:rPr lang="zh-CN" altLang="en-US" sz="2000" dirty="0">
                <a:solidFill>
                  <a:srgbClr val="003366"/>
                </a:solidFill>
                <a:latin typeface="微软雅黑" panose="020B0503020204020204" pitchFamily="34" charset="-122"/>
                <a:ea typeface="微软雅黑" panose="020B0503020204020204" pitchFamily="34" charset="-122"/>
              </a:rPr>
              <a:t>来主动探测任务所需的内存，此时需要对程序的</a:t>
            </a:r>
            <a:r>
              <a:rPr lang="zh-CN" altLang="en-US" sz="2000" dirty="0">
                <a:solidFill>
                  <a:srgbClr val="FF0000"/>
                </a:solidFill>
              </a:rPr>
              <a:t>工作集</a:t>
            </a:r>
            <a:r>
              <a:rPr lang="zh-CN" altLang="en-US" sz="2000" dirty="0">
                <a:solidFill>
                  <a:srgbClr val="003366"/>
                </a:solidFill>
                <a:latin typeface="微软雅黑" panose="020B0503020204020204" pitchFamily="34" charset="-122"/>
                <a:ea typeface="微软雅黑" panose="020B0503020204020204" pitchFamily="34" charset="-122"/>
              </a:rPr>
              <a:t>做出相对准确的预测，而这一任务目前没有完美的解决方案</a:t>
            </a:r>
            <a:endParaRPr lang="en-US" altLang="zh-CN" sz="2000" dirty="0">
              <a:solidFill>
                <a:srgbClr val="003366"/>
              </a:solidFill>
              <a:latin typeface="微软雅黑" panose="020B0503020204020204" pitchFamily="34" charset="-122"/>
              <a:ea typeface="微软雅黑" panose="020B0503020204020204" pitchFamily="34" charset="-122"/>
            </a:endParaRPr>
          </a:p>
          <a:p>
            <a:pPr algn="just">
              <a:spcBef>
                <a:spcPts val="0"/>
              </a:spcBef>
              <a:spcAft>
                <a:spcPts val="600"/>
              </a:spcAft>
              <a:buSzPct val="80000"/>
              <a:buFont typeface="Wingdings" panose="05000000000000000000" pitchFamily="2" charset="2"/>
              <a:buChar char=""/>
            </a:pPr>
            <a:r>
              <a:rPr lang="zh-CN" altLang="en-US" sz="2000" dirty="0">
                <a:solidFill>
                  <a:srgbClr val="FF0000"/>
                </a:solidFill>
              </a:rPr>
              <a:t>缺页率、工作集</a:t>
            </a:r>
            <a:r>
              <a:rPr lang="zh-CN" altLang="en-US" sz="2000" dirty="0">
                <a:solidFill>
                  <a:srgbClr val="003366"/>
                </a:solidFill>
                <a:latin typeface="微软雅黑" panose="020B0503020204020204" pitchFamily="34" charset="-122"/>
                <a:ea typeface="微软雅黑" panose="020B0503020204020204" pitchFamily="34" charset="-122"/>
              </a:rPr>
              <a:t>等算法可以近似探索程序的工作集，并动态调整每个任务的物理内存数量</a:t>
            </a:r>
            <a:endParaRPr lang="en-US" altLang="zh-CN" sz="2000" dirty="0">
              <a:solidFill>
                <a:srgbClr val="003366"/>
              </a:solidFill>
              <a:latin typeface="微软雅黑" panose="020B0503020204020204" pitchFamily="34" charset="-122"/>
              <a:ea typeface="微软雅黑" panose="020B0503020204020204" pitchFamily="34" charset="-122"/>
            </a:endParaRPr>
          </a:p>
          <a:p>
            <a:pPr algn="just">
              <a:spcBef>
                <a:spcPts val="0"/>
              </a:spcBef>
              <a:spcAft>
                <a:spcPts val="600"/>
              </a:spcAft>
              <a:buSzPct val="80000"/>
              <a:buFont typeface="Wingdings" panose="05000000000000000000" pitchFamily="2" charset="2"/>
              <a:buChar char=""/>
            </a:pPr>
            <a:r>
              <a:rPr lang="zh-CN" altLang="en-US" sz="2000" dirty="0">
                <a:solidFill>
                  <a:srgbClr val="003366"/>
                </a:solidFill>
                <a:latin typeface="微软雅黑" panose="020B0503020204020204" pitchFamily="34" charset="-122"/>
                <a:ea typeface="微软雅黑" panose="020B0503020204020204" pitchFamily="34" charset="-122"/>
              </a:rPr>
              <a:t>没有一种换页方法能胜任所有的工作场景，因此又一次提到了</a:t>
            </a:r>
            <a:r>
              <a:rPr lang="zh-CN" altLang="en-US" sz="2000" dirty="0">
                <a:solidFill>
                  <a:srgbClr val="FF0000"/>
                </a:solidFill>
              </a:rPr>
              <a:t>机制与策略</a:t>
            </a:r>
            <a:r>
              <a:rPr lang="zh-CN" altLang="en-US" sz="2000" dirty="0">
                <a:solidFill>
                  <a:srgbClr val="003366"/>
                </a:solidFill>
                <a:latin typeface="微软雅黑" panose="020B0503020204020204" pitchFamily="34" charset="-122"/>
                <a:ea typeface="微软雅黑" panose="020B0503020204020204" pitchFamily="34" charset="-122"/>
              </a:rPr>
              <a:t>的问题</a:t>
            </a:r>
            <a:endParaRPr lang="en-US" altLang="zh-CN" sz="2000" dirty="0">
              <a:solidFill>
                <a:srgbClr val="003366"/>
              </a:solidFill>
              <a:latin typeface="微软雅黑" panose="020B0503020204020204" pitchFamily="34" charset="-122"/>
              <a:ea typeface="微软雅黑" panose="020B0503020204020204" pitchFamily="34" charset="-122"/>
            </a:endParaRPr>
          </a:p>
          <a:p>
            <a:pPr algn="just">
              <a:spcBef>
                <a:spcPts val="0"/>
              </a:spcBef>
              <a:spcAft>
                <a:spcPts val="600"/>
              </a:spcAft>
              <a:buSzPct val="80000"/>
              <a:buFont typeface="Wingdings" panose="05000000000000000000" pitchFamily="2" charset="2"/>
              <a:buChar char=""/>
            </a:pPr>
            <a:r>
              <a:rPr lang="en-US" altLang="zh-CN" sz="2000" dirty="0">
                <a:solidFill>
                  <a:srgbClr val="003366"/>
                </a:solidFill>
              </a:rPr>
              <a:t>Linux</a:t>
            </a:r>
            <a:r>
              <a:rPr lang="zh-CN" altLang="en-US" sz="2000" dirty="0">
                <a:solidFill>
                  <a:srgbClr val="003366"/>
                </a:solidFill>
              </a:rPr>
              <a:t>中使用了一种</a:t>
            </a:r>
            <a:r>
              <a:rPr lang="zh-CN" altLang="en-US" sz="2000" dirty="0">
                <a:solidFill>
                  <a:srgbClr val="FF0000"/>
                </a:solidFill>
              </a:rPr>
              <a:t>水位线机制</a:t>
            </a:r>
            <a:r>
              <a:rPr lang="zh-CN" altLang="en-US" sz="2000" dirty="0">
                <a:solidFill>
                  <a:srgbClr val="003366"/>
                </a:solidFill>
              </a:rPr>
              <a:t>，可以异步的回收内存提升效率，</a:t>
            </a:r>
            <a:r>
              <a:rPr lang="en-US" altLang="zh-CN" sz="2000" dirty="0">
                <a:solidFill>
                  <a:srgbClr val="FF0000"/>
                </a:solidFill>
              </a:rPr>
              <a:t>MGLRU</a:t>
            </a:r>
            <a:r>
              <a:rPr lang="zh-CN" altLang="en-US" sz="2000" dirty="0">
                <a:solidFill>
                  <a:srgbClr val="003366"/>
                </a:solidFill>
              </a:rPr>
              <a:t>机制以更加准确的判定页面是否应该被换出</a:t>
            </a:r>
            <a:endParaRPr lang="en-US" altLang="zh-CN" sz="2000" dirty="0">
              <a:solidFill>
                <a:srgbClr val="003366"/>
              </a:solidFill>
            </a:endParaRPr>
          </a:p>
          <a:p>
            <a:pPr algn="just">
              <a:spcBef>
                <a:spcPts val="0"/>
              </a:spcBef>
              <a:spcAft>
                <a:spcPts val="600"/>
              </a:spcAft>
              <a:buSzPct val="80000"/>
              <a:buFont typeface="Wingdings" panose="05000000000000000000" pitchFamily="2" charset="2"/>
              <a:buChar char=""/>
            </a:pPr>
            <a:endParaRPr lang="zh-CN" altLang="en-US" sz="2000" dirty="0">
              <a:solidFill>
                <a:srgbClr val="0033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49249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0"/>
</p:tagLst>
</file>

<file path=ppt/theme/theme1.xml><?xml version="1.0" encoding="utf-8"?>
<a:theme xmlns:a="http://schemas.openxmlformats.org/drawingml/2006/main" name="psh3_Print">
  <a:themeElements>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sh3_Print 1">
        <a:dk1>
          <a:srgbClr val="5F5F5F"/>
        </a:dk1>
        <a:lt1>
          <a:srgbClr val="FFFFFF"/>
        </a:lt1>
        <a:dk2>
          <a:srgbClr val="000000"/>
        </a:dk2>
        <a:lt2>
          <a:srgbClr val="DDDDDD"/>
        </a:lt2>
        <a:accent1>
          <a:srgbClr val="C0C0C0"/>
        </a:accent1>
        <a:accent2>
          <a:srgbClr val="EAEAEA"/>
        </a:accent2>
        <a:accent3>
          <a:srgbClr val="FFFFFF"/>
        </a:accent3>
        <a:accent4>
          <a:srgbClr val="505050"/>
        </a:accent4>
        <a:accent5>
          <a:srgbClr val="DCDCDC"/>
        </a:accent5>
        <a:accent6>
          <a:srgbClr val="D4D4D4"/>
        </a:accent6>
        <a:hlink>
          <a:srgbClr val="4D4D4D"/>
        </a:hlink>
        <a:folHlink>
          <a:srgbClr val="B2B2B2"/>
        </a:folHlink>
      </a:clrScheme>
      <a:clrMap bg1="lt1" tx1="dk1" bg2="lt2" tx2="dk2" accent1="accent1" accent2="accent2" accent3="accent3" accent4="accent4" accent5="accent5" accent6="accent6" hlink="hlink" folHlink="folHlink"/>
    </a:extraClrScheme>
    <a:extraClrScheme>
      <a:clrScheme name="psh3_Print 2">
        <a:dk1>
          <a:srgbClr val="000000"/>
        </a:dk1>
        <a:lt1>
          <a:srgbClr val="FFFFFF"/>
        </a:lt1>
        <a:dk2>
          <a:srgbClr val="003366"/>
        </a:dk2>
        <a:lt2>
          <a:srgbClr val="CCCCCC"/>
        </a:lt2>
        <a:accent1>
          <a:srgbClr val="C0C9F6"/>
        </a:accent1>
        <a:accent2>
          <a:srgbClr val="A1B67A"/>
        </a:accent2>
        <a:accent3>
          <a:srgbClr val="FFFFFF"/>
        </a:accent3>
        <a:accent4>
          <a:srgbClr val="000000"/>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
      <a:clrScheme name="psh3_Print 3">
        <a:dk1>
          <a:srgbClr val="384868"/>
        </a:dk1>
        <a:lt1>
          <a:srgbClr val="FFFFFF"/>
        </a:lt1>
        <a:dk2>
          <a:srgbClr val="000000"/>
        </a:dk2>
        <a:lt2>
          <a:srgbClr val="CCCCCC"/>
        </a:lt2>
        <a:accent1>
          <a:srgbClr val="C0C9F6"/>
        </a:accent1>
        <a:accent2>
          <a:srgbClr val="A1B67A"/>
        </a:accent2>
        <a:accent3>
          <a:srgbClr val="FFFFFF"/>
        </a:accent3>
        <a:accent4>
          <a:srgbClr val="2E3C58"/>
        </a:accent4>
        <a:accent5>
          <a:srgbClr val="DCE1FA"/>
        </a:accent5>
        <a:accent6>
          <a:srgbClr val="91A56E"/>
        </a:accent6>
        <a:hlink>
          <a:srgbClr val="789ED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微软雅黑"/>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psh3_Print</Template>
  <TotalTime>0</TotalTime>
  <Words>7188</Words>
  <Application>Microsoft Office PowerPoint</Application>
  <PresentationFormat>宽屏</PresentationFormat>
  <Paragraphs>2345</Paragraphs>
  <Slides>73</Slides>
  <Notes>19</Notes>
  <HiddenSlides>0</HiddenSlides>
  <MMClips>0</MMClips>
  <ScaleCrop>false</ScaleCrop>
  <HeadingPairs>
    <vt:vector size="8" baseType="variant">
      <vt:variant>
        <vt:lpstr>已用的字体</vt:lpstr>
      </vt:variant>
      <vt:variant>
        <vt:i4>17</vt:i4>
      </vt:variant>
      <vt:variant>
        <vt:lpstr>主题</vt:lpstr>
      </vt:variant>
      <vt:variant>
        <vt:i4>4</vt:i4>
      </vt:variant>
      <vt:variant>
        <vt:lpstr>嵌入 OLE 服务器</vt:lpstr>
      </vt:variant>
      <vt:variant>
        <vt:i4>1</vt:i4>
      </vt:variant>
      <vt:variant>
        <vt:lpstr>幻灯片标题</vt:lpstr>
      </vt:variant>
      <vt:variant>
        <vt:i4>73</vt:i4>
      </vt:variant>
    </vt:vector>
  </HeadingPairs>
  <TitlesOfParts>
    <vt:vector size="95" baseType="lpstr">
      <vt:lpstr>ArialNova</vt:lpstr>
      <vt:lpstr>굴림</vt:lpstr>
      <vt:lpstr>MS PGothic</vt:lpstr>
      <vt:lpstr>等线</vt:lpstr>
      <vt:lpstr>等线 Light</vt:lpstr>
      <vt:lpstr>楷体_GB2312</vt:lpstr>
      <vt:lpstr>喵呜黑体</vt:lpstr>
      <vt:lpstr>宋体</vt:lpstr>
      <vt:lpstr>微软雅黑</vt:lpstr>
      <vt:lpstr>张海山锐谐体2.0-授权联系：Samtype@QQ.com</vt:lpstr>
      <vt:lpstr>Arial</vt:lpstr>
      <vt:lpstr>Calibri</vt:lpstr>
      <vt:lpstr>Comic Sans MS</vt:lpstr>
      <vt:lpstr>Tahoma</vt:lpstr>
      <vt:lpstr>Times New Roman</vt:lpstr>
      <vt:lpstr>Verdana</vt:lpstr>
      <vt:lpstr>Wingdings</vt:lpstr>
      <vt:lpstr>psh3_Print</vt:lpstr>
      <vt:lpstr>自定义设计方案</vt:lpstr>
      <vt:lpstr>1_自定义设计方案</vt:lpstr>
      <vt:lpstr>Office 主题​​</vt:lpstr>
      <vt:lpstr>VISIO</vt:lpstr>
      <vt:lpstr>操作系统</vt:lpstr>
      <vt:lpstr>章节4：内存管理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for your time! Questions &amp; Answers</vt:lpstr>
      <vt:lpstr>前情提要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2023-10-09T05:17:59Z</dcterms:created>
  <dcterms:modified xsi:type="dcterms:W3CDTF">2025-09-30T04:22:27Z</dcterms:modified>
</cp:coreProperties>
</file>