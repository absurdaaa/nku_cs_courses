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56" r:id="rId1"/>
    <p:sldMasterId id="2147484060" r:id="rId2"/>
  </p:sldMasterIdLst>
  <p:notesMasterIdLst>
    <p:notesMasterId r:id="rId27"/>
  </p:notesMasterIdLst>
  <p:handoutMasterIdLst>
    <p:handoutMasterId r:id="rId28"/>
  </p:handoutMasterIdLst>
  <p:sldIdLst>
    <p:sldId id="2686" r:id="rId3"/>
    <p:sldId id="1962" r:id="rId4"/>
    <p:sldId id="599" r:id="rId5"/>
    <p:sldId id="586" r:id="rId6"/>
    <p:sldId id="520" r:id="rId7"/>
    <p:sldId id="2687" r:id="rId8"/>
    <p:sldId id="580" r:id="rId9"/>
    <p:sldId id="323" r:id="rId10"/>
    <p:sldId id="2688" r:id="rId11"/>
    <p:sldId id="590" r:id="rId12"/>
    <p:sldId id="483" r:id="rId13"/>
    <p:sldId id="486" r:id="rId14"/>
    <p:sldId id="491" r:id="rId15"/>
    <p:sldId id="492" r:id="rId16"/>
    <p:sldId id="488" r:id="rId17"/>
    <p:sldId id="1963" r:id="rId18"/>
    <p:sldId id="592" r:id="rId19"/>
    <p:sldId id="489" r:id="rId20"/>
    <p:sldId id="490" r:id="rId21"/>
    <p:sldId id="587" r:id="rId22"/>
    <p:sldId id="482" r:id="rId23"/>
    <p:sldId id="484" r:id="rId24"/>
    <p:sldId id="485" r:id="rId25"/>
    <p:sldId id="281" r:id="rId26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66"/>
    <a:srgbClr val="CCECFF"/>
    <a:srgbClr val="FFFFCC"/>
    <a:srgbClr val="F5ED53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047" autoAdjust="0"/>
  </p:normalViewPr>
  <p:slideViewPr>
    <p:cSldViewPr>
      <p:cViewPr varScale="1">
        <p:scale>
          <a:sx n="100" d="100"/>
          <a:sy n="100" d="100"/>
        </p:scale>
        <p:origin x="1210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23184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3" d="100"/>
          <a:sy n="83" d="100"/>
        </p:scale>
        <p:origin x="-2040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SzTx/>
              <a:buFontTx/>
              <a:buNone/>
              <a:defRPr sz="12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SzTx/>
              <a:buFontTx/>
              <a:buNone/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9457CEA3-D415-471E-9917-F75453898254}" type="datetimeFigureOut">
              <a:rPr lang="zh-CN" altLang="en-US"/>
              <a:pPr>
                <a:defRPr/>
              </a:pPr>
              <a:t>2025/12/5</a:t>
            </a:fld>
            <a:endParaRPr lang="en-US" altLang="zh-CN"/>
          </a:p>
        </p:txBody>
      </p:sp>
      <p:sp>
        <p:nvSpPr>
          <p:cNvPr id="440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SzTx/>
              <a:buFontTx/>
              <a:buNone/>
              <a:defRPr sz="12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40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SzTx/>
              <a:buFontTx/>
              <a:buNone/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95748598-ED36-4133-8F70-D25A978D348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SzTx/>
              <a:buFontTx/>
              <a:buNone/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SzTx/>
              <a:buFontTx/>
              <a:buNone/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409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SzTx/>
              <a:buFontTx/>
              <a:buNone/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9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SzTx/>
              <a:buFontTx/>
              <a:buNone/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B252069-ED7E-40C5-9A2D-F505E66951F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charset="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63457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06982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标题幻灯片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2"/>
          <p:cNvSpPr>
            <a:spLocks noChangeArrowheads="1"/>
          </p:cNvSpPr>
          <p:nvPr/>
        </p:nvSpPr>
        <p:spPr bwMode="ltGray">
          <a:xfrm>
            <a:off x="1102784" y="1196975"/>
            <a:ext cx="11074400" cy="914400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•"/>
              <a:defRPr kumimoji="1"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•"/>
              <a:defRPr kumimoji="1"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•"/>
              <a:defRPr kumimoji="1"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•"/>
              <a:defRPr kumimoji="1"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endParaRPr kumimoji="0" lang="zh-CN" altLang="en-US" sz="1800">
              <a:latin typeface="Times New Roman" panose="02020603050405020304" pitchFamily="18" charset="0"/>
            </a:endParaRPr>
          </a:p>
        </p:txBody>
      </p:sp>
      <p:pic>
        <p:nvPicPr>
          <p:cNvPr id="5" name="Picture 31" descr="psh3_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ltGray">
          <a:xfrm>
            <a:off x="0" y="0"/>
            <a:ext cx="1143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33" name="Rectangle 21"/>
          <p:cNvSpPr>
            <a:spLocks noGrp="1" noChangeArrowheads="1"/>
          </p:cNvSpPr>
          <p:nvPr>
            <p:ph type="ctrTitle" sz="quarter"/>
          </p:nvPr>
        </p:nvSpPr>
        <p:spPr bwMode="white">
          <a:xfrm>
            <a:off x="1295400" y="1125539"/>
            <a:ext cx="10752667" cy="1081087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chemeClr val="bg2"/>
                </a:solidFill>
              </a:defRPr>
            </a:lvl1pPr>
          </a:lstStyle>
          <a:p>
            <a:r>
              <a:rPr lang="ko-KR" altLang="en-US"/>
              <a:t>单击此处编辑母版标题样式</a:t>
            </a:r>
          </a:p>
        </p:txBody>
      </p:sp>
      <p:sp>
        <p:nvSpPr>
          <p:cNvPr id="13334" name="Rectangle 2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295400" y="3810000"/>
            <a:ext cx="10752667" cy="5334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itchFamily="2" charset="2"/>
              <a:buNone/>
              <a:defRPr sz="2400" i="1">
                <a:solidFill>
                  <a:schemeClr val="tx1"/>
                </a:solidFill>
                <a:latin typeface="Arial" charset="0"/>
              </a:defRPr>
            </a:lvl1pPr>
          </a:lstStyle>
          <a:p>
            <a:r>
              <a:rPr lang="ko-KR" altLang="en-US"/>
              <a:t>单击此处编辑母版副标题样式</a:t>
            </a:r>
          </a:p>
        </p:txBody>
      </p:sp>
      <p:sp>
        <p:nvSpPr>
          <p:cNvPr id="6" name="Rectangle 23"/>
          <p:cNvSpPr>
            <a:spLocks noGrp="1" noChangeArrowheads="1"/>
          </p:cNvSpPr>
          <p:nvPr>
            <p:ph type="dt" sz="quarter" idx="10"/>
          </p:nvPr>
        </p:nvSpPr>
        <p:spPr>
          <a:xfrm>
            <a:off x="609600" y="6553200"/>
            <a:ext cx="2844800" cy="152400"/>
          </a:xfrm>
          <a:prstGeom prst="rect">
            <a:avLst/>
          </a:prstGeom>
        </p:spPr>
        <p:txBody>
          <a:bodyPr/>
          <a:lstStyle>
            <a:lvl1pPr>
              <a:defRPr sz="14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굴림" pitchFamily="50" charset="-127"/>
                <a:cs typeface="+mn-cs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553200"/>
            <a:ext cx="3860800" cy="152400"/>
          </a:xfrm>
          <a:prstGeom prst="rect">
            <a:avLst/>
          </a:prstGeom>
        </p:spPr>
        <p:txBody>
          <a:bodyPr/>
          <a:lstStyle>
            <a:lvl1pPr algn="ctr">
              <a:defRPr sz="14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굴림" pitchFamily="50" charset="-127"/>
                <a:cs typeface="+mn-cs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553200"/>
            <a:ext cx="2844800" cy="152400"/>
          </a:xfrm>
          <a:prstGeom prst="rect">
            <a:avLst/>
          </a:prstGeom>
        </p:spPr>
        <p:txBody>
          <a:bodyPr/>
          <a:lstStyle>
            <a:lvl1pPr algn="r">
              <a:defRPr sz="14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4E8D4E27-0B1C-44DA-B25B-8476CFE9F785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327669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5">
            <a:extLst>
              <a:ext uri="{FF2B5EF4-FFF2-40B4-BE49-F238E27FC236}">
                <a16:creationId xmlns:a16="http://schemas.microsoft.com/office/drawing/2014/main" id="{4158B206-D202-4F7F-4B44-E5AFE8719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25344"/>
            <a:ext cx="2743200" cy="326571"/>
          </a:xfrm>
          <a:prstGeom prst="rect">
            <a:avLst/>
          </a:prstGeom>
        </p:spPr>
        <p:txBody>
          <a:bodyPr anchor="ctr"/>
          <a:lstStyle>
            <a:lvl1pPr algn="r">
              <a:defRPr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‹#›</a:t>
            </a:fld>
            <a:endParaRPr lang="zh-CN" altLang="en-US" dirty="0"/>
          </a:p>
        </p:txBody>
      </p:sp>
      <p:sp>
        <p:nvSpPr>
          <p:cNvPr id="11" name="标题占位符 1">
            <a:extLst>
              <a:ext uri="{FF2B5EF4-FFF2-40B4-BE49-F238E27FC236}">
                <a16:creationId xmlns:a16="http://schemas.microsoft.com/office/drawing/2014/main" id="{8D0CE66A-84A6-A178-E76B-3C7B5CFDE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400" y="871855"/>
            <a:ext cx="10801200" cy="6804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3600" b="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2" name="文本占位符 2">
            <a:extLst>
              <a:ext uri="{FF2B5EF4-FFF2-40B4-BE49-F238E27FC236}">
                <a16:creationId xmlns:a16="http://schemas.microsoft.com/office/drawing/2014/main" id="{3C046D9E-0B39-3EE1-F033-9215EA5E29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99" y="1569767"/>
            <a:ext cx="108012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342900" lvl="0" indent="-342900" algn="l" defTabSz="9144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80000"/>
              <a:buFont typeface="Wingdings" panose="05000000000000000000" pitchFamily="2" charset="2"/>
              <a:buChar char="¢"/>
            </a:pPr>
            <a:r>
              <a:rPr lang="zh-CN" altLang="en-US" dirty="0"/>
              <a:t>单击此处编辑母版文本样式</a:t>
            </a:r>
          </a:p>
          <a:p>
            <a:pPr marL="742950" lvl="1" indent="-285750" algn="l" defTabSz="9144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C9F6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2A63BE9-39C1-1A2A-95EC-9175003A958C}"/>
              </a:ext>
            </a:extLst>
          </p:cNvPr>
          <p:cNvSpPr txBox="1"/>
          <p:nvPr userDrawn="1"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7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：设备管理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6090A1B2-EC06-14BF-62DA-4EBF3B252E77}"/>
              </a:ext>
            </a:extLst>
          </p:cNvPr>
          <p:cNvGrpSpPr/>
          <p:nvPr userDrawn="1"/>
        </p:nvGrpSpPr>
        <p:grpSpPr>
          <a:xfrm>
            <a:off x="0" y="980758"/>
            <a:ext cx="633730" cy="406400"/>
            <a:chOff x="56" y="2009"/>
            <a:chExt cx="998" cy="640"/>
          </a:xfrm>
        </p:grpSpPr>
        <p:sp>
          <p:nvSpPr>
            <p:cNvPr id="15" name="任意多边形: 形状 7">
              <a:extLst>
                <a:ext uri="{FF2B5EF4-FFF2-40B4-BE49-F238E27FC236}">
                  <a16:creationId xmlns:a16="http://schemas.microsoft.com/office/drawing/2014/main" id="{FE9CDE0D-4031-F634-7E80-8B47FC19326A}"/>
                </a:ext>
              </a:extLst>
            </p:cNvPr>
            <p:cNvSpPr/>
            <p:nvPr/>
          </p:nvSpPr>
          <p:spPr>
            <a:xfrm>
              <a:off x="56" y="2009"/>
              <a:ext cx="999" cy="641"/>
            </a:xfrm>
            <a:custGeom>
              <a:avLst/>
              <a:gdLst>
                <a:gd name="connsiteX0" fmla="*/ 0 w 999"/>
                <a:gd name="connsiteY0" fmla="*/ 2 h 641"/>
                <a:gd name="connsiteX1" fmla="*/ 761 w 999"/>
                <a:gd name="connsiteY1" fmla="*/ 0 h 641"/>
                <a:gd name="connsiteX2" fmla="*/ 999 w 999"/>
                <a:gd name="connsiteY2" fmla="*/ 321 h 641"/>
                <a:gd name="connsiteX3" fmla="*/ 750 w 999"/>
                <a:gd name="connsiteY3" fmla="*/ 641 h 641"/>
                <a:gd name="connsiteX4" fmla="*/ 0 w 999"/>
                <a:gd name="connsiteY4" fmla="*/ 639 h 641"/>
                <a:gd name="connsiteX5" fmla="*/ 0 w 999"/>
                <a:gd name="connsiteY5" fmla="*/ 2 h 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9" h="641">
                  <a:moveTo>
                    <a:pt x="0" y="2"/>
                  </a:moveTo>
                  <a:lnTo>
                    <a:pt x="761" y="0"/>
                  </a:lnTo>
                  <a:cubicBezTo>
                    <a:pt x="864" y="0"/>
                    <a:pt x="999" y="145"/>
                    <a:pt x="999" y="321"/>
                  </a:cubicBezTo>
                  <a:cubicBezTo>
                    <a:pt x="999" y="496"/>
                    <a:pt x="853" y="641"/>
                    <a:pt x="750" y="641"/>
                  </a:cubicBezTo>
                  <a:lnTo>
                    <a:pt x="0" y="639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7123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 anchorCtr="0">
              <a:noAutofit/>
            </a:bodyPr>
            <a:lstStyle/>
            <a:p>
              <a:pPr algn="ctr"/>
              <a:endParaRPr lang="zh-CN" altLang="en-US" dirty="0">
                <a:latin typeface="喵呜黑体" panose="02000503000000000000" charset="-122"/>
                <a:ea typeface="喵呜黑体" panose="02000503000000000000" charset="-122"/>
              </a:endParaRPr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9F53BF12-67B6-989B-753B-FF81BDB33874}"/>
                </a:ext>
              </a:extLst>
            </p:cNvPr>
            <p:cNvSpPr/>
            <p:nvPr/>
          </p:nvSpPr>
          <p:spPr>
            <a:xfrm>
              <a:off x="488" y="2111"/>
              <a:ext cx="437" cy="43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endParaRPr lang="zh-CN" altLang="en-US" dirty="0">
                <a:latin typeface="喵呜黑体" panose="02000503000000000000" charset="-122"/>
                <a:ea typeface="喵呜黑体" panose="02000503000000000000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92583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p">
        <p:tmplLst>
          <p:tmpl lvl="1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14" presetClass="entr" presetSubtype="1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4" presetClass="entr" presetSubtype="1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4" presetClass="entr" presetSubtype="1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4" presetClass="entr" presetSubtype="1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4158B206-D202-4F7F-4B44-E5AFE87190E1}"/>
              </a:ext>
            </a:extLst>
          </p:cNvPr>
          <p:cNvSpPr>
            <a:spLocks noGrp="1"/>
          </p:cNvSpPr>
          <p:nvPr userDrawn="1"/>
        </p:nvSpPr>
        <p:spPr>
          <a:xfrm>
            <a:off x="9448800" y="6528386"/>
            <a:ext cx="2743200" cy="326571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r"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>
                <a:solidFill>
                  <a:schemeClr val="bg1"/>
                </a:solidFill>
              </a:rPr>
              <a:pPr algn="r">
                <a:buFont typeface="Wingdings" panose="05000000000000000000" pitchFamily="2" charset="2"/>
                <a:buNone/>
              </a:pPr>
              <a:t>‹#›</a:t>
            </a:fld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0" name="文本框 12">
            <a:extLst>
              <a:ext uri="{FF2B5EF4-FFF2-40B4-BE49-F238E27FC236}">
                <a16:creationId xmlns:a16="http://schemas.microsoft.com/office/drawing/2014/main" id="{92A63BE9-39C1-1A2A-95EC-9175003A958C}"/>
              </a:ext>
            </a:extLst>
          </p:cNvPr>
          <p:cNvSpPr txBox="1"/>
          <p:nvPr userDrawn="1"/>
        </p:nvSpPr>
        <p:spPr>
          <a:xfrm>
            <a:off x="152400" y="3042"/>
            <a:ext cx="6095365" cy="70548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7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：设备管理</a:t>
            </a:r>
          </a:p>
        </p:txBody>
      </p:sp>
      <p:sp>
        <p:nvSpPr>
          <p:cNvPr id="14" name="标题占位符 1">
            <a:extLst>
              <a:ext uri="{FF2B5EF4-FFF2-40B4-BE49-F238E27FC236}">
                <a16:creationId xmlns:a16="http://schemas.microsoft.com/office/drawing/2014/main" id="{8E88FAF1-ED4A-AA32-CA3D-834BC6C10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400" y="871855"/>
            <a:ext cx="10801200" cy="6804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3600" b="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5" name="文本占位符 2">
            <a:extLst>
              <a:ext uri="{FF2B5EF4-FFF2-40B4-BE49-F238E27FC236}">
                <a16:creationId xmlns:a16="http://schemas.microsoft.com/office/drawing/2014/main" id="{6288EA30-C349-5A3B-6CAB-F51523242C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99" y="1569767"/>
            <a:ext cx="108012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342900" lvl="0" indent="-342900" algn="l" defTabSz="9144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80000"/>
              <a:buFont typeface="Wingdings" panose="05000000000000000000" pitchFamily="2" charset="2"/>
              <a:buChar char="¢"/>
            </a:pPr>
            <a:r>
              <a:rPr lang="zh-CN" altLang="en-US" dirty="0"/>
              <a:t>单击此处编辑母版文本样式</a:t>
            </a:r>
          </a:p>
          <a:p>
            <a:pPr marL="742950" lvl="1" indent="-285750" algn="l" defTabSz="9144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C9F6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960755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uiExpand="1" build="p">
        <p:tmplLst>
          <p:tmpl lvl="1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14" presetClass="entr" presetSubtype="1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4" presetClass="entr" presetSubtype="1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4" presetClass="entr" presetSubtype="1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4" presetClass="entr" presetSubtype="1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95401" y="304801"/>
            <a:ext cx="10369551" cy="8921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295400" y="1371600"/>
            <a:ext cx="5274733" cy="4953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773334" y="1371600"/>
            <a:ext cx="5274733" cy="4953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6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7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096534-9475-4839-9945-D054E4582B1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14671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8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9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E2F27D-8165-4537-9820-4AB3FB2D05F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08333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95401" y="304801"/>
            <a:ext cx="10369551" cy="8921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4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5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AA484A-9739-4B91-960C-46244B458FD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07652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3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4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32D7D7-8B4F-43E6-BE19-1B8B6565FE1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78732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6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7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F70B60-CA1D-4F1B-82C8-AC5C2A1D7EA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74241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6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7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88B728-9E59-47C8-8292-B6190F89EB2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80065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95401" y="304801"/>
            <a:ext cx="10369551" cy="8921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295400" y="1371600"/>
            <a:ext cx="10752667" cy="501015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5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6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BF1404-D7F2-472C-B446-7FD0F87921F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37371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359901" y="304800"/>
            <a:ext cx="2688167" cy="6019800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295401" y="304800"/>
            <a:ext cx="7861300" cy="60198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5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6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1478BB-1009-43FA-86B1-3E8D6938ED8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894262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95401" y="304801"/>
            <a:ext cx="10369551" cy="8921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295400" y="1371600"/>
            <a:ext cx="5274733" cy="4953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773334" y="1371600"/>
            <a:ext cx="5274733" cy="4953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6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7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6B5516-FA4A-416E-A0F4-B17840EAF82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691634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userDrawn="1">
  <p:cSld name="1_标题幻灯片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EEC4110-0674-257C-1C16-B9DF709C7896}"/>
              </a:ext>
            </a:extLst>
          </p:cNvPr>
          <p:cNvSpPr/>
          <p:nvPr userDrawn="1"/>
        </p:nvSpPr>
        <p:spPr>
          <a:xfrm>
            <a:off x="0" y="6538324"/>
            <a:ext cx="12192000" cy="324646"/>
          </a:xfrm>
          <a:prstGeom prst="rect">
            <a:avLst/>
          </a:prstGeom>
          <a:solidFill>
            <a:srgbClr val="71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12355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EFE5488-1327-9634-2B4F-D2EC75B0B6F7}"/>
              </a:ext>
            </a:extLst>
          </p:cNvPr>
          <p:cNvSpPr/>
          <p:nvPr userDrawn="1"/>
        </p:nvSpPr>
        <p:spPr>
          <a:xfrm>
            <a:off x="-26035" y="-635"/>
            <a:ext cx="12217400" cy="688975"/>
          </a:xfrm>
          <a:prstGeom prst="rect">
            <a:avLst/>
          </a:prstGeom>
          <a:solidFill>
            <a:srgbClr val="71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12355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26BA471-FAD1-4D5A-A57C-D1E2C9FCFA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0416" y="15367"/>
            <a:ext cx="3238500" cy="71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6836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>
            <a:off x="0" y="6538324"/>
            <a:ext cx="12192000" cy="324646"/>
          </a:xfrm>
          <a:prstGeom prst="rect">
            <a:avLst/>
          </a:prstGeom>
          <a:solidFill>
            <a:srgbClr val="71235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12355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538595"/>
            <a:ext cx="2743200" cy="31623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F013260-E2F6-48C8-BC23-506F661997E7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538595"/>
            <a:ext cx="4114800" cy="31623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538595"/>
            <a:ext cx="2743200" cy="31623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E68AD4E-5105-4F1B-8C66-A07DA4A3314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7884160" y="57791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-26035" y="-635"/>
            <a:ext cx="12217400" cy="688975"/>
          </a:xfrm>
          <a:prstGeom prst="rect">
            <a:avLst/>
          </a:prstGeom>
          <a:solidFill>
            <a:srgbClr val="71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12355"/>
              </a:solidFill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A988A0CF-08D8-447A-8BF3-EEA532954A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4432" y="-20935"/>
            <a:ext cx="3131418" cy="690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5581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3260-E2F6-48C8-BC23-506F661997E7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8AD4E-5105-4F1B-8C66-A07DA4A33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41532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3260-E2F6-48C8-BC23-506F661997E7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8AD4E-5105-4F1B-8C66-A07DA4A33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22741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3260-E2F6-48C8-BC23-506F661997E7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8AD4E-5105-4F1B-8C66-A07DA4A33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06239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3260-E2F6-48C8-BC23-506F661997E7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8AD4E-5105-4F1B-8C66-A07DA4A33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55087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3260-E2F6-48C8-BC23-506F661997E7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8AD4E-5105-4F1B-8C66-A07DA4A33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183788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3260-E2F6-48C8-BC23-506F661997E7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8AD4E-5105-4F1B-8C66-A07DA4A33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13440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3260-E2F6-48C8-BC23-506F661997E7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8AD4E-5105-4F1B-8C66-A07DA4A33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0212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3260-E2F6-48C8-BC23-506F661997E7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8AD4E-5105-4F1B-8C66-A07DA4A33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12706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3260-E2F6-48C8-BC23-506F661997E7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8AD4E-5105-4F1B-8C66-A07DA4A33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303532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3260-E2F6-48C8-BC23-506F661997E7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8AD4E-5105-4F1B-8C66-A07DA4A33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3921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EEC4110-0674-257C-1C16-B9DF709C7896}"/>
              </a:ext>
            </a:extLst>
          </p:cNvPr>
          <p:cNvSpPr/>
          <p:nvPr userDrawn="1"/>
        </p:nvSpPr>
        <p:spPr>
          <a:xfrm>
            <a:off x="13017" y="6536157"/>
            <a:ext cx="12192000" cy="324646"/>
          </a:xfrm>
          <a:prstGeom prst="rect">
            <a:avLst/>
          </a:prstGeom>
          <a:solidFill>
            <a:srgbClr val="71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•"/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•"/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•"/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•"/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•"/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rgbClr val="712355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EFE5488-1327-9634-2B4F-D2EC75B0B6F7}"/>
              </a:ext>
            </a:extLst>
          </p:cNvPr>
          <p:cNvSpPr/>
          <p:nvPr userDrawn="1"/>
        </p:nvSpPr>
        <p:spPr>
          <a:xfrm>
            <a:off x="-13018" y="-2802"/>
            <a:ext cx="12217400" cy="688975"/>
          </a:xfrm>
          <a:prstGeom prst="rect">
            <a:avLst/>
          </a:prstGeom>
          <a:solidFill>
            <a:srgbClr val="71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•"/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•"/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•"/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•"/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•"/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rgbClr val="712355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F63BD98-72E9-4E9A-9EB7-30181D6F4153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0416" y="15367"/>
            <a:ext cx="3238500" cy="714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8" r:id="rId1"/>
    <p:sldLayoutId id="2147484047" r:id="rId2"/>
    <p:sldLayoutId id="2147484048" r:id="rId3"/>
    <p:sldLayoutId id="2147484049" r:id="rId4"/>
    <p:sldLayoutId id="2147484050" r:id="rId5"/>
    <p:sldLayoutId id="2147484051" r:id="rId6"/>
    <p:sldLayoutId id="2147484052" r:id="rId7"/>
    <p:sldLayoutId id="2147484053" r:id="rId8"/>
    <p:sldLayoutId id="2147484054" r:id="rId9"/>
    <p:sldLayoutId id="2147484055" r:id="rId10"/>
    <p:sldLayoutId id="2147484056" r:id="rId11"/>
    <p:sldLayoutId id="2147484057" r:id="rId12"/>
    <p:sldLayoutId id="2147484059" r:id="rId13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+mj-lt"/>
          <a:ea typeface="宋体" charset="0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  <a:ea typeface="宋体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  <a:ea typeface="宋体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  <a:ea typeface="宋体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  <a:ea typeface="宋体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0000"/>
        <a:buFont typeface="Wingdings" panose="05000000000000000000" pitchFamily="2" charset="2"/>
        <a:buChar char="¢"/>
        <a:defRPr kumimoji="1" sz="2800">
          <a:solidFill>
            <a:schemeClr val="tx2"/>
          </a:solidFill>
          <a:latin typeface="+mn-lt"/>
          <a:ea typeface="宋体" charset="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l"/>
        <a:defRPr kumimoji="1" sz="2400">
          <a:solidFill>
            <a:schemeClr val="tx1"/>
          </a:solidFill>
          <a:latin typeface="+mn-lt"/>
          <a:ea typeface="宋体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anose="05000000000000000000" pitchFamily="2" charset="2"/>
        <a:buChar char="l"/>
        <a:defRPr kumimoji="1" sz="2400">
          <a:solidFill>
            <a:schemeClr val="tx1"/>
          </a:solidFill>
          <a:latin typeface="+mn-lt"/>
          <a:ea typeface="宋体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宋体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宋体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013260-E2F6-48C8-BC23-506F661997E7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68AD4E-5105-4F1B-8C66-A07DA4A33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0203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61" r:id="rId1"/>
    <p:sldLayoutId id="2147484062" r:id="rId2"/>
    <p:sldLayoutId id="2147484063" r:id="rId3"/>
    <p:sldLayoutId id="2147484064" r:id="rId4"/>
    <p:sldLayoutId id="2147484065" r:id="rId5"/>
    <p:sldLayoutId id="2147484066" r:id="rId6"/>
    <p:sldLayoutId id="2147484067" r:id="rId7"/>
    <p:sldLayoutId id="2147484068" r:id="rId8"/>
    <p:sldLayoutId id="2147484069" r:id="rId9"/>
    <p:sldLayoutId id="2147484070" r:id="rId10"/>
    <p:sldLayoutId id="21474840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8.e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000"/>
            <a:lum/>
          </a:blip>
          <a:srcRect/>
          <a:stretch>
            <a:fillRect l="22000" t="5000" r="22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2330450"/>
            <a:ext cx="12192000" cy="1192530"/>
          </a:xfrm>
        </p:spPr>
        <p:txBody>
          <a:bodyPr>
            <a:normAutofit/>
          </a:bodyPr>
          <a:lstStyle/>
          <a:p>
            <a:pPr algn="ctr"/>
            <a:r>
              <a:rPr lang="zh-CN" altLang="en-US" b="1" dirty="0">
                <a:solidFill>
                  <a:srgbClr val="7123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操作系统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991497" y="3880332"/>
            <a:ext cx="8607212" cy="192370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solidFill>
                  <a:srgbClr val="7123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宫晓利、蒲凌君、张久武、李浩然    </a:t>
            </a:r>
            <a:endParaRPr lang="en-US" altLang="zh-CN" sz="2400" b="1" dirty="0">
              <a:solidFill>
                <a:srgbClr val="7123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2400" b="1" dirty="0">
                <a:solidFill>
                  <a:srgbClr val="7123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gongxiaoli@nankai.edu.cn</a:t>
            </a:r>
            <a:r>
              <a:rPr lang="zh-CN" altLang="en-US" sz="2400" b="1" dirty="0">
                <a:solidFill>
                  <a:srgbClr val="7123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、pulingjun</a:t>
            </a:r>
            <a:r>
              <a:rPr lang="en-US" altLang="zh-CN" b="1" dirty="0">
                <a:solidFill>
                  <a:srgbClr val="7123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@nankai.edu.cn</a:t>
            </a:r>
            <a:r>
              <a:rPr lang="zh-CN" altLang="en-US" b="1" dirty="0">
                <a:solidFill>
                  <a:srgbClr val="7123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b="1" dirty="0">
                <a:solidFill>
                  <a:srgbClr val="7123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zhangjiuwu@nankai.edu.cn wanch_lhr@nankai.edu.cn</a:t>
            </a:r>
            <a:endParaRPr lang="zh-CN" altLang="en-US" sz="2400" b="1" dirty="0">
              <a:solidFill>
                <a:srgbClr val="7123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/>
            <a:r>
              <a:rPr lang="zh-CN" altLang="en-US" sz="2400" b="1" dirty="0">
                <a:solidFill>
                  <a:srgbClr val="7123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b="1" dirty="0">
                <a:solidFill>
                  <a:srgbClr val="7123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南开大学 计算机学院  密码与网络空间安全学院</a:t>
            </a:r>
            <a:endParaRPr lang="en-US" altLang="zh-CN" b="1" dirty="0">
              <a:solidFill>
                <a:srgbClr val="7123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/>
            <a:endParaRPr lang="zh-CN" altLang="en-US" sz="2400" b="1" dirty="0">
              <a:solidFill>
                <a:srgbClr val="7123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圆角矩形 6"/>
          <p:cNvSpPr/>
          <p:nvPr/>
        </p:nvSpPr>
        <p:spPr>
          <a:xfrm flipV="1">
            <a:off x="2133974" y="3701853"/>
            <a:ext cx="8322258" cy="45719"/>
          </a:xfrm>
          <a:prstGeom prst="roundRect">
            <a:avLst/>
          </a:prstGeom>
          <a:solidFill>
            <a:srgbClr val="71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398895" y="12338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189"/>
    </mc:Choice>
    <mc:Fallback xmlns="">
      <p:transition spd="slow" advTm="1518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4294967295"/>
          </p:nvPr>
        </p:nvSpPr>
        <p:spPr>
          <a:xfrm>
            <a:off x="0" y="2492826"/>
            <a:ext cx="12192000" cy="1192212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/>
            <a:r>
              <a:rPr lang="zh-CN" altLang="en-US" sz="6000" dirty="0">
                <a:solidFill>
                  <a:srgbClr val="7123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章节</a:t>
            </a:r>
            <a:r>
              <a:rPr lang="en-US" altLang="zh-CN" sz="6000" dirty="0">
                <a:solidFill>
                  <a:srgbClr val="7123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6000" dirty="0">
                <a:solidFill>
                  <a:srgbClr val="7123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：设备管理</a:t>
            </a:r>
            <a:endParaRPr lang="en-US" altLang="zh-CN" sz="6000" dirty="0">
              <a:solidFill>
                <a:srgbClr val="7123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圆角矩形 6"/>
          <p:cNvSpPr/>
          <p:nvPr/>
        </p:nvSpPr>
        <p:spPr>
          <a:xfrm flipV="1">
            <a:off x="2133974" y="3701853"/>
            <a:ext cx="8322258" cy="45719"/>
          </a:xfrm>
          <a:prstGeom prst="roundRect">
            <a:avLst/>
          </a:prstGeom>
          <a:solidFill>
            <a:srgbClr val="71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398895" y="12338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189"/>
    </mc:Choice>
    <mc:Fallback xmlns="">
      <p:transition spd="slow" advTm="15189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5C384C-1731-2F55-9FC8-C77DF84BF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前情提要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3F489B-EC66-4D97-61F1-D2FD4C5E9A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99" y="1569766"/>
            <a:ext cx="10801200" cy="4955577"/>
          </a:xfrm>
        </p:spPr>
        <p:txBody>
          <a:bodyPr>
            <a:normAutofit fontScale="85000" lnSpcReduction="20000"/>
          </a:bodyPr>
          <a:lstStyle/>
          <a:p>
            <a:pPr eaLnBrk="1" hangingPunct="1"/>
            <a:r>
              <a:rPr lang="zh-CN" altLang="en-US" dirty="0"/>
              <a:t>磁盘是性能的瓶颈，但也可以被优化，例如对磁盘的磁臂移动的调度，对磁盘的冗余设计等</a:t>
            </a:r>
            <a:endParaRPr lang="en-US" altLang="zh-CN" dirty="0"/>
          </a:p>
          <a:p>
            <a:pPr eaLnBrk="1" hangingPunct="1"/>
            <a:r>
              <a:rPr lang="zh-CN" altLang="en-US" dirty="0"/>
              <a:t>同为数据存储与分配，文件系统与内存系统有相似之处，但也有差异，其差异主要表现在</a:t>
            </a:r>
            <a:r>
              <a:rPr lang="zh-CN" altLang="en-US" dirty="0">
                <a:solidFill>
                  <a:srgbClr val="FF0000"/>
                </a:solidFill>
              </a:rPr>
              <a:t>速度差和持久性</a:t>
            </a:r>
            <a:endParaRPr lang="en-US" altLang="zh-CN" dirty="0">
              <a:solidFill>
                <a:srgbClr val="FF0000"/>
              </a:solidFill>
            </a:endParaRPr>
          </a:p>
          <a:p>
            <a:pPr eaLnBrk="1" hangingPunct="1"/>
            <a:r>
              <a:rPr lang="zh-CN" altLang="en-US" dirty="0"/>
              <a:t>为了应对速度差的问题，文件格式会有一定的优化，比如</a:t>
            </a:r>
            <a:r>
              <a:rPr lang="en-US" altLang="zh-CN" dirty="0"/>
              <a:t>ELF</a:t>
            </a:r>
            <a:r>
              <a:rPr lang="zh-CN" altLang="en-US" dirty="0"/>
              <a:t>与页对齐，视频将播放时间与磁盘方向对齐等。但终于会存在无法匹配的情况，那时只能跳过</a:t>
            </a:r>
            <a:r>
              <a:rPr lang="en-US" altLang="zh-CN" dirty="0"/>
              <a:t>OS</a:t>
            </a:r>
            <a:r>
              <a:rPr lang="zh-CN" altLang="en-US" dirty="0"/>
              <a:t>的缓存机制</a:t>
            </a:r>
            <a:endParaRPr lang="en-US" altLang="zh-CN" dirty="0"/>
          </a:p>
          <a:p>
            <a:pPr eaLnBrk="1" hangingPunct="1"/>
            <a:r>
              <a:rPr lang="en-US" altLang="zh-CN" dirty="0"/>
              <a:t>ELF</a:t>
            </a:r>
            <a:r>
              <a:rPr lang="zh-CN" altLang="en-US" dirty="0"/>
              <a:t>为了解决有效加载的问题，操作系统提供了</a:t>
            </a:r>
            <a:r>
              <a:rPr lang="en-US" altLang="zh-CN" dirty="0" err="1"/>
              <a:t>mmap</a:t>
            </a:r>
            <a:r>
              <a:rPr lang="zh-CN" altLang="en-US" dirty="0"/>
              <a:t>机制，实现了按需加载，也补全了</a:t>
            </a:r>
            <a:r>
              <a:rPr lang="en-US" altLang="zh-CN" dirty="0"/>
              <a:t>OS</a:t>
            </a:r>
            <a:r>
              <a:rPr lang="zh-CN" altLang="en-US"/>
              <a:t>中缺页的全流程</a:t>
            </a:r>
            <a:endParaRPr lang="en-US" altLang="zh-CN" dirty="0"/>
          </a:p>
          <a:p>
            <a:pPr eaLnBrk="1" hangingPunct="1"/>
            <a:r>
              <a:rPr lang="zh-CN" altLang="en-US" dirty="0"/>
              <a:t>持久性使得程序失去了借助复位以快速修复软件错误的可能性，因此必须要做</a:t>
            </a:r>
            <a:r>
              <a:rPr lang="zh-CN" altLang="en-US" dirty="0">
                <a:solidFill>
                  <a:srgbClr val="FF0000"/>
                </a:solidFill>
              </a:rPr>
              <a:t>容错性</a:t>
            </a:r>
            <a:r>
              <a:rPr lang="zh-CN" altLang="en-US" dirty="0"/>
              <a:t>设计，例如双份的空间分配表等</a:t>
            </a:r>
            <a:endParaRPr lang="en-US" altLang="zh-CN" dirty="0"/>
          </a:p>
          <a:p>
            <a:pPr eaLnBrk="1" hangingPunct="1"/>
            <a:r>
              <a:rPr lang="zh-CN" altLang="en-US" dirty="0"/>
              <a:t>因为文件系统的持久性，与各</a:t>
            </a:r>
            <a:r>
              <a:rPr lang="en-US" altLang="zh-CN" dirty="0"/>
              <a:t>OS</a:t>
            </a:r>
            <a:r>
              <a:rPr lang="zh-CN" altLang="en-US" dirty="0"/>
              <a:t>的商业化推进形成绑定，导致文件系统存在相似但确不兼容的接口。针对此，</a:t>
            </a:r>
            <a:r>
              <a:rPr lang="en-US" altLang="zh-CN" dirty="0"/>
              <a:t>Linux</a:t>
            </a:r>
            <a:r>
              <a:rPr lang="zh-CN" altLang="en-US" dirty="0"/>
              <a:t>系列</a:t>
            </a:r>
            <a:r>
              <a:rPr lang="en-US" altLang="zh-CN" dirty="0"/>
              <a:t>OS</a:t>
            </a:r>
            <a:r>
              <a:rPr lang="zh-CN" altLang="en-US" dirty="0"/>
              <a:t>使用</a:t>
            </a:r>
            <a:r>
              <a:rPr lang="zh-CN" altLang="en-US" dirty="0">
                <a:solidFill>
                  <a:srgbClr val="FF0000"/>
                </a:solidFill>
              </a:rPr>
              <a:t>软件工程</a:t>
            </a:r>
            <a:r>
              <a:rPr lang="zh-CN" altLang="en-US" dirty="0"/>
              <a:t>的思想，设计了</a:t>
            </a:r>
            <a:r>
              <a:rPr lang="zh-CN" altLang="en-US" dirty="0">
                <a:solidFill>
                  <a:srgbClr val="FF0000"/>
                </a:solidFill>
              </a:rPr>
              <a:t>虚拟文件系统</a:t>
            </a:r>
            <a:r>
              <a:rPr lang="en-US" altLang="zh-CN" dirty="0">
                <a:solidFill>
                  <a:srgbClr val="FF0000"/>
                </a:solidFill>
              </a:rPr>
              <a:t>VFS</a:t>
            </a:r>
            <a:r>
              <a:rPr lang="zh-CN" altLang="en-US" dirty="0"/>
              <a:t>，利用标准化的接口，合并相似代码，</a:t>
            </a:r>
            <a:r>
              <a:rPr lang="zh-CN" altLang="en-US" dirty="0">
                <a:solidFill>
                  <a:srgbClr val="FF0000"/>
                </a:solidFill>
              </a:rPr>
              <a:t>复用</a:t>
            </a:r>
            <a:r>
              <a:rPr lang="en-US" altLang="zh-CN" dirty="0">
                <a:solidFill>
                  <a:srgbClr val="FF0000"/>
                </a:solidFill>
              </a:rPr>
              <a:t>page cache</a:t>
            </a:r>
            <a:r>
              <a:rPr lang="zh-CN" altLang="en-US" dirty="0">
                <a:solidFill>
                  <a:srgbClr val="FF0000"/>
                </a:solidFill>
              </a:rPr>
              <a:t>，复用不存在缓存</a:t>
            </a:r>
            <a:r>
              <a:rPr lang="en-US" altLang="zh-CN" dirty="0">
                <a:solidFill>
                  <a:srgbClr val="FF0000"/>
                </a:solidFill>
              </a:rPr>
              <a:t>(negative cache)</a:t>
            </a:r>
            <a:r>
              <a:rPr lang="zh-CN" altLang="en-US" dirty="0"/>
              <a:t>等功能</a:t>
            </a:r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FBC1C8-0C32-1F9A-433E-7E77B1BF0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0AEABD7-52A8-44F6-9B05-734EF5F3E2F6}" type="slidenum">
              <a:rPr kumimoji="0" lang="en-US" altLang="ko-KR" sz="16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ko-KR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0807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54CE2A-A973-73CA-8409-EB4BACEF9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A0AEABD7-52A8-44F6-9B05-734EF5F3E2F6}" type="slidenum">
              <a:rPr lang="en-US" altLang="ko-KR" smtClean="0"/>
              <a:pPr>
                <a:defRPr/>
              </a:pPr>
              <a:t>4</a:t>
            </a:fld>
            <a:endParaRPr lang="en-US" altLang="ko-KR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37BE6A7-C0B0-585D-AEE3-D547D6598090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设备有什么特点？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C974E67-86EB-4C66-F957-A6994862FFB9}"/>
              </a:ext>
            </a:extLst>
          </p:cNvPr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rPr lang="zh-CN" altLang="en-US" dirty="0"/>
              <a:t>以鼠标、键盘、显示器为例</a:t>
            </a:r>
            <a:endParaRPr lang="en-US" altLang="zh-CN" dirty="0"/>
          </a:p>
          <a:p>
            <a:r>
              <a:rPr lang="zh-CN" altLang="en-US" dirty="0"/>
              <a:t>速度慢</a:t>
            </a:r>
            <a:endParaRPr lang="en-US" altLang="zh-CN" dirty="0"/>
          </a:p>
          <a:p>
            <a:r>
              <a:rPr lang="zh-CN" altLang="en-US" dirty="0"/>
              <a:t>不易共享</a:t>
            </a:r>
            <a:endParaRPr lang="en-US" altLang="zh-CN" dirty="0"/>
          </a:p>
          <a:p>
            <a:r>
              <a:rPr lang="zh-CN" altLang="en-US" dirty="0"/>
              <a:t>每类设备都有自己的工作逻辑</a:t>
            </a:r>
            <a:endParaRPr lang="en-US" altLang="zh-CN" dirty="0"/>
          </a:p>
          <a:p>
            <a:r>
              <a:rPr lang="zh-CN" altLang="en-US" dirty="0"/>
              <a:t>同一设备，由不同厂商生产，也会有一定的差别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应用程序需要为每一款设备调整吗？</a:t>
            </a:r>
            <a:endParaRPr lang="en-US" altLang="zh-CN" dirty="0"/>
          </a:p>
          <a:p>
            <a:r>
              <a:rPr lang="zh-CN" altLang="en-US" dirty="0"/>
              <a:t>应用程序需要知道其他人在使用设备吗？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163888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示例：电阻式触摸屏工作原理</a:t>
            </a:r>
          </a:p>
        </p:txBody>
      </p:sp>
      <p:pic>
        <p:nvPicPr>
          <p:cNvPr id="16388" name="Picture 5" descr="电阻屏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4516" y="1548234"/>
            <a:ext cx="4821483" cy="3456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 descr="https://gimg2.baidu.com/image_search/src=http%3A%2F%2Fwww.ck365.cn%2Ffile%2Fupload%2F201212%2F26%2F20%2Ftsh12n3emxf.jpg&amp;refer=http%3A%2F%2Fwww.ck365.cn&amp;app=2002&amp;size=f9999,10000&amp;q=a80&amp;n=0&amp;g=0n&amp;fmt=auto?sec=1671591080&amp;t=a6b021f7384b32f1a7a5e68f396aa6d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6080" y="2348880"/>
            <a:ext cx="4162425" cy="411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1594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示例：电容式触摸屏工作原理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329DEFC-7619-4ADC-ABE3-8223300EB7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3672" y="1988840"/>
            <a:ext cx="4904762" cy="36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5462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A0AEABD7-52A8-44F6-9B05-734EF5F3E2F6}" type="slidenum">
              <a:rPr lang="en-US" altLang="ko-KR" smtClean="0"/>
              <a:pPr>
                <a:defRPr/>
              </a:pPr>
              <a:t>7</a:t>
            </a:fld>
            <a:endParaRPr lang="en-US" altLang="ko-KR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示例：触摸屏与计算机连接示意</a:t>
            </a:r>
          </a:p>
        </p:txBody>
      </p:sp>
      <p:sp>
        <p:nvSpPr>
          <p:cNvPr id="20" name="内容占位符 19">
            <a:extLst>
              <a:ext uri="{FF2B5EF4-FFF2-40B4-BE49-F238E27FC236}">
                <a16:creationId xmlns:a16="http://schemas.microsoft.com/office/drawing/2014/main" id="{3D7A4FEB-D32C-AFEA-0F13-C2E1CCF618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4294967295"/>
          </p:nvPr>
        </p:nvSpPr>
        <p:spPr>
          <a:xfrm>
            <a:off x="0" y="6508750"/>
            <a:ext cx="3352800" cy="304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4294967295"/>
          </p:nvPr>
        </p:nvSpPr>
        <p:spPr>
          <a:xfrm>
            <a:off x="8331200" y="6508750"/>
            <a:ext cx="3860800" cy="304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7" name="平行四边形 6"/>
          <p:cNvSpPr/>
          <p:nvPr/>
        </p:nvSpPr>
        <p:spPr bwMode="auto">
          <a:xfrm>
            <a:off x="2639616" y="2708920"/>
            <a:ext cx="1656184" cy="720080"/>
          </a:xfrm>
          <a:prstGeom prst="parallelogram">
            <a:avLst>
              <a:gd name="adj" fmla="val 8617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latin typeface="Times New Roman" pitchFamily="18" charset="0"/>
            </a:endParaRPr>
          </a:p>
        </p:txBody>
      </p:sp>
      <p:sp>
        <p:nvSpPr>
          <p:cNvPr id="8" name="圆角矩形 7"/>
          <p:cNvSpPr/>
          <p:nvPr/>
        </p:nvSpPr>
        <p:spPr bwMode="auto">
          <a:xfrm>
            <a:off x="5807968" y="2816932"/>
            <a:ext cx="1152128" cy="504056"/>
          </a:xfrm>
          <a:prstGeom prst="roundRect">
            <a:avLst/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Times New Roman" pitchFamily="18" charset="0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8472264" y="1772816"/>
            <a:ext cx="1008112" cy="288032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altLang="zh-CN" dirty="0">
              <a:latin typeface="Times New Roman" pitchFamily="18" charset="0"/>
            </a:endParaRPr>
          </a:p>
          <a:p>
            <a:endParaRPr lang="en-US" altLang="zh-CN" dirty="0">
              <a:latin typeface="Times New Roman" pitchFamily="18" charset="0"/>
            </a:endParaRPr>
          </a:p>
          <a:p>
            <a:r>
              <a:rPr lang="zh-CN" altLang="en-US" dirty="0">
                <a:latin typeface="Times New Roman" pitchFamily="18" charset="0"/>
              </a:rPr>
              <a:t>计</a:t>
            </a:r>
            <a:endParaRPr lang="en-US" altLang="zh-CN" dirty="0">
              <a:latin typeface="Times New Roman" pitchFamily="18" charset="0"/>
            </a:endParaRPr>
          </a:p>
          <a:p>
            <a:r>
              <a:rPr lang="zh-CN" altLang="en-US" dirty="0">
                <a:latin typeface="Times New Roman" pitchFamily="18" charset="0"/>
              </a:rPr>
              <a:t>算</a:t>
            </a:r>
            <a:endParaRPr lang="en-US" altLang="zh-CN" dirty="0">
              <a:latin typeface="Times New Roman" pitchFamily="18" charset="0"/>
            </a:endParaRPr>
          </a:p>
          <a:p>
            <a:r>
              <a:rPr lang="zh-CN" altLang="en-US" dirty="0">
                <a:latin typeface="Times New Roman" pitchFamily="18" charset="0"/>
              </a:rPr>
              <a:t>机</a:t>
            </a:r>
            <a:endParaRPr lang="en-US" altLang="zh-CN" dirty="0">
              <a:latin typeface="Times New Roman" pitchFamily="18" charset="0"/>
            </a:endParaRPr>
          </a:p>
          <a:p>
            <a:r>
              <a:rPr lang="zh-CN" altLang="en-US" dirty="0">
                <a:latin typeface="Times New Roman" pitchFamily="18" charset="0"/>
              </a:rPr>
              <a:t>主</a:t>
            </a:r>
            <a:endParaRPr lang="en-US" altLang="zh-CN" dirty="0">
              <a:latin typeface="Times New Roman" pitchFamily="18" charset="0"/>
            </a:endParaRPr>
          </a:p>
          <a:p>
            <a:r>
              <a:rPr lang="zh-CN" altLang="en-US" dirty="0">
                <a:latin typeface="Times New Roman" pitchFamily="18" charset="0"/>
              </a:rPr>
              <a:t>机</a:t>
            </a:r>
          </a:p>
        </p:txBody>
      </p:sp>
      <p:sp>
        <p:nvSpPr>
          <p:cNvPr id="11" name="右箭头 10"/>
          <p:cNvSpPr/>
          <p:nvPr/>
        </p:nvSpPr>
        <p:spPr bwMode="auto">
          <a:xfrm>
            <a:off x="4367808" y="2924944"/>
            <a:ext cx="1224136" cy="36004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latin typeface="Times New Roman" pitchFamily="18" charset="0"/>
            </a:endParaRPr>
          </a:p>
        </p:txBody>
      </p:sp>
      <p:sp>
        <p:nvSpPr>
          <p:cNvPr id="12" name="矩形标注 11"/>
          <p:cNvSpPr/>
          <p:nvPr/>
        </p:nvSpPr>
        <p:spPr bwMode="auto">
          <a:xfrm>
            <a:off x="2638800" y="4365104"/>
            <a:ext cx="2448272" cy="1656184"/>
          </a:xfrm>
          <a:prstGeom prst="wedgeRectCallout">
            <a:avLst>
              <a:gd name="adj1" fmla="val 79579"/>
              <a:gd name="adj2" fmla="val -114388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zh-CN" altLang="en-US" dirty="0">
                <a:latin typeface="Times New Roman" pitchFamily="18" charset="0"/>
              </a:rPr>
              <a:t>设置</a:t>
            </a:r>
            <a:r>
              <a:rPr lang="en-US" altLang="zh-CN" dirty="0">
                <a:latin typeface="Times New Roman" pitchFamily="18" charset="0"/>
              </a:rPr>
              <a:t>X</a:t>
            </a:r>
            <a:r>
              <a:rPr lang="zh-CN" altLang="en-US" dirty="0">
                <a:latin typeface="Times New Roman" pitchFamily="18" charset="0"/>
              </a:rPr>
              <a:t>向标准电压</a:t>
            </a:r>
            <a:endParaRPr lang="en-US" altLang="zh-CN" dirty="0">
              <a:latin typeface="Times New Roman" pitchFamily="18" charset="0"/>
            </a:endParaRPr>
          </a:p>
          <a:p>
            <a:r>
              <a:rPr lang="zh-CN" altLang="en-US" dirty="0">
                <a:latin typeface="Times New Roman" pitchFamily="18" charset="0"/>
              </a:rPr>
              <a:t>采集</a:t>
            </a:r>
            <a:r>
              <a:rPr lang="en-US" altLang="zh-CN" dirty="0">
                <a:latin typeface="Times New Roman" pitchFamily="18" charset="0"/>
              </a:rPr>
              <a:t>X</a:t>
            </a:r>
            <a:r>
              <a:rPr lang="zh-CN" altLang="en-US" dirty="0">
                <a:latin typeface="Times New Roman" pitchFamily="18" charset="0"/>
              </a:rPr>
              <a:t>向的触点电压</a:t>
            </a:r>
            <a:endParaRPr lang="en-US" altLang="zh-CN" dirty="0">
              <a:latin typeface="Times New Roman" pitchFamily="18" charset="0"/>
            </a:endParaRPr>
          </a:p>
          <a:p>
            <a:r>
              <a:rPr lang="en-US" altLang="zh-CN" dirty="0">
                <a:latin typeface="Times New Roman" pitchFamily="18" charset="0"/>
              </a:rPr>
              <a:t>AD</a:t>
            </a:r>
            <a:r>
              <a:rPr lang="zh-CN" altLang="en-US" dirty="0">
                <a:latin typeface="Times New Roman" pitchFamily="18" charset="0"/>
              </a:rPr>
              <a:t>转换得到相对位置</a:t>
            </a:r>
            <a:endParaRPr lang="en-US" altLang="zh-CN" dirty="0">
              <a:latin typeface="Times New Roman" pitchFamily="18" charset="0"/>
            </a:endParaRPr>
          </a:p>
          <a:p>
            <a:r>
              <a:rPr lang="zh-CN" altLang="en-US" dirty="0">
                <a:latin typeface="Times New Roman" pitchFamily="18" charset="0"/>
              </a:rPr>
              <a:t>类似的处理</a:t>
            </a:r>
            <a:r>
              <a:rPr lang="en-US" altLang="zh-CN" dirty="0">
                <a:latin typeface="Times New Roman" pitchFamily="18" charset="0"/>
              </a:rPr>
              <a:t>Y</a:t>
            </a:r>
            <a:r>
              <a:rPr lang="zh-CN" altLang="en-US" dirty="0">
                <a:latin typeface="Times New Roman" pitchFamily="18" charset="0"/>
              </a:rPr>
              <a:t>向</a:t>
            </a:r>
            <a:endParaRPr lang="en-US" altLang="zh-CN" dirty="0">
              <a:latin typeface="Times New Roman" pitchFamily="18" charset="0"/>
            </a:endParaRPr>
          </a:p>
          <a:p>
            <a:r>
              <a:rPr lang="zh-CN" altLang="en-US" dirty="0">
                <a:latin typeface="Times New Roman" pitchFamily="18" charset="0"/>
              </a:rPr>
              <a:t>周而复始的循环</a:t>
            </a:r>
            <a:endParaRPr lang="en-US" altLang="zh-CN" dirty="0">
              <a:latin typeface="Times New Roman" pitchFamily="18" charset="0"/>
            </a:endParaRPr>
          </a:p>
          <a:p>
            <a:endParaRPr lang="zh-CN" altLang="en-US" dirty="0">
              <a:latin typeface="Times New Roman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704958" y="2360091"/>
            <a:ext cx="1687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Times New Roman" pitchFamily="18" charset="0"/>
              </a:rPr>
              <a:t>触摸屏控制器</a:t>
            </a:r>
          </a:p>
          <a:p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3315195" y="2339178"/>
            <a:ext cx="13040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Times New Roman" pitchFamily="18" charset="0"/>
              </a:rPr>
              <a:t>触摸屏</a:t>
            </a:r>
          </a:p>
          <a:p>
            <a:endParaRPr lang="zh-CN" altLang="en-US" dirty="0"/>
          </a:p>
        </p:txBody>
      </p:sp>
      <p:pic>
        <p:nvPicPr>
          <p:cNvPr id="92162" name="Picture 2" descr="https://ss3.bdstatic.com/70cFv8Sh_Q1YnxGkpoWK1HF6hhy/it/u=3491962817,177612736&amp;fm=26&amp;gp=0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1374" y="2835485"/>
            <a:ext cx="466951" cy="466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右箭头 15"/>
          <p:cNvSpPr/>
          <p:nvPr/>
        </p:nvSpPr>
        <p:spPr bwMode="auto">
          <a:xfrm>
            <a:off x="7103927" y="2916944"/>
            <a:ext cx="1224136" cy="36004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Times New Roman" pitchFamily="18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328965" y="3258696"/>
            <a:ext cx="11686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Times New Roman" pitchFamily="18" charset="0"/>
              </a:rPr>
              <a:t>专用电路连接</a:t>
            </a:r>
            <a:endParaRPr lang="zh-CN" altLang="en-US" dirty="0"/>
          </a:p>
        </p:txBody>
      </p:sp>
      <p:sp>
        <p:nvSpPr>
          <p:cNvPr id="18" name="文本框 17"/>
          <p:cNvSpPr txBox="1"/>
          <p:nvPr/>
        </p:nvSpPr>
        <p:spPr>
          <a:xfrm>
            <a:off x="7093652" y="3255465"/>
            <a:ext cx="15226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itchFamily="18" charset="0"/>
              </a:rPr>
              <a:t>CPU</a:t>
            </a:r>
            <a:r>
              <a:rPr lang="zh-CN" altLang="en-US" sz="1200" dirty="0">
                <a:latin typeface="Times New Roman" pitchFamily="18" charset="0"/>
              </a:rPr>
              <a:t>仅能支持有限类型的电路连接</a:t>
            </a:r>
            <a:endParaRPr lang="en-US" altLang="zh-CN" sz="1200" dirty="0">
              <a:latin typeface="Times New Roman" pitchFamily="18" charset="0"/>
            </a:endParaRPr>
          </a:p>
          <a:p>
            <a:r>
              <a:rPr lang="zh-CN" altLang="en-US" sz="1200" dirty="0">
                <a:latin typeface="Times New Roman" pitchFamily="18" charset="0"/>
              </a:rPr>
              <a:t>（</a:t>
            </a:r>
            <a:r>
              <a:rPr lang="en-US" altLang="zh-CN" sz="1200" dirty="0">
                <a:latin typeface="Times New Roman" pitchFamily="18" charset="0"/>
              </a:rPr>
              <a:t>USB</a:t>
            </a:r>
            <a:r>
              <a:rPr lang="zh-CN" altLang="en-US" sz="1200" dirty="0">
                <a:latin typeface="Times New Roman" pitchFamily="18" charset="0"/>
              </a:rPr>
              <a:t>，并口等）</a:t>
            </a:r>
            <a:endParaRPr lang="zh-CN" altLang="en-US" dirty="0"/>
          </a:p>
        </p:txBody>
      </p:sp>
      <p:sp>
        <p:nvSpPr>
          <p:cNvPr id="19" name="矩形标注 18"/>
          <p:cNvSpPr/>
          <p:nvPr/>
        </p:nvSpPr>
        <p:spPr bwMode="auto">
          <a:xfrm>
            <a:off x="6960096" y="4653136"/>
            <a:ext cx="2808312" cy="1296144"/>
          </a:xfrm>
          <a:prstGeom prst="wedgeRectCallout">
            <a:avLst>
              <a:gd name="adj1" fmla="val -58746"/>
              <a:gd name="adj2" fmla="val -151189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zh-CN" altLang="en-US" dirty="0">
                <a:latin typeface="Times New Roman" pitchFamily="18" charset="0"/>
              </a:rPr>
              <a:t>存在有效点时产生中断</a:t>
            </a:r>
            <a:endParaRPr lang="en-US" altLang="zh-CN" dirty="0">
              <a:latin typeface="Times New Roman" pitchFamily="18" charset="0"/>
            </a:endParaRPr>
          </a:p>
          <a:p>
            <a:r>
              <a:rPr lang="zh-CN" altLang="en-US" dirty="0">
                <a:latin typeface="Times New Roman" pitchFamily="18" charset="0"/>
              </a:rPr>
              <a:t>按通信协议取走触点的坐标（</a:t>
            </a:r>
            <a:r>
              <a:rPr lang="en-US" altLang="zh-CN" dirty="0">
                <a:latin typeface="Times New Roman" pitchFamily="18" charset="0"/>
              </a:rPr>
              <a:t>X,Y</a:t>
            </a:r>
            <a:r>
              <a:rPr lang="zh-CN" altLang="en-US" dirty="0">
                <a:latin typeface="Times New Roman" pitchFamily="18" charset="0"/>
              </a:rPr>
              <a:t>）</a:t>
            </a:r>
            <a:endParaRPr lang="en-US" altLang="zh-CN" dirty="0">
              <a:latin typeface="Times New Roman" pitchFamily="18" charset="0"/>
            </a:endParaRPr>
          </a:p>
          <a:p>
            <a:r>
              <a:rPr lang="zh-CN" altLang="en-US" dirty="0">
                <a:latin typeface="Times New Roman" pitchFamily="18" charset="0"/>
              </a:rPr>
              <a:t>按需关闭和开启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2FB61750-BA17-99DE-5EB9-072A681BCEBD}"/>
              </a:ext>
            </a:extLst>
          </p:cNvPr>
          <p:cNvSpPr/>
          <p:nvPr/>
        </p:nvSpPr>
        <p:spPr bwMode="auto">
          <a:xfrm>
            <a:off x="8883495" y="2536817"/>
            <a:ext cx="359409" cy="1296144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200" dirty="0">
                <a:latin typeface="Times New Roman" pitchFamily="18" charset="0"/>
              </a:rPr>
              <a:t>USB</a:t>
            </a:r>
            <a:r>
              <a:rPr lang="zh-CN" altLang="en-US" sz="1200" dirty="0">
                <a:latin typeface="Times New Roman" pitchFamily="18" charset="0"/>
              </a:rPr>
              <a:t>控制器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2081356-4E24-1765-0DAF-076BEDD74356}"/>
              </a:ext>
            </a:extLst>
          </p:cNvPr>
          <p:cNvSpPr/>
          <p:nvPr/>
        </p:nvSpPr>
        <p:spPr bwMode="auto">
          <a:xfrm>
            <a:off x="9350716" y="2924944"/>
            <a:ext cx="745042" cy="396044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dirty="0">
                <a:latin typeface="Times New Roman" pitchFamily="18" charset="0"/>
              </a:rPr>
              <a:t>CPU</a:t>
            </a:r>
            <a:endParaRPr lang="zh-CN" altLang="en-US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1239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92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12" grpId="0" animBg="1"/>
      <p:bldP spid="16" grpId="0" animBg="1"/>
      <p:bldP spid="17" grpId="0"/>
      <p:bldP spid="18" grpId="0"/>
      <p:bldP spid="19" grpId="0" animBg="1"/>
      <p:bldP spid="9" grpId="0" animBg="1"/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9" name="灯片编号占位符 5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kumimoji="1" sz="2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BF653E5-7333-4183-A2AC-D3574FBC8F21}" type="slidenum">
              <a:rPr kumimoji="0" lang="en-US" altLang="ko-KR" sz="1200">
                <a:solidFill>
                  <a:schemeClr val="bg1"/>
                </a:solidFill>
                <a:ea typeface="굴림" charset="-127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kumimoji="0" lang="en-US" altLang="ko-KR" sz="1200">
              <a:solidFill>
                <a:schemeClr val="bg1"/>
              </a:solidFill>
              <a:ea typeface="굴림" charset="-127"/>
            </a:endParaRPr>
          </a:p>
        </p:txBody>
      </p:sp>
      <p:sp>
        <p:nvSpPr>
          <p:cNvPr id="6146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altLang="zh-CN" sz="3200">
                <a:ea typeface="宋体" panose="02010600030101010101" pitchFamily="2" charset="-122"/>
              </a:rPr>
              <a:t>Architecture of Device Management System</a:t>
            </a:r>
            <a:endParaRPr lang="zh-CN" altLang="en-US" sz="3200">
              <a:ea typeface="宋体" panose="02010600030101010101" pitchFamily="2" charset="-122"/>
            </a:endParaRP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14712149-7347-ED79-23C1-79CC217DBE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grpSp>
        <p:nvGrpSpPr>
          <p:cNvPr id="2" name="Group 44"/>
          <p:cNvGrpSpPr>
            <a:grpSpLocks/>
          </p:cNvGrpSpPr>
          <p:nvPr/>
        </p:nvGrpSpPr>
        <p:grpSpPr bwMode="auto">
          <a:xfrm>
            <a:off x="2535238" y="2759076"/>
            <a:ext cx="2736850" cy="1223963"/>
            <a:chOff x="385" y="1933"/>
            <a:chExt cx="1678" cy="771"/>
          </a:xfrm>
        </p:grpSpPr>
        <p:sp>
          <p:nvSpPr>
            <p:cNvPr id="6178" name="Rectangle 9"/>
            <p:cNvSpPr>
              <a:spLocks noChangeArrowheads="1"/>
            </p:cNvSpPr>
            <p:nvPr/>
          </p:nvSpPr>
          <p:spPr bwMode="auto">
            <a:xfrm>
              <a:off x="385" y="1933"/>
              <a:ext cx="1678" cy="771"/>
            </a:xfrm>
            <a:prstGeom prst="rect">
              <a:avLst/>
            </a:prstGeom>
            <a:solidFill>
              <a:srgbClr val="FF66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kumimoji="1" sz="2800">
                  <a:solidFill>
                    <a:schemeClr val="tx2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kumimoji="0" lang="en-US" altLang="zh-CN" sz="1800">
                <a:solidFill>
                  <a:schemeClr val="tx1"/>
                </a:solidFill>
              </a:endParaRPr>
            </a:p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0" lang="en-US" altLang="zh-CN" sz="1800" b="1">
                  <a:solidFill>
                    <a:schemeClr val="bg1"/>
                  </a:solidFill>
                </a:rPr>
                <a:t>Operating System</a:t>
              </a:r>
              <a:endParaRPr kumimoji="0" lang="zh-CN" altLang="en-US" sz="1800">
                <a:solidFill>
                  <a:schemeClr val="tx1"/>
                </a:solidFill>
              </a:endParaRPr>
            </a:p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kumimoji="0" lang="zh-CN" altLang="en-US" sz="1800">
                <a:solidFill>
                  <a:schemeClr val="tx1"/>
                </a:solidFill>
              </a:endParaRPr>
            </a:p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kumimoji="0" lang="zh-CN" altLang="en-US" sz="1800">
                <a:solidFill>
                  <a:schemeClr val="tx1"/>
                </a:solidFill>
              </a:endParaRPr>
            </a:p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kumimoji="0" lang="zh-CN" altLang="en-US" sz="1800">
                <a:solidFill>
                  <a:schemeClr val="tx1"/>
                </a:solidFill>
              </a:endParaRPr>
            </a:p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kumimoji="0" lang="en-US" altLang="zh-CN" sz="1800">
                <a:solidFill>
                  <a:schemeClr val="tx1"/>
                </a:solidFill>
              </a:endParaRPr>
            </a:p>
          </p:txBody>
        </p:sp>
        <p:sp>
          <p:nvSpPr>
            <p:cNvPr id="6179" name="AutoShape 6"/>
            <p:cNvSpPr>
              <a:spLocks noChangeArrowheads="1"/>
            </p:cNvSpPr>
            <p:nvPr/>
          </p:nvSpPr>
          <p:spPr bwMode="auto">
            <a:xfrm>
              <a:off x="793" y="2432"/>
              <a:ext cx="1270" cy="272"/>
            </a:xfrm>
            <a:prstGeom prst="flowChartPredefinedProcess">
              <a:avLst/>
            </a:prstGeom>
            <a:solidFill>
              <a:srgbClr val="00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kumimoji="1" sz="2800">
                  <a:solidFill>
                    <a:schemeClr val="tx2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0" lang="en-US" altLang="zh-CN" sz="1600" b="1">
                  <a:solidFill>
                    <a:srgbClr val="9C4E00"/>
                  </a:solidFill>
                </a:rPr>
                <a:t>I/O Hardware</a:t>
              </a:r>
              <a:endParaRPr kumimoji="0" lang="zh-CN" altLang="en-US" sz="1600" b="1">
                <a:solidFill>
                  <a:srgbClr val="9C4E00"/>
                </a:solidFill>
              </a:endParaRPr>
            </a:p>
          </p:txBody>
        </p:sp>
        <p:sp>
          <p:nvSpPr>
            <p:cNvPr id="6180" name="AutoShape 8"/>
            <p:cNvSpPr>
              <a:spLocks noChangeArrowheads="1"/>
            </p:cNvSpPr>
            <p:nvPr/>
          </p:nvSpPr>
          <p:spPr bwMode="auto">
            <a:xfrm>
              <a:off x="793" y="2160"/>
              <a:ext cx="1270" cy="272"/>
            </a:xfrm>
            <a:prstGeom prst="flowChartPredefinedProcess">
              <a:avLst/>
            </a:prstGeom>
            <a:solidFill>
              <a:srgbClr val="00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kumimoji="1" sz="2800">
                  <a:solidFill>
                    <a:schemeClr val="tx2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0" lang="en-US" altLang="zh-CN" sz="1600" b="1">
                  <a:solidFill>
                    <a:srgbClr val="9C4E00"/>
                  </a:solidFill>
                </a:rPr>
                <a:t>I/O Software</a:t>
              </a:r>
              <a:endParaRPr kumimoji="0" lang="zh-CN" altLang="en-US" sz="1600" b="1">
                <a:solidFill>
                  <a:srgbClr val="9C4E00"/>
                </a:solidFill>
              </a:endParaRPr>
            </a:p>
          </p:txBody>
        </p:sp>
      </p:grp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2535238" y="2254251"/>
            <a:ext cx="2736850" cy="504825"/>
          </a:xfrm>
          <a:prstGeom prst="rect">
            <a:avLst/>
          </a:prstGeom>
          <a:solidFill>
            <a:srgbClr val="9C4E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kumimoji="1" sz="2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ClrTx/>
              <a:buFont typeface="Wingdings" panose="05000000000000000000" pitchFamily="2" charset="2"/>
              <a:buChar char="•"/>
            </a:pPr>
            <a:endParaRPr kumimoji="0" lang="en-US" altLang="zh-CN" sz="1800">
              <a:solidFill>
                <a:schemeClr val="tx1"/>
              </a:solidFill>
            </a:endParaRPr>
          </a:p>
          <a:p>
            <a:pPr algn="ctr">
              <a:lnSpc>
                <a:spcPct val="80000"/>
              </a:lnSpc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solidFill>
                  <a:srgbClr val="FFFF00"/>
                </a:solidFill>
              </a:rPr>
              <a:t>Application level</a:t>
            </a:r>
            <a:endParaRPr kumimoji="0" lang="zh-CN" altLang="en-US" sz="1800">
              <a:solidFill>
                <a:srgbClr val="FFFF00"/>
              </a:solidFill>
            </a:endParaRPr>
          </a:p>
          <a:p>
            <a:pPr algn="ctr">
              <a:lnSpc>
                <a:spcPct val="80000"/>
              </a:lnSpc>
              <a:buClrTx/>
              <a:buFont typeface="Wingdings" panose="05000000000000000000" pitchFamily="2" charset="2"/>
              <a:buChar char="•"/>
            </a:pPr>
            <a:endParaRPr kumimoji="0" lang="en-US" altLang="zh-CN" sz="1800">
              <a:solidFill>
                <a:schemeClr val="tx1"/>
              </a:solidFill>
            </a:endParaRPr>
          </a:p>
        </p:txBody>
      </p:sp>
      <p:sp>
        <p:nvSpPr>
          <p:cNvPr id="13" name="AutoShape 12"/>
          <p:cNvSpPr>
            <a:spLocks noChangeArrowheads="1"/>
          </p:cNvSpPr>
          <p:nvPr/>
        </p:nvSpPr>
        <p:spPr bwMode="auto">
          <a:xfrm>
            <a:off x="7000876" y="4127501"/>
            <a:ext cx="1666875" cy="576263"/>
          </a:xfrm>
          <a:prstGeom prst="flowChartPredefinedProcess">
            <a:avLst/>
          </a:prstGeom>
          <a:solidFill>
            <a:srgbClr val="9933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kumimoji="1" sz="2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solidFill>
                  <a:schemeClr val="hlink"/>
                </a:solidFill>
              </a:rPr>
              <a:t>Controler</a:t>
            </a:r>
            <a:endParaRPr kumimoji="0" lang="zh-CN" altLang="en-US" sz="1800" b="1">
              <a:solidFill>
                <a:schemeClr val="hlink"/>
              </a:solidFill>
            </a:endParaRPr>
          </a:p>
        </p:txBody>
      </p:sp>
      <p:sp>
        <p:nvSpPr>
          <p:cNvPr id="14" name="AutoShape 13"/>
          <p:cNvSpPr>
            <a:spLocks noChangeArrowheads="1"/>
          </p:cNvSpPr>
          <p:nvPr/>
        </p:nvSpPr>
        <p:spPr bwMode="auto">
          <a:xfrm>
            <a:off x="7575551" y="5135564"/>
            <a:ext cx="1223963" cy="288925"/>
          </a:xfrm>
          <a:prstGeom prst="cube">
            <a:avLst>
              <a:gd name="adj" fmla="val 25000"/>
            </a:avLst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kumimoji="1" sz="2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ClrTx/>
              <a:buFont typeface="Wingdings" panose="05000000000000000000" pitchFamily="2" charset="2"/>
              <a:buNone/>
            </a:pPr>
            <a:r>
              <a:rPr kumimoji="0" lang="en-US" altLang="zh-CN" sz="1400" b="1">
                <a:solidFill>
                  <a:schemeClr val="tx1"/>
                </a:solidFill>
              </a:rPr>
              <a:t>CMD Reg</a:t>
            </a:r>
            <a:endParaRPr kumimoji="0" lang="zh-CN" altLang="en-US" sz="1400" b="1">
              <a:solidFill>
                <a:schemeClr val="tx1"/>
              </a:solidFill>
            </a:endParaRPr>
          </a:p>
        </p:txBody>
      </p:sp>
      <p:grpSp>
        <p:nvGrpSpPr>
          <p:cNvPr id="3" name="Group 43"/>
          <p:cNvGrpSpPr>
            <a:grpSpLocks/>
          </p:cNvGrpSpPr>
          <p:nvPr/>
        </p:nvGrpSpPr>
        <p:grpSpPr bwMode="auto">
          <a:xfrm>
            <a:off x="2535238" y="3983039"/>
            <a:ext cx="2736850" cy="2232025"/>
            <a:chOff x="385" y="2704"/>
            <a:chExt cx="1678" cy="1406"/>
          </a:xfrm>
        </p:grpSpPr>
        <p:sp>
          <p:nvSpPr>
            <p:cNvPr id="6174" name="Rectangle 10"/>
            <p:cNvSpPr>
              <a:spLocks noChangeArrowheads="1"/>
            </p:cNvSpPr>
            <p:nvPr/>
          </p:nvSpPr>
          <p:spPr bwMode="auto">
            <a:xfrm>
              <a:off x="385" y="2704"/>
              <a:ext cx="1678" cy="1406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kumimoji="1" sz="2800">
                  <a:solidFill>
                    <a:schemeClr val="tx2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kumimoji="0" lang="en-US" altLang="zh-CN" sz="1800">
                <a:solidFill>
                  <a:schemeClr val="tx1"/>
                </a:solidFill>
              </a:endParaRPr>
            </a:p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0" lang="en-US" altLang="zh-CN" sz="1800" b="1">
                  <a:solidFill>
                    <a:srgbClr val="0D0D0D"/>
                  </a:solidFill>
                </a:rPr>
                <a:t>Physical device</a:t>
              </a:r>
              <a:endParaRPr kumimoji="0" lang="zh-CN" altLang="en-US" sz="1800" b="1">
                <a:solidFill>
                  <a:srgbClr val="0D0D0D"/>
                </a:solidFill>
              </a:endParaRPr>
            </a:p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kumimoji="0" lang="zh-CN" altLang="en-US" sz="1800" b="1">
                <a:solidFill>
                  <a:schemeClr val="bg1"/>
                </a:solidFill>
              </a:endParaRPr>
            </a:p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kumimoji="0" lang="zh-CN" altLang="en-US" sz="1800" b="1">
                <a:solidFill>
                  <a:schemeClr val="bg1"/>
                </a:solidFill>
              </a:endParaRPr>
            </a:p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kumimoji="0" lang="zh-CN" altLang="en-US" sz="1800" b="1">
                <a:solidFill>
                  <a:schemeClr val="bg1"/>
                </a:solidFill>
              </a:endParaRPr>
            </a:p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kumimoji="0" lang="zh-CN" altLang="en-US" sz="1800" b="1">
                <a:solidFill>
                  <a:schemeClr val="bg1"/>
                </a:solidFill>
              </a:endParaRPr>
            </a:p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kumimoji="0" lang="zh-CN" altLang="en-US" sz="1800" b="1">
                <a:solidFill>
                  <a:schemeClr val="bg1"/>
                </a:solidFill>
              </a:endParaRPr>
            </a:p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kumimoji="0" lang="zh-CN" altLang="en-US" sz="1800">
                <a:solidFill>
                  <a:schemeClr val="tx1"/>
                </a:solidFill>
              </a:endParaRPr>
            </a:p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kumimoji="0" lang="en-US" altLang="zh-CN" sz="1800">
                <a:solidFill>
                  <a:schemeClr val="tx1"/>
                </a:solidFill>
              </a:endParaRPr>
            </a:p>
          </p:txBody>
        </p:sp>
        <p:sp>
          <p:nvSpPr>
            <p:cNvPr id="6175" name="AutoShape 7"/>
            <p:cNvSpPr>
              <a:spLocks noChangeArrowheads="1"/>
            </p:cNvSpPr>
            <p:nvPr/>
          </p:nvSpPr>
          <p:spPr bwMode="auto">
            <a:xfrm>
              <a:off x="476" y="3702"/>
              <a:ext cx="227" cy="272"/>
            </a:xfrm>
            <a:prstGeom prst="can">
              <a:avLst>
                <a:gd name="adj" fmla="val 29956"/>
              </a:avLst>
            </a:prstGeom>
            <a:solidFill>
              <a:schemeClr val="folHlink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kumimoji="1" sz="2800">
                  <a:solidFill>
                    <a:schemeClr val="tx2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kumimoji="0" lang="zh-CN" altLang="en-US" sz="1800">
                <a:solidFill>
                  <a:schemeClr val="tx1"/>
                </a:solidFill>
              </a:endParaRPr>
            </a:p>
          </p:txBody>
        </p:sp>
        <p:pic>
          <p:nvPicPr>
            <p:cNvPr id="6176" name="Picture 26" descr="显示器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3" y="3716"/>
              <a:ext cx="319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aphicFrame>
          <p:nvGraphicFramePr>
            <p:cNvPr id="6177" name="Object 7"/>
            <p:cNvGraphicFramePr>
              <a:graphicFrameLocks noChangeAspect="1"/>
            </p:cNvGraphicFramePr>
            <p:nvPr/>
          </p:nvGraphicFramePr>
          <p:xfrm>
            <a:off x="1202" y="3702"/>
            <a:ext cx="774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9" name="Visio" r:id="rId5" imgW="1882902" imgH="640486" progId="Visio.Drawing.6">
                    <p:embed/>
                  </p:oleObj>
                </mc:Choice>
                <mc:Fallback>
                  <p:oleObj name="Visio" r:id="rId5" imgW="1882902" imgH="640486" progId="Visio.Drawing.6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2" y="3702"/>
                          <a:ext cx="774" cy="2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>
                                    <a:alpha val="74997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" name="AutoShape 30"/>
          <p:cNvSpPr>
            <a:spLocks noChangeArrowheads="1"/>
          </p:cNvSpPr>
          <p:nvPr/>
        </p:nvSpPr>
        <p:spPr bwMode="auto">
          <a:xfrm>
            <a:off x="6353176" y="3406776"/>
            <a:ext cx="3743325" cy="360363"/>
          </a:xfrm>
          <a:prstGeom prst="flowChartPredefinedProcess">
            <a:avLst/>
          </a:prstGeom>
          <a:solidFill>
            <a:srgbClr val="9933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kumimoji="1" sz="2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solidFill>
                  <a:schemeClr val="bg1"/>
                </a:solidFill>
              </a:rPr>
              <a:t>Interrupt Handler</a:t>
            </a:r>
            <a:endParaRPr kumimoji="0" lang="zh-CN" altLang="en-US" sz="1800" b="1">
              <a:solidFill>
                <a:schemeClr val="bg1"/>
              </a:solidFill>
            </a:endParaRPr>
          </a:p>
        </p:txBody>
      </p:sp>
      <p:sp>
        <p:nvSpPr>
          <p:cNvPr id="21" name="AutoShape 31"/>
          <p:cNvSpPr>
            <a:spLocks noChangeArrowheads="1"/>
          </p:cNvSpPr>
          <p:nvPr/>
        </p:nvSpPr>
        <p:spPr bwMode="auto">
          <a:xfrm>
            <a:off x="6351588" y="3048001"/>
            <a:ext cx="3744912" cy="360363"/>
          </a:xfrm>
          <a:prstGeom prst="flowChartPredefinedProcess">
            <a:avLst/>
          </a:prstGeom>
          <a:solidFill>
            <a:srgbClr val="9933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kumimoji="1" sz="2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solidFill>
                  <a:schemeClr val="bg1"/>
                </a:solidFill>
              </a:rPr>
              <a:t>Device Driver</a:t>
            </a:r>
            <a:endParaRPr kumimoji="0" lang="zh-CN" altLang="en-US" sz="1800" b="1">
              <a:solidFill>
                <a:schemeClr val="bg1"/>
              </a:solidFill>
            </a:endParaRPr>
          </a:p>
        </p:txBody>
      </p:sp>
      <p:sp>
        <p:nvSpPr>
          <p:cNvPr id="22" name="AutoShape 32"/>
          <p:cNvSpPr>
            <a:spLocks noChangeArrowheads="1"/>
          </p:cNvSpPr>
          <p:nvPr/>
        </p:nvSpPr>
        <p:spPr bwMode="auto">
          <a:xfrm>
            <a:off x="6351588" y="2687638"/>
            <a:ext cx="3744912" cy="360362"/>
          </a:xfrm>
          <a:prstGeom prst="flowChartPredefinedProcess">
            <a:avLst/>
          </a:prstGeom>
          <a:solidFill>
            <a:srgbClr val="9933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kumimoji="1" sz="2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solidFill>
                  <a:schemeClr val="bg1"/>
                </a:solidFill>
              </a:rPr>
              <a:t>Hardware Abstract Level</a:t>
            </a:r>
            <a:endParaRPr kumimoji="0" lang="zh-CN" altLang="en-US" sz="1800" b="1">
              <a:solidFill>
                <a:schemeClr val="bg1"/>
              </a:solidFill>
            </a:endParaRPr>
          </a:p>
        </p:txBody>
      </p:sp>
      <p:sp>
        <p:nvSpPr>
          <p:cNvPr id="23" name="AutoShape 33"/>
          <p:cNvSpPr>
            <a:spLocks noChangeArrowheads="1"/>
          </p:cNvSpPr>
          <p:nvPr/>
        </p:nvSpPr>
        <p:spPr bwMode="auto">
          <a:xfrm>
            <a:off x="6351588" y="2327276"/>
            <a:ext cx="3744912" cy="360363"/>
          </a:xfrm>
          <a:prstGeom prst="flowChartPredefinedProcess">
            <a:avLst/>
          </a:prstGeom>
          <a:solidFill>
            <a:srgbClr val="9933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kumimoji="1" sz="2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solidFill>
                  <a:schemeClr val="bg1"/>
                </a:solidFill>
              </a:rPr>
              <a:t>User Process</a:t>
            </a:r>
            <a:endParaRPr kumimoji="0" lang="zh-CN" altLang="en-US" sz="1800" b="1">
              <a:solidFill>
                <a:schemeClr val="bg1"/>
              </a:solidFill>
            </a:endParaRPr>
          </a:p>
        </p:txBody>
      </p:sp>
      <p:sp>
        <p:nvSpPr>
          <p:cNvPr id="24" name="AutoShape 34"/>
          <p:cNvSpPr>
            <a:spLocks noChangeArrowheads="1"/>
          </p:cNvSpPr>
          <p:nvPr/>
        </p:nvSpPr>
        <p:spPr bwMode="auto">
          <a:xfrm>
            <a:off x="7432675" y="3767138"/>
            <a:ext cx="431800" cy="360362"/>
          </a:xfrm>
          <a:prstGeom prst="upDownArrow">
            <a:avLst>
              <a:gd name="adj1" fmla="val 50000"/>
              <a:gd name="adj2" fmla="val 20000"/>
            </a:avLst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kumimoji="1" sz="2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0000"/>
              </a:lnSpc>
              <a:buClrTx/>
              <a:buFont typeface="Wingdings" panose="05000000000000000000" pitchFamily="2" charset="2"/>
              <a:buChar char="•"/>
            </a:pPr>
            <a:endParaRPr kumimoji="0" lang="zh-CN" altLang="en-US" sz="1800">
              <a:solidFill>
                <a:schemeClr val="tx1"/>
              </a:solidFill>
            </a:endParaRPr>
          </a:p>
        </p:txBody>
      </p:sp>
      <p:cxnSp>
        <p:nvCxnSpPr>
          <p:cNvPr id="25" name="AutoShape 35"/>
          <p:cNvCxnSpPr>
            <a:cxnSpLocks noChangeShapeType="1"/>
            <a:endCxn id="23" idx="0"/>
          </p:cNvCxnSpPr>
          <p:nvPr/>
        </p:nvCxnSpPr>
        <p:spPr bwMode="auto">
          <a:xfrm flipV="1">
            <a:off x="5272088" y="2327276"/>
            <a:ext cx="2952750" cy="1008063"/>
          </a:xfrm>
          <a:prstGeom prst="bentConnector4">
            <a:avLst>
              <a:gd name="adj1" fmla="val 18282"/>
              <a:gd name="adj2" fmla="val 122676"/>
            </a:avLst>
          </a:prstGeom>
          <a:noFill/>
          <a:ln w="9525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AutoShape 36"/>
          <p:cNvCxnSpPr>
            <a:cxnSpLocks noChangeShapeType="1"/>
            <a:endCxn id="13" idx="1"/>
          </p:cNvCxnSpPr>
          <p:nvPr/>
        </p:nvCxnSpPr>
        <p:spPr bwMode="auto">
          <a:xfrm>
            <a:off x="5272089" y="3767139"/>
            <a:ext cx="1728787" cy="649287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AutoShape 37"/>
          <p:cNvCxnSpPr>
            <a:cxnSpLocks noChangeShapeType="1"/>
            <a:stCxn id="13" idx="2"/>
            <a:endCxn id="14" idx="0"/>
          </p:cNvCxnSpPr>
          <p:nvPr/>
        </p:nvCxnSpPr>
        <p:spPr bwMode="auto">
          <a:xfrm rot="16200000" flipH="1">
            <a:off x="7812882" y="4725195"/>
            <a:ext cx="431800" cy="388937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AutoShape 38"/>
          <p:cNvCxnSpPr>
            <a:cxnSpLocks noChangeShapeType="1"/>
            <a:stCxn id="13" idx="2"/>
            <a:endCxn id="33" idx="0"/>
          </p:cNvCxnSpPr>
          <p:nvPr/>
        </p:nvCxnSpPr>
        <p:spPr bwMode="auto">
          <a:xfrm rot="5400000">
            <a:off x="7134226" y="4457701"/>
            <a:ext cx="454025" cy="946150"/>
          </a:xfrm>
          <a:prstGeom prst="bentConnector3">
            <a:avLst>
              <a:gd name="adj1" fmla="val 49648"/>
            </a:avLst>
          </a:prstGeom>
          <a:noFill/>
          <a:ln w="9525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AutoShape 39"/>
          <p:cNvCxnSpPr>
            <a:cxnSpLocks noChangeShapeType="1"/>
          </p:cNvCxnSpPr>
          <p:nvPr/>
        </p:nvCxnSpPr>
        <p:spPr bwMode="auto">
          <a:xfrm rot="5400000">
            <a:off x="4773614" y="3519489"/>
            <a:ext cx="142875" cy="3952875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000000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AutoShape 40"/>
          <p:cNvCxnSpPr>
            <a:cxnSpLocks noChangeShapeType="1"/>
          </p:cNvCxnSpPr>
          <p:nvPr/>
        </p:nvCxnSpPr>
        <p:spPr bwMode="auto">
          <a:xfrm rot="5400000">
            <a:off x="5069682" y="3815557"/>
            <a:ext cx="142875" cy="3360738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000000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" name="AutoShape 41"/>
          <p:cNvCxnSpPr>
            <a:cxnSpLocks noChangeShapeType="1"/>
          </p:cNvCxnSpPr>
          <p:nvPr/>
        </p:nvCxnSpPr>
        <p:spPr bwMode="auto">
          <a:xfrm rot="5400000">
            <a:off x="5588795" y="4334670"/>
            <a:ext cx="142875" cy="2322513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000000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" name="AutoShape 42"/>
          <p:cNvCxnSpPr>
            <a:cxnSpLocks noChangeShapeType="1"/>
            <a:endCxn id="14" idx="3"/>
          </p:cNvCxnSpPr>
          <p:nvPr/>
        </p:nvCxnSpPr>
        <p:spPr bwMode="auto">
          <a:xfrm rot="16200000" flipH="1">
            <a:off x="7485858" y="4760120"/>
            <a:ext cx="1587" cy="1330325"/>
          </a:xfrm>
          <a:prstGeom prst="bentConnector3">
            <a:avLst>
              <a:gd name="adj1" fmla="val 4500000"/>
            </a:avLst>
          </a:prstGeom>
          <a:noFill/>
          <a:ln w="9525">
            <a:solidFill>
              <a:srgbClr val="000000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3" name="AutoShape 45"/>
          <p:cNvSpPr>
            <a:spLocks noChangeArrowheads="1"/>
          </p:cNvSpPr>
          <p:nvPr/>
        </p:nvSpPr>
        <p:spPr bwMode="auto">
          <a:xfrm>
            <a:off x="6240463" y="5157789"/>
            <a:ext cx="1223962" cy="288925"/>
          </a:xfrm>
          <a:prstGeom prst="cube">
            <a:avLst>
              <a:gd name="adj" fmla="val 25000"/>
            </a:avLst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kumimoji="1" sz="2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ClrTx/>
              <a:buFont typeface="Wingdings" panose="05000000000000000000" pitchFamily="2" charset="2"/>
              <a:buNone/>
            </a:pPr>
            <a:r>
              <a:rPr kumimoji="0" lang="en-US" altLang="zh-CN" sz="1400" b="1">
                <a:solidFill>
                  <a:schemeClr val="tx1"/>
                </a:solidFill>
              </a:rPr>
              <a:t>Status Reg</a:t>
            </a:r>
            <a:endParaRPr kumimoji="0" lang="zh-CN" altLang="en-US" sz="1400" b="1">
              <a:solidFill>
                <a:schemeClr val="tx1"/>
              </a:solidFill>
            </a:endParaRPr>
          </a:p>
        </p:txBody>
      </p:sp>
      <p:sp>
        <p:nvSpPr>
          <p:cNvPr id="34" name="AutoShape 46"/>
          <p:cNvSpPr>
            <a:spLocks noChangeArrowheads="1"/>
          </p:cNvSpPr>
          <p:nvPr/>
        </p:nvSpPr>
        <p:spPr bwMode="auto">
          <a:xfrm>
            <a:off x="8943976" y="5135564"/>
            <a:ext cx="1223963" cy="288925"/>
          </a:xfrm>
          <a:prstGeom prst="cube">
            <a:avLst>
              <a:gd name="adj" fmla="val 25000"/>
            </a:avLst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kumimoji="1" sz="2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ClrTx/>
              <a:buFont typeface="Wingdings" panose="05000000000000000000" pitchFamily="2" charset="2"/>
              <a:buNone/>
            </a:pPr>
            <a:r>
              <a:rPr kumimoji="0" lang="en-US" altLang="zh-CN" sz="1400" b="1">
                <a:solidFill>
                  <a:schemeClr val="tx1"/>
                </a:solidFill>
              </a:rPr>
              <a:t>Data Reg</a:t>
            </a:r>
            <a:endParaRPr kumimoji="0" lang="zh-CN" altLang="en-US" sz="1400" b="1">
              <a:solidFill>
                <a:schemeClr val="tx1"/>
              </a:solidFill>
            </a:endParaRPr>
          </a:p>
        </p:txBody>
      </p:sp>
      <p:cxnSp>
        <p:nvCxnSpPr>
          <p:cNvPr id="35" name="AutoShape 47"/>
          <p:cNvCxnSpPr>
            <a:cxnSpLocks noChangeShapeType="1"/>
            <a:stCxn id="13" idx="2"/>
            <a:endCxn id="34" idx="0"/>
          </p:cNvCxnSpPr>
          <p:nvPr/>
        </p:nvCxnSpPr>
        <p:spPr bwMode="auto">
          <a:xfrm rot="16200000" flipH="1">
            <a:off x="8497094" y="4040982"/>
            <a:ext cx="431800" cy="1757362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" name="AutoShape 48"/>
          <p:cNvCxnSpPr>
            <a:cxnSpLocks noChangeShapeType="1"/>
            <a:endCxn id="34" idx="3"/>
          </p:cNvCxnSpPr>
          <p:nvPr/>
        </p:nvCxnSpPr>
        <p:spPr bwMode="auto">
          <a:xfrm rot="16200000">
            <a:off x="6419057" y="2466182"/>
            <a:ext cx="142875" cy="6059488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000000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" name="文本框 3"/>
          <p:cNvSpPr txBox="1">
            <a:spLocks noChangeArrowheads="1"/>
          </p:cNvSpPr>
          <p:nvPr/>
        </p:nvSpPr>
        <p:spPr bwMode="auto">
          <a:xfrm>
            <a:off x="5808664" y="1452564"/>
            <a:ext cx="3959225" cy="5909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kumimoji="1" sz="2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0000"/>
              </a:lnSpc>
              <a:buClrTx/>
              <a:buFont typeface="Wingdings" panose="05000000000000000000" pitchFamily="2" charset="2"/>
              <a:buNone/>
            </a:pPr>
            <a:r>
              <a:rPr kumimoji="0" lang="zh-CN" altLang="en-US" sz="1800" dirty="0">
                <a:solidFill>
                  <a:schemeClr val="tx1"/>
                </a:solidFill>
              </a:rPr>
              <a:t>进程如何简单易用的操作设备？</a:t>
            </a:r>
            <a:endParaRPr kumimoji="0" lang="en-US" altLang="zh-CN" sz="1800" dirty="0">
              <a:solidFill>
                <a:schemeClr val="tx1"/>
              </a:solidFill>
            </a:endParaRPr>
          </a:p>
          <a:p>
            <a:pPr>
              <a:lnSpc>
                <a:spcPct val="80000"/>
              </a:lnSpc>
              <a:buClrTx/>
              <a:buFont typeface="Wingdings" panose="05000000000000000000" pitchFamily="2" charset="2"/>
              <a:buNone/>
            </a:pPr>
            <a:r>
              <a:rPr kumimoji="0" lang="zh-CN" altLang="en-US" sz="1800" dirty="0">
                <a:solidFill>
                  <a:schemeClr val="tx1"/>
                </a:solidFill>
              </a:rPr>
              <a:t>如何在多个进程之间共享设备？</a:t>
            </a:r>
          </a:p>
        </p:txBody>
      </p:sp>
      <p:sp>
        <p:nvSpPr>
          <p:cNvPr id="37" name="文本框 36"/>
          <p:cNvSpPr txBox="1">
            <a:spLocks noChangeArrowheads="1"/>
          </p:cNvSpPr>
          <p:nvPr/>
        </p:nvSpPr>
        <p:spPr bwMode="auto">
          <a:xfrm>
            <a:off x="5880101" y="5661025"/>
            <a:ext cx="3960813" cy="53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kumimoji="1" sz="2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0000"/>
              </a:lnSpc>
              <a:buClrTx/>
              <a:buFont typeface="Wingdings" panose="05000000000000000000" pitchFamily="2" charset="2"/>
              <a:buNone/>
            </a:pPr>
            <a:r>
              <a:rPr kumimoji="0" lang="zh-CN" altLang="en-US" sz="1800" dirty="0">
                <a:solidFill>
                  <a:schemeClr val="tx1"/>
                </a:solidFill>
              </a:rPr>
              <a:t>设备如何与系统中的软件交互？如何简化多种多样的设备的管理？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6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4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4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52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56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60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64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68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7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1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93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9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33" grpId="0" animBg="1"/>
      <p:bldP spid="34" grpId="0" animBg="1"/>
      <p:bldP spid="4" grpId="0"/>
      <p:bldP spid="3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8" name="灯片编号占位符 5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kumimoji="1" sz="2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7C4CEAA-EF3A-4DC4-B193-CEC9414D49C0}" type="slidenum">
              <a:rPr kumimoji="0" lang="en-US" altLang="ko-KR" sz="1200">
                <a:solidFill>
                  <a:schemeClr val="bg1"/>
                </a:solidFill>
                <a:ea typeface="굴림" charset="-127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kumimoji="0" lang="en-US" altLang="ko-KR" sz="1200">
              <a:solidFill>
                <a:schemeClr val="bg1"/>
              </a:solidFill>
              <a:ea typeface="굴림" charset="-127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7B0158D-9619-4A10-984E-3A200AA1A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EAADC21E-2446-44A4-BFA6-FC9A04F694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0908BF8-7C0A-47F3-97E2-68075A291CA4}"/>
              </a:ext>
            </a:extLst>
          </p:cNvPr>
          <p:cNvSpPr txBox="1"/>
          <p:nvPr/>
        </p:nvSpPr>
        <p:spPr>
          <a:xfrm>
            <a:off x="2495600" y="2996952"/>
            <a:ext cx="6953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0033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CPU</a:t>
            </a:r>
            <a:r>
              <a:rPr lang="zh-CN" altLang="en-US" sz="3200" dirty="0">
                <a:solidFill>
                  <a:srgbClr val="0033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和操作系统如何连接并控制设备</a:t>
            </a:r>
            <a:endParaRPr lang="zh-CN" altLang="en-US" dirty="0">
              <a:solidFill>
                <a:srgbClr val="0033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330003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2A63A7-5A7F-4865-9D31-6C338FB11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A0AEABD7-52A8-44F6-9B05-734EF5F3E2F6}" type="slidenum">
              <a:rPr lang="en-US" altLang="ko-KR" smtClean="0"/>
              <a:pPr>
                <a:defRPr/>
              </a:pPr>
              <a:t>10</a:t>
            </a:fld>
            <a:endParaRPr lang="en-US" altLang="ko-KR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83EF724-0336-4177-827F-670FAAB1643F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设备的工作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9439DB-0CE2-4F92-A4A7-42D463F3FEB3}"/>
              </a:ext>
            </a:extLst>
          </p:cNvPr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zh-CN" altLang="en-US" sz="2400" dirty="0"/>
              <a:t>将外部的机械变化（如开关按下抬起）、模拟信号变化（如温度高低变化）等信息，转变为电信号（如电路通断、电压高低等），进而转变成为计算机可以处理的数字信号（按键编码、温度值等）的过程</a:t>
            </a:r>
            <a:endParaRPr lang="en-US" altLang="zh-CN" sz="2400" dirty="0"/>
          </a:p>
          <a:p>
            <a:pPr eaLnBrk="1" hangingPunct="1"/>
            <a:r>
              <a:rPr lang="zh-CN" altLang="en-US" sz="2400" dirty="0"/>
              <a:t>设备完成上述过程后，将所得到的数据，放于自自的寄存器、数据</a:t>
            </a:r>
            <a:r>
              <a:rPr lang="en-US" altLang="zh-CN" sz="2400" dirty="0"/>
              <a:t>buffer</a:t>
            </a:r>
            <a:r>
              <a:rPr lang="zh-CN" altLang="en-US" sz="2400" dirty="0"/>
              <a:t>等结构中，供</a:t>
            </a:r>
            <a:r>
              <a:rPr lang="en-US" altLang="zh-CN" sz="2400" dirty="0"/>
              <a:t>CPU</a:t>
            </a:r>
            <a:r>
              <a:rPr lang="zh-CN" altLang="en-US" sz="2400" dirty="0"/>
              <a:t>读取，并准备好控制接口，供</a:t>
            </a:r>
            <a:r>
              <a:rPr lang="en-US" altLang="zh-CN" sz="2400" dirty="0"/>
              <a:t>CPU</a:t>
            </a:r>
            <a:r>
              <a:rPr lang="zh-CN" altLang="en-US" sz="2400" dirty="0"/>
              <a:t>发布控制命令</a:t>
            </a:r>
            <a:endParaRPr lang="en-US" altLang="zh-CN" sz="2400" dirty="0"/>
          </a:p>
          <a:p>
            <a:pPr eaLnBrk="1" hangingPunct="1"/>
            <a:r>
              <a:rPr lang="zh-CN" altLang="en-US" sz="2400" dirty="0"/>
              <a:t>受限于</a:t>
            </a:r>
            <a:r>
              <a:rPr lang="en-US" altLang="zh-CN" sz="2400" dirty="0"/>
              <a:t>CPU</a:t>
            </a:r>
            <a:r>
              <a:rPr lang="zh-CN" altLang="en-US" sz="2400" dirty="0"/>
              <a:t>与其他器件连接的方式，设备制造商需要为设备制造“适配器”，以方便完成电路连接和数据格式连接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DF469E9-A005-4331-B4E3-9FE7002D50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3752" y="4752992"/>
            <a:ext cx="4752528" cy="1556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630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7" name="灯片编号占位符 5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kumimoji="1" sz="2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F64AF18-CFD6-495E-8EAB-FABF0E2DF031}" type="slidenum">
              <a:rPr kumimoji="0" lang="en-US" altLang="ko-KR" sz="1200">
                <a:solidFill>
                  <a:schemeClr val="bg1"/>
                </a:solidFill>
                <a:ea typeface="굴림" charset="-127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kumimoji="0" lang="en-US" altLang="ko-KR" sz="1200">
              <a:solidFill>
                <a:schemeClr val="bg1"/>
              </a:solidFill>
              <a:ea typeface="굴림" charset="-127"/>
            </a:endParaRPr>
          </a:p>
        </p:txBody>
      </p:sp>
      <p:sp>
        <p:nvSpPr>
          <p:cNvPr id="18434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>
                <a:ea typeface="宋体" panose="02010600030101010101" pitchFamily="2" charset="-122"/>
              </a:rPr>
              <a:t>Communication between CPU and devices</a:t>
            </a:r>
            <a:endParaRPr lang="zh-CN" altLang="en-US" sz="3200" dirty="0">
              <a:ea typeface="宋体" panose="02010600030101010101" pitchFamily="2" charset="-122"/>
            </a:endParaRPr>
          </a:p>
        </p:txBody>
      </p:sp>
      <p:pic>
        <p:nvPicPr>
          <p:cNvPr id="8" name="Picture 4" descr="计算机系统框图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2312" y="2264569"/>
            <a:ext cx="5667375" cy="2962275"/>
          </a:xfrm>
          <a:prstGeom prst="rect">
            <a:avLst/>
          </a:prstGeom>
          <a:noFill/>
        </p:spPr>
      </p:pic>
      <p:sp>
        <p:nvSpPr>
          <p:cNvPr id="5" name="内容占位符 2">
            <a:extLst>
              <a:ext uri="{FF2B5EF4-FFF2-40B4-BE49-F238E27FC236}">
                <a16:creationId xmlns:a16="http://schemas.microsoft.com/office/drawing/2014/main" id="{19A1BF8E-5F3D-85A0-3A4C-FAE598871EB9}"/>
              </a:ext>
            </a:extLst>
          </p:cNvPr>
          <p:cNvSpPr txBox="1">
            <a:spLocks/>
          </p:cNvSpPr>
          <p:nvPr/>
        </p:nvSpPr>
        <p:spPr>
          <a:xfrm>
            <a:off x="695399" y="1569767"/>
            <a:ext cx="108012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kumimoji="1" sz="28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120000"/>
              </a:lnSpc>
              <a:spcBef>
                <a:spcPts val="0"/>
              </a:spcBef>
              <a:defRPr/>
            </a:pPr>
            <a:r>
              <a:rPr kumimoji="0" lang="en-US" altLang="zh-CN" sz="2400" kern="0" dirty="0">
                <a:ea typeface="宋体" pitchFamily="2" charset="-122"/>
              </a:rPr>
              <a:t>CPU</a:t>
            </a:r>
            <a:r>
              <a:rPr kumimoji="0" lang="zh-CN" altLang="en-US" sz="2400" kern="0" dirty="0">
                <a:ea typeface="宋体" pitchFamily="2" charset="-122"/>
              </a:rPr>
              <a:t>如何读写设备提供的数据接口？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2" name="灯片编号占位符 5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kumimoji="1" sz="2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BD18288-2752-44D9-A826-E197E2C3F958}" type="slidenum">
              <a:rPr kumimoji="0" lang="en-US" altLang="ko-KR" sz="1200">
                <a:solidFill>
                  <a:schemeClr val="bg1"/>
                </a:solidFill>
                <a:ea typeface="굴림" charset="-127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kumimoji="0" lang="en-US" altLang="ko-KR" sz="1200">
              <a:solidFill>
                <a:schemeClr val="bg1"/>
              </a:solidFill>
              <a:ea typeface="굴림" charset="-127"/>
            </a:endParaRPr>
          </a:p>
        </p:txBody>
      </p:sp>
      <p:sp>
        <p:nvSpPr>
          <p:cNvPr id="19458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CN" sz="3600">
                <a:ea typeface="宋体" panose="02010600030101010101" pitchFamily="2" charset="-122"/>
              </a:rPr>
              <a:t>How to access devices?</a:t>
            </a:r>
            <a:endParaRPr lang="zh-CN" altLang="en-US" sz="3600">
              <a:ea typeface="宋体" panose="02010600030101010101" pitchFamily="2" charset="-122"/>
            </a:endParaRPr>
          </a:p>
        </p:txBody>
      </p:sp>
      <p:sp>
        <p:nvSpPr>
          <p:cNvPr id="19459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kumimoji="0" lang="en-US" altLang="zh-CN" sz="2400">
                <a:ea typeface="宋体" panose="02010600030101010101" pitchFamily="2" charset="-122"/>
              </a:rPr>
              <a:t>I/O port </a:t>
            </a:r>
          </a:p>
          <a:p>
            <a:pPr lvl="1">
              <a:lnSpc>
                <a:spcPct val="120000"/>
              </a:lnSpc>
              <a:spcBef>
                <a:spcPct val="0"/>
              </a:spcBef>
            </a:pPr>
            <a:r>
              <a:rPr kumimoji="0" lang="en-US" altLang="zh-CN" sz="2000">
                <a:ea typeface="宋体" panose="02010600030101010101" pitchFamily="2" charset="-122"/>
              </a:rPr>
              <a:t>ID of the devices’ registers</a:t>
            </a:r>
          </a:p>
          <a:p>
            <a:pPr lvl="1">
              <a:lnSpc>
                <a:spcPct val="120000"/>
              </a:lnSpc>
              <a:spcBef>
                <a:spcPct val="0"/>
              </a:spcBef>
            </a:pPr>
            <a:r>
              <a:rPr kumimoji="0" lang="en-US" altLang="zh-CN" sz="2000">
                <a:ea typeface="宋体" panose="02010600030101010101" pitchFamily="2" charset="-122"/>
              </a:rPr>
              <a:t>Computer maintains a I/O port list for I/O communication</a:t>
            </a:r>
          </a:p>
          <a:p>
            <a:pPr lvl="1">
              <a:lnSpc>
                <a:spcPct val="120000"/>
              </a:lnSpc>
              <a:spcBef>
                <a:spcPct val="0"/>
              </a:spcBef>
            </a:pPr>
            <a:r>
              <a:rPr kumimoji="0" lang="en-US" altLang="zh-CN" sz="2000">
                <a:ea typeface="宋体" panose="02010600030101010101" pitchFamily="2" charset="-122"/>
              </a:rPr>
              <a:t>Disadvantage:  separates memory space and devices’ registers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kumimoji="0" lang="en-US" altLang="zh-CN" sz="2400">
                <a:ea typeface="宋体" panose="02010600030101010101" pitchFamily="2" charset="-122"/>
              </a:rPr>
              <a:t>Memory-mapped I/O</a:t>
            </a:r>
          </a:p>
          <a:p>
            <a:pPr lvl="1">
              <a:lnSpc>
                <a:spcPct val="120000"/>
              </a:lnSpc>
              <a:spcBef>
                <a:spcPct val="0"/>
              </a:spcBef>
            </a:pPr>
            <a:r>
              <a:rPr kumimoji="0" lang="en-US" altLang="zh-CN" sz="2000">
                <a:ea typeface="宋体" panose="02010600030101010101" pitchFamily="2" charset="-122"/>
              </a:rPr>
              <a:t>All devices’ registers are mapped into memory space</a:t>
            </a:r>
          </a:p>
          <a:p>
            <a:pPr lvl="1">
              <a:lnSpc>
                <a:spcPct val="120000"/>
              </a:lnSpc>
              <a:spcBef>
                <a:spcPct val="0"/>
              </a:spcBef>
            </a:pPr>
            <a:r>
              <a:rPr kumimoji="0" lang="en-US" altLang="zh-CN" sz="2000">
                <a:ea typeface="宋体" panose="02010600030101010101" pitchFamily="2" charset="-122"/>
              </a:rPr>
              <a:t>Each register is assigned a unique memory address</a:t>
            </a:r>
          </a:p>
          <a:p>
            <a:pPr lvl="1">
              <a:lnSpc>
                <a:spcPct val="120000"/>
              </a:lnSpc>
              <a:spcBef>
                <a:spcPct val="0"/>
              </a:spcBef>
            </a:pPr>
            <a:r>
              <a:rPr kumimoji="0" lang="en-US" altLang="zh-CN" sz="2000">
                <a:ea typeface="宋体" panose="02010600030101010101" pitchFamily="2" charset="-122"/>
              </a:rPr>
              <a:t>Advantage: uniform address format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0" name="灯片编号占位符 5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kumimoji="1" sz="2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A293B4E-4847-4A2D-9877-AA1399FC7E88}" type="slidenum">
              <a:rPr kumimoji="0" lang="en-US" altLang="ko-KR" sz="1200">
                <a:solidFill>
                  <a:schemeClr val="bg1"/>
                </a:solidFill>
                <a:ea typeface="굴림" charset="-127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kumimoji="0" lang="en-US" altLang="ko-KR" sz="1200">
              <a:solidFill>
                <a:schemeClr val="bg1"/>
              </a:solidFill>
              <a:ea typeface="굴림" charset="-127"/>
            </a:endParaRPr>
          </a:p>
        </p:txBody>
      </p:sp>
      <p:sp>
        <p:nvSpPr>
          <p:cNvPr id="21506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CN" sz="3600">
                <a:ea typeface="宋体" panose="02010600030101010101" pitchFamily="2" charset="-122"/>
              </a:rPr>
              <a:t>Dependent address : I/O port</a:t>
            </a:r>
            <a:endParaRPr lang="zh-CN" altLang="en-US" sz="3600">
              <a:ea typeface="宋体" panose="02010600030101010101" pitchFamily="2" charset="-122"/>
            </a:endParaRPr>
          </a:p>
        </p:txBody>
      </p:sp>
      <p:sp>
        <p:nvSpPr>
          <p:cNvPr id="21507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kumimoji="0" lang="en-US" altLang="zh-CN" sz="2400">
                <a:ea typeface="宋体" panose="02010600030101010101" pitchFamily="2" charset="-122"/>
              </a:rPr>
              <a:t>Advantages</a:t>
            </a:r>
          </a:p>
          <a:p>
            <a:pPr lvl="1">
              <a:lnSpc>
                <a:spcPct val="120000"/>
              </a:lnSpc>
              <a:spcBef>
                <a:spcPct val="0"/>
              </a:spcBef>
            </a:pPr>
            <a:r>
              <a:rPr kumimoji="0" lang="en-US" altLang="zh-CN" sz="2000">
                <a:ea typeface="宋体" panose="02010600030101010101" pitchFamily="2" charset="-122"/>
              </a:rPr>
              <a:t>Separate I/O address from memory address, special I/O instructions are designed to access I/O port</a:t>
            </a:r>
          </a:p>
          <a:p>
            <a:pPr lvl="1">
              <a:lnSpc>
                <a:spcPct val="120000"/>
              </a:lnSpc>
              <a:spcBef>
                <a:spcPct val="0"/>
              </a:spcBef>
            </a:pPr>
            <a:r>
              <a:rPr kumimoji="0" lang="en-US" altLang="zh-CN" sz="2000">
                <a:ea typeface="宋体" panose="02010600030101010101" pitchFamily="2" charset="-122"/>
              </a:rPr>
              <a:t>It is very easy to distinguish I/O access and memory access, the cost of management is little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kumimoji="0" lang="en-US" altLang="zh-CN" sz="2400">
                <a:ea typeface="宋体" panose="02010600030101010101" pitchFamily="2" charset="-122"/>
              </a:rPr>
              <a:t>Disadvantage </a:t>
            </a:r>
          </a:p>
          <a:p>
            <a:pPr lvl="1">
              <a:lnSpc>
                <a:spcPct val="120000"/>
              </a:lnSpc>
              <a:spcBef>
                <a:spcPct val="0"/>
              </a:spcBef>
            </a:pPr>
            <a:r>
              <a:rPr kumimoji="0" lang="en-US" altLang="zh-CN" sz="2000">
                <a:ea typeface="宋体" panose="02010600030101010101" pitchFamily="2" charset="-122"/>
              </a:rPr>
              <a:t>Only simple instructions can be used for I/O communication, complex I/O programming is difficult </a:t>
            </a:r>
          </a:p>
          <a:p>
            <a:pPr lvl="1">
              <a:lnSpc>
                <a:spcPct val="120000"/>
              </a:lnSpc>
              <a:spcBef>
                <a:spcPct val="0"/>
              </a:spcBef>
            </a:pPr>
            <a:r>
              <a:rPr kumimoji="0" lang="en-US" altLang="zh-CN" sz="2000">
                <a:ea typeface="宋体" panose="02010600030101010101" pitchFamily="2" charset="-122"/>
              </a:rPr>
              <a:t>The programming model and address-mapping method are different, it is not convenient for programmers </a:t>
            </a:r>
          </a:p>
        </p:txBody>
      </p:sp>
      <p:pic>
        <p:nvPicPr>
          <p:cNvPr id="7" name="Picture 5" descr="NewTu6_3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1428751"/>
            <a:ext cx="9180513" cy="3857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4" name="灯片编号占位符 5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kumimoji="1" sz="2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2CAF5B5-5851-47E5-A2A1-F716CD395AAC}" type="slidenum">
              <a:rPr kumimoji="0" lang="en-US" altLang="ko-KR" sz="1200">
                <a:solidFill>
                  <a:schemeClr val="bg1"/>
                </a:solidFill>
                <a:ea typeface="굴림" charset="-127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kumimoji="0" lang="en-US" altLang="ko-KR" sz="1200">
              <a:solidFill>
                <a:schemeClr val="bg1"/>
              </a:solidFill>
              <a:ea typeface="굴림" charset="-127"/>
            </a:endParaRPr>
          </a:p>
        </p:txBody>
      </p:sp>
      <p:sp>
        <p:nvSpPr>
          <p:cNvPr id="22530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CN" sz="3600">
                <a:ea typeface="宋体" panose="02010600030101010101" pitchFamily="2" charset="-122"/>
              </a:rPr>
              <a:t>Memory-mapped I/O</a:t>
            </a:r>
            <a:endParaRPr lang="zh-CN" altLang="en-US" sz="3600">
              <a:ea typeface="宋体" panose="02010600030101010101" pitchFamily="2" charset="-122"/>
            </a:endParaRPr>
          </a:p>
        </p:txBody>
      </p:sp>
      <p:sp>
        <p:nvSpPr>
          <p:cNvPr id="22531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kumimoji="0" lang="en-US" altLang="zh-CN" sz="2400">
                <a:ea typeface="宋体" panose="02010600030101010101" pitchFamily="2" charset="-122"/>
              </a:rPr>
              <a:t>Advantages</a:t>
            </a:r>
          </a:p>
          <a:p>
            <a:pPr lvl="1">
              <a:lnSpc>
                <a:spcPct val="120000"/>
              </a:lnSpc>
              <a:spcBef>
                <a:spcPct val="0"/>
              </a:spcBef>
            </a:pPr>
            <a:r>
              <a:rPr kumimoji="0" lang="en-US" altLang="zh-CN" sz="2000">
                <a:ea typeface="宋体" panose="02010600030101010101" pitchFamily="2" charset="-122"/>
              </a:rPr>
              <a:t>Treat I/O address as a part of memory address, an global address space is generated</a:t>
            </a:r>
          </a:p>
          <a:p>
            <a:pPr lvl="1">
              <a:lnSpc>
                <a:spcPct val="120000"/>
              </a:lnSpc>
              <a:spcBef>
                <a:spcPct val="0"/>
              </a:spcBef>
            </a:pPr>
            <a:r>
              <a:rPr kumimoji="0" lang="en-US" altLang="zh-CN" sz="2000">
                <a:ea typeface="宋体" panose="02010600030101010101" pitchFamily="2" charset="-122"/>
              </a:rPr>
              <a:t>The difference between I/O and memory is hidden, programmer can design complex I/O program</a:t>
            </a:r>
          </a:p>
          <a:p>
            <a:pPr lvl="1">
              <a:lnSpc>
                <a:spcPct val="120000"/>
              </a:lnSpc>
              <a:spcBef>
                <a:spcPct val="0"/>
              </a:spcBef>
            </a:pPr>
            <a:r>
              <a:rPr kumimoji="0" lang="en-US" altLang="zh-CN" sz="2000">
                <a:ea typeface="宋体" panose="02010600030101010101" pitchFamily="2" charset="-122"/>
              </a:rPr>
              <a:t>I/O address can be protected efficiently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kumimoji="0" lang="en-US" altLang="zh-CN" sz="2400">
                <a:ea typeface="宋体" panose="02010600030101010101" pitchFamily="2" charset="-122"/>
              </a:rPr>
              <a:t>Disadvantage </a:t>
            </a:r>
          </a:p>
          <a:p>
            <a:pPr lvl="1">
              <a:lnSpc>
                <a:spcPct val="120000"/>
              </a:lnSpc>
              <a:spcBef>
                <a:spcPct val="0"/>
              </a:spcBef>
            </a:pPr>
            <a:r>
              <a:rPr kumimoji="0" lang="en-US" altLang="zh-CN" sz="2000">
                <a:ea typeface="宋体" panose="02010600030101010101" pitchFamily="2" charset="-122"/>
              </a:rPr>
              <a:t>It is difficult for hardware to distinguish the address of memory and I/O devices</a:t>
            </a:r>
          </a:p>
          <a:p>
            <a:pPr lvl="1">
              <a:lnSpc>
                <a:spcPct val="120000"/>
              </a:lnSpc>
              <a:spcBef>
                <a:spcPct val="0"/>
              </a:spcBef>
            </a:pPr>
            <a:r>
              <a:rPr kumimoji="0" lang="en-US" altLang="zh-CN" sz="2000">
                <a:ea typeface="宋体" panose="02010600030101010101" pitchFamily="2" charset="-122"/>
              </a:rPr>
              <a:t>The cost of management is higher, and it is more complex under double-bus or multi-bus architecture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1" name="灯片编号占位符 5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kumimoji="1" sz="2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12A793C-7FD6-4F15-907C-636D0149F68A}" type="slidenum">
              <a:rPr kumimoji="0" lang="en-US" altLang="ko-KR" sz="1200">
                <a:solidFill>
                  <a:schemeClr val="bg1"/>
                </a:solidFill>
                <a:ea typeface="굴림" charset="-127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kumimoji="0" lang="en-US" altLang="ko-KR" sz="1200">
              <a:solidFill>
                <a:schemeClr val="bg1"/>
              </a:solidFill>
              <a:ea typeface="굴림" charset="-127"/>
            </a:endParaRPr>
          </a:p>
        </p:txBody>
      </p:sp>
      <p:sp>
        <p:nvSpPr>
          <p:cNvPr id="24578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CN" sz="3600">
                <a:ea typeface="宋体" panose="02010600030101010101" pitchFamily="2" charset="-122"/>
              </a:rPr>
              <a:t>Memory-mapped I/O</a:t>
            </a:r>
            <a:endParaRPr lang="zh-CN" altLang="en-US" sz="3600">
              <a:ea typeface="宋体" panose="02010600030101010101" pitchFamily="2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971C57-0D60-B92B-F6E6-DA08D62541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9" name="Picture 9" descr="IO地址空间映射机制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1251" y="2786063"/>
            <a:ext cx="6551613" cy="314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AutoShape 7"/>
          <p:cNvSpPr>
            <a:spLocks/>
          </p:cNvSpPr>
          <p:nvPr/>
        </p:nvSpPr>
        <p:spPr bwMode="auto">
          <a:xfrm>
            <a:off x="7239000" y="1214438"/>
            <a:ext cx="3214688" cy="1428750"/>
          </a:xfrm>
          <a:prstGeom prst="borderCallout2">
            <a:avLst>
              <a:gd name="adj1" fmla="val 99463"/>
              <a:gd name="adj2" fmla="val 47847"/>
              <a:gd name="adj3" fmla="val 110500"/>
              <a:gd name="adj4" fmla="val 29736"/>
              <a:gd name="adj5" fmla="val 131819"/>
              <a:gd name="adj6" fmla="val 14935"/>
            </a:avLst>
          </a:prstGeom>
          <a:noFill/>
          <a:ln w="9525">
            <a:solidFill>
              <a:srgbClr val="000000"/>
            </a:solidFill>
            <a:miter lim="800000"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kumimoji="1" sz="2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0000"/>
              </a:lnSpc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solidFill>
                  <a:srgbClr val="FF0000"/>
                </a:solidFill>
              </a:rPr>
              <a:t>Data buffer is mapped into memory space ;</a:t>
            </a:r>
          </a:p>
          <a:p>
            <a:pPr>
              <a:lnSpc>
                <a:spcPct val="80000"/>
              </a:lnSpc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solidFill>
                  <a:srgbClr val="FF0000"/>
                </a:solidFill>
              </a:rPr>
              <a:t>Registers are identified by unique I/O port.</a:t>
            </a:r>
          </a:p>
          <a:p>
            <a:pPr>
              <a:lnSpc>
                <a:spcPct val="80000"/>
              </a:lnSpc>
              <a:buClrTx/>
              <a:buFont typeface="Wingdings" panose="05000000000000000000" pitchFamily="2" charset="2"/>
              <a:buNone/>
            </a:pPr>
            <a:r>
              <a:rPr kumimoji="0" lang="en-US" altLang="zh-CN" sz="1800" b="1">
                <a:solidFill>
                  <a:srgbClr val="FF0000"/>
                </a:solidFill>
              </a:rPr>
              <a:t>Real  Sample: Pentium</a:t>
            </a:r>
            <a:endParaRPr kumimoji="0" lang="zh-CN" altLang="en-US" sz="1800" b="1">
              <a:solidFill>
                <a:srgbClr val="FF0000"/>
              </a:solidFill>
            </a:endParaRPr>
          </a:p>
        </p:txBody>
      </p:sp>
      <p:sp>
        <p:nvSpPr>
          <p:cNvPr id="2" name="AutoShape 7">
            <a:extLst>
              <a:ext uri="{FF2B5EF4-FFF2-40B4-BE49-F238E27FC236}">
                <a16:creationId xmlns:a16="http://schemas.microsoft.com/office/drawing/2014/main" id="{9B37CDE5-D7B6-B917-ABAD-15A287F94939}"/>
              </a:ext>
            </a:extLst>
          </p:cNvPr>
          <p:cNvSpPr>
            <a:spLocks/>
          </p:cNvSpPr>
          <p:nvPr/>
        </p:nvSpPr>
        <p:spPr bwMode="auto">
          <a:xfrm>
            <a:off x="3409156" y="1484785"/>
            <a:ext cx="3214688" cy="1126203"/>
          </a:xfrm>
          <a:prstGeom prst="borderCallout2">
            <a:avLst>
              <a:gd name="adj1" fmla="val 99463"/>
              <a:gd name="adj2" fmla="val 47847"/>
              <a:gd name="adj3" fmla="val 111508"/>
              <a:gd name="adj4" fmla="val 60196"/>
              <a:gd name="adj5" fmla="val 135347"/>
              <a:gd name="adj6" fmla="val 65329"/>
            </a:avLst>
          </a:prstGeom>
          <a:noFill/>
          <a:ln w="9525">
            <a:solidFill>
              <a:srgbClr val="000000"/>
            </a:solidFill>
            <a:miter lim="800000"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kumimoji="1" sz="2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0000"/>
              </a:lnSpc>
              <a:buClrTx/>
              <a:buFont typeface="Wingdings" panose="05000000000000000000" pitchFamily="2" charset="2"/>
              <a:buNone/>
            </a:pPr>
            <a:r>
              <a:rPr kumimoji="0" lang="zh-CN" altLang="en-US" sz="1800" b="1" dirty="0">
                <a:solidFill>
                  <a:srgbClr val="FF0000"/>
                </a:solidFill>
              </a:rPr>
              <a:t>这种</a:t>
            </a:r>
            <a:r>
              <a:rPr kumimoji="0" lang="en-US" altLang="zh-CN" sz="1800" b="1" dirty="0">
                <a:solidFill>
                  <a:srgbClr val="FF0000"/>
                </a:solidFill>
              </a:rPr>
              <a:t>IO</a:t>
            </a:r>
            <a:r>
              <a:rPr kumimoji="0" lang="zh-CN" altLang="en-US" sz="1800" b="1" dirty="0">
                <a:solidFill>
                  <a:srgbClr val="FF0000"/>
                </a:solidFill>
              </a:rPr>
              <a:t>地址映射进入内存的设计，可以使</a:t>
            </a:r>
            <a:r>
              <a:rPr kumimoji="0" lang="en-US" altLang="zh-CN" sz="1800" b="1" dirty="0">
                <a:solidFill>
                  <a:srgbClr val="FF0000"/>
                </a:solidFill>
              </a:rPr>
              <a:t>IO</a:t>
            </a:r>
            <a:r>
              <a:rPr kumimoji="0" lang="zh-CN" altLang="en-US" sz="1800" b="1" dirty="0">
                <a:solidFill>
                  <a:srgbClr val="FF0000"/>
                </a:solidFill>
              </a:rPr>
              <a:t>设备与内存共享寻址机制与数据传输介质因此使用更为广泛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1" name="灯片编号占位符 5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kumimoji="1" sz="2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12A793C-7FD6-4F15-907C-636D0149F68A}" type="slidenum">
              <a:rPr kumimoji="0" lang="en-US" altLang="ko-KR" sz="1200">
                <a:solidFill>
                  <a:schemeClr val="bg1"/>
                </a:solidFill>
                <a:ea typeface="굴림" charset="-127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kumimoji="0" lang="en-US" altLang="ko-KR" sz="1200">
              <a:solidFill>
                <a:schemeClr val="bg1"/>
              </a:solidFill>
              <a:ea typeface="굴림" charset="-127"/>
            </a:endParaRPr>
          </a:p>
        </p:txBody>
      </p:sp>
      <p:sp>
        <p:nvSpPr>
          <p:cNvPr id="24578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sz="3600" dirty="0">
                <a:ea typeface="宋体" panose="02010600030101010101" pitchFamily="2" charset="-122"/>
              </a:rPr>
              <a:t>现实中处理器的地址空间布局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971C57-0D60-B92B-F6E6-DA08D62541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7170" name="Picture 2" descr="https://i.sstatic.net/kfuGw.png">
            <a:extLst>
              <a:ext uri="{FF2B5EF4-FFF2-40B4-BE49-F238E27FC236}">
                <a16:creationId xmlns:a16="http://schemas.microsoft.com/office/drawing/2014/main" id="{CDAA25DD-5A37-48BD-A3A5-D42A159215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1288" y="0"/>
            <a:ext cx="68294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754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B1C6B1-5D29-EC96-BDCF-884ECD8B8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A0AEABD7-52A8-44F6-9B05-734EF5F3E2F6}" type="slidenum">
              <a:rPr lang="en-US" altLang="ko-KR" smtClean="0"/>
              <a:pPr>
                <a:defRPr/>
              </a:pPr>
              <a:t>17</a:t>
            </a:fld>
            <a:endParaRPr lang="en-US" altLang="ko-KR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436219EF-ADCC-9285-6A56-42D3AF38A90E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设备管理的问题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D073B1-51E6-BAD4-47B6-0F4B328F7E43}"/>
              </a:ext>
            </a:extLst>
          </p:cNvPr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专用的</a:t>
            </a:r>
            <a:r>
              <a:rPr lang="en-US" altLang="zh-CN" dirty="0"/>
              <a:t>IO</a:t>
            </a:r>
            <a:r>
              <a:rPr lang="zh-CN" altLang="en-US" dirty="0"/>
              <a:t>指令以访问专用的</a:t>
            </a:r>
            <a:r>
              <a:rPr lang="en-US" altLang="zh-CN" dirty="0"/>
              <a:t>IO</a:t>
            </a:r>
            <a:r>
              <a:rPr lang="zh-CN" altLang="en-US" dirty="0"/>
              <a:t>端口区域读写</a:t>
            </a:r>
            <a:endParaRPr lang="en-US" altLang="zh-CN" dirty="0"/>
          </a:p>
          <a:p>
            <a:pPr lvl="1"/>
            <a:r>
              <a:rPr lang="zh-CN" altLang="en-US" dirty="0"/>
              <a:t>普通指令还是特权指令？</a:t>
            </a:r>
            <a:endParaRPr lang="en-US" altLang="zh-CN" dirty="0"/>
          </a:p>
          <a:p>
            <a:pPr lvl="1"/>
            <a:r>
              <a:rPr lang="en-US" altLang="zh-CN" dirty="0"/>
              <a:t>IO</a:t>
            </a:r>
            <a:r>
              <a:rPr lang="zh-CN" altLang="en-US" dirty="0"/>
              <a:t>指令是早于特权模型出现的</a:t>
            </a:r>
            <a:endParaRPr lang="en-US" altLang="zh-CN" dirty="0"/>
          </a:p>
          <a:p>
            <a:r>
              <a:rPr lang="zh-CN" altLang="en-US" dirty="0"/>
              <a:t>设备管理接口映射到地址空间的特定区域</a:t>
            </a:r>
            <a:endParaRPr lang="en-US" altLang="zh-CN" dirty="0"/>
          </a:p>
          <a:p>
            <a:pPr lvl="1"/>
            <a:r>
              <a:rPr lang="zh-CN" altLang="en-US" dirty="0"/>
              <a:t>普通区域还是特权区域？</a:t>
            </a:r>
            <a:endParaRPr lang="en-US" altLang="zh-CN" dirty="0"/>
          </a:p>
          <a:p>
            <a:pPr lvl="1"/>
            <a:r>
              <a:rPr lang="zh-CN" altLang="en-US" dirty="0"/>
              <a:t>物理内存地址还是虚拟内存地址？</a:t>
            </a:r>
            <a:endParaRPr lang="en-US" altLang="zh-CN" dirty="0"/>
          </a:p>
          <a:p>
            <a:r>
              <a:rPr lang="zh-CN" altLang="en-US" dirty="0"/>
              <a:t>设备管理程序是操作系统的一部分，或者与操作系统一并运转在特权模式</a:t>
            </a:r>
            <a:endParaRPr lang="en-US" altLang="zh-CN" dirty="0"/>
          </a:p>
          <a:p>
            <a:r>
              <a:rPr lang="zh-CN" altLang="en-US" dirty="0"/>
              <a:t>现代高性能系统中，为了提高效率，直接映射到用户空间</a:t>
            </a:r>
          </a:p>
        </p:txBody>
      </p:sp>
    </p:spTree>
    <p:extLst>
      <p:ext uri="{BB962C8B-B14F-4D97-AF65-F5344CB8AC3E}">
        <p14:creationId xmlns:p14="http://schemas.microsoft.com/office/powerpoint/2010/main" val="23966599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灯片编号占位符 5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kumimoji="1" sz="2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00A8C64-AE59-4801-B3E7-FEE5C7C0DC1A}" type="slidenum">
              <a:rPr kumimoji="0" lang="en-US" altLang="ko-KR" sz="1200">
                <a:solidFill>
                  <a:schemeClr val="bg1"/>
                </a:solidFill>
                <a:ea typeface="굴림" charset="-127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kumimoji="0" lang="en-US" altLang="ko-KR" sz="1200">
              <a:solidFill>
                <a:schemeClr val="bg1"/>
              </a:solidFill>
              <a:ea typeface="굴림" charset="-127"/>
            </a:endParaRPr>
          </a:p>
        </p:txBody>
      </p:sp>
      <p:sp>
        <p:nvSpPr>
          <p:cNvPr id="26626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en-US" altLang="zh-CN" sz="3600" dirty="0">
                <a:ea typeface="宋体" panose="02010600030101010101" pitchFamily="2" charset="-122"/>
              </a:rPr>
              <a:t>How to access devices---BUS</a:t>
            </a:r>
            <a:br>
              <a:rPr lang="en-US" altLang="zh-CN" sz="3600" dirty="0">
                <a:ea typeface="宋体" panose="02010600030101010101" pitchFamily="2" charset="-122"/>
              </a:rPr>
            </a:br>
            <a:r>
              <a:rPr lang="zh-CN" altLang="en-US" sz="3600" dirty="0">
                <a:ea typeface="宋体" panose="02010600030101010101" pitchFamily="2" charset="-122"/>
              </a:rPr>
              <a:t>共享的总线方便了设计但也限制速度</a:t>
            </a:r>
          </a:p>
        </p:txBody>
      </p:sp>
      <p:pic>
        <p:nvPicPr>
          <p:cNvPr id="8" name="Picture 6" descr="系统总线对IO地址映射的影响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1887" y="1824238"/>
            <a:ext cx="7388225" cy="442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7" name="灯片编号占位符 5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kumimoji="1" sz="2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CBE483E-D219-481E-AAF1-85FEBD4C84E0}" type="slidenum">
              <a:rPr kumimoji="0" lang="en-US" altLang="ko-KR" sz="1200">
                <a:solidFill>
                  <a:schemeClr val="bg1"/>
                </a:solidFill>
                <a:ea typeface="굴림" charset="-127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kumimoji="0" lang="en-US" altLang="ko-KR" sz="1200">
              <a:solidFill>
                <a:schemeClr val="bg1"/>
              </a:solidFill>
              <a:ea typeface="굴림" charset="-127"/>
            </a:endParaRPr>
          </a:p>
        </p:txBody>
      </p:sp>
      <p:sp>
        <p:nvSpPr>
          <p:cNvPr id="28674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CN" sz="3600">
                <a:ea typeface="宋体" panose="02010600030101010101" pitchFamily="2" charset="-122"/>
              </a:rPr>
              <a:t>How to access devices---BUS</a:t>
            </a:r>
            <a:endParaRPr lang="zh-CN" altLang="en-US" sz="3600">
              <a:ea typeface="宋体" panose="02010600030101010101" pitchFamily="2" charset="-122"/>
            </a:endParaRPr>
          </a:p>
        </p:txBody>
      </p:sp>
      <p:pic>
        <p:nvPicPr>
          <p:cNvPr id="7" name="Picture 6" descr="1-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3632" y="1484784"/>
            <a:ext cx="6773862" cy="4884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891178-9CEA-7346-9827-B6BFC3355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A0AEABD7-52A8-44F6-9B05-734EF5F3E2F6}" type="slidenum">
              <a:rPr lang="en-US" altLang="ko-KR" smtClean="0"/>
              <a:pPr>
                <a:defRPr/>
              </a:pPr>
              <a:t>20</a:t>
            </a:fld>
            <a:endParaRPr lang="en-US" altLang="ko-KR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CFBD5BA-8E14-FBD5-E6AA-0B3570DFBCDA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如何及时发现数据并传输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172995-07A8-7996-65C9-5C6A23A9FE35}"/>
              </a:ext>
            </a:extLst>
          </p:cNvPr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发现</a:t>
            </a:r>
            <a:endParaRPr lang="en-US" altLang="zh-CN" dirty="0"/>
          </a:p>
          <a:p>
            <a:pPr lvl="1"/>
            <a:r>
              <a:rPr lang="zh-CN" altLang="en-US" dirty="0"/>
              <a:t>等待并轮循</a:t>
            </a:r>
            <a:endParaRPr lang="en-US" altLang="zh-CN" dirty="0"/>
          </a:p>
          <a:p>
            <a:pPr lvl="1"/>
            <a:r>
              <a:rPr lang="zh-CN" altLang="en-US" dirty="0"/>
              <a:t>中断</a:t>
            </a:r>
            <a:endParaRPr lang="en-US" altLang="zh-CN" dirty="0"/>
          </a:p>
          <a:p>
            <a:r>
              <a:rPr lang="zh-CN" altLang="en-US" dirty="0"/>
              <a:t>传输</a:t>
            </a:r>
            <a:endParaRPr lang="en-US" altLang="zh-CN" dirty="0"/>
          </a:p>
          <a:p>
            <a:pPr lvl="1"/>
            <a:r>
              <a:rPr lang="zh-CN" altLang="en-US" dirty="0"/>
              <a:t>由</a:t>
            </a:r>
            <a:r>
              <a:rPr lang="en-US" altLang="zh-CN" dirty="0"/>
              <a:t>CPU</a:t>
            </a:r>
            <a:r>
              <a:rPr lang="zh-CN" altLang="en-US" dirty="0"/>
              <a:t>发起，逐字节传输</a:t>
            </a:r>
            <a:endParaRPr lang="en-US" altLang="zh-CN" dirty="0"/>
          </a:p>
          <a:p>
            <a:pPr lvl="1"/>
            <a:r>
              <a:rPr lang="zh-CN" altLang="en-US" dirty="0"/>
              <a:t>由</a:t>
            </a:r>
            <a:r>
              <a:rPr lang="en-US" altLang="zh-CN" dirty="0"/>
              <a:t>DMA</a:t>
            </a:r>
            <a:r>
              <a:rPr lang="zh-CN" altLang="en-US" dirty="0"/>
              <a:t>设备代为发起，以块为单位传输</a:t>
            </a:r>
          </a:p>
        </p:txBody>
      </p:sp>
    </p:spTree>
    <p:extLst>
      <p:ext uri="{BB962C8B-B14F-4D97-AF65-F5344CB8AC3E}">
        <p14:creationId xmlns:p14="http://schemas.microsoft.com/office/powerpoint/2010/main" val="36906893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5" name="灯片编号占位符 5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kumimoji="1" sz="2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18BD39B-DCA3-4711-8F40-B1C50739AA37}" type="slidenum">
              <a:rPr kumimoji="0" lang="en-US" altLang="ko-KR" sz="1200">
                <a:solidFill>
                  <a:schemeClr val="bg1"/>
                </a:solidFill>
                <a:ea typeface="굴림" charset="-127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kumimoji="0" lang="en-US" altLang="ko-KR" sz="1200">
              <a:solidFill>
                <a:schemeClr val="bg1"/>
              </a:solidFill>
              <a:ea typeface="굴림" charset="-127"/>
            </a:endParaRPr>
          </a:p>
        </p:txBody>
      </p:sp>
      <p:sp>
        <p:nvSpPr>
          <p:cNvPr id="3072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altLang="zh-CN" sz="3600">
                <a:ea typeface="宋体" panose="02010600030101010101" pitchFamily="2" charset="-122"/>
              </a:rPr>
              <a:t>Working mode of devices: busy waiting</a:t>
            </a:r>
            <a:endParaRPr lang="zh-CN" altLang="en-US" sz="3600">
              <a:ea typeface="宋体" panose="02010600030101010101" pitchFamily="2" charset="-122"/>
            </a:endParaRPr>
          </a:p>
        </p:txBody>
      </p:sp>
      <p:sp>
        <p:nvSpPr>
          <p:cNvPr id="30727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lvl="1">
              <a:lnSpc>
                <a:spcPct val="120000"/>
              </a:lnSpc>
              <a:spcBef>
                <a:spcPct val="0"/>
              </a:spcBef>
            </a:pPr>
            <a:r>
              <a:rPr kumimoji="0" lang="en-US" altLang="zh-CN" sz="2000">
                <a:ea typeface="宋体" panose="02010600030101010101" pitchFamily="2" charset="-122"/>
              </a:rPr>
              <a:t>Special kernel process sends the data to device port;</a:t>
            </a:r>
          </a:p>
          <a:p>
            <a:pPr lvl="1">
              <a:lnSpc>
                <a:spcPct val="120000"/>
              </a:lnSpc>
              <a:spcBef>
                <a:spcPct val="0"/>
              </a:spcBef>
            </a:pPr>
            <a:r>
              <a:rPr kumimoji="0" lang="en-US" altLang="zh-CN" sz="2000">
                <a:ea typeface="宋体" panose="02010600030101010101" pitchFamily="2" charset="-122"/>
              </a:rPr>
              <a:t>The process checks the port repeatedly until the port is available and sends rest data;</a:t>
            </a:r>
          </a:p>
          <a:p>
            <a:pPr lvl="1">
              <a:lnSpc>
                <a:spcPct val="120000"/>
              </a:lnSpc>
              <a:spcBef>
                <a:spcPct val="0"/>
              </a:spcBef>
            </a:pPr>
            <a:r>
              <a:rPr kumimoji="0" lang="en-US" altLang="zh-CN" sz="2000">
                <a:ea typeface="宋体" panose="02010600030101010101" pitchFamily="2" charset="-122"/>
              </a:rPr>
              <a:t>The user process continues run after the kernel process is finished;</a:t>
            </a:r>
          </a:p>
          <a:p>
            <a:pPr lvl="1">
              <a:lnSpc>
                <a:spcPct val="120000"/>
              </a:lnSpc>
              <a:spcBef>
                <a:spcPct val="0"/>
              </a:spcBef>
            </a:pPr>
            <a:r>
              <a:rPr kumimoji="0" lang="en-US" altLang="zh-CN" sz="2000">
                <a:ea typeface="宋体" panose="02010600030101010101" pitchFamily="2" charset="-122"/>
              </a:rPr>
              <a:t>Disadvantage: CPU is wasted too much</a:t>
            </a:r>
          </a:p>
        </p:txBody>
      </p:sp>
      <p:pic>
        <p:nvPicPr>
          <p:cNvPr id="8" name="Picture 6" descr="程序控制IO机制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7824" y="3933056"/>
            <a:ext cx="8896350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3" name="灯片编号占位符 5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kumimoji="1" sz="2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662B204-A6FC-46C8-AB4B-352870EA2EBA}" type="slidenum">
              <a:rPr kumimoji="0" lang="en-US" altLang="ko-KR" sz="1200">
                <a:solidFill>
                  <a:schemeClr val="bg1"/>
                </a:solidFill>
                <a:ea typeface="굴림" charset="-127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kumimoji="0" lang="en-US" altLang="ko-KR" sz="1200">
              <a:solidFill>
                <a:schemeClr val="bg1"/>
              </a:solidFill>
              <a:ea typeface="굴림" charset="-127"/>
            </a:endParaRPr>
          </a:p>
        </p:txBody>
      </p:sp>
      <p:sp>
        <p:nvSpPr>
          <p:cNvPr id="32770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CN" sz="3600">
                <a:ea typeface="宋体" panose="02010600030101010101" pitchFamily="2" charset="-122"/>
              </a:rPr>
              <a:t>Working mode of devices: interrupt</a:t>
            </a:r>
            <a:endParaRPr lang="zh-CN" altLang="en-US" sz="3600">
              <a:ea typeface="宋体" panose="02010600030101010101" pitchFamily="2" charset="-122"/>
            </a:endParaRPr>
          </a:p>
        </p:txBody>
      </p:sp>
      <p:sp>
        <p:nvSpPr>
          <p:cNvPr id="32774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lvl="1">
              <a:lnSpc>
                <a:spcPct val="120000"/>
              </a:lnSpc>
              <a:spcBef>
                <a:spcPct val="0"/>
              </a:spcBef>
            </a:pPr>
            <a:r>
              <a:rPr kumimoji="0" lang="en-US" altLang="zh-CN" sz="2000">
                <a:ea typeface="宋体" panose="02010600030101010101" pitchFamily="2" charset="-122"/>
              </a:rPr>
              <a:t>Special kernel process sends the data to device port;</a:t>
            </a:r>
          </a:p>
          <a:p>
            <a:pPr lvl="1">
              <a:lnSpc>
                <a:spcPct val="120000"/>
              </a:lnSpc>
              <a:spcBef>
                <a:spcPct val="0"/>
              </a:spcBef>
            </a:pPr>
            <a:r>
              <a:rPr kumimoji="0" lang="en-US" altLang="zh-CN" sz="2000">
                <a:ea typeface="宋体" panose="02010600030101010101" pitchFamily="2" charset="-122"/>
              </a:rPr>
              <a:t>The process goes to sleep and CPU will run other processes;</a:t>
            </a:r>
          </a:p>
          <a:p>
            <a:pPr lvl="1">
              <a:lnSpc>
                <a:spcPct val="120000"/>
              </a:lnSpc>
              <a:spcBef>
                <a:spcPct val="0"/>
              </a:spcBef>
            </a:pPr>
            <a:r>
              <a:rPr kumimoji="0" lang="en-US" altLang="zh-CN" sz="2000">
                <a:ea typeface="宋体" panose="02010600030101010101" pitchFamily="2" charset="-122"/>
              </a:rPr>
              <a:t>The device send interrupt to CPU after the data buffer is empty;</a:t>
            </a:r>
          </a:p>
          <a:p>
            <a:pPr lvl="1">
              <a:lnSpc>
                <a:spcPct val="120000"/>
              </a:lnSpc>
              <a:spcBef>
                <a:spcPct val="0"/>
              </a:spcBef>
            </a:pPr>
            <a:r>
              <a:rPr kumimoji="0" lang="en-US" altLang="zh-CN" sz="2000">
                <a:ea typeface="宋体" panose="02010600030101010101" pitchFamily="2" charset="-122"/>
              </a:rPr>
              <a:t>The kernel process is waked up and send the rest data</a:t>
            </a:r>
          </a:p>
          <a:p>
            <a:pPr lvl="1">
              <a:lnSpc>
                <a:spcPct val="120000"/>
              </a:lnSpc>
              <a:spcBef>
                <a:spcPct val="0"/>
              </a:spcBef>
            </a:pPr>
            <a:r>
              <a:rPr kumimoji="0" lang="en-US" altLang="zh-CN" sz="2000">
                <a:ea typeface="宋体" panose="02010600030101010101" pitchFamily="2" charset="-122"/>
              </a:rPr>
              <a:t>Disadvantage: frequent interrupts are time-consuming </a:t>
            </a:r>
          </a:p>
        </p:txBody>
      </p:sp>
      <p:pic>
        <p:nvPicPr>
          <p:cNvPr id="10" name="Picture 6" descr="中断控制IO机制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9880" y="3735251"/>
            <a:ext cx="9012238" cy="2744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1" name="灯片编号占位符 5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kumimoji="1" sz="2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DE74BAE-0B1F-41D6-AAC2-725AE9F2292C}" type="slidenum">
              <a:rPr kumimoji="0" lang="en-US" altLang="ko-KR" sz="1200">
                <a:solidFill>
                  <a:schemeClr val="bg1"/>
                </a:solidFill>
                <a:ea typeface="굴림" charset="-127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kumimoji="0" lang="en-US" altLang="ko-KR" sz="1200" dirty="0">
              <a:solidFill>
                <a:schemeClr val="bg1"/>
              </a:solidFill>
              <a:ea typeface="굴림" charset="-127"/>
            </a:endParaRPr>
          </a:p>
        </p:txBody>
      </p:sp>
      <p:sp>
        <p:nvSpPr>
          <p:cNvPr id="34818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CN" sz="3600">
                <a:ea typeface="宋体" panose="02010600030101010101" pitchFamily="2" charset="-122"/>
              </a:rPr>
              <a:t>Working mode of devices: DMA</a:t>
            </a:r>
            <a:endParaRPr lang="zh-CN" altLang="en-US" sz="3600">
              <a:ea typeface="宋体" panose="02010600030101010101" pitchFamily="2" charset="-122"/>
            </a:endParaRPr>
          </a:p>
        </p:txBody>
      </p:sp>
      <p:sp>
        <p:nvSpPr>
          <p:cNvPr id="9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  <a:spcBef>
                <a:spcPts val="0"/>
              </a:spcBef>
              <a:defRPr/>
            </a:pPr>
            <a:r>
              <a:rPr kumimoji="0" lang="en-US" altLang="zh-CN" sz="2000" dirty="0">
                <a:ea typeface="宋体" pitchFamily="2" charset="-122"/>
              </a:rPr>
              <a:t>User process causes a CPU trap, the special kernel process sets the registers in device and exits;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defRPr/>
            </a:pPr>
            <a:r>
              <a:rPr kumimoji="0" lang="en-US" altLang="zh-CN" sz="2000" dirty="0">
                <a:ea typeface="宋体" pitchFamily="2" charset="-122"/>
              </a:rPr>
              <a:t>Device read data from memory directly;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defRPr/>
            </a:pPr>
            <a:r>
              <a:rPr kumimoji="0" lang="en-US" altLang="zh-CN" sz="2000" dirty="0">
                <a:ea typeface="宋体" pitchFamily="2" charset="-122"/>
              </a:rPr>
              <a:t>The device send interrupt to CPU after the job is done;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defRPr/>
            </a:pPr>
            <a:r>
              <a:rPr kumimoji="0" lang="en-US" altLang="zh-CN" sz="2000" dirty="0">
                <a:ea typeface="宋体" pitchFamily="2" charset="-122"/>
              </a:rPr>
              <a:t>The user process is waked up and continues run</a:t>
            </a:r>
          </a:p>
        </p:txBody>
      </p:sp>
      <p:pic>
        <p:nvPicPr>
          <p:cNvPr id="8" name="Picture 6" descr="DMA控制IO机制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139"/>
          <a:stretch/>
        </p:blipFill>
        <p:spPr bwMode="auto">
          <a:xfrm>
            <a:off x="2423592" y="3874594"/>
            <a:ext cx="7272808" cy="2650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3" name="Rectangle 2"/>
          <p:cNvSpPr>
            <a:spLocks noGrp="1" noChangeArrowheads="1"/>
          </p:cNvSpPr>
          <p:nvPr>
            <p:ph type="title"/>
          </p:nvPr>
        </p:nvSpPr>
        <p:spPr>
          <a:xfrm>
            <a:off x="2423592" y="2982912"/>
            <a:ext cx="7777162" cy="892175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zh-CN" sz="5400" i="1" dirty="0">
                <a:solidFill>
                  <a:srgbClr val="993300"/>
                </a:solidFill>
                <a:ea typeface="宋体" panose="02010600030101010101" pitchFamily="2" charset="-122"/>
              </a:rPr>
              <a:t>Thanks for your time!</a:t>
            </a:r>
            <a:br>
              <a:rPr lang="en-US" altLang="zh-CN" sz="5400" i="1" dirty="0">
                <a:solidFill>
                  <a:srgbClr val="993300"/>
                </a:solidFill>
                <a:ea typeface="宋体" panose="02010600030101010101" pitchFamily="2" charset="-122"/>
              </a:rPr>
            </a:br>
            <a:r>
              <a:rPr lang="en-US" altLang="zh-CN" sz="5400" i="1" dirty="0">
                <a:solidFill>
                  <a:srgbClr val="993300"/>
                </a:solidFill>
                <a:ea typeface="宋体" panose="02010600030101010101" pitchFamily="2" charset="-122"/>
              </a:rPr>
              <a:t>Questions &amp; Answers</a:t>
            </a:r>
            <a:endParaRPr lang="en-US" altLang="ko-KR" sz="5400" i="1" dirty="0">
              <a:solidFill>
                <a:srgbClr val="993300"/>
              </a:solidFill>
              <a:ea typeface="굴림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sh3_Print">
  <a:themeElements>
    <a:clrScheme name="psh3_Print 2">
      <a:dk1>
        <a:srgbClr val="000000"/>
      </a:dk1>
      <a:lt1>
        <a:srgbClr val="FFFFFF"/>
      </a:lt1>
      <a:dk2>
        <a:srgbClr val="003366"/>
      </a:dk2>
      <a:lt2>
        <a:srgbClr val="CCCCCC"/>
      </a:lt2>
      <a:accent1>
        <a:srgbClr val="C0C9F6"/>
      </a:accent1>
      <a:accent2>
        <a:srgbClr val="A1B67A"/>
      </a:accent2>
      <a:accent3>
        <a:srgbClr val="FFFFFF"/>
      </a:accent3>
      <a:accent4>
        <a:srgbClr val="000000"/>
      </a:accent4>
      <a:accent5>
        <a:srgbClr val="DCE1FA"/>
      </a:accent5>
      <a:accent6>
        <a:srgbClr val="91A56E"/>
      </a:accent6>
      <a:hlink>
        <a:srgbClr val="789ED0"/>
      </a:hlink>
      <a:folHlink>
        <a:srgbClr val="B2B2B2"/>
      </a:folHlink>
    </a:clrScheme>
    <a:fontScheme name="自定义 2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psh3_Print 1">
        <a:dk1>
          <a:srgbClr val="5F5F5F"/>
        </a:dk1>
        <a:lt1>
          <a:srgbClr val="FFFFFF"/>
        </a:lt1>
        <a:dk2>
          <a:srgbClr val="000000"/>
        </a:dk2>
        <a:lt2>
          <a:srgbClr val="DDDDDD"/>
        </a:lt2>
        <a:accent1>
          <a:srgbClr val="C0C0C0"/>
        </a:accent1>
        <a:accent2>
          <a:srgbClr val="EAEAEA"/>
        </a:accent2>
        <a:accent3>
          <a:srgbClr val="FFFFFF"/>
        </a:accent3>
        <a:accent4>
          <a:srgbClr val="505050"/>
        </a:accent4>
        <a:accent5>
          <a:srgbClr val="DCDCDC"/>
        </a:accent5>
        <a:accent6>
          <a:srgbClr val="D4D4D4"/>
        </a:accent6>
        <a:hlink>
          <a:srgbClr val="4D4D4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sh3_Print 2">
        <a:dk1>
          <a:srgbClr val="000000"/>
        </a:dk1>
        <a:lt1>
          <a:srgbClr val="FFFFFF"/>
        </a:lt1>
        <a:dk2>
          <a:srgbClr val="003366"/>
        </a:dk2>
        <a:lt2>
          <a:srgbClr val="CCCCCC"/>
        </a:lt2>
        <a:accent1>
          <a:srgbClr val="C0C9F6"/>
        </a:accent1>
        <a:accent2>
          <a:srgbClr val="A1B67A"/>
        </a:accent2>
        <a:accent3>
          <a:srgbClr val="FFFFFF"/>
        </a:accent3>
        <a:accent4>
          <a:srgbClr val="000000"/>
        </a:accent4>
        <a:accent5>
          <a:srgbClr val="DCE1FA"/>
        </a:accent5>
        <a:accent6>
          <a:srgbClr val="91A56E"/>
        </a:accent6>
        <a:hlink>
          <a:srgbClr val="789ED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sh3_Print 3">
        <a:dk1>
          <a:srgbClr val="384868"/>
        </a:dk1>
        <a:lt1>
          <a:srgbClr val="FFFFFF"/>
        </a:lt1>
        <a:dk2>
          <a:srgbClr val="000000"/>
        </a:dk2>
        <a:lt2>
          <a:srgbClr val="CCCCCC"/>
        </a:lt2>
        <a:accent1>
          <a:srgbClr val="C0C9F6"/>
        </a:accent1>
        <a:accent2>
          <a:srgbClr val="A1B67A"/>
        </a:accent2>
        <a:accent3>
          <a:srgbClr val="FFFFFF"/>
        </a:accent3>
        <a:accent4>
          <a:srgbClr val="2E3C58"/>
        </a:accent4>
        <a:accent5>
          <a:srgbClr val="DCE1FA"/>
        </a:accent5>
        <a:accent6>
          <a:srgbClr val="91A56E"/>
        </a:accent6>
        <a:hlink>
          <a:srgbClr val="789ED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psh3_Print</Template>
  <TotalTime>0</TotalTime>
  <Words>1275</Words>
  <Application>Microsoft Office PowerPoint</Application>
  <PresentationFormat>宽屏</PresentationFormat>
  <Paragraphs>167</Paragraphs>
  <Slides>24</Slides>
  <Notes>11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8" baseType="lpstr">
      <vt:lpstr>굴림</vt:lpstr>
      <vt:lpstr>等线</vt:lpstr>
      <vt:lpstr>等线 Light</vt:lpstr>
      <vt:lpstr>黑体</vt:lpstr>
      <vt:lpstr>喵呜黑体</vt:lpstr>
      <vt:lpstr>宋体</vt:lpstr>
      <vt:lpstr>微软雅黑</vt:lpstr>
      <vt:lpstr>Arial</vt:lpstr>
      <vt:lpstr>Times New Roman</vt:lpstr>
      <vt:lpstr>Verdana</vt:lpstr>
      <vt:lpstr>Wingdings</vt:lpstr>
      <vt:lpstr>psh3_Print</vt:lpstr>
      <vt:lpstr>Office 主题​​</vt:lpstr>
      <vt:lpstr>Visio</vt:lpstr>
      <vt:lpstr>操作系统</vt:lpstr>
      <vt:lpstr>章节7：设备管理</vt:lpstr>
      <vt:lpstr>前情提要</vt:lpstr>
      <vt:lpstr>设备有什么特点？</vt:lpstr>
      <vt:lpstr>示例：电阻式触摸屏工作原理</vt:lpstr>
      <vt:lpstr>示例：电容式触摸屏工作原理</vt:lpstr>
      <vt:lpstr>示例：触摸屏与计算机连接示意</vt:lpstr>
      <vt:lpstr>Architecture of Device Management System</vt:lpstr>
      <vt:lpstr>PowerPoint 演示文稿</vt:lpstr>
      <vt:lpstr>设备的工作</vt:lpstr>
      <vt:lpstr>Communication between CPU and devices</vt:lpstr>
      <vt:lpstr>How to access devices?</vt:lpstr>
      <vt:lpstr>Dependent address : I/O port</vt:lpstr>
      <vt:lpstr>Memory-mapped I/O</vt:lpstr>
      <vt:lpstr>Memory-mapped I/O</vt:lpstr>
      <vt:lpstr>现实中处理器的地址空间布局</vt:lpstr>
      <vt:lpstr>设备管理的问题</vt:lpstr>
      <vt:lpstr>How to access devices---BUS 共享的总线方便了设计但也限制速度</vt:lpstr>
      <vt:lpstr>How to access devices---BUS</vt:lpstr>
      <vt:lpstr>如何及时发现数据并传输</vt:lpstr>
      <vt:lpstr>Working mode of devices: busy waiting</vt:lpstr>
      <vt:lpstr>Working mode of devices: interrupt</vt:lpstr>
      <vt:lpstr>Working mode of devices: DMA</vt:lpstr>
      <vt:lpstr>Thanks for your time! Questions &amp; Answers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2023-12-04T10:21:18Z</dcterms:created>
  <dcterms:modified xsi:type="dcterms:W3CDTF">2025-12-05T08:29:49Z</dcterms:modified>
</cp:coreProperties>
</file>