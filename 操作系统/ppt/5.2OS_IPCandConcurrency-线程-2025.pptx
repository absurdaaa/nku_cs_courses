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2" r:id="rId1"/>
    <p:sldMasterId id="2147483687" r:id="rId2"/>
  </p:sldMasterIdLst>
  <p:notesMasterIdLst>
    <p:notesMasterId r:id="rId37"/>
  </p:notesMasterIdLst>
  <p:sldIdLst>
    <p:sldId id="2686" r:id="rId3"/>
    <p:sldId id="1962" r:id="rId4"/>
    <p:sldId id="259" r:id="rId5"/>
    <p:sldId id="260" r:id="rId6"/>
    <p:sldId id="290" r:id="rId7"/>
    <p:sldId id="261" r:id="rId8"/>
    <p:sldId id="262" r:id="rId9"/>
    <p:sldId id="263" r:id="rId10"/>
    <p:sldId id="265" r:id="rId11"/>
    <p:sldId id="267" r:id="rId12"/>
    <p:sldId id="268" r:id="rId13"/>
    <p:sldId id="269" r:id="rId14"/>
    <p:sldId id="291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1963" r:id="rId23"/>
    <p:sldId id="1965" r:id="rId24"/>
    <p:sldId id="1964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7" r:id="rId34"/>
    <p:sldId id="288" r:id="rId35"/>
    <p:sldId id="289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38" userDrawn="1">
          <p15:clr>
            <a:srgbClr val="A4A3A4"/>
          </p15:clr>
        </p15:guide>
        <p15:guide id="2" orient="horz" pos="36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15" y="72"/>
      </p:cViewPr>
      <p:guideLst>
        <p:guide pos="438"/>
        <p:guide orient="horz" pos="36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70D415-073F-42C2-B780-FB5B35AF3DC4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00436C-B5CE-4262-BBE6-EA50C86D63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421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2EC2A0-6CE8-46C2-A634-8EE786004A2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9195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2EC2A0-6CE8-46C2-A634-8EE786004A2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984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>
            <a:extLst>
              <a:ext uri="{FF2B5EF4-FFF2-40B4-BE49-F238E27FC236}">
                <a16:creationId xmlns:a16="http://schemas.microsoft.com/office/drawing/2014/main" id="{116E3390-3EA8-507A-8C70-468597030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4D899C50-229B-2CCA-DEEF-34565CAFD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marL="342900" lvl="0" indent="-34290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¢"/>
            </a:pPr>
            <a:r>
              <a:rPr lang="zh-CN" altLang="en-US" dirty="0"/>
              <a:t>单击此处编辑母版文本样式</a:t>
            </a:r>
          </a:p>
          <a:p>
            <a:pPr marL="742950" lvl="1" indent="-285750" algn="l" defTabSz="9144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C9F6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D51C00C-6AAB-53E5-50AD-7B8C4C057C06}"/>
              </a:ext>
            </a:extLst>
          </p:cNvPr>
          <p:cNvGrpSpPr/>
          <p:nvPr userDrawn="1"/>
        </p:nvGrpSpPr>
        <p:grpSpPr>
          <a:xfrm>
            <a:off x="0" y="980758"/>
            <a:ext cx="633730" cy="406400"/>
            <a:chOff x="56" y="2009"/>
            <a:chExt cx="998" cy="640"/>
          </a:xfrm>
        </p:grpSpPr>
        <p:sp>
          <p:nvSpPr>
            <p:cNvPr id="10" name="任意多边形: 形状 7">
              <a:extLst>
                <a:ext uri="{FF2B5EF4-FFF2-40B4-BE49-F238E27FC236}">
                  <a16:creationId xmlns:a16="http://schemas.microsoft.com/office/drawing/2014/main" id="{FD61A695-8ECE-F40C-C62B-CFC9FE2EEC36}"/>
                </a:ext>
              </a:extLst>
            </p:cNvPr>
            <p:cNvSpPr/>
            <p:nvPr/>
          </p:nvSpPr>
          <p:spPr>
            <a:xfrm>
              <a:off x="56" y="2009"/>
              <a:ext cx="999" cy="641"/>
            </a:xfrm>
            <a:custGeom>
              <a:avLst/>
              <a:gdLst>
                <a:gd name="connsiteX0" fmla="*/ 0 w 999"/>
                <a:gd name="connsiteY0" fmla="*/ 2 h 641"/>
                <a:gd name="connsiteX1" fmla="*/ 761 w 999"/>
                <a:gd name="connsiteY1" fmla="*/ 0 h 641"/>
                <a:gd name="connsiteX2" fmla="*/ 999 w 999"/>
                <a:gd name="connsiteY2" fmla="*/ 321 h 641"/>
                <a:gd name="connsiteX3" fmla="*/ 750 w 999"/>
                <a:gd name="connsiteY3" fmla="*/ 641 h 641"/>
                <a:gd name="connsiteX4" fmla="*/ 0 w 999"/>
                <a:gd name="connsiteY4" fmla="*/ 639 h 641"/>
                <a:gd name="connsiteX5" fmla="*/ 0 w 999"/>
                <a:gd name="connsiteY5" fmla="*/ 2 h 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9" h="641">
                  <a:moveTo>
                    <a:pt x="0" y="2"/>
                  </a:moveTo>
                  <a:lnTo>
                    <a:pt x="761" y="0"/>
                  </a:lnTo>
                  <a:cubicBezTo>
                    <a:pt x="864" y="0"/>
                    <a:pt x="999" y="145"/>
                    <a:pt x="999" y="321"/>
                  </a:cubicBezTo>
                  <a:cubicBezTo>
                    <a:pt x="999" y="496"/>
                    <a:pt x="853" y="641"/>
                    <a:pt x="750" y="641"/>
                  </a:cubicBezTo>
                  <a:lnTo>
                    <a:pt x="0" y="639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7123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52B1E43-6C0F-A567-B31E-AC57BE08FDCB}"/>
                </a:ext>
              </a:extLst>
            </p:cNvPr>
            <p:cNvSpPr/>
            <p:nvPr/>
          </p:nvSpPr>
          <p:spPr>
            <a:xfrm>
              <a:off x="488" y="2111"/>
              <a:ext cx="437" cy="4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zh-CN" altLang="en-US" dirty="0">
                <a:latin typeface="喵呜黑体" panose="02000503000000000000" charset="-122"/>
                <a:ea typeface="喵呜黑体" panose="02000503000000000000" charset="-122"/>
              </a:endParaRP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7E9DB242-AF81-E129-581F-768C4D0BEB28}"/>
              </a:ext>
            </a:extLst>
          </p:cNvPr>
          <p:cNvSpPr txBox="1"/>
          <p:nvPr userDrawn="1"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IPC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与并发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--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线程</a:t>
            </a:r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9B18E5A6-47D1-926A-F09C-89054F372D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274176" y="6547262"/>
            <a:ext cx="2844800" cy="304800"/>
          </a:xfrm>
          <a:prstGeom prst="rect">
            <a:avLst/>
          </a:prstGeom>
          <a:ln/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3EAEF3E-19BA-4213-A85B-1F689728CECF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97652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4" presetClass="entr" presetSubtype="1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9FA4879A-8191-8BBF-279C-805AAE260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871855"/>
            <a:ext cx="10801200" cy="680403"/>
          </a:xfrm>
          <a:prstGeom prst="rect">
            <a:avLst/>
          </a:prstGeom>
        </p:spPr>
        <p:txBody>
          <a:bodyPr anchor="ctr"/>
          <a:lstStyle>
            <a:lvl1pPr algn="l">
              <a:defRPr sz="3600"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F179CC67-C340-6B77-EBDF-6EEDA300D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F0CAB6-DCBA-48AB-D6E7-7774F70C77ED}"/>
              </a:ext>
            </a:extLst>
          </p:cNvPr>
          <p:cNvSpPr txBox="1"/>
          <p:nvPr userDrawn="1"/>
        </p:nvSpPr>
        <p:spPr>
          <a:xfrm>
            <a:off x="152400" y="0"/>
            <a:ext cx="6095365" cy="70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章节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IPC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与并发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--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线程</a:t>
            </a:r>
          </a:p>
        </p:txBody>
      </p:sp>
      <p:sp>
        <p:nvSpPr>
          <p:cNvPr id="10" name="Rectangle 25">
            <a:extLst>
              <a:ext uri="{FF2B5EF4-FFF2-40B4-BE49-F238E27FC236}">
                <a16:creationId xmlns:a16="http://schemas.microsoft.com/office/drawing/2014/main" id="{47948F17-A2B7-181B-9522-5C58925BA9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274176" y="6547262"/>
            <a:ext cx="2844800" cy="304800"/>
          </a:xfrm>
          <a:prstGeom prst="rect">
            <a:avLst/>
          </a:prstGeom>
          <a:ln/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3EAEF3E-19BA-4213-A85B-1F689728CECF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08341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4" y="1371600"/>
            <a:ext cx="5274733" cy="495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EAEF3E-19BA-4213-A85B-1F689728CEC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13120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F9EF51-6B99-4AD4-83F1-F6D419B391E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3452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20DB9-B0E4-4A81-988C-FBBB732D6F5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10563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B35390-FBD5-4AD1-9630-7751BB08F3C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9540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DEC0BD-1C9B-4238-BAF6-47B27DB792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3137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0AC306-6975-496A-BFBA-CFB773CDDF2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2500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0" y="1371600"/>
            <a:ext cx="10752667" cy="50101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6A2EBF-6055-449F-99EE-9C06F5875DB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96836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59901" y="304800"/>
            <a:ext cx="2688167" cy="60198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95401" y="304800"/>
            <a:ext cx="7861300" cy="6019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71EBB3-3E84-49FA-B91F-7EF666384BB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52562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95401" y="304801"/>
            <a:ext cx="10369551" cy="8921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295400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73334" y="1371600"/>
            <a:ext cx="5274733" cy="4953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3282E1-CAC2-4021-9FE3-D87A9FFFE4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76582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23"/>
          <p:cNvSpPr>
            <a:spLocks noGrp="1" noChangeArrowheads="1"/>
          </p:cNvSpPr>
          <p:nvPr>
            <p:ph type="dt" sz="half" idx="10"/>
          </p:nvPr>
        </p:nvSpPr>
        <p:spPr>
          <a:xfrm>
            <a:off x="1303867" y="6508750"/>
            <a:ext cx="3352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24"/>
          <p:cNvSpPr>
            <a:spLocks noGrp="1" noChangeArrowheads="1"/>
          </p:cNvSpPr>
          <p:nvPr>
            <p:ph type="ftr" sz="quarter" idx="11"/>
          </p:nvPr>
        </p:nvSpPr>
        <p:spPr>
          <a:xfrm>
            <a:off x="7924800" y="6508750"/>
            <a:ext cx="3860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2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883151" y="6508750"/>
            <a:ext cx="28448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0D5C89-3F50-4E78-90D8-3CB123F8C3B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97095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userDrawn="1">
  <p:cSld name="2_标题幻灯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0F9C054-BF2A-43A1-85AA-30C75C185C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416" y="0"/>
            <a:ext cx="32385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031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538595"/>
            <a:ext cx="2743200" cy="316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013260-E2F6-48C8-BC23-506F661997E7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538595"/>
            <a:ext cx="4114800" cy="316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538595"/>
            <a:ext cx="2743200" cy="3162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7884160" y="57791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26035" y="-635"/>
            <a:ext cx="12217400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BB598EF-7AE5-40FD-AD7A-7EA641BEFB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-20935"/>
            <a:ext cx="3131418" cy="69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659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5258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3441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650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5084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5842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333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7223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2429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322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3260-E2F6-48C8-BC23-506F661997E7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534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1AC2572-95AB-FC27-F772-FAB116400E94}"/>
              </a:ext>
            </a:extLst>
          </p:cNvPr>
          <p:cNvSpPr/>
          <p:nvPr userDrawn="1"/>
        </p:nvSpPr>
        <p:spPr>
          <a:xfrm>
            <a:off x="0" y="6538324"/>
            <a:ext cx="12192000" cy="324646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7EE290-F4D2-7CCC-9476-580C9C4BBAD1}"/>
              </a:ext>
            </a:extLst>
          </p:cNvPr>
          <p:cNvSpPr/>
          <p:nvPr userDrawn="1"/>
        </p:nvSpPr>
        <p:spPr>
          <a:xfrm>
            <a:off x="-637" y="-635"/>
            <a:ext cx="12192001" cy="688975"/>
          </a:xfrm>
          <a:prstGeom prst="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712355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42428B3-15CD-481B-8312-D802C2AA737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2149" y="0"/>
            <a:ext cx="323850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838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¢"/>
        <a:defRPr sz="28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13260-E2F6-48C8-BC23-506F661997E7}" type="datetimeFigureOut">
              <a:rPr lang="zh-CN" altLang="en-US" smtClean="0"/>
              <a:t>2025/10/21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8AD4E-5105-4F1B-8C66-A07DA4A331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382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"/>
            <a:lum/>
          </a:blip>
          <a:srcRect/>
          <a:stretch>
            <a:fillRect l="22000" t="5000" r="22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2330450"/>
            <a:ext cx="12192000" cy="1192530"/>
          </a:xfrm>
        </p:spPr>
        <p:txBody>
          <a:bodyPr>
            <a:normAutofit/>
          </a:bodyPr>
          <a:lstStyle/>
          <a:p>
            <a:pPr algn="ctr"/>
            <a:r>
              <a:rPr lang="zh-CN" altLang="en-US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91497" y="3880332"/>
            <a:ext cx="8607212" cy="1923701"/>
          </a:xfrm>
        </p:spPr>
        <p:txBody>
          <a:bodyPr>
            <a:normAutofit/>
          </a:bodyPr>
          <a:lstStyle/>
          <a:p>
            <a:pPr algn="ctr"/>
            <a:r>
              <a:rPr lang="zh-CN" altLang="en-US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宫晓利、蒲凌君、张久武、李浩然    </a:t>
            </a:r>
            <a:endParaRPr lang="en-US" altLang="zh-CN" sz="2400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gongxiaoli@nankai.edu.cn</a:t>
            </a:r>
            <a:r>
              <a:rPr lang="zh-CN" altLang="en-US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、pulingjun</a:t>
            </a:r>
            <a:r>
              <a:rPr lang="en-US" altLang="zh-CN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@nankai.edu.cn</a:t>
            </a:r>
            <a:r>
              <a:rPr lang="zh-CN" altLang="en-US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zhangjiuwu@nankai.edu.cn wanch_lhr@nankai.edu.cn</a:t>
            </a:r>
            <a:endParaRPr lang="zh-CN" altLang="en-US" sz="2400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南开大学 计算机学院  密码与网络空间安全学院</a:t>
            </a:r>
            <a:endParaRPr lang="en-US" altLang="zh-CN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lang="zh-CN" altLang="en-US" sz="2400" b="1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 flipV="1">
            <a:off x="2133974" y="3701853"/>
            <a:ext cx="8322258" cy="45719"/>
          </a:xfrm>
          <a:prstGeom prst="round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98895" y="1233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89"/>
    </mc:Choice>
    <mc:Fallback xmlns="">
      <p:transition spd="slow" advTm="1518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0" y="2492826"/>
            <a:ext cx="12192000" cy="119221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zh-CN" altLang="en-US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章节</a:t>
            </a:r>
            <a:r>
              <a:rPr lang="en-US" altLang="zh-CN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6000" dirty="0">
                <a:solidFill>
                  <a:srgbClr val="7123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：进程间通信与并发控制</a:t>
            </a:r>
            <a:endParaRPr lang="en-US" altLang="zh-CN" sz="6000" dirty="0">
              <a:solidFill>
                <a:srgbClr val="7123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 flipV="1">
            <a:off x="2133974" y="3701853"/>
            <a:ext cx="8322258" cy="45719"/>
          </a:xfrm>
          <a:prstGeom prst="roundRect">
            <a:avLst/>
          </a:prstGeom>
          <a:solidFill>
            <a:srgbClr val="7123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98895" y="1233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89"/>
    </mc:Choice>
    <mc:Fallback xmlns="">
      <p:transition spd="slow" advTm="1518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4"/>
          <p:cNvSpPr>
            <a:spLocks noGrp="1" noChangeArrowheads="1"/>
          </p:cNvSpPr>
          <p:nvPr>
            <p:ph type="title"/>
          </p:nvPr>
        </p:nvSpPr>
        <p:spPr>
          <a:xfrm>
            <a:off x="695400" y="3088798"/>
            <a:ext cx="10801200" cy="680403"/>
          </a:xfrm>
        </p:spPr>
        <p:txBody>
          <a:bodyPr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线程的发展</a:t>
            </a:r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0DD833E0-7A5F-B53E-D6B6-9B0FAF37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</p:spPr>
        <p:txBody>
          <a:bodyPr/>
          <a:lstStyle/>
          <a:p>
            <a:pPr algn="r" defTabSz="914400" fontAlgn="base">
              <a:spcAft>
                <a:spcPct val="0"/>
              </a:spcAft>
              <a:defRPr/>
            </a:pPr>
            <a:fld id="{B40D5C89-3F50-4E78-90D8-3CB123F8C3B8}" type="slidenum">
              <a:rPr lang="en-US" altLang="ko-KR">
                <a:solidFill>
                  <a:srgbClr val="FFFFFF"/>
                </a:solidFill>
                <a:latin typeface="Verdana" panose="020B0604030504040204" pitchFamily="34" charset="0"/>
              </a:rPr>
              <a:pPr algn="r" defTabSz="914400" fontAlgn="base">
                <a:spcAft>
                  <a:spcPct val="0"/>
                </a:spcAft>
                <a:defRPr/>
              </a:pPr>
              <a:t>3</a:t>
            </a:fld>
            <a:endParaRPr lang="en-US" altLang="ko-KR" dirty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866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dirty="0">
                <a:latin typeface="+mj-ea"/>
              </a:rPr>
              <a:t>How to implement this GAME</a:t>
            </a:r>
            <a:endParaRPr lang="zh-CN" altLang="en-US" dirty="0">
              <a:latin typeface="+mj-ea"/>
            </a:endParaRPr>
          </a:p>
        </p:txBody>
      </p:sp>
      <p:pic>
        <p:nvPicPr>
          <p:cNvPr id="9" name="内容占位符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765" y="1771333"/>
            <a:ext cx="4673853" cy="4010342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096000" y="1704658"/>
            <a:ext cx="50101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我方坦克控制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敌方坦克移动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子弹飞行动画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爆炸效果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播放音效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/>
            </a:pP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为了保证连续性，需要在视觉暂留时间内完成</a:t>
            </a:r>
          </a:p>
        </p:txBody>
      </p:sp>
      <p:sp>
        <p:nvSpPr>
          <p:cNvPr id="3" name="灯片编号占位符 5">
            <a:extLst>
              <a:ext uri="{FF2B5EF4-FFF2-40B4-BE49-F238E27FC236}">
                <a16:creationId xmlns:a16="http://schemas.microsoft.com/office/drawing/2014/main" id="{3383110C-29D0-EACF-A5E3-4EC834976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</p:spPr>
        <p:txBody>
          <a:bodyPr/>
          <a:lstStyle/>
          <a:p>
            <a:pPr algn="r" defTabSz="914400" fontAlgn="base">
              <a:spcAft>
                <a:spcPct val="0"/>
              </a:spcAft>
              <a:defRPr/>
            </a:pPr>
            <a:fld id="{B40D5C89-3F50-4E78-90D8-3CB123F8C3B8}" type="slidenum">
              <a:rPr lang="en-US" altLang="ko-KR">
                <a:solidFill>
                  <a:srgbClr val="FFFFFF"/>
                </a:solidFill>
                <a:latin typeface="Verdana" panose="020B0604030504040204" pitchFamily="34" charset="0"/>
              </a:rPr>
              <a:pPr algn="r" defTabSz="914400" fontAlgn="base">
                <a:spcAft>
                  <a:spcPct val="0"/>
                </a:spcAft>
                <a:defRPr/>
              </a:pPr>
              <a:t>4</a:t>
            </a:fld>
            <a:endParaRPr lang="en-US" altLang="ko-KR" dirty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819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7037E-6 L -0.21914 -0.0007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964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流戏开发者的需求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095999" y="1761807"/>
            <a:ext cx="5286375" cy="401034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/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/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/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/>
            </a:lvl9pPr>
          </a:lstStyle>
          <a:p>
            <a:r>
              <a:rPr lang="zh-CN" altLang="en-US" dirty="0"/>
              <a:t>程序中存在若干段独立的代码（甚至是循环）例如：</a:t>
            </a:r>
            <a:endParaRPr lang="en-US" altLang="zh-CN" dirty="0"/>
          </a:p>
          <a:p>
            <a:pPr lvl="1"/>
            <a:r>
              <a:rPr lang="zh-CN" altLang="en-US" dirty="0"/>
              <a:t>敌方坦克移动</a:t>
            </a:r>
            <a:endParaRPr lang="en-US" altLang="zh-CN" dirty="0"/>
          </a:p>
          <a:p>
            <a:pPr lvl="1"/>
            <a:r>
              <a:rPr lang="zh-CN" altLang="en-US" dirty="0"/>
              <a:t>子弹飞行动画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需要这些代码快速的交替执行</a:t>
            </a:r>
            <a:endParaRPr lang="en-US" altLang="zh-CN" dirty="0"/>
          </a:p>
          <a:p>
            <a:pPr lvl="1"/>
            <a:r>
              <a:rPr lang="zh-CN" altLang="en-US" dirty="0"/>
              <a:t>从而形成视觉暂留效果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这些代码本身需要有大量的数据共享</a:t>
            </a:r>
            <a:endParaRPr lang="en-US" altLang="zh-CN" dirty="0"/>
          </a:p>
          <a:p>
            <a:pPr lvl="1"/>
            <a:r>
              <a:rPr lang="zh-CN" altLang="en-US" dirty="0"/>
              <a:t>在底层画布上绘制</a:t>
            </a:r>
            <a:endParaRPr lang="en-US" altLang="zh-CN" dirty="0"/>
          </a:p>
          <a:p>
            <a:pPr lvl="1"/>
            <a:r>
              <a:rPr lang="zh-CN" altLang="en-US" dirty="0"/>
              <a:t>检测是否发生了撞击</a:t>
            </a:r>
          </a:p>
        </p:txBody>
      </p:sp>
      <p:pic>
        <p:nvPicPr>
          <p:cNvPr id="14" name="内容占位符 8">
            <a:extLst>
              <a:ext uri="{FF2B5EF4-FFF2-40B4-BE49-F238E27FC236}">
                <a16:creationId xmlns:a16="http://schemas.microsoft.com/office/drawing/2014/main" id="{C1BC1DDE-81FA-47D4-56E4-A3E24EB377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63" y="1771334"/>
            <a:ext cx="4673853" cy="4010342"/>
          </a:xfrm>
          <a:prstGeom prst="rect">
            <a:avLst/>
          </a:prstGeom>
        </p:spPr>
      </p:pic>
      <p:sp>
        <p:nvSpPr>
          <p:cNvPr id="16" name="灯片编号占位符 5">
            <a:extLst>
              <a:ext uri="{FF2B5EF4-FFF2-40B4-BE49-F238E27FC236}">
                <a16:creationId xmlns:a16="http://schemas.microsoft.com/office/drawing/2014/main" id="{21587C6F-151D-0E7F-AA9B-D74B337E3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</p:spPr>
        <p:txBody>
          <a:bodyPr/>
          <a:lstStyle/>
          <a:p>
            <a:pPr algn="r" defTabSz="914400" fontAlgn="base">
              <a:spcAft>
                <a:spcPct val="0"/>
              </a:spcAft>
              <a:defRPr/>
            </a:pPr>
            <a:fld id="{B40D5C89-3F50-4E78-90D8-3CB123F8C3B8}" type="slidenum">
              <a:rPr lang="en-US" altLang="ko-KR">
                <a:solidFill>
                  <a:srgbClr val="FFFFFF"/>
                </a:solidFill>
                <a:latin typeface="Verdana" panose="020B0604030504040204" pitchFamily="34" charset="0"/>
              </a:rPr>
              <a:pPr algn="r" defTabSz="914400" fontAlgn="base">
                <a:spcAft>
                  <a:spcPct val="0"/>
                </a:spcAft>
                <a:defRPr/>
              </a:pPr>
              <a:t>5</a:t>
            </a:fld>
            <a:endParaRPr lang="en-US" altLang="ko-KR" dirty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060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259" y="1472412"/>
            <a:ext cx="7177592" cy="4976044"/>
          </a:xfrm>
          <a:prstGeom prst="rect">
            <a:avLst/>
          </a:prstGeom>
        </p:spPr>
      </p:pic>
      <p:sp>
        <p:nvSpPr>
          <p:cNvPr id="9" name="标题 6">
            <a:extLst>
              <a:ext uri="{FF2B5EF4-FFF2-40B4-BE49-F238E27FC236}">
                <a16:creationId xmlns:a16="http://schemas.microsoft.com/office/drawing/2014/main" id="{C758D004-FC3E-AFAA-4AB7-94EFBEAAD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871855"/>
            <a:ext cx="11020350" cy="68040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2400" dirty="0"/>
              <a:t>进程可以很好的支持多段程序的快速交叉执行，但是不能实现数据高效共享</a:t>
            </a:r>
          </a:p>
        </p:txBody>
      </p:sp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11E5F471-9119-D4A9-DE75-98B49613B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</p:spPr>
        <p:txBody>
          <a:bodyPr/>
          <a:lstStyle/>
          <a:p>
            <a:pPr algn="r" defTabSz="914400" fontAlgn="base">
              <a:spcAft>
                <a:spcPct val="0"/>
              </a:spcAft>
              <a:defRPr/>
            </a:pPr>
            <a:fld id="{B40D5C89-3F50-4E78-90D8-3CB123F8C3B8}" type="slidenum">
              <a:rPr lang="en-US" altLang="ko-KR">
                <a:solidFill>
                  <a:srgbClr val="FFFFFF"/>
                </a:solidFill>
                <a:latin typeface="Verdana" panose="020B0604030504040204" pitchFamily="34" charset="0"/>
              </a:rPr>
              <a:pPr algn="r" defTabSz="914400" fontAlgn="base">
                <a:spcAft>
                  <a:spcPct val="0"/>
                </a:spcAft>
                <a:defRPr/>
              </a:pPr>
              <a:t>6</a:t>
            </a:fld>
            <a:endParaRPr lang="en-US" altLang="ko-KR" dirty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529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Thread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1268" name="Text Box 5"/>
          <p:cNvSpPr txBox="1">
            <a:spLocks noChangeArrowheads="1"/>
          </p:cNvSpPr>
          <p:nvPr/>
        </p:nvSpPr>
        <p:spPr bwMode="auto">
          <a:xfrm>
            <a:off x="1263649" y="1832131"/>
            <a:ext cx="9832975" cy="3647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 eaLnBrk="0" fontAlgn="base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None/>
              <a:defRPr/>
            </a:pPr>
            <a:r>
              <a:rPr lang="en-US" altLang="zh-CN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线程定义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None/>
              <a:defRPr/>
            </a:pPr>
            <a:r>
              <a:rPr lang="zh-CN" altLang="en-US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线程是进程内一个相对独立的、具有可调度特性的执行单元</a:t>
            </a:r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。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None/>
              <a:defRPr/>
            </a:pP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8DF4E4-0872-7EC8-4D15-37B04ECF4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</p:spPr>
        <p:txBody>
          <a:bodyPr/>
          <a:lstStyle/>
          <a:p>
            <a:pPr algn="r" defTabSz="914400" fontAlgn="base">
              <a:spcAft>
                <a:spcPct val="0"/>
              </a:spcAft>
              <a:defRPr/>
            </a:pPr>
            <a:fld id="{B40D5C89-3F50-4E78-90D8-3CB123F8C3B8}" type="slidenum">
              <a:rPr lang="en-US" altLang="ko-KR">
                <a:solidFill>
                  <a:srgbClr val="FFFFFF"/>
                </a:solidFill>
                <a:latin typeface="Verdana" panose="020B0604030504040204" pitchFamily="34" charset="0"/>
              </a:rPr>
              <a:pPr algn="r" defTabSz="914400" fontAlgn="base">
                <a:spcAft>
                  <a:spcPct val="0"/>
                </a:spcAft>
                <a:defRPr/>
              </a:pPr>
              <a:t>7</a:t>
            </a:fld>
            <a:endParaRPr lang="en-US" altLang="ko-KR" dirty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103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75" y="3088798"/>
            <a:ext cx="10801200" cy="680403"/>
          </a:xfrm>
        </p:spPr>
        <p:txBody>
          <a:bodyPr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进程和线程的编程方式</a:t>
            </a: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4483F660-1958-0F66-B072-82DF58302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</p:spPr>
        <p:txBody>
          <a:bodyPr/>
          <a:lstStyle/>
          <a:p>
            <a:pPr algn="r" defTabSz="914400" fontAlgn="base">
              <a:spcAft>
                <a:spcPct val="0"/>
              </a:spcAft>
              <a:defRPr/>
            </a:pPr>
            <a:fld id="{B40D5C89-3F50-4E78-90D8-3CB123F8C3B8}" type="slidenum">
              <a:rPr lang="en-US" altLang="ko-KR">
                <a:solidFill>
                  <a:srgbClr val="FFFFFF"/>
                </a:solidFill>
                <a:latin typeface="Verdana" panose="020B0604030504040204" pitchFamily="34" charset="0"/>
              </a:rPr>
              <a:pPr algn="r" defTabSz="914400" fontAlgn="base">
                <a:spcAft>
                  <a:spcPct val="0"/>
                </a:spcAft>
                <a:defRPr/>
              </a:pPr>
              <a:t>8</a:t>
            </a:fld>
            <a:endParaRPr lang="en-US" altLang="ko-KR" dirty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973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线程创建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sz="2400" dirty="0"/>
              <a:t>创建一个新的“执行体”，用于执行某一个函数</a:t>
            </a:r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518" y="717171"/>
            <a:ext cx="5672891" cy="54178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563" y="-46023"/>
            <a:ext cx="6553200" cy="690402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5125" y="55315"/>
            <a:ext cx="6434068" cy="6802686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975CC2-A391-9489-C05C-36F00F5B3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</p:spPr>
        <p:txBody>
          <a:bodyPr/>
          <a:lstStyle/>
          <a:p>
            <a:pPr algn="r" defTabSz="914400" fontAlgn="base">
              <a:spcAft>
                <a:spcPct val="0"/>
              </a:spcAft>
              <a:defRPr/>
            </a:pPr>
            <a:fld id="{B40D5C89-3F50-4E78-90D8-3CB123F8C3B8}" type="slidenum">
              <a:rPr lang="en-US" altLang="ko-KR">
                <a:solidFill>
                  <a:srgbClr val="FFFFFF"/>
                </a:solidFill>
                <a:latin typeface="Verdana" panose="020B0604030504040204" pitchFamily="34" charset="0"/>
              </a:rPr>
              <a:pPr algn="r" defTabSz="914400" fontAlgn="base">
                <a:spcAft>
                  <a:spcPct val="0"/>
                </a:spcAft>
                <a:defRPr/>
              </a:pPr>
              <a:t>9</a:t>
            </a:fld>
            <a:endParaRPr lang="en-US" altLang="ko-KR" dirty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05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Implementing Threads (2)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6D0BF87-3297-55E2-5D02-2D4C08A56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zh-CN" altLang="en-US" dirty="0"/>
              <a:t>线程库概念</a:t>
            </a:r>
          </a:p>
          <a:p>
            <a:pPr lvl="1"/>
            <a:r>
              <a:rPr lang="en-US" altLang="zh-CN" dirty="0"/>
              <a:t> OS</a:t>
            </a:r>
            <a:r>
              <a:rPr lang="zh-CN" altLang="en-US" dirty="0"/>
              <a:t>可实现</a:t>
            </a:r>
            <a:r>
              <a:rPr lang="en-US" altLang="zh-CN" dirty="0"/>
              <a:t>Multi-Tasking</a:t>
            </a:r>
            <a:r>
              <a:rPr lang="zh-CN" altLang="en-US" dirty="0"/>
              <a:t>，并实现各个</a:t>
            </a:r>
            <a:r>
              <a:rPr lang="en-US" altLang="zh-CN" dirty="0"/>
              <a:t>Task</a:t>
            </a:r>
            <a:r>
              <a:rPr lang="zh-CN" altLang="en-US" dirty="0"/>
              <a:t>寻址空间的隔离。</a:t>
            </a:r>
          </a:p>
          <a:p>
            <a:pPr lvl="1"/>
            <a:r>
              <a:rPr lang="zh-CN" altLang="en-US" dirty="0"/>
              <a:t> 多数现代</a:t>
            </a:r>
            <a:r>
              <a:rPr lang="en-US" altLang="zh-CN" dirty="0"/>
              <a:t>OS</a:t>
            </a:r>
            <a:r>
              <a:rPr lang="zh-CN" altLang="en-US" dirty="0"/>
              <a:t>都提供了多进程的支持，但不一定提供</a:t>
            </a:r>
            <a:r>
              <a:rPr lang="en-US" altLang="zh-CN" dirty="0"/>
              <a:t>Multi-Threading</a:t>
            </a:r>
            <a:r>
              <a:rPr lang="zh-CN" altLang="en-US" dirty="0"/>
              <a:t>（多线程）的支持。对这些</a:t>
            </a:r>
            <a:r>
              <a:rPr lang="en-US" altLang="zh-CN" dirty="0"/>
              <a:t>OS</a:t>
            </a:r>
            <a:r>
              <a:rPr lang="zh-CN" altLang="en-US" dirty="0"/>
              <a:t>，要想利用</a:t>
            </a:r>
            <a:r>
              <a:rPr lang="en-US" altLang="zh-CN" dirty="0"/>
              <a:t>Multi-Threading</a:t>
            </a:r>
            <a:r>
              <a:rPr lang="zh-CN" altLang="en-US" dirty="0"/>
              <a:t>的优点，就必须在用户态下提供多线程库，线程库的处理对下层</a:t>
            </a:r>
            <a:r>
              <a:rPr lang="en-US" altLang="zh-CN" dirty="0"/>
              <a:t>OS</a:t>
            </a:r>
            <a:r>
              <a:rPr lang="zh-CN" altLang="en-US" dirty="0"/>
              <a:t>是完全透明的。</a:t>
            </a:r>
          </a:p>
          <a:p>
            <a:pPr lvl="1"/>
            <a:r>
              <a:rPr lang="zh-CN" altLang="en-US" dirty="0"/>
              <a:t> 即便提供核心线程支持的系统，也有必要提供线程库，以简化或有利于线程机制的使用。</a:t>
            </a:r>
          </a:p>
          <a:p>
            <a:pPr lvl="1"/>
            <a:r>
              <a:rPr lang="zh-CN" altLang="en-US" dirty="0"/>
              <a:t> 线程库提供：：</a:t>
            </a:r>
            <a:r>
              <a:rPr lang="en-US" altLang="zh-CN" dirty="0"/>
              <a:t>(1)</a:t>
            </a:r>
            <a:r>
              <a:rPr lang="zh-CN" altLang="en-US" dirty="0"/>
              <a:t>合适的多线程编程的接口；</a:t>
            </a:r>
            <a:r>
              <a:rPr lang="en-US" altLang="zh-CN" dirty="0"/>
              <a:t>(2)</a:t>
            </a:r>
            <a:r>
              <a:rPr lang="zh-CN" altLang="en-US" dirty="0"/>
              <a:t>记录线程状态和调度各线程的运行机制。</a:t>
            </a: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7F955FC-7E53-BDD7-E358-DC5F42B05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</p:spPr>
        <p:txBody>
          <a:bodyPr/>
          <a:lstStyle/>
          <a:p>
            <a:pPr algn="r" defTabSz="914400" fontAlgn="base">
              <a:spcAft>
                <a:spcPct val="0"/>
              </a:spcAft>
              <a:defRPr/>
            </a:pPr>
            <a:fld id="{B40D5C89-3F50-4E78-90D8-3CB123F8C3B8}" type="slidenum">
              <a:rPr lang="en-US" altLang="ko-KR">
                <a:solidFill>
                  <a:srgbClr val="FFFFFF"/>
                </a:solidFill>
                <a:latin typeface="Verdana" panose="020B0604030504040204" pitchFamily="34" charset="0"/>
              </a:rPr>
              <a:pPr algn="r" defTabSz="914400" fontAlgn="base">
                <a:spcAft>
                  <a:spcPct val="0"/>
                </a:spcAft>
                <a:defRPr/>
              </a:pPr>
              <a:t>10</a:t>
            </a:fld>
            <a:endParaRPr lang="en-US" altLang="ko-KR" dirty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151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Implementing Threads (3)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72934CE-CDEA-FA13-A097-7BC848933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在系统内部 可以用多种方式实现线程机制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 纯用户级线程（</a:t>
            </a:r>
            <a:r>
              <a:rPr lang="en-US" altLang="zh-CN" dirty="0"/>
              <a:t>ULT</a:t>
            </a:r>
            <a:r>
              <a:rPr lang="zh-CN" altLang="en-US" dirty="0"/>
              <a:t>）：线程的管理全部由用户程序完成，核心部分只对进程管理，但增加“线程库”概念。</a:t>
            </a:r>
          </a:p>
        </p:txBody>
      </p:sp>
      <p:pic>
        <p:nvPicPr>
          <p:cNvPr id="20485" name="Picture 6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9"/>
          <a:stretch/>
        </p:blipFill>
        <p:spPr bwMode="auto">
          <a:xfrm>
            <a:off x="4214811" y="2844754"/>
            <a:ext cx="3762375" cy="3076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6" name="Picture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9"/>
          <a:stretch/>
        </p:blipFill>
        <p:spPr bwMode="auto">
          <a:xfrm>
            <a:off x="4214811" y="5921105"/>
            <a:ext cx="3762375" cy="478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09B1DD-A6F2-798B-A2B8-765D74B31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</p:spPr>
        <p:txBody>
          <a:bodyPr/>
          <a:lstStyle/>
          <a:p>
            <a:pPr algn="r" defTabSz="914400" fontAlgn="base">
              <a:spcAft>
                <a:spcPct val="0"/>
              </a:spcAft>
              <a:defRPr/>
            </a:pPr>
            <a:fld id="{B40D5C89-3F50-4E78-90D8-3CB123F8C3B8}" type="slidenum">
              <a:rPr lang="en-US" altLang="ko-KR">
                <a:solidFill>
                  <a:srgbClr val="FFFFFF"/>
                </a:solidFill>
                <a:latin typeface="Verdana" panose="020B0604030504040204" pitchFamily="34" charset="0"/>
              </a:rPr>
              <a:pPr algn="r" defTabSz="914400" fontAlgn="base">
                <a:spcAft>
                  <a:spcPct val="0"/>
                </a:spcAft>
                <a:defRPr/>
              </a:pPr>
              <a:t>11</a:t>
            </a:fld>
            <a:endParaRPr lang="en-US" altLang="ko-KR" dirty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717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Implementing Threads (4)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77DC9AC9-886D-F767-00DA-7B7E97AAA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altLang="zh-CN" dirty="0"/>
              <a:t>ULT</a:t>
            </a:r>
            <a:r>
              <a:rPr lang="zh-CN" altLang="en-US" dirty="0"/>
              <a:t>实现具体描述：</a:t>
            </a:r>
            <a:endParaRPr lang="en-US" altLang="zh-CN" dirty="0"/>
          </a:p>
          <a:p>
            <a:pPr lvl="1"/>
            <a:r>
              <a:rPr lang="zh-CN" altLang="en-US" dirty="0"/>
              <a:t>进程表在核心区</a:t>
            </a:r>
          </a:p>
          <a:p>
            <a:pPr lvl="1"/>
            <a:r>
              <a:rPr lang="zh-CN" altLang="en-US" dirty="0"/>
              <a:t>线程表在用户区</a:t>
            </a:r>
          </a:p>
          <a:p>
            <a:pPr lvl="1"/>
            <a:r>
              <a:rPr lang="zh-CN" altLang="en-US" dirty="0"/>
              <a:t>线程执行需要一个支持系统（线程库）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21508" name="Picture 6" descr="2-13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801" y="1538018"/>
            <a:ext cx="5153025" cy="438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173848DD-F307-5008-7644-E4BE1DEAF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</p:spPr>
        <p:txBody>
          <a:bodyPr/>
          <a:lstStyle/>
          <a:p>
            <a:pPr algn="r" defTabSz="914400" fontAlgn="base">
              <a:spcAft>
                <a:spcPct val="0"/>
              </a:spcAft>
              <a:defRPr/>
            </a:pPr>
            <a:fld id="{B40D5C89-3F50-4E78-90D8-3CB123F8C3B8}" type="slidenum">
              <a:rPr lang="en-US" altLang="ko-KR">
                <a:solidFill>
                  <a:srgbClr val="FFFFFF"/>
                </a:solidFill>
                <a:latin typeface="Verdana" panose="020B0604030504040204" pitchFamily="34" charset="0"/>
              </a:rPr>
              <a:pPr algn="r" defTabSz="914400" fontAlgn="base">
                <a:spcAft>
                  <a:spcPct val="0"/>
                </a:spcAft>
                <a:defRPr/>
              </a:pPr>
              <a:t>12</a:t>
            </a:fld>
            <a:endParaRPr lang="en-US" altLang="ko-KR" dirty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982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Implementing Threads (1)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F501CC2-D592-DB91-3456-8C6111106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当用户需使用线程时可依赖系统提供的线程库，</a:t>
            </a:r>
            <a:r>
              <a:rPr lang="en-US" altLang="zh-CN" dirty="0" err="1"/>
              <a:t>Pthread</a:t>
            </a:r>
            <a:r>
              <a:rPr lang="en-US" altLang="zh-CN" dirty="0"/>
              <a:t> </a:t>
            </a:r>
            <a:r>
              <a:rPr lang="zh-CN" altLang="en-US" dirty="0"/>
              <a:t>线程库支持的典型调用：（见</a:t>
            </a:r>
            <a:r>
              <a:rPr lang="en-US" altLang="zh-CN" dirty="0"/>
              <a:t>P59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18437" name="TextBox 5"/>
          <p:cNvSpPr txBox="1">
            <a:spLocks noChangeArrowheads="1"/>
          </p:cNvSpPr>
          <p:nvPr/>
        </p:nvSpPr>
        <p:spPr bwMode="auto">
          <a:xfrm>
            <a:off x="623888" y="2538432"/>
            <a:ext cx="10801200" cy="3970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/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/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/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/>
            </a:lvl9pPr>
          </a:lstStyle>
          <a:p>
            <a:pPr lvl="1">
              <a:lnSpc>
                <a:spcPct val="150000"/>
              </a:lnSpc>
            </a:pPr>
            <a:r>
              <a:rPr lang="en-US" altLang="zh-CN" dirty="0" err="1"/>
              <a:t>pthread_create</a:t>
            </a:r>
            <a:r>
              <a:rPr lang="en-US" altLang="zh-CN" dirty="0"/>
              <a:t>        </a:t>
            </a:r>
            <a:r>
              <a:rPr lang="zh-CN" altLang="en-US" dirty="0"/>
              <a:t>创建新线程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 err="1"/>
              <a:t>pthread_exit</a:t>
            </a:r>
            <a:r>
              <a:rPr lang="en-US" altLang="zh-CN" dirty="0"/>
              <a:t>           </a:t>
            </a:r>
            <a:r>
              <a:rPr lang="zh-CN" altLang="en-US" dirty="0"/>
              <a:t>结束调用的线程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 err="1"/>
              <a:t>pthread_join</a:t>
            </a:r>
            <a:r>
              <a:rPr lang="en-US" altLang="zh-CN" dirty="0"/>
              <a:t>           </a:t>
            </a:r>
            <a:r>
              <a:rPr lang="zh-CN" altLang="en-US" dirty="0"/>
              <a:t>等待一个线程退出（同步）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 err="1"/>
              <a:t>pthread_yield</a:t>
            </a:r>
            <a:r>
              <a:rPr lang="en-US" altLang="zh-CN" dirty="0"/>
              <a:t>         </a:t>
            </a:r>
            <a:r>
              <a:rPr lang="zh-CN" altLang="en-US" dirty="0"/>
              <a:t>释放</a:t>
            </a:r>
            <a:r>
              <a:rPr lang="en-US" altLang="zh-CN" dirty="0"/>
              <a:t>CPU</a:t>
            </a:r>
            <a:r>
              <a:rPr lang="zh-CN" altLang="en-US" dirty="0"/>
              <a:t>让其运行另一线程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 err="1"/>
              <a:t>pthread_attr_init</a:t>
            </a:r>
            <a:r>
              <a:rPr lang="en-US" altLang="zh-CN" dirty="0"/>
              <a:t>     </a:t>
            </a:r>
            <a:r>
              <a:rPr lang="zh-CN" altLang="en-US" dirty="0"/>
              <a:t>初始化一个线程属性结构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 err="1"/>
              <a:t>pthread_attr_destroy</a:t>
            </a:r>
            <a:r>
              <a:rPr lang="en-US" altLang="zh-CN" dirty="0"/>
              <a:t>  </a:t>
            </a:r>
            <a:r>
              <a:rPr lang="zh-CN" altLang="en-US" dirty="0"/>
              <a:t>删除一个线程属性结构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2FFD24-F956-A897-EE08-E755B4EB8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</p:spPr>
        <p:txBody>
          <a:bodyPr/>
          <a:lstStyle/>
          <a:p>
            <a:pPr algn="r" defTabSz="914400" fontAlgn="base">
              <a:spcAft>
                <a:spcPct val="0"/>
              </a:spcAft>
              <a:defRPr/>
            </a:pPr>
            <a:fld id="{B40D5C89-3F50-4E78-90D8-3CB123F8C3B8}" type="slidenum">
              <a:rPr lang="en-US" altLang="ko-KR">
                <a:solidFill>
                  <a:srgbClr val="FFFFFF"/>
                </a:solidFill>
                <a:latin typeface="Verdana" panose="020B0604030504040204" pitchFamily="34" charset="0"/>
              </a:rPr>
              <a:pPr algn="r" defTabSz="914400" fontAlgn="base">
                <a:spcAft>
                  <a:spcPct val="0"/>
                </a:spcAft>
                <a:defRPr/>
              </a:pPr>
              <a:t>13</a:t>
            </a:fld>
            <a:endParaRPr lang="en-US" altLang="ko-KR" dirty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221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Implementing Threads (5)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57A501C-495F-27AC-3F0E-6875651E3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ULT</a:t>
            </a:r>
            <a:r>
              <a:rPr lang="zh-CN" altLang="en-US" dirty="0"/>
              <a:t>管理优势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dirty="0"/>
              <a:t> </a:t>
            </a:r>
            <a:r>
              <a:rPr lang="zh-CN" altLang="en-US" dirty="0"/>
              <a:t>线程切换不需要内核模式特权</a:t>
            </a:r>
            <a:r>
              <a:rPr lang="en-US" altLang="zh-CN" dirty="0"/>
              <a:t>.</a:t>
            </a:r>
          </a:p>
          <a:p>
            <a:pPr lvl="1"/>
            <a:r>
              <a:rPr lang="en-US" altLang="zh-CN" dirty="0"/>
              <a:t> </a:t>
            </a:r>
            <a:r>
              <a:rPr lang="zh-CN" altLang="en-US" dirty="0"/>
              <a:t>线程调用可以是应用程序级的</a:t>
            </a:r>
            <a:r>
              <a:rPr lang="en-US" altLang="zh-CN" dirty="0"/>
              <a:t>,</a:t>
            </a:r>
            <a:r>
              <a:rPr lang="zh-CN" altLang="en-US" dirty="0"/>
              <a:t>根据需要可改变调度算法</a:t>
            </a:r>
            <a:r>
              <a:rPr lang="en-US" altLang="zh-CN" dirty="0"/>
              <a:t>,</a:t>
            </a:r>
            <a:r>
              <a:rPr lang="zh-CN" altLang="en-US" dirty="0"/>
              <a:t>但不会影响底层的操作系统调度程序</a:t>
            </a:r>
            <a:r>
              <a:rPr lang="en-US" altLang="zh-CN" dirty="0"/>
              <a:t>.</a:t>
            </a:r>
          </a:p>
          <a:p>
            <a:pPr lvl="1"/>
            <a:r>
              <a:rPr lang="en-US" altLang="zh-CN" dirty="0"/>
              <a:t> ULT</a:t>
            </a:r>
            <a:r>
              <a:rPr lang="zh-CN" altLang="en-US" dirty="0"/>
              <a:t>管理模式可以在任何操作系统中运行</a:t>
            </a:r>
            <a:r>
              <a:rPr lang="en-US" altLang="zh-CN" dirty="0"/>
              <a:t>,</a:t>
            </a:r>
            <a:r>
              <a:rPr lang="zh-CN" altLang="en-US" dirty="0"/>
              <a:t>不需要修改系统内核</a:t>
            </a:r>
            <a:r>
              <a:rPr lang="en-US" altLang="zh-CN" dirty="0"/>
              <a:t>,</a:t>
            </a:r>
            <a:r>
              <a:rPr lang="zh-CN" altLang="en-US" dirty="0"/>
              <a:t>线程库是提供应用的实用程序。</a:t>
            </a:r>
          </a:p>
          <a:p>
            <a:r>
              <a:rPr lang="en-US" altLang="zh-CN" dirty="0"/>
              <a:t>ULT</a:t>
            </a:r>
            <a:r>
              <a:rPr lang="zh-CN" altLang="en-US" dirty="0"/>
              <a:t>的劣势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dirty="0"/>
              <a:t> </a:t>
            </a:r>
            <a:r>
              <a:rPr lang="zh-CN" altLang="en-US" dirty="0"/>
              <a:t>系统调用会引起进程阻塞</a:t>
            </a:r>
          </a:p>
          <a:p>
            <a:pPr lvl="1"/>
            <a:r>
              <a:rPr lang="zh-CN" altLang="en-US" dirty="0"/>
              <a:t> 这种线程不利于使用多处理器并行</a:t>
            </a:r>
          </a:p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7632DF-4ED4-02C1-16AC-54956F64C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</p:spPr>
        <p:txBody>
          <a:bodyPr/>
          <a:lstStyle/>
          <a:p>
            <a:pPr algn="r" defTabSz="914400" fontAlgn="base">
              <a:spcAft>
                <a:spcPct val="0"/>
              </a:spcAft>
              <a:defRPr/>
            </a:pPr>
            <a:fld id="{B40D5C89-3F50-4E78-90D8-3CB123F8C3B8}" type="slidenum">
              <a:rPr lang="en-US" altLang="ko-KR">
                <a:solidFill>
                  <a:srgbClr val="FFFFFF"/>
                </a:solidFill>
                <a:latin typeface="Verdana" panose="020B0604030504040204" pitchFamily="34" charset="0"/>
              </a:rPr>
              <a:pPr algn="r" defTabSz="914400" fontAlgn="base">
                <a:spcAft>
                  <a:spcPct val="0"/>
                </a:spcAft>
                <a:defRPr/>
              </a:pPr>
              <a:t>14</a:t>
            </a:fld>
            <a:endParaRPr lang="en-US" altLang="ko-KR" dirty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185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Implementing Threads (6)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2AFD41-1BC3-7D7F-E3B4-42163A6BF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1041671"/>
          </a:xfrm>
        </p:spPr>
        <p:txBody>
          <a:bodyPr/>
          <a:lstStyle/>
          <a:p>
            <a:r>
              <a:rPr lang="en-US" altLang="zh-CN" dirty="0"/>
              <a:t>2) </a:t>
            </a:r>
            <a:r>
              <a:rPr lang="zh-CN" altLang="en-US" dirty="0"/>
              <a:t>核心级线程（</a:t>
            </a:r>
            <a:r>
              <a:rPr lang="en-US" altLang="zh-CN" dirty="0"/>
              <a:t>KLT</a:t>
            </a:r>
            <a:r>
              <a:rPr lang="zh-CN" altLang="en-US" dirty="0"/>
              <a:t>）：线程由</a:t>
            </a:r>
            <a:r>
              <a:rPr lang="en-US" altLang="zh-CN" dirty="0"/>
              <a:t>OS</a:t>
            </a:r>
            <a:r>
              <a:rPr lang="zh-CN" altLang="en-US" dirty="0"/>
              <a:t>内核进行管理，内核给应用程序级提供系统调用，实现对线程的使用。</a:t>
            </a:r>
          </a:p>
          <a:p>
            <a:endParaRPr lang="zh-CN" altLang="en-US" dirty="0"/>
          </a:p>
        </p:txBody>
      </p:sp>
      <p:grpSp>
        <p:nvGrpSpPr>
          <p:cNvPr id="23557" name="Group 6"/>
          <p:cNvGrpSpPr>
            <a:grpSpLocks/>
          </p:cNvGrpSpPr>
          <p:nvPr/>
        </p:nvGrpSpPr>
        <p:grpSpPr bwMode="auto">
          <a:xfrm>
            <a:off x="8710041" y="2341563"/>
            <a:ext cx="2057400" cy="3810000"/>
            <a:chOff x="1728" y="1056"/>
            <a:chExt cx="1296" cy="2400"/>
          </a:xfrm>
        </p:grpSpPr>
        <p:sp>
          <p:nvSpPr>
            <p:cNvPr id="23559" name="Line 7"/>
            <p:cNvSpPr>
              <a:spLocks noChangeShapeType="1"/>
            </p:cNvSpPr>
            <p:nvPr/>
          </p:nvSpPr>
          <p:spPr bwMode="auto">
            <a:xfrm>
              <a:off x="1728" y="1872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560" name="Line 8"/>
            <p:cNvSpPr>
              <a:spLocks noChangeShapeType="1"/>
            </p:cNvSpPr>
            <p:nvPr/>
          </p:nvSpPr>
          <p:spPr bwMode="auto">
            <a:xfrm>
              <a:off x="1920" y="1488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561" name="Line 9"/>
            <p:cNvSpPr>
              <a:spLocks noChangeShapeType="1"/>
            </p:cNvSpPr>
            <p:nvPr/>
          </p:nvSpPr>
          <p:spPr bwMode="auto">
            <a:xfrm>
              <a:off x="2304" y="1488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562" name="Line 10"/>
            <p:cNvSpPr>
              <a:spLocks noChangeShapeType="1"/>
            </p:cNvSpPr>
            <p:nvPr/>
          </p:nvSpPr>
          <p:spPr bwMode="auto">
            <a:xfrm>
              <a:off x="2688" y="1488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563" name="Freeform 11"/>
            <p:cNvSpPr>
              <a:spLocks/>
            </p:cNvSpPr>
            <p:nvPr/>
          </p:nvSpPr>
          <p:spPr bwMode="auto">
            <a:xfrm>
              <a:off x="1824" y="1056"/>
              <a:ext cx="152" cy="440"/>
            </a:xfrm>
            <a:custGeom>
              <a:avLst/>
              <a:gdLst>
                <a:gd name="T0" fmla="*/ 48 w 152"/>
                <a:gd name="T1" fmla="*/ 0 h 440"/>
                <a:gd name="T2" fmla="*/ 144 w 152"/>
                <a:gd name="T3" fmla="*/ 96 h 440"/>
                <a:gd name="T4" fmla="*/ 48 w 152"/>
                <a:gd name="T5" fmla="*/ 144 h 440"/>
                <a:gd name="T6" fmla="*/ 144 w 152"/>
                <a:gd name="T7" fmla="*/ 192 h 440"/>
                <a:gd name="T8" fmla="*/ 48 w 152"/>
                <a:gd name="T9" fmla="*/ 240 h 440"/>
                <a:gd name="T10" fmla="*/ 144 w 152"/>
                <a:gd name="T11" fmla="*/ 288 h 440"/>
                <a:gd name="T12" fmla="*/ 96 w 152"/>
                <a:gd name="T13" fmla="*/ 336 h 440"/>
                <a:gd name="T14" fmla="*/ 0 w 152"/>
                <a:gd name="T15" fmla="*/ 432 h 440"/>
                <a:gd name="T16" fmla="*/ 96 w 152"/>
                <a:gd name="T17" fmla="*/ 384 h 4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2" h="440">
                  <a:moveTo>
                    <a:pt x="48" y="0"/>
                  </a:moveTo>
                  <a:cubicBezTo>
                    <a:pt x="96" y="36"/>
                    <a:pt x="144" y="72"/>
                    <a:pt x="144" y="96"/>
                  </a:cubicBezTo>
                  <a:cubicBezTo>
                    <a:pt x="144" y="120"/>
                    <a:pt x="48" y="128"/>
                    <a:pt x="48" y="144"/>
                  </a:cubicBezTo>
                  <a:cubicBezTo>
                    <a:pt x="48" y="160"/>
                    <a:pt x="144" y="176"/>
                    <a:pt x="144" y="192"/>
                  </a:cubicBezTo>
                  <a:cubicBezTo>
                    <a:pt x="144" y="208"/>
                    <a:pt x="48" y="224"/>
                    <a:pt x="48" y="240"/>
                  </a:cubicBezTo>
                  <a:cubicBezTo>
                    <a:pt x="48" y="256"/>
                    <a:pt x="136" y="272"/>
                    <a:pt x="144" y="288"/>
                  </a:cubicBezTo>
                  <a:cubicBezTo>
                    <a:pt x="152" y="304"/>
                    <a:pt x="120" y="312"/>
                    <a:pt x="96" y="336"/>
                  </a:cubicBezTo>
                  <a:cubicBezTo>
                    <a:pt x="72" y="360"/>
                    <a:pt x="0" y="424"/>
                    <a:pt x="0" y="432"/>
                  </a:cubicBezTo>
                  <a:cubicBezTo>
                    <a:pt x="0" y="440"/>
                    <a:pt x="112" y="368"/>
                    <a:pt x="96" y="38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564" name="Freeform 12"/>
            <p:cNvSpPr>
              <a:spLocks/>
            </p:cNvSpPr>
            <p:nvPr/>
          </p:nvSpPr>
          <p:spPr bwMode="auto">
            <a:xfrm>
              <a:off x="2256" y="1104"/>
              <a:ext cx="152" cy="440"/>
            </a:xfrm>
            <a:custGeom>
              <a:avLst/>
              <a:gdLst>
                <a:gd name="T0" fmla="*/ 48 w 152"/>
                <a:gd name="T1" fmla="*/ 0 h 440"/>
                <a:gd name="T2" fmla="*/ 144 w 152"/>
                <a:gd name="T3" fmla="*/ 96 h 440"/>
                <a:gd name="T4" fmla="*/ 48 w 152"/>
                <a:gd name="T5" fmla="*/ 144 h 440"/>
                <a:gd name="T6" fmla="*/ 144 w 152"/>
                <a:gd name="T7" fmla="*/ 192 h 440"/>
                <a:gd name="T8" fmla="*/ 48 w 152"/>
                <a:gd name="T9" fmla="*/ 240 h 440"/>
                <a:gd name="T10" fmla="*/ 144 w 152"/>
                <a:gd name="T11" fmla="*/ 288 h 440"/>
                <a:gd name="T12" fmla="*/ 96 w 152"/>
                <a:gd name="T13" fmla="*/ 336 h 440"/>
                <a:gd name="T14" fmla="*/ 0 w 152"/>
                <a:gd name="T15" fmla="*/ 432 h 440"/>
                <a:gd name="T16" fmla="*/ 96 w 152"/>
                <a:gd name="T17" fmla="*/ 384 h 4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2" h="440">
                  <a:moveTo>
                    <a:pt x="48" y="0"/>
                  </a:moveTo>
                  <a:cubicBezTo>
                    <a:pt x="96" y="36"/>
                    <a:pt x="144" y="72"/>
                    <a:pt x="144" y="96"/>
                  </a:cubicBezTo>
                  <a:cubicBezTo>
                    <a:pt x="144" y="120"/>
                    <a:pt x="48" y="128"/>
                    <a:pt x="48" y="144"/>
                  </a:cubicBezTo>
                  <a:cubicBezTo>
                    <a:pt x="48" y="160"/>
                    <a:pt x="144" y="176"/>
                    <a:pt x="144" y="192"/>
                  </a:cubicBezTo>
                  <a:cubicBezTo>
                    <a:pt x="144" y="208"/>
                    <a:pt x="48" y="224"/>
                    <a:pt x="48" y="240"/>
                  </a:cubicBezTo>
                  <a:cubicBezTo>
                    <a:pt x="48" y="256"/>
                    <a:pt x="136" y="272"/>
                    <a:pt x="144" y="288"/>
                  </a:cubicBezTo>
                  <a:cubicBezTo>
                    <a:pt x="152" y="304"/>
                    <a:pt x="120" y="312"/>
                    <a:pt x="96" y="336"/>
                  </a:cubicBezTo>
                  <a:cubicBezTo>
                    <a:pt x="72" y="360"/>
                    <a:pt x="0" y="424"/>
                    <a:pt x="0" y="432"/>
                  </a:cubicBezTo>
                  <a:cubicBezTo>
                    <a:pt x="0" y="440"/>
                    <a:pt x="112" y="368"/>
                    <a:pt x="96" y="38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565" name="Freeform 13"/>
            <p:cNvSpPr>
              <a:spLocks/>
            </p:cNvSpPr>
            <p:nvPr/>
          </p:nvSpPr>
          <p:spPr bwMode="auto">
            <a:xfrm>
              <a:off x="2640" y="1104"/>
              <a:ext cx="152" cy="440"/>
            </a:xfrm>
            <a:custGeom>
              <a:avLst/>
              <a:gdLst>
                <a:gd name="T0" fmla="*/ 48 w 152"/>
                <a:gd name="T1" fmla="*/ 0 h 440"/>
                <a:gd name="T2" fmla="*/ 144 w 152"/>
                <a:gd name="T3" fmla="*/ 96 h 440"/>
                <a:gd name="T4" fmla="*/ 48 w 152"/>
                <a:gd name="T5" fmla="*/ 144 h 440"/>
                <a:gd name="T6" fmla="*/ 144 w 152"/>
                <a:gd name="T7" fmla="*/ 192 h 440"/>
                <a:gd name="T8" fmla="*/ 48 w 152"/>
                <a:gd name="T9" fmla="*/ 240 h 440"/>
                <a:gd name="T10" fmla="*/ 144 w 152"/>
                <a:gd name="T11" fmla="*/ 288 h 440"/>
                <a:gd name="T12" fmla="*/ 96 w 152"/>
                <a:gd name="T13" fmla="*/ 336 h 440"/>
                <a:gd name="T14" fmla="*/ 0 w 152"/>
                <a:gd name="T15" fmla="*/ 432 h 440"/>
                <a:gd name="T16" fmla="*/ 96 w 152"/>
                <a:gd name="T17" fmla="*/ 384 h 44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2" h="440">
                  <a:moveTo>
                    <a:pt x="48" y="0"/>
                  </a:moveTo>
                  <a:cubicBezTo>
                    <a:pt x="96" y="36"/>
                    <a:pt x="144" y="72"/>
                    <a:pt x="144" y="96"/>
                  </a:cubicBezTo>
                  <a:cubicBezTo>
                    <a:pt x="144" y="120"/>
                    <a:pt x="48" y="128"/>
                    <a:pt x="48" y="144"/>
                  </a:cubicBezTo>
                  <a:cubicBezTo>
                    <a:pt x="48" y="160"/>
                    <a:pt x="144" y="176"/>
                    <a:pt x="144" y="192"/>
                  </a:cubicBezTo>
                  <a:cubicBezTo>
                    <a:pt x="144" y="208"/>
                    <a:pt x="48" y="224"/>
                    <a:pt x="48" y="240"/>
                  </a:cubicBezTo>
                  <a:cubicBezTo>
                    <a:pt x="48" y="256"/>
                    <a:pt x="136" y="272"/>
                    <a:pt x="144" y="288"/>
                  </a:cubicBezTo>
                  <a:cubicBezTo>
                    <a:pt x="152" y="304"/>
                    <a:pt x="120" y="312"/>
                    <a:pt x="96" y="336"/>
                  </a:cubicBezTo>
                  <a:cubicBezTo>
                    <a:pt x="72" y="360"/>
                    <a:pt x="0" y="424"/>
                    <a:pt x="0" y="432"/>
                  </a:cubicBezTo>
                  <a:cubicBezTo>
                    <a:pt x="0" y="440"/>
                    <a:pt x="112" y="368"/>
                    <a:pt x="96" y="38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566" name="Oval 14"/>
            <p:cNvSpPr>
              <a:spLocks noChangeArrowheads="1"/>
            </p:cNvSpPr>
            <p:nvPr/>
          </p:nvSpPr>
          <p:spPr bwMode="auto">
            <a:xfrm>
              <a:off x="2160" y="3120"/>
              <a:ext cx="288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Char char="•"/>
                <a:defRPr sz="3200">
                  <a:solidFill>
                    <a:schemeClr val="accent2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  <a:defRPr/>
              </a:pPr>
              <a:r>
                <a:rPr lang="en-US" altLang="zh-CN" sz="2400" dirty="0">
                  <a:solidFill>
                    <a:srgbClr val="CCCCCC"/>
                  </a:solidFill>
                  <a:ea typeface="宋体" panose="02010600030101010101" pitchFamily="2" charset="-122"/>
                </a:rPr>
                <a:t>P</a:t>
              </a:r>
              <a:endParaRPr lang="en-US" altLang="zh-CN" sz="2400" dirty="0">
                <a:solidFill>
                  <a:srgbClr val="0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567" name="Line 15"/>
            <p:cNvSpPr>
              <a:spLocks noChangeShapeType="1"/>
            </p:cNvSpPr>
            <p:nvPr/>
          </p:nvSpPr>
          <p:spPr bwMode="auto">
            <a:xfrm>
              <a:off x="1920" y="2592"/>
              <a:ext cx="33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568" name="Line 16"/>
            <p:cNvSpPr>
              <a:spLocks noChangeShapeType="1"/>
            </p:cNvSpPr>
            <p:nvPr/>
          </p:nvSpPr>
          <p:spPr bwMode="auto">
            <a:xfrm>
              <a:off x="2304" y="254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569" name="Line 17"/>
            <p:cNvSpPr>
              <a:spLocks noChangeShapeType="1"/>
            </p:cNvSpPr>
            <p:nvPr/>
          </p:nvSpPr>
          <p:spPr bwMode="auto">
            <a:xfrm flipH="1">
              <a:off x="2304" y="2592"/>
              <a:ext cx="33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23570" name="Group 18"/>
            <p:cNvGrpSpPr>
              <a:grpSpLocks/>
            </p:cNvGrpSpPr>
            <p:nvPr/>
          </p:nvGrpSpPr>
          <p:grpSpPr bwMode="auto">
            <a:xfrm>
              <a:off x="1776" y="2112"/>
              <a:ext cx="288" cy="432"/>
              <a:chOff x="3552" y="2688"/>
              <a:chExt cx="288" cy="432"/>
            </a:xfrm>
          </p:grpSpPr>
          <p:sp>
            <p:nvSpPr>
              <p:cNvPr id="23577" name="Freeform 19"/>
              <p:cNvSpPr>
                <a:spLocks/>
              </p:cNvSpPr>
              <p:nvPr/>
            </p:nvSpPr>
            <p:spPr bwMode="auto">
              <a:xfrm>
                <a:off x="3648" y="2688"/>
                <a:ext cx="96" cy="384"/>
              </a:xfrm>
              <a:custGeom>
                <a:avLst/>
                <a:gdLst>
                  <a:gd name="T0" fmla="*/ 1 w 152"/>
                  <a:gd name="T1" fmla="*/ 0 h 440"/>
                  <a:gd name="T2" fmla="*/ 2 w 152"/>
                  <a:gd name="T3" fmla="*/ 25 h 440"/>
                  <a:gd name="T4" fmla="*/ 1 w 152"/>
                  <a:gd name="T5" fmla="*/ 38 h 440"/>
                  <a:gd name="T6" fmla="*/ 2 w 152"/>
                  <a:gd name="T7" fmla="*/ 50 h 440"/>
                  <a:gd name="T8" fmla="*/ 1 w 152"/>
                  <a:gd name="T9" fmla="*/ 62 h 440"/>
                  <a:gd name="T10" fmla="*/ 2 w 152"/>
                  <a:gd name="T11" fmla="*/ 74 h 440"/>
                  <a:gd name="T12" fmla="*/ 1 w 152"/>
                  <a:gd name="T13" fmla="*/ 86 h 440"/>
                  <a:gd name="T14" fmla="*/ 0 w 152"/>
                  <a:gd name="T15" fmla="*/ 111 h 440"/>
                  <a:gd name="T16" fmla="*/ 1 w 152"/>
                  <a:gd name="T17" fmla="*/ 99 h 44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2" h="440">
                    <a:moveTo>
                      <a:pt x="48" y="0"/>
                    </a:moveTo>
                    <a:cubicBezTo>
                      <a:pt x="96" y="36"/>
                      <a:pt x="144" y="72"/>
                      <a:pt x="144" y="96"/>
                    </a:cubicBezTo>
                    <a:cubicBezTo>
                      <a:pt x="144" y="120"/>
                      <a:pt x="48" y="128"/>
                      <a:pt x="48" y="144"/>
                    </a:cubicBezTo>
                    <a:cubicBezTo>
                      <a:pt x="48" y="160"/>
                      <a:pt x="144" y="176"/>
                      <a:pt x="144" y="192"/>
                    </a:cubicBezTo>
                    <a:cubicBezTo>
                      <a:pt x="144" y="208"/>
                      <a:pt x="48" y="224"/>
                      <a:pt x="48" y="240"/>
                    </a:cubicBezTo>
                    <a:cubicBezTo>
                      <a:pt x="48" y="256"/>
                      <a:pt x="136" y="272"/>
                      <a:pt x="144" y="288"/>
                    </a:cubicBezTo>
                    <a:cubicBezTo>
                      <a:pt x="152" y="304"/>
                      <a:pt x="120" y="312"/>
                      <a:pt x="96" y="336"/>
                    </a:cubicBezTo>
                    <a:cubicBezTo>
                      <a:pt x="72" y="360"/>
                      <a:pt x="0" y="424"/>
                      <a:pt x="0" y="432"/>
                    </a:cubicBezTo>
                    <a:cubicBezTo>
                      <a:pt x="0" y="440"/>
                      <a:pt x="112" y="368"/>
                      <a:pt x="96" y="384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78" name="Oval 20"/>
              <p:cNvSpPr>
                <a:spLocks noChangeArrowheads="1"/>
              </p:cNvSpPr>
              <p:nvPr/>
            </p:nvSpPr>
            <p:spPr bwMode="auto">
              <a:xfrm>
                <a:off x="3552" y="2688"/>
                <a:ext cx="288" cy="43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accent2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  <a:defRPr/>
                </a:pPr>
                <a:endParaRPr lang="zh-CN" altLang="en-US" sz="360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571" name="Group 21"/>
            <p:cNvGrpSpPr>
              <a:grpSpLocks/>
            </p:cNvGrpSpPr>
            <p:nvPr/>
          </p:nvGrpSpPr>
          <p:grpSpPr bwMode="auto">
            <a:xfrm>
              <a:off x="2160" y="2112"/>
              <a:ext cx="288" cy="432"/>
              <a:chOff x="3552" y="2688"/>
              <a:chExt cx="288" cy="432"/>
            </a:xfrm>
          </p:grpSpPr>
          <p:sp>
            <p:nvSpPr>
              <p:cNvPr id="23575" name="Freeform 22"/>
              <p:cNvSpPr>
                <a:spLocks/>
              </p:cNvSpPr>
              <p:nvPr/>
            </p:nvSpPr>
            <p:spPr bwMode="auto">
              <a:xfrm>
                <a:off x="3648" y="2688"/>
                <a:ext cx="96" cy="384"/>
              </a:xfrm>
              <a:custGeom>
                <a:avLst/>
                <a:gdLst>
                  <a:gd name="T0" fmla="*/ 1 w 152"/>
                  <a:gd name="T1" fmla="*/ 0 h 440"/>
                  <a:gd name="T2" fmla="*/ 2 w 152"/>
                  <a:gd name="T3" fmla="*/ 25 h 440"/>
                  <a:gd name="T4" fmla="*/ 1 w 152"/>
                  <a:gd name="T5" fmla="*/ 38 h 440"/>
                  <a:gd name="T6" fmla="*/ 2 w 152"/>
                  <a:gd name="T7" fmla="*/ 50 h 440"/>
                  <a:gd name="T8" fmla="*/ 1 w 152"/>
                  <a:gd name="T9" fmla="*/ 62 h 440"/>
                  <a:gd name="T10" fmla="*/ 2 w 152"/>
                  <a:gd name="T11" fmla="*/ 74 h 440"/>
                  <a:gd name="T12" fmla="*/ 1 w 152"/>
                  <a:gd name="T13" fmla="*/ 86 h 440"/>
                  <a:gd name="T14" fmla="*/ 0 w 152"/>
                  <a:gd name="T15" fmla="*/ 111 h 440"/>
                  <a:gd name="T16" fmla="*/ 1 w 152"/>
                  <a:gd name="T17" fmla="*/ 99 h 44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2" h="440">
                    <a:moveTo>
                      <a:pt x="48" y="0"/>
                    </a:moveTo>
                    <a:cubicBezTo>
                      <a:pt x="96" y="36"/>
                      <a:pt x="144" y="72"/>
                      <a:pt x="144" y="96"/>
                    </a:cubicBezTo>
                    <a:cubicBezTo>
                      <a:pt x="144" y="120"/>
                      <a:pt x="48" y="128"/>
                      <a:pt x="48" y="144"/>
                    </a:cubicBezTo>
                    <a:cubicBezTo>
                      <a:pt x="48" y="160"/>
                      <a:pt x="144" y="176"/>
                      <a:pt x="144" y="192"/>
                    </a:cubicBezTo>
                    <a:cubicBezTo>
                      <a:pt x="144" y="208"/>
                      <a:pt x="48" y="224"/>
                      <a:pt x="48" y="240"/>
                    </a:cubicBezTo>
                    <a:cubicBezTo>
                      <a:pt x="48" y="256"/>
                      <a:pt x="136" y="272"/>
                      <a:pt x="144" y="288"/>
                    </a:cubicBezTo>
                    <a:cubicBezTo>
                      <a:pt x="152" y="304"/>
                      <a:pt x="120" y="312"/>
                      <a:pt x="96" y="336"/>
                    </a:cubicBezTo>
                    <a:cubicBezTo>
                      <a:pt x="72" y="360"/>
                      <a:pt x="0" y="424"/>
                      <a:pt x="0" y="432"/>
                    </a:cubicBezTo>
                    <a:cubicBezTo>
                      <a:pt x="0" y="440"/>
                      <a:pt x="112" y="368"/>
                      <a:pt x="96" y="384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76" name="Oval 23"/>
              <p:cNvSpPr>
                <a:spLocks noChangeArrowheads="1"/>
              </p:cNvSpPr>
              <p:nvPr/>
            </p:nvSpPr>
            <p:spPr bwMode="auto">
              <a:xfrm>
                <a:off x="3552" y="2688"/>
                <a:ext cx="288" cy="43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accent2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  <a:defRPr/>
                </a:pPr>
                <a:endParaRPr lang="zh-CN" altLang="en-US" sz="360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572" name="Group 24"/>
            <p:cNvGrpSpPr>
              <a:grpSpLocks/>
            </p:cNvGrpSpPr>
            <p:nvPr/>
          </p:nvGrpSpPr>
          <p:grpSpPr bwMode="auto">
            <a:xfrm>
              <a:off x="2544" y="2160"/>
              <a:ext cx="288" cy="432"/>
              <a:chOff x="3552" y="2688"/>
              <a:chExt cx="288" cy="432"/>
            </a:xfrm>
          </p:grpSpPr>
          <p:sp>
            <p:nvSpPr>
              <p:cNvPr id="23573" name="Freeform 25"/>
              <p:cNvSpPr>
                <a:spLocks/>
              </p:cNvSpPr>
              <p:nvPr/>
            </p:nvSpPr>
            <p:spPr bwMode="auto">
              <a:xfrm>
                <a:off x="3648" y="2688"/>
                <a:ext cx="96" cy="384"/>
              </a:xfrm>
              <a:custGeom>
                <a:avLst/>
                <a:gdLst>
                  <a:gd name="T0" fmla="*/ 1 w 152"/>
                  <a:gd name="T1" fmla="*/ 0 h 440"/>
                  <a:gd name="T2" fmla="*/ 2 w 152"/>
                  <a:gd name="T3" fmla="*/ 25 h 440"/>
                  <a:gd name="T4" fmla="*/ 1 w 152"/>
                  <a:gd name="T5" fmla="*/ 38 h 440"/>
                  <a:gd name="T6" fmla="*/ 2 w 152"/>
                  <a:gd name="T7" fmla="*/ 50 h 440"/>
                  <a:gd name="T8" fmla="*/ 1 w 152"/>
                  <a:gd name="T9" fmla="*/ 62 h 440"/>
                  <a:gd name="T10" fmla="*/ 2 w 152"/>
                  <a:gd name="T11" fmla="*/ 74 h 440"/>
                  <a:gd name="T12" fmla="*/ 1 w 152"/>
                  <a:gd name="T13" fmla="*/ 86 h 440"/>
                  <a:gd name="T14" fmla="*/ 0 w 152"/>
                  <a:gd name="T15" fmla="*/ 111 h 440"/>
                  <a:gd name="T16" fmla="*/ 1 w 152"/>
                  <a:gd name="T17" fmla="*/ 99 h 44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2" h="440">
                    <a:moveTo>
                      <a:pt x="48" y="0"/>
                    </a:moveTo>
                    <a:cubicBezTo>
                      <a:pt x="96" y="36"/>
                      <a:pt x="144" y="72"/>
                      <a:pt x="144" y="96"/>
                    </a:cubicBezTo>
                    <a:cubicBezTo>
                      <a:pt x="144" y="120"/>
                      <a:pt x="48" y="128"/>
                      <a:pt x="48" y="144"/>
                    </a:cubicBezTo>
                    <a:cubicBezTo>
                      <a:pt x="48" y="160"/>
                      <a:pt x="144" y="176"/>
                      <a:pt x="144" y="192"/>
                    </a:cubicBezTo>
                    <a:cubicBezTo>
                      <a:pt x="144" y="208"/>
                      <a:pt x="48" y="224"/>
                      <a:pt x="48" y="240"/>
                    </a:cubicBezTo>
                    <a:cubicBezTo>
                      <a:pt x="48" y="256"/>
                      <a:pt x="136" y="272"/>
                      <a:pt x="144" y="288"/>
                    </a:cubicBezTo>
                    <a:cubicBezTo>
                      <a:pt x="152" y="304"/>
                      <a:pt x="120" y="312"/>
                      <a:pt x="96" y="336"/>
                    </a:cubicBezTo>
                    <a:cubicBezTo>
                      <a:pt x="72" y="360"/>
                      <a:pt x="0" y="424"/>
                      <a:pt x="0" y="432"/>
                    </a:cubicBezTo>
                    <a:cubicBezTo>
                      <a:pt x="0" y="440"/>
                      <a:pt x="112" y="368"/>
                      <a:pt x="96" y="384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74" name="Oval 26"/>
              <p:cNvSpPr>
                <a:spLocks noChangeArrowheads="1"/>
              </p:cNvSpPr>
              <p:nvPr/>
            </p:nvSpPr>
            <p:spPr bwMode="auto">
              <a:xfrm>
                <a:off x="3552" y="2688"/>
                <a:ext cx="288" cy="43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3200">
                    <a:solidFill>
                      <a:schemeClr val="accent2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  <a:defRPr/>
                </a:pPr>
                <a:endParaRPr lang="zh-CN" altLang="en-US" sz="3600">
                  <a:solidFill>
                    <a:srgbClr val="000000"/>
                  </a:solidFill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6" name="内容占位符 4">
            <a:extLst>
              <a:ext uri="{FF2B5EF4-FFF2-40B4-BE49-F238E27FC236}">
                <a16:creationId xmlns:a16="http://schemas.microsoft.com/office/drawing/2014/main" id="{B394C848-4F33-D1F2-1FAE-725089F2B19C}"/>
              </a:ext>
            </a:extLst>
          </p:cNvPr>
          <p:cNvSpPr txBox="1">
            <a:spLocks/>
          </p:cNvSpPr>
          <p:nvPr/>
        </p:nvSpPr>
        <p:spPr>
          <a:xfrm>
            <a:off x="617141" y="2790032"/>
            <a:ext cx="6612333" cy="3174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¢"/>
              <a:defRPr sz="28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457200" lvl="1" indent="0" defTabSz="914400">
              <a:buNone/>
            </a:pPr>
            <a:r>
              <a:rPr lang="zh-CN" altLang="en-US" kern="0" dirty="0"/>
              <a:t>特点</a:t>
            </a:r>
            <a:r>
              <a:rPr lang="en-US" altLang="zh-CN" kern="0" dirty="0"/>
              <a:t>:</a:t>
            </a:r>
          </a:p>
          <a:p>
            <a:pPr lvl="1" defTabSz="914400"/>
            <a:r>
              <a:rPr lang="en-US" altLang="zh-CN" kern="0" dirty="0"/>
              <a:t> </a:t>
            </a:r>
            <a:r>
              <a:rPr lang="zh-CN" altLang="en-US" kern="0" dirty="0"/>
              <a:t>线程在内核中有保存的信息</a:t>
            </a:r>
            <a:r>
              <a:rPr lang="en-US" altLang="zh-CN" kern="0" dirty="0"/>
              <a:t>,</a:t>
            </a:r>
            <a:r>
              <a:rPr lang="zh-CN" altLang="en-US" kern="0" dirty="0"/>
              <a:t>系统调度是基于线程完成的。</a:t>
            </a:r>
            <a:endParaRPr lang="en-US" altLang="zh-CN" kern="0" dirty="0"/>
          </a:p>
          <a:p>
            <a:pPr lvl="1" defTabSz="914400"/>
            <a:r>
              <a:rPr lang="en-US" altLang="zh-CN" kern="0" dirty="0"/>
              <a:t> </a:t>
            </a:r>
            <a:r>
              <a:rPr lang="zh-CN" altLang="en-US" kern="0" dirty="0"/>
              <a:t>可克服</a:t>
            </a:r>
            <a:r>
              <a:rPr lang="en-US" altLang="zh-CN" kern="0" dirty="0"/>
              <a:t>ULT</a:t>
            </a:r>
            <a:r>
              <a:rPr lang="zh-CN" altLang="en-US" kern="0" dirty="0"/>
              <a:t>的两个缺点</a:t>
            </a:r>
            <a:r>
              <a:rPr lang="en-US" altLang="zh-CN" kern="0" dirty="0"/>
              <a:t>,</a:t>
            </a:r>
            <a:r>
              <a:rPr lang="zh-CN" altLang="en-US" kern="0" dirty="0"/>
              <a:t>且内核程序本身也可以是多线程结构的。</a:t>
            </a:r>
            <a:endParaRPr lang="en-US" altLang="zh-CN" kern="0" dirty="0"/>
          </a:p>
          <a:p>
            <a:pPr lvl="1" defTabSz="914400"/>
            <a:r>
              <a:rPr lang="en-US" altLang="zh-CN" kern="0" dirty="0"/>
              <a:t> </a:t>
            </a:r>
            <a:r>
              <a:rPr lang="zh-CN" altLang="en-US" kern="0" dirty="0"/>
              <a:t>线程间的控制转换需要转换到内核模式。</a:t>
            </a:r>
            <a:endParaRPr lang="en-US" altLang="zh-CN" kern="0" dirty="0"/>
          </a:p>
          <a:p>
            <a:pPr lvl="1" defTabSz="914400"/>
            <a:endParaRPr lang="zh-CN" altLang="en-US" kern="0" dirty="0"/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D11B7CE7-3A89-FA05-04D8-DB7BDC2E2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</p:spPr>
        <p:txBody>
          <a:bodyPr/>
          <a:lstStyle/>
          <a:p>
            <a:pPr algn="r" defTabSz="914400" fontAlgn="base">
              <a:spcAft>
                <a:spcPct val="0"/>
              </a:spcAft>
              <a:defRPr/>
            </a:pPr>
            <a:fld id="{B40D5C89-3F50-4E78-90D8-3CB123F8C3B8}" type="slidenum">
              <a:rPr lang="en-US" altLang="ko-KR">
                <a:solidFill>
                  <a:srgbClr val="FFFFFF"/>
                </a:solidFill>
                <a:latin typeface="Verdana" panose="020B0604030504040204" pitchFamily="34" charset="0"/>
              </a:rPr>
              <a:pPr algn="r" defTabSz="914400" fontAlgn="base">
                <a:spcAft>
                  <a:spcPct val="0"/>
                </a:spcAft>
                <a:defRPr/>
              </a:pPr>
              <a:t>15</a:t>
            </a:fld>
            <a:endParaRPr lang="en-US" altLang="ko-KR" dirty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765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Implementing Threads (7)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1B81B16-780D-A92B-5357-9448401FC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KLT</a:t>
            </a:r>
            <a:r>
              <a:rPr lang="zh-CN" altLang="en-US" dirty="0"/>
              <a:t>实现方式描述：</a:t>
            </a:r>
            <a:endParaRPr lang="en-US" altLang="zh-CN" dirty="0"/>
          </a:p>
          <a:p>
            <a:pPr lvl="1" eaLnBrk="1" hangingPunct="1"/>
            <a:r>
              <a:rPr lang="zh-CN" altLang="zh-CN" dirty="0"/>
              <a:t>线程和进程都在用户空间完成</a:t>
            </a:r>
          </a:p>
          <a:p>
            <a:pPr lvl="1" eaLnBrk="1" hangingPunct="1"/>
            <a:r>
              <a:rPr lang="zh-CN" altLang="zh-CN" dirty="0"/>
              <a:t>进程表和线程表都放在核心区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24580" name="Picture 5" descr="2-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788" y="1447801"/>
            <a:ext cx="4203700" cy="444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0A300-3CF6-7641-64B8-1AC5C8E93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</p:spPr>
        <p:txBody>
          <a:bodyPr/>
          <a:lstStyle/>
          <a:p>
            <a:pPr algn="r" defTabSz="914400" fontAlgn="base">
              <a:spcAft>
                <a:spcPct val="0"/>
              </a:spcAft>
              <a:defRPr/>
            </a:pPr>
            <a:fld id="{B40D5C89-3F50-4E78-90D8-3CB123F8C3B8}" type="slidenum">
              <a:rPr lang="en-US" altLang="ko-KR">
                <a:solidFill>
                  <a:srgbClr val="FFFFFF"/>
                </a:solidFill>
                <a:latin typeface="Verdana" panose="020B0604030504040204" pitchFamily="34" charset="0"/>
              </a:rPr>
              <a:pPr algn="r" defTabSz="914400" fontAlgn="base">
                <a:spcAft>
                  <a:spcPct val="0"/>
                </a:spcAft>
                <a:defRPr/>
              </a:pPr>
              <a:t>16</a:t>
            </a:fld>
            <a:endParaRPr lang="en-US" altLang="ko-KR" dirty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957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1"/>
          <p:cNvSpPr txBox="1"/>
          <p:nvPr/>
        </p:nvSpPr>
        <p:spPr>
          <a:xfrm>
            <a:off x="695400" y="1591169"/>
            <a:ext cx="1096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SimSun" charset="0"/>
              </a:rPr>
              <a:t>线程是进程的一部分，描述指令流执行状态。它是进程中的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SimSun" charset="0"/>
              </a:rPr>
              <a:t>指令执行流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SimSun" charset="0"/>
              </a:rPr>
              <a:t>的最小单元，是</a:t>
            </a:r>
            <a:r>
              <a: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SimSun" charset="0"/>
              </a:rPr>
              <a:t>CPU</a:t>
            </a:r>
            <a:r>
              <a:rPr lang="zh-CN" altLang="en-US" sz="20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SimSun" charset="0"/>
              </a:rPr>
              <a:t>调度</a:t>
            </a:r>
            <a:r>
              <a: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SimSun" charset="0"/>
              </a:rPr>
              <a:t>的基本单位。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353442" y="2299055"/>
            <a:ext cx="1973263" cy="3931132"/>
            <a:chOff x="6010572" y="1206018"/>
            <a:chExt cx="1973263" cy="3931132"/>
          </a:xfrm>
        </p:grpSpPr>
        <p:sp>
          <p:nvSpPr>
            <p:cNvPr id="26" name="Rectangle 42"/>
            <p:cNvSpPr>
              <a:spLocks noChangeArrowheads="1"/>
            </p:cNvSpPr>
            <p:nvPr/>
          </p:nvSpPr>
          <p:spPr bwMode="auto">
            <a:xfrm>
              <a:off x="6186596" y="4767176"/>
              <a:ext cx="1570943" cy="3699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</a:rPr>
                <a:t>进程地址空间</a:t>
              </a:r>
              <a:endParaRPr 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SimSun" charset="0"/>
              </a:endParaRPr>
            </a:p>
          </p:txBody>
        </p:sp>
        <p:sp>
          <p:nvSpPr>
            <p:cNvPr id="11" name="Rectangle 20"/>
            <p:cNvSpPr>
              <a:spLocks noChangeArrowheads="1"/>
            </p:cNvSpPr>
            <p:nvPr/>
          </p:nvSpPr>
          <p:spPr bwMode="auto">
            <a:xfrm>
              <a:off x="6012160" y="1209588"/>
              <a:ext cx="1968500" cy="3557588"/>
            </a:xfrm>
            <a:prstGeom prst="rect">
              <a:avLst/>
            </a:prstGeom>
            <a:noFill/>
            <a:ln w="28575" cmpd="sng">
              <a:solidFill>
                <a:srgbClr val="11576A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 panose="020B0604030504040204" pitchFamily="34" charset="0"/>
                <a:ea typeface="SimSun" charset="0"/>
                <a:cs typeface="SimSun" charset="0"/>
              </a:endParaRPr>
            </a:p>
          </p:txBody>
        </p:sp>
        <p:sp>
          <p:nvSpPr>
            <p:cNvPr id="12" name="Rectangle 23"/>
            <p:cNvSpPr>
              <a:spLocks noChangeArrowheads="1"/>
            </p:cNvSpPr>
            <p:nvPr/>
          </p:nvSpPr>
          <p:spPr bwMode="auto">
            <a:xfrm>
              <a:off x="6015335" y="4237918"/>
              <a:ext cx="1968500" cy="540000"/>
            </a:xfrm>
            <a:prstGeom prst="rect">
              <a:avLst/>
            </a:prstGeom>
            <a:gradFill>
              <a:gsLst>
                <a:gs pos="100000">
                  <a:srgbClr val="9966CC"/>
                </a:gs>
                <a:gs pos="0">
                  <a:srgbClr val="CC99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 panose="020B0604030504040204" pitchFamily="34" charset="0"/>
                <a:ea typeface="SimSun" charset="0"/>
                <a:cs typeface="SimSun" charset="0"/>
              </a:endParaRPr>
            </a:p>
          </p:txBody>
        </p:sp>
        <p:sp>
          <p:nvSpPr>
            <p:cNvPr id="13" name="Rectangle 24"/>
            <p:cNvSpPr>
              <a:spLocks noChangeArrowheads="1"/>
            </p:cNvSpPr>
            <p:nvPr/>
          </p:nvSpPr>
          <p:spPr bwMode="auto">
            <a:xfrm>
              <a:off x="6727075" y="4354800"/>
              <a:ext cx="545021" cy="308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</a:rPr>
                <a:t>代码</a:t>
              </a:r>
              <a:endParaRPr lang="en-US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SimSun" charset="0"/>
              </a:endParaRPr>
            </a:p>
          </p:txBody>
        </p:sp>
        <p:sp>
          <p:nvSpPr>
            <p:cNvPr id="14" name="Rectangle 26"/>
            <p:cNvSpPr>
              <a:spLocks noChangeArrowheads="1"/>
            </p:cNvSpPr>
            <p:nvPr/>
          </p:nvSpPr>
          <p:spPr bwMode="auto">
            <a:xfrm>
              <a:off x="6015335" y="3809852"/>
              <a:ext cx="1968500" cy="468000"/>
            </a:xfrm>
            <a:prstGeom prst="rect">
              <a:avLst/>
            </a:prstGeom>
            <a:gradFill>
              <a:gsLst>
                <a:gs pos="100000">
                  <a:srgbClr val="FDD000"/>
                </a:gs>
                <a:gs pos="0">
                  <a:srgbClr val="FFF9B1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 panose="020B0604030504040204" pitchFamily="34" charset="0"/>
                <a:ea typeface="SimSun" charset="0"/>
                <a:cs typeface="SimSun" charset="0"/>
              </a:endParaRPr>
            </a:p>
          </p:txBody>
        </p:sp>
        <p:sp>
          <p:nvSpPr>
            <p:cNvPr id="15" name="Rectangle 27"/>
            <p:cNvSpPr>
              <a:spLocks noChangeArrowheads="1"/>
            </p:cNvSpPr>
            <p:nvPr/>
          </p:nvSpPr>
          <p:spPr bwMode="auto">
            <a:xfrm>
              <a:off x="6457770" y="3877357"/>
              <a:ext cx="1083630" cy="308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</a:rPr>
                <a:t>初始化数据</a:t>
              </a:r>
              <a:endParaRPr lang="en-US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SimSun" charset="0"/>
              </a:endParaRPr>
            </a:p>
          </p:txBody>
        </p:sp>
        <p:sp>
          <p:nvSpPr>
            <p:cNvPr id="19" name="Rectangle 34"/>
            <p:cNvSpPr>
              <a:spLocks noChangeArrowheads="1"/>
            </p:cNvSpPr>
            <p:nvPr/>
          </p:nvSpPr>
          <p:spPr bwMode="auto">
            <a:xfrm>
              <a:off x="6010572" y="1881101"/>
              <a:ext cx="1968500" cy="390525"/>
            </a:xfrm>
            <a:prstGeom prst="rect">
              <a:avLst/>
            </a:prstGeom>
            <a:gradFill>
              <a:gsLst>
                <a:gs pos="100000">
                  <a:srgbClr val="33FFFF"/>
                </a:gs>
                <a:gs pos="0">
                  <a:srgbClr val="CCFFFF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 panose="020B0604030504040204" pitchFamily="34" charset="0"/>
                <a:ea typeface="SimSun" charset="0"/>
                <a:cs typeface="SimSun" charset="0"/>
              </a:endParaRPr>
            </a:p>
          </p:txBody>
        </p:sp>
        <p:sp>
          <p:nvSpPr>
            <p:cNvPr id="21" name="Rectangle 36"/>
            <p:cNvSpPr>
              <a:spLocks noChangeArrowheads="1"/>
            </p:cNvSpPr>
            <p:nvPr/>
          </p:nvSpPr>
          <p:spPr bwMode="auto">
            <a:xfrm>
              <a:off x="6812080" y="1922154"/>
              <a:ext cx="365485" cy="308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</a:rPr>
                <a:t>堆</a:t>
              </a:r>
              <a:endParaRPr lang="en-US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SimSun" charset="0"/>
              </a:endParaRPr>
            </a:p>
          </p:txBody>
        </p:sp>
        <p:sp>
          <p:nvSpPr>
            <p:cNvPr id="22" name="Rectangle 37"/>
            <p:cNvSpPr>
              <a:spLocks noChangeArrowheads="1"/>
            </p:cNvSpPr>
            <p:nvPr/>
          </p:nvSpPr>
          <p:spPr bwMode="auto">
            <a:xfrm>
              <a:off x="6010572" y="1495339"/>
              <a:ext cx="1968500" cy="390525"/>
            </a:xfrm>
            <a:prstGeom prst="rect">
              <a:avLst/>
            </a:prstGeom>
            <a:gradFill>
              <a:gsLst>
                <a:gs pos="100000">
                  <a:srgbClr val="FF9900"/>
                </a:gs>
                <a:gs pos="0">
                  <a:srgbClr val="FFCC66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 panose="020B0604030504040204" pitchFamily="34" charset="0"/>
                <a:ea typeface="SimSun" charset="0"/>
                <a:cs typeface="SimSun" charset="0"/>
              </a:endParaRPr>
            </a:p>
          </p:txBody>
        </p:sp>
        <p:sp>
          <p:nvSpPr>
            <p:cNvPr id="23" name="Rectangle 38"/>
            <p:cNvSpPr>
              <a:spLocks noChangeArrowheads="1"/>
            </p:cNvSpPr>
            <p:nvPr/>
          </p:nvSpPr>
          <p:spPr bwMode="auto">
            <a:xfrm>
              <a:off x="6453007" y="1541774"/>
              <a:ext cx="1083630" cy="308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4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</a:rPr>
                <a:t>代码共享</a:t>
              </a:r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</a:rPr>
                <a:t>库</a:t>
              </a:r>
              <a:endParaRPr lang="en-US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SimSun" charset="0"/>
              </a:endParaRPr>
            </a:p>
          </p:txBody>
        </p:sp>
        <p:sp>
          <p:nvSpPr>
            <p:cNvPr id="24" name="Rectangle 39"/>
            <p:cNvSpPr>
              <a:spLocks noChangeArrowheads="1"/>
            </p:cNvSpPr>
            <p:nvPr/>
          </p:nvSpPr>
          <p:spPr bwMode="auto">
            <a:xfrm>
              <a:off x="6012160" y="1216732"/>
              <a:ext cx="1968500" cy="276225"/>
            </a:xfrm>
            <a:prstGeom prst="rect">
              <a:avLst/>
            </a:prstGeom>
            <a:gradFill>
              <a:gsLst>
                <a:gs pos="100000">
                  <a:srgbClr val="339900"/>
                </a:gs>
                <a:gs pos="0">
                  <a:srgbClr val="CCFF99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 panose="020B0604030504040204" pitchFamily="34" charset="0"/>
                <a:ea typeface="SimSun" charset="0"/>
                <a:cs typeface="SimSun" charset="0"/>
              </a:endParaRPr>
            </a:p>
          </p:txBody>
        </p:sp>
        <p:sp>
          <p:nvSpPr>
            <p:cNvPr id="25" name="Rectangle 40"/>
            <p:cNvSpPr>
              <a:spLocks noChangeArrowheads="1"/>
            </p:cNvSpPr>
            <p:nvPr/>
          </p:nvSpPr>
          <p:spPr bwMode="auto">
            <a:xfrm>
              <a:off x="6723900" y="1206018"/>
              <a:ext cx="545021" cy="308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</a:rPr>
                <a:t>段表</a:t>
              </a:r>
              <a:endParaRPr 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SimSun" charset="0"/>
              </a:endParaRPr>
            </a:p>
          </p:txBody>
        </p:sp>
        <p:sp>
          <p:nvSpPr>
            <p:cNvPr id="44" name="下箭头 43"/>
            <p:cNvSpPr/>
            <p:nvPr/>
          </p:nvSpPr>
          <p:spPr>
            <a:xfrm>
              <a:off x="6782096" y="2289719"/>
              <a:ext cx="428628" cy="252000"/>
            </a:xfrm>
            <a:prstGeom prst="downArrow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908689" y="2398575"/>
            <a:ext cx="4673751" cy="1015663"/>
            <a:chOff x="865833" y="2168522"/>
            <a:chExt cx="4673751" cy="1015663"/>
          </a:xfrm>
        </p:grpSpPr>
        <p:sp>
          <p:nvSpPr>
            <p:cNvPr id="48" name="文本框 1"/>
            <p:cNvSpPr txBox="1"/>
            <p:nvPr/>
          </p:nvSpPr>
          <p:spPr>
            <a:xfrm>
              <a:off x="990191" y="2168522"/>
              <a:ext cx="454939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</a:rPr>
                <a:t>进程的资源分配角色：进程由一组相关资源构成，包括地址空间（代码段、数据段）、打开的文件等各种资源</a:t>
              </a:r>
              <a:endParaRPr lang="en-US" altLang="zh-CN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SimSun" charset="0"/>
              </a:endParaRPr>
            </a:p>
          </p:txBody>
        </p:sp>
        <p:pic>
          <p:nvPicPr>
            <p:cNvPr id="42" name="图片 41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33" y="2272628"/>
              <a:ext cx="152577" cy="148997"/>
            </a:xfrm>
            <a:prstGeom prst="rect">
              <a:avLst/>
            </a:prstGeom>
          </p:spPr>
        </p:pic>
      </p:grpSp>
      <p:grpSp>
        <p:nvGrpSpPr>
          <p:cNvPr id="8" name="组合 7"/>
          <p:cNvGrpSpPr/>
          <p:nvPr/>
        </p:nvGrpSpPr>
        <p:grpSpPr>
          <a:xfrm>
            <a:off x="903811" y="3869585"/>
            <a:ext cx="4678629" cy="707886"/>
            <a:chOff x="865833" y="3605849"/>
            <a:chExt cx="4678629" cy="707886"/>
          </a:xfrm>
        </p:grpSpPr>
        <p:sp>
          <p:nvSpPr>
            <p:cNvPr id="43" name="文本框 1"/>
            <p:cNvSpPr txBox="1"/>
            <p:nvPr/>
          </p:nvSpPr>
          <p:spPr>
            <a:xfrm>
              <a:off x="990192" y="3605849"/>
              <a:ext cx="455427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</a:rPr>
                <a:t>线程的处理机调度角色：线程描述在进程资源环境中的指令流执行状态</a:t>
              </a:r>
            </a:p>
          </p:txBody>
        </p:sp>
        <p:pic>
          <p:nvPicPr>
            <p:cNvPr id="46" name="图片 45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33" y="3709955"/>
              <a:ext cx="152577" cy="148997"/>
            </a:xfrm>
            <a:prstGeom prst="rect">
              <a:avLst/>
            </a:prstGeom>
          </p:spPr>
        </p:pic>
      </p:grpSp>
      <p:grpSp>
        <p:nvGrpSpPr>
          <p:cNvPr id="2" name="组合 1"/>
          <p:cNvGrpSpPr/>
          <p:nvPr/>
        </p:nvGrpSpPr>
        <p:grpSpPr>
          <a:xfrm>
            <a:off x="8353440" y="3677383"/>
            <a:ext cx="1968500" cy="1227146"/>
            <a:chOff x="6015335" y="2622078"/>
            <a:chExt cx="1968500" cy="1227146"/>
          </a:xfrm>
        </p:grpSpPr>
        <p:sp>
          <p:nvSpPr>
            <p:cNvPr id="16" name="Rectangle 31"/>
            <p:cNvSpPr>
              <a:spLocks noChangeArrowheads="1"/>
            </p:cNvSpPr>
            <p:nvPr/>
          </p:nvSpPr>
          <p:spPr bwMode="auto">
            <a:xfrm>
              <a:off x="6015335" y="3489224"/>
              <a:ext cx="1968500" cy="360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Times New Roman" charset="0"/>
                <a:ea typeface="SimSun" charset="0"/>
                <a:cs typeface="SimSun" charset="0"/>
              </a:endParaRPr>
            </a:p>
          </p:txBody>
        </p:sp>
        <p:sp>
          <p:nvSpPr>
            <p:cNvPr id="17" name="Rectangle 32"/>
            <p:cNvSpPr>
              <a:spLocks noChangeArrowheads="1"/>
            </p:cNvSpPr>
            <p:nvPr/>
          </p:nvSpPr>
          <p:spPr bwMode="auto">
            <a:xfrm>
              <a:off x="6492235" y="3515015"/>
              <a:ext cx="835165" cy="308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</a:rPr>
                <a:t>线程</a:t>
              </a:r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</a:rPr>
                <a:t>1</a:t>
              </a:r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</a:rPr>
                <a:t>栈</a:t>
              </a:r>
              <a:endParaRPr lang="en-US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SimSun" charset="0"/>
              </a:endParaRPr>
            </a:p>
          </p:txBody>
        </p:sp>
        <p:sp>
          <p:nvSpPr>
            <p:cNvPr id="45" name="下箭头 44"/>
            <p:cNvSpPr/>
            <p:nvPr/>
          </p:nvSpPr>
          <p:spPr>
            <a:xfrm>
              <a:off x="6782096" y="2622078"/>
              <a:ext cx="428628" cy="252000"/>
            </a:xfrm>
            <a:prstGeom prst="downArrow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  <a:scene3d>
              <a:camera prst="orthographicFront">
                <a:rot lat="10800000" lon="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41" name="Rectangle 31"/>
            <p:cNvSpPr>
              <a:spLocks noChangeArrowheads="1"/>
            </p:cNvSpPr>
            <p:nvPr/>
          </p:nvSpPr>
          <p:spPr bwMode="auto">
            <a:xfrm>
              <a:off x="6015335" y="2861792"/>
              <a:ext cx="1968500" cy="360000"/>
            </a:xfrm>
            <a:prstGeom prst="rect">
              <a:avLst/>
            </a:prstGeom>
            <a:gradFill>
              <a:gsLst>
                <a:gs pos="100000">
                  <a:srgbClr val="666666"/>
                </a:gs>
                <a:gs pos="0">
                  <a:srgbClr val="CCCCCC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mpd="sng">
              <a:solidFill>
                <a:srgbClr val="11576A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Times New Roman" charset="0"/>
                <a:ea typeface="SimSun" charset="0"/>
                <a:cs typeface="SimSun" charset="0"/>
              </a:endParaRPr>
            </a:p>
          </p:txBody>
        </p:sp>
        <p:sp>
          <p:nvSpPr>
            <p:cNvPr id="51" name="Rectangle 32"/>
            <p:cNvSpPr>
              <a:spLocks noChangeArrowheads="1"/>
            </p:cNvSpPr>
            <p:nvPr/>
          </p:nvSpPr>
          <p:spPr bwMode="auto">
            <a:xfrm>
              <a:off x="6492235" y="2899892"/>
              <a:ext cx="835165" cy="308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</a:rPr>
                <a:t>线程</a:t>
              </a:r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</a:rPr>
                <a:t>2</a:t>
              </a:r>
              <a:r>
                <a:rPr lang="zh-CN" altLang="en-US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SimSun" charset="0"/>
                </a:rPr>
                <a:t>栈</a:t>
              </a:r>
              <a:endParaRPr lang="en-US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  <a:cs typeface="SimSun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210300" y="2403831"/>
            <a:ext cx="2143140" cy="3395686"/>
            <a:chOff x="3867432" y="1310794"/>
            <a:chExt cx="2143140" cy="3395686"/>
          </a:xfrm>
        </p:grpSpPr>
        <p:sp>
          <p:nvSpPr>
            <p:cNvPr id="52" name="矩形 51"/>
            <p:cNvSpPr/>
            <p:nvPr/>
          </p:nvSpPr>
          <p:spPr>
            <a:xfrm>
              <a:off x="3905532" y="1622504"/>
              <a:ext cx="1214446" cy="1214446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266534" y="1610362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b="1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PC</a:t>
              </a:r>
              <a:endParaRPr lang="zh-CN" altLang="en-US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266534" y="1908256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b="1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SP</a:t>
              </a:r>
              <a:endParaRPr lang="zh-CN" altLang="en-US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266534" y="2479760"/>
              <a:ext cx="407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b="1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…</a:t>
              </a:r>
              <a:endParaRPr lang="zh-CN" altLang="en-US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867432" y="2189246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b="1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其他寄存器</a:t>
              </a:r>
            </a:p>
          </p:txBody>
        </p:sp>
        <p:sp>
          <p:nvSpPr>
            <p:cNvPr id="34" name="矩形 33"/>
            <p:cNvSpPr/>
            <p:nvPr/>
          </p:nvSpPr>
          <p:spPr>
            <a:xfrm>
              <a:off x="3905532" y="3479892"/>
              <a:ext cx="1214446" cy="1214446"/>
            </a:xfrm>
            <a:prstGeom prst="rect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266534" y="3467750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b="1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PC</a:t>
              </a:r>
              <a:endParaRPr lang="zh-CN" altLang="en-US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266534" y="3765644"/>
              <a:ext cx="4764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b="1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SP</a:t>
              </a:r>
              <a:endParaRPr lang="zh-CN" altLang="en-US" b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266534" y="4337148"/>
              <a:ext cx="407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b="1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…</a:t>
              </a:r>
              <a:endParaRPr lang="zh-CN" altLang="en-US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867432" y="4046634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b="1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其他寄存器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092415" y="1310794"/>
              <a:ext cx="775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TCB1</a:t>
              </a:r>
              <a:endParaRPr lang="zh-CN" altLang="en-US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092415" y="3122702"/>
              <a:ext cx="775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TCB2</a:t>
              </a:r>
              <a:endParaRPr lang="zh-CN" altLang="en-US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58" name="直接连接符 57"/>
            <p:cNvCxnSpPr/>
            <p:nvPr/>
          </p:nvCxnSpPr>
          <p:spPr>
            <a:xfrm>
              <a:off x="4724688" y="1777522"/>
              <a:ext cx="107157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rot="5400000">
              <a:off x="4465129" y="3099125"/>
              <a:ext cx="2643206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/>
            <p:nvPr/>
          </p:nvCxnSpPr>
          <p:spPr>
            <a:xfrm>
              <a:off x="5773398" y="4420728"/>
              <a:ext cx="214314" cy="1588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V="1">
              <a:off x="4758977" y="3684758"/>
              <a:ext cx="894405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rot="5400000">
              <a:off x="5189035" y="4149105"/>
              <a:ext cx="928694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/>
            <p:cNvCxnSpPr/>
            <p:nvPr/>
          </p:nvCxnSpPr>
          <p:spPr>
            <a:xfrm>
              <a:off x="5638142" y="4613452"/>
              <a:ext cx="285752" cy="1588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>
              <a:off x="4758186" y="3950310"/>
              <a:ext cx="752312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rot="5400000" flipH="1" flipV="1">
              <a:off x="5037526" y="3487808"/>
              <a:ext cx="961200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箭头连接符 75"/>
            <p:cNvCxnSpPr/>
            <p:nvPr/>
          </p:nvCxnSpPr>
          <p:spPr>
            <a:xfrm>
              <a:off x="5510506" y="3014828"/>
              <a:ext cx="428628" cy="1588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>
              <a:stCxn id="54" idx="3"/>
            </p:cNvCxnSpPr>
            <p:nvPr/>
          </p:nvCxnSpPr>
          <p:spPr>
            <a:xfrm flipV="1">
              <a:off x="4742946" y="2090902"/>
              <a:ext cx="500852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rot="5400000">
              <a:off x="4479418" y="2827662"/>
              <a:ext cx="1500198" cy="1588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83"/>
            <p:cNvCxnSpPr/>
            <p:nvPr/>
          </p:nvCxnSpPr>
          <p:spPr>
            <a:xfrm>
              <a:off x="5224754" y="3563472"/>
              <a:ext cx="785818" cy="1588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标题 27">
            <a:extLst>
              <a:ext uri="{FF2B5EF4-FFF2-40B4-BE49-F238E27FC236}">
                <a16:creationId xmlns:a16="http://schemas.microsoft.com/office/drawing/2014/main" id="{F2F90E82-0F24-EDAB-4412-FADA77DF2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线程的概念</a:t>
            </a:r>
          </a:p>
        </p:txBody>
      </p:sp>
      <p:sp>
        <p:nvSpPr>
          <p:cNvPr id="31" name="灯片编号占位符 5">
            <a:extLst>
              <a:ext uri="{FF2B5EF4-FFF2-40B4-BE49-F238E27FC236}">
                <a16:creationId xmlns:a16="http://schemas.microsoft.com/office/drawing/2014/main" id="{5BF05056-823A-7D39-52CE-53277F32B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</p:spPr>
        <p:txBody>
          <a:bodyPr/>
          <a:lstStyle/>
          <a:p>
            <a:pPr algn="r" defTabSz="914400" fontAlgn="base">
              <a:spcAft>
                <a:spcPct val="0"/>
              </a:spcAft>
              <a:defRPr/>
            </a:pPr>
            <a:fld id="{B40D5C89-3F50-4E78-90D8-3CB123F8C3B8}" type="slidenum">
              <a:rPr lang="en-US" altLang="ko-KR">
                <a:solidFill>
                  <a:srgbClr val="FFFFFF"/>
                </a:solidFill>
                <a:latin typeface="Verdana" panose="020B0604030504040204" pitchFamily="34" charset="0"/>
              </a:rPr>
              <a:pPr algn="r" defTabSz="914400" fontAlgn="base">
                <a:spcAft>
                  <a:spcPct val="0"/>
                </a:spcAft>
                <a:defRPr/>
              </a:pPr>
              <a:t>17</a:t>
            </a:fld>
            <a:endParaRPr lang="en-US" altLang="ko-KR" dirty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962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组合 71"/>
          <p:cNvGrpSpPr/>
          <p:nvPr/>
        </p:nvGrpSpPr>
        <p:grpSpPr>
          <a:xfrm>
            <a:off x="3277795" y="2094600"/>
            <a:ext cx="2342501" cy="3192000"/>
            <a:chOff x="842480" y="1237350"/>
            <a:chExt cx="2342501" cy="3192000"/>
          </a:xfrm>
        </p:grpSpPr>
        <p:sp>
          <p:nvSpPr>
            <p:cNvPr id="2" name="矩形 1"/>
            <p:cNvSpPr/>
            <p:nvPr/>
          </p:nvSpPr>
          <p:spPr bwMode="auto">
            <a:xfrm>
              <a:off x="842481" y="1602475"/>
              <a:ext cx="2342500" cy="360363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ap="flat" cmpd="sng" algn="ctr">
              <a:solidFill>
                <a:srgbClr val="11576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" name="矩形 2"/>
            <p:cNvSpPr/>
            <p:nvPr/>
          </p:nvSpPr>
          <p:spPr bwMode="auto">
            <a:xfrm>
              <a:off x="842480" y="1237350"/>
              <a:ext cx="2342501" cy="360363"/>
            </a:xfrm>
            <a:prstGeom prst="rect">
              <a:avLst/>
            </a:prstGeom>
            <a:gradFill>
              <a:gsLst>
                <a:gs pos="100000">
                  <a:srgbClr val="005072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 w="28575" cap="flat" cmpd="sng" algn="ctr">
              <a:solidFill>
                <a:srgbClr val="11576A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" name="组合 27"/>
            <p:cNvGrpSpPr>
              <a:grpSpLocks/>
            </p:cNvGrpSpPr>
            <p:nvPr/>
          </p:nvGrpSpPr>
          <p:grpSpPr bwMode="auto">
            <a:xfrm>
              <a:off x="940707" y="1286568"/>
              <a:ext cx="540039" cy="276999"/>
              <a:chOff x="1187347" y="1763072"/>
              <a:chExt cx="540000" cy="278255"/>
            </a:xfrm>
          </p:grpSpPr>
          <p:sp>
            <p:nvSpPr>
              <p:cNvPr id="5" name="矩形 15"/>
              <p:cNvSpPr>
                <a:spLocks noChangeArrowheads="1"/>
              </p:cNvSpPr>
              <p:nvPr/>
            </p:nvSpPr>
            <p:spPr bwMode="auto">
              <a:xfrm>
                <a:off x="1187347" y="1793966"/>
                <a:ext cx="540000" cy="216000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rgbClr val="00507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600">
                  <a:solidFill>
                    <a:srgbClr val="000000"/>
                  </a:solidFill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" name="TextBox 18"/>
              <p:cNvSpPr txBox="1">
                <a:spLocks noChangeArrowheads="1"/>
              </p:cNvSpPr>
              <p:nvPr/>
            </p:nvSpPr>
            <p:spPr bwMode="auto">
              <a:xfrm>
                <a:off x="1208362" y="1763072"/>
                <a:ext cx="492407" cy="2782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200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rPr>
                  <a:t>代码</a:t>
                </a:r>
              </a:p>
            </p:txBody>
          </p:sp>
        </p:grpSp>
        <p:grpSp>
          <p:nvGrpSpPr>
            <p:cNvPr id="7" name="组合 29"/>
            <p:cNvGrpSpPr>
              <a:grpSpLocks/>
            </p:cNvGrpSpPr>
            <p:nvPr/>
          </p:nvGrpSpPr>
          <p:grpSpPr bwMode="auto">
            <a:xfrm>
              <a:off x="1651300" y="1286568"/>
              <a:ext cx="540342" cy="276999"/>
              <a:chOff x="1830289" y="1763072"/>
              <a:chExt cx="540000" cy="278255"/>
            </a:xfrm>
          </p:grpSpPr>
          <p:sp>
            <p:nvSpPr>
              <p:cNvPr id="8" name="矩形 16"/>
              <p:cNvSpPr>
                <a:spLocks noChangeArrowheads="1"/>
              </p:cNvSpPr>
              <p:nvPr/>
            </p:nvSpPr>
            <p:spPr bwMode="auto">
              <a:xfrm>
                <a:off x="1830289" y="1793966"/>
                <a:ext cx="540000" cy="216000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rgbClr val="00507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600">
                  <a:solidFill>
                    <a:srgbClr val="000000"/>
                  </a:solidFill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TextBox 19"/>
              <p:cNvSpPr txBox="1">
                <a:spLocks noChangeArrowheads="1"/>
              </p:cNvSpPr>
              <p:nvPr/>
            </p:nvSpPr>
            <p:spPr bwMode="auto">
              <a:xfrm>
                <a:off x="1844496" y="1763072"/>
                <a:ext cx="492131" cy="2782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200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rPr>
                  <a:t>数据</a:t>
                </a:r>
              </a:p>
            </p:txBody>
          </p:sp>
        </p:grpSp>
        <p:grpSp>
          <p:nvGrpSpPr>
            <p:cNvPr id="10" name="组合 28"/>
            <p:cNvGrpSpPr>
              <a:grpSpLocks/>
            </p:cNvGrpSpPr>
            <p:nvPr/>
          </p:nvGrpSpPr>
          <p:grpSpPr bwMode="auto">
            <a:xfrm>
              <a:off x="2326557" y="1279031"/>
              <a:ext cx="800219" cy="276999"/>
              <a:chOff x="2444905" y="1755501"/>
              <a:chExt cx="798822" cy="278255"/>
            </a:xfrm>
          </p:grpSpPr>
          <p:sp>
            <p:nvSpPr>
              <p:cNvPr id="11" name="矩形 17"/>
              <p:cNvSpPr>
                <a:spLocks noChangeArrowheads="1"/>
              </p:cNvSpPr>
              <p:nvPr/>
            </p:nvSpPr>
            <p:spPr bwMode="auto">
              <a:xfrm>
                <a:off x="2473231" y="1793966"/>
                <a:ext cx="718891" cy="215998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rgbClr val="00507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600">
                  <a:solidFill>
                    <a:srgbClr val="000000"/>
                  </a:solidFill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" name="TextBox 20"/>
              <p:cNvSpPr txBox="1">
                <a:spLocks noChangeArrowheads="1"/>
              </p:cNvSpPr>
              <p:nvPr/>
            </p:nvSpPr>
            <p:spPr bwMode="auto">
              <a:xfrm>
                <a:off x="2444905" y="1755501"/>
                <a:ext cx="798822" cy="2782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200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rPr>
                  <a:t>打开文件</a:t>
                </a:r>
              </a:p>
            </p:txBody>
          </p:sp>
        </p:grpSp>
        <p:grpSp>
          <p:nvGrpSpPr>
            <p:cNvPr id="13" name="组合 26"/>
            <p:cNvGrpSpPr>
              <a:grpSpLocks/>
            </p:cNvGrpSpPr>
            <p:nvPr/>
          </p:nvGrpSpPr>
          <p:grpSpPr bwMode="auto">
            <a:xfrm>
              <a:off x="2446930" y="1650531"/>
              <a:ext cx="539780" cy="276999"/>
              <a:chOff x="2480296" y="2150212"/>
              <a:chExt cx="540000" cy="276821"/>
            </a:xfrm>
          </p:grpSpPr>
          <p:sp>
            <p:nvSpPr>
              <p:cNvPr id="14" name="矩形 22"/>
              <p:cNvSpPr>
                <a:spLocks noChangeArrowheads="1"/>
              </p:cNvSpPr>
              <p:nvPr/>
            </p:nvSpPr>
            <p:spPr bwMode="auto">
              <a:xfrm>
                <a:off x="2480296" y="2181222"/>
                <a:ext cx="540000" cy="216000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rgbClr val="00507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TextBox 25"/>
              <p:cNvSpPr txBox="1">
                <a:spLocks noChangeArrowheads="1"/>
              </p:cNvSpPr>
              <p:nvPr/>
            </p:nvSpPr>
            <p:spPr bwMode="auto">
              <a:xfrm>
                <a:off x="2498133" y="2150212"/>
                <a:ext cx="338692" cy="2768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200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rPr>
                  <a:t>栈</a:t>
                </a:r>
              </a:p>
            </p:txBody>
          </p:sp>
        </p:grpSp>
        <p:sp>
          <p:nvSpPr>
            <p:cNvPr id="16" name="矩形 31"/>
            <p:cNvSpPr>
              <a:spLocks noChangeArrowheads="1"/>
            </p:cNvSpPr>
            <p:nvPr/>
          </p:nvSpPr>
          <p:spPr bwMode="auto">
            <a:xfrm>
              <a:off x="842480" y="1951725"/>
              <a:ext cx="2342501" cy="2143125"/>
            </a:xfrm>
            <a:prstGeom prst="rect">
              <a:avLst/>
            </a:prstGeom>
            <a:noFill/>
            <a:ln w="28575" algn="ctr">
              <a:solidFill>
                <a:srgbClr val="11576A"/>
              </a:solidFill>
              <a:round/>
              <a:headEnd/>
              <a:tailEnd/>
            </a:ln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853593" y="2808975"/>
              <a:ext cx="58221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6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线程</a:t>
              </a:r>
            </a:p>
          </p:txBody>
        </p:sp>
        <p:sp>
          <p:nvSpPr>
            <p:cNvPr id="18" name="任意多边形 34"/>
            <p:cNvSpPr>
              <a:spLocks noChangeArrowheads="1"/>
            </p:cNvSpPr>
            <p:nvPr/>
          </p:nvSpPr>
          <p:spPr bwMode="auto">
            <a:xfrm>
              <a:off x="2045806" y="2708963"/>
              <a:ext cx="104775" cy="514350"/>
            </a:xfrm>
            <a:custGeom>
              <a:avLst/>
              <a:gdLst>
                <a:gd name="T0" fmla="*/ 42862 w 104775"/>
                <a:gd name="T1" fmla="*/ 0 h 514350"/>
                <a:gd name="T2" fmla="*/ 14287 w 104775"/>
                <a:gd name="T3" fmla="*/ 52387 h 514350"/>
                <a:gd name="T4" fmla="*/ 104775 w 104775"/>
                <a:gd name="T5" fmla="*/ 157162 h 514350"/>
                <a:gd name="T6" fmla="*/ 14287 w 104775"/>
                <a:gd name="T7" fmla="*/ 252412 h 514350"/>
                <a:gd name="T8" fmla="*/ 100012 w 104775"/>
                <a:gd name="T9" fmla="*/ 371475 h 514350"/>
                <a:gd name="T10" fmla="*/ 9525 w 104775"/>
                <a:gd name="T11" fmla="*/ 466725 h 514350"/>
                <a:gd name="T12" fmla="*/ 42862 w 104775"/>
                <a:gd name="T13" fmla="*/ 514350 h 5143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4775"/>
                <a:gd name="T22" fmla="*/ 0 h 514350"/>
                <a:gd name="T23" fmla="*/ 104775 w 104775"/>
                <a:gd name="T24" fmla="*/ 514350 h 51435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4775" h="514350">
                  <a:moveTo>
                    <a:pt x="42862" y="0"/>
                  </a:moveTo>
                  <a:cubicBezTo>
                    <a:pt x="23415" y="13096"/>
                    <a:pt x="3968" y="26193"/>
                    <a:pt x="14287" y="52387"/>
                  </a:cubicBezTo>
                  <a:cubicBezTo>
                    <a:pt x="24606" y="78581"/>
                    <a:pt x="104775" y="123825"/>
                    <a:pt x="104775" y="157162"/>
                  </a:cubicBezTo>
                  <a:cubicBezTo>
                    <a:pt x="104775" y="190499"/>
                    <a:pt x="15081" y="216693"/>
                    <a:pt x="14287" y="252412"/>
                  </a:cubicBezTo>
                  <a:cubicBezTo>
                    <a:pt x="13493" y="288131"/>
                    <a:pt x="100806" y="335756"/>
                    <a:pt x="100012" y="371475"/>
                  </a:cubicBezTo>
                  <a:cubicBezTo>
                    <a:pt x="99218" y="407194"/>
                    <a:pt x="19050" y="442913"/>
                    <a:pt x="9525" y="466725"/>
                  </a:cubicBezTo>
                  <a:cubicBezTo>
                    <a:pt x="0" y="490538"/>
                    <a:pt x="21431" y="502444"/>
                    <a:pt x="42862" y="514350"/>
                  </a:cubicBezTo>
                </a:path>
              </a:pathLst>
            </a:custGeom>
            <a:noFill/>
            <a:ln w="28575" algn="ctr">
              <a:solidFill>
                <a:srgbClr val="11576A"/>
              </a:solidFill>
              <a:round/>
              <a:headEnd/>
              <a:tailEnd/>
            </a:ln>
          </p:spPr>
          <p:txBody>
            <a:bodyPr/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9" name="直接箭头连接符 36"/>
            <p:cNvCxnSpPr>
              <a:cxnSpLocks noChangeShapeType="1"/>
            </p:cNvCxnSpPr>
            <p:nvPr/>
          </p:nvCxnSpPr>
          <p:spPr bwMode="auto">
            <a:xfrm>
              <a:off x="1650518" y="2980425"/>
              <a:ext cx="285750" cy="1588"/>
            </a:xfrm>
            <a:prstGeom prst="straightConnector1">
              <a:avLst/>
            </a:prstGeom>
            <a:noFill/>
            <a:ln w="28575" algn="ctr">
              <a:solidFill>
                <a:srgbClr val="11576A"/>
              </a:solidFill>
              <a:round/>
              <a:headEnd/>
              <a:tailEnd type="triangle" w="med" len="med"/>
            </a:ln>
          </p:spPr>
        </p:cxnSp>
        <p:grpSp>
          <p:nvGrpSpPr>
            <p:cNvPr id="54" name="组合 81"/>
            <p:cNvGrpSpPr>
              <a:grpSpLocks/>
            </p:cNvGrpSpPr>
            <p:nvPr/>
          </p:nvGrpSpPr>
          <p:grpSpPr bwMode="auto">
            <a:xfrm>
              <a:off x="933414" y="1650531"/>
              <a:ext cx="630882" cy="276999"/>
              <a:chOff x="3548293" y="2128266"/>
              <a:chExt cx="631368" cy="276188"/>
            </a:xfrm>
          </p:grpSpPr>
          <p:sp>
            <p:nvSpPr>
              <p:cNvPr id="55" name="矩形 82"/>
              <p:cNvSpPr>
                <a:spLocks noChangeArrowheads="1"/>
              </p:cNvSpPr>
              <p:nvPr/>
            </p:nvSpPr>
            <p:spPr bwMode="auto">
              <a:xfrm>
                <a:off x="3567661" y="2158362"/>
                <a:ext cx="612000" cy="216000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rgbClr val="00507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3548293" y="2128266"/>
                <a:ext cx="608327" cy="27618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200" b="1" spc="-100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rPr>
                  <a:t>寄存器</a:t>
                </a:r>
              </a:p>
            </p:txBody>
          </p:sp>
        </p:grpSp>
        <p:sp>
          <p:nvSpPr>
            <p:cNvPr id="58" name="矩形 57"/>
            <p:cNvSpPr/>
            <p:nvPr/>
          </p:nvSpPr>
          <p:spPr>
            <a:xfrm>
              <a:off x="1276661" y="4091212"/>
              <a:ext cx="1643063" cy="33813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6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单线程进程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170358" y="2068831"/>
            <a:ext cx="2949978" cy="3207563"/>
            <a:chOff x="3735045" y="1211579"/>
            <a:chExt cx="2949978" cy="3207563"/>
          </a:xfrm>
        </p:grpSpPr>
        <p:grpSp>
          <p:nvGrpSpPr>
            <p:cNvPr id="73" name="组合 72"/>
            <p:cNvGrpSpPr/>
            <p:nvPr/>
          </p:nvGrpSpPr>
          <p:grpSpPr>
            <a:xfrm>
              <a:off x="3735045" y="1211579"/>
              <a:ext cx="2949978" cy="3207563"/>
              <a:chOff x="3735045" y="1211579"/>
              <a:chExt cx="2949978" cy="3207563"/>
            </a:xfrm>
          </p:grpSpPr>
          <p:sp>
            <p:nvSpPr>
              <p:cNvPr id="20" name="任意多边形 37"/>
              <p:cNvSpPr>
                <a:spLocks noChangeArrowheads="1"/>
              </p:cNvSpPr>
              <p:nvPr/>
            </p:nvSpPr>
            <p:spPr bwMode="auto">
              <a:xfrm>
                <a:off x="4748957" y="2714616"/>
                <a:ext cx="104775" cy="514350"/>
              </a:xfrm>
              <a:custGeom>
                <a:avLst/>
                <a:gdLst>
                  <a:gd name="T0" fmla="*/ 42862 w 104775"/>
                  <a:gd name="T1" fmla="*/ 0 h 514350"/>
                  <a:gd name="T2" fmla="*/ 14287 w 104775"/>
                  <a:gd name="T3" fmla="*/ 52387 h 514350"/>
                  <a:gd name="T4" fmla="*/ 104775 w 104775"/>
                  <a:gd name="T5" fmla="*/ 157162 h 514350"/>
                  <a:gd name="T6" fmla="*/ 14287 w 104775"/>
                  <a:gd name="T7" fmla="*/ 252412 h 514350"/>
                  <a:gd name="T8" fmla="*/ 100012 w 104775"/>
                  <a:gd name="T9" fmla="*/ 371475 h 514350"/>
                  <a:gd name="T10" fmla="*/ 9525 w 104775"/>
                  <a:gd name="T11" fmla="*/ 466725 h 514350"/>
                  <a:gd name="T12" fmla="*/ 42862 w 104775"/>
                  <a:gd name="T13" fmla="*/ 514350 h 5143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4775"/>
                  <a:gd name="T22" fmla="*/ 0 h 514350"/>
                  <a:gd name="T23" fmla="*/ 104775 w 104775"/>
                  <a:gd name="T24" fmla="*/ 514350 h 5143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4775" h="514350">
                    <a:moveTo>
                      <a:pt x="42862" y="0"/>
                    </a:moveTo>
                    <a:cubicBezTo>
                      <a:pt x="23415" y="13096"/>
                      <a:pt x="3968" y="26193"/>
                      <a:pt x="14287" y="52387"/>
                    </a:cubicBezTo>
                    <a:cubicBezTo>
                      <a:pt x="24606" y="78581"/>
                      <a:pt x="104775" y="123825"/>
                      <a:pt x="104775" y="157162"/>
                    </a:cubicBezTo>
                    <a:cubicBezTo>
                      <a:pt x="104775" y="190499"/>
                      <a:pt x="15081" y="216693"/>
                      <a:pt x="14287" y="252412"/>
                    </a:cubicBezTo>
                    <a:cubicBezTo>
                      <a:pt x="13493" y="288131"/>
                      <a:pt x="100806" y="335756"/>
                      <a:pt x="100012" y="371475"/>
                    </a:cubicBezTo>
                    <a:cubicBezTo>
                      <a:pt x="99218" y="407194"/>
                      <a:pt x="19050" y="442913"/>
                      <a:pt x="9525" y="466725"/>
                    </a:cubicBezTo>
                    <a:cubicBezTo>
                      <a:pt x="0" y="490538"/>
                      <a:pt x="21431" y="502444"/>
                      <a:pt x="42862" y="514350"/>
                    </a:cubicBezTo>
                  </a:path>
                </a:pathLst>
              </a:custGeom>
              <a:noFill/>
              <a:ln w="28575" algn="ctr">
                <a:solidFill>
                  <a:srgbClr val="1157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" name="任意多边形 38"/>
              <p:cNvSpPr>
                <a:spLocks noChangeArrowheads="1"/>
              </p:cNvSpPr>
              <p:nvPr/>
            </p:nvSpPr>
            <p:spPr bwMode="auto">
              <a:xfrm>
                <a:off x="4034582" y="2714616"/>
                <a:ext cx="104775" cy="514350"/>
              </a:xfrm>
              <a:custGeom>
                <a:avLst/>
                <a:gdLst>
                  <a:gd name="T0" fmla="*/ 42862 w 104775"/>
                  <a:gd name="T1" fmla="*/ 0 h 514350"/>
                  <a:gd name="T2" fmla="*/ 14287 w 104775"/>
                  <a:gd name="T3" fmla="*/ 52387 h 514350"/>
                  <a:gd name="T4" fmla="*/ 104775 w 104775"/>
                  <a:gd name="T5" fmla="*/ 157162 h 514350"/>
                  <a:gd name="T6" fmla="*/ 14287 w 104775"/>
                  <a:gd name="T7" fmla="*/ 252412 h 514350"/>
                  <a:gd name="T8" fmla="*/ 100012 w 104775"/>
                  <a:gd name="T9" fmla="*/ 371475 h 514350"/>
                  <a:gd name="T10" fmla="*/ 9525 w 104775"/>
                  <a:gd name="T11" fmla="*/ 466725 h 514350"/>
                  <a:gd name="T12" fmla="*/ 42862 w 104775"/>
                  <a:gd name="T13" fmla="*/ 514350 h 5143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4775"/>
                  <a:gd name="T22" fmla="*/ 0 h 514350"/>
                  <a:gd name="T23" fmla="*/ 104775 w 104775"/>
                  <a:gd name="T24" fmla="*/ 514350 h 5143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4775" h="514350">
                    <a:moveTo>
                      <a:pt x="42862" y="0"/>
                    </a:moveTo>
                    <a:cubicBezTo>
                      <a:pt x="23415" y="13096"/>
                      <a:pt x="3968" y="26193"/>
                      <a:pt x="14287" y="52387"/>
                    </a:cubicBezTo>
                    <a:cubicBezTo>
                      <a:pt x="24606" y="78581"/>
                      <a:pt x="104775" y="123825"/>
                      <a:pt x="104775" y="157162"/>
                    </a:cubicBezTo>
                    <a:cubicBezTo>
                      <a:pt x="104775" y="190499"/>
                      <a:pt x="15081" y="216693"/>
                      <a:pt x="14287" y="252412"/>
                    </a:cubicBezTo>
                    <a:cubicBezTo>
                      <a:pt x="13493" y="288131"/>
                      <a:pt x="100806" y="335756"/>
                      <a:pt x="100012" y="371475"/>
                    </a:cubicBezTo>
                    <a:cubicBezTo>
                      <a:pt x="99218" y="407194"/>
                      <a:pt x="19050" y="442913"/>
                      <a:pt x="9525" y="466725"/>
                    </a:cubicBezTo>
                    <a:cubicBezTo>
                      <a:pt x="0" y="490538"/>
                      <a:pt x="21431" y="502444"/>
                      <a:pt x="42862" y="514350"/>
                    </a:cubicBezTo>
                  </a:path>
                </a:pathLst>
              </a:custGeom>
              <a:noFill/>
              <a:ln w="28575" algn="ctr">
                <a:solidFill>
                  <a:srgbClr val="1157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任意多边形 39"/>
              <p:cNvSpPr>
                <a:spLocks noChangeArrowheads="1"/>
              </p:cNvSpPr>
              <p:nvPr/>
            </p:nvSpPr>
            <p:spPr bwMode="auto">
              <a:xfrm>
                <a:off x="5463332" y="2720966"/>
                <a:ext cx="104775" cy="514350"/>
              </a:xfrm>
              <a:custGeom>
                <a:avLst/>
                <a:gdLst>
                  <a:gd name="T0" fmla="*/ 42862 w 104775"/>
                  <a:gd name="T1" fmla="*/ 0 h 514350"/>
                  <a:gd name="T2" fmla="*/ 14287 w 104775"/>
                  <a:gd name="T3" fmla="*/ 52387 h 514350"/>
                  <a:gd name="T4" fmla="*/ 104775 w 104775"/>
                  <a:gd name="T5" fmla="*/ 157162 h 514350"/>
                  <a:gd name="T6" fmla="*/ 14287 w 104775"/>
                  <a:gd name="T7" fmla="*/ 252412 h 514350"/>
                  <a:gd name="T8" fmla="*/ 100012 w 104775"/>
                  <a:gd name="T9" fmla="*/ 371475 h 514350"/>
                  <a:gd name="T10" fmla="*/ 9525 w 104775"/>
                  <a:gd name="T11" fmla="*/ 466725 h 514350"/>
                  <a:gd name="T12" fmla="*/ 42862 w 104775"/>
                  <a:gd name="T13" fmla="*/ 514350 h 5143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4775"/>
                  <a:gd name="T22" fmla="*/ 0 h 514350"/>
                  <a:gd name="T23" fmla="*/ 104775 w 104775"/>
                  <a:gd name="T24" fmla="*/ 514350 h 5143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4775" h="514350">
                    <a:moveTo>
                      <a:pt x="42862" y="0"/>
                    </a:moveTo>
                    <a:cubicBezTo>
                      <a:pt x="23415" y="13096"/>
                      <a:pt x="3968" y="26193"/>
                      <a:pt x="14287" y="52387"/>
                    </a:cubicBezTo>
                    <a:cubicBezTo>
                      <a:pt x="24606" y="78581"/>
                      <a:pt x="104775" y="123825"/>
                      <a:pt x="104775" y="157162"/>
                    </a:cubicBezTo>
                    <a:cubicBezTo>
                      <a:pt x="104775" y="190499"/>
                      <a:pt x="15081" y="216693"/>
                      <a:pt x="14287" y="252412"/>
                    </a:cubicBezTo>
                    <a:cubicBezTo>
                      <a:pt x="13493" y="288131"/>
                      <a:pt x="100806" y="335756"/>
                      <a:pt x="100012" y="371475"/>
                    </a:cubicBezTo>
                    <a:cubicBezTo>
                      <a:pt x="99218" y="407194"/>
                      <a:pt x="19050" y="442913"/>
                      <a:pt x="9525" y="466725"/>
                    </a:cubicBezTo>
                    <a:cubicBezTo>
                      <a:pt x="0" y="490538"/>
                      <a:pt x="21431" y="502444"/>
                      <a:pt x="42862" y="514350"/>
                    </a:cubicBezTo>
                  </a:path>
                </a:pathLst>
              </a:custGeom>
              <a:noFill/>
              <a:ln w="28575" algn="ctr">
                <a:solidFill>
                  <a:srgbClr val="11576A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23" name="直接箭头连接符 40"/>
              <p:cNvCxnSpPr>
                <a:cxnSpLocks noChangeShapeType="1"/>
              </p:cNvCxnSpPr>
              <p:nvPr/>
            </p:nvCxnSpPr>
            <p:spPr bwMode="auto">
              <a:xfrm>
                <a:off x="5593374" y="2989950"/>
                <a:ext cx="580875" cy="0"/>
              </a:xfrm>
              <a:prstGeom prst="straightConnector1">
                <a:avLst/>
              </a:prstGeom>
              <a:noFill/>
              <a:ln w="28575" algn="ctr">
                <a:solidFill>
                  <a:srgbClr val="11576A"/>
                </a:solidFill>
                <a:round/>
                <a:headEnd type="triangle" w="med" len="med"/>
                <a:tailEnd/>
              </a:ln>
            </p:spPr>
          </p:cxnSp>
          <p:sp>
            <p:nvSpPr>
              <p:cNvPr id="24" name="矩形 23"/>
              <p:cNvSpPr/>
              <p:nvPr/>
            </p:nvSpPr>
            <p:spPr>
              <a:xfrm>
                <a:off x="6102812" y="2808975"/>
                <a:ext cx="58221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600" b="1" spc="-100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rPr>
                  <a:t>线程</a:t>
                </a:r>
              </a:p>
            </p:txBody>
          </p:sp>
          <p:sp>
            <p:nvSpPr>
              <p:cNvPr id="35" name="矩形 34"/>
              <p:cNvSpPr/>
              <p:nvPr/>
            </p:nvSpPr>
            <p:spPr bwMode="auto">
              <a:xfrm>
                <a:off x="3737719" y="1579553"/>
                <a:ext cx="2253485" cy="719138"/>
              </a:xfrm>
              <a:prstGeom prst="rect">
                <a:avLst/>
              </a:prstGeom>
              <a:gradFill>
                <a:gsLst>
                  <a:gs pos="100000">
                    <a:srgbClr val="005072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ap="flat" cmpd="sng" algn="ctr">
                <a:solidFill>
                  <a:srgbClr val="11576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36" name="组合 74"/>
              <p:cNvGrpSpPr>
                <a:grpSpLocks/>
              </p:cNvGrpSpPr>
              <p:nvPr/>
            </p:nvGrpSpPr>
            <p:grpSpPr bwMode="auto">
              <a:xfrm>
                <a:off x="3780488" y="1626123"/>
                <a:ext cx="621649" cy="276999"/>
                <a:chOff x="3557532" y="2120453"/>
                <a:chExt cx="622129" cy="276188"/>
              </a:xfrm>
            </p:grpSpPr>
            <p:sp>
              <p:nvSpPr>
                <p:cNvPr id="37" name="矩形 55"/>
                <p:cNvSpPr>
                  <a:spLocks noChangeArrowheads="1"/>
                </p:cNvSpPr>
                <p:nvPr/>
              </p:nvSpPr>
              <p:spPr bwMode="auto">
                <a:xfrm>
                  <a:off x="3567661" y="2158362"/>
                  <a:ext cx="612000" cy="216000"/>
                </a:xfrm>
                <a:prstGeom prst="rect">
                  <a:avLst/>
                </a:prstGeom>
                <a:solidFill>
                  <a:schemeClr val="bg1"/>
                </a:solidFill>
                <a:ln w="28575" algn="ctr">
                  <a:solidFill>
                    <a:srgbClr val="00507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>
                    <a:solidFill>
                      <a:srgbClr val="000000"/>
                    </a:solidFill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" name="TextBox 37"/>
                <p:cNvSpPr txBox="1"/>
                <p:nvPr/>
              </p:nvSpPr>
              <p:spPr>
                <a:xfrm>
                  <a:off x="3557532" y="2120453"/>
                  <a:ext cx="608328" cy="276188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zh-CN" altLang="en-US" sz="1200" b="1" spc="-100" dirty="0">
                      <a:solidFill>
                        <a:srgbClr val="11576A"/>
                      </a:solidFill>
                      <a:latin typeface="微软雅黑" pitchFamily="34" charset="-122"/>
                      <a:ea typeface="微软雅黑" pitchFamily="34" charset="-122"/>
                    </a:rPr>
                    <a:t>寄存器</a:t>
                  </a:r>
                </a:p>
              </p:txBody>
            </p:sp>
          </p:grpSp>
          <p:grpSp>
            <p:nvGrpSpPr>
              <p:cNvPr id="39" name="组合 64"/>
              <p:cNvGrpSpPr>
                <a:grpSpLocks/>
              </p:cNvGrpSpPr>
              <p:nvPr/>
            </p:nvGrpSpPr>
            <p:grpSpPr bwMode="auto">
              <a:xfrm>
                <a:off x="5318009" y="1949692"/>
                <a:ext cx="539780" cy="276999"/>
                <a:chOff x="2480296" y="2143687"/>
                <a:chExt cx="540000" cy="276821"/>
              </a:xfrm>
            </p:grpSpPr>
            <p:sp>
              <p:nvSpPr>
                <p:cNvPr id="40" name="矩形 65"/>
                <p:cNvSpPr>
                  <a:spLocks noChangeArrowheads="1"/>
                </p:cNvSpPr>
                <p:nvPr/>
              </p:nvSpPr>
              <p:spPr bwMode="auto">
                <a:xfrm>
                  <a:off x="2480296" y="2181222"/>
                  <a:ext cx="540000" cy="216000"/>
                </a:xfrm>
                <a:prstGeom prst="rect">
                  <a:avLst/>
                </a:prstGeom>
                <a:solidFill>
                  <a:schemeClr val="bg1"/>
                </a:solidFill>
                <a:ln w="28575" algn="ctr">
                  <a:solidFill>
                    <a:srgbClr val="00507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>
                    <a:solidFill>
                      <a:srgbClr val="000000"/>
                    </a:solidFill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1" name="TextBox 66"/>
                <p:cNvSpPr txBox="1">
                  <a:spLocks noChangeArrowheads="1"/>
                </p:cNvSpPr>
                <p:nvPr/>
              </p:nvSpPr>
              <p:spPr bwMode="auto">
                <a:xfrm>
                  <a:off x="2494680" y="2143687"/>
                  <a:ext cx="338692" cy="2768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zh-CN" altLang="en-US" sz="1200" b="1">
                      <a:solidFill>
                        <a:srgbClr val="11576A"/>
                      </a:solidFill>
                      <a:latin typeface="微软雅黑" pitchFamily="34" charset="-122"/>
                      <a:ea typeface="微软雅黑" pitchFamily="34" charset="-122"/>
                    </a:rPr>
                    <a:t>栈</a:t>
                  </a:r>
                  <a:endParaRPr lang="zh-CN" altLang="en-US" sz="1200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</p:grpSp>
          <p:grpSp>
            <p:nvGrpSpPr>
              <p:cNvPr id="42" name="组合 57"/>
              <p:cNvGrpSpPr>
                <a:grpSpLocks/>
              </p:cNvGrpSpPr>
              <p:nvPr/>
            </p:nvGrpSpPr>
            <p:grpSpPr bwMode="auto">
              <a:xfrm>
                <a:off x="3815490" y="1956820"/>
                <a:ext cx="539780" cy="276999"/>
                <a:chOff x="2480296" y="2150810"/>
                <a:chExt cx="540000" cy="276821"/>
              </a:xfrm>
            </p:grpSpPr>
            <p:sp>
              <p:nvSpPr>
                <p:cNvPr id="43" name="矩形 58"/>
                <p:cNvSpPr>
                  <a:spLocks noChangeArrowheads="1"/>
                </p:cNvSpPr>
                <p:nvPr/>
              </p:nvSpPr>
              <p:spPr bwMode="auto">
                <a:xfrm>
                  <a:off x="2480296" y="2181222"/>
                  <a:ext cx="540000" cy="216000"/>
                </a:xfrm>
                <a:prstGeom prst="rect">
                  <a:avLst/>
                </a:prstGeom>
                <a:solidFill>
                  <a:schemeClr val="bg1"/>
                </a:solidFill>
                <a:ln w="28575" algn="ctr">
                  <a:solidFill>
                    <a:srgbClr val="00507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>
                    <a:solidFill>
                      <a:srgbClr val="000000"/>
                    </a:solidFill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4" name="TextBox 59"/>
                <p:cNvSpPr txBox="1">
                  <a:spLocks noChangeArrowheads="1"/>
                </p:cNvSpPr>
                <p:nvPr/>
              </p:nvSpPr>
              <p:spPr bwMode="auto">
                <a:xfrm>
                  <a:off x="2494882" y="2150810"/>
                  <a:ext cx="338692" cy="2768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zh-CN" altLang="en-US" sz="1200" b="1" dirty="0">
                      <a:solidFill>
                        <a:srgbClr val="11576A"/>
                      </a:solidFill>
                      <a:latin typeface="微软雅黑" pitchFamily="34" charset="-122"/>
                      <a:ea typeface="微软雅黑" pitchFamily="34" charset="-122"/>
                    </a:rPr>
                    <a:t>栈</a:t>
                  </a:r>
                </a:p>
              </p:txBody>
            </p:sp>
          </p:grpSp>
          <p:grpSp>
            <p:nvGrpSpPr>
              <p:cNvPr id="45" name="组合 67"/>
              <p:cNvGrpSpPr>
                <a:grpSpLocks/>
              </p:cNvGrpSpPr>
              <p:nvPr/>
            </p:nvGrpSpPr>
            <p:grpSpPr bwMode="auto">
              <a:xfrm>
                <a:off x="4535902" y="1949692"/>
                <a:ext cx="539780" cy="276999"/>
                <a:chOff x="2480296" y="2143687"/>
                <a:chExt cx="540000" cy="276821"/>
              </a:xfrm>
            </p:grpSpPr>
            <p:sp>
              <p:nvSpPr>
                <p:cNvPr id="46" name="矩形 68"/>
                <p:cNvSpPr>
                  <a:spLocks noChangeArrowheads="1"/>
                </p:cNvSpPr>
                <p:nvPr/>
              </p:nvSpPr>
              <p:spPr bwMode="auto">
                <a:xfrm>
                  <a:off x="2480296" y="2181222"/>
                  <a:ext cx="540000" cy="216000"/>
                </a:xfrm>
                <a:prstGeom prst="rect">
                  <a:avLst/>
                </a:prstGeom>
                <a:solidFill>
                  <a:schemeClr val="bg1"/>
                </a:solidFill>
                <a:ln w="28575" algn="ctr">
                  <a:solidFill>
                    <a:srgbClr val="00507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>
                    <a:solidFill>
                      <a:srgbClr val="000000"/>
                    </a:solidFill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7" name="TextBox 69"/>
                <p:cNvSpPr txBox="1">
                  <a:spLocks noChangeArrowheads="1"/>
                </p:cNvSpPr>
                <p:nvPr/>
              </p:nvSpPr>
              <p:spPr bwMode="auto">
                <a:xfrm>
                  <a:off x="2505925" y="2143687"/>
                  <a:ext cx="338692" cy="27682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zh-CN" altLang="en-US" sz="1200" b="1" dirty="0">
                      <a:solidFill>
                        <a:srgbClr val="11576A"/>
                      </a:solidFill>
                      <a:latin typeface="微软雅黑" pitchFamily="34" charset="-122"/>
                      <a:ea typeface="微软雅黑" pitchFamily="34" charset="-122"/>
                    </a:rPr>
                    <a:t>栈</a:t>
                  </a:r>
                </a:p>
              </p:txBody>
            </p:sp>
          </p:grpSp>
          <p:grpSp>
            <p:nvGrpSpPr>
              <p:cNvPr id="48" name="组合 75"/>
              <p:cNvGrpSpPr>
                <a:grpSpLocks/>
              </p:cNvGrpSpPr>
              <p:nvPr/>
            </p:nvGrpSpPr>
            <p:grpSpPr bwMode="auto">
              <a:xfrm>
                <a:off x="4482786" y="1626123"/>
                <a:ext cx="630108" cy="276999"/>
                <a:chOff x="3550415" y="2120453"/>
                <a:chExt cx="629246" cy="276188"/>
              </a:xfrm>
            </p:grpSpPr>
            <p:sp>
              <p:nvSpPr>
                <p:cNvPr id="49" name="矩形 76"/>
                <p:cNvSpPr>
                  <a:spLocks noChangeArrowheads="1"/>
                </p:cNvSpPr>
                <p:nvPr/>
              </p:nvSpPr>
              <p:spPr bwMode="auto">
                <a:xfrm>
                  <a:off x="3567661" y="2158362"/>
                  <a:ext cx="612000" cy="216000"/>
                </a:xfrm>
                <a:prstGeom prst="rect">
                  <a:avLst/>
                </a:prstGeom>
                <a:solidFill>
                  <a:schemeClr val="bg1"/>
                </a:solidFill>
                <a:ln w="28575" algn="ctr">
                  <a:solidFill>
                    <a:srgbClr val="00507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>
                    <a:solidFill>
                      <a:srgbClr val="000000"/>
                    </a:solidFill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0" name="TextBox 49"/>
                <p:cNvSpPr txBox="1"/>
                <p:nvPr/>
              </p:nvSpPr>
              <p:spPr>
                <a:xfrm>
                  <a:off x="3550415" y="2120453"/>
                  <a:ext cx="607028" cy="276188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zh-CN" altLang="en-US" sz="1200" b="1" spc="-100" dirty="0">
                      <a:solidFill>
                        <a:srgbClr val="11576A"/>
                      </a:solidFill>
                      <a:latin typeface="微软雅黑" pitchFamily="34" charset="-122"/>
                      <a:ea typeface="微软雅黑" pitchFamily="34" charset="-122"/>
                    </a:rPr>
                    <a:t>寄存器</a:t>
                  </a:r>
                </a:p>
              </p:txBody>
            </p:sp>
          </p:grpSp>
          <p:grpSp>
            <p:nvGrpSpPr>
              <p:cNvPr id="51" name="组合 78"/>
              <p:cNvGrpSpPr>
                <a:grpSpLocks/>
              </p:cNvGrpSpPr>
              <p:nvPr/>
            </p:nvGrpSpPr>
            <p:grpSpPr bwMode="auto">
              <a:xfrm>
                <a:off x="5244080" y="1626123"/>
                <a:ext cx="624064" cy="276999"/>
                <a:chOff x="3555116" y="2120453"/>
                <a:chExt cx="624545" cy="276188"/>
              </a:xfrm>
            </p:grpSpPr>
            <p:sp>
              <p:nvSpPr>
                <p:cNvPr id="52" name="矩形 79"/>
                <p:cNvSpPr>
                  <a:spLocks noChangeArrowheads="1"/>
                </p:cNvSpPr>
                <p:nvPr/>
              </p:nvSpPr>
              <p:spPr bwMode="auto">
                <a:xfrm>
                  <a:off x="3567661" y="2158362"/>
                  <a:ext cx="612000" cy="216000"/>
                </a:xfrm>
                <a:prstGeom prst="rect">
                  <a:avLst/>
                </a:prstGeom>
                <a:solidFill>
                  <a:schemeClr val="bg1"/>
                </a:solidFill>
                <a:ln w="28575" algn="ctr">
                  <a:solidFill>
                    <a:srgbClr val="00507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>
                    <a:solidFill>
                      <a:srgbClr val="000000"/>
                    </a:solidFill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" name="TextBox 52"/>
                <p:cNvSpPr txBox="1"/>
                <p:nvPr/>
              </p:nvSpPr>
              <p:spPr>
                <a:xfrm>
                  <a:off x="3555116" y="2120453"/>
                  <a:ext cx="608327" cy="276188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zh-CN" altLang="en-US" sz="1200" b="1" spc="-100" dirty="0">
                      <a:solidFill>
                        <a:srgbClr val="11576A"/>
                      </a:solidFill>
                      <a:latin typeface="微软雅黑" pitchFamily="34" charset="-122"/>
                      <a:ea typeface="微软雅黑" pitchFamily="34" charset="-122"/>
                    </a:rPr>
                    <a:t>寄存器</a:t>
                  </a:r>
                </a:p>
              </p:txBody>
            </p:sp>
          </p:grpSp>
          <p:sp>
            <p:nvSpPr>
              <p:cNvPr id="57" name="矩形 87"/>
              <p:cNvSpPr>
                <a:spLocks noChangeArrowheads="1"/>
              </p:cNvSpPr>
              <p:nvPr/>
            </p:nvSpPr>
            <p:spPr bwMode="auto">
              <a:xfrm>
                <a:off x="3740895" y="2312978"/>
                <a:ext cx="2250310" cy="1763713"/>
              </a:xfrm>
              <a:prstGeom prst="rect">
                <a:avLst/>
              </a:prstGeom>
              <a:noFill/>
              <a:ln w="28575" algn="ctr">
                <a:solidFill>
                  <a:srgbClr val="00507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4331444" y="4081004"/>
                <a:ext cx="1536700" cy="33813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1600" b="1" spc="-100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rPr>
                  <a:t>多线程进程</a:t>
                </a:r>
              </a:p>
            </p:txBody>
          </p:sp>
          <p:sp>
            <p:nvSpPr>
              <p:cNvPr id="61" name="矩形 60"/>
              <p:cNvSpPr/>
              <p:nvPr/>
            </p:nvSpPr>
            <p:spPr bwMode="auto">
              <a:xfrm>
                <a:off x="3735045" y="1211579"/>
                <a:ext cx="2256160" cy="360363"/>
              </a:xfrm>
              <a:prstGeom prst="rect">
                <a:avLst/>
              </a:prstGeom>
              <a:gradFill>
                <a:gsLst>
                  <a:gs pos="100000">
                    <a:srgbClr val="005072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 w="28575" cap="flat" cmpd="sng" algn="ctr">
                <a:solidFill>
                  <a:srgbClr val="11576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 panose="020B060403050404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62" name="组合 27"/>
              <p:cNvGrpSpPr>
                <a:grpSpLocks/>
              </p:cNvGrpSpPr>
              <p:nvPr/>
            </p:nvGrpSpPr>
            <p:grpSpPr bwMode="auto">
              <a:xfrm>
                <a:off x="3805135" y="1260797"/>
                <a:ext cx="540039" cy="276999"/>
                <a:chOff x="1187347" y="1763072"/>
                <a:chExt cx="540000" cy="278255"/>
              </a:xfrm>
            </p:grpSpPr>
            <p:sp>
              <p:nvSpPr>
                <p:cNvPr id="63" name="矩形 15"/>
                <p:cNvSpPr>
                  <a:spLocks noChangeArrowheads="1"/>
                </p:cNvSpPr>
                <p:nvPr/>
              </p:nvSpPr>
              <p:spPr bwMode="auto">
                <a:xfrm>
                  <a:off x="1187347" y="1793966"/>
                  <a:ext cx="540000" cy="216000"/>
                </a:xfrm>
                <a:prstGeom prst="rect">
                  <a:avLst/>
                </a:prstGeom>
                <a:solidFill>
                  <a:schemeClr val="bg1"/>
                </a:solidFill>
                <a:ln w="28575" algn="ctr">
                  <a:solidFill>
                    <a:srgbClr val="00507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1600">
                    <a:solidFill>
                      <a:srgbClr val="000000"/>
                    </a:solidFill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4" name="TextBox 18"/>
                <p:cNvSpPr txBox="1">
                  <a:spLocks noChangeArrowheads="1"/>
                </p:cNvSpPr>
                <p:nvPr/>
              </p:nvSpPr>
              <p:spPr bwMode="auto">
                <a:xfrm>
                  <a:off x="1208362" y="1763072"/>
                  <a:ext cx="492407" cy="27825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zh-CN" altLang="en-US" sz="1200" b="1" dirty="0">
                      <a:solidFill>
                        <a:srgbClr val="11576A"/>
                      </a:solidFill>
                      <a:latin typeface="微软雅黑" pitchFamily="34" charset="-122"/>
                      <a:ea typeface="微软雅黑" pitchFamily="34" charset="-122"/>
                    </a:rPr>
                    <a:t>代码</a:t>
                  </a:r>
                </a:p>
              </p:txBody>
            </p:sp>
          </p:grpSp>
          <p:grpSp>
            <p:nvGrpSpPr>
              <p:cNvPr id="65" name="组合 29"/>
              <p:cNvGrpSpPr>
                <a:grpSpLocks/>
              </p:cNvGrpSpPr>
              <p:nvPr/>
            </p:nvGrpSpPr>
            <p:grpSpPr bwMode="auto">
              <a:xfrm>
                <a:off x="4515728" y="1260797"/>
                <a:ext cx="540342" cy="276999"/>
                <a:chOff x="1830289" y="1763072"/>
                <a:chExt cx="540000" cy="278255"/>
              </a:xfrm>
            </p:grpSpPr>
            <p:sp>
              <p:nvSpPr>
                <p:cNvPr id="66" name="矩形 16"/>
                <p:cNvSpPr>
                  <a:spLocks noChangeArrowheads="1"/>
                </p:cNvSpPr>
                <p:nvPr/>
              </p:nvSpPr>
              <p:spPr bwMode="auto">
                <a:xfrm>
                  <a:off x="1830289" y="1793966"/>
                  <a:ext cx="540000" cy="216000"/>
                </a:xfrm>
                <a:prstGeom prst="rect">
                  <a:avLst/>
                </a:prstGeom>
                <a:solidFill>
                  <a:schemeClr val="bg1"/>
                </a:solidFill>
                <a:ln w="28575" algn="ctr">
                  <a:solidFill>
                    <a:srgbClr val="00507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1600">
                    <a:solidFill>
                      <a:srgbClr val="000000"/>
                    </a:solidFill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7" name="TextBox 19"/>
                <p:cNvSpPr txBox="1">
                  <a:spLocks noChangeArrowheads="1"/>
                </p:cNvSpPr>
                <p:nvPr/>
              </p:nvSpPr>
              <p:spPr bwMode="auto">
                <a:xfrm>
                  <a:off x="1844496" y="1763072"/>
                  <a:ext cx="492131" cy="27825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zh-CN" altLang="en-US" sz="1200" b="1" dirty="0">
                      <a:solidFill>
                        <a:srgbClr val="11576A"/>
                      </a:solidFill>
                      <a:latin typeface="微软雅黑" pitchFamily="34" charset="-122"/>
                      <a:ea typeface="微软雅黑" pitchFamily="34" charset="-122"/>
                    </a:rPr>
                    <a:t>数据</a:t>
                  </a:r>
                </a:p>
              </p:txBody>
            </p:sp>
          </p:grpSp>
          <p:grpSp>
            <p:nvGrpSpPr>
              <p:cNvPr id="68" name="组合 28"/>
              <p:cNvGrpSpPr>
                <a:grpSpLocks/>
              </p:cNvGrpSpPr>
              <p:nvPr/>
            </p:nvGrpSpPr>
            <p:grpSpPr bwMode="auto">
              <a:xfrm>
                <a:off x="5190985" y="1253260"/>
                <a:ext cx="800219" cy="276999"/>
                <a:chOff x="2444905" y="1755501"/>
                <a:chExt cx="798822" cy="278255"/>
              </a:xfrm>
            </p:grpSpPr>
            <p:sp>
              <p:nvSpPr>
                <p:cNvPr id="69" name="矩形 17"/>
                <p:cNvSpPr>
                  <a:spLocks noChangeArrowheads="1"/>
                </p:cNvSpPr>
                <p:nvPr/>
              </p:nvSpPr>
              <p:spPr bwMode="auto">
                <a:xfrm>
                  <a:off x="2473231" y="1793966"/>
                  <a:ext cx="718891" cy="215998"/>
                </a:xfrm>
                <a:prstGeom prst="rect">
                  <a:avLst/>
                </a:prstGeom>
                <a:solidFill>
                  <a:schemeClr val="bg1"/>
                </a:solidFill>
                <a:ln w="28575" algn="ctr">
                  <a:solidFill>
                    <a:srgbClr val="00507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1600">
                    <a:solidFill>
                      <a:srgbClr val="000000"/>
                    </a:solidFill>
                    <a:latin typeface="Verdana" panose="020B060403050404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0" name="TextBox 20"/>
                <p:cNvSpPr txBox="1">
                  <a:spLocks noChangeArrowheads="1"/>
                </p:cNvSpPr>
                <p:nvPr/>
              </p:nvSpPr>
              <p:spPr bwMode="auto">
                <a:xfrm>
                  <a:off x="2444905" y="1755501"/>
                  <a:ext cx="798822" cy="27825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defTabSz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zh-CN" altLang="en-US" sz="1200" b="1" dirty="0">
                      <a:solidFill>
                        <a:srgbClr val="11576A"/>
                      </a:solidFill>
                      <a:latin typeface="微软雅黑" pitchFamily="34" charset="-122"/>
                      <a:ea typeface="微软雅黑" pitchFamily="34" charset="-122"/>
                    </a:rPr>
                    <a:t>打开文件</a:t>
                  </a:r>
                </a:p>
              </p:txBody>
            </p:sp>
          </p:grpSp>
        </p:grpSp>
        <p:cxnSp>
          <p:nvCxnSpPr>
            <p:cNvPr id="26" name="直接连接符 25"/>
            <p:cNvCxnSpPr/>
            <p:nvPr/>
          </p:nvCxnSpPr>
          <p:spPr>
            <a:xfrm>
              <a:off x="4455484" y="1597713"/>
              <a:ext cx="0" cy="2493499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>
              <a:off x="5190985" y="1583192"/>
              <a:ext cx="0" cy="2493499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标题 32">
            <a:extLst>
              <a:ext uri="{FF2B5EF4-FFF2-40B4-BE49-F238E27FC236}">
                <a16:creationId xmlns:a16="http://schemas.microsoft.com/office/drawing/2014/main" id="{07F0E991-B970-F2FE-F6AE-8D4EA3319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进程和线程的关系</a:t>
            </a:r>
          </a:p>
        </p:txBody>
      </p:sp>
      <p:sp>
        <p:nvSpPr>
          <p:cNvPr id="75" name="灯片编号占位符 5">
            <a:extLst>
              <a:ext uri="{FF2B5EF4-FFF2-40B4-BE49-F238E27FC236}">
                <a16:creationId xmlns:a16="http://schemas.microsoft.com/office/drawing/2014/main" id="{17DC9F1B-08A1-CDD9-193B-B7CA98D55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</p:spPr>
        <p:txBody>
          <a:bodyPr/>
          <a:lstStyle/>
          <a:p>
            <a:pPr algn="r" defTabSz="914400" fontAlgn="base">
              <a:spcAft>
                <a:spcPct val="0"/>
              </a:spcAft>
              <a:defRPr/>
            </a:pPr>
            <a:fld id="{B40D5C89-3F50-4E78-90D8-3CB123F8C3B8}" type="slidenum">
              <a:rPr lang="en-US" altLang="ko-KR">
                <a:solidFill>
                  <a:srgbClr val="FFFFFF"/>
                </a:solidFill>
                <a:latin typeface="Verdana" panose="020B0604030504040204" pitchFamily="34" charset="0"/>
              </a:rPr>
              <a:pPr algn="r" defTabSz="914400" fontAlgn="base">
                <a:spcAft>
                  <a:spcPct val="0"/>
                </a:spcAft>
                <a:defRPr/>
              </a:pPr>
              <a:t>18</a:t>
            </a:fld>
            <a:endParaRPr lang="en-US" altLang="ko-KR" dirty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486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The Thread Model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3971DA1-B313-07D9-61A7-C4818A18A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99" y="1569767"/>
            <a:ext cx="10801200" cy="901972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为什么线程要有自己的栈区呢？</a:t>
            </a:r>
          </a:p>
          <a:p>
            <a:pPr lvl="1"/>
            <a:r>
              <a:rPr lang="zh-CN" altLang="en-US" dirty="0"/>
              <a:t>为了保持线程执行的独立性，每个线程有自己的堆栈。</a:t>
            </a:r>
          </a:p>
          <a:p>
            <a:endParaRPr lang="zh-CN" altLang="en-US" dirty="0"/>
          </a:p>
        </p:txBody>
      </p:sp>
      <p:pic>
        <p:nvPicPr>
          <p:cNvPr id="15364" name="Picture 7" descr="2-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876" y="2489248"/>
            <a:ext cx="6499225" cy="364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1135680" y="3193207"/>
            <a:ext cx="31124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记录一个进程的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执行状态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所需的数据：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Tx/>
              <a:buChar char="-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上下文（寄存器组）保存当前状态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Tx/>
              <a:buChar char="-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栈（用于保存函数调用的序列和局部变量）</a:t>
            </a:r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3875EB5C-C26E-971B-1042-C2426B7F6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</p:spPr>
        <p:txBody>
          <a:bodyPr/>
          <a:lstStyle/>
          <a:p>
            <a:pPr algn="r" defTabSz="914400" fontAlgn="base">
              <a:spcAft>
                <a:spcPct val="0"/>
              </a:spcAft>
              <a:defRPr/>
            </a:pPr>
            <a:fld id="{B40D5C89-3F50-4E78-90D8-3CB123F8C3B8}" type="slidenum">
              <a:rPr lang="en-US" altLang="ko-KR">
                <a:solidFill>
                  <a:srgbClr val="FFFFFF"/>
                </a:solidFill>
                <a:latin typeface="Verdana" panose="020B0604030504040204" pitchFamily="34" charset="0"/>
              </a:rPr>
              <a:pPr algn="r" defTabSz="914400" fontAlgn="base">
                <a:spcAft>
                  <a:spcPct val="0"/>
                </a:spcAft>
                <a:defRPr/>
              </a:pPr>
              <a:t>19</a:t>
            </a:fld>
            <a:endParaRPr lang="en-US" altLang="ko-KR" dirty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334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19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The Thread Model (</a:t>
            </a:r>
            <a:r>
              <a:rPr lang="zh-CN" altLang="en-US" dirty="0">
                <a:ea typeface="宋体" panose="02010600030101010101" pitchFamily="2" charset="-122"/>
              </a:rPr>
              <a:t>８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893A5BE-5A1C-9F6B-FAE3-D95FE786A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线程</a:t>
            </a:r>
            <a:r>
              <a:rPr lang="zh-CN" altLang="en-US" dirty="0"/>
              <a:t>中的共享和私有项</a:t>
            </a:r>
          </a:p>
          <a:p>
            <a:endParaRPr lang="zh-CN" altLang="en-US" dirty="0"/>
          </a:p>
        </p:txBody>
      </p:sp>
      <p:sp>
        <p:nvSpPr>
          <p:cNvPr id="1638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fld id="{03FBBFA4-7782-4BA2-8E95-DEB04224B2EA}" type="slidenum">
              <a:rPr lang="zh-CN" altLang="en-US" sz="1400">
                <a:solidFill>
                  <a:srgbClr val="000000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buClrTx/>
                <a:buNone/>
                <a:defRPr/>
              </a:pPr>
              <a:t>20</a:t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  <p:pic>
        <p:nvPicPr>
          <p:cNvPr id="16388" name="Picture 1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7050" y="2616200"/>
            <a:ext cx="8534400" cy="298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89" name="Line 21"/>
          <p:cNvSpPr>
            <a:spLocks noChangeShapeType="1"/>
          </p:cNvSpPr>
          <p:nvPr/>
        </p:nvSpPr>
        <p:spPr bwMode="auto">
          <a:xfrm>
            <a:off x="10315575" y="2728914"/>
            <a:ext cx="0" cy="2828925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90" name="Text Box 22"/>
          <p:cNvSpPr txBox="1">
            <a:spLocks noChangeArrowheads="1"/>
          </p:cNvSpPr>
          <p:nvPr/>
        </p:nvSpPr>
        <p:spPr bwMode="auto">
          <a:xfrm>
            <a:off x="2497336" y="2176463"/>
            <a:ext cx="302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 fontAlgn="base">
              <a:spcBef>
                <a:spcPct val="50000"/>
              </a:spcBef>
              <a:spcAft>
                <a:spcPct val="0"/>
              </a:spcAft>
              <a:buClrTx/>
              <a:buNone/>
              <a:defRPr/>
            </a:pPr>
            <a:r>
              <a:rPr lang="zh-CN" altLang="en-US" sz="2400" dirty="0">
                <a:solidFill>
                  <a:srgbClr val="000000"/>
                </a:solidFill>
                <a:ea typeface="宋体" panose="02010600030101010101" pitchFamily="2" charset="-122"/>
              </a:rPr>
              <a:t>进程中线程共享项：</a:t>
            </a:r>
          </a:p>
        </p:txBody>
      </p:sp>
      <p:sp>
        <p:nvSpPr>
          <p:cNvPr id="16391" name="Text Box 23"/>
          <p:cNvSpPr txBox="1">
            <a:spLocks noChangeArrowheads="1"/>
          </p:cNvSpPr>
          <p:nvPr/>
        </p:nvSpPr>
        <p:spPr bwMode="auto">
          <a:xfrm>
            <a:off x="7618414" y="2222500"/>
            <a:ext cx="2643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 fontAlgn="base">
              <a:spcBef>
                <a:spcPct val="50000"/>
              </a:spcBef>
              <a:spcAft>
                <a:spcPct val="0"/>
              </a:spcAft>
              <a:buClrTx/>
              <a:buNone/>
              <a:defRPr/>
            </a:pPr>
            <a:r>
              <a:rPr lang="zh-CN" altLang="en-US" sz="2400">
                <a:solidFill>
                  <a:srgbClr val="000000"/>
                </a:solidFill>
                <a:ea typeface="宋体" panose="02010600030101010101" pitchFamily="2" charset="-122"/>
              </a:rPr>
              <a:t>线程的私有项：</a:t>
            </a:r>
          </a:p>
        </p:txBody>
      </p:sp>
    </p:spTree>
    <p:extLst>
      <p:ext uri="{BB962C8B-B14F-4D97-AF65-F5344CB8AC3E}">
        <p14:creationId xmlns:p14="http://schemas.microsoft.com/office/powerpoint/2010/main" val="2578147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19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zh-CN" dirty="0" err="1">
                <a:ea typeface="宋体" panose="02010600030101010101" pitchFamily="2" charset="-122"/>
              </a:rPr>
              <a:t>openEuler</a:t>
            </a:r>
            <a:r>
              <a:rPr lang="zh-CN" altLang="en-US" dirty="0">
                <a:ea typeface="宋体" panose="02010600030101010101" pitchFamily="2" charset="-122"/>
              </a:rPr>
              <a:t>线程创建过程分析与对比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638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fld id="{03FBBFA4-7782-4BA2-8E95-DEB04224B2EA}" type="slidenum">
              <a:rPr lang="zh-CN" altLang="en-US" sz="1400">
                <a:solidFill>
                  <a:srgbClr val="000000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buClrTx/>
                <a:buNone/>
                <a:defRPr/>
              </a:pPr>
              <a:t>21</a:t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3EEA1904-0540-4744-A940-93ED4C5407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8452" y="1566774"/>
            <a:ext cx="5581348" cy="494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208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19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zh-CN" dirty="0" err="1">
                <a:ea typeface="宋体" panose="02010600030101010101" pitchFamily="2" charset="-122"/>
              </a:rPr>
              <a:t>openEuler</a:t>
            </a:r>
            <a:r>
              <a:rPr lang="zh-CN" altLang="en-US" dirty="0">
                <a:ea typeface="宋体" panose="02010600030101010101" pitchFamily="2" charset="-122"/>
              </a:rPr>
              <a:t>线程复制过程分析与对比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638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fld id="{03FBBFA4-7782-4BA2-8E95-DEB04224B2EA}" type="slidenum">
              <a:rPr lang="zh-CN" altLang="en-US" sz="1400">
                <a:solidFill>
                  <a:srgbClr val="000000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buClrTx/>
                <a:buNone/>
                <a:defRPr/>
              </a:pPr>
              <a:t>22</a:t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DB76D4-8E0A-4152-A3ED-4ADFB6694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12996D-026B-436A-8AA3-DD47D5632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9" y="1621396"/>
            <a:ext cx="6508749" cy="513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8689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19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altLang="zh-CN" dirty="0" err="1">
                <a:ea typeface="宋体" panose="02010600030101010101" pitchFamily="2" charset="-122"/>
              </a:rPr>
              <a:t>openEuler</a:t>
            </a:r>
            <a:r>
              <a:rPr lang="zh-CN" altLang="en-US" dirty="0">
                <a:ea typeface="宋体" panose="02010600030101010101" pitchFamily="2" charset="-122"/>
              </a:rPr>
              <a:t>线程上下文切换过程分析与对比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638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Char char="•"/>
              <a:defRPr sz="3200">
                <a:solidFill>
                  <a:schemeClr val="accent2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fld id="{03FBBFA4-7782-4BA2-8E95-DEB04224B2EA}" type="slidenum">
              <a:rPr lang="zh-CN" altLang="en-US" sz="1400">
                <a:solidFill>
                  <a:srgbClr val="000000"/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buClrTx/>
                <a:buNone/>
                <a:defRPr/>
              </a:pPr>
              <a:t>23</a:t>
            </a:fld>
            <a:endParaRPr lang="en-US" altLang="zh-CN" sz="1400" dirty="0">
              <a:solidFill>
                <a:srgbClr val="000000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AF5393-43FB-4E86-8084-0D6EC284E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E738D06-3AD8-4921-AEA6-5B2839E3E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275" y="1644491"/>
            <a:ext cx="6953250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1585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接连接符 34"/>
          <p:cNvCxnSpPr/>
          <p:nvPr/>
        </p:nvCxnSpPr>
        <p:spPr>
          <a:xfrm rot="5400000">
            <a:off x="4262702" y="3776038"/>
            <a:ext cx="3960000" cy="1588"/>
          </a:xfrm>
          <a:prstGeom prst="line">
            <a:avLst/>
          </a:prstGeom>
          <a:ln w="28575">
            <a:solidFill>
              <a:srgbClr val="11576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3067677" y="2000240"/>
            <a:ext cx="3174233" cy="3495506"/>
            <a:chOff x="676248" y="1142990"/>
            <a:chExt cx="3174233" cy="3495506"/>
          </a:xfrm>
        </p:grpSpPr>
        <p:cxnSp>
          <p:nvCxnSpPr>
            <p:cNvPr id="37" name="直接连接符 36"/>
            <p:cNvCxnSpPr/>
            <p:nvPr/>
          </p:nvCxnSpPr>
          <p:spPr>
            <a:xfrm>
              <a:off x="676248" y="2835988"/>
              <a:ext cx="3174233" cy="2308"/>
            </a:xfrm>
            <a:prstGeom prst="line">
              <a:avLst/>
            </a:prstGeom>
            <a:ln w="28575">
              <a:solidFill>
                <a:srgbClr val="11576A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组合 2"/>
            <p:cNvGrpSpPr/>
            <p:nvPr/>
          </p:nvGrpSpPr>
          <p:grpSpPr>
            <a:xfrm>
              <a:off x="957690" y="1142990"/>
              <a:ext cx="2508760" cy="3495506"/>
              <a:chOff x="957690" y="1142990"/>
              <a:chExt cx="2508760" cy="3495506"/>
            </a:xfrm>
          </p:grpSpPr>
          <p:sp>
            <p:nvSpPr>
              <p:cNvPr id="17" name="Text Box 12"/>
              <p:cNvSpPr txBox="1">
                <a:spLocks noChangeArrowheads="1"/>
              </p:cNvSpPr>
              <p:nvPr/>
            </p:nvSpPr>
            <p:spPr bwMode="auto">
              <a:xfrm>
                <a:off x="1259632" y="2499742"/>
                <a:ext cx="1928826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defTabSz="91440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zh-CN" altLang="en-US" sz="1600" b="1" dirty="0">
                    <a:solidFill>
                      <a:srgbClr val="005472"/>
                    </a:solidFill>
                    <a:latin typeface="微软雅黑" pitchFamily="34" charset="-122"/>
                    <a:ea typeface="微软雅黑" pitchFamily="34" charset="-122"/>
                    <a:cs typeface="宋体" charset="0"/>
                  </a:rPr>
                  <a:t>实例：</a:t>
                </a:r>
                <a:r>
                  <a:rPr lang="en-US" sz="1600" b="1" dirty="0">
                    <a:solidFill>
                      <a:srgbClr val="005472"/>
                    </a:solidFill>
                    <a:latin typeface="微软雅黑" pitchFamily="34" charset="-122"/>
                    <a:ea typeface="微软雅黑" pitchFamily="34" charset="-122"/>
                    <a:cs typeface="宋体" charset="0"/>
                  </a:rPr>
                  <a:t>MS-DOS</a:t>
                </a:r>
              </a:p>
            </p:txBody>
          </p:sp>
          <p:sp>
            <p:nvSpPr>
              <p:cNvPr id="22" name="Text Box 12"/>
              <p:cNvSpPr txBox="1">
                <a:spLocks noChangeArrowheads="1"/>
              </p:cNvSpPr>
              <p:nvPr/>
            </p:nvSpPr>
            <p:spPr bwMode="auto">
              <a:xfrm>
                <a:off x="1403648" y="4299942"/>
                <a:ext cx="1872208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defTabSz="91440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zh-CN" altLang="en-US" sz="1600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宋体" charset="0"/>
                  </a:rPr>
                  <a:t>实例：传统</a:t>
                </a:r>
                <a:r>
                  <a:rPr lang="en-US" altLang="zh-CN" sz="1600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宋体" charset="0"/>
                  </a:rPr>
                  <a:t>UNIX</a:t>
                </a:r>
                <a:endParaRPr 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endParaRP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1643042" y="1142990"/>
                <a:ext cx="1080000" cy="1080000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39" name="任意多边形 38"/>
              <p:cNvSpPr>
                <a:spLocks noChangeAspect="1"/>
              </p:cNvSpPr>
              <p:nvPr/>
            </p:nvSpPr>
            <p:spPr>
              <a:xfrm>
                <a:off x="2071670" y="1357304"/>
                <a:ext cx="184720" cy="720000"/>
              </a:xfrm>
              <a:custGeom>
                <a:avLst/>
                <a:gdLst>
                  <a:gd name="connsiteX0" fmla="*/ 68792 w 144992"/>
                  <a:gd name="connsiteY0" fmla="*/ 0 h 565150"/>
                  <a:gd name="connsiteX1" fmla="*/ 135467 w 144992"/>
                  <a:gd name="connsiteY1" fmla="*/ 44450 h 565150"/>
                  <a:gd name="connsiteX2" fmla="*/ 11642 w 144992"/>
                  <a:gd name="connsiteY2" fmla="*/ 257175 h 565150"/>
                  <a:gd name="connsiteX3" fmla="*/ 119592 w 144992"/>
                  <a:gd name="connsiteY3" fmla="*/ 304800 h 565150"/>
                  <a:gd name="connsiteX4" fmla="*/ 8467 w 144992"/>
                  <a:gd name="connsiteY4" fmla="*/ 520700 h 565150"/>
                  <a:gd name="connsiteX5" fmla="*/ 68792 w 144992"/>
                  <a:gd name="connsiteY5" fmla="*/ 565150 h 56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4992" h="565150">
                    <a:moveTo>
                      <a:pt x="68792" y="0"/>
                    </a:moveTo>
                    <a:cubicBezTo>
                      <a:pt x="106892" y="794"/>
                      <a:pt x="144992" y="1588"/>
                      <a:pt x="135467" y="44450"/>
                    </a:cubicBezTo>
                    <a:cubicBezTo>
                      <a:pt x="125942" y="87312"/>
                      <a:pt x="14288" y="213783"/>
                      <a:pt x="11642" y="257175"/>
                    </a:cubicBezTo>
                    <a:cubicBezTo>
                      <a:pt x="8996" y="300567"/>
                      <a:pt x="120121" y="260879"/>
                      <a:pt x="119592" y="304800"/>
                    </a:cubicBezTo>
                    <a:cubicBezTo>
                      <a:pt x="119063" y="348721"/>
                      <a:pt x="16934" y="477308"/>
                      <a:pt x="8467" y="520700"/>
                    </a:cubicBezTo>
                    <a:cubicBezTo>
                      <a:pt x="0" y="564092"/>
                      <a:pt x="101600" y="550863"/>
                      <a:pt x="68792" y="565150"/>
                    </a:cubicBezTo>
                  </a:path>
                </a:pathLst>
              </a:custGeom>
              <a:ln w="28575">
                <a:solidFill>
                  <a:srgbClr val="FDD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57" name="矩形 56"/>
              <p:cNvSpPr/>
              <p:nvPr/>
            </p:nvSpPr>
            <p:spPr>
              <a:xfrm>
                <a:off x="957690" y="2928940"/>
                <a:ext cx="1080000" cy="1080000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60" name="任意多边形 59"/>
              <p:cNvSpPr>
                <a:spLocks noChangeAspect="1"/>
              </p:cNvSpPr>
              <p:nvPr/>
            </p:nvSpPr>
            <p:spPr>
              <a:xfrm>
                <a:off x="1386318" y="3143254"/>
                <a:ext cx="184720" cy="720000"/>
              </a:xfrm>
              <a:custGeom>
                <a:avLst/>
                <a:gdLst>
                  <a:gd name="connsiteX0" fmla="*/ 68792 w 144992"/>
                  <a:gd name="connsiteY0" fmla="*/ 0 h 565150"/>
                  <a:gd name="connsiteX1" fmla="*/ 135467 w 144992"/>
                  <a:gd name="connsiteY1" fmla="*/ 44450 h 565150"/>
                  <a:gd name="connsiteX2" fmla="*/ 11642 w 144992"/>
                  <a:gd name="connsiteY2" fmla="*/ 257175 h 565150"/>
                  <a:gd name="connsiteX3" fmla="*/ 119592 w 144992"/>
                  <a:gd name="connsiteY3" fmla="*/ 304800 h 565150"/>
                  <a:gd name="connsiteX4" fmla="*/ 8467 w 144992"/>
                  <a:gd name="connsiteY4" fmla="*/ 520700 h 565150"/>
                  <a:gd name="connsiteX5" fmla="*/ 68792 w 144992"/>
                  <a:gd name="connsiteY5" fmla="*/ 565150 h 56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4992" h="565150">
                    <a:moveTo>
                      <a:pt x="68792" y="0"/>
                    </a:moveTo>
                    <a:cubicBezTo>
                      <a:pt x="106892" y="794"/>
                      <a:pt x="144992" y="1588"/>
                      <a:pt x="135467" y="44450"/>
                    </a:cubicBezTo>
                    <a:cubicBezTo>
                      <a:pt x="125942" y="87312"/>
                      <a:pt x="14288" y="213783"/>
                      <a:pt x="11642" y="257175"/>
                    </a:cubicBezTo>
                    <a:cubicBezTo>
                      <a:pt x="8996" y="300567"/>
                      <a:pt x="120121" y="260879"/>
                      <a:pt x="119592" y="304800"/>
                    </a:cubicBezTo>
                    <a:cubicBezTo>
                      <a:pt x="119063" y="348721"/>
                      <a:pt x="16934" y="477308"/>
                      <a:pt x="8467" y="520700"/>
                    </a:cubicBezTo>
                    <a:cubicBezTo>
                      <a:pt x="0" y="564092"/>
                      <a:pt x="101600" y="550863"/>
                      <a:pt x="68792" y="565150"/>
                    </a:cubicBezTo>
                  </a:path>
                </a:pathLst>
              </a:custGeom>
              <a:ln w="28575">
                <a:solidFill>
                  <a:srgbClr val="FDD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2386450" y="2928940"/>
                <a:ext cx="1080000" cy="1080000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64" name="任意多边形 63"/>
              <p:cNvSpPr>
                <a:spLocks noChangeAspect="1"/>
              </p:cNvSpPr>
              <p:nvPr/>
            </p:nvSpPr>
            <p:spPr>
              <a:xfrm>
                <a:off x="2815078" y="3143254"/>
                <a:ext cx="184720" cy="720000"/>
              </a:xfrm>
              <a:custGeom>
                <a:avLst/>
                <a:gdLst>
                  <a:gd name="connsiteX0" fmla="*/ 68792 w 144992"/>
                  <a:gd name="connsiteY0" fmla="*/ 0 h 565150"/>
                  <a:gd name="connsiteX1" fmla="*/ 135467 w 144992"/>
                  <a:gd name="connsiteY1" fmla="*/ 44450 h 565150"/>
                  <a:gd name="connsiteX2" fmla="*/ 11642 w 144992"/>
                  <a:gd name="connsiteY2" fmla="*/ 257175 h 565150"/>
                  <a:gd name="connsiteX3" fmla="*/ 119592 w 144992"/>
                  <a:gd name="connsiteY3" fmla="*/ 304800 h 565150"/>
                  <a:gd name="connsiteX4" fmla="*/ 8467 w 144992"/>
                  <a:gd name="connsiteY4" fmla="*/ 520700 h 565150"/>
                  <a:gd name="connsiteX5" fmla="*/ 68792 w 144992"/>
                  <a:gd name="connsiteY5" fmla="*/ 565150 h 56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4992" h="565150">
                    <a:moveTo>
                      <a:pt x="68792" y="0"/>
                    </a:moveTo>
                    <a:cubicBezTo>
                      <a:pt x="106892" y="794"/>
                      <a:pt x="144992" y="1588"/>
                      <a:pt x="135467" y="44450"/>
                    </a:cubicBezTo>
                    <a:cubicBezTo>
                      <a:pt x="125942" y="87312"/>
                      <a:pt x="14288" y="213783"/>
                      <a:pt x="11642" y="257175"/>
                    </a:cubicBezTo>
                    <a:cubicBezTo>
                      <a:pt x="8996" y="300567"/>
                      <a:pt x="120121" y="260879"/>
                      <a:pt x="119592" y="304800"/>
                    </a:cubicBezTo>
                    <a:cubicBezTo>
                      <a:pt x="119063" y="348721"/>
                      <a:pt x="16934" y="477308"/>
                      <a:pt x="8467" y="520700"/>
                    </a:cubicBezTo>
                    <a:cubicBezTo>
                      <a:pt x="0" y="564092"/>
                      <a:pt x="101600" y="550863"/>
                      <a:pt x="68792" y="565150"/>
                    </a:cubicBezTo>
                  </a:path>
                </a:pathLst>
              </a:custGeom>
              <a:ln w="28575">
                <a:solidFill>
                  <a:srgbClr val="FDD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1520340" y="2156504"/>
                <a:ext cx="13388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rPr>
                  <a:t>单进程系统</a:t>
                </a: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1531155" y="4013892"/>
                <a:ext cx="13388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rPr>
                  <a:t>多进程系统</a:t>
                </a:r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6234136" y="2000240"/>
            <a:ext cx="3174233" cy="3567514"/>
            <a:chOff x="3842707" y="1142990"/>
            <a:chExt cx="3174233" cy="3567514"/>
          </a:xfrm>
        </p:grpSpPr>
        <p:grpSp>
          <p:nvGrpSpPr>
            <p:cNvPr id="4" name="组合 3"/>
            <p:cNvGrpSpPr/>
            <p:nvPr/>
          </p:nvGrpSpPr>
          <p:grpSpPr>
            <a:xfrm>
              <a:off x="4199164" y="1142990"/>
              <a:ext cx="2508760" cy="3567514"/>
              <a:chOff x="4199164" y="1142990"/>
              <a:chExt cx="2508760" cy="3567514"/>
            </a:xfrm>
          </p:grpSpPr>
          <p:sp>
            <p:nvSpPr>
              <p:cNvPr id="19" name="Text Box 12"/>
              <p:cNvSpPr txBox="1">
                <a:spLocks noChangeArrowheads="1"/>
              </p:cNvSpPr>
              <p:nvPr/>
            </p:nvSpPr>
            <p:spPr bwMode="auto">
              <a:xfrm>
                <a:off x="4499992" y="2499742"/>
                <a:ext cx="1872208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defTabSz="91440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zh-CN" altLang="en-US" sz="1600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宋体" charset="0"/>
                  </a:rPr>
                  <a:t>实例：</a:t>
                </a:r>
                <a:r>
                  <a:rPr lang="en-US" altLang="zh-CN" sz="1600" b="1" dirty="0" err="1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宋体" charset="0"/>
                  </a:rPr>
                  <a:t>pSOS</a:t>
                </a:r>
                <a:endParaRPr 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endParaRPr>
              </a:p>
            </p:txBody>
          </p:sp>
          <p:sp>
            <p:nvSpPr>
              <p:cNvPr id="23" name="Text Box 12"/>
              <p:cNvSpPr txBox="1">
                <a:spLocks noChangeArrowheads="1"/>
              </p:cNvSpPr>
              <p:nvPr/>
            </p:nvSpPr>
            <p:spPr bwMode="auto">
              <a:xfrm>
                <a:off x="4572000" y="4371950"/>
                <a:ext cx="1872208" cy="3385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/>
                <a:lvl2pPr/>
                <a:lvl3pPr/>
                <a:lvl4pPr/>
                <a:lvl5pPr/>
                <a:lvl6pPr/>
                <a:lvl7pPr/>
                <a:lvl8pPr/>
                <a:lvl9pPr/>
              </a:lstStyle>
              <a:p>
                <a:pPr defTabSz="91440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zh-CN" altLang="en-US" sz="1600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宋体" charset="0"/>
                  </a:rPr>
                  <a:t>实例：现代</a:t>
                </a:r>
                <a:r>
                  <a:rPr lang="en-US" altLang="zh-CN" sz="1600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  <a:cs typeface="宋体" charset="0"/>
                  </a:rPr>
                  <a:t>UNIX</a:t>
                </a:r>
                <a:endParaRPr lang="en-US" sz="16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  <a:cs typeface="宋体" charset="0"/>
                </a:endParaRPr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4934142" y="1142990"/>
                <a:ext cx="1080000" cy="1080000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41" name="任意多边形 40"/>
              <p:cNvSpPr>
                <a:spLocks noChangeAspect="1"/>
              </p:cNvSpPr>
              <p:nvPr/>
            </p:nvSpPr>
            <p:spPr>
              <a:xfrm>
                <a:off x="5648522" y="1357304"/>
                <a:ext cx="184720" cy="720000"/>
              </a:xfrm>
              <a:custGeom>
                <a:avLst/>
                <a:gdLst>
                  <a:gd name="connsiteX0" fmla="*/ 68792 w 144992"/>
                  <a:gd name="connsiteY0" fmla="*/ 0 h 565150"/>
                  <a:gd name="connsiteX1" fmla="*/ 135467 w 144992"/>
                  <a:gd name="connsiteY1" fmla="*/ 44450 h 565150"/>
                  <a:gd name="connsiteX2" fmla="*/ 11642 w 144992"/>
                  <a:gd name="connsiteY2" fmla="*/ 257175 h 565150"/>
                  <a:gd name="connsiteX3" fmla="*/ 119592 w 144992"/>
                  <a:gd name="connsiteY3" fmla="*/ 304800 h 565150"/>
                  <a:gd name="connsiteX4" fmla="*/ 8467 w 144992"/>
                  <a:gd name="connsiteY4" fmla="*/ 520700 h 565150"/>
                  <a:gd name="connsiteX5" fmla="*/ 68792 w 144992"/>
                  <a:gd name="connsiteY5" fmla="*/ 565150 h 56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4992" h="565150">
                    <a:moveTo>
                      <a:pt x="68792" y="0"/>
                    </a:moveTo>
                    <a:cubicBezTo>
                      <a:pt x="106892" y="794"/>
                      <a:pt x="144992" y="1588"/>
                      <a:pt x="135467" y="44450"/>
                    </a:cubicBezTo>
                    <a:cubicBezTo>
                      <a:pt x="125942" y="87312"/>
                      <a:pt x="14288" y="213783"/>
                      <a:pt x="11642" y="257175"/>
                    </a:cubicBezTo>
                    <a:cubicBezTo>
                      <a:pt x="8996" y="300567"/>
                      <a:pt x="120121" y="260879"/>
                      <a:pt x="119592" y="304800"/>
                    </a:cubicBezTo>
                    <a:cubicBezTo>
                      <a:pt x="119063" y="348721"/>
                      <a:pt x="16934" y="477308"/>
                      <a:pt x="8467" y="520700"/>
                    </a:cubicBezTo>
                    <a:cubicBezTo>
                      <a:pt x="0" y="564092"/>
                      <a:pt x="101600" y="550863"/>
                      <a:pt x="68792" y="565150"/>
                    </a:cubicBezTo>
                  </a:path>
                </a:pathLst>
              </a:custGeom>
              <a:ln w="28575">
                <a:solidFill>
                  <a:srgbClr val="FDD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42" name="任意多边形 41"/>
              <p:cNvSpPr>
                <a:spLocks noChangeAspect="1"/>
              </p:cNvSpPr>
              <p:nvPr/>
            </p:nvSpPr>
            <p:spPr>
              <a:xfrm>
                <a:off x="5077018" y="1357304"/>
                <a:ext cx="184720" cy="720000"/>
              </a:xfrm>
              <a:custGeom>
                <a:avLst/>
                <a:gdLst>
                  <a:gd name="connsiteX0" fmla="*/ 68792 w 144992"/>
                  <a:gd name="connsiteY0" fmla="*/ 0 h 565150"/>
                  <a:gd name="connsiteX1" fmla="*/ 135467 w 144992"/>
                  <a:gd name="connsiteY1" fmla="*/ 44450 h 565150"/>
                  <a:gd name="connsiteX2" fmla="*/ 11642 w 144992"/>
                  <a:gd name="connsiteY2" fmla="*/ 257175 h 565150"/>
                  <a:gd name="connsiteX3" fmla="*/ 119592 w 144992"/>
                  <a:gd name="connsiteY3" fmla="*/ 304800 h 565150"/>
                  <a:gd name="connsiteX4" fmla="*/ 8467 w 144992"/>
                  <a:gd name="connsiteY4" fmla="*/ 520700 h 565150"/>
                  <a:gd name="connsiteX5" fmla="*/ 68792 w 144992"/>
                  <a:gd name="connsiteY5" fmla="*/ 565150 h 56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4992" h="565150">
                    <a:moveTo>
                      <a:pt x="68792" y="0"/>
                    </a:moveTo>
                    <a:cubicBezTo>
                      <a:pt x="106892" y="794"/>
                      <a:pt x="144992" y="1588"/>
                      <a:pt x="135467" y="44450"/>
                    </a:cubicBezTo>
                    <a:cubicBezTo>
                      <a:pt x="125942" y="87312"/>
                      <a:pt x="14288" y="213783"/>
                      <a:pt x="11642" y="257175"/>
                    </a:cubicBezTo>
                    <a:cubicBezTo>
                      <a:pt x="8996" y="300567"/>
                      <a:pt x="120121" y="260879"/>
                      <a:pt x="119592" y="304800"/>
                    </a:cubicBezTo>
                    <a:cubicBezTo>
                      <a:pt x="119063" y="348721"/>
                      <a:pt x="16934" y="477308"/>
                      <a:pt x="8467" y="520700"/>
                    </a:cubicBezTo>
                    <a:cubicBezTo>
                      <a:pt x="0" y="564092"/>
                      <a:pt x="101600" y="550863"/>
                      <a:pt x="68792" y="565150"/>
                    </a:cubicBezTo>
                  </a:path>
                </a:pathLst>
              </a:custGeom>
              <a:ln w="28575">
                <a:solidFill>
                  <a:srgbClr val="FDD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43" name="任意多边形 42"/>
              <p:cNvSpPr>
                <a:spLocks noChangeAspect="1"/>
              </p:cNvSpPr>
              <p:nvPr/>
            </p:nvSpPr>
            <p:spPr>
              <a:xfrm>
                <a:off x="5362770" y="1357304"/>
                <a:ext cx="184720" cy="720000"/>
              </a:xfrm>
              <a:custGeom>
                <a:avLst/>
                <a:gdLst>
                  <a:gd name="connsiteX0" fmla="*/ 68792 w 144992"/>
                  <a:gd name="connsiteY0" fmla="*/ 0 h 565150"/>
                  <a:gd name="connsiteX1" fmla="*/ 135467 w 144992"/>
                  <a:gd name="connsiteY1" fmla="*/ 44450 h 565150"/>
                  <a:gd name="connsiteX2" fmla="*/ 11642 w 144992"/>
                  <a:gd name="connsiteY2" fmla="*/ 257175 h 565150"/>
                  <a:gd name="connsiteX3" fmla="*/ 119592 w 144992"/>
                  <a:gd name="connsiteY3" fmla="*/ 304800 h 565150"/>
                  <a:gd name="connsiteX4" fmla="*/ 8467 w 144992"/>
                  <a:gd name="connsiteY4" fmla="*/ 520700 h 565150"/>
                  <a:gd name="connsiteX5" fmla="*/ 68792 w 144992"/>
                  <a:gd name="connsiteY5" fmla="*/ 565150 h 56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4992" h="565150">
                    <a:moveTo>
                      <a:pt x="68792" y="0"/>
                    </a:moveTo>
                    <a:cubicBezTo>
                      <a:pt x="106892" y="794"/>
                      <a:pt x="144992" y="1588"/>
                      <a:pt x="135467" y="44450"/>
                    </a:cubicBezTo>
                    <a:cubicBezTo>
                      <a:pt x="125942" y="87312"/>
                      <a:pt x="14288" y="213783"/>
                      <a:pt x="11642" y="257175"/>
                    </a:cubicBezTo>
                    <a:cubicBezTo>
                      <a:pt x="8996" y="300567"/>
                      <a:pt x="120121" y="260879"/>
                      <a:pt x="119592" y="304800"/>
                    </a:cubicBezTo>
                    <a:cubicBezTo>
                      <a:pt x="119063" y="348721"/>
                      <a:pt x="16934" y="477308"/>
                      <a:pt x="8467" y="520700"/>
                    </a:cubicBezTo>
                    <a:cubicBezTo>
                      <a:pt x="0" y="564092"/>
                      <a:pt x="101600" y="550863"/>
                      <a:pt x="68792" y="565150"/>
                    </a:cubicBezTo>
                  </a:path>
                </a:pathLst>
              </a:custGeom>
              <a:ln w="28575">
                <a:solidFill>
                  <a:srgbClr val="FDD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4199164" y="2928940"/>
                <a:ext cx="1080000" cy="1080000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45" name="任意多边形 44"/>
              <p:cNvSpPr>
                <a:spLocks noChangeAspect="1"/>
              </p:cNvSpPr>
              <p:nvPr/>
            </p:nvSpPr>
            <p:spPr>
              <a:xfrm>
                <a:off x="4913544" y="3143254"/>
                <a:ext cx="184720" cy="720000"/>
              </a:xfrm>
              <a:custGeom>
                <a:avLst/>
                <a:gdLst>
                  <a:gd name="connsiteX0" fmla="*/ 68792 w 144992"/>
                  <a:gd name="connsiteY0" fmla="*/ 0 h 565150"/>
                  <a:gd name="connsiteX1" fmla="*/ 135467 w 144992"/>
                  <a:gd name="connsiteY1" fmla="*/ 44450 h 565150"/>
                  <a:gd name="connsiteX2" fmla="*/ 11642 w 144992"/>
                  <a:gd name="connsiteY2" fmla="*/ 257175 h 565150"/>
                  <a:gd name="connsiteX3" fmla="*/ 119592 w 144992"/>
                  <a:gd name="connsiteY3" fmla="*/ 304800 h 565150"/>
                  <a:gd name="connsiteX4" fmla="*/ 8467 w 144992"/>
                  <a:gd name="connsiteY4" fmla="*/ 520700 h 565150"/>
                  <a:gd name="connsiteX5" fmla="*/ 68792 w 144992"/>
                  <a:gd name="connsiteY5" fmla="*/ 565150 h 56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4992" h="565150">
                    <a:moveTo>
                      <a:pt x="68792" y="0"/>
                    </a:moveTo>
                    <a:cubicBezTo>
                      <a:pt x="106892" y="794"/>
                      <a:pt x="144992" y="1588"/>
                      <a:pt x="135467" y="44450"/>
                    </a:cubicBezTo>
                    <a:cubicBezTo>
                      <a:pt x="125942" y="87312"/>
                      <a:pt x="14288" y="213783"/>
                      <a:pt x="11642" y="257175"/>
                    </a:cubicBezTo>
                    <a:cubicBezTo>
                      <a:pt x="8996" y="300567"/>
                      <a:pt x="120121" y="260879"/>
                      <a:pt x="119592" y="304800"/>
                    </a:cubicBezTo>
                    <a:cubicBezTo>
                      <a:pt x="119063" y="348721"/>
                      <a:pt x="16934" y="477308"/>
                      <a:pt x="8467" y="520700"/>
                    </a:cubicBezTo>
                    <a:cubicBezTo>
                      <a:pt x="0" y="564092"/>
                      <a:pt x="101600" y="550863"/>
                      <a:pt x="68792" y="565150"/>
                    </a:cubicBezTo>
                  </a:path>
                </a:pathLst>
              </a:custGeom>
              <a:ln w="28575">
                <a:solidFill>
                  <a:srgbClr val="FDD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46" name="任意多边形 45"/>
              <p:cNvSpPr>
                <a:spLocks noChangeAspect="1"/>
              </p:cNvSpPr>
              <p:nvPr/>
            </p:nvSpPr>
            <p:spPr>
              <a:xfrm>
                <a:off x="4342040" y="3143254"/>
                <a:ext cx="184720" cy="720000"/>
              </a:xfrm>
              <a:custGeom>
                <a:avLst/>
                <a:gdLst>
                  <a:gd name="connsiteX0" fmla="*/ 68792 w 144992"/>
                  <a:gd name="connsiteY0" fmla="*/ 0 h 565150"/>
                  <a:gd name="connsiteX1" fmla="*/ 135467 w 144992"/>
                  <a:gd name="connsiteY1" fmla="*/ 44450 h 565150"/>
                  <a:gd name="connsiteX2" fmla="*/ 11642 w 144992"/>
                  <a:gd name="connsiteY2" fmla="*/ 257175 h 565150"/>
                  <a:gd name="connsiteX3" fmla="*/ 119592 w 144992"/>
                  <a:gd name="connsiteY3" fmla="*/ 304800 h 565150"/>
                  <a:gd name="connsiteX4" fmla="*/ 8467 w 144992"/>
                  <a:gd name="connsiteY4" fmla="*/ 520700 h 565150"/>
                  <a:gd name="connsiteX5" fmla="*/ 68792 w 144992"/>
                  <a:gd name="connsiteY5" fmla="*/ 565150 h 56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4992" h="565150">
                    <a:moveTo>
                      <a:pt x="68792" y="0"/>
                    </a:moveTo>
                    <a:cubicBezTo>
                      <a:pt x="106892" y="794"/>
                      <a:pt x="144992" y="1588"/>
                      <a:pt x="135467" y="44450"/>
                    </a:cubicBezTo>
                    <a:cubicBezTo>
                      <a:pt x="125942" y="87312"/>
                      <a:pt x="14288" y="213783"/>
                      <a:pt x="11642" y="257175"/>
                    </a:cubicBezTo>
                    <a:cubicBezTo>
                      <a:pt x="8996" y="300567"/>
                      <a:pt x="120121" y="260879"/>
                      <a:pt x="119592" y="304800"/>
                    </a:cubicBezTo>
                    <a:cubicBezTo>
                      <a:pt x="119063" y="348721"/>
                      <a:pt x="16934" y="477308"/>
                      <a:pt x="8467" y="520700"/>
                    </a:cubicBezTo>
                    <a:cubicBezTo>
                      <a:pt x="0" y="564092"/>
                      <a:pt x="101600" y="550863"/>
                      <a:pt x="68792" y="565150"/>
                    </a:cubicBezTo>
                  </a:path>
                </a:pathLst>
              </a:custGeom>
              <a:ln w="28575">
                <a:solidFill>
                  <a:srgbClr val="FDD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47" name="任意多边形 46"/>
              <p:cNvSpPr>
                <a:spLocks noChangeAspect="1"/>
              </p:cNvSpPr>
              <p:nvPr/>
            </p:nvSpPr>
            <p:spPr>
              <a:xfrm>
                <a:off x="4627792" y="3143254"/>
                <a:ext cx="184720" cy="720000"/>
              </a:xfrm>
              <a:custGeom>
                <a:avLst/>
                <a:gdLst>
                  <a:gd name="connsiteX0" fmla="*/ 68792 w 144992"/>
                  <a:gd name="connsiteY0" fmla="*/ 0 h 565150"/>
                  <a:gd name="connsiteX1" fmla="*/ 135467 w 144992"/>
                  <a:gd name="connsiteY1" fmla="*/ 44450 h 565150"/>
                  <a:gd name="connsiteX2" fmla="*/ 11642 w 144992"/>
                  <a:gd name="connsiteY2" fmla="*/ 257175 h 565150"/>
                  <a:gd name="connsiteX3" fmla="*/ 119592 w 144992"/>
                  <a:gd name="connsiteY3" fmla="*/ 304800 h 565150"/>
                  <a:gd name="connsiteX4" fmla="*/ 8467 w 144992"/>
                  <a:gd name="connsiteY4" fmla="*/ 520700 h 565150"/>
                  <a:gd name="connsiteX5" fmla="*/ 68792 w 144992"/>
                  <a:gd name="connsiteY5" fmla="*/ 565150 h 56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4992" h="565150">
                    <a:moveTo>
                      <a:pt x="68792" y="0"/>
                    </a:moveTo>
                    <a:cubicBezTo>
                      <a:pt x="106892" y="794"/>
                      <a:pt x="144992" y="1588"/>
                      <a:pt x="135467" y="44450"/>
                    </a:cubicBezTo>
                    <a:cubicBezTo>
                      <a:pt x="125942" y="87312"/>
                      <a:pt x="14288" y="213783"/>
                      <a:pt x="11642" y="257175"/>
                    </a:cubicBezTo>
                    <a:cubicBezTo>
                      <a:pt x="8996" y="300567"/>
                      <a:pt x="120121" y="260879"/>
                      <a:pt x="119592" y="304800"/>
                    </a:cubicBezTo>
                    <a:cubicBezTo>
                      <a:pt x="119063" y="348721"/>
                      <a:pt x="16934" y="477308"/>
                      <a:pt x="8467" y="520700"/>
                    </a:cubicBezTo>
                    <a:cubicBezTo>
                      <a:pt x="0" y="564092"/>
                      <a:pt x="101600" y="550863"/>
                      <a:pt x="68792" y="565150"/>
                    </a:cubicBezTo>
                  </a:path>
                </a:pathLst>
              </a:custGeom>
              <a:ln w="28575">
                <a:solidFill>
                  <a:srgbClr val="FDD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48" name="矩形 47"/>
              <p:cNvSpPr/>
              <p:nvPr/>
            </p:nvSpPr>
            <p:spPr>
              <a:xfrm>
                <a:off x="5627924" y="2928940"/>
                <a:ext cx="1080000" cy="1080000"/>
              </a:xfrm>
              <a:prstGeom prst="rect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</a:gsLst>
                <a:lin ang="5400000" scaled="0"/>
              </a:gradFill>
              <a:ln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49" name="任意多边形 48"/>
              <p:cNvSpPr>
                <a:spLocks noChangeAspect="1"/>
              </p:cNvSpPr>
              <p:nvPr/>
            </p:nvSpPr>
            <p:spPr>
              <a:xfrm>
                <a:off x="6342304" y="3143254"/>
                <a:ext cx="184720" cy="720000"/>
              </a:xfrm>
              <a:custGeom>
                <a:avLst/>
                <a:gdLst>
                  <a:gd name="connsiteX0" fmla="*/ 68792 w 144992"/>
                  <a:gd name="connsiteY0" fmla="*/ 0 h 565150"/>
                  <a:gd name="connsiteX1" fmla="*/ 135467 w 144992"/>
                  <a:gd name="connsiteY1" fmla="*/ 44450 h 565150"/>
                  <a:gd name="connsiteX2" fmla="*/ 11642 w 144992"/>
                  <a:gd name="connsiteY2" fmla="*/ 257175 h 565150"/>
                  <a:gd name="connsiteX3" fmla="*/ 119592 w 144992"/>
                  <a:gd name="connsiteY3" fmla="*/ 304800 h 565150"/>
                  <a:gd name="connsiteX4" fmla="*/ 8467 w 144992"/>
                  <a:gd name="connsiteY4" fmla="*/ 520700 h 565150"/>
                  <a:gd name="connsiteX5" fmla="*/ 68792 w 144992"/>
                  <a:gd name="connsiteY5" fmla="*/ 565150 h 56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4992" h="565150">
                    <a:moveTo>
                      <a:pt x="68792" y="0"/>
                    </a:moveTo>
                    <a:cubicBezTo>
                      <a:pt x="106892" y="794"/>
                      <a:pt x="144992" y="1588"/>
                      <a:pt x="135467" y="44450"/>
                    </a:cubicBezTo>
                    <a:cubicBezTo>
                      <a:pt x="125942" y="87312"/>
                      <a:pt x="14288" y="213783"/>
                      <a:pt x="11642" y="257175"/>
                    </a:cubicBezTo>
                    <a:cubicBezTo>
                      <a:pt x="8996" y="300567"/>
                      <a:pt x="120121" y="260879"/>
                      <a:pt x="119592" y="304800"/>
                    </a:cubicBezTo>
                    <a:cubicBezTo>
                      <a:pt x="119063" y="348721"/>
                      <a:pt x="16934" y="477308"/>
                      <a:pt x="8467" y="520700"/>
                    </a:cubicBezTo>
                    <a:cubicBezTo>
                      <a:pt x="0" y="564092"/>
                      <a:pt x="101600" y="550863"/>
                      <a:pt x="68792" y="565150"/>
                    </a:cubicBezTo>
                  </a:path>
                </a:pathLst>
              </a:custGeom>
              <a:ln w="28575">
                <a:solidFill>
                  <a:srgbClr val="FDD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50" name="任意多边形 49"/>
              <p:cNvSpPr>
                <a:spLocks noChangeAspect="1"/>
              </p:cNvSpPr>
              <p:nvPr/>
            </p:nvSpPr>
            <p:spPr>
              <a:xfrm>
                <a:off x="5770800" y="3143254"/>
                <a:ext cx="184720" cy="720000"/>
              </a:xfrm>
              <a:custGeom>
                <a:avLst/>
                <a:gdLst>
                  <a:gd name="connsiteX0" fmla="*/ 68792 w 144992"/>
                  <a:gd name="connsiteY0" fmla="*/ 0 h 565150"/>
                  <a:gd name="connsiteX1" fmla="*/ 135467 w 144992"/>
                  <a:gd name="connsiteY1" fmla="*/ 44450 h 565150"/>
                  <a:gd name="connsiteX2" fmla="*/ 11642 w 144992"/>
                  <a:gd name="connsiteY2" fmla="*/ 257175 h 565150"/>
                  <a:gd name="connsiteX3" fmla="*/ 119592 w 144992"/>
                  <a:gd name="connsiteY3" fmla="*/ 304800 h 565150"/>
                  <a:gd name="connsiteX4" fmla="*/ 8467 w 144992"/>
                  <a:gd name="connsiteY4" fmla="*/ 520700 h 565150"/>
                  <a:gd name="connsiteX5" fmla="*/ 68792 w 144992"/>
                  <a:gd name="connsiteY5" fmla="*/ 565150 h 56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4992" h="565150">
                    <a:moveTo>
                      <a:pt x="68792" y="0"/>
                    </a:moveTo>
                    <a:cubicBezTo>
                      <a:pt x="106892" y="794"/>
                      <a:pt x="144992" y="1588"/>
                      <a:pt x="135467" y="44450"/>
                    </a:cubicBezTo>
                    <a:cubicBezTo>
                      <a:pt x="125942" y="87312"/>
                      <a:pt x="14288" y="213783"/>
                      <a:pt x="11642" y="257175"/>
                    </a:cubicBezTo>
                    <a:cubicBezTo>
                      <a:pt x="8996" y="300567"/>
                      <a:pt x="120121" y="260879"/>
                      <a:pt x="119592" y="304800"/>
                    </a:cubicBezTo>
                    <a:cubicBezTo>
                      <a:pt x="119063" y="348721"/>
                      <a:pt x="16934" y="477308"/>
                      <a:pt x="8467" y="520700"/>
                    </a:cubicBezTo>
                    <a:cubicBezTo>
                      <a:pt x="0" y="564092"/>
                      <a:pt x="101600" y="550863"/>
                      <a:pt x="68792" y="565150"/>
                    </a:cubicBezTo>
                  </a:path>
                </a:pathLst>
              </a:custGeom>
              <a:ln w="28575">
                <a:solidFill>
                  <a:srgbClr val="FDD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51" name="任意多边形 50"/>
              <p:cNvSpPr>
                <a:spLocks noChangeAspect="1"/>
              </p:cNvSpPr>
              <p:nvPr/>
            </p:nvSpPr>
            <p:spPr>
              <a:xfrm>
                <a:off x="6056552" y="3143254"/>
                <a:ext cx="184720" cy="720000"/>
              </a:xfrm>
              <a:custGeom>
                <a:avLst/>
                <a:gdLst>
                  <a:gd name="connsiteX0" fmla="*/ 68792 w 144992"/>
                  <a:gd name="connsiteY0" fmla="*/ 0 h 565150"/>
                  <a:gd name="connsiteX1" fmla="*/ 135467 w 144992"/>
                  <a:gd name="connsiteY1" fmla="*/ 44450 h 565150"/>
                  <a:gd name="connsiteX2" fmla="*/ 11642 w 144992"/>
                  <a:gd name="connsiteY2" fmla="*/ 257175 h 565150"/>
                  <a:gd name="connsiteX3" fmla="*/ 119592 w 144992"/>
                  <a:gd name="connsiteY3" fmla="*/ 304800 h 565150"/>
                  <a:gd name="connsiteX4" fmla="*/ 8467 w 144992"/>
                  <a:gd name="connsiteY4" fmla="*/ 520700 h 565150"/>
                  <a:gd name="connsiteX5" fmla="*/ 68792 w 144992"/>
                  <a:gd name="connsiteY5" fmla="*/ 565150 h 56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4992" h="565150">
                    <a:moveTo>
                      <a:pt x="68792" y="0"/>
                    </a:moveTo>
                    <a:cubicBezTo>
                      <a:pt x="106892" y="794"/>
                      <a:pt x="144992" y="1588"/>
                      <a:pt x="135467" y="44450"/>
                    </a:cubicBezTo>
                    <a:cubicBezTo>
                      <a:pt x="125942" y="87312"/>
                      <a:pt x="14288" y="213783"/>
                      <a:pt x="11642" y="257175"/>
                    </a:cubicBezTo>
                    <a:cubicBezTo>
                      <a:pt x="8996" y="300567"/>
                      <a:pt x="120121" y="260879"/>
                      <a:pt x="119592" y="304800"/>
                    </a:cubicBezTo>
                    <a:cubicBezTo>
                      <a:pt x="119063" y="348721"/>
                      <a:pt x="16934" y="477308"/>
                      <a:pt x="8467" y="520700"/>
                    </a:cubicBezTo>
                    <a:cubicBezTo>
                      <a:pt x="0" y="564092"/>
                      <a:pt x="101600" y="550863"/>
                      <a:pt x="68792" y="565150"/>
                    </a:cubicBezTo>
                  </a:path>
                </a:pathLst>
              </a:custGeom>
              <a:ln w="28575">
                <a:solidFill>
                  <a:srgbClr val="FDD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4418227" y="2156504"/>
                <a:ext cx="20313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rPr>
                  <a:t>单进程多线程系统</a:t>
                </a: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4938241" y="4013892"/>
                <a:ext cx="13388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b="1" dirty="0">
                    <a:solidFill>
                      <a:srgbClr val="11576A"/>
                    </a:solidFill>
                    <a:latin typeface="微软雅黑" pitchFamily="34" charset="-122"/>
                    <a:ea typeface="微软雅黑" pitchFamily="34" charset="-122"/>
                  </a:rPr>
                  <a:t>多线程系统</a:t>
                </a:r>
              </a:p>
            </p:txBody>
          </p:sp>
        </p:grpSp>
        <p:cxnSp>
          <p:nvCxnSpPr>
            <p:cNvPr id="69" name="直接连接符 68"/>
            <p:cNvCxnSpPr/>
            <p:nvPr/>
          </p:nvCxnSpPr>
          <p:spPr>
            <a:xfrm>
              <a:off x="3842707" y="2834692"/>
              <a:ext cx="3174233" cy="2308"/>
            </a:xfrm>
            <a:prstGeom prst="line">
              <a:avLst/>
            </a:prstGeom>
            <a:ln w="28575">
              <a:solidFill>
                <a:srgbClr val="11576A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标题 12">
            <a:extLst>
              <a:ext uri="{FF2B5EF4-FFF2-40B4-BE49-F238E27FC236}">
                <a16:creationId xmlns:a16="http://schemas.microsoft.com/office/drawing/2014/main" id="{F7026ADB-9CF7-1ED8-B9B9-06D2CA977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不同操作系统对线程的支持</a:t>
            </a:r>
          </a:p>
        </p:txBody>
      </p:sp>
      <p:sp>
        <p:nvSpPr>
          <p:cNvPr id="16" name="灯片编号占位符 5">
            <a:extLst>
              <a:ext uri="{FF2B5EF4-FFF2-40B4-BE49-F238E27FC236}">
                <a16:creationId xmlns:a16="http://schemas.microsoft.com/office/drawing/2014/main" id="{43755EF7-3376-BD23-24B9-3BB02B51C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</p:spPr>
        <p:txBody>
          <a:bodyPr/>
          <a:lstStyle/>
          <a:p>
            <a:pPr algn="r" defTabSz="914400" fontAlgn="base">
              <a:spcAft>
                <a:spcPct val="0"/>
              </a:spcAft>
              <a:defRPr/>
            </a:pPr>
            <a:fld id="{B40D5C89-3F50-4E78-90D8-3CB123F8C3B8}" type="slidenum">
              <a:rPr lang="en-US" altLang="ko-KR">
                <a:solidFill>
                  <a:srgbClr val="FFFFFF"/>
                </a:solidFill>
                <a:latin typeface="Verdana" panose="020B0604030504040204" pitchFamily="34" charset="0"/>
              </a:rPr>
              <a:pPr algn="r" defTabSz="914400" fontAlgn="base">
                <a:spcAft>
                  <a:spcPct val="0"/>
                </a:spcAft>
                <a:defRPr/>
              </a:pPr>
              <a:t>24</a:t>
            </a:fld>
            <a:endParaRPr lang="en-US" altLang="ko-KR" dirty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866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95400" y="1552258"/>
            <a:ext cx="5941898" cy="414330"/>
            <a:chOff x="842710" y="998766"/>
            <a:chExt cx="5941898" cy="414330"/>
          </a:xfrm>
        </p:grpSpPr>
        <p:sp>
          <p:nvSpPr>
            <p:cNvPr id="12293" name="Rectangle 3"/>
            <p:cNvSpPr>
              <a:spLocks noChangeArrowheads="1"/>
            </p:cNvSpPr>
            <p:nvPr/>
          </p:nvSpPr>
          <p:spPr bwMode="auto">
            <a:xfrm>
              <a:off x="1171352" y="998766"/>
              <a:ext cx="5613256" cy="414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 defTabSz="9144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66"/>
                </a:buClr>
                <a:buSzPct val="75000"/>
                <a:defRPr/>
              </a:pPr>
              <a:r>
                <a:rPr lang="zh-CN" altLang="en-US" sz="2000" b="1" dirty="0">
                  <a:solidFill>
                    <a:srgbClr val="11576A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进程是资源分配单位，线程是</a:t>
              </a:r>
              <a:r>
                <a:rPr lang="en-US" altLang="en-US" sz="2000" b="1" dirty="0">
                  <a:solidFill>
                    <a:srgbClr val="11576A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CPU</a:t>
              </a:r>
              <a:r>
                <a:rPr lang="zh-CN" altLang="en-US" sz="2000" b="1" dirty="0">
                  <a:solidFill>
                    <a:srgbClr val="11576A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调度单位</a:t>
              </a:r>
              <a:endParaRPr lang="en-US" altLang="zh-CN" sz="2000" b="1" dirty="0">
                <a:solidFill>
                  <a:srgbClr val="11576A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42710" y="1012986"/>
              <a:ext cx="403482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defTabSz="914400" eaLnBrk="0" fontAlgn="base" hangingPunct="0">
                <a:spcBef>
                  <a:spcPct val="20000"/>
                </a:spcBef>
                <a:spcAft>
                  <a:spcPct val="0"/>
                </a:spcAft>
                <a:defRPr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95400" y="2361596"/>
            <a:ext cx="9753524" cy="400110"/>
            <a:chOff x="842710" y="1998604"/>
            <a:chExt cx="9753524" cy="400110"/>
          </a:xfrm>
        </p:grpSpPr>
        <p:sp>
          <p:nvSpPr>
            <p:cNvPr id="7" name="TextBox 6"/>
            <p:cNvSpPr txBox="1"/>
            <p:nvPr/>
          </p:nvSpPr>
          <p:spPr>
            <a:xfrm>
              <a:off x="842710" y="1998604"/>
              <a:ext cx="403482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defTabSz="914400" eaLnBrk="0" fontAlgn="base" hangingPunct="0">
                <a:spcBef>
                  <a:spcPct val="20000"/>
                </a:spcBef>
                <a:spcAft>
                  <a:spcPct val="0"/>
                </a:spcAft>
                <a:defRPr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199899" y="1998604"/>
              <a:ext cx="939633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4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66"/>
                </a:buClr>
                <a:buSzPct val="75000"/>
                <a:defRPr/>
              </a:pPr>
              <a:r>
                <a:rPr lang="zh-CN" altLang="en-US" sz="2000" b="1" dirty="0">
                  <a:solidFill>
                    <a:srgbClr val="11576A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线程具有就绪、等待和运行三种基本状态和状态间的转换关系</a:t>
              </a:r>
              <a:endParaRPr lang="en-US" altLang="zh-CN" sz="2000" b="1" dirty="0">
                <a:solidFill>
                  <a:srgbClr val="11576A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95400" y="1942775"/>
            <a:ext cx="10153574" cy="414330"/>
            <a:chOff x="842710" y="1341658"/>
            <a:chExt cx="10153574" cy="414330"/>
          </a:xfrm>
        </p:grpSpPr>
        <p:sp>
          <p:nvSpPr>
            <p:cNvPr id="21" name="Rectangle 3"/>
            <p:cNvSpPr>
              <a:spLocks noChangeArrowheads="1"/>
            </p:cNvSpPr>
            <p:nvPr/>
          </p:nvSpPr>
          <p:spPr bwMode="auto">
            <a:xfrm>
              <a:off x="1171351" y="1341658"/>
              <a:ext cx="9824933" cy="414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66"/>
                </a:buClr>
                <a:buSzPct val="75000"/>
                <a:defRPr/>
              </a:pPr>
              <a:r>
                <a:rPr lang="zh-CN" altLang="en-US" sz="2000" b="1" dirty="0">
                  <a:solidFill>
                    <a:srgbClr val="11576A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进程拥有一个完整的资源平台，而线程只独享指令流执行的必要资源，如寄存器和栈</a:t>
              </a:r>
              <a:endParaRPr lang="en-US" altLang="zh-CN" sz="2000" b="1" dirty="0">
                <a:solidFill>
                  <a:srgbClr val="11576A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42710" y="1355878"/>
              <a:ext cx="403482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defTabSz="914400" eaLnBrk="0" fontAlgn="base" hangingPunct="0">
                <a:spcBef>
                  <a:spcPct val="20000"/>
                </a:spcBef>
                <a:spcAft>
                  <a:spcPct val="0"/>
                </a:spcAft>
                <a:defRPr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95400" y="2780984"/>
            <a:ext cx="9677324" cy="1757432"/>
            <a:chOff x="842710" y="2627542"/>
            <a:chExt cx="9677324" cy="1757432"/>
          </a:xfrm>
        </p:grpSpPr>
        <p:sp>
          <p:nvSpPr>
            <p:cNvPr id="8" name="TextBox 7"/>
            <p:cNvSpPr txBox="1"/>
            <p:nvPr/>
          </p:nvSpPr>
          <p:spPr>
            <a:xfrm>
              <a:off x="842710" y="2627542"/>
              <a:ext cx="403482" cy="40011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marL="342900" indent="-342900" defTabSz="914400" eaLnBrk="0" fontAlgn="base" hangingPunct="0">
                <a:spcBef>
                  <a:spcPct val="20000"/>
                </a:spcBef>
                <a:spcAft>
                  <a:spcPct val="0"/>
                </a:spcAft>
                <a:defRPr/>
              </a:pPr>
              <a:r>
                <a:rPr lang="zh-CN" altLang="en-US" sz="2000" b="1" dirty="0">
                  <a:solidFill>
                    <a:srgbClr val="11576A"/>
                  </a:solidFill>
                  <a:latin typeface="张海山锐谐体2.0-授权联系：Samtype@QQ.com" pitchFamily="2" charset="-122"/>
                  <a:ea typeface="张海山锐谐体2.0-授权联系：Samtype@QQ.com" pitchFamily="2" charset="-122"/>
                </a:rPr>
                <a:t>■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13" name="图片 12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5026" y="3113094"/>
              <a:ext cx="140641" cy="148997"/>
            </a:xfrm>
            <a:prstGeom prst="rect">
              <a:avLst/>
            </a:prstGeom>
            <a:effectLst/>
          </p:spPr>
        </p:pic>
        <p:sp>
          <p:nvSpPr>
            <p:cNvPr id="19" name="矩形 18"/>
            <p:cNvSpPr/>
            <p:nvPr/>
          </p:nvSpPr>
          <p:spPr>
            <a:xfrm>
              <a:off x="1199900" y="2627542"/>
              <a:ext cx="558667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 defTabSz="9144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66"/>
                </a:buClr>
                <a:buSzPct val="75000"/>
                <a:defRPr/>
              </a:pPr>
              <a:r>
                <a:rPr lang="zh-CN" altLang="en-US" sz="2000" b="1" dirty="0">
                  <a:solidFill>
                    <a:srgbClr val="11576A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线程能减少并发执行的时间和空间开销</a:t>
              </a:r>
              <a:endParaRPr lang="en-US" altLang="zh-CN" sz="2000" b="1" dirty="0">
                <a:solidFill>
                  <a:srgbClr val="11576A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1484520" y="2970218"/>
              <a:ext cx="312693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defTabSz="9144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66"/>
                </a:buClr>
                <a:buSzPct val="75000"/>
                <a:defRPr/>
              </a:pPr>
              <a:r>
                <a:rPr lang="zh-CN" altLang="en-US" sz="2000" b="1">
                  <a:solidFill>
                    <a:srgbClr val="11576A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线程的创建时间比进程短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3" name="图片 22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5026" y="3442388"/>
              <a:ext cx="140641" cy="148997"/>
            </a:xfrm>
            <a:prstGeom prst="rect">
              <a:avLst/>
            </a:prstGeom>
            <a:effectLst/>
          </p:spPr>
        </p:pic>
        <p:sp>
          <p:nvSpPr>
            <p:cNvPr id="24" name="矩形 23"/>
            <p:cNvSpPr/>
            <p:nvPr/>
          </p:nvSpPr>
          <p:spPr>
            <a:xfrm>
              <a:off x="1484520" y="3299512"/>
              <a:ext cx="312693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defTabSz="9144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66"/>
                </a:buClr>
                <a:buSzPct val="75000"/>
                <a:defRPr/>
              </a:pPr>
              <a:r>
                <a:rPr lang="zh-CN" altLang="en-US" sz="2000" b="1">
                  <a:solidFill>
                    <a:srgbClr val="11576A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线程的终止时间比进程短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5" name="图片 24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5026" y="3770550"/>
              <a:ext cx="140641" cy="148997"/>
            </a:xfrm>
            <a:prstGeom prst="rect">
              <a:avLst/>
            </a:prstGeom>
            <a:effectLst/>
          </p:spPr>
        </p:pic>
        <p:sp>
          <p:nvSpPr>
            <p:cNvPr id="26" name="矩形 25"/>
            <p:cNvSpPr/>
            <p:nvPr/>
          </p:nvSpPr>
          <p:spPr>
            <a:xfrm>
              <a:off x="1484520" y="3627674"/>
              <a:ext cx="467165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defTabSz="9144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66"/>
                </a:buClr>
                <a:buSzPct val="75000"/>
                <a:defRPr/>
              </a:pPr>
              <a:r>
                <a:rPr lang="zh-CN" altLang="en-US" sz="2000" b="1" dirty="0">
                  <a:solidFill>
                    <a:srgbClr val="11576A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同一进程内的线程切换时间比进程短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pic>
          <p:nvPicPr>
            <p:cNvPr id="27" name="图片 26" descr="小点1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5026" y="4127740"/>
              <a:ext cx="140641" cy="148997"/>
            </a:xfrm>
            <a:prstGeom prst="rect">
              <a:avLst/>
            </a:prstGeom>
            <a:effectLst/>
          </p:spPr>
        </p:pic>
        <p:sp>
          <p:nvSpPr>
            <p:cNvPr id="28" name="矩形 27"/>
            <p:cNvSpPr/>
            <p:nvPr/>
          </p:nvSpPr>
          <p:spPr>
            <a:xfrm>
              <a:off x="1484519" y="3984864"/>
              <a:ext cx="903551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defTabSz="9144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66"/>
                </a:buClr>
                <a:buSzPct val="75000"/>
                <a:defRPr/>
              </a:pPr>
              <a:r>
                <a:rPr lang="zh-CN" altLang="en-US" sz="2000" b="1" dirty="0">
                  <a:solidFill>
                    <a:srgbClr val="11576A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由于同一进程的各线程间共享内存和文件资源，可不通过内核进行直接通信</a:t>
              </a:r>
              <a:endParaRPr lang="zh-CN" altLang="en-US" sz="20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7" name="标题 16">
            <a:extLst>
              <a:ext uri="{FF2B5EF4-FFF2-40B4-BE49-F238E27FC236}">
                <a16:creationId xmlns:a16="http://schemas.microsoft.com/office/drawing/2014/main" id="{B6DD8EDA-C56F-4819-65F7-F5EF6B5A1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线程与进程的比较 </a:t>
            </a:r>
          </a:p>
        </p:txBody>
      </p:sp>
      <p:sp>
        <p:nvSpPr>
          <p:cNvPr id="30" name="灯片编号占位符 5">
            <a:extLst>
              <a:ext uri="{FF2B5EF4-FFF2-40B4-BE49-F238E27FC236}">
                <a16:creationId xmlns:a16="http://schemas.microsoft.com/office/drawing/2014/main" id="{E689281C-15EC-C39C-FD20-218D5CBAA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</p:spPr>
        <p:txBody>
          <a:bodyPr/>
          <a:lstStyle/>
          <a:p>
            <a:pPr algn="r" defTabSz="914400" fontAlgn="base">
              <a:spcAft>
                <a:spcPct val="0"/>
              </a:spcAft>
              <a:defRPr/>
            </a:pPr>
            <a:fld id="{B40D5C89-3F50-4E78-90D8-3CB123F8C3B8}" type="slidenum">
              <a:rPr lang="en-US" altLang="ko-KR">
                <a:solidFill>
                  <a:srgbClr val="FFFFFF"/>
                </a:solidFill>
                <a:latin typeface="Verdana" panose="020B0604030504040204" pitchFamily="34" charset="0"/>
              </a:rPr>
              <a:pPr algn="r" defTabSz="914400" fontAlgn="base">
                <a:spcAft>
                  <a:spcPct val="0"/>
                </a:spcAft>
                <a:defRPr/>
              </a:pPr>
              <a:t>25</a:t>
            </a:fld>
            <a:endParaRPr lang="en-US" altLang="ko-KR" dirty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312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815960" y="1585054"/>
            <a:ext cx="3643338" cy="2115607"/>
            <a:chOff x="785786" y="1000114"/>
            <a:chExt cx="3643338" cy="2115607"/>
          </a:xfrm>
        </p:grpSpPr>
        <p:sp>
          <p:nvSpPr>
            <p:cNvPr id="7" name="矩形 6"/>
            <p:cNvSpPr/>
            <p:nvPr/>
          </p:nvSpPr>
          <p:spPr>
            <a:xfrm>
              <a:off x="785786" y="1000114"/>
              <a:ext cx="3643338" cy="1789123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1089636" y="1319204"/>
              <a:ext cx="105600" cy="1052252"/>
              <a:chOff x="1089636" y="1319204"/>
              <a:chExt cx="105600" cy="1052252"/>
            </a:xfrm>
          </p:grpSpPr>
          <p:sp>
            <p:nvSpPr>
              <p:cNvPr id="10" name="任意多边形 9"/>
              <p:cNvSpPr>
                <a:spLocks noChangeAspect="1"/>
              </p:cNvSpPr>
              <p:nvPr/>
            </p:nvSpPr>
            <p:spPr>
              <a:xfrm>
                <a:off x="1089636" y="1319204"/>
                <a:ext cx="105600" cy="576000"/>
              </a:xfrm>
              <a:custGeom>
                <a:avLst/>
                <a:gdLst>
                  <a:gd name="connsiteX0" fmla="*/ 72390 w 97790"/>
                  <a:gd name="connsiteY0" fmla="*/ 0 h 533400"/>
                  <a:gd name="connsiteX1" fmla="*/ 19050 w 97790"/>
                  <a:gd name="connsiteY1" fmla="*/ 83820 h 533400"/>
                  <a:gd name="connsiteX2" fmla="*/ 95250 w 97790"/>
                  <a:gd name="connsiteY2" fmla="*/ 213360 h 533400"/>
                  <a:gd name="connsiteX3" fmla="*/ 3810 w 97790"/>
                  <a:gd name="connsiteY3" fmla="*/ 342900 h 533400"/>
                  <a:gd name="connsiteX4" fmla="*/ 72390 w 97790"/>
                  <a:gd name="connsiteY4" fmla="*/ 480060 h 533400"/>
                  <a:gd name="connsiteX5" fmla="*/ 34290 w 97790"/>
                  <a:gd name="connsiteY5" fmla="*/ 533400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7790" h="533400">
                    <a:moveTo>
                      <a:pt x="72390" y="0"/>
                    </a:moveTo>
                    <a:cubicBezTo>
                      <a:pt x="43815" y="24130"/>
                      <a:pt x="15240" y="48260"/>
                      <a:pt x="19050" y="83820"/>
                    </a:cubicBezTo>
                    <a:cubicBezTo>
                      <a:pt x="22860" y="119380"/>
                      <a:pt x="97790" y="170180"/>
                      <a:pt x="95250" y="213360"/>
                    </a:cubicBezTo>
                    <a:cubicBezTo>
                      <a:pt x="92710" y="256540"/>
                      <a:pt x="7620" y="298450"/>
                      <a:pt x="3810" y="342900"/>
                    </a:cubicBezTo>
                    <a:cubicBezTo>
                      <a:pt x="0" y="387350"/>
                      <a:pt x="67310" y="448310"/>
                      <a:pt x="72390" y="480060"/>
                    </a:cubicBezTo>
                    <a:cubicBezTo>
                      <a:pt x="77470" y="511810"/>
                      <a:pt x="55880" y="522605"/>
                      <a:pt x="34290" y="533400"/>
                    </a:cubicBezTo>
                  </a:path>
                </a:pathLst>
              </a:custGeom>
              <a:ln w="3810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cxnSp>
            <p:nvCxnSpPr>
              <p:cNvPr id="14" name="直接连接符 13"/>
              <p:cNvCxnSpPr/>
              <p:nvPr/>
            </p:nvCxnSpPr>
            <p:spPr>
              <a:xfrm rot="5400000" flipH="1" flipV="1">
                <a:off x="908819" y="2156349"/>
                <a:ext cx="430214" cy="0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/>
            <p:cNvSpPr txBox="1"/>
            <p:nvPr/>
          </p:nvSpPr>
          <p:spPr>
            <a:xfrm>
              <a:off x="2174436" y="2777167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6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一对一</a:t>
              </a: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1518264" y="1319204"/>
              <a:ext cx="105600" cy="1052252"/>
              <a:chOff x="1089636" y="1319204"/>
              <a:chExt cx="105600" cy="1052252"/>
            </a:xfrm>
          </p:grpSpPr>
          <p:sp>
            <p:nvSpPr>
              <p:cNvPr id="38" name="任意多边形 37"/>
              <p:cNvSpPr>
                <a:spLocks noChangeAspect="1"/>
              </p:cNvSpPr>
              <p:nvPr/>
            </p:nvSpPr>
            <p:spPr>
              <a:xfrm>
                <a:off x="1089636" y="1319204"/>
                <a:ext cx="105600" cy="576000"/>
              </a:xfrm>
              <a:custGeom>
                <a:avLst/>
                <a:gdLst>
                  <a:gd name="connsiteX0" fmla="*/ 72390 w 97790"/>
                  <a:gd name="connsiteY0" fmla="*/ 0 h 533400"/>
                  <a:gd name="connsiteX1" fmla="*/ 19050 w 97790"/>
                  <a:gd name="connsiteY1" fmla="*/ 83820 h 533400"/>
                  <a:gd name="connsiteX2" fmla="*/ 95250 w 97790"/>
                  <a:gd name="connsiteY2" fmla="*/ 213360 h 533400"/>
                  <a:gd name="connsiteX3" fmla="*/ 3810 w 97790"/>
                  <a:gd name="connsiteY3" fmla="*/ 342900 h 533400"/>
                  <a:gd name="connsiteX4" fmla="*/ 72390 w 97790"/>
                  <a:gd name="connsiteY4" fmla="*/ 480060 h 533400"/>
                  <a:gd name="connsiteX5" fmla="*/ 34290 w 97790"/>
                  <a:gd name="connsiteY5" fmla="*/ 533400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7790" h="533400">
                    <a:moveTo>
                      <a:pt x="72390" y="0"/>
                    </a:moveTo>
                    <a:cubicBezTo>
                      <a:pt x="43815" y="24130"/>
                      <a:pt x="15240" y="48260"/>
                      <a:pt x="19050" y="83820"/>
                    </a:cubicBezTo>
                    <a:cubicBezTo>
                      <a:pt x="22860" y="119380"/>
                      <a:pt x="97790" y="170180"/>
                      <a:pt x="95250" y="213360"/>
                    </a:cubicBezTo>
                    <a:cubicBezTo>
                      <a:pt x="92710" y="256540"/>
                      <a:pt x="7620" y="298450"/>
                      <a:pt x="3810" y="342900"/>
                    </a:cubicBezTo>
                    <a:cubicBezTo>
                      <a:pt x="0" y="387350"/>
                      <a:pt x="67310" y="448310"/>
                      <a:pt x="72390" y="480060"/>
                    </a:cubicBezTo>
                    <a:cubicBezTo>
                      <a:pt x="77470" y="511810"/>
                      <a:pt x="55880" y="522605"/>
                      <a:pt x="34290" y="533400"/>
                    </a:cubicBezTo>
                  </a:path>
                </a:pathLst>
              </a:custGeom>
              <a:ln w="3810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cxnSp>
            <p:nvCxnSpPr>
              <p:cNvPr id="41" name="直接连接符 40"/>
              <p:cNvCxnSpPr/>
              <p:nvPr/>
            </p:nvCxnSpPr>
            <p:spPr>
              <a:xfrm rot="5400000" flipH="1" flipV="1">
                <a:off x="908819" y="2156349"/>
                <a:ext cx="430214" cy="0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2" name="组合 41"/>
            <p:cNvGrpSpPr/>
            <p:nvPr/>
          </p:nvGrpSpPr>
          <p:grpSpPr>
            <a:xfrm>
              <a:off x="1946892" y="1319204"/>
              <a:ext cx="105600" cy="1052252"/>
              <a:chOff x="1089636" y="1319204"/>
              <a:chExt cx="105600" cy="1052252"/>
            </a:xfrm>
          </p:grpSpPr>
          <p:sp>
            <p:nvSpPr>
              <p:cNvPr id="43" name="任意多边形 42"/>
              <p:cNvSpPr>
                <a:spLocks noChangeAspect="1"/>
              </p:cNvSpPr>
              <p:nvPr/>
            </p:nvSpPr>
            <p:spPr>
              <a:xfrm>
                <a:off x="1089636" y="1319204"/>
                <a:ext cx="105600" cy="576000"/>
              </a:xfrm>
              <a:custGeom>
                <a:avLst/>
                <a:gdLst>
                  <a:gd name="connsiteX0" fmla="*/ 72390 w 97790"/>
                  <a:gd name="connsiteY0" fmla="*/ 0 h 533400"/>
                  <a:gd name="connsiteX1" fmla="*/ 19050 w 97790"/>
                  <a:gd name="connsiteY1" fmla="*/ 83820 h 533400"/>
                  <a:gd name="connsiteX2" fmla="*/ 95250 w 97790"/>
                  <a:gd name="connsiteY2" fmla="*/ 213360 h 533400"/>
                  <a:gd name="connsiteX3" fmla="*/ 3810 w 97790"/>
                  <a:gd name="connsiteY3" fmla="*/ 342900 h 533400"/>
                  <a:gd name="connsiteX4" fmla="*/ 72390 w 97790"/>
                  <a:gd name="connsiteY4" fmla="*/ 480060 h 533400"/>
                  <a:gd name="connsiteX5" fmla="*/ 34290 w 97790"/>
                  <a:gd name="connsiteY5" fmla="*/ 533400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7790" h="533400">
                    <a:moveTo>
                      <a:pt x="72390" y="0"/>
                    </a:moveTo>
                    <a:cubicBezTo>
                      <a:pt x="43815" y="24130"/>
                      <a:pt x="15240" y="48260"/>
                      <a:pt x="19050" y="83820"/>
                    </a:cubicBezTo>
                    <a:cubicBezTo>
                      <a:pt x="22860" y="119380"/>
                      <a:pt x="97790" y="170180"/>
                      <a:pt x="95250" y="213360"/>
                    </a:cubicBezTo>
                    <a:cubicBezTo>
                      <a:pt x="92710" y="256540"/>
                      <a:pt x="7620" y="298450"/>
                      <a:pt x="3810" y="342900"/>
                    </a:cubicBezTo>
                    <a:cubicBezTo>
                      <a:pt x="0" y="387350"/>
                      <a:pt x="67310" y="448310"/>
                      <a:pt x="72390" y="480060"/>
                    </a:cubicBezTo>
                    <a:cubicBezTo>
                      <a:pt x="77470" y="511810"/>
                      <a:pt x="55880" y="522605"/>
                      <a:pt x="34290" y="533400"/>
                    </a:cubicBezTo>
                  </a:path>
                </a:pathLst>
              </a:custGeom>
              <a:ln w="38100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cxnSp>
            <p:nvCxnSpPr>
              <p:cNvPr id="46" name="直接连接符 45"/>
              <p:cNvCxnSpPr/>
              <p:nvPr/>
            </p:nvCxnSpPr>
            <p:spPr>
              <a:xfrm rot="5400000" flipH="1" flipV="1">
                <a:off x="908819" y="2156349"/>
                <a:ext cx="430214" cy="0"/>
              </a:xfrm>
              <a:prstGeom prst="line">
                <a:avLst/>
              </a:prstGeom>
              <a:ln w="28575">
                <a:solidFill>
                  <a:srgbClr val="1157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任意多边形 47"/>
            <p:cNvSpPr>
              <a:spLocks noChangeAspect="1"/>
            </p:cNvSpPr>
            <p:nvPr/>
          </p:nvSpPr>
          <p:spPr>
            <a:xfrm>
              <a:off x="2375520" y="1319204"/>
              <a:ext cx="105600" cy="576000"/>
            </a:xfrm>
            <a:custGeom>
              <a:avLst/>
              <a:gdLst>
                <a:gd name="connsiteX0" fmla="*/ 72390 w 97790"/>
                <a:gd name="connsiteY0" fmla="*/ 0 h 533400"/>
                <a:gd name="connsiteX1" fmla="*/ 19050 w 97790"/>
                <a:gd name="connsiteY1" fmla="*/ 83820 h 533400"/>
                <a:gd name="connsiteX2" fmla="*/ 95250 w 97790"/>
                <a:gd name="connsiteY2" fmla="*/ 213360 h 533400"/>
                <a:gd name="connsiteX3" fmla="*/ 3810 w 97790"/>
                <a:gd name="connsiteY3" fmla="*/ 342900 h 533400"/>
                <a:gd name="connsiteX4" fmla="*/ 72390 w 97790"/>
                <a:gd name="connsiteY4" fmla="*/ 480060 h 533400"/>
                <a:gd name="connsiteX5" fmla="*/ 34290 w 97790"/>
                <a:gd name="connsiteY5" fmla="*/ 5334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790" h="533400">
                  <a:moveTo>
                    <a:pt x="72390" y="0"/>
                  </a:moveTo>
                  <a:cubicBezTo>
                    <a:pt x="43815" y="24130"/>
                    <a:pt x="15240" y="48260"/>
                    <a:pt x="19050" y="83820"/>
                  </a:cubicBezTo>
                  <a:cubicBezTo>
                    <a:pt x="22860" y="119380"/>
                    <a:pt x="97790" y="170180"/>
                    <a:pt x="95250" y="213360"/>
                  </a:cubicBezTo>
                  <a:cubicBezTo>
                    <a:pt x="92710" y="256540"/>
                    <a:pt x="7620" y="298450"/>
                    <a:pt x="3810" y="342900"/>
                  </a:cubicBezTo>
                  <a:cubicBezTo>
                    <a:pt x="0" y="387350"/>
                    <a:pt x="67310" y="448310"/>
                    <a:pt x="72390" y="480060"/>
                  </a:cubicBezTo>
                  <a:cubicBezTo>
                    <a:pt x="77470" y="511810"/>
                    <a:pt x="55880" y="522605"/>
                    <a:pt x="34290" y="533400"/>
                  </a:cubicBezTo>
                </a:path>
              </a:pathLst>
            </a:custGeom>
            <a:ln w="3810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2214546" y="2371456"/>
              <a:ext cx="360000" cy="363542"/>
              <a:chOff x="2214546" y="2371456"/>
              <a:chExt cx="360000" cy="363542"/>
            </a:xfrm>
          </p:grpSpPr>
          <p:sp>
            <p:nvSpPr>
              <p:cNvPr id="49" name="椭圆 48"/>
              <p:cNvSpPr>
                <a:spLocks noChangeAspect="1"/>
              </p:cNvSpPr>
              <p:nvPr/>
            </p:nvSpPr>
            <p:spPr>
              <a:xfrm>
                <a:off x="2214546" y="2374998"/>
                <a:ext cx="360000" cy="360000"/>
              </a:xfrm>
              <a:prstGeom prst="ellipse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2230879" y="2371456"/>
                <a:ext cx="32733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1600" b="1" dirty="0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</a:rPr>
                  <a:t>K</a:t>
                </a:r>
                <a:endParaRPr lang="zh-CN" altLang="en-US" sz="16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cxnSp>
          <p:nvCxnSpPr>
            <p:cNvPr id="51" name="直接连接符 50"/>
            <p:cNvCxnSpPr/>
            <p:nvPr/>
          </p:nvCxnSpPr>
          <p:spPr>
            <a:xfrm rot="5400000" flipH="1" flipV="1">
              <a:off x="2194703" y="2156349"/>
              <a:ext cx="430214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3182144" y="1390240"/>
              <a:ext cx="95410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6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用户线程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016257" y="2395536"/>
              <a:ext cx="95410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6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内核线程</a:t>
              </a:r>
            </a:p>
          </p:txBody>
        </p:sp>
        <p:cxnSp>
          <p:nvCxnSpPr>
            <p:cNvPr id="56" name="直接箭头连接符 55"/>
            <p:cNvCxnSpPr>
              <a:stCxn id="53" idx="1"/>
            </p:cNvCxnSpPr>
            <p:nvPr/>
          </p:nvCxnSpPr>
          <p:spPr>
            <a:xfrm flipH="1">
              <a:off x="2628772" y="1559517"/>
              <a:ext cx="553372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/>
            <p:cNvCxnSpPr/>
            <p:nvPr/>
          </p:nvCxnSpPr>
          <p:spPr>
            <a:xfrm rot="10800000">
              <a:off x="2684133" y="2571750"/>
              <a:ext cx="396000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组合 69"/>
            <p:cNvGrpSpPr/>
            <p:nvPr/>
          </p:nvGrpSpPr>
          <p:grpSpPr>
            <a:xfrm>
              <a:off x="1801182" y="2383042"/>
              <a:ext cx="360000" cy="363542"/>
              <a:chOff x="2214546" y="2371456"/>
              <a:chExt cx="360000" cy="363542"/>
            </a:xfrm>
          </p:grpSpPr>
          <p:sp>
            <p:nvSpPr>
              <p:cNvPr id="74" name="椭圆 73"/>
              <p:cNvSpPr>
                <a:spLocks noChangeAspect="1"/>
              </p:cNvSpPr>
              <p:nvPr/>
            </p:nvSpPr>
            <p:spPr>
              <a:xfrm>
                <a:off x="2214546" y="2374998"/>
                <a:ext cx="360000" cy="360000"/>
              </a:xfrm>
              <a:prstGeom prst="ellipse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75" name="TextBox 49"/>
              <p:cNvSpPr txBox="1"/>
              <p:nvPr/>
            </p:nvSpPr>
            <p:spPr>
              <a:xfrm>
                <a:off x="2230879" y="2371456"/>
                <a:ext cx="32733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1600" b="1" dirty="0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</a:rPr>
                  <a:t>K</a:t>
                </a:r>
                <a:endParaRPr lang="zh-CN" altLang="en-US" sz="16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77" name="组合 76"/>
            <p:cNvGrpSpPr/>
            <p:nvPr/>
          </p:nvGrpSpPr>
          <p:grpSpPr>
            <a:xfrm>
              <a:off x="1372554" y="2392328"/>
              <a:ext cx="360000" cy="363542"/>
              <a:chOff x="2214546" y="2371456"/>
              <a:chExt cx="360000" cy="363542"/>
            </a:xfrm>
          </p:grpSpPr>
          <p:sp>
            <p:nvSpPr>
              <p:cNvPr id="78" name="椭圆 77"/>
              <p:cNvSpPr>
                <a:spLocks noChangeAspect="1"/>
              </p:cNvSpPr>
              <p:nvPr/>
            </p:nvSpPr>
            <p:spPr>
              <a:xfrm>
                <a:off x="2214546" y="2374998"/>
                <a:ext cx="360000" cy="360000"/>
              </a:xfrm>
              <a:prstGeom prst="ellipse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79" name="TextBox 49"/>
              <p:cNvSpPr txBox="1"/>
              <p:nvPr/>
            </p:nvSpPr>
            <p:spPr>
              <a:xfrm>
                <a:off x="2230879" y="2371456"/>
                <a:ext cx="32733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1600" b="1" dirty="0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</a:rPr>
                  <a:t>K</a:t>
                </a:r>
                <a:endParaRPr lang="zh-CN" altLang="en-US" sz="16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84" name="组合 83"/>
            <p:cNvGrpSpPr/>
            <p:nvPr/>
          </p:nvGrpSpPr>
          <p:grpSpPr>
            <a:xfrm>
              <a:off x="941651" y="2390360"/>
              <a:ext cx="360000" cy="363542"/>
              <a:chOff x="2214546" y="2371456"/>
              <a:chExt cx="360000" cy="363542"/>
            </a:xfrm>
          </p:grpSpPr>
          <p:sp>
            <p:nvSpPr>
              <p:cNvPr id="85" name="椭圆 84"/>
              <p:cNvSpPr>
                <a:spLocks noChangeAspect="1"/>
              </p:cNvSpPr>
              <p:nvPr/>
            </p:nvSpPr>
            <p:spPr>
              <a:xfrm>
                <a:off x="2214546" y="2374998"/>
                <a:ext cx="360000" cy="360000"/>
              </a:xfrm>
              <a:prstGeom prst="ellipse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86" name="TextBox 49"/>
              <p:cNvSpPr txBox="1"/>
              <p:nvPr/>
            </p:nvSpPr>
            <p:spPr>
              <a:xfrm>
                <a:off x="2230879" y="2371456"/>
                <a:ext cx="32733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1600" b="1" dirty="0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</a:rPr>
                  <a:t>K</a:t>
                </a:r>
                <a:endParaRPr lang="zh-CN" altLang="en-US" sz="16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6269086" y="1616431"/>
            <a:ext cx="3643338" cy="2108213"/>
            <a:chOff x="4698983" y="1000114"/>
            <a:chExt cx="3643338" cy="2108213"/>
          </a:xfrm>
        </p:grpSpPr>
        <p:sp>
          <p:nvSpPr>
            <p:cNvPr id="58" name="矩形 57"/>
            <p:cNvSpPr/>
            <p:nvPr/>
          </p:nvSpPr>
          <p:spPr>
            <a:xfrm>
              <a:off x="4698983" y="1000114"/>
              <a:ext cx="3643338" cy="1789123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0" name="任意多边形 59"/>
            <p:cNvSpPr>
              <a:spLocks noChangeAspect="1"/>
            </p:cNvSpPr>
            <p:nvPr/>
          </p:nvSpPr>
          <p:spPr>
            <a:xfrm>
              <a:off x="5114105" y="1319204"/>
              <a:ext cx="105600" cy="576000"/>
            </a:xfrm>
            <a:custGeom>
              <a:avLst/>
              <a:gdLst>
                <a:gd name="connsiteX0" fmla="*/ 72390 w 97790"/>
                <a:gd name="connsiteY0" fmla="*/ 0 h 533400"/>
                <a:gd name="connsiteX1" fmla="*/ 19050 w 97790"/>
                <a:gd name="connsiteY1" fmla="*/ 83820 h 533400"/>
                <a:gd name="connsiteX2" fmla="*/ 95250 w 97790"/>
                <a:gd name="connsiteY2" fmla="*/ 213360 h 533400"/>
                <a:gd name="connsiteX3" fmla="*/ 3810 w 97790"/>
                <a:gd name="connsiteY3" fmla="*/ 342900 h 533400"/>
                <a:gd name="connsiteX4" fmla="*/ 72390 w 97790"/>
                <a:gd name="connsiteY4" fmla="*/ 480060 h 533400"/>
                <a:gd name="connsiteX5" fmla="*/ 34290 w 97790"/>
                <a:gd name="connsiteY5" fmla="*/ 5334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790" h="533400">
                  <a:moveTo>
                    <a:pt x="72390" y="0"/>
                  </a:moveTo>
                  <a:cubicBezTo>
                    <a:pt x="43815" y="24130"/>
                    <a:pt x="15240" y="48260"/>
                    <a:pt x="19050" y="83820"/>
                  </a:cubicBezTo>
                  <a:cubicBezTo>
                    <a:pt x="22860" y="119380"/>
                    <a:pt x="97790" y="170180"/>
                    <a:pt x="95250" y="213360"/>
                  </a:cubicBezTo>
                  <a:cubicBezTo>
                    <a:pt x="92710" y="256540"/>
                    <a:pt x="7620" y="298450"/>
                    <a:pt x="3810" y="342900"/>
                  </a:cubicBezTo>
                  <a:cubicBezTo>
                    <a:pt x="0" y="387350"/>
                    <a:pt x="67310" y="448310"/>
                    <a:pt x="72390" y="480060"/>
                  </a:cubicBezTo>
                  <a:cubicBezTo>
                    <a:pt x="77470" y="511810"/>
                    <a:pt x="55880" y="522605"/>
                    <a:pt x="34290" y="533400"/>
                  </a:cubicBezTo>
                </a:path>
              </a:pathLst>
            </a:custGeom>
            <a:ln w="3810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192739" y="2769773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6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多对一</a:t>
              </a:r>
            </a:p>
          </p:txBody>
        </p:sp>
        <p:sp>
          <p:nvSpPr>
            <p:cNvPr id="66" name="任意多边形 65"/>
            <p:cNvSpPr>
              <a:spLocks noChangeAspect="1"/>
            </p:cNvSpPr>
            <p:nvPr/>
          </p:nvSpPr>
          <p:spPr>
            <a:xfrm>
              <a:off x="5542733" y="1185853"/>
              <a:ext cx="105600" cy="576000"/>
            </a:xfrm>
            <a:custGeom>
              <a:avLst/>
              <a:gdLst>
                <a:gd name="connsiteX0" fmla="*/ 72390 w 97790"/>
                <a:gd name="connsiteY0" fmla="*/ 0 h 533400"/>
                <a:gd name="connsiteX1" fmla="*/ 19050 w 97790"/>
                <a:gd name="connsiteY1" fmla="*/ 83820 h 533400"/>
                <a:gd name="connsiteX2" fmla="*/ 95250 w 97790"/>
                <a:gd name="connsiteY2" fmla="*/ 213360 h 533400"/>
                <a:gd name="connsiteX3" fmla="*/ 3810 w 97790"/>
                <a:gd name="connsiteY3" fmla="*/ 342900 h 533400"/>
                <a:gd name="connsiteX4" fmla="*/ 72390 w 97790"/>
                <a:gd name="connsiteY4" fmla="*/ 480060 h 533400"/>
                <a:gd name="connsiteX5" fmla="*/ 34290 w 97790"/>
                <a:gd name="connsiteY5" fmla="*/ 5334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790" h="533400">
                  <a:moveTo>
                    <a:pt x="72390" y="0"/>
                  </a:moveTo>
                  <a:cubicBezTo>
                    <a:pt x="43815" y="24130"/>
                    <a:pt x="15240" y="48260"/>
                    <a:pt x="19050" y="83820"/>
                  </a:cubicBezTo>
                  <a:cubicBezTo>
                    <a:pt x="22860" y="119380"/>
                    <a:pt x="97790" y="170180"/>
                    <a:pt x="95250" y="213360"/>
                  </a:cubicBezTo>
                  <a:cubicBezTo>
                    <a:pt x="92710" y="256540"/>
                    <a:pt x="7620" y="298450"/>
                    <a:pt x="3810" y="342900"/>
                  </a:cubicBezTo>
                  <a:cubicBezTo>
                    <a:pt x="0" y="387350"/>
                    <a:pt x="67310" y="448310"/>
                    <a:pt x="72390" y="480060"/>
                  </a:cubicBezTo>
                  <a:cubicBezTo>
                    <a:pt x="77470" y="511810"/>
                    <a:pt x="55880" y="522605"/>
                    <a:pt x="34290" y="533400"/>
                  </a:cubicBezTo>
                </a:path>
              </a:pathLst>
            </a:custGeom>
            <a:ln w="3810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71" name="任意多边形 70"/>
            <p:cNvSpPr>
              <a:spLocks noChangeAspect="1"/>
            </p:cNvSpPr>
            <p:nvPr/>
          </p:nvSpPr>
          <p:spPr>
            <a:xfrm>
              <a:off x="5971361" y="1185853"/>
              <a:ext cx="105600" cy="576000"/>
            </a:xfrm>
            <a:custGeom>
              <a:avLst/>
              <a:gdLst>
                <a:gd name="connsiteX0" fmla="*/ 72390 w 97790"/>
                <a:gd name="connsiteY0" fmla="*/ 0 h 533400"/>
                <a:gd name="connsiteX1" fmla="*/ 19050 w 97790"/>
                <a:gd name="connsiteY1" fmla="*/ 83820 h 533400"/>
                <a:gd name="connsiteX2" fmla="*/ 95250 w 97790"/>
                <a:gd name="connsiteY2" fmla="*/ 213360 h 533400"/>
                <a:gd name="connsiteX3" fmla="*/ 3810 w 97790"/>
                <a:gd name="connsiteY3" fmla="*/ 342900 h 533400"/>
                <a:gd name="connsiteX4" fmla="*/ 72390 w 97790"/>
                <a:gd name="connsiteY4" fmla="*/ 480060 h 533400"/>
                <a:gd name="connsiteX5" fmla="*/ 34290 w 97790"/>
                <a:gd name="connsiteY5" fmla="*/ 5334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790" h="533400">
                  <a:moveTo>
                    <a:pt x="72390" y="0"/>
                  </a:moveTo>
                  <a:cubicBezTo>
                    <a:pt x="43815" y="24130"/>
                    <a:pt x="15240" y="48260"/>
                    <a:pt x="19050" y="83820"/>
                  </a:cubicBezTo>
                  <a:cubicBezTo>
                    <a:pt x="22860" y="119380"/>
                    <a:pt x="97790" y="170180"/>
                    <a:pt x="95250" y="213360"/>
                  </a:cubicBezTo>
                  <a:cubicBezTo>
                    <a:pt x="92710" y="256540"/>
                    <a:pt x="7620" y="298450"/>
                    <a:pt x="3810" y="342900"/>
                  </a:cubicBezTo>
                  <a:cubicBezTo>
                    <a:pt x="0" y="387350"/>
                    <a:pt x="67310" y="448310"/>
                    <a:pt x="72390" y="480060"/>
                  </a:cubicBezTo>
                  <a:cubicBezTo>
                    <a:pt x="77470" y="511810"/>
                    <a:pt x="55880" y="522605"/>
                    <a:pt x="34290" y="533400"/>
                  </a:cubicBezTo>
                </a:path>
              </a:pathLst>
            </a:custGeom>
            <a:ln w="3810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76" name="任意多边形 75"/>
            <p:cNvSpPr>
              <a:spLocks noChangeAspect="1"/>
            </p:cNvSpPr>
            <p:nvPr/>
          </p:nvSpPr>
          <p:spPr>
            <a:xfrm>
              <a:off x="6399989" y="1319204"/>
              <a:ext cx="105600" cy="576000"/>
            </a:xfrm>
            <a:custGeom>
              <a:avLst/>
              <a:gdLst>
                <a:gd name="connsiteX0" fmla="*/ 72390 w 97790"/>
                <a:gd name="connsiteY0" fmla="*/ 0 h 533400"/>
                <a:gd name="connsiteX1" fmla="*/ 19050 w 97790"/>
                <a:gd name="connsiteY1" fmla="*/ 83820 h 533400"/>
                <a:gd name="connsiteX2" fmla="*/ 95250 w 97790"/>
                <a:gd name="connsiteY2" fmla="*/ 213360 h 533400"/>
                <a:gd name="connsiteX3" fmla="*/ 3810 w 97790"/>
                <a:gd name="connsiteY3" fmla="*/ 342900 h 533400"/>
                <a:gd name="connsiteX4" fmla="*/ 72390 w 97790"/>
                <a:gd name="connsiteY4" fmla="*/ 480060 h 533400"/>
                <a:gd name="connsiteX5" fmla="*/ 34290 w 97790"/>
                <a:gd name="connsiteY5" fmla="*/ 5334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790" h="533400">
                  <a:moveTo>
                    <a:pt x="72390" y="0"/>
                  </a:moveTo>
                  <a:cubicBezTo>
                    <a:pt x="43815" y="24130"/>
                    <a:pt x="15240" y="48260"/>
                    <a:pt x="19050" y="83820"/>
                  </a:cubicBezTo>
                  <a:cubicBezTo>
                    <a:pt x="22860" y="119380"/>
                    <a:pt x="97790" y="170180"/>
                    <a:pt x="95250" y="213360"/>
                  </a:cubicBezTo>
                  <a:cubicBezTo>
                    <a:pt x="92710" y="256540"/>
                    <a:pt x="7620" y="298450"/>
                    <a:pt x="3810" y="342900"/>
                  </a:cubicBezTo>
                  <a:cubicBezTo>
                    <a:pt x="0" y="387350"/>
                    <a:pt x="67310" y="448310"/>
                    <a:pt x="72390" y="480060"/>
                  </a:cubicBezTo>
                  <a:cubicBezTo>
                    <a:pt x="77470" y="511810"/>
                    <a:pt x="55880" y="522605"/>
                    <a:pt x="34290" y="533400"/>
                  </a:cubicBezTo>
                </a:path>
              </a:pathLst>
            </a:custGeom>
            <a:ln w="3810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174216" y="1375940"/>
              <a:ext cx="95410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6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用户线程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6992958" y="2395536"/>
              <a:ext cx="95410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6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内核线程</a:t>
              </a:r>
            </a:p>
          </p:txBody>
        </p:sp>
        <p:cxnSp>
          <p:nvCxnSpPr>
            <p:cNvPr id="82" name="直接箭头连接符 81"/>
            <p:cNvCxnSpPr>
              <a:stCxn id="80" idx="1"/>
            </p:cNvCxnSpPr>
            <p:nvPr/>
          </p:nvCxnSpPr>
          <p:spPr>
            <a:xfrm flipH="1">
              <a:off x="6620844" y="1545217"/>
              <a:ext cx="553372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箭头连接符 82"/>
            <p:cNvCxnSpPr/>
            <p:nvPr/>
          </p:nvCxnSpPr>
          <p:spPr>
            <a:xfrm rot="10800000">
              <a:off x="6660834" y="2571750"/>
              <a:ext cx="396000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箭头连接符 86"/>
            <p:cNvCxnSpPr/>
            <p:nvPr/>
          </p:nvCxnSpPr>
          <p:spPr>
            <a:xfrm rot="5400000" flipH="1" flipV="1">
              <a:off x="5699877" y="2294779"/>
              <a:ext cx="160438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rot="10800000">
              <a:off x="5214942" y="1928808"/>
              <a:ext cx="571504" cy="285752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rot="16200000" flipV="1">
              <a:off x="5536413" y="1964527"/>
              <a:ext cx="357190" cy="142876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/>
          </p:nvCxnSpPr>
          <p:spPr>
            <a:xfrm rot="5400000" flipH="1" flipV="1">
              <a:off x="5715008" y="1928808"/>
              <a:ext cx="357190" cy="214314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V="1">
              <a:off x="5786446" y="1928808"/>
              <a:ext cx="571504" cy="285752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8" name="组合 87"/>
            <p:cNvGrpSpPr/>
            <p:nvPr/>
          </p:nvGrpSpPr>
          <p:grpSpPr>
            <a:xfrm>
              <a:off x="5595533" y="2379660"/>
              <a:ext cx="360000" cy="363542"/>
              <a:chOff x="2214546" y="2371456"/>
              <a:chExt cx="360000" cy="363542"/>
            </a:xfrm>
          </p:grpSpPr>
          <p:sp>
            <p:nvSpPr>
              <p:cNvPr id="90" name="椭圆 89"/>
              <p:cNvSpPr>
                <a:spLocks noChangeAspect="1"/>
              </p:cNvSpPr>
              <p:nvPr/>
            </p:nvSpPr>
            <p:spPr>
              <a:xfrm>
                <a:off x="2214546" y="2374998"/>
                <a:ext cx="360000" cy="360000"/>
              </a:xfrm>
              <a:prstGeom prst="ellipse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92" name="TextBox 49"/>
              <p:cNvSpPr txBox="1"/>
              <p:nvPr/>
            </p:nvSpPr>
            <p:spPr>
              <a:xfrm>
                <a:off x="2230879" y="2371456"/>
                <a:ext cx="32733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1600" b="1" dirty="0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</a:rPr>
                  <a:t>K</a:t>
                </a:r>
                <a:endParaRPr lang="zh-CN" altLang="en-US" sz="16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4511294" y="3634777"/>
            <a:ext cx="3643338" cy="2122582"/>
            <a:chOff x="2714612" y="2901952"/>
            <a:chExt cx="3643338" cy="2122582"/>
          </a:xfrm>
        </p:grpSpPr>
        <p:sp>
          <p:nvSpPr>
            <p:cNvPr id="96" name="矩形 95"/>
            <p:cNvSpPr/>
            <p:nvPr/>
          </p:nvSpPr>
          <p:spPr>
            <a:xfrm>
              <a:off x="2714612" y="2901952"/>
              <a:ext cx="3643338" cy="1789123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6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7" name="任意多边形 96"/>
            <p:cNvSpPr>
              <a:spLocks noChangeAspect="1"/>
            </p:cNvSpPr>
            <p:nvPr/>
          </p:nvSpPr>
          <p:spPr>
            <a:xfrm>
              <a:off x="3129734" y="3221042"/>
              <a:ext cx="105600" cy="576000"/>
            </a:xfrm>
            <a:custGeom>
              <a:avLst/>
              <a:gdLst>
                <a:gd name="connsiteX0" fmla="*/ 72390 w 97790"/>
                <a:gd name="connsiteY0" fmla="*/ 0 h 533400"/>
                <a:gd name="connsiteX1" fmla="*/ 19050 w 97790"/>
                <a:gd name="connsiteY1" fmla="*/ 83820 h 533400"/>
                <a:gd name="connsiteX2" fmla="*/ 95250 w 97790"/>
                <a:gd name="connsiteY2" fmla="*/ 213360 h 533400"/>
                <a:gd name="connsiteX3" fmla="*/ 3810 w 97790"/>
                <a:gd name="connsiteY3" fmla="*/ 342900 h 533400"/>
                <a:gd name="connsiteX4" fmla="*/ 72390 w 97790"/>
                <a:gd name="connsiteY4" fmla="*/ 480060 h 533400"/>
                <a:gd name="connsiteX5" fmla="*/ 34290 w 97790"/>
                <a:gd name="connsiteY5" fmla="*/ 5334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790" h="533400">
                  <a:moveTo>
                    <a:pt x="72390" y="0"/>
                  </a:moveTo>
                  <a:cubicBezTo>
                    <a:pt x="43815" y="24130"/>
                    <a:pt x="15240" y="48260"/>
                    <a:pt x="19050" y="83820"/>
                  </a:cubicBezTo>
                  <a:cubicBezTo>
                    <a:pt x="22860" y="119380"/>
                    <a:pt x="97790" y="170180"/>
                    <a:pt x="95250" y="213360"/>
                  </a:cubicBezTo>
                  <a:cubicBezTo>
                    <a:pt x="92710" y="256540"/>
                    <a:pt x="7620" y="298450"/>
                    <a:pt x="3810" y="342900"/>
                  </a:cubicBezTo>
                  <a:cubicBezTo>
                    <a:pt x="0" y="387350"/>
                    <a:pt x="67310" y="448310"/>
                    <a:pt x="72390" y="480060"/>
                  </a:cubicBezTo>
                  <a:cubicBezTo>
                    <a:pt x="77470" y="511810"/>
                    <a:pt x="55880" y="522605"/>
                    <a:pt x="34290" y="533400"/>
                  </a:cubicBezTo>
                </a:path>
              </a:pathLst>
            </a:custGeom>
            <a:ln w="3810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4241148" y="4685980"/>
              <a:ext cx="8002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600" b="1" dirty="0">
                  <a:solidFill>
                    <a:srgbClr val="C00000"/>
                  </a:solidFill>
                  <a:latin typeface="微软雅黑" pitchFamily="34" charset="-122"/>
                  <a:ea typeface="微软雅黑" pitchFamily="34" charset="-122"/>
                </a:rPr>
                <a:t>多对多</a:t>
              </a:r>
            </a:p>
          </p:txBody>
        </p:sp>
        <p:sp>
          <p:nvSpPr>
            <p:cNvPr id="99" name="任意多边形 98"/>
            <p:cNvSpPr>
              <a:spLocks noChangeAspect="1"/>
            </p:cNvSpPr>
            <p:nvPr/>
          </p:nvSpPr>
          <p:spPr>
            <a:xfrm>
              <a:off x="3558362" y="3087691"/>
              <a:ext cx="105600" cy="576000"/>
            </a:xfrm>
            <a:custGeom>
              <a:avLst/>
              <a:gdLst>
                <a:gd name="connsiteX0" fmla="*/ 72390 w 97790"/>
                <a:gd name="connsiteY0" fmla="*/ 0 h 533400"/>
                <a:gd name="connsiteX1" fmla="*/ 19050 w 97790"/>
                <a:gd name="connsiteY1" fmla="*/ 83820 h 533400"/>
                <a:gd name="connsiteX2" fmla="*/ 95250 w 97790"/>
                <a:gd name="connsiteY2" fmla="*/ 213360 h 533400"/>
                <a:gd name="connsiteX3" fmla="*/ 3810 w 97790"/>
                <a:gd name="connsiteY3" fmla="*/ 342900 h 533400"/>
                <a:gd name="connsiteX4" fmla="*/ 72390 w 97790"/>
                <a:gd name="connsiteY4" fmla="*/ 480060 h 533400"/>
                <a:gd name="connsiteX5" fmla="*/ 34290 w 97790"/>
                <a:gd name="connsiteY5" fmla="*/ 5334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790" h="533400">
                  <a:moveTo>
                    <a:pt x="72390" y="0"/>
                  </a:moveTo>
                  <a:cubicBezTo>
                    <a:pt x="43815" y="24130"/>
                    <a:pt x="15240" y="48260"/>
                    <a:pt x="19050" y="83820"/>
                  </a:cubicBezTo>
                  <a:cubicBezTo>
                    <a:pt x="22860" y="119380"/>
                    <a:pt x="97790" y="170180"/>
                    <a:pt x="95250" y="213360"/>
                  </a:cubicBezTo>
                  <a:cubicBezTo>
                    <a:pt x="92710" y="256540"/>
                    <a:pt x="7620" y="298450"/>
                    <a:pt x="3810" y="342900"/>
                  </a:cubicBezTo>
                  <a:cubicBezTo>
                    <a:pt x="0" y="387350"/>
                    <a:pt x="67310" y="448310"/>
                    <a:pt x="72390" y="480060"/>
                  </a:cubicBezTo>
                  <a:cubicBezTo>
                    <a:pt x="77470" y="511810"/>
                    <a:pt x="55880" y="522605"/>
                    <a:pt x="34290" y="533400"/>
                  </a:cubicBezTo>
                </a:path>
              </a:pathLst>
            </a:custGeom>
            <a:ln w="3810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100" name="任意多边形 99"/>
            <p:cNvSpPr>
              <a:spLocks noChangeAspect="1"/>
            </p:cNvSpPr>
            <p:nvPr/>
          </p:nvSpPr>
          <p:spPr>
            <a:xfrm>
              <a:off x="3986990" y="3087691"/>
              <a:ext cx="105600" cy="576000"/>
            </a:xfrm>
            <a:custGeom>
              <a:avLst/>
              <a:gdLst>
                <a:gd name="connsiteX0" fmla="*/ 72390 w 97790"/>
                <a:gd name="connsiteY0" fmla="*/ 0 h 533400"/>
                <a:gd name="connsiteX1" fmla="*/ 19050 w 97790"/>
                <a:gd name="connsiteY1" fmla="*/ 83820 h 533400"/>
                <a:gd name="connsiteX2" fmla="*/ 95250 w 97790"/>
                <a:gd name="connsiteY2" fmla="*/ 213360 h 533400"/>
                <a:gd name="connsiteX3" fmla="*/ 3810 w 97790"/>
                <a:gd name="connsiteY3" fmla="*/ 342900 h 533400"/>
                <a:gd name="connsiteX4" fmla="*/ 72390 w 97790"/>
                <a:gd name="connsiteY4" fmla="*/ 480060 h 533400"/>
                <a:gd name="connsiteX5" fmla="*/ 34290 w 97790"/>
                <a:gd name="connsiteY5" fmla="*/ 5334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790" h="533400">
                  <a:moveTo>
                    <a:pt x="72390" y="0"/>
                  </a:moveTo>
                  <a:cubicBezTo>
                    <a:pt x="43815" y="24130"/>
                    <a:pt x="15240" y="48260"/>
                    <a:pt x="19050" y="83820"/>
                  </a:cubicBezTo>
                  <a:cubicBezTo>
                    <a:pt x="22860" y="119380"/>
                    <a:pt x="97790" y="170180"/>
                    <a:pt x="95250" y="213360"/>
                  </a:cubicBezTo>
                  <a:cubicBezTo>
                    <a:pt x="92710" y="256540"/>
                    <a:pt x="7620" y="298450"/>
                    <a:pt x="3810" y="342900"/>
                  </a:cubicBezTo>
                  <a:cubicBezTo>
                    <a:pt x="0" y="387350"/>
                    <a:pt x="67310" y="448310"/>
                    <a:pt x="72390" y="480060"/>
                  </a:cubicBezTo>
                  <a:cubicBezTo>
                    <a:pt x="77470" y="511810"/>
                    <a:pt x="55880" y="522605"/>
                    <a:pt x="34290" y="533400"/>
                  </a:cubicBezTo>
                </a:path>
              </a:pathLst>
            </a:custGeom>
            <a:ln w="3810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103" name="任意多边形 102"/>
            <p:cNvSpPr>
              <a:spLocks noChangeAspect="1"/>
            </p:cNvSpPr>
            <p:nvPr/>
          </p:nvSpPr>
          <p:spPr>
            <a:xfrm>
              <a:off x="4415618" y="3221042"/>
              <a:ext cx="105600" cy="576000"/>
            </a:xfrm>
            <a:custGeom>
              <a:avLst/>
              <a:gdLst>
                <a:gd name="connsiteX0" fmla="*/ 72390 w 97790"/>
                <a:gd name="connsiteY0" fmla="*/ 0 h 533400"/>
                <a:gd name="connsiteX1" fmla="*/ 19050 w 97790"/>
                <a:gd name="connsiteY1" fmla="*/ 83820 h 533400"/>
                <a:gd name="connsiteX2" fmla="*/ 95250 w 97790"/>
                <a:gd name="connsiteY2" fmla="*/ 213360 h 533400"/>
                <a:gd name="connsiteX3" fmla="*/ 3810 w 97790"/>
                <a:gd name="connsiteY3" fmla="*/ 342900 h 533400"/>
                <a:gd name="connsiteX4" fmla="*/ 72390 w 97790"/>
                <a:gd name="connsiteY4" fmla="*/ 480060 h 533400"/>
                <a:gd name="connsiteX5" fmla="*/ 34290 w 97790"/>
                <a:gd name="connsiteY5" fmla="*/ 533400 h 53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790" h="533400">
                  <a:moveTo>
                    <a:pt x="72390" y="0"/>
                  </a:moveTo>
                  <a:cubicBezTo>
                    <a:pt x="43815" y="24130"/>
                    <a:pt x="15240" y="48260"/>
                    <a:pt x="19050" y="83820"/>
                  </a:cubicBezTo>
                  <a:cubicBezTo>
                    <a:pt x="22860" y="119380"/>
                    <a:pt x="97790" y="170180"/>
                    <a:pt x="95250" y="213360"/>
                  </a:cubicBezTo>
                  <a:cubicBezTo>
                    <a:pt x="92710" y="256540"/>
                    <a:pt x="7620" y="298450"/>
                    <a:pt x="3810" y="342900"/>
                  </a:cubicBezTo>
                  <a:cubicBezTo>
                    <a:pt x="0" y="387350"/>
                    <a:pt x="67310" y="448310"/>
                    <a:pt x="72390" y="480060"/>
                  </a:cubicBezTo>
                  <a:cubicBezTo>
                    <a:pt x="77470" y="511810"/>
                    <a:pt x="55880" y="522605"/>
                    <a:pt x="34290" y="533400"/>
                  </a:cubicBezTo>
                </a:path>
              </a:pathLst>
            </a:custGeom>
            <a:ln w="38100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5189845" y="3277778"/>
              <a:ext cx="95410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6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用户线程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008587" y="4297374"/>
              <a:ext cx="95410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600" b="1" spc="-100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内核线程</a:t>
              </a:r>
            </a:p>
          </p:txBody>
        </p:sp>
        <p:cxnSp>
          <p:nvCxnSpPr>
            <p:cNvPr id="106" name="直接箭头连接符 105"/>
            <p:cNvCxnSpPr>
              <a:stCxn id="104" idx="1"/>
            </p:cNvCxnSpPr>
            <p:nvPr/>
          </p:nvCxnSpPr>
          <p:spPr>
            <a:xfrm flipH="1">
              <a:off x="4636473" y="3447055"/>
              <a:ext cx="553372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/>
            <p:cNvCxnSpPr/>
            <p:nvPr/>
          </p:nvCxnSpPr>
          <p:spPr>
            <a:xfrm rot="10800000">
              <a:off x="4676463" y="4473588"/>
              <a:ext cx="396000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箭头连接符 107"/>
            <p:cNvCxnSpPr/>
            <p:nvPr/>
          </p:nvCxnSpPr>
          <p:spPr>
            <a:xfrm rot="5400000" flipH="1" flipV="1">
              <a:off x="3715506" y="4196617"/>
              <a:ext cx="160438" cy="0"/>
            </a:xfrm>
            <a:prstGeom prst="straightConnector1">
              <a:avLst/>
            </a:prstGeom>
            <a:ln w="28575">
              <a:solidFill>
                <a:srgbClr val="11576A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rot="10800000">
              <a:off x="3230571" y="3830646"/>
              <a:ext cx="571504" cy="285752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rot="16200000" flipV="1">
              <a:off x="3552042" y="3866365"/>
              <a:ext cx="357190" cy="142876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rot="5400000" flipH="1" flipV="1">
              <a:off x="3730637" y="3830646"/>
              <a:ext cx="357190" cy="214314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V="1">
              <a:off x="3802075" y="3830646"/>
              <a:ext cx="571504" cy="285752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/>
          </p:nvCxnSpPr>
          <p:spPr>
            <a:xfrm rot="10800000" flipV="1">
              <a:off x="3357554" y="4143386"/>
              <a:ext cx="428628" cy="142876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>
              <a:off x="3786182" y="4143386"/>
              <a:ext cx="490377" cy="148812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组合 93"/>
            <p:cNvGrpSpPr/>
            <p:nvPr/>
          </p:nvGrpSpPr>
          <p:grpSpPr>
            <a:xfrm>
              <a:off x="3606182" y="4287723"/>
              <a:ext cx="360000" cy="363542"/>
              <a:chOff x="2214546" y="2371456"/>
              <a:chExt cx="360000" cy="363542"/>
            </a:xfrm>
          </p:grpSpPr>
          <p:sp>
            <p:nvSpPr>
              <p:cNvPr id="117" name="椭圆 116"/>
              <p:cNvSpPr>
                <a:spLocks noChangeAspect="1"/>
              </p:cNvSpPr>
              <p:nvPr/>
            </p:nvSpPr>
            <p:spPr>
              <a:xfrm>
                <a:off x="2214546" y="2374998"/>
                <a:ext cx="360000" cy="360000"/>
              </a:xfrm>
              <a:prstGeom prst="ellipse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119" name="TextBox 49"/>
              <p:cNvSpPr txBox="1"/>
              <p:nvPr/>
            </p:nvSpPr>
            <p:spPr>
              <a:xfrm>
                <a:off x="2230879" y="2371456"/>
                <a:ext cx="32733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1600" b="1" dirty="0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</a:rPr>
                  <a:t>K</a:t>
                </a:r>
                <a:endParaRPr lang="zh-CN" altLang="en-US" sz="16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121" name="组合 120"/>
            <p:cNvGrpSpPr/>
            <p:nvPr/>
          </p:nvGrpSpPr>
          <p:grpSpPr>
            <a:xfrm>
              <a:off x="4115080" y="4295178"/>
              <a:ext cx="360000" cy="363542"/>
              <a:chOff x="2214546" y="2371456"/>
              <a:chExt cx="360000" cy="363542"/>
            </a:xfrm>
          </p:grpSpPr>
          <p:sp>
            <p:nvSpPr>
              <p:cNvPr id="122" name="椭圆 121"/>
              <p:cNvSpPr>
                <a:spLocks noChangeAspect="1"/>
              </p:cNvSpPr>
              <p:nvPr/>
            </p:nvSpPr>
            <p:spPr>
              <a:xfrm>
                <a:off x="2214546" y="2374998"/>
                <a:ext cx="360000" cy="360000"/>
              </a:xfrm>
              <a:prstGeom prst="ellipse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123" name="TextBox 49"/>
              <p:cNvSpPr txBox="1"/>
              <p:nvPr/>
            </p:nvSpPr>
            <p:spPr>
              <a:xfrm>
                <a:off x="2230879" y="2371456"/>
                <a:ext cx="32733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1600" b="1" dirty="0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</a:rPr>
                  <a:t>K</a:t>
                </a:r>
                <a:endParaRPr lang="zh-CN" altLang="en-US" sz="16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124" name="组合 123"/>
            <p:cNvGrpSpPr/>
            <p:nvPr/>
          </p:nvGrpSpPr>
          <p:grpSpPr>
            <a:xfrm>
              <a:off x="3144669" y="4291817"/>
              <a:ext cx="360000" cy="363542"/>
              <a:chOff x="2214546" y="2371456"/>
              <a:chExt cx="360000" cy="363542"/>
            </a:xfrm>
          </p:grpSpPr>
          <p:sp>
            <p:nvSpPr>
              <p:cNvPr id="125" name="椭圆 124"/>
              <p:cNvSpPr>
                <a:spLocks noChangeAspect="1"/>
              </p:cNvSpPr>
              <p:nvPr/>
            </p:nvSpPr>
            <p:spPr>
              <a:xfrm>
                <a:off x="2214546" y="2374998"/>
                <a:ext cx="360000" cy="360000"/>
              </a:xfrm>
              <a:prstGeom prst="ellipse">
                <a:avLst/>
              </a:prstGeom>
              <a:gradFill>
                <a:gsLst>
                  <a:gs pos="100000">
                    <a:srgbClr val="11576A"/>
                  </a:gs>
                  <a:gs pos="0">
                    <a:srgbClr val="0EB1C8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>
                  <a:solidFill>
                    <a:srgbClr val="000000"/>
                  </a:solidFill>
                  <a:latin typeface="Verdana"/>
                </a:endParaRPr>
              </a:p>
            </p:txBody>
          </p:sp>
          <p:sp>
            <p:nvSpPr>
              <p:cNvPr id="126" name="TextBox 49"/>
              <p:cNvSpPr txBox="1"/>
              <p:nvPr/>
            </p:nvSpPr>
            <p:spPr>
              <a:xfrm>
                <a:off x="2230879" y="2371456"/>
                <a:ext cx="32733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zh-CN" sz="1600" b="1" dirty="0">
                    <a:solidFill>
                      <a:srgbClr val="FFFFFF"/>
                    </a:solidFill>
                    <a:latin typeface="微软雅黑" pitchFamily="34" charset="-122"/>
                    <a:ea typeface="微软雅黑" pitchFamily="34" charset="-122"/>
                  </a:rPr>
                  <a:t>K</a:t>
                </a:r>
                <a:endParaRPr lang="zh-CN" altLang="en-US" sz="16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sp>
        <p:nvSpPr>
          <p:cNvPr id="15" name="标题 14">
            <a:extLst>
              <a:ext uri="{FF2B5EF4-FFF2-40B4-BE49-F238E27FC236}">
                <a16:creationId xmlns:a16="http://schemas.microsoft.com/office/drawing/2014/main" id="{7A9DDB7B-A905-B1D5-B849-6E9126EDB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用户线程与内核线程的对应关系</a:t>
            </a:r>
          </a:p>
        </p:txBody>
      </p:sp>
      <p:sp>
        <p:nvSpPr>
          <p:cNvPr id="18" name="灯片编号占位符 5">
            <a:extLst>
              <a:ext uri="{FF2B5EF4-FFF2-40B4-BE49-F238E27FC236}">
                <a16:creationId xmlns:a16="http://schemas.microsoft.com/office/drawing/2014/main" id="{337C0EDD-D352-8093-E181-625C4E60E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</p:spPr>
        <p:txBody>
          <a:bodyPr/>
          <a:lstStyle/>
          <a:p>
            <a:pPr algn="r" defTabSz="914400" fontAlgn="base">
              <a:spcAft>
                <a:spcPct val="0"/>
              </a:spcAft>
              <a:defRPr/>
            </a:pPr>
            <a:fld id="{B40D5C89-3F50-4E78-90D8-3CB123F8C3B8}" type="slidenum">
              <a:rPr lang="en-US" altLang="ko-KR">
                <a:solidFill>
                  <a:srgbClr val="FFFFFF"/>
                </a:solidFill>
                <a:latin typeface="Verdana" panose="020B0604030504040204" pitchFamily="34" charset="0"/>
              </a:rPr>
              <a:pPr algn="r" defTabSz="914400" fontAlgn="base">
                <a:spcAft>
                  <a:spcPct val="0"/>
                </a:spcAft>
                <a:defRPr/>
              </a:pPr>
              <a:t>26</a:t>
            </a:fld>
            <a:endParaRPr lang="en-US" altLang="ko-KR" dirty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948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3"/>
          <p:cNvSpPr>
            <a:spLocks noChangeArrowheads="1"/>
          </p:cNvSpPr>
          <p:nvPr/>
        </p:nvSpPr>
        <p:spPr bwMode="auto">
          <a:xfrm>
            <a:off x="2728197" y="1676998"/>
            <a:ext cx="5754927" cy="414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dirty="0">
                <a:solidFill>
                  <a:srgbClr val="11576A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微软雅黑" pitchFamily="34" charset="-122"/>
                <a:ea typeface="微软雅黑" pitchFamily="34" charset="-122"/>
              </a:rPr>
              <a:t>内核支持的用户线程。一个进程可有一个或多个轻量级进程，每个轻权进程由一个单独的内核线程来支持。（</a:t>
            </a:r>
            <a:r>
              <a:rPr lang="en-US" altLang="en-US" sz="2000" b="1" dirty="0">
                <a:solidFill>
                  <a:srgbClr val="11576A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微软雅黑" pitchFamily="34" charset="-122"/>
                <a:ea typeface="微软雅黑" pitchFamily="34" charset="-122"/>
              </a:rPr>
              <a:t>Solaris/Linux</a:t>
            </a:r>
            <a:r>
              <a:rPr lang="zh-CN" altLang="en-US" sz="2000" b="1" dirty="0">
                <a:solidFill>
                  <a:srgbClr val="11576A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2495601" y="2747034"/>
            <a:ext cx="7447225" cy="2986222"/>
            <a:chOff x="566877" y="1728668"/>
            <a:chExt cx="7447225" cy="2986222"/>
          </a:xfrm>
        </p:grpSpPr>
        <p:sp>
          <p:nvSpPr>
            <p:cNvPr id="7" name="矩形 6"/>
            <p:cNvSpPr/>
            <p:nvPr/>
          </p:nvSpPr>
          <p:spPr>
            <a:xfrm>
              <a:off x="1895457" y="2052634"/>
              <a:ext cx="720000" cy="1296000"/>
            </a:xfrm>
            <a:prstGeom prst="rect">
              <a:avLst/>
            </a:prstGeom>
            <a:gradFill>
              <a:gsLst>
                <a:gs pos="100000">
                  <a:srgbClr val="FFC000"/>
                </a:gs>
                <a:gs pos="0">
                  <a:srgbClr val="FFFF97"/>
                </a:gs>
              </a:gsLst>
              <a:lin ang="5400000" scaled="0"/>
            </a:gra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8" name="正五边形 7"/>
            <p:cNvSpPr/>
            <p:nvPr/>
          </p:nvSpPr>
          <p:spPr>
            <a:xfrm>
              <a:off x="1966895" y="2143122"/>
              <a:ext cx="461965" cy="357190"/>
            </a:xfrm>
            <a:prstGeom prst="pentagon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9" name="八边形 8"/>
            <p:cNvSpPr/>
            <p:nvPr/>
          </p:nvSpPr>
          <p:spPr>
            <a:xfrm>
              <a:off x="2012933" y="2874963"/>
              <a:ext cx="415927" cy="396000"/>
            </a:xfrm>
            <a:prstGeom prst="octagon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986604" y="2189844"/>
              <a:ext cx="4363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UT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005337" y="2874735"/>
              <a:ext cx="429092" cy="451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lnSpc>
                  <a:spcPts val="14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LW</a:t>
              </a:r>
            </a:p>
            <a:p>
              <a:pPr algn="ctr" defTabSz="914400" eaLnBrk="0" fontAlgn="base" hangingPunct="0">
                <a:lnSpc>
                  <a:spcPts val="14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endPara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3352792" y="2052634"/>
              <a:ext cx="2988000" cy="1296000"/>
            </a:xfrm>
            <a:prstGeom prst="rect">
              <a:avLst/>
            </a:prstGeom>
            <a:gradFill>
              <a:gsLst>
                <a:gs pos="100000">
                  <a:srgbClr val="FFC000"/>
                </a:gs>
                <a:gs pos="0">
                  <a:srgbClr val="FFFF97"/>
                </a:gs>
              </a:gsLst>
              <a:lin ang="5400000" scaled="0"/>
            </a:gra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14" name="正五边形 13"/>
            <p:cNvSpPr/>
            <p:nvPr/>
          </p:nvSpPr>
          <p:spPr>
            <a:xfrm>
              <a:off x="3424230" y="2143122"/>
              <a:ext cx="473802" cy="357190"/>
            </a:xfrm>
            <a:prstGeom prst="pentagon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15" name="正五边形 14"/>
            <p:cNvSpPr/>
            <p:nvPr/>
          </p:nvSpPr>
          <p:spPr>
            <a:xfrm>
              <a:off x="4138610" y="2143122"/>
              <a:ext cx="442412" cy="357190"/>
            </a:xfrm>
            <a:prstGeom prst="pentagon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17" name="正五边形 16"/>
            <p:cNvSpPr/>
            <p:nvPr/>
          </p:nvSpPr>
          <p:spPr>
            <a:xfrm>
              <a:off x="4924428" y="2143122"/>
              <a:ext cx="473071" cy="357190"/>
            </a:xfrm>
            <a:prstGeom prst="pentagon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18" name="正五边形 17"/>
            <p:cNvSpPr/>
            <p:nvPr/>
          </p:nvSpPr>
          <p:spPr>
            <a:xfrm>
              <a:off x="5638808" y="2143122"/>
              <a:ext cx="496026" cy="357190"/>
            </a:xfrm>
            <a:prstGeom prst="pentagon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19" name="八边形 18"/>
            <p:cNvSpPr/>
            <p:nvPr/>
          </p:nvSpPr>
          <p:spPr>
            <a:xfrm>
              <a:off x="3436930" y="2860010"/>
              <a:ext cx="414990" cy="442358"/>
            </a:xfrm>
            <a:prstGeom prst="octagon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20" name="八边形 19"/>
            <p:cNvSpPr/>
            <p:nvPr/>
          </p:nvSpPr>
          <p:spPr>
            <a:xfrm>
              <a:off x="4544253" y="2860009"/>
              <a:ext cx="437325" cy="449513"/>
            </a:xfrm>
            <a:prstGeom prst="octagon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21" name="八边形 20"/>
            <p:cNvSpPr/>
            <p:nvPr/>
          </p:nvSpPr>
          <p:spPr>
            <a:xfrm>
              <a:off x="5424494" y="2860009"/>
              <a:ext cx="428628" cy="442359"/>
            </a:xfrm>
            <a:prstGeom prst="octagon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957237" y="3519494"/>
              <a:ext cx="6300000" cy="648000"/>
            </a:xfrm>
            <a:prstGeom prst="rect">
              <a:avLst/>
            </a:prstGeom>
            <a:gradFill>
              <a:gsLst>
                <a:gs pos="100000">
                  <a:srgbClr val="FFC000"/>
                </a:gs>
                <a:gs pos="0">
                  <a:srgbClr val="FFFF97"/>
                </a:gs>
              </a:gsLst>
              <a:lin ang="5400000" scaled="0"/>
            </a:gradFill>
            <a:ln w="28575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22" name="等腰三角形 21"/>
            <p:cNvSpPr/>
            <p:nvPr/>
          </p:nvSpPr>
          <p:spPr>
            <a:xfrm>
              <a:off x="1068364" y="3624269"/>
              <a:ext cx="612000" cy="396000"/>
            </a:xfrm>
            <a:prstGeom prst="triangl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133452" y="3754446"/>
              <a:ext cx="4564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KT</a:t>
              </a:r>
              <a:endParaRPr lang="zh-CN" altLang="en-US" sz="16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4" name="等腰三角形 23"/>
            <p:cNvSpPr/>
            <p:nvPr/>
          </p:nvSpPr>
          <p:spPr>
            <a:xfrm>
              <a:off x="1995470" y="3624269"/>
              <a:ext cx="612000" cy="396000"/>
            </a:xfrm>
            <a:prstGeom prst="triangl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25" name="等腰三角形 24"/>
            <p:cNvSpPr/>
            <p:nvPr/>
          </p:nvSpPr>
          <p:spPr>
            <a:xfrm>
              <a:off x="3395655" y="3624269"/>
              <a:ext cx="612000" cy="396000"/>
            </a:xfrm>
            <a:prstGeom prst="triangl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26" name="等腰三角形 25"/>
            <p:cNvSpPr/>
            <p:nvPr/>
          </p:nvSpPr>
          <p:spPr>
            <a:xfrm>
              <a:off x="4538663" y="3624269"/>
              <a:ext cx="612000" cy="396000"/>
            </a:xfrm>
            <a:prstGeom prst="triangl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28" name="等腰三角形 27"/>
            <p:cNvSpPr/>
            <p:nvPr/>
          </p:nvSpPr>
          <p:spPr>
            <a:xfrm>
              <a:off x="5400682" y="3624269"/>
              <a:ext cx="612000" cy="396000"/>
            </a:xfrm>
            <a:prstGeom prst="triangl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29" name="等腰三角形 28"/>
            <p:cNvSpPr/>
            <p:nvPr/>
          </p:nvSpPr>
          <p:spPr>
            <a:xfrm>
              <a:off x="6496064" y="3624269"/>
              <a:ext cx="612000" cy="396000"/>
            </a:xfrm>
            <a:prstGeom prst="triangl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1852594" y="4357700"/>
              <a:ext cx="785818" cy="35719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424230" y="2887918"/>
              <a:ext cx="429092" cy="451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lnSpc>
                  <a:spcPts val="14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LW</a:t>
              </a:r>
            </a:p>
            <a:p>
              <a:pPr algn="ctr" defTabSz="914400" eaLnBrk="0" fontAlgn="base" hangingPunct="0">
                <a:lnSpc>
                  <a:spcPts val="14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endPara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5853122" y="4357700"/>
              <a:ext cx="785818" cy="357190"/>
            </a:xfrm>
            <a:prstGeom prst="rect">
              <a:avLst/>
            </a:prstGeom>
            <a:gradFill>
              <a:gsLst>
                <a:gs pos="100000">
                  <a:srgbClr val="FFC000"/>
                </a:gs>
                <a:gs pos="0">
                  <a:srgbClr val="FFFF97"/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46136" y="2859782"/>
              <a:ext cx="429092" cy="451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lnSpc>
                  <a:spcPts val="14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LW</a:t>
              </a:r>
            </a:p>
            <a:p>
              <a:pPr algn="ctr" defTabSz="914400" eaLnBrk="0" fontAlgn="base" hangingPunct="0">
                <a:lnSpc>
                  <a:spcPts val="14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endParaRPr lang="zh-CN" altLang="en-US" sz="12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424494" y="2859782"/>
              <a:ext cx="429092" cy="451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lnSpc>
                  <a:spcPts val="14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LW</a:t>
              </a:r>
            </a:p>
            <a:p>
              <a:pPr algn="ctr" defTabSz="914400" eaLnBrk="0" fontAlgn="base" hangingPunct="0">
                <a:lnSpc>
                  <a:spcPts val="14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2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P</a:t>
              </a:r>
              <a:endParaRPr lang="zh-CN" altLang="en-US" sz="12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439396" y="2189844"/>
              <a:ext cx="4363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UT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153390" y="2189844"/>
              <a:ext cx="4363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UT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953442" y="2189844"/>
              <a:ext cx="4363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UT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675076" y="2196878"/>
              <a:ext cx="4363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400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UT</a:t>
              </a:r>
              <a:endParaRPr lang="zh-CN" altLang="en-US" sz="1400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066908" y="3754446"/>
              <a:ext cx="4564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KT</a:t>
              </a:r>
              <a:endParaRPr lang="zh-CN" altLang="en-US" sz="16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495668" y="3754446"/>
              <a:ext cx="4564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KT</a:t>
              </a:r>
              <a:endParaRPr lang="zh-CN" altLang="en-US" sz="16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605338" y="3754446"/>
              <a:ext cx="4564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KT</a:t>
              </a:r>
              <a:endParaRPr lang="zh-CN" altLang="en-US" sz="16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95932" y="3754446"/>
              <a:ext cx="4564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KT</a:t>
              </a:r>
              <a:endParaRPr lang="zh-CN" altLang="en-US" sz="16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577027" y="3754446"/>
              <a:ext cx="45647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KT</a:t>
              </a:r>
              <a:endParaRPr lang="zh-CN" altLang="en-US" sz="16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876406" y="4376336"/>
              <a:ext cx="742511" cy="338554"/>
            </a:xfrm>
            <a:prstGeom prst="rect">
              <a:avLst/>
            </a:prstGeom>
            <a:gradFill>
              <a:gsLst>
                <a:gs pos="100000">
                  <a:srgbClr val="FFC000"/>
                </a:gs>
                <a:gs pos="0">
                  <a:srgbClr val="FFFF97"/>
                </a:gs>
              </a:gsLst>
              <a:lin ang="5400000" scaled="0"/>
            </a:gradFill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CPU1</a:t>
              </a:r>
              <a:endParaRPr lang="zh-CN" altLang="en-US" sz="16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895457" y="1728668"/>
              <a:ext cx="7889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进程</a:t>
              </a:r>
              <a:r>
                <a:rPr lang="en-US" altLang="zh-CN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857884" y="4376336"/>
              <a:ext cx="7425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600" b="1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CPU1</a:t>
              </a:r>
              <a:endParaRPr lang="zh-CN" altLang="en-US" sz="1600" b="1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450163" y="1735963"/>
              <a:ext cx="7889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进程</a:t>
              </a:r>
              <a:r>
                <a:rPr lang="en-US" altLang="zh-CN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534384" y="3488302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内核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66877" y="2352568"/>
              <a:ext cx="87716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永久绑</a:t>
              </a:r>
              <a:endParaRPr lang="en-US" altLang="zh-CN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定线程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675274" y="2245135"/>
              <a:ext cx="1338828" cy="3011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eaLnBrk="0" fontAlgn="base" hangingPunct="0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未绑定线程</a:t>
              </a:r>
              <a:endParaRPr lang="en-US" altLang="zh-CN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667574" y="2776626"/>
              <a:ext cx="11079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未绑定轻</a:t>
              </a:r>
              <a:endParaRPr lang="en-US" altLang="zh-CN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b="1" dirty="0">
                  <a:solidFill>
                    <a:srgbClr val="11576A"/>
                  </a:solidFill>
                  <a:latin typeface="微软雅黑" pitchFamily="34" charset="-122"/>
                  <a:ea typeface="微软雅黑" pitchFamily="34" charset="-122"/>
                </a:rPr>
                <a:t>权进程池</a:t>
              </a:r>
              <a:endParaRPr lang="en-US" altLang="zh-CN" b="1" dirty="0">
                <a:solidFill>
                  <a:srgbClr val="11576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>
            <a:xfrm rot="16200000" flipH="1">
              <a:off x="2035508" y="2689430"/>
              <a:ext cx="345661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rot="16200000" flipH="1">
              <a:off x="3463066" y="2689431"/>
              <a:ext cx="345661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>
              <a:stCxn id="37" idx="2"/>
            </p:cNvCxnSpPr>
            <p:nvPr/>
          </p:nvCxnSpPr>
          <p:spPr>
            <a:xfrm flipH="1">
              <a:off x="4758178" y="2497621"/>
              <a:ext cx="413433" cy="366915"/>
            </a:xfrm>
            <a:prstGeom prst="line">
              <a:avLst/>
            </a:prstGeom>
            <a:ln w="28575">
              <a:solidFill>
                <a:srgbClr val="11576A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>
              <a:stCxn id="37" idx="2"/>
            </p:cNvCxnSpPr>
            <p:nvPr/>
          </p:nvCxnSpPr>
          <p:spPr>
            <a:xfrm>
              <a:off x="5171611" y="2497621"/>
              <a:ext cx="515261" cy="366915"/>
            </a:xfrm>
            <a:prstGeom prst="line">
              <a:avLst/>
            </a:prstGeom>
            <a:ln w="28575">
              <a:solidFill>
                <a:srgbClr val="11576A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>
              <a:stCxn id="36" idx="2"/>
            </p:cNvCxnSpPr>
            <p:nvPr/>
          </p:nvCxnSpPr>
          <p:spPr>
            <a:xfrm>
              <a:off x="4371559" y="2497621"/>
              <a:ext cx="1093965" cy="366915"/>
            </a:xfrm>
            <a:prstGeom prst="line">
              <a:avLst/>
            </a:prstGeom>
            <a:ln w="28575">
              <a:solidFill>
                <a:srgbClr val="11576A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>
              <a:stCxn id="36" idx="2"/>
            </p:cNvCxnSpPr>
            <p:nvPr/>
          </p:nvCxnSpPr>
          <p:spPr>
            <a:xfrm>
              <a:off x="4371559" y="2497621"/>
              <a:ext cx="236709" cy="366915"/>
            </a:xfrm>
            <a:prstGeom prst="line">
              <a:avLst/>
            </a:prstGeom>
            <a:ln w="28575">
              <a:solidFill>
                <a:srgbClr val="11576A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>
              <a:stCxn id="38" idx="2"/>
            </p:cNvCxnSpPr>
            <p:nvPr/>
          </p:nvCxnSpPr>
          <p:spPr>
            <a:xfrm flipH="1">
              <a:off x="4894020" y="2504655"/>
              <a:ext cx="999225" cy="366915"/>
            </a:xfrm>
            <a:prstGeom prst="line">
              <a:avLst/>
            </a:prstGeom>
            <a:ln w="28575">
              <a:solidFill>
                <a:srgbClr val="11576A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>
              <a:stCxn id="38" idx="2"/>
            </p:cNvCxnSpPr>
            <p:nvPr/>
          </p:nvCxnSpPr>
          <p:spPr>
            <a:xfrm flipH="1">
              <a:off x="5751276" y="2504655"/>
              <a:ext cx="141969" cy="366915"/>
            </a:xfrm>
            <a:prstGeom prst="line">
              <a:avLst/>
            </a:prstGeom>
            <a:ln w="28575">
              <a:solidFill>
                <a:srgbClr val="11576A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>
              <a:stCxn id="25" idx="0"/>
              <a:endCxn id="32" idx="2"/>
            </p:cNvCxnSpPr>
            <p:nvPr/>
          </p:nvCxnSpPr>
          <p:spPr>
            <a:xfrm flipH="1" flipV="1">
              <a:off x="3638776" y="3339324"/>
              <a:ext cx="62879" cy="28494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>
              <a:endCxn id="33" idx="2"/>
            </p:cNvCxnSpPr>
            <p:nvPr/>
          </p:nvCxnSpPr>
          <p:spPr>
            <a:xfrm flipH="1" flipV="1">
              <a:off x="4760682" y="3311188"/>
              <a:ext cx="87544" cy="29812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rot="16200000" flipV="1">
              <a:off x="5744773" y="3937397"/>
              <a:ext cx="319100" cy="521506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rot="5400000" flipH="1" flipV="1">
              <a:off x="6392469" y="3915978"/>
              <a:ext cx="323862" cy="559582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>
              <a:endCxn id="34" idx="2"/>
            </p:cNvCxnSpPr>
            <p:nvPr/>
          </p:nvCxnSpPr>
          <p:spPr>
            <a:xfrm flipH="1" flipV="1">
              <a:off x="5639040" y="3311188"/>
              <a:ext cx="71205" cy="298128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rot="16200000" flipH="1">
              <a:off x="4544623" y="3184935"/>
              <a:ext cx="445663" cy="2133971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>
              <a:stCxn id="44" idx="3"/>
              <a:endCxn id="41" idx="2"/>
            </p:cNvCxnSpPr>
            <p:nvPr/>
          </p:nvCxnSpPr>
          <p:spPr>
            <a:xfrm flipV="1">
              <a:off x="2618917" y="4051300"/>
              <a:ext cx="2245183" cy="494313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rot="5400000" flipH="1" flipV="1">
              <a:off x="2257415" y="4186255"/>
              <a:ext cx="342890" cy="0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>
              <a:stCxn id="30" idx="0"/>
              <a:endCxn id="23" idx="2"/>
            </p:cNvCxnSpPr>
            <p:nvPr/>
          </p:nvCxnSpPr>
          <p:spPr>
            <a:xfrm rot="16200000" flipV="1">
              <a:off x="1649002" y="3761198"/>
              <a:ext cx="312750" cy="880253"/>
            </a:xfrm>
            <a:prstGeom prst="line">
              <a:avLst/>
            </a:prstGeom>
            <a:ln w="28575">
              <a:solidFill>
                <a:srgbClr val="1157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右箭头 90"/>
            <p:cNvSpPr/>
            <p:nvPr/>
          </p:nvSpPr>
          <p:spPr>
            <a:xfrm>
              <a:off x="1428728" y="2568577"/>
              <a:ext cx="683648" cy="231664"/>
            </a:xfrm>
            <a:prstGeom prst="rightArrow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93" name="右箭头 92"/>
            <p:cNvSpPr/>
            <p:nvPr/>
          </p:nvSpPr>
          <p:spPr>
            <a:xfrm>
              <a:off x="6224280" y="2285998"/>
              <a:ext cx="468000" cy="214314"/>
            </a:xfrm>
            <a:prstGeom prst="rightArrow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  <a:scene3d>
              <a:camera prst="orthographicFront">
                <a:rot lat="0" lon="1080000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  <p:sp>
          <p:nvSpPr>
            <p:cNvPr id="94" name="右箭头 93"/>
            <p:cNvSpPr/>
            <p:nvPr/>
          </p:nvSpPr>
          <p:spPr>
            <a:xfrm>
              <a:off x="6072198" y="2970213"/>
              <a:ext cx="612000" cy="214314"/>
            </a:xfrm>
            <a:prstGeom prst="rightArrow">
              <a:avLst/>
            </a:prstGeom>
            <a:gradFill>
              <a:gsLst>
                <a:gs pos="100000">
                  <a:srgbClr val="11576A"/>
                </a:gs>
                <a:gs pos="0">
                  <a:srgbClr val="0EB1C8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ln>
              <a:noFill/>
            </a:ln>
            <a:scene3d>
              <a:camera prst="orthographicFront">
                <a:rot lat="0" lon="1080000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>
                <a:solidFill>
                  <a:srgbClr val="000000"/>
                </a:solidFill>
                <a:latin typeface="Verdana"/>
              </a:endParaRPr>
            </a:p>
          </p:txBody>
        </p:sp>
      </p:grpSp>
      <p:sp>
        <p:nvSpPr>
          <p:cNvPr id="68" name="Rectangle 3"/>
          <p:cNvSpPr>
            <a:spLocks noChangeArrowheads="1"/>
          </p:cNvSpPr>
          <p:nvPr/>
        </p:nvSpPr>
        <p:spPr bwMode="auto">
          <a:xfrm>
            <a:off x="2880597" y="6039006"/>
            <a:ext cx="5754927" cy="414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000" b="1" dirty="0">
                <a:solidFill>
                  <a:srgbClr val="11576A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微软雅黑" pitchFamily="34" charset="-122"/>
                <a:ea typeface="微软雅黑" pitchFamily="34" charset="-122"/>
              </a:rPr>
              <a:t>太过复杂，最后被抛弃</a:t>
            </a:r>
          </a:p>
        </p:txBody>
      </p:sp>
      <p:sp>
        <p:nvSpPr>
          <p:cNvPr id="52" name="标题 51">
            <a:extLst>
              <a:ext uri="{FF2B5EF4-FFF2-40B4-BE49-F238E27FC236}">
                <a16:creationId xmlns:a16="http://schemas.microsoft.com/office/drawing/2014/main" id="{0EC3E528-8FE8-EDD8-842D-C4779301B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轻权进程</a:t>
            </a:r>
            <a:r>
              <a:rPr lang="en-US" altLang="zh-CN" dirty="0"/>
              <a:t>(</a:t>
            </a:r>
            <a:r>
              <a:rPr lang="en-US" altLang="zh-CN" dirty="0" err="1"/>
              <a:t>LightWeight</a:t>
            </a:r>
            <a:r>
              <a:rPr lang="en-US" altLang="zh-CN" dirty="0"/>
              <a:t> Process)</a:t>
            </a:r>
            <a:endParaRPr lang="zh-CN" altLang="en-US" dirty="0"/>
          </a:p>
        </p:txBody>
      </p:sp>
      <p:sp>
        <p:nvSpPr>
          <p:cNvPr id="59" name="灯片编号占位符 5">
            <a:extLst>
              <a:ext uri="{FF2B5EF4-FFF2-40B4-BE49-F238E27FC236}">
                <a16:creationId xmlns:a16="http://schemas.microsoft.com/office/drawing/2014/main" id="{B39E3292-5ADB-2358-260B-812379BF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</p:spPr>
        <p:txBody>
          <a:bodyPr/>
          <a:lstStyle/>
          <a:p>
            <a:pPr algn="r" defTabSz="914400" fontAlgn="base">
              <a:spcAft>
                <a:spcPct val="0"/>
              </a:spcAft>
              <a:defRPr/>
            </a:pPr>
            <a:fld id="{B40D5C89-3F50-4E78-90D8-3CB123F8C3B8}" type="slidenum">
              <a:rPr lang="en-US" altLang="ko-KR">
                <a:solidFill>
                  <a:srgbClr val="FFFFFF"/>
                </a:solidFill>
                <a:latin typeface="Verdana" panose="020B0604030504040204" pitchFamily="34" charset="0"/>
              </a:rPr>
              <a:pPr algn="r" defTabSz="914400" fontAlgn="base">
                <a:spcAft>
                  <a:spcPct val="0"/>
                </a:spcAft>
                <a:defRPr/>
              </a:pPr>
              <a:t>27</a:t>
            </a:fld>
            <a:endParaRPr lang="en-US" altLang="ko-KR" dirty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88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3" grpId="0"/>
      <p:bldP spid="6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</p:spPr>
        <p:txBody>
          <a:bodyPr/>
          <a:lstStyle/>
          <a:p>
            <a:pPr algn="r" defTabSz="914400" fontAlgn="base">
              <a:spcAft>
                <a:spcPct val="0"/>
              </a:spcAft>
              <a:defRPr/>
            </a:pPr>
            <a:fld id="{B40D5C89-3F50-4E78-90D8-3CB123F8C3B8}" type="slidenum">
              <a:rPr lang="en-US" altLang="ko-KR">
                <a:solidFill>
                  <a:srgbClr val="FFFFFF"/>
                </a:solidFill>
                <a:latin typeface="Verdana" panose="020B0604030504040204" pitchFamily="34" charset="0"/>
              </a:rPr>
              <a:pPr algn="r" defTabSz="914400" fontAlgn="base">
                <a:spcAft>
                  <a:spcPct val="0"/>
                </a:spcAft>
                <a:defRPr/>
              </a:pPr>
              <a:t>28</a:t>
            </a:fld>
            <a:endParaRPr lang="en-US" altLang="ko-KR" dirty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009" y="1647825"/>
            <a:ext cx="7478642" cy="1900039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092325" y="4293137"/>
            <a:ext cx="831641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Jean-Pierre </a:t>
            </a:r>
            <a:r>
              <a:rPr lang="en-US" altLang="zh-CN" sz="1600" dirty="0" err="1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Lozi</a:t>
            </a:r>
            <a:r>
              <a:rPr lang="en-US" altLang="zh-CN" sz="16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, Baptiste Lepers, Justin Funston, Fabien Gaud, Vivien </a:t>
            </a:r>
            <a:r>
              <a:rPr lang="en-US" altLang="zh-CN" sz="1600" dirty="0" err="1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Quéma</a:t>
            </a:r>
            <a:r>
              <a:rPr lang="en-US" altLang="zh-CN" sz="16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, and Alexandra </a:t>
            </a:r>
            <a:r>
              <a:rPr lang="en-US" altLang="zh-CN" sz="1600" dirty="0" err="1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Fedorova</a:t>
            </a:r>
            <a:r>
              <a:rPr lang="en-US" altLang="zh-CN" sz="16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. 2016. The Linux scheduler: a decade of wasted cores. In </a:t>
            </a:r>
            <a:r>
              <a:rPr lang="en-US" altLang="zh-CN" sz="1600" i="1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Proceedings of the Eleventh European Conference on Computer Systems</a:t>
            </a:r>
            <a:r>
              <a:rPr lang="en-US" altLang="zh-CN" sz="16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 (</a:t>
            </a:r>
            <a:r>
              <a:rPr lang="en-US" altLang="zh-CN" sz="1600" dirty="0" err="1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EuroSys</a:t>
            </a:r>
            <a:r>
              <a:rPr lang="en-US" altLang="zh-CN" sz="16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'16). ACM, New York, NY, USA, Article 1, 16 pages. DOI: https://doi.org/10.1145/2901318.2901326</a:t>
            </a:r>
            <a:endParaRPr lang="zh-CN" altLang="en-US" sz="16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6056913" y="2788914"/>
            <a:ext cx="3518202" cy="6012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srgbClr val="000000"/>
              </a:solidFill>
              <a:latin typeface="Times New Roman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1747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5450" y="3088798"/>
            <a:ext cx="10801200" cy="680403"/>
          </a:xfrm>
        </p:spPr>
        <p:txBody>
          <a:bodyPr/>
          <a:lstStyle/>
          <a:p>
            <a:pPr algn="ctr"/>
            <a:r>
              <a:rPr lang="zh-CN" altLang="en-US" dirty="0"/>
              <a:t>到底哪种线程模型更好？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47200" y="6508750"/>
            <a:ext cx="2844800" cy="304800"/>
          </a:xfrm>
          <a:prstGeom prst="rect">
            <a:avLst/>
          </a:prstGeom>
        </p:spPr>
        <p:txBody>
          <a:bodyPr/>
          <a:lstStyle/>
          <a:p>
            <a:pPr defTabSz="914400" fontAlgn="base">
              <a:spcAft>
                <a:spcPct val="0"/>
              </a:spcAft>
              <a:defRPr/>
            </a:pPr>
            <a:fld id="{B40D5C89-3F50-4E78-90D8-3CB123F8C3B8}" type="slidenum">
              <a:rPr lang="en-US" altLang="ko-KR">
                <a:solidFill>
                  <a:srgbClr val="FFFFFF"/>
                </a:solidFill>
                <a:latin typeface="Verdana" panose="020B0604030504040204" pitchFamily="34" charset="0"/>
              </a:rPr>
              <a:pPr defTabSz="914400" fontAlgn="base">
                <a:spcAft>
                  <a:spcPct val="0"/>
                </a:spcAft>
                <a:defRPr/>
              </a:pPr>
              <a:t>29</a:t>
            </a:fld>
            <a:endParaRPr lang="en-US" altLang="ko-KR" dirty="0">
              <a:solidFill>
                <a:srgbClr val="FFFFFF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3958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调度的代价</a:t>
            </a:r>
          </a:p>
        </p:txBody>
      </p:sp>
      <p:sp>
        <p:nvSpPr>
          <p:cNvPr id="15363" name="内容占位符 4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2400" dirty="0"/>
              <a:t>i7</a:t>
            </a:r>
            <a:r>
              <a:rPr lang="zh-CN" altLang="en-US" sz="2400" dirty="0"/>
              <a:t>四核处理</a:t>
            </a:r>
            <a:endParaRPr lang="en-US" altLang="zh-CN" sz="2400" dirty="0"/>
          </a:p>
          <a:p>
            <a:r>
              <a:rPr lang="zh-CN" altLang="en-US" sz="2400" dirty="0"/>
              <a:t>四个完全独立的程序</a:t>
            </a:r>
            <a:r>
              <a:rPr lang="en-US" altLang="zh-CN" sz="2400" dirty="0"/>
              <a:t>(</a:t>
            </a:r>
            <a:r>
              <a:rPr lang="zh-CN" altLang="en-US" sz="2400" dirty="0"/>
              <a:t>用泰勒级数计算</a:t>
            </a:r>
            <a:r>
              <a:rPr lang="en-US" altLang="zh-CN" sz="2400" dirty="0" err="1"/>
              <a:t>pai</a:t>
            </a:r>
            <a:r>
              <a:rPr lang="en-US" altLang="zh-CN" sz="2400" dirty="0"/>
              <a:t>)</a:t>
            </a:r>
          </a:p>
          <a:p>
            <a:r>
              <a:rPr lang="zh-CN" altLang="en-US" sz="2400" dirty="0"/>
              <a:t>最后一个线程的完成时截止</a:t>
            </a:r>
            <a:endParaRPr lang="en-US" altLang="zh-CN" sz="2400" dirty="0"/>
          </a:p>
          <a:p>
            <a:r>
              <a:rPr lang="zh-CN" altLang="en-US" sz="2400" dirty="0"/>
              <a:t>单线程执行约</a:t>
            </a:r>
            <a:r>
              <a:rPr lang="en-US" altLang="zh-CN" sz="2400" dirty="0"/>
              <a:t>5</a:t>
            </a:r>
            <a:r>
              <a:rPr lang="zh-CN" altLang="en-US" sz="2400" dirty="0"/>
              <a:t>分钟</a:t>
            </a:r>
            <a:endParaRPr lang="en-US" altLang="zh-CN" sz="2400" dirty="0"/>
          </a:p>
          <a:p>
            <a:r>
              <a:rPr lang="zh-CN" altLang="en-US" sz="2400" dirty="0"/>
              <a:t>四线程与单线程一致</a:t>
            </a:r>
            <a:endParaRPr lang="en-US" altLang="zh-CN" sz="2400" dirty="0"/>
          </a:p>
          <a:p>
            <a:r>
              <a:rPr lang="en-US" altLang="zh-CN" sz="2400" dirty="0"/>
              <a:t>5</a:t>
            </a:r>
            <a:r>
              <a:rPr lang="zh-CN" altLang="en-US" sz="2400" dirty="0"/>
              <a:t>线程时，需要</a:t>
            </a:r>
            <a:r>
              <a:rPr lang="en-US" altLang="zh-CN" sz="2400" dirty="0"/>
              <a:t>8</a:t>
            </a:r>
            <a:r>
              <a:rPr lang="zh-CN" altLang="en-US" sz="2400" dirty="0"/>
              <a:t>分</a:t>
            </a:r>
            <a:r>
              <a:rPr lang="en-US" altLang="zh-CN" sz="2400" dirty="0"/>
              <a:t>40</a:t>
            </a:r>
            <a:r>
              <a:rPr lang="zh-CN" altLang="en-US" sz="2400" dirty="0"/>
              <a:t>秒（理论值为</a:t>
            </a:r>
            <a:r>
              <a:rPr lang="en-US" altLang="zh-CN" sz="2400" dirty="0"/>
              <a:t>6</a:t>
            </a:r>
            <a:r>
              <a:rPr lang="zh-CN" altLang="en-US" sz="2400" dirty="0"/>
              <a:t>分</a:t>
            </a:r>
            <a:r>
              <a:rPr lang="en-US" altLang="zh-CN" sz="2400" dirty="0"/>
              <a:t>15</a:t>
            </a:r>
            <a:r>
              <a:rPr lang="zh-CN" altLang="en-US" sz="2400" dirty="0"/>
              <a:t>秒）</a:t>
            </a:r>
            <a:endParaRPr lang="en-US" altLang="zh-CN" sz="2400" dirty="0"/>
          </a:p>
          <a:p>
            <a:endParaRPr lang="en-US" altLang="zh-CN" sz="2400" dirty="0"/>
          </a:p>
          <a:p>
            <a:endParaRPr lang="zh-CN" altLang="en-US" dirty="0"/>
          </a:p>
        </p:txBody>
      </p:sp>
      <p:pic>
        <p:nvPicPr>
          <p:cNvPr id="15364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6821" y="1392239"/>
            <a:ext cx="4813312" cy="270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8014767" y="4265432"/>
            <a:ext cx="2880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实验表明：华为鲲鹏</a:t>
            </a:r>
            <a:r>
              <a:rPr lang="en-US" altLang="zh-CN" dirty="0"/>
              <a:t>916</a:t>
            </a:r>
            <a:r>
              <a:rPr lang="zh-CN" altLang="en-US" dirty="0"/>
              <a:t>服务器的</a:t>
            </a:r>
            <a:r>
              <a:rPr lang="zh-CN" altLang="en-US" dirty="0">
                <a:solidFill>
                  <a:srgbClr val="FF0000"/>
                </a:solidFill>
              </a:rPr>
              <a:t>线程调度</a:t>
            </a:r>
            <a:r>
              <a:rPr lang="zh-CN" altLang="en-US" dirty="0"/>
              <a:t>时间约为</a:t>
            </a:r>
            <a:r>
              <a:rPr lang="en-US" altLang="zh-CN" dirty="0"/>
              <a:t>1900ns</a:t>
            </a:r>
            <a:r>
              <a:rPr lang="zh-CN" altLang="en-US" dirty="0"/>
              <a:t>，可供</a:t>
            </a:r>
            <a:r>
              <a:rPr lang="en-US" altLang="zh-CN" dirty="0"/>
              <a:t>1000</a:t>
            </a:r>
            <a:r>
              <a:rPr lang="zh-CN" altLang="en-US" dirty="0"/>
              <a:t>余条机器指令执行</a:t>
            </a:r>
          </a:p>
        </p:txBody>
      </p:sp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DBA06128-973C-5EC0-C8F4-6736701EC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4176" y="6547262"/>
            <a:ext cx="2844800" cy="304800"/>
          </a:xfrm>
        </p:spPr>
        <p:txBody>
          <a:bodyPr/>
          <a:lstStyle/>
          <a:p>
            <a:pPr>
              <a:defRPr/>
            </a:pPr>
            <a:fld id="{53EAEF3E-19BA-4213-A85B-1F689728CECF}" type="slidenum">
              <a:rPr lang="en-US" altLang="ko-KR" smtClean="0"/>
              <a:pPr>
                <a:defRPr/>
              </a:pPr>
              <a:t>30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09168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如何减少调度的代价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减少上下文切换涉及的寄存器数量？</a:t>
            </a:r>
            <a:endParaRPr lang="en-US" altLang="zh-CN" dirty="0"/>
          </a:p>
          <a:p>
            <a:r>
              <a:rPr lang="zh-CN" altLang="en-US" dirty="0"/>
              <a:t>减少不必要的权限切换？</a:t>
            </a:r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1CEA5D7F-8F1F-C34D-76A9-59BAFE29F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4176" y="6547262"/>
            <a:ext cx="2844800" cy="304800"/>
          </a:xfrm>
        </p:spPr>
        <p:txBody>
          <a:bodyPr/>
          <a:lstStyle/>
          <a:p>
            <a:pPr>
              <a:defRPr/>
            </a:pPr>
            <a:fld id="{53EAEF3E-19BA-4213-A85B-1F689728CECF}" type="slidenum">
              <a:rPr lang="en-US" altLang="ko-KR" smtClean="0"/>
              <a:pPr>
                <a:defRPr/>
              </a:pPr>
              <a:t>31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755020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进程管理中的新概念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纤程 </a:t>
            </a:r>
            <a:r>
              <a:rPr lang="en-US" altLang="zh-CN" dirty="0"/>
              <a:t>Fiber, </a:t>
            </a:r>
            <a:r>
              <a:rPr lang="en-US" altLang="zh-CN" dirty="0" err="1"/>
              <a:t>ucontext</a:t>
            </a:r>
            <a:endParaRPr lang="en-US" altLang="zh-CN" dirty="0"/>
          </a:p>
          <a:p>
            <a:r>
              <a:rPr lang="zh-CN" altLang="en-US" dirty="0"/>
              <a:t>协程 </a:t>
            </a:r>
            <a:r>
              <a:rPr lang="en-US" altLang="zh-CN" dirty="0" err="1"/>
              <a:t>coroutine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发挥</a:t>
            </a:r>
            <a:r>
              <a:rPr lang="en-US" altLang="zh-CN" dirty="0"/>
              <a:t>ULT</a:t>
            </a:r>
            <a:r>
              <a:rPr lang="zh-CN" altLang="en-US" dirty="0"/>
              <a:t>快速切换的优势</a:t>
            </a:r>
            <a:endParaRPr lang="en-US" altLang="zh-CN" dirty="0"/>
          </a:p>
          <a:p>
            <a:r>
              <a:rPr lang="zh-CN" altLang="en-US" dirty="0"/>
              <a:t>在编程时提出对程序员的限制，要求他们妥善的设计代码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6D3C94-372B-2128-27DA-BB01E90D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EAEF3E-19BA-4213-A85B-1F689728CECF}" type="slidenum">
              <a:rPr lang="en-US" altLang="ko-KR" smtClean="0"/>
              <a:pPr>
                <a:defRPr/>
              </a:pPr>
              <a:t>32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990427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示例</a:t>
            </a:r>
          </a:p>
        </p:txBody>
      </p:sp>
      <p:pic>
        <p:nvPicPr>
          <p:cNvPr id="8" name="内容占位符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6935" y="1570038"/>
            <a:ext cx="6578130" cy="4351337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044788" y="6030396"/>
            <a:ext cx="61024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图片来自https://www.jianshu.com/p/dfd7ac1402f0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71B5EDF-57C7-BE89-04CE-B46D3C569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EAEF3E-19BA-4213-A85B-1F689728CECF}" type="slidenum">
              <a:rPr lang="en-US" altLang="ko-KR" smtClean="0"/>
              <a:pPr>
                <a:defRPr/>
              </a:pPr>
              <a:t>33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9435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示例</a:t>
            </a: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9027" y="1570038"/>
            <a:ext cx="6513946" cy="4351337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044788" y="6030396"/>
            <a:ext cx="61024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图片来自https://www.jianshu.com/p/dfd7ac1402f0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B214087-40A1-5A5E-4B0F-1C475C9A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EAEF3E-19BA-4213-A85B-1F689728CECF}" type="slidenum">
              <a:rPr lang="en-US" altLang="ko-KR" smtClean="0"/>
              <a:pPr>
                <a:defRPr/>
              </a:pPr>
              <a:t>34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5863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theme1.xml><?xml version="1.0" encoding="utf-8"?>
<a:theme xmlns:a="http://schemas.openxmlformats.org/drawingml/2006/main" name="psh3_Print">
  <a:themeElements>
    <a:clrScheme name="psh3_Print 2">
      <a:dk1>
        <a:srgbClr val="000000"/>
      </a:dk1>
      <a:lt1>
        <a:srgbClr val="FFFFFF"/>
      </a:lt1>
      <a:dk2>
        <a:srgbClr val="003366"/>
      </a:dk2>
      <a:lt2>
        <a:srgbClr val="CCCCCC"/>
      </a:lt2>
      <a:accent1>
        <a:srgbClr val="C0C9F6"/>
      </a:accent1>
      <a:accent2>
        <a:srgbClr val="A1B67A"/>
      </a:accent2>
      <a:accent3>
        <a:srgbClr val="FFFFFF"/>
      </a:accent3>
      <a:accent4>
        <a:srgbClr val="000000"/>
      </a:accent4>
      <a:accent5>
        <a:srgbClr val="DCE1FA"/>
      </a:accent5>
      <a:accent6>
        <a:srgbClr val="91A56E"/>
      </a:accent6>
      <a:hlink>
        <a:srgbClr val="789ED0"/>
      </a:hlink>
      <a:folHlink>
        <a:srgbClr val="B2B2B2"/>
      </a:folHlink>
    </a:clrScheme>
    <a:fontScheme name="自定义 5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sh3_Print 1">
        <a:dk1>
          <a:srgbClr val="5F5F5F"/>
        </a:dk1>
        <a:lt1>
          <a:srgbClr val="FFFFFF"/>
        </a:lt1>
        <a:dk2>
          <a:srgbClr val="000000"/>
        </a:dk2>
        <a:lt2>
          <a:srgbClr val="DDDDDD"/>
        </a:lt2>
        <a:accent1>
          <a:srgbClr val="C0C0C0"/>
        </a:accent1>
        <a:accent2>
          <a:srgbClr val="EAEAEA"/>
        </a:accent2>
        <a:accent3>
          <a:srgbClr val="FFFFFF"/>
        </a:accent3>
        <a:accent4>
          <a:srgbClr val="505050"/>
        </a:accent4>
        <a:accent5>
          <a:srgbClr val="DCDCDC"/>
        </a:accent5>
        <a:accent6>
          <a:srgbClr val="D4D4D4"/>
        </a:accent6>
        <a:hlink>
          <a:srgbClr val="4D4D4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2">
        <a:dk1>
          <a:srgbClr val="000000"/>
        </a:dk1>
        <a:lt1>
          <a:srgbClr val="FFFFFF"/>
        </a:lt1>
        <a:dk2>
          <a:srgbClr val="003366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000000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h3_Print 3">
        <a:dk1>
          <a:srgbClr val="384868"/>
        </a:dk1>
        <a:lt1>
          <a:srgbClr val="FFFFFF"/>
        </a:lt1>
        <a:dk2>
          <a:srgbClr val="000000"/>
        </a:dk2>
        <a:lt2>
          <a:srgbClr val="CCCCCC"/>
        </a:lt2>
        <a:accent1>
          <a:srgbClr val="C0C9F6"/>
        </a:accent1>
        <a:accent2>
          <a:srgbClr val="A1B67A"/>
        </a:accent2>
        <a:accent3>
          <a:srgbClr val="FFFFFF"/>
        </a:accent3>
        <a:accent4>
          <a:srgbClr val="2E3C58"/>
        </a:accent4>
        <a:accent5>
          <a:srgbClr val="DCE1FA"/>
        </a:accent5>
        <a:accent6>
          <a:srgbClr val="91A56E"/>
        </a:accent6>
        <a:hlink>
          <a:srgbClr val="789ED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1510</Words>
  <Application>Microsoft Office PowerPoint</Application>
  <PresentationFormat>宽屏</PresentationFormat>
  <Paragraphs>256</Paragraphs>
  <Slides>34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7" baseType="lpstr">
      <vt:lpstr>等线</vt:lpstr>
      <vt:lpstr>等线 Light</vt:lpstr>
      <vt:lpstr>喵呜黑体</vt:lpstr>
      <vt:lpstr>宋体</vt:lpstr>
      <vt:lpstr>宋体</vt:lpstr>
      <vt:lpstr>微软雅黑</vt:lpstr>
      <vt:lpstr>张海山锐谐体2.0-授权联系：Samtype@QQ.com</vt:lpstr>
      <vt:lpstr>Arial</vt:lpstr>
      <vt:lpstr>Times New Roman</vt:lpstr>
      <vt:lpstr>Verdana</vt:lpstr>
      <vt:lpstr>Wingdings</vt:lpstr>
      <vt:lpstr>psh3_Print</vt:lpstr>
      <vt:lpstr>Office 主题​​</vt:lpstr>
      <vt:lpstr>操作系统</vt:lpstr>
      <vt:lpstr>章节5：进程间通信与并发控制</vt:lpstr>
      <vt:lpstr>线程的发展</vt:lpstr>
      <vt:lpstr>How to implement this GAME</vt:lpstr>
      <vt:lpstr>流戏开发者的需求</vt:lpstr>
      <vt:lpstr>进程可以很好的支持多段程序的快速交叉执行，但是不能实现数据高效共享</vt:lpstr>
      <vt:lpstr>Thread</vt:lpstr>
      <vt:lpstr>进程和线程的编程方式</vt:lpstr>
      <vt:lpstr>线程创建</vt:lpstr>
      <vt:lpstr>Implementing Threads (2)</vt:lpstr>
      <vt:lpstr>Implementing Threads (3)</vt:lpstr>
      <vt:lpstr>Implementing Threads (4)</vt:lpstr>
      <vt:lpstr>Implementing Threads (1)</vt:lpstr>
      <vt:lpstr>Implementing Threads (5)</vt:lpstr>
      <vt:lpstr>Implementing Threads (6)</vt:lpstr>
      <vt:lpstr>Implementing Threads (7)</vt:lpstr>
      <vt:lpstr>线程的概念</vt:lpstr>
      <vt:lpstr>进程和线程的关系</vt:lpstr>
      <vt:lpstr>The Thread Model (７)</vt:lpstr>
      <vt:lpstr>The Thread Model (８)</vt:lpstr>
      <vt:lpstr>openEuler线程创建过程分析与对比</vt:lpstr>
      <vt:lpstr>openEuler线程复制过程分析与对比</vt:lpstr>
      <vt:lpstr>openEuler线程上下文切换过程分析与对比</vt:lpstr>
      <vt:lpstr>不同操作系统对线程的支持</vt:lpstr>
      <vt:lpstr>线程与进程的比较 </vt:lpstr>
      <vt:lpstr>用户线程与内核线程的对应关系</vt:lpstr>
      <vt:lpstr>轻权进程(LightWeight Process)</vt:lpstr>
      <vt:lpstr>PowerPoint 演示文稿</vt:lpstr>
      <vt:lpstr>到底哪种线程模型更好？</vt:lpstr>
      <vt:lpstr>调度的代价</vt:lpstr>
      <vt:lpstr>如何减少调度的代价</vt:lpstr>
      <vt:lpstr>进程管理中的新概念</vt:lpstr>
      <vt:lpstr>示例</vt:lpstr>
      <vt:lpstr>示例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2023-11-03T02:44:21Z</dcterms:created>
  <dcterms:modified xsi:type="dcterms:W3CDTF">2025-10-21T03:22:51Z</dcterms:modified>
</cp:coreProperties>
</file>