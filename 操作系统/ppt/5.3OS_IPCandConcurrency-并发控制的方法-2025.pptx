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6" r:id="rId1"/>
    <p:sldMasterId id="2147484017" r:id="rId2"/>
    <p:sldMasterId id="2147484029" r:id="rId3"/>
  </p:sldMasterIdLst>
  <p:notesMasterIdLst>
    <p:notesMasterId r:id="rId75"/>
  </p:notesMasterIdLst>
  <p:handoutMasterIdLst>
    <p:handoutMasterId r:id="rId76"/>
  </p:handoutMasterIdLst>
  <p:sldIdLst>
    <p:sldId id="2686" r:id="rId4"/>
    <p:sldId id="1962" r:id="rId5"/>
    <p:sldId id="658" r:id="rId6"/>
    <p:sldId id="512" r:id="rId7"/>
    <p:sldId id="385" r:id="rId8"/>
    <p:sldId id="386" r:id="rId9"/>
    <p:sldId id="387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607" r:id="rId19"/>
    <p:sldId id="608" r:id="rId20"/>
    <p:sldId id="609" r:id="rId21"/>
    <p:sldId id="532" r:id="rId22"/>
    <p:sldId id="533" r:id="rId23"/>
    <p:sldId id="534" r:id="rId24"/>
    <p:sldId id="535" r:id="rId25"/>
    <p:sldId id="536" r:id="rId26"/>
    <p:sldId id="611" r:id="rId27"/>
    <p:sldId id="399" r:id="rId28"/>
    <p:sldId id="400" r:id="rId29"/>
    <p:sldId id="402" r:id="rId30"/>
    <p:sldId id="404" r:id="rId31"/>
    <p:sldId id="403" r:id="rId32"/>
    <p:sldId id="605" r:id="rId33"/>
    <p:sldId id="442" r:id="rId34"/>
    <p:sldId id="441" r:id="rId35"/>
    <p:sldId id="542" r:id="rId36"/>
    <p:sldId id="543" r:id="rId37"/>
    <p:sldId id="545" r:id="rId38"/>
    <p:sldId id="544" r:id="rId39"/>
    <p:sldId id="546" r:id="rId40"/>
    <p:sldId id="659" r:id="rId41"/>
    <p:sldId id="660" r:id="rId42"/>
    <p:sldId id="410" r:id="rId43"/>
    <p:sldId id="558" r:id="rId44"/>
    <p:sldId id="557" r:id="rId45"/>
    <p:sldId id="409" r:id="rId46"/>
    <p:sldId id="547" r:id="rId47"/>
    <p:sldId id="1963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411" r:id="rId60"/>
    <p:sldId id="412" r:id="rId61"/>
    <p:sldId id="413" r:id="rId62"/>
    <p:sldId id="414" r:id="rId63"/>
    <p:sldId id="415" r:id="rId64"/>
    <p:sldId id="559" r:id="rId65"/>
    <p:sldId id="560" r:id="rId66"/>
    <p:sldId id="561" r:id="rId67"/>
    <p:sldId id="563" r:id="rId68"/>
    <p:sldId id="648" r:id="rId69"/>
    <p:sldId id="564" r:id="rId70"/>
    <p:sldId id="549" r:id="rId71"/>
    <p:sldId id="550" r:id="rId72"/>
    <p:sldId id="565" r:id="rId73"/>
    <p:sldId id="281" r:id="rId7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orient="horz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FFFFCC"/>
    <a:srgbClr val="F5E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5" autoAdjust="0"/>
    <p:restoredTop sz="82084" autoAdjust="0"/>
  </p:normalViewPr>
  <p:slideViewPr>
    <p:cSldViewPr>
      <p:cViewPr varScale="1">
        <p:scale>
          <a:sx n="96" d="100"/>
          <a:sy n="96" d="100"/>
        </p:scale>
        <p:origin x="1190" y="82"/>
      </p:cViewPr>
      <p:guideLst>
        <p:guide orient="horz" pos="981"/>
        <p:guide pos="3840"/>
        <p:guide pos="438"/>
        <p:guide orient="horz"/>
      </p:guideLst>
    </p:cSldViewPr>
  </p:slideViewPr>
  <p:outlineViewPr>
    <p:cViewPr>
      <p:scale>
        <a:sx n="33" d="100"/>
        <a:sy n="33" d="100"/>
      </p:scale>
      <p:origin x="0" y="-50534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E4ABB15-50C4-40DC-95CF-8B1AC1B142F4}" type="datetimeFigureOut">
              <a:rPr lang="zh-CN" altLang="en-US"/>
              <a:pPr>
                <a:defRPr/>
              </a:pPr>
              <a:t>2025/10/28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04A0A3-7373-458D-8590-FCB078CB95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DF67F5C-661C-4611-9722-59F2815423B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2EC2A0-6CE8-46C2-A634-8EE786004A27}" type="slidenum">
              <a:rPr lang="zh-CN" altLang="en-US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391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47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494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78461" y="8699500"/>
            <a:ext cx="2992934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37" tIns="0" rIns="18737" bIns="0" anchor="b"/>
          <a:lstStyle>
            <a:lvl1pPr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/>
            <a:fld id="{FE277008-7650-C446-8624-0C522A40D063}" type="slidenum">
              <a:rPr lang="zh-CN" altLang="en-US" sz="1000" i="1">
                <a:ea typeface="宋体" charset="0"/>
                <a:cs typeface="宋体" charset="0"/>
              </a:rPr>
              <a:pPr algn="r"/>
              <a:t>19</a:t>
            </a:fld>
            <a:endParaRPr lang="en-US" altLang="zh-CN" sz="1000" i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406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78461" y="8699500"/>
            <a:ext cx="2992934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37" tIns="0" rIns="18737" bIns="0" anchor="b"/>
          <a:lstStyle>
            <a:lvl1pPr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/>
            <a:fld id="{FE277008-7650-C446-8624-0C522A40D063}" type="slidenum">
              <a:rPr lang="zh-CN" altLang="en-US" sz="1000" i="1">
                <a:ea typeface="宋体" charset="0"/>
                <a:cs typeface="宋体" charset="0"/>
              </a:rPr>
              <a:pPr algn="r"/>
              <a:t>20</a:t>
            </a:fld>
            <a:endParaRPr lang="en-US" altLang="zh-CN" sz="1000" i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60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78461" y="8699500"/>
            <a:ext cx="2992934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37" tIns="0" rIns="18737" bIns="0" anchor="b"/>
          <a:lstStyle>
            <a:lvl1pPr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/>
            <a:fld id="{FE277008-7650-C446-8624-0C522A40D063}" type="slidenum">
              <a:rPr lang="zh-CN" altLang="en-US" sz="1000" i="1">
                <a:ea typeface="宋体" charset="0"/>
                <a:cs typeface="宋体" charset="0"/>
              </a:rPr>
              <a:pPr algn="r"/>
              <a:t>21</a:t>
            </a:fld>
            <a:endParaRPr lang="en-US" altLang="zh-CN" sz="1000" i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60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78461" y="8699500"/>
            <a:ext cx="2992934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37" tIns="0" rIns="18737" bIns="0" anchor="b"/>
          <a:lstStyle>
            <a:lvl1pPr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/>
            <a:fld id="{FE277008-7650-C446-8624-0C522A40D063}" type="slidenum">
              <a:rPr lang="zh-CN" altLang="en-US" sz="1000" i="1">
                <a:ea typeface="宋体" charset="0"/>
                <a:cs typeface="宋体" charset="0"/>
              </a:rPr>
              <a:pPr algn="r"/>
              <a:t>22</a:t>
            </a:fld>
            <a:endParaRPr lang="en-US" altLang="zh-CN" sz="1000" i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48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30724" name="灯片编号占位符 3"/>
          <p:cNvSpPr txBox="1">
            <a:spLocks noGrp="1" noChangeArrowheads="1"/>
          </p:cNvSpPr>
          <p:nvPr/>
        </p:nvSpPr>
        <p:spPr bwMode="auto">
          <a:xfrm>
            <a:off x="3878461" y="8699500"/>
            <a:ext cx="2992934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37" tIns="0" rIns="18737" bIns="0" anchor="b"/>
          <a:lstStyle>
            <a:lvl1pPr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defTabSz="947738"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/>
            <a:fld id="{FE277008-7650-C446-8624-0C522A40D063}" type="slidenum">
              <a:rPr lang="zh-CN" altLang="en-US" sz="1000" i="1">
                <a:ea typeface="宋体" charset="0"/>
                <a:cs typeface="宋体" charset="0"/>
              </a:rPr>
              <a:pPr algn="r"/>
              <a:t>23</a:t>
            </a:fld>
            <a:endParaRPr lang="en-US" altLang="zh-CN" sz="1000" i="1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4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02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463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54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6F756C-1F91-466B-84A4-98DE4795CC02}" type="slidenum">
              <a:rPr lang="zh-CN" altLang="en-US" smtClean="0">
                <a:latin typeface="Arial" panose="020B0604020202020204" pitchFamily="34" charset="0"/>
              </a:rPr>
              <a:pPr/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59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401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9770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E207DA-5206-441D-B03F-303C562593AD}" type="slidenum">
              <a:rPr lang="zh-CN" altLang="en-US" smtClean="0">
                <a:latin typeface="Arial" panose="020B0604020202020204" pitchFamily="34" charset="0"/>
              </a:rPr>
              <a:pPr/>
              <a:t>58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9728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82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0987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42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342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F67F5C-661C-4611-9722-59F2815423B1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700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 userDrawn="1"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0" y="1125539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0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4D886C4-3F9F-4FA8-AC55-4D025BDCE63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9038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FC42706-8AA4-F636-D0C3-0403DC1F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58AA6015-4075-5186-227C-0DF5B97A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62205634-E0CC-A634-33E7-C3A17EB7C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9F7C76-ACF4-598A-B30C-174E4C3B86A2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3" name="任意多边形: 形状 7">
              <a:extLst>
                <a:ext uri="{FF2B5EF4-FFF2-40B4-BE49-F238E27FC236}">
                  <a16:creationId xmlns:a16="http://schemas.microsoft.com/office/drawing/2014/main" id="{0AA743AC-90A1-C54A-A440-BFEF26AA00AA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1BC2C7A-9EDE-398C-1866-C2C3DF5F09AD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EE7B678-F241-85C3-A16B-8A4C743B2F8E}"/>
              </a:ext>
            </a:extLst>
          </p:cNvPr>
          <p:cNvSpPr txBox="1"/>
          <p:nvPr userDrawn="1"/>
        </p:nvSpPr>
        <p:spPr>
          <a:xfrm>
            <a:off x="152400" y="0"/>
            <a:ext cx="6807696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：进程间通信与并发控制</a:t>
            </a:r>
          </a:p>
        </p:txBody>
      </p:sp>
    </p:spTree>
    <p:extLst>
      <p:ext uri="{BB962C8B-B14F-4D97-AF65-F5344CB8AC3E}">
        <p14:creationId xmlns:p14="http://schemas.microsoft.com/office/powerpoint/2010/main" val="195333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F5B991C-2504-B90D-707E-2F4BE818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38AC2C9D-1BBC-44D3-5D27-D84AD268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101CCB50-3130-8446-7327-B132FCE9F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FF17FB-9C8F-4249-8706-8FE16D91A702}"/>
              </a:ext>
            </a:extLst>
          </p:cNvPr>
          <p:cNvSpPr txBox="1"/>
          <p:nvPr userDrawn="1"/>
        </p:nvSpPr>
        <p:spPr>
          <a:xfrm>
            <a:off x="152400" y="0"/>
            <a:ext cx="6807696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：进程间通信与并发控制</a:t>
            </a:r>
          </a:p>
        </p:txBody>
      </p:sp>
    </p:spTree>
    <p:extLst>
      <p:ext uri="{BB962C8B-B14F-4D97-AF65-F5344CB8AC3E}">
        <p14:creationId xmlns:p14="http://schemas.microsoft.com/office/powerpoint/2010/main" val="26051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AEF3E-19BA-4213-A85B-1F689728CE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227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9EF51-6B99-4AD4-83F1-F6D419B391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79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20DB9-B0E4-4A81-988C-FBBB732D6F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134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35390-FBD5-4AD1-9630-7751BB08F3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602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EC0BD-1C9B-4238-BAF6-47B27DB792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053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AC306-6975-496A-BFBA-CFB773CDD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801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A2EBF-6055-449F-99EE-9C06F5875D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1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1EBB3-3E84-49FA-B91F-7EF666384B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5092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282E1-CAC2-4021-9FE3-D87A9FFFE4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0627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D5C89-3F50-4E78-90D8-3CB123F8C3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1860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2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846B4C-16BF-4D62-8241-40D33E8058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283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B598EF-7AE5-40FD-AD7A-7EA641BEF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18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537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5153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1363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0369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042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9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2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504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70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0416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856621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090816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12908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1400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89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969518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C174A42-3524-63A3-2C79-B40655B149AB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82ECCF-C647-0675-D5C5-33E981887A80}"/>
              </a:ext>
            </a:extLst>
          </p:cNvPr>
          <p:cNvSpPr/>
          <p:nvPr userDrawn="1"/>
        </p:nvSpPr>
        <p:spPr>
          <a:xfrm>
            <a:off x="-1" y="-635"/>
            <a:ext cx="12191365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BA7E19-A017-4FC6-B374-B2CEA5E011F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16" r:id="rId14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5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0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video.mobisys.cc/OSMOOC/02%E8%BF%9B%E7%A8%8B/17.4%20%E5%9F%BA%E4%BA%8E%E8%BD%AF%E4%BB%B6%E7%9A%84%E5%90%8C%E6%AD%A5%E6%96%B9%E6%B3%95.mp4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375"/>
            <a:ext cx="12192000" cy="119221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：进程间通信与并发控制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3E0B46-D0AC-A7EA-C0AB-26E162BB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B35390-FBD5-4AD1-9630-7751BB08F3CC}" type="slidenum">
              <a:rPr kumimoji="0" lang="en-US" altLang="ko-KR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0A04650-E05E-4FBC-7296-428F9C7D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778816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前情提要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EEA2C3-C462-9629-6C4A-F8E90C8E2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52200"/>
            <a:ext cx="11233248" cy="5136429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sz="1600" dirty="0"/>
              <a:t>多个进程在同一台机器上共生时，</a:t>
            </a:r>
            <a:r>
              <a:rPr lang="zh-CN" altLang="en-US" sz="1600" dirty="0">
                <a:solidFill>
                  <a:srgbClr val="FF0000"/>
                </a:solidFill>
              </a:rPr>
              <a:t>数据安全</a:t>
            </a:r>
            <a:r>
              <a:rPr lang="zh-CN" altLang="en-US" sz="1600" dirty="0"/>
              <a:t>成为一个关键问题，通常需要得到硬件的帮助才能保证软件的保护措施不被轻易绕过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硬件安全机制包括分段模式的时候对</a:t>
            </a:r>
            <a:r>
              <a:rPr lang="zh-CN" altLang="en-US" sz="1600" dirty="0">
                <a:solidFill>
                  <a:srgbClr val="FF0000"/>
                </a:solidFill>
              </a:rPr>
              <a:t>段长度的限制</a:t>
            </a:r>
            <a:r>
              <a:rPr lang="zh-CN" altLang="en-US" sz="1600" dirty="0"/>
              <a:t>，以分隔应用程序；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以及分页机制时页表的隔离，以及对</a:t>
            </a:r>
            <a:r>
              <a:rPr lang="zh-CN" altLang="en-US" sz="1600" dirty="0">
                <a:solidFill>
                  <a:srgbClr val="FF0000"/>
                </a:solidFill>
              </a:rPr>
              <a:t>页面权限的标记</a:t>
            </a:r>
            <a:r>
              <a:rPr lang="zh-CN" altLang="en-US" sz="1600" dirty="0"/>
              <a:t>区分</a:t>
            </a:r>
            <a:r>
              <a:rPr lang="en-US" altLang="zh-CN" sz="1600" dirty="0"/>
              <a:t>OS</a:t>
            </a:r>
            <a:r>
              <a:rPr lang="zh-CN" altLang="en-US" sz="1600" dirty="0"/>
              <a:t>区域和用户区域（这并不是一个好的设计，只是为了图省事）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对应于页面的权限标记，</a:t>
            </a:r>
            <a:r>
              <a:rPr lang="en-US" altLang="zh-CN" sz="1600" dirty="0">
                <a:solidFill>
                  <a:srgbClr val="FF0000"/>
                </a:solidFill>
              </a:rPr>
              <a:t>CPU</a:t>
            </a:r>
            <a:r>
              <a:rPr lang="zh-CN" altLang="en-US" sz="1600" dirty="0">
                <a:solidFill>
                  <a:srgbClr val="FF0000"/>
                </a:solidFill>
              </a:rPr>
              <a:t>中也有相应的权限标记，</a:t>
            </a:r>
            <a:r>
              <a:rPr lang="zh-CN" altLang="en-US" sz="1600" dirty="0"/>
              <a:t>对应于当前处于</a:t>
            </a:r>
            <a:r>
              <a:rPr lang="en-US" altLang="zh-CN" sz="1600" dirty="0"/>
              <a:t>OS</a:t>
            </a:r>
            <a:r>
              <a:rPr lang="zh-CN" altLang="en-US" sz="1600" dirty="0"/>
              <a:t>状态还是用户状态。仅有</a:t>
            </a:r>
            <a:r>
              <a:rPr lang="en-US" altLang="zh-CN" sz="1600" dirty="0"/>
              <a:t>CPU</a:t>
            </a:r>
            <a:r>
              <a:rPr lang="zh-CN" altLang="en-US" sz="1600" dirty="0"/>
              <a:t>权限标记与页面权限能够满足要求时，才能放行相庆的访问请求</a:t>
            </a:r>
            <a:endParaRPr lang="en-US" altLang="zh-CN" sz="1600" dirty="0"/>
          </a:p>
          <a:p>
            <a:pPr eaLnBrk="1" hangingPunct="1"/>
            <a:r>
              <a:rPr lang="zh-CN" altLang="en-US" sz="1600" dirty="0">
                <a:solidFill>
                  <a:srgbClr val="FF0000"/>
                </a:solidFill>
              </a:rPr>
              <a:t>中断</a:t>
            </a:r>
            <a:r>
              <a:rPr lang="zh-CN" altLang="en-US" sz="1600" dirty="0"/>
              <a:t>的响应需要提升</a:t>
            </a:r>
            <a:r>
              <a:rPr lang="en-US" altLang="zh-CN" sz="1600" dirty="0"/>
              <a:t>CPU</a:t>
            </a:r>
            <a:r>
              <a:rPr lang="zh-CN" altLang="en-US" sz="1600" dirty="0"/>
              <a:t>的运行状态权限，以完成对硬件的处理，因此硬件设计了类似门机制以</a:t>
            </a:r>
            <a:r>
              <a:rPr lang="zh-CN" altLang="en-US" sz="1600" dirty="0">
                <a:solidFill>
                  <a:srgbClr val="FF0000"/>
                </a:solidFill>
              </a:rPr>
              <a:t>提升权限，并运行指定的代码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运行于用户态的程序有主动提升权限的需求，因此借鉴类似中断的模式，设计了</a:t>
            </a:r>
            <a:r>
              <a:rPr lang="zh-CN" altLang="en-US" sz="1600" dirty="0">
                <a:solidFill>
                  <a:srgbClr val="FF0000"/>
                </a:solidFill>
              </a:rPr>
              <a:t>系统调用</a:t>
            </a:r>
            <a:r>
              <a:rPr lang="zh-CN" altLang="en-US" sz="1600" dirty="0"/>
              <a:t>，用以调用内核提供的函数，并实现用户开发与内核开发的隔离</a:t>
            </a:r>
          </a:p>
          <a:p>
            <a:pPr eaLnBrk="1" hangingPunct="1"/>
            <a:r>
              <a:rPr lang="zh-CN" altLang="en-US" sz="1600" dirty="0"/>
              <a:t>进程间的地址空间是独立的的，但是进程的内核共享的（这并不是一个好的设计，是一个图省事的折衷）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因此需要一些额外的手段实现进程间通信，常见的几种方式包括：信号，管道，消息队列和共享内存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除共享内存外，其他的通信机制均需要借助</a:t>
            </a:r>
            <a:r>
              <a:rPr lang="en-US" altLang="zh-CN" sz="1600" dirty="0"/>
              <a:t>OS</a:t>
            </a:r>
            <a:r>
              <a:rPr lang="zh-CN" altLang="en-US" sz="1600" dirty="0"/>
              <a:t>来实现。这样的坏处是需要</a:t>
            </a:r>
            <a:r>
              <a:rPr lang="zh-CN" altLang="en-US" sz="1600" dirty="0">
                <a:solidFill>
                  <a:srgbClr val="FF0000"/>
                </a:solidFill>
              </a:rPr>
              <a:t>发起</a:t>
            </a:r>
            <a:r>
              <a:rPr lang="en-US" altLang="zh-CN" sz="1600" dirty="0" err="1">
                <a:solidFill>
                  <a:srgbClr val="FF0000"/>
                </a:solidFill>
              </a:rPr>
              <a:t>syscall</a:t>
            </a:r>
            <a:r>
              <a:rPr lang="en-US" altLang="zh-CN" sz="1600" dirty="0"/>
              <a:t>(</a:t>
            </a:r>
            <a:r>
              <a:rPr lang="zh-CN" altLang="en-US" sz="1600" dirty="0"/>
              <a:t>消耗数百至上千个时钟周期</a:t>
            </a:r>
            <a:r>
              <a:rPr lang="en-US" altLang="zh-CN" sz="1600" dirty="0"/>
              <a:t>)</a:t>
            </a:r>
            <a:r>
              <a:rPr lang="zh-CN" altLang="en-US" sz="1600" dirty="0"/>
              <a:t>好处是有人“</a:t>
            </a:r>
            <a:r>
              <a:rPr lang="zh-CN" altLang="en-US" sz="1600" dirty="0">
                <a:solidFill>
                  <a:srgbClr val="FF0000"/>
                </a:solidFill>
              </a:rPr>
              <a:t>维护秩序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共享内存需要对页表的机制做轻微的调整，使得一个物理页，同时出现在两个进程的虚拟地址空间中，这样可以</a:t>
            </a:r>
            <a:r>
              <a:rPr lang="zh-CN" altLang="en-US" sz="1600" dirty="0">
                <a:solidFill>
                  <a:srgbClr val="FF0000"/>
                </a:solidFill>
              </a:rPr>
              <a:t>高效的通信</a:t>
            </a:r>
            <a:r>
              <a:rPr lang="zh-CN" altLang="en-US" sz="1600" dirty="0"/>
              <a:t>，但是需要借助其他的通道</a:t>
            </a:r>
            <a:r>
              <a:rPr lang="zh-CN" altLang="en-US" sz="1600" dirty="0">
                <a:solidFill>
                  <a:srgbClr val="FF0000"/>
                </a:solidFill>
              </a:rPr>
              <a:t>标定通信的状态</a:t>
            </a:r>
            <a:r>
              <a:rPr lang="zh-CN" altLang="en-US" sz="1600" dirty="0"/>
              <a:t>（如信息发送完成与否等）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将这个思路无限放到，最极端的情况就是两个进程的所有空间共享，于是我们得到了</a:t>
            </a:r>
            <a:r>
              <a:rPr lang="zh-CN" altLang="en-US" sz="1600" dirty="0">
                <a:solidFill>
                  <a:srgbClr val="FF0000"/>
                </a:solidFill>
              </a:rPr>
              <a:t>线程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1600" dirty="0"/>
              <a:t>线程的本质是多个进程共享页表，而每个人有独立的上下文，从而可以实现多个线程各自执行独立的函数</a:t>
            </a:r>
            <a:endParaRPr lang="en-US" altLang="zh-CN" sz="1600" dirty="0"/>
          </a:p>
          <a:p>
            <a:pPr eaLnBrk="1" hangingPunct="1"/>
            <a:r>
              <a:rPr lang="zh-CN" altLang="en-US" sz="1600" dirty="0"/>
              <a:t>线程的发展经过了从用户态到内核态又回到用户态的过程。</a:t>
            </a:r>
            <a:r>
              <a:rPr lang="en-US" altLang="zh-CN" sz="1600" dirty="0"/>
              <a:t>OS</a:t>
            </a:r>
            <a:r>
              <a:rPr lang="zh-CN" altLang="en-US" sz="1600" dirty="0"/>
              <a:t>是一个基础设施，不会轻易改变，因此</a:t>
            </a:r>
            <a:r>
              <a:rPr lang="zh-CN" altLang="en-US" sz="1600" dirty="0">
                <a:solidFill>
                  <a:srgbClr val="FF0000"/>
                </a:solidFill>
              </a:rPr>
              <a:t>先有用户态线程</a:t>
            </a:r>
            <a:r>
              <a:rPr lang="zh-CN" altLang="en-US" sz="1600" dirty="0"/>
              <a:t>，直至技术和接口趋于成熟应用广泛时开始出现内核态（即一个进程在</a:t>
            </a:r>
            <a:r>
              <a:rPr lang="zh-CN" altLang="en-US" sz="1600" dirty="0">
                <a:solidFill>
                  <a:srgbClr val="FF0000"/>
                </a:solidFill>
              </a:rPr>
              <a:t>内核空间有多套上下文，对应多个线程</a:t>
            </a:r>
            <a:r>
              <a:rPr lang="zh-CN" altLang="en-US" sz="1600" dirty="0"/>
              <a:t>）。多线程编程更加有利用</a:t>
            </a:r>
            <a:r>
              <a:rPr lang="zh-CN" altLang="en-US" sz="1600" dirty="0">
                <a:solidFill>
                  <a:srgbClr val="FF0000"/>
                </a:solidFill>
              </a:rPr>
              <a:t>多核</a:t>
            </a:r>
            <a:r>
              <a:rPr lang="zh-CN" altLang="en-US" sz="1600" dirty="0"/>
              <a:t>的使用，因此目前成为主流。但是上下文切换需要</a:t>
            </a:r>
            <a:r>
              <a:rPr lang="zh-CN" altLang="en-US" sz="1600" dirty="0">
                <a:solidFill>
                  <a:srgbClr val="FF0000"/>
                </a:solidFill>
              </a:rPr>
              <a:t>进入内核态过于耗时</a:t>
            </a:r>
            <a:r>
              <a:rPr lang="zh-CN" altLang="en-US" sz="1600" dirty="0"/>
              <a:t>，因此又有新技术研究用户态上下文（泰山处理器、协程，纤程等）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24280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>
          <a:xfrm>
            <a:off x="4691844" y="3088798"/>
            <a:ext cx="2808312" cy="68040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235713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8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62BD83-3745-4E68-A767-BC399655DAC3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1571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Communication between processes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Issues about Inter process Communication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 err="1">
                <a:ea typeface="宋体" panose="02010600030101010101" pitchFamily="2" charset="-122"/>
              </a:rPr>
              <a:t>Asynchronism</a:t>
            </a:r>
            <a:r>
              <a:rPr lang="en-US" altLang="zh-CN" sz="2200" dirty="0">
                <a:ea typeface="宋体" panose="02010600030101010101" pitchFamily="2" charset="-122"/>
              </a:rPr>
              <a:t>: pass information to other processes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Exclusion: compete with other processes for some resource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Synchronism: maintain proper running sequence</a:t>
            </a:r>
          </a:p>
          <a:p>
            <a:pPr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Difficulty of </a:t>
            </a:r>
            <a:r>
              <a:rPr lang="en-US" altLang="zh-CN" sz="2600" dirty="0" err="1">
                <a:ea typeface="宋体" panose="02010600030101010101" pitchFamily="2" charset="-122"/>
              </a:rPr>
              <a:t>Interprocess</a:t>
            </a:r>
            <a:r>
              <a:rPr lang="en-US" altLang="zh-CN" sz="2600" dirty="0">
                <a:ea typeface="宋体" panose="02010600030101010101" pitchFamily="2" charset="-122"/>
              </a:rPr>
              <a:t> communication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Information format: signal, switch, message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Exclusion and synchronism: cooperation issues </a:t>
            </a:r>
          </a:p>
          <a:p>
            <a:pPr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Pyramid rules 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20% difficult problems and 80% easy problems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20% energy for 80% easy problems, while 80% energy for 20% difficult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809DC5-CB00-412A-A205-200484A92ED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177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Exclusion: Spooler directory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5330826" y="1844676"/>
            <a:ext cx="1122363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7202488" y="1844676"/>
            <a:ext cx="1008062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5186364" y="2565401"/>
            <a:ext cx="5184775" cy="1033463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7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5186364" y="4387851"/>
            <a:ext cx="5184775" cy="1033463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9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809875" y="1700214"/>
            <a:ext cx="1728788" cy="2979737"/>
            <a:chOff x="249" y="1071"/>
            <a:chExt cx="1089" cy="1877"/>
          </a:xfrm>
        </p:grpSpPr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49" y="1616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File1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249" y="1842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File2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49" y="206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File3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249" y="2295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249" y="2523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249" y="138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249" y="1071"/>
              <a:ext cx="108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Spooler Dir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249" y="2750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7202489" y="3933826"/>
            <a:ext cx="3024187" cy="360363"/>
            <a:chOff x="3016" y="2478"/>
            <a:chExt cx="1905" cy="227"/>
          </a:xfrm>
        </p:grpSpPr>
        <p:sp>
          <p:nvSpPr>
            <p:cNvPr id="22" name="AutoShape 32"/>
            <p:cNvSpPr>
              <a:spLocks noChangeArrowheads="1"/>
            </p:cNvSpPr>
            <p:nvPr/>
          </p:nvSpPr>
          <p:spPr bwMode="auto">
            <a:xfrm>
              <a:off x="3016" y="2478"/>
              <a:ext cx="272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Char char="•"/>
                <a:defRPr/>
              </a:pPr>
              <a:endParaRPr lang="zh-CN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" name="Text Box 33"/>
            <p:cNvSpPr txBox="1">
              <a:spLocks noChangeArrowheads="1"/>
            </p:cNvSpPr>
            <p:nvPr/>
          </p:nvSpPr>
          <p:spPr bwMode="auto">
            <a:xfrm>
              <a:off x="3243" y="2478"/>
              <a:ext cx="1678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CPU switch (Correct)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DB57C7-27CE-4B1C-A8AD-7FA4D64D8DA2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1981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Exclusion: Spooler directory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5330826" y="1844676"/>
            <a:ext cx="1122363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7202488" y="1844676"/>
            <a:ext cx="1008062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809875" y="1700214"/>
            <a:ext cx="1728788" cy="2979737"/>
            <a:chOff x="249" y="1071"/>
            <a:chExt cx="1089" cy="1877"/>
          </a:xfrm>
        </p:grpSpPr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49" y="1616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File1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249" y="1842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File2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49" y="206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File3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249" y="2295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249" y="2523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249" y="138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249" y="1071"/>
              <a:ext cx="108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Spooler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Dir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249" y="2750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4840289" y="2565401"/>
            <a:ext cx="5184775" cy="31432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7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4840289" y="3500438"/>
            <a:ext cx="5184775" cy="1033462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7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856414" y="3068638"/>
            <a:ext cx="3024187" cy="360362"/>
            <a:chOff x="3016" y="2478"/>
            <a:chExt cx="1905" cy="227"/>
          </a:xfrm>
        </p:grpSpPr>
        <p:sp>
          <p:nvSpPr>
            <p:cNvPr id="27" name="AutoShape 17"/>
            <p:cNvSpPr>
              <a:spLocks noChangeArrowheads="1"/>
            </p:cNvSpPr>
            <p:nvPr/>
          </p:nvSpPr>
          <p:spPr bwMode="auto">
            <a:xfrm>
              <a:off x="3016" y="2478"/>
              <a:ext cx="272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Char char="•"/>
                <a:defRPr/>
              </a:pPr>
              <a:endParaRPr lang="zh-CN" alt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3243" y="2478"/>
              <a:ext cx="1678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CPU switch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9" name="Text Box 20"/>
          <p:cNvSpPr txBox="1">
            <a:spLocks noChangeArrowheads="1"/>
          </p:cNvSpPr>
          <p:nvPr/>
        </p:nvSpPr>
        <p:spPr bwMode="auto">
          <a:xfrm>
            <a:off x="4840289" y="5540375"/>
            <a:ext cx="5184775" cy="896938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784976" y="4797426"/>
            <a:ext cx="3883025" cy="360363"/>
            <a:chOff x="3016" y="2478"/>
            <a:chExt cx="2446" cy="227"/>
          </a:xfrm>
        </p:grpSpPr>
        <p:sp>
          <p:nvSpPr>
            <p:cNvPr id="31" name="AutoShape 22"/>
            <p:cNvSpPr>
              <a:spLocks noChangeArrowheads="1"/>
            </p:cNvSpPr>
            <p:nvPr/>
          </p:nvSpPr>
          <p:spPr bwMode="auto">
            <a:xfrm>
              <a:off x="3016" y="2478"/>
              <a:ext cx="272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Char char="•"/>
                <a:defRPr/>
              </a:pPr>
              <a:endParaRPr lang="zh-CN" altLang="en-US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3243" y="2478"/>
              <a:ext cx="2219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CPU switch, Proc B lost data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4" grpId="0" animBg="1"/>
      <p:bldP spid="25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697342" y="1550632"/>
            <a:ext cx="5476103" cy="461665"/>
            <a:chOff x="844893" y="1000114"/>
            <a:chExt cx="5476103" cy="461665"/>
          </a:xfrm>
        </p:grpSpPr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142976" y="1000114"/>
              <a:ext cx="51780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操作系统和现实生活的问题类比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4893" y="1000114"/>
              <a:ext cx="43339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04961" y="2280292"/>
            <a:ext cx="6070712" cy="428628"/>
            <a:chOff x="1252514" y="1694538"/>
            <a:chExt cx="6070712" cy="428628"/>
          </a:xfrm>
        </p:grpSpPr>
        <p:pic>
          <p:nvPicPr>
            <p:cNvPr id="22" name="图片 21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84467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3" name="内容占位符 2"/>
            <p:cNvSpPr txBox="1">
              <a:spLocks/>
            </p:cNvSpPr>
            <p:nvPr/>
          </p:nvSpPr>
          <p:spPr>
            <a:xfrm>
              <a:off x="1385078" y="1694538"/>
              <a:ext cx="593814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sz="2400" dirty="0"/>
                <a:t>同时注意，计算机与人的差异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104961" y="1930358"/>
            <a:ext cx="7437722" cy="407990"/>
            <a:chOff x="1252514" y="1344604"/>
            <a:chExt cx="7437722" cy="407990"/>
          </a:xfrm>
        </p:grpSpPr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49473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85078" y="1344604"/>
              <a:ext cx="7305158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利用现实生活问题帮助理解操作系统同步问题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697342" y="2751311"/>
            <a:ext cx="4822593" cy="461665"/>
            <a:chOff x="844893" y="2200793"/>
            <a:chExt cx="4822593" cy="461665"/>
          </a:xfrm>
        </p:grpSpPr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142975" y="2200793"/>
              <a:ext cx="4524511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例如</a:t>
              </a:r>
              <a:r>
                <a:rPr lang="en-US" altLang="zh-CN" sz="2400" dirty="0"/>
                <a:t>: </a:t>
              </a:r>
              <a:r>
                <a:rPr lang="zh-CN" altLang="en-US" sz="2400" dirty="0"/>
                <a:t>家庭采购协调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44893" y="2200793"/>
              <a:ext cx="43339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657361" y="3401104"/>
            <a:ext cx="3516085" cy="2366714"/>
            <a:chOff x="684211" y="2543854"/>
            <a:chExt cx="3516085" cy="2366714"/>
          </a:xfrm>
        </p:grpSpPr>
        <p:sp>
          <p:nvSpPr>
            <p:cNvPr id="85" name="矩形 84"/>
            <p:cNvSpPr/>
            <p:nvPr/>
          </p:nvSpPr>
          <p:spPr>
            <a:xfrm>
              <a:off x="684211" y="2571750"/>
              <a:ext cx="3516085" cy="2304000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连接符 88"/>
            <p:cNvCxnSpPr>
              <a:stCxn id="85" idx="1"/>
              <a:endCxn id="85" idx="3"/>
            </p:cNvCxnSpPr>
            <p:nvPr/>
          </p:nvCxnSpPr>
          <p:spPr>
            <a:xfrm>
              <a:off x="684211" y="3723750"/>
              <a:ext cx="351608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rot="16200000" flipH="1">
              <a:off x="535378" y="3722956"/>
              <a:ext cx="2304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684212" y="2859090"/>
              <a:ext cx="35160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684212" y="3144842"/>
              <a:ext cx="35160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684212" y="3430594"/>
              <a:ext cx="35160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684212" y="4573602"/>
              <a:ext cx="35160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684212" y="3993106"/>
              <a:ext cx="35160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684213" y="4287850"/>
              <a:ext cx="35160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841578" y="2543854"/>
              <a:ext cx="7393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+mj-ea"/>
                  <a:ea typeface="+mj-ea"/>
                </a:rPr>
                <a:t>时  间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514812" y="2543854"/>
              <a:ext cx="3433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+mj-ea"/>
                  <a:ea typeface="+mj-ea"/>
                </a:rPr>
                <a:t>A</a:t>
              </a:r>
              <a:endParaRPr lang="zh-CN" altLang="en-US" sz="1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841578" y="2847110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3:00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41578" y="3129872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3:05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841578" y="3418614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3:10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41578" y="3701376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3:15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841578" y="3988293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3:20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41578" y="4271055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3:25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41578" y="4572014"/>
              <a:ext cx="7056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+mj-ea"/>
                  <a:ea typeface="+mj-ea"/>
                </a:rPr>
                <a:t>3:30</a:t>
              </a:r>
              <a:endParaRPr lang="zh-CN" altLang="en-US" sz="16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685452" y="2844120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+mj-ea"/>
                  <a:ea typeface="+mj-ea"/>
                </a:rPr>
                <a:t>查看冰箱，没有面包了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685452" y="3114226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离开家去商店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685452" y="3429006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到达商店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685452" y="3700244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购买面包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685452" y="3976043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到家，把面包放进冰箱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173445" y="3401106"/>
            <a:ext cx="2236511" cy="2356431"/>
            <a:chOff x="4200295" y="2543854"/>
            <a:chExt cx="2236511" cy="2356431"/>
          </a:xfrm>
        </p:grpSpPr>
        <p:sp>
          <p:nvSpPr>
            <p:cNvPr id="47" name="矩形 46"/>
            <p:cNvSpPr/>
            <p:nvPr/>
          </p:nvSpPr>
          <p:spPr>
            <a:xfrm>
              <a:off x="4200296" y="2571750"/>
              <a:ext cx="2233789" cy="2304000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连接符 86"/>
            <p:cNvCxnSpPr/>
            <p:nvPr/>
          </p:nvCxnSpPr>
          <p:spPr>
            <a:xfrm rot="16200000" flipH="1">
              <a:off x="3049090" y="3722956"/>
              <a:ext cx="2304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5072066" y="2543854"/>
              <a:ext cx="3417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+mj-ea"/>
                  <a:ea typeface="+mj-ea"/>
                </a:rPr>
                <a:t>B</a:t>
              </a:r>
              <a:endParaRPr lang="zh-CN" altLang="en-US" sz="1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200296" y="3429808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查看冰箱，没有面包了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200296" y="3699914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离开家去商店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200296" y="4014694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到达商店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200296" y="4285932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购买面包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200296" y="456173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>
                  <a:solidFill>
                    <a:schemeClr val="bg1"/>
                  </a:solidFill>
                  <a:latin typeface="+mj-ea"/>
                  <a:ea typeface="+mj-ea"/>
                </a:rPr>
                <a:t>到家，把面包放进冰箱</a:t>
              </a:r>
            </a:p>
          </p:txBody>
        </p:sp>
        <p:cxnSp>
          <p:nvCxnSpPr>
            <p:cNvPr id="84" name="直接连接符 83"/>
            <p:cNvCxnSpPr/>
            <p:nvPr/>
          </p:nvCxnSpPr>
          <p:spPr>
            <a:xfrm>
              <a:off x="4200295" y="3722162"/>
              <a:ext cx="22337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200296" y="2857502"/>
              <a:ext cx="22337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200296" y="3143254"/>
              <a:ext cx="223378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4200296" y="3429006"/>
              <a:ext cx="223378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4200296" y="4572014"/>
              <a:ext cx="223378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4200296" y="3991518"/>
              <a:ext cx="223378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4200297" y="4286262"/>
              <a:ext cx="22337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C88A420-70FF-B03D-1B2F-1E746DCF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现实生活中的并发问题</a:t>
            </a:r>
          </a:p>
        </p:txBody>
      </p:sp>
    </p:spTree>
    <p:extLst>
      <p:ext uri="{BB962C8B-B14F-4D97-AF65-F5344CB8AC3E}">
        <p14:creationId xmlns:p14="http://schemas.microsoft.com/office/powerpoint/2010/main" val="42079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95400" y="1552258"/>
            <a:ext cx="5832647" cy="461665"/>
            <a:chOff x="844893" y="1000114"/>
            <a:chExt cx="5832647" cy="461665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5" y="1000114"/>
              <a:ext cx="5534565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如何保证家庭采购协调的成功和高效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03019" y="1916832"/>
            <a:ext cx="5034000" cy="748493"/>
            <a:chOff x="1252514" y="1306504"/>
            <a:chExt cx="5034000" cy="748493"/>
          </a:xfrm>
        </p:grpSpPr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645682" y="1626369"/>
              <a:ext cx="464083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需要采购时，有人去买面包</a:t>
              </a:r>
            </a:p>
          </p:txBody>
        </p:sp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4112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85077" y="1306504"/>
              <a:ext cx="3258359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有人去买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03019" y="2508974"/>
            <a:ext cx="4704948" cy="428628"/>
            <a:chOff x="1252514" y="1898648"/>
            <a:chExt cx="4704948" cy="428628"/>
          </a:xfrm>
        </p:grpSpPr>
        <p:pic>
          <p:nvPicPr>
            <p:cNvPr id="25" name="图片 2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200819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6" name="内容占位符 2"/>
            <p:cNvSpPr txBox="1">
              <a:spLocks/>
            </p:cNvSpPr>
            <p:nvPr/>
          </p:nvSpPr>
          <p:spPr>
            <a:xfrm>
              <a:off x="1385077" y="1898648"/>
              <a:ext cx="4572385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sz="2400" dirty="0"/>
                <a:t>最多只有一个人去买面包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95400" y="2959261"/>
            <a:ext cx="9145015" cy="1117811"/>
            <a:chOff x="844893" y="2201860"/>
            <a:chExt cx="9145015" cy="1117811"/>
          </a:xfrm>
        </p:grpSpPr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142976" y="2201860"/>
              <a:ext cx="271464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sz="2400" dirty="0">
                  <a:sym typeface="Arial" charset="0"/>
                </a:rPr>
                <a:t>可能的解决方法</a:t>
              </a:r>
              <a:endParaRPr lang="zh-CN" altLang="en-US" sz="24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2201860"/>
              <a:ext cx="43339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6687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8565" y="2559240"/>
              <a:ext cx="8591343" cy="466729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>
                  <a:sym typeface="Arial" charset="0"/>
                </a:rPr>
                <a:t>在冰箱上设置一个</a:t>
              </a:r>
              <a:r>
                <a:rPr lang="zh-CN" altLang="en-US" sz="2400" dirty="0">
                  <a:solidFill>
                    <a:srgbClr val="C00000"/>
                  </a:solidFill>
                  <a:sym typeface="Arial" charset="0"/>
                </a:rPr>
                <a:t>锁和钥匙（</a:t>
              </a:r>
              <a:r>
                <a:rPr lang="zh-CN" altLang="en-US" sz="2400" dirty="0">
                  <a:solidFill>
                    <a:srgbClr val="C00000"/>
                  </a:solidFill>
                </a:rPr>
                <a:t> lock&amp;</a:t>
              </a:r>
              <a:r>
                <a:rPr lang="en-US" altLang="zh-CN" sz="2400" dirty="0">
                  <a:solidFill>
                    <a:srgbClr val="C00000"/>
                  </a:solidFill>
                </a:rPr>
                <a:t>key</a:t>
              </a:r>
              <a:r>
                <a:rPr lang="zh-CN" altLang="en-US" sz="2400" dirty="0">
                  <a:solidFill>
                    <a:srgbClr val="C00000"/>
                  </a:solidFill>
                </a:rPr>
                <a:t>）</a:t>
              </a: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96249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8565" y="2852942"/>
              <a:ext cx="7223191" cy="466729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去买面包之前锁住冰箱并且拿走钥匙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95400" y="4077072"/>
            <a:ext cx="6408711" cy="864096"/>
            <a:chOff x="844893" y="3117866"/>
            <a:chExt cx="6408711" cy="864096"/>
          </a:xfrm>
        </p:grpSpPr>
        <p:sp>
          <p:nvSpPr>
            <p:cNvPr id="33" name="内容占位符 2"/>
            <p:cNvSpPr txBox="1">
              <a:spLocks/>
            </p:cNvSpPr>
            <p:nvPr/>
          </p:nvSpPr>
          <p:spPr>
            <a:xfrm>
              <a:off x="1142975" y="3117866"/>
              <a:ext cx="4901625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sz="2400" dirty="0"/>
                <a:t>加锁导致的新问题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4893" y="3117866"/>
              <a:ext cx="43339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624783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>
              <a:spLocks/>
            </p:cNvSpPr>
            <p:nvPr/>
          </p:nvSpPr>
          <p:spPr>
            <a:xfrm>
              <a:off x="1398565" y="3515233"/>
              <a:ext cx="5855039" cy="466729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2400" dirty="0"/>
                <a:t>冰箱中还有其他食品时，别人无法取到</a:t>
              </a:r>
            </a:p>
          </p:txBody>
        </p: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24047FB2-FF5E-297F-F92B-EA6072B3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家庭采购协调问题分析</a:t>
            </a:r>
          </a:p>
        </p:txBody>
      </p:sp>
    </p:spTree>
    <p:extLst>
      <p:ext uri="{BB962C8B-B14F-4D97-AF65-F5344CB8AC3E}">
        <p14:creationId xmlns:p14="http://schemas.microsoft.com/office/powerpoint/2010/main" val="381167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方案一</a:t>
            </a:r>
            <a:endParaRPr lang="zh-CN" altLang="en-US" dirty="0"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70103" y="1857364"/>
            <a:ext cx="4012859" cy="428628"/>
            <a:chOff x="844893" y="1000114"/>
            <a:chExt cx="4012859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371477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使用</a:t>
              </a:r>
              <a:r>
                <a:rPr lang="zh-CN" altLang="en-US" dirty="0">
                  <a:solidFill>
                    <a:srgbClr val="C00000"/>
                  </a:solidFill>
                </a:rPr>
                <a:t>便签</a:t>
              </a:r>
              <a:r>
                <a:rPr lang="zh-CN" altLang="en-US" dirty="0"/>
                <a:t>来避免购买太多面包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170102" y="4865698"/>
            <a:ext cx="1701762" cy="428628"/>
            <a:chOff x="844893" y="4008448"/>
            <a:chExt cx="1701762" cy="428628"/>
          </a:xfrm>
        </p:grpSpPr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142975" y="4008448"/>
              <a:ext cx="140368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有效吗？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893" y="400844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577722" y="2163754"/>
            <a:ext cx="3176610" cy="407990"/>
            <a:chOff x="1252514" y="1306504"/>
            <a:chExt cx="3176610" cy="407990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4394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85078" y="1306504"/>
              <a:ext cx="3044046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购买之前留下一张便签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77722" y="2474906"/>
            <a:ext cx="2747982" cy="428628"/>
            <a:chOff x="1252514" y="1617656"/>
            <a:chExt cx="2747982" cy="428628"/>
          </a:xfrm>
        </p:grpSpPr>
        <p:pic>
          <p:nvPicPr>
            <p:cNvPr id="25" name="图片 2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73424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6" name="内容占位符 2"/>
            <p:cNvSpPr txBox="1">
              <a:spLocks/>
            </p:cNvSpPr>
            <p:nvPr/>
          </p:nvSpPr>
          <p:spPr>
            <a:xfrm>
              <a:off x="1385078" y="1617656"/>
              <a:ext cx="261541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买完后移除该便签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577722" y="2778120"/>
            <a:ext cx="4462494" cy="428628"/>
            <a:chOff x="1252514" y="1920870"/>
            <a:chExt cx="4462494" cy="428628"/>
          </a:xfrm>
        </p:grpSpPr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203745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1" name="内容占位符 2"/>
            <p:cNvSpPr txBox="1">
              <a:spLocks/>
            </p:cNvSpPr>
            <p:nvPr/>
          </p:nvSpPr>
          <p:spPr>
            <a:xfrm>
              <a:off x="1385078" y="1920870"/>
              <a:ext cx="432993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别人看到便签时，就不去购买面包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3875272" y="3201717"/>
            <a:ext cx="2714074" cy="1643527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if (</a:t>
            </a:r>
            <a:r>
              <a:rPr lang="en-US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nobread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 {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if (</a:t>
            </a:r>
            <a:r>
              <a:rPr lang="en-US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noNote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) {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leave Note;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buy bread;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</a:t>
            </a: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remove Note;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}</a:t>
            </a:r>
            <a:b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</a:b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33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方案一分析</a:t>
            </a:r>
            <a:endParaRPr lang="zh-CN" altLang="en-US" dirty="0"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890051" y="1700808"/>
            <a:ext cx="3369917" cy="428628"/>
            <a:chOff x="844893" y="1000114"/>
            <a:chExt cx="3369917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307183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偶尔会购买太多面包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97670" y="2007198"/>
            <a:ext cx="5462626" cy="693742"/>
            <a:chOff x="1252514" y="1306504"/>
            <a:chExt cx="5462626" cy="693742"/>
          </a:xfrm>
        </p:grpSpPr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42534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85078" y="1306504"/>
              <a:ext cx="5330062" cy="69374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检查面包和便签后帖便签前，有其他人检查面包和便签</a:t>
              </a:r>
            </a:p>
          </p:txBody>
        </p:sp>
      </p:grpSp>
      <p:sp>
        <p:nvSpPr>
          <p:cNvPr id="17" name="内容占位符 2"/>
          <p:cNvSpPr txBox="1">
            <a:spLocks/>
          </p:cNvSpPr>
          <p:nvPr/>
        </p:nvSpPr>
        <p:spPr>
          <a:xfrm>
            <a:off x="2728724" y="3021303"/>
            <a:ext cx="2287978" cy="620583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lnSpc>
                <a:spcPts val="15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nobread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noNote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3340153" y="3933351"/>
            <a:ext cx="1617844" cy="897025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Note;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buy bread;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Note;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946282" y="3068548"/>
            <a:ext cx="0" cy="4413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4945489" y="3509926"/>
            <a:ext cx="93451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879212" y="3509926"/>
            <a:ext cx="0" cy="422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4946284" y="3932644"/>
            <a:ext cx="93372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4945489" y="3937841"/>
            <a:ext cx="792" cy="864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内容占位符 2"/>
          <p:cNvSpPr txBox="1">
            <a:spLocks/>
          </p:cNvSpPr>
          <p:nvPr/>
        </p:nvSpPr>
        <p:spPr>
          <a:xfrm>
            <a:off x="5912237" y="3504578"/>
            <a:ext cx="2287978" cy="620583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lnSpc>
                <a:spcPts val="15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nobread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noNote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4945489" y="4802624"/>
            <a:ext cx="93451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5879212" y="4802626"/>
            <a:ext cx="0" cy="863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内容占位符 2"/>
          <p:cNvSpPr txBox="1">
            <a:spLocks/>
          </p:cNvSpPr>
          <p:nvPr/>
        </p:nvSpPr>
        <p:spPr>
          <a:xfrm>
            <a:off x="5991506" y="4830376"/>
            <a:ext cx="1617844" cy="835765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Note;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buy bread;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Note;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887177" y="2708920"/>
            <a:ext cx="3869983" cy="768030"/>
            <a:chOff x="844893" y="3875874"/>
            <a:chExt cx="3869983" cy="768030"/>
          </a:xfrm>
        </p:grpSpPr>
        <p:sp>
          <p:nvSpPr>
            <p:cNvPr id="40" name="内容占位符 2"/>
            <p:cNvSpPr txBox="1">
              <a:spLocks/>
            </p:cNvSpPr>
            <p:nvPr/>
          </p:nvSpPr>
          <p:spPr>
            <a:xfrm>
              <a:off x="1142976" y="3875874"/>
              <a:ext cx="335758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解决方案只是间歇性地失败</a:t>
              </a:r>
            </a:p>
          </p:txBody>
        </p:sp>
        <p:sp>
          <p:nvSpPr>
            <p:cNvPr id="41" name="TextBox 21"/>
            <p:cNvSpPr txBox="1"/>
            <p:nvPr/>
          </p:nvSpPr>
          <p:spPr>
            <a:xfrm>
              <a:off x="844893" y="387587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4" name="图片 4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435475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5" name="内容占位符 2"/>
            <p:cNvSpPr txBox="1">
              <a:spLocks/>
            </p:cNvSpPr>
            <p:nvPr/>
          </p:nvSpPr>
          <p:spPr>
            <a:xfrm>
              <a:off x="1385078" y="4235914"/>
              <a:ext cx="3329798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必须考虑调度器所做的事情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290822" y="2710218"/>
            <a:ext cx="4128542" cy="428628"/>
            <a:chOff x="705646" y="1851670"/>
            <a:chExt cx="4128542" cy="428628"/>
          </a:xfrm>
        </p:grpSpPr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705646" y="1851670"/>
              <a:ext cx="9286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进程</a:t>
              </a:r>
              <a:r>
                <a:rPr lang="en-US" altLang="zh-CN" sz="1800" dirty="0"/>
                <a:t>A</a:t>
              </a:r>
              <a:endParaRPr lang="zh-CN" altLang="en-US" sz="1800" dirty="0"/>
            </a:p>
          </p:txBody>
        </p:sp>
        <p:sp>
          <p:nvSpPr>
            <p:cNvPr id="47" name="内容占位符 2"/>
            <p:cNvSpPr txBox="1">
              <a:spLocks/>
            </p:cNvSpPr>
            <p:nvPr/>
          </p:nvSpPr>
          <p:spPr>
            <a:xfrm>
              <a:off x="3834056" y="1851670"/>
              <a:ext cx="100013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进程</a:t>
              </a:r>
              <a:r>
                <a:rPr lang="en-US" altLang="zh-CN" sz="1800" dirty="0"/>
                <a:t>B</a:t>
              </a:r>
              <a:endParaRPr lang="zh-CN" altLang="en-US" sz="1800" dirty="0"/>
            </a:p>
          </p:txBody>
        </p:sp>
      </p:grpSp>
      <p:sp>
        <p:nvSpPr>
          <p:cNvPr id="49" name="内容占位符 2"/>
          <p:cNvSpPr txBox="1">
            <a:spLocks/>
          </p:cNvSpPr>
          <p:nvPr/>
        </p:nvSpPr>
        <p:spPr>
          <a:xfrm>
            <a:off x="3340153" y="3935079"/>
            <a:ext cx="1617844" cy="360040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Note;</a:t>
            </a:r>
            <a:r>
              <a:rPr lang="zh-CN" alt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buy bread;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altLang="zh-CN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内容占位符 2"/>
          <p:cNvSpPr txBox="1">
            <a:spLocks/>
          </p:cNvSpPr>
          <p:nvPr/>
        </p:nvSpPr>
        <p:spPr>
          <a:xfrm>
            <a:off x="5991506" y="4831317"/>
            <a:ext cx="1617844" cy="360040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Note;</a:t>
            </a:r>
            <a:r>
              <a:rPr lang="zh-CN" alt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altLang="zh-CN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buy bread;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altLang="zh-CN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35" grpId="0"/>
      <p:bldP spid="35" grpId="1"/>
      <p:bldP spid="38" grpId="0"/>
      <p:bldP spid="38" grpId="1"/>
      <p:bldP spid="49" grpId="0"/>
      <p:bldP spid="49" grpId="1"/>
      <p:bldP spid="50" grpId="0"/>
      <p:bldP spid="5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29310" y="1700808"/>
            <a:ext cx="4084297" cy="432048"/>
            <a:chOff x="844893" y="1000114"/>
            <a:chExt cx="4084297" cy="43204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3534"/>
              <a:ext cx="378621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>
                  <a:solidFill>
                    <a:srgbClr val="C00000"/>
                  </a:solidFill>
                </a:rPr>
                <a:t>先留便签，后检查面包和便签。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30096" y="4397220"/>
            <a:ext cx="2012595" cy="428628"/>
            <a:chOff x="853732" y="4013613"/>
            <a:chExt cx="2012595" cy="428628"/>
          </a:xfrm>
        </p:grpSpPr>
        <p:sp>
          <p:nvSpPr>
            <p:cNvPr id="33" name="内容占位符 2"/>
            <p:cNvSpPr txBox="1">
              <a:spLocks/>
            </p:cNvSpPr>
            <p:nvPr/>
          </p:nvSpPr>
          <p:spPr>
            <a:xfrm>
              <a:off x="1151815" y="4013613"/>
              <a:ext cx="171451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会发生什么？</a:t>
              </a:r>
            </a:p>
          </p:txBody>
        </p:sp>
        <p:sp>
          <p:nvSpPr>
            <p:cNvPr id="34" name="TextBox 21"/>
            <p:cNvSpPr txBox="1"/>
            <p:nvPr/>
          </p:nvSpPr>
          <p:spPr>
            <a:xfrm>
              <a:off x="853732" y="4013613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938979" y="4703610"/>
            <a:ext cx="5388838" cy="407990"/>
            <a:chOff x="1261897" y="4320003"/>
            <a:chExt cx="2318810" cy="407990"/>
          </a:xfrm>
        </p:grpSpPr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897" y="4453909"/>
              <a:ext cx="57453" cy="140178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3917" y="4320003"/>
              <a:ext cx="2186790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不会有人买面包，因为这个方案是错误的</a:t>
              </a:r>
            </a:p>
          </p:txBody>
        </p:sp>
      </p:grpSp>
      <p:sp>
        <p:nvSpPr>
          <p:cNvPr id="42" name="内容占位符 2"/>
          <p:cNvSpPr txBox="1">
            <a:spLocks/>
          </p:cNvSpPr>
          <p:nvPr/>
        </p:nvSpPr>
        <p:spPr>
          <a:xfrm>
            <a:off x="4009033" y="2198624"/>
            <a:ext cx="2160240" cy="1932973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Note;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nobread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noNote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buy bread;</a:t>
            </a:r>
            <a:b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note;</a:t>
            </a:r>
          </a:p>
          <a:p>
            <a:pPr marL="0" indent="0">
              <a:spcBef>
                <a:spcPct val="20000"/>
              </a:spcBef>
            </a:pP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124BFCA-E524-05FF-A239-3A7C2474CDD3}"/>
              </a:ext>
            </a:extLst>
          </p:cNvPr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方案二</a:t>
            </a:r>
            <a:endParaRPr lang="zh-CN" alt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44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方案三</a:t>
            </a:r>
            <a:endParaRPr lang="zh-CN" altLang="en-US" dirty="0"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88975" y="1596112"/>
            <a:ext cx="5084429" cy="428628"/>
            <a:chOff x="844893" y="738862"/>
            <a:chExt cx="5084429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38862"/>
              <a:ext cx="478634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>
                  <a:solidFill>
                    <a:srgbClr val="C00000"/>
                  </a:solidFill>
                </a:rPr>
                <a:t>为便签增加标记，以区别不同人的便签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3886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95262" y="2035998"/>
            <a:ext cx="3748114" cy="407990"/>
            <a:chOff x="1252514" y="1024614"/>
            <a:chExt cx="3748114" cy="407990"/>
          </a:xfrm>
        </p:grpSpPr>
        <p:pic>
          <p:nvPicPr>
            <p:cNvPr id="11" name="图片 1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1293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3" name="内容占位符 2"/>
            <p:cNvSpPr txBox="1">
              <a:spLocks/>
            </p:cNvSpPr>
            <p:nvPr/>
          </p:nvSpPr>
          <p:spPr>
            <a:xfrm>
              <a:off x="1385078" y="1024614"/>
              <a:ext cx="3615550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现在可在检查之前留便签</a:t>
              </a:r>
            </a:p>
          </p:txBody>
        </p:sp>
      </p:grpSp>
      <p:sp>
        <p:nvSpPr>
          <p:cNvPr id="20" name="内容占位符 2"/>
          <p:cNvSpPr txBox="1">
            <a:spLocks/>
          </p:cNvSpPr>
          <p:nvPr/>
        </p:nvSpPr>
        <p:spPr>
          <a:xfrm>
            <a:off x="2681325" y="2761496"/>
            <a:ext cx="1800200" cy="297743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lnSpc>
                <a:spcPts val="15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_1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2639616" y="3278783"/>
            <a:ext cx="2481332" cy="1371980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_2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buy bread;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4951354" y="2761497"/>
            <a:ext cx="793" cy="297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951352" y="3059238"/>
            <a:ext cx="93451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5885075" y="3059238"/>
            <a:ext cx="0" cy="3571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4952147" y="3425036"/>
            <a:ext cx="93372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4960166" y="3425036"/>
            <a:ext cx="0" cy="9994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2"/>
          <p:cNvSpPr txBox="1">
            <a:spLocks/>
          </p:cNvSpPr>
          <p:nvPr/>
        </p:nvSpPr>
        <p:spPr>
          <a:xfrm>
            <a:off x="5914621" y="3102962"/>
            <a:ext cx="1892248" cy="32207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lnSpc>
                <a:spcPts val="15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2;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4958580" y="4424514"/>
            <a:ext cx="93451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5879629" y="4424514"/>
            <a:ext cx="0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/>
          <p:cNvSpPr txBox="1">
            <a:spLocks/>
          </p:cNvSpPr>
          <p:nvPr/>
        </p:nvSpPr>
        <p:spPr>
          <a:xfrm>
            <a:off x="5914621" y="4337959"/>
            <a:ext cx="2641874" cy="10842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1) {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buy bread;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2;	 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3227903" y="2492896"/>
            <a:ext cx="3880934" cy="428628"/>
            <a:chOff x="363522" y="1851670"/>
            <a:chExt cx="3880934" cy="428628"/>
          </a:xfrm>
        </p:grpSpPr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363522" y="1851670"/>
              <a:ext cx="9286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进程</a:t>
              </a:r>
              <a:r>
                <a:rPr lang="en-US" altLang="zh-CN" sz="1800" dirty="0"/>
                <a:t>A</a:t>
              </a:r>
              <a:endParaRPr lang="zh-CN" altLang="en-US" sz="1800" dirty="0"/>
            </a:p>
          </p:txBody>
        </p:sp>
        <p:sp>
          <p:nvSpPr>
            <p:cNvPr id="37" name="内容占位符 2"/>
            <p:cNvSpPr txBox="1">
              <a:spLocks/>
            </p:cNvSpPr>
            <p:nvPr/>
          </p:nvSpPr>
          <p:spPr>
            <a:xfrm>
              <a:off x="3244324" y="1851670"/>
              <a:ext cx="100013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进程</a:t>
              </a:r>
              <a:r>
                <a:rPr lang="en-US" altLang="zh-CN" sz="1800" dirty="0"/>
                <a:t>B</a:t>
              </a:r>
              <a:endParaRPr lang="zh-CN" altLang="en-US" sz="18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760413" y="2166466"/>
            <a:ext cx="3600400" cy="407990"/>
            <a:chOff x="1626448" y="4680620"/>
            <a:chExt cx="3600400" cy="407990"/>
          </a:xfrm>
        </p:grpSpPr>
        <p:pic>
          <p:nvPicPr>
            <p:cNvPr id="42" name="图片 41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448" y="481351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3" name="内容占位符 2"/>
            <p:cNvSpPr txBox="1">
              <a:spLocks/>
            </p:cNvSpPr>
            <p:nvPr/>
          </p:nvSpPr>
          <p:spPr>
            <a:xfrm>
              <a:off x="1755378" y="4680620"/>
              <a:ext cx="3471470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每个人都认为另外一个去买面包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088975" y="1589428"/>
            <a:ext cx="2012595" cy="428628"/>
            <a:chOff x="844893" y="4011910"/>
            <a:chExt cx="2012595" cy="428628"/>
          </a:xfrm>
        </p:grpSpPr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142976" y="4011910"/>
              <a:ext cx="171451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会发生什么？</a:t>
              </a:r>
            </a:p>
          </p:txBody>
        </p:sp>
        <p:sp>
          <p:nvSpPr>
            <p:cNvPr id="45" name="TextBox 21"/>
            <p:cNvSpPr txBox="1"/>
            <p:nvPr/>
          </p:nvSpPr>
          <p:spPr>
            <a:xfrm>
              <a:off x="844893" y="401191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6" name="内容占位符 2"/>
          <p:cNvSpPr txBox="1">
            <a:spLocks/>
          </p:cNvSpPr>
          <p:nvPr/>
        </p:nvSpPr>
        <p:spPr>
          <a:xfrm>
            <a:off x="2715041" y="2831714"/>
            <a:ext cx="2160240" cy="2359749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_1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_2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buy bread;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_1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spcBef>
                <a:spcPct val="20000"/>
              </a:spcBef>
            </a:pP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内容占位符 2"/>
          <p:cNvSpPr txBox="1">
            <a:spLocks/>
          </p:cNvSpPr>
          <p:nvPr/>
        </p:nvSpPr>
        <p:spPr>
          <a:xfrm>
            <a:off x="5487571" y="2831714"/>
            <a:ext cx="2160240" cy="2359749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>
              <a:spcBef>
                <a:spcPct val="2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2;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1) {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(no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buy bread;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342900" lvl="1" indent="-342900"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2;	</a:t>
            </a:r>
          </a:p>
          <a:p>
            <a:pPr marL="0" indent="0">
              <a:spcBef>
                <a:spcPct val="20000"/>
              </a:spcBef>
            </a:pP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内容占位符 2"/>
          <p:cNvSpPr txBox="1">
            <a:spLocks/>
          </p:cNvSpPr>
          <p:nvPr/>
        </p:nvSpPr>
        <p:spPr>
          <a:xfrm>
            <a:off x="2681325" y="5504728"/>
            <a:ext cx="2481332" cy="22646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 note</a:t>
            </a:r>
            <a:r>
              <a:rPr lang="zh-CN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_1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 </a:t>
            </a: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4945908" y="5416609"/>
            <a:ext cx="93372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4958580" y="5416611"/>
            <a:ext cx="0" cy="4516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内容占位符 2"/>
          <p:cNvSpPr txBox="1">
            <a:spLocks/>
          </p:cNvSpPr>
          <p:nvPr/>
        </p:nvSpPr>
        <p:spPr>
          <a:xfrm>
            <a:off x="3004783" y="3480013"/>
            <a:ext cx="2116167" cy="601546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buy bread;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</a:p>
        </p:txBody>
      </p:sp>
      <p:sp>
        <p:nvSpPr>
          <p:cNvPr id="53" name="内容占位符 2"/>
          <p:cNvSpPr txBox="1">
            <a:spLocks/>
          </p:cNvSpPr>
          <p:nvPr/>
        </p:nvSpPr>
        <p:spPr>
          <a:xfrm>
            <a:off x="6281246" y="4530202"/>
            <a:ext cx="2116167" cy="601546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(no</a:t>
            </a:r>
            <a:r>
              <a:rPr lang="zh-CN" alt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bread) {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buy bread;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342900" lvl="1" indent="-342900">
              <a:lnSpc>
                <a:spcPct val="6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3491801" y="1916929"/>
            <a:ext cx="3341715" cy="428628"/>
            <a:chOff x="5748023" y="1410870"/>
            <a:chExt cx="3341715" cy="428628"/>
          </a:xfrm>
        </p:grpSpPr>
        <p:sp>
          <p:nvSpPr>
            <p:cNvPr id="40" name="内容占位符 2"/>
            <p:cNvSpPr txBox="1">
              <a:spLocks/>
            </p:cNvSpPr>
            <p:nvPr/>
          </p:nvSpPr>
          <p:spPr>
            <a:xfrm>
              <a:off x="5885533" y="1410870"/>
              <a:ext cx="3204205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可能导致没有人去买面包</a:t>
              </a:r>
            </a:p>
          </p:txBody>
        </p:sp>
        <p:pic>
          <p:nvPicPr>
            <p:cNvPr id="54" name="图片 5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8023" y="1534273"/>
              <a:ext cx="151066" cy="148997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25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1" grpId="0"/>
      <p:bldP spid="34" grpId="0"/>
      <p:bldP spid="46" grpId="0" animBg="1"/>
      <p:bldP spid="46" grpId="1" animBg="1"/>
      <p:bldP spid="47" grpId="0" animBg="1"/>
      <p:bldP spid="47" grpId="1" animBg="1"/>
      <p:bldP spid="48" grpId="0"/>
      <p:bldP spid="52" grpId="0"/>
      <p:bldP spid="52" grpId="1"/>
      <p:bldP spid="53" grpId="0"/>
      <p:bldP spid="5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77884" y="1988840"/>
            <a:ext cx="5370180" cy="2411342"/>
            <a:chOff x="844894" y="1240528"/>
            <a:chExt cx="5370180" cy="2411342"/>
          </a:xfrm>
        </p:grpSpPr>
        <p:sp>
          <p:nvSpPr>
            <p:cNvPr id="29" name="矩形 28"/>
            <p:cNvSpPr/>
            <p:nvPr/>
          </p:nvSpPr>
          <p:spPr>
            <a:xfrm>
              <a:off x="844894" y="1589767"/>
              <a:ext cx="2062016" cy="2062103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leave note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_1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;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while(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n</a:t>
              </a:r>
              <a:r>
                <a:rPr lang="en-US" altLang="zh-CN" sz="1600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_2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) {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do nothing;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 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if(no bread){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buy bread;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remove note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_1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;	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4063341" y="1589767"/>
              <a:ext cx="2151733" cy="1815882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leave note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2;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if(no 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n</a:t>
              </a:r>
              <a:r>
                <a:rPr lang="en-US" altLang="zh-CN" sz="1600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1) {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if(no bread){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   buy bread; 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} 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</a:t>
              </a:r>
            </a:p>
            <a:p>
              <a:pPr marL="0" lvl="1"/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remove note</a:t>
              </a:r>
              <a:r>
                <a:rPr lang="zh-CN" altLang="en-US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_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2;	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373206" y="1240528"/>
              <a:ext cx="4243741" cy="428628"/>
              <a:chOff x="363522" y="1929044"/>
              <a:chExt cx="4243741" cy="428628"/>
            </a:xfrm>
          </p:grpSpPr>
          <p:sp>
            <p:nvSpPr>
              <p:cNvPr id="26" name="内容占位符 2"/>
              <p:cNvSpPr txBox="1">
                <a:spLocks/>
              </p:cNvSpPr>
              <p:nvPr/>
            </p:nvSpPr>
            <p:spPr>
              <a:xfrm>
                <a:off x="363522" y="1929044"/>
                <a:ext cx="928694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indent="0">
                  <a:spcBef>
                    <a:spcPct val="20000"/>
                  </a:spcBef>
                </a:pPr>
                <a:r>
                  <a:rPr lang="zh-CN" altLang="en-US" sz="1800" dirty="0"/>
                  <a:t>进程</a:t>
                </a:r>
                <a:r>
                  <a:rPr lang="en-US" altLang="zh-CN" sz="1800" dirty="0"/>
                  <a:t>A</a:t>
                </a:r>
                <a:endParaRPr lang="zh-CN" altLang="en-US" sz="1800" dirty="0"/>
              </a:p>
            </p:txBody>
          </p:sp>
          <p:sp>
            <p:nvSpPr>
              <p:cNvPr id="30" name="内容占位符 2"/>
              <p:cNvSpPr txBox="1">
                <a:spLocks/>
              </p:cNvSpPr>
              <p:nvPr/>
            </p:nvSpPr>
            <p:spPr>
              <a:xfrm>
                <a:off x="3607131" y="1929044"/>
                <a:ext cx="1000132" cy="42862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pPr marL="0" indent="0">
                  <a:spcBef>
                    <a:spcPct val="20000"/>
                  </a:spcBef>
                </a:pPr>
                <a:r>
                  <a:rPr lang="zh-CN" altLang="en-US" sz="1800" dirty="0"/>
                  <a:t>进程</a:t>
                </a:r>
                <a:r>
                  <a:rPr lang="en-US" altLang="zh-CN" sz="1800" dirty="0"/>
                  <a:t>B</a:t>
                </a:r>
                <a:endParaRPr lang="zh-CN" altLang="en-US" sz="1800" dirty="0"/>
              </a:p>
            </p:txBody>
          </p:sp>
        </p:grpSp>
      </p:grpSp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方案四</a:t>
            </a:r>
            <a:endParaRPr lang="zh-CN" altLang="en-US" dirty="0">
              <a:cs typeface="+mj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77885" y="1643050"/>
            <a:ext cx="3798545" cy="428628"/>
            <a:chOff x="844893" y="785800"/>
            <a:chExt cx="3798545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85800"/>
              <a:ext cx="350046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两个人采用不同的处理流程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8580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677885" y="4527948"/>
            <a:ext cx="3298479" cy="428628"/>
            <a:chOff x="844893" y="3856502"/>
            <a:chExt cx="3298479" cy="428628"/>
          </a:xfrm>
        </p:grpSpPr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142976" y="3856502"/>
              <a:ext cx="30003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现在有效吗？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4893" y="385650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85504" y="4834338"/>
            <a:ext cx="4962560" cy="407990"/>
            <a:chOff x="1252514" y="4162892"/>
            <a:chExt cx="4962560" cy="407990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426766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85078" y="4162892"/>
              <a:ext cx="4829996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枚举所有可能后，可以确认它是有效的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677885" y="5232620"/>
            <a:ext cx="3298479" cy="428628"/>
            <a:chOff x="844893" y="4500558"/>
            <a:chExt cx="3298479" cy="428628"/>
          </a:xfrm>
        </p:grpSpPr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142976" y="4500558"/>
              <a:ext cx="30003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这种解决方案你满足吗？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4893" y="4500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697072" y="2554425"/>
            <a:ext cx="3198712" cy="1169551"/>
            <a:chOff x="879245" y="1644570"/>
            <a:chExt cx="3198712" cy="1169551"/>
          </a:xfrm>
        </p:grpSpPr>
        <p:sp>
          <p:nvSpPr>
            <p:cNvPr id="21" name="矩形 20"/>
            <p:cNvSpPr/>
            <p:nvPr/>
          </p:nvSpPr>
          <p:spPr>
            <a:xfrm>
              <a:off x="879245" y="1720281"/>
              <a:ext cx="2027664" cy="728039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63511" y="1644570"/>
              <a:ext cx="1214446" cy="1169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eaLnBrk="1"/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如果没有便签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2,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那么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A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可以去买面包，否则等待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B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离开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947368" y="2544693"/>
            <a:ext cx="3244976" cy="1384995"/>
            <a:chOff x="4092571" y="1633247"/>
            <a:chExt cx="3244976" cy="1384995"/>
          </a:xfrm>
        </p:grpSpPr>
        <p:sp>
          <p:nvSpPr>
            <p:cNvPr id="24" name="矩形 23"/>
            <p:cNvSpPr/>
            <p:nvPr/>
          </p:nvSpPr>
          <p:spPr>
            <a:xfrm>
              <a:off x="4092571" y="1714494"/>
              <a:ext cx="1969651" cy="252000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23101" y="1633247"/>
              <a:ext cx="121444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/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如果没有便签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1,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那么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B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可以去买面包，否则</a:t>
              </a:r>
              <a:r>
                <a:rPr lang="en-US" altLang="zh-CN" sz="1400" b="1" dirty="0">
                  <a:solidFill>
                    <a:srgbClr val="C00000"/>
                  </a:solidFill>
                  <a:latin typeface="+mn-ea"/>
                </a:rPr>
                <a:t>B</a:t>
              </a:r>
              <a:r>
                <a:rPr lang="zh-CN" altLang="en-US" sz="1400" b="1" dirty="0">
                  <a:solidFill>
                    <a:srgbClr val="C00000"/>
                  </a:solidFill>
                  <a:latin typeface="+mn-ea"/>
                </a:rPr>
                <a:t>离开并且再试一次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253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方案四分析</a:t>
            </a:r>
            <a:endParaRPr lang="zh-CN" altLang="en-US" dirty="0"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68895" y="1857364"/>
            <a:ext cx="6155999" cy="785818"/>
            <a:chOff x="844893" y="1000114"/>
            <a:chExt cx="6155999" cy="78581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250033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它有效，但太复杂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14112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4" name="内容占位符 2"/>
            <p:cNvSpPr txBox="1">
              <a:spLocks/>
            </p:cNvSpPr>
            <p:nvPr/>
          </p:nvSpPr>
          <p:spPr>
            <a:xfrm>
              <a:off x="1385078" y="1306504"/>
              <a:ext cx="5615814" cy="4794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很难验证它的有效性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68895" y="2580864"/>
            <a:ext cx="4155735" cy="1000132"/>
            <a:chOff x="844893" y="1643056"/>
            <a:chExt cx="4155735" cy="1000132"/>
          </a:xfrm>
        </p:grpSpPr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142976" y="1643056"/>
              <a:ext cx="228601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en-US" altLang="zh-CN"/>
                <a:t>A</a:t>
              </a:r>
              <a:r>
                <a:rPr lang="zh-CN" altLang="en-US"/>
                <a:t>和</a:t>
              </a:r>
              <a:r>
                <a:rPr lang="en-US" altLang="zh-CN"/>
                <a:t>B</a:t>
              </a:r>
              <a:r>
                <a:rPr lang="zh-CN" altLang="en-US"/>
                <a:t>的代码不同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4893" y="164305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205422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85078" y="1949446"/>
              <a:ext cx="3615550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每个进程的代码也会略有不同</a:t>
              </a:r>
            </a:p>
          </p:txBody>
        </p:sp>
        <p:pic>
          <p:nvPicPr>
            <p:cNvPr id="30" name="图片 29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23399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3" name="内容占位符 2"/>
            <p:cNvSpPr txBox="1">
              <a:spLocks/>
            </p:cNvSpPr>
            <p:nvPr/>
          </p:nvSpPr>
          <p:spPr>
            <a:xfrm>
              <a:off x="1385078" y="2235198"/>
              <a:ext cx="3114914" cy="4079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如果进程更多，怎么办？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68895" y="3573016"/>
            <a:ext cx="4084297" cy="785818"/>
            <a:chOff x="844893" y="2551112"/>
            <a:chExt cx="4084297" cy="78581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551112"/>
              <a:ext cx="378621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>
                  <a:solidFill>
                    <a:srgbClr val="C00000"/>
                  </a:solidFill>
                </a:rPr>
                <a:t>当</a:t>
              </a:r>
              <a:r>
                <a:rPr lang="en-US" altLang="zh-CN">
                  <a:solidFill>
                    <a:srgbClr val="C00000"/>
                  </a:solidFill>
                </a:rPr>
                <a:t>A</a:t>
              </a:r>
              <a:r>
                <a:rPr lang="zh-CN" altLang="en-US">
                  <a:solidFill>
                    <a:srgbClr val="C00000"/>
                  </a:solidFill>
                </a:rPr>
                <a:t>在等待时，它不能做其他事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255111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" name="图片 1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14" y="296227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385077" y="2857502"/>
              <a:ext cx="3402945" cy="4794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忙等待（</a:t>
              </a:r>
              <a:r>
                <a:rPr lang="en-US" altLang="zh-CN" dirty="0"/>
                <a:t>busy-waiting</a:t>
              </a:r>
              <a:r>
                <a:rPr lang="zh-CN" altLang="en-US" dirty="0"/>
                <a:t>）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368895" y="4296516"/>
            <a:ext cx="2798413" cy="428628"/>
            <a:chOff x="844893" y="3214692"/>
            <a:chExt cx="2441223" cy="428628"/>
          </a:xfrm>
        </p:grpSpPr>
        <p:sp>
          <p:nvSpPr>
            <p:cNvPr id="20" name="内容占位符 2"/>
            <p:cNvSpPr txBox="1">
              <a:spLocks/>
            </p:cNvSpPr>
            <p:nvPr/>
          </p:nvSpPr>
          <p:spPr>
            <a:xfrm>
              <a:off x="1142976" y="3214692"/>
              <a:ext cx="214314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有更好的方法吗？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4893" y="321469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68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2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EF8B03-4893-4F61-844D-3B11D9186F91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3209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Concept about mutual exclusion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en-US" altLang="zh-CN" dirty="0"/>
              <a:t>Race condition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en-US" altLang="zh-CN" dirty="0"/>
              <a:t>More than one processes are compete for some exclusive resource, other processes shouldn’t access the resource when a process is occupying the resource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dirty="0"/>
              <a:t>在单处理器的情况下，竞争是由一片连续的代码访问某个共享资源造成的。本该连续执行的代码，由于调度变得零碎而导致出错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dirty="0"/>
              <a:t>多处理器的情况下，因为有两个进程（线程）在并行执行，问题会更加严重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9630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临界区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(Critical Section)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783632" y="2969647"/>
            <a:ext cx="6336704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Ø"/>
              <a:defRPr sz="2000" kern="1200">
                <a:solidFill>
                  <a:schemeClr val="folHlink"/>
                </a:solidFill>
                <a:latin typeface="+mn-lt"/>
                <a:ea typeface="+mn-ea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"/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"/>
              <a:defRPr sz="16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临界区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(critical section)</a:t>
            </a:r>
          </a:p>
        </p:txBody>
      </p:sp>
      <p:sp>
        <p:nvSpPr>
          <p:cNvPr id="6" name="矩形 5"/>
          <p:cNvSpPr/>
          <p:nvPr/>
        </p:nvSpPr>
        <p:spPr>
          <a:xfrm>
            <a:off x="3226950" y="1779215"/>
            <a:ext cx="4104456" cy="1092607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sz="20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entry section</a:t>
            </a:r>
          </a:p>
          <a:p>
            <a:pPr marL="0" lvl="1">
              <a:lnSpc>
                <a:spcPct val="80000"/>
              </a:lnSpc>
            </a:pPr>
            <a:r>
              <a:rPr lang="en-US" altLang="zh-CN" sz="20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critical section</a:t>
            </a:r>
          </a:p>
          <a:p>
            <a:pPr marL="0" lvl="1">
              <a:lnSpc>
                <a:spcPct val="80000"/>
              </a:lnSpc>
            </a:pPr>
            <a:r>
              <a:rPr lang="en-US" altLang="zh-CN" sz="20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exit section</a:t>
            </a:r>
          </a:p>
          <a:p>
            <a:pPr marL="0" lvl="1">
              <a:lnSpc>
                <a:spcPct val="80000"/>
              </a:lnSpc>
            </a:pPr>
            <a:r>
              <a:rPr lang="en-US" altLang="zh-CN" sz="20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remainder section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784807" y="3324424"/>
            <a:ext cx="6336704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Ø"/>
              <a:defRPr sz="2000" kern="1200">
                <a:solidFill>
                  <a:schemeClr val="folHlink"/>
                </a:solidFill>
                <a:latin typeface="+mn-lt"/>
                <a:ea typeface="+mn-ea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"/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"/>
              <a:defRPr sz="16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进入区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(entry section)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783632" y="3688103"/>
            <a:ext cx="6336704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Ø"/>
              <a:defRPr sz="2000" kern="1200">
                <a:solidFill>
                  <a:schemeClr val="folHlink"/>
                </a:solidFill>
                <a:latin typeface="+mn-lt"/>
                <a:ea typeface="+mn-ea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"/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"/>
              <a:defRPr sz="16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退出区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(exit section)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782535" y="4058385"/>
            <a:ext cx="6336704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Ø"/>
              <a:defRPr sz="2000" kern="1200">
                <a:solidFill>
                  <a:schemeClr val="folHlink"/>
                </a:solidFill>
                <a:latin typeface="+mn-lt"/>
                <a:ea typeface="+mn-ea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"/>
              <a:defRPr sz="2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"/>
              <a:defRPr sz="16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MS P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剩余区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(remainder section)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312142" y="3328985"/>
            <a:ext cx="6456266" cy="360040"/>
            <a:chOff x="1788142" y="2471735"/>
            <a:chExt cx="6456266" cy="360040"/>
          </a:xfrm>
        </p:grpSpPr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1907704" y="2471735"/>
              <a:ext cx="6336704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Blip>
                  <a:blip r:embed="rId2"/>
                </a:buBlip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Ø"/>
                <a:defRPr sz="2000" kern="1200">
                  <a:solidFill>
                    <a:schemeClr val="folHlink"/>
                  </a:solidFill>
                  <a:latin typeface="+mn-lt"/>
                  <a:ea typeface="+mn-ea"/>
                  <a:cs typeface="MS PGothic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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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进程中访问临界资源的一段需要互斥执行的代码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5" name="图片 1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42" y="2589092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3" name="组合 2"/>
          <p:cNvGrpSpPr/>
          <p:nvPr/>
        </p:nvGrpSpPr>
        <p:grpSpPr>
          <a:xfrm>
            <a:off x="3313317" y="3671077"/>
            <a:ext cx="6456266" cy="761954"/>
            <a:chOff x="1788142" y="3180919"/>
            <a:chExt cx="6456266" cy="761954"/>
          </a:xfrm>
        </p:grpSpPr>
        <p:sp>
          <p:nvSpPr>
            <p:cNvPr id="12" name="Rectangle 3"/>
            <p:cNvSpPr txBox="1">
              <a:spLocks noChangeArrowheads="1"/>
            </p:cNvSpPr>
            <p:nvPr/>
          </p:nvSpPr>
          <p:spPr bwMode="auto">
            <a:xfrm>
              <a:off x="1907704" y="3180919"/>
              <a:ext cx="6336704" cy="761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Blip>
                  <a:blip r:embed="rId2"/>
                </a:buBlip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Ø"/>
                <a:defRPr sz="2000" kern="1200">
                  <a:solidFill>
                    <a:schemeClr val="folHlink"/>
                  </a:solidFill>
                  <a:latin typeface="+mn-lt"/>
                  <a:ea typeface="+mn-ea"/>
                  <a:cs typeface="MS PGothic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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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检查可否进入临界区的一段代码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0" indent="0" eaLnBrk="1" hangingPunct="1"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如可进入，设置相应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"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正在访问临界区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"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标志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42" y="3297335"/>
              <a:ext cx="151066" cy="148997"/>
            </a:xfrm>
            <a:prstGeom prst="rect">
              <a:avLst/>
            </a:prstGeom>
            <a:effectLst/>
          </p:spPr>
        </p:pic>
        <p:pic>
          <p:nvPicPr>
            <p:cNvPr id="17" name="图片 1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42" y="3667267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4" name="组合 3"/>
          <p:cNvGrpSpPr/>
          <p:nvPr/>
        </p:nvGrpSpPr>
        <p:grpSpPr>
          <a:xfrm>
            <a:off x="3312144" y="4014467"/>
            <a:ext cx="6435641" cy="360040"/>
            <a:chOff x="1788142" y="4135227"/>
            <a:chExt cx="6435641" cy="360040"/>
          </a:xfrm>
        </p:grpSpPr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1887079" y="4135227"/>
              <a:ext cx="6336704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Blip>
                  <a:blip r:embed="rId2"/>
                </a:buBlip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Ø"/>
                <a:defRPr sz="2000" kern="1200">
                  <a:solidFill>
                    <a:schemeClr val="folHlink"/>
                  </a:solidFill>
                  <a:latin typeface="+mn-lt"/>
                  <a:ea typeface="+mn-ea"/>
                  <a:cs typeface="MS PGothic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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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清除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“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正在访问临界区</a:t>
              </a:r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”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标志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42" y="4257586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20" name="组合 19"/>
          <p:cNvGrpSpPr/>
          <p:nvPr/>
        </p:nvGrpSpPr>
        <p:grpSpPr>
          <a:xfrm>
            <a:off x="3312142" y="4441110"/>
            <a:ext cx="6456266" cy="360040"/>
            <a:chOff x="1788142" y="4878343"/>
            <a:chExt cx="6456266" cy="360040"/>
          </a:xfrm>
        </p:grpSpPr>
        <p:sp>
          <p:nvSpPr>
            <p:cNvPr id="14" name="Rectangle 3"/>
            <p:cNvSpPr txBox="1">
              <a:spLocks noChangeArrowheads="1"/>
            </p:cNvSpPr>
            <p:nvPr/>
          </p:nvSpPr>
          <p:spPr bwMode="auto">
            <a:xfrm>
              <a:off x="1907704" y="4878343"/>
              <a:ext cx="6336704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Blip>
                  <a:blip r:embed="rId2"/>
                </a:buBlip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Ø"/>
                <a:defRPr sz="2000" kern="1200">
                  <a:solidFill>
                    <a:schemeClr val="folHlink"/>
                  </a:solidFill>
                  <a:latin typeface="+mn-lt"/>
                  <a:ea typeface="+mn-ea"/>
                  <a:cs typeface="MS PGothic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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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MS PGothic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代码中的其余部分</a:t>
              </a:r>
            </a:p>
          </p:txBody>
        </p:sp>
        <p:pic>
          <p:nvPicPr>
            <p:cNvPr id="19" name="图片 1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142" y="4999244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23" name="矩形 22"/>
          <p:cNvSpPr/>
          <p:nvPr/>
        </p:nvSpPr>
        <p:spPr>
          <a:xfrm>
            <a:off x="3684566" y="2028402"/>
            <a:ext cx="3000004" cy="3539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critical section</a:t>
            </a:r>
          </a:p>
        </p:txBody>
      </p:sp>
      <p:sp>
        <p:nvSpPr>
          <p:cNvPr id="24" name="矩形 23"/>
          <p:cNvSpPr/>
          <p:nvPr/>
        </p:nvSpPr>
        <p:spPr>
          <a:xfrm>
            <a:off x="3226950" y="1781792"/>
            <a:ext cx="3000004" cy="3539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entry section</a:t>
            </a:r>
          </a:p>
        </p:txBody>
      </p:sp>
      <p:sp>
        <p:nvSpPr>
          <p:cNvPr id="25" name="矩形 24"/>
          <p:cNvSpPr/>
          <p:nvPr/>
        </p:nvSpPr>
        <p:spPr>
          <a:xfrm>
            <a:off x="3227233" y="2277331"/>
            <a:ext cx="3000004" cy="3539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exit section</a:t>
            </a:r>
          </a:p>
        </p:txBody>
      </p:sp>
      <p:sp>
        <p:nvSpPr>
          <p:cNvPr id="26" name="矩形 25"/>
          <p:cNvSpPr/>
          <p:nvPr/>
        </p:nvSpPr>
        <p:spPr>
          <a:xfrm>
            <a:off x="3685415" y="2511777"/>
            <a:ext cx="3000004" cy="353943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remainder section</a:t>
            </a:r>
          </a:p>
        </p:txBody>
      </p:sp>
    </p:spTree>
    <p:extLst>
      <p:ext uri="{BB962C8B-B14F-4D97-AF65-F5344CB8AC3E}">
        <p14:creationId xmlns:p14="http://schemas.microsoft.com/office/powerpoint/2010/main" val="53641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9" grpId="0"/>
      <p:bldP spid="10" grpId="0"/>
      <p:bldP spid="23" grpId="0"/>
      <p:bldP spid="23" grpId="1"/>
      <p:bldP spid="23" grpId="2"/>
      <p:bldP spid="24" grpId="0"/>
      <p:bldP spid="24" grpId="1"/>
      <p:bldP spid="24" grpId="2"/>
      <p:bldP spid="25" grpId="0"/>
      <p:bldP spid="25" grpId="1"/>
      <p:bldP spid="25" grpId="2"/>
      <p:bldP spid="26" grpId="0"/>
      <p:bldP spid="2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9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7BF9E8-BB21-414A-9B30-C28F7B25F3B1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3414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Concept about mutual exclusion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22639" y="2424830"/>
            <a:ext cx="2857500" cy="2857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780139" y="3996455"/>
            <a:ext cx="1428750" cy="2857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>
            <a:cxnSpLocks noChangeShapeType="1"/>
            <a:stCxn id="8" idx="1"/>
          </p:cNvCxnSpPr>
          <p:nvPr/>
        </p:nvCxnSpPr>
        <p:spPr bwMode="auto">
          <a:xfrm rot="10800000">
            <a:off x="3279701" y="2567705"/>
            <a:ext cx="642938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连接符 11"/>
          <p:cNvCxnSpPr>
            <a:cxnSpLocks noChangeShapeType="1"/>
            <a:endCxn id="8" idx="3"/>
          </p:cNvCxnSpPr>
          <p:nvPr/>
        </p:nvCxnSpPr>
        <p:spPr bwMode="auto">
          <a:xfrm rot="10800000">
            <a:off x="6780140" y="2567705"/>
            <a:ext cx="3500437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/>
          <p:cNvCxnSpPr>
            <a:cxnSpLocks noChangeShapeType="1"/>
            <a:stCxn id="9" idx="1"/>
          </p:cNvCxnSpPr>
          <p:nvPr/>
        </p:nvCxnSpPr>
        <p:spPr bwMode="auto">
          <a:xfrm rot="10800000">
            <a:off x="5065639" y="4139330"/>
            <a:ext cx="1714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  <a:stCxn id="9" idx="3"/>
          </p:cNvCxnSpPr>
          <p:nvPr/>
        </p:nvCxnSpPr>
        <p:spPr bwMode="auto">
          <a:xfrm>
            <a:off x="8208890" y="4139330"/>
            <a:ext cx="2071687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2279576" y="3996456"/>
            <a:ext cx="9223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1"/>
                </a:solidFill>
              </a:rPr>
              <a:t>Proc B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287514" y="2424831"/>
            <a:ext cx="9207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1"/>
                </a:solidFill>
              </a:rPr>
              <a:t>Proc A</a:t>
            </a: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" name="组合 59"/>
          <p:cNvGrpSpPr>
            <a:grpSpLocks/>
          </p:cNvGrpSpPr>
          <p:nvPr/>
        </p:nvGrpSpPr>
        <p:grpSpPr bwMode="auto">
          <a:xfrm>
            <a:off x="3708326" y="1567581"/>
            <a:ext cx="2806700" cy="785813"/>
            <a:chOff x="2428860" y="1285860"/>
            <a:chExt cx="2807179" cy="785818"/>
          </a:xfrm>
        </p:grpSpPr>
        <p:cxnSp>
          <p:nvCxnSpPr>
            <p:cNvPr id="134190" name="直接箭头连接符 32"/>
            <p:cNvCxnSpPr>
              <a:cxnSpLocks noChangeShapeType="1"/>
            </p:cNvCxnSpPr>
            <p:nvPr/>
          </p:nvCxnSpPr>
          <p:spPr bwMode="auto">
            <a:xfrm rot="10800000" flipV="1">
              <a:off x="2643174" y="1643050"/>
              <a:ext cx="642942" cy="4286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91" name="TextBox 42"/>
            <p:cNvSpPr txBox="1">
              <a:spLocks noChangeArrowheads="1"/>
            </p:cNvSpPr>
            <p:nvPr/>
          </p:nvSpPr>
          <p:spPr bwMode="auto">
            <a:xfrm>
              <a:off x="2428860" y="1285860"/>
              <a:ext cx="280717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 enters critical region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组合 60"/>
          <p:cNvGrpSpPr>
            <a:grpSpLocks/>
          </p:cNvGrpSpPr>
          <p:nvPr/>
        </p:nvGrpSpPr>
        <p:grpSpPr bwMode="auto">
          <a:xfrm>
            <a:off x="6780140" y="1781893"/>
            <a:ext cx="2949575" cy="785812"/>
            <a:chOff x="5500694" y="1500174"/>
            <a:chExt cx="2949414" cy="785818"/>
          </a:xfrm>
        </p:grpSpPr>
        <p:cxnSp>
          <p:nvCxnSpPr>
            <p:cNvPr id="134188" name="直接箭头连接符 34"/>
            <p:cNvCxnSpPr>
              <a:cxnSpLocks noChangeShapeType="1"/>
            </p:cNvCxnSpPr>
            <p:nvPr/>
          </p:nvCxnSpPr>
          <p:spPr bwMode="auto">
            <a:xfrm rot="10800000" flipV="1">
              <a:off x="5500694" y="1857364"/>
              <a:ext cx="642942" cy="4286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89" name="TextBox 43"/>
            <p:cNvSpPr txBox="1">
              <a:spLocks noChangeArrowheads="1"/>
            </p:cNvSpPr>
            <p:nvPr/>
          </p:nvSpPr>
          <p:spPr bwMode="auto">
            <a:xfrm>
              <a:off x="5643570" y="1500174"/>
              <a:ext cx="2806538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 leaves critical region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1"/>
          <p:cNvGrpSpPr>
            <a:grpSpLocks/>
          </p:cNvGrpSpPr>
          <p:nvPr/>
        </p:nvGrpSpPr>
        <p:grpSpPr bwMode="auto">
          <a:xfrm>
            <a:off x="5065639" y="2996331"/>
            <a:ext cx="1643062" cy="1071563"/>
            <a:chOff x="3786182" y="2714620"/>
            <a:chExt cx="1643074" cy="1071570"/>
          </a:xfrm>
        </p:grpSpPr>
        <p:cxnSp>
          <p:nvCxnSpPr>
            <p:cNvPr id="134186" name="直接箭头连接符 33"/>
            <p:cNvCxnSpPr>
              <a:cxnSpLocks noChangeShapeType="1"/>
            </p:cNvCxnSpPr>
            <p:nvPr/>
          </p:nvCxnSpPr>
          <p:spPr bwMode="auto">
            <a:xfrm rot="10800000" flipV="1">
              <a:off x="3786182" y="3357562"/>
              <a:ext cx="642942" cy="4286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87" name="TextBox 44"/>
            <p:cNvSpPr txBox="1">
              <a:spLocks noChangeArrowheads="1"/>
            </p:cNvSpPr>
            <p:nvPr/>
          </p:nvSpPr>
          <p:spPr bwMode="auto">
            <a:xfrm>
              <a:off x="4143372" y="2714620"/>
              <a:ext cx="1285884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 try to enter CR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组合 62"/>
          <p:cNvGrpSpPr>
            <a:grpSpLocks/>
          </p:cNvGrpSpPr>
          <p:nvPr/>
        </p:nvGrpSpPr>
        <p:grpSpPr bwMode="auto">
          <a:xfrm>
            <a:off x="6780139" y="2996331"/>
            <a:ext cx="1357312" cy="1000125"/>
            <a:chOff x="5500694" y="2714620"/>
            <a:chExt cx="1357322" cy="1000132"/>
          </a:xfrm>
        </p:grpSpPr>
        <p:cxnSp>
          <p:nvCxnSpPr>
            <p:cNvPr id="134184" name="直接箭头连接符 35"/>
            <p:cNvCxnSpPr>
              <a:cxnSpLocks noChangeShapeType="1"/>
            </p:cNvCxnSpPr>
            <p:nvPr/>
          </p:nvCxnSpPr>
          <p:spPr bwMode="auto">
            <a:xfrm rot="10800000" flipV="1">
              <a:off x="5500694" y="3286124"/>
              <a:ext cx="642942" cy="4286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85" name="TextBox 45"/>
            <p:cNvSpPr txBox="1">
              <a:spLocks noChangeArrowheads="1"/>
            </p:cNvSpPr>
            <p:nvPr/>
          </p:nvSpPr>
          <p:spPr bwMode="auto">
            <a:xfrm>
              <a:off x="5572133" y="2714620"/>
              <a:ext cx="1285883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 enters CR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63"/>
          <p:cNvGrpSpPr>
            <a:grpSpLocks/>
          </p:cNvGrpSpPr>
          <p:nvPr/>
        </p:nvGrpSpPr>
        <p:grpSpPr bwMode="auto">
          <a:xfrm>
            <a:off x="8208889" y="3282080"/>
            <a:ext cx="1987550" cy="857250"/>
            <a:chOff x="6929454" y="3000372"/>
            <a:chExt cx="1988029" cy="857256"/>
          </a:xfrm>
        </p:grpSpPr>
        <p:cxnSp>
          <p:nvCxnSpPr>
            <p:cNvPr id="134182" name="直接箭头连接符 36"/>
            <p:cNvCxnSpPr>
              <a:cxnSpLocks noChangeShapeType="1"/>
            </p:cNvCxnSpPr>
            <p:nvPr/>
          </p:nvCxnSpPr>
          <p:spPr bwMode="auto">
            <a:xfrm rot="10800000" flipV="1">
              <a:off x="6929454" y="3429000"/>
              <a:ext cx="642942" cy="4286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83" name="TextBox 46"/>
            <p:cNvSpPr txBox="1">
              <a:spLocks noChangeArrowheads="1"/>
            </p:cNvSpPr>
            <p:nvPr/>
          </p:nvSpPr>
          <p:spPr bwMode="auto">
            <a:xfrm>
              <a:off x="7358082" y="3000372"/>
              <a:ext cx="1559401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 leaves CR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55"/>
          <p:cNvGrpSpPr>
            <a:grpSpLocks/>
          </p:cNvGrpSpPr>
          <p:nvPr/>
        </p:nvGrpSpPr>
        <p:grpSpPr bwMode="auto">
          <a:xfrm>
            <a:off x="3636889" y="2782019"/>
            <a:ext cx="474662" cy="2886075"/>
            <a:chOff x="2357422" y="2501100"/>
            <a:chExt cx="474810" cy="2884906"/>
          </a:xfrm>
        </p:grpSpPr>
        <p:cxnSp>
          <p:nvCxnSpPr>
            <p:cNvPr id="134180" name="直接连接符 24"/>
            <p:cNvCxnSpPr>
              <a:cxnSpLocks noChangeShapeType="1"/>
            </p:cNvCxnSpPr>
            <p:nvPr/>
          </p:nvCxnSpPr>
          <p:spPr bwMode="auto">
            <a:xfrm rot="5400000">
              <a:off x="1393009" y="3750471"/>
              <a:ext cx="250033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81" name="TextBox 47"/>
            <p:cNvSpPr txBox="1">
              <a:spLocks noChangeArrowheads="1"/>
            </p:cNvSpPr>
            <p:nvPr/>
          </p:nvSpPr>
          <p:spPr bwMode="auto">
            <a:xfrm>
              <a:off x="2357422" y="5072074"/>
              <a:ext cx="474810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T1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56"/>
          <p:cNvGrpSpPr>
            <a:grpSpLocks/>
          </p:cNvGrpSpPr>
          <p:nvPr/>
        </p:nvGrpSpPr>
        <p:grpSpPr bwMode="auto">
          <a:xfrm>
            <a:off x="4805289" y="2782019"/>
            <a:ext cx="474662" cy="2886075"/>
            <a:chOff x="3525686" y="2500306"/>
            <a:chExt cx="474810" cy="2885700"/>
          </a:xfrm>
        </p:grpSpPr>
        <p:cxnSp>
          <p:nvCxnSpPr>
            <p:cNvPr id="134178" name="直接连接符 26"/>
            <p:cNvCxnSpPr>
              <a:cxnSpLocks noChangeShapeType="1"/>
            </p:cNvCxnSpPr>
            <p:nvPr/>
          </p:nvCxnSpPr>
          <p:spPr bwMode="auto">
            <a:xfrm rot="5400000">
              <a:off x="2536811" y="3749677"/>
              <a:ext cx="250033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79" name="TextBox 49"/>
            <p:cNvSpPr txBox="1">
              <a:spLocks noChangeArrowheads="1"/>
            </p:cNvSpPr>
            <p:nvPr/>
          </p:nvSpPr>
          <p:spPr bwMode="auto">
            <a:xfrm>
              <a:off x="3525686" y="5072074"/>
              <a:ext cx="474810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T2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57"/>
          <p:cNvGrpSpPr>
            <a:grpSpLocks/>
          </p:cNvGrpSpPr>
          <p:nvPr/>
        </p:nvGrpSpPr>
        <p:grpSpPr bwMode="auto">
          <a:xfrm>
            <a:off x="6565827" y="2710581"/>
            <a:ext cx="474663" cy="2957513"/>
            <a:chOff x="5286380" y="2428868"/>
            <a:chExt cx="474810" cy="2957138"/>
          </a:xfrm>
        </p:grpSpPr>
        <p:cxnSp>
          <p:nvCxnSpPr>
            <p:cNvPr id="134176" name="直接连接符 25"/>
            <p:cNvCxnSpPr>
              <a:cxnSpLocks noChangeShapeType="1"/>
            </p:cNvCxnSpPr>
            <p:nvPr/>
          </p:nvCxnSpPr>
          <p:spPr bwMode="auto">
            <a:xfrm rot="5400000">
              <a:off x="4251323" y="3678239"/>
              <a:ext cx="250033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77" name="TextBox 50"/>
            <p:cNvSpPr txBox="1">
              <a:spLocks noChangeArrowheads="1"/>
            </p:cNvSpPr>
            <p:nvPr/>
          </p:nvSpPr>
          <p:spPr bwMode="auto">
            <a:xfrm>
              <a:off x="5286380" y="5072074"/>
              <a:ext cx="474810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T3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58"/>
          <p:cNvGrpSpPr>
            <a:grpSpLocks/>
          </p:cNvGrpSpPr>
          <p:nvPr/>
        </p:nvGrpSpPr>
        <p:grpSpPr bwMode="auto">
          <a:xfrm>
            <a:off x="7994577" y="2639143"/>
            <a:ext cx="474663" cy="3028950"/>
            <a:chOff x="6715140" y="2357430"/>
            <a:chExt cx="474810" cy="3028576"/>
          </a:xfrm>
        </p:grpSpPr>
        <p:cxnSp>
          <p:nvCxnSpPr>
            <p:cNvPr id="134174" name="直接连接符 28"/>
            <p:cNvCxnSpPr>
              <a:cxnSpLocks noChangeShapeType="1"/>
            </p:cNvCxnSpPr>
            <p:nvPr/>
          </p:nvCxnSpPr>
          <p:spPr bwMode="auto">
            <a:xfrm rot="5400000">
              <a:off x="5680083" y="3606801"/>
              <a:ext cx="250033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75" name="TextBox 51"/>
            <p:cNvSpPr txBox="1">
              <a:spLocks noChangeArrowheads="1"/>
            </p:cNvSpPr>
            <p:nvPr/>
          </p:nvSpPr>
          <p:spPr bwMode="auto">
            <a:xfrm>
              <a:off x="6715140" y="5072074"/>
              <a:ext cx="474810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T4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53"/>
          <p:cNvGrpSpPr>
            <a:grpSpLocks/>
          </p:cNvGrpSpPr>
          <p:nvPr/>
        </p:nvGrpSpPr>
        <p:grpSpPr bwMode="auto">
          <a:xfrm>
            <a:off x="4851326" y="6139581"/>
            <a:ext cx="3500438" cy="385763"/>
            <a:chOff x="3571868" y="5857892"/>
            <a:chExt cx="3500462" cy="385370"/>
          </a:xfrm>
        </p:grpSpPr>
        <p:cxnSp>
          <p:nvCxnSpPr>
            <p:cNvPr id="134172" name="直接箭头连接符 37"/>
            <p:cNvCxnSpPr>
              <a:cxnSpLocks noChangeShapeType="1"/>
            </p:cNvCxnSpPr>
            <p:nvPr/>
          </p:nvCxnSpPr>
          <p:spPr bwMode="auto">
            <a:xfrm>
              <a:off x="3571868" y="5857892"/>
              <a:ext cx="3500462" cy="15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4173" name="TextBox 52"/>
            <p:cNvSpPr txBox="1">
              <a:spLocks noChangeArrowheads="1"/>
            </p:cNvSpPr>
            <p:nvPr/>
          </p:nvSpPr>
          <p:spPr bwMode="auto">
            <a:xfrm>
              <a:off x="4429124" y="5929330"/>
              <a:ext cx="753732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Time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67"/>
          <p:cNvGrpSpPr>
            <a:grpSpLocks/>
          </p:cNvGrpSpPr>
          <p:nvPr/>
        </p:nvGrpSpPr>
        <p:grpSpPr bwMode="auto">
          <a:xfrm>
            <a:off x="5137077" y="4210769"/>
            <a:ext cx="1571625" cy="814387"/>
            <a:chOff x="3857620" y="3929066"/>
            <a:chExt cx="1571636" cy="813998"/>
          </a:xfrm>
        </p:grpSpPr>
        <p:sp>
          <p:nvSpPr>
            <p:cNvPr id="134170" name="左大括号 30"/>
            <p:cNvSpPr>
              <a:spLocks/>
            </p:cNvSpPr>
            <p:nvPr/>
          </p:nvSpPr>
          <p:spPr bwMode="auto">
            <a:xfrm rot="-5400000">
              <a:off x="4429124" y="3357562"/>
              <a:ext cx="428628" cy="1571636"/>
            </a:xfrm>
            <a:prstGeom prst="leftBrace">
              <a:avLst>
                <a:gd name="adj1" fmla="val 8335"/>
                <a:gd name="adj2" fmla="val 47574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4171" name="TextBox 54"/>
            <p:cNvSpPr txBox="1">
              <a:spLocks noChangeArrowheads="1"/>
            </p:cNvSpPr>
            <p:nvPr/>
          </p:nvSpPr>
          <p:spPr bwMode="auto">
            <a:xfrm>
              <a:off x="4071934" y="4429132"/>
              <a:ext cx="1083310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Blocked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cxnSp>
        <p:nvCxnSpPr>
          <p:cNvPr id="66" name="直接连接符 65"/>
          <p:cNvCxnSpPr>
            <a:cxnSpLocks noChangeShapeType="1"/>
          </p:cNvCxnSpPr>
          <p:nvPr/>
        </p:nvCxnSpPr>
        <p:spPr bwMode="auto">
          <a:xfrm rot="10800000">
            <a:off x="3279701" y="4139330"/>
            <a:ext cx="1785938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1034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2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临界区的访问规则</a:t>
            </a:r>
            <a:endParaRPr lang="en-US" altLang="zh-CN" sz="30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695400" y="2061394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695400" y="2493442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有限等待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695400" y="2925490"/>
            <a:ext cx="3096344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让权等待（可选）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695400" y="1557338"/>
            <a:ext cx="208823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kern="0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kern="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空闲则入</a:t>
            </a:r>
            <a:endParaRPr lang="en-US" altLang="zh-CN" sz="2000" b="1" kern="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98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临界区的访问规则</a:t>
            </a:r>
            <a:endParaRPr lang="en-US" altLang="zh-CN" sz="30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693975" y="2277418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693975" y="2709466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有限等待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693975" y="3141514"/>
            <a:ext cx="3096344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让权等待（可选）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1914" y="1908086"/>
            <a:ext cx="5317386" cy="369332"/>
            <a:chOff x="1861587" y="1482338"/>
            <a:chExt cx="5317386" cy="369332"/>
          </a:xfrm>
        </p:grpSpPr>
        <p:sp>
          <p:nvSpPr>
            <p:cNvPr id="7" name="矩形 6"/>
            <p:cNvSpPr/>
            <p:nvPr/>
          </p:nvSpPr>
          <p:spPr>
            <a:xfrm>
              <a:off x="2012653" y="1482338"/>
              <a:ext cx="51663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Aft>
                  <a:spcPct val="0"/>
                </a:spcAft>
                <a:buClr>
                  <a:schemeClr val="folHlink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没有进程在临界区时，任何进程可进入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8" name="图片 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587" y="1592505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93975" y="1557338"/>
            <a:ext cx="208823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kern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kern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空闲则入</a:t>
            </a:r>
            <a:endParaRPr lang="en-US" altLang="zh-CN" sz="2000" b="1" kern="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98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临界区的访问规则</a:t>
            </a:r>
            <a:endParaRPr lang="en-US" altLang="zh-CN" sz="30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695325" y="1982981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695325" y="2703061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有限等待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695325" y="3135109"/>
            <a:ext cx="3096344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让权等待（可选）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53264" y="2356838"/>
            <a:ext cx="5317386" cy="369332"/>
            <a:chOff x="1861587" y="1482338"/>
            <a:chExt cx="5317386" cy="369332"/>
          </a:xfrm>
        </p:grpSpPr>
        <p:sp>
          <p:nvSpPr>
            <p:cNvPr id="8" name="矩形 7"/>
            <p:cNvSpPr/>
            <p:nvPr/>
          </p:nvSpPr>
          <p:spPr>
            <a:xfrm>
              <a:off x="2012653" y="1482338"/>
              <a:ext cx="51663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Aft>
                  <a:spcPct val="0"/>
                </a:spcAft>
                <a:buClr>
                  <a:schemeClr val="folHlink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有进程在临界区时，其他进程均不能进入临界区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587" y="1592505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95325" y="1550933"/>
            <a:ext cx="208823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kern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kern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空闲则入</a:t>
            </a:r>
            <a:endParaRPr lang="en-US" altLang="zh-CN" sz="2000" b="1" kern="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10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临界区的访问规则</a:t>
            </a:r>
            <a:endParaRPr lang="en-US" altLang="zh-CN" sz="30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695400" y="1989386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695400" y="2421434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有限等待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695400" y="3141514"/>
            <a:ext cx="3096344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让权等待（可选）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53339" y="2772182"/>
            <a:ext cx="5317386" cy="369332"/>
            <a:chOff x="1861587" y="1482338"/>
            <a:chExt cx="5317386" cy="369332"/>
          </a:xfrm>
        </p:grpSpPr>
        <p:sp>
          <p:nvSpPr>
            <p:cNvPr id="8" name="矩形 7"/>
            <p:cNvSpPr/>
            <p:nvPr/>
          </p:nvSpPr>
          <p:spPr>
            <a:xfrm>
              <a:off x="2012653" y="1482338"/>
              <a:ext cx="51663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Aft>
                  <a:spcPct val="0"/>
                </a:spcAft>
                <a:buClr>
                  <a:schemeClr val="folHlink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等待进入临界区的进程不能无限期等待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587" y="1592505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695400" y="1557338"/>
            <a:ext cx="208823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kern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kern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空闲则入</a:t>
            </a:r>
            <a:endParaRPr lang="en-US" altLang="zh-CN" sz="2000" b="1" kern="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24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临界区的访问规则</a:t>
            </a:r>
            <a:endParaRPr lang="en-US" altLang="zh-CN" sz="30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695325" y="1989386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忙则等待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>
          <a:xfrm>
            <a:off x="695325" y="2421434"/>
            <a:ext cx="2088232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有限等待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695325" y="2853482"/>
            <a:ext cx="3096344" cy="432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让权等待（可选）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53265" y="3213524"/>
            <a:ext cx="6598844" cy="369332"/>
            <a:chOff x="1861587" y="1482338"/>
            <a:chExt cx="4654629" cy="369332"/>
          </a:xfrm>
        </p:grpSpPr>
        <p:sp>
          <p:nvSpPr>
            <p:cNvPr id="8" name="矩形 7"/>
            <p:cNvSpPr/>
            <p:nvPr/>
          </p:nvSpPr>
          <p:spPr>
            <a:xfrm>
              <a:off x="2012653" y="1482338"/>
              <a:ext cx="45035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Aft>
                  <a:spcPct val="0"/>
                </a:spcAft>
                <a:buClr>
                  <a:schemeClr val="folHlink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不能进入临界区的进程，应释放</a:t>
              </a:r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（如转换到阻塞状态）</a:t>
              </a: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587" y="1592505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695325" y="1557338"/>
            <a:ext cx="208823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chemeClr val="folHlink"/>
              </a:buClr>
              <a:buSzPct val="75000"/>
              <a:buNone/>
            </a:pPr>
            <a:r>
              <a:rPr lang="zh-CN" altLang="en-US" sz="2000" b="1" kern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000" b="1" kern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空闲则入</a:t>
            </a:r>
            <a:endParaRPr lang="en-US" altLang="zh-CN" sz="2000" b="1" kern="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1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8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D844A8-8AEF-47A5-BFFB-E2D501946569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4643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Disabling interrupts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6435" name="内容占位符 2"/>
          <p:cNvSpPr>
            <a:spLocks noGrp="1"/>
          </p:cNvSpPr>
          <p:nvPr>
            <p:ph idx="1"/>
          </p:nvPr>
        </p:nvSpPr>
        <p:spPr>
          <a:xfrm>
            <a:off x="695399" y="3428999"/>
            <a:ext cx="10801200" cy="249210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Strongpoint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Solve mutual exclusion problems drastically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Weakness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Dangerous for users can close interrupts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Useless under multiple CPUs condition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167063" y="1747143"/>
            <a:ext cx="2519362" cy="139382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Close_INT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Open_INT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910388" y="1747143"/>
            <a:ext cx="2614612" cy="139382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Close_INT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Open_INT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5037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2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BE3DF5-C591-4EFC-986F-F4C97E3C30F1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4233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Solutions of IPC problems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233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Busy waiting</a:t>
            </a:r>
          </a:p>
          <a:p>
            <a:pPr lvl="1">
              <a:lnSpc>
                <a:spcPct val="11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Sleep and wakeup</a:t>
            </a:r>
          </a:p>
          <a:p>
            <a:pPr lvl="1">
              <a:lnSpc>
                <a:spcPct val="11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Message passing</a:t>
            </a:r>
          </a:p>
          <a:p>
            <a:pPr lvl="1">
              <a:lnSpc>
                <a:spcPct val="11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90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2CD2F8-B3DB-48AC-AA63-2B96384F159F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4438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Busy waiting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438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Design rules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Set a global variable to store the status of CR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Process checks this variable before enters CR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Methods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Lock variables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Strict alternation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Peterson’s solution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TSL instruction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274C10-E96C-4F6E-8A6B-8B46A237037A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484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Lock variable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8483" name="内容占位符 2"/>
          <p:cNvSpPr>
            <a:spLocks noGrp="1"/>
          </p:cNvSpPr>
          <p:nvPr>
            <p:ph idx="1"/>
          </p:nvPr>
        </p:nvSpPr>
        <p:spPr>
          <a:xfrm>
            <a:off x="695399" y="4653135"/>
            <a:ext cx="10801200" cy="126796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Weakness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Doesn’t resolve the problem essentially </a:t>
            </a:r>
          </a:p>
          <a:p>
            <a:pPr lvl="1">
              <a:lnSpc>
                <a:spcPct val="11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238626" y="1928814"/>
            <a:ext cx="2543175" cy="1754187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While(lock != 0);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596189" y="1928814"/>
            <a:ext cx="2714625" cy="1754187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While(lock != 0); 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= 1;	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= 0;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586039" y="2043114"/>
            <a:ext cx="1366837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7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6978C0-AF7F-4455-BFB5-6D93C9E5A9B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5155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Drawback of lock variable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586039" y="2005930"/>
            <a:ext cx="1366837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167188" y="1891630"/>
            <a:ext cx="2571750" cy="674687"/>
          </a:xfrm>
          <a:prstGeom prst="rect">
            <a:avLst/>
          </a:prstGeom>
          <a:solidFill>
            <a:srgbClr val="CCFFFF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Proc A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While(lock != 0);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167188" y="2755230"/>
            <a:ext cx="2571750" cy="674687"/>
          </a:xfrm>
          <a:prstGeom prst="rect">
            <a:avLst/>
          </a:prstGeom>
          <a:solidFill>
            <a:srgbClr val="FFFF99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Proc B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While(lock != 0); 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167188" y="3618829"/>
            <a:ext cx="2571750" cy="1033462"/>
          </a:xfrm>
          <a:prstGeom prst="rect">
            <a:avLst/>
          </a:prstGeom>
          <a:solidFill>
            <a:srgbClr val="CCFFFF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Proc A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lock 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();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4167188" y="4915817"/>
            <a:ext cx="2571750" cy="1033463"/>
          </a:xfrm>
          <a:prstGeom prst="rect">
            <a:avLst/>
          </a:prstGeom>
          <a:solidFill>
            <a:srgbClr val="FFFF99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Proc B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lock = 1;	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();</a:t>
            </a:r>
          </a:p>
        </p:txBody>
      </p:sp>
      <p:sp>
        <p:nvSpPr>
          <p:cNvPr id="17" name="AutoShape 11"/>
          <p:cNvSpPr>
            <a:spLocks/>
          </p:cNvSpPr>
          <p:nvPr/>
        </p:nvSpPr>
        <p:spPr bwMode="auto">
          <a:xfrm>
            <a:off x="7575550" y="2463130"/>
            <a:ext cx="2160588" cy="363537"/>
          </a:xfrm>
          <a:prstGeom prst="borderCallout2">
            <a:avLst>
              <a:gd name="adj1" fmla="val 17648"/>
              <a:gd name="adj2" fmla="val -3528"/>
              <a:gd name="adj3" fmla="val 17648"/>
              <a:gd name="adj4" fmla="val -24981"/>
              <a:gd name="adj5" fmla="val 80639"/>
              <a:gd name="adj6" fmla="val -47245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CPU switch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AutoShape 12"/>
          <p:cNvSpPr>
            <a:spLocks/>
          </p:cNvSpPr>
          <p:nvPr/>
        </p:nvSpPr>
        <p:spPr bwMode="auto">
          <a:xfrm>
            <a:off x="7575550" y="3547391"/>
            <a:ext cx="2520950" cy="558800"/>
          </a:xfrm>
          <a:prstGeom prst="borderCallout2">
            <a:avLst>
              <a:gd name="adj1" fmla="val 17648"/>
              <a:gd name="adj2" fmla="val -3023"/>
              <a:gd name="adj3" fmla="val 17648"/>
              <a:gd name="adj4" fmla="val -19838"/>
              <a:gd name="adj5" fmla="val 8824"/>
              <a:gd name="adj6" fmla="val -37407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CPU switch, Proc A enters CR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AutoShape 13"/>
          <p:cNvSpPr>
            <a:spLocks/>
          </p:cNvSpPr>
          <p:nvPr/>
        </p:nvSpPr>
        <p:spPr bwMode="auto">
          <a:xfrm>
            <a:off x="7575550" y="4987254"/>
            <a:ext cx="2520950" cy="647700"/>
          </a:xfrm>
          <a:prstGeom prst="borderCallout2">
            <a:avLst>
              <a:gd name="adj1" fmla="val 17648"/>
              <a:gd name="adj2" fmla="val -3023"/>
              <a:gd name="adj3" fmla="val -33332"/>
              <a:gd name="adj4" fmla="val -15933"/>
              <a:gd name="adj5" fmla="val -13236"/>
              <a:gd name="adj6" fmla="val -37782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CPU switch, Proc B enters CR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2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6A6C13-E7A8-4BFB-A28A-F9AF81D90977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525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Strict alternation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2579" name="内容占位符 2"/>
          <p:cNvSpPr>
            <a:spLocks noGrp="1"/>
          </p:cNvSpPr>
          <p:nvPr>
            <p:ph idx="1"/>
          </p:nvPr>
        </p:nvSpPr>
        <p:spPr>
          <a:xfrm>
            <a:off x="695399" y="4508499"/>
            <a:ext cx="10801200" cy="180082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Weakness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Waste CPU time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Processes have to be running alternately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238625" y="1520826"/>
            <a:ext cx="2749550" cy="283527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While(turn != 0);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turn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524125" y="1592264"/>
            <a:ext cx="1366838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turn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7310438" y="1520826"/>
            <a:ext cx="2774950" cy="283527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While(turn != 1);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turn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1E44B2-24C0-40BD-B742-ADB00DB4A1F7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505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Drawback of strict alternation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4095750" y="1773238"/>
            <a:ext cx="2901950" cy="1033462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A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Enter-Leave CR;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533650" y="1844676"/>
            <a:ext cx="1366838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turn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4095750" y="3071813"/>
            <a:ext cx="2903538" cy="1255712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 B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Enter-Leave CR;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Nocritical_region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();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 for entering CR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" name="AutoShape 11"/>
          <p:cNvSpPr>
            <a:spLocks/>
          </p:cNvSpPr>
          <p:nvPr/>
        </p:nvSpPr>
        <p:spPr bwMode="auto">
          <a:xfrm>
            <a:off x="8005764" y="2781300"/>
            <a:ext cx="2376487" cy="647700"/>
          </a:xfrm>
          <a:prstGeom prst="borderCallout2">
            <a:avLst>
              <a:gd name="adj1" fmla="val 17648"/>
              <a:gd name="adj2" fmla="val -3528"/>
              <a:gd name="adj3" fmla="val 17648"/>
              <a:gd name="adj4" fmla="val -24102"/>
              <a:gd name="adj5" fmla="val 29166"/>
              <a:gd name="adj6" fmla="val -59514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Proper sequence in first turn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AutoShape 12"/>
          <p:cNvSpPr>
            <a:spLocks/>
          </p:cNvSpPr>
          <p:nvPr/>
        </p:nvSpPr>
        <p:spPr bwMode="auto">
          <a:xfrm>
            <a:off x="7789864" y="4508501"/>
            <a:ext cx="2663825" cy="1368425"/>
          </a:xfrm>
          <a:prstGeom prst="borderCallout2">
            <a:avLst>
              <a:gd name="adj1" fmla="val 8352"/>
              <a:gd name="adj2" fmla="val -2861"/>
              <a:gd name="adj3" fmla="val 8352"/>
              <a:gd name="adj4" fmla="val -28366"/>
              <a:gd name="adj5" fmla="val -14153"/>
              <a:gd name="adj6" fmla="val -54944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Proc B wait for next turn, but proc A blocked proc B while proc A is not in CR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07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3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7CDC861A-B0DD-4234-843A-F79DEDB96EE5}" type="slidenum">
              <a:rPr lang="zh-CN" altLang="en-US" sz="12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t>31</a:t>
            </a:fld>
            <a:endParaRPr lang="en-US" altLang="zh-CN" sz="1200">
              <a:solidFill>
                <a:schemeClr val="tx1"/>
              </a:solidFill>
            </a:endParaRPr>
          </a:p>
        </p:txBody>
      </p:sp>
      <p:pic>
        <p:nvPicPr>
          <p:cNvPr id="1546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2132856"/>
            <a:ext cx="662940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29" name="Text Box 6"/>
          <p:cNvSpPr txBox="1">
            <a:spLocks noChangeArrowheads="1"/>
          </p:cNvSpPr>
          <p:nvPr/>
        </p:nvSpPr>
        <p:spPr bwMode="auto">
          <a:xfrm>
            <a:off x="1514190" y="5986145"/>
            <a:ext cx="91636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缺点：一进程在临界区内失败会阻塞另一进程；临界区会进入多进程。</a:t>
            </a:r>
          </a:p>
        </p:txBody>
      </p: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7DC3BBCE-5880-0AD4-D64E-F3DCA5957EF7}"/>
              </a:ext>
            </a:extLst>
          </p:cNvPr>
          <p:cNvCxnSpPr>
            <a:cxnSpLocks/>
          </p:cNvCxnSpPr>
          <p:nvPr/>
        </p:nvCxnSpPr>
        <p:spPr bwMode="auto">
          <a:xfrm flipV="1">
            <a:off x="5159375" y="3652291"/>
            <a:ext cx="1440160" cy="648072"/>
          </a:xfrm>
          <a:prstGeom prst="curvedConnector3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4C43EF89-41C0-7CA5-A985-54AF1B45A356}"/>
              </a:ext>
            </a:extLst>
          </p:cNvPr>
          <p:cNvCxnSpPr/>
          <p:nvPr/>
        </p:nvCxnSpPr>
        <p:spPr bwMode="auto">
          <a:xfrm rot="10800000">
            <a:off x="4943351" y="4372371"/>
            <a:ext cx="1800200" cy="288032"/>
          </a:xfrm>
          <a:prstGeom prst="curvedConnector3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94EBCC95-12D1-D41B-35D7-DE22CE8A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第二种尝试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8ABF53-1E72-B159-125A-571EFB496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699838"/>
          </a:xfrm>
        </p:spPr>
        <p:txBody>
          <a:bodyPr/>
          <a:lstStyle/>
          <a:p>
            <a:r>
              <a:rPr lang="zh-CN" altLang="en-US" dirty="0"/>
              <a:t>每个进程用一个布尔量标征自己的状态，类似自旋锁功能。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灯片编号占位符 3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3BD31DB8-878E-47D3-95D9-C6162249FCE6}" type="slidenum">
              <a:rPr lang="zh-CN" altLang="en-US" sz="12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t>32</a:t>
            </a:fld>
            <a:endParaRPr lang="en-US" altLang="zh-CN" sz="1200">
              <a:solidFill>
                <a:schemeClr val="tx1"/>
              </a:solidFill>
            </a:endParaRPr>
          </a:p>
        </p:txBody>
      </p:sp>
      <p:pic>
        <p:nvPicPr>
          <p:cNvPr id="15667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128" y="2132855"/>
            <a:ext cx="6743256" cy="3853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" name="连接符: 曲线 1">
            <a:extLst>
              <a:ext uri="{FF2B5EF4-FFF2-40B4-BE49-F238E27FC236}">
                <a16:creationId xmlns:a16="http://schemas.microsoft.com/office/drawing/2014/main" id="{56E9F80D-7949-55D5-6EA5-4D6987E0D7D1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6376" y="3645024"/>
            <a:ext cx="1871712" cy="360040"/>
          </a:xfrm>
          <a:prstGeom prst="curvedConnector3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77FDE0C7-D33D-BE4F-1E14-30A969F3BA87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5016376" y="4005064"/>
            <a:ext cx="1728192" cy="12700"/>
          </a:xfrm>
          <a:prstGeom prst="curvedConnector3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5233AABB-FBF7-CD75-00C4-1E3FB6BB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第三种尝试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29FDFC6-0860-A527-E682-5C8FF870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</a:t>
            </a:r>
            <a:r>
              <a:rPr lang="en-US" altLang="zh-CN" dirty="0"/>
              <a:t>flag[*]=true</a:t>
            </a:r>
            <a:r>
              <a:rPr lang="zh-CN" altLang="en-US" dirty="0"/>
              <a:t>换到前面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4CBF089-95CE-E54E-A520-382FE55E7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190" y="5986145"/>
            <a:ext cx="91636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问题：若两进程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同时被置成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true,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又没有进入临界区，将产生死锁。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28934" y="1857364"/>
            <a:ext cx="7183491" cy="571504"/>
            <a:chOff x="844893" y="1000114"/>
            <a:chExt cx="7183491" cy="571504"/>
          </a:xfrm>
        </p:grpSpPr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1142976" y="1000114"/>
              <a:ext cx="6885408" cy="57150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sz="1800" dirty="0"/>
                <a:t>满足线程</a:t>
              </a:r>
              <a:r>
                <a:rPr lang="en-US" altLang="zh-CN" sz="1800" dirty="0"/>
                <a:t>Ti</a:t>
              </a:r>
              <a:r>
                <a:rPr lang="zh-CN" altLang="en-US" sz="1800" dirty="0"/>
                <a:t>和</a:t>
              </a:r>
              <a:r>
                <a:rPr lang="en-US" altLang="zh-CN" sz="1800" dirty="0" err="1"/>
                <a:t>Tj</a:t>
              </a:r>
              <a:r>
                <a:rPr lang="zh-CN" altLang="en-US" sz="1800" dirty="0"/>
                <a:t>之间互斥的经典的基于软件的解决方法（</a:t>
              </a:r>
              <a:r>
                <a:rPr lang="en-US" altLang="zh-CN" sz="1800" dirty="0"/>
                <a:t>1981</a:t>
              </a:r>
              <a:r>
                <a:rPr lang="zh-CN" altLang="en-US" sz="1800" dirty="0"/>
                <a:t>年）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4893" y="1000114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728934" y="2422215"/>
            <a:ext cx="5265497" cy="1118161"/>
            <a:chOff x="844893" y="1564963"/>
            <a:chExt cx="5265497" cy="1118161"/>
          </a:xfrm>
        </p:grpSpPr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1146869" y="1564963"/>
              <a:ext cx="2500330" cy="41637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r>
                <a:rPr lang="zh-CN" altLang="en-US" sz="1800" dirty="0"/>
                <a:t>共享变量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4893" y="1578152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142428" y="1950685"/>
              <a:ext cx="4967962" cy="732439"/>
              <a:chOff x="1142428" y="1929583"/>
              <a:chExt cx="4967962" cy="732439"/>
            </a:xfrm>
          </p:grpSpPr>
          <p:sp>
            <p:nvSpPr>
              <p:cNvPr id="17" name="内容占位符 2"/>
              <p:cNvSpPr txBox="1">
                <a:spLocks/>
              </p:cNvSpPr>
              <p:nvPr/>
            </p:nvSpPr>
            <p:spPr>
              <a:xfrm>
                <a:off x="1142428" y="1929583"/>
                <a:ext cx="4941739" cy="63285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r>
                  <a:rPr lang="en-US" altLang="zh-CN" sz="18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turn;</a:t>
                </a:r>
              </a:p>
              <a:p>
                <a:r>
                  <a:rPr lang="en-US" altLang="zh-CN" sz="18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boolean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flag[]; </a:t>
                </a:r>
                <a:endParaRPr lang="zh-CN" altLang="en-US" sz="18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5" name="内容占位符 2"/>
              <p:cNvSpPr txBox="1">
                <a:spLocks/>
              </p:cNvSpPr>
              <p:nvPr/>
            </p:nvSpPr>
            <p:spPr>
              <a:xfrm>
                <a:off x="2471492" y="1976615"/>
                <a:ext cx="2071904" cy="41637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r>
                  <a:rPr lang="en-US" altLang="zh-CN" sz="1400" dirty="0">
                    <a:solidFill>
                      <a:schemeClr val="tx1"/>
                    </a:solidFill>
                  </a:rPr>
                  <a:t>//</a:t>
                </a:r>
                <a:r>
                  <a:rPr lang="zh-CN" altLang="en-US" sz="1400" dirty="0">
                    <a:solidFill>
                      <a:srgbClr val="C00000"/>
                    </a:solidFill>
                  </a:rPr>
                  <a:t>表示该谁进入临界区</a:t>
                </a:r>
              </a:p>
            </p:txBody>
          </p:sp>
          <p:sp>
            <p:nvSpPr>
              <p:cNvPr id="16" name="内容占位符 2"/>
              <p:cNvSpPr txBox="1">
                <a:spLocks/>
              </p:cNvSpPr>
              <p:nvPr/>
            </p:nvSpPr>
            <p:spPr>
              <a:xfrm>
                <a:off x="3230070" y="2245644"/>
                <a:ext cx="2880320" cy="416378"/>
              </a:xfrm>
              <a:prstGeom prst="rect">
                <a:avLst/>
              </a:prstGeom>
            </p:spPr>
            <p:txBody>
              <a:bodyPr/>
              <a:lstStyle>
                <a:lvl1pPr marL="269875" indent="-269875">
                  <a:buNone/>
                  <a:defRPr sz="2000" b="1" baseline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  <a:lvl2pPr marL="269875" indent="-93663">
                  <a:buNone/>
                  <a:defRPr sz="20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2pPr>
                <a:lvl3pPr>
                  <a:buNone/>
                  <a:defRPr sz="18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defRPr>
                </a:lvl3pPr>
              </a:lstStyle>
              <a:p>
                <a:r>
                  <a:rPr lang="en-US" altLang="zh-CN" sz="1400" dirty="0">
                    <a:solidFill>
                      <a:schemeClr val="tx1"/>
                    </a:solidFill>
                  </a:rPr>
                  <a:t>//</a:t>
                </a:r>
                <a:r>
                  <a:rPr lang="zh-CN" altLang="en-US" sz="1400" dirty="0">
                    <a:solidFill>
                      <a:srgbClr val="C00000"/>
                    </a:solidFill>
                  </a:rPr>
                  <a:t>表示进程是否准备好进入临界区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2744532" y="3582396"/>
            <a:ext cx="5583716" cy="1305919"/>
            <a:chOff x="860492" y="2725145"/>
            <a:chExt cx="4884597" cy="1305919"/>
          </a:xfrm>
        </p:grpSpPr>
        <p:sp>
          <p:nvSpPr>
            <p:cNvPr id="26" name="矩形 25"/>
            <p:cNvSpPr/>
            <p:nvPr/>
          </p:nvSpPr>
          <p:spPr>
            <a:xfrm>
              <a:off x="1173089" y="2725145"/>
              <a:ext cx="4572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进入区代码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60492" y="2747642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142428" y="3107734"/>
              <a:ext cx="3861620" cy="92333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flag[</a:t>
              </a:r>
              <a:r>
                <a:rPr lang="en-US" altLang="zh-CN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i</a:t>
              </a:r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] = true;</a:t>
              </a:r>
            </a:p>
            <a:p>
              <a:pPr marL="0" lvl="1"/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turn = j;</a:t>
              </a:r>
            </a:p>
            <a:p>
              <a:pPr marL="0" lvl="1"/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while (flag[j] &amp;&amp; turn ==j)</a:t>
              </a:r>
              <a:endParaRPr lang="en-GB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744533" y="5085184"/>
            <a:ext cx="4527439" cy="738664"/>
            <a:chOff x="860492" y="4067990"/>
            <a:chExt cx="4527439" cy="738664"/>
          </a:xfrm>
        </p:grpSpPr>
        <p:sp>
          <p:nvSpPr>
            <p:cNvPr id="18" name="矩形 17"/>
            <p:cNvSpPr/>
            <p:nvPr/>
          </p:nvSpPr>
          <p:spPr>
            <a:xfrm>
              <a:off x="1173089" y="4067990"/>
              <a:ext cx="421484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退出区代码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60492" y="4070084"/>
              <a:ext cx="433390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42428" y="4437322"/>
              <a:ext cx="2592288" cy="369332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flag[</a:t>
              </a:r>
              <a:r>
                <a:rPr lang="en-US" altLang="zh-CN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i</a:t>
              </a:r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] = false;</a:t>
              </a:r>
            </a:p>
          </p:txBody>
        </p: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93CF30DC-F60D-E807-00DC-681E58CE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Peterson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104472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>
            <a:spLocks/>
          </p:cNvSpPr>
          <p:nvPr/>
        </p:nvSpPr>
        <p:spPr>
          <a:xfrm>
            <a:off x="2666976" y="1857364"/>
            <a:ext cx="192882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zh-CN" altLang="en-US" dirty="0"/>
              <a:t>线程</a:t>
            </a:r>
            <a:r>
              <a:rPr lang="en-US" altLang="zh-CN" dirty="0"/>
              <a:t>T</a:t>
            </a:r>
            <a:r>
              <a:rPr lang="en-GB" altLang="en-US" dirty="0" err="1"/>
              <a:t>i</a:t>
            </a:r>
            <a:r>
              <a:rPr lang="en-GB" altLang="en-US" dirty="0"/>
              <a:t> </a:t>
            </a:r>
            <a:r>
              <a:rPr lang="zh-CN" altLang="en-US" dirty="0"/>
              <a:t>的代码</a:t>
            </a:r>
            <a:endParaRPr lang="en-GB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783632" y="2348880"/>
            <a:ext cx="5112568" cy="2751522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do {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flag[</a:t>
            </a:r>
            <a:r>
              <a:rPr lang="en-GB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 = true;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turn = j;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while ( flag[j] &amp;&amp; turn == j);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</a:t>
            </a:r>
            <a:r>
              <a:rPr lang="en-GB" altLang="zh-CN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CRITICAL SECTION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flag[</a:t>
            </a:r>
            <a:r>
              <a:rPr lang="en-GB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 = false;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REMAINDER SECTION</a:t>
            </a: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} while (true);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6C76D2-9CA2-B3B2-0389-7E930BA2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Peterson</a:t>
            </a:r>
            <a:r>
              <a:rPr lang="zh-CN" altLang="en-US" dirty="0"/>
              <a:t>算法实现</a:t>
            </a:r>
          </a:p>
        </p:txBody>
      </p:sp>
    </p:spTree>
    <p:extLst>
      <p:ext uri="{BB962C8B-B14F-4D97-AF65-F5344CB8AC3E}">
        <p14:creationId xmlns:p14="http://schemas.microsoft.com/office/powerpoint/2010/main" val="1302765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474140"/>
            <a:ext cx="9217024" cy="5070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640414B-5F6D-70CE-4885-F30AEF02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Peterson</a:t>
            </a:r>
            <a:r>
              <a:rPr lang="zh-CN" altLang="en-US" dirty="0"/>
              <a:t>算法示意分析</a:t>
            </a:r>
          </a:p>
        </p:txBody>
      </p:sp>
    </p:spTree>
    <p:extLst>
      <p:ext uri="{BB962C8B-B14F-4D97-AF65-F5344CB8AC3E}">
        <p14:creationId xmlns:p14="http://schemas.microsoft.com/office/powerpoint/2010/main" val="1319503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>
            <a:spLocks/>
          </p:cNvSpPr>
          <p:nvPr/>
        </p:nvSpPr>
        <p:spPr>
          <a:xfrm>
            <a:off x="2639616" y="1646399"/>
            <a:ext cx="192882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zh-CN" altLang="en-US" dirty="0"/>
              <a:t>线程</a:t>
            </a:r>
            <a:r>
              <a:rPr lang="en-US" altLang="zh-CN" dirty="0"/>
              <a:t>T</a:t>
            </a:r>
            <a:r>
              <a:rPr lang="en-GB" altLang="en-US" dirty="0" err="1"/>
              <a:t>i</a:t>
            </a:r>
            <a:r>
              <a:rPr lang="en-GB" altLang="en-US" dirty="0"/>
              <a:t> </a:t>
            </a:r>
            <a:r>
              <a:rPr lang="zh-CN" altLang="en-US" dirty="0"/>
              <a:t>的代码</a:t>
            </a:r>
            <a:endParaRPr lang="en-GB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617666" y="2065734"/>
            <a:ext cx="6862711" cy="3637919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flag[0]:= false; flag[1]:= false; turn:= 0;//or1 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	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do {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flag[</a:t>
            </a:r>
            <a:r>
              <a:rPr lang="en-GB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 = 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true</a:t>
            </a: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;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</a:t>
            </a: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while flag[j] == true {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if turn ≠ i {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   flag[i] := false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   while turn ≠ i { }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   flag[i] := 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true</a:t>
            </a: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    }  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} </a:t>
            </a: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</a:t>
            </a:r>
            <a:r>
              <a:rPr lang="en-GB" altLang="zh-CN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CRITICAL SECTION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zh-CN" altLang="en-US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turn := j</a:t>
            </a:r>
            <a:endParaRPr lang="en-GB" altLang="zh-CN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flag[</a:t>
            </a:r>
            <a:r>
              <a:rPr lang="en-GB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</a:t>
            </a: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] = false;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  EMAINDER SECTION</a:t>
            </a:r>
          </a:p>
          <a:p>
            <a:pPr marL="339725" indent="-339725" defTabSz="449263">
              <a:lnSpc>
                <a:spcPct val="80000"/>
              </a:lnSpc>
              <a:tabLst>
                <a:tab pos="339725" algn="l"/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} while (true);	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AE0BD1-4D0B-6C47-DD11-45D702BB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Dekkers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5973583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3"/>
          <p:cNvSpPr txBox="1">
            <a:spLocks noGrp="1"/>
          </p:cNvSpPr>
          <p:nvPr/>
        </p:nvSpPr>
        <p:spPr bwMode="auto">
          <a:xfrm>
            <a:off x="10083800" y="6489700"/>
            <a:ext cx="495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fld id="{023D806C-164F-4A8C-9CC6-A9B62F92834D}" type="slidenum">
              <a:rPr lang="zh-CN" altLang="en-US" sz="12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t>37</a:t>
            </a:fld>
            <a:endParaRPr lang="en-US" altLang="zh-CN" sz="1200">
              <a:solidFill>
                <a:schemeClr val="tx1"/>
              </a:solidFill>
            </a:endParaRPr>
          </a:p>
        </p:txBody>
      </p:sp>
      <p:pic>
        <p:nvPicPr>
          <p:cNvPr id="1556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446212"/>
            <a:ext cx="8352928" cy="5063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6281C33-C29A-4589-E5EF-E72E0046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altLang="zh-CN" dirty="0"/>
              <a:t> Dekker</a:t>
            </a:r>
            <a:r>
              <a:rPr lang="zh-CN" altLang="nb-NO" dirty="0"/>
              <a:t>算法示意分析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1199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43E49-A8FE-843C-C970-BF0C476A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35FD82A-B7E6-45EF-A6AD-CFE05C0DE38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498BA9-377D-4B30-6E34-A7E5AA1FB2D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课外自学</a:t>
            </a:r>
            <a:r>
              <a:rPr lang="zh-CN" altLang="en-US" dirty="0"/>
              <a:t>：关于</a:t>
            </a:r>
            <a:r>
              <a:rPr lang="en-US" altLang="zh-CN" dirty="0"/>
              <a:t>Peterson</a:t>
            </a:r>
            <a:r>
              <a:rPr lang="zh-CN" altLang="en-US" dirty="0"/>
              <a:t>算法和</a:t>
            </a:r>
            <a:r>
              <a:rPr lang="en-US" altLang="zh-CN" dirty="0"/>
              <a:t>Deckers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4470C-A8CE-DB13-8207-B358474F6AD7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请参考向勇老师的教学视频 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http://</a:t>
            </a:r>
            <a:r>
              <a:rPr lang="en-US" altLang="zh-CN" dirty="0" err="1">
                <a:hlinkClick r:id="rId2"/>
              </a:rPr>
              <a:t>video.mobisys.cc</a:t>
            </a:r>
            <a:r>
              <a:rPr lang="en-US" altLang="zh-CN" dirty="0">
                <a:hlinkClick r:id="rId2"/>
              </a:rPr>
              <a:t>/</a:t>
            </a:r>
            <a:r>
              <a:rPr lang="en-US" altLang="zh-CN" dirty="0" err="1">
                <a:hlinkClick r:id="rId2"/>
              </a:rPr>
              <a:t>OSMOOC</a:t>
            </a:r>
            <a:r>
              <a:rPr lang="en-US" altLang="zh-CN" dirty="0">
                <a:hlinkClick r:id="rId2"/>
              </a:rPr>
              <a:t>/</a:t>
            </a:r>
            <a:r>
              <a:rPr lang="en-US" altLang="zh-CN" dirty="0" err="1">
                <a:hlinkClick r:id="rId2"/>
              </a:rPr>
              <a:t>02%E8%BF%9B%E7%A8%8B</a:t>
            </a:r>
            <a:r>
              <a:rPr lang="en-US" altLang="zh-CN" dirty="0">
                <a:hlinkClick r:id="rId2"/>
              </a:rPr>
              <a:t>/17.4%20%E5%9F%BA%E4%BA%8E%E8%BD%AF%E4%BB%B6%E7%9A%84%E5%90%8C%E6%AD%A5%E6%96%B9%E6%B3%95.mp4</a:t>
            </a:r>
            <a:endParaRPr lang="en-US" altLang="zh-CN" dirty="0"/>
          </a:p>
          <a:p>
            <a:pPr lvl="1"/>
            <a:r>
              <a:rPr lang="en-US" altLang="zh-CN" dirty="0"/>
              <a:t>6</a:t>
            </a:r>
            <a:r>
              <a:rPr lang="zh-CN" altLang="en-US" dirty="0"/>
              <a:t>分</a:t>
            </a:r>
            <a:r>
              <a:rPr lang="en-US" altLang="zh-CN" dirty="0"/>
              <a:t>40</a:t>
            </a:r>
            <a:r>
              <a:rPr lang="zh-CN" altLang="en-US" dirty="0"/>
              <a:t>秒处开始讲解</a:t>
            </a:r>
            <a:endParaRPr lang="en-US" altLang="zh-CN" dirty="0"/>
          </a:p>
          <a:p>
            <a:r>
              <a:rPr lang="zh-CN" altLang="en-US" dirty="0"/>
              <a:t>如何验证这一方法的正确性？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199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DA9DF-A52C-7DB9-8DE7-C7B56E39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35FD82A-B7E6-45EF-A6AD-CFE05C0DE38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DF3F1A-8206-9A66-9D81-6C17582A97E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模型检测</a:t>
            </a:r>
            <a:r>
              <a:rPr lang="en-US" altLang="zh-CN" dirty="0"/>
              <a:t>(model checking)</a:t>
            </a:r>
            <a:r>
              <a:rPr lang="zh-CN" altLang="en-US" dirty="0"/>
              <a:t>方法简介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C8E28-A3AD-CCF5-9091-9781A7261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94949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zh-CN" altLang="en-US" dirty="0"/>
              <a:t>首先使用形式化的语言描述这些算法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然后使用模型检查器，穷举所有的组合验证状态的正确性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27B85-A46E-901E-F5DC-1E3BD96C5CE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0B0F49-E3BC-ECE5-CEBC-11DE7E57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2112626"/>
            <a:ext cx="5940152" cy="354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CE396FA-2582-E4F5-D54A-53BA898F8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98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50B648-A9C4-3576-C9F5-577F8ABEA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44450"/>
            <a:ext cx="84159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4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07F5AE-B2CD-4674-B719-C3089778CFA6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6589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Test and Set Lock (TSL)solution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页脚占位符 4"/>
          <p:cNvSpPr txBox="1">
            <a:spLocks/>
          </p:cNvSpPr>
          <p:nvPr/>
        </p:nvSpPr>
        <p:spPr bwMode="auto">
          <a:xfrm>
            <a:off x="4621385" y="6076701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1" hangingPunct="1">
              <a:defRPr/>
            </a:pPr>
            <a:r>
              <a:rPr lang="en-US" altLang="zh-CN" sz="1200" b="1">
                <a:solidFill>
                  <a:schemeClr val="bg1"/>
                </a:solidFill>
                <a:latin typeface="+mn-lt"/>
                <a:ea typeface="굴림" pitchFamily="50" charset="-127"/>
              </a:rPr>
              <a:t>版权所有，转载请注明出处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24126" y="1535114"/>
            <a:ext cx="7929563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TSL RX LOCK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1)TSL is a hardware instruction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2)LOCK is a memory word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3)Store value of LOCK to RX and set nonzero value to LOCK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2711624" y="2996952"/>
            <a:ext cx="5184775" cy="283527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enter_region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 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TSL REGISTER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LOCK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CMP REGISTER, #0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JNE  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enter_region</a:t>
            </a:r>
            <a:endParaRPr lang="en-US" altLang="zh-CN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RET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leave_region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MOVE LOCK #0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RET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732953" y="3581758"/>
            <a:ext cx="4603433" cy="2991086"/>
            <a:chOff x="4235767" y="3750282"/>
            <a:chExt cx="4603433" cy="299108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5767" y="3750282"/>
              <a:ext cx="4603433" cy="26717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4716016" y="6372036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检查和赋值之间的调度行为是万恶之源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2716677" y="2014376"/>
            <a:ext cx="3905378" cy="92333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class Lock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</a:t>
            </a:r>
            <a:r>
              <a:rPr lang="en-US" altLang="zh-CN" sz="18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int</a:t>
            </a: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value = 0;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2716677" y="3043152"/>
            <a:ext cx="3905378" cy="1200329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spc="-80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Lock::Acquire() </a:t>
            </a:r>
            <a:r>
              <a:rPr lang="en-US" altLang="zh-CN" sz="1800" b="1" spc="-80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spc="-80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while (test-and-set(value))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spc="-80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; //spin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spc="-80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2716677" y="4367692"/>
            <a:ext cx="3905378" cy="92333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chemeClr val="tx1"/>
            </a:solidFill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Lock::Release() </a:t>
            </a: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value = 0;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627754" y="2363298"/>
            <a:ext cx="3236370" cy="2736916"/>
            <a:chOff x="4234605" y="1506048"/>
            <a:chExt cx="3236370" cy="2736916"/>
          </a:xfrm>
        </p:grpSpPr>
        <p:sp>
          <p:nvSpPr>
            <p:cNvPr id="20" name="矩形 19"/>
            <p:cNvSpPr/>
            <p:nvPr/>
          </p:nvSpPr>
          <p:spPr>
            <a:xfrm>
              <a:off x="4734671" y="1506048"/>
              <a:ext cx="2736304" cy="273691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 flipV="1">
              <a:off x="4234605" y="1775988"/>
              <a:ext cx="500066" cy="425108"/>
            </a:xfrm>
            <a:prstGeom prst="line">
              <a:avLst/>
            </a:prstGeom>
            <a:ln w="38100">
              <a:solidFill>
                <a:srgbClr val="11576A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234605" y="3386229"/>
              <a:ext cx="474200" cy="409912"/>
            </a:xfrm>
            <a:prstGeom prst="line">
              <a:avLst/>
            </a:prstGeom>
            <a:ln w="38100">
              <a:solidFill>
                <a:srgbClr val="11576A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3796797" y="5389710"/>
            <a:ext cx="5085480" cy="416378"/>
            <a:chOff x="1272470" y="4731990"/>
            <a:chExt cx="5085480" cy="416378"/>
          </a:xfrm>
        </p:grpSpPr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470" y="486035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428728" y="4731990"/>
              <a:ext cx="4929222" cy="41637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r>
                <a:rPr lang="zh-CN" altLang="en-US" dirty="0"/>
                <a:t>线程在等待的时候消耗</a:t>
              </a:r>
              <a:r>
                <a:rPr lang="en-US" altLang="zh-CN" dirty="0"/>
                <a:t>CPU</a:t>
              </a:r>
              <a:r>
                <a:rPr lang="zh-CN" altLang="en-US" dirty="0"/>
                <a:t>时间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188924" y="2476347"/>
            <a:ext cx="2867516" cy="1245415"/>
            <a:chOff x="4849128" y="1460049"/>
            <a:chExt cx="2867516" cy="1245415"/>
          </a:xfrm>
        </p:grpSpPr>
        <p:sp>
          <p:nvSpPr>
            <p:cNvPr id="34" name="Rectangle 3"/>
            <p:cNvSpPr txBox="1">
              <a:spLocks noChangeArrowheads="1"/>
            </p:cNvSpPr>
            <p:nvPr/>
          </p:nvSpPr>
          <p:spPr>
            <a:xfrm>
              <a:off x="4849128" y="1460049"/>
              <a:ext cx="2867516" cy="1245415"/>
            </a:xfrm>
            <a:prstGeom prst="rect">
              <a:avLst/>
            </a:prstGeom>
            <a:noFill/>
            <a:effectLst/>
          </p:spPr>
          <p:txBody>
            <a:bodyPr/>
            <a:lstStyle/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如果锁被释放，那么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TS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指令读取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并将值设置为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1 </a:t>
              </a:r>
            </a:p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    锁被设置为忙并且需要等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Wingdings" charset="0"/>
              </a:endParaRPr>
            </a:p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   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待完成</a:t>
              </a:r>
            </a:p>
          </p:txBody>
        </p:sp>
        <p:pic>
          <p:nvPicPr>
            <p:cNvPr id="17" name="图片 1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1964" y="2036903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3" name="组合 2"/>
          <p:cNvGrpSpPr/>
          <p:nvPr/>
        </p:nvGrpSpPr>
        <p:grpSpPr>
          <a:xfrm>
            <a:off x="7188924" y="3699881"/>
            <a:ext cx="2867516" cy="1184310"/>
            <a:chOff x="4849128" y="2833973"/>
            <a:chExt cx="2867516" cy="1184310"/>
          </a:xfrm>
        </p:grpSpPr>
        <p:sp>
          <p:nvSpPr>
            <p:cNvPr id="16" name="Rectangle 3"/>
            <p:cNvSpPr txBox="1">
              <a:spLocks noChangeArrowheads="1"/>
            </p:cNvSpPr>
            <p:nvPr/>
          </p:nvSpPr>
          <p:spPr>
            <a:xfrm>
              <a:off x="4849128" y="2833973"/>
              <a:ext cx="2867516" cy="1184310"/>
            </a:xfrm>
            <a:prstGeom prst="rect">
              <a:avLst/>
            </a:prstGeom>
            <a:noFill/>
            <a:effectLst/>
          </p:spPr>
          <p:txBody>
            <a:bodyPr/>
            <a:lstStyle/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如果锁处于忙状态，那么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TS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指令读取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并将值设置为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1 </a:t>
              </a:r>
            </a:p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    不改变锁的状态并且需要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Wingdings" charset="0"/>
              </a:endParaRPr>
            </a:p>
            <a:p>
              <a:pPr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   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Wingdings" charset="0"/>
                </a:rPr>
                <a:t>循环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1964" y="3435943"/>
              <a:ext cx="151066" cy="148997"/>
            </a:xfrm>
            <a:prstGeom prst="rect">
              <a:avLst/>
            </a:prstGeom>
            <a:effectLst/>
          </p:spPr>
        </p:pic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52DB200E-1512-A198-A835-01141D8B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TS</a:t>
            </a:r>
            <a:r>
              <a:rPr lang="zh-CN" altLang="en-US" dirty="0"/>
              <a:t>指令实现自旋锁</a:t>
            </a:r>
            <a:r>
              <a:rPr lang="en-US" altLang="zh-CN" dirty="0"/>
              <a:t>(spinlock)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57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95325" y="1580516"/>
            <a:ext cx="5870247" cy="786108"/>
            <a:chOff x="844893" y="771550"/>
            <a:chExt cx="5870247" cy="786108"/>
          </a:xfrm>
        </p:grpSpPr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1142976" y="798378"/>
              <a:ext cx="3357586" cy="4143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/>
              <a:r>
                <a:rPr lang="zh-CN" altLang="en-US" dirty="0"/>
                <a:t>锁是一个抽象的数据结构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4893" y="77155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470" y="122830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428728" y="1141280"/>
              <a:ext cx="5286412" cy="41637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r>
                <a:rPr lang="zh-CN" altLang="en-US" dirty="0"/>
                <a:t>一个二进制变量（锁定</a:t>
              </a:r>
              <a:r>
                <a:rPr lang="en-US" altLang="zh-CN" dirty="0"/>
                <a:t>/</a:t>
              </a:r>
              <a:r>
                <a:rPr lang="zh-CN" altLang="en-US" dirty="0"/>
                <a:t>解锁）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22900" y="2266094"/>
            <a:ext cx="3731578" cy="414114"/>
            <a:chOff x="1272470" y="1457128"/>
            <a:chExt cx="3731578" cy="414114"/>
          </a:xfrm>
        </p:grpSpPr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470" y="15854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3" name="内容占位符 2"/>
            <p:cNvSpPr txBox="1">
              <a:spLocks/>
            </p:cNvSpPr>
            <p:nvPr/>
          </p:nvSpPr>
          <p:spPr>
            <a:xfrm>
              <a:off x="1428728" y="1457128"/>
              <a:ext cx="3575320" cy="4141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/>
              <a:r>
                <a:rPr lang="en-US" altLang="zh-CN" dirty="0"/>
                <a:t>Lock::Acquire()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22900" y="2888401"/>
            <a:ext cx="5939322" cy="323400"/>
            <a:chOff x="1272470" y="2102268"/>
            <a:chExt cx="5939322" cy="323400"/>
          </a:xfrm>
        </p:grpSpPr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470" y="22284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425314" y="2102268"/>
              <a:ext cx="5786478" cy="32340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/>
              <a:r>
                <a:rPr lang="en-US" altLang="zh-CN" dirty="0"/>
                <a:t>Lock::Release()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95325" y="3014818"/>
            <a:ext cx="4231163" cy="1380249"/>
            <a:chOff x="844893" y="2714626"/>
            <a:chExt cx="4231163" cy="1380249"/>
          </a:xfrm>
        </p:grpSpPr>
        <p:grpSp>
          <p:nvGrpSpPr>
            <p:cNvPr id="5" name="组合 4"/>
            <p:cNvGrpSpPr/>
            <p:nvPr/>
          </p:nvGrpSpPr>
          <p:grpSpPr>
            <a:xfrm>
              <a:off x="844893" y="2714626"/>
              <a:ext cx="3439075" cy="422607"/>
              <a:chOff x="844893" y="2714626"/>
              <a:chExt cx="3439075" cy="422607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157490" y="2714626"/>
                <a:ext cx="312647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使用锁来控制临界区访问</a:t>
                </a:r>
                <a:endParaRPr lang="en-GB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44893" y="2737123"/>
                <a:ext cx="433390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zh-CN" altLang="en-US" sz="2000" b="1" dirty="0">
                    <a:solidFill>
                      <a:srgbClr val="11576A"/>
                    </a:solidFill>
                    <a:latin typeface="张海山锐谐体2.0-授权联系：Samtype@QQ.com" pitchFamily="2" charset="-122"/>
                    <a:ea typeface="张海山锐谐体2.0-授权联系：Samtype@QQ.com" pitchFamily="2" charset="-122"/>
                  </a:rPr>
                  <a:t>■</a:t>
                </a:r>
                <a:endPara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423536" y="3171545"/>
              <a:ext cx="3652520" cy="92333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lvl="2"/>
              <a:r>
                <a:rPr lang="en-US" altLang="zh-CN" b="1" dirty="0" err="1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lock_next_pid</a:t>
              </a:r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-&gt;Acquire();</a:t>
              </a:r>
            </a:p>
            <a:p>
              <a:pPr marL="0" lvl="2"/>
              <a:r>
                <a:rPr lang="en-US" altLang="zh-CN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new_pid</a:t>
              </a:r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= </a:t>
              </a:r>
              <a:r>
                <a:rPr lang="en-US" altLang="zh-CN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next_pid</a:t>
              </a:r>
              <a:r>
                <a:rPr lang="en-US" altLang="zh-CN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++ ;</a:t>
              </a:r>
            </a:p>
            <a:p>
              <a:pPr marL="0" lvl="2"/>
              <a:r>
                <a:rPr lang="en-US" altLang="zh-CN" b="1" dirty="0" err="1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lock_next_pid</a:t>
              </a:r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-&gt;Release();</a:t>
              </a:r>
            </a:p>
          </p:txBody>
        </p:sp>
      </p:grpSp>
      <p:sp>
        <p:nvSpPr>
          <p:cNvPr id="21" name="内容占位符 2"/>
          <p:cNvSpPr txBox="1">
            <a:spLocks/>
          </p:cNvSpPr>
          <p:nvPr/>
        </p:nvSpPr>
        <p:spPr>
          <a:xfrm>
            <a:off x="1273966" y="2580691"/>
            <a:ext cx="4156576" cy="415367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/>
            <a:r>
              <a:rPr lang="zh-CN" altLang="en-US" dirty="0"/>
              <a:t>锁被释放前一直等待，然后得到锁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1273966" y="2909758"/>
            <a:ext cx="3960440" cy="412495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indent="0"/>
            <a:r>
              <a:rPr lang="zh-CN" altLang="en-US" dirty="0"/>
              <a:t>释放锁，唤醒任何等待的进程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122900" y="2570892"/>
            <a:ext cx="5939322" cy="323400"/>
            <a:chOff x="1272470" y="2102268"/>
            <a:chExt cx="5939322" cy="323400"/>
          </a:xfrm>
        </p:grpSpPr>
        <p:pic>
          <p:nvPicPr>
            <p:cNvPr id="25" name="图片 2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470" y="22284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7" name="内容占位符 2"/>
            <p:cNvSpPr txBox="1">
              <a:spLocks/>
            </p:cNvSpPr>
            <p:nvPr/>
          </p:nvSpPr>
          <p:spPr>
            <a:xfrm>
              <a:off x="1425314" y="2102268"/>
              <a:ext cx="5786478" cy="32340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/>
              <a:r>
                <a:rPr lang="en-US" altLang="zh-CN" dirty="0"/>
                <a:t>Lock::Release()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C07E0CEA-B24C-CB99-D77A-7F882741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锁</a:t>
            </a:r>
            <a:r>
              <a:rPr lang="en-US" altLang="zh-CN" dirty="0"/>
              <a:t>(lock)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14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2" grpId="0"/>
      <p:bldP spid="22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2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34DA9F-867A-4E35-87AC-061D4AAB12FA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6793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Analysis of “Busy waiting”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Strong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Resolve mutual exclusion problem between 2 processes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Weakness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Waste CPU time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Difficult to programming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Has risk that may be cause priority inversion problem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Trend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Atomic action: The most important thing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Opportunity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It is the basement for advanced solution 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809720" y="548681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无忙等待锁</a:t>
            </a:r>
            <a:endParaRPr lang="zh-CN" altLang="en-US" dirty="0"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30759" y="1629530"/>
            <a:ext cx="3250314" cy="2265591"/>
            <a:chOff x="385583" y="772278"/>
            <a:chExt cx="3250314" cy="2265591"/>
          </a:xfrm>
        </p:grpSpPr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385583" y="1221987"/>
              <a:ext cx="3250314" cy="1815882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r>
                <a:rPr lang="en-US" altLang="zh-CN" sz="1600" b="1" spc="-150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Lock::Acquire() </a:t>
              </a:r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{</a:t>
              </a:r>
            </a:p>
            <a:p>
              <a:pPr eaLnBrk="1" hangingPunct="1">
                <a:buFont typeface="Monotype Sorts" charset="0"/>
                <a:buNone/>
              </a:pPr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while (test-and-set(value))</a:t>
              </a:r>
            </a:p>
            <a:p>
              <a:pPr eaLnBrk="1" hangingPunct="1">
                <a:buFont typeface="Monotype Sorts" charset="0"/>
                <a:buNone/>
              </a:pPr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   ; //spin</a:t>
              </a:r>
            </a:p>
            <a:p>
              <a:pPr eaLnBrk="1" hangingPunct="1">
                <a:buFont typeface="Monotype Sorts" charset="0"/>
                <a:buNone/>
              </a:pPr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</a:t>
              </a:r>
            </a:p>
            <a:p>
              <a:r>
                <a:rPr lang="en-US" altLang="zh-CN" sz="1600" b="1" spc="-150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Lock::Release() </a:t>
              </a:r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 value = 0;</a:t>
              </a:r>
            </a:p>
            <a:p>
              <a:r>
                <a:rPr lang="en-US" altLang="zh-CN" sz="1600" b="1" spc="-150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33686" y="772278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11576A"/>
                  </a:solidFill>
                </a:rPr>
                <a:t>忙等待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13120" y="1636525"/>
            <a:ext cx="4447376" cy="3465078"/>
            <a:chOff x="4067944" y="779275"/>
            <a:chExt cx="4447376" cy="3465078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4067944" y="1221987"/>
              <a:ext cx="4447376" cy="3022366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class Lock 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70000"/>
                </a:lnSpc>
              </a:pP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</a:t>
              </a:r>
              <a:r>
                <a:rPr lang="en-US" altLang="zh-CN" sz="1600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int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value = 0;</a:t>
              </a:r>
            </a:p>
            <a:p>
              <a:pPr>
                <a:lnSpc>
                  <a:spcPct val="70000"/>
                </a:lnSpc>
              </a:pP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  </a:t>
              </a:r>
              <a:r>
                <a:rPr lang="en-US" altLang="zh-CN" sz="1600" b="1" dirty="0" err="1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WaitQueue</a:t>
              </a: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 q;</a:t>
              </a:r>
            </a:p>
            <a:p>
              <a:pPr>
                <a:lnSpc>
                  <a:spcPct val="70000"/>
                </a:lnSpc>
              </a:pPr>
              <a:r>
                <a:rPr lang="en-US" altLang="zh-CN" sz="1600" b="1" dirty="0">
                  <a:latin typeface="Courier New" panose="02070309020205020404" pitchFamily="49" charset="0"/>
                  <a:ea typeface="微软雅黑" pitchFamily="34" charset="-122"/>
                  <a:cs typeface="Courier New" panose="02070309020205020404" pitchFamily="49" charset="0"/>
                </a:rPr>
                <a:t>}</a:t>
              </a: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70000"/>
                </a:lnSpc>
              </a:pPr>
              <a:endPara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6096" y="779275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11576A"/>
                  </a:solidFill>
                </a:rPr>
                <a:t>无忙等待</a:t>
              </a:r>
            </a:p>
          </p:txBody>
        </p:sp>
      </p:grp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113120" y="2926096"/>
            <a:ext cx="4554880" cy="114492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Lock::Acquire() 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while (test-and-set(value)) {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add 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this TCB to wait queue q;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schedule();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}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113120" y="4176082"/>
            <a:ext cx="4087336" cy="97257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Lock::Release() 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value = 0;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remove</a:t>
            </a: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one thread t from q;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  </a:t>
            </a:r>
            <a:r>
              <a:rPr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wakeup(t)</a:t>
            </a:r>
            <a:r>
              <a:rPr lang="en-US" altLang="zh-CN" sz="1600" b="1" dirty="0">
                <a:solidFill>
                  <a:srgbClr val="11576A"/>
                </a:solidFill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70000"/>
              </a:lnSpc>
            </a:pPr>
            <a:r>
              <a:rPr lang="en-US" altLang="zh-CN" sz="16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BA1E002-EF70-4F7D-EBE9-5DC59DCC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43F890D-E2DB-DB3A-D350-4E39A9A03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8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BA1E002-EF70-4F7D-EBE9-5DC59DCC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现代化处理器里的</a:t>
            </a:r>
            <a:r>
              <a:rPr lang="en-US" altLang="zh-CN" dirty="0"/>
              <a:t>NUMA</a:t>
            </a:r>
            <a:r>
              <a:rPr lang="zh-CN" altLang="en-US" dirty="0"/>
              <a:t>结构</a:t>
            </a:r>
          </a:p>
        </p:txBody>
      </p:sp>
      <p:pic>
        <p:nvPicPr>
          <p:cNvPr id="1026" name="Picture 2" descr="https://pic4.zhimg.com/v2-db0e442c3e282894debb5d069e0cb537_r.jpg">
            <a:extLst>
              <a:ext uri="{FF2B5EF4-FFF2-40B4-BE49-F238E27FC236}">
                <a16:creationId xmlns:a16="http://schemas.microsoft.com/office/drawing/2014/main" id="{99895C52-5C85-458C-B065-E587CE0DCB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972" y="1570038"/>
            <a:ext cx="6794055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580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NUMA </a:t>
            </a:r>
            <a:r>
              <a:rPr lang="zh-CN" altLang="en-US" dirty="0"/>
              <a:t>感知队列自旋锁的引入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NUMA</a:t>
            </a:r>
            <a:r>
              <a:rPr lang="zh-CN" altLang="en-US" dirty="0"/>
              <a:t>：</a:t>
            </a:r>
            <a:r>
              <a:rPr lang="en-US" altLang="zh-CN" dirty="0"/>
              <a:t>NUMA-aware </a:t>
            </a:r>
            <a:r>
              <a:rPr lang="en-US" altLang="zh-CN" dirty="0" err="1"/>
              <a:t>Qspinlock</a:t>
            </a:r>
            <a:r>
              <a:rPr lang="zh-CN" altLang="en-US" dirty="0"/>
              <a:t>（为避免线程间同步所依赖的共享变量在不同</a:t>
            </a:r>
            <a:r>
              <a:rPr lang="en-US" altLang="zh-CN" dirty="0"/>
              <a:t>NUMA</a:t>
            </a:r>
            <a:r>
              <a:rPr lang="zh-CN" altLang="en-US" dirty="0"/>
              <a:t>节点间传递所带来的开销，引入</a:t>
            </a:r>
            <a:r>
              <a:rPr lang="en-US" altLang="zh-CN" dirty="0"/>
              <a:t>NUMA</a:t>
            </a:r>
            <a:r>
              <a:rPr lang="zh-CN" altLang="en-US" dirty="0"/>
              <a:t>感知队列自旋锁 。）</a:t>
            </a:r>
            <a:endParaRPr lang="en-US" altLang="zh-CN" dirty="0"/>
          </a:p>
          <a:p>
            <a:pPr lvl="1"/>
            <a:r>
              <a:rPr lang="zh-CN" altLang="en-US" dirty="0"/>
              <a:t>不同线程并发地访问共享地址空间时，如果这些线程占用</a:t>
            </a:r>
            <a:r>
              <a:rPr lang="en-US" altLang="zh-CN" dirty="0"/>
              <a:t>CPU</a:t>
            </a:r>
            <a:r>
              <a:rPr lang="zh-CN" altLang="en-US" dirty="0"/>
              <a:t>的时机或者顺序不同，产生的计算结果不同。</a:t>
            </a:r>
          </a:p>
          <a:p>
            <a:pPr lvl="1"/>
            <a:r>
              <a:rPr lang="zh-CN" altLang="en-US" dirty="0"/>
              <a:t>为了解决这个问题，操作系统提供互斥机制与同步机制。其中互斥机制主要使用自旋锁来实现。</a:t>
            </a:r>
          </a:p>
          <a:p>
            <a:pPr lvl="1"/>
            <a:r>
              <a:rPr lang="en-US" altLang="zh-CN" dirty="0"/>
              <a:t>openEuler</a:t>
            </a:r>
            <a:r>
              <a:rPr lang="zh-CN" altLang="en-US" dirty="0"/>
              <a:t>提供“</a:t>
            </a:r>
            <a:r>
              <a:rPr lang="en-US" altLang="zh-CN" dirty="0"/>
              <a:t>NUMA</a:t>
            </a:r>
            <a:r>
              <a:rPr lang="zh-CN" altLang="en-US" dirty="0"/>
              <a:t>感知队列自旋锁”实现互斥机制以减小</a:t>
            </a:r>
            <a:r>
              <a:rPr lang="en-US" altLang="zh-CN" dirty="0"/>
              <a:t>MUMA</a:t>
            </a:r>
            <a:r>
              <a:rPr lang="zh-CN" altLang="en-US" dirty="0"/>
              <a:t>体系结构中使用自旋锁的开销。</a:t>
            </a:r>
          </a:p>
        </p:txBody>
      </p:sp>
    </p:spTree>
    <p:extLst>
      <p:ext uri="{BB962C8B-B14F-4D97-AF65-F5344CB8AC3E}">
        <p14:creationId xmlns:p14="http://schemas.microsoft.com/office/powerpoint/2010/main" val="17099585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Qspinlock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在队列自旋锁（</a:t>
            </a:r>
            <a:r>
              <a:rPr lang="en-US" altLang="zh-CN" dirty="0" err="1"/>
              <a:t>Qspinlock</a:t>
            </a:r>
            <a:r>
              <a:rPr lang="zh-CN" altLang="en-US" dirty="0"/>
              <a:t>）机制中，如果跨</a:t>
            </a:r>
            <a:r>
              <a:rPr lang="en-US" altLang="zh-CN" dirty="0"/>
              <a:t>NUMA</a:t>
            </a:r>
            <a:r>
              <a:rPr lang="zh-CN" altLang="en-US" dirty="0"/>
              <a:t>（</a:t>
            </a:r>
            <a:r>
              <a:rPr lang="en-US" altLang="zh-CN" dirty="0"/>
              <a:t>Non Uniform Memory Access Architecture</a:t>
            </a:r>
            <a:r>
              <a:rPr lang="zh-CN" altLang="en-US" dirty="0"/>
              <a:t>，</a:t>
            </a:r>
            <a:r>
              <a:rPr lang="en-US" altLang="zh-CN" dirty="0"/>
              <a:t>NUMA</a:t>
            </a:r>
            <a:r>
              <a:rPr lang="zh-CN" altLang="en-US" dirty="0"/>
              <a:t>）节点进行锁传递，将导致锁变量从一个</a:t>
            </a:r>
            <a:r>
              <a:rPr lang="en-US" altLang="zh-CN" dirty="0"/>
              <a:t>NUMA</a:t>
            </a:r>
            <a:r>
              <a:rPr lang="zh-CN" altLang="en-US" dirty="0"/>
              <a:t>节点迁移到另一个</a:t>
            </a:r>
            <a:r>
              <a:rPr lang="en-US" altLang="zh-CN" dirty="0"/>
              <a:t>NUMA</a:t>
            </a:r>
            <a:r>
              <a:rPr lang="zh-CN" altLang="en-US" dirty="0"/>
              <a:t>节点。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NUMA</a:t>
            </a:r>
            <a:r>
              <a:rPr lang="zh-CN" altLang="en-US" dirty="0"/>
              <a:t>体系结构中，访问本地节点比访问远程节点快得多。同时，由于缓存失效，将导致额外的性能开销。因此，如果尽可能连续地在同一个</a:t>
            </a:r>
            <a:r>
              <a:rPr lang="en-US" altLang="zh-CN" dirty="0"/>
              <a:t>NUMA</a:t>
            </a:r>
            <a:r>
              <a:rPr lang="zh-CN" altLang="en-US" dirty="0"/>
              <a:t>节点上进行传递锁，将有效地降低使用锁带来的开销。</a:t>
            </a:r>
          </a:p>
          <a:p>
            <a:r>
              <a:rPr lang="zh-CN" altLang="en-US" dirty="0"/>
              <a:t>基于这个思想，在</a:t>
            </a:r>
            <a:r>
              <a:rPr lang="en-US" altLang="zh-CN" dirty="0"/>
              <a:t>NUMA</a:t>
            </a:r>
            <a:r>
              <a:rPr lang="zh-CN" altLang="en-US" dirty="0"/>
              <a:t>体系结构中，</a:t>
            </a:r>
            <a:r>
              <a:rPr lang="en-US" altLang="zh-CN" dirty="0"/>
              <a:t>openEuler</a:t>
            </a:r>
            <a:r>
              <a:rPr lang="zh-CN" altLang="en-US" dirty="0"/>
              <a:t>采用</a:t>
            </a:r>
            <a:r>
              <a:rPr lang="en-US" altLang="zh-CN" dirty="0"/>
              <a:t>CNA</a:t>
            </a:r>
            <a:r>
              <a:rPr lang="zh-CN" altLang="en-US" dirty="0"/>
              <a:t>（</a:t>
            </a:r>
            <a:r>
              <a:rPr lang="en-US" altLang="zh-CN" dirty="0"/>
              <a:t>Compact NUMA-Aware Lock</a:t>
            </a:r>
            <a:r>
              <a:rPr lang="zh-CN" altLang="en-US" dirty="0"/>
              <a:t>，紧凑</a:t>
            </a:r>
            <a:r>
              <a:rPr lang="en-US" altLang="zh-CN" dirty="0"/>
              <a:t>NUMA</a:t>
            </a:r>
            <a:r>
              <a:rPr lang="zh-CN" altLang="en-US" dirty="0"/>
              <a:t>感知锁）队列代替</a:t>
            </a:r>
            <a:r>
              <a:rPr lang="en-US" altLang="zh-CN" dirty="0" err="1"/>
              <a:t>Qspinlock</a:t>
            </a:r>
            <a:r>
              <a:rPr lang="zh-CN" altLang="en-US" dirty="0"/>
              <a:t>中的</a:t>
            </a:r>
            <a:r>
              <a:rPr lang="en-US" altLang="zh-CN" dirty="0"/>
              <a:t>MCS</a:t>
            </a:r>
            <a:r>
              <a:rPr lang="zh-CN" altLang="en-US" dirty="0"/>
              <a:t>队列。</a:t>
            </a:r>
          </a:p>
        </p:txBody>
      </p:sp>
    </p:spTree>
    <p:extLst>
      <p:ext uri="{BB962C8B-B14F-4D97-AF65-F5344CB8AC3E}">
        <p14:creationId xmlns:p14="http://schemas.microsoft.com/office/powerpoint/2010/main" val="19272392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CNA </a:t>
            </a:r>
            <a:r>
              <a:rPr lang="zh-CN" altLang="en-US" dirty="0"/>
              <a:t>队列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CNA</a:t>
            </a:r>
            <a:r>
              <a:rPr lang="zh-CN" altLang="en-US" dirty="0"/>
              <a:t>队列是</a:t>
            </a:r>
            <a:r>
              <a:rPr lang="en-US" altLang="zh-CN" dirty="0"/>
              <a:t>MCS</a:t>
            </a:r>
            <a:r>
              <a:rPr lang="zh-CN" altLang="en-US" dirty="0"/>
              <a:t>队列的一种变体。</a:t>
            </a:r>
          </a:p>
          <a:p>
            <a:r>
              <a:rPr lang="en-US" altLang="zh-CN" dirty="0"/>
              <a:t>MCS</a:t>
            </a:r>
            <a:r>
              <a:rPr lang="zh-CN" altLang="en-US" dirty="0"/>
              <a:t>将等待获取锁的线程组织在一个队列中，而</a:t>
            </a:r>
            <a:r>
              <a:rPr lang="en-US" altLang="zh-CN" dirty="0"/>
              <a:t>CNA</a:t>
            </a:r>
            <a:r>
              <a:rPr lang="zh-CN" altLang="en-US" dirty="0"/>
              <a:t>则将等待获取锁的线程组织为两个队列：一个主队列，一个辅助队列。</a:t>
            </a:r>
          </a:p>
          <a:p>
            <a:r>
              <a:rPr lang="zh-CN" altLang="en-US" dirty="0"/>
              <a:t>主队列的线程队头运行在相同的</a:t>
            </a:r>
            <a:r>
              <a:rPr lang="en-US" altLang="zh-CN" dirty="0"/>
              <a:t>NUMA</a:t>
            </a:r>
            <a:r>
              <a:rPr lang="zh-CN" altLang="en-US" dirty="0"/>
              <a:t>节点上。辅助队列的线程与主队列队头运行在不同</a:t>
            </a:r>
            <a:r>
              <a:rPr lang="en-US" altLang="zh-CN" dirty="0"/>
              <a:t>NUMA</a:t>
            </a:r>
            <a:r>
              <a:rPr lang="zh-CN" altLang="en-US" dirty="0"/>
              <a:t>节点上。</a:t>
            </a:r>
          </a:p>
        </p:txBody>
      </p:sp>
    </p:spTree>
    <p:extLst>
      <p:ext uri="{BB962C8B-B14F-4D97-AF65-F5344CB8AC3E}">
        <p14:creationId xmlns:p14="http://schemas.microsoft.com/office/powerpoint/2010/main" val="3211802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NUMA-aware </a:t>
            </a:r>
            <a:r>
              <a:rPr lang="en-US" altLang="zh-CN" dirty="0" err="1"/>
              <a:t>Qspinlock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当一个线程试图获取</a:t>
            </a:r>
            <a:r>
              <a:rPr lang="en-US" altLang="zh-CN" dirty="0"/>
              <a:t>CNA</a:t>
            </a:r>
            <a:r>
              <a:rPr lang="zh-CN" altLang="en-US" dirty="0"/>
              <a:t>锁时，它将先被加入主队列。当锁被释放时，与队头不处于同一个</a:t>
            </a:r>
            <a:r>
              <a:rPr lang="en-US" altLang="zh-CN" dirty="0"/>
              <a:t>NUMA</a:t>
            </a:r>
            <a:r>
              <a:rPr lang="zh-CN" altLang="en-US" dirty="0"/>
              <a:t>节点的线程可能将被移动到辅助队列。</a:t>
            </a:r>
          </a:p>
          <a:p>
            <a:r>
              <a:rPr lang="zh-CN" altLang="en-US" dirty="0"/>
              <a:t>这种类型的锁称为</a:t>
            </a:r>
            <a:r>
              <a:rPr lang="en-US" altLang="zh-CN" dirty="0"/>
              <a:t>NUMA</a:t>
            </a:r>
            <a:r>
              <a:rPr lang="zh-CN" altLang="en-US" dirty="0"/>
              <a:t>感知队列自旋锁，即</a:t>
            </a:r>
            <a:r>
              <a:rPr lang="en-US" altLang="zh-CN" dirty="0"/>
              <a:t>NUMA-aware </a:t>
            </a:r>
            <a:r>
              <a:rPr lang="en-US" altLang="zh-CN" dirty="0" err="1"/>
              <a:t>Qspinlock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886354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详细解释：</a:t>
            </a:r>
            <a:r>
              <a:rPr lang="en-US" altLang="zh-CN" dirty="0"/>
              <a:t>CNA </a:t>
            </a:r>
            <a:r>
              <a:rPr lang="zh-CN" altLang="en-US" dirty="0"/>
              <a:t>的数据结构</a:t>
            </a:r>
          </a:p>
        </p:txBody>
      </p:sp>
      <p:sp>
        <p:nvSpPr>
          <p:cNvPr id="3" name="文本占位符 3"/>
          <p:cNvSpPr txBox="1">
            <a:spLocks/>
          </p:cNvSpPr>
          <p:nvPr/>
        </p:nvSpPr>
        <p:spPr>
          <a:xfrm>
            <a:off x="1008063" y="1233488"/>
            <a:ext cx="10464270" cy="575332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的数据结构如下图所示：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008063" y="1930610"/>
            <a:ext cx="10418337" cy="25508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源文件：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kernel/locking/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qspinlock_cna.h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MCS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锁的数据结构，记录了锁状态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locked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                                     //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和指向下一个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节点的指针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	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numa_node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节点的序号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u32	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encoded_tail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主队列中尾节点的位置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*tail;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指向辅组队列队尾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；</a:t>
            </a:r>
          </a:p>
        </p:txBody>
      </p:sp>
      <p:sp>
        <p:nvSpPr>
          <p:cNvPr id="5" name="文本占位符 3"/>
          <p:cNvSpPr txBox="1">
            <a:spLocks/>
          </p:cNvSpPr>
          <p:nvPr/>
        </p:nvSpPr>
        <p:spPr>
          <a:xfrm>
            <a:off x="962130" y="4606550"/>
            <a:ext cx="10464270" cy="522269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我们关注其中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4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个主要成员：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603612" y="5292798"/>
            <a:ext cx="1440160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宋体" pitchFamily="2" charset="-122"/>
                <a:cs typeface="+mn-cs"/>
              </a:rPr>
              <a:t>mcs_locked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宋体" pitchFamily="2" charset="-122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043772" y="5284933"/>
            <a:ext cx="1440160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宋体" pitchFamily="2" charset="-122"/>
                <a:cs typeface="+mn-cs"/>
              </a:rPr>
              <a:t>numa_node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宋体" pitchFamily="2" charset="-122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483932" y="5292798"/>
            <a:ext cx="1440160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宋体" pitchFamily="2" charset="-122"/>
                <a:cs typeface="+mn-cs"/>
              </a:rPr>
              <a:t>tail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宋体" pitchFamily="2" charset="-122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924092" y="5292798"/>
            <a:ext cx="1440160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宋体" pitchFamily="2" charset="-122"/>
                <a:cs typeface="+mn-cs"/>
              </a:rPr>
              <a:t>mcs_next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979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CNA </a:t>
            </a:r>
            <a:r>
              <a:rPr lang="zh-CN" altLang="en-US" dirty="0">
                <a:latin typeface="+mn-ea"/>
                <a:ea typeface="+mn-ea"/>
              </a:rPr>
              <a:t>排队示例 </a:t>
            </a:r>
            <a:r>
              <a:rPr lang="en-US" altLang="zh-CN" dirty="0">
                <a:latin typeface="+mn-ea"/>
                <a:ea typeface="+mn-ea"/>
              </a:rPr>
              <a:t>(1)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4798011" y="2293571"/>
            <a:ext cx="2520419" cy="3656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(a)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主队列的初始状态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4430359" y="4032546"/>
            <a:ext cx="3083433" cy="3656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(b)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成为主队列的头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6743047" y="186289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6" name="Rectangle 5"/>
          <p:cNvSpPr/>
          <p:nvPr/>
        </p:nvSpPr>
        <p:spPr bwMode="auto">
          <a:xfrm>
            <a:off x="7488652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93730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298808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703886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8917940" y="186289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11" name="Rectangle 10"/>
          <p:cNvSpPr/>
          <p:nvPr/>
        </p:nvSpPr>
        <p:spPr bwMode="auto">
          <a:xfrm>
            <a:off x="9682317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0087395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0492473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0897551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85653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90731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695809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100887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1479255" y="1180847"/>
            <a:ext cx="60564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3630527" y="1182794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2303426" y="186289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22" name="Rectangle 21"/>
          <p:cNvSpPr/>
          <p:nvPr/>
        </p:nvSpPr>
        <p:spPr bwMode="auto">
          <a:xfrm>
            <a:off x="3059547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464625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3869703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4274781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4510317" y="186289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5279339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5684417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089495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494573" y="162887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5864095" y="1180847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8059632" y="1180846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10245211" y="1180846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920710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25788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730866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2135944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1514312" y="2690277"/>
            <a:ext cx="60564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3665584" y="2692224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338483" y="337232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41" name="Rectangle 40"/>
          <p:cNvSpPr/>
          <p:nvPr/>
        </p:nvSpPr>
        <p:spPr bwMode="auto">
          <a:xfrm>
            <a:off x="3094604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3499682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904760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309838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7439878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7844956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8250034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8655112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 bwMode="auto">
          <a:xfrm>
            <a:off x="8033480" y="2690277"/>
            <a:ext cx="60564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10184752" y="2692224"/>
            <a:ext cx="478351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cxnSp>
        <p:nvCxnSpPr>
          <p:cNvPr id="51" name="Straight Arrow Connector 50"/>
          <p:cNvCxnSpPr/>
          <p:nvPr/>
        </p:nvCxnSpPr>
        <p:spPr bwMode="auto">
          <a:xfrm>
            <a:off x="8857651" y="3372329"/>
            <a:ext cx="77074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stealth" w="lg" len="med"/>
          </a:ln>
          <a:effectLst/>
        </p:spPr>
      </p:cxnSp>
      <p:sp>
        <p:nvSpPr>
          <p:cNvPr id="52" name="Rectangle 51"/>
          <p:cNvSpPr/>
          <p:nvPr/>
        </p:nvSpPr>
        <p:spPr bwMode="auto">
          <a:xfrm>
            <a:off x="9613772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0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10018850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10423928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10829006" y="3138303"/>
            <a:ext cx="405078" cy="468052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 bwMode="auto">
          <a:xfrm>
            <a:off x="2351367" y="2700235"/>
            <a:ext cx="877190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主队列</a:t>
            </a:r>
          </a:p>
        </p:txBody>
      </p:sp>
      <p:sp>
        <p:nvSpPr>
          <p:cNvPr id="57" name="TextBox 56"/>
          <p:cNvSpPr txBox="1"/>
          <p:nvPr/>
        </p:nvSpPr>
        <p:spPr bwMode="auto">
          <a:xfrm>
            <a:off x="8684121" y="2708934"/>
            <a:ext cx="1128503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辅助队列</a:t>
            </a:r>
          </a:p>
        </p:txBody>
      </p:sp>
      <p:sp>
        <p:nvSpPr>
          <p:cNvPr id="58" name="Freeform 57"/>
          <p:cNvSpPr/>
          <p:nvPr/>
        </p:nvSpPr>
        <p:spPr bwMode="auto">
          <a:xfrm>
            <a:off x="1116105" y="3381932"/>
            <a:ext cx="6476447" cy="483029"/>
          </a:xfrm>
          <a:custGeom>
            <a:avLst/>
            <a:gdLst>
              <a:gd name="connsiteX0" fmla="*/ 0 w 5663381"/>
              <a:gd name="connsiteY0" fmla="*/ 0 h 521202"/>
              <a:gd name="connsiteX1" fmla="*/ 1032387 w 5663381"/>
              <a:gd name="connsiteY1" fmla="*/ 471948 h 521202"/>
              <a:gd name="connsiteX2" fmla="*/ 4940710 w 5663381"/>
              <a:gd name="connsiteY2" fmla="*/ 486696 h 521202"/>
              <a:gd name="connsiteX3" fmla="*/ 5663381 w 5663381"/>
              <a:gd name="connsiteY3" fmla="*/ 294967 h 52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3381" h="521202">
                <a:moveTo>
                  <a:pt x="0" y="0"/>
                </a:moveTo>
                <a:cubicBezTo>
                  <a:pt x="104467" y="195416"/>
                  <a:pt x="208935" y="390832"/>
                  <a:pt x="1032387" y="471948"/>
                </a:cubicBezTo>
                <a:cubicBezTo>
                  <a:pt x="1855839" y="553064"/>
                  <a:pt x="4168878" y="516193"/>
                  <a:pt x="4940710" y="486696"/>
                </a:cubicBezTo>
                <a:cubicBezTo>
                  <a:pt x="5712542" y="457199"/>
                  <a:pt x="5530646" y="231057"/>
                  <a:pt x="5663381" y="294967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59" name="Freeform 58"/>
          <p:cNvSpPr/>
          <p:nvPr/>
        </p:nvSpPr>
        <p:spPr bwMode="auto">
          <a:xfrm>
            <a:off x="8447958" y="3376693"/>
            <a:ext cx="1356852" cy="496885"/>
          </a:xfrm>
          <a:custGeom>
            <a:avLst/>
            <a:gdLst>
              <a:gd name="connsiteX0" fmla="*/ 0 w 1356852"/>
              <a:gd name="connsiteY0" fmla="*/ 0 h 496885"/>
              <a:gd name="connsiteX1" fmla="*/ 309716 w 1356852"/>
              <a:gd name="connsiteY1" fmla="*/ 442452 h 496885"/>
              <a:gd name="connsiteX2" fmla="*/ 973394 w 1356852"/>
              <a:gd name="connsiteY2" fmla="*/ 471948 h 496885"/>
              <a:gd name="connsiteX3" fmla="*/ 1356852 w 1356852"/>
              <a:gd name="connsiteY3" fmla="*/ 280219 h 496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6852" h="496885">
                <a:moveTo>
                  <a:pt x="0" y="0"/>
                </a:moveTo>
                <a:cubicBezTo>
                  <a:pt x="73742" y="181897"/>
                  <a:pt x="147484" y="363794"/>
                  <a:pt x="309716" y="442452"/>
                </a:cubicBezTo>
                <a:cubicBezTo>
                  <a:pt x="471948" y="521110"/>
                  <a:pt x="798871" y="498987"/>
                  <a:pt x="973394" y="471948"/>
                </a:cubicBezTo>
                <a:cubicBezTo>
                  <a:pt x="1147917" y="444909"/>
                  <a:pt x="1263446" y="280219"/>
                  <a:pt x="1356852" y="280219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3074172" y="4549550"/>
            <a:ext cx="6013998" cy="916078"/>
            <a:chOff x="593553" y="1388012"/>
            <a:chExt cx="6013998" cy="916078"/>
          </a:xfrm>
        </p:grpSpPr>
        <p:sp>
          <p:nvSpPr>
            <p:cNvPr id="61" name="Rectangle 60"/>
            <p:cNvSpPr/>
            <p:nvPr/>
          </p:nvSpPr>
          <p:spPr bwMode="auto">
            <a:xfrm>
              <a:off x="593553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998631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1403709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1808787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5" name="TextBox 64"/>
            <p:cNvSpPr txBox="1"/>
            <p:nvPr/>
          </p:nvSpPr>
          <p:spPr bwMode="auto">
            <a:xfrm>
              <a:off x="1187155" y="1388012"/>
              <a:ext cx="605649" cy="3348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T2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338427" y="1389959"/>
              <a:ext cx="478351" cy="3348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T3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 bwMode="auto">
            <a:xfrm>
              <a:off x="2011326" y="2070064"/>
              <a:ext cx="770746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stealth" w="lg" len="med"/>
            </a:ln>
            <a:effectLst/>
          </p:spPr>
        </p:cxnSp>
        <p:sp>
          <p:nvSpPr>
            <p:cNvPr id="68" name="Rectangle 67"/>
            <p:cNvSpPr/>
            <p:nvPr/>
          </p:nvSpPr>
          <p:spPr bwMode="auto">
            <a:xfrm>
              <a:off x="2767447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0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3172525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3577603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3982681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cxnSp>
          <p:nvCxnSpPr>
            <p:cNvPr id="72" name="Straight Arrow Connector 71"/>
            <p:cNvCxnSpPr/>
            <p:nvPr/>
          </p:nvCxnSpPr>
          <p:spPr bwMode="auto">
            <a:xfrm>
              <a:off x="4218217" y="2070064"/>
              <a:ext cx="770746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stealth" w="lg" len="med"/>
            </a:ln>
            <a:effectLst/>
          </p:spPr>
        </p:cxnSp>
        <p:sp>
          <p:nvSpPr>
            <p:cNvPr id="73" name="Rectangle 72"/>
            <p:cNvSpPr/>
            <p:nvPr/>
          </p:nvSpPr>
          <p:spPr bwMode="auto">
            <a:xfrm>
              <a:off x="4987239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0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5392317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5797395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6202473" y="1836038"/>
              <a:ext cx="405078" cy="468052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  <p:sp>
          <p:nvSpPr>
            <p:cNvPr id="77" name="TextBox 76"/>
            <p:cNvSpPr txBox="1"/>
            <p:nvPr/>
          </p:nvSpPr>
          <p:spPr bwMode="auto">
            <a:xfrm>
              <a:off x="5571995" y="1388012"/>
              <a:ext cx="478351" cy="3348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/>
                  <a:ea typeface="方正兰亭黑简体"/>
                  <a:cs typeface="+mn-cs"/>
                </a:rPr>
                <a:t>T5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endParaRPr>
            </a:p>
          </p:txBody>
        </p:sp>
      </p:grpSp>
      <p:sp>
        <p:nvSpPr>
          <p:cNvPr id="78" name="Freeform 77"/>
          <p:cNvSpPr/>
          <p:nvPr/>
        </p:nvSpPr>
        <p:spPr bwMode="auto">
          <a:xfrm>
            <a:off x="4097184" y="5205493"/>
            <a:ext cx="1268361" cy="466102"/>
          </a:xfrm>
          <a:custGeom>
            <a:avLst/>
            <a:gdLst>
              <a:gd name="connsiteX0" fmla="*/ 0 w 1268361"/>
              <a:gd name="connsiteY0" fmla="*/ 0 h 466102"/>
              <a:gd name="connsiteX1" fmla="*/ 309716 w 1268361"/>
              <a:gd name="connsiteY1" fmla="*/ 457200 h 466102"/>
              <a:gd name="connsiteX2" fmla="*/ 1268361 w 1268361"/>
              <a:gd name="connsiteY2" fmla="*/ 309716 h 46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8361" h="466102">
                <a:moveTo>
                  <a:pt x="0" y="0"/>
                </a:moveTo>
                <a:cubicBezTo>
                  <a:pt x="49161" y="202790"/>
                  <a:pt x="98323" y="405581"/>
                  <a:pt x="309716" y="457200"/>
                </a:cubicBezTo>
                <a:cubicBezTo>
                  <a:pt x="521109" y="508819"/>
                  <a:pt x="1069258" y="319548"/>
                  <a:pt x="1268361" y="30971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 bwMode="auto">
          <a:xfrm>
            <a:off x="4604688" y="4564938"/>
            <a:ext cx="877190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主队列</a:t>
            </a:r>
          </a:p>
        </p:txBody>
      </p:sp>
      <p:sp>
        <p:nvSpPr>
          <p:cNvPr id="80" name="TextBox 79"/>
          <p:cNvSpPr txBox="1"/>
          <p:nvPr/>
        </p:nvSpPr>
        <p:spPr bwMode="auto">
          <a:xfrm>
            <a:off x="3432131" y="5816031"/>
            <a:ext cx="5342277" cy="3656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(c)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辅助队列并入主队列，线程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T2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成为主队列的头</a:t>
            </a:r>
          </a:p>
        </p:txBody>
      </p:sp>
    </p:spTree>
    <p:extLst>
      <p:ext uri="{BB962C8B-B14F-4D97-AF65-F5344CB8AC3E}">
        <p14:creationId xmlns:p14="http://schemas.microsoft.com/office/powerpoint/2010/main" val="2676336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CNA </a:t>
            </a:r>
            <a:r>
              <a:rPr lang="zh-CN" altLang="en-US" dirty="0"/>
              <a:t>排队示例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如上图</a:t>
            </a:r>
            <a:r>
              <a:rPr lang="en-US" altLang="zh-CN" dirty="0"/>
              <a:t>(a)</a:t>
            </a:r>
            <a:r>
              <a:rPr lang="zh-CN" altLang="en-US" dirty="0"/>
              <a:t>、</a:t>
            </a:r>
            <a:r>
              <a:rPr lang="en-US" altLang="zh-CN" dirty="0"/>
              <a:t>(b)</a:t>
            </a:r>
            <a:r>
              <a:rPr lang="zh-CN" altLang="en-US" dirty="0"/>
              <a:t>、</a:t>
            </a:r>
            <a:r>
              <a:rPr lang="en-US" altLang="zh-CN" dirty="0"/>
              <a:t>(c)</a:t>
            </a:r>
            <a:r>
              <a:rPr lang="zh-CN" altLang="en-US" dirty="0"/>
              <a:t>所示：</a:t>
            </a:r>
          </a:p>
          <a:p>
            <a:pPr lvl="1"/>
            <a:r>
              <a:rPr lang="zh-CN" altLang="en-US" dirty="0"/>
              <a:t>开始有</a:t>
            </a:r>
            <a:r>
              <a:rPr lang="en-US" altLang="zh-CN" dirty="0"/>
              <a:t>5</a:t>
            </a:r>
            <a:r>
              <a:rPr lang="zh-CN" altLang="en-US" dirty="0"/>
              <a:t>个线程排队，线程</a:t>
            </a:r>
            <a:r>
              <a:rPr lang="en-US" altLang="zh-CN" dirty="0"/>
              <a:t>T1</a:t>
            </a:r>
            <a:r>
              <a:rPr lang="zh-CN" altLang="en-US" dirty="0"/>
              <a:t>位于序号为</a:t>
            </a:r>
            <a:r>
              <a:rPr lang="en-US" altLang="zh-CN" dirty="0"/>
              <a:t>0</a:t>
            </a:r>
            <a:r>
              <a:rPr lang="zh-CN" altLang="en-US" dirty="0"/>
              <a:t>的</a:t>
            </a:r>
            <a:r>
              <a:rPr lang="en-US" altLang="zh-CN" dirty="0"/>
              <a:t>NUMA</a:t>
            </a:r>
            <a:r>
              <a:rPr lang="zh-CN" altLang="en-US" dirty="0"/>
              <a:t>节点上并在队头自旋以等待获取锁；</a:t>
            </a:r>
          </a:p>
          <a:p>
            <a:pPr lvl="1"/>
            <a:r>
              <a:rPr lang="zh-CN" altLang="en-US" dirty="0"/>
              <a:t>线程</a:t>
            </a:r>
            <a:r>
              <a:rPr lang="en-US" altLang="zh-CN" dirty="0"/>
              <a:t>T1</a:t>
            </a:r>
            <a:r>
              <a:rPr lang="zh-CN" altLang="en-US" dirty="0"/>
              <a:t>成功获取锁，遍历主队列寻找队头的继承者。遍历至节点</a:t>
            </a:r>
            <a:r>
              <a:rPr lang="en-US" altLang="zh-CN" dirty="0"/>
              <a:t>T4</a:t>
            </a:r>
            <a:r>
              <a:rPr lang="zh-CN" altLang="en-US" dirty="0"/>
              <a:t>时，由于线程</a:t>
            </a:r>
            <a:r>
              <a:rPr lang="en-US" altLang="zh-CN" dirty="0"/>
              <a:t>T4</a:t>
            </a:r>
            <a:r>
              <a:rPr lang="zh-CN" altLang="en-US" dirty="0"/>
              <a:t>也位于序号为</a:t>
            </a:r>
            <a:r>
              <a:rPr lang="en-US" altLang="zh-CN" dirty="0"/>
              <a:t>0</a:t>
            </a:r>
            <a:r>
              <a:rPr lang="zh-CN" altLang="en-US" dirty="0"/>
              <a:t>的</a:t>
            </a:r>
            <a:r>
              <a:rPr lang="en-US" altLang="zh-CN" dirty="0"/>
              <a:t>NUMA</a:t>
            </a:r>
            <a:r>
              <a:rPr lang="zh-CN" altLang="en-US" dirty="0"/>
              <a:t>节点上，故其成为队头的继承者，遍历结束；</a:t>
            </a:r>
          </a:p>
          <a:p>
            <a:pPr lvl="1"/>
            <a:r>
              <a:rPr lang="zh-CN" altLang="en-US" dirty="0"/>
              <a:t>线程</a:t>
            </a:r>
            <a:r>
              <a:rPr lang="en-US" altLang="zh-CN" dirty="0"/>
              <a:t>T1</a:t>
            </a:r>
            <a:r>
              <a:rPr lang="zh-CN" altLang="en-US" dirty="0"/>
              <a:t>将线程</a:t>
            </a:r>
            <a:r>
              <a:rPr lang="en-US" altLang="zh-CN" dirty="0"/>
              <a:t>T4</a:t>
            </a:r>
            <a:r>
              <a:rPr lang="zh-CN" altLang="en-US" dirty="0"/>
              <a:t>的锁状态</a:t>
            </a:r>
            <a:r>
              <a:rPr lang="en-US" altLang="zh-CN" dirty="0"/>
              <a:t>locked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，使其成为主队列队头。线程</a:t>
            </a:r>
            <a:r>
              <a:rPr lang="en-US" altLang="zh-CN" dirty="0"/>
              <a:t>T2</a:t>
            </a:r>
            <a:r>
              <a:rPr lang="zh-CN" altLang="en-US" dirty="0"/>
              <a:t>与</a:t>
            </a:r>
            <a:r>
              <a:rPr lang="en-US" altLang="zh-CN" dirty="0"/>
              <a:t>T3</a:t>
            </a:r>
            <a:r>
              <a:rPr lang="zh-CN" altLang="en-US" dirty="0"/>
              <a:t>位于序号为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r>
              <a:rPr lang="en-US" altLang="zh-CN" dirty="0"/>
              <a:t>NUMA</a:t>
            </a:r>
            <a:r>
              <a:rPr lang="zh-CN" altLang="en-US" dirty="0"/>
              <a:t>节点上，故其将被加入到辅助队列中。由于辅助队列当前为空队列，所以线程</a:t>
            </a:r>
            <a:r>
              <a:rPr lang="en-US" altLang="zh-CN" dirty="0"/>
              <a:t>T2</a:t>
            </a:r>
            <a:r>
              <a:rPr lang="zh-CN" altLang="en-US" dirty="0"/>
              <a:t>成为辅助队列的队头，线程</a:t>
            </a:r>
            <a:r>
              <a:rPr lang="en-US" altLang="zh-CN" dirty="0"/>
              <a:t>T3</a:t>
            </a:r>
            <a:r>
              <a:rPr lang="zh-CN" altLang="en-US" dirty="0"/>
              <a:t>成为辅助队列的队尾；</a:t>
            </a:r>
          </a:p>
          <a:p>
            <a:pPr lvl="1"/>
            <a:r>
              <a:rPr lang="zh-CN" altLang="en-US" dirty="0"/>
              <a:t>线程</a:t>
            </a:r>
            <a:r>
              <a:rPr lang="en-US" altLang="zh-CN" dirty="0"/>
              <a:t>T4</a:t>
            </a:r>
            <a:r>
              <a:rPr lang="zh-CN" altLang="en-US" dirty="0"/>
              <a:t>成功获取锁时，其遍历主队列寻找继承者。线程</a:t>
            </a:r>
            <a:r>
              <a:rPr lang="en-US" altLang="zh-CN" dirty="0"/>
              <a:t>T4</a:t>
            </a:r>
            <a:r>
              <a:rPr lang="zh-CN" altLang="en-US" dirty="0"/>
              <a:t>的后继节点</a:t>
            </a:r>
            <a:r>
              <a:rPr lang="en-US" altLang="zh-CN" dirty="0"/>
              <a:t>T5</a:t>
            </a:r>
            <a:r>
              <a:rPr lang="zh-CN" altLang="en-US" dirty="0"/>
              <a:t>位于节点序号为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r>
              <a:rPr lang="en-US" altLang="zh-CN" dirty="0"/>
              <a:t>NUMA</a:t>
            </a:r>
            <a:r>
              <a:rPr lang="zh-CN" altLang="en-US" dirty="0"/>
              <a:t>节点上，主队列中没有线程</a:t>
            </a:r>
            <a:r>
              <a:rPr lang="en-US" altLang="zh-CN" dirty="0"/>
              <a:t>T4</a:t>
            </a:r>
            <a:r>
              <a:rPr lang="zh-CN" altLang="en-US" dirty="0"/>
              <a:t>期望找到的继承者，辅助队列的节点被并入主队列中。辅助队列的队头线程</a:t>
            </a:r>
            <a:r>
              <a:rPr lang="en-US" altLang="zh-CN" dirty="0"/>
              <a:t>T2</a:t>
            </a:r>
            <a:r>
              <a:rPr lang="zh-CN" altLang="en-US" dirty="0"/>
              <a:t>成为主队列的队头，线程</a:t>
            </a:r>
            <a:r>
              <a:rPr lang="en-US" altLang="zh-CN" dirty="0"/>
              <a:t>T5</a:t>
            </a:r>
            <a:r>
              <a:rPr lang="zh-CN" altLang="en-US" dirty="0"/>
              <a:t>成为队尾。</a:t>
            </a:r>
          </a:p>
        </p:txBody>
      </p:sp>
    </p:spTree>
    <p:extLst>
      <p:ext uri="{BB962C8B-B14F-4D97-AF65-F5344CB8AC3E}">
        <p14:creationId xmlns:p14="http://schemas.microsoft.com/office/powerpoint/2010/main" val="34704741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cna_pass_lock</a:t>
            </a:r>
            <a:r>
              <a:rPr lang="en-US" altLang="zh-CN" dirty="0"/>
              <a:t>() </a:t>
            </a:r>
            <a:r>
              <a:rPr lang="zh-CN" altLang="en-US" dirty="0"/>
              <a:t>函数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1594800" y="1232756"/>
            <a:ext cx="9361390" cy="50746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源代码：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kernel/locking/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qspinlock_cna.h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static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inline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void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cna_pass_lock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*node,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*next)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辅助队列为空并且锁的争用较低，直接选择后继节点为继承者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(node-&gt;locked &lt;= 1 &amp;&amp; probably(SHUFFLE_REDUCTION_PROB_ARG))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goto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pass_lock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(probably(INTRA_NODE_HANDOFF_PROB_ARG)) 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new_next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cna_try_find_next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(node, next);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在主队列中寻找继承者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new_next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next_holder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new_next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更新继承者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val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node-&gt;locked + (node-&gt;locked == 0); 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}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else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(node-&gt;locked &gt; 1) { 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next_holder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decode_tail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(node-&gt;locked);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继承者为辅助队列的队头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将原主队列的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连接在辅助队列的尾节点后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*)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next_holder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)-&gt;tail-&gt;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next; 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}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pass_lock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将继承者的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locked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1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arch_mcs_spin_unlock_contended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(&amp;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next_holder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-&gt;locked,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val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);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2445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cna_pass_lock</a:t>
            </a:r>
            <a:r>
              <a:rPr lang="en-US" altLang="zh-CN" dirty="0"/>
              <a:t>() </a:t>
            </a:r>
            <a:r>
              <a:rPr lang="zh-CN" altLang="en-US" dirty="0"/>
              <a:t>函数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CNA</a:t>
            </a:r>
            <a:r>
              <a:rPr lang="zh-CN" altLang="en-US" dirty="0"/>
              <a:t>与</a:t>
            </a:r>
            <a:r>
              <a:rPr lang="en-US" altLang="zh-CN" dirty="0"/>
              <a:t>MCS</a:t>
            </a:r>
            <a:r>
              <a:rPr lang="zh-CN" altLang="en-US" dirty="0"/>
              <a:t>队列的主要区别在于：在锁释放时，选择哪个节点来拿锁；</a:t>
            </a:r>
          </a:p>
          <a:p>
            <a:r>
              <a:rPr lang="zh-CN" altLang="en-US" dirty="0"/>
              <a:t>即队头在获取锁后，选择哪个节点作为队头的继承者；</a:t>
            </a:r>
          </a:p>
          <a:p>
            <a:r>
              <a:rPr lang="zh-CN" altLang="en-US" dirty="0"/>
              <a:t>在实现上，</a:t>
            </a:r>
            <a:r>
              <a:rPr lang="en-US" altLang="zh-CN" dirty="0"/>
              <a:t>NUMA-aware </a:t>
            </a:r>
            <a:r>
              <a:rPr lang="en-US" altLang="zh-CN" dirty="0" err="1"/>
              <a:t>Qspinlock</a:t>
            </a:r>
            <a:r>
              <a:rPr lang="zh-CN" altLang="en-US" dirty="0"/>
              <a:t>将</a:t>
            </a:r>
            <a:r>
              <a:rPr lang="en-US" altLang="zh-CN" dirty="0"/>
              <a:t>MCS</a:t>
            </a:r>
            <a:r>
              <a:rPr lang="zh-CN" altLang="en-US" dirty="0"/>
              <a:t>的锁传递函数</a:t>
            </a:r>
            <a:r>
              <a:rPr lang="en-US" altLang="zh-CN" dirty="0" err="1"/>
              <a:t>mcs_pass_lock</a:t>
            </a:r>
            <a:r>
              <a:rPr lang="en-US" altLang="zh-CN" dirty="0"/>
              <a:t>()</a:t>
            </a:r>
            <a:r>
              <a:rPr lang="zh-CN" altLang="en-US" dirty="0"/>
              <a:t>替换为</a:t>
            </a:r>
            <a:r>
              <a:rPr lang="en-US" altLang="zh-CN" dirty="0"/>
              <a:t>CNA</a:t>
            </a:r>
            <a:r>
              <a:rPr lang="zh-CN" altLang="en-US" dirty="0"/>
              <a:t>的锁传递函数</a:t>
            </a:r>
            <a:r>
              <a:rPr lang="en-US" altLang="zh-CN" dirty="0" err="1"/>
              <a:t>cna_pass_lock</a:t>
            </a:r>
            <a:r>
              <a:rPr lang="en-US" altLang="zh-CN" dirty="0"/>
              <a:t>()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78700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cna_try_find_next</a:t>
            </a:r>
            <a:r>
              <a:rPr lang="en-US" altLang="zh-CN" dirty="0"/>
              <a:t>() </a:t>
            </a:r>
            <a:r>
              <a:rPr lang="zh-CN" altLang="en-US" dirty="0"/>
              <a:t>函数</a:t>
            </a:r>
          </a:p>
        </p:txBody>
      </p:sp>
      <p:sp>
        <p:nvSpPr>
          <p:cNvPr id="3" name="TextBox 2"/>
          <p:cNvSpPr txBox="1"/>
          <p:nvPr/>
        </p:nvSpPr>
        <p:spPr bwMode="auto">
          <a:xfrm>
            <a:off x="1594800" y="1952836"/>
            <a:ext cx="9349824" cy="42436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源代码：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kernel/locking/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qspinlock_cna.h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static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cna_try_find_next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*node,  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                                                     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*next)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......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my_numa_node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当前的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节点序号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my_numa_node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如果后继节点是继承者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return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next;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直接返回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first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记录第一个需要移动的等待者，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last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记录最后一个需要移动的等待者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for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(first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&amp;&amp;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!=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my_numa_node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last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*)READ_ONCE(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；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&amp;&amp; last)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找到锁的继承者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cna_splice_tail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, first, last);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更新主队列与辅助队列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return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mcs_spinlock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*)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返回找到的继承者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</a:t>
            </a:r>
          </a:p>
        </p:txBody>
      </p:sp>
      <p:sp>
        <p:nvSpPr>
          <p:cNvPr id="4" name="文本占位符 3"/>
          <p:cNvSpPr txBox="1">
            <a:spLocks/>
          </p:cNvSpPr>
          <p:nvPr/>
        </p:nvSpPr>
        <p:spPr>
          <a:xfrm>
            <a:off x="1594800" y="1196752"/>
            <a:ext cx="9349824" cy="576064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在找到继承者之后，一次性对主队列与辅助队列进行更新：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2075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cna_splice_tail</a:t>
            </a:r>
            <a:r>
              <a:rPr lang="en-US" altLang="zh-CN" dirty="0"/>
              <a:t>() </a:t>
            </a:r>
            <a:r>
              <a:rPr lang="zh-CN" altLang="en-US" dirty="0"/>
              <a:t>函数</a:t>
            </a:r>
          </a:p>
        </p:txBody>
      </p:sp>
      <p:sp>
        <p:nvSpPr>
          <p:cNvPr id="3" name="TextBox 2"/>
          <p:cNvSpPr txBox="1"/>
          <p:nvPr/>
        </p:nvSpPr>
        <p:spPr bwMode="auto">
          <a:xfrm>
            <a:off x="1594800" y="1814336"/>
            <a:ext cx="9349824" cy="452064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源代码：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kernel/locking/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qspinlock_cna.h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static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void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cna_splice_tail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*first,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                          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*last)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last-&gt;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更新主队列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last-&gt;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NULL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清除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last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next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指针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if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mcs.locked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&lt;= 1) {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辅助队列为空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first-&gt;tail = last;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设置辅助队列尾结点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mcs.locked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first-&gt;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encoded_tail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存储辅助队列头节点的位置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else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{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辅助队列不为空，找到辅助队列头节点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*head_2nd =(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cna_node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*)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decode_tail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cn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mcs.locked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);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将被跳过的等待者加入辅助队列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head_2nd-&gt;tail-&gt;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mcs.next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= &amp;first-&gt;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mcs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;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    head_2nd-&gt;tail = last;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更新辅助队列尾结点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</a:t>
            </a:r>
          </a:p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}</a:t>
            </a:r>
          </a:p>
        </p:txBody>
      </p:sp>
      <p:sp>
        <p:nvSpPr>
          <p:cNvPr id="4" name="文本占位符 3"/>
          <p:cNvSpPr txBox="1">
            <a:spLocks/>
          </p:cNvSpPr>
          <p:nvPr/>
        </p:nvSpPr>
        <p:spPr>
          <a:xfrm>
            <a:off x="1594800" y="1196752"/>
            <a:ext cx="9349824" cy="479085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marR="0" lvl="0" indent="0" algn="l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prstClr val="white">
                  <a:lumMod val="50000"/>
                </a:prstClr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t>主队列与辅助队列的更新过程：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651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5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467D9C-11B2-4482-BA5C-FB7526E35826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689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Sleep-Wake up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Design rules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OS provide “atomic action” mechanism, a special kind of system call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Blocked process will sleep until it is waken up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CPU is not wasted, both mutual exclusion and Synchronism can be resolved via this mechanism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Methods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Simple sleep-wake up solution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Semaphore solution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Monitor solution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38" y="333375"/>
            <a:ext cx="4356100" cy="580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3D8880-3F1D-41A8-AC1E-57A77B9330FD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7101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Simple Sleep-Wake up solution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Primitive: atomic action supported by OS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Sleep(): block the caller process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Wakeup(PID):wake the process whose ID is PID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Application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Check race condition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If the race condition is not available, call Sleep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When the mutual exclusion process leave the CR, it will wake up the sleep process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Risk</a:t>
            </a:r>
            <a:r>
              <a:rPr lang="en-US" altLang="zh-CN" dirty="0">
                <a:ea typeface="宋体" pitchFamily="2" charset="-122"/>
              </a:rPr>
              <a:t>: the waking up signal may be lost, extended data structure should be designed for stability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Disadvantage: this solution is not universal and efficient for multiple processes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0" y="6508750"/>
            <a:ext cx="3352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1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E268AA-A51C-4C58-932B-6BE6FEA05C89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7305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Solution of “Producer-Consumer”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3FFA3C-279B-B33F-0CAB-EAF59A8A9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0" y="6508750"/>
            <a:ext cx="3352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667250" y="1568451"/>
            <a:ext cx="2857500" cy="391477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Producer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Produce-Item();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if(count == N)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sleep();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Enter-item();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count = count + 1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if(count == 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wakeup(consumer);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390775" y="1639888"/>
            <a:ext cx="2205038" cy="1033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＃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define N 100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lock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count = 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7646988" y="1568451"/>
            <a:ext cx="2806700" cy="3914775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Comsumer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if(count == 0)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sleep();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Remove-Item();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count = count - 1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if(count == N-1)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wakeup(producer);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Consume-item();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5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9CACC9-A1B2-40DD-9574-E6D856762380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740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Disadvantage of this solution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E02AB-2A1A-3D23-8FE3-FFAF5FE08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595813" y="2652713"/>
            <a:ext cx="2857500" cy="1033462"/>
          </a:xfrm>
          <a:prstGeom prst="rect">
            <a:avLst/>
          </a:prstGeom>
          <a:solidFill>
            <a:srgbClr val="FFFF99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Producer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wakeup(consumer);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389188" y="1644651"/>
            <a:ext cx="2063750" cy="1033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＃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define N 100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lock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＝ 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count = 0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764088" y="1357313"/>
            <a:ext cx="2520950" cy="1033462"/>
          </a:xfrm>
          <a:prstGeom prst="rect">
            <a:avLst/>
          </a:prstGeom>
          <a:solidFill>
            <a:srgbClr val="CCFFFF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Consumer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if(count == 0)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764088" y="3876675"/>
            <a:ext cx="2520950" cy="674688"/>
          </a:xfrm>
          <a:prstGeom prst="rect">
            <a:avLst/>
          </a:prstGeom>
          <a:solidFill>
            <a:srgbClr val="CCFFFF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Comsumer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sleep();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764088" y="4741864"/>
            <a:ext cx="2520950" cy="674687"/>
          </a:xfrm>
          <a:prstGeom prst="rect">
            <a:avLst/>
          </a:prstGeom>
          <a:solidFill>
            <a:srgbClr val="FFFF99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Producer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…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4764088" y="5605464"/>
            <a:ext cx="2520950" cy="674687"/>
          </a:xfrm>
          <a:prstGeom prst="rect">
            <a:avLst/>
          </a:prstGeom>
          <a:solidFill>
            <a:srgbClr val="FFFF99"/>
          </a:solidFill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Char char="•"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Producer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sleep()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；</a:t>
            </a:r>
          </a:p>
        </p:txBody>
      </p:sp>
      <p:sp>
        <p:nvSpPr>
          <p:cNvPr id="18" name="AutoShape 10"/>
          <p:cNvSpPr>
            <a:spLocks/>
          </p:cNvSpPr>
          <p:nvPr/>
        </p:nvSpPr>
        <p:spPr bwMode="auto">
          <a:xfrm>
            <a:off x="7500939" y="2149476"/>
            <a:ext cx="3024187" cy="779463"/>
          </a:xfrm>
          <a:prstGeom prst="borderCallout2">
            <a:avLst>
              <a:gd name="adj1" fmla="val 17648"/>
              <a:gd name="adj2" fmla="val -2782"/>
              <a:gd name="adj3" fmla="val 17648"/>
              <a:gd name="adj4" fmla="val -15546"/>
              <a:gd name="adj5" fmla="val 74755"/>
              <a:gd name="adj6" fmla="val -28769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</a:rPr>
              <a:t>CPU switch, consumer doesn’t sleep</a:t>
            </a:r>
          </a:p>
        </p:txBody>
      </p:sp>
      <p:sp>
        <p:nvSpPr>
          <p:cNvPr id="19" name="AutoShape 11"/>
          <p:cNvSpPr>
            <a:spLocks/>
          </p:cNvSpPr>
          <p:nvPr/>
        </p:nvSpPr>
        <p:spPr bwMode="auto">
          <a:xfrm>
            <a:off x="7645400" y="3300413"/>
            <a:ext cx="2736850" cy="647700"/>
          </a:xfrm>
          <a:prstGeom prst="borderCallout2">
            <a:avLst>
              <a:gd name="adj1" fmla="val 17648"/>
              <a:gd name="adj2" fmla="val -2782"/>
              <a:gd name="adj3" fmla="val 17648"/>
              <a:gd name="adj4" fmla="val -8815"/>
              <a:gd name="adj5" fmla="val 18627"/>
              <a:gd name="adj6" fmla="val -14095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</a:rPr>
              <a:t>Producer try to wake up consumer</a:t>
            </a:r>
          </a:p>
        </p:txBody>
      </p:sp>
      <p:sp>
        <p:nvSpPr>
          <p:cNvPr id="20" name="AutoShape 12"/>
          <p:cNvSpPr>
            <a:spLocks/>
          </p:cNvSpPr>
          <p:nvPr/>
        </p:nvSpPr>
        <p:spPr bwMode="auto">
          <a:xfrm>
            <a:off x="7572375" y="4237039"/>
            <a:ext cx="2736850" cy="763587"/>
          </a:xfrm>
          <a:prstGeom prst="borderCallout2">
            <a:avLst>
              <a:gd name="adj1" fmla="val 17648"/>
              <a:gd name="adj2" fmla="val -2782"/>
              <a:gd name="adj3" fmla="val 17648"/>
              <a:gd name="adj4" fmla="val -17287"/>
              <a:gd name="adj5" fmla="val 23037"/>
              <a:gd name="adj6" fmla="val -32773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</a:rPr>
              <a:t>Consumer lost the wake up signal, and sleep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AutoShape 13"/>
          <p:cNvSpPr>
            <a:spLocks/>
          </p:cNvSpPr>
          <p:nvPr/>
        </p:nvSpPr>
        <p:spPr bwMode="auto">
          <a:xfrm>
            <a:off x="7572375" y="5245100"/>
            <a:ext cx="2736850" cy="827088"/>
          </a:xfrm>
          <a:prstGeom prst="borderCallout2">
            <a:avLst>
              <a:gd name="adj1" fmla="val 17648"/>
              <a:gd name="adj2" fmla="val -2782"/>
              <a:gd name="adj3" fmla="val 17648"/>
              <a:gd name="adj4" fmla="val -10093"/>
              <a:gd name="adj5" fmla="val 35862"/>
              <a:gd name="adj6" fmla="val -25346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</a:rPr>
              <a:t>Producer will fill the buffer to full, and sleep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0760CC-D59E-2433-6897-913CB5AEAD17}"/>
              </a:ext>
            </a:extLst>
          </p:cNvPr>
          <p:cNvSpPr txBox="1"/>
          <p:nvPr/>
        </p:nvSpPr>
        <p:spPr>
          <a:xfrm>
            <a:off x="2501900" y="3212976"/>
            <a:ext cx="19510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与锁变量的先检测后修改类似，先检测状态，再决定是否发生休眠同样会发生问题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63BE7-0DD7-4F5C-ABAF-3A1D929637EA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761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Semaphore solution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Design rules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Semaphore: data structure supported by OS, stores the accumulate values of operations on race conditions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P/V primitives: operations on semaphore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Dijkstra</a:t>
            </a:r>
            <a:r>
              <a:rPr lang="en-US" altLang="zh-CN" dirty="0">
                <a:ea typeface="宋体" pitchFamily="2" charset="-122"/>
              </a:rPr>
              <a:t>: proposed </a:t>
            </a:r>
            <a:r>
              <a:rPr lang="en-US" altLang="zh-CN" dirty="0" err="1">
                <a:ea typeface="宋体" pitchFamily="2" charset="-122"/>
              </a:rPr>
              <a:t>Probern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 err="1">
                <a:ea typeface="宋体" pitchFamily="2" charset="-122"/>
              </a:rPr>
              <a:t>Verhogen</a:t>
            </a:r>
            <a:r>
              <a:rPr lang="en-US" altLang="zh-CN" dirty="0">
                <a:ea typeface="宋体" pitchFamily="2" charset="-122"/>
              </a:rPr>
              <a:t> primitives in 1965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Application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Semaphore’s value: the total times of race condition checking caused by all related processes, &gt;=0 means the environment is safe, &lt;0 means the CR is unavailable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Down primitive: decrease the semaphores by 1, if &lt; 0 then block current process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Up primitive: increase the semaphore by 1, if &lt;= 0 then wake up process blocked by this semaphore</a:t>
            </a:r>
          </a:p>
          <a:p>
            <a:pPr lvl="1">
              <a:lnSpc>
                <a:spcPct val="110000"/>
              </a:lnSpc>
              <a:defRPr/>
            </a:pP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信号量</a:t>
            </a:r>
            <a:r>
              <a:rPr lang="en-US" altLang="zh-CN" dirty="0"/>
              <a:t>(semaphore)</a:t>
            </a:r>
            <a:endParaRPr lang="zh-CN" altLang="en-US" sz="4800" dirty="0"/>
          </a:p>
        </p:txBody>
      </p:sp>
      <p:grpSp>
        <p:nvGrpSpPr>
          <p:cNvPr id="2" name="组合 1"/>
          <p:cNvGrpSpPr/>
          <p:nvPr/>
        </p:nvGrpSpPr>
        <p:grpSpPr>
          <a:xfrm>
            <a:off x="2368895" y="1672674"/>
            <a:ext cx="3295059" cy="428628"/>
            <a:chOff x="844893" y="782404"/>
            <a:chExt cx="3295059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82404"/>
              <a:ext cx="299697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信号是一种抽象数据类型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824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786422" y="2015350"/>
            <a:ext cx="5109778" cy="355598"/>
            <a:chOff x="1262422" y="1125080"/>
            <a:chExt cx="5109778" cy="355598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2298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125080"/>
              <a:ext cx="4977215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sz="1800" dirty="0"/>
                <a:t>由一个整形</a:t>
              </a:r>
              <a:r>
                <a:rPr lang="en-US" altLang="zh-CN" sz="1800" dirty="0"/>
                <a:t> (</a:t>
              </a:r>
              <a:r>
                <a:rPr lang="en-US" altLang="zh-CN" sz="1800" dirty="0" err="1">
                  <a:solidFill>
                    <a:srgbClr val="C00000"/>
                  </a:solidFill>
                </a:rPr>
                <a:t>sem</a:t>
              </a:r>
              <a:r>
                <a:rPr lang="en-US" altLang="zh-CN" sz="1800" dirty="0"/>
                <a:t>)</a:t>
              </a:r>
              <a:r>
                <a:rPr lang="zh-CN" altLang="en-US" sz="1800" dirty="0"/>
                <a:t>变量和两个原子操作组成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86319" y="2255287"/>
            <a:ext cx="5256584" cy="333151"/>
            <a:chOff x="1259632" y="1418764"/>
            <a:chExt cx="5256584" cy="333151"/>
          </a:xfrm>
        </p:grpSpPr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9632" y="1534397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1394986" y="1418764"/>
              <a:ext cx="5121230" cy="333151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1" indent="-269875"/>
              <a:r>
                <a:rPr lang="en-US" altLang="zh-CN" sz="1800" dirty="0">
                  <a:solidFill>
                    <a:srgbClr val="C00000"/>
                  </a:solidFill>
                </a:rPr>
                <a:t>P()</a:t>
              </a:r>
              <a:endParaRPr lang="zh-CN" altLang="en-US" sz="1600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783632" y="2990141"/>
            <a:ext cx="6169888" cy="347432"/>
            <a:chOff x="1259632" y="1993450"/>
            <a:chExt cx="6169888" cy="347432"/>
          </a:xfrm>
        </p:grpSpPr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9632" y="210832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4" name="内容占位符 2"/>
            <p:cNvSpPr txBox="1">
              <a:spLocks/>
            </p:cNvSpPr>
            <p:nvPr/>
          </p:nvSpPr>
          <p:spPr>
            <a:xfrm>
              <a:off x="1394986" y="1993450"/>
              <a:ext cx="6034534" cy="34743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/>
              <a:r>
                <a:rPr lang="en-US" altLang="zh-CN" sz="1800" dirty="0">
                  <a:solidFill>
                    <a:srgbClr val="C00000"/>
                  </a:solidFill>
                </a:rPr>
                <a:t>V()</a:t>
              </a:r>
              <a:endParaRPr lang="zh-CN" altLang="en-US" sz="1400" dirty="0"/>
            </a:p>
          </p:txBody>
        </p:sp>
      </p:grpSp>
      <p:pic>
        <p:nvPicPr>
          <p:cNvPr id="27" name="Picture 6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615" y="3441983"/>
            <a:ext cx="9842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9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615" y="4183002"/>
            <a:ext cx="9842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0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7847" y="4777805"/>
            <a:ext cx="9842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" name="Group 7"/>
          <p:cNvGrpSpPr>
            <a:grpSpLocks/>
          </p:cNvGrpSpPr>
          <p:nvPr/>
        </p:nvGrpSpPr>
        <p:grpSpPr bwMode="auto">
          <a:xfrm>
            <a:off x="2559574" y="5367362"/>
            <a:ext cx="7351713" cy="869951"/>
            <a:chOff x="15" y="374"/>
            <a:chExt cx="4631" cy="548"/>
          </a:xfrm>
        </p:grpSpPr>
        <p:sp>
          <p:nvSpPr>
            <p:cNvPr id="37" name="Line 12"/>
            <p:cNvSpPr>
              <a:spLocks noChangeShapeType="1"/>
            </p:cNvSpPr>
            <p:nvPr/>
          </p:nvSpPr>
          <p:spPr bwMode="auto">
            <a:xfrm>
              <a:off x="15" y="624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8" name="Line 13"/>
            <p:cNvSpPr>
              <a:spLocks noChangeShapeType="1"/>
            </p:cNvSpPr>
            <p:nvPr/>
          </p:nvSpPr>
          <p:spPr bwMode="auto">
            <a:xfrm>
              <a:off x="1872" y="374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9" name="Line 14"/>
            <p:cNvSpPr>
              <a:spLocks noChangeShapeType="1"/>
            </p:cNvSpPr>
            <p:nvPr/>
          </p:nvSpPr>
          <p:spPr bwMode="auto">
            <a:xfrm>
              <a:off x="1872" y="922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0" name="Freeform 15"/>
            <p:cNvSpPr>
              <a:spLocks/>
            </p:cNvSpPr>
            <p:nvPr/>
          </p:nvSpPr>
          <p:spPr bwMode="auto">
            <a:xfrm>
              <a:off x="1392" y="374"/>
              <a:ext cx="480" cy="259"/>
            </a:xfrm>
            <a:custGeom>
              <a:avLst/>
              <a:gdLst>
                <a:gd name="T0" fmla="*/ 0 w 480"/>
                <a:gd name="T1" fmla="*/ 94 h 294"/>
                <a:gd name="T2" fmla="*/ 144 w 480"/>
                <a:gd name="T3" fmla="*/ 77 h 294"/>
                <a:gd name="T4" fmla="*/ 336 w 480"/>
                <a:gd name="T5" fmla="*/ 16 h 294"/>
                <a:gd name="T6" fmla="*/ 480 w 480"/>
                <a:gd name="T7" fmla="*/ 0 h 2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94"/>
                <a:gd name="T14" fmla="*/ 480 w 480"/>
                <a:gd name="T15" fmla="*/ 294 h 2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94">
                  <a:moveTo>
                    <a:pt x="0" y="294"/>
                  </a:moveTo>
                  <a:cubicBezTo>
                    <a:pt x="23" y="293"/>
                    <a:pt x="88" y="281"/>
                    <a:pt x="144" y="240"/>
                  </a:cubicBezTo>
                  <a:cubicBezTo>
                    <a:pt x="200" y="199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1" name="Freeform 16"/>
            <p:cNvSpPr>
              <a:spLocks/>
            </p:cNvSpPr>
            <p:nvPr/>
          </p:nvSpPr>
          <p:spPr bwMode="auto">
            <a:xfrm flipV="1">
              <a:off x="1392" y="620"/>
              <a:ext cx="528" cy="302"/>
            </a:xfrm>
            <a:custGeom>
              <a:avLst/>
              <a:gdLst>
                <a:gd name="T0" fmla="*/ 0 w 480"/>
                <a:gd name="T1" fmla="*/ 479 h 285"/>
                <a:gd name="T2" fmla="*/ 338 w 480"/>
                <a:gd name="T3" fmla="*/ 403 h 285"/>
                <a:gd name="T4" fmla="*/ 794 w 480"/>
                <a:gd name="T5" fmla="*/ 81 h 285"/>
                <a:gd name="T6" fmla="*/ 1132 w 480"/>
                <a:gd name="T7" fmla="*/ 0 h 2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85"/>
                <a:gd name="T14" fmla="*/ 480 w 480"/>
                <a:gd name="T15" fmla="*/ 285 h 2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85">
                  <a:moveTo>
                    <a:pt x="0" y="285"/>
                  </a:moveTo>
                  <a:cubicBezTo>
                    <a:pt x="46" y="281"/>
                    <a:pt x="88" y="279"/>
                    <a:pt x="144" y="240"/>
                  </a:cubicBezTo>
                  <a:cubicBezTo>
                    <a:pt x="200" y="201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2" name="Freeform 17"/>
            <p:cNvSpPr>
              <a:spLocks/>
            </p:cNvSpPr>
            <p:nvPr/>
          </p:nvSpPr>
          <p:spPr bwMode="auto">
            <a:xfrm flipH="1">
              <a:off x="3264" y="374"/>
              <a:ext cx="480" cy="259"/>
            </a:xfrm>
            <a:custGeom>
              <a:avLst/>
              <a:gdLst>
                <a:gd name="T0" fmla="*/ 0 w 480"/>
                <a:gd name="T1" fmla="*/ 94 h 294"/>
                <a:gd name="T2" fmla="*/ 144 w 480"/>
                <a:gd name="T3" fmla="*/ 77 h 294"/>
                <a:gd name="T4" fmla="*/ 336 w 480"/>
                <a:gd name="T5" fmla="*/ 16 h 294"/>
                <a:gd name="T6" fmla="*/ 480 w 480"/>
                <a:gd name="T7" fmla="*/ 0 h 2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94"/>
                <a:gd name="T14" fmla="*/ 480 w 480"/>
                <a:gd name="T15" fmla="*/ 294 h 2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94">
                  <a:moveTo>
                    <a:pt x="0" y="294"/>
                  </a:moveTo>
                  <a:cubicBezTo>
                    <a:pt x="34" y="286"/>
                    <a:pt x="88" y="281"/>
                    <a:pt x="144" y="240"/>
                  </a:cubicBezTo>
                  <a:cubicBezTo>
                    <a:pt x="200" y="199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3" name="Freeform 18"/>
            <p:cNvSpPr>
              <a:spLocks/>
            </p:cNvSpPr>
            <p:nvPr/>
          </p:nvSpPr>
          <p:spPr bwMode="auto">
            <a:xfrm flipH="1" flipV="1">
              <a:off x="3264" y="629"/>
              <a:ext cx="480" cy="293"/>
            </a:xfrm>
            <a:custGeom>
              <a:avLst/>
              <a:gdLst>
                <a:gd name="T0" fmla="*/ 0 w 436"/>
                <a:gd name="T1" fmla="*/ 453 h 277"/>
                <a:gd name="T2" fmla="*/ 237 w 436"/>
                <a:gd name="T3" fmla="*/ 398 h 277"/>
                <a:gd name="T4" fmla="*/ 692 w 436"/>
                <a:gd name="T5" fmla="*/ 79 h 277"/>
                <a:gd name="T6" fmla="*/ 1035 w 436"/>
                <a:gd name="T7" fmla="*/ 0 h 2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6"/>
                <a:gd name="T13" fmla="*/ 0 h 277"/>
                <a:gd name="T14" fmla="*/ 436 w 436"/>
                <a:gd name="T15" fmla="*/ 277 h 2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6" h="277">
                  <a:moveTo>
                    <a:pt x="0" y="272"/>
                  </a:moveTo>
                  <a:cubicBezTo>
                    <a:pt x="34" y="273"/>
                    <a:pt x="51" y="277"/>
                    <a:pt x="100" y="240"/>
                  </a:cubicBezTo>
                  <a:cubicBezTo>
                    <a:pt x="149" y="203"/>
                    <a:pt x="236" y="88"/>
                    <a:pt x="292" y="48"/>
                  </a:cubicBezTo>
                  <a:cubicBezTo>
                    <a:pt x="348" y="8"/>
                    <a:pt x="392" y="4"/>
                    <a:pt x="436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3734" y="629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pic>
        <p:nvPicPr>
          <p:cNvPr id="46" name="Picture 27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7847" y="5367362"/>
            <a:ext cx="9842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368895" y="2917042"/>
            <a:ext cx="4227173" cy="844007"/>
            <a:chOff x="844893" y="2524812"/>
            <a:chExt cx="4227173" cy="844007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524812"/>
              <a:ext cx="299697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信号量与铁路的类比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252481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7" name="图片 1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98677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394985" y="2882002"/>
              <a:ext cx="367708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sz="1800" dirty="0"/>
                <a:t>2</a:t>
              </a:r>
              <a:r>
                <a:rPr lang="zh-CN" altLang="en-US" sz="1800" dirty="0"/>
                <a:t>个站台的车站</a:t>
              </a:r>
              <a:endParaRPr lang="en-US" altLang="zh-CN" sz="1800" dirty="0"/>
            </a:p>
            <a:p>
              <a:pPr marL="0" lvl="1" indent="0">
                <a:lnSpc>
                  <a:spcPct val="90000"/>
                </a:lnSpc>
              </a:pPr>
              <a:r>
                <a:rPr lang="en-US" altLang="zh-CN" sz="1800" dirty="0"/>
                <a:t>2</a:t>
              </a:r>
              <a:r>
                <a:rPr lang="zh-CN" altLang="en-US" sz="1800" dirty="0"/>
                <a:t>个资源的信号量</a:t>
              </a:r>
            </a:p>
          </p:txBody>
        </p:sp>
        <p:pic>
          <p:nvPicPr>
            <p:cNvPr id="47" name="图片 4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9632" y="3219822"/>
              <a:ext cx="151066" cy="148997"/>
            </a:xfrm>
            <a:prstGeom prst="rect">
              <a:avLst/>
            </a:prstGeom>
            <a:effectLst/>
          </p:spPr>
        </p:pic>
      </p:grpSp>
      <p:pic>
        <p:nvPicPr>
          <p:cNvPr id="48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2547" y="4747702"/>
            <a:ext cx="473075" cy="90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3069951" y="2511363"/>
            <a:ext cx="2259665" cy="333151"/>
            <a:chOff x="4752399" y="2696770"/>
            <a:chExt cx="2259665" cy="333151"/>
          </a:xfrm>
        </p:grpSpPr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4846146" y="2696770"/>
              <a:ext cx="2165918" cy="333151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1" indent="-269875"/>
              <a:r>
                <a:rPr lang="en-US" altLang="zh-CN" sz="1600" dirty="0" err="1"/>
                <a:t>sem</a:t>
              </a:r>
              <a:r>
                <a:rPr lang="zh-CN" altLang="en-US" sz="1600" dirty="0"/>
                <a:t>减</a:t>
              </a:r>
              <a:r>
                <a:rPr lang="en-US" altLang="zh-CN" sz="1600" dirty="0"/>
                <a:t>1</a:t>
              </a:r>
            </a:p>
          </p:txBody>
        </p:sp>
        <p:pic>
          <p:nvPicPr>
            <p:cNvPr id="52" name="图片 51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2399" y="2805867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10" name="组合 9"/>
          <p:cNvGrpSpPr/>
          <p:nvPr/>
        </p:nvGrpSpPr>
        <p:grpSpPr>
          <a:xfrm>
            <a:off x="3069949" y="2746207"/>
            <a:ext cx="3875486" cy="333151"/>
            <a:chOff x="4752399" y="2992059"/>
            <a:chExt cx="3875486" cy="333151"/>
          </a:xfrm>
        </p:grpSpPr>
        <p:sp>
          <p:nvSpPr>
            <p:cNvPr id="50" name="内容占位符 2"/>
            <p:cNvSpPr txBox="1">
              <a:spLocks/>
            </p:cNvSpPr>
            <p:nvPr/>
          </p:nvSpPr>
          <p:spPr>
            <a:xfrm>
              <a:off x="4843951" y="2992059"/>
              <a:ext cx="3783934" cy="333151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1" indent="-269875"/>
              <a:r>
                <a:rPr lang="zh-CN" altLang="en-US" sz="1600" dirty="0"/>
                <a:t>如</a:t>
              </a:r>
              <a:r>
                <a:rPr lang="en-US" altLang="zh-CN" sz="1600" dirty="0" err="1"/>
                <a:t>sem</a:t>
              </a:r>
              <a:r>
                <a:rPr lang="en-US" altLang="zh-CN" sz="1600" dirty="0"/>
                <a:t>&lt;0, </a:t>
              </a:r>
              <a:r>
                <a:rPr lang="zh-CN" altLang="en-US" sz="1600" dirty="0"/>
                <a:t>进入等待</a:t>
              </a:r>
              <a:r>
                <a:rPr lang="en-US" altLang="zh-CN" sz="1600" dirty="0"/>
                <a:t>, </a:t>
              </a:r>
              <a:r>
                <a:rPr lang="zh-CN" altLang="en-US" sz="1600" dirty="0"/>
                <a:t>否则继续</a:t>
              </a:r>
            </a:p>
          </p:txBody>
        </p:sp>
        <p:pic>
          <p:nvPicPr>
            <p:cNvPr id="53" name="图片 5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2399" y="3097502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22" name="组合 21"/>
          <p:cNvGrpSpPr/>
          <p:nvPr/>
        </p:nvGrpSpPr>
        <p:grpSpPr>
          <a:xfrm>
            <a:off x="3069951" y="3224987"/>
            <a:ext cx="4287105" cy="379757"/>
            <a:chOff x="4177634" y="2765125"/>
            <a:chExt cx="4287105" cy="379757"/>
          </a:xfrm>
        </p:grpSpPr>
        <p:sp>
          <p:nvSpPr>
            <p:cNvPr id="54" name="内容占位符 2"/>
            <p:cNvSpPr txBox="1">
              <a:spLocks/>
            </p:cNvSpPr>
            <p:nvPr/>
          </p:nvSpPr>
          <p:spPr>
            <a:xfrm>
              <a:off x="4291061" y="2765125"/>
              <a:ext cx="4173678" cy="379757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/>
              <a:r>
                <a:rPr lang="en-US" altLang="zh-CN" sz="1600" dirty="0" err="1"/>
                <a:t>sem</a:t>
              </a:r>
              <a:r>
                <a:rPr lang="zh-CN" altLang="en-US" sz="1600" dirty="0"/>
                <a:t>加</a:t>
              </a:r>
              <a:r>
                <a:rPr lang="en-US" altLang="zh-CN" sz="1600" dirty="0"/>
                <a:t>1</a:t>
              </a:r>
              <a:endParaRPr lang="zh-CN" altLang="en-US" sz="1400" dirty="0"/>
            </a:p>
          </p:txBody>
        </p:sp>
        <p:pic>
          <p:nvPicPr>
            <p:cNvPr id="56" name="图片 55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7634" y="2884899"/>
              <a:ext cx="151066" cy="148997"/>
            </a:xfrm>
            <a:prstGeom prst="rect">
              <a:avLst/>
            </a:prstGeom>
            <a:effectLst/>
          </p:spPr>
        </p:pic>
      </p:grpSp>
      <p:grpSp>
        <p:nvGrpSpPr>
          <p:cNvPr id="21" name="组合 20"/>
          <p:cNvGrpSpPr/>
          <p:nvPr/>
        </p:nvGrpSpPr>
        <p:grpSpPr>
          <a:xfrm>
            <a:off x="3066675" y="3481293"/>
            <a:ext cx="3632449" cy="379757"/>
            <a:chOff x="4179911" y="3111380"/>
            <a:chExt cx="3632449" cy="379757"/>
          </a:xfrm>
        </p:grpSpPr>
        <p:sp>
          <p:nvSpPr>
            <p:cNvPr id="55" name="内容占位符 2"/>
            <p:cNvSpPr txBox="1">
              <a:spLocks/>
            </p:cNvSpPr>
            <p:nvPr/>
          </p:nvSpPr>
          <p:spPr>
            <a:xfrm>
              <a:off x="4291061" y="3111380"/>
              <a:ext cx="3521299" cy="379757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/>
              <a:r>
                <a:rPr lang="zh-CN" altLang="en-US" sz="1600" dirty="0"/>
                <a:t>如</a:t>
              </a:r>
              <a:r>
                <a:rPr lang="en-US" altLang="zh-CN" sz="1600" dirty="0"/>
                <a:t>sem≤0,</a:t>
              </a:r>
              <a:r>
                <a:rPr lang="zh-CN" altLang="en-US" sz="1600" dirty="0"/>
                <a:t>唤醒一个等待进程</a:t>
              </a:r>
              <a:endParaRPr lang="zh-CN" altLang="en-US" sz="1400" dirty="0"/>
            </a:p>
          </p:txBody>
        </p:sp>
        <p:pic>
          <p:nvPicPr>
            <p:cNvPr id="57" name="图片 5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9911" y="3212275"/>
              <a:ext cx="151066" cy="148997"/>
            </a:xfrm>
            <a:prstGeom prst="rect">
              <a:avLst/>
            </a:prstGeom>
            <a:effectLst/>
          </p:spPr>
        </p:pic>
      </p:grpSp>
      <p:pic>
        <p:nvPicPr>
          <p:cNvPr id="58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846" y="4747704"/>
            <a:ext cx="473074" cy="909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2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1636" y="4747701"/>
            <a:ext cx="473074" cy="90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内容占位符 2"/>
          <p:cNvSpPr txBox="1">
            <a:spLocks/>
          </p:cNvSpPr>
          <p:nvPr/>
        </p:nvSpPr>
        <p:spPr>
          <a:xfrm>
            <a:off x="3353578" y="2277760"/>
            <a:ext cx="3120240" cy="333151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lvl="1" indent="-269875"/>
            <a:r>
              <a:rPr lang="en-US" altLang="zh-CN" sz="1600" dirty="0"/>
              <a:t>(</a:t>
            </a:r>
            <a:r>
              <a:rPr lang="en-US" altLang="zh-CN" sz="1600" dirty="0" err="1"/>
              <a:t>Prolaag</a:t>
            </a:r>
            <a:r>
              <a:rPr lang="en-US" altLang="zh-CN" sz="1600" dirty="0"/>
              <a:t> </a:t>
            </a:r>
            <a:r>
              <a:rPr lang="zh-CN" altLang="en-US" sz="1600" dirty="0"/>
              <a:t>（荷兰语尝试减少）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60" name="内容占位符 2"/>
          <p:cNvSpPr txBox="1">
            <a:spLocks/>
          </p:cNvSpPr>
          <p:nvPr/>
        </p:nvSpPr>
        <p:spPr>
          <a:xfrm>
            <a:off x="3356786" y="3006782"/>
            <a:ext cx="3047329" cy="347432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pPr marL="0" lvl="1" indent="0"/>
            <a:r>
              <a:rPr lang="en-US" altLang="zh-CN" sz="1600" dirty="0"/>
              <a:t>(</a:t>
            </a:r>
            <a:r>
              <a:rPr lang="en-US" altLang="zh-CN" sz="1600" dirty="0" err="1"/>
              <a:t>Verhoog</a:t>
            </a:r>
            <a:r>
              <a:rPr lang="en-US" altLang="zh-CN" sz="1600" dirty="0"/>
              <a:t> </a:t>
            </a:r>
            <a:r>
              <a:rPr lang="zh-CN" altLang="en-US" sz="1600" dirty="0"/>
              <a:t>（荷兰语增加）</a:t>
            </a:r>
            <a:r>
              <a:rPr lang="en-US" altLang="zh-CN" sz="1600" dirty="0"/>
              <a:t>)</a:t>
            </a:r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7A8741-F816-A9C7-93CF-927353D0204A}"/>
              </a:ext>
            </a:extLst>
          </p:cNvPr>
          <p:cNvSpPr txBox="1"/>
          <p:nvPr/>
        </p:nvSpPr>
        <p:spPr>
          <a:xfrm>
            <a:off x="6945436" y="2610911"/>
            <a:ext cx="33270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 err="1"/>
              <a:t>TSL</a:t>
            </a:r>
            <a:r>
              <a:rPr lang="zh-CN" altLang="en-US" dirty="0"/>
              <a:t>指令的设计思路类似，信号量把状态检测、改变进程状态封装到了一个不可打断的操作中。</a:t>
            </a:r>
            <a:endParaRPr lang="en-US" altLang="zh-CN" dirty="0"/>
          </a:p>
          <a:p>
            <a:r>
              <a:rPr lang="zh-CN" altLang="en-US" dirty="0"/>
              <a:t>由操作系统负责通过关中断等高权限操作以禁用调度</a:t>
            </a:r>
            <a:endParaRPr lang="en-US" altLang="zh-CN" dirty="0"/>
          </a:p>
          <a:p>
            <a:r>
              <a:rPr lang="zh-CN" altLang="en-US" dirty="0"/>
              <a:t>程序员通过系统调用请求操作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6959D11-6994-EF2C-72C2-0C635265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E5C6F05-A6E4-604E-E35B-C0AD4331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73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20988E-6 L 0 -0.08118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662 0.17569 C 0.40703 0.17939 0.46771 0.18333 0.50195 0.17569 C 0.53607 0.16805 0.52526 0.1368 0.55195 0.12916 C 0.57865 0.12152 0.62057 0.12523 0.6625 0.12916 " pathEditMode="fixed" rAng="0" ptsTypes="AAAA">
                                      <p:cBhvr>
                                        <p:cTn id="8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5794" y="-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505 0.29538 C 0.39623 0.2963 0.45156 0.28959 0.48268 0.29862 C 0.51354 0.30788 0.51237 0.33936 0.53008 0.3507 C 0.54766 0.36204 0.56589 0.372 0.58893 0.36713 C 0.60716 0.37755 0.64714 0.36204 0.6625 0.36389 " pathEditMode="fixed" rAng="0" ptsTypes="AAAAA">
                                      <p:cBhvr>
                                        <p:cTn id="8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5872" y="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362 0.11343 C 0.34362 0.11413 0.37943 0.11667 0.41537 0.12014 " pathEditMode="fixed" rAng="0" ptsTypes="AA">
                                      <p:cBhvr>
                                        <p:cTn id="100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3581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625 0.12916 C 0.7155 0.12477 0.71354 0.12592 0.73672 0.13657 C 0.75977 0.14699 0.7457 0.18102 0.80078 0.19236 C 0.85599 0.2037 1.03216 0.19907 1.1362 0.19791 " pathEditMode="relative" rAng="0" ptsTypes="AAAA">
                                      <p:cBhvr>
                                        <p:cTn id="10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23685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537 0.12014 C 0.43438 0.12269 0.45339 0.12547 0.47031 0.11297 C 0.48724 0.10047 0.48646 0.0581 0.51732 0.04607 C 0.54831 0.03472 0.63307 0.04306 0.65625 0.04236 " pathEditMode="relative" rAng="0" ptsTypes="AAAA">
                                      <p:cBhvr>
                                        <p:cTn id="11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2044" y="-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375 0.02755 C 0.34375 0.02825 0.37943 0.03172 0.41537 0.03426 " pathEditMode="fixed" rAng="0" ptsTypes="AA">
                                      <p:cBhvr>
                                        <p:cTn id="1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3581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9" grpId="1"/>
      <p:bldP spid="60" grpId="0"/>
      <p:bldP spid="60" grpId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>
                <a:cs typeface="+mj-cs"/>
              </a:rPr>
              <a:t>信号量的特性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68895" y="2811458"/>
            <a:ext cx="3727107" cy="428628"/>
            <a:chOff x="844893" y="1954208"/>
            <a:chExt cx="3727107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954208"/>
              <a:ext cx="342902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en-US" altLang="zh-CN" dirty="0">
                  <a:solidFill>
                    <a:srgbClr val="C00000"/>
                  </a:solidFill>
                </a:rPr>
                <a:t>P() </a:t>
              </a:r>
              <a:r>
                <a:rPr lang="zh-CN" altLang="en-US" dirty="0">
                  <a:solidFill>
                    <a:srgbClr val="C00000"/>
                  </a:solidFill>
                </a:rPr>
                <a:t>可能阻塞</a:t>
              </a:r>
              <a:r>
                <a:rPr lang="zh-CN" altLang="en-US" dirty="0"/>
                <a:t>，</a:t>
              </a:r>
              <a:r>
                <a:rPr lang="en-US" altLang="zh-CN" dirty="0"/>
                <a:t>V()</a:t>
              </a:r>
              <a:r>
                <a:rPr lang="zh-CN" altLang="en-US" dirty="0"/>
                <a:t>不会阻塞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4893" y="19542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68895" y="3138486"/>
            <a:ext cx="5513057" cy="992646"/>
            <a:chOff x="844893" y="2281236"/>
            <a:chExt cx="5513057" cy="992646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70986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6" y="2605088"/>
              <a:ext cx="3891394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线程不会被无限期阻塞在</a:t>
              </a:r>
              <a:r>
                <a:rPr lang="en-US" altLang="zh-CN" dirty="0"/>
                <a:t>P()</a:t>
              </a:r>
              <a:r>
                <a:rPr lang="zh-CN" altLang="en-US" dirty="0"/>
                <a:t>操作</a:t>
              </a:r>
            </a:p>
          </p:txBody>
        </p:sp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00876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1394986" y="2916692"/>
              <a:ext cx="4962964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假定信号量等待按先进先出排队</a:t>
              </a:r>
            </a:p>
          </p:txBody>
        </p:sp>
        <p:sp>
          <p:nvSpPr>
            <p:cNvPr id="13" name="内容占位符 2"/>
            <p:cNvSpPr txBox="1">
              <a:spLocks/>
            </p:cNvSpPr>
            <p:nvPr/>
          </p:nvSpPr>
          <p:spPr>
            <a:xfrm>
              <a:off x="1142976" y="2281236"/>
              <a:ext cx="364333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通常假定信号量是“公平的”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4893" y="228123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8" name="内容占位符 2"/>
          <p:cNvSpPr txBox="1">
            <a:spLocks/>
          </p:cNvSpPr>
          <p:nvPr/>
        </p:nvSpPr>
        <p:spPr>
          <a:xfrm>
            <a:off x="2368893" y="4308145"/>
            <a:ext cx="5095259" cy="35401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r>
              <a:rPr lang="zh-CN" altLang="en-US" dirty="0"/>
              <a:t>另外的问题：自旋锁能否实现先进先出?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368895" y="1857364"/>
            <a:ext cx="5870247" cy="998540"/>
            <a:chOff x="844893" y="1000114"/>
            <a:chExt cx="5870247" cy="998540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342902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>
                <a:spcBef>
                  <a:spcPct val="20000"/>
                </a:spcBef>
              </a:pPr>
              <a:r>
                <a:rPr lang="zh-CN" altLang="en-US" dirty="0"/>
                <a:t>信号量是</a:t>
              </a:r>
              <a:r>
                <a:rPr lang="zh-CN" altLang="en-US" dirty="0">
                  <a:solidFill>
                    <a:srgbClr val="C00000"/>
                  </a:solidFill>
                </a:rPr>
                <a:t>被保护</a:t>
              </a:r>
              <a:r>
                <a:rPr lang="zh-CN" altLang="en-US" dirty="0"/>
                <a:t>的</a:t>
              </a:r>
              <a:r>
                <a:rPr lang="zh-CN" altLang="en-US" dirty="0">
                  <a:solidFill>
                    <a:srgbClr val="C00000"/>
                  </a:solidFill>
                </a:rPr>
                <a:t>整数</a:t>
              </a:r>
              <a:r>
                <a:rPr lang="zh-CN" altLang="en-US" dirty="0"/>
                <a:t>变量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44756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1342790"/>
              <a:ext cx="5320155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初始化完成后，只能通过</a:t>
              </a:r>
              <a:r>
                <a:rPr lang="en-US" altLang="zh-CN" dirty="0"/>
                <a:t>P()</a:t>
              </a:r>
              <a:r>
                <a:rPr lang="zh-CN" altLang="en-US" dirty="0"/>
                <a:t>和</a:t>
              </a:r>
              <a:r>
                <a:rPr lang="en-US" altLang="zh-CN" dirty="0"/>
                <a:t>V()</a:t>
              </a:r>
              <a:r>
                <a:rPr lang="zh-CN" altLang="en-US" dirty="0"/>
                <a:t>操作修改</a:t>
              </a:r>
            </a:p>
          </p:txBody>
        </p:sp>
        <p:pic>
          <p:nvPicPr>
            <p:cNvPr id="21" name="图片 2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74783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2" name="内容占位符 2"/>
            <p:cNvSpPr txBox="1">
              <a:spLocks/>
            </p:cNvSpPr>
            <p:nvPr/>
          </p:nvSpPr>
          <p:spPr>
            <a:xfrm>
              <a:off x="1394985" y="1643056"/>
              <a:ext cx="4391461" cy="3555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zh-CN" altLang="en-US" dirty="0"/>
                <a:t>由操作系统保证，</a:t>
              </a:r>
              <a:r>
                <a:rPr lang="en-US" altLang="zh-CN" dirty="0"/>
                <a:t>PV</a:t>
              </a:r>
              <a:r>
                <a:rPr lang="zh-CN" altLang="en-US" dirty="0"/>
                <a:t>操作是原子操作</a:t>
              </a: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588DA79E-82E5-1EA3-1970-89652199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A6518E-4285-9E88-8A18-F2547322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08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>
                <a:cs typeface="+mj-cs"/>
              </a:rPr>
              <a:t>信号量的实现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703512" y="3429000"/>
            <a:ext cx="4032448" cy="1815882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Semaphore::P() {</a:t>
            </a:r>
          </a:p>
          <a:p>
            <a:pPr eaLnBrk="1" hangingPunct="1">
              <a:buFont typeface="Monotype Sorts" charset="0"/>
              <a:buNone/>
            </a:pPr>
            <a:r>
              <a:rPr lang="zh-CN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if (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 0)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Add this thread t to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block(p);</a:t>
            </a:r>
          </a:p>
          <a:p>
            <a:pPr eaLnBrk="1" hangingPunct="1">
              <a:buFont typeface="Monotype Sorts" charset="0"/>
              <a:buNone/>
            </a:pPr>
            <a:r>
              <a:rPr lang="zh-CN" altLang="en-US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5879976" y="3429000"/>
            <a:ext cx="4464496" cy="1815882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Semaphore::V()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++; 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if (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&lt;=0)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Remove a thread t from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wakeup(t);        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4399257" y="1939920"/>
            <a:ext cx="2200801" cy="1077218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classSemaphore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sem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WaitQueue</a:t>
            </a: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q;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281306" y="5667274"/>
            <a:ext cx="4398870" cy="354014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r>
              <a:rPr lang="en-US" altLang="zh-CN" dirty="0"/>
              <a:t>PV</a:t>
            </a:r>
            <a:r>
              <a:rPr lang="zh-CN" altLang="en-US" dirty="0"/>
              <a:t>函数的调用过程是原子的，在这个过程中不会发生中断或调度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31E9E4-52AA-DE5D-EE82-257B13C8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31482-A566-F48F-D78E-14291C8ED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5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allAtOnce" animBg="1"/>
      <p:bldP spid="20" grpId="0" uiExpand="1" build="allAtOnce" animBg="1"/>
      <p:bldP spid="23" grpId="0" animBg="1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用信号量实现临界区的伪码形式</a:t>
            </a:r>
            <a:endParaRPr lang="zh-CN" altLang="en-US" dirty="0"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1160" y="4128032"/>
            <a:ext cx="3952520" cy="354014"/>
            <a:chOff x="1262422" y="3198774"/>
            <a:chExt cx="3952520" cy="354014"/>
          </a:xfrm>
        </p:grpSpPr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30355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6" y="3198774"/>
              <a:ext cx="3819956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P()</a:t>
              </a:r>
              <a:r>
                <a:rPr lang="zh-CN" altLang="en-US" dirty="0"/>
                <a:t>操作保证互斥访问临界资源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201160" y="4800002"/>
            <a:ext cx="4595462" cy="357190"/>
            <a:chOff x="1262422" y="3870744"/>
            <a:chExt cx="4595462" cy="357190"/>
          </a:xfrm>
        </p:grpSpPr>
        <p:pic>
          <p:nvPicPr>
            <p:cNvPr id="31" name="图片 30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9628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1394986" y="3870744"/>
              <a:ext cx="4462898" cy="35719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PV</a:t>
              </a:r>
              <a:r>
                <a:rPr lang="zh-CN" altLang="en-US" dirty="0"/>
                <a:t>操作</a:t>
              </a:r>
              <a:r>
                <a:rPr lang="zh-CN" altLang="en-US" dirty="0">
                  <a:solidFill>
                    <a:srgbClr val="C00000"/>
                  </a:solidFill>
                </a:rPr>
                <a:t>不能次序错误、重复或遗漏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83633" y="3790004"/>
            <a:ext cx="4375179" cy="428628"/>
            <a:chOff x="844893" y="2874922"/>
            <a:chExt cx="4375179" cy="428628"/>
          </a:xfrm>
        </p:grpSpPr>
        <p:sp>
          <p:nvSpPr>
            <p:cNvPr id="13" name="内容占位符 2"/>
            <p:cNvSpPr txBox="1">
              <a:spLocks/>
            </p:cNvSpPr>
            <p:nvPr/>
          </p:nvSpPr>
          <p:spPr>
            <a:xfrm>
              <a:off x="1142976" y="2874922"/>
              <a:ext cx="407709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lvl="0">
                <a:spcBef>
                  <a:spcPct val="20000"/>
                </a:spcBef>
              </a:pPr>
              <a:r>
                <a:rPr lang="zh-CN" altLang="en-US" dirty="0"/>
                <a:t>必须</a:t>
              </a:r>
              <a:r>
                <a:rPr lang="zh-CN" altLang="en-US" dirty="0">
                  <a:solidFill>
                    <a:srgbClr val="C00000"/>
                  </a:solidFill>
                </a:rPr>
                <a:t>成对使用</a:t>
              </a:r>
              <a:r>
                <a:rPr lang="en-US" altLang="zh-CN" dirty="0"/>
                <a:t>P()</a:t>
              </a:r>
              <a:r>
                <a:rPr lang="zh-CN" altLang="en-US" dirty="0"/>
                <a:t>操作和</a:t>
              </a:r>
              <a:r>
                <a:rPr lang="en-US" altLang="zh-CN" dirty="0"/>
                <a:t>V()</a:t>
              </a:r>
              <a:r>
                <a:rPr lang="zh-CN" altLang="en-US" dirty="0"/>
                <a:t>操作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4893" y="287492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01160" y="4451884"/>
            <a:ext cx="6261906" cy="354014"/>
            <a:chOff x="1262422" y="3522626"/>
            <a:chExt cx="6261906" cy="354014"/>
          </a:xfrm>
        </p:grpSpPr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62740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94986" y="3522626"/>
              <a:ext cx="6129342" cy="35401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>
                <a:lnSpc>
                  <a:spcPct val="90000"/>
                </a:lnSpc>
              </a:pPr>
              <a:r>
                <a:rPr lang="en-US" altLang="zh-CN" dirty="0"/>
                <a:t>V()</a:t>
              </a:r>
              <a:r>
                <a:rPr lang="zh-CN" altLang="en-US" dirty="0"/>
                <a:t>操作在使用后释放临界资源</a:t>
              </a:r>
            </a:p>
          </p:txBody>
        </p:sp>
      </p:grp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3653218" y="2251098"/>
            <a:ext cx="3629198" cy="366767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 = new Semaphore(1);</a:t>
            </a: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653218" y="2721694"/>
            <a:ext cx="3629198" cy="923330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  <a:sym typeface="Wingdings" charset="0"/>
              </a:rPr>
              <a:t>-&gt;P();</a:t>
            </a:r>
            <a:endParaRPr lang="en-US" altLang="zh-CN" sz="1800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Critical Section;</a:t>
            </a:r>
          </a:p>
          <a:p>
            <a:pPr eaLnBrk="1" hangingPunct="1">
              <a:buFont typeface="Monotype Sorts" charset="0"/>
              <a:buNone/>
            </a:pPr>
            <a:r>
              <a:rPr lang="en-US" altLang="zh-CN" sz="1800" b="1" dirty="0" err="1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</a:rPr>
              <a:t>mutex</a:t>
            </a:r>
            <a:r>
              <a:rPr lang="en-US" altLang="zh-CN" sz="1800" b="1" dirty="0">
                <a:latin typeface="Courier New" panose="02070309020205020404" pitchFamily="49" charset="0"/>
                <a:ea typeface="微软雅黑" pitchFamily="34" charset="-122"/>
                <a:cs typeface="Courier New" panose="02070309020205020404" pitchFamily="49" charset="0"/>
                <a:sym typeface="Wingdings" charset="0"/>
              </a:rPr>
              <a:t>-&gt;V();</a:t>
            </a:r>
            <a:endParaRPr lang="en-US" altLang="zh-CN" sz="1800" b="1" dirty="0">
              <a:latin typeface="Courier New" panose="02070309020205020404" pitchFamily="49" charset="0"/>
              <a:ea typeface="微软雅黑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3013401" y="1759664"/>
            <a:ext cx="6937466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r>
              <a:rPr lang="zh-CN" altLang="en-US" dirty="0"/>
              <a:t>每个临界区设置一个信号量，其初值为</a:t>
            </a:r>
            <a:r>
              <a:rPr lang="en-US" altLang="zh-CN" dirty="0"/>
              <a:t>1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F274652-7609-7657-EF76-3A5C9311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508298D-76CB-91E2-9782-ADB7FF1C9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7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3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809DC5-CB00-412A-A205-200484A92ED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177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Exclusion: Spooler directory with Semaphore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DCB7B-CF25-E86A-FC4D-5767CF2A1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5330826" y="1844676"/>
            <a:ext cx="1122363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7202488" y="1844676"/>
            <a:ext cx="1008062" cy="314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</a:t>
            </a: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5186364" y="2565400"/>
            <a:ext cx="5184775" cy="1754326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A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7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V();</a:t>
            </a: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5186364" y="4509120"/>
            <a:ext cx="5184775" cy="1754326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P();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B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In;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8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InsertFileIntoSpooler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In=</a:t>
            </a:r>
            <a:r>
              <a:rPr lang="en-US" altLang="zh-CN" b="1" dirty="0" err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N_f_s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//In == 9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V();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809875" y="1700214"/>
            <a:ext cx="1728788" cy="2979737"/>
            <a:chOff x="249" y="1071"/>
            <a:chExt cx="1089" cy="1877"/>
          </a:xfrm>
        </p:grpSpPr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49" y="1616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File1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249" y="1842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File2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49" y="206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File3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249" y="2295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249" y="2523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Null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249" y="1389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249" y="1071"/>
              <a:ext cx="108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Spooler Dir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Text Box 29"/>
            <p:cNvSpPr txBox="1">
              <a:spLocks noChangeArrowheads="1"/>
            </p:cNvSpPr>
            <p:nvPr/>
          </p:nvSpPr>
          <p:spPr bwMode="auto">
            <a:xfrm>
              <a:off x="249" y="2750"/>
              <a:ext cx="952" cy="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/>
                </a:rPr>
                <a:t>………</a:t>
              </a:r>
              <a:endPara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8472265" y="1823765"/>
            <a:ext cx="2088231" cy="3139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Semephore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9827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03B3B4-B38C-4EE6-AC9A-146C49EFC39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2083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Synchronism: Driver-Conductor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B9C4B0D-F6A0-96A1-0740-971E69D0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601914" y="1773238"/>
            <a:ext cx="2378075" cy="2474912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Driver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Start bus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Driving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Stop bus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5267326" y="1773238"/>
            <a:ext cx="2378075" cy="2463800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Conductor</a:t>
            </a:r>
            <a:endParaRPr lang="zh-CN" altLang="en-US" b="1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Close door</a:t>
            </a: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Sell ticket</a:t>
            </a: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Open door</a:t>
            </a:r>
            <a:r>
              <a:rPr lang="zh-CN" altLang="en-US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8075614" y="1773238"/>
            <a:ext cx="2378075" cy="3554412"/>
          </a:xfrm>
          <a:prstGeom prst="rect">
            <a:avLst/>
          </a:prstGeom>
          <a:noFill/>
          <a:ln w="9525">
            <a:solidFill>
              <a:srgbClr val="9C4E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Proper sequence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While(True)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(D)Start bus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(C)Close door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(D)Driving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(C)Sell ticket;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(D)Stop bus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(C)Open door</a:t>
            </a:r>
            <a:r>
              <a:rPr lang="zh-CN" altLang="en-US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432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8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F3F6B1-1AF5-420B-8F91-9A152AEE958F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3619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Concept about Synchronism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Logical sequence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Caused by application purpose, can’t be predicted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May be broken by scheduling 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Difference between synchronism and mutual exclusion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Mutual exclusion: prevent other process enter CR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Synchronism: realize the proper logical sequence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How to design proper method?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General: without assumption or limitation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Simple: easy to realize and maintain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Efficient and safe: </a:t>
            </a:r>
          </a:p>
        </p:txBody>
      </p:sp>
    </p:spTree>
    <p:extLst>
      <p:ext uri="{BB962C8B-B14F-4D97-AF65-F5344CB8AC3E}">
        <p14:creationId xmlns:p14="http://schemas.microsoft.com/office/powerpoint/2010/main" val="1209125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6A4230-DB89-4129-8E1A-08E0408FF195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12288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Analysis about IPC problem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Reason of IPC problem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Physical sequence: depends on scheduling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Logical sequence: depends on application purpose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Race condition: Exclusive resource allocation 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IPC problem in kernel and user space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Kernel space: I/O device management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User space: network application, database…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Key of IPC problem 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Realize both physical and logical sequence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The logical sequence is independent on scheduling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The logical sequence can be controlled by user</a:t>
            </a:r>
          </a:p>
        </p:txBody>
      </p:sp>
    </p:spTree>
    <p:extLst>
      <p:ext uri="{BB962C8B-B14F-4D97-AF65-F5344CB8AC3E}">
        <p14:creationId xmlns:p14="http://schemas.microsoft.com/office/powerpoint/2010/main" val="7220031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1952596" y="1084930"/>
            <a:ext cx="8229600" cy="50838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zh-CN" altLang="en-US" dirty="0"/>
              <a:t>用信号量实现条件同步</a:t>
            </a:r>
            <a:endParaRPr lang="zh-CN" altLang="en-US" dirty="0">
              <a:cs typeface="+mj-cs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3046966" y="1893321"/>
            <a:ext cx="5929354" cy="428628"/>
          </a:xfrm>
          <a:prstGeom prst="rect">
            <a:avLst/>
          </a:prstGeom>
        </p:spPr>
        <p:txBody>
          <a:bodyPr/>
          <a:lstStyle>
            <a:lvl1pPr marL="269875" indent="-269875">
              <a:buNone/>
              <a:defRPr sz="2000" b="1" baseline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1pPr>
            <a:lvl2pPr marL="269875" indent="-93663">
              <a:buNone/>
              <a:defRPr sz="20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2pPr>
            <a:lvl3pPr>
              <a:buNone/>
              <a:defRPr sz="18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defRPr>
            </a:lvl3pPr>
          </a:lstStyle>
          <a:p>
            <a:r>
              <a:rPr lang="zh-CN" altLang="en-US" dirty="0"/>
              <a:t>每个条件同步设置一个信号量，其初值为</a:t>
            </a:r>
            <a:r>
              <a:rPr lang="en-US" altLang="zh-CN" dirty="0"/>
              <a:t>0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547034" y="2390598"/>
            <a:ext cx="4645501" cy="397545"/>
          </a:xfrm>
          <a:prstGeom prst="rect">
            <a:avLst/>
          </a:prstGeom>
          <a:gradFill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</a:gradFill>
          <a:ln w="19050">
            <a:solidFill>
              <a:schemeClr val="tx1"/>
            </a:solidFill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1" hangingPunct="1">
              <a:buFont typeface="Monotype Sorts" charset="0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= new Semaphore(0);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160814" y="2889465"/>
            <a:ext cx="5257112" cy="2627769"/>
            <a:chOff x="971072" y="2032213"/>
            <a:chExt cx="5257112" cy="2627769"/>
          </a:xfrm>
        </p:grpSpPr>
        <p:sp>
          <p:nvSpPr>
            <p:cNvPr id="16" name="Text Box 5"/>
            <p:cNvSpPr txBox="1">
              <a:spLocks noChangeAspect="1" noChangeArrowheads="1"/>
            </p:cNvSpPr>
            <p:nvPr/>
          </p:nvSpPr>
          <p:spPr bwMode="auto">
            <a:xfrm>
              <a:off x="971072" y="2413213"/>
              <a:ext cx="2391500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M</a:t>
              </a:r>
              <a:r>
                <a:rPr lang="en-US" altLang="zh-CN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…</a:t>
              </a: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</a:t>
              </a:r>
              <a:r>
                <a:rPr lang="en-US" altLang="zh-CN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…</a:t>
              </a: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17" name="Text Box 5"/>
            <p:cNvSpPr txBox="1">
              <a:spLocks noChangeAspect="1" noChangeArrowheads="1"/>
            </p:cNvSpPr>
            <p:nvPr/>
          </p:nvSpPr>
          <p:spPr bwMode="auto">
            <a:xfrm>
              <a:off x="3857620" y="2413213"/>
              <a:ext cx="2370564" cy="2246769"/>
            </a:xfrm>
            <a:prstGeom prst="rect">
              <a:avLst/>
            </a:prstGeom>
            <a:gradFill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X</a:t>
              </a:r>
              <a:r>
                <a:rPr lang="en-US" altLang="zh-CN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…</a:t>
              </a: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en-US" altLang="zh-CN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r>
                <a:rPr lang="zh-CN" altLang="en-US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… </a:t>
              </a:r>
              <a:r>
                <a:rPr lang="en-US" altLang="zh-CN" sz="2000" b="1" dirty="0">
                  <a:solidFill>
                    <a:srgbClr val="339900"/>
                  </a:solidFill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Y</a:t>
              </a:r>
              <a:r>
                <a:rPr lang="en-US" altLang="zh-CN" sz="2000" b="1" dirty="0"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…</a:t>
              </a: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eaLnBrk="1" hangingPunct="1">
                <a:buFont typeface="Monotype Sorts" charset="0"/>
                <a:buNone/>
              </a:pPr>
              <a:endPara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18" name="TextBox 6"/>
            <p:cNvSpPr txBox="1">
              <a:spLocks noChangeArrowheads="1"/>
            </p:cNvSpPr>
            <p:nvPr/>
          </p:nvSpPr>
          <p:spPr bwMode="auto">
            <a:xfrm>
              <a:off x="1572156" y="2032213"/>
              <a:ext cx="8899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A</a:t>
              </a:r>
            </a:p>
          </p:txBody>
        </p:sp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4395204" y="2032213"/>
              <a:ext cx="87235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>
                <a:buFont typeface="Arial" charset="0"/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+mn-ea"/>
                  <a:ea typeface="+mn-ea"/>
                </a:rPr>
                <a:t>线程</a:t>
              </a: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</a:rPr>
                <a:t>B</a:t>
              </a:r>
            </a:p>
          </p:txBody>
        </p:sp>
      </p:grpSp>
      <p:cxnSp>
        <p:nvCxnSpPr>
          <p:cNvPr id="5" name="直接箭头连接符 4"/>
          <p:cNvCxnSpPr/>
          <p:nvPr/>
        </p:nvCxnSpPr>
        <p:spPr>
          <a:xfrm>
            <a:off x="5493950" y="4098336"/>
            <a:ext cx="648072" cy="5760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5"/>
          <p:cNvSpPr txBox="1">
            <a:spLocks noChangeAspect="1" noChangeArrowheads="1"/>
          </p:cNvSpPr>
          <p:nvPr/>
        </p:nvSpPr>
        <p:spPr bwMode="auto">
          <a:xfrm>
            <a:off x="3160814" y="3593211"/>
            <a:ext cx="2391500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condition-</a:t>
            </a:r>
            <a:r>
              <a: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charset="0"/>
              </a:rPr>
              <a:t>&gt;P();</a:t>
            </a: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Text Box 5"/>
          <p:cNvSpPr txBox="1">
            <a:spLocks noChangeAspect="1" noChangeArrowheads="1"/>
          </p:cNvSpPr>
          <p:nvPr/>
        </p:nvSpPr>
        <p:spPr bwMode="auto">
          <a:xfrm>
            <a:off x="6047362" y="3593211"/>
            <a:ext cx="2370564" cy="1631216"/>
          </a:xfrm>
          <a:prstGeom prst="rect">
            <a:avLst/>
          </a:prstGeom>
          <a:noFill/>
          <a:ln w="19050"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r>
              <a: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condition-</a:t>
            </a:r>
            <a:r>
              <a:rPr lang="zh-CN" altLang="en-US" sz="2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charset="0"/>
              </a:rPr>
              <a:t>&gt;V();</a:t>
            </a: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1" hangingPunct="1">
              <a:buFont typeface="Monotype Sorts" charset="0"/>
              <a:buNone/>
            </a:pPr>
            <a:endParaRPr lang="zh-CN" altLang="en-US" sz="20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FC184F-57EA-ACA3-339A-A2DFD7AC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473CC8-E398-BC1C-909F-4EBFB3AA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8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20" grpId="0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5519BF-A620-483B-B46A-700B43256B0A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207877" name="Rectangle 2"/>
          <p:cNvSpPr>
            <a:spLocks noGrp="1" noChangeArrowheads="1"/>
          </p:cNvSpPr>
          <p:nvPr>
            <p:ph type="title"/>
          </p:nvPr>
        </p:nvSpPr>
        <p:spPr>
          <a:xfrm>
            <a:off x="674833" y="2422306"/>
            <a:ext cx="10801200" cy="183706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6204</Words>
  <Application>Microsoft Office PowerPoint</Application>
  <PresentationFormat>宽屏</PresentationFormat>
  <Paragraphs>986</Paragraphs>
  <Slides>71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71</vt:i4>
      </vt:variant>
    </vt:vector>
  </HeadingPairs>
  <TitlesOfParts>
    <vt:vector size="91" baseType="lpstr">
      <vt:lpstr>굴림</vt:lpstr>
      <vt:lpstr>Monotype Sorts</vt:lpstr>
      <vt:lpstr>MS PGothic</vt:lpstr>
      <vt:lpstr>等线</vt:lpstr>
      <vt:lpstr>等线 Light</vt:lpstr>
      <vt:lpstr>方正兰亭黑简体</vt:lpstr>
      <vt:lpstr>喵呜黑体</vt:lpstr>
      <vt:lpstr>宋体</vt:lpstr>
      <vt:lpstr>Microsoft YaHei</vt:lpstr>
      <vt:lpstr>Microsoft YaHei</vt:lpstr>
      <vt:lpstr>张海山锐谐体2.0-授权联系：Samtype@QQ.com</vt:lpstr>
      <vt:lpstr>Arial</vt:lpstr>
      <vt:lpstr>Courier New</vt:lpstr>
      <vt:lpstr>Huawei Sans</vt:lpstr>
      <vt:lpstr>Times New Roman</vt:lpstr>
      <vt:lpstr>Verdana</vt:lpstr>
      <vt:lpstr>Wingdings</vt:lpstr>
      <vt:lpstr>psh3_Print</vt:lpstr>
      <vt:lpstr>Office 主题​​</vt:lpstr>
      <vt:lpstr>3_内容页模板</vt:lpstr>
      <vt:lpstr>操作系统</vt:lpstr>
      <vt:lpstr>章节5：进程间通信与并发控制</vt:lpstr>
      <vt:lpstr>前情提要</vt:lpstr>
      <vt:lpstr>经典IPC问题</vt:lpstr>
      <vt:lpstr>Communication between processes</vt:lpstr>
      <vt:lpstr>Exclusion: Spooler directory</vt:lpstr>
      <vt:lpstr>Exclusion: Spooler directory</vt:lpstr>
      <vt:lpstr>现实生活中的并发问题</vt:lpstr>
      <vt:lpstr>家庭采购协调问题分析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Concept about mutual exclusion</vt:lpstr>
      <vt:lpstr>临界区(Critical Section)</vt:lpstr>
      <vt:lpstr>Concept about mutual exclusion</vt:lpstr>
      <vt:lpstr>临界区的访问规则</vt:lpstr>
      <vt:lpstr>临界区的访问规则</vt:lpstr>
      <vt:lpstr>临界区的访问规则</vt:lpstr>
      <vt:lpstr>临界区的访问规则</vt:lpstr>
      <vt:lpstr>临界区的访问规则</vt:lpstr>
      <vt:lpstr>Disabling interrupts</vt:lpstr>
      <vt:lpstr>Solutions of IPC problems</vt:lpstr>
      <vt:lpstr>Busy waiting</vt:lpstr>
      <vt:lpstr>Lock variable</vt:lpstr>
      <vt:lpstr>Drawback of lock variable</vt:lpstr>
      <vt:lpstr>Strict alternation</vt:lpstr>
      <vt:lpstr>Drawback of strict alternation</vt:lpstr>
      <vt:lpstr>第二种尝试</vt:lpstr>
      <vt:lpstr>第三种尝试</vt:lpstr>
      <vt:lpstr>Peterson算法</vt:lpstr>
      <vt:lpstr>Peterson算法实现</vt:lpstr>
      <vt:lpstr> Peterson算法示意分析</vt:lpstr>
      <vt:lpstr>Dekkers算法</vt:lpstr>
      <vt:lpstr> Dekker算法示意分析</vt:lpstr>
      <vt:lpstr>课外自学：关于Peterson算法和Deckers算法</vt:lpstr>
      <vt:lpstr>模型检测(model checking)方法简介</vt:lpstr>
      <vt:lpstr>Test and Set Lock (TSL)solution</vt:lpstr>
      <vt:lpstr>使用TS指令实现自旋锁(spinlock)</vt:lpstr>
      <vt:lpstr>锁(lock)</vt:lpstr>
      <vt:lpstr>Analysis of “Busy waiting”</vt:lpstr>
      <vt:lpstr>PowerPoint 演示文稿</vt:lpstr>
      <vt:lpstr>现代化处理器里的NUMA结构</vt:lpstr>
      <vt:lpstr>NUMA 感知队列自旋锁的引入</vt:lpstr>
      <vt:lpstr>Qspinlock</vt:lpstr>
      <vt:lpstr>CNA 队列</vt:lpstr>
      <vt:lpstr>NUMA-aware Qspinlock</vt:lpstr>
      <vt:lpstr>详细解释：CNA 的数据结构</vt:lpstr>
      <vt:lpstr>CNA 排队示例 (1)</vt:lpstr>
      <vt:lpstr>CNA 排队示例 (2)</vt:lpstr>
      <vt:lpstr>cna_pass_lock() 函数 (1)</vt:lpstr>
      <vt:lpstr>cna_pass_lock() 函数 (2)</vt:lpstr>
      <vt:lpstr>cna_try_find_next() 函数</vt:lpstr>
      <vt:lpstr>cna_splice_tail() 函数</vt:lpstr>
      <vt:lpstr>Sleep-Wake up</vt:lpstr>
      <vt:lpstr>Simple Sleep-Wake up solution</vt:lpstr>
      <vt:lpstr>Solution of “Producer-Consumer”</vt:lpstr>
      <vt:lpstr>Disadvantage of this solution</vt:lpstr>
      <vt:lpstr>Semaphore solution</vt:lpstr>
      <vt:lpstr>PowerPoint 演示文稿</vt:lpstr>
      <vt:lpstr>PowerPoint 演示文稿</vt:lpstr>
      <vt:lpstr>PowerPoint 演示文稿</vt:lpstr>
      <vt:lpstr>PowerPoint 演示文稿</vt:lpstr>
      <vt:lpstr>Exclusion: Spooler directory with Semaphore</vt:lpstr>
      <vt:lpstr>Synchronism: Driver-Conductor</vt:lpstr>
      <vt:lpstr>Concept about Synchronism</vt:lpstr>
      <vt:lpstr>Analysis about IPC problem</vt:lpstr>
      <vt:lpstr>PowerPoint 演示文稿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2023-11-03T02:38:57Z</dcterms:created>
  <dcterms:modified xsi:type="dcterms:W3CDTF">2025-10-28T04:26:47Z</dcterms:modified>
</cp:coreProperties>
</file>