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6" r:id="rId1"/>
    <p:sldMasterId id="2147484007" r:id="rId2"/>
  </p:sldMasterIdLst>
  <p:notesMasterIdLst>
    <p:notesMasterId r:id="rId73"/>
  </p:notesMasterIdLst>
  <p:handoutMasterIdLst>
    <p:handoutMasterId r:id="rId74"/>
  </p:handoutMasterIdLst>
  <p:sldIdLst>
    <p:sldId id="1962" r:id="rId3"/>
    <p:sldId id="735" r:id="rId4"/>
    <p:sldId id="529" r:id="rId5"/>
    <p:sldId id="686" r:id="rId6"/>
    <p:sldId id="574" r:id="rId7"/>
    <p:sldId id="544" r:id="rId8"/>
    <p:sldId id="547" r:id="rId9"/>
    <p:sldId id="687" r:id="rId10"/>
    <p:sldId id="1967" r:id="rId11"/>
    <p:sldId id="545" r:id="rId12"/>
    <p:sldId id="546" r:id="rId13"/>
    <p:sldId id="575" r:id="rId14"/>
    <p:sldId id="532" r:id="rId15"/>
    <p:sldId id="1964" r:id="rId16"/>
    <p:sldId id="551" r:id="rId17"/>
    <p:sldId id="533" r:id="rId18"/>
    <p:sldId id="1968" r:id="rId19"/>
    <p:sldId id="728" r:id="rId20"/>
    <p:sldId id="729" r:id="rId21"/>
    <p:sldId id="583" r:id="rId22"/>
    <p:sldId id="581" r:id="rId23"/>
    <p:sldId id="589" r:id="rId24"/>
    <p:sldId id="636" r:id="rId25"/>
    <p:sldId id="1969" r:id="rId26"/>
    <p:sldId id="1970" r:id="rId27"/>
    <p:sldId id="732" r:id="rId28"/>
    <p:sldId id="733" r:id="rId29"/>
    <p:sldId id="637" r:id="rId30"/>
    <p:sldId id="638" r:id="rId31"/>
    <p:sldId id="639" r:id="rId32"/>
    <p:sldId id="640" r:id="rId33"/>
    <p:sldId id="641" r:id="rId34"/>
    <p:sldId id="646" r:id="rId35"/>
    <p:sldId id="647" r:id="rId36"/>
    <p:sldId id="648" r:id="rId37"/>
    <p:sldId id="569" r:id="rId38"/>
    <p:sldId id="717" r:id="rId39"/>
    <p:sldId id="718" r:id="rId40"/>
    <p:sldId id="719" r:id="rId41"/>
    <p:sldId id="720" r:id="rId42"/>
    <p:sldId id="721" r:id="rId43"/>
    <p:sldId id="722" r:id="rId44"/>
    <p:sldId id="723" r:id="rId45"/>
    <p:sldId id="724" r:id="rId46"/>
    <p:sldId id="725" r:id="rId47"/>
    <p:sldId id="726" r:id="rId48"/>
    <p:sldId id="727" r:id="rId49"/>
    <p:sldId id="1965" r:id="rId50"/>
    <p:sldId id="1971" r:id="rId51"/>
    <p:sldId id="614" r:id="rId52"/>
    <p:sldId id="615" r:id="rId53"/>
    <p:sldId id="616" r:id="rId54"/>
    <p:sldId id="617" r:id="rId55"/>
    <p:sldId id="618" r:id="rId56"/>
    <p:sldId id="619" r:id="rId57"/>
    <p:sldId id="620" r:id="rId58"/>
    <p:sldId id="621" r:id="rId59"/>
    <p:sldId id="622" r:id="rId60"/>
    <p:sldId id="623" r:id="rId61"/>
    <p:sldId id="624" r:id="rId62"/>
    <p:sldId id="625" r:id="rId63"/>
    <p:sldId id="626" r:id="rId64"/>
    <p:sldId id="627" r:id="rId65"/>
    <p:sldId id="628" r:id="rId66"/>
    <p:sldId id="629" r:id="rId67"/>
    <p:sldId id="688" r:id="rId68"/>
    <p:sldId id="689" r:id="rId69"/>
    <p:sldId id="690" r:id="rId70"/>
    <p:sldId id="691" r:id="rId71"/>
    <p:sldId id="281" r:id="rId72"/>
  </p:sldIdLst>
  <p:sldSz cx="12192000" cy="6858000"/>
  <p:notesSz cx="6858000" cy="9144000"/>
  <p:defaultTextStyle>
    <a:defPPr>
      <a:defRPr lang="en-US"/>
    </a:defPPr>
    <a:lvl1pPr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253" userDrawn="1">
          <p15:clr>
            <a:srgbClr val="A4A3A4"/>
          </p15:clr>
        </p15:guide>
        <p15:guide id="2" pos="3840" userDrawn="1">
          <p15:clr>
            <a:srgbClr val="A4A3A4"/>
          </p15:clr>
        </p15:guide>
        <p15:guide id="3" pos="80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FFFFCC"/>
    <a:srgbClr val="F5ED5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96" autoAdjust="0"/>
    <p:restoredTop sz="85198" autoAdjust="0"/>
  </p:normalViewPr>
  <p:slideViewPr>
    <p:cSldViewPr>
      <p:cViewPr varScale="1">
        <p:scale>
          <a:sx n="100" d="100"/>
          <a:sy n="100" d="100"/>
        </p:scale>
        <p:origin x="1027" y="58"/>
      </p:cViewPr>
      <p:guideLst>
        <p:guide orient="horz" pos="1253"/>
        <p:guide pos="3840"/>
        <p:guide pos="801"/>
      </p:guideLst>
    </p:cSldViewPr>
  </p:slideViewPr>
  <p:outlineViewPr>
    <p:cViewPr>
      <p:scale>
        <a:sx n="33" d="100"/>
        <a:sy n="33" d="100"/>
      </p:scale>
      <p:origin x="0" y="23184"/>
    </p:cViewPr>
  </p:outlineViewPr>
  <p:notesTextViewPr>
    <p:cViewPr>
      <p:scale>
        <a:sx n="100" d="100"/>
        <a:sy n="100" d="100"/>
      </p:scale>
      <p:origin x="0" y="0"/>
    </p:cViewPr>
  </p:notesTextViewPr>
  <p:notesViewPr>
    <p:cSldViewPr>
      <p:cViewPr varScale="1">
        <p:scale>
          <a:sx n="83" d="100"/>
          <a:sy n="83" d="100"/>
        </p:scale>
        <p:origin x="-20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SzTx/>
              <a:buFontTx/>
              <a:buNone/>
              <a:defRPr sz="1200">
                <a:latin typeface="Times New Roman" pitchFamily="18" charset="0"/>
              </a:defRPr>
            </a:lvl1pPr>
          </a:lstStyle>
          <a:p>
            <a:pPr>
              <a:defRPr/>
            </a:pPr>
            <a:endParaRPr lang="zh-CN" altLang="en-US"/>
          </a:p>
        </p:txBody>
      </p:sp>
      <p:sp>
        <p:nvSpPr>
          <p:cNvPr id="4403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200">
                <a:latin typeface="Times New Roman" pitchFamily="18" charset="0"/>
              </a:defRPr>
            </a:lvl1pPr>
          </a:lstStyle>
          <a:p>
            <a:pPr>
              <a:defRPr/>
            </a:pPr>
            <a:fld id="{83F76284-487D-4B32-B3F6-3D37AE83692A}" type="datetimeFigureOut">
              <a:rPr lang="zh-CN" altLang="en-US"/>
              <a:pPr>
                <a:defRPr/>
              </a:pPr>
              <a:t>2025/11/18</a:t>
            </a:fld>
            <a:endParaRPr lang="en-US" altLang="zh-CN"/>
          </a:p>
        </p:txBody>
      </p:sp>
      <p:sp>
        <p:nvSpPr>
          <p:cNvPr id="4403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SzTx/>
              <a:buFontTx/>
              <a:buNone/>
              <a:defRPr sz="1200">
                <a:latin typeface="Times New Roman" pitchFamily="18" charset="0"/>
              </a:defRPr>
            </a:lvl1pPr>
          </a:lstStyle>
          <a:p>
            <a:pPr>
              <a:defRPr/>
            </a:pPr>
            <a:endParaRPr lang="en-US" altLang="zh-CN"/>
          </a:p>
        </p:txBody>
      </p:sp>
      <p:sp>
        <p:nvSpPr>
          <p:cNvPr id="4403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SzTx/>
              <a:buFontTx/>
              <a:buNone/>
              <a:defRPr sz="1200">
                <a:latin typeface="Times New Roman" panose="02020603050405020304" pitchFamily="18" charset="0"/>
              </a:defRPr>
            </a:lvl1pPr>
          </a:lstStyle>
          <a:p>
            <a:fld id="{A4E10AC0-FECC-4ECE-891D-19BC0B63CF70}"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SzTx/>
              <a:buFontTx/>
              <a:buNone/>
              <a:defRPr sz="1200">
                <a:latin typeface="Arial" charset="0"/>
                <a:ea typeface="+mn-ea"/>
              </a:defRPr>
            </a:lvl1pPr>
          </a:lstStyle>
          <a:p>
            <a:pPr>
              <a:defRPr/>
            </a:pPr>
            <a:endParaRPr lang="zh-CN" altLang="en-US"/>
          </a:p>
        </p:txBody>
      </p:sp>
      <p:sp>
        <p:nvSpPr>
          <p:cNvPr id="409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SzTx/>
              <a:buFontTx/>
              <a:buNone/>
              <a:defRPr sz="1200">
                <a:latin typeface="Arial" charset="0"/>
                <a:ea typeface="+mn-ea"/>
              </a:defRPr>
            </a:lvl1pPr>
          </a:lstStyle>
          <a:p>
            <a:pPr>
              <a:defRPr/>
            </a:pPr>
            <a:endParaRPr lang="en-US" altLang="zh-CN"/>
          </a:p>
        </p:txBody>
      </p:sp>
      <p:sp>
        <p:nvSpPr>
          <p:cNvPr id="286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09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SzTx/>
              <a:buFontTx/>
              <a:buNone/>
              <a:defRPr sz="1200">
                <a:latin typeface="Arial" charset="0"/>
                <a:ea typeface="+mn-ea"/>
              </a:defRPr>
            </a:lvl1pPr>
          </a:lstStyle>
          <a:p>
            <a:pPr>
              <a:defRPr/>
            </a:pPr>
            <a:endParaRPr lang="en-US" altLang="zh-CN"/>
          </a:p>
        </p:txBody>
      </p:sp>
      <p:sp>
        <p:nvSpPr>
          <p:cNvPr id="40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SzTx/>
              <a:buFontTx/>
              <a:buNone/>
              <a:defRPr sz="1200">
                <a:latin typeface="Arial" panose="020B0604020202020204" pitchFamily="34" charset="0"/>
              </a:defRPr>
            </a:lvl1pPr>
          </a:lstStyle>
          <a:p>
            <a:fld id="{BA1F4EE4-25C1-46B1-B6E5-29A9C72CD7EF}"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381000" y="685800"/>
            <a:ext cx="6096000" cy="3429000"/>
          </a:xfrm>
          <a:ln/>
        </p:spPr>
      </p:sp>
      <p:sp>
        <p:nvSpPr>
          <p:cNvPr id="655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164121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1F4EE4-25C1-46B1-B6E5-29A9C72CD7EF}" type="slidenum">
              <a:rPr lang="zh-CN" altLang="en-US" smtClean="0"/>
              <a:pPr/>
              <a:t>12</a:t>
            </a:fld>
            <a:endParaRPr lang="en-US" altLang="zh-CN"/>
          </a:p>
        </p:txBody>
      </p:sp>
    </p:spTree>
    <p:extLst>
      <p:ext uri="{BB962C8B-B14F-4D97-AF65-F5344CB8AC3E}">
        <p14:creationId xmlns:p14="http://schemas.microsoft.com/office/powerpoint/2010/main" val="1905904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381000" y="685800"/>
            <a:ext cx="6096000" cy="3429000"/>
          </a:xfrm>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1F4EE4-25C1-46B1-B6E5-29A9C72CD7EF}" type="slidenum">
              <a:rPr lang="zh-CN" altLang="en-US" smtClean="0"/>
              <a:pPr/>
              <a:t>18</a:t>
            </a:fld>
            <a:endParaRPr lang="en-US" altLang="zh-CN"/>
          </a:p>
        </p:txBody>
      </p:sp>
    </p:spTree>
    <p:extLst>
      <p:ext uri="{BB962C8B-B14F-4D97-AF65-F5344CB8AC3E}">
        <p14:creationId xmlns:p14="http://schemas.microsoft.com/office/powerpoint/2010/main" val="2192023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FEAC-2858-416F-A4F6-E1735B75229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91087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A1F4EE4-25C1-46B1-B6E5-29A9C72CD7EF}" type="slidenum">
              <a:rPr lang="zh-CN" altLang="en-US" smtClean="0"/>
              <a:pPr/>
              <a:t>28</a:t>
            </a:fld>
            <a:endParaRPr lang="en-US" altLang="zh-CN"/>
          </a:p>
        </p:txBody>
      </p:sp>
    </p:spTree>
    <p:extLst>
      <p:ext uri="{BB962C8B-B14F-4D97-AF65-F5344CB8AC3E}">
        <p14:creationId xmlns:p14="http://schemas.microsoft.com/office/powerpoint/2010/main" val="292494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FEAC-2858-416F-A4F6-E1735B75229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18132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FEAC-2858-416F-A4F6-E1735B75229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02433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FEAC-2858-416F-A4F6-E1735B75229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05262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A1F4EE4-25C1-46B1-B6E5-29A9C72CD7EF}" type="slidenum">
              <a:rPr lang="zh-CN" altLang="en-US" smtClean="0"/>
              <a:pPr/>
              <a:t>39</a:t>
            </a:fld>
            <a:endParaRPr lang="en-US" altLang="zh-CN"/>
          </a:p>
        </p:txBody>
      </p:sp>
    </p:spTree>
    <p:extLst>
      <p:ext uri="{BB962C8B-B14F-4D97-AF65-F5344CB8AC3E}">
        <p14:creationId xmlns:p14="http://schemas.microsoft.com/office/powerpoint/2010/main" val="4143258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FEAC-2858-416F-A4F6-E1735B75229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87835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A1F4EE4-25C1-46B1-B6E5-29A9C72CD7EF}" type="slidenum">
              <a:rPr lang="zh-CN" altLang="en-US" smtClean="0"/>
              <a:pPr/>
              <a:t>41</a:t>
            </a:fld>
            <a:endParaRPr lang="en-US" altLang="zh-CN"/>
          </a:p>
        </p:txBody>
      </p:sp>
    </p:spTree>
    <p:extLst>
      <p:ext uri="{BB962C8B-B14F-4D97-AF65-F5344CB8AC3E}">
        <p14:creationId xmlns:p14="http://schemas.microsoft.com/office/powerpoint/2010/main" val="2816996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A1F4EE4-25C1-46B1-B6E5-29A9C72CD7EF}" type="slidenum">
              <a:rPr lang="zh-CN" altLang="en-US" smtClean="0"/>
              <a:pPr/>
              <a:t>42</a:t>
            </a:fld>
            <a:endParaRPr lang="en-US" altLang="zh-CN"/>
          </a:p>
        </p:txBody>
      </p:sp>
    </p:spTree>
    <p:extLst>
      <p:ext uri="{BB962C8B-B14F-4D97-AF65-F5344CB8AC3E}">
        <p14:creationId xmlns:p14="http://schemas.microsoft.com/office/powerpoint/2010/main" val="3595794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444556C-B6BD-6140-96DE-E908B1F8BE9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45501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444556C-B6BD-6140-96DE-E908B1F8BE9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54316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79FEAC-2858-416F-A4F6-E1735B75229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77614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381000" y="685800"/>
            <a:ext cx="6096000" cy="3429000"/>
          </a:xfrm>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076278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350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bwMode="gray">
      <p:bgPr>
        <a:solidFill>
          <a:schemeClr val="bg1"/>
        </a:solidFill>
        <a:effectLst/>
      </p:bgPr>
    </p:bg>
    <p:spTree>
      <p:nvGrpSpPr>
        <p:cNvPr id="1" name=""/>
        <p:cNvGrpSpPr/>
        <p:nvPr/>
      </p:nvGrpSpPr>
      <p:grpSpPr>
        <a:xfrm>
          <a:off x="0" y="0"/>
          <a:ext cx="0" cy="0"/>
          <a:chOff x="0" y="0"/>
          <a:chExt cx="0" cy="0"/>
        </a:xfrm>
      </p:grpSpPr>
      <p:sp>
        <p:nvSpPr>
          <p:cNvPr id="4" name="Rectangle 32"/>
          <p:cNvSpPr>
            <a:spLocks noChangeArrowheads="1"/>
          </p:cNvSpPr>
          <p:nvPr/>
        </p:nvSpPr>
        <p:spPr bwMode="ltGray">
          <a:xfrm>
            <a:off x="1102784" y="1196975"/>
            <a:ext cx="11074400" cy="914400"/>
          </a:xfrm>
          <a:prstGeom prst="rect">
            <a:avLst/>
          </a:prstGeom>
          <a:solidFill>
            <a:schemeClr val="tx2"/>
          </a:solidFill>
          <a:ln w="9525">
            <a:noFill/>
            <a:miter lim="800000"/>
            <a:headEnd/>
            <a:tailEnd/>
          </a:ln>
          <a:effectLst/>
        </p:spPr>
        <p:txBody>
          <a:bodyPr wrap="none" anchor="ctr"/>
          <a:lstStyle/>
          <a:p>
            <a:pPr>
              <a:lnSpc>
                <a:spcPct val="100000"/>
              </a:lnSpc>
              <a:spcBef>
                <a:spcPct val="0"/>
              </a:spcBef>
              <a:buSzTx/>
              <a:buFontTx/>
              <a:buNone/>
              <a:defRPr/>
            </a:pPr>
            <a:endParaRPr lang="zh-CN" altLang="en-US">
              <a:latin typeface="Times New Roman" pitchFamily="18" charset="0"/>
            </a:endParaRPr>
          </a:p>
        </p:txBody>
      </p:sp>
      <p:pic>
        <p:nvPicPr>
          <p:cNvPr id="5" name="Picture 31" descr="psh3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ltGray">
          <a:xfrm>
            <a:off x="0" y="0"/>
            <a:ext cx="1143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3" name="Rectangle 21"/>
          <p:cNvSpPr>
            <a:spLocks noGrp="1" noChangeArrowheads="1"/>
          </p:cNvSpPr>
          <p:nvPr>
            <p:ph type="ctrTitle" sz="quarter"/>
          </p:nvPr>
        </p:nvSpPr>
        <p:spPr bwMode="white">
          <a:xfrm>
            <a:off x="1295401" y="1125541"/>
            <a:ext cx="10752667" cy="1081087"/>
          </a:xfrm>
          <a:prstGeom prst="rect">
            <a:avLst/>
          </a:prstGeom>
        </p:spPr>
        <p:txBody>
          <a:bodyPr/>
          <a:lstStyle>
            <a:lvl1pPr>
              <a:defRPr sz="5400">
                <a:solidFill>
                  <a:schemeClr val="bg2"/>
                </a:solidFill>
              </a:defRPr>
            </a:lvl1pPr>
          </a:lstStyle>
          <a:p>
            <a:r>
              <a:rPr lang="ko-KR" altLang="en-US"/>
              <a:t>单击此处编辑母版标题样式</a:t>
            </a:r>
          </a:p>
        </p:txBody>
      </p:sp>
      <p:sp>
        <p:nvSpPr>
          <p:cNvPr id="13334" name="Rectangle 22"/>
          <p:cNvSpPr>
            <a:spLocks noGrp="1" noChangeArrowheads="1"/>
          </p:cNvSpPr>
          <p:nvPr>
            <p:ph type="subTitle" sz="quarter" idx="1"/>
          </p:nvPr>
        </p:nvSpPr>
        <p:spPr>
          <a:xfrm>
            <a:off x="1295401" y="3810000"/>
            <a:ext cx="10752667" cy="533400"/>
          </a:xfrm>
          <a:prstGeom prst="rect">
            <a:avLst/>
          </a:prstGeom>
        </p:spPr>
        <p:txBody>
          <a:bodyPr/>
          <a:lstStyle>
            <a:lvl1pPr marL="0" indent="0" algn="ctr">
              <a:buFont typeface="Wingdings" pitchFamily="2" charset="2"/>
              <a:buNone/>
              <a:defRPr sz="2400" i="1">
                <a:solidFill>
                  <a:schemeClr val="tx1"/>
                </a:solidFill>
                <a:latin typeface="Arial" charset="0"/>
              </a:defRPr>
            </a:lvl1pPr>
          </a:lstStyle>
          <a:p>
            <a:r>
              <a:rPr lang="ko-KR" altLang="en-US"/>
              <a:t>单击此处编辑母版副标题样式</a:t>
            </a:r>
          </a:p>
        </p:txBody>
      </p:sp>
      <p:sp>
        <p:nvSpPr>
          <p:cNvPr id="6" name="Rectangle 23"/>
          <p:cNvSpPr>
            <a:spLocks noGrp="1" noChangeArrowheads="1"/>
          </p:cNvSpPr>
          <p:nvPr>
            <p:ph type="dt" sz="quarter" idx="10"/>
          </p:nvPr>
        </p:nvSpPr>
        <p:spPr>
          <a:xfrm>
            <a:off x="609600" y="6553200"/>
            <a:ext cx="2844800" cy="152400"/>
          </a:xfrm>
          <a:prstGeom prst="rect">
            <a:avLst/>
          </a:prstGeom>
        </p:spPr>
        <p:txBody>
          <a:bodyPr/>
          <a:lstStyle>
            <a:lvl1pPr>
              <a:defRPr sz="1400" b="0">
                <a:solidFill>
                  <a:schemeClr val="tx1"/>
                </a:solidFill>
                <a:effectLst>
                  <a:outerShdw blurRad="38100" dist="38100" dir="2700000" algn="tl">
                    <a:srgbClr val="C0C0C0"/>
                  </a:outerShdw>
                </a:effectLst>
                <a:latin typeface="+mj-lt"/>
              </a:defRPr>
            </a:lvl1pPr>
          </a:lstStyle>
          <a:p>
            <a:pPr>
              <a:defRPr/>
            </a:pPr>
            <a:r>
              <a:rPr lang="en-US" altLang="zh-CN"/>
              <a:t>Operating System</a:t>
            </a:r>
            <a:endParaRPr lang="en-US" altLang="ko-KR"/>
          </a:p>
        </p:txBody>
      </p:sp>
      <p:sp>
        <p:nvSpPr>
          <p:cNvPr id="7" name="Rectangle 24"/>
          <p:cNvSpPr>
            <a:spLocks noGrp="1" noChangeArrowheads="1"/>
          </p:cNvSpPr>
          <p:nvPr>
            <p:ph type="ftr" sz="quarter" idx="11"/>
          </p:nvPr>
        </p:nvSpPr>
        <p:spPr>
          <a:xfrm>
            <a:off x="4165600" y="6553200"/>
            <a:ext cx="3860800" cy="152400"/>
          </a:xfrm>
          <a:prstGeom prst="rect">
            <a:avLst/>
          </a:prstGeom>
        </p:spPr>
        <p:txBody>
          <a:bodyPr/>
          <a:lstStyle>
            <a:lvl1pPr algn="ctr">
              <a:defRPr sz="1400" b="0">
                <a:solidFill>
                  <a:schemeClr val="tx1"/>
                </a:solidFill>
                <a:effectLst>
                  <a:outerShdw blurRad="38100" dist="38100" dir="2700000" algn="tl">
                    <a:srgbClr val="C0C0C0"/>
                  </a:outerShdw>
                </a:effectLst>
                <a:latin typeface="+mj-lt"/>
              </a:defRPr>
            </a:lvl1pPr>
          </a:lstStyle>
          <a:p>
            <a:pPr>
              <a:defRPr/>
            </a:pPr>
            <a:r>
              <a:rPr lang="en-US" altLang="ko-KR"/>
              <a:t>CITS, NanKai University</a:t>
            </a:r>
          </a:p>
        </p:txBody>
      </p:sp>
      <p:sp>
        <p:nvSpPr>
          <p:cNvPr id="8" name="Rectangle 25"/>
          <p:cNvSpPr>
            <a:spLocks noGrp="1" noChangeArrowheads="1"/>
          </p:cNvSpPr>
          <p:nvPr>
            <p:ph type="sldNum" sz="quarter" idx="12"/>
          </p:nvPr>
        </p:nvSpPr>
        <p:spPr>
          <a:xfrm>
            <a:off x="8737600" y="6553200"/>
            <a:ext cx="2844800" cy="152400"/>
          </a:xfrm>
          <a:prstGeom prst="rect">
            <a:avLst/>
          </a:prstGeom>
        </p:spPr>
        <p:txBody>
          <a:bodyPr/>
          <a:lstStyle>
            <a:lvl1pPr algn="r">
              <a:defRPr sz="1400" b="0">
                <a:solidFill>
                  <a:schemeClr val="tx1"/>
                </a:solidFill>
                <a:effectLst>
                  <a:outerShdw blurRad="38100" dist="38100" dir="2700000" algn="tl">
                    <a:srgbClr val="C0C0C0"/>
                  </a:outerShdw>
                </a:effectLst>
                <a:latin typeface="Times New Roman" panose="02020603050405020304" pitchFamily="18" charset="0"/>
              </a:defRPr>
            </a:lvl1pPr>
          </a:lstStyle>
          <a:p>
            <a:fld id="{80AC5814-5CA3-408A-9260-AC5744523599}" type="slidenum">
              <a:rPr lang="ko-KR" altLang="en-US"/>
              <a:pPr/>
              <a:t>‹#›</a:t>
            </a:fld>
            <a:endParaRPr lang="en-US" altLang="ko-KR"/>
          </a:p>
        </p:txBody>
      </p:sp>
    </p:spTree>
    <p:extLst>
      <p:ext uri="{BB962C8B-B14F-4D97-AF65-F5344CB8AC3E}">
        <p14:creationId xmlns:p14="http://schemas.microsoft.com/office/powerpoint/2010/main" val="1796540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5C044BFF-DA73-B2DC-D4E6-79A2C4F03FB1}"/>
              </a:ext>
            </a:extLst>
          </p:cNvPr>
          <p:cNvSpPr>
            <a:spLocks noGrp="1"/>
          </p:cNvSpPr>
          <p:nvPr>
            <p:ph type="sldNum" sz="quarter" idx="12"/>
          </p:nvPr>
        </p:nvSpPr>
        <p:spPr>
          <a:xfrm>
            <a:off x="9448800" y="6525344"/>
            <a:ext cx="2743200" cy="326571"/>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a:t>
            </a:fld>
            <a:endParaRPr lang="zh-CN" altLang="en-US" dirty="0"/>
          </a:p>
        </p:txBody>
      </p:sp>
      <p:sp>
        <p:nvSpPr>
          <p:cNvPr id="8" name="标题占位符 1">
            <a:extLst>
              <a:ext uri="{FF2B5EF4-FFF2-40B4-BE49-F238E27FC236}">
                <a16:creationId xmlns:a16="http://schemas.microsoft.com/office/drawing/2014/main" id="{F1368730-9EB3-86DF-BD43-AB15442BC6E1}"/>
              </a:ext>
            </a:extLst>
          </p:cNvPr>
          <p:cNvSpPr>
            <a:spLocks noGrp="1"/>
          </p:cNvSpPr>
          <p:nvPr>
            <p:ph type="title"/>
          </p:nvPr>
        </p:nvSpPr>
        <p:spPr>
          <a:xfrm>
            <a:off x="695400" y="871855"/>
            <a:ext cx="10801200" cy="6804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600" b="0" kern="1200" dirty="0">
                <a:solidFill>
                  <a:schemeClr val="tx1"/>
                </a:solidFill>
                <a:latin typeface="+mj-lt"/>
                <a:ea typeface="+mj-ea"/>
                <a:cs typeface="+mj-cs"/>
              </a:defRPr>
            </a:lvl1pPr>
          </a:lstStyle>
          <a:p>
            <a:r>
              <a:rPr lang="zh-CN" altLang="en-US" dirty="0"/>
              <a:t>单击此处编辑母版标题样式</a:t>
            </a:r>
          </a:p>
        </p:txBody>
      </p:sp>
      <p:sp>
        <p:nvSpPr>
          <p:cNvPr id="9" name="文本占位符 2">
            <a:extLst>
              <a:ext uri="{FF2B5EF4-FFF2-40B4-BE49-F238E27FC236}">
                <a16:creationId xmlns:a16="http://schemas.microsoft.com/office/drawing/2014/main" id="{D3EEC6D0-8677-62EF-AB76-B3721D782083}"/>
              </a:ext>
            </a:extLst>
          </p:cNvPr>
          <p:cNvSpPr>
            <a:spLocks noGrp="1"/>
          </p:cNvSpPr>
          <p:nvPr>
            <p:ph idx="1"/>
          </p:nvPr>
        </p:nvSpPr>
        <p:spPr>
          <a:xfrm>
            <a:off x="695399" y="1569767"/>
            <a:ext cx="10801200" cy="4351338"/>
          </a:xfrm>
          <a:prstGeom prst="rect">
            <a:avLst/>
          </a:prstGeom>
        </p:spPr>
        <p:txBody>
          <a:bodyPr vert="horz" lIns="91440" tIns="45720" rIns="91440" bIns="45720" rtlCol="0">
            <a:normAutofit/>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lvl="0" indent="-342900" algn="l" defTabSz="914400" rtl="0" eaLnBrk="0" fontAlgn="base" hangingPunct="0">
              <a:spcBef>
                <a:spcPct val="20000"/>
              </a:spcBef>
              <a:spcAft>
                <a:spcPct val="0"/>
              </a:spcAft>
              <a:buClr>
                <a:srgbClr val="000000"/>
              </a:buClr>
              <a:buSzPct val="80000"/>
              <a:buFont typeface="Wingdings" panose="05000000000000000000" pitchFamily="2" charset="2"/>
              <a:buChar char="¢"/>
            </a:pPr>
            <a:r>
              <a:rPr lang="zh-CN" altLang="en-US" dirty="0"/>
              <a:t>单击此处编辑母版文本样式</a:t>
            </a:r>
          </a:p>
          <a:p>
            <a:pPr marL="742950" lvl="1" indent="-285750" algn="l" defTabSz="914400" rtl="0" eaLnBrk="0" fontAlgn="base" hangingPunct="0">
              <a:spcBef>
                <a:spcPct val="20000"/>
              </a:spcBef>
              <a:spcAft>
                <a:spcPct val="0"/>
              </a:spcAft>
              <a:buClr>
                <a:srgbClr val="C0C9F6"/>
              </a:buClr>
              <a:buSzPct val="80000"/>
              <a:buFont typeface="Wingdings" panose="05000000000000000000" pitchFamily="2" charset="2"/>
              <a:buChar char="l"/>
            </a:pPr>
            <a:r>
              <a:rPr lang="zh-CN" altLang="en-US" dirty="0"/>
              <a:t>二级</a:t>
            </a:r>
          </a:p>
          <a:p>
            <a:pPr lvl="2"/>
            <a:r>
              <a:rPr lang="zh-CN" altLang="en-US" dirty="0"/>
              <a:t>三级</a:t>
            </a:r>
          </a:p>
          <a:p>
            <a:pPr lvl="3"/>
            <a:r>
              <a:rPr lang="zh-CN" altLang="en-US" dirty="0"/>
              <a:t>四级</a:t>
            </a:r>
          </a:p>
          <a:p>
            <a:pPr lvl="4"/>
            <a:r>
              <a:rPr lang="zh-CN" altLang="en-US" dirty="0"/>
              <a:t>五级</a:t>
            </a:r>
          </a:p>
        </p:txBody>
      </p:sp>
      <p:grpSp>
        <p:nvGrpSpPr>
          <p:cNvPr id="10" name="组合 9">
            <a:extLst>
              <a:ext uri="{FF2B5EF4-FFF2-40B4-BE49-F238E27FC236}">
                <a16:creationId xmlns:a16="http://schemas.microsoft.com/office/drawing/2014/main" id="{546A1D22-F226-2837-E96B-AC2D7456820F}"/>
              </a:ext>
            </a:extLst>
          </p:cNvPr>
          <p:cNvGrpSpPr/>
          <p:nvPr userDrawn="1"/>
        </p:nvGrpSpPr>
        <p:grpSpPr>
          <a:xfrm>
            <a:off x="0" y="980758"/>
            <a:ext cx="633730" cy="406400"/>
            <a:chOff x="56" y="2009"/>
            <a:chExt cx="998" cy="640"/>
          </a:xfrm>
        </p:grpSpPr>
        <p:sp>
          <p:nvSpPr>
            <p:cNvPr id="11" name="任意多边形: 形状 7">
              <a:extLst>
                <a:ext uri="{FF2B5EF4-FFF2-40B4-BE49-F238E27FC236}">
                  <a16:creationId xmlns:a16="http://schemas.microsoft.com/office/drawing/2014/main" id="{320E78A4-DE66-1852-88CE-6FEC79FE3E93}"/>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2" name="椭圆 11">
              <a:extLst>
                <a:ext uri="{FF2B5EF4-FFF2-40B4-BE49-F238E27FC236}">
                  <a16:creationId xmlns:a16="http://schemas.microsoft.com/office/drawing/2014/main" id="{A248046D-045F-9729-1D7F-A91B22E59859}"/>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14" name="文本框 13">
            <a:extLst>
              <a:ext uri="{FF2B5EF4-FFF2-40B4-BE49-F238E27FC236}">
                <a16:creationId xmlns:a16="http://schemas.microsoft.com/office/drawing/2014/main" id="{A15A3F2A-AA50-551B-D74F-1487BE07C97D}"/>
              </a:ext>
            </a:extLst>
          </p:cNvPr>
          <p:cNvSpPr txBox="1"/>
          <p:nvPr userDrawn="1"/>
        </p:nvSpPr>
        <p:spPr>
          <a:xfrm>
            <a:off x="152400" y="0"/>
            <a:ext cx="6095365" cy="705485"/>
          </a:xfrm>
          <a:prstGeom prst="rect">
            <a:avLst/>
          </a:prstGeom>
          <a:noFill/>
        </p:spPr>
        <p:txBody>
          <a:bodyPr wrap="square" rtlCol="0" anchor="ctr">
            <a:noAutofit/>
          </a:bodyPr>
          <a:lstStyle/>
          <a:p>
            <a:pPr algn="l">
              <a:lnSpc>
                <a:spcPct val="100000"/>
              </a:lnSpc>
              <a:spcBef>
                <a:spcPts val="0"/>
              </a:spcBef>
              <a:buNone/>
            </a:pP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：文件管理</a:t>
            </a:r>
          </a:p>
        </p:txBody>
      </p:sp>
    </p:spTree>
    <p:extLst>
      <p:ext uri="{BB962C8B-B14F-4D97-AF65-F5344CB8AC3E}">
        <p14:creationId xmlns:p14="http://schemas.microsoft.com/office/powerpoint/2010/main" val="3469466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6" dur="500"/>
                                        <p:tgtEl>
                                          <p:spTgt spid="9">
                                            <p:txEl>
                                              <p:pRg st="2" end="2"/>
                                            </p:txEl>
                                          </p:spTgt>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0" dur="500"/>
                                        <p:tgtEl>
                                          <p:spTgt spid="9">
                                            <p:txEl>
                                              <p:pRg st="3" end="3"/>
                                            </p:txEl>
                                          </p:spTgt>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4"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3">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4">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5">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6047D318-0735-D6D7-2CB5-20C2700372C9}"/>
              </a:ext>
            </a:extLst>
          </p:cNvPr>
          <p:cNvSpPr>
            <a:spLocks noGrp="1"/>
          </p:cNvSpPr>
          <p:nvPr>
            <p:ph type="sldNum" sz="quarter" idx="12"/>
          </p:nvPr>
        </p:nvSpPr>
        <p:spPr>
          <a:xfrm>
            <a:off x="9448800" y="6525344"/>
            <a:ext cx="2743200" cy="326571"/>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a:t>
            </a:fld>
            <a:endParaRPr lang="zh-CN" altLang="en-US" dirty="0"/>
          </a:p>
        </p:txBody>
      </p:sp>
      <p:sp>
        <p:nvSpPr>
          <p:cNvPr id="8" name="标题占位符 1">
            <a:extLst>
              <a:ext uri="{FF2B5EF4-FFF2-40B4-BE49-F238E27FC236}">
                <a16:creationId xmlns:a16="http://schemas.microsoft.com/office/drawing/2014/main" id="{7BE5FA1D-8EE8-17E5-156A-769E04D6002C}"/>
              </a:ext>
            </a:extLst>
          </p:cNvPr>
          <p:cNvSpPr>
            <a:spLocks noGrp="1"/>
          </p:cNvSpPr>
          <p:nvPr>
            <p:ph type="title"/>
          </p:nvPr>
        </p:nvSpPr>
        <p:spPr>
          <a:xfrm>
            <a:off x="695400" y="871855"/>
            <a:ext cx="10801200" cy="6804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600" b="0" kern="1200" dirty="0">
                <a:solidFill>
                  <a:schemeClr val="tx1"/>
                </a:solidFill>
                <a:latin typeface="+mj-lt"/>
                <a:ea typeface="+mj-ea"/>
                <a:cs typeface="+mj-cs"/>
              </a:defRPr>
            </a:lvl1pPr>
          </a:lstStyle>
          <a:p>
            <a:r>
              <a:rPr lang="zh-CN" altLang="en-US" dirty="0"/>
              <a:t>单击此处编辑母版标题样式</a:t>
            </a:r>
          </a:p>
        </p:txBody>
      </p:sp>
      <p:sp>
        <p:nvSpPr>
          <p:cNvPr id="9" name="文本占位符 2">
            <a:extLst>
              <a:ext uri="{FF2B5EF4-FFF2-40B4-BE49-F238E27FC236}">
                <a16:creationId xmlns:a16="http://schemas.microsoft.com/office/drawing/2014/main" id="{8D14A260-67EA-A87F-D3B1-B2AFB0BC82B6}"/>
              </a:ext>
            </a:extLst>
          </p:cNvPr>
          <p:cNvSpPr>
            <a:spLocks noGrp="1"/>
          </p:cNvSpPr>
          <p:nvPr>
            <p:ph idx="1"/>
          </p:nvPr>
        </p:nvSpPr>
        <p:spPr>
          <a:xfrm>
            <a:off x="695399" y="1569767"/>
            <a:ext cx="10801200" cy="4351338"/>
          </a:xfrm>
          <a:prstGeom prst="rect">
            <a:avLst/>
          </a:prstGeom>
        </p:spPr>
        <p:txBody>
          <a:bodyPr vert="horz" lIns="91440" tIns="45720" rIns="91440" bIns="45720" rtlCol="0">
            <a:normAutofit/>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lvl="0" indent="-342900" algn="l" defTabSz="914400" rtl="0" eaLnBrk="0" fontAlgn="base" hangingPunct="0">
              <a:spcBef>
                <a:spcPct val="20000"/>
              </a:spcBef>
              <a:spcAft>
                <a:spcPct val="0"/>
              </a:spcAft>
              <a:buClr>
                <a:srgbClr val="000000"/>
              </a:buClr>
              <a:buSzPct val="80000"/>
              <a:buFont typeface="Wingdings" panose="05000000000000000000" pitchFamily="2" charset="2"/>
              <a:buChar char="¢"/>
            </a:pPr>
            <a:r>
              <a:rPr lang="zh-CN" altLang="en-US" dirty="0"/>
              <a:t>单击此处编辑母版文本样式</a:t>
            </a:r>
          </a:p>
          <a:p>
            <a:pPr marL="742950" lvl="1" indent="-285750" algn="l" defTabSz="914400" rtl="0" eaLnBrk="0" fontAlgn="base" hangingPunct="0">
              <a:spcBef>
                <a:spcPct val="20000"/>
              </a:spcBef>
              <a:spcAft>
                <a:spcPct val="0"/>
              </a:spcAft>
              <a:buClr>
                <a:srgbClr val="C0C9F6"/>
              </a:buClr>
              <a:buSzPct val="80000"/>
              <a:buFont typeface="Wingdings" panose="05000000000000000000" pitchFamily="2" charset="2"/>
              <a:buChar char="l"/>
            </a:pPr>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10" name="文本框 9">
            <a:extLst>
              <a:ext uri="{FF2B5EF4-FFF2-40B4-BE49-F238E27FC236}">
                <a16:creationId xmlns:a16="http://schemas.microsoft.com/office/drawing/2014/main" id="{3BF77B53-9D60-4EF3-F62B-E9B317775EC6}"/>
              </a:ext>
            </a:extLst>
          </p:cNvPr>
          <p:cNvSpPr txBox="1"/>
          <p:nvPr userDrawn="1"/>
        </p:nvSpPr>
        <p:spPr>
          <a:xfrm>
            <a:off x="152400" y="0"/>
            <a:ext cx="6095365" cy="705485"/>
          </a:xfrm>
          <a:prstGeom prst="rect">
            <a:avLst/>
          </a:prstGeom>
          <a:noFill/>
        </p:spPr>
        <p:txBody>
          <a:bodyPr wrap="square" rtlCol="0" anchor="ctr">
            <a:noAutofit/>
          </a:bodyPr>
          <a:lstStyle/>
          <a:p>
            <a:pPr algn="l">
              <a:lnSpc>
                <a:spcPct val="100000"/>
              </a:lnSpc>
              <a:spcBef>
                <a:spcPts val="0"/>
              </a:spcBef>
              <a:buNone/>
            </a:pP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：文件管理</a:t>
            </a:r>
          </a:p>
        </p:txBody>
      </p:sp>
    </p:spTree>
    <p:extLst>
      <p:ext uri="{BB962C8B-B14F-4D97-AF65-F5344CB8AC3E}">
        <p14:creationId xmlns:p14="http://schemas.microsoft.com/office/powerpoint/2010/main" val="14668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6" dur="500"/>
                                        <p:tgtEl>
                                          <p:spTgt spid="9">
                                            <p:txEl>
                                              <p:pRg st="2" end="2"/>
                                            </p:txEl>
                                          </p:spTgt>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0" dur="500"/>
                                        <p:tgtEl>
                                          <p:spTgt spid="9">
                                            <p:txEl>
                                              <p:pRg st="3" end="3"/>
                                            </p:txEl>
                                          </p:spTgt>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4"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3">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4">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5">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2" y="304803"/>
            <a:ext cx="10369551" cy="89217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1295400"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5"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06E8D8FA-1FAA-4669-85F5-1369F8E44589}" type="slidenum">
              <a:rPr lang="en-US" altLang="ko-KR"/>
              <a:pPr/>
              <a:t>‹#›</a:t>
            </a:fld>
            <a:endParaRPr lang="en-US" altLang="ko-KR"/>
          </a:p>
        </p:txBody>
      </p:sp>
    </p:spTree>
    <p:extLst>
      <p:ext uri="{BB962C8B-B14F-4D97-AF65-F5344CB8AC3E}">
        <p14:creationId xmlns:p14="http://schemas.microsoft.com/office/powerpoint/2010/main" val="2807216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8"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9"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60955442-AAEE-48F5-88BF-6994C81C4C1E}" type="slidenum">
              <a:rPr lang="en-US" altLang="ko-KR"/>
              <a:pPr/>
              <a:t>‹#›</a:t>
            </a:fld>
            <a:endParaRPr lang="en-US" altLang="ko-KR"/>
          </a:p>
        </p:txBody>
      </p:sp>
    </p:spTree>
    <p:extLst>
      <p:ext uri="{BB962C8B-B14F-4D97-AF65-F5344CB8AC3E}">
        <p14:creationId xmlns:p14="http://schemas.microsoft.com/office/powerpoint/2010/main" val="55775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295402" y="304803"/>
            <a:ext cx="10369551" cy="892175"/>
          </a:xfrm>
          <a:prstGeom prst="rect">
            <a:avLst/>
          </a:prstGeom>
        </p:spPr>
        <p:txBody>
          <a:bodyPr/>
          <a:lstStyle/>
          <a:p>
            <a:r>
              <a:rPr lang="zh-CN" altLang="en-US"/>
              <a:t>单击此处编辑母版标题样式</a:t>
            </a:r>
          </a:p>
        </p:txBody>
      </p:sp>
      <p:sp>
        <p:nvSpPr>
          <p:cNvPr id="3"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4"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5"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18B4222E-8486-448E-BA6C-05363C5A4624}" type="slidenum">
              <a:rPr lang="en-US" altLang="ko-KR"/>
              <a:pPr/>
              <a:t>‹#›</a:t>
            </a:fld>
            <a:endParaRPr lang="en-US" altLang="ko-KR"/>
          </a:p>
        </p:txBody>
      </p:sp>
    </p:spTree>
    <p:extLst>
      <p:ext uri="{BB962C8B-B14F-4D97-AF65-F5344CB8AC3E}">
        <p14:creationId xmlns:p14="http://schemas.microsoft.com/office/powerpoint/2010/main" val="1110268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3"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4"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23E5303B-8A3A-477A-93B0-1543526987BB}" type="slidenum">
              <a:rPr lang="en-US" altLang="ko-KR"/>
              <a:pPr/>
              <a:t>‹#›</a:t>
            </a:fld>
            <a:endParaRPr lang="en-US" altLang="ko-KR"/>
          </a:p>
        </p:txBody>
      </p:sp>
    </p:spTree>
    <p:extLst>
      <p:ext uri="{BB962C8B-B14F-4D97-AF65-F5344CB8AC3E}">
        <p14:creationId xmlns:p14="http://schemas.microsoft.com/office/powerpoint/2010/main" val="571483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E5E38285-AEC6-4325-9BE2-2498450B005D}" type="slidenum">
              <a:rPr lang="en-US" altLang="ko-KR"/>
              <a:pPr/>
              <a:t>‹#›</a:t>
            </a:fld>
            <a:endParaRPr lang="en-US" altLang="ko-KR"/>
          </a:p>
        </p:txBody>
      </p:sp>
    </p:spTree>
    <p:extLst>
      <p:ext uri="{BB962C8B-B14F-4D97-AF65-F5344CB8AC3E}">
        <p14:creationId xmlns:p14="http://schemas.microsoft.com/office/powerpoint/2010/main" val="3688375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FC9F6213-1008-42A4-9F93-64A8F44EA911}" type="slidenum">
              <a:rPr lang="en-US" altLang="ko-KR"/>
              <a:pPr/>
              <a:t>‹#›</a:t>
            </a:fld>
            <a:endParaRPr lang="en-US" altLang="ko-KR"/>
          </a:p>
        </p:txBody>
      </p:sp>
    </p:spTree>
    <p:extLst>
      <p:ext uri="{BB962C8B-B14F-4D97-AF65-F5344CB8AC3E}">
        <p14:creationId xmlns:p14="http://schemas.microsoft.com/office/powerpoint/2010/main" val="1103563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295402" y="304803"/>
            <a:ext cx="10369551" cy="8921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1295401" y="1371600"/>
            <a:ext cx="10752667" cy="50101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5"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88C574B0-1D19-44D2-9C7D-BFE3A871EA33}" type="slidenum">
              <a:rPr lang="en-US" altLang="ko-KR"/>
              <a:pPr/>
              <a:t>‹#›</a:t>
            </a:fld>
            <a:endParaRPr lang="en-US" altLang="ko-KR"/>
          </a:p>
        </p:txBody>
      </p:sp>
    </p:spTree>
    <p:extLst>
      <p:ext uri="{BB962C8B-B14F-4D97-AF65-F5344CB8AC3E}">
        <p14:creationId xmlns:p14="http://schemas.microsoft.com/office/powerpoint/2010/main" val="3409782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59902" y="304800"/>
            <a:ext cx="2688167" cy="6019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295402" y="304800"/>
            <a:ext cx="7861300" cy="6019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5"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EEE4EC84-1CEF-40C2-8964-DC7BA04E7DD3}" type="slidenum">
              <a:rPr lang="en-US" altLang="ko-KR"/>
              <a:pPr/>
              <a:t>‹#›</a:t>
            </a:fld>
            <a:endParaRPr lang="en-US" altLang="ko-KR"/>
          </a:p>
        </p:txBody>
      </p:sp>
    </p:spTree>
    <p:extLst>
      <p:ext uri="{BB962C8B-B14F-4D97-AF65-F5344CB8AC3E}">
        <p14:creationId xmlns:p14="http://schemas.microsoft.com/office/powerpoint/2010/main" val="3117815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2" y="304803"/>
            <a:ext cx="10369551" cy="892175"/>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1295400"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5"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fld id="{ADE58688-3171-448B-A580-A5C9113ABB22}" type="slidenum">
              <a:rPr lang="en-US" altLang="ko-KR"/>
              <a:pPr/>
              <a:t>‹#›</a:t>
            </a:fld>
            <a:endParaRPr lang="en-US" altLang="ko-KR"/>
          </a:p>
        </p:txBody>
      </p:sp>
    </p:spTree>
    <p:extLst>
      <p:ext uri="{BB962C8B-B14F-4D97-AF65-F5344CB8AC3E}">
        <p14:creationId xmlns:p14="http://schemas.microsoft.com/office/powerpoint/2010/main" val="2554612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标题幻灯片">
    <p:bg bwMode="gray">
      <p:bgPr>
        <a:solidFill>
          <a:schemeClr val="bg1"/>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EEC4110-0674-257C-1C16-B9DF709C7896}"/>
              </a:ext>
            </a:extLst>
          </p:cNvPr>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11" name="矩形 10">
            <a:extLst>
              <a:ext uri="{FF2B5EF4-FFF2-40B4-BE49-F238E27FC236}">
                <a16:creationId xmlns:a16="http://schemas.microsoft.com/office/drawing/2014/main" id="{7EFE5488-1327-9634-2B4F-D2EC75B0B6F7}"/>
              </a:ext>
            </a:extLst>
          </p:cNvPr>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a:extLst>
              <a:ext uri="{FF2B5EF4-FFF2-40B4-BE49-F238E27FC236}">
                <a16:creationId xmlns:a16="http://schemas.microsoft.com/office/drawing/2014/main" id="{FB2FC802-994A-4E6D-AA97-4A3F677E9B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416" y="15367"/>
            <a:ext cx="3238500" cy="714375"/>
          </a:xfrm>
          <a:prstGeom prst="rect">
            <a:avLst/>
          </a:prstGeom>
        </p:spPr>
      </p:pic>
    </p:spTree>
    <p:extLst>
      <p:ext uri="{BB962C8B-B14F-4D97-AF65-F5344CB8AC3E}">
        <p14:creationId xmlns:p14="http://schemas.microsoft.com/office/powerpoint/2010/main" val="3707425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E39AD132-9025-B649-2FF7-C791B47D0929}"/>
              </a:ext>
            </a:extLst>
          </p:cNvPr>
          <p:cNvSpPr>
            <a:spLocks noGrp="1"/>
          </p:cNvSpPr>
          <p:nvPr>
            <p:ph type="title"/>
          </p:nvPr>
        </p:nvSpPr>
        <p:spPr>
          <a:xfrm>
            <a:off x="731520" y="795655"/>
            <a:ext cx="10544054" cy="688976"/>
          </a:xfrm>
          <a:prstGeom prst="rect">
            <a:avLst/>
          </a:prstGeom>
        </p:spPr>
        <p:txBody>
          <a:bodyPr anchor="ctr"/>
          <a:lstStyle>
            <a:lvl1pPr algn="l">
              <a:defRPr sz="3600" b="0"/>
            </a:lvl1pPr>
          </a:lstStyle>
          <a:p>
            <a:r>
              <a:rPr lang="zh-CN" altLang="en-US" dirty="0"/>
              <a:t>单击此处编辑母版标题样式</a:t>
            </a:r>
          </a:p>
        </p:txBody>
      </p:sp>
      <p:sp>
        <p:nvSpPr>
          <p:cNvPr id="7" name="矩形 6">
            <a:extLst>
              <a:ext uri="{FF2B5EF4-FFF2-40B4-BE49-F238E27FC236}">
                <a16:creationId xmlns:a16="http://schemas.microsoft.com/office/drawing/2014/main" id="{448FA0D2-0551-6F69-A21B-0E0742C82111}"/>
              </a:ext>
            </a:extLst>
          </p:cNvPr>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8" name="矩形 7">
            <a:extLst>
              <a:ext uri="{FF2B5EF4-FFF2-40B4-BE49-F238E27FC236}">
                <a16:creationId xmlns:a16="http://schemas.microsoft.com/office/drawing/2014/main" id="{9B2DB9FD-33AE-137C-506F-DF8415209A89}"/>
              </a:ext>
            </a:extLst>
          </p:cNvPr>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grpSp>
        <p:nvGrpSpPr>
          <p:cNvPr id="11" name="组合 10">
            <a:extLst>
              <a:ext uri="{FF2B5EF4-FFF2-40B4-BE49-F238E27FC236}">
                <a16:creationId xmlns:a16="http://schemas.microsoft.com/office/drawing/2014/main" id="{AFA3FBFE-CDD0-DEDD-A515-0F780B1E4329}"/>
              </a:ext>
            </a:extLst>
          </p:cNvPr>
          <p:cNvGrpSpPr/>
          <p:nvPr userDrawn="1"/>
        </p:nvGrpSpPr>
        <p:grpSpPr>
          <a:xfrm>
            <a:off x="0" y="980758"/>
            <a:ext cx="633730" cy="406400"/>
            <a:chOff x="56" y="2009"/>
            <a:chExt cx="998" cy="640"/>
          </a:xfrm>
        </p:grpSpPr>
        <p:sp>
          <p:nvSpPr>
            <p:cNvPr id="12" name="任意多边形: 形状 7">
              <a:extLst>
                <a:ext uri="{FF2B5EF4-FFF2-40B4-BE49-F238E27FC236}">
                  <a16:creationId xmlns:a16="http://schemas.microsoft.com/office/drawing/2014/main" id="{4A4D3142-22D6-E8B7-F2FA-F359659A88B3}"/>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3" name="椭圆 12">
              <a:extLst>
                <a:ext uri="{FF2B5EF4-FFF2-40B4-BE49-F238E27FC236}">
                  <a16:creationId xmlns:a16="http://schemas.microsoft.com/office/drawing/2014/main" id="{3A38D73E-7364-BC91-D18F-FC11D9C7013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10" name="图片 9">
            <a:extLst>
              <a:ext uri="{FF2B5EF4-FFF2-40B4-BE49-F238E27FC236}">
                <a16:creationId xmlns:a16="http://schemas.microsoft.com/office/drawing/2014/main" id="{C12A52DE-A688-48B9-8F40-550CA4C405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416" y="15367"/>
            <a:ext cx="3238500" cy="714375"/>
          </a:xfrm>
          <a:prstGeom prst="rect">
            <a:avLst/>
          </a:prstGeom>
        </p:spPr>
      </p:pic>
    </p:spTree>
    <p:extLst>
      <p:ext uri="{BB962C8B-B14F-4D97-AF65-F5344CB8AC3E}">
        <p14:creationId xmlns:p14="http://schemas.microsoft.com/office/powerpoint/2010/main" val="53201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5"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A5E57937-D044-40D3-B149-FE790039ADAC}" type="slidenum">
              <a:rPr lang="en-US" altLang="ko-KR"/>
              <a:pPr>
                <a:defRPr/>
              </a:pPr>
              <a:t>‹#›</a:t>
            </a:fld>
            <a:endParaRPr lang="en-US" altLang="ko-KR"/>
          </a:p>
        </p:txBody>
      </p:sp>
    </p:spTree>
    <p:extLst>
      <p:ext uri="{BB962C8B-B14F-4D97-AF65-F5344CB8AC3E}">
        <p14:creationId xmlns:p14="http://schemas.microsoft.com/office/powerpoint/2010/main" val="1197003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1295400"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4"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5F901C8D-F48E-4B3B-A82A-9DF190D291F1}" type="slidenum">
              <a:rPr lang="en-US" altLang="ko-KR"/>
              <a:pPr>
                <a:defRPr/>
              </a:pPr>
              <a:t>‹#›</a:t>
            </a:fld>
            <a:endParaRPr lang="en-US" altLang="ko-KR"/>
          </a:p>
        </p:txBody>
      </p:sp>
    </p:spTree>
    <p:extLst>
      <p:ext uri="{BB962C8B-B14F-4D97-AF65-F5344CB8AC3E}">
        <p14:creationId xmlns:p14="http://schemas.microsoft.com/office/powerpoint/2010/main" val="3024303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8"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9"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4530555A-678E-4120-AD32-FAA365076FD1}" type="slidenum">
              <a:rPr lang="en-US" altLang="ko-KR"/>
              <a:pPr>
                <a:defRPr/>
              </a:pPr>
              <a:t>‹#›</a:t>
            </a:fld>
            <a:endParaRPr lang="en-US" altLang="ko-KR"/>
          </a:p>
        </p:txBody>
      </p:sp>
    </p:spTree>
    <p:extLst>
      <p:ext uri="{BB962C8B-B14F-4D97-AF65-F5344CB8AC3E}">
        <p14:creationId xmlns:p14="http://schemas.microsoft.com/office/powerpoint/2010/main" val="16674845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4"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5"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387C86CC-E29A-4B7F-9161-8455BE71F507}" type="slidenum">
              <a:rPr lang="en-US" altLang="ko-KR"/>
              <a:pPr>
                <a:defRPr/>
              </a:pPr>
              <a:t>‹#›</a:t>
            </a:fld>
            <a:endParaRPr lang="en-US" altLang="ko-KR"/>
          </a:p>
        </p:txBody>
      </p:sp>
    </p:spTree>
    <p:extLst>
      <p:ext uri="{BB962C8B-B14F-4D97-AF65-F5344CB8AC3E}">
        <p14:creationId xmlns:p14="http://schemas.microsoft.com/office/powerpoint/2010/main" val="12438079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3"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4"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B8FA544E-9D50-4332-8923-0BA5321B5C8F}" type="slidenum">
              <a:rPr lang="en-US" altLang="ko-KR"/>
              <a:pPr>
                <a:defRPr/>
              </a:pPr>
              <a:t>‹#›</a:t>
            </a:fld>
            <a:endParaRPr lang="en-US" altLang="ko-KR"/>
          </a:p>
        </p:txBody>
      </p:sp>
    </p:spTree>
    <p:extLst>
      <p:ext uri="{BB962C8B-B14F-4D97-AF65-F5344CB8AC3E}">
        <p14:creationId xmlns:p14="http://schemas.microsoft.com/office/powerpoint/2010/main" val="3747616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78856BEB-C95B-4C0B-94DA-EDA643827E19}" type="slidenum">
              <a:rPr lang="en-US" altLang="ko-KR"/>
              <a:pPr>
                <a:defRPr/>
              </a:pPr>
              <a:t>‹#›</a:t>
            </a:fld>
            <a:endParaRPr lang="en-US" altLang="ko-KR"/>
          </a:p>
        </p:txBody>
      </p:sp>
    </p:spTree>
    <p:extLst>
      <p:ext uri="{BB962C8B-B14F-4D97-AF65-F5344CB8AC3E}">
        <p14:creationId xmlns:p14="http://schemas.microsoft.com/office/powerpoint/2010/main" val="16332478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6A2A88C7-09FF-4FD1-87DF-99F417C2D25B}" type="slidenum">
              <a:rPr lang="en-US" altLang="ko-KR"/>
              <a:pPr>
                <a:defRPr/>
              </a:pPr>
              <a:t>‹#›</a:t>
            </a:fld>
            <a:endParaRPr lang="en-US" altLang="ko-KR"/>
          </a:p>
        </p:txBody>
      </p:sp>
    </p:spTree>
    <p:extLst>
      <p:ext uri="{BB962C8B-B14F-4D97-AF65-F5344CB8AC3E}">
        <p14:creationId xmlns:p14="http://schemas.microsoft.com/office/powerpoint/2010/main" val="33359995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1295400" y="1371600"/>
            <a:ext cx="10752667" cy="50101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5"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10DA0300-CF50-42F2-9EBF-81970CF2F995}" type="slidenum">
              <a:rPr lang="en-US" altLang="ko-KR"/>
              <a:pPr>
                <a:defRPr/>
              </a:pPr>
              <a:t>‹#›</a:t>
            </a:fld>
            <a:endParaRPr lang="en-US" altLang="ko-KR"/>
          </a:p>
        </p:txBody>
      </p:sp>
    </p:spTree>
    <p:extLst>
      <p:ext uri="{BB962C8B-B14F-4D97-AF65-F5344CB8AC3E}">
        <p14:creationId xmlns:p14="http://schemas.microsoft.com/office/powerpoint/2010/main" val="28843814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59901" y="304800"/>
            <a:ext cx="2688167" cy="6019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295401" y="304800"/>
            <a:ext cx="7861300" cy="6019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5"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33FAE246-102D-4E7D-8EA8-59F249E1F408}" type="slidenum">
              <a:rPr lang="en-US" altLang="ko-KR"/>
              <a:pPr>
                <a:defRPr/>
              </a:pPr>
              <a:t>‹#›</a:t>
            </a:fld>
            <a:endParaRPr lang="en-US" altLang="ko-KR"/>
          </a:p>
        </p:txBody>
      </p:sp>
    </p:spTree>
    <p:extLst>
      <p:ext uri="{BB962C8B-B14F-4D97-AF65-F5344CB8AC3E}">
        <p14:creationId xmlns:p14="http://schemas.microsoft.com/office/powerpoint/2010/main" val="1237685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1295400"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4"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817B9FA4-E30C-4290-9AC0-61F4C6186E7B}" type="slidenum">
              <a:rPr lang="en-US" altLang="ko-KR"/>
              <a:pPr>
                <a:defRPr/>
              </a:pPr>
              <a:t>‹#›</a:t>
            </a:fld>
            <a:endParaRPr lang="en-US" altLang="ko-KR"/>
          </a:p>
        </p:txBody>
      </p:sp>
    </p:spTree>
    <p:extLst>
      <p:ext uri="{BB962C8B-B14F-4D97-AF65-F5344CB8AC3E}">
        <p14:creationId xmlns:p14="http://schemas.microsoft.com/office/powerpoint/2010/main" val="331971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C174A42-3524-63A3-2C79-B40655B149AB}"/>
              </a:ext>
            </a:extLst>
          </p:cNvPr>
          <p:cNvSpPr/>
          <p:nvPr userDrawn="1"/>
        </p:nvSpPr>
        <p:spPr>
          <a:xfrm>
            <a:off x="0" y="6536157"/>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solidFill>
                <a:srgbClr val="712355"/>
              </a:solidFill>
            </a:endParaRPr>
          </a:p>
        </p:txBody>
      </p:sp>
      <p:sp>
        <p:nvSpPr>
          <p:cNvPr id="3" name="矩形 2">
            <a:extLst>
              <a:ext uri="{FF2B5EF4-FFF2-40B4-BE49-F238E27FC236}">
                <a16:creationId xmlns:a16="http://schemas.microsoft.com/office/drawing/2014/main" id="{7282ECCF-C647-0675-D5C5-33E981887A80}"/>
              </a:ext>
            </a:extLst>
          </p:cNvPr>
          <p:cNvSpPr/>
          <p:nvPr userDrawn="1"/>
        </p:nvSpPr>
        <p:spPr>
          <a:xfrm>
            <a:off x="-1" y="-2802"/>
            <a:ext cx="12191365"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solidFill>
                <a:srgbClr val="712355"/>
              </a:solidFill>
            </a:endParaRPr>
          </a:p>
        </p:txBody>
      </p:sp>
      <p:pic>
        <p:nvPicPr>
          <p:cNvPr id="5" name="图片 4">
            <a:extLst>
              <a:ext uri="{FF2B5EF4-FFF2-40B4-BE49-F238E27FC236}">
                <a16:creationId xmlns:a16="http://schemas.microsoft.com/office/drawing/2014/main" id="{EA947088-FDE6-4740-B961-C2BE016BB5D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840416" y="15367"/>
            <a:ext cx="3238500" cy="714375"/>
          </a:xfrm>
          <a:prstGeom prst="rect">
            <a:avLst/>
          </a:prstGeom>
        </p:spPr>
      </p:pic>
    </p:spTree>
  </p:cSld>
  <p:clrMap bg1="lt1" tx1="dk1" bg2="lt2" tx2="dk2" accent1="accent1" accent2="accent2" accent3="accent3" accent4="accent4" accent5="accent5" accent6="accent6" hlink="hlink" folHlink="folHlink"/>
  <p:sldLayoutIdLst>
    <p:sldLayoutId id="2147484006" r:id="rId1"/>
    <p:sldLayoutId id="2147484005" r:id="rId2"/>
    <p:sldLayoutId id="2147484004" r:id="rId3"/>
    <p:sldLayoutId id="2147484003" r:id="rId4"/>
    <p:sldLayoutId id="2147484002" r:id="rId5"/>
    <p:sldLayoutId id="2147484001" r:id="rId6"/>
    <p:sldLayoutId id="2147484000" r:id="rId7"/>
    <p:sldLayoutId id="2147483999" r:id="rId8"/>
    <p:sldLayoutId id="2147483998" r:id="rId9"/>
    <p:sldLayoutId id="2147483997" r:id="rId10"/>
    <p:sldLayoutId id="2147483996" r:id="rId11"/>
    <p:sldLayoutId id="2147483995" r:id="rId12"/>
  </p:sldLayoutIdLst>
  <p:hf hdr="0" ftr="0" dt="0"/>
  <p:txStyles>
    <p:titleStyle>
      <a:lvl1pPr algn="ctr" rtl="0" eaLnBrk="0" fontAlgn="base" hangingPunct="0">
        <a:spcBef>
          <a:spcPct val="0"/>
        </a:spcBef>
        <a:spcAft>
          <a:spcPct val="0"/>
        </a:spcAft>
        <a:defRPr sz="40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lr>
          <a:schemeClr val="tx1"/>
        </a:buClr>
        <a:buSzPct val="80000"/>
        <a:buFont typeface="Wingdings" panose="05000000000000000000"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anose="05000000000000000000"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anose="05000000000000000000"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3012331"/>
      </p:ext>
    </p:extLst>
  </p:cSld>
  <p:clrMap bg1="lt1" tx1="dk1" bg2="lt2" tx2="dk2" accent1="accent1" accent2="accent2" accent3="accent3" accent4="accent4" accent5="accent5" accent6="accent6" hlink="hlink" folHlink="folHlink"/>
  <p:sldLayoutIdLst>
    <p:sldLayoutId id="2147484008" r:id="rId1"/>
    <p:sldLayoutId id="2147484009" r:id="rId2"/>
    <p:sldLayoutId id="2147484010" r:id="rId3"/>
    <p:sldLayoutId id="2147484011" r:id="rId4"/>
    <p:sldLayoutId id="2147484012" r:id="rId5"/>
    <p:sldLayoutId id="2147484013" r:id="rId6"/>
    <p:sldLayoutId id="2147484014" r:id="rId7"/>
    <p:sldLayoutId id="2147484015" r:id="rId8"/>
    <p:sldLayoutId id="2147484016" r:id="rId9"/>
    <p:sldLayoutId id="2147484017" r:id="rId10"/>
    <p:sldLayoutId id="2147484018" r:id="rId11"/>
    <p:sldLayoutId id="2147484019" r:id="rId12"/>
  </p:sldLayoutIdLst>
  <p:hf hdr="0" ftr="0" dt="0"/>
  <p:txStyles>
    <p:titleStyle>
      <a:lvl1pPr algn="ctr" rtl="0" eaLnBrk="0" fontAlgn="base" hangingPunct="0">
        <a:spcBef>
          <a:spcPct val="0"/>
        </a:spcBef>
        <a:spcAft>
          <a:spcPct val="0"/>
        </a:spcAft>
        <a:defRPr sz="40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lr>
          <a:schemeClr val="tx1"/>
        </a:buClr>
        <a:buSzPct val="80000"/>
        <a:buFont typeface="Wingdings" panose="05000000000000000000"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anose="05000000000000000000"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anose="05000000000000000000"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cs.uttyler.edu/Faculty/Rainwater/COSC3355/Animations/diskschedulingfcfs.htm"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cs.uttyler.edu/Faculty/Rainwater/COSC3355/Animations/diskschedulingfcfs.htm"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cs.uttyler.edu/Faculty/Rainwater/COSC3355/Animations/diskschedulingfcfs.htm"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l="22000" t="5000" r="22000" b="-1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492826"/>
            <a:ext cx="12192000" cy="1192212"/>
          </a:xfrm>
          <a:prstGeom prst="rect">
            <a:avLst/>
          </a:prstGeom>
        </p:spPr>
        <p:txBody>
          <a:bodyPr>
            <a:normAutofit/>
          </a:bodyPr>
          <a:lstStyle/>
          <a:p>
            <a:pPr algn="ctr"/>
            <a:r>
              <a:rPr lang="zh-CN" altLang="en-US" sz="6000" dirty="0">
                <a:solidFill>
                  <a:srgbClr val="712355"/>
                </a:solidFill>
                <a:latin typeface="微软雅黑" panose="020B0503020204020204" pitchFamily="34" charset="-122"/>
                <a:ea typeface="微软雅黑" panose="020B0503020204020204" pitchFamily="34" charset="-122"/>
              </a:rPr>
              <a:t>章节</a:t>
            </a:r>
            <a:r>
              <a:rPr lang="en-US" altLang="zh-CN" sz="6000" dirty="0">
                <a:solidFill>
                  <a:srgbClr val="712355"/>
                </a:solidFill>
                <a:latin typeface="微软雅黑" panose="020B0503020204020204" pitchFamily="34" charset="-122"/>
                <a:ea typeface="微软雅黑" panose="020B0503020204020204" pitchFamily="34" charset="-122"/>
              </a:rPr>
              <a:t>6</a:t>
            </a:r>
            <a:r>
              <a:rPr lang="zh-CN" altLang="en-US" sz="6000" dirty="0">
                <a:solidFill>
                  <a:srgbClr val="712355"/>
                </a:solidFill>
                <a:latin typeface="微软雅黑" panose="020B0503020204020204" pitchFamily="34" charset="-122"/>
                <a:ea typeface="微软雅黑" panose="020B0503020204020204" pitchFamily="34" charset="-122"/>
              </a:rPr>
              <a:t>：文件管理</a:t>
            </a:r>
            <a:endParaRPr lang="en-US" altLang="zh-CN" sz="6000" dirty="0">
              <a:solidFill>
                <a:srgbClr val="712355"/>
              </a:solidFill>
              <a:latin typeface="微软雅黑" panose="020B0503020204020204" pitchFamily="34" charset="-122"/>
              <a:ea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 name="文本框 7"/>
          <p:cNvSpPr txBox="1"/>
          <p:nvPr/>
        </p:nvSpPr>
        <p:spPr>
          <a:xfrm>
            <a:off x="6398895" y="1233805"/>
            <a:ext cx="4064000" cy="3683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1B478-B87F-E205-7630-0A237FAA049A}"/>
              </a:ext>
            </a:extLst>
          </p:cNvPr>
          <p:cNvSpPr>
            <a:spLocks noGrp="1"/>
          </p:cNvSpPr>
          <p:nvPr>
            <p:ph type="title"/>
          </p:nvPr>
        </p:nvSpPr>
        <p:spPr>
          <a:prstGeom prst="rect">
            <a:avLst/>
          </a:prstGeom>
        </p:spPr>
        <p:txBody>
          <a:bodyPr/>
          <a:lstStyle/>
          <a:p>
            <a:r>
              <a:rPr lang="zh-CN" altLang="en-US" dirty="0"/>
              <a:t>前情提要</a:t>
            </a:r>
          </a:p>
        </p:txBody>
      </p:sp>
      <p:sp>
        <p:nvSpPr>
          <p:cNvPr id="3" name="内容占位符 2">
            <a:extLst>
              <a:ext uri="{FF2B5EF4-FFF2-40B4-BE49-F238E27FC236}">
                <a16:creationId xmlns:a16="http://schemas.microsoft.com/office/drawing/2014/main" id="{356496CB-1BF2-BF31-8EDF-C7343A706198}"/>
              </a:ext>
            </a:extLst>
          </p:cNvPr>
          <p:cNvSpPr>
            <a:spLocks noGrp="1"/>
          </p:cNvSpPr>
          <p:nvPr>
            <p:ph idx="1"/>
          </p:nvPr>
        </p:nvSpPr>
        <p:spPr>
          <a:xfrm>
            <a:off x="695399" y="1569766"/>
            <a:ext cx="10801200" cy="4667546"/>
          </a:xfrm>
          <a:prstGeom prst="rect">
            <a:avLst/>
          </a:prstGeom>
        </p:spPr>
        <p:txBody>
          <a:bodyPr>
            <a:normAutofit fontScale="47500" lnSpcReduction="20000"/>
          </a:bodyPr>
          <a:lstStyle/>
          <a:p>
            <a:pPr eaLnBrk="1" hangingPunct="1">
              <a:lnSpc>
                <a:spcPct val="120000"/>
              </a:lnSpc>
            </a:pPr>
            <a:r>
              <a:rPr lang="zh-CN" altLang="en-US" dirty="0"/>
              <a:t>临界区是高并发编程的关键，因此虽然代码不多但却得到了充分的重视。因为现在的硬件都是多核的，软件都是多线程的，而临界区是只有一个人执行的代码，也就是让这些线程</a:t>
            </a:r>
            <a:r>
              <a:rPr lang="en-US" altLang="zh-CN" dirty="0"/>
              <a:t>/</a:t>
            </a:r>
            <a:r>
              <a:rPr lang="zh-CN" altLang="en-US" dirty="0"/>
              <a:t>核心串行起来的地方，因此要格外注意它的代价</a:t>
            </a:r>
            <a:endParaRPr lang="en-US" altLang="zh-CN" dirty="0"/>
          </a:p>
          <a:p>
            <a:pPr eaLnBrk="1" hangingPunct="1">
              <a:lnSpc>
                <a:spcPct val="120000"/>
              </a:lnSpc>
            </a:pPr>
            <a:r>
              <a:rPr lang="zh-CN" altLang="en-US" dirty="0"/>
              <a:t>用</a:t>
            </a:r>
            <a:r>
              <a:rPr lang="zh-CN" altLang="en-US" dirty="0">
                <a:solidFill>
                  <a:srgbClr val="FF0000"/>
                </a:solidFill>
              </a:rPr>
              <a:t>锁代替信号量</a:t>
            </a:r>
            <a:r>
              <a:rPr lang="zh-CN" altLang="en-US" dirty="0"/>
              <a:t>是一种典型的思路，既然锁是悲观设计无论如何都要执行，那么加锁解锁的代价要尽可能的小</a:t>
            </a:r>
            <a:endParaRPr lang="en-US" altLang="zh-CN" dirty="0"/>
          </a:p>
          <a:p>
            <a:pPr eaLnBrk="1" hangingPunct="1">
              <a:lnSpc>
                <a:spcPct val="120000"/>
              </a:lnSpc>
            </a:pPr>
            <a:r>
              <a:rPr lang="zh-CN" altLang="en-US" dirty="0"/>
              <a:t>锁在争抢的过程中，引发了大量的</a:t>
            </a:r>
            <a:r>
              <a:rPr lang="zh-CN" altLang="en-US" dirty="0">
                <a:solidFill>
                  <a:srgbClr val="FF0000"/>
                </a:solidFill>
              </a:rPr>
              <a:t>内存消耗</a:t>
            </a:r>
            <a:r>
              <a:rPr lang="zh-CN" altLang="en-US" dirty="0"/>
              <a:t>，因此才有了很多的</a:t>
            </a:r>
            <a:r>
              <a:rPr lang="zh-CN" altLang="en-US" dirty="0">
                <a:solidFill>
                  <a:srgbClr val="FF0000"/>
                </a:solidFill>
              </a:rPr>
              <a:t>优化方案</a:t>
            </a:r>
            <a:r>
              <a:rPr lang="zh-CN" altLang="en-US" dirty="0"/>
              <a:t>，例如争抢一段之后进入睡眠</a:t>
            </a:r>
            <a:r>
              <a:rPr lang="en-US" altLang="zh-CN" dirty="0"/>
              <a:t>(mutex</a:t>
            </a:r>
            <a:r>
              <a:rPr lang="zh-CN" altLang="en-US" dirty="0"/>
              <a:t>的</a:t>
            </a:r>
            <a:r>
              <a:rPr lang="en-US" altLang="zh-CN" dirty="0"/>
              <a:t>slow path)</a:t>
            </a:r>
            <a:r>
              <a:rPr lang="zh-CN" altLang="en-US" dirty="0"/>
              <a:t>，或者华为的</a:t>
            </a:r>
            <a:r>
              <a:rPr lang="en-US" altLang="zh-CN" dirty="0" err="1"/>
              <a:t>numa</a:t>
            </a:r>
            <a:r>
              <a:rPr lang="en-US" altLang="zh-CN" dirty="0"/>
              <a:t>-aware lock(</a:t>
            </a:r>
            <a:r>
              <a:rPr lang="zh-CN" altLang="en-US" dirty="0"/>
              <a:t>把锁变量放到</a:t>
            </a:r>
            <a:r>
              <a:rPr lang="en-US" altLang="zh-CN" dirty="0" err="1"/>
              <a:t>numa</a:t>
            </a:r>
            <a:r>
              <a:rPr lang="en-US" altLang="zh-CN" dirty="0"/>
              <a:t> local memory)</a:t>
            </a:r>
            <a:r>
              <a:rPr lang="zh-CN" altLang="en-US" dirty="0"/>
              <a:t>，或者神威太湖之光上的</a:t>
            </a:r>
            <a:r>
              <a:rPr lang="en-US" altLang="zh-CN" dirty="0" err="1"/>
              <a:t>plock</a:t>
            </a:r>
            <a:endParaRPr lang="en-US" altLang="zh-CN" dirty="0"/>
          </a:p>
          <a:p>
            <a:pPr eaLnBrk="1" hangingPunct="1">
              <a:lnSpc>
                <a:spcPct val="120000"/>
              </a:lnSpc>
            </a:pPr>
            <a:r>
              <a:rPr lang="en-US" altLang="zh-CN" dirty="0"/>
              <a:t>RISC</a:t>
            </a:r>
            <a:r>
              <a:rPr lang="zh-CN" altLang="en-US" dirty="0"/>
              <a:t>指令集当中实现不了</a:t>
            </a:r>
            <a:r>
              <a:rPr lang="en-US" altLang="zh-CN" dirty="0"/>
              <a:t>test-and-set</a:t>
            </a:r>
            <a:r>
              <a:rPr lang="zh-CN" altLang="en-US" dirty="0"/>
              <a:t>操作，因此引入了</a:t>
            </a:r>
            <a:r>
              <a:rPr lang="en-US" altLang="zh-CN" dirty="0">
                <a:solidFill>
                  <a:srgbClr val="FF0000"/>
                </a:solidFill>
              </a:rPr>
              <a:t>load-link</a:t>
            </a:r>
            <a:r>
              <a:rPr lang="zh-CN" altLang="en-US" dirty="0">
                <a:solidFill>
                  <a:srgbClr val="FF0000"/>
                </a:solidFill>
              </a:rPr>
              <a:t>和</a:t>
            </a:r>
            <a:r>
              <a:rPr lang="en-US" altLang="zh-CN" dirty="0">
                <a:solidFill>
                  <a:srgbClr val="FF0000"/>
                </a:solidFill>
              </a:rPr>
              <a:t>store-conditional</a:t>
            </a:r>
            <a:r>
              <a:rPr lang="zh-CN" altLang="en-US" dirty="0"/>
              <a:t>两种指令，其本质仍然是在一个指令里同时完成状态改变和内存读取</a:t>
            </a:r>
            <a:r>
              <a:rPr lang="en-US" altLang="zh-CN" dirty="0"/>
              <a:t>/</a:t>
            </a:r>
            <a:r>
              <a:rPr lang="zh-CN" altLang="en-US" dirty="0"/>
              <a:t>写入，只是把两个内存位置，改成了一个内存位置加一个</a:t>
            </a:r>
            <a:r>
              <a:rPr lang="en-US" altLang="zh-CN" dirty="0"/>
              <a:t>monitor</a:t>
            </a:r>
            <a:r>
              <a:rPr lang="zh-CN" altLang="en-US" dirty="0"/>
              <a:t>寄存器</a:t>
            </a:r>
            <a:endParaRPr lang="en-US" altLang="zh-CN" dirty="0"/>
          </a:p>
          <a:p>
            <a:pPr eaLnBrk="1" hangingPunct="1">
              <a:lnSpc>
                <a:spcPct val="120000"/>
              </a:lnSpc>
            </a:pPr>
            <a:r>
              <a:rPr lang="zh-CN" altLang="en-US" dirty="0"/>
              <a:t>体系结构的另一个差异是</a:t>
            </a:r>
            <a:r>
              <a:rPr lang="zh-CN" altLang="en-US" dirty="0">
                <a:solidFill>
                  <a:srgbClr val="FF0000"/>
                </a:solidFill>
              </a:rPr>
              <a:t>内存序</a:t>
            </a:r>
            <a:r>
              <a:rPr lang="zh-CN" altLang="en-US" dirty="0"/>
              <a:t>问题，是指令乱序、</a:t>
            </a:r>
            <a:r>
              <a:rPr lang="en-US" altLang="zh-CN" dirty="0"/>
              <a:t>cache</a:t>
            </a:r>
            <a:r>
              <a:rPr lang="zh-CN" altLang="en-US" dirty="0"/>
              <a:t>延后写回、传输过程中的包顺序交换等优化机制而导致的内存操作的指令顺序，与实际操作到达内存的顺序之间存在差异。目前大量</a:t>
            </a:r>
            <a:r>
              <a:rPr lang="en-US" altLang="zh-CN" dirty="0" err="1"/>
              <a:t>risc</a:t>
            </a:r>
            <a:r>
              <a:rPr lang="zh-CN" altLang="en-US" dirty="0"/>
              <a:t>处理器的内存序是不可控的，即</a:t>
            </a:r>
            <a:r>
              <a:rPr lang="en-US" altLang="zh-CN" dirty="0"/>
              <a:t>weak </a:t>
            </a:r>
            <a:r>
              <a:rPr lang="en-US" altLang="zh-CN" dirty="0">
                <a:solidFill>
                  <a:srgbClr val="FF0000"/>
                </a:solidFill>
              </a:rPr>
              <a:t>memory consistency model</a:t>
            </a:r>
            <a:r>
              <a:rPr lang="zh-CN" altLang="en-US" dirty="0"/>
              <a:t>，需要手动添加</a:t>
            </a:r>
            <a:r>
              <a:rPr lang="en-US" altLang="zh-CN" dirty="0"/>
              <a:t>barrier(fence)</a:t>
            </a:r>
            <a:r>
              <a:rPr lang="zh-CN" altLang="en-US" dirty="0"/>
              <a:t>来让内存操作保序，从而引发了正确性问题</a:t>
            </a:r>
            <a:endParaRPr lang="en-US" altLang="zh-CN" dirty="0"/>
          </a:p>
          <a:p>
            <a:pPr eaLnBrk="1" hangingPunct="1">
              <a:lnSpc>
                <a:spcPct val="120000"/>
              </a:lnSpc>
            </a:pPr>
            <a:endParaRPr lang="en-US" altLang="zh-CN" dirty="0"/>
          </a:p>
          <a:p>
            <a:pPr eaLnBrk="1" hangingPunct="1">
              <a:lnSpc>
                <a:spcPct val="120000"/>
              </a:lnSpc>
            </a:pPr>
            <a:r>
              <a:rPr lang="zh-CN" altLang="en-US" dirty="0"/>
              <a:t>磁盘是个以块为单位的存储设备，每一个块叫一个扇区、扇区组成磁道、磁道组成磁盘。为了简化管理，每个扇区对应的圆心角是一样大的，这样一来逻辑意义上说，一个磁盘是一个扇区对象的二维数组，其行列标号分别是磁道号和扇区号</a:t>
            </a:r>
            <a:endParaRPr lang="en-US" altLang="zh-CN" dirty="0"/>
          </a:p>
          <a:p>
            <a:pPr eaLnBrk="1" hangingPunct="1">
              <a:lnSpc>
                <a:spcPct val="120000"/>
              </a:lnSpc>
            </a:pPr>
            <a:r>
              <a:rPr lang="zh-CN" altLang="en-US" dirty="0"/>
              <a:t>文件系统是将</a:t>
            </a:r>
            <a:r>
              <a:rPr lang="zh-CN" altLang="en-US" dirty="0">
                <a:solidFill>
                  <a:srgbClr val="FF0000"/>
                </a:solidFill>
              </a:rPr>
              <a:t>固定大小的块数据</a:t>
            </a:r>
            <a:r>
              <a:rPr lang="zh-CN" altLang="en-US" dirty="0"/>
              <a:t>（扇区）组织成</a:t>
            </a:r>
            <a:r>
              <a:rPr lang="zh-CN" altLang="en-US" dirty="0">
                <a:solidFill>
                  <a:srgbClr val="FF0000"/>
                </a:solidFill>
              </a:rPr>
              <a:t>任意长度</a:t>
            </a:r>
            <a:r>
              <a:rPr lang="zh-CN" altLang="en-US" dirty="0"/>
              <a:t>（文件，或者磁带）的数据结构，并提供增删改查机制的方法。参考数据结构课程，会有连续、链表、树等模式</a:t>
            </a:r>
            <a:endParaRPr lang="en-US" altLang="zh-CN" dirty="0"/>
          </a:p>
          <a:p>
            <a:pPr eaLnBrk="1" hangingPunct="1">
              <a:lnSpc>
                <a:spcPct val="120000"/>
              </a:lnSpc>
            </a:pPr>
            <a:r>
              <a:rPr lang="zh-CN" altLang="en-US" dirty="0"/>
              <a:t>链表结构是</a:t>
            </a:r>
            <a:r>
              <a:rPr lang="en-US" altLang="zh-CN" dirty="0"/>
              <a:t>FAT</a:t>
            </a:r>
            <a:r>
              <a:rPr lang="zh-CN" altLang="en-US" dirty="0"/>
              <a:t>文件系统采用的模式，类似数据结构中的线性表，其长度可以任意扩展，但不能随机访问</a:t>
            </a:r>
            <a:endParaRPr lang="en-US" altLang="zh-CN" dirty="0"/>
          </a:p>
          <a:p>
            <a:pPr eaLnBrk="1" hangingPunct="1">
              <a:lnSpc>
                <a:spcPct val="120000"/>
              </a:lnSpc>
            </a:pPr>
            <a:r>
              <a:rPr lang="zh-CN" altLang="en-US" dirty="0"/>
              <a:t>树状结构是</a:t>
            </a:r>
            <a:r>
              <a:rPr lang="en-US" altLang="zh-CN" dirty="0"/>
              <a:t>EXT</a:t>
            </a:r>
            <a:r>
              <a:rPr lang="zh-CN" altLang="en-US" dirty="0"/>
              <a:t>文件系统采用的模式，通过分支节点进行扩展，提高了效率也提升了复杂度</a:t>
            </a:r>
            <a:endParaRPr lang="en-US" altLang="zh-CN" dirty="0"/>
          </a:p>
          <a:p>
            <a:pPr eaLnBrk="1" hangingPunct="1">
              <a:lnSpc>
                <a:spcPct val="120000"/>
              </a:lnSpc>
            </a:pPr>
            <a:r>
              <a:rPr lang="en-US" altLang="zh-CN" dirty="0"/>
              <a:t>GFS</a:t>
            </a:r>
            <a:r>
              <a:rPr lang="zh-CN" altLang="en-US" dirty="0"/>
              <a:t>以将磁道做为分配单位，只增加不删除，成为搜索引擎等大数据存储的一种方案</a:t>
            </a:r>
            <a:endParaRPr lang="en-US" altLang="zh-CN" dirty="0"/>
          </a:p>
          <a:p>
            <a:pPr eaLnBrk="1" hangingPunct="1">
              <a:lnSpc>
                <a:spcPct val="120000"/>
              </a:lnSpc>
            </a:pPr>
            <a:r>
              <a:rPr lang="zh-CN" altLang="en-US" dirty="0"/>
              <a:t>文件系统作为操作系统的关键模块，其核心价值在于屏蔽这些实现的细节，为应用程序提供统一的接口</a:t>
            </a:r>
            <a:endParaRPr lang="en-US" altLang="zh-CN" dirty="0"/>
          </a:p>
        </p:txBody>
      </p:sp>
      <p:sp>
        <p:nvSpPr>
          <p:cNvPr id="7" name="灯片编号占位符 6">
            <a:extLst>
              <a:ext uri="{FF2B5EF4-FFF2-40B4-BE49-F238E27FC236}">
                <a16:creationId xmlns:a16="http://schemas.microsoft.com/office/drawing/2014/main" id="{617E7E99-F91F-EC8F-D0B2-CA37B4A1A772}"/>
              </a:ext>
            </a:extLst>
          </p:cNvPr>
          <p:cNvSpPr>
            <a:spLocks noGrp="1"/>
          </p:cNvSpPr>
          <p:nvPr>
            <p:ph type="sldNum" sz="quarter" idx="12"/>
          </p:nvPr>
        </p:nvSpPr>
        <p:spPr>
          <a:xfrm>
            <a:off x="9448800" y="6525344"/>
            <a:ext cx="2743200" cy="326571"/>
          </a:xfrm>
        </p:spPr>
        <p:txBody>
          <a:bodyPr/>
          <a:lstStyle/>
          <a:p>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fld id="{7209BB76-661F-4F23-A2E6-DCF093FEDF36}" type="slidenum">
              <a:rPr kumimoji="0" lang="zh-CN" altLang="en-US" sz="1600" b="1" i="0" u="none" strike="noStrike" kern="120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t>2</a:t>
            </a:fld>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12416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9pPr>
          </a:lstStyle>
          <a:p>
            <a:pPr>
              <a:buNone/>
            </a:pPr>
            <a:fld id="{3C21D71A-B7D3-44A4-A1BB-D15C2AA17F4F}" type="slidenum">
              <a:rPr lang="en-US" altLang="ko-KR">
                <a:solidFill>
                  <a:schemeClr val="bg1"/>
                </a:solidFill>
                <a:ea typeface="굴림" pitchFamily="34" charset="-127"/>
              </a:rPr>
              <a:pPr>
                <a:buNone/>
              </a:pPr>
              <a:t>3</a:t>
            </a:fld>
            <a:endParaRPr lang="en-US" altLang="ko-KR" dirty="0">
              <a:solidFill>
                <a:schemeClr val="bg1"/>
              </a:solidFill>
              <a:ea typeface="굴림" pitchFamily="34" charset="-127"/>
            </a:endParaRPr>
          </a:p>
        </p:txBody>
      </p:sp>
      <p:sp>
        <p:nvSpPr>
          <p:cNvPr id="17410" name="标题 1"/>
          <p:cNvSpPr>
            <a:spLocks noGrp="1"/>
          </p:cNvSpPr>
          <p:nvPr>
            <p:ph type="title"/>
          </p:nvPr>
        </p:nvSpPr>
        <p:spPr>
          <a:prstGeom prst="rect">
            <a:avLst/>
          </a:prstGeom>
        </p:spPr>
        <p:txBody>
          <a:bodyPr/>
          <a:lstStyle/>
          <a:p>
            <a:r>
              <a:rPr lang="en-US" altLang="zh-CN" sz="3600">
                <a:ea typeface="宋体" panose="02010600030101010101" pitchFamily="2" charset="-122"/>
              </a:rPr>
              <a:t>Introduction of directory structure</a:t>
            </a:r>
            <a:endParaRPr lang="zh-CN" altLang="en-US" sz="3600">
              <a:ea typeface="宋体" panose="02010600030101010101" pitchFamily="2" charset="-122"/>
            </a:endParaRPr>
          </a:p>
        </p:txBody>
      </p:sp>
      <p:sp>
        <p:nvSpPr>
          <p:cNvPr id="17411" name="内容占位符 2"/>
          <p:cNvSpPr>
            <a:spLocks noGrp="1"/>
          </p:cNvSpPr>
          <p:nvPr>
            <p:ph idx="1"/>
          </p:nvPr>
        </p:nvSpPr>
        <p:spPr>
          <a:prstGeom prst="rect">
            <a:avLst/>
          </a:prstGeom>
        </p:spPr>
        <p:txBody>
          <a:bodyPr/>
          <a:lstStyle/>
          <a:p>
            <a:pPr>
              <a:lnSpc>
                <a:spcPct val="80000"/>
              </a:lnSpc>
            </a:pPr>
            <a:r>
              <a:rPr lang="en-US" altLang="zh-CN" sz="2400" dirty="0">
                <a:ea typeface="宋体" panose="02010600030101010101" pitchFamily="2" charset="-122"/>
              </a:rPr>
              <a:t>Components of directory structure</a:t>
            </a:r>
          </a:p>
          <a:p>
            <a:pPr lvl="1">
              <a:lnSpc>
                <a:spcPct val="80000"/>
              </a:lnSpc>
            </a:pPr>
            <a:r>
              <a:rPr lang="en-US" altLang="zh-CN" sz="2000" dirty="0">
                <a:ea typeface="宋体" panose="02010600030101010101" pitchFamily="2" charset="-122"/>
              </a:rPr>
              <a:t>Logical label: directory name</a:t>
            </a:r>
          </a:p>
          <a:p>
            <a:pPr lvl="1">
              <a:lnSpc>
                <a:spcPct val="80000"/>
              </a:lnSpc>
            </a:pPr>
            <a:r>
              <a:rPr lang="en-US" altLang="zh-CN" sz="2000" dirty="0">
                <a:ea typeface="宋体" panose="02010600030101010101" pitchFamily="2" charset="-122"/>
              </a:rPr>
              <a:t>Logical structure: directory item </a:t>
            </a:r>
          </a:p>
          <a:p>
            <a:pPr lvl="1">
              <a:lnSpc>
                <a:spcPct val="80000"/>
              </a:lnSpc>
            </a:pPr>
            <a:r>
              <a:rPr lang="en-US" altLang="zh-CN" sz="2000" dirty="0">
                <a:ea typeface="宋体" panose="02010600030101010101" pitchFamily="2" charset="-122"/>
              </a:rPr>
              <a:t>Function: path management, file management</a:t>
            </a:r>
          </a:p>
          <a:p>
            <a:pPr>
              <a:lnSpc>
                <a:spcPct val="80000"/>
              </a:lnSpc>
            </a:pPr>
            <a:r>
              <a:rPr lang="en-US" altLang="zh-CN" sz="2400" dirty="0">
                <a:ea typeface="宋体" panose="02010600030101010101" pitchFamily="2" charset="-122"/>
              </a:rPr>
              <a:t>Directory types</a:t>
            </a:r>
          </a:p>
          <a:p>
            <a:pPr lvl="1">
              <a:lnSpc>
                <a:spcPct val="80000"/>
              </a:lnSpc>
            </a:pPr>
            <a:r>
              <a:rPr lang="en-US" altLang="zh-CN" sz="2000" dirty="0">
                <a:ea typeface="宋体" panose="02010600030101010101" pitchFamily="2" charset="-122"/>
              </a:rPr>
              <a:t>Single level directory: only one directory</a:t>
            </a:r>
          </a:p>
          <a:p>
            <a:pPr lvl="1">
              <a:lnSpc>
                <a:spcPct val="80000"/>
              </a:lnSpc>
            </a:pPr>
            <a:r>
              <a:rPr lang="en-US" altLang="zh-CN" sz="2000" dirty="0">
                <a:ea typeface="宋体" panose="02010600030101010101" pitchFamily="2" charset="-122"/>
              </a:rPr>
              <a:t>Double level directory: root directory and sub directory</a:t>
            </a:r>
          </a:p>
          <a:p>
            <a:pPr lvl="1">
              <a:lnSpc>
                <a:spcPct val="80000"/>
              </a:lnSpc>
            </a:pPr>
            <a:r>
              <a:rPr lang="en-US" altLang="zh-CN" sz="2000" dirty="0" err="1">
                <a:ea typeface="宋体" panose="02010600030101010101" pitchFamily="2" charset="-122"/>
              </a:rPr>
              <a:t>Hiberarchy</a:t>
            </a:r>
            <a:r>
              <a:rPr lang="en-US" altLang="zh-CN" sz="2000" dirty="0">
                <a:ea typeface="宋体" panose="02010600030101010101" pitchFamily="2" charset="-122"/>
              </a:rPr>
              <a:t> directory: dynamic and flexible directory</a:t>
            </a:r>
          </a:p>
          <a:p>
            <a:pPr>
              <a:lnSpc>
                <a:spcPct val="80000"/>
              </a:lnSpc>
            </a:pPr>
            <a:r>
              <a:rPr lang="en-US" altLang="zh-CN" sz="2400" dirty="0">
                <a:ea typeface="宋体" panose="02010600030101010101" pitchFamily="2" charset="-122"/>
              </a:rPr>
              <a:t>Structure of directory</a:t>
            </a:r>
          </a:p>
          <a:p>
            <a:pPr lvl="1">
              <a:lnSpc>
                <a:spcPct val="80000"/>
              </a:lnSpc>
            </a:pPr>
            <a:r>
              <a:rPr lang="en-US" altLang="zh-CN" sz="2000" dirty="0">
                <a:ea typeface="宋体" panose="02010600030101010101" pitchFamily="2" charset="-122"/>
              </a:rPr>
              <a:t>How to store file information?</a:t>
            </a:r>
          </a:p>
          <a:p>
            <a:pPr lvl="1">
              <a:lnSpc>
                <a:spcPct val="80000"/>
              </a:lnSpc>
            </a:pPr>
            <a:r>
              <a:rPr lang="en-US" altLang="zh-CN" sz="2000" dirty="0">
                <a:ea typeface="宋体" panose="02010600030101010101" pitchFamily="2" charset="-122"/>
              </a:rPr>
              <a:t>How to search and index files?</a:t>
            </a:r>
          </a:p>
          <a:p>
            <a:pPr lvl="1">
              <a:lnSpc>
                <a:spcPct val="80000"/>
              </a:lnSpc>
            </a:pPr>
            <a:r>
              <a:rPr lang="en-US" altLang="zh-CN" sz="2000" dirty="0">
                <a:ea typeface="宋体" panose="02010600030101010101" pitchFamily="2" charset="-122"/>
              </a:rPr>
              <a:t>How to improve efficiency of file system, such as disk space allocation/release, file operation efficiency, safety and security, HCI efficiency.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3D1F1E8-7159-4A4F-B72C-BBD11646CEC9}"/>
              </a:ext>
            </a:extLst>
          </p:cNvPr>
          <p:cNvSpPr>
            <a:spLocks noGrp="1"/>
          </p:cNvSpPr>
          <p:nvPr>
            <p:ph type="sldNum" sz="quarter" idx="12"/>
          </p:nvPr>
        </p:nvSpPr>
        <p:spPr>
          <a:prstGeom prst="rect">
            <a:avLst/>
          </a:prstGeom>
        </p:spPr>
        <p:txBody>
          <a:bodyPr/>
          <a:lstStyle/>
          <a:p>
            <a:pPr>
              <a:buNone/>
            </a:pPr>
            <a:fld id="{5EEFC526-8A43-41C1-B1D0-B3D20E53516B}" type="slidenum">
              <a:rPr lang="en-US" altLang="ko-KR" smtClean="0"/>
              <a:pPr>
                <a:buNone/>
              </a:pPr>
              <a:t>4</a:t>
            </a:fld>
            <a:endParaRPr lang="en-US" altLang="ko-KR" dirty="0"/>
          </a:p>
        </p:txBody>
      </p:sp>
      <p:sp>
        <p:nvSpPr>
          <p:cNvPr id="2" name="标题 1">
            <a:extLst>
              <a:ext uri="{FF2B5EF4-FFF2-40B4-BE49-F238E27FC236}">
                <a16:creationId xmlns:a16="http://schemas.microsoft.com/office/drawing/2014/main" id="{BAA53CFD-EFFD-4AC2-B56D-A0E7CE27F191}"/>
              </a:ext>
            </a:extLst>
          </p:cNvPr>
          <p:cNvSpPr>
            <a:spLocks noGrp="1"/>
          </p:cNvSpPr>
          <p:nvPr>
            <p:ph type="title"/>
          </p:nvPr>
        </p:nvSpPr>
        <p:spPr>
          <a:prstGeom prst="rect">
            <a:avLst/>
          </a:prstGeom>
        </p:spPr>
        <p:txBody>
          <a:bodyPr/>
          <a:lstStyle/>
          <a:p>
            <a:r>
              <a:rPr lang="zh-CN" altLang="en-US" dirty="0"/>
              <a:t>某些同学的桌面</a:t>
            </a:r>
          </a:p>
        </p:txBody>
      </p:sp>
      <p:pic>
        <p:nvPicPr>
          <p:cNvPr id="86018" name="Picture 2">
            <a:extLst>
              <a:ext uri="{FF2B5EF4-FFF2-40B4-BE49-F238E27FC236}">
                <a16:creationId xmlns:a16="http://schemas.microsoft.com/office/drawing/2014/main" id="{FC7809F8-87B9-4610-8195-3A3F4BC8A6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184015" y="1570038"/>
            <a:ext cx="5823969" cy="435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137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68897" y="1556792"/>
            <a:ext cx="3981519" cy="428628"/>
            <a:chOff x="844893" y="727185"/>
            <a:chExt cx="3981519" cy="428628"/>
          </a:xfrm>
        </p:grpSpPr>
        <p:sp>
          <p:nvSpPr>
            <p:cNvPr id="9" name="内容占位符 2"/>
            <p:cNvSpPr txBox="1">
              <a:spLocks/>
            </p:cNvSpPr>
            <p:nvPr/>
          </p:nvSpPr>
          <p:spPr>
            <a:xfrm>
              <a:off x="1142976" y="727185"/>
              <a:ext cx="368343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sz="1800" dirty="0"/>
                <a:t>文件以目录的方式组织起来</a:t>
              </a:r>
            </a:p>
          </p:txBody>
        </p:sp>
        <p:sp>
          <p:nvSpPr>
            <p:cNvPr id="12" name="TextBox 11"/>
            <p:cNvSpPr txBox="1"/>
            <p:nvPr/>
          </p:nvSpPr>
          <p:spPr>
            <a:xfrm>
              <a:off x="844893" y="730838"/>
              <a:ext cx="433390" cy="369332"/>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368897" y="1887025"/>
            <a:ext cx="6155999" cy="533863"/>
            <a:chOff x="844893" y="966318"/>
            <a:chExt cx="6155999" cy="533863"/>
          </a:xfrm>
        </p:grpSpPr>
        <p:sp>
          <p:nvSpPr>
            <p:cNvPr id="37" name="内容占位符 2"/>
            <p:cNvSpPr txBox="1">
              <a:spLocks/>
            </p:cNvSpPr>
            <p:nvPr/>
          </p:nvSpPr>
          <p:spPr>
            <a:xfrm>
              <a:off x="1142976" y="971541"/>
              <a:ext cx="300039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sz="1800" dirty="0"/>
                <a:t>目录是一类特殊的文件</a:t>
              </a:r>
              <a:endParaRPr lang="zh-CN" altLang="en-US" sz="1800" dirty="0">
                <a:solidFill>
                  <a:srgbClr val="C00000"/>
                </a:solidFill>
              </a:endParaRPr>
            </a:p>
          </p:txBody>
        </p:sp>
        <p:sp>
          <p:nvSpPr>
            <p:cNvPr id="38" name="TextBox 37"/>
            <p:cNvSpPr txBox="1"/>
            <p:nvPr/>
          </p:nvSpPr>
          <p:spPr>
            <a:xfrm>
              <a:off x="844893" y="966318"/>
              <a:ext cx="433390" cy="369332"/>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pic>
          <p:nvPicPr>
            <p:cNvPr id="39" name="图片 38" descr="小点1.png"/>
            <p:cNvPicPr>
              <a:picLocks noChangeAspect="1"/>
            </p:cNvPicPr>
            <p:nvPr/>
          </p:nvPicPr>
          <p:blipFill>
            <a:blip r:embed="rId2" cstate="print"/>
            <a:stretch>
              <a:fillRect/>
            </a:stretch>
          </p:blipFill>
          <p:spPr>
            <a:xfrm>
              <a:off x="1262422" y="1307818"/>
              <a:ext cx="151066" cy="148997"/>
            </a:xfrm>
            <a:prstGeom prst="rect">
              <a:avLst/>
            </a:prstGeom>
            <a:effectLst/>
          </p:spPr>
        </p:pic>
        <p:sp>
          <p:nvSpPr>
            <p:cNvPr id="40" name="内容占位符 2"/>
            <p:cNvSpPr txBox="1">
              <a:spLocks/>
            </p:cNvSpPr>
            <p:nvPr/>
          </p:nvSpPr>
          <p:spPr>
            <a:xfrm>
              <a:off x="1394985" y="1226489"/>
              <a:ext cx="5605907" cy="27369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t>目录的内容是文件索引表</a:t>
              </a:r>
              <a:r>
                <a:rPr lang="en-US" altLang="zh-CN" sz="1800" dirty="0"/>
                <a:t>&lt;</a:t>
              </a:r>
              <a:r>
                <a:rPr lang="zh-CN" altLang="en-US" sz="1800" dirty="0"/>
                <a:t>文件名</a:t>
              </a:r>
              <a:r>
                <a:rPr lang="en-US" altLang="zh-CN" sz="1800" dirty="0"/>
                <a:t>, </a:t>
              </a:r>
              <a:r>
                <a:rPr lang="zh-CN" altLang="en-US" sz="1800" dirty="0"/>
                <a:t>指向文件的指针</a:t>
              </a:r>
              <a:r>
                <a:rPr lang="en-US" altLang="zh-CN" sz="1800" dirty="0"/>
                <a:t>&gt;</a:t>
              </a:r>
              <a:endParaRPr lang="zh-CN" altLang="en-US" sz="1800" dirty="0"/>
            </a:p>
          </p:txBody>
        </p:sp>
      </p:grpSp>
      <p:grpSp>
        <p:nvGrpSpPr>
          <p:cNvPr id="4" name="组合 3"/>
          <p:cNvGrpSpPr/>
          <p:nvPr/>
        </p:nvGrpSpPr>
        <p:grpSpPr>
          <a:xfrm>
            <a:off x="2368897" y="2413998"/>
            <a:ext cx="5959351" cy="654962"/>
            <a:chOff x="844893" y="1433418"/>
            <a:chExt cx="5959351" cy="654962"/>
          </a:xfrm>
        </p:grpSpPr>
        <p:sp>
          <p:nvSpPr>
            <p:cNvPr id="25" name="内容占位符 2"/>
            <p:cNvSpPr txBox="1">
              <a:spLocks/>
            </p:cNvSpPr>
            <p:nvPr/>
          </p:nvSpPr>
          <p:spPr>
            <a:xfrm>
              <a:off x="1142976" y="1444865"/>
              <a:ext cx="285752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sz="1800" dirty="0"/>
                <a:t>目录和文件的树型结构</a:t>
              </a:r>
              <a:endParaRPr lang="zh-CN" altLang="en-US" sz="1800" dirty="0">
                <a:solidFill>
                  <a:srgbClr val="C00000"/>
                </a:solidFill>
              </a:endParaRPr>
            </a:p>
          </p:txBody>
        </p:sp>
        <p:sp>
          <p:nvSpPr>
            <p:cNvPr id="27" name="TextBox 26"/>
            <p:cNvSpPr txBox="1"/>
            <p:nvPr/>
          </p:nvSpPr>
          <p:spPr>
            <a:xfrm>
              <a:off x="844893" y="1433418"/>
              <a:ext cx="433390" cy="369332"/>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pic>
          <p:nvPicPr>
            <p:cNvPr id="28" name="图片 27" descr="小点1.png"/>
            <p:cNvPicPr>
              <a:picLocks noChangeAspect="1"/>
            </p:cNvPicPr>
            <p:nvPr/>
          </p:nvPicPr>
          <p:blipFill>
            <a:blip r:embed="rId2" cstate="print"/>
            <a:stretch>
              <a:fillRect/>
            </a:stretch>
          </p:blipFill>
          <p:spPr>
            <a:xfrm>
              <a:off x="1262422" y="1804588"/>
              <a:ext cx="151066" cy="148997"/>
            </a:xfrm>
            <a:prstGeom prst="rect">
              <a:avLst/>
            </a:prstGeom>
            <a:effectLst/>
          </p:spPr>
        </p:pic>
        <p:sp>
          <p:nvSpPr>
            <p:cNvPr id="31" name="内容占位符 2"/>
            <p:cNvSpPr txBox="1">
              <a:spLocks/>
            </p:cNvSpPr>
            <p:nvPr/>
          </p:nvSpPr>
          <p:spPr>
            <a:xfrm>
              <a:off x="1394985" y="1723258"/>
              <a:ext cx="5409259" cy="3651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t>早期的文件系统是扁平的</a:t>
              </a:r>
              <a:r>
                <a:rPr lang="en-US" altLang="zh-CN" sz="1800" dirty="0"/>
                <a:t> (</a:t>
              </a:r>
              <a:r>
                <a:rPr lang="zh-CN" altLang="en-US" sz="1800" dirty="0"/>
                <a:t>只有一层目录</a:t>
              </a:r>
              <a:r>
                <a:rPr lang="en-US" altLang="zh-CN" sz="1800" dirty="0"/>
                <a:t>)</a:t>
              </a:r>
              <a:endParaRPr lang="zh-CN" altLang="en-US" sz="1800" dirty="0"/>
            </a:p>
          </p:txBody>
        </p:sp>
      </p:grpSp>
      <p:sp>
        <p:nvSpPr>
          <p:cNvPr id="32" name="TextBox 4"/>
          <p:cNvSpPr txBox="1">
            <a:spLocks noChangeArrowheads="1"/>
          </p:cNvSpPr>
          <p:nvPr/>
        </p:nvSpPr>
        <p:spPr bwMode="auto">
          <a:xfrm>
            <a:off x="6908349" y="3958034"/>
            <a:ext cx="277672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en-US" altLang="zh-CN" sz="1600" b="1" dirty="0">
                <a:solidFill>
                  <a:prstClr val="black"/>
                </a:solidFill>
                <a:latin typeface="Courier New" panose="02070309020205020404" pitchFamily="49" charset="0"/>
                <a:ea typeface="微软雅黑"/>
                <a:cs typeface="Courier New" panose="02070309020205020404" pitchFamily="49" charset="0"/>
              </a:rPr>
              <a:t>/spell/mail/</a:t>
            </a:r>
            <a:r>
              <a:rPr lang="en-US" altLang="zh-CN" sz="1600" b="1" dirty="0" err="1">
                <a:solidFill>
                  <a:prstClr val="black"/>
                </a:solidFill>
                <a:latin typeface="Courier New" panose="02070309020205020404" pitchFamily="49" charset="0"/>
                <a:ea typeface="微软雅黑"/>
                <a:cs typeface="Courier New" panose="02070309020205020404" pitchFamily="49" charset="0"/>
              </a:rPr>
              <a:t>prt</a:t>
            </a:r>
            <a:r>
              <a:rPr lang="en-US" altLang="zh-CN" sz="1600" b="1" dirty="0">
                <a:solidFill>
                  <a:prstClr val="black"/>
                </a:solidFill>
                <a:latin typeface="Courier New" panose="02070309020205020404" pitchFamily="49" charset="0"/>
                <a:ea typeface="微软雅黑"/>
                <a:cs typeface="Courier New" panose="02070309020205020404" pitchFamily="49" charset="0"/>
              </a:rPr>
              <a:t>/first</a:t>
            </a:r>
          </a:p>
        </p:txBody>
      </p:sp>
      <p:grpSp>
        <p:nvGrpSpPr>
          <p:cNvPr id="16" name="组合 15"/>
          <p:cNvGrpSpPr/>
          <p:nvPr/>
        </p:nvGrpSpPr>
        <p:grpSpPr>
          <a:xfrm>
            <a:off x="2356526" y="3078520"/>
            <a:ext cx="4402480" cy="2795755"/>
            <a:chOff x="832526" y="2221266"/>
            <a:chExt cx="4402480" cy="2795755"/>
          </a:xfrm>
        </p:grpSpPr>
        <p:sp>
          <p:nvSpPr>
            <p:cNvPr id="41" name="矩形 40"/>
            <p:cNvSpPr/>
            <p:nvPr/>
          </p:nvSpPr>
          <p:spPr>
            <a:xfrm>
              <a:off x="910629"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44" name="TextBox 43"/>
            <p:cNvSpPr txBox="1"/>
            <p:nvPr/>
          </p:nvSpPr>
          <p:spPr>
            <a:xfrm>
              <a:off x="863006" y="2724993"/>
              <a:ext cx="45076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stat</a:t>
              </a:r>
              <a:endParaRPr lang="zh-CN" altLang="en-US" sz="1100" b="1" dirty="0">
                <a:solidFill>
                  <a:srgbClr val="11576A"/>
                </a:solidFill>
                <a:latin typeface="微软雅黑"/>
                <a:ea typeface="微软雅黑"/>
              </a:endParaRPr>
            </a:p>
          </p:txBody>
        </p:sp>
        <p:sp>
          <p:nvSpPr>
            <p:cNvPr id="47" name="矩形 46"/>
            <p:cNvSpPr/>
            <p:nvPr/>
          </p:nvSpPr>
          <p:spPr>
            <a:xfrm>
              <a:off x="1267651"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52" name="TextBox 51"/>
            <p:cNvSpPr txBox="1"/>
            <p:nvPr/>
          </p:nvSpPr>
          <p:spPr>
            <a:xfrm>
              <a:off x="1200976" y="2724993"/>
              <a:ext cx="48763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mail</a:t>
              </a:r>
              <a:endParaRPr lang="zh-CN" altLang="en-US" sz="1100" b="1" dirty="0">
                <a:solidFill>
                  <a:srgbClr val="11576A"/>
                </a:solidFill>
                <a:latin typeface="微软雅黑"/>
                <a:ea typeface="微软雅黑"/>
              </a:endParaRPr>
            </a:p>
          </p:txBody>
        </p:sp>
        <p:sp>
          <p:nvSpPr>
            <p:cNvPr id="54" name="矩形 53"/>
            <p:cNvSpPr/>
            <p:nvPr/>
          </p:nvSpPr>
          <p:spPr>
            <a:xfrm>
              <a:off x="1623145"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55" name="TextBox 54"/>
            <p:cNvSpPr txBox="1"/>
            <p:nvPr/>
          </p:nvSpPr>
          <p:spPr>
            <a:xfrm>
              <a:off x="1580285" y="2724993"/>
              <a:ext cx="445956"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dist</a:t>
              </a:r>
              <a:endParaRPr lang="zh-CN" altLang="en-US" sz="1100" b="1" dirty="0">
                <a:solidFill>
                  <a:srgbClr val="11576A"/>
                </a:solidFill>
                <a:latin typeface="微软雅黑"/>
                <a:ea typeface="微软雅黑"/>
              </a:endParaRPr>
            </a:p>
          </p:txBody>
        </p:sp>
        <p:sp>
          <p:nvSpPr>
            <p:cNvPr id="66" name="矩形 65"/>
            <p:cNvSpPr/>
            <p:nvPr/>
          </p:nvSpPr>
          <p:spPr>
            <a:xfrm>
              <a:off x="3993846"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67" name="TextBox 66"/>
            <p:cNvSpPr txBox="1"/>
            <p:nvPr/>
          </p:nvSpPr>
          <p:spPr>
            <a:xfrm>
              <a:off x="4039612" y="2710704"/>
              <a:ext cx="27924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p</a:t>
              </a:r>
              <a:endParaRPr lang="zh-CN" altLang="en-US" sz="1100" b="1" dirty="0">
                <a:solidFill>
                  <a:srgbClr val="11576A"/>
                </a:solidFill>
                <a:latin typeface="微软雅黑"/>
                <a:ea typeface="微软雅黑"/>
              </a:endParaRPr>
            </a:p>
          </p:txBody>
        </p:sp>
        <p:sp>
          <p:nvSpPr>
            <p:cNvPr id="69" name="矩形 68"/>
            <p:cNvSpPr/>
            <p:nvPr/>
          </p:nvSpPr>
          <p:spPr>
            <a:xfrm>
              <a:off x="4350868"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70" name="TextBox 69"/>
            <p:cNvSpPr txBox="1"/>
            <p:nvPr/>
          </p:nvSpPr>
          <p:spPr>
            <a:xfrm>
              <a:off x="4397082" y="2724993"/>
              <a:ext cx="266420"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e</a:t>
              </a:r>
              <a:endParaRPr lang="zh-CN" altLang="en-US" sz="1100" b="1" dirty="0">
                <a:solidFill>
                  <a:srgbClr val="11576A"/>
                </a:solidFill>
                <a:latin typeface="微软雅黑"/>
                <a:ea typeface="微软雅黑"/>
              </a:endParaRPr>
            </a:p>
          </p:txBody>
        </p:sp>
        <p:sp>
          <p:nvSpPr>
            <p:cNvPr id="72" name="矩形 71"/>
            <p:cNvSpPr/>
            <p:nvPr/>
          </p:nvSpPr>
          <p:spPr>
            <a:xfrm>
              <a:off x="4706362" y="2743718"/>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73" name="TextBox 72"/>
            <p:cNvSpPr txBox="1"/>
            <p:nvPr/>
          </p:nvSpPr>
          <p:spPr>
            <a:xfrm>
              <a:off x="4644450" y="2724993"/>
              <a:ext cx="48763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mail</a:t>
              </a:r>
              <a:endParaRPr lang="zh-CN" altLang="en-US" sz="1100" b="1" dirty="0">
                <a:solidFill>
                  <a:srgbClr val="11576A"/>
                </a:solidFill>
                <a:latin typeface="微软雅黑"/>
                <a:ea typeface="微软雅黑"/>
              </a:endParaRPr>
            </a:p>
          </p:txBody>
        </p:sp>
        <p:grpSp>
          <p:nvGrpSpPr>
            <p:cNvPr id="142" name="组合 141"/>
            <p:cNvGrpSpPr/>
            <p:nvPr/>
          </p:nvGrpSpPr>
          <p:grpSpPr>
            <a:xfrm>
              <a:off x="2160273" y="2724993"/>
              <a:ext cx="1637599" cy="261610"/>
              <a:chOff x="2497399" y="2738768"/>
              <a:chExt cx="1637599" cy="261610"/>
            </a:xfrm>
          </p:grpSpPr>
          <p:sp>
            <p:nvSpPr>
              <p:cNvPr id="57" name="矩形 56"/>
              <p:cNvSpPr/>
              <p:nvPr/>
            </p:nvSpPr>
            <p:spPr>
              <a:xfrm>
                <a:off x="2545022" y="2757493"/>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58" name="TextBox 57"/>
              <p:cNvSpPr txBox="1"/>
              <p:nvPr/>
            </p:nvSpPr>
            <p:spPr>
              <a:xfrm>
                <a:off x="2497399" y="2738768"/>
                <a:ext cx="468398"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find</a:t>
                </a:r>
                <a:endParaRPr lang="zh-CN" altLang="en-US" sz="1100" b="1" dirty="0">
                  <a:solidFill>
                    <a:srgbClr val="11576A"/>
                  </a:solidFill>
                  <a:latin typeface="微软雅黑"/>
                  <a:ea typeface="微软雅黑"/>
                </a:endParaRPr>
              </a:p>
            </p:txBody>
          </p:sp>
          <p:sp>
            <p:nvSpPr>
              <p:cNvPr id="60" name="矩形 59"/>
              <p:cNvSpPr/>
              <p:nvPr/>
            </p:nvSpPr>
            <p:spPr>
              <a:xfrm>
                <a:off x="2902044" y="2757493"/>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61" name="TextBox 60"/>
              <p:cNvSpPr txBox="1"/>
              <p:nvPr/>
            </p:nvSpPr>
            <p:spPr>
              <a:xfrm>
                <a:off x="2825843" y="2738768"/>
                <a:ext cx="490840" cy="246221"/>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000" b="1" spc="-100" dirty="0">
                    <a:solidFill>
                      <a:srgbClr val="11576A"/>
                    </a:solidFill>
                    <a:latin typeface="微软雅黑"/>
                    <a:ea typeface="微软雅黑"/>
                  </a:rPr>
                  <a:t>count</a:t>
                </a:r>
                <a:endParaRPr lang="zh-CN" altLang="en-US" sz="1000" b="1" spc="-100" dirty="0">
                  <a:solidFill>
                    <a:srgbClr val="11576A"/>
                  </a:solidFill>
                  <a:latin typeface="微软雅黑"/>
                  <a:ea typeface="微软雅黑"/>
                </a:endParaRPr>
              </a:p>
            </p:txBody>
          </p:sp>
          <p:sp>
            <p:nvSpPr>
              <p:cNvPr id="63" name="矩形 62"/>
              <p:cNvSpPr/>
              <p:nvPr/>
            </p:nvSpPr>
            <p:spPr>
              <a:xfrm>
                <a:off x="3257538" y="2757493"/>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64" name="TextBox 63"/>
              <p:cNvSpPr txBox="1"/>
              <p:nvPr/>
            </p:nvSpPr>
            <p:spPr>
              <a:xfrm>
                <a:off x="3214678" y="2738768"/>
                <a:ext cx="43954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hex</a:t>
                </a:r>
                <a:endParaRPr lang="zh-CN" altLang="en-US" sz="1100" b="1" dirty="0">
                  <a:solidFill>
                    <a:srgbClr val="11576A"/>
                  </a:solidFill>
                  <a:latin typeface="微软雅黑"/>
                  <a:ea typeface="微软雅黑"/>
                </a:endParaRPr>
              </a:p>
            </p:txBody>
          </p:sp>
          <p:sp>
            <p:nvSpPr>
              <p:cNvPr id="75" name="矩形 74"/>
              <p:cNvSpPr/>
              <p:nvPr/>
            </p:nvSpPr>
            <p:spPr>
              <a:xfrm>
                <a:off x="3616445" y="2757493"/>
                <a:ext cx="46800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76" name="TextBox 75"/>
              <p:cNvSpPr txBox="1"/>
              <p:nvPr/>
            </p:nvSpPr>
            <p:spPr>
              <a:xfrm>
                <a:off x="3555993" y="2745976"/>
                <a:ext cx="579005" cy="246221"/>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000" b="1" spc="-100" dirty="0">
                    <a:solidFill>
                      <a:srgbClr val="11576A"/>
                    </a:solidFill>
                    <a:latin typeface="微软雅黑"/>
                    <a:ea typeface="微软雅黑"/>
                  </a:rPr>
                  <a:t>reorder</a:t>
                </a:r>
                <a:endParaRPr lang="zh-CN" altLang="en-US" sz="1000" b="1" spc="-100" dirty="0">
                  <a:solidFill>
                    <a:srgbClr val="11576A"/>
                  </a:solidFill>
                  <a:latin typeface="微软雅黑"/>
                  <a:ea typeface="微软雅黑"/>
                </a:endParaRPr>
              </a:p>
            </p:txBody>
          </p:sp>
        </p:grpSp>
        <p:sp>
          <p:nvSpPr>
            <p:cNvPr id="79" name="矩形 78"/>
            <p:cNvSpPr/>
            <p:nvPr/>
          </p:nvSpPr>
          <p:spPr>
            <a:xfrm>
              <a:off x="2228108" y="2247214"/>
              <a:ext cx="504000" cy="212728"/>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80" name="TextBox 79"/>
            <p:cNvSpPr txBox="1"/>
            <p:nvPr/>
          </p:nvSpPr>
          <p:spPr>
            <a:xfrm>
              <a:off x="2245723" y="2224927"/>
              <a:ext cx="449162"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spc="-100" dirty="0">
                  <a:solidFill>
                    <a:srgbClr val="11576A"/>
                  </a:solidFill>
                  <a:latin typeface="微软雅黑"/>
                  <a:ea typeface="微软雅黑"/>
                </a:rPr>
                <a:t>spell</a:t>
              </a:r>
              <a:endParaRPr lang="zh-CN" altLang="en-US" sz="1100" b="1" spc="-100" dirty="0">
                <a:solidFill>
                  <a:srgbClr val="11576A"/>
                </a:solidFill>
                <a:latin typeface="微软雅黑"/>
                <a:ea typeface="微软雅黑"/>
              </a:endParaRPr>
            </a:p>
          </p:txBody>
        </p:sp>
        <p:sp>
          <p:nvSpPr>
            <p:cNvPr id="82" name="矩形 81"/>
            <p:cNvSpPr/>
            <p:nvPr/>
          </p:nvSpPr>
          <p:spPr>
            <a:xfrm>
              <a:off x="2732102" y="2247214"/>
              <a:ext cx="357190" cy="212728"/>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83" name="TextBox 82"/>
            <p:cNvSpPr txBox="1"/>
            <p:nvPr/>
          </p:nvSpPr>
          <p:spPr>
            <a:xfrm>
              <a:off x="2705117" y="2224927"/>
              <a:ext cx="412292"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bin</a:t>
              </a:r>
              <a:endParaRPr lang="zh-CN" altLang="en-US" sz="1100" b="1" dirty="0">
                <a:solidFill>
                  <a:srgbClr val="11576A"/>
                </a:solidFill>
                <a:latin typeface="微软雅黑"/>
                <a:ea typeface="微软雅黑"/>
              </a:endParaRPr>
            </a:p>
          </p:txBody>
        </p:sp>
        <p:sp>
          <p:nvSpPr>
            <p:cNvPr id="85" name="矩形 84"/>
            <p:cNvSpPr/>
            <p:nvPr/>
          </p:nvSpPr>
          <p:spPr>
            <a:xfrm>
              <a:off x="3091009" y="2247214"/>
              <a:ext cx="612000" cy="212728"/>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86" name="TextBox 85"/>
            <p:cNvSpPr txBox="1"/>
            <p:nvPr/>
          </p:nvSpPr>
          <p:spPr>
            <a:xfrm>
              <a:off x="3030557" y="2221266"/>
              <a:ext cx="708848" cy="246221"/>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000" b="1" spc="-100" dirty="0">
                  <a:solidFill>
                    <a:srgbClr val="11576A"/>
                  </a:solidFill>
                  <a:latin typeface="微软雅黑"/>
                  <a:ea typeface="微软雅黑"/>
                </a:rPr>
                <a:t>programs</a:t>
              </a:r>
              <a:endParaRPr lang="zh-CN" altLang="en-US" sz="1000" b="1" spc="-100" dirty="0">
                <a:solidFill>
                  <a:srgbClr val="11576A"/>
                </a:solidFill>
                <a:latin typeface="微软雅黑"/>
                <a:ea typeface="微软雅黑"/>
              </a:endParaRPr>
            </a:p>
          </p:txBody>
        </p:sp>
        <p:sp>
          <p:nvSpPr>
            <p:cNvPr id="218" name="TextBox 217"/>
            <p:cNvSpPr txBox="1"/>
            <p:nvPr/>
          </p:nvSpPr>
          <p:spPr>
            <a:xfrm>
              <a:off x="1788749" y="2224927"/>
              <a:ext cx="436338"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spc="-100" dirty="0">
                  <a:solidFill>
                    <a:srgbClr val="11576A"/>
                  </a:solidFill>
                  <a:latin typeface="微软雅黑"/>
                  <a:ea typeface="微软雅黑"/>
                </a:rPr>
                <a:t>root</a:t>
              </a:r>
              <a:endParaRPr lang="zh-CN" altLang="en-US" sz="1100" b="1" spc="-100" dirty="0">
                <a:solidFill>
                  <a:srgbClr val="11576A"/>
                </a:solidFill>
                <a:latin typeface="微软雅黑"/>
                <a:ea typeface="微软雅黑"/>
              </a:endParaRPr>
            </a:p>
          </p:txBody>
        </p:sp>
        <p:sp>
          <p:nvSpPr>
            <p:cNvPr id="89" name="矩形 88"/>
            <p:cNvSpPr/>
            <p:nvPr/>
          </p:nvSpPr>
          <p:spPr>
            <a:xfrm>
              <a:off x="910629"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90" name="TextBox 89"/>
            <p:cNvSpPr txBox="1"/>
            <p:nvPr/>
          </p:nvSpPr>
          <p:spPr>
            <a:xfrm>
              <a:off x="832526" y="3508610"/>
              <a:ext cx="524503"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err="1">
                  <a:solidFill>
                    <a:srgbClr val="11576A"/>
                  </a:solidFill>
                  <a:latin typeface="微软雅黑"/>
                  <a:ea typeface="微软雅黑"/>
                </a:rPr>
                <a:t>prog</a:t>
              </a:r>
              <a:endParaRPr lang="zh-CN" altLang="en-US" sz="1100" b="1" dirty="0">
                <a:solidFill>
                  <a:srgbClr val="11576A"/>
                </a:solidFill>
                <a:latin typeface="微软雅黑"/>
                <a:ea typeface="微软雅黑"/>
              </a:endParaRPr>
            </a:p>
          </p:txBody>
        </p:sp>
        <p:sp>
          <p:nvSpPr>
            <p:cNvPr id="92" name="矩形 91"/>
            <p:cNvSpPr/>
            <p:nvPr/>
          </p:nvSpPr>
          <p:spPr>
            <a:xfrm>
              <a:off x="1267651"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93" name="TextBox 92"/>
            <p:cNvSpPr txBox="1"/>
            <p:nvPr/>
          </p:nvSpPr>
          <p:spPr>
            <a:xfrm>
              <a:off x="1185736" y="3508610"/>
              <a:ext cx="526106"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copy</a:t>
              </a:r>
              <a:endParaRPr lang="zh-CN" altLang="en-US" sz="1100" b="1" dirty="0">
                <a:solidFill>
                  <a:srgbClr val="11576A"/>
                </a:solidFill>
                <a:latin typeface="微软雅黑"/>
                <a:ea typeface="微软雅黑"/>
              </a:endParaRPr>
            </a:p>
          </p:txBody>
        </p:sp>
        <p:sp>
          <p:nvSpPr>
            <p:cNvPr id="95" name="矩形 94"/>
            <p:cNvSpPr/>
            <p:nvPr/>
          </p:nvSpPr>
          <p:spPr>
            <a:xfrm>
              <a:off x="1623145"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96" name="TextBox 95"/>
            <p:cNvSpPr txBox="1"/>
            <p:nvPr/>
          </p:nvSpPr>
          <p:spPr>
            <a:xfrm>
              <a:off x="1603145" y="3508610"/>
              <a:ext cx="396262"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err="1">
                  <a:solidFill>
                    <a:srgbClr val="11576A"/>
                  </a:solidFill>
                  <a:latin typeface="微软雅黑"/>
                  <a:ea typeface="微软雅黑"/>
                </a:rPr>
                <a:t>prt</a:t>
              </a:r>
              <a:endParaRPr lang="zh-CN" altLang="en-US" sz="1100" b="1" dirty="0">
                <a:solidFill>
                  <a:srgbClr val="11576A"/>
                </a:solidFill>
                <a:latin typeface="微软雅黑"/>
                <a:ea typeface="微软雅黑"/>
              </a:endParaRPr>
            </a:p>
          </p:txBody>
        </p:sp>
        <p:sp>
          <p:nvSpPr>
            <p:cNvPr id="98" name="矩形 97"/>
            <p:cNvSpPr/>
            <p:nvPr/>
          </p:nvSpPr>
          <p:spPr>
            <a:xfrm>
              <a:off x="1979018"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99" name="TextBox 98"/>
            <p:cNvSpPr txBox="1"/>
            <p:nvPr/>
          </p:nvSpPr>
          <p:spPr>
            <a:xfrm>
              <a:off x="1936158" y="3508610"/>
              <a:ext cx="442750"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exp</a:t>
              </a:r>
              <a:endParaRPr lang="zh-CN" altLang="en-US" sz="1100" b="1" dirty="0">
                <a:solidFill>
                  <a:srgbClr val="11576A"/>
                </a:solidFill>
                <a:latin typeface="微软雅黑"/>
                <a:ea typeface="微软雅黑"/>
              </a:endParaRPr>
            </a:p>
          </p:txBody>
        </p:sp>
        <p:sp>
          <p:nvSpPr>
            <p:cNvPr id="104" name="矩形 103"/>
            <p:cNvSpPr/>
            <p:nvPr/>
          </p:nvSpPr>
          <p:spPr>
            <a:xfrm>
              <a:off x="3331420" y="3535990"/>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05" name="TextBox 104"/>
            <p:cNvSpPr txBox="1"/>
            <p:nvPr/>
          </p:nvSpPr>
          <p:spPr>
            <a:xfrm>
              <a:off x="3326818" y="3508611"/>
              <a:ext cx="394660"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list</a:t>
              </a:r>
              <a:endParaRPr lang="zh-CN" altLang="en-US" sz="1100" b="1" dirty="0">
                <a:solidFill>
                  <a:srgbClr val="11576A"/>
                </a:solidFill>
                <a:latin typeface="微软雅黑"/>
                <a:ea typeface="微软雅黑"/>
              </a:endParaRPr>
            </a:p>
          </p:txBody>
        </p:sp>
        <p:sp>
          <p:nvSpPr>
            <p:cNvPr id="107" name="矩形 106"/>
            <p:cNvSpPr/>
            <p:nvPr/>
          </p:nvSpPr>
          <p:spPr>
            <a:xfrm>
              <a:off x="3686914" y="3535990"/>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08" name="TextBox 107"/>
            <p:cNvSpPr txBox="1"/>
            <p:nvPr/>
          </p:nvSpPr>
          <p:spPr>
            <a:xfrm>
              <a:off x="3625002" y="3508611"/>
              <a:ext cx="468398"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find</a:t>
              </a:r>
              <a:endParaRPr lang="zh-CN" altLang="en-US" sz="1100" b="1" dirty="0">
                <a:solidFill>
                  <a:srgbClr val="11576A"/>
                </a:solidFill>
                <a:latin typeface="微软雅黑"/>
                <a:ea typeface="微软雅黑"/>
              </a:endParaRPr>
            </a:p>
          </p:txBody>
        </p:sp>
        <p:sp>
          <p:nvSpPr>
            <p:cNvPr id="110" name="矩形 109"/>
            <p:cNvSpPr/>
            <p:nvPr/>
          </p:nvSpPr>
          <p:spPr>
            <a:xfrm>
              <a:off x="2866566" y="3535131"/>
              <a:ext cx="46800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11" name="TextBox 110"/>
            <p:cNvSpPr txBox="1"/>
            <p:nvPr/>
          </p:nvSpPr>
          <p:spPr>
            <a:xfrm>
              <a:off x="2806114" y="3514960"/>
              <a:ext cx="579005" cy="246221"/>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000" b="1" spc="-100" dirty="0">
                  <a:solidFill>
                    <a:srgbClr val="11576A"/>
                  </a:solidFill>
                  <a:latin typeface="微软雅黑"/>
                  <a:ea typeface="微软雅黑"/>
                </a:rPr>
                <a:t>reorder</a:t>
              </a:r>
              <a:endParaRPr lang="zh-CN" altLang="en-US" sz="1000" b="1" spc="-100" dirty="0">
                <a:solidFill>
                  <a:srgbClr val="11576A"/>
                </a:solidFill>
                <a:latin typeface="微软雅黑"/>
                <a:ea typeface="微软雅黑"/>
              </a:endParaRPr>
            </a:p>
          </p:txBody>
        </p:sp>
        <p:sp>
          <p:nvSpPr>
            <p:cNvPr id="113" name="矩形 112"/>
            <p:cNvSpPr/>
            <p:nvPr/>
          </p:nvSpPr>
          <p:spPr>
            <a:xfrm>
              <a:off x="4238157" y="3535989"/>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14" name="TextBox 113"/>
            <p:cNvSpPr txBox="1"/>
            <p:nvPr/>
          </p:nvSpPr>
          <p:spPr>
            <a:xfrm>
              <a:off x="4197409" y="3508610"/>
              <a:ext cx="43954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hex</a:t>
              </a:r>
              <a:endParaRPr lang="zh-CN" altLang="en-US" sz="1100" b="1" dirty="0">
                <a:solidFill>
                  <a:srgbClr val="11576A"/>
                </a:solidFill>
                <a:latin typeface="微软雅黑"/>
                <a:ea typeface="微软雅黑"/>
              </a:endParaRPr>
            </a:p>
          </p:txBody>
        </p:sp>
        <p:sp>
          <p:nvSpPr>
            <p:cNvPr id="119" name="矩形 118"/>
            <p:cNvSpPr/>
            <p:nvPr/>
          </p:nvSpPr>
          <p:spPr>
            <a:xfrm>
              <a:off x="910629"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20" name="TextBox 119"/>
            <p:cNvSpPr txBox="1"/>
            <p:nvPr/>
          </p:nvSpPr>
          <p:spPr>
            <a:xfrm>
              <a:off x="901106" y="4365867"/>
              <a:ext cx="394660"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list</a:t>
              </a:r>
              <a:endParaRPr lang="zh-CN" altLang="en-US" sz="1100" b="1" dirty="0">
                <a:solidFill>
                  <a:srgbClr val="11576A"/>
                </a:solidFill>
                <a:latin typeface="微软雅黑"/>
                <a:ea typeface="微软雅黑"/>
              </a:endParaRPr>
            </a:p>
          </p:txBody>
        </p:sp>
        <p:sp>
          <p:nvSpPr>
            <p:cNvPr id="122" name="矩形 121"/>
            <p:cNvSpPr/>
            <p:nvPr/>
          </p:nvSpPr>
          <p:spPr>
            <a:xfrm>
              <a:off x="1267651"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23" name="TextBox 122"/>
            <p:cNvSpPr txBox="1"/>
            <p:nvPr/>
          </p:nvSpPr>
          <p:spPr>
            <a:xfrm>
              <a:off x="1246696" y="4365867"/>
              <a:ext cx="415498"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err="1">
                  <a:solidFill>
                    <a:srgbClr val="11576A"/>
                  </a:solidFill>
                  <a:latin typeface="微软雅黑"/>
                  <a:ea typeface="微软雅黑"/>
                </a:rPr>
                <a:t>obj</a:t>
              </a:r>
              <a:endParaRPr lang="zh-CN" altLang="en-US" sz="1100" b="1" dirty="0">
                <a:solidFill>
                  <a:srgbClr val="11576A"/>
                </a:solidFill>
                <a:latin typeface="微软雅黑"/>
                <a:ea typeface="微软雅黑"/>
              </a:endParaRPr>
            </a:p>
          </p:txBody>
        </p:sp>
        <p:sp>
          <p:nvSpPr>
            <p:cNvPr id="125" name="矩形 124"/>
            <p:cNvSpPr/>
            <p:nvPr/>
          </p:nvSpPr>
          <p:spPr>
            <a:xfrm>
              <a:off x="1623145"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26" name="TextBox 125"/>
            <p:cNvSpPr txBox="1"/>
            <p:nvPr/>
          </p:nvSpPr>
          <p:spPr>
            <a:xfrm>
              <a:off x="1549805" y="4365867"/>
              <a:ext cx="513282"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spell</a:t>
              </a:r>
              <a:endParaRPr lang="zh-CN" altLang="en-US" sz="1100" b="1" dirty="0">
                <a:solidFill>
                  <a:srgbClr val="11576A"/>
                </a:solidFill>
                <a:latin typeface="微软雅黑"/>
                <a:ea typeface="微软雅黑"/>
              </a:endParaRPr>
            </a:p>
          </p:txBody>
        </p:sp>
        <p:sp>
          <p:nvSpPr>
            <p:cNvPr id="128" name="矩形 127"/>
            <p:cNvSpPr/>
            <p:nvPr/>
          </p:nvSpPr>
          <p:spPr>
            <a:xfrm>
              <a:off x="2020296"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29" name="TextBox 128"/>
            <p:cNvSpPr txBox="1"/>
            <p:nvPr/>
          </p:nvSpPr>
          <p:spPr>
            <a:xfrm>
              <a:off x="2046016" y="4365867"/>
              <a:ext cx="349776"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all</a:t>
              </a:r>
              <a:endParaRPr lang="zh-CN" altLang="en-US" sz="1100" b="1" dirty="0">
                <a:solidFill>
                  <a:srgbClr val="11576A"/>
                </a:solidFill>
                <a:latin typeface="微软雅黑"/>
                <a:ea typeface="微软雅黑"/>
              </a:endParaRPr>
            </a:p>
          </p:txBody>
        </p:sp>
        <p:sp>
          <p:nvSpPr>
            <p:cNvPr id="131" name="矩形 130"/>
            <p:cNvSpPr/>
            <p:nvPr/>
          </p:nvSpPr>
          <p:spPr>
            <a:xfrm>
              <a:off x="2409869"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32" name="TextBox 131"/>
            <p:cNvSpPr txBox="1"/>
            <p:nvPr/>
          </p:nvSpPr>
          <p:spPr>
            <a:xfrm>
              <a:off x="2377486" y="4365867"/>
              <a:ext cx="43473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last</a:t>
              </a:r>
              <a:endParaRPr lang="zh-CN" altLang="en-US" sz="1100" b="1" dirty="0">
                <a:solidFill>
                  <a:srgbClr val="11576A"/>
                </a:solidFill>
                <a:latin typeface="微软雅黑"/>
                <a:ea typeface="微软雅黑"/>
              </a:endParaRPr>
            </a:p>
          </p:txBody>
        </p:sp>
        <p:sp>
          <p:nvSpPr>
            <p:cNvPr id="134" name="矩形 133"/>
            <p:cNvSpPr/>
            <p:nvPr/>
          </p:nvSpPr>
          <p:spPr>
            <a:xfrm>
              <a:off x="2766891" y="4393246"/>
              <a:ext cx="35719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35" name="TextBox 134"/>
            <p:cNvSpPr txBox="1"/>
            <p:nvPr/>
          </p:nvSpPr>
          <p:spPr>
            <a:xfrm>
              <a:off x="2707836" y="4365867"/>
              <a:ext cx="470000"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srgbClr val="11576A"/>
                  </a:solidFill>
                  <a:latin typeface="微软雅黑"/>
                  <a:ea typeface="微软雅黑"/>
                </a:rPr>
                <a:t>first</a:t>
              </a:r>
              <a:endParaRPr lang="zh-CN" altLang="en-US" sz="1100" b="1" dirty="0">
                <a:solidFill>
                  <a:srgbClr val="11576A"/>
                </a:solidFill>
                <a:latin typeface="微软雅黑"/>
                <a:ea typeface="微软雅黑"/>
              </a:endParaRPr>
            </a:p>
          </p:txBody>
        </p:sp>
        <p:sp>
          <p:nvSpPr>
            <p:cNvPr id="137" name="矩形 136"/>
            <p:cNvSpPr/>
            <p:nvPr/>
          </p:nvSpPr>
          <p:spPr>
            <a:xfrm>
              <a:off x="4592191" y="3535131"/>
              <a:ext cx="468000" cy="212728"/>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38" name="TextBox 137"/>
            <p:cNvSpPr txBox="1"/>
            <p:nvPr/>
          </p:nvSpPr>
          <p:spPr>
            <a:xfrm>
              <a:off x="4546979" y="3514960"/>
              <a:ext cx="506870" cy="253916"/>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050" b="1" spc="-100" dirty="0">
                  <a:solidFill>
                    <a:srgbClr val="11576A"/>
                  </a:solidFill>
                  <a:latin typeface="微软雅黑"/>
                  <a:ea typeface="微软雅黑"/>
                </a:rPr>
                <a:t>count</a:t>
              </a:r>
              <a:endParaRPr lang="zh-CN" altLang="en-US" sz="1050" b="1" spc="-100" dirty="0">
                <a:solidFill>
                  <a:srgbClr val="11576A"/>
                </a:solidFill>
                <a:latin typeface="微软雅黑"/>
                <a:ea typeface="微软雅黑"/>
              </a:endParaRPr>
            </a:p>
          </p:txBody>
        </p:sp>
        <p:grpSp>
          <p:nvGrpSpPr>
            <p:cNvPr id="151" name="组合 150"/>
            <p:cNvGrpSpPr/>
            <p:nvPr/>
          </p:nvGrpSpPr>
          <p:grpSpPr>
            <a:xfrm>
              <a:off x="2839455" y="4613188"/>
              <a:ext cx="214314" cy="403833"/>
              <a:chOff x="3176581" y="4486287"/>
              <a:chExt cx="214314" cy="403833"/>
            </a:xfrm>
          </p:grpSpPr>
          <p:sp>
            <p:nvSpPr>
              <p:cNvPr id="139" name="椭圆 138"/>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46" name="直接箭头连接符 145"/>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48" name="组合 147"/>
            <p:cNvGrpSpPr/>
            <p:nvPr/>
          </p:nvGrpSpPr>
          <p:grpSpPr>
            <a:xfrm>
              <a:off x="2485437" y="4613188"/>
              <a:ext cx="214314" cy="403833"/>
              <a:chOff x="3176581" y="4486287"/>
              <a:chExt cx="214314" cy="403833"/>
            </a:xfrm>
          </p:grpSpPr>
          <p:sp>
            <p:nvSpPr>
              <p:cNvPr id="149" name="椭圆 148"/>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50" name="直接箭头连接符 149"/>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52" name="组合 151"/>
            <p:cNvGrpSpPr/>
            <p:nvPr/>
          </p:nvGrpSpPr>
          <p:grpSpPr>
            <a:xfrm>
              <a:off x="2091734" y="4613188"/>
              <a:ext cx="214314" cy="403833"/>
              <a:chOff x="3176581" y="4486287"/>
              <a:chExt cx="214314" cy="403833"/>
            </a:xfrm>
          </p:grpSpPr>
          <p:sp>
            <p:nvSpPr>
              <p:cNvPr id="153" name="椭圆 152"/>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54" name="直接箭头连接符 153"/>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55" name="组合 154"/>
            <p:cNvGrpSpPr/>
            <p:nvPr/>
          </p:nvGrpSpPr>
          <p:grpSpPr>
            <a:xfrm>
              <a:off x="1694856" y="4613188"/>
              <a:ext cx="214314" cy="403833"/>
              <a:chOff x="3176581" y="4486287"/>
              <a:chExt cx="214314" cy="403833"/>
            </a:xfrm>
          </p:grpSpPr>
          <p:sp>
            <p:nvSpPr>
              <p:cNvPr id="156" name="椭圆 155"/>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57" name="直接箭头连接符 156"/>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58" name="组合 157"/>
            <p:cNvGrpSpPr/>
            <p:nvPr/>
          </p:nvGrpSpPr>
          <p:grpSpPr>
            <a:xfrm>
              <a:off x="1336079" y="4613188"/>
              <a:ext cx="214314" cy="403833"/>
              <a:chOff x="3176581" y="4486287"/>
              <a:chExt cx="214314" cy="403833"/>
            </a:xfrm>
          </p:grpSpPr>
          <p:sp>
            <p:nvSpPr>
              <p:cNvPr id="159" name="椭圆 158"/>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60" name="直接箭头连接符 159"/>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61" name="组合 160"/>
            <p:cNvGrpSpPr/>
            <p:nvPr/>
          </p:nvGrpSpPr>
          <p:grpSpPr>
            <a:xfrm>
              <a:off x="977301" y="4613188"/>
              <a:ext cx="214314" cy="403833"/>
              <a:chOff x="3176581" y="4486287"/>
              <a:chExt cx="214314" cy="403833"/>
            </a:xfrm>
          </p:grpSpPr>
          <p:sp>
            <p:nvSpPr>
              <p:cNvPr id="162" name="椭圆 161"/>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63" name="直接箭头连接符 162"/>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64" name="组合 163"/>
            <p:cNvGrpSpPr/>
            <p:nvPr/>
          </p:nvGrpSpPr>
          <p:grpSpPr>
            <a:xfrm>
              <a:off x="3763383" y="3751171"/>
              <a:ext cx="214314" cy="403833"/>
              <a:chOff x="3176581" y="4486287"/>
              <a:chExt cx="214314" cy="403833"/>
            </a:xfrm>
          </p:grpSpPr>
          <p:sp>
            <p:nvSpPr>
              <p:cNvPr id="165" name="椭圆 164"/>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66" name="直接箭头连接符 165"/>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67" name="组合 166"/>
            <p:cNvGrpSpPr/>
            <p:nvPr/>
          </p:nvGrpSpPr>
          <p:grpSpPr>
            <a:xfrm>
              <a:off x="3403015" y="3751171"/>
              <a:ext cx="214314" cy="403833"/>
              <a:chOff x="3176581" y="4486287"/>
              <a:chExt cx="214314" cy="403833"/>
            </a:xfrm>
          </p:grpSpPr>
          <p:sp>
            <p:nvSpPr>
              <p:cNvPr id="168" name="椭圆 167"/>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69" name="直接箭头连接符 168"/>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70" name="组合 169"/>
            <p:cNvGrpSpPr/>
            <p:nvPr/>
          </p:nvGrpSpPr>
          <p:grpSpPr>
            <a:xfrm>
              <a:off x="2987087" y="3751171"/>
              <a:ext cx="214314" cy="403833"/>
              <a:chOff x="3176581" y="4486287"/>
              <a:chExt cx="214314" cy="403833"/>
            </a:xfrm>
          </p:grpSpPr>
          <p:sp>
            <p:nvSpPr>
              <p:cNvPr id="171" name="椭圆 170"/>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72" name="直接箭头连接符 171"/>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73" name="组合 172"/>
            <p:cNvGrpSpPr/>
            <p:nvPr/>
          </p:nvGrpSpPr>
          <p:grpSpPr>
            <a:xfrm>
              <a:off x="3396666" y="2965174"/>
              <a:ext cx="214314" cy="403833"/>
              <a:chOff x="3176581" y="4486287"/>
              <a:chExt cx="214314" cy="403833"/>
            </a:xfrm>
          </p:grpSpPr>
          <p:sp>
            <p:nvSpPr>
              <p:cNvPr id="174" name="椭圆 173"/>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75" name="直接箭头连接符 174"/>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76" name="组合 175"/>
            <p:cNvGrpSpPr/>
            <p:nvPr/>
          </p:nvGrpSpPr>
          <p:grpSpPr>
            <a:xfrm>
              <a:off x="2998205" y="2965174"/>
              <a:ext cx="214314" cy="403833"/>
              <a:chOff x="3176581" y="4486287"/>
              <a:chExt cx="214314" cy="403833"/>
            </a:xfrm>
          </p:grpSpPr>
          <p:sp>
            <p:nvSpPr>
              <p:cNvPr id="177" name="椭圆 176"/>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78" name="直接箭头连接符 177"/>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79" name="组合 178"/>
            <p:cNvGrpSpPr/>
            <p:nvPr/>
          </p:nvGrpSpPr>
          <p:grpSpPr>
            <a:xfrm>
              <a:off x="2639428" y="2965174"/>
              <a:ext cx="214314" cy="403833"/>
              <a:chOff x="3176581" y="4486287"/>
              <a:chExt cx="214314" cy="403833"/>
            </a:xfrm>
          </p:grpSpPr>
          <p:sp>
            <p:nvSpPr>
              <p:cNvPr id="180" name="椭圆 179"/>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81" name="直接箭头连接符 180"/>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82" name="组合 181"/>
            <p:cNvGrpSpPr/>
            <p:nvPr/>
          </p:nvGrpSpPr>
          <p:grpSpPr>
            <a:xfrm>
              <a:off x="2272706" y="2965174"/>
              <a:ext cx="214314" cy="403833"/>
              <a:chOff x="3176581" y="4486287"/>
              <a:chExt cx="214314" cy="403833"/>
            </a:xfrm>
          </p:grpSpPr>
          <p:sp>
            <p:nvSpPr>
              <p:cNvPr id="183" name="椭圆 182"/>
              <p:cNvSpPr/>
              <p:nvPr/>
            </p:nvSpPr>
            <p:spPr>
              <a:xfrm>
                <a:off x="3176581" y="4675806"/>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84" name="直接箭头连接符 183"/>
              <p:cNvCxnSpPr/>
              <p:nvPr/>
            </p:nvCxnSpPr>
            <p:spPr>
              <a:xfrm rot="16200000" flipH="1">
                <a:off x="3189962" y="4576287"/>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92" name="组合 191"/>
            <p:cNvGrpSpPr/>
            <p:nvPr/>
          </p:nvGrpSpPr>
          <p:grpSpPr>
            <a:xfrm>
              <a:off x="4723035" y="3758830"/>
              <a:ext cx="214314" cy="619833"/>
              <a:chOff x="5000628" y="3784510"/>
              <a:chExt cx="214314" cy="619833"/>
            </a:xfrm>
          </p:grpSpPr>
          <p:sp>
            <p:nvSpPr>
              <p:cNvPr id="186" name="椭圆 185"/>
              <p:cNvSpPr/>
              <p:nvPr/>
            </p:nvSpPr>
            <p:spPr>
              <a:xfrm>
                <a:off x="5000628" y="4190029"/>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87" name="直接箭头连接符 186"/>
              <p:cNvCxnSpPr/>
              <p:nvPr/>
            </p:nvCxnSpPr>
            <p:spPr>
              <a:xfrm rot="16200000" flipH="1">
                <a:off x="4906009" y="3982510"/>
                <a:ext cx="396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91" name="组合 190"/>
            <p:cNvGrpSpPr/>
            <p:nvPr/>
          </p:nvGrpSpPr>
          <p:grpSpPr>
            <a:xfrm>
              <a:off x="4303134" y="3758830"/>
              <a:ext cx="214314" cy="619833"/>
              <a:chOff x="4640260" y="3784510"/>
              <a:chExt cx="214314" cy="619833"/>
            </a:xfrm>
          </p:grpSpPr>
          <p:sp>
            <p:nvSpPr>
              <p:cNvPr id="189" name="椭圆 188"/>
              <p:cNvSpPr/>
              <p:nvPr/>
            </p:nvSpPr>
            <p:spPr>
              <a:xfrm>
                <a:off x="4640260" y="4190029"/>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90" name="直接箭头连接符 189"/>
              <p:cNvCxnSpPr/>
              <p:nvPr/>
            </p:nvCxnSpPr>
            <p:spPr>
              <a:xfrm rot="16200000" flipH="1">
                <a:off x="4545641" y="3982510"/>
                <a:ext cx="396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194" name="椭圆 193"/>
            <p:cNvSpPr/>
            <p:nvPr/>
          </p:nvSpPr>
          <p:spPr>
            <a:xfrm>
              <a:off x="948726" y="3154693"/>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95" name="直接箭头连接符 194"/>
            <p:cNvCxnSpPr/>
            <p:nvPr/>
          </p:nvCxnSpPr>
          <p:spPr>
            <a:xfrm rot="16200000" flipH="1">
              <a:off x="962107" y="3055174"/>
              <a:ext cx="180000" cy="0"/>
            </a:xfrm>
            <a:prstGeom prst="straightConnector1">
              <a:avLst/>
            </a:prstGeom>
            <a:ln w="28575">
              <a:solidFill>
                <a:srgbClr val="11576A"/>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96" name="椭圆 195"/>
            <p:cNvSpPr/>
            <p:nvPr/>
          </p:nvSpPr>
          <p:spPr>
            <a:xfrm>
              <a:off x="1905995" y="3107068"/>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200" name="直接箭头连接符 199"/>
            <p:cNvCxnSpPr/>
            <p:nvPr/>
          </p:nvCxnSpPr>
          <p:spPr>
            <a:xfrm rot="16200000" flipH="1">
              <a:off x="1804622" y="2972543"/>
              <a:ext cx="142876" cy="145595"/>
            </a:xfrm>
            <a:prstGeom prst="straightConnector1">
              <a:avLst/>
            </a:prstGeom>
            <a:ln w="2857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cxnSp>
        <p:sp>
          <p:nvSpPr>
            <p:cNvPr id="201" name="椭圆 200"/>
            <p:cNvSpPr/>
            <p:nvPr/>
          </p:nvSpPr>
          <p:spPr>
            <a:xfrm>
              <a:off x="5020692" y="3107068"/>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202" name="直接箭头连接符 201"/>
            <p:cNvCxnSpPr/>
            <p:nvPr/>
          </p:nvCxnSpPr>
          <p:spPr>
            <a:xfrm rot="16200000" flipH="1">
              <a:off x="4919319" y="2972543"/>
              <a:ext cx="142876" cy="145595"/>
            </a:xfrm>
            <a:prstGeom prst="straightConnector1">
              <a:avLst/>
            </a:prstGeom>
            <a:ln w="2857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cxnSp>
        <p:sp>
          <p:nvSpPr>
            <p:cNvPr id="203" name="椭圆 202"/>
            <p:cNvSpPr/>
            <p:nvPr/>
          </p:nvSpPr>
          <p:spPr>
            <a:xfrm>
              <a:off x="2334626" y="3897834"/>
              <a:ext cx="214314" cy="214314"/>
            </a:xfrm>
            <a:prstGeom prst="ellipse">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204" name="直接箭头连接符 203"/>
            <p:cNvCxnSpPr/>
            <p:nvPr/>
          </p:nvCxnSpPr>
          <p:spPr>
            <a:xfrm rot="16200000" flipH="1">
              <a:off x="2233253" y="3763309"/>
              <a:ext cx="142876" cy="145595"/>
            </a:xfrm>
            <a:prstGeom prst="straightConnector1">
              <a:avLst/>
            </a:prstGeom>
            <a:ln w="2857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07" name="直接箭头连接符 206"/>
            <p:cNvCxnSpPr>
              <a:stCxn id="52" idx="2"/>
            </p:cNvCxnSpPr>
            <p:nvPr/>
          </p:nvCxnSpPr>
          <p:spPr>
            <a:xfrm rot="16200000" flipH="1">
              <a:off x="1265828" y="3165567"/>
              <a:ext cx="538160" cy="180231"/>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直接箭头连接符 208"/>
            <p:cNvCxnSpPr>
              <a:stCxn id="67" idx="2"/>
              <a:endCxn id="105" idx="0"/>
            </p:cNvCxnSpPr>
            <p:nvPr/>
          </p:nvCxnSpPr>
          <p:spPr>
            <a:xfrm rot="5400000">
              <a:off x="3583543" y="2912919"/>
              <a:ext cx="536297" cy="655086"/>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直接箭头连接符 210"/>
            <p:cNvCxnSpPr>
              <a:stCxn id="70" idx="2"/>
            </p:cNvCxnSpPr>
            <p:nvPr/>
          </p:nvCxnSpPr>
          <p:spPr>
            <a:xfrm rot="16200000" flipH="1">
              <a:off x="4294478" y="3222416"/>
              <a:ext cx="528635" cy="57007"/>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直接箭头连接符 212"/>
            <p:cNvCxnSpPr>
              <a:stCxn id="90" idx="2"/>
              <a:endCxn id="123" idx="0"/>
            </p:cNvCxnSpPr>
            <p:nvPr/>
          </p:nvCxnSpPr>
          <p:spPr>
            <a:xfrm rot="16200000" flipH="1">
              <a:off x="976788" y="3888209"/>
              <a:ext cx="595647" cy="359667"/>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直接箭头连接符 214"/>
            <p:cNvCxnSpPr>
              <a:stCxn id="93" idx="2"/>
              <a:endCxn id="129" idx="0"/>
            </p:cNvCxnSpPr>
            <p:nvPr/>
          </p:nvCxnSpPr>
          <p:spPr>
            <a:xfrm rot="16200000" flipH="1">
              <a:off x="1537023" y="3681985"/>
              <a:ext cx="595647" cy="772115"/>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箭头连接符 216"/>
            <p:cNvCxnSpPr>
              <a:stCxn id="96" idx="2"/>
            </p:cNvCxnSpPr>
            <p:nvPr/>
          </p:nvCxnSpPr>
          <p:spPr>
            <a:xfrm rot="16200000" flipH="1">
              <a:off x="1981135" y="3590360"/>
              <a:ext cx="597505" cy="957223"/>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直接箭头连接符 219"/>
            <p:cNvCxnSpPr>
              <a:stCxn id="83" idx="2"/>
            </p:cNvCxnSpPr>
            <p:nvPr/>
          </p:nvCxnSpPr>
          <p:spPr>
            <a:xfrm rot="5400000">
              <a:off x="2786462" y="2610974"/>
              <a:ext cx="249238" cy="364"/>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箭头连接符 221"/>
            <p:cNvCxnSpPr>
              <a:stCxn id="80" idx="2"/>
            </p:cNvCxnSpPr>
            <p:nvPr/>
          </p:nvCxnSpPr>
          <p:spPr>
            <a:xfrm rot="5400000">
              <a:off x="2102433" y="2371078"/>
              <a:ext cx="252413" cy="48333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接箭头连接符 223"/>
            <p:cNvCxnSpPr>
              <a:stCxn id="86" idx="2"/>
              <a:endCxn id="66" idx="1"/>
            </p:cNvCxnSpPr>
            <p:nvPr/>
          </p:nvCxnSpPr>
          <p:spPr>
            <a:xfrm rot="16200000" flipH="1">
              <a:off x="3548784" y="2303684"/>
              <a:ext cx="271463" cy="599068"/>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sp>
        <p:nvSpPr>
          <p:cNvPr id="145" name="TextBox 4"/>
          <p:cNvSpPr txBox="1">
            <a:spLocks noChangeArrowheads="1"/>
          </p:cNvSpPr>
          <p:nvPr/>
        </p:nvSpPr>
        <p:spPr bwMode="auto">
          <a:xfrm>
            <a:off x="6925997" y="4674602"/>
            <a:ext cx="2159566"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en-US" altLang="zh-CN" sz="1600" b="1" dirty="0">
                <a:solidFill>
                  <a:prstClr val="black"/>
                </a:solidFill>
                <a:latin typeface="Courier New" panose="02070309020205020404" pitchFamily="49" charset="0"/>
                <a:ea typeface="微软雅黑"/>
                <a:cs typeface="Courier New" panose="02070309020205020404" pitchFamily="49" charset="0"/>
              </a:rPr>
              <a:t>/programs/p/list</a:t>
            </a:r>
          </a:p>
        </p:txBody>
      </p:sp>
      <p:grpSp>
        <p:nvGrpSpPr>
          <p:cNvPr id="18" name="组合 17"/>
          <p:cNvGrpSpPr/>
          <p:nvPr/>
        </p:nvGrpSpPr>
        <p:grpSpPr>
          <a:xfrm>
            <a:off x="2734798" y="3067408"/>
            <a:ext cx="1977591" cy="2817830"/>
            <a:chOff x="1210794" y="2210158"/>
            <a:chExt cx="1977591" cy="2817830"/>
          </a:xfrm>
        </p:grpSpPr>
        <p:grpSp>
          <p:nvGrpSpPr>
            <p:cNvPr id="6" name="组合 5"/>
            <p:cNvGrpSpPr/>
            <p:nvPr/>
          </p:nvGrpSpPr>
          <p:grpSpPr>
            <a:xfrm>
              <a:off x="2227244" y="2210158"/>
              <a:ext cx="504000" cy="261610"/>
              <a:chOff x="2380508" y="2361931"/>
              <a:chExt cx="504000" cy="261610"/>
            </a:xfrm>
          </p:grpSpPr>
          <p:sp>
            <p:nvSpPr>
              <p:cNvPr id="188" name="矩形 187"/>
              <p:cNvSpPr/>
              <p:nvPr/>
            </p:nvSpPr>
            <p:spPr>
              <a:xfrm>
                <a:off x="2380508" y="2399614"/>
                <a:ext cx="50400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193" name="TextBox 79"/>
              <p:cNvSpPr txBox="1"/>
              <p:nvPr/>
            </p:nvSpPr>
            <p:spPr>
              <a:xfrm>
                <a:off x="2403044" y="2361931"/>
                <a:ext cx="449162"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spc="-100" dirty="0">
                    <a:solidFill>
                      <a:prstClr val="black"/>
                    </a:solidFill>
                    <a:latin typeface="微软雅黑"/>
                    <a:ea typeface="微软雅黑"/>
                  </a:rPr>
                  <a:t>spell</a:t>
                </a:r>
                <a:endParaRPr lang="zh-CN" altLang="en-US" sz="1100" b="1" spc="-100" dirty="0">
                  <a:solidFill>
                    <a:prstClr val="black"/>
                  </a:solidFill>
                  <a:latin typeface="微软雅黑"/>
                  <a:ea typeface="微软雅黑"/>
                </a:endParaRPr>
              </a:p>
            </p:txBody>
          </p:sp>
        </p:grpSp>
        <p:grpSp>
          <p:nvGrpSpPr>
            <p:cNvPr id="17" name="组合 16"/>
            <p:cNvGrpSpPr/>
            <p:nvPr/>
          </p:nvGrpSpPr>
          <p:grpSpPr>
            <a:xfrm>
              <a:off x="1210794" y="2717298"/>
              <a:ext cx="487634" cy="261610"/>
              <a:chOff x="6768625" y="2177376"/>
              <a:chExt cx="487634" cy="261610"/>
            </a:xfrm>
          </p:grpSpPr>
          <p:sp>
            <p:nvSpPr>
              <p:cNvPr id="199" name="矩形 198"/>
              <p:cNvSpPr/>
              <p:nvPr/>
            </p:nvSpPr>
            <p:spPr>
              <a:xfrm>
                <a:off x="6823750" y="2203799"/>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206" name="TextBox 51"/>
              <p:cNvSpPr txBox="1"/>
              <p:nvPr/>
            </p:nvSpPr>
            <p:spPr>
              <a:xfrm>
                <a:off x="6768625" y="2177376"/>
                <a:ext cx="48763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prstClr val="black"/>
                    </a:solidFill>
                    <a:latin typeface="微软雅黑"/>
                    <a:ea typeface="微软雅黑"/>
                  </a:rPr>
                  <a:t>mail</a:t>
                </a:r>
                <a:endParaRPr lang="zh-CN" altLang="en-US" sz="1100" b="1" dirty="0">
                  <a:solidFill>
                    <a:prstClr val="black"/>
                  </a:solidFill>
                  <a:latin typeface="微软雅黑"/>
                  <a:ea typeface="微软雅黑"/>
                </a:endParaRPr>
              </a:p>
            </p:txBody>
          </p:sp>
        </p:grpSp>
        <p:grpSp>
          <p:nvGrpSpPr>
            <p:cNvPr id="10" name="组合 9"/>
            <p:cNvGrpSpPr/>
            <p:nvPr/>
          </p:nvGrpSpPr>
          <p:grpSpPr>
            <a:xfrm>
              <a:off x="1609081" y="3515302"/>
              <a:ext cx="396262" cy="261610"/>
              <a:chOff x="1759905" y="3667850"/>
              <a:chExt cx="396262" cy="261610"/>
            </a:xfrm>
          </p:grpSpPr>
          <p:sp>
            <p:nvSpPr>
              <p:cNvPr id="208" name="矩形 207"/>
              <p:cNvSpPr/>
              <p:nvPr/>
            </p:nvSpPr>
            <p:spPr>
              <a:xfrm>
                <a:off x="1775545" y="3688389"/>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210" name="TextBox 95"/>
              <p:cNvSpPr txBox="1"/>
              <p:nvPr/>
            </p:nvSpPr>
            <p:spPr>
              <a:xfrm>
                <a:off x="1759905" y="3667850"/>
                <a:ext cx="396262"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err="1">
                    <a:solidFill>
                      <a:prstClr val="black"/>
                    </a:solidFill>
                    <a:latin typeface="微软雅黑"/>
                    <a:ea typeface="微软雅黑"/>
                  </a:rPr>
                  <a:t>prt</a:t>
                </a:r>
                <a:endParaRPr lang="zh-CN" altLang="en-US" sz="1100" b="1" dirty="0">
                  <a:solidFill>
                    <a:prstClr val="black"/>
                  </a:solidFill>
                  <a:latin typeface="微软雅黑"/>
                  <a:ea typeface="微软雅黑"/>
                </a:endParaRPr>
              </a:p>
            </p:txBody>
          </p:sp>
        </p:grpSp>
        <p:grpSp>
          <p:nvGrpSpPr>
            <p:cNvPr id="11" name="组合 10"/>
            <p:cNvGrpSpPr/>
            <p:nvPr/>
          </p:nvGrpSpPr>
          <p:grpSpPr>
            <a:xfrm>
              <a:off x="2718385" y="4377431"/>
              <a:ext cx="470000" cy="261610"/>
              <a:chOff x="2866933" y="4524861"/>
              <a:chExt cx="470000" cy="261610"/>
            </a:xfrm>
          </p:grpSpPr>
          <p:sp>
            <p:nvSpPr>
              <p:cNvPr id="212" name="矩形 211"/>
              <p:cNvSpPr/>
              <p:nvPr/>
            </p:nvSpPr>
            <p:spPr>
              <a:xfrm>
                <a:off x="2919291" y="4545646"/>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214" name="TextBox 134"/>
              <p:cNvSpPr txBox="1"/>
              <p:nvPr/>
            </p:nvSpPr>
            <p:spPr>
              <a:xfrm>
                <a:off x="2866933" y="4524861"/>
                <a:ext cx="470000"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prstClr val="black"/>
                    </a:solidFill>
                    <a:latin typeface="微软雅黑"/>
                    <a:ea typeface="微软雅黑"/>
                  </a:rPr>
                  <a:t>first</a:t>
                </a:r>
                <a:endParaRPr lang="zh-CN" altLang="en-US" sz="1100" b="1" dirty="0">
                  <a:solidFill>
                    <a:prstClr val="black"/>
                  </a:solidFill>
                  <a:latin typeface="微软雅黑"/>
                  <a:ea typeface="微软雅黑"/>
                </a:endParaRPr>
              </a:p>
            </p:txBody>
          </p:sp>
        </p:grpSp>
        <p:cxnSp>
          <p:nvCxnSpPr>
            <p:cNvPr id="227" name="直接箭头连接符 226"/>
            <p:cNvCxnSpPr/>
            <p:nvPr/>
          </p:nvCxnSpPr>
          <p:spPr>
            <a:xfrm rot="5400000">
              <a:off x="2099959" y="2368156"/>
              <a:ext cx="252413" cy="483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8" name="直接箭头连接符 227"/>
            <p:cNvCxnSpPr/>
            <p:nvPr/>
          </p:nvCxnSpPr>
          <p:spPr>
            <a:xfrm rot="16200000" flipH="1">
              <a:off x="1262537" y="3162957"/>
              <a:ext cx="538160" cy="18023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9" name="直接箭头连接符 228"/>
            <p:cNvCxnSpPr/>
            <p:nvPr/>
          </p:nvCxnSpPr>
          <p:spPr>
            <a:xfrm rot="16200000" flipH="1">
              <a:off x="1971115" y="3588502"/>
              <a:ext cx="597505" cy="95722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0" name="椭圆 229"/>
            <p:cNvSpPr/>
            <p:nvPr/>
          </p:nvSpPr>
          <p:spPr>
            <a:xfrm>
              <a:off x="2835679" y="4813674"/>
              <a:ext cx="214314" cy="214314"/>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231" name="直接箭头连接符 230"/>
            <p:cNvCxnSpPr/>
            <p:nvPr/>
          </p:nvCxnSpPr>
          <p:spPr>
            <a:xfrm rot="16200000" flipH="1">
              <a:off x="2852836" y="4712707"/>
              <a:ext cx="180000" cy="0"/>
            </a:xfrm>
            <a:prstGeom prst="straightConnector1">
              <a:avLst/>
            </a:prstGeom>
            <a:ln w="28575">
              <a:solidFill>
                <a:srgbClr val="C00000"/>
              </a:solidFill>
              <a:headEnd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4570976" y="3087721"/>
            <a:ext cx="1317945" cy="1925181"/>
            <a:chOff x="3039884" y="2230467"/>
            <a:chExt cx="1317945" cy="1925181"/>
          </a:xfrm>
        </p:grpSpPr>
        <p:grpSp>
          <p:nvGrpSpPr>
            <p:cNvPr id="13" name="组合 12"/>
            <p:cNvGrpSpPr/>
            <p:nvPr/>
          </p:nvGrpSpPr>
          <p:grpSpPr>
            <a:xfrm>
              <a:off x="3039884" y="2230467"/>
              <a:ext cx="708848" cy="246221"/>
              <a:chOff x="3194985" y="2387402"/>
              <a:chExt cx="708848" cy="246221"/>
            </a:xfrm>
          </p:grpSpPr>
          <p:sp>
            <p:nvSpPr>
              <p:cNvPr id="216" name="矩形 215"/>
              <p:cNvSpPr/>
              <p:nvPr/>
            </p:nvSpPr>
            <p:spPr>
              <a:xfrm>
                <a:off x="3243409" y="2399614"/>
                <a:ext cx="61200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219" name="TextBox 85"/>
              <p:cNvSpPr txBox="1"/>
              <p:nvPr/>
            </p:nvSpPr>
            <p:spPr>
              <a:xfrm>
                <a:off x="3194985" y="2387402"/>
                <a:ext cx="708848" cy="246221"/>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000" b="1" spc="-100" dirty="0">
                    <a:solidFill>
                      <a:prstClr val="black"/>
                    </a:solidFill>
                    <a:latin typeface="微软雅黑"/>
                    <a:ea typeface="微软雅黑"/>
                  </a:rPr>
                  <a:t>programs</a:t>
                </a:r>
                <a:endParaRPr lang="zh-CN" altLang="en-US" sz="1000" b="1" spc="-100" dirty="0">
                  <a:solidFill>
                    <a:prstClr val="black"/>
                  </a:solidFill>
                  <a:latin typeface="微软雅黑"/>
                  <a:ea typeface="微软雅黑"/>
                </a:endParaRPr>
              </a:p>
            </p:txBody>
          </p:sp>
        </p:grpSp>
        <p:grpSp>
          <p:nvGrpSpPr>
            <p:cNvPr id="14" name="组合 13"/>
            <p:cNvGrpSpPr/>
            <p:nvPr/>
          </p:nvGrpSpPr>
          <p:grpSpPr>
            <a:xfrm>
              <a:off x="4000639" y="2715761"/>
              <a:ext cx="357190" cy="261610"/>
              <a:chOff x="4146246" y="2863104"/>
              <a:chExt cx="357190" cy="261610"/>
            </a:xfrm>
          </p:grpSpPr>
          <p:sp>
            <p:nvSpPr>
              <p:cNvPr id="221" name="矩形 220"/>
              <p:cNvSpPr/>
              <p:nvPr/>
            </p:nvSpPr>
            <p:spPr>
              <a:xfrm>
                <a:off x="4146246" y="2896118"/>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223" name="TextBox 66"/>
              <p:cNvSpPr txBox="1"/>
              <p:nvPr/>
            </p:nvSpPr>
            <p:spPr>
              <a:xfrm>
                <a:off x="4192012" y="2863104"/>
                <a:ext cx="279244"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prstClr val="black"/>
                    </a:solidFill>
                    <a:latin typeface="微软雅黑"/>
                    <a:ea typeface="微软雅黑"/>
                  </a:rPr>
                  <a:t>p</a:t>
                </a:r>
                <a:endParaRPr lang="zh-CN" altLang="en-US" sz="1100" b="1" dirty="0">
                  <a:solidFill>
                    <a:prstClr val="black"/>
                  </a:solidFill>
                  <a:latin typeface="微软雅黑"/>
                  <a:ea typeface="微软雅黑"/>
                </a:endParaRPr>
              </a:p>
            </p:txBody>
          </p:sp>
        </p:grpSp>
        <p:grpSp>
          <p:nvGrpSpPr>
            <p:cNvPr id="15" name="组合 14"/>
            <p:cNvGrpSpPr/>
            <p:nvPr/>
          </p:nvGrpSpPr>
          <p:grpSpPr>
            <a:xfrm>
              <a:off x="3321389" y="3514719"/>
              <a:ext cx="394660" cy="261610"/>
              <a:chOff x="3479218" y="3663949"/>
              <a:chExt cx="394660" cy="261610"/>
            </a:xfrm>
          </p:grpSpPr>
          <p:sp>
            <p:nvSpPr>
              <p:cNvPr id="225" name="矩形 224"/>
              <p:cNvSpPr/>
              <p:nvPr/>
            </p:nvSpPr>
            <p:spPr>
              <a:xfrm>
                <a:off x="3483820" y="3688390"/>
                <a:ext cx="357190" cy="212728"/>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dirty="0">
                  <a:solidFill>
                    <a:prstClr val="black"/>
                  </a:solidFill>
                  <a:latin typeface="MS PGothic"/>
                  <a:ea typeface="微软雅黑"/>
                </a:endParaRPr>
              </a:p>
            </p:txBody>
          </p:sp>
          <p:sp>
            <p:nvSpPr>
              <p:cNvPr id="226" name="TextBox 104"/>
              <p:cNvSpPr txBox="1"/>
              <p:nvPr/>
            </p:nvSpPr>
            <p:spPr>
              <a:xfrm>
                <a:off x="3479218" y="3663949"/>
                <a:ext cx="394660" cy="261610"/>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100" b="1" dirty="0">
                    <a:solidFill>
                      <a:prstClr val="black"/>
                    </a:solidFill>
                    <a:latin typeface="微软雅黑"/>
                    <a:ea typeface="微软雅黑"/>
                  </a:rPr>
                  <a:t>list</a:t>
                </a:r>
                <a:endParaRPr lang="zh-CN" altLang="en-US" sz="1100" b="1" dirty="0">
                  <a:solidFill>
                    <a:prstClr val="black"/>
                  </a:solidFill>
                  <a:latin typeface="微软雅黑"/>
                  <a:ea typeface="微软雅黑"/>
                </a:endParaRPr>
              </a:p>
            </p:txBody>
          </p:sp>
        </p:grpSp>
        <p:sp>
          <p:nvSpPr>
            <p:cNvPr id="232" name="椭圆 231"/>
            <p:cNvSpPr/>
            <p:nvPr/>
          </p:nvSpPr>
          <p:spPr>
            <a:xfrm>
              <a:off x="3406162" y="3941334"/>
              <a:ext cx="214314" cy="214314"/>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233" name="直接箭头连接符 232"/>
            <p:cNvCxnSpPr/>
            <p:nvPr/>
          </p:nvCxnSpPr>
          <p:spPr>
            <a:xfrm rot="16200000" flipH="1">
              <a:off x="3419618" y="3843983"/>
              <a:ext cx="180000" cy="0"/>
            </a:xfrm>
            <a:prstGeom prst="straightConnector1">
              <a:avLst/>
            </a:prstGeom>
            <a:ln w="38100">
              <a:solidFill>
                <a:srgbClr val="C00000"/>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34" name="直接箭头连接符 233"/>
            <p:cNvCxnSpPr/>
            <p:nvPr/>
          </p:nvCxnSpPr>
          <p:spPr>
            <a:xfrm rot="5400000">
              <a:off x="3565791" y="2909436"/>
              <a:ext cx="536297" cy="65508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接箭头连接符 234"/>
            <p:cNvCxnSpPr/>
            <p:nvPr/>
          </p:nvCxnSpPr>
          <p:spPr>
            <a:xfrm rot="16200000" flipH="1">
              <a:off x="3544172" y="2299672"/>
              <a:ext cx="271463" cy="59906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标题 19">
            <a:extLst>
              <a:ext uri="{FF2B5EF4-FFF2-40B4-BE49-F238E27FC236}">
                <a16:creationId xmlns:a16="http://schemas.microsoft.com/office/drawing/2014/main" id="{F1EA167E-0221-F73A-FEE0-2FF4F45B02EE}"/>
              </a:ext>
            </a:extLst>
          </p:cNvPr>
          <p:cNvSpPr>
            <a:spLocks noGrp="1"/>
          </p:cNvSpPr>
          <p:nvPr>
            <p:ph type="title"/>
          </p:nvPr>
        </p:nvSpPr>
        <p:spPr/>
        <p:txBody>
          <a:bodyPr>
            <a:normAutofit/>
          </a:bodyPr>
          <a:lstStyle/>
          <a:p>
            <a:r>
              <a:rPr lang="zh-CN" altLang="en-US" dirty="0"/>
              <a:t>分层文件系统</a:t>
            </a:r>
          </a:p>
        </p:txBody>
      </p:sp>
      <p:sp>
        <p:nvSpPr>
          <p:cNvPr id="22" name="灯片编号占位符 21">
            <a:extLst>
              <a:ext uri="{FF2B5EF4-FFF2-40B4-BE49-F238E27FC236}">
                <a16:creationId xmlns:a16="http://schemas.microsoft.com/office/drawing/2014/main" id="{0D07E007-298B-88CA-D3FA-3C771FCEA565}"/>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a:t>
            </a:fld>
            <a:endParaRPr lang="zh-CN" altLang="en-US" dirty="0"/>
          </a:p>
        </p:txBody>
      </p:sp>
    </p:spTree>
    <p:extLst>
      <p:ext uri="{BB962C8B-B14F-4D97-AF65-F5344CB8AC3E}">
        <p14:creationId xmlns:p14="http://schemas.microsoft.com/office/powerpoint/2010/main" val="158368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up)">
                                      <p:cBhvr>
                                        <p:cTn id="31" dur="1000"/>
                                        <p:tgtEl>
                                          <p:spTgt spid="18"/>
                                        </p:tgtEl>
                                      </p:cBhvr>
                                    </p:animEffect>
                                  </p:childTnLst>
                                </p:cTn>
                              </p:par>
                            </p:childTnLst>
                          </p:cTn>
                        </p:par>
                        <p:par>
                          <p:cTn id="32" fill="hold">
                            <p:stCondLst>
                              <p:cond delay="1500"/>
                            </p:stCondLst>
                            <p:childTnLst>
                              <p:par>
                                <p:cTn id="33" presetID="35" presetClass="emph" presetSubtype="0" repeatCount="indefinite" fill="hold" nodeType="afterEffect">
                                  <p:stCondLst>
                                    <p:cond delay="0"/>
                                  </p:stCondLst>
                                  <p:endCondLst>
                                    <p:cond evt="onNext" delay="0">
                                      <p:tgtEl>
                                        <p:sldTgt/>
                                      </p:tgtEl>
                                    </p:cond>
                                  </p:endCondLst>
                                  <p:childTnLst>
                                    <p:anim calcmode="discrete" valueType="str">
                                      <p:cBhvr>
                                        <p:cTn id="34" dur="500" fill="hold"/>
                                        <p:tgtEl>
                                          <p:spTgt spid="18"/>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par>
                                <p:cTn id="39" presetID="22" presetClass="entr" presetSubtype="8" fill="hold" grpId="0" nodeType="withEffect">
                                  <p:stCondLst>
                                    <p:cond delay="0"/>
                                  </p:stCondLst>
                                  <p:childTnLst>
                                    <p:set>
                                      <p:cBhvr>
                                        <p:cTn id="40" dur="1" fill="hold">
                                          <p:stCondLst>
                                            <p:cond delay="0"/>
                                          </p:stCondLst>
                                        </p:cTn>
                                        <p:tgtEl>
                                          <p:spTgt spid="145"/>
                                        </p:tgtEl>
                                        <p:attrNameLst>
                                          <p:attrName>style.visibility</p:attrName>
                                        </p:attrNameLst>
                                      </p:cBhvr>
                                      <p:to>
                                        <p:strVal val="visible"/>
                                      </p:to>
                                    </p:set>
                                    <p:animEffect transition="in" filter="wipe(left)">
                                      <p:cBhvr>
                                        <p:cTn id="41" dur="500"/>
                                        <p:tgtEl>
                                          <p:spTgt spid="145"/>
                                        </p:tgtEl>
                                      </p:cBhvr>
                                    </p:animEffect>
                                  </p:childTnLst>
                                </p:cTn>
                              </p:par>
                            </p:childTnLst>
                          </p:cTn>
                        </p:par>
                        <p:par>
                          <p:cTn id="42" fill="hold">
                            <p:stCondLst>
                              <p:cond delay="500"/>
                            </p:stCondLst>
                            <p:childTnLst>
                              <p:par>
                                <p:cTn id="43" presetID="22" presetClass="entr" presetSubtype="1" fill="hold"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up)">
                                      <p:cBhvr>
                                        <p:cTn id="45" dur="1000"/>
                                        <p:tgtEl>
                                          <p:spTgt spid="19"/>
                                        </p:tgtEl>
                                      </p:cBhvr>
                                    </p:animEffect>
                                  </p:childTnLst>
                                </p:cTn>
                              </p:par>
                            </p:childTnLst>
                          </p:cTn>
                        </p:par>
                        <p:par>
                          <p:cTn id="46" fill="hold">
                            <p:stCondLst>
                              <p:cond delay="1500"/>
                            </p:stCondLst>
                            <p:childTnLst>
                              <p:par>
                                <p:cTn id="47" presetID="35" presetClass="emph" presetSubtype="0" repeatCount="indefinite" fill="hold" nodeType="afterEffect">
                                  <p:stCondLst>
                                    <p:cond delay="0"/>
                                  </p:stCondLst>
                                  <p:endCondLst>
                                    <p:cond evt="onNext" delay="0">
                                      <p:tgtEl>
                                        <p:sldTgt/>
                                      </p:tgtEl>
                                    </p:cond>
                                  </p:endCondLst>
                                  <p:childTnLst>
                                    <p:anim calcmode="discrete" valueType="str">
                                      <p:cBhvr>
                                        <p:cTn id="48" dur="5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4" descr="6-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1664" y="2060848"/>
            <a:ext cx="4392339" cy="4292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AutoShape 7"/>
          <p:cNvSpPr>
            <a:spLocks/>
          </p:cNvSpPr>
          <p:nvPr/>
        </p:nvSpPr>
        <p:spPr bwMode="auto">
          <a:xfrm>
            <a:off x="7751766" y="5516563"/>
            <a:ext cx="2771775" cy="914400"/>
          </a:xfrm>
          <a:prstGeom prst="borderCallout1">
            <a:avLst>
              <a:gd name="adj1" fmla="val -8333"/>
              <a:gd name="adj2" fmla="val 4125"/>
              <a:gd name="adj3" fmla="val -23087"/>
              <a:gd name="adj4" fmla="val -12843"/>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chemeClr val="tx1"/>
              </a:buClr>
              <a:buChar char="¢"/>
              <a:defRPr sz="2800">
                <a:solidFill>
                  <a:schemeClr val="tx2"/>
                </a:solidFill>
                <a:latin typeface="Verdana" panose="020B0604030504040204" pitchFamily="34" charset="0"/>
              </a:defRPr>
            </a:lvl1pPr>
            <a:lvl2pPr marL="742950" indent="-285750">
              <a:buClr>
                <a:schemeClr val="accent1"/>
              </a:buClr>
              <a:buChar char="l"/>
              <a:defRPr sz="2400">
                <a:solidFill>
                  <a:schemeClr val="tx1"/>
                </a:solidFill>
                <a:latin typeface="Verdana" panose="020B0604030504040204" pitchFamily="34" charset="0"/>
              </a:defRPr>
            </a:lvl2pPr>
            <a:lvl3pPr marL="1143000" indent="-228600">
              <a:buClr>
                <a:schemeClr val="folHlink"/>
              </a:buClr>
              <a:buSzPct val="70000"/>
              <a:buChar char="l"/>
              <a:defRPr sz="2400">
                <a:solidFill>
                  <a:schemeClr val="tx1"/>
                </a:solidFill>
                <a:latin typeface="Verdana" panose="020B0604030504040204" pitchFamily="34" charset="0"/>
              </a:defRPr>
            </a:lvl3pPr>
            <a:lvl4pPr marL="1600200" indent="-228600">
              <a:buClr>
                <a:schemeClr val="tx1"/>
              </a:buClr>
              <a:buSzPct val="60000"/>
              <a:buChar char="l"/>
              <a:defRPr sz="2000">
                <a:solidFill>
                  <a:schemeClr val="tx1"/>
                </a:solidFill>
                <a:latin typeface="Verdana" panose="020B0604030504040204" pitchFamily="34" charset="0"/>
              </a:defRPr>
            </a:lvl4pPr>
            <a:lvl5pPr marL="2057400" indent="-228600">
              <a:buClr>
                <a:schemeClr val="hlink"/>
              </a:buClr>
              <a:buSzPct val="50000"/>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eaLnBrk="1" hangingPunct="1">
              <a:lnSpc>
                <a:spcPct val="100000"/>
              </a:lnSpc>
              <a:spcBef>
                <a:spcPct val="0"/>
              </a:spcBef>
              <a:buClrTx/>
              <a:buSzTx/>
              <a:buFontTx/>
              <a:buNone/>
            </a:pPr>
            <a:r>
              <a:rPr lang="zh-CN" altLang="en-US" sz="1800">
                <a:solidFill>
                  <a:schemeClr val="bg1"/>
                </a:solidFill>
                <a:latin typeface="Times New Roman" panose="02020603050405020304" pitchFamily="18" charset="0"/>
              </a:rPr>
              <a:t>通过路径名可清楚了解文件所处位置</a:t>
            </a:r>
          </a:p>
        </p:txBody>
      </p:sp>
      <p:sp>
        <p:nvSpPr>
          <p:cNvPr id="4" name="标题 3">
            <a:extLst>
              <a:ext uri="{FF2B5EF4-FFF2-40B4-BE49-F238E27FC236}">
                <a16:creationId xmlns:a16="http://schemas.microsoft.com/office/drawing/2014/main" id="{1BEF58F9-5AC2-C316-D5D1-09D1DC6F95F3}"/>
              </a:ext>
            </a:extLst>
          </p:cNvPr>
          <p:cNvSpPr>
            <a:spLocks noGrp="1"/>
          </p:cNvSpPr>
          <p:nvPr>
            <p:ph type="title"/>
          </p:nvPr>
        </p:nvSpPr>
        <p:spPr/>
        <p:txBody>
          <a:bodyPr>
            <a:normAutofit/>
          </a:bodyPr>
          <a:lstStyle/>
          <a:p>
            <a:r>
              <a:rPr lang="zh-CN" altLang="en-US" dirty="0"/>
              <a:t>多级目录中路径名</a:t>
            </a:r>
          </a:p>
        </p:txBody>
      </p:sp>
      <p:sp>
        <p:nvSpPr>
          <p:cNvPr id="5" name="内容占位符 4">
            <a:extLst>
              <a:ext uri="{FF2B5EF4-FFF2-40B4-BE49-F238E27FC236}">
                <a16:creationId xmlns:a16="http://schemas.microsoft.com/office/drawing/2014/main" id="{158FD08E-2E27-BBE0-3B7A-7885C3DADDCF}"/>
              </a:ext>
            </a:extLst>
          </p:cNvPr>
          <p:cNvSpPr>
            <a:spLocks noGrp="1"/>
          </p:cNvSpPr>
          <p:nvPr>
            <p:ph idx="1"/>
          </p:nvPr>
        </p:nvSpPr>
        <p:spPr>
          <a:xfrm>
            <a:off x="695399" y="1569767"/>
            <a:ext cx="10801200" cy="680403"/>
          </a:xfrm>
        </p:spPr>
        <p:txBody>
          <a:bodyPr/>
          <a:lstStyle/>
          <a:p>
            <a:r>
              <a:rPr lang="zh-CN" altLang="en-US" dirty="0"/>
              <a:t>比如</a:t>
            </a:r>
            <a:r>
              <a:rPr lang="en-US" altLang="zh-CN" dirty="0"/>
              <a:t>UNIX</a:t>
            </a:r>
            <a:r>
              <a:rPr lang="zh-CN" altLang="en-US" dirty="0"/>
              <a:t>系统的一棵目录树结构：</a:t>
            </a:r>
          </a:p>
          <a:p>
            <a:endParaRPr lang="zh-CN" altLang="en-US" dirty="0"/>
          </a:p>
        </p:txBody>
      </p:sp>
      <p:sp>
        <p:nvSpPr>
          <p:cNvPr id="6" name="灯片编号占位符 5">
            <a:extLst>
              <a:ext uri="{FF2B5EF4-FFF2-40B4-BE49-F238E27FC236}">
                <a16:creationId xmlns:a16="http://schemas.microsoft.com/office/drawing/2014/main" id="{2255E21B-89EF-4D74-1A81-86591AFD38F9}"/>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a:t>
            </a:fld>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467" name="Object 5"/>
          <p:cNvGraphicFramePr>
            <a:graphicFrameLocks noChangeAspect="1"/>
          </p:cNvGraphicFramePr>
          <p:nvPr/>
        </p:nvGraphicFramePr>
        <p:xfrm>
          <a:off x="2422983" y="2340834"/>
          <a:ext cx="7346034" cy="3580271"/>
        </p:xfrm>
        <a:graphic>
          <a:graphicData uri="http://schemas.openxmlformats.org/presentationml/2006/ole">
            <mc:AlternateContent xmlns:mc="http://schemas.openxmlformats.org/markup-compatibility/2006">
              <mc:Choice xmlns:v="urn:schemas-microsoft-com:vml" Requires="v">
                <p:oleObj spid="_x0000_s2068" name="VISIO" r:id="rId4" imgW="6532880" imgH="3185160" progId="Visio.Drawing.4">
                  <p:embed/>
                </p:oleObj>
              </mc:Choice>
              <mc:Fallback>
                <p:oleObj name="VISIO" r:id="rId4" imgW="6532880" imgH="3185160" progId="Visio.Drawing.4">
                  <p:embed/>
                  <p:pic>
                    <p:nvPicPr>
                      <p:cNvPr id="6246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2983" y="2340834"/>
                        <a:ext cx="7346034" cy="3580271"/>
                      </a:xfrm>
                      <a:prstGeom prst="rect">
                        <a:avLst/>
                      </a:prstGeom>
                      <a:noFill/>
                      <a:ln>
                        <a:noFill/>
                      </a:ln>
                      <a:effectLst/>
                    </p:spPr>
                  </p:pic>
                </p:oleObj>
              </mc:Fallback>
            </mc:AlternateContent>
          </a:graphicData>
        </a:graphic>
      </p:graphicFrame>
      <p:sp>
        <p:nvSpPr>
          <p:cNvPr id="62468" name="Text Box 6"/>
          <p:cNvSpPr txBox="1">
            <a:spLocks noChangeArrowheads="1"/>
          </p:cNvSpPr>
          <p:nvPr/>
        </p:nvSpPr>
        <p:spPr bwMode="auto">
          <a:xfrm>
            <a:off x="1380530" y="6005482"/>
            <a:ext cx="9395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buClr>
                <a:schemeClr val="tx1"/>
              </a:buClr>
              <a:buChar char="¢"/>
              <a:defRPr sz="2800">
                <a:solidFill>
                  <a:schemeClr val="tx2"/>
                </a:solidFill>
                <a:latin typeface="Verdana" panose="020B0604030504040204" pitchFamily="34" charset="0"/>
              </a:defRPr>
            </a:lvl1pPr>
            <a:lvl2pPr marL="742950" indent="-285750">
              <a:buClr>
                <a:schemeClr val="accent1"/>
              </a:buClr>
              <a:buChar char="l"/>
              <a:defRPr sz="2400">
                <a:solidFill>
                  <a:schemeClr val="tx1"/>
                </a:solidFill>
                <a:latin typeface="Verdana" panose="020B0604030504040204" pitchFamily="34" charset="0"/>
              </a:defRPr>
            </a:lvl2pPr>
            <a:lvl3pPr marL="1143000" indent="-228600">
              <a:buClr>
                <a:schemeClr val="folHlink"/>
              </a:buClr>
              <a:buSzPct val="70000"/>
              <a:buChar char="l"/>
              <a:defRPr sz="2400">
                <a:solidFill>
                  <a:schemeClr val="tx1"/>
                </a:solidFill>
                <a:latin typeface="Verdana" panose="020B0604030504040204" pitchFamily="34" charset="0"/>
              </a:defRPr>
            </a:lvl3pPr>
            <a:lvl4pPr marL="1600200" indent="-228600">
              <a:buClr>
                <a:schemeClr val="tx1"/>
              </a:buClr>
              <a:buSzPct val="60000"/>
              <a:buChar char="l"/>
              <a:defRPr sz="2000">
                <a:solidFill>
                  <a:schemeClr val="tx1"/>
                </a:solidFill>
                <a:latin typeface="Verdana" panose="020B0604030504040204" pitchFamily="34" charset="0"/>
              </a:defRPr>
            </a:lvl4pPr>
            <a:lvl5pPr marL="2057400" indent="-228600">
              <a:buClr>
                <a:schemeClr val="hlink"/>
              </a:buClr>
              <a:buSzPct val="50000"/>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eaLnBrk="1" hangingPunct="1">
              <a:lnSpc>
                <a:spcPct val="100000"/>
              </a:lnSpc>
              <a:spcBef>
                <a:spcPct val="50000"/>
              </a:spcBef>
              <a:buClrTx/>
              <a:buSzTx/>
              <a:buFontTx/>
              <a:buNone/>
            </a:pPr>
            <a:r>
              <a:rPr lang="zh-CN" altLang="en-US" sz="2000" dirty="0">
                <a:solidFill>
                  <a:schemeClr val="tx1"/>
                </a:solidFill>
                <a:latin typeface="Times New Roman" panose="02020603050405020304" pitchFamily="18" charset="0"/>
              </a:rPr>
              <a:t>该结构可解决不同用户间的文件重命名和文件共享问题,且具有较高的搜索速度</a:t>
            </a:r>
          </a:p>
        </p:txBody>
      </p:sp>
      <p:sp>
        <p:nvSpPr>
          <p:cNvPr id="4" name="标题 3">
            <a:extLst>
              <a:ext uri="{FF2B5EF4-FFF2-40B4-BE49-F238E27FC236}">
                <a16:creationId xmlns:a16="http://schemas.microsoft.com/office/drawing/2014/main" id="{9F9E8993-C96E-A793-007B-F0A4729BDDEC}"/>
              </a:ext>
            </a:extLst>
          </p:cNvPr>
          <p:cNvSpPr>
            <a:spLocks noGrp="1"/>
          </p:cNvSpPr>
          <p:nvPr>
            <p:ph type="title"/>
          </p:nvPr>
        </p:nvSpPr>
        <p:spPr/>
        <p:txBody>
          <a:bodyPr/>
          <a:lstStyle/>
          <a:p>
            <a:r>
              <a:rPr lang="zh-CN" altLang="en-US" dirty="0"/>
              <a:t>目录</a:t>
            </a:r>
            <a:r>
              <a:rPr lang="en-US" altLang="zh-CN" dirty="0"/>
              <a:t>(</a:t>
            </a:r>
            <a:r>
              <a:rPr lang="zh-CN" altLang="en-US" dirty="0"/>
              <a:t>文件夹</a:t>
            </a:r>
            <a:r>
              <a:rPr lang="en-US" altLang="zh-CN" dirty="0"/>
              <a:t>)</a:t>
            </a:r>
            <a:r>
              <a:rPr lang="zh-CN" altLang="en-US" dirty="0"/>
              <a:t>是文件系统中一种特殊的文件</a:t>
            </a:r>
          </a:p>
        </p:txBody>
      </p:sp>
      <p:sp>
        <p:nvSpPr>
          <p:cNvPr id="5" name="内容占位符 4">
            <a:extLst>
              <a:ext uri="{FF2B5EF4-FFF2-40B4-BE49-F238E27FC236}">
                <a16:creationId xmlns:a16="http://schemas.microsoft.com/office/drawing/2014/main" id="{43482B50-8890-A06F-41A1-45531023FD3A}"/>
              </a:ext>
            </a:extLst>
          </p:cNvPr>
          <p:cNvSpPr>
            <a:spLocks noGrp="1"/>
          </p:cNvSpPr>
          <p:nvPr>
            <p:ph idx="1"/>
          </p:nvPr>
        </p:nvSpPr>
        <p:spPr/>
        <p:txBody>
          <a:bodyPr>
            <a:normAutofit/>
          </a:bodyPr>
          <a:lstStyle/>
          <a:p>
            <a:r>
              <a:rPr lang="zh-CN" altLang="en-US" sz="2400"/>
              <a:t>示例：文件夹中存储了（放在该文件夹中的）文件名，以及文件在磁盘当中的起始地址。文件夹也是一种文件，其起始地始放在上一级文件夹中。</a:t>
            </a:r>
            <a:endParaRPr lang="en-US" altLang="zh-CN" sz="2400" dirty="0"/>
          </a:p>
          <a:p>
            <a:endParaRPr lang="zh-CN" altLang="en-US" sz="2400" dirty="0"/>
          </a:p>
        </p:txBody>
      </p:sp>
      <p:sp>
        <p:nvSpPr>
          <p:cNvPr id="6" name="灯片编号占位符 5">
            <a:extLst>
              <a:ext uri="{FF2B5EF4-FFF2-40B4-BE49-F238E27FC236}">
                <a16:creationId xmlns:a16="http://schemas.microsoft.com/office/drawing/2014/main" id="{E530BD6D-1FEB-3121-D09C-DC4E7F9C4A2E}"/>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7</a:t>
            </a:fld>
            <a:endParaRPr lang="zh-CN" altLang="en-US" dirty="0"/>
          </a:p>
        </p:txBody>
      </p:sp>
    </p:spTree>
    <p:extLst>
      <p:ext uri="{BB962C8B-B14F-4D97-AF65-F5344CB8AC3E}">
        <p14:creationId xmlns:p14="http://schemas.microsoft.com/office/powerpoint/2010/main" val="1639921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513F6DD-BF46-4EFA-A2C0-3921928AE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7394" y="0"/>
            <a:ext cx="8137212" cy="6858000"/>
          </a:xfrm>
          <a:prstGeom prst="rect">
            <a:avLst/>
          </a:prstGeom>
        </p:spPr>
      </p:pic>
    </p:spTree>
    <p:extLst>
      <p:ext uri="{BB962C8B-B14F-4D97-AF65-F5344CB8AC3E}">
        <p14:creationId xmlns:p14="http://schemas.microsoft.com/office/powerpoint/2010/main" val="185147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04F1E61-A0CD-8E6B-239F-8CB72FC35E2D}"/>
              </a:ext>
            </a:extLst>
          </p:cNvPr>
          <p:cNvSpPr>
            <a:spLocks noGrp="1"/>
          </p:cNvSpPr>
          <p:nvPr>
            <p:ph type="title"/>
          </p:nvPr>
        </p:nvSpPr>
        <p:spPr/>
        <p:txBody>
          <a:bodyPr>
            <a:normAutofit/>
          </a:bodyPr>
          <a:lstStyle/>
          <a:p>
            <a:r>
              <a:rPr lang="zh-CN" altLang="en-US" dirty="0"/>
              <a:t>关于目录（文件夹）的思考：</a:t>
            </a:r>
          </a:p>
        </p:txBody>
      </p:sp>
      <p:sp>
        <p:nvSpPr>
          <p:cNvPr id="5" name="内容占位符 4">
            <a:extLst>
              <a:ext uri="{FF2B5EF4-FFF2-40B4-BE49-F238E27FC236}">
                <a16:creationId xmlns:a16="http://schemas.microsoft.com/office/drawing/2014/main" id="{0D1759F3-98EA-41FE-54F8-C11DFEB05169}"/>
              </a:ext>
            </a:extLst>
          </p:cNvPr>
          <p:cNvSpPr>
            <a:spLocks noGrp="1"/>
          </p:cNvSpPr>
          <p:nvPr>
            <p:ph idx="1"/>
          </p:nvPr>
        </p:nvSpPr>
        <p:spPr/>
        <p:txBody>
          <a:bodyPr>
            <a:normAutofit/>
          </a:bodyPr>
          <a:lstStyle/>
          <a:p>
            <a:r>
              <a:rPr lang="zh-CN" altLang="en-US" sz="2400" dirty="0"/>
              <a:t>文件名和目录分层，是为了方便人类记忆的组织方</a:t>
            </a:r>
          </a:p>
          <a:p>
            <a:r>
              <a:rPr lang="zh-CN" altLang="en-US" sz="2400" dirty="0"/>
              <a:t>文件是扇区组织成的链表，或者是树</a:t>
            </a:r>
          </a:p>
          <a:p>
            <a:r>
              <a:rPr lang="zh-CN" altLang="en-US" sz="2400" dirty="0"/>
              <a:t>文件夹中记录着文件的名字，以及跟名字相对应的链表表头（或者树根）</a:t>
            </a:r>
          </a:p>
          <a:p>
            <a:r>
              <a:rPr lang="zh-CN" altLang="en-US" sz="2400" dirty="0"/>
              <a:t>文件夹也是一种文件，它也可能被存储为链表或者树</a:t>
            </a:r>
            <a:endParaRPr lang="en-US" altLang="zh-CN" sz="2400" dirty="0"/>
          </a:p>
          <a:p>
            <a:r>
              <a:rPr lang="zh-CN" altLang="en-US" sz="2400" dirty="0"/>
              <a:t>文件夹的名称，放在上一级文件夹当中，同时存储的是这个文件的表头或者树根</a:t>
            </a:r>
          </a:p>
          <a:p>
            <a:endParaRPr lang="zh-CN" altLang="en-US" sz="2400" dirty="0"/>
          </a:p>
        </p:txBody>
      </p:sp>
      <p:sp>
        <p:nvSpPr>
          <p:cNvPr id="6" name="灯片编号占位符 5">
            <a:extLst>
              <a:ext uri="{FF2B5EF4-FFF2-40B4-BE49-F238E27FC236}">
                <a16:creationId xmlns:a16="http://schemas.microsoft.com/office/drawing/2014/main" id="{F8F88E83-6F25-CE85-9185-51456CD3E291}"/>
              </a:ext>
            </a:extLst>
          </p:cNvPr>
          <p:cNvSpPr>
            <a:spLocks noGrp="1"/>
          </p:cNvSpPr>
          <p:nvPr>
            <p:ph type="sldNum" sz="quarter" idx="12"/>
          </p:nvPr>
        </p:nvSpPr>
        <p:spPr/>
        <p:txBody>
          <a:bodyPr/>
          <a:lstStyle/>
          <a:p>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fld id="{7209BB76-661F-4F23-A2E6-DCF093FEDF36}" type="slidenum">
              <a:rPr kumimoji="0" lang="zh-CN" altLang="en-US" sz="1600" b="1" i="0" u="none" strike="noStrike" kern="120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t>9</a:t>
            </a:fld>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125744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04F1E61-A0CD-8E6B-239F-8CB72FC35E2D}"/>
              </a:ext>
            </a:extLst>
          </p:cNvPr>
          <p:cNvSpPr>
            <a:spLocks noGrp="1"/>
          </p:cNvSpPr>
          <p:nvPr>
            <p:ph type="title"/>
          </p:nvPr>
        </p:nvSpPr>
        <p:spPr/>
        <p:txBody>
          <a:bodyPr>
            <a:normAutofit/>
          </a:bodyPr>
          <a:lstStyle/>
          <a:p>
            <a:r>
              <a:rPr lang="zh-CN" altLang="en-US" dirty="0"/>
              <a:t>多级目录结构有以下特点：</a:t>
            </a:r>
          </a:p>
        </p:txBody>
      </p:sp>
      <p:sp>
        <p:nvSpPr>
          <p:cNvPr id="5" name="内容占位符 4">
            <a:extLst>
              <a:ext uri="{FF2B5EF4-FFF2-40B4-BE49-F238E27FC236}">
                <a16:creationId xmlns:a16="http://schemas.microsoft.com/office/drawing/2014/main" id="{0D1759F3-98EA-41FE-54F8-C11DFEB05169}"/>
              </a:ext>
            </a:extLst>
          </p:cNvPr>
          <p:cNvSpPr>
            <a:spLocks noGrp="1"/>
          </p:cNvSpPr>
          <p:nvPr>
            <p:ph idx="1"/>
          </p:nvPr>
        </p:nvSpPr>
        <p:spPr/>
        <p:txBody>
          <a:bodyPr>
            <a:normAutofit/>
          </a:bodyPr>
          <a:lstStyle/>
          <a:p>
            <a:r>
              <a:rPr lang="zh-CN" altLang="en-US" sz="2400" dirty="0"/>
              <a:t>目录名：指明目录结构中一个结点位置。</a:t>
            </a:r>
          </a:p>
          <a:p>
            <a:r>
              <a:rPr lang="zh-CN" altLang="en-US" sz="2400" dirty="0"/>
              <a:t>目录树：有根结点和中间结点（目录／子目录），叶子结点（文件）。</a:t>
            </a:r>
          </a:p>
          <a:p>
            <a:r>
              <a:rPr lang="zh-CN" altLang="en-US" sz="2400" dirty="0"/>
              <a:t>目录有上下级关系：当前目录</a:t>
            </a:r>
            <a:r>
              <a:rPr lang="en-US" altLang="zh-CN" sz="2400" dirty="0"/>
              <a:t>(current directory, working directory)</a:t>
            </a:r>
            <a:r>
              <a:rPr lang="zh-CN" altLang="en-US" sz="2400" dirty="0"/>
              <a:t>、父目录</a:t>
            </a:r>
            <a:r>
              <a:rPr lang="en-US" altLang="zh-CN" sz="2400" dirty="0"/>
              <a:t>(parent directory)</a:t>
            </a:r>
            <a:r>
              <a:rPr lang="zh-CN" altLang="en-US" sz="2400" dirty="0"/>
              <a:t>、子目录</a:t>
            </a:r>
            <a:r>
              <a:rPr lang="en-US" altLang="zh-CN" sz="2400" dirty="0"/>
              <a:t>(subdirectory)</a:t>
            </a:r>
            <a:r>
              <a:rPr lang="zh-CN" altLang="en-US" sz="2400" dirty="0"/>
              <a:t>、根目录</a:t>
            </a:r>
            <a:r>
              <a:rPr lang="en-US" altLang="zh-CN" sz="2400" dirty="0"/>
              <a:t>(root directory)</a:t>
            </a:r>
            <a:r>
              <a:rPr lang="zh-CN" altLang="en-US" sz="2400" dirty="0"/>
              <a:t>等；</a:t>
            </a:r>
          </a:p>
          <a:p>
            <a:r>
              <a:rPr lang="zh-CN" altLang="en-US" sz="2400" dirty="0"/>
              <a:t>路径</a:t>
            </a:r>
            <a:r>
              <a:rPr lang="en-US" altLang="zh-CN" sz="2400" dirty="0"/>
              <a:t>(path)</a:t>
            </a:r>
            <a:r>
              <a:rPr lang="zh-CN" altLang="en-US" sz="2400" dirty="0"/>
              <a:t>：每个目录或文件，可以由根目录开始依次经由的各级目录名，加上最终的目录名或文件名来表示（相对／绝对）。</a:t>
            </a:r>
          </a:p>
          <a:p>
            <a:endParaRPr lang="zh-CN" altLang="en-US" sz="2400" dirty="0"/>
          </a:p>
        </p:txBody>
      </p:sp>
      <p:sp>
        <p:nvSpPr>
          <p:cNvPr id="6" name="灯片编号占位符 5">
            <a:extLst>
              <a:ext uri="{FF2B5EF4-FFF2-40B4-BE49-F238E27FC236}">
                <a16:creationId xmlns:a16="http://schemas.microsoft.com/office/drawing/2014/main" id="{F8F88E83-6F25-CE85-9185-51456CD3E291}"/>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10</a:t>
            </a:fld>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灯片编号占位符 1"/>
          <p:cNvSpPr txBox="1">
            <a:spLocks noGrp="1"/>
          </p:cNvSpPr>
          <p:nvPr/>
        </p:nvSpPr>
        <p:spPr bwMode="auto">
          <a:xfrm>
            <a:off x="8543925" y="6164263"/>
            <a:ext cx="1150938" cy="4572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lr>
                <a:schemeClr val="tx1"/>
              </a:buClr>
              <a:buChar char="¢"/>
              <a:defRPr sz="2800">
                <a:solidFill>
                  <a:schemeClr val="tx2"/>
                </a:solidFill>
                <a:latin typeface="Verdana" panose="020B0604030504040204" pitchFamily="34" charset="0"/>
              </a:defRPr>
            </a:lvl1pPr>
            <a:lvl2pPr marL="742950" indent="-285750">
              <a:buClr>
                <a:schemeClr val="accent1"/>
              </a:buClr>
              <a:buChar char="l"/>
              <a:defRPr sz="2400">
                <a:solidFill>
                  <a:schemeClr val="tx1"/>
                </a:solidFill>
                <a:latin typeface="Verdana" panose="020B0604030504040204" pitchFamily="34" charset="0"/>
              </a:defRPr>
            </a:lvl2pPr>
            <a:lvl3pPr marL="1143000" indent="-228600">
              <a:buClr>
                <a:schemeClr val="folHlink"/>
              </a:buClr>
              <a:buSzPct val="70000"/>
              <a:buChar char="l"/>
              <a:defRPr sz="2400">
                <a:solidFill>
                  <a:schemeClr val="tx1"/>
                </a:solidFill>
                <a:latin typeface="Verdana" panose="020B0604030504040204" pitchFamily="34" charset="0"/>
              </a:defRPr>
            </a:lvl3pPr>
            <a:lvl4pPr marL="1600200" indent="-228600">
              <a:buClr>
                <a:schemeClr val="tx1"/>
              </a:buClr>
              <a:buSzPct val="60000"/>
              <a:buChar char="l"/>
              <a:defRPr sz="2000">
                <a:solidFill>
                  <a:schemeClr val="tx1"/>
                </a:solidFill>
                <a:latin typeface="Verdana" panose="020B0604030504040204" pitchFamily="34" charset="0"/>
              </a:defRPr>
            </a:lvl4pPr>
            <a:lvl5pPr marL="2057400" indent="-228600">
              <a:buClr>
                <a:schemeClr val="hlink"/>
              </a:buClr>
              <a:buSzPct val="50000"/>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r" eaLnBrk="1" hangingPunct="1">
              <a:lnSpc>
                <a:spcPct val="100000"/>
              </a:lnSpc>
              <a:spcBef>
                <a:spcPct val="0"/>
              </a:spcBef>
              <a:buClrTx/>
              <a:buSzTx/>
              <a:buFontTx/>
              <a:buNone/>
            </a:pPr>
            <a:fld id="{DE4BEA6E-42C5-4337-B902-CC2788FEC4F9}" type="slidenum">
              <a:rPr lang="en-US" altLang="zh-CN" sz="1200">
                <a:latin typeface="Times New Roman" panose="02020603050405020304" pitchFamily="18" charset="0"/>
              </a:rPr>
              <a:pPr algn="r" eaLnBrk="1" hangingPunct="1">
                <a:lnSpc>
                  <a:spcPct val="100000"/>
                </a:lnSpc>
                <a:spcBef>
                  <a:spcPct val="0"/>
                </a:spcBef>
                <a:buClrTx/>
                <a:buSzTx/>
                <a:buFontTx/>
                <a:buNone/>
              </a:pPr>
              <a:t>11</a:t>
            </a:fld>
            <a:endParaRPr lang="en-US" altLang="zh-CN" sz="1200">
              <a:latin typeface="Times New Roman" panose="02020603050405020304" pitchFamily="18" charset="0"/>
            </a:endParaRPr>
          </a:p>
        </p:txBody>
      </p:sp>
      <p:sp>
        <p:nvSpPr>
          <p:cNvPr id="4" name="标题 3">
            <a:extLst>
              <a:ext uri="{FF2B5EF4-FFF2-40B4-BE49-F238E27FC236}">
                <a16:creationId xmlns:a16="http://schemas.microsoft.com/office/drawing/2014/main" id="{EFBE3BE3-F697-3AC9-338B-6EC834E62449}"/>
              </a:ext>
            </a:extLst>
          </p:cNvPr>
          <p:cNvSpPr>
            <a:spLocks noGrp="1"/>
          </p:cNvSpPr>
          <p:nvPr>
            <p:ph type="title"/>
          </p:nvPr>
        </p:nvSpPr>
        <p:spPr/>
        <p:txBody>
          <a:bodyPr>
            <a:normAutofit/>
          </a:bodyPr>
          <a:lstStyle/>
          <a:p>
            <a:r>
              <a:rPr lang="en-US" altLang="zh-CN" dirty="0"/>
              <a:t>3</a:t>
            </a:r>
            <a:r>
              <a:rPr lang="zh-CN" altLang="en-US" dirty="0"/>
              <a:t>．对目录操作</a:t>
            </a:r>
          </a:p>
        </p:txBody>
      </p:sp>
      <p:sp>
        <p:nvSpPr>
          <p:cNvPr id="5" name="内容占位符 4">
            <a:extLst>
              <a:ext uri="{FF2B5EF4-FFF2-40B4-BE49-F238E27FC236}">
                <a16:creationId xmlns:a16="http://schemas.microsoft.com/office/drawing/2014/main" id="{68A3744F-D484-4163-58CE-0BAF028105FE}"/>
              </a:ext>
            </a:extLst>
          </p:cNvPr>
          <p:cNvSpPr>
            <a:spLocks noGrp="1"/>
          </p:cNvSpPr>
          <p:nvPr>
            <p:ph idx="1"/>
          </p:nvPr>
        </p:nvSpPr>
        <p:spPr/>
        <p:txBody>
          <a:bodyPr>
            <a:normAutofit fontScale="85000" lnSpcReduction="20000"/>
          </a:bodyPr>
          <a:lstStyle/>
          <a:p>
            <a:pPr eaLnBrk="1" hangingPunct="1">
              <a:lnSpc>
                <a:spcPct val="100000"/>
              </a:lnSpc>
              <a:spcBef>
                <a:spcPct val="50000"/>
              </a:spcBef>
              <a:buClrTx/>
              <a:buSzTx/>
              <a:buFontTx/>
              <a:buNone/>
            </a:pPr>
            <a:r>
              <a:rPr lang="zh-CN" altLang="en-US" sz="2800" dirty="0">
                <a:latin typeface="Times New Roman" panose="02020603050405020304" pitchFamily="18" charset="0"/>
              </a:rPr>
              <a:t>目录是文件管理的核心，不同</a:t>
            </a:r>
            <a:r>
              <a:rPr lang="en-US" altLang="zh-CN" sz="2800" dirty="0">
                <a:latin typeface="Times New Roman" panose="02020603050405020304" pitchFamily="18" charset="0"/>
              </a:rPr>
              <a:t>OS</a:t>
            </a:r>
            <a:r>
              <a:rPr lang="zh-CN" altLang="en-US" sz="2800" dirty="0">
                <a:latin typeface="Times New Roman" panose="02020603050405020304" pitchFamily="18" charset="0"/>
              </a:rPr>
              <a:t>对目录操作不同．</a:t>
            </a:r>
          </a:p>
          <a:p>
            <a:pPr eaLnBrk="1" hangingPunct="1">
              <a:lnSpc>
                <a:spcPct val="100000"/>
              </a:lnSpc>
              <a:spcBef>
                <a:spcPct val="50000"/>
              </a:spcBef>
              <a:buClrTx/>
              <a:buSzTx/>
              <a:buFontTx/>
              <a:buChar char="•"/>
            </a:pPr>
            <a:r>
              <a:rPr lang="en-US" altLang="zh-CN" sz="2800" dirty="0">
                <a:latin typeface="Times New Roman" panose="02020603050405020304" pitchFamily="18" charset="0"/>
              </a:rPr>
              <a:t>create</a:t>
            </a:r>
            <a:r>
              <a:rPr lang="zh-CN" altLang="en-US" sz="2800" dirty="0">
                <a:latin typeface="Times New Roman" panose="02020603050405020304" pitchFamily="18" charset="0"/>
              </a:rPr>
              <a:t>：创建目录；</a:t>
            </a:r>
          </a:p>
          <a:p>
            <a:pPr eaLnBrk="1" hangingPunct="1">
              <a:lnSpc>
                <a:spcPct val="100000"/>
              </a:lnSpc>
              <a:spcBef>
                <a:spcPct val="50000"/>
              </a:spcBef>
              <a:buClrTx/>
              <a:buSzTx/>
              <a:buFontTx/>
              <a:buChar char="•"/>
            </a:pPr>
            <a:r>
              <a:rPr lang="en-US" altLang="zh-CN" sz="2800" dirty="0">
                <a:latin typeface="Times New Roman" panose="02020603050405020304" pitchFamily="18" charset="0"/>
              </a:rPr>
              <a:t>delete</a:t>
            </a:r>
            <a:r>
              <a:rPr lang="zh-CN" altLang="en-US" sz="2800" dirty="0">
                <a:latin typeface="Times New Roman" panose="02020603050405020304" pitchFamily="18" charset="0"/>
              </a:rPr>
              <a:t>：删除目录；</a:t>
            </a:r>
          </a:p>
          <a:p>
            <a:pPr eaLnBrk="1" hangingPunct="1">
              <a:lnSpc>
                <a:spcPct val="100000"/>
              </a:lnSpc>
              <a:spcBef>
                <a:spcPct val="50000"/>
              </a:spcBef>
              <a:buClrTx/>
              <a:buSzTx/>
              <a:buFontTx/>
              <a:buChar char="•"/>
            </a:pPr>
            <a:r>
              <a:rPr lang="en-US" altLang="zh-CN" sz="2800" dirty="0" err="1">
                <a:latin typeface="Times New Roman" panose="02020603050405020304" pitchFamily="18" charset="0"/>
              </a:rPr>
              <a:t>opendir</a:t>
            </a:r>
            <a:r>
              <a:rPr lang="zh-CN" altLang="en-US" sz="2800" dirty="0">
                <a:latin typeface="Times New Roman" panose="02020603050405020304" pitchFamily="18" charset="0"/>
              </a:rPr>
              <a:t>：打开目录使内容可读；</a:t>
            </a:r>
            <a:endParaRPr lang="en-US" altLang="zh-CN" sz="2800" dirty="0">
              <a:latin typeface="Times New Roman" panose="02020603050405020304" pitchFamily="18" charset="0"/>
            </a:endParaRPr>
          </a:p>
          <a:p>
            <a:pPr eaLnBrk="1" hangingPunct="1">
              <a:lnSpc>
                <a:spcPct val="100000"/>
              </a:lnSpc>
              <a:spcBef>
                <a:spcPct val="50000"/>
              </a:spcBef>
              <a:buClrTx/>
              <a:buSzTx/>
              <a:buFontTx/>
              <a:buChar char="•"/>
            </a:pPr>
            <a:r>
              <a:rPr lang="en-US" altLang="zh-CN" sz="2800" dirty="0" err="1">
                <a:latin typeface="Times New Roman" panose="02020603050405020304" pitchFamily="18" charset="0"/>
              </a:rPr>
              <a:t>closedir</a:t>
            </a:r>
            <a:r>
              <a:rPr lang="zh-CN" altLang="en-US" sz="2800" dirty="0">
                <a:latin typeface="Times New Roman" panose="02020603050405020304" pitchFamily="18" charset="0"/>
              </a:rPr>
              <a:t>：关闭目录，释放各种表空间；</a:t>
            </a:r>
            <a:endParaRPr lang="en-US" altLang="zh-CN" sz="2800" dirty="0">
              <a:latin typeface="Times New Roman" panose="02020603050405020304" pitchFamily="18" charset="0"/>
            </a:endParaRPr>
          </a:p>
          <a:p>
            <a:pPr eaLnBrk="1" hangingPunct="1">
              <a:lnSpc>
                <a:spcPct val="100000"/>
              </a:lnSpc>
              <a:spcBef>
                <a:spcPct val="50000"/>
              </a:spcBef>
              <a:buClrTx/>
              <a:buSzTx/>
              <a:buFontTx/>
              <a:buChar char="•"/>
            </a:pPr>
            <a:r>
              <a:rPr lang="en-US" altLang="zh-CN" sz="2800" dirty="0" err="1">
                <a:latin typeface="Times New Roman" panose="02020603050405020304" pitchFamily="18" charset="0"/>
              </a:rPr>
              <a:t>readdir</a:t>
            </a:r>
            <a:r>
              <a:rPr lang="zh-CN" altLang="en-US" sz="2800" dirty="0">
                <a:latin typeface="Times New Roman" panose="02020603050405020304" pitchFamily="18" charset="0"/>
              </a:rPr>
              <a:t>：返回打开目录的下一个目录项；</a:t>
            </a:r>
            <a:endParaRPr lang="en-US" altLang="zh-CN" sz="2800" dirty="0">
              <a:latin typeface="Times New Roman" panose="02020603050405020304" pitchFamily="18" charset="0"/>
            </a:endParaRPr>
          </a:p>
          <a:p>
            <a:pPr eaLnBrk="1" hangingPunct="1">
              <a:lnSpc>
                <a:spcPct val="100000"/>
              </a:lnSpc>
              <a:spcBef>
                <a:spcPct val="50000"/>
              </a:spcBef>
              <a:buClrTx/>
              <a:buSzTx/>
              <a:buFontTx/>
              <a:buChar char="•"/>
            </a:pPr>
            <a:r>
              <a:rPr lang="en-US" altLang="zh-CN" sz="2800" dirty="0">
                <a:latin typeface="Times New Roman" panose="02020603050405020304" pitchFamily="18" charset="0"/>
              </a:rPr>
              <a:t>rename</a:t>
            </a:r>
            <a:r>
              <a:rPr lang="zh-CN" altLang="en-US" sz="2800" dirty="0">
                <a:latin typeface="Times New Roman" panose="02020603050405020304" pitchFamily="18" charset="0"/>
              </a:rPr>
              <a:t>：目录重命名；</a:t>
            </a:r>
            <a:endParaRPr lang="en-US" altLang="zh-CN" sz="2800" dirty="0">
              <a:latin typeface="Times New Roman" panose="02020603050405020304" pitchFamily="18" charset="0"/>
            </a:endParaRPr>
          </a:p>
          <a:p>
            <a:pPr eaLnBrk="1" hangingPunct="1">
              <a:lnSpc>
                <a:spcPct val="100000"/>
              </a:lnSpc>
              <a:spcBef>
                <a:spcPct val="50000"/>
              </a:spcBef>
              <a:buClrTx/>
              <a:buSzTx/>
              <a:buFontTx/>
              <a:buChar char="•"/>
            </a:pPr>
            <a:r>
              <a:rPr lang="en-US" altLang="zh-CN" sz="2800" dirty="0">
                <a:latin typeface="Times New Roman" panose="02020603050405020304" pitchFamily="18" charset="0"/>
              </a:rPr>
              <a:t>link</a:t>
            </a:r>
            <a:r>
              <a:rPr lang="zh-CN" altLang="en-US" sz="2800" dirty="0">
                <a:latin typeface="Times New Roman" panose="02020603050405020304" pitchFamily="18" charset="0"/>
              </a:rPr>
              <a:t>：对某一文件在不同目录中建立连接；</a:t>
            </a:r>
          </a:p>
          <a:p>
            <a:pPr eaLnBrk="1" hangingPunct="1">
              <a:lnSpc>
                <a:spcPct val="100000"/>
              </a:lnSpc>
              <a:spcBef>
                <a:spcPct val="50000"/>
              </a:spcBef>
              <a:buClrTx/>
              <a:buSzTx/>
              <a:buFontTx/>
              <a:buChar char="•"/>
            </a:pPr>
            <a:r>
              <a:rPr lang="en-US" altLang="zh-CN" sz="2800" dirty="0">
                <a:latin typeface="Times New Roman" panose="02020603050405020304" pitchFamily="18" charset="0"/>
              </a:rPr>
              <a:t>Unlink</a:t>
            </a:r>
            <a:r>
              <a:rPr lang="zh-CN" altLang="en-US" sz="2800" dirty="0">
                <a:latin typeface="Times New Roman" panose="02020603050405020304" pitchFamily="18" charset="0"/>
              </a:rPr>
              <a:t>：删除目录中的连接文件．</a:t>
            </a:r>
            <a:endParaRPr lang="en-US" altLang="zh-CN" sz="2800" dirty="0">
              <a:latin typeface="Times New Roman" panose="02020603050405020304" pitchFamily="18" charset="0"/>
            </a:endParaRPr>
          </a:p>
          <a:p>
            <a:endParaRPr lang="zh-CN" altLang="en-US" dirty="0"/>
          </a:p>
        </p:txBody>
      </p:sp>
      <p:sp>
        <p:nvSpPr>
          <p:cNvPr id="6" name="灯片编号占位符 5">
            <a:extLst>
              <a:ext uri="{FF2B5EF4-FFF2-40B4-BE49-F238E27FC236}">
                <a16:creationId xmlns:a16="http://schemas.microsoft.com/office/drawing/2014/main" id="{8F4355E9-2AF4-E61F-DDB1-AAB02A9A7A61}"/>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11</a:t>
            </a:fld>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767408" y="1628800"/>
            <a:ext cx="5798809" cy="1024624"/>
            <a:chOff x="844893" y="1019164"/>
            <a:chExt cx="5798809" cy="1024624"/>
          </a:xfrm>
        </p:grpSpPr>
        <p:sp>
          <p:nvSpPr>
            <p:cNvPr id="9" name="内容占位符 2"/>
            <p:cNvSpPr txBox="1">
              <a:spLocks/>
            </p:cNvSpPr>
            <p:nvPr/>
          </p:nvSpPr>
          <p:spPr>
            <a:xfrm>
              <a:off x="1142976" y="1019164"/>
              <a:ext cx="550072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文件名的线性列表，包涵了指向数据块的指针</a:t>
              </a: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33" name="图片 32" descr="小点1.png"/>
            <p:cNvPicPr>
              <a:picLocks noChangeAspect="1"/>
            </p:cNvPicPr>
            <p:nvPr/>
          </p:nvPicPr>
          <p:blipFill>
            <a:blip r:embed="rId3" cstate="print"/>
            <a:stretch>
              <a:fillRect/>
            </a:stretch>
          </p:blipFill>
          <p:spPr>
            <a:xfrm>
              <a:off x="1262422" y="1462080"/>
              <a:ext cx="151066" cy="148997"/>
            </a:xfrm>
            <a:prstGeom prst="rect">
              <a:avLst/>
            </a:prstGeom>
            <a:effectLst/>
          </p:spPr>
        </p:pic>
        <p:sp>
          <p:nvSpPr>
            <p:cNvPr id="34" name="内容占位符 2"/>
            <p:cNvSpPr txBox="1">
              <a:spLocks/>
            </p:cNvSpPr>
            <p:nvPr/>
          </p:nvSpPr>
          <p:spPr>
            <a:xfrm>
              <a:off x="1394985" y="1357304"/>
              <a:ext cx="124818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编程简单</a:t>
              </a:r>
            </a:p>
          </p:txBody>
        </p:sp>
        <p:pic>
          <p:nvPicPr>
            <p:cNvPr id="35" name="图片 34" descr="小点1.png"/>
            <p:cNvPicPr>
              <a:picLocks noChangeAspect="1"/>
            </p:cNvPicPr>
            <p:nvPr/>
          </p:nvPicPr>
          <p:blipFill>
            <a:blip r:embed="rId3" cstate="print"/>
            <a:stretch>
              <a:fillRect/>
            </a:stretch>
          </p:blipFill>
          <p:spPr>
            <a:xfrm>
              <a:off x="1262422" y="1790242"/>
              <a:ext cx="151066" cy="148997"/>
            </a:xfrm>
            <a:prstGeom prst="rect">
              <a:avLst/>
            </a:prstGeom>
            <a:effectLst/>
          </p:spPr>
        </p:pic>
        <p:sp>
          <p:nvSpPr>
            <p:cNvPr id="36" name="内容占位符 2"/>
            <p:cNvSpPr txBox="1">
              <a:spLocks/>
            </p:cNvSpPr>
            <p:nvPr/>
          </p:nvSpPr>
          <p:spPr>
            <a:xfrm>
              <a:off x="1394985" y="1685466"/>
              <a:ext cx="1319627"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执行耗时</a:t>
              </a:r>
            </a:p>
          </p:txBody>
        </p:sp>
      </p:grpSp>
      <p:grpSp>
        <p:nvGrpSpPr>
          <p:cNvPr id="7" name="组合 6"/>
          <p:cNvGrpSpPr/>
          <p:nvPr/>
        </p:nvGrpSpPr>
        <p:grpSpPr>
          <a:xfrm>
            <a:off x="767408" y="2592424"/>
            <a:ext cx="4512925" cy="1304711"/>
            <a:chOff x="844893" y="1982784"/>
            <a:chExt cx="4512925" cy="1304711"/>
          </a:xfrm>
        </p:grpSpPr>
        <p:grpSp>
          <p:nvGrpSpPr>
            <p:cNvPr id="4" name="组合 3"/>
            <p:cNvGrpSpPr/>
            <p:nvPr/>
          </p:nvGrpSpPr>
          <p:grpSpPr>
            <a:xfrm>
              <a:off x="844893" y="1982784"/>
              <a:ext cx="4370049" cy="702130"/>
              <a:chOff x="844893" y="1982784"/>
              <a:chExt cx="4370049" cy="702130"/>
            </a:xfrm>
          </p:grpSpPr>
          <p:sp>
            <p:nvSpPr>
              <p:cNvPr id="25" name="内容占位符 2"/>
              <p:cNvSpPr txBox="1">
                <a:spLocks/>
              </p:cNvSpPr>
              <p:nvPr/>
            </p:nvSpPr>
            <p:spPr>
              <a:xfrm>
                <a:off x="1142976" y="1982784"/>
                <a:ext cx="407196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solidFill>
                      <a:srgbClr val="C00000"/>
                    </a:solidFill>
                  </a:rPr>
                  <a:t>哈希表</a:t>
                </a:r>
                <a:r>
                  <a:rPr lang="en-US" altLang="zh-CN" dirty="0">
                    <a:solidFill>
                      <a:srgbClr val="C00000"/>
                    </a:solidFill>
                  </a:rPr>
                  <a:t> </a:t>
                </a:r>
                <a:r>
                  <a:rPr lang="en-US" altLang="zh-CN" dirty="0"/>
                  <a:t>– </a:t>
                </a:r>
                <a:r>
                  <a:rPr lang="zh-CN" altLang="en-US" dirty="0"/>
                  <a:t>哈希数据结构的线性表</a:t>
                </a:r>
                <a:endParaRPr lang="zh-CN" altLang="en-US" dirty="0">
                  <a:solidFill>
                    <a:srgbClr val="C00000"/>
                  </a:solidFill>
                </a:endParaRPr>
              </a:p>
            </p:txBody>
          </p:sp>
          <p:sp>
            <p:nvSpPr>
              <p:cNvPr id="27" name="TextBox 26"/>
              <p:cNvSpPr txBox="1"/>
              <p:nvPr/>
            </p:nvSpPr>
            <p:spPr>
              <a:xfrm>
                <a:off x="844893" y="198278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8" name="图片 27" descr="小点1.png"/>
              <p:cNvPicPr>
                <a:picLocks noChangeAspect="1"/>
              </p:cNvPicPr>
              <p:nvPr/>
            </p:nvPicPr>
            <p:blipFill>
              <a:blip r:embed="rId3" cstate="print"/>
              <a:stretch>
                <a:fillRect/>
              </a:stretch>
            </p:blipFill>
            <p:spPr>
              <a:xfrm>
                <a:off x="1262422" y="2424568"/>
                <a:ext cx="151066" cy="148997"/>
              </a:xfrm>
              <a:prstGeom prst="rect">
                <a:avLst/>
              </a:prstGeom>
              <a:effectLst/>
            </p:spPr>
          </p:pic>
          <p:sp>
            <p:nvSpPr>
              <p:cNvPr id="31" name="内容占位符 2"/>
              <p:cNvSpPr txBox="1">
                <a:spLocks/>
              </p:cNvSpPr>
              <p:nvPr/>
            </p:nvSpPr>
            <p:spPr>
              <a:xfrm>
                <a:off x="1394985" y="2319792"/>
                <a:ext cx="2319759" cy="3651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减少目录搜索时间</a:t>
                </a:r>
              </a:p>
            </p:txBody>
          </p:sp>
        </p:grpSp>
        <p:pic>
          <p:nvPicPr>
            <p:cNvPr id="50" name="图片 49" descr="小点1.png"/>
            <p:cNvPicPr>
              <a:picLocks noChangeAspect="1"/>
            </p:cNvPicPr>
            <p:nvPr/>
          </p:nvPicPr>
          <p:blipFill>
            <a:blip r:embed="rId3" cstate="print"/>
            <a:stretch>
              <a:fillRect/>
            </a:stretch>
          </p:blipFill>
          <p:spPr>
            <a:xfrm>
              <a:off x="1262422" y="2728697"/>
              <a:ext cx="151066" cy="148997"/>
            </a:xfrm>
            <a:prstGeom prst="rect">
              <a:avLst/>
            </a:prstGeom>
            <a:effectLst/>
          </p:spPr>
        </p:pic>
        <p:sp>
          <p:nvSpPr>
            <p:cNvPr id="51" name="内容占位符 2"/>
            <p:cNvSpPr txBox="1">
              <a:spLocks/>
            </p:cNvSpPr>
            <p:nvPr/>
          </p:nvSpPr>
          <p:spPr>
            <a:xfrm>
              <a:off x="1394985" y="2623921"/>
              <a:ext cx="3962833" cy="3651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冲突</a:t>
              </a:r>
              <a:r>
                <a:rPr lang="en-US" altLang="zh-CN" dirty="0"/>
                <a:t> – </a:t>
              </a:r>
              <a:r>
                <a:rPr lang="zh-CN" altLang="en-US" dirty="0"/>
                <a:t>两个文件名的哈希值相同</a:t>
              </a:r>
            </a:p>
          </p:txBody>
        </p:sp>
        <p:grpSp>
          <p:nvGrpSpPr>
            <p:cNvPr id="6" name="组合 5"/>
            <p:cNvGrpSpPr/>
            <p:nvPr/>
          </p:nvGrpSpPr>
          <p:grpSpPr>
            <a:xfrm>
              <a:off x="1262422" y="2922373"/>
              <a:ext cx="1380752" cy="365122"/>
              <a:chOff x="1262422" y="2922373"/>
              <a:chExt cx="1380752" cy="365122"/>
            </a:xfrm>
          </p:grpSpPr>
          <p:pic>
            <p:nvPicPr>
              <p:cNvPr id="37" name="图片 36" descr="小点1.png"/>
              <p:cNvPicPr>
                <a:picLocks noChangeAspect="1"/>
              </p:cNvPicPr>
              <p:nvPr/>
            </p:nvPicPr>
            <p:blipFill>
              <a:blip r:embed="rId3" cstate="print"/>
              <a:stretch>
                <a:fillRect/>
              </a:stretch>
            </p:blipFill>
            <p:spPr>
              <a:xfrm>
                <a:off x="1262422" y="3027149"/>
                <a:ext cx="151066" cy="148997"/>
              </a:xfrm>
              <a:prstGeom prst="rect">
                <a:avLst/>
              </a:prstGeom>
              <a:effectLst/>
            </p:spPr>
          </p:pic>
          <p:sp>
            <p:nvSpPr>
              <p:cNvPr id="38" name="内容占位符 2"/>
              <p:cNvSpPr txBox="1">
                <a:spLocks/>
              </p:cNvSpPr>
              <p:nvPr/>
            </p:nvSpPr>
            <p:spPr>
              <a:xfrm>
                <a:off x="1394985" y="2922373"/>
                <a:ext cx="1248189" cy="3651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固定大小</a:t>
                </a:r>
              </a:p>
            </p:txBody>
          </p:sp>
        </p:grpSp>
      </p:grpSp>
      <p:sp>
        <p:nvSpPr>
          <p:cNvPr id="10" name="标题 9">
            <a:extLst>
              <a:ext uri="{FF2B5EF4-FFF2-40B4-BE49-F238E27FC236}">
                <a16:creationId xmlns:a16="http://schemas.microsoft.com/office/drawing/2014/main" id="{8049CD57-5C12-1829-5AA9-D4DE089E17FE}"/>
              </a:ext>
            </a:extLst>
          </p:cNvPr>
          <p:cNvSpPr>
            <a:spLocks noGrp="1"/>
          </p:cNvSpPr>
          <p:nvPr>
            <p:ph type="title"/>
          </p:nvPr>
        </p:nvSpPr>
        <p:spPr/>
        <p:txBody>
          <a:bodyPr>
            <a:normAutofit/>
          </a:bodyPr>
          <a:lstStyle/>
          <a:p>
            <a:r>
              <a:rPr lang="zh-CN" altLang="en-US" dirty="0"/>
              <a:t>目录实现</a:t>
            </a:r>
          </a:p>
        </p:txBody>
      </p:sp>
      <p:sp>
        <p:nvSpPr>
          <p:cNvPr id="13" name="灯片编号占位符 12">
            <a:extLst>
              <a:ext uri="{FF2B5EF4-FFF2-40B4-BE49-F238E27FC236}">
                <a16:creationId xmlns:a16="http://schemas.microsoft.com/office/drawing/2014/main" id="{4A5B16D9-7DE1-4AFC-B46F-234E9CEC87D4}"/>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12</a:t>
            </a:fld>
            <a:endParaRPr lang="zh-CN" altLang="en-US" dirty="0"/>
          </a:p>
        </p:txBody>
      </p:sp>
    </p:spTree>
    <p:extLst>
      <p:ext uri="{BB962C8B-B14F-4D97-AF65-F5344CB8AC3E}">
        <p14:creationId xmlns:p14="http://schemas.microsoft.com/office/powerpoint/2010/main" val="389012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9pPr>
          </a:lstStyle>
          <a:p>
            <a:fld id="{C3C9AB17-6EA3-4AF9-92F5-6012DDBB8085}" type="slidenum">
              <a:rPr lang="en-US" altLang="ko-KR">
                <a:solidFill>
                  <a:schemeClr val="bg1"/>
                </a:solidFill>
                <a:ea typeface="굴림" pitchFamily="34" charset="-127"/>
              </a:rPr>
              <a:pPr/>
              <a:t>13</a:t>
            </a:fld>
            <a:endParaRPr lang="en-US" altLang="ko-KR">
              <a:solidFill>
                <a:schemeClr val="bg1"/>
              </a:solidFill>
              <a:ea typeface="굴림" pitchFamily="34" charset="-127"/>
            </a:endParaRPr>
          </a:p>
        </p:txBody>
      </p:sp>
      <p:sp>
        <p:nvSpPr>
          <p:cNvPr id="20482" name="标题 1"/>
          <p:cNvSpPr>
            <a:spLocks noGrp="1"/>
          </p:cNvSpPr>
          <p:nvPr>
            <p:ph type="title"/>
          </p:nvPr>
        </p:nvSpPr>
        <p:spPr>
          <a:prstGeom prst="rect">
            <a:avLst/>
          </a:prstGeom>
        </p:spPr>
        <p:txBody>
          <a:bodyPr/>
          <a:lstStyle/>
          <a:p>
            <a:r>
              <a:rPr lang="en-US" altLang="zh-CN" sz="3600">
                <a:ea typeface="宋体" panose="02010600030101010101" pitchFamily="2" charset="-122"/>
              </a:rPr>
              <a:t>Case: FAT in DOS </a:t>
            </a:r>
            <a:endParaRPr lang="zh-CN" altLang="en-US" sz="3600">
              <a:ea typeface="宋体" panose="02010600030101010101" pitchFamily="2" charset="-122"/>
            </a:endParaRPr>
          </a:p>
        </p:txBody>
      </p:sp>
      <p:pic>
        <p:nvPicPr>
          <p:cNvPr id="8" name="Picture 14" descr="目录项的实例说明"/>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0778" y="1500188"/>
            <a:ext cx="8062913" cy="407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04F1E61-A0CD-8E6B-239F-8CB72FC35E2D}"/>
              </a:ext>
            </a:extLst>
          </p:cNvPr>
          <p:cNvSpPr>
            <a:spLocks noGrp="1"/>
          </p:cNvSpPr>
          <p:nvPr>
            <p:ph type="title"/>
          </p:nvPr>
        </p:nvSpPr>
        <p:spPr/>
        <p:txBody>
          <a:bodyPr>
            <a:normAutofit/>
          </a:bodyPr>
          <a:lstStyle/>
          <a:p>
            <a:r>
              <a:rPr lang="en-US" altLang="zh-CN" dirty="0"/>
              <a:t>FAT</a:t>
            </a:r>
            <a:r>
              <a:rPr lang="zh-CN" altLang="en-US" dirty="0"/>
              <a:t>文件系统的实现细节</a:t>
            </a:r>
          </a:p>
        </p:txBody>
      </p:sp>
      <p:sp>
        <p:nvSpPr>
          <p:cNvPr id="5" name="内容占位符 4">
            <a:extLst>
              <a:ext uri="{FF2B5EF4-FFF2-40B4-BE49-F238E27FC236}">
                <a16:creationId xmlns:a16="http://schemas.microsoft.com/office/drawing/2014/main" id="{0D1759F3-98EA-41FE-54F8-C11DFEB05169}"/>
              </a:ext>
            </a:extLst>
          </p:cNvPr>
          <p:cNvSpPr>
            <a:spLocks noGrp="1"/>
          </p:cNvSpPr>
          <p:nvPr>
            <p:ph idx="1"/>
          </p:nvPr>
        </p:nvSpPr>
        <p:spPr/>
        <p:txBody>
          <a:bodyPr>
            <a:normAutofit/>
          </a:bodyPr>
          <a:lstStyle/>
          <a:p>
            <a:endParaRPr lang="zh-CN" altLang="en-US" sz="2400" dirty="0"/>
          </a:p>
        </p:txBody>
      </p:sp>
      <p:sp>
        <p:nvSpPr>
          <p:cNvPr id="6" name="灯片编号占位符 5">
            <a:extLst>
              <a:ext uri="{FF2B5EF4-FFF2-40B4-BE49-F238E27FC236}">
                <a16:creationId xmlns:a16="http://schemas.microsoft.com/office/drawing/2014/main" id="{F8F88E83-6F25-CE85-9185-51456CD3E291}"/>
              </a:ext>
            </a:extLst>
          </p:cNvPr>
          <p:cNvSpPr>
            <a:spLocks noGrp="1"/>
          </p:cNvSpPr>
          <p:nvPr>
            <p:ph type="sldNum" sz="quarter" idx="12"/>
          </p:nvPr>
        </p:nvSpPr>
        <p:spPr/>
        <p:txBody>
          <a:bodyPr/>
          <a:lstStyle/>
          <a:p>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fld id="{7209BB76-661F-4F23-A2E6-DCF093FEDF36}" type="slidenum">
              <a:rPr kumimoji="0" lang="zh-CN" altLang="en-US" sz="1600" b="1" i="0" u="none" strike="noStrike" kern="120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t>14</a:t>
            </a:fld>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8" name="图片 7">
            <a:extLst>
              <a:ext uri="{FF2B5EF4-FFF2-40B4-BE49-F238E27FC236}">
                <a16:creationId xmlns:a16="http://schemas.microsoft.com/office/drawing/2014/main" id="{5E7772F1-D2FE-43C3-8FA7-EA7726FB8DDD}"/>
              </a:ext>
            </a:extLst>
          </p:cNvPr>
          <p:cNvPicPr>
            <a:picLocks noChangeAspect="1"/>
          </p:cNvPicPr>
          <p:nvPr/>
        </p:nvPicPr>
        <p:blipFill>
          <a:blip r:embed="rId2"/>
          <a:stretch>
            <a:fillRect/>
          </a:stretch>
        </p:blipFill>
        <p:spPr>
          <a:xfrm>
            <a:off x="7032104" y="840129"/>
            <a:ext cx="4220586" cy="5810613"/>
          </a:xfrm>
          <a:prstGeom prst="rect">
            <a:avLst/>
          </a:prstGeom>
        </p:spPr>
      </p:pic>
      <p:sp>
        <p:nvSpPr>
          <p:cNvPr id="9" name="文本框 8">
            <a:extLst>
              <a:ext uri="{FF2B5EF4-FFF2-40B4-BE49-F238E27FC236}">
                <a16:creationId xmlns:a16="http://schemas.microsoft.com/office/drawing/2014/main" id="{5683A8D1-47F4-4C9D-A6EF-401EBDD45B67}"/>
              </a:ext>
            </a:extLst>
          </p:cNvPr>
          <p:cNvSpPr txBox="1"/>
          <p:nvPr/>
        </p:nvSpPr>
        <p:spPr>
          <a:xfrm>
            <a:off x="1991544" y="3429000"/>
            <a:ext cx="4461164" cy="2693045"/>
          </a:xfrm>
          <a:prstGeom prst="rect">
            <a:avLst/>
          </a:prstGeom>
          <a:noFill/>
        </p:spPr>
        <p:txBody>
          <a:bodyPr wrap="square" rtlCol="0">
            <a:spAutoFit/>
          </a:bodyPr>
          <a:lstStyle/>
          <a:p>
            <a:pPr marL="285750" marR="0" lvl="0" indent="-285750" algn="l" defTabSz="914400" rtl="0" eaLnBrk="0" fontAlgn="base" latinLnBrk="0" hangingPunct="0">
              <a:lnSpc>
                <a:spcPct val="80000"/>
              </a:lnSpc>
              <a:spcBef>
                <a:spcPts val="1000"/>
              </a:spcBef>
              <a:spcAft>
                <a:spcPct val="0"/>
              </a:spcAft>
              <a:buClrTx/>
              <a:buSzPct val="80000"/>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目录项描述了一个文件名和其首个磁盘块的关系</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285750" marR="0" lvl="0" indent="-285750" algn="l" defTabSz="914400" rtl="0" eaLnBrk="0" fontAlgn="base" latinLnBrk="0" hangingPunct="0">
              <a:lnSpc>
                <a:spcPct val="80000"/>
              </a:lnSpc>
              <a:spcBef>
                <a:spcPts val="1000"/>
              </a:spcBef>
              <a:spcAft>
                <a:spcPct val="0"/>
              </a:spcAft>
              <a:buClrTx/>
              <a:buSzPct val="80000"/>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每个磁盘块对应一个</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表项</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285750" marR="0" lvl="0" indent="-285750" algn="l" defTabSz="914400" rtl="0" eaLnBrk="0" fontAlgn="base" latinLnBrk="0" hangingPunct="0">
              <a:lnSpc>
                <a:spcPct val="80000"/>
              </a:lnSpc>
              <a:spcBef>
                <a:spcPts val="1000"/>
              </a:spcBef>
              <a:spcAft>
                <a:spcPct val="0"/>
              </a:spcAft>
              <a:buClrTx/>
              <a:buSzPct val="80000"/>
              <a:buFont typeface="Arial" panose="020B0604020202020204" pitchFamily="34" charset="0"/>
              <a:buChar char="•"/>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表项为</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0, </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则没有使用</a:t>
            </a: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285750" marR="0" lvl="0" indent="-285750" algn="l" defTabSz="914400" rtl="0" eaLnBrk="0" fontAlgn="base" latinLnBrk="0" hangingPunct="0">
              <a:lnSpc>
                <a:spcPct val="80000"/>
              </a:lnSpc>
              <a:spcBef>
                <a:spcPts val="1000"/>
              </a:spcBef>
              <a:spcAft>
                <a:spcPct val="0"/>
              </a:spcAft>
              <a:buClrTx/>
              <a:buSzPct val="80000"/>
              <a:buFont typeface="Arial" panose="020B0604020202020204" pitchFamily="34" charset="0"/>
              <a:buChar char="•"/>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表项为</a:t>
            </a: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EOF, </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代表的是某个文件最后的磁盘块</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 name="图片 9">
            <a:extLst>
              <a:ext uri="{FF2B5EF4-FFF2-40B4-BE49-F238E27FC236}">
                <a16:creationId xmlns:a16="http://schemas.microsoft.com/office/drawing/2014/main" id="{CA0B0AB1-0359-4A06-8BE8-16A2FE31F952}"/>
              </a:ext>
            </a:extLst>
          </p:cNvPr>
          <p:cNvPicPr>
            <a:picLocks noChangeAspect="1"/>
          </p:cNvPicPr>
          <p:nvPr/>
        </p:nvPicPr>
        <p:blipFill>
          <a:blip r:embed="rId3"/>
          <a:stretch>
            <a:fillRect/>
          </a:stretch>
        </p:blipFill>
        <p:spPr>
          <a:xfrm>
            <a:off x="4271756" y="1569767"/>
            <a:ext cx="2180952" cy="1542857"/>
          </a:xfrm>
          <a:prstGeom prst="rect">
            <a:avLst/>
          </a:prstGeom>
        </p:spPr>
      </p:pic>
    </p:spTree>
    <p:extLst>
      <p:ext uri="{BB962C8B-B14F-4D97-AF65-F5344CB8AC3E}">
        <p14:creationId xmlns:p14="http://schemas.microsoft.com/office/powerpoint/2010/main" val="3616425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4" descr="6-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5816" y="1552258"/>
            <a:ext cx="5040284" cy="350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Text Box 6"/>
          <p:cNvSpPr txBox="1">
            <a:spLocks noChangeArrowheads="1"/>
          </p:cNvSpPr>
          <p:nvPr/>
        </p:nvSpPr>
        <p:spPr bwMode="auto">
          <a:xfrm>
            <a:off x="2566991" y="5157791"/>
            <a:ext cx="7742237"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buClr>
                <a:schemeClr val="tx1"/>
              </a:buClr>
              <a:buChar char="¢"/>
              <a:defRPr sz="2800">
                <a:solidFill>
                  <a:schemeClr val="tx2"/>
                </a:solidFill>
                <a:latin typeface="Verdana" panose="020B0604030504040204" pitchFamily="34" charset="0"/>
              </a:defRPr>
            </a:lvl1pPr>
            <a:lvl2pPr marL="742950" indent="-285750">
              <a:buClr>
                <a:schemeClr val="accent1"/>
              </a:buClr>
              <a:buChar char="l"/>
              <a:defRPr sz="2400">
                <a:solidFill>
                  <a:schemeClr val="tx1"/>
                </a:solidFill>
                <a:latin typeface="Verdana" panose="020B0604030504040204" pitchFamily="34" charset="0"/>
              </a:defRPr>
            </a:lvl2pPr>
            <a:lvl3pPr marL="1143000" indent="-228600">
              <a:buClr>
                <a:schemeClr val="folHlink"/>
              </a:buClr>
              <a:buSzPct val="70000"/>
              <a:buChar char="l"/>
              <a:defRPr sz="2400">
                <a:solidFill>
                  <a:schemeClr val="tx1"/>
                </a:solidFill>
                <a:latin typeface="Verdana" panose="020B0604030504040204" pitchFamily="34" charset="0"/>
              </a:defRPr>
            </a:lvl3pPr>
            <a:lvl4pPr marL="1600200" indent="-228600">
              <a:buClr>
                <a:schemeClr val="tx1"/>
              </a:buClr>
              <a:buSzPct val="60000"/>
              <a:buChar char="l"/>
              <a:defRPr sz="2000">
                <a:solidFill>
                  <a:schemeClr val="tx1"/>
                </a:solidFill>
                <a:latin typeface="Verdana" panose="020B0604030504040204" pitchFamily="34" charset="0"/>
              </a:defRPr>
            </a:lvl4pPr>
            <a:lvl5pPr marL="2057400" indent="-228600">
              <a:buClr>
                <a:schemeClr val="hlink"/>
              </a:buClr>
              <a:buSzPct val="50000"/>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eaLnBrk="1" hangingPunct="1">
              <a:lnSpc>
                <a:spcPct val="100000"/>
              </a:lnSpc>
              <a:spcBef>
                <a:spcPct val="50000"/>
              </a:spcBef>
              <a:buClrTx/>
              <a:buSzTx/>
              <a:buFontTx/>
              <a:buChar char="•"/>
            </a:pPr>
            <a:r>
              <a:rPr lang="zh-CN" altLang="en-US" sz="2000" dirty="0">
                <a:latin typeface="Times New Roman" panose="02020603050405020304" pitchFamily="18" charset="0"/>
              </a:rPr>
              <a:t> 按字对齐处理；文件名在文件项的尾部，并做字对齐处理。</a:t>
            </a:r>
          </a:p>
          <a:p>
            <a:pPr eaLnBrk="1" hangingPunct="1">
              <a:lnSpc>
                <a:spcPct val="100000"/>
              </a:lnSpc>
              <a:spcBef>
                <a:spcPct val="50000"/>
              </a:spcBef>
              <a:buClrTx/>
              <a:buSzTx/>
              <a:buFontTx/>
              <a:buChar char="•"/>
            </a:pPr>
            <a:r>
              <a:rPr lang="zh-CN" altLang="en-US" sz="2000" dirty="0">
                <a:latin typeface="Times New Roman" panose="02020603050405020304" pitchFamily="18" charset="0"/>
              </a:rPr>
              <a:t> 在堆中处理；所有文件名都放在一个文件名堆中处理。</a:t>
            </a:r>
          </a:p>
          <a:p>
            <a:pPr eaLnBrk="1" hangingPunct="1">
              <a:lnSpc>
                <a:spcPct val="100000"/>
              </a:lnSpc>
              <a:spcBef>
                <a:spcPct val="50000"/>
              </a:spcBef>
              <a:buClrTx/>
              <a:buSzTx/>
              <a:buFontTx/>
              <a:buNone/>
            </a:pPr>
            <a:r>
              <a:rPr lang="zh-CN" altLang="en-US" sz="2000" dirty="0">
                <a:latin typeface="Times New Roman" panose="02020603050405020304" pitchFamily="18" charset="0"/>
              </a:rPr>
              <a:t>对大目录管理需要用到散列表法、高速缓存法等处理。</a:t>
            </a:r>
          </a:p>
        </p:txBody>
      </p:sp>
      <p:sp>
        <p:nvSpPr>
          <p:cNvPr id="4" name="标题 3">
            <a:extLst>
              <a:ext uri="{FF2B5EF4-FFF2-40B4-BE49-F238E27FC236}">
                <a16:creationId xmlns:a16="http://schemas.microsoft.com/office/drawing/2014/main" id="{8BA19C67-B1C1-A9D2-B020-0BBB505AE7D1}"/>
              </a:ext>
            </a:extLst>
          </p:cNvPr>
          <p:cNvSpPr>
            <a:spLocks noGrp="1"/>
          </p:cNvSpPr>
          <p:nvPr>
            <p:ph type="title"/>
          </p:nvPr>
        </p:nvSpPr>
        <p:spPr/>
        <p:txBody>
          <a:bodyPr>
            <a:normAutofit/>
          </a:bodyPr>
          <a:lstStyle/>
          <a:p>
            <a:r>
              <a:rPr lang="zh-CN" altLang="en-US" dirty="0"/>
              <a:t>在目录中处理长文件名的两种方法：</a:t>
            </a:r>
          </a:p>
        </p:txBody>
      </p:sp>
      <p:sp>
        <p:nvSpPr>
          <p:cNvPr id="6" name="灯片编号占位符 5">
            <a:extLst>
              <a:ext uri="{FF2B5EF4-FFF2-40B4-BE49-F238E27FC236}">
                <a16:creationId xmlns:a16="http://schemas.microsoft.com/office/drawing/2014/main" id="{456CDA34-2A8C-F441-91FE-2ED41A373BDC}"/>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15</a:t>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9pPr>
          </a:lstStyle>
          <a:p>
            <a:pPr>
              <a:buNone/>
            </a:pPr>
            <a:fld id="{B84B9E32-7EC2-49F8-B850-B92AE726537D}" type="slidenum">
              <a:rPr lang="en-US" altLang="ko-KR">
                <a:solidFill>
                  <a:schemeClr val="bg1"/>
                </a:solidFill>
                <a:ea typeface="굴림" pitchFamily="34" charset="-127"/>
              </a:rPr>
              <a:pPr>
                <a:buNone/>
              </a:pPr>
              <a:t>16</a:t>
            </a:fld>
            <a:endParaRPr lang="en-US" altLang="ko-KR" dirty="0">
              <a:solidFill>
                <a:schemeClr val="bg1"/>
              </a:solidFill>
              <a:ea typeface="굴림" pitchFamily="34" charset="-127"/>
            </a:endParaRPr>
          </a:p>
        </p:txBody>
      </p:sp>
      <p:sp>
        <p:nvSpPr>
          <p:cNvPr id="21506" name="标题 1"/>
          <p:cNvSpPr>
            <a:spLocks noGrp="1"/>
          </p:cNvSpPr>
          <p:nvPr>
            <p:ph type="title"/>
          </p:nvPr>
        </p:nvSpPr>
        <p:spPr>
          <a:prstGeom prst="rect">
            <a:avLst/>
          </a:prstGeom>
        </p:spPr>
        <p:txBody>
          <a:bodyPr/>
          <a:lstStyle/>
          <a:p>
            <a:r>
              <a:rPr lang="en-US" altLang="zh-CN" sz="3600">
                <a:ea typeface="宋体" panose="02010600030101010101" pitchFamily="2" charset="-122"/>
              </a:rPr>
              <a:t>Case: I-Node in Unix </a:t>
            </a:r>
            <a:endParaRPr lang="zh-CN" altLang="en-US" sz="3600">
              <a:ea typeface="宋体" panose="02010600030101010101" pitchFamily="2" charset="-122"/>
            </a:endParaRPr>
          </a:p>
        </p:txBody>
      </p:sp>
      <p:pic>
        <p:nvPicPr>
          <p:cNvPr id="21510" name="Picture 17" descr="Unix的目录项实例说明"/>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5806" y="1557338"/>
            <a:ext cx="8180388"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9pPr>
          </a:lstStyle>
          <a:p>
            <a:pPr>
              <a:buNone/>
            </a:pPr>
            <a:fld id="{B84B9E32-7EC2-49F8-B850-B92AE726537D}" type="slidenum">
              <a:rPr lang="en-US" altLang="ko-KR">
                <a:solidFill>
                  <a:schemeClr val="bg1"/>
                </a:solidFill>
                <a:ea typeface="굴림" pitchFamily="34" charset="-127"/>
              </a:rPr>
              <a:pPr>
                <a:buNone/>
              </a:pPr>
              <a:t>17</a:t>
            </a:fld>
            <a:endParaRPr lang="en-US" altLang="ko-KR" dirty="0">
              <a:solidFill>
                <a:schemeClr val="bg1"/>
              </a:solidFill>
              <a:ea typeface="굴림" pitchFamily="34" charset="-127"/>
            </a:endParaRPr>
          </a:p>
        </p:txBody>
      </p:sp>
      <p:sp>
        <p:nvSpPr>
          <p:cNvPr id="21506" name="标题 1"/>
          <p:cNvSpPr>
            <a:spLocks noGrp="1"/>
          </p:cNvSpPr>
          <p:nvPr>
            <p:ph type="title"/>
          </p:nvPr>
        </p:nvSpPr>
        <p:spPr>
          <a:prstGeom prst="rect">
            <a:avLst/>
          </a:prstGeom>
        </p:spPr>
        <p:txBody>
          <a:bodyPr/>
          <a:lstStyle/>
          <a:p>
            <a:r>
              <a:rPr lang="en-US" altLang="zh-CN" sz="3600">
                <a:ea typeface="宋体" panose="02010600030101010101" pitchFamily="2" charset="-122"/>
              </a:rPr>
              <a:t>Case: I-Node in Unix </a:t>
            </a:r>
            <a:endParaRPr lang="zh-CN" altLang="en-US" sz="3600">
              <a:ea typeface="宋体" panose="02010600030101010101" pitchFamily="2" charset="-122"/>
            </a:endParaRPr>
          </a:p>
        </p:txBody>
      </p:sp>
      <p:sp>
        <p:nvSpPr>
          <p:cNvPr id="5" name="内容占位符 2">
            <a:extLst>
              <a:ext uri="{FF2B5EF4-FFF2-40B4-BE49-F238E27FC236}">
                <a16:creationId xmlns:a16="http://schemas.microsoft.com/office/drawing/2014/main" id="{DB54513E-8A85-448D-A65A-B08A747E6064}"/>
              </a:ext>
            </a:extLst>
          </p:cNvPr>
          <p:cNvSpPr>
            <a:spLocks noGrp="1"/>
          </p:cNvSpPr>
          <p:nvPr>
            <p:ph idx="1"/>
          </p:nvPr>
        </p:nvSpPr>
        <p:spPr>
          <a:xfrm>
            <a:off x="1305203" y="1552258"/>
            <a:ext cx="8779411" cy="5897826"/>
          </a:xfrm>
        </p:spPr>
        <p:txBody>
          <a:bodyPr/>
          <a:lstStyle/>
          <a:p>
            <a:pPr marL="0" indent="0">
              <a:lnSpc>
                <a:spcPct val="60000"/>
              </a:lnSpc>
              <a:buNone/>
            </a:pPr>
            <a:r>
              <a:rPr lang="en-US" sz="2200" dirty="0" err="1">
                <a:latin typeface="Times New Roman" panose="02020603050405020304" pitchFamily="18" charset="0"/>
                <a:cs typeface="Times New Roman" panose="02020603050405020304" pitchFamily="18" charset="0"/>
              </a:rPr>
              <a:t>struct</a:t>
            </a:r>
            <a:r>
              <a:rPr lang="en-US" sz="2200" dirty="0">
                <a:latin typeface="Times New Roman" panose="02020603050405020304" pitchFamily="18" charset="0"/>
                <a:cs typeface="Times New Roman" panose="02020603050405020304" pitchFamily="18" charset="0"/>
              </a:rPr>
              <a:t> </a:t>
            </a:r>
            <a:r>
              <a:rPr lang="en-US" sz="2200" b="1" dirty="0">
                <a:solidFill>
                  <a:srgbClr val="FF0000"/>
                </a:solidFill>
                <a:latin typeface="Times New Roman" panose="02020603050405020304" pitchFamily="18" charset="0"/>
                <a:cs typeface="Times New Roman" panose="02020603050405020304" pitchFamily="18" charset="0"/>
              </a:rPr>
              <a:t>ext4_inode</a:t>
            </a:r>
            <a:r>
              <a:rPr lang="en-US" sz="2200" dirty="0">
                <a:latin typeface="Times New Roman" panose="02020603050405020304" pitchFamily="18" charset="0"/>
                <a:cs typeface="Times New Roman" panose="02020603050405020304" pitchFamily="18" charset="0"/>
              </a:rPr>
              <a:t>{  </a:t>
            </a:r>
          </a:p>
          <a:p>
            <a:pPr marL="0" indent="0">
              <a:lnSpc>
                <a:spcPct val="60000"/>
              </a:lnSpc>
              <a:buNone/>
            </a:pPr>
            <a:r>
              <a:rPr lang="en-US" sz="2200" dirty="0">
                <a:latin typeface="Times New Roman" panose="02020603050405020304" pitchFamily="18" charset="0"/>
                <a:cs typeface="Times New Roman" panose="02020603050405020304" pitchFamily="18" charset="0"/>
              </a:rPr>
              <a:t>       __le16  </a:t>
            </a:r>
            <a:r>
              <a:rPr lang="en-US" sz="2200" dirty="0" err="1">
                <a:latin typeface="Times New Roman" panose="02020603050405020304" pitchFamily="18" charset="0"/>
                <a:cs typeface="Times New Roman" panose="02020603050405020304" pitchFamily="18" charset="0"/>
              </a:rPr>
              <a:t>i_mode</a:t>
            </a: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File </a:t>
            </a:r>
            <a:r>
              <a:rPr lang="en-US" altLang="zh-CN" sz="2200" b="1" dirty="0">
                <a:latin typeface="Times New Roman" panose="02020603050405020304" pitchFamily="18" charset="0"/>
                <a:cs typeface="Times New Roman" panose="02020603050405020304" pitchFamily="18" charset="0"/>
              </a:rPr>
              <a:t>r/w/x, </a:t>
            </a:r>
            <a:r>
              <a:rPr lang="zh-CN" altLang="en-US" sz="2200" b="1" dirty="0">
                <a:latin typeface="Times New Roman" panose="02020603050405020304" pitchFamily="18" charset="0"/>
                <a:cs typeface="Times New Roman" panose="02020603050405020304" pitchFamily="18" charset="0"/>
              </a:rPr>
              <a:t>目录</a:t>
            </a:r>
            <a:r>
              <a:rPr lang="en-US" altLang="zh-CN" sz="2200" b="1" dirty="0">
                <a:latin typeface="Times New Roman" panose="02020603050405020304" pitchFamily="18" charset="0"/>
                <a:cs typeface="Times New Roman" panose="02020603050405020304" pitchFamily="18" charset="0"/>
              </a:rPr>
              <a:t>, </a:t>
            </a:r>
            <a:r>
              <a:rPr lang="zh-CN" altLang="en-US" sz="2200" b="1" dirty="0">
                <a:latin typeface="Times New Roman" panose="02020603050405020304" pitchFamily="18" charset="0"/>
                <a:cs typeface="Times New Roman" panose="02020603050405020304" pitchFamily="18" charset="0"/>
              </a:rPr>
              <a:t>文件</a:t>
            </a:r>
            <a:r>
              <a:rPr lang="en-US" altLang="zh-CN" sz="2200" b="1" dirty="0">
                <a:latin typeface="Times New Roman" panose="02020603050405020304" pitchFamily="18" charset="0"/>
                <a:cs typeface="Times New Roman" panose="02020603050405020304" pitchFamily="18" charset="0"/>
              </a:rPr>
              <a:t>, </a:t>
            </a:r>
            <a:r>
              <a:rPr lang="zh-CN" altLang="en-US" sz="2200" b="1" dirty="0">
                <a:latin typeface="Times New Roman" panose="02020603050405020304" pitchFamily="18" charset="0"/>
                <a:cs typeface="Times New Roman" panose="02020603050405020304" pitchFamily="18" charset="0"/>
              </a:rPr>
              <a:t>块设备</a:t>
            </a:r>
            <a:r>
              <a:rPr lang="en-US" altLang="zh-CN" sz="2200" b="1"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mode</a:t>
            </a:r>
            <a:r>
              <a:rPr lang="en-US" sz="2200" dirty="0">
                <a:latin typeface="Times New Roman" panose="02020603050405020304" pitchFamily="18" charset="0"/>
                <a:cs typeface="Times New Roman" panose="02020603050405020304" pitchFamily="18" charset="0"/>
              </a:rPr>
              <a:t> */  </a:t>
            </a:r>
          </a:p>
          <a:p>
            <a:pPr marL="0" indent="0">
              <a:lnSpc>
                <a:spcPct val="60000"/>
              </a:lnSpc>
              <a:buNone/>
            </a:pPr>
            <a:r>
              <a:rPr lang="en-US" sz="2200" dirty="0">
                <a:latin typeface="Times New Roman" panose="02020603050405020304" pitchFamily="18" charset="0"/>
                <a:cs typeface="Times New Roman" panose="02020603050405020304" pitchFamily="18" charset="0"/>
              </a:rPr>
              <a:t>       __le16  </a:t>
            </a:r>
            <a:r>
              <a:rPr lang="en-US" sz="2200" dirty="0" err="1">
                <a:latin typeface="Times New Roman" panose="02020603050405020304" pitchFamily="18" charset="0"/>
                <a:cs typeface="Times New Roman" panose="02020603050405020304" pitchFamily="18" charset="0"/>
              </a:rPr>
              <a:t>i_uid</a:t>
            </a:r>
            <a:r>
              <a:rPr lang="en-US" sz="2200" dirty="0">
                <a:latin typeface="Times New Roman" panose="02020603050405020304" pitchFamily="18" charset="0"/>
                <a:cs typeface="Times New Roman" panose="02020603050405020304" pitchFamily="18" charset="0"/>
              </a:rPr>
              <a:t>;                /* Low 16 bits of Owner </a:t>
            </a:r>
            <a:r>
              <a:rPr lang="en-US" sz="2200" dirty="0" err="1">
                <a:latin typeface="Times New Roman" panose="02020603050405020304" pitchFamily="18" charset="0"/>
                <a:cs typeface="Times New Roman" panose="02020603050405020304" pitchFamily="18" charset="0"/>
              </a:rPr>
              <a:t>Uid</a:t>
            </a:r>
            <a:r>
              <a:rPr lang="en-US" sz="2200" dirty="0">
                <a:latin typeface="Times New Roman" panose="02020603050405020304" pitchFamily="18" charset="0"/>
                <a:cs typeface="Times New Roman" panose="02020603050405020304" pitchFamily="18" charset="0"/>
              </a:rPr>
              <a:t>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i_size_lo</a:t>
            </a: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File</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Size in bytes</a:t>
            </a:r>
            <a:r>
              <a:rPr lang="en-US" sz="2200" dirty="0">
                <a:latin typeface="Times New Roman" panose="02020603050405020304" pitchFamily="18" charset="0"/>
                <a:cs typeface="Times New Roman" panose="02020603050405020304" pitchFamily="18" charset="0"/>
              </a:rPr>
              <a:t>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i_atime</a:t>
            </a:r>
            <a:r>
              <a:rPr lang="en-US" sz="2200" dirty="0">
                <a:latin typeface="Times New Roman" panose="02020603050405020304" pitchFamily="18" charset="0"/>
                <a:cs typeface="Times New Roman" panose="02020603050405020304" pitchFamily="18" charset="0"/>
              </a:rPr>
              <a:t>;            /* Access time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i_ctime</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Inode</a:t>
            </a:r>
            <a:r>
              <a:rPr lang="en-US" sz="2200" dirty="0">
                <a:latin typeface="Times New Roman" panose="02020603050405020304" pitchFamily="18" charset="0"/>
                <a:cs typeface="Times New Roman" panose="02020603050405020304" pitchFamily="18" charset="0"/>
              </a:rPr>
              <a:t> Change time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i_mtime</a:t>
            </a:r>
            <a:r>
              <a:rPr lang="en-US" sz="2200" dirty="0">
                <a:latin typeface="Times New Roman" panose="02020603050405020304" pitchFamily="18" charset="0"/>
                <a:cs typeface="Times New Roman" panose="02020603050405020304" pitchFamily="18" charset="0"/>
              </a:rPr>
              <a:t>;           /* Modification time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i_dtime</a:t>
            </a:r>
            <a:r>
              <a:rPr lang="en-US" sz="2200" dirty="0">
                <a:latin typeface="Times New Roman" panose="02020603050405020304" pitchFamily="18" charset="0"/>
                <a:cs typeface="Times New Roman" panose="02020603050405020304" pitchFamily="18" charset="0"/>
              </a:rPr>
              <a:t>;            /* Deletion Time */  </a:t>
            </a:r>
          </a:p>
          <a:p>
            <a:pPr marL="0" indent="0">
              <a:lnSpc>
                <a:spcPct val="60000"/>
              </a:lnSpc>
              <a:buNone/>
            </a:pPr>
            <a:r>
              <a:rPr lang="en-US" sz="2200" dirty="0">
                <a:latin typeface="Times New Roman" panose="02020603050405020304" pitchFamily="18" charset="0"/>
                <a:cs typeface="Times New Roman" panose="02020603050405020304" pitchFamily="18" charset="0"/>
              </a:rPr>
              <a:t>       __le16  </a:t>
            </a:r>
            <a:r>
              <a:rPr lang="en-US" sz="2200" dirty="0" err="1">
                <a:latin typeface="Times New Roman" panose="02020603050405020304" pitchFamily="18" charset="0"/>
                <a:cs typeface="Times New Roman" panose="02020603050405020304" pitchFamily="18" charset="0"/>
              </a:rPr>
              <a:t>i_gid</a:t>
            </a:r>
            <a:r>
              <a:rPr lang="en-US" sz="2200" dirty="0">
                <a:latin typeface="Times New Roman" panose="02020603050405020304" pitchFamily="18" charset="0"/>
                <a:cs typeface="Times New Roman" panose="02020603050405020304" pitchFamily="18" charset="0"/>
              </a:rPr>
              <a:t>;                /*Low 16 bits of Group Id */  </a:t>
            </a:r>
          </a:p>
          <a:p>
            <a:pPr marL="0" indent="0">
              <a:lnSpc>
                <a:spcPct val="60000"/>
              </a:lnSpc>
              <a:buNone/>
            </a:pPr>
            <a:r>
              <a:rPr lang="en-US" sz="2200" dirty="0">
                <a:latin typeface="Times New Roman" panose="02020603050405020304" pitchFamily="18" charset="0"/>
                <a:cs typeface="Times New Roman" panose="02020603050405020304" pitchFamily="18" charset="0"/>
              </a:rPr>
              <a:t>       __le16  </a:t>
            </a:r>
            <a:r>
              <a:rPr lang="en-US" sz="2200" dirty="0" err="1">
                <a:latin typeface="Times New Roman" panose="02020603050405020304" pitchFamily="18" charset="0"/>
                <a:cs typeface="Times New Roman" panose="02020603050405020304" pitchFamily="18" charset="0"/>
              </a:rPr>
              <a:t>i_links_count</a:t>
            </a:r>
            <a:r>
              <a:rPr lang="en-US" sz="2200" dirty="0">
                <a:latin typeface="Times New Roman" panose="02020603050405020304" pitchFamily="18" charset="0"/>
                <a:cs typeface="Times New Roman" panose="02020603050405020304" pitchFamily="18" charset="0"/>
              </a:rPr>
              <a:t>;  /* Links count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i_blocks_lo</a:t>
            </a: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File Blocks count</a:t>
            </a:r>
            <a:r>
              <a:rPr lang="en-US" sz="2200" dirty="0">
                <a:latin typeface="Times New Roman" panose="02020603050405020304" pitchFamily="18" charset="0"/>
                <a:cs typeface="Times New Roman" panose="02020603050405020304" pitchFamily="18" charset="0"/>
              </a:rPr>
              <a:t>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b="1" dirty="0" err="1">
                <a:solidFill>
                  <a:srgbClr val="0070C0"/>
                </a:solidFill>
                <a:latin typeface="Times New Roman" panose="02020603050405020304" pitchFamily="18" charset="0"/>
                <a:cs typeface="Times New Roman" panose="02020603050405020304" pitchFamily="18" charset="0"/>
              </a:rPr>
              <a:t>i_flags</a:t>
            </a:r>
            <a:r>
              <a:rPr lang="en-US" sz="2200" dirty="0">
                <a:latin typeface="Times New Roman" panose="02020603050405020304" pitchFamily="18" charset="0"/>
                <a:cs typeface="Times New Roman" panose="02020603050405020304" pitchFamily="18" charset="0"/>
              </a:rPr>
              <a:t>;             /* File flags */</a:t>
            </a:r>
          </a:p>
          <a:p>
            <a:pPr marL="0" indent="0">
              <a:lnSpc>
                <a:spcPct val="60000"/>
              </a:lnSpc>
              <a:buNone/>
            </a:pPr>
            <a:r>
              <a:rPr lang="en-US" sz="2200" dirty="0">
                <a:latin typeface="Times New Roman" panose="02020603050405020304" pitchFamily="18" charset="0"/>
                <a:cs typeface="Times New Roman" panose="02020603050405020304" pitchFamily="18" charset="0"/>
              </a:rPr>
              <a:t>       ......  </a:t>
            </a:r>
          </a:p>
          <a:p>
            <a:pPr marL="0" indent="0">
              <a:lnSpc>
                <a:spcPct val="60000"/>
              </a:lnSpc>
              <a:buNone/>
            </a:pPr>
            <a:r>
              <a:rPr lang="en-US" sz="2200" b="1" dirty="0">
                <a:solidFill>
                  <a:srgbClr val="FF0000"/>
                </a:solidFill>
                <a:latin typeface="Times New Roman" panose="02020603050405020304" pitchFamily="18" charset="0"/>
                <a:cs typeface="Times New Roman" panose="02020603050405020304" pitchFamily="18" charset="0"/>
              </a:rPr>
              <a:t>       __le32  </a:t>
            </a:r>
            <a:r>
              <a:rPr lang="en-US" sz="2200" b="1" dirty="0" err="1">
                <a:solidFill>
                  <a:srgbClr val="FF0000"/>
                </a:solidFill>
                <a:latin typeface="Times New Roman" panose="02020603050405020304" pitchFamily="18" charset="0"/>
                <a:cs typeface="Times New Roman" panose="02020603050405020304" pitchFamily="18" charset="0"/>
              </a:rPr>
              <a:t>i_block</a:t>
            </a:r>
            <a:r>
              <a:rPr lang="en-US" sz="2200" b="1" dirty="0">
                <a:solidFill>
                  <a:srgbClr val="FF0000"/>
                </a:solidFill>
                <a:latin typeface="Times New Roman" panose="02020603050405020304" pitchFamily="18" charset="0"/>
                <a:cs typeface="Times New Roman" panose="02020603050405020304" pitchFamily="18" charset="0"/>
              </a:rPr>
              <a:t>[EXT4_N_BLOCKS];   /* Pointers to blocks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i_generation</a:t>
            </a:r>
            <a:r>
              <a:rPr lang="en-US" sz="2200" dirty="0">
                <a:latin typeface="Times New Roman" panose="02020603050405020304" pitchFamily="18" charset="0"/>
                <a:cs typeface="Times New Roman" panose="02020603050405020304" pitchFamily="18" charset="0"/>
              </a:rPr>
              <a:t>;                  /* File version (for NFS)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i_file_acl_lo</a:t>
            </a:r>
            <a:r>
              <a:rPr lang="en-US" sz="2200" dirty="0">
                <a:latin typeface="Times New Roman" panose="02020603050405020304" pitchFamily="18" charset="0"/>
                <a:cs typeface="Times New Roman" panose="02020603050405020304" pitchFamily="18" charset="0"/>
              </a:rPr>
              <a:t>;                  /* File ACL */  </a:t>
            </a:r>
          </a:p>
          <a:p>
            <a:pPr marL="0" indent="0">
              <a:lnSpc>
                <a:spcPct val="60000"/>
              </a:lnSpc>
              <a:buNone/>
            </a:pPr>
            <a:r>
              <a:rPr lang="en-US" sz="2200" dirty="0">
                <a:latin typeface="Times New Roman" panose="02020603050405020304" pitchFamily="18" charset="0"/>
                <a:cs typeface="Times New Roman" panose="02020603050405020304" pitchFamily="18" charset="0"/>
              </a:rPr>
              <a:t>       __le32  </a:t>
            </a:r>
            <a:r>
              <a:rPr lang="en-US" sz="2200" dirty="0" err="1">
                <a:latin typeface="Times New Roman" panose="02020603050405020304" pitchFamily="18" charset="0"/>
                <a:cs typeface="Times New Roman" panose="02020603050405020304" pitchFamily="18" charset="0"/>
              </a:rPr>
              <a:t>i_size_high</a:t>
            </a:r>
            <a:r>
              <a:rPr 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 </a:t>
            </a:r>
            <a:r>
              <a:rPr lang="en-US" altLang="zh-CN" sz="2200" b="1" dirty="0">
                <a:latin typeface="Times New Roman" panose="02020603050405020304" pitchFamily="18" charset="0"/>
                <a:cs typeface="Times New Roman" panose="02020603050405020304" pitchFamily="18" charset="0"/>
              </a:rPr>
              <a:t>File</a:t>
            </a:r>
            <a:r>
              <a:rPr lang="en-US" altLang="zh-CN" sz="2200" dirty="0">
                <a:latin typeface="Times New Roman" panose="02020603050405020304" pitchFamily="18" charset="0"/>
                <a:cs typeface="Times New Roman" panose="02020603050405020304" pitchFamily="18" charset="0"/>
              </a:rPr>
              <a:t> </a:t>
            </a:r>
            <a:r>
              <a:rPr lang="en-US" altLang="zh-CN" sz="2200" b="1" dirty="0">
                <a:latin typeface="Times New Roman" panose="02020603050405020304" pitchFamily="18" charset="0"/>
                <a:cs typeface="Times New Roman" panose="02020603050405020304" pitchFamily="18" charset="0"/>
              </a:rPr>
              <a:t>Size in bytes</a:t>
            </a:r>
            <a:r>
              <a:rPr lang="en-US" altLang="zh-CN" sz="2200" dirty="0">
                <a:latin typeface="Times New Roman" panose="02020603050405020304" pitchFamily="18" charset="0"/>
                <a:cs typeface="Times New Roman" panose="02020603050405020304" pitchFamily="18" charset="0"/>
              </a:rPr>
              <a:t> */  </a:t>
            </a:r>
          </a:p>
          <a:p>
            <a:pPr marL="0" indent="0">
              <a:lnSpc>
                <a:spcPct val="60000"/>
              </a:lnSpc>
              <a:buNone/>
            </a:pPr>
            <a:r>
              <a:rPr lang="en-US" sz="2200" dirty="0">
                <a:latin typeface="Times New Roman" panose="02020603050405020304" pitchFamily="18" charset="0"/>
                <a:cs typeface="Times New Roman" panose="02020603050405020304" pitchFamily="18" charset="0"/>
              </a:rPr>
              <a:t>       ......};</a:t>
            </a:r>
          </a:p>
        </p:txBody>
      </p:sp>
      <p:sp>
        <p:nvSpPr>
          <p:cNvPr id="7" name="灯片编号占位符 3">
            <a:extLst>
              <a:ext uri="{FF2B5EF4-FFF2-40B4-BE49-F238E27FC236}">
                <a16:creationId xmlns:a16="http://schemas.microsoft.com/office/drawing/2014/main" id="{9370ED1A-B0A3-489C-96D3-6352A5EF6B37}"/>
              </a:ext>
            </a:extLst>
          </p:cNvPr>
          <p:cNvSpPr txBox="1">
            <a:spLocks/>
          </p:cNvSpPr>
          <p:nvPr/>
        </p:nvSpPr>
        <p:spPr>
          <a:xfrm>
            <a:off x="8360883" y="6492875"/>
            <a:ext cx="2057400" cy="365125"/>
          </a:xfrm>
          <a:prstGeom prst="rect">
            <a:avLst/>
          </a:prstGeom>
        </p:spPr>
        <p:txBody>
          <a:bodyPr anchor="ctr"/>
          <a:lstStyle>
            <a:defPPr>
              <a:defRPr lang="en-US"/>
            </a:defPPr>
            <a:lvl1pPr algn="r" rtl="0" eaLnBrk="0" fontAlgn="base" hangingPunct="0">
              <a:lnSpc>
                <a:spcPct val="80000"/>
              </a:lnSpc>
              <a:spcBef>
                <a:spcPct val="20000"/>
              </a:spcBef>
              <a:spcAft>
                <a:spcPct val="0"/>
              </a:spcAft>
              <a:buSzPct val="80000"/>
              <a:buFont typeface="Wingdings" panose="05000000000000000000" pitchFamily="2" charset="2"/>
              <a:buChar char="•"/>
              <a:defRPr sz="1600" b="1" kern="1200">
                <a:solidFill>
                  <a:schemeClr val="bg1"/>
                </a:solidFill>
                <a:latin typeface="微软雅黑" panose="020B0503020204020204" pitchFamily="34" charset="-122"/>
                <a:ea typeface="微软雅黑" panose="020B0503020204020204" pitchFamily="34" charset="-122"/>
                <a:cs typeface="+mn-cs"/>
              </a:defRPr>
            </a:lvl1pPr>
            <a:lvl2pPr marL="457200"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lnSpc>
                <a:spcPct val="80000"/>
              </a:lnSpc>
              <a:spcBef>
                <a:spcPct val="20000"/>
              </a:spcBef>
              <a:spcAft>
                <a:spcPct val="0"/>
              </a:spcAft>
              <a:buSzPct val="80000"/>
              <a:buFont typeface="Wingdings" panose="05000000000000000000" pitchFamily="2" charset="2"/>
              <a:buChar char="•"/>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a:lstStyle>
          <a:p>
            <a:pPr>
              <a:defRPr/>
            </a:pPr>
            <a:fld id="{0C78537A-5010-4545-89DA-8A8915DB7A41}" type="slidenum">
              <a:rPr lang="en-US" altLang="zh-CN" smtClean="0"/>
              <a:pPr>
                <a:defRPr/>
              </a:pPr>
              <a:t>17</a:t>
            </a:fld>
            <a:endParaRPr lang="en-US" altLang="zh-CN" dirty="0"/>
          </a:p>
        </p:txBody>
      </p:sp>
      <p:sp>
        <p:nvSpPr>
          <p:cNvPr id="8" name="矩形 7">
            <a:extLst>
              <a:ext uri="{FF2B5EF4-FFF2-40B4-BE49-F238E27FC236}">
                <a16:creationId xmlns:a16="http://schemas.microsoft.com/office/drawing/2014/main" id="{B0D86AC4-29CB-478E-8B4B-9962CC171722}"/>
              </a:ext>
            </a:extLst>
          </p:cNvPr>
          <p:cNvSpPr/>
          <p:nvPr/>
        </p:nvSpPr>
        <p:spPr>
          <a:xfrm>
            <a:off x="7773942" y="2193566"/>
            <a:ext cx="2715490" cy="461665"/>
          </a:xfrm>
          <a:prstGeom prst="rect">
            <a:avLst/>
          </a:prstGeom>
          <a:solidFill>
            <a:srgbClr val="FFFF00"/>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ls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命令就是读</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inode</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B8837C4F-8A50-488A-95A9-D4D571D9DFDC}"/>
              </a:ext>
            </a:extLst>
          </p:cNvPr>
          <p:cNvSpPr/>
          <p:nvPr/>
        </p:nvSpPr>
        <p:spPr>
          <a:xfrm>
            <a:off x="1848080" y="3525136"/>
            <a:ext cx="7468281" cy="1631216"/>
          </a:xfrm>
          <a:prstGeom prst="rect">
            <a:avLst/>
          </a:prstGeom>
          <a:solidFill>
            <a:schemeClr val="bg1"/>
          </a:solidFill>
          <a:ln w="28575">
            <a:solidFill>
              <a:schemeClr val="tx1"/>
            </a:solidFill>
          </a:ln>
        </p:spPr>
        <p:txBody>
          <a:bodyPr wrap="square">
            <a:spAutoFit/>
          </a:bodyPr>
          <a:lstStyle/>
          <a:p>
            <a:r>
              <a:rPr lang="en-US" sz="2000" b="1" dirty="0">
                <a:latin typeface="Times New Roman" panose="02020603050405020304" pitchFamily="18" charset="0"/>
                <a:cs typeface="Times New Roman" panose="02020603050405020304" pitchFamily="18" charset="0"/>
              </a:rPr>
              <a:t>#define  EXT4_NDIR_BLOCKS    12</a:t>
            </a:r>
          </a:p>
          <a:p>
            <a:r>
              <a:rPr lang="en-US" sz="2000" b="1" dirty="0">
                <a:latin typeface="Times New Roman" panose="02020603050405020304" pitchFamily="18" charset="0"/>
                <a:cs typeface="Times New Roman" panose="02020603050405020304" pitchFamily="18" charset="0"/>
              </a:rPr>
              <a:t>#define  EXT4_IND_BLOCK          EXT4_NDIR_BLOCKS</a:t>
            </a:r>
          </a:p>
          <a:p>
            <a:r>
              <a:rPr lang="en-US" sz="2000" b="1" dirty="0">
                <a:latin typeface="Times New Roman" panose="02020603050405020304" pitchFamily="18" charset="0"/>
                <a:cs typeface="Times New Roman" panose="02020603050405020304" pitchFamily="18" charset="0"/>
              </a:rPr>
              <a:t>#define  EXT4_DIND_BLOCK       (EXT4_IND_BLOCK + 1)</a:t>
            </a:r>
          </a:p>
          <a:p>
            <a:r>
              <a:rPr lang="en-US" sz="2000" b="1" dirty="0">
                <a:latin typeface="Times New Roman" panose="02020603050405020304" pitchFamily="18" charset="0"/>
                <a:cs typeface="Times New Roman" panose="02020603050405020304" pitchFamily="18" charset="0"/>
              </a:rPr>
              <a:t>#define  EXT4_TIND_BLOCK        (EXT4_DIND_BLOCK + 1)</a:t>
            </a:r>
          </a:p>
          <a:p>
            <a:r>
              <a:rPr lang="en-US" sz="2000" b="1" dirty="0">
                <a:latin typeface="Times New Roman" panose="02020603050405020304" pitchFamily="18" charset="0"/>
                <a:cs typeface="Times New Roman" panose="02020603050405020304" pitchFamily="18" charset="0"/>
              </a:rPr>
              <a:t>#define  </a:t>
            </a:r>
            <a:r>
              <a:rPr lang="en-US" sz="2000" b="1" dirty="0">
                <a:solidFill>
                  <a:srgbClr val="FF0000"/>
                </a:solidFill>
                <a:latin typeface="Times New Roman" panose="02020603050405020304" pitchFamily="18" charset="0"/>
                <a:cs typeface="Times New Roman" panose="02020603050405020304" pitchFamily="18" charset="0"/>
              </a:rPr>
              <a:t>EXT4_N_BLOCKS</a:t>
            </a:r>
            <a:r>
              <a:rPr lang="en-US" sz="2000" b="1" dirty="0">
                <a:latin typeface="Times New Roman" panose="02020603050405020304" pitchFamily="18" charset="0"/>
                <a:cs typeface="Times New Roman" panose="02020603050405020304" pitchFamily="18" charset="0"/>
              </a:rPr>
              <a:t>            (EXT4_TIND_BLOCK + 1)</a:t>
            </a:r>
          </a:p>
        </p:txBody>
      </p:sp>
      <p:pic>
        <p:nvPicPr>
          <p:cNvPr id="10" name="内容占位符 4">
            <a:extLst>
              <a:ext uri="{FF2B5EF4-FFF2-40B4-BE49-F238E27FC236}">
                <a16:creationId xmlns:a16="http://schemas.microsoft.com/office/drawing/2014/main" id="{4F065BDE-0B69-4EB7-88E3-0F7DA4AEFF8E}"/>
              </a:ext>
            </a:extLst>
          </p:cNvPr>
          <p:cNvPicPr>
            <a:picLocks noChangeAspect="1"/>
          </p:cNvPicPr>
          <p:nvPr/>
        </p:nvPicPr>
        <p:blipFill>
          <a:blip r:embed="rId2"/>
          <a:stretch>
            <a:fillRect/>
          </a:stretch>
        </p:blipFill>
        <p:spPr bwMode="auto">
          <a:xfrm>
            <a:off x="6497092" y="960174"/>
            <a:ext cx="4037078" cy="580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椭圆 10">
            <a:extLst>
              <a:ext uri="{FF2B5EF4-FFF2-40B4-BE49-F238E27FC236}">
                <a16:creationId xmlns:a16="http://schemas.microsoft.com/office/drawing/2014/main" id="{950D226F-6529-4B3C-8908-E1570A52F955}"/>
              </a:ext>
            </a:extLst>
          </p:cNvPr>
          <p:cNvSpPr/>
          <p:nvPr/>
        </p:nvSpPr>
        <p:spPr>
          <a:xfrm rot="19062223">
            <a:off x="8378688" y="3222160"/>
            <a:ext cx="1511300" cy="343332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3258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heel(1)">
                                      <p:cBhvr>
                                        <p:cTn id="1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393CE23-ADE6-DFAF-0ABE-AF2DE0B894ED}"/>
              </a:ext>
            </a:extLst>
          </p:cNvPr>
          <p:cNvSpPr>
            <a:spLocks noGrp="1"/>
          </p:cNvSpPr>
          <p:nvPr>
            <p:ph type="sldNum" sz="quarter" idx="12"/>
          </p:nvPr>
        </p:nvSpPr>
        <p:spPr>
          <a:prstGeom prst="rect">
            <a:avLst/>
          </a:prstGeom>
        </p:spPr>
        <p:txBody>
          <a:bodyPr/>
          <a:lstStyle/>
          <a:p>
            <a:pPr>
              <a:buNone/>
            </a:pPr>
            <a:fld id="{5EEFC526-8A43-41C1-B1D0-B3D20E53516B}" type="slidenum">
              <a:rPr lang="en-US" altLang="ko-KR" smtClean="0"/>
              <a:pPr>
                <a:buNone/>
              </a:pPr>
              <a:t>18</a:t>
            </a:fld>
            <a:endParaRPr lang="en-US" altLang="ko-KR" dirty="0"/>
          </a:p>
        </p:txBody>
      </p:sp>
      <p:sp>
        <p:nvSpPr>
          <p:cNvPr id="2" name="标题 1">
            <a:extLst>
              <a:ext uri="{FF2B5EF4-FFF2-40B4-BE49-F238E27FC236}">
                <a16:creationId xmlns:a16="http://schemas.microsoft.com/office/drawing/2014/main" id="{1E9075EA-D129-7108-22E7-2CDEC2EC199A}"/>
              </a:ext>
            </a:extLst>
          </p:cNvPr>
          <p:cNvSpPr>
            <a:spLocks noGrp="1"/>
          </p:cNvSpPr>
          <p:nvPr>
            <p:ph type="title"/>
          </p:nvPr>
        </p:nvSpPr>
        <p:spPr>
          <a:prstGeom prst="rect">
            <a:avLst/>
          </a:prstGeom>
        </p:spPr>
        <p:txBody>
          <a:bodyPr/>
          <a:lstStyle/>
          <a:p>
            <a:r>
              <a:rPr lang="zh-CN" altLang="en-US" dirty="0"/>
              <a:t>关于文件系统设计的思考</a:t>
            </a:r>
          </a:p>
        </p:txBody>
      </p:sp>
      <p:sp>
        <p:nvSpPr>
          <p:cNvPr id="3" name="内容占位符 2">
            <a:extLst>
              <a:ext uri="{FF2B5EF4-FFF2-40B4-BE49-F238E27FC236}">
                <a16:creationId xmlns:a16="http://schemas.microsoft.com/office/drawing/2014/main" id="{0A0D3EA5-E897-96C9-3A3C-7DE3F5065CF9}"/>
              </a:ext>
            </a:extLst>
          </p:cNvPr>
          <p:cNvSpPr>
            <a:spLocks noGrp="1"/>
          </p:cNvSpPr>
          <p:nvPr>
            <p:ph idx="1"/>
          </p:nvPr>
        </p:nvSpPr>
        <p:spPr>
          <a:prstGeom prst="rect">
            <a:avLst/>
          </a:prstGeom>
        </p:spPr>
        <p:txBody>
          <a:bodyPr>
            <a:normAutofit fontScale="62500" lnSpcReduction="20000"/>
          </a:bodyPr>
          <a:lstStyle/>
          <a:p>
            <a:pPr>
              <a:lnSpc>
                <a:spcPct val="120000"/>
              </a:lnSpc>
            </a:pPr>
            <a:r>
              <a:rPr lang="zh-CN" altLang="en-US" dirty="0"/>
              <a:t>问题：将一块连续的空间分割，用以应对用户不同大小，甚至可能变化的空间请求</a:t>
            </a:r>
            <a:endParaRPr lang="en-US" altLang="zh-CN" dirty="0"/>
          </a:p>
          <a:p>
            <a:pPr>
              <a:lnSpc>
                <a:spcPct val="120000"/>
              </a:lnSpc>
            </a:pPr>
            <a:r>
              <a:rPr lang="zh-CN" altLang="en-US" dirty="0"/>
              <a:t>内存管理：内存空间有上限（</a:t>
            </a:r>
            <a:r>
              <a:rPr lang="en-US" altLang="zh-CN" dirty="0" err="1"/>
              <a:t>4G</a:t>
            </a:r>
            <a:r>
              <a:rPr lang="zh-CN" altLang="en-US" dirty="0"/>
              <a:t>），以页为单位分割，以页表</a:t>
            </a:r>
            <a:r>
              <a:rPr lang="en-US" altLang="zh-CN" dirty="0"/>
              <a:t>+MMU</a:t>
            </a:r>
            <a:r>
              <a:rPr lang="zh-CN" altLang="en-US" dirty="0"/>
              <a:t>实现按需分配，地址翻译将物理上不连续的空间变成了连续</a:t>
            </a:r>
            <a:endParaRPr lang="en-US" altLang="zh-CN" dirty="0"/>
          </a:p>
          <a:p>
            <a:pPr>
              <a:lnSpc>
                <a:spcPct val="120000"/>
              </a:lnSpc>
            </a:pPr>
            <a:r>
              <a:rPr lang="zh-CN" altLang="en-US" dirty="0"/>
              <a:t>硬盘介质的差异：</a:t>
            </a:r>
            <a:endParaRPr lang="en-US" altLang="zh-CN" dirty="0"/>
          </a:p>
          <a:p>
            <a:pPr lvl="1">
              <a:lnSpc>
                <a:spcPct val="120000"/>
              </a:lnSpc>
            </a:pPr>
            <a:r>
              <a:rPr lang="zh-CN" altLang="en-US" dirty="0"/>
              <a:t>单个文件的空间可能是无限的，文件的数量可能是无限的（其实也不是真正意义的无限）</a:t>
            </a:r>
            <a:endParaRPr lang="en-US" altLang="zh-CN" dirty="0"/>
          </a:p>
          <a:p>
            <a:pPr lvl="1">
              <a:lnSpc>
                <a:spcPct val="120000"/>
              </a:lnSpc>
            </a:pPr>
            <a:r>
              <a:rPr lang="zh-CN" altLang="en-US" dirty="0"/>
              <a:t>磁盘的读写特性要求尽可能连续，</a:t>
            </a:r>
            <a:endParaRPr lang="en-US" altLang="zh-CN" dirty="0"/>
          </a:p>
          <a:p>
            <a:pPr lvl="1">
              <a:lnSpc>
                <a:spcPct val="120000"/>
              </a:lnSpc>
            </a:pPr>
            <a:r>
              <a:rPr lang="zh-CN" altLang="en-US" dirty="0"/>
              <a:t>空间一旦分配，就会被固化下来，再移动的代价很大</a:t>
            </a:r>
            <a:endParaRPr lang="en-US" altLang="zh-CN" dirty="0"/>
          </a:p>
          <a:p>
            <a:pPr lvl="1">
              <a:lnSpc>
                <a:spcPct val="120000"/>
              </a:lnSpc>
            </a:pPr>
            <a:r>
              <a:rPr lang="zh-CN" altLang="en-US" dirty="0"/>
              <a:t>没有硬件来感知并劫持对于文件的读写，因此文件层面的读写需要程序员（软件）自己完成</a:t>
            </a:r>
            <a:endParaRPr lang="en-US" altLang="zh-CN" dirty="0"/>
          </a:p>
          <a:p>
            <a:pPr>
              <a:lnSpc>
                <a:spcPct val="120000"/>
              </a:lnSpc>
            </a:pPr>
            <a:r>
              <a:rPr lang="zh-CN" altLang="en-US" dirty="0"/>
              <a:t>类比内存管理，文件系统的需求：</a:t>
            </a:r>
            <a:endParaRPr lang="en-US" altLang="zh-CN" dirty="0"/>
          </a:p>
          <a:p>
            <a:pPr lvl="1">
              <a:lnSpc>
                <a:spcPct val="120000"/>
              </a:lnSpc>
            </a:pPr>
            <a:r>
              <a:rPr lang="zh-CN" altLang="en-US" dirty="0"/>
              <a:t>不要同时加载太多的文件</a:t>
            </a:r>
            <a:endParaRPr lang="en-US" altLang="zh-CN" dirty="0"/>
          </a:p>
          <a:p>
            <a:pPr lvl="1">
              <a:lnSpc>
                <a:spcPct val="120000"/>
              </a:lnSpc>
            </a:pPr>
            <a:r>
              <a:rPr lang="zh-CN" altLang="en-US" dirty="0"/>
              <a:t>分配尽可能连续</a:t>
            </a:r>
            <a:endParaRPr lang="en-US" altLang="zh-CN" dirty="0"/>
          </a:p>
          <a:p>
            <a:pPr lvl="1">
              <a:lnSpc>
                <a:spcPct val="120000"/>
              </a:lnSpc>
            </a:pPr>
            <a:r>
              <a:rPr lang="zh-CN" altLang="en-US" dirty="0"/>
              <a:t>尽可能使用缓存</a:t>
            </a:r>
            <a:endParaRPr lang="en-US" altLang="zh-CN" dirty="0"/>
          </a:p>
          <a:p>
            <a:pPr lvl="1">
              <a:lnSpc>
                <a:spcPct val="120000"/>
              </a:lnSpc>
            </a:pPr>
            <a:r>
              <a:rPr lang="zh-CN" altLang="en-US" dirty="0"/>
              <a:t>绝大部分文件的操作都需要经过系统调用</a:t>
            </a:r>
            <a:endParaRPr lang="en-US" altLang="zh-CN" dirty="0"/>
          </a:p>
          <a:p>
            <a:pPr>
              <a:lnSpc>
                <a:spcPct val="120000"/>
              </a:lnSpc>
            </a:pPr>
            <a:r>
              <a:rPr lang="zh-CN" altLang="en-US" dirty="0"/>
              <a:t>文件系统的额外需求：掉电之后，上电能够快速恢复和容错</a:t>
            </a:r>
            <a:endParaRPr lang="en-US" altLang="zh-CN" dirty="0"/>
          </a:p>
          <a:p>
            <a:pPr>
              <a:lnSpc>
                <a:spcPct val="120000"/>
              </a:lnSpc>
            </a:pPr>
            <a:endParaRPr lang="zh-CN" altLang="en-US" dirty="0"/>
          </a:p>
        </p:txBody>
      </p:sp>
    </p:spTree>
    <p:extLst>
      <p:ext uri="{BB962C8B-B14F-4D97-AF65-F5344CB8AC3E}">
        <p14:creationId xmlns:p14="http://schemas.microsoft.com/office/powerpoint/2010/main" val="99223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5246F2A-9B9F-120B-F98E-6021394DF131}"/>
              </a:ext>
            </a:extLst>
          </p:cNvPr>
          <p:cNvSpPr>
            <a:spLocks noGrp="1"/>
          </p:cNvSpPr>
          <p:nvPr>
            <p:ph type="sldNum" sz="quarter" idx="12"/>
          </p:nvPr>
        </p:nvSpPr>
        <p:spPr>
          <a:prstGeom prst="rect">
            <a:avLst/>
          </a:prstGeom>
        </p:spPr>
        <p:txBody>
          <a:bodyPr/>
          <a:lstStyle/>
          <a:p>
            <a:pPr>
              <a:buNone/>
            </a:pPr>
            <a:fld id="{5EEFC526-8A43-41C1-B1D0-B3D20E53516B}" type="slidenum">
              <a:rPr lang="en-US" altLang="ko-KR" smtClean="0"/>
              <a:pPr>
                <a:buNone/>
              </a:pPr>
              <a:t>19</a:t>
            </a:fld>
            <a:endParaRPr lang="en-US" altLang="ko-KR" dirty="0"/>
          </a:p>
        </p:txBody>
      </p:sp>
      <p:sp>
        <p:nvSpPr>
          <p:cNvPr id="2" name="标题 1">
            <a:extLst>
              <a:ext uri="{FF2B5EF4-FFF2-40B4-BE49-F238E27FC236}">
                <a16:creationId xmlns:a16="http://schemas.microsoft.com/office/drawing/2014/main" id="{322C2632-BEA1-972C-701D-807FDBC90BAF}"/>
              </a:ext>
            </a:extLst>
          </p:cNvPr>
          <p:cNvSpPr>
            <a:spLocks noGrp="1"/>
          </p:cNvSpPr>
          <p:nvPr>
            <p:ph type="title"/>
          </p:nvPr>
        </p:nvSpPr>
        <p:spPr>
          <a:prstGeom prst="rect">
            <a:avLst/>
          </a:prstGeom>
        </p:spPr>
        <p:txBody>
          <a:bodyPr/>
          <a:lstStyle/>
          <a:p>
            <a:r>
              <a:rPr lang="zh-CN" altLang="en-US" dirty="0"/>
              <a:t>文件管理的特殊处理</a:t>
            </a:r>
          </a:p>
        </p:txBody>
      </p:sp>
      <p:sp>
        <p:nvSpPr>
          <p:cNvPr id="3" name="内容占位符 2">
            <a:extLst>
              <a:ext uri="{FF2B5EF4-FFF2-40B4-BE49-F238E27FC236}">
                <a16:creationId xmlns:a16="http://schemas.microsoft.com/office/drawing/2014/main" id="{E6428454-ADA0-9E5D-0BE0-422D217D7DA5}"/>
              </a:ext>
            </a:extLst>
          </p:cNvPr>
          <p:cNvSpPr>
            <a:spLocks noGrp="1"/>
          </p:cNvSpPr>
          <p:nvPr>
            <p:ph idx="1"/>
          </p:nvPr>
        </p:nvSpPr>
        <p:spPr>
          <a:prstGeom prst="rect">
            <a:avLst/>
          </a:prstGeom>
        </p:spPr>
        <p:txBody>
          <a:bodyPr/>
          <a:lstStyle/>
          <a:p>
            <a:r>
              <a:rPr lang="zh-CN" altLang="en-US" dirty="0"/>
              <a:t>空间分配与上电加载</a:t>
            </a:r>
            <a:endParaRPr lang="en-US" altLang="zh-CN" dirty="0"/>
          </a:p>
          <a:p>
            <a:r>
              <a:rPr lang="zh-CN" altLang="en-US" dirty="0"/>
              <a:t>读写操作接口</a:t>
            </a:r>
            <a:endParaRPr lang="en-US" altLang="zh-CN" dirty="0"/>
          </a:p>
          <a:p>
            <a:r>
              <a:rPr lang="zh-CN" altLang="en-US" dirty="0"/>
              <a:t>并发访问</a:t>
            </a:r>
            <a:endParaRPr lang="en-US" altLang="zh-CN" dirty="0"/>
          </a:p>
          <a:p>
            <a:r>
              <a:rPr lang="zh-CN" altLang="en-US" dirty="0"/>
              <a:t>性能优化</a:t>
            </a:r>
          </a:p>
        </p:txBody>
      </p:sp>
    </p:spTree>
    <p:extLst>
      <p:ext uri="{BB962C8B-B14F-4D97-AF65-F5344CB8AC3E}">
        <p14:creationId xmlns:p14="http://schemas.microsoft.com/office/powerpoint/2010/main" val="1017931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606206" y="1995476"/>
            <a:ext cx="2236886" cy="432000"/>
            <a:chOff x="1660502" y="1138226"/>
            <a:chExt cx="2236886" cy="432000"/>
          </a:xfrm>
        </p:grpSpPr>
        <p:grpSp>
          <p:nvGrpSpPr>
            <p:cNvPr id="68" name="组合 67"/>
            <p:cNvGrpSpPr/>
            <p:nvPr/>
          </p:nvGrpSpPr>
          <p:grpSpPr>
            <a:xfrm>
              <a:off x="1660502" y="1138226"/>
              <a:ext cx="571504" cy="432000"/>
              <a:chOff x="1139825" y="1000114"/>
              <a:chExt cx="571504" cy="432000"/>
            </a:xfrm>
          </p:grpSpPr>
          <p:sp>
            <p:nvSpPr>
              <p:cNvPr id="150" name="矩形 149"/>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1" name="TextBox 67"/>
              <p:cNvSpPr txBox="1"/>
              <p:nvPr/>
            </p:nvSpPr>
            <p:spPr>
              <a:xfrm>
                <a:off x="11398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err="1">
                    <a:solidFill>
                      <a:srgbClr val="11576A"/>
                    </a:solidFill>
                    <a:latin typeface="微软雅黑"/>
                    <a:ea typeface="微软雅黑"/>
                  </a:rPr>
                  <a:t>vol</a:t>
                </a:r>
                <a:endParaRPr lang="zh-CN" altLang="en-US" sz="1600" b="1" dirty="0">
                  <a:solidFill>
                    <a:srgbClr val="11576A"/>
                  </a:solidFill>
                  <a:latin typeface="微软雅黑"/>
                  <a:ea typeface="微软雅黑"/>
                </a:endParaRPr>
              </a:p>
            </p:txBody>
          </p:sp>
        </p:grpSp>
        <p:grpSp>
          <p:nvGrpSpPr>
            <p:cNvPr id="69" name="组合 68"/>
            <p:cNvGrpSpPr/>
            <p:nvPr/>
          </p:nvGrpSpPr>
          <p:grpSpPr>
            <a:xfrm>
              <a:off x="3428990" y="1138226"/>
              <a:ext cx="468398" cy="432000"/>
              <a:chOff x="1176314" y="2000246"/>
              <a:chExt cx="468398" cy="432000"/>
            </a:xfrm>
          </p:grpSpPr>
          <p:sp>
            <p:nvSpPr>
              <p:cNvPr id="148" name="矩形 147"/>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9" name="TextBox 71"/>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cxnSp>
          <p:nvCxnSpPr>
            <p:cNvPr id="81" name="直接箭头连接符 80"/>
            <p:cNvCxnSpPr/>
            <p:nvPr/>
          </p:nvCxnSpPr>
          <p:spPr>
            <a:xfrm flipV="1">
              <a:off x="2165331" y="1343025"/>
              <a:ext cx="1254137"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4287248" y="2427476"/>
            <a:ext cx="2643206" cy="1554182"/>
            <a:chOff x="2341544" y="1570226"/>
            <a:chExt cx="2643206" cy="1554182"/>
          </a:xfrm>
        </p:grpSpPr>
        <p:grpSp>
          <p:nvGrpSpPr>
            <p:cNvPr id="70" name="组合 69"/>
            <p:cNvGrpSpPr/>
            <p:nvPr/>
          </p:nvGrpSpPr>
          <p:grpSpPr>
            <a:xfrm>
              <a:off x="2719372" y="1909758"/>
              <a:ext cx="468398" cy="432000"/>
              <a:chOff x="1176314" y="2000246"/>
              <a:chExt cx="468398" cy="432000"/>
            </a:xfrm>
          </p:grpSpPr>
          <p:sp>
            <p:nvSpPr>
              <p:cNvPr id="146" name="矩形 145"/>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7" name="TextBox 75"/>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71" name="组合 70"/>
            <p:cNvGrpSpPr/>
            <p:nvPr/>
          </p:nvGrpSpPr>
          <p:grpSpPr>
            <a:xfrm>
              <a:off x="3441690" y="1909758"/>
              <a:ext cx="468398" cy="432000"/>
              <a:chOff x="1176314" y="2000246"/>
              <a:chExt cx="468398" cy="432000"/>
            </a:xfrm>
          </p:grpSpPr>
          <p:sp>
            <p:nvSpPr>
              <p:cNvPr id="144" name="矩形 143"/>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5" name="TextBox 78"/>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72" name="组合 71"/>
            <p:cNvGrpSpPr/>
            <p:nvPr/>
          </p:nvGrpSpPr>
          <p:grpSpPr>
            <a:xfrm>
              <a:off x="4164008" y="1909758"/>
              <a:ext cx="468398" cy="432000"/>
              <a:chOff x="1176314" y="2000246"/>
              <a:chExt cx="468398" cy="432000"/>
            </a:xfrm>
          </p:grpSpPr>
          <p:sp>
            <p:nvSpPr>
              <p:cNvPr id="142" name="矩形 141"/>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3" name="TextBox 81"/>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73" name="组合 72"/>
            <p:cNvGrpSpPr/>
            <p:nvPr/>
          </p:nvGrpSpPr>
          <p:grpSpPr>
            <a:xfrm>
              <a:off x="2341544" y="2692408"/>
              <a:ext cx="468398" cy="432000"/>
              <a:chOff x="1176314" y="2000246"/>
              <a:chExt cx="468398" cy="432000"/>
            </a:xfrm>
          </p:grpSpPr>
          <p:sp>
            <p:nvSpPr>
              <p:cNvPr id="140" name="矩形 139"/>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1" name="TextBox 86"/>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74" name="组合 73"/>
            <p:cNvGrpSpPr/>
            <p:nvPr/>
          </p:nvGrpSpPr>
          <p:grpSpPr>
            <a:xfrm>
              <a:off x="3068632" y="2692408"/>
              <a:ext cx="468398" cy="432000"/>
              <a:chOff x="1176314" y="2000246"/>
              <a:chExt cx="468398" cy="432000"/>
            </a:xfrm>
          </p:grpSpPr>
          <p:sp>
            <p:nvSpPr>
              <p:cNvPr id="138" name="矩形 137"/>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9" name="TextBox 89"/>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75" name="组合 74"/>
            <p:cNvGrpSpPr/>
            <p:nvPr/>
          </p:nvGrpSpPr>
          <p:grpSpPr>
            <a:xfrm>
              <a:off x="4516352" y="2692408"/>
              <a:ext cx="468398" cy="432000"/>
              <a:chOff x="1176314" y="2000246"/>
              <a:chExt cx="468398" cy="432000"/>
            </a:xfrm>
          </p:grpSpPr>
          <p:sp>
            <p:nvSpPr>
              <p:cNvPr id="136" name="矩形 135"/>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7" name="TextBox 92"/>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cxnSp>
          <p:nvCxnSpPr>
            <p:cNvPr id="82" name="直接箭头连接符 81"/>
            <p:cNvCxnSpPr>
              <a:stCxn id="148" idx="2"/>
              <a:endCxn id="144" idx="0"/>
            </p:cNvCxnSpPr>
            <p:nvPr/>
          </p:nvCxnSpPr>
          <p:spPr>
            <a:xfrm rot="16200000" flipH="1">
              <a:off x="3489472" y="1736879"/>
              <a:ext cx="334774" cy="1467"/>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a:endCxn id="146" idx="0"/>
            </p:cNvCxnSpPr>
            <p:nvPr/>
          </p:nvCxnSpPr>
          <p:spPr>
            <a:xfrm rot="10800000" flipV="1">
              <a:off x="3047994" y="1571624"/>
              <a:ext cx="428625" cy="31432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a:endCxn id="142" idx="0"/>
            </p:cNvCxnSpPr>
            <p:nvPr/>
          </p:nvCxnSpPr>
          <p:spPr>
            <a:xfrm>
              <a:off x="3800468" y="1571625"/>
              <a:ext cx="495300" cy="31432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146" idx="2"/>
              <a:endCxn id="140" idx="0"/>
            </p:cNvCxnSpPr>
            <p:nvPr/>
          </p:nvCxnSpPr>
          <p:spPr>
            <a:xfrm rot="5400000">
              <a:off x="2610793" y="2359859"/>
              <a:ext cx="353817" cy="31761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stCxn id="146" idx="2"/>
              <a:endCxn id="138" idx="0"/>
            </p:cNvCxnSpPr>
            <p:nvPr/>
          </p:nvCxnSpPr>
          <p:spPr>
            <a:xfrm rot="16200000" flipH="1">
              <a:off x="2915592" y="2372673"/>
              <a:ext cx="353817" cy="29198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142" idx="2"/>
              <a:endCxn id="136" idx="0"/>
            </p:cNvCxnSpPr>
            <p:nvPr/>
          </p:nvCxnSpPr>
          <p:spPr>
            <a:xfrm rot="16200000" flipH="1">
              <a:off x="4361810" y="2371092"/>
              <a:ext cx="344292" cy="28562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4261848" y="3199008"/>
            <a:ext cx="2722582" cy="1554174"/>
            <a:chOff x="2316144" y="2341758"/>
            <a:chExt cx="2722582" cy="1554174"/>
          </a:xfrm>
        </p:grpSpPr>
        <p:grpSp>
          <p:nvGrpSpPr>
            <p:cNvPr id="76" name="组合 75"/>
            <p:cNvGrpSpPr/>
            <p:nvPr/>
          </p:nvGrpSpPr>
          <p:grpSpPr>
            <a:xfrm>
              <a:off x="2316144" y="3463932"/>
              <a:ext cx="571504" cy="432000"/>
              <a:chOff x="1127125" y="1000114"/>
              <a:chExt cx="571504" cy="432000"/>
            </a:xfrm>
          </p:grpSpPr>
          <p:sp>
            <p:nvSpPr>
              <p:cNvPr id="134" name="矩形 133"/>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5" name="TextBox 95"/>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77" name="组合 76"/>
            <p:cNvGrpSpPr/>
            <p:nvPr/>
          </p:nvGrpSpPr>
          <p:grpSpPr>
            <a:xfrm>
              <a:off x="3030524" y="3463932"/>
              <a:ext cx="571504" cy="432000"/>
              <a:chOff x="1127125" y="1000114"/>
              <a:chExt cx="571504" cy="432000"/>
            </a:xfrm>
          </p:grpSpPr>
          <p:sp>
            <p:nvSpPr>
              <p:cNvPr id="132" name="矩形 131"/>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3" name="TextBox 98"/>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78" name="组合 77"/>
            <p:cNvGrpSpPr/>
            <p:nvPr/>
          </p:nvGrpSpPr>
          <p:grpSpPr>
            <a:xfrm>
              <a:off x="3756018" y="3463932"/>
              <a:ext cx="571504" cy="432000"/>
              <a:chOff x="1127125" y="1000114"/>
              <a:chExt cx="571504" cy="432000"/>
            </a:xfrm>
          </p:grpSpPr>
          <p:sp>
            <p:nvSpPr>
              <p:cNvPr id="130" name="矩形 129"/>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1" name="TextBox 101"/>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79" name="组合 78"/>
            <p:cNvGrpSpPr/>
            <p:nvPr/>
          </p:nvGrpSpPr>
          <p:grpSpPr>
            <a:xfrm>
              <a:off x="4467222" y="3463932"/>
              <a:ext cx="571504" cy="432000"/>
              <a:chOff x="1127125" y="1000114"/>
              <a:chExt cx="571504" cy="432000"/>
            </a:xfrm>
          </p:grpSpPr>
          <p:sp>
            <p:nvSpPr>
              <p:cNvPr id="128" name="矩形 127"/>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9" name="TextBox 104"/>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cxnSp>
          <p:nvCxnSpPr>
            <p:cNvPr id="87" name="直接箭头连接符 86"/>
            <p:cNvCxnSpPr>
              <a:stCxn id="140" idx="2"/>
              <a:endCxn id="134" idx="0"/>
            </p:cNvCxnSpPr>
            <p:nvPr/>
          </p:nvCxnSpPr>
          <p:spPr>
            <a:xfrm rot="16200000" flipH="1">
              <a:off x="2397334" y="3295754"/>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rot="16200000" flipH="1">
              <a:off x="3119530" y="3295754"/>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rot="16200000" flipH="1">
              <a:off x="4548290" y="3295754"/>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144" idx="2"/>
              <a:endCxn id="130" idx="0"/>
            </p:cNvCxnSpPr>
            <p:nvPr/>
          </p:nvCxnSpPr>
          <p:spPr>
            <a:xfrm rot="16200000" flipH="1">
              <a:off x="3286276" y="2724308"/>
              <a:ext cx="1125342" cy="360242"/>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3245844" y="4753185"/>
            <a:ext cx="4715412" cy="819723"/>
            <a:chOff x="1300140" y="3895931"/>
            <a:chExt cx="4715412" cy="819723"/>
          </a:xfrm>
        </p:grpSpPr>
        <p:grpSp>
          <p:nvGrpSpPr>
            <p:cNvPr id="80" name="组合 79"/>
            <p:cNvGrpSpPr/>
            <p:nvPr/>
          </p:nvGrpSpPr>
          <p:grpSpPr>
            <a:xfrm>
              <a:off x="1300140" y="4173550"/>
              <a:ext cx="4715412" cy="542104"/>
              <a:chOff x="2357422" y="4357700"/>
              <a:chExt cx="4715412" cy="542104"/>
            </a:xfrm>
          </p:grpSpPr>
          <p:grpSp>
            <p:nvGrpSpPr>
              <p:cNvPr id="101" name="组合 100"/>
              <p:cNvGrpSpPr/>
              <p:nvPr/>
            </p:nvGrpSpPr>
            <p:grpSpPr>
              <a:xfrm>
                <a:off x="2357422" y="4357700"/>
                <a:ext cx="676787" cy="542104"/>
                <a:chOff x="414314" y="4391034"/>
                <a:chExt cx="676787" cy="542104"/>
              </a:xfrm>
            </p:grpSpPr>
            <p:sp>
              <p:nvSpPr>
                <p:cNvPr id="126" name="矩形 125"/>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7" name="TextBox 108"/>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02" name="组合 101"/>
              <p:cNvGrpSpPr/>
              <p:nvPr/>
            </p:nvGrpSpPr>
            <p:grpSpPr>
              <a:xfrm>
                <a:off x="2862244" y="4357700"/>
                <a:ext cx="676787" cy="542104"/>
                <a:chOff x="414314" y="4391034"/>
                <a:chExt cx="676787" cy="542104"/>
              </a:xfrm>
            </p:grpSpPr>
            <p:sp>
              <p:nvSpPr>
                <p:cNvPr id="124" name="矩形 123"/>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5" name="TextBox 112"/>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03" name="组合 102"/>
              <p:cNvGrpSpPr/>
              <p:nvPr/>
            </p:nvGrpSpPr>
            <p:grpSpPr>
              <a:xfrm>
                <a:off x="3367073" y="4357700"/>
                <a:ext cx="676787" cy="542104"/>
                <a:chOff x="414314" y="4391034"/>
                <a:chExt cx="676787" cy="542104"/>
              </a:xfrm>
            </p:grpSpPr>
            <p:sp>
              <p:nvSpPr>
                <p:cNvPr id="122" name="矩形 121"/>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3" name="TextBox 115"/>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04" name="组合 103"/>
              <p:cNvGrpSpPr/>
              <p:nvPr/>
            </p:nvGrpSpPr>
            <p:grpSpPr>
              <a:xfrm>
                <a:off x="3871895" y="4357700"/>
                <a:ext cx="676787" cy="542104"/>
                <a:chOff x="414314" y="4391034"/>
                <a:chExt cx="676787" cy="542104"/>
              </a:xfrm>
            </p:grpSpPr>
            <p:sp>
              <p:nvSpPr>
                <p:cNvPr id="120" name="矩形 119"/>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1" name="TextBox 118"/>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05" name="组合 104"/>
              <p:cNvGrpSpPr/>
              <p:nvPr/>
            </p:nvGrpSpPr>
            <p:grpSpPr>
              <a:xfrm>
                <a:off x="4376234" y="4357700"/>
                <a:ext cx="676787" cy="542104"/>
                <a:chOff x="414314" y="4391034"/>
                <a:chExt cx="676787" cy="542104"/>
              </a:xfrm>
            </p:grpSpPr>
            <p:sp>
              <p:nvSpPr>
                <p:cNvPr id="118" name="矩形 117"/>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9" name="TextBox 121"/>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06" name="组合 105"/>
              <p:cNvGrpSpPr/>
              <p:nvPr/>
            </p:nvGrpSpPr>
            <p:grpSpPr>
              <a:xfrm>
                <a:off x="4881056" y="4357700"/>
                <a:ext cx="676787" cy="542104"/>
                <a:chOff x="414314" y="4391034"/>
                <a:chExt cx="676787" cy="542104"/>
              </a:xfrm>
            </p:grpSpPr>
            <p:sp>
              <p:nvSpPr>
                <p:cNvPr id="116" name="矩形 115"/>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7" name="TextBox 124"/>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07" name="组合 106"/>
              <p:cNvGrpSpPr/>
              <p:nvPr/>
            </p:nvGrpSpPr>
            <p:grpSpPr>
              <a:xfrm>
                <a:off x="5385885" y="4357700"/>
                <a:ext cx="676787" cy="542104"/>
                <a:chOff x="414314" y="4391034"/>
                <a:chExt cx="676787" cy="542104"/>
              </a:xfrm>
            </p:grpSpPr>
            <p:sp>
              <p:nvSpPr>
                <p:cNvPr id="114" name="矩形 113"/>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5" name="TextBox 127"/>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08" name="组合 107"/>
              <p:cNvGrpSpPr/>
              <p:nvPr/>
            </p:nvGrpSpPr>
            <p:grpSpPr>
              <a:xfrm>
                <a:off x="5890707" y="4357700"/>
                <a:ext cx="676787" cy="542104"/>
                <a:chOff x="414314" y="4391034"/>
                <a:chExt cx="676787" cy="542104"/>
              </a:xfrm>
            </p:grpSpPr>
            <p:sp>
              <p:nvSpPr>
                <p:cNvPr id="112" name="矩形 111"/>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3" name="TextBox 130"/>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09" name="组合 108"/>
              <p:cNvGrpSpPr/>
              <p:nvPr/>
            </p:nvGrpSpPr>
            <p:grpSpPr>
              <a:xfrm>
                <a:off x="6396047" y="4357700"/>
                <a:ext cx="676787" cy="542104"/>
                <a:chOff x="414314" y="4391034"/>
                <a:chExt cx="676787" cy="542104"/>
              </a:xfrm>
            </p:grpSpPr>
            <p:sp>
              <p:nvSpPr>
                <p:cNvPr id="110" name="矩形 109"/>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1" name="TextBox 133"/>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cxnSp>
          <p:nvCxnSpPr>
            <p:cNvPr id="92" name="直接箭头连接符 91"/>
            <p:cNvCxnSpPr>
              <a:stCxn id="134" idx="2"/>
              <a:endCxn id="127" idx="0"/>
            </p:cNvCxnSpPr>
            <p:nvPr/>
          </p:nvCxnSpPr>
          <p:spPr>
            <a:xfrm rot="5400000">
              <a:off x="1967847" y="3566378"/>
              <a:ext cx="295068" cy="95417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134" idx="2"/>
              <a:endCxn id="125" idx="0"/>
            </p:cNvCxnSpPr>
            <p:nvPr/>
          </p:nvCxnSpPr>
          <p:spPr>
            <a:xfrm rot="5400000">
              <a:off x="2201210" y="3818791"/>
              <a:ext cx="314118" cy="468401"/>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134" idx="2"/>
              <a:endCxn id="123" idx="0"/>
            </p:cNvCxnSpPr>
            <p:nvPr/>
          </p:nvCxnSpPr>
          <p:spPr>
            <a:xfrm rot="16200000" flipH="1">
              <a:off x="2439335" y="4049066"/>
              <a:ext cx="323643" cy="1737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132" idx="2"/>
              <a:endCxn id="119" idx="0"/>
            </p:cNvCxnSpPr>
            <p:nvPr/>
          </p:nvCxnSpPr>
          <p:spPr>
            <a:xfrm rot="16200000" flipH="1">
              <a:off x="3339449" y="3863331"/>
              <a:ext cx="314118" cy="379319"/>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130" idx="2"/>
              <a:endCxn id="121" idx="0"/>
            </p:cNvCxnSpPr>
            <p:nvPr/>
          </p:nvCxnSpPr>
          <p:spPr>
            <a:xfrm rot="5400000">
              <a:off x="3449784" y="3608441"/>
              <a:ext cx="295068" cy="87005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130" idx="2"/>
              <a:endCxn id="117" idx="0"/>
            </p:cNvCxnSpPr>
            <p:nvPr/>
          </p:nvCxnSpPr>
          <p:spPr>
            <a:xfrm rot="16200000" flipH="1">
              <a:off x="3930797" y="3997478"/>
              <a:ext cx="323643" cy="12055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a:stCxn id="128" idx="2"/>
              <a:endCxn id="115" idx="0"/>
            </p:cNvCxnSpPr>
            <p:nvPr/>
          </p:nvCxnSpPr>
          <p:spPr>
            <a:xfrm rot="5400000">
              <a:off x="4543574" y="4019601"/>
              <a:ext cx="323643" cy="7630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128" idx="2"/>
              <a:endCxn id="113" idx="0"/>
            </p:cNvCxnSpPr>
            <p:nvPr/>
          </p:nvCxnSpPr>
          <p:spPr>
            <a:xfrm rot="16200000" flipH="1">
              <a:off x="4781699" y="3857780"/>
              <a:ext cx="323643" cy="39994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128" idx="2"/>
              <a:endCxn id="111" idx="0"/>
            </p:cNvCxnSpPr>
            <p:nvPr/>
          </p:nvCxnSpPr>
          <p:spPr>
            <a:xfrm rot="16200000" flipH="1">
              <a:off x="5048398" y="3591080"/>
              <a:ext cx="295068" cy="904771"/>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sp>
        <p:nvSpPr>
          <p:cNvPr id="9" name="标题 8">
            <a:extLst>
              <a:ext uri="{FF2B5EF4-FFF2-40B4-BE49-F238E27FC236}">
                <a16:creationId xmlns:a16="http://schemas.microsoft.com/office/drawing/2014/main" id="{FF4EC00E-9503-0D0F-22CC-96E1163A6A6D}"/>
              </a:ext>
            </a:extLst>
          </p:cNvPr>
          <p:cNvSpPr>
            <a:spLocks noGrp="1"/>
          </p:cNvSpPr>
          <p:nvPr>
            <p:ph type="title"/>
          </p:nvPr>
        </p:nvSpPr>
        <p:spPr/>
        <p:txBody>
          <a:bodyPr>
            <a:normAutofit/>
          </a:bodyPr>
          <a:lstStyle/>
          <a:p>
            <a:r>
              <a:rPr lang="zh-CN" altLang="en-US" dirty="0"/>
              <a:t>文件系统的组织视图</a:t>
            </a:r>
          </a:p>
        </p:txBody>
      </p:sp>
      <p:sp>
        <p:nvSpPr>
          <p:cNvPr id="11" name="灯片编号占位符 10">
            <a:extLst>
              <a:ext uri="{FF2B5EF4-FFF2-40B4-BE49-F238E27FC236}">
                <a16:creationId xmlns:a16="http://schemas.microsoft.com/office/drawing/2014/main" id="{CD9F65E3-6293-7A97-6872-38B3ACA11050}"/>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20</a:t>
            </a:fld>
            <a:endParaRPr lang="zh-CN" altLang="en-US" dirty="0"/>
          </a:p>
        </p:txBody>
      </p:sp>
    </p:spTree>
    <p:extLst>
      <p:ext uri="{BB962C8B-B14F-4D97-AF65-F5344CB8AC3E}">
        <p14:creationId xmlns:p14="http://schemas.microsoft.com/office/powerpoint/2010/main" val="406053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8" name="组合 207"/>
          <p:cNvGrpSpPr/>
          <p:nvPr/>
        </p:nvGrpSpPr>
        <p:grpSpPr>
          <a:xfrm>
            <a:off x="2423592" y="5394702"/>
            <a:ext cx="7226002" cy="338554"/>
            <a:chOff x="246381" y="4794766"/>
            <a:chExt cx="7226002" cy="338554"/>
          </a:xfrm>
        </p:grpSpPr>
        <p:sp>
          <p:nvSpPr>
            <p:cNvPr id="144" name="TextBox 147"/>
            <p:cNvSpPr txBox="1"/>
            <p:nvPr/>
          </p:nvSpPr>
          <p:spPr>
            <a:xfrm>
              <a:off x="246381" y="4794766"/>
              <a:ext cx="630301"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Disk</a:t>
              </a:r>
              <a:endParaRPr lang="zh-CN" altLang="en-US" sz="1600" b="1" dirty="0">
                <a:solidFill>
                  <a:srgbClr val="11576A"/>
                </a:solidFill>
                <a:latin typeface="微软雅黑"/>
                <a:ea typeface="微软雅黑"/>
              </a:endParaRPr>
            </a:p>
          </p:txBody>
        </p:sp>
        <p:grpSp>
          <p:nvGrpSpPr>
            <p:cNvPr id="153" name="组合 152"/>
            <p:cNvGrpSpPr/>
            <p:nvPr/>
          </p:nvGrpSpPr>
          <p:grpSpPr>
            <a:xfrm>
              <a:off x="833405" y="4907033"/>
              <a:ext cx="6638978" cy="126000"/>
              <a:chOff x="1928794" y="4572014"/>
              <a:chExt cx="6638978" cy="126000"/>
            </a:xfrm>
            <a:noFill/>
          </p:grpSpPr>
          <p:sp>
            <p:nvSpPr>
              <p:cNvPr id="154" name="矩形 153"/>
              <p:cNvSpPr/>
              <p:nvPr/>
            </p:nvSpPr>
            <p:spPr>
              <a:xfrm>
                <a:off x="1928794"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5" name="矩形 154"/>
              <p:cNvSpPr/>
              <p:nvPr/>
            </p:nvSpPr>
            <p:spPr>
              <a:xfrm>
                <a:off x="2057384"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6" name="矩形 155"/>
              <p:cNvSpPr/>
              <p:nvPr/>
            </p:nvSpPr>
            <p:spPr>
              <a:xfrm>
                <a:off x="2185974"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7" name="矩形 156"/>
              <p:cNvSpPr/>
              <p:nvPr/>
            </p:nvSpPr>
            <p:spPr>
              <a:xfrm>
                <a:off x="2314773"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8" name="矩形 157"/>
              <p:cNvSpPr/>
              <p:nvPr/>
            </p:nvSpPr>
            <p:spPr>
              <a:xfrm>
                <a:off x="2442937"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9" name="矩形 158"/>
              <p:cNvSpPr/>
              <p:nvPr/>
            </p:nvSpPr>
            <p:spPr>
              <a:xfrm>
                <a:off x="2571736"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0" name="矩形 159"/>
              <p:cNvSpPr/>
              <p:nvPr/>
            </p:nvSpPr>
            <p:spPr>
              <a:xfrm>
                <a:off x="2700543"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1" name="矩形 160"/>
              <p:cNvSpPr/>
              <p:nvPr/>
            </p:nvSpPr>
            <p:spPr>
              <a:xfrm>
                <a:off x="2829342"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2" name="矩形 161"/>
              <p:cNvSpPr/>
              <p:nvPr/>
            </p:nvSpPr>
            <p:spPr>
              <a:xfrm>
                <a:off x="2957506"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3" name="矩形 162"/>
              <p:cNvSpPr/>
              <p:nvPr/>
            </p:nvSpPr>
            <p:spPr>
              <a:xfrm>
                <a:off x="3086305"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4" name="矩形 163"/>
              <p:cNvSpPr/>
              <p:nvPr/>
            </p:nvSpPr>
            <p:spPr>
              <a:xfrm>
                <a:off x="3212088"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5" name="矩形 164"/>
              <p:cNvSpPr/>
              <p:nvPr/>
            </p:nvSpPr>
            <p:spPr>
              <a:xfrm>
                <a:off x="3340887"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6" name="矩形 165"/>
              <p:cNvSpPr/>
              <p:nvPr/>
            </p:nvSpPr>
            <p:spPr>
              <a:xfrm>
                <a:off x="3469051"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7" name="矩形 166"/>
              <p:cNvSpPr/>
              <p:nvPr/>
            </p:nvSpPr>
            <p:spPr>
              <a:xfrm>
                <a:off x="3597850"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8" name="矩形 167"/>
              <p:cNvSpPr/>
              <p:nvPr/>
            </p:nvSpPr>
            <p:spPr>
              <a:xfrm>
                <a:off x="3726657"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9" name="矩形 168"/>
              <p:cNvSpPr/>
              <p:nvPr/>
            </p:nvSpPr>
            <p:spPr>
              <a:xfrm>
                <a:off x="3855239"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0" name="矩形 169"/>
              <p:cNvSpPr/>
              <p:nvPr/>
            </p:nvSpPr>
            <p:spPr>
              <a:xfrm>
                <a:off x="3981448"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1" name="矩形 170"/>
              <p:cNvSpPr/>
              <p:nvPr/>
            </p:nvSpPr>
            <p:spPr>
              <a:xfrm>
                <a:off x="4110030"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2" name="矩形 171"/>
              <p:cNvSpPr/>
              <p:nvPr/>
            </p:nvSpPr>
            <p:spPr>
              <a:xfrm>
                <a:off x="4236255"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3" name="矩形 172"/>
              <p:cNvSpPr/>
              <p:nvPr/>
            </p:nvSpPr>
            <p:spPr>
              <a:xfrm>
                <a:off x="4364837"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4" name="矩形 173"/>
              <p:cNvSpPr/>
              <p:nvPr/>
            </p:nvSpPr>
            <p:spPr>
              <a:xfrm>
                <a:off x="4491046"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5" name="矩形 174"/>
              <p:cNvSpPr/>
              <p:nvPr/>
            </p:nvSpPr>
            <p:spPr>
              <a:xfrm>
                <a:off x="4619628"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6" name="矩形 175"/>
              <p:cNvSpPr/>
              <p:nvPr/>
            </p:nvSpPr>
            <p:spPr>
              <a:xfrm>
                <a:off x="4746046"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7" name="矩形 176"/>
              <p:cNvSpPr/>
              <p:nvPr/>
            </p:nvSpPr>
            <p:spPr>
              <a:xfrm>
                <a:off x="4874427"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8" name="矩形 177"/>
              <p:cNvSpPr/>
              <p:nvPr/>
            </p:nvSpPr>
            <p:spPr>
              <a:xfrm>
                <a:off x="5000628"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9" name="矩形 178"/>
              <p:cNvSpPr/>
              <p:nvPr/>
            </p:nvSpPr>
            <p:spPr>
              <a:xfrm>
                <a:off x="5129009"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0" name="矩形 179"/>
              <p:cNvSpPr/>
              <p:nvPr/>
            </p:nvSpPr>
            <p:spPr>
              <a:xfrm>
                <a:off x="5255636"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1" name="矩形 180"/>
              <p:cNvSpPr/>
              <p:nvPr/>
            </p:nvSpPr>
            <p:spPr>
              <a:xfrm>
                <a:off x="5384017"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2" name="矩形 181"/>
              <p:cNvSpPr/>
              <p:nvPr/>
            </p:nvSpPr>
            <p:spPr>
              <a:xfrm>
                <a:off x="5510218"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3" name="矩形 182"/>
              <p:cNvSpPr/>
              <p:nvPr/>
            </p:nvSpPr>
            <p:spPr>
              <a:xfrm>
                <a:off x="5638599"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4" name="矩形 183"/>
              <p:cNvSpPr/>
              <p:nvPr/>
            </p:nvSpPr>
            <p:spPr>
              <a:xfrm>
                <a:off x="5765017"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5" name="矩形 184"/>
              <p:cNvSpPr/>
              <p:nvPr/>
            </p:nvSpPr>
            <p:spPr>
              <a:xfrm>
                <a:off x="5893398"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6" name="矩形 185"/>
              <p:cNvSpPr/>
              <p:nvPr/>
            </p:nvSpPr>
            <p:spPr>
              <a:xfrm>
                <a:off x="6019599"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7" name="矩形 186"/>
              <p:cNvSpPr/>
              <p:nvPr/>
            </p:nvSpPr>
            <p:spPr>
              <a:xfrm>
                <a:off x="6147980"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8" name="矩形 187"/>
              <p:cNvSpPr/>
              <p:nvPr/>
            </p:nvSpPr>
            <p:spPr>
              <a:xfrm>
                <a:off x="6274607"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9" name="矩形 188"/>
              <p:cNvSpPr/>
              <p:nvPr/>
            </p:nvSpPr>
            <p:spPr>
              <a:xfrm>
                <a:off x="6402988"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0" name="矩形 189"/>
              <p:cNvSpPr/>
              <p:nvPr/>
            </p:nvSpPr>
            <p:spPr>
              <a:xfrm>
                <a:off x="6529189"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1" name="矩形 190"/>
              <p:cNvSpPr/>
              <p:nvPr/>
            </p:nvSpPr>
            <p:spPr>
              <a:xfrm>
                <a:off x="6657570"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2" name="矩形 191"/>
              <p:cNvSpPr/>
              <p:nvPr/>
            </p:nvSpPr>
            <p:spPr>
              <a:xfrm>
                <a:off x="6785620"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3" name="矩形 192"/>
              <p:cNvSpPr/>
              <p:nvPr/>
            </p:nvSpPr>
            <p:spPr>
              <a:xfrm>
                <a:off x="6914001"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4" name="矩形 193"/>
              <p:cNvSpPr/>
              <p:nvPr/>
            </p:nvSpPr>
            <p:spPr>
              <a:xfrm>
                <a:off x="7040202"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5" name="矩形 194"/>
              <p:cNvSpPr/>
              <p:nvPr/>
            </p:nvSpPr>
            <p:spPr>
              <a:xfrm>
                <a:off x="7168583"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6" name="矩形 195"/>
              <p:cNvSpPr/>
              <p:nvPr/>
            </p:nvSpPr>
            <p:spPr>
              <a:xfrm>
                <a:off x="7295210"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7" name="矩形 196"/>
              <p:cNvSpPr/>
              <p:nvPr/>
            </p:nvSpPr>
            <p:spPr>
              <a:xfrm>
                <a:off x="7423591"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8" name="矩形 197"/>
              <p:cNvSpPr/>
              <p:nvPr/>
            </p:nvSpPr>
            <p:spPr>
              <a:xfrm>
                <a:off x="7549792"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9" name="矩形 198"/>
              <p:cNvSpPr/>
              <p:nvPr/>
            </p:nvSpPr>
            <p:spPr>
              <a:xfrm>
                <a:off x="7678173"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00" name="矩形 199"/>
              <p:cNvSpPr/>
              <p:nvPr/>
            </p:nvSpPr>
            <p:spPr>
              <a:xfrm>
                <a:off x="7803801"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01" name="矩形 200"/>
              <p:cNvSpPr/>
              <p:nvPr/>
            </p:nvSpPr>
            <p:spPr>
              <a:xfrm>
                <a:off x="7932182"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02" name="矩形 201"/>
              <p:cNvSpPr/>
              <p:nvPr/>
            </p:nvSpPr>
            <p:spPr>
              <a:xfrm>
                <a:off x="8058383"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03" name="矩形 202"/>
              <p:cNvSpPr/>
              <p:nvPr/>
            </p:nvSpPr>
            <p:spPr>
              <a:xfrm>
                <a:off x="8186764"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04" name="矩形 203"/>
              <p:cNvSpPr/>
              <p:nvPr/>
            </p:nvSpPr>
            <p:spPr>
              <a:xfrm>
                <a:off x="8313391"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05" name="矩形 204"/>
              <p:cNvSpPr/>
              <p:nvPr/>
            </p:nvSpPr>
            <p:spPr>
              <a:xfrm>
                <a:off x="8441772" y="4572014"/>
                <a:ext cx="126000" cy="126000"/>
              </a:xfrm>
              <a:prstGeom prst="rect">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grpSp>
      <p:grpSp>
        <p:nvGrpSpPr>
          <p:cNvPr id="2" name="组合 1"/>
          <p:cNvGrpSpPr/>
          <p:nvPr/>
        </p:nvGrpSpPr>
        <p:grpSpPr>
          <a:xfrm>
            <a:off x="3857436" y="1638288"/>
            <a:ext cx="2236886" cy="432000"/>
            <a:chOff x="1660502" y="781038"/>
            <a:chExt cx="2236886" cy="432000"/>
          </a:xfrm>
        </p:grpSpPr>
        <p:grpSp>
          <p:nvGrpSpPr>
            <p:cNvPr id="5" name="组合 68"/>
            <p:cNvGrpSpPr/>
            <p:nvPr/>
          </p:nvGrpSpPr>
          <p:grpSpPr>
            <a:xfrm>
              <a:off x="1660502" y="781038"/>
              <a:ext cx="571504" cy="432000"/>
              <a:chOff x="1139825" y="1000114"/>
              <a:chExt cx="571504" cy="432000"/>
            </a:xfrm>
          </p:grpSpPr>
          <p:sp>
            <p:nvSpPr>
              <p:cNvPr id="89" name="矩形 88"/>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90" name="TextBox 89"/>
              <p:cNvSpPr txBox="1"/>
              <p:nvPr/>
            </p:nvSpPr>
            <p:spPr>
              <a:xfrm>
                <a:off x="11398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err="1">
                    <a:solidFill>
                      <a:srgbClr val="11576A"/>
                    </a:solidFill>
                    <a:latin typeface="微软雅黑"/>
                    <a:ea typeface="微软雅黑"/>
                  </a:rPr>
                  <a:t>vol</a:t>
                </a:r>
                <a:endParaRPr lang="zh-CN" altLang="en-US" sz="1600" b="1" dirty="0">
                  <a:solidFill>
                    <a:srgbClr val="11576A"/>
                  </a:solidFill>
                  <a:latin typeface="微软雅黑"/>
                  <a:ea typeface="微软雅黑"/>
                </a:endParaRPr>
              </a:p>
            </p:txBody>
          </p:sp>
        </p:grpSp>
        <p:grpSp>
          <p:nvGrpSpPr>
            <p:cNvPr id="6" name="组合 72"/>
            <p:cNvGrpSpPr/>
            <p:nvPr/>
          </p:nvGrpSpPr>
          <p:grpSpPr>
            <a:xfrm>
              <a:off x="3428990" y="781038"/>
              <a:ext cx="468398" cy="432000"/>
              <a:chOff x="1176314" y="2000246"/>
              <a:chExt cx="468398" cy="432000"/>
            </a:xfrm>
          </p:grpSpPr>
          <p:sp>
            <p:nvSpPr>
              <p:cNvPr id="87" name="矩形 86"/>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88" name="TextBox 87"/>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cxnSp>
          <p:nvCxnSpPr>
            <p:cNvPr id="19" name="直接箭头连接符 18"/>
            <p:cNvCxnSpPr/>
            <p:nvPr/>
          </p:nvCxnSpPr>
          <p:spPr>
            <a:xfrm flipV="1">
              <a:off x="2165331" y="985837"/>
              <a:ext cx="1254137"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4538478" y="2070288"/>
            <a:ext cx="2643206" cy="1554182"/>
            <a:chOff x="2341544" y="1213038"/>
            <a:chExt cx="2643206" cy="1554182"/>
          </a:xfrm>
        </p:grpSpPr>
        <p:grpSp>
          <p:nvGrpSpPr>
            <p:cNvPr id="7" name="组合 73"/>
            <p:cNvGrpSpPr/>
            <p:nvPr/>
          </p:nvGrpSpPr>
          <p:grpSpPr>
            <a:xfrm>
              <a:off x="2719372" y="1552570"/>
              <a:ext cx="468398" cy="432000"/>
              <a:chOff x="1176314" y="2000246"/>
              <a:chExt cx="468398" cy="432000"/>
            </a:xfrm>
          </p:grpSpPr>
          <p:sp>
            <p:nvSpPr>
              <p:cNvPr id="85" name="矩形 84"/>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86" name="TextBox 85"/>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9" name="组合 76"/>
            <p:cNvGrpSpPr/>
            <p:nvPr/>
          </p:nvGrpSpPr>
          <p:grpSpPr>
            <a:xfrm>
              <a:off x="3441690" y="1552570"/>
              <a:ext cx="468398" cy="432000"/>
              <a:chOff x="1176314" y="2000246"/>
              <a:chExt cx="468398" cy="432000"/>
            </a:xfrm>
          </p:grpSpPr>
          <p:sp>
            <p:nvSpPr>
              <p:cNvPr id="83" name="矩形 82"/>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84" name="TextBox 83"/>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10" name="组合 79"/>
            <p:cNvGrpSpPr/>
            <p:nvPr/>
          </p:nvGrpSpPr>
          <p:grpSpPr>
            <a:xfrm>
              <a:off x="4164008" y="1552570"/>
              <a:ext cx="468398" cy="432000"/>
              <a:chOff x="1176314" y="2000246"/>
              <a:chExt cx="468398" cy="432000"/>
            </a:xfrm>
          </p:grpSpPr>
          <p:sp>
            <p:nvSpPr>
              <p:cNvPr id="81" name="矩形 80"/>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82" name="TextBox 81"/>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11" name="组合 84"/>
            <p:cNvGrpSpPr/>
            <p:nvPr/>
          </p:nvGrpSpPr>
          <p:grpSpPr>
            <a:xfrm>
              <a:off x="2341544" y="2335220"/>
              <a:ext cx="468398" cy="432000"/>
              <a:chOff x="1176314" y="2000246"/>
              <a:chExt cx="468398" cy="432000"/>
            </a:xfrm>
          </p:grpSpPr>
          <p:sp>
            <p:nvSpPr>
              <p:cNvPr id="79" name="矩形 78"/>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80" name="TextBox 79"/>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12" name="组合 87"/>
            <p:cNvGrpSpPr/>
            <p:nvPr/>
          </p:nvGrpSpPr>
          <p:grpSpPr>
            <a:xfrm>
              <a:off x="3068632" y="2335220"/>
              <a:ext cx="468398" cy="432000"/>
              <a:chOff x="1176314" y="2000246"/>
              <a:chExt cx="468398" cy="432000"/>
            </a:xfrm>
          </p:grpSpPr>
          <p:sp>
            <p:nvSpPr>
              <p:cNvPr id="77" name="矩形 76"/>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78" name="TextBox 77"/>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13" name="组合 90"/>
            <p:cNvGrpSpPr/>
            <p:nvPr/>
          </p:nvGrpSpPr>
          <p:grpSpPr>
            <a:xfrm>
              <a:off x="4516352" y="2335220"/>
              <a:ext cx="468398" cy="432000"/>
              <a:chOff x="1176314" y="2000246"/>
              <a:chExt cx="468398" cy="432000"/>
            </a:xfrm>
          </p:grpSpPr>
          <p:sp>
            <p:nvSpPr>
              <p:cNvPr id="75" name="矩形 74"/>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76" name="TextBox 75"/>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cxnSp>
          <p:nvCxnSpPr>
            <p:cNvPr id="20" name="直接箭头连接符 19"/>
            <p:cNvCxnSpPr>
              <a:stCxn id="87" idx="2"/>
              <a:endCxn id="83" idx="0"/>
            </p:cNvCxnSpPr>
            <p:nvPr/>
          </p:nvCxnSpPr>
          <p:spPr>
            <a:xfrm rot="16200000" flipH="1">
              <a:off x="3489472" y="1379691"/>
              <a:ext cx="334774" cy="1467"/>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endCxn id="85" idx="0"/>
            </p:cNvCxnSpPr>
            <p:nvPr/>
          </p:nvCxnSpPr>
          <p:spPr>
            <a:xfrm rot="10800000" flipV="1">
              <a:off x="3047994" y="1214436"/>
              <a:ext cx="428625" cy="31432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endCxn id="81" idx="0"/>
            </p:cNvCxnSpPr>
            <p:nvPr/>
          </p:nvCxnSpPr>
          <p:spPr>
            <a:xfrm>
              <a:off x="3800468" y="1214437"/>
              <a:ext cx="495300" cy="31432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85" idx="2"/>
              <a:endCxn id="79" idx="0"/>
            </p:cNvCxnSpPr>
            <p:nvPr/>
          </p:nvCxnSpPr>
          <p:spPr>
            <a:xfrm rot="5400000">
              <a:off x="2610793" y="2002671"/>
              <a:ext cx="353817" cy="31761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85" idx="2"/>
              <a:endCxn id="77" idx="0"/>
            </p:cNvCxnSpPr>
            <p:nvPr/>
          </p:nvCxnSpPr>
          <p:spPr>
            <a:xfrm rot="16200000" flipH="1">
              <a:off x="2915592" y="2015485"/>
              <a:ext cx="353817" cy="29198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81" idx="2"/>
              <a:endCxn id="75" idx="0"/>
            </p:cNvCxnSpPr>
            <p:nvPr/>
          </p:nvCxnSpPr>
          <p:spPr>
            <a:xfrm rot="16200000" flipH="1">
              <a:off x="4361810" y="2013904"/>
              <a:ext cx="344292" cy="28562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4513078" y="2841820"/>
            <a:ext cx="2722582" cy="1554174"/>
            <a:chOff x="2316144" y="1984570"/>
            <a:chExt cx="2722582" cy="1554174"/>
          </a:xfrm>
        </p:grpSpPr>
        <p:grpSp>
          <p:nvGrpSpPr>
            <p:cNvPr id="14" name="组合 93"/>
            <p:cNvGrpSpPr/>
            <p:nvPr/>
          </p:nvGrpSpPr>
          <p:grpSpPr>
            <a:xfrm>
              <a:off x="2316144" y="3106744"/>
              <a:ext cx="571504" cy="432000"/>
              <a:chOff x="1127125" y="1000114"/>
              <a:chExt cx="571504" cy="432000"/>
            </a:xfrm>
          </p:grpSpPr>
          <p:sp>
            <p:nvSpPr>
              <p:cNvPr id="73" name="矩形 72"/>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74" name="TextBox 73"/>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15" name="组合 96"/>
            <p:cNvGrpSpPr/>
            <p:nvPr/>
          </p:nvGrpSpPr>
          <p:grpSpPr>
            <a:xfrm>
              <a:off x="3030524" y="3106744"/>
              <a:ext cx="571504" cy="432000"/>
              <a:chOff x="1127125" y="1000114"/>
              <a:chExt cx="571504" cy="432000"/>
            </a:xfrm>
          </p:grpSpPr>
          <p:sp>
            <p:nvSpPr>
              <p:cNvPr id="71" name="矩形 70"/>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72" name="TextBox 71"/>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16" name="组合 99"/>
            <p:cNvGrpSpPr/>
            <p:nvPr/>
          </p:nvGrpSpPr>
          <p:grpSpPr>
            <a:xfrm>
              <a:off x="3756018" y="3106744"/>
              <a:ext cx="571504" cy="432000"/>
              <a:chOff x="1127125" y="1000114"/>
              <a:chExt cx="571504" cy="432000"/>
            </a:xfrm>
          </p:grpSpPr>
          <p:sp>
            <p:nvSpPr>
              <p:cNvPr id="69" name="矩形 68"/>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70" name="TextBox 69"/>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17" name="组合 102"/>
            <p:cNvGrpSpPr/>
            <p:nvPr/>
          </p:nvGrpSpPr>
          <p:grpSpPr>
            <a:xfrm>
              <a:off x="4467222" y="3106744"/>
              <a:ext cx="571504" cy="432000"/>
              <a:chOff x="1127125" y="1000114"/>
              <a:chExt cx="571504" cy="432000"/>
            </a:xfrm>
          </p:grpSpPr>
          <p:sp>
            <p:nvSpPr>
              <p:cNvPr id="66" name="矩形 65"/>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8" name="TextBox 67"/>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cxnSp>
          <p:nvCxnSpPr>
            <p:cNvPr id="25" name="直接箭头连接符 24"/>
            <p:cNvCxnSpPr>
              <a:stCxn id="79" idx="2"/>
              <a:endCxn id="73" idx="0"/>
            </p:cNvCxnSpPr>
            <p:nvPr/>
          </p:nvCxnSpPr>
          <p:spPr>
            <a:xfrm rot="16200000" flipH="1">
              <a:off x="2397334" y="2938566"/>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rot="16200000" flipH="1">
              <a:off x="3119530" y="2938566"/>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16200000" flipH="1">
              <a:off x="4548290" y="2938566"/>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83" idx="2"/>
              <a:endCxn id="69" idx="0"/>
            </p:cNvCxnSpPr>
            <p:nvPr/>
          </p:nvCxnSpPr>
          <p:spPr>
            <a:xfrm rot="16200000" flipH="1">
              <a:off x="3286276" y="2367120"/>
              <a:ext cx="1125342" cy="360242"/>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207" name="组合 206"/>
          <p:cNvGrpSpPr/>
          <p:nvPr/>
        </p:nvGrpSpPr>
        <p:grpSpPr>
          <a:xfrm>
            <a:off x="3497074" y="4395997"/>
            <a:ext cx="4715412" cy="819723"/>
            <a:chOff x="1300140" y="3538743"/>
            <a:chExt cx="4715412" cy="819723"/>
          </a:xfrm>
        </p:grpSpPr>
        <p:grpSp>
          <p:nvGrpSpPr>
            <p:cNvPr id="18" name="组合 134"/>
            <p:cNvGrpSpPr/>
            <p:nvPr/>
          </p:nvGrpSpPr>
          <p:grpSpPr>
            <a:xfrm>
              <a:off x="1300140" y="3816362"/>
              <a:ext cx="4715412" cy="542104"/>
              <a:chOff x="2357422" y="4357700"/>
              <a:chExt cx="4715412" cy="542104"/>
            </a:xfrm>
          </p:grpSpPr>
          <p:grpSp>
            <p:nvGrpSpPr>
              <p:cNvPr id="39" name="组合 109"/>
              <p:cNvGrpSpPr/>
              <p:nvPr/>
            </p:nvGrpSpPr>
            <p:grpSpPr>
              <a:xfrm>
                <a:off x="2357422" y="4357700"/>
                <a:ext cx="676787" cy="542104"/>
                <a:chOff x="414314" y="4391034"/>
                <a:chExt cx="676787" cy="542104"/>
              </a:xfrm>
            </p:grpSpPr>
            <p:sp>
              <p:nvSpPr>
                <p:cNvPr id="64" name="矩形 63"/>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5" name="TextBox 64"/>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40" name="组合 110"/>
              <p:cNvGrpSpPr/>
              <p:nvPr/>
            </p:nvGrpSpPr>
            <p:grpSpPr>
              <a:xfrm>
                <a:off x="2862244" y="4357700"/>
                <a:ext cx="676787" cy="542104"/>
                <a:chOff x="414314" y="4391034"/>
                <a:chExt cx="676787" cy="542104"/>
              </a:xfrm>
            </p:grpSpPr>
            <p:sp>
              <p:nvSpPr>
                <p:cNvPr id="62" name="矩形 61"/>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3" name="TextBox 62"/>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41" name="组合 113"/>
              <p:cNvGrpSpPr/>
              <p:nvPr/>
            </p:nvGrpSpPr>
            <p:grpSpPr>
              <a:xfrm>
                <a:off x="3367073" y="4357700"/>
                <a:ext cx="676787" cy="542104"/>
                <a:chOff x="414314" y="4391034"/>
                <a:chExt cx="676787" cy="542104"/>
              </a:xfrm>
            </p:grpSpPr>
            <p:sp>
              <p:nvSpPr>
                <p:cNvPr id="60" name="矩形 59"/>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1" name="TextBox 60"/>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42" name="组合 116"/>
              <p:cNvGrpSpPr/>
              <p:nvPr/>
            </p:nvGrpSpPr>
            <p:grpSpPr>
              <a:xfrm>
                <a:off x="3871895" y="4357700"/>
                <a:ext cx="676787" cy="542104"/>
                <a:chOff x="414314" y="4391034"/>
                <a:chExt cx="676787" cy="542104"/>
              </a:xfrm>
            </p:grpSpPr>
            <p:sp>
              <p:nvSpPr>
                <p:cNvPr id="58" name="矩形 57"/>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59" name="TextBox 58"/>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43" name="组合 119"/>
              <p:cNvGrpSpPr/>
              <p:nvPr/>
            </p:nvGrpSpPr>
            <p:grpSpPr>
              <a:xfrm>
                <a:off x="4376234" y="4357700"/>
                <a:ext cx="676787" cy="542104"/>
                <a:chOff x="414314" y="4391034"/>
                <a:chExt cx="676787" cy="542104"/>
              </a:xfrm>
            </p:grpSpPr>
            <p:sp>
              <p:nvSpPr>
                <p:cNvPr id="56" name="矩形 55"/>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57" name="TextBox 56"/>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44" name="组合 122"/>
              <p:cNvGrpSpPr/>
              <p:nvPr/>
            </p:nvGrpSpPr>
            <p:grpSpPr>
              <a:xfrm>
                <a:off x="4881056" y="4357700"/>
                <a:ext cx="676787" cy="542104"/>
                <a:chOff x="414314" y="4391034"/>
                <a:chExt cx="676787" cy="542104"/>
              </a:xfrm>
            </p:grpSpPr>
            <p:sp>
              <p:nvSpPr>
                <p:cNvPr id="54" name="矩形 53"/>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55" name="TextBox 54"/>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45" name="组合 125"/>
              <p:cNvGrpSpPr/>
              <p:nvPr/>
            </p:nvGrpSpPr>
            <p:grpSpPr>
              <a:xfrm>
                <a:off x="5385885" y="4357700"/>
                <a:ext cx="676787" cy="542104"/>
                <a:chOff x="414314" y="4391034"/>
                <a:chExt cx="676787" cy="542104"/>
              </a:xfrm>
            </p:grpSpPr>
            <p:sp>
              <p:nvSpPr>
                <p:cNvPr id="52" name="矩形 51"/>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53" name="TextBox 52"/>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46" name="组合 128"/>
              <p:cNvGrpSpPr/>
              <p:nvPr/>
            </p:nvGrpSpPr>
            <p:grpSpPr>
              <a:xfrm>
                <a:off x="5890707" y="4357700"/>
                <a:ext cx="676787" cy="542104"/>
                <a:chOff x="414314" y="4391034"/>
                <a:chExt cx="676787" cy="542104"/>
              </a:xfrm>
            </p:grpSpPr>
            <p:sp>
              <p:nvSpPr>
                <p:cNvPr id="50" name="矩形 49"/>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51" name="TextBox 50"/>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47" name="组合 131"/>
              <p:cNvGrpSpPr/>
              <p:nvPr/>
            </p:nvGrpSpPr>
            <p:grpSpPr>
              <a:xfrm>
                <a:off x="6396047" y="4357700"/>
                <a:ext cx="676787" cy="542104"/>
                <a:chOff x="414314" y="4391034"/>
                <a:chExt cx="676787" cy="542104"/>
              </a:xfrm>
            </p:grpSpPr>
            <p:sp>
              <p:nvSpPr>
                <p:cNvPr id="48" name="矩形 47"/>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49" name="TextBox 48"/>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cxnSp>
          <p:nvCxnSpPr>
            <p:cNvPr id="30" name="直接箭头连接符 29"/>
            <p:cNvCxnSpPr>
              <a:stCxn id="73" idx="2"/>
              <a:endCxn id="65" idx="0"/>
            </p:cNvCxnSpPr>
            <p:nvPr/>
          </p:nvCxnSpPr>
          <p:spPr>
            <a:xfrm rot="5400000">
              <a:off x="1967847" y="3209190"/>
              <a:ext cx="295068" cy="95417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73" idx="2"/>
              <a:endCxn id="63" idx="0"/>
            </p:cNvCxnSpPr>
            <p:nvPr/>
          </p:nvCxnSpPr>
          <p:spPr>
            <a:xfrm rot="5400000">
              <a:off x="2201210" y="3461603"/>
              <a:ext cx="314118" cy="468401"/>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73" idx="2"/>
              <a:endCxn id="61" idx="0"/>
            </p:cNvCxnSpPr>
            <p:nvPr/>
          </p:nvCxnSpPr>
          <p:spPr>
            <a:xfrm rot="16200000" flipH="1">
              <a:off x="2439335" y="3691878"/>
              <a:ext cx="323643" cy="1737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71" idx="2"/>
              <a:endCxn id="57" idx="0"/>
            </p:cNvCxnSpPr>
            <p:nvPr/>
          </p:nvCxnSpPr>
          <p:spPr>
            <a:xfrm rot="16200000" flipH="1">
              <a:off x="3339449" y="3506143"/>
              <a:ext cx="314118" cy="379319"/>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69" idx="2"/>
              <a:endCxn id="59" idx="0"/>
            </p:cNvCxnSpPr>
            <p:nvPr/>
          </p:nvCxnSpPr>
          <p:spPr>
            <a:xfrm rot="5400000">
              <a:off x="3449784" y="3251253"/>
              <a:ext cx="295068" cy="87005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69" idx="2"/>
              <a:endCxn id="55" idx="0"/>
            </p:cNvCxnSpPr>
            <p:nvPr/>
          </p:nvCxnSpPr>
          <p:spPr>
            <a:xfrm rot="16200000" flipH="1">
              <a:off x="3930797" y="3640290"/>
              <a:ext cx="323643" cy="12055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66" idx="2"/>
              <a:endCxn id="53" idx="0"/>
            </p:cNvCxnSpPr>
            <p:nvPr/>
          </p:nvCxnSpPr>
          <p:spPr>
            <a:xfrm rot="5400000">
              <a:off x="4543574" y="3662413"/>
              <a:ext cx="323643" cy="7630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66" idx="2"/>
              <a:endCxn id="51" idx="0"/>
            </p:cNvCxnSpPr>
            <p:nvPr/>
          </p:nvCxnSpPr>
          <p:spPr>
            <a:xfrm rot="16200000" flipH="1">
              <a:off x="4781699" y="3500592"/>
              <a:ext cx="323643" cy="39994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66" idx="2"/>
              <a:endCxn id="49" idx="0"/>
            </p:cNvCxnSpPr>
            <p:nvPr/>
          </p:nvCxnSpPr>
          <p:spPr>
            <a:xfrm rot="16200000" flipH="1">
              <a:off x="5048398" y="3233892"/>
              <a:ext cx="295068" cy="904771"/>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9" name="组合 208"/>
          <p:cNvGrpSpPr/>
          <p:nvPr/>
        </p:nvGrpSpPr>
        <p:grpSpPr>
          <a:xfrm>
            <a:off x="3010616" y="5509009"/>
            <a:ext cx="254590" cy="126000"/>
            <a:chOff x="813682" y="4731766"/>
            <a:chExt cx="254590" cy="126000"/>
          </a:xfrm>
        </p:grpSpPr>
        <p:sp>
          <p:nvSpPr>
            <p:cNvPr id="92" name="矩形 91"/>
            <p:cNvSpPr/>
            <p:nvPr/>
          </p:nvSpPr>
          <p:spPr>
            <a:xfrm>
              <a:off x="813682" y="4731766"/>
              <a:ext cx="126000" cy="126000"/>
            </a:xfrm>
            <a:prstGeom prst="rect">
              <a:avLst/>
            </a:prstGeom>
            <a:gradFill>
              <a:gsLst>
                <a:gs pos="100000">
                  <a:srgbClr val="330033"/>
                </a:gs>
                <a:gs pos="0">
                  <a:srgbClr val="CC66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93" name="矩形 92"/>
            <p:cNvSpPr/>
            <p:nvPr/>
          </p:nvSpPr>
          <p:spPr>
            <a:xfrm>
              <a:off x="942272"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grpSp>
        <p:nvGrpSpPr>
          <p:cNvPr id="211" name="组合 210"/>
          <p:cNvGrpSpPr/>
          <p:nvPr/>
        </p:nvGrpSpPr>
        <p:grpSpPr>
          <a:xfrm>
            <a:off x="4225763" y="5384966"/>
            <a:ext cx="1601691" cy="250047"/>
            <a:chOff x="2028825" y="4607719"/>
            <a:chExt cx="1601691" cy="250047"/>
          </a:xfrm>
        </p:grpSpPr>
        <p:sp>
          <p:nvSpPr>
            <p:cNvPr id="106" name="矩形 105"/>
            <p:cNvSpPr/>
            <p:nvPr/>
          </p:nvSpPr>
          <p:spPr>
            <a:xfrm>
              <a:off x="2611545"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7" name="矩形 106"/>
            <p:cNvSpPr/>
            <p:nvPr/>
          </p:nvSpPr>
          <p:spPr>
            <a:xfrm>
              <a:off x="2740127"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8" name="矩形 107"/>
            <p:cNvSpPr/>
            <p:nvPr/>
          </p:nvSpPr>
          <p:spPr>
            <a:xfrm>
              <a:off x="2866336"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9" name="矩形 108"/>
            <p:cNvSpPr/>
            <p:nvPr/>
          </p:nvSpPr>
          <p:spPr>
            <a:xfrm>
              <a:off x="2994918"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0" name="矩形 109"/>
            <p:cNvSpPr/>
            <p:nvPr/>
          </p:nvSpPr>
          <p:spPr>
            <a:xfrm>
              <a:off x="3121143"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1" name="矩形 110"/>
            <p:cNvSpPr/>
            <p:nvPr/>
          </p:nvSpPr>
          <p:spPr>
            <a:xfrm>
              <a:off x="3249725"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2" name="矩形 111"/>
            <p:cNvSpPr/>
            <p:nvPr/>
          </p:nvSpPr>
          <p:spPr>
            <a:xfrm>
              <a:off x="3375934"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3" name="矩形 112"/>
            <p:cNvSpPr/>
            <p:nvPr/>
          </p:nvSpPr>
          <p:spPr>
            <a:xfrm>
              <a:off x="3504516" y="4731766"/>
              <a:ext cx="126000" cy="126000"/>
            </a:xfrm>
            <a:prstGeom prst="rect">
              <a:avLst/>
            </a:prstGeom>
            <a:gradFill>
              <a:gsLst>
                <a:gs pos="100000">
                  <a:srgbClr val="FDD000"/>
                </a:gs>
                <a:gs pos="0">
                  <a:srgbClr val="FFF9B1"/>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7" name="任意多边形 146"/>
            <p:cNvSpPr/>
            <p:nvPr/>
          </p:nvSpPr>
          <p:spPr>
            <a:xfrm>
              <a:off x="2028825" y="4607719"/>
              <a:ext cx="671513" cy="116681"/>
            </a:xfrm>
            <a:custGeom>
              <a:avLst/>
              <a:gdLst>
                <a:gd name="connsiteX0" fmla="*/ 0 w 671513"/>
                <a:gd name="connsiteY0" fmla="*/ 116681 h 116681"/>
                <a:gd name="connsiteX1" fmla="*/ 228600 w 671513"/>
                <a:gd name="connsiteY1" fmla="*/ 16669 h 116681"/>
                <a:gd name="connsiteX2" fmla="*/ 500063 w 671513"/>
                <a:gd name="connsiteY2" fmla="*/ 16669 h 116681"/>
                <a:gd name="connsiteX3" fmla="*/ 671513 w 671513"/>
                <a:gd name="connsiteY3" fmla="*/ 116681 h 116681"/>
              </a:gdLst>
              <a:ahLst/>
              <a:cxnLst>
                <a:cxn ang="0">
                  <a:pos x="connsiteX0" y="connsiteY0"/>
                </a:cxn>
                <a:cxn ang="0">
                  <a:pos x="connsiteX1" y="connsiteY1"/>
                </a:cxn>
                <a:cxn ang="0">
                  <a:pos x="connsiteX2" y="connsiteY2"/>
                </a:cxn>
                <a:cxn ang="0">
                  <a:pos x="connsiteX3" y="connsiteY3"/>
                </a:cxn>
              </a:cxnLst>
              <a:rect l="l" t="t" r="r" b="b"/>
              <a:pathLst>
                <a:path w="671513" h="116681">
                  <a:moveTo>
                    <a:pt x="0" y="116681"/>
                  </a:moveTo>
                  <a:cubicBezTo>
                    <a:pt x="72628" y="75009"/>
                    <a:pt x="145256" y="33338"/>
                    <a:pt x="228600" y="16669"/>
                  </a:cubicBezTo>
                  <a:cubicBezTo>
                    <a:pt x="311944" y="0"/>
                    <a:pt x="426244" y="0"/>
                    <a:pt x="500063" y="16669"/>
                  </a:cubicBezTo>
                  <a:cubicBezTo>
                    <a:pt x="573882" y="33338"/>
                    <a:pt x="622697" y="75009"/>
                    <a:pt x="671513" y="116681"/>
                  </a:cubicBezTo>
                </a:path>
              </a:pathLst>
            </a:custGeom>
            <a:ln w="22225">
              <a:solidFill>
                <a:srgbClr val="11576A"/>
              </a:solidFill>
              <a:prstDash val="sysDash"/>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8" name="任意多边形 147"/>
            <p:cNvSpPr/>
            <p:nvPr/>
          </p:nvSpPr>
          <p:spPr>
            <a:xfrm>
              <a:off x="2143108" y="4607719"/>
              <a:ext cx="671513" cy="116681"/>
            </a:xfrm>
            <a:custGeom>
              <a:avLst/>
              <a:gdLst>
                <a:gd name="connsiteX0" fmla="*/ 0 w 671513"/>
                <a:gd name="connsiteY0" fmla="*/ 116681 h 116681"/>
                <a:gd name="connsiteX1" fmla="*/ 228600 w 671513"/>
                <a:gd name="connsiteY1" fmla="*/ 16669 h 116681"/>
                <a:gd name="connsiteX2" fmla="*/ 500063 w 671513"/>
                <a:gd name="connsiteY2" fmla="*/ 16669 h 116681"/>
                <a:gd name="connsiteX3" fmla="*/ 671513 w 671513"/>
                <a:gd name="connsiteY3" fmla="*/ 116681 h 116681"/>
              </a:gdLst>
              <a:ahLst/>
              <a:cxnLst>
                <a:cxn ang="0">
                  <a:pos x="connsiteX0" y="connsiteY0"/>
                </a:cxn>
                <a:cxn ang="0">
                  <a:pos x="connsiteX1" y="connsiteY1"/>
                </a:cxn>
                <a:cxn ang="0">
                  <a:pos x="connsiteX2" y="connsiteY2"/>
                </a:cxn>
                <a:cxn ang="0">
                  <a:pos x="connsiteX3" y="connsiteY3"/>
                </a:cxn>
              </a:cxnLst>
              <a:rect l="l" t="t" r="r" b="b"/>
              <a:pathLst>
                <a:path w="671513" h="116681">
                  <a:moveTo>
                    <a:pt x="0" y="116681"/>
                  </a:moveTo>
                  <a:cubicBezTo>
                    <a:pt x="72628" y="75009"/>
                    <a:pt x="145256" y="33338"/>
                    <a:pt x="228600" y="16669"/>
                  </a:cubicBezTo>
                  <a:cubicBezTo>
                    <a:pt x="311944" y="0"/>
                    <a:pt x="426244" y="0"/>
                    <a:pt x="500063" y="16669"/>
                  </a:cubicBezTo>
                  <a:cubicBezTo>
                    <a:pt x="573882" y="33338"/>
                    <a:pt x="622697" y="75009"/>
                    <a:pt x="671513" y="116681"/>
                  </a:cubicBezTo>
                </a:path>
              </a:pathLst>
            </a:custGeom>
            <a:ln w="22225">
              <a:solidFill>
                <a:srgbClr val="11576A"/>
              </a:solidFill>
              <a:prstDash val="sysDash"/>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grpSp>
        <p:nvGrpSpPr>
          <p:cNvPr id="212" name="组合 211"/>
          <p:cNvGrpSpPr/>
          <p:nvPr/>
        </p:nvGrpSpPr>
        <p:grpSpPr>
          <a:xfrm>
            <a:off x="5632284" y="5415933"/>
            <a:ext cx="4017310" cy="219076"/>
            <a:chOff x="3435350" y="4638690"/>
            <a:chExt cx="4017310" cy="219076"/>
          </a:xfrm>
        </p:grpSpPr>
        <p:sp>
          <p:nvSpPr>
            <p:cNvPr id="114" name="矩形 113"/>
            <p:cNvSpPr/>
            <p:nvPr/>
          </p:nvSpPr>
          <p:spPr>
            <a:xfrm>
              <a:off x="3630934"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5" name="矩形 114"/>
            <p:cNvSpPr/>
            <p:nvPr/>
          </p:nvSpPr>
          <p:spPr>
            <a:xfrm>
              <a:off x="3759315"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6" name="矩形 115"/>
            <p:cNvSpPr/>
            <p:nvPr/>
          </p:nvSpPr>
          <p:spPr>
            <a:xfrm>
              <a:off x="3885516"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7" name="矩形 116"/>
            <p:cNvSpPr/>
            <p:nvPr/>
          </p:nvSpPr>
          <p:spPr>
            <a:xfrm>
              <a:off x="4013897"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8" name="矩形 117"/>
            <p:cNvSpPr/>
            <p:nvPr/>
          </p:nvSpPr>
          <p:spPr>
            <a:xfrm>
              <a:off x="4140524"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9" name="矩形 118"/>
            <p:cNvSpPr/>
            <p:nvPr/>
          </p:nvSpPr>
          <p:spPr>
            <a:xfrm>
              <a:off x="4268905"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0" name="矩形 119"/>
            <p:cNvSpPr/>
            <p:nvPr/>
          </p:nvSpPr>
          <p:spPr>
            <a:xfrm>
              <a:off x="4395106"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1" name="矩形 120"/>
            <p:cNvSpPr/>
            <p:nvPr/>
          </p:nvSpPr>
          <p:spPr>
            <a:xfrm>
              <a:off x="4523487"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2" name="矩形 121"/>
            <p:cNvSpPr/>
            <p:nvPr/>
          </p:nvSpPr>
          <p:spPr>
            <a:xfrm>
              <a:off x="4649905"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3" name="矩形 122"/>
            <p:cNvSpPr/>
            <p:nvPr/>
          </p:nvSpPr>
          <p:spPr>
            <a:xfrm>
              <a:off x="4778286"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4" name="矩形 123"/>
            <p:cNvSpPr/>
            <p:nvPr/>
          </p:nvSpPr>
          <p:spPr>
            <a:xfrm>
              <a:off x="4904487"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5" name="矩形 124"/>
            <p:cNvSpPr/>
            <p:nvPr/>
          </p:nvSpPr>
          <p:spPr>
            <a:xfrm>
              <a:off x="5032868"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6" name="矩形 125"/>
            <p:cNvSpPr/>
            <p:nvPr/>
          </p:nvSpPr>
          <p:spPr>
            <a:xfrm>
              <a:off x="5159495"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7" name="矩形 126"/>
            <p:cNvSpPr/>
            <p:nvPr/>
          </p:nvSpPr>
          <p:spPr>
            <a:xfrm>
              <a:off x="5287876"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8" name="矩形 127"/>
            <p:cNvSpPr/>
            <p:nvPr/>
          </p:nvSpPr>
          <p:spPr>
            <a:xfrm>
              <a:off x="5414077"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9" name="矩形 128"/>
            <p:cNvSpPr/>
            <p:nvPr/>
          </p:nvSpPr>
          <p:spPr>
            <a:xfrm>
              <a:off x="5542458"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0" name="矩形 129"/>
            <p:cNvSpPr/>
            <p:nvPr/>
          </p:nvSpPr>
          <p:spPr>
            <a:xfrm>
              <a:off x="5670508"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1" name="矩形 130"/>
            <p:cNvSpPr/>
            <p:nvPr/>
          </p:nvSpPr>
          <p:spPr>
            <a:xfrm>
              <a:off x="5798889"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2" name="矩形 131"/>
            <p:cNvSpPr/>
            <p:nvPr/>
          </p:nvSpPr>
          <p:spPr>
            <a:xfrm>
              <a:off x="5925090"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3" name="矩形 132"/>
            <p:cNvSpPr/>
            <p:nvPr/>
          </p:nvSpPr>
          <p:spPr>
            <a:xfrm>
              <a:off x="6053471"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4" name="矩形 133"/>
            <p:cNvSpPr/>
            <p:nvPr/>
          </p:nvSpPr>
          <p:spPr>
            <a:xfrm>
              <a:off x="6180098"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5" name="矩形 134"/>
            <p:cNvSpPr/>
            <p:nvPr/>
          </p:nvSpPr>
          <p:spPr>
            <a:xfrm>
              <a:off x="6308479"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6" name="矩形 135"/>
            <p:cNvSpPr/>
            <p:nvPr/>
          </p:nvSpPr>
          <p:spPr>
            <a:xfrm>
              <a:off x="6434680"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7" name="矩形 136"/>
            <p:cNvSpPr/>
            <p:nvPr/>
          </p:nvSpPr>
          <p:spPr>
            <a:xfrm>
              <a:off x="6563061"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8" name="矩形 137"/>
            <p:cNvSpPr/>
            <p:nvPr/>
          </p:nvSpPr>
          <p:spPr>
            <a:xfrm>
              <a:off x="6688689"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9" name="矩形 138"/>
            <p:cNvSpPr/>
            <p:nvPr/>
          </p:nvSpPr>
          <p:spPr>
            <a:xfrm>
              <a:off x="6817070"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0" name="矩形 139"/>
            <p:cNvSpPr/>
            <p:nvPr/>
          </p:nvSpPr>
          <p:spPr>
            <a:xfrm>
              <a:off x="6943271"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1" name="矩形 140"/>
            <p:cNvSpPr/>
            <p:nvPr/>
          </p:nvSpPr>
          <p:spPr>
            <a:xfrm>
              <a:off x="7071652"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2" name="矩形 141"/>
            <p:cNvSpPr/>
            <p:nvPr/>
          </p:nvSpPr>
          <p:spPr>
            <a:xfrm>
              <a:off x="7198279"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3" name="矩形 142"/>
            <p:cNvSpPr/>
            <p:nvPr/>
          </p:nvSpPr>
          <p:spPr>
            <a:xfrm>
              <a:off x="7326660" y="4731766"/>
              <a:ext cx="126000" cy="126000"/>
            </a:xfrm>
            <a:prstGeom prst="rect">
              <a:avLst/>
            </a:prstGeom>
            <a:gradFill>
              <a:gsLst>
                <a:gs pos="100000">
                  <a:srgbClr val="666666"/>
                </a:gs>
                <a:gs pos="0">
                  <a:srgbClr val="CCCCCC"/>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9" name="任意多边形 148"/>
            <p:cNvSpPr/>
            <p:nvPr/>
          </p:nvSpPr>
          <p:spPr>
            <a:xfrm>
              <a:off x="3435350" y="4648200"/>
              <a:ext cx="800100" cy="76200"/>
            </a:xfrm>
            <a:custGeom>
              <a:avLst/>
              <a:gdLst>
                <a:gd name="connsiteX0" fmla="*/ 0 w 800100"/>
                <a:gd name="connsiteY0" fmla="*/ 73025 h 76200"/>
                <a:gd name="connsiteX1" fmla="*/ 311150 w 800100"/>
                <a:gd name="connsiteY1" fmla="*/ 9525 h 76200"/>
                <a:gd name="connsiteX2" fmla="*/ 647700 w 800100"/>
                <a:gd name="connsiteY2" fmla="*/ 15875 h 76200"/>
                <a:gd name="connsiteX3" fmla="*/ 800100 w 8001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800100" h="76200">
                  <a:moveTo>
                    <a:pt x="0" y="73025"/>
                  </a:moveTo>
                  <a:cubicBezTo>
                    <a:pt x="101600" y="46037"/>
                    <a:pt x="203200" y="19050"/>
                    <a:pt x="311150" y="9525"/>
                  </a:cubicBezTo>
                  <a:cubicBezTo>
                    <a:pt x="419100" y="0"/>
                    <a:pt x="566208" y="4763"/>
                    <a:pt x="647700" y="15875"/>
                  </a:cubicBezTo>
                  <a:cubicBezTo>
                    <a:pt x="729192" y="26988"/>
                    <a:pt x="776817" y="66146"/>
                    <a:pt x="800100" y="76200"/>
                  </a:cubicBezTo>
                </a:path>
              </a:pathLst>
            </a:custGeom>
            <a:ln w="2222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0" name="任意多边形 149"/>
            <p:cNvSpPr/>
            <p:nvPr/>
          </p:nvSpPr>
          <p:spPr>
            <a:xfrm>
              <a:off x="3435350" y="4643452"/>
              <a:ext cx="900000" cy="76200"/>
            </a:xfrm>
            <a:custGeom>
              <a:avLst/>
              <a:gdLst>
                <a:gd name="connsiteX0" fmla="*/ 0 w 800100"/>
                <a:gd name="connsiteY0" fmla="*/ 73025 h 76200"/>
                <a:gd name="connsiteX1" fmla="*/ 311150 w 800100"/>
                <a:gd name="connsiteY1" fmla="*/ 9525 h 76200"/>
                <a:gd name="connsiteX2" fmla="*/ 647700 w 800100"/>
                <a:gd name="connsiteY2" fmla="*/ 15875 h 76200"/>
                <a:gd name="connsiteX3" fmla="*/ 800100 w 8001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800100" h="76200">
                  <a:moveTo>
                    <a:pt x="0" y="73025"/>
                  </a:moveTo>
                  <a:cubicBezTo>
                    <a:pt x="101600" y="46037"/>
                    <a:pt x="203200" y="19050"/>
                    <a:pt x="311150" y="9525"/>
                  </a:cubicBezTo>
                  <a:cubicBezTo>
                    <a:pt x="419100" y="0"/>
                    <a:pt x="566208" y="4763"/>
                    <a:pt x="647700" y="15875"/>
                  </a:cubicBezTo>
                  <a:cubicBezTo>
                    <a:pt x="729192" y="26988"/>
                    <a:pt x="776817" y="66146"/>
                    <a:pt x="800100" y="76200"/>
                  </a:cubicBezTo>
                </a:path>
              </a:pathLst>
            </a:custGeom>
            <a:ln w="2222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1" name="任意多边形 150"/>
            <p:cNvSpPr/>
            <p:nvPr/>
          </p:nvSpPr>
          <p:spPr>
            <a:xfrm>
              <a:off x="3435350" y="4638690"/>
              <a:ext cx="1044000" cy="76200"/>
            </a:xfrm>
            <a:custGeom>
              <a:avLst/>
              <a:gdLst>
                <a:gd name="connsiteX0" fmla="*/ 0 w 800100"/>
                <a:gd name="connsiteY0" fmla="*/ 73025 h 76200"/>
                <a:gd name="connsiteX1" fmla="*/ 311150 w 800100"/>
                <a:gd name="connsiteY1" fmla="*/ 9525 h 76200"/>
                <a:gd name="connsiteX2" fmla="*/ 647700 w 800100"/>
                <a:gd name="connsiteY2" fmla="*/ 15875 h 76200"/>
                <a:gd name="connsiteX3" fmla="*/ 800100 w 8001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800100" h="76200">
                  <a:moveTo>
                    <a:pt x="0" y="73025"/>
                  </a:moveTo>
                  <a:cubicBezTo>
                    <a:pt x="101600" y="46037"/>
                    <a:pt x="203200" y="19050"/>
                    <a:pt x="311150" y="9525"/>
                  </a:cubicBezTo>
                  <a:cubicBezTo>
                    <a:pt x="419100" y="0"/>
                    <a:pt x="566208" y="4763"/>
                    <a:pt x="647700" y="15875"/>
                  </a:cubicBezTo>
                  <a:cubicBezTo>
                    <a:pt x="729192" y="26988"/>
                    <a:pt x="776817" y="66146"/>
                    <a:pt x="800100" y="76200"/>
                  </a:cubicBezTo>
                </a:path>
              </a:pathLst>
            </a:custGeom>
            <a:ln w="2222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2" name="任意多边形 151"/>
            <p:cNvSpPr/>
            <p:nvPr/>
          </p:nvSpPr>
          <p:spPr>
            <a:xfrm>
              <a:off x="3435350" y="4638690"/>
              <a:ext cx="1152000" cy="76200"/>
            </a:xfrm>
            <a:custGeom>
              <a:avLst/>
              <a:gdLst>
                <a:gd name="connsiteX0" fmla="*/ 0 w 800100"/>
                <a:gd name="connsiteY0" fmla="*/ 73025 h 76200"/>
                <a:gd name="connsiteX1" fmla="*/ 311150 w 800100"/>
                <a:gd name="connsiteY1" fmla="*/ 9525 h 76200"/>
                <a:gd name="connsiteX2" fmla="*/ 647700 w 800100"/>
                <a:gd name="connsiteY2" fmla="*/ 15875 h 76200"/>
                <a:gd name="connsiteX3" fmla="*/ 800100 w 8001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800100" h="76200">
                  <a:moveTo>
                    <a:pt x="0" y="73025"/>
                  </a:moveTo>
                  <a:cubicBezTo>
                    <a:pt x="101600" y="46037"/>
                    <a:pt x="203200" y="19050"/>
                    <a:pt x="311150" y="9525"/>
                  </a:cubicBezTo>
                  <a:cubicBezTo>
                    <a:pt x="419100" y="0"/>
                    <a:pt x="566208" y="4763"/>
                    <a:pt x="647700" y="15875"/>
                  </a:cubicBezTo>
                  <a:cubicBezTo>
                    <a:pt x="729192" y="26988"/>
                    <a:pt x="776817" y="66146"/>
                    <a:pt x="800100" y="76200"/>
                  </a:cubicBezTo>
                </a:path>
              </a:pathLst>
            </a:custGeom>
            <a:ln w="2222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grpSp>
        <p:nvGrpSpPr>
          <p:cNvPr id="210" name="组合 209"/>
          <p:cNvGrpSpPr/>
          <p:nvPr/>
        </p:nvGrpSpPr>
        <p:grpSpPr>
          <a:xfrm>
            <a:off x="3200790" y="5302789"/>
            <a:ext cx="1604882" cy="332220"/>
            <a:chOff x="1003856" y="4525546"/>
            <a:chExt cx="1604882" cy="332220"/>
          </a:xfrm>
        </p:grpSpPr>
        <p:sp>
          <p:nvSpPr>
            <p:cNvPr id="94" name="矩形 93"/>
            <p:cNvSpPr/>
            <p:nvPr/>
          </p:nvSpPr>
          <p:spPr>
            <a:xfrm>
              <a:off x="1070862"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95" name="矩形 94"/>
            <p:cNvSpPr/>
            <p:nvPr/>
          </p:nvSpPr>
          <p:spPr>
            <a:xfrm>
              <a:off x="1199661"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96" name="矩形 95"/>
            <p:cNvSpPr/>
            <p:nvPr/>
          </p:nvSpPr>
          <p:spPr>
            <a:xfrm>
              <a:off x="1327825"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97" name="矩形 96"/>
            <p:cNvSpPr/>
            <p:nvPr/>
          </p:nvSpPr>
          <p:spPr>
            <a:xfrm>
              <a:off x="1456624"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98" name="矩形 97"/>
            <p:cNvSpPr/>
            <p:nvPr/>
          </p:nvSpPr>
          <p:spPr>
            <a:xfrm>
              <a:off x="1585431"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99" name="矩形 98"/>
            <p:cNvSpPr/>
            <p:nvPr/>
          </p:nvSpPr>
          <p:spPr>
            <a:xfrm>
              <a:off x="1714230"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0" name="矩形 99"/>
            <p:cNvSpPr/>
            <p:nvPr/>
          </p:nvSpPr>
          <p:spPr>
            <a:xfrm>
              <a:off x="1842394"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1" name="矩形 100"/>
            <p:cNvSpPr/>
            <p:nvPr/>
          </p:nvSpPr>
          <p:spPr>
            <a:xfrm>
              <a:off x="1971193"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2" name="矩形 101"/>
            <p:cNvSpPr/>
            <p:nvPr/>
          </p:nvSpPr>
          <p:spPr>
            <a:xfrm>
              <a:off x="2096976"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3" name="矩形 102"/>
            <p:cNvSpPr/>
            <p:nvPr/>
          </p:nvSpPr>
          <p:spPr>
            <a:xfrm>
              <a:off x="2225775"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4" name="矩形 103"/>
            <p:cNvSpPr/>
            <p:nvPr/>
          </p:nvSpPr>
          <p:spPr>
            <a:xfrm>
              <a:off x="2353939"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05" name="矩形 104"/>
            <p:cNvSpPr/>
            <p:nvPr/>
          </p:nvSpPr>
          <p:spPr>
            <a:xfrm>
              <a:off x="2482738" y="4731766"/>
              <a:ext cx="126000" cy="126000"/>
            </a:xfrm>
            <a:prstGeom prst="rect">
              <a:avLst/>
            </a:prstGeom>
            <a:gradFill>
              <a:gsLst>
                <a:gs pos="100000">
                  <a:srgbClr val="33FFFF"/>
                </a:gs>
                <a:gs pos="0">
                  <a:srgbClr val="CCFFFF"/>
                </a:gs>
                <a:gs pos="100000">
                  <a:schemeClr val="accent1">
                    <a:tint val="23500"/>
                    <a:satMod val="160000"/>
                  </a:schemeClr>
                </a:gs>
              </a:gsLst>
              <a:lin ang="5400000" scaled="0"/>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5" name="任意多边形 144"/>
            <p:cNvSpPr/>
            <p:nvPr/>
          </p:nvSpPr>
          <p:spPr>
            <a:xfrm>
              <a:off x="1376981" y="4601773"/>
              <a:ext cx="142875" cy="129382"/>
            </a:xfrm>
            <a:custGeom>
              <a:avLst/>
              <a:gdLst>
                <a:gd name="connsiteX0" fmla="*/ 0 w 142875"/>
                <a:gd name="connsiteY0" fmla="*/ 124619 h 129382"/>
                <a:gd name="connsiteX1" fmla="*/ 61912 w 142875"/>
                <a:gd name="connsiteY1" fmla="*/ 794 h 129382"/>
                <a:gd name="connsiteX2" fmla="*/ 142875 w 142875"/>
                <a:gd name="connsiteY2" fmla="*/ 129382 h 129382"/>
              </a:gdLst>
              <a:ahLst/>
              <a:cxnLst>
                <a:cxn ang="0">
                  <a:pos x="connsiteX0" y="connsiteY0"/>
                </a:cxn>
                <a:cxn ang="0">
                  <a:pos x="connsiteX1" y="connsiteY1"/>
                </a:cxn>
                <a:cxn ang="0">
                  <a:pos x="connsiteX2" y="connsiteY2"/>
                </a:cxn>
              </a:cxnLst>
              <a:rect l="l" t="t" r="r" b="b"/>
              <a:pathLst>
                <a:path w="142875" h="129382">
                  <a:moveTo>
                    <a:pt x="0" y="124619"/>
                  </a:moveTo>
                  <a:cubicBezTo>
                    <a:pt x="19050" y="62309"/>
                    <a:pt x="38100" y="0"/>
                    <a:pt x="61912" y="794"/>
                  </a:cubicBezTo>
                  <a:cubicBezTo>
                    <a:pt x="85724" y="1588"/>
                    <a:pt x="114299" y="65485"/>
                    <a:pt x="142875" y="129382"/>
                  </a:cubicBezTo>
                </a:path>
              </a:pathLst>
            </a:custGeom>
            <a:ln w="2222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6" name="任意多边形 145"/>
            <p:cNvSpPr/>
            <p:nvPr/>
          </p:nvSpPr>
          <p:spPr>
            <a:xfrm>
              <a:off x="1368638" y="4525546"/>
              <a:ext cx="271463" cy="221456"/>
            </a:xfrm>
            <a:custGeom>
              <a:avLst/>
              <a:gdLst>
                <a:gd name="connsiteX0" fmla="*/ 0 w 271463"/>
                <a:gd name="connsiteY0" fmla="*/ 207169 h 221456"/>
                <a:gd name="connsiteX1" fmla="*/ 95250 w 271463"/>
                <a:gd name="connsiteY1" fmla="*/ 2381 h 221456"/>
                <a:gd name="connsiteX2" fmla="*/ 271463 w 271463"/>
                <a:gd name="connsiteY2" fmla="*/ 221456 h 221456"/>
              </a:gdLst>
              <a:ahLst/>
              <a:cxnLst>
                <a:cxn ang="0">
                  <a:pos x="connsiteX0" y="connsiteY0"/>
                </a:cxn>
                <a:cxn ang="0">
                  <a:pos x="connsiteX1" y="connsiteY1"/>
                </a:cxn>
                <a:cxn ang="0">
                  <a:pos x="connsiteX2" y="connsiteY2"/>
                </a:cxn>
              </a:cxnLst>
              <a:rect l="l" t="t" r="r" b="b"/>
              <a:pathLst>
                <a:path w="271463" h="221456">
                  <a:moveTo>
                    <a:pt x="0" y="207169"/>
                  </a:moveTo>
                  <a:cubicBezTo>
                    <a:pt x="25003" y="103584"/>
                    <a:pt x="50006" y="0"/>
                    <a:pt x="95250" y="2381"/>
                  </a:cubicBezTo>
                  <a:cubicBezTo>
                    <a:pt x="140494" y="4762"/>
                    <a:pt x="233363" y="196850"/>
                    <a:pt x="271463" y="221456"/>
                  </a:cubicBezTo>
                </a:path>
              </a:pathLst>
            </a:custGeom>
            <a:ln w="2222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06" name="任意多边形 205"/>
            <p:cNvSpPr/>
            <p:nvPr/>
          </p:nvSpPr>
          <p:spPr>
            <a:xfrm>
              <a:off x="1003856" y="4602384"/>
              <a:ext cx="142875" cy="129382"/>
            </a:xfrm>
            <a:custGeom>
              <a:avLst/>
              <a:gdLst>
                <a:gd name="connsiteX0" fmla="*/ 0 w 142875"/>
                <a:gd name="connsiteY0" fmla="*/ 124619 h 129382"/>
                <a:gd name="connsiteX1" fmla="*/ 61912 w 142875"/>
                <a:gd name="connsiteY1" fmla="*/ 794 h 129382"/>
                <a:gd name="connsiteX2" fmla="*/ 142875 w 142875"/>
                <a:gd name="connsiteY2" fmla="*/ 129382 h 129382"/>
              </a:gdLst>
              <a:ahLst/>
              <a:cxnLst>
                <a:cxn ang="0">
                  <a:pos x="connsiteX0" y="connsiteY0"/>
                </a:cxn>
                <a:cxn ang="0">
                  <a:pos x="connsiteX1" y="connsiteY1"/>
                </a:cxn>
                <a:cxn ang="0">
                  <a:pos x="connsiteX2" y="connsiteY2"/>
                </a:cxn>
              </a:cxnLst>
              <a:rect l="l" t="t" r="r" b="b"/>
              <a:pathLst>
                <a:path w="142875" h="129382">
                  <a:moveTo>
                    <a:pt x="0" y="124619"/>
                  </a:moveTo>
                  <a:cubicBezTo>
                    <a:pt x="19050" y="62309"/>
                    <a:pt x="38100" y="0"/>
                    <a:pt x="61912" y="794"/>
                  </a:cubicBezTo>
                  <a:cubicBezTo>
                    <a:pt x="85724" y="1588"/>
                    <a:pt x="114299" y="65485"/>
                    <a:pt x="142875" y="129382"/>
                  </a:cubicBezTo>
                </a:path>
              </a:pathLst>
            </a:custGeom>
            <a:ln w="22225">
              <a:solidFill>
                <a:srgbClr val="11576A"/>
              </a:solidFill>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sp>
        <p:nvSpPr>
          <p:cNvPr id="213" name="标题 212">
            <a:extLst>
              <a:ext uri="{FF2B5EF4-FFF2-40B4-BE49-F238E27FC236}">
                <a16:creationId xmlns:a16="http://schemas.microsoft.com/office/drawing/2014/main" id="{286E4DE7-A275-54E8-5E37-D240BE52C328}"/>
              </a:ext>
            </a:extLst>
          </p:cNvPr>
          <p:cNvSpPr>
            <a:spLocks noGrp="1"/>
          </p:cNvSpPr>
          <p:nvPr>
            <p:ph type="title"/>
          </p:nvPr>
        </p:nvSpPr>
        <p:spPr/>
        <p:txBody>
          <a:bodyPr>
            <a:normAutofit/>
          </a:bodyPr>
          <a:lstStyle/>
          <a:p>
            <a:r>
              <a:rPr lang="zh-CN" altLang="en-US" dirty="0"/>
              <a:t>文件系统的存储视图</a:t>
            </a:r>
          </a:p>
        </p:txBody>
      </p:sp>
      <p:sp>
        <p:nvSpPr>
          <p:cNvPr id="215" name="灯片编号占位符 214">
            <a:extLst>
              <a:ext uri="{FF2B5EF4-FFF2-40B4-BE49-F238E27FC236}">
                <a16:creationId xmlns:a16="http://schemas.microsoft.com/office/drawing/2014/main" id="{5695894E-8904-AFF0-0223-54E5682C523A}"/>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21</a:t>
            </a:fld>
            <a:endParaRPr lang="zh-CN" altLang="en-US" dirty="0"/>
          </a:p>
        </p:txBody>
      </p:sp>
    </p:spTree>
    <p:extLst>
      <p:ext uri="{BB962C8B-B14F-4D97-AF65-F5344CB8AC3E}">
        <p14:creationId xmlns:p14="http://schemas.microsoft.com/office/powerpoint/2010/main" val="298835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wipe(left)">
                                      <p:cBhvr>
                                        <p:cTn id="7" dur="500"/>
                                        <p:tgtEl>
                                          <p:spTgt spid="2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09"/>
                                        </p:tgtEl>
                                        <p:attrNameLst>
                                          <p:attrName>style.visibility</p:attrName>
                                        </p:attrNameLst>
                                      </p:cBhvr>
                                      <p:to>
                                        <p:strVal val="visible"/>
                                      </p:to>
                                    </p:set>
                                    <p:animEffect transition="in" filter="wipe(left)">
                                      <p:cBhvr>
                                        <p:cTn id="16" dur="500"/>
                                        <p:tgtEl>
                                          <p:spTgt spid="20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up)">
                                      <p:cBhvr>
                                        <p:cTn id="21" dur="500"/>
                                        <p:tgtEl>
                                          <p:spTgt spid="3"/>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210"/>
                                        </p:tgtEl>
                                        <p:attrNameLst>
                                          <p:attrName>style.visibility</p:attrName>
                                        </p:attrNameLst>
                                      </p:cBhvr>
                                      <p:to>
                                        <p:strVal val="visible"/>
                                      </p:to>
                                    </p:set>
                                    <p:animEffect transition="in" filter="wipe(left)">
                                      <p:cBhvr>
                                        <p:cTn id="25" dur="500"/>
                                        <p:tgtEl>
                                          <p:spTgt spid="2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67"/>
                                        </p:tgtEl>
                                        <p:attrNameLst>
                                          <p:attrName>style.visibility</p:attrName>
                                        </p:attrNameLst>
                                      </p:cBhvr>
                                      <p:to>
                                        <p:strVal val="visible"/>
                                      </p:to>
                                    </p:set>
                                    <p:animEffect transition="in" filter="wipe(up)">
                                      <p:cBhvr>
                                        <p:cTn id="30" dur="500"/>
                                        <p:tgtEl>
                                          <p:spTgt spid="67"/>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211"/>
                                        </p:tgtEl>
                                        <p:attrNameLst>
                                          <p:attrName>style.visibility</p:attrName>
                                        </p:attrNameLst>
                                      </p:cBhvr>
                                      <p:to>
                                        <p:strVal val="visible"/>
                                      </p:to>
                                    </p:set>
                                    <p:animEffect transition="in" filter="wipe(left)">
                                      <p:cBhvr>
                                        <p:cTn id="34" dur="500"/>
                                        <p:tgtEl>
                                          <p:spTgt spid="21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07"/>
                                        </p:tgtEl>
                                        <p:attrNameLst>
                                          <p:attrName>style.visibility</p:attrName>
                                        </p:attrNameLst>
                                      </p:cBhvr>
                                      <p:to>
                                        <p:strVal val="visible"/>
                                      </p:to>
                                    </p:set>
                                    <p:animEffect transition="in" filter="wipe(up)">
                                      <p:cBhvr>
                                        <p:cTn id="39" dur="500"/>
                                        <p:tgtEl>
                                          <p:spTgt spid="207"/>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212"/>
                                        </p:tgtEl>
                                        <p:attrNameLst>
                                          <p:attrName>style.visibility</p:attrName>
                                        </p:attrNameLst>
                                      </p:cBhvr>
                                      <p:to>
                                        <p:strVal val="visible"/>
                                      </p:to>
                                    </p:set>
                                    <p:animEffect transition="in" filter="wipe(left)">
                                      <p:cBhvr>
                                        <p:cTn id="43" dur="500"/>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767408" y="1628800"/>
            <a:ext cx="4370049" cy="1266834"/>
            <a:chOff x="844893" y="1019164"/>
            <a:chExt cx="4370049" cy="1266834"/>
          </a:xfrm>
        </p:grpSpPr>
        <p:sp>
          <p:nvSpPr>
            <p:cNvPr id="9" name="内容占位符 2"/>
            <p:cNvSpPr txBox="1">
              <a:spLocks/>
            </p:cNvSpPr>
            <p:nvPr/>
          </p:nvSpPr>
          <p:spPr>
            <a:xfrm>
              <a:off x="1142976" y="1019164"/>
              <a:ext cx="235745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文件系统数据结构</a:t>
              </a:r>
              <a:endParaRPr lang="en-US" altLang="zh-CN" dirty="0"/>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33" name="图片 32" descr="小点1.png"/>
            <p:cNvPicPr>
              <a:picLocks noChangeAspect="1"/>
            </p:cNvPicPr>
            <p:nvPr/>
          </p:nvPicPr>
          <p:blipFill>
            <a:blip r:embed="rId3" cstate="print"/>
            <a:stretch>
              <a:fillRect/>
            </a:stretch>
          </p:blipFill>
          <p:spPr>
            <a:xfrm>
              <a:off x="1262422" y="1462080"/>
              <a:ext cx="151066" cy="148997"/>
            </a:xfrm>
            <a:prstGeom prst="rect">
              <a:avLst/>
            </a:prstGeom>
            <a:effectLst/>
          </p:spPr>
        </p:pic>
        <p:sp>
          <p:nvSpPr>
            <p:cNvPr id="34" name="内容占位符 2"/>
            <p:cNvSpPr txBox="1">
              <a:spLocks/>
            </p:cNvSpPr>
            <p:nvPr/>
          </p:nvSpPr>
          <p:spPr>
            <a:xfrm>
              <a:off x="1394985" y="1357304"/>
              <a:ext cx="374851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卷控制块</a:t>
              </a:r>
              <a:r>
                <a:rPr lang="en-US" altLang="zh-CN" dirty="0"/>
                <a:t> (</a:t>
              </a:r>
              <a:r>
                <a:rPr lang="zh-CN" altLang="en-US" dirty="0"/>
                <a:t>每个文件系统一个）</a:t>
              </a:r>
            </a:p>
          </p:txBody>
        </p:sp>
        <p:pic>
          <p:nvPicPr>
            <p:cNvPr id="18" name="图片 17" descr="小点1.png"/>
            <p:cNvPicPr>
              <a:picLocks noChangeAspect="1"/>
            </p:cNvPicPr>
            <p:nvPr/>
          </p:nvPicPr>
          <p:blipFill>
            <a:blip r:embed="rId3" cstate="print"/>
            <a:stretch>
              <a:fillRect/>
            </a:stretch>
          </p:blipFill>
          <p:spPr>
            <a:xfrm>
              <a:off x="1262422" y="1773232"/>
              <a:ext cx="151066" cy="148997"/>
            </a:xfrm>
            <a:prstGeom prst="rect">
              <a:avLst/>
            </a:prstGeom>
            <a:effectLst/>
          </p:spPr>
        </p:pic>
        <p:sp>
          <p:nvSpPr>
            <p:cNvPr id="19" name="内容占位符 2"/>
            <p:cNvSpPr txBox="1">
              <a:spLocks/>
            </p:cNvSpPr>
            <p:nvPr/>
          </p:nvSpPr>
          <p:spPr>
            <a:xfrm>
              <a:off x="1394985" y="1668456"/>
              <a:ext cx="3819957"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文件控制块</a:t>
              </a:r>
              <a:r>
                <a:rPr lang="en-US" altLang="zh-CN" dirty="0"/>
                <a:t> (</a:t>
              </a:r>
              <a:r>
                <a:rPr lang="zh-CN" altLang="en-US" dirty="0"/>
                <a:t>每个文件一个）</a:t>
              </a:r>
            </a:p>
          </p:txBody>
        </p:sp>
        <p:pic>
          <p:nvPicPr>
            <p:cNvPr id="20" name="图片 19" descr="小点1.png"/>
            <p:cNvPicPr>
              <a:picLocks noChangeAspect="1"/>
            </p:cNvPicPr>
            <p:nvPr/>
          </p:nvPicPr>
          <p:blipFill>
            <a:blip r:embed="rId3" cstate="print"/>
            <a:stretch>
              <a:fillRect/>
            </a:stretch>
          </p:blipFill>
          <p:spPr>
            <a:xfrm>
              <a:off x="1262422" y="2079622"/>
              <a:ext cx="155718" cy="153585"/>
            </a:xfrm>
            <a:prstGeom prst="rect">
              <a:avLst/>
            </a:prstGeom>
            <a:effectLst/>
          </p:spPr>
        </p:pic>
        <p:sp>
          <p:nvSpPr>
            <p:cNvPr id="21" name="内容占位符 2"/>
            <p:cNvSpPr txBox="1">
              <a:spLocks/>
            </p:cNvSpPr>
            <p:nvPr/>
          </p:nvSpPr>
          <p:spPr>
            <a:xfrm>
              <a:off x="1394985" y="1974846"/>
              <a:ext cx="3391329" cy="31115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目录节点</a:t>
              </a:r>
              <a:r>
                <a:rPr lang="en-US" altLang="zh-CN" dirty="0"/>
                <a:t>(</a:t>
              </a:r>
              <a:r>
                <a:rPr lang="zh-CN" altLang="en-US" dirty="0"/>
                <a:t>每个目录项一个）</a:t>
              </a:r>
            </a:p>
          </p:txBody>
        </p:sp>
      </p:grpSp>
      <p:grpSp>
        <p:nvGrpSpPr>
          <p:cNvPr id="3" name="组合 2"/>
          <p:cNvGrpSpPr/>
          <p:nvPr/>
        </p:nvGrpSpPr>
        <p:grpSpPr>
          <a:xfrm>
            <a:off x="767408" y="2894046"/>
            <a:ext cx="3084165" cy="696462"/>
            <a:chOff x="844893" y="2284410"/>
            <a:chExt cx="3084165" cy="696462"/>
          </a:xfrm>
        </p:grpSpPr>
        <p:sp>
          <p:nvSpPr>
            <p:cNvPr id="22" name="内容占位符 2"/>
            <p:cNvSpPr txBox="1">
              <a:spLocks/>
            </p:cNvSpPr>
            <p:nvPr/>
          </p:nvSpPr>
          <p:spPr>
            <a:xfrm>
              <a:off x="1142976" y="2284410"/>
              <a:ext cx="242889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持久存储在外存中</a:t>
              </a:r>
              <a:endParaRPr lang="en-US" altLang="zh-CN" dirty="0"/>
            </a:p>
          </p:txBody>
        </p:sp>
        <p:sp>
          <p:nvSpPr>
            <p:cNvPr id="23" name="TextBox 22"/>
            <p:cNvSpPr txBox="1"/>
            <p:nvPr/>
          </p:nvSpPr>
          <p:spPr>
            <a:xfrm>
              <a:off x="844893" y="2284410"/>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4" name="图片 23" descr="小点1.png"/>
            <p:cNvPicPr>
              <a:picLocks noChangeAspect="1"/>
            </p:cNvPicPr>
            <p:nvPr/>
          </p:nvPicPr>
          <p:blipFill>
            <a:blip r:embed="rId3" cstate="print"/>
            <a:stretch>
              <a:fillRect/>
            </a:stretch>
          </p:blipFill>
          <p:spPr>
            <a:xfrm>
              <a:off x="1262422" y="2727326"/>
              <a:ext cx="151066" cy="148997"/>
            </a:xfrm>
            <a:prstGeom prst="rect">
              <a:avLst/>
            </a:prstGeom>
            <a:effectLst/>
          </p:spPr>
        </p:pic>
        <p:sp>
          <p:nvSpPr>
            <p:cNvPr id="25" name="内容占位符 2"/>
            <p:cNvSpPr txBox="1">
              <a:spLocks/>
            </p:cNvSpPr>
            <p:nvPr/>
          </p:nvSpPr>
          <p:spPr>
            <a:xfrm>
              <a:off x="1394985" y="2622550"/>
              <a:ext cx="2534073"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存储设备的数据块中</a:t>
              </a:r>
            </a:p>
          </p:txBody>
        </p:sp>
      </p:grpSp>
      <p:grpSp>
        <p:nvGrpSpPr>
          <p:cNvPr id="4" name="组合 3"/>
          <p:cNvGrpSpPr/>
          <p:nvPr/>
        </p:nvGrpSpPr>
        <p:grpSpPr>
          <a:xfrm>
            <a:off x="767408" y="3538576"/>
            <a:ext cx="2869851" cy="428628"/>
            <a:chOff x="844893" y="2928940"/>
            <a:chExt cx="2869851" cy="428628"/>
          </a:xfrm>
        </p:grpSpPr>
        <p:sp>
          <p:nvSpPr>
            <p:cNvPr id="36" name="内容占位符 2"/>
            <p:cNvSpPr txBox="1">
              <a:spLocks/>
            </p:cNvSpPr>
            <p:nvPr/>
          </p:nvSpPr>
          <p:spPr>
            <a:xfrm>
              <a:off x="1142976" y="2928940"/>
              <a:ext cx="2571768"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当需要时加载进内存</a:t>
              </a:r>
              <a:endParaRPr lang="en-US" altLang="zh-CN" dirty="0"/>
            </a:p>
          </p:txBody>
        </p:sp>
        <p:sp>
          <p:nvSpPr>
            <p:cNvPr id="40" name="TextBox 39"/>
            <p:cNvSpPr txBox="1"/>
            <p:nvPr/>
          </p:nvSpPr>
          <p:spPr>
            <a:xfrm>
              <a:off x="844893" y="2928940"/>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5" name="组合 4"/>
          <p:cNvGrpSpPr/>
          <p:nvPr/>
        </p:nvGrpSpPr>
        <p:grpSpPr>
          <a:xfrm>
            <a:off x="1184933" y="3876716"/>
            <a:ext cx="5024090" cy="358322"/>
            <a:chOff x="1262422" y="3267080"/>
            <a:chExt cx="5024090" cy="358322"/>
          </a:xfrm>
        </p:grpSpPr>
        <p:pic>
          <p:nvPicPr>
            <p:cNvPr id="41" name="图片 40" descr="小点1.png"/>
            <p:cNvPicPr>
              <a:picLocks noChangeAspect="1"/>
            </p:cNvPicPr>
            <p:nvPr/>
          </p:nvPicPr>
          <p:blipFill>
            <a:blip r:embed="rId3" cstate="print"/>
            <a:stretch>
              <a:fillRect/>
            </a:stretch>
          </p:blipFill>
          <p:spPr>
            <a:xfrm>
              <a:off x="1262422" y="3371856"/>
              <a:ext cx="151066" cy="148997"/>
            </a:xfrm>
            <a:prstGeom prst="rect">
              <a:avLst/>
            </a:prstGeom>
            <a:effectLst/>
          </p:spPr>
        </p:pic>
        <p:sp>
          <p:nvSpPr>
            <p:cNvPr id="42" name="内容占位符 2"/>
            <p:cNvSpPr txBox="1">
              <a:spLocks/>
            </p:cNvSpPr>
            <p:nvPr/>
          </p:nvSpPr>
          <p:spPr>
            <a:xfrm>
              <a:off x="1394985" y="3267080"/>
              <a:ext cx="4891527"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卷控制模块</a:t>
              </a:r>
              <a:r>
                <a:rPr lang="en-US" altLang="zh-CN" dirty="0"/>
                <a:t> : </a:t>
              </a:r>
              <a:r>
                <a:rPr lang="zh-CN" altLang="en-US" dirty="0"/>
                <a:t>当文件系统挂载时进入内存</a:t>
              </a:r>
            </a:p>
          </p:txBody>
        </p:sp>
      </p:grpSp>
      <p:grpSp>
        <p:nvGrpSpPr>
          <p:cNvPr id="6" name="组合 5"/>
          <p:cNvGrpSpPr/>
          <p:nvPr/>
        </p:nvGrpSpPr>
        <p:grpSpPr>
          <a:xfrm>
            <a:off x="1184933" y="4187868"/>
            <a:ext cx="4595462" cy="358322"/>
            <a:chOff x="1262422" y="3578232"/>
            <a:chExt cx="4595462" cy="358322"/>
          </a:xfrm>
        </p:grpSpPr>
        <p:pic>
          <p:nvPicPr>
            <p:cNvPr id="45" name="图片 44" descr="小点1.png"/>
            <p:cNvPicPr>
              <a:picLocks noChangeAspect="1"/>
            </p:cNvPicPr>
            <p:nvPr/>
          </p:nvPicPr>
          <p:blipFill>
            <a:blip r:embed="rId3" cstate="print"/>
            <a:stretch>
              <a:fillRect/>
            </a:stretch>
          </p:blipFill>
          <p:spPr>
            <a:xfrm>
              <a:off x="1262422" y="3683008"/>
              <a:ext cx="151066" cy="148997"/>
            </a:xfrm>
            <a:prstGeom prst="rect">
              <a:avLst/>
            </a:prstGeom>
            <a:effectLst/>
          </p:spPr>
        </p:pic>
        <p:sp>
          <p:nvSpPr>
            <p:cNvPr id="46" name="内容占位符 2"/>
            <p:cNvSpPr txBox="1">
              <a:spLocks/>
            </p:cNvSpPr>
            <p:nvPr/>
          </p:nvSpPr>
          <p:spPr>
            <a:xfrm>
              <a:off x="1394985" y="3578232"/>
              <a:ext cx="446289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文件控制块</a:t>
              </a:r>
              <a:r>
                <a:rPr lang="en-US" altLang="zh-CN" dirty="0"/>
                <a:t>: </a:t>
              </a:r>
              <a:r>
                <a:rPr lang="zh-CN" altLang="en-US" dirty="0"/>
                <a:t>当文件被访问时进入每次</a:t>
              </a:r>
            </a:p>
          </p:txBody>
        </p:sp>
      </p:grpSp>
      <p:grpSp>
        <p:nvGrpSpPr>
          <p:cNvPr id="7" name="组合 6"/>
          <p:cNvGrpSpPr/>
          <p:nvPr/>
        </p:nvGrpSpPr>
        <p:grpSpPr>
          <a:xfrm>
            <a:off x="1184933" y="4494258"/>
            <a:ext cx="5166966" cy="311152"/>
            <a:chOff x="1262422" y="3884622"/>
            <a:chExt cx="5166966" cy="311152"/>
          </a:xfrm>
        </p:grpSpPr>
        <p:pic>
          <p:nvPicPr>
            <p:cNvPr id="47" name="图片 46" descr="小点1.png"/>
            <p:cNvPicPr>
              <a:picLocks noChangeAspect="1"/>
            </p:cNvPicPr>
            <p:nvPr/>
          </p:nvPicPr>
          <p:blipFill>
            <a:blip r:embed="rId3" cstate="print"/>
            <a:stretch>
              <a:fillRect/>
            </a:stretch>
          </p:blipFill>
          <p:spPr>
            <a:xfrm>
              <a:off x="1262422" y="3989398"/>
              <a:ext cx="155718" cy="153585"/>
            </a:xfrm>
            <a:prstGeom prst="rect">
              <a:avLst/>
            </a:prstGeom>
            <a:effectLst/>
          </p:spPr>
        </p:pic>
        <p:sp>
          <p:nvSpPr>
            <p:cNvPr id="48" name="内容占位符 2"/>
            <p:cNvSpPr txBox="1">
              <a:spLocks/>
            </p:cNvSpPr>
            <p:nvPr/>
          </p:nvSpPr>
          <p:spPr>
            <a:xfrm>
              <a:off x="1394985" y="3884622"/>
              <a:ext cx="5034403" cy="31115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目录节点</a:t>
              </a:r>
              <a:r>
                <a:rPr lang="en-US" altLang="zh-CN" dirty="0"/>
                <a:t>: </a:t>
              </a:r>
              <a:r>
                <a:rPr lang="zh-CN" altLang="en-US" dirty="0"/>
                <a:t>在遍历一个文件路径时进入内存</a:t>
              </a:r>
            </a:p>
          </p:txBody>
        </p:sp>
      </p:grpSp>
      <p:sp>
        <p:nvSpPr>
          <p:cNvPr id="10" name="文本框 9">
            <a:extLst>
              <a:ext uri="{FF2B5EF4-FFF2-40B4-BE49-F238E27FC236}">
                <a16:creationId xmlns:a16="http://schemas.microsoft.com/office/drawing/2014/main" id="{D089497B-F38E-4E4C-4291-68AEC857D0AB}"/>
              </a:ext>
            </a:extLst>
          </p:cNvPr>
          <p:cNvSpPr txBox="1"/>
          <p:nvPr/>
        </p:nvSpPr>
        <p:spPr>
          <a:xfrm>
            <a:off x="2999656" y="5118215"/>
            <a:ext cx="6192688" cy="867930"/>
          </a:xfrm>
          <a:prstGeom prst="rect">
            <a:avLst/>
          </a:prstGeom>
          <a:noFill/>
        </p:spPr>
        <p:txBody>
          <a:bodyPr wrap="square" rtlCol="0">
            <a:spAutoFit/>
          </a:bodyPr>
          <a:lstStyle/>
          <a:p>
            <a:pPr>
              <a:buNone/>
            </a:pPr>
            <a:r>
              <a:rPr lang="zh-CN" altLang="en-US" dirty="0">
                <a:latin typeface="微软雅黑" panose="020B0503020204020204" pitchFamily="34" charset="-122"/>
                <a:ea typeface="微软雅黑" panose="020B0503020204020204" pitchFamily="34" charset="-122"/>
              </a:rPr>
              <a:t>卷控制块放在固定的位置，以便快速加载</a:t>
            </a:r>
            <a:endParaRPr lang="en-US" altLang="zh-CN" dirty="0">
              <a:latin typeface="微软雅黑" panose="020B0503020204020204" pitchFamily="34" charset="-122"/>
              <a:ea typeface="微软雅黑" panose="020B0503020204020204" pitchFamily="34" charset="-122"/>
            </a:endParaRPr>
          </a:p>
          <a:p>
            <a:pPr>
              <a:buNone/>
            </a:pPr>
            <a:r>
              <a:rPr lang="zh-CN" altLang="en-US" dirty="0">
                <a:latin typeface="微软雅黑" panose="020B0503020204020204" pitchFamily="34" charset="-122"/>
                <a:ea typeface="微软雅黑" panose="020B0503020204020204" pitchFamily="34" charset="-122"/>
              </a:rPr>
              <a:t>卷控制块中记录了目录树的起点，便于快速恢复文件树</a:t>
            </a:r>
            <a:endParaRPr lang="en-US" altLang="zh-CN" dirty="0">
              <a:latin typeface="微软雅黑" panose="020B0503020204020204" pitchFamily="34" charset="-122"/>
              <a:ea typeface="微软雅黑" panose="020B0503020204020204" pitchFamily="34" charset="-122"/>
            </a:endParaRPr>
          </a:p>
          <a:p>
            <a:pPr>
              <a:buNone/>
            </a:pPr>
            <a:r>
              <a:rPr lang="zh-CN" altLang="en-US" dirty="0">
                <a:latin typeface="微软雅黑" panose="020B0503020204020204" pitchFamily="34" charset="-122"/>
                <a:ea typeface="微软雅黑" panose="020B0503020204020204" pitchFamily="34" charset="-122"/>
              </a:rPr>
              <a:t>目录（文件夹）中记录了文件的起点，以便快速读取</a:t>
            </a:r>
          </a:p>
        </p:txBody>
      </p:sp>
      <p:sp>
        <p:nvSpPr>
          <p:cNvPr id="11" name="文本框 10">
            <a:extLst>
              <a:ext uri="{FF2B5EF4-FFF2-40B4-BE49-F238E27FC236}">
                <a16:creationId xmlns:a16="http://schemas.microsoft.com/office/drawing/2014/main" id="{8D6F40DF-9D1F-9290-1F1A-AB1D3BE32972}"/>
              </a:ext>
            </a:extLst>
          </p:cNvPr>
          <p:cNvSpPr txBox="1"/>
          <p:nvPr/>
        </p:nvSpPr>
        <p:spPr>
          <a:xfrm>
            <a:off x="3143672" y="6046853"/>
            <a:ext cx="5616624" cy="313932"/>
          </a:xfrm>
          <a:prstGeom prst="rect">
            <a:avLst/>
          </a:prstGeom>
          <a:noFill/>
        </p:spPr>
        <p:txBody>
          <a:bodyPr wrap="square" rtlCol="0">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rPr>
              <a:t>！！！这些节点坏了怎么办？</a:t>
            </a:r>
          </a:p>
        </p:txBody>
      </p:sp>
      <p:sp>
        <p:nvSpPr>
          <p:cNvPr id="15" name="标题 14">
            <a:extLst>
              <a:ext uri="{FF2B5EF4-FFF2-40B4-BE49-F238E27FC236}">
                <a16:creationId xmlns:a16="http://schemas.microsoft.com/office/drawing/2014/main" id="{4575F9FC-1930-2257-D23A-DC6A2663CD9D}"/>
              </a:ext>
            </a:extLst>
          </p:cNvPr>
          <p:cNvSpPr>
            <a:spLocks noGrp="1"/>
          </p:cNvSpPr>
          <p:nvPr>
            <p:ph type="title"/>
          </p:nvPr>
        </p:nvSpPr>
        <p:spPr/>
        <p:txBody>
          <a:bodyPr>
            <a:normAutofit/>
          </a:bodyPr>
          <a:lstStyle/>
          <a:p>
            <a:r>
              <a:rPr lang="zh-CN" altLang="en-US" dirty="0"/>
              <a:t>文件系统的存储结构</a:t>
            </a:r>
          </a:p>
        </p:txBody>
      </p:sp>
      <p:sp>
        <p:nvSpPr>
          <p:cNvPr id="17" name="灯片编号占位符 16">
            <a:extLst>
              <a:ext uri="{FF2B5EF4-FFF2-40B4-BE49-F238E27FC236}">
                <a16:creationId xmlns:a16="http://schemas.microsoft.com/office/drawing/2014/main" id="{794963B3-A34C-E0B4-C234-E39196B1CAEA}"/>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22</a:t>
            </a:fld>
            <a:endParaRPr lang="zh-CN" altLang="en-US" dirty="0"/>
          </a:p>
        </p:txBody>
      </p:sp>
    </p:spTree>
    <p:extLst>
      <p:ext uri="{BB962C8B-B14F-4D97-AF65-F5344CB8AC3E}">
        <p14:creationId xmlns:p14="http://schemas.microsoft.com/office/powerpoint/2010/main" val="2770813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
                                            <p:txEl>
                                              <p:pRg st="0" end="0"/>
                                            </p:txEl>
                                          </p:spTgt>
                                        </p:tgtEl>
                                        <p:attrNameLst>
                                          <p:attrName>style.visibility</p:attrName>
                                        </p:attrNameLst>
                                      </p:cBhvr>
                                      <p:to>
                                        <p:strVal val="visible"/>
                                      </p:to>
                                    </p:set>
                                    <p:anim calcmode="lin" valueType="num">
                                      <p:cBhvr additive="base">
                                        <p:cTn id="43"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1628800"/>
            <a:ext cx="5870247" cy="695330"/>
            <a:chOff x="844893" y="750631"/>
            <a:chExt cx="5870247" cy="695330"/>
          </a:xfrm>
        </p:grpSpPr>
        <p:sp>
          <p:nvSpPr>
            <p:cNvPr id="9" name="内容占位符 2"/>
            <p:cNvSpPr txBox="1">
              <a:spLocks/>
            </p:cNvSpPr>
            <p:nvPr/>
          </p:nvSpPr>
          <p:spPr>
            <a:xfrm>
              <a:off x="1142976" y="750631"/>
              <a:ext cx="171451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文件访问模式</a:t>
              </a:r>
            </a:p>
          </p:txBody>
        </p:sp>
        <p:sp>
          <p:nvSpPr>
            <p:cNvPr id="12" name="TextBox 11"/>
            <p:cNvSpPr txBox="1"/>
            <p:nvPr/>
          </p:nvSpPr>
          <p:spPr>
            <a:xfrm>
              <a:off x="844893" y="750631"/>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9" name="图片 28" descr="小点1.png"/>
            <p:cNvPicPr>
              <a:picLocks noChangeAspect="1"/>
            </p:cNvPicPr>
            <p:nvPr/>
          </p:nvPicPr>
          <p:blipFill>
            <a:blip r:embed="rId2" cstate="print"/>
            <a:stretch>
              <a:fillRect/>
            </a:stretch>
          </p:blipFill>
          <p:spPr>
            <a:xfrm>
              <a:off x="1262422" y="1192415"/>
              <a:ext cx="151066" cy="148997"/>
            </a:xfrm>
            <a:prstGeom prst="rect">
              <a:avLst/>
            </a:prstGeom>
            <a:effectLst/>
          </p:spPr>
        </p:pic>
        <p:sp>
          <p:nvSpPr>
            <p:cNvPr id="30" name="内容占位符 2"/>
            <p:cNvSpPr txBox="1">
              <a:spLocks/>
            </p:cNvSpPr>
            <p:nvPr/>
          </p:nvSpPr>
          <p:spPr>
            <a:xfrm>
              <a:off x="1394985" y="1087639"/>
              <a:ext cx="5320155"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进程访问文件数据前必须先“打开”文件</a:t>
              </a: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sp>
        <p:nvSpPr>
          <p:cNvPr id="14" name="内容占位符 2"/>
          <p:cNvSpPr txBox="1">
            <a:spLocks/>
          </p:cNvSpPr>
          <p:nvPr/>
        </p:nvSpPr>
        <p:spPr>
          <a:xfrm>
            <a:off x="1317500" y="2328892"/>
            <a:ext cx="3177015" cy="1357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1" eaLnBrk="1" fontAlgn="auto" hangingPunct="1">
              <a:spcBef>
                <a:spcPts val="0"/>
              </a:spcBef>
              <a:spcAft>
                <a:spcPts val="0"/>
              </a:spcAft>
              <a:buSzTx/>
            </a:pPr>
            <a:r>
              <a:rPr lang="en-US" altLang="zh-CN" dirty="0"/>
              <a:t>f = open(name, flag);</a:t>
            </a:r>
          </a:p>
          <a:p>
            <a:pPr lvl="1" eaLnBrk="1" fontAlgn="auto" hangingPunct="1">
              <a:spcBef>
                <a:spcPts val="0"/>
              </a:spcBef>
              <a:spcAft>
                <a:spcPts val="0"/>
              </a:spcAft>
              <a:buSzTx/>
            </a:pPr>
            <a:r>
              <a:rPr lang="en-US" altLang="zh-CN" dirty="0"/>
              <a:t>…</a:t>
            </a:r>
          </a:p>
          <a:p>
            <a:pPr lvl="1" eaLnBrk="1" fontAlgn="auto" hangingPunct="1">
              <a:spcBef>
                <a:spcPts val="0"/>
              </a:spcBef>
              <a:spcAft>
                <a:spcPts val="0"/>
              </a:spcAft>
              <a:buSzTx/>
            </a:pPr>
            <a:r>
              <a:rPr lang="en-US" altLang="zh-CN" dirty="0"/>
              <a:t>read(f, …);</a:t>
            </a:r>
          </a:p>
          <a:p>
            <a:pPr lvl="1" eaLnBrk="1" fontAlgn="auto" hangingPunct="1">
              <a:spcBef>
                <a:spcPts val="0"/>
              </a:spcBef>
              <a:spcAft>
                <a:spcPts val="0"/>
              </a:spcAft>
              <a:buSzTx/>
            </a:pPr>
            <a:r>
              <a:rPr lang="en-US" altLang="zh-CN" dirty="0"/>
              <a:t>…</a:t>
            </a:r>
          </a:p>
          <a:p>
            <a:pPr lvl="1" eaLnBrk="1" fontAlgn="auto" hangingPunct="1">
              <a:spcBef>
                <a:spcPts val="0"/>
              </a:spcBef>
              <a:spcAft>
                <a:spcPts val="0"/>
              </a:spcAft>
              <a:buSzTx/>
            </a:pPr>
            <a:r>
              <a:rPr lang="en-US" altLang="zh-CN" dirty="0"/>
              <a:t>close(f);</a:t>
            </a:r>
            <a:endParaRPr lang="zh-CN" altLang="en-US" dirty="0"/>
          </a:p>
        </p:txBody>
      </p:sp>
      <p:sp>
        <p:nvSpPr>
          <p:cNvPr id="5" name="标题 4">
            <a:extLst>
              <a:ext uri="{FF2B5EF4-FFF2-40B4-BE49-F238E27FC236}">
                <a16:creationId xmlns:a16="http://schemas.microsoft.com/office/drawing/2014/main" id="{6DCE0590-AC93-6CAE-9DF6-0F63820CEFC1}"/>
              </a:ext>
            </a:extLst>
          </p:cNvPr>
          <p:cNvSpPr>
            <a:spLocks noGrp="1"/>
          </p:cNvSpPr>
          <p:nvPr>
            <p:ph type="title"/>
          </p:nvPr>
        </p:nvSpPr>
        <p:spPr/>
        <p:txBody>
          <a:bodyPr/>
          <a:lstStyle/>
          <a:p>
            <a:r>
              <a:rPr lang="zh-CN" altLang="en-US" dirty="0"/>
              <a:t>打开文件和文件描述符</a:t>
            </a:r>
          </a:p>
        </p:txBody>
      </p:sp>
      <p:sp>
        <p:nvSpPr>
          <p:cNvPr id="7" name="灯片编号占位符 6">
            <a:extLst>
              <a:ext uri="{FF2B5EF4-FFF2-40B4-BE49-F238E27FC236}">
                <a16:creationId xmlns:a16="http://schemas.microsoft.com/office/drawing/2014/main" id="{BF0B63B7-3472-A939-499A-57872667C4B6}"/>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23</a:t>
            </a:fld>
            <a:endParaRPr lang="zh-CN" altLang="en-US" dirty="0"/>
          </a:p>
        </p:txBody>
      </p:sp>
    </p:spTree>
    <p:extLst>
      <p:ext uri="{BB962C8B-B14F-4D97-AF65-F5344CB8AC3E}">
        <p14:creationId xmlns:p14="http://schemas.microsoft.com/office/powerpoint/2010/main" val="268493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sp>
        <p:nvSpPr>
          <p:cNvPr id="5" name="标题 4">
            <a:extLst>
              <a:ext uri="{FF2B5EF4-FFF2-40B4-BE49-F238E27FC236}">
                <a16:creationId xmlns:a16="http://schemas.microsoft.com/office/drawing/2014/main" id="{6DCE0590-AC93-6CAE-9DF6-0F63820CEFC1}"/>
              </a:ext>
            </a:extLst>
          </p:cNvPr>
          <p:cNvSpPr>
            <a:spLocks noGrp="1"/>
          </p:cNvSpPr>
          <p:nvPr>
            <p:ph type="title"/>
          </p:nvPr>
        </p:nvSpPr>
        <p:spPr/>
        <p:txBody>
          <a:bodyPr/>
          <a:lstStyle/>
          <a:p>
            <a:r>
              <a:rPr lang="zh-CN" altLang="en-US" dirty="0"/>
              <a:t>打开文件和文件描述符</a:t>
            </a:r>
          </a:p>
        </p:txBody>
      </p:sp>
      <p:sp>
        <p:nvSpPr>
          <p:cNvPr id="7" name="灯片编号占位符 6">
            <a:extLst>
              <a:ext uri="{FF2B5EF4-FFF2-40B4-BE49-F238E27FC236}">
                <a16:creationId xmlns:a16="http://schemas.microsoft.com/office/drawing/2014/main" id="{BF0B63B7-3472-A939-499A-57872667C4B6}"/>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24</a:t>
            </a:fld>
            <a:endParaRPr lang="zh-CN" altLang="en-US" dirty="0"/>
          </a:p>
        </p:txBody>
      </p:sp>
      <p:sp>
        <p:nvSpPr>
          <p:cNvPr id="11" name="内容占位符 2">
            <a:extLst>
              <a:ext uri="{FF2B5EF4-FFF2-40B4-BE49-F238E27FC236}">
                <a16:creationId xmlns:a16="http://schemas.microsoft.com/office/drawing/2014/main" id="{B353A1B8-B29A-4066-96BF-20F88DA281CB}"/>
              </a:ext>
            </a:extLst>
          </p:cNvPr>
          <p:cNvSpPr>
            <a:spLocks noGrp="1"/>
          </p:cNvSpPr>
          <p:nvPr>
            <p:ph idx="1"/>
          </p:nvPr>
        </p:nvSpPr>
        <p:spPr>
          <a:xfrm>
            <a:off x="1631504" y="1628800"/>
            <a:ext cx="8779411" cy="5013851"/>
          </a:xfrm>
        </p:spPr>
        <p:txBody>
          <a:bodyPr/>
          <a:lstStyle/>
          <a:p>
            <a:pPr marL="0" indent="0">
              <a:lnSpc>
                <a:spcPct val="80000"/>
              </a:lnSpc>
              <a:buNone/>
            </a:pPr>
            <a:r>
              <a:rPr lang="en-US" sz="2000" b="1" dirty="0">
                <a:latin typeface="Times New Roman" panose="02020603050405020304" pitchFamily="18" charset="0"/>
                <a:cs typeface="Times New Roman" panose="02020603050405020304" pitchFamily="18" charset="0"/>
              </a:rPr>
              <a:t>#include &lt;</a:t>
            </a:r>
            <a:r>
              <a:rPr lang="en-US" sz="2000" b="1" dirty="0" err="1">
                <a:latin typeface="Times New Roman" panose="02020603050405020304" pitchFamily="18" charset="0"/>
                <a:cs typeface="Times New Roman" panose="02020603050405020304" pitchFamily="18" charset="0"/>
              </a:rPr>
              <a:t>stdio.h</a:t>
            </a:r>
            <a:r>
              <a:rPr lang="en-US" sz="2000" b="1" dirty="0">
                <a:latin typeface="Times New Roman" panose="02020603050405020304" pitchFamily="18" charset="0"/>
                <a:cs typeface="Times New Roman" panose="02020603050405020304" pitchFamily="18" charset="0"/>
              </a:rPr>
              <a:t>&gt; #include &lt;</a:t>
            </a:r>
            <a:r>
              <a:rPr lang="en-US" sz="2000" b="1" dirty="0" err="1">
                <a:latin typeface="Times New Roman" panose="02020603050405020304" pitchFamily="18" charset="0"/>
                <a:cs typeface="Times New Roman" panose="02020603050405020304" pitchFamily="18" charset="0"/>
              </a:rPr>
              <a:t>stdlib.h</a:t>
            </a:r>
            <a:r>
              <a:rPr lang="en-US" sz="2000" b="1" dirty="0">
                <a:latin typeface="Times New Roman" panose="02020603050405020304" pitchFamily="18" charset="0"/>
                <a:cs typeface="Times New Roman" panose="02020603050405020304" pitchFamily="18" charset="0"/>
              </a:rPr>
              <a:t>&gt; #include &lt;</a:t>
            </a:r>
            <a:r>
              <a:rPr lang="en-US" sz="2000" b="1" dirty="0" err="1">
                <a:latin typeface="Times New Roman" panose="02020603050405020304" pitchFamily="18" charset="0"/>
                <a:cs typeface="Times New Roman" panose="02020603050405020304" pitchFamily="18" charset="0"/>
              </a:rPr>
              <a:t>unistd.h</a:t>
            </a:r>
            <a:r>
              <a:rPr lang="en-US" sz="2000" b="1" dirty="0">
                <a:latin typeface="Times New Roman" panose="02020603050405020304" pitchFamily="18" charset="0"/>
                <a:cs typeface="Times New Roman" panose="02020603050405020304" pitchFamily="18" charset="0"/>
              </a:rPr>
              <a:t>&gt; #include &lt;</a:t>
            </a:r>
            <a:r>
              <a:rPr lang="en-US" sz="2000" b="1" dirty="0" err="1">
                <a:latin typeface="Times New Roman" panose="02020603050405020304" pitchFamily="18" charset="0"/>
                <a:cs typeface="Times New Roman" panose="02020603050405020304" pitchFamily="18" charset="0"/>
              </a:rPr>
              <a:t>fcntl.h</a:t>
            </a:r>
            <a:r>
              <a:rPr lang="en-US" sz="2000" b="1" dirty="0">
                <a:latin typeface="Times New Roman" panose="02020603050405020304" pitchFamily="18" charset="0"/>
                <a:cs typeface="Times New Roman" panose="02020603050405020304" pitchFamily="18" charset="0"/>
              </a:rPr>
              <a:t>&gt;</a:t>
            </a:r>
          </a:p>
          <a:p>
            <a:pPr marL="0" indent="0">
              <a:lnSpc>
                <a:spcPct val="80000"/>
              </a:lnSpc>
              <a:buNone/>
            </a:pP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main(</a:t>
            </a: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argc</a:t>
            </a:r>
            <a:r>
              <a:rPr lang="en-US" sz="2000" b="1" dirty="0">
                <a:latin typeface="Times New Roman" panose="02020603050405020304" pitchFamily="18" charset="0"/>
                <a:cs typeface="Times New Roman" panose="02020603050405020304" pitchFamily="18" charset="0"/>
              </a:rPr>
              <a:t>, char *</a:t>
            </a:r>
            <a:r>
              <a:rPr lang="en-US" sz="2000" b="1" dirty="0" err="1">
                <a:latin typeface="Times New Roman" panose="02020603050405020304" pitchFamily="18" charset="0"/>
                <a:cs typeface="Times New Roman" panose="02020603050405020304" pitchFamily="18" charset="0"/>
              </a:rPr>
              <a:t>argv</a:t>
            </a:r>
            <a:r>
              <a:rPr lang="en-US" sz="2000" b="1" dirty="0">
                <a:latin typeface="Times New Roman" panose="02020603050405020304" pitchFamily="18" charset="0"/>
                <a:cs typeface="Times New Roman" panose="02020603050405020304" pitchFamily="18" charset="0"/>
              </a:rPr>
              <a:t>[])</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fd</a:t>
            </a:r>
            <a:r>
              <a:rPr lang="en-US" sz="2000" b="1" dirty="0">
                <a:latin typeface="Times New Roman" panose="02020603050405020304" pitchFamily="18" charset="0"/>
                <a:cs typeface="Times New Roman" panose="02020603050405020304" pitchFamily="18" charset="0"/>
              </a:rPr>
              <a:t> = -1;  </a:t>
            </a: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ret = 1;  </a:t>
            </a: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buffer = 1024;  </a:t>
            </a: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num</a:t>
            </a:r>
            <a:r>
              <a:rPr lang="en-US" sz="2000" b="1" dirty="0">
                <a:latin typeface="Times New Roman" panose="02020603050405020304" pitchFamily="18" charset="0"/>
                <a:cs typeface="Times New Roman" panose="02020603050405020304" pitchFamily="18" charset="0"/>
              </a:rPr>
              <a:t> = 0;  </a:t>
            </a:r>
          </a:p>
          <a:p>
            <a:pPr marL="0" indent="0">
              <a:lnSpc>
                <a:spcPct val="80000"/>
              </a:lnSpc>
              <a:buNone/>
            </a:pPr>
            <a:r>
              <a:rPr lang="en-US" sz="2000" b="1" dirty="0">
                <a:latin typeface="Times New Roman" panose="02020603050405020304" pitchFamily="18" charset="0"/>
                <a:cs typeface="Times New Roman" panose="02020603050405020304" pitchFamily="18" charset="0"/>
              </a:rPr>
              <a:t>     if((</a:t>
            </a:r>
            <a:r>
              <a:rPr lang="en-US" sz="2000" b="1" dirty="0" err="1">
                <a:solidFill>
                  <a:srgbClr val="FF0000"/>
                </a:solidFill>
                <a:latin typeface="Times New Roman" panose="02020603050405020304" pitchFamily="18" charset="0"/>
                <a:cs typeface="Times New Roman" panose="02020603050405020304" pitchFamily="18" charset="0"/>
              </a:rPr>
              <a:t>fd</a:t>
            </a:r>
            <a:r>
              <a:rPr lang="en-US" sz="2000" b="1" dirty="0">
                <a:solidFill>
                  <a:srgbClr val="FF0000"/>
                </a:solidFill>
                <a:latin typeface="Times New Roman" panose="02020603050405020304" pitchFamily="18" charset="0"/>
                <a:cs typeface="Times New Roman" panose="02020603050405020304" pitchFamily="18" charset="0"/>
              </a:rPr>
              <a:t>=open("./test", O_RDWR|O_CREAT|O_TRUNC))</a:t>
            </a:r>
            <a:r>
              <a:rPr lang="en-US" sz="2000" b="1" dirty="0">
                <a:latin typeface="Times New Roman" panose="02020603050405020304" pitchFamily="18" charset="0"/>
                <a:cs typeface="Times New Roman" panose="02020603050405020304" pitchFamily="18" charset="0"/>
              </a:rPr>
              <a:t> == -1) {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printf</a:t>
            </a:r>
            <a:r>
              <a:rPr lang="en-US" sz="2000" b="1" dirty="0">
                <a:latin typeface="Times New Roman" panose="02020603050405020304" pitchFamily="18" charset="0"/>
                <a:cs typeface="Times New Roman" panose="02020603050405020304" pitchFamily="18" charset="0"/>
              </a:rPr>
              <a:t>("Open Error\n");   exit(1);}  </a:t>
            </a:r>
          </a:p>
          <a:p>
            <a:pPr marL="0" indent="0">
              <a:lnSpc>
                <a:spcPct val="80000"/>
              </a:lnSpc>
              <a:buNone/>
            </a:pPr>
            <a:r>
              <a:rPr lang="en-US" sz="2000" b="1" dirty="0">
                <a:latin typeface="Times New Roman" panose="02020603050405020304" pitchFamily="18" charset="0"/>
                <a:cs typeface="Times New Roman" panose="02020603050405020304" pitchFamily="18" charset="0"/>
              </a:rPr>
              <a:t>     ret = write(</a:t>
            </a:r>
            <a:r>
              <a:rPr lang="en-US" sz="2000" b="1" dirty="0" err="1">
                <a:solidFill>
                  <a:srgbClr val="FF0000"/>
                </a:solidFill>
                <a:latin typeface="Times New Roman" panose="02020603050405020304" pitchFamily="18" charset="0"/>
                <a:cs typeface="Times New Roman" panose="02020603050405020304" pitchFamily="18" charset="0"/>
              </a:rPr>
              <a:t>fd</a:t>
            </a:r>
            <a:r>
              <a:rPr lang="en-US" sz="2000" b="1" dirty="0">
                <a:latin typeface="Times New Roman" panose="02020603050405020304" pitchFamily="18" charset="0"/>
                <a:cs typeface="Times New Roman" panose="02020603050405020304" pitchFamily="18" charset="0"/>
              </a:rPr>
              <a:t>, &amp;buffer, </a:t>
            </a:r>
            <a:r>
              <a:rPr lang="en-US" sz="2000" b="1" dirty="0" err="1">
                <a:latin typeface="Times New Roman" panose="02020603050405020304" pitchFamily="18" charset="0"/>
                <a:cs typeface="Times New Roman" panose="02020603050405020304" pitchFamily="18" charset="0"/>
              </a:rPr>
              <a:t>sizeof</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a:t>
            </a:r>
          </a:p>
          <a:p>
            <a:pPr marL="0" indent="0">
              <a:lnSpc>
                <a:spcPct val="80000"/>
              </a:lnSpc>
              <a:buNone/>
            </a:pPr>
            <a:r>
              <a:rPr lang="en-US" sz="2000" b="1" dirty="0">
                <a:latin typeface="Times New Roman" panose="02020603050405020304" pitchFamily="18" charset="0"/>
                <a:cs typeface="Times New Roman" panose="02020603050405020304" pitchFamily="18" charset="0"/>
              </a:rPr>
              <a:t>     if(ret &lt; 0) {</a:t>
            </a:r>
            <a:r>
              <a:rPr lang="en-US" sz="2000" b="1" dirty="0" err="1">
                <a:latin typeface="Times New Roman" panose="02020603050405020304" pitchFamily="18" charset="0"/>
                <a:cs typeface="Times New Roman" panose="02020603050405020304" pitchFamily="18" charset="0"/>
              </a:rPr>
              <a:t>printf</a:t>
            </a:r>
            <a:r>
              <a:rPr lang="en-US" sz="2000" b="1" dirty="0">
                <a:latin typeface="Times New Roman" panose="02020603050405020304" pitchFamily="18" charset="0"/>
                <a:cs typeface="Times New Roman" panose="02020603050405020304" pitchFamily="18" charset="0"/>
              </a:rPr>
              <a:t>("write Error\n");   exit(1);}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printf</a:t>
            </a:r>
            <a:r>
              <a:rPr lang="en-US" sz="2000" b="1" dirty="0">
                <a:latin typeface="Times New Roman" panose="02020603050405020304" pitchFamily="18" charset="0"/>
                <a:cs typeface="Times New Roman" panose="02020603050405020304" pitchFamily="18" charset="0"/>
              </a:rPr>
              <a:t>("write %d byte(s)\n", ret);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lseek</a:t>
            </a:r>
            <a:r>
              <a:rPr lang="en-US" sz="2000" b="1" dirty="0">
                <a:latin typeface="Times New Roman" panose="02020603050405020304" pitchFamily="18" charset="0"/>
                <a:cs typeface="Times New Roman" panose="02020603050405020304" pitchFamily="18" charset="0"/>
              </a:rPr>
              <a:t>(</a:t>
            </a:r>
            <a:r>
              <a:rPr lang="en-US" sz="2000" b="1" dirty="0" err="1">
                <a:solidFill>
                  <a:srgbClr val="FF0000"/>
                </a:solidFill>
                <a:latin typeface="Times New Roman" panose="02020603050405020304" pitchFamily="18" charset="0"/>
                <a:cs typeface="Times New Roman" panose="02020603050405020304" pitchFamily="18" charset="0"/>
              </a:rPr>
              <a:t>fd</a:t>
            </a:r>
            <a:r>
              <a:rPr lang="en-US" sz="2000" b="1" dirty="0">
                <a:latin typeface="Times New Roman" panose="02020603050405020304" pitchFamily="18" charset="0"/>
                <a:cs typeface="Times New Roman" panose="02020603050405020304" pitchFamily="18" charset="0"/>
              </a:rPr>
              <a:t>, 0L, SEEK_SET);  </a:t>
            </a:r>
          </a:p>
          <a:p>
            <a:pPr marL="0" indent="0">
              <a:lnSpc>
                <a:spcPct val="80000"/>
              </a:lnSpc>
              <a:buNone/>
            </a:pPr>
            <a:r>
              <a:rPr lang="en-US" sz="2000" b="1" dirty="0">
                <a:latin typeface="Times New Roman" panose="02020603050405020304" pitchFamily="18" charset="0"/>
                <a:cs typeface="Times New Roman" panose="02020603050405020304" pitchFamily="18" charset="0"/>
              </a:rPr>
              <a:t>     ret = read(</a:t>
            </a:r>
            <a:r>
              <a:rPr lang="en-US" sz="2000" b="1" dirty="0" err="1">
                <a:solidFill>
                  <a:srgbClr val="FF0000"/>
                </a:solidFill>
                <a:latin typeface="Times New Roman" panose="02020603050405020304" pitchFamily="18" charset="0"/>
                <a:cs typeface="Times New Roman" panose="02020603050405020304" pitchFamily="18" charset="0"/>
              </a:rPr>
              <a:t>fd</a:t>
            </a:r>
            <a:r>
              <a:rPr lang="en-US" sz="2000" b="1" dirty="0">
                <a:latin typeface="Times New Roman" panose="02020603050405020304" pitchFamily="18" charset="0"/>
                <a:cs typeface="Times New Roman" panose="02020603050405020304" pitchFamily="18" charset="0"/>
              </a:rPr>
              <a:t>, &amp;</a:t>
            </a:r>
            <a:r>
              <a:rPr lang="en-US" sz="2000" b="1" dirty="0" err="1">
                <a:latin typeface="Times New Roman" panose="02020603050405020304" pitchFamily="18" charset="0"/>
                <a:cs typeface="Times New Roman" panose="02020603050405020304" pitchFamily="18" charset="0"/>
              </a:rPr>
              <a:t>num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sizeof</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a:t>
            </a:r>
          </a:p>
          <a:p>
            <a:pPr marL="0" indent="0">
              <a:lnSpc>
                <a:spcPct val="80000"/>
              </a:lnSpc>
              <a:buNone/>
            </a:pPr>
            <a:r>
              <a:rPr lang="en-US" sz="2000" b="1" dirty="0">
                <a:latin typeface="Times New Roman" panose="02020603050405020304" pitchFamily="18" charset="0"/>
                <a:cs typeface="Times New Roman" panose="02020603050405020304" pitchFamily="18" charset="0"/>
              </a:rPr>
              <a:t>     if(ret == -1) {</a:t>
            </a:r>
            <a:r>
              <a:rPr lang="en-US" sz="2000" b="1" dirty="0" err="1">
                <a:latin typeface="Times New Roman" panose="02020603050405020304" pitchFamily="18" charset="0"/>
                <a:cs typeface="Times New Roman" panose="02020603050405020304" pitchFamily="18" charset="0"/>
              </a:rPr>
              <a:t>printf</a:t>
            </a:r>
            <a:r>
              <a:rPr lang="en-US" sz="2000" b="1" dirty="0">
                <a:latin typeface="Times New Roman" panose="02020603050405020304" pitchFamily="18" charset="0"/>
                <a:cs typeface="Times New Roman" panose="02020603050405020304" pitchFamily="18" charset="0"/>
              </a:rPr>
              <a:t>("read Error\n"); exit(1);}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printf</a:t>
            </a:r>
            <a:r>
              <a:rPr lang="en-US" sz="2000" b="1" dirty="0">
                <a:latin typeface="Times New Roman" panose="02020603050405020304" pitchFamily="18" charset="0"/>
                <a:cs typeface="Times New Roman" panose="02020603050405020304" pitchFamily="18" charset="0"/>
              </a:rPr>
              <a:t>("read %d byte(s), the number is %d\n", ret, </a:t>
            </a:r>
            <a:r>
              <a:rPr lang="en-US" sz="2000" b="1" dirty="0" err="1">
                <a:latin typeface="Times New Roman" panose="02020603050405020304" pitchFamily="18" charset="0"/>
                <a:cs typeface="Times New Roman" panose="02020603050405020304" pitchFamily="18" charset="0"/>
              </a:rPr>
              <a:t>num</a:t>
            </a:r>
            <a:r>
              <a:rPr lang="en-US" sz="2000" b="1" dirty="0">
                <a:latin typeface="Times New Roman" panose="02020603050405020304" pitchFamily="18" charset="0"/>
                <a:cs typeface="Times New Roman" panose="02020603050405020304" pitchFamily="18" charset="0"/>
              </a:rPr>
              <a:t>);  </a:t>
            </a:r>
          </a:p>
          <a:p>
            <a:pPr marL="0" indent="0">
              <a:lnSpc>
                <a:spcPct val="80000"/>
              </a:lnSpc>
              <a:buNone/>
            </a:pPr>
            <a:r>
              <a:rPr lang="en-US" sz="2000" b="1" dirty="0">
                <a:latin typeface="Times New Roman" panose="02020603050405020304" pitchFamily="18" charset="0"/>
                <a:cs typeface="Times New Roman" panose="02020603050405020304" pitchFamily="18" charset="0"/>
              </a:rPr>
              <a:t>     close(</a:t>
            </a:r>
            <a:r>
              <a:rPr lang="en-US" sz="2000" b="1" dirty="0" err="1">
                <a:solidFill>
                  <a:srgbClr val="FF0000"/>
                </a:solidFill>
                <a:latin typeface="Times New Roman" panose="02020603050405020304" pitchFamily="18" charset="0"/>
                <a:cs typeface="Times New Roman" panose="02020603050405020304" pitchFamily="18" charset="0"/>
              </a:rPr>
              <a:t>fd</a:t>
            </a:r>
            <a:r>
              <a:rPr lang="en-US" sz="2000" b="1" dirty="0">
                <a:latin typeface="Times New Roman" panose="02020603050405020304" pitchFamily="18" charset="0"/>
                <a:cs typeface="Times New Roman" panose="02020603050405020304" pitchFamily="18" charset="0"/>
              </a:rPr>
              <a:t>);  return 0;</a:t>
            </a:r>
          </a:p>
          <a:p>
            <a:pPr marL="0" indent="0">
              <a:lnSpc>
                <a:spcPct val="80000"/>
              </a:lnSpc>
              <a:buNone/>
            </a:pPr>
            <a:r>
              <a:rPr lang="en-US" sz="2000" b="1" dirty="0">
                <a:latin typeface="Times New Roman" panose="02020603050405020304" pitchFamily="18" charset="0"/>
                <a:cs typeface="Times New Roman" panose="02020603050405020304" pitchFamily="18" charset="0"/>
              </a:rPr>
              <a:t>}</a:t>
            </a:r>
          </a:p>
        </p:txBody>
      </p:sp>
      <p:sp>
        <p:nvSpPr>
          <p:cNvPr id="13" name="矩形 12">
            <a:extLst>
              <a:ext uri="{FF2B5EF4-FFF2-40B4-BE49-F238E27FC236}">
                <a16:creationId xmlns:a16="http://schemas.microsoft.com/office/drawing/2014/main" id="{AD45971A-EA03-4D84-A424-52972FF41446}"/>
              </a:ext>
            </a:extLst>
          </p:cNvPr>
          <p:cNvSpPr/>
          <p:nvPr/>
        </p:nvSpPr>
        <p:spPr>
          <a:xfrm>
            <a:off x="6490078" y="3541740"/>
            <a:ext cx="3920837" cy="1107996"/>
          </a:xfrm>
          <a:prstGeom prst="rect">
            <a:avLst/>
          </a:prstGeom>
          <a:solidFill>
            <a:srgbClr val="FFFF00"/>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为打开的文件分配文件描述符</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它的作用域为当前进程</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所有对该文件的操作都需要靠该</a:t>
            </a:r>
            <a:r>
              <a:rPr lang="en-US" altLang="zh-CN" sz="2200" b="1" dirty="0" err="1">
                <a:latin typeface="Times New Roman" panose="02020603050405020304" pitchFamily="18" charset="0"/>
                <a:ea typeface="楷体" panose="02010609060101010101" pitchFamily="49" charset="-122"/>
                <a:cs typeface="Times New Roman" panose="02020603050405020304" pitchFamily="18" charset="0"/>
              </a:rPr>
              <a:t>fd</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0897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sp>
        <p:nvSpPr>
          <p:cNvPr id="5" name="标题 4">
            <a:extLst>
              <a:ext uri="{FF2B5EF4-FFF2-40B4-BE49-F238E27FC236}">
                <a16:creationId xmlns:a16="http://schemas.microsoft.com/office/drawing/2014/main" id="{6DCE0590-AC93-6CAE-9DF6-0F63820CEFC1}"/>
              </a:ext>
            </a:extLst>
          </p:cNvPr>
          <p:cNvSpPr>
            <a:spLocks noGrp="1"/>
          </p:cNvSpPr>
          <p:nvPr>
            <p:ph type="title"/>
          </p:nvPr>
        </p:nvSpPr>
        <p:spPr/>
        <p:txBody>
          <a:bodyPr/>
          <a:lstStyle/>
          <a:p>
            <a:r>
              <a:rPr lang="zh-CN" altLang="en-US" dirty="0"/>
              <a:t>打开文件和文件描述符</a:t>
            </a:r>
          </a:p>
        </p:txBody>
      </p:sp>
      <p:sp>
        <p:nvSpPr>
          <p:cNvPr id="7" name="灯片编号占位符 6">
            <a:extLst>
              <a:ext uri="{FF2B5EF4-FFF2-40B4-BE49-F238E27FC236}">
                <a16:creationId xmlns:a16="http://schemas.microsoft.com/office/drawing/2014/main" id="{BF0B63B7-3472-A939-499A-57872667C4B6}"/>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25</a:t>
            </a:fld>
            <a:endParaRPr lang="zh-CN" altLang="en-US" dirty="0"/>
          </a:p>
        </p:txBody>
      </p:sp>
      <p:sp>
        <p:nvSpPr>
          <p:cNvPr id="9" name="内容占位符 2">
            <a:extLst>
              <a:ext uri="{FF2B5EF4-FFF2-40B4-BE49-F238E27FC236}">
                <a16:creationId xmlns:a16="http://schemas.microsoft.com/office/drawing/2014/main" id="{9200E37A-F54E-42F4-817B-62D40D7856AE}"/>
              </a:ext>
            </a:extLst>
          </p:cNvPr>
          <p:cNvSpPr>
            <a:spLocks noGrp="1"/>
          </p:cNvSpPr>
          <p:nvPr>
            <p:ph idx="1"/>
          </p:nvPr>
        </p:nvSpPr>
        <p:spPr>
          <a:xfrm>
            <a:off x="1526782" y="1700808"/>
            <a:ext cx="8779411" cy="5013851"/>
          </a:xfrm>
        </p:spPr>
        <p:txBody>
          <a:bodyPr/>
          <a:lstStyle/>
          <a:p>
            <a:pPr marL="0" indent="0">
              <a:lnSpc>
                <a:spcPct val="80000"/>
              </a:lnSpc>
              <a:buNone/>
            </a:pPr>
            <a:r>
              <a:rPr lang="en-US" sz="2000" b="1" dirty="0">
                <a:latin typeface="Times New Roman" panose="02020603050405020304" pitchFamily="18" charset="0"/>
                <a:cs typeface="Times New Roman" panose="02020603050405020304" pitchFamily="18" charset="0"/>
              </a:rPr>
              <a:t>#include &lt;</a:t>
            </a:r>
            <a:r>
              <a:rPr lang="en-US" sz="2000" b="1" dirty="0" err="1">
                <a:latin typeface="Times New Roman" panose="02020603050405020304" pitchFamily="18" charset="0"/>
                <a:cs typeface="Times New Roman" panose="02020603050405020304" pitchFamily="18" charset="0"/>
              </a:rPr>
              <a:t>stdio.h</a:t>
            </a:r>
            <a:r>
              <a:rPr lang="en-US" sz="2000" b="1" dirty="0">
                <a:latin typeface="Times New Roman" panose="02020603050405020304" pitchFamily="18" charset="0"/>
                <a:cs typeface="Times New Roman" panose="02020603050405020304" pitchFamily="18" charset="0"/>
              </a:rPr>
              <a:t>&gt; #include &lt;</a:t>
            </a:r>
            <a:r>
              <a:rPr lang="en-US" sz="2000" b="1" dirty="0" err="1">
                <a:latin typeface="Times New Roman" panose="02020603050405020304" pitchFamily="18" charset="0"/>
                <a:cs typeface="Times New Roman" panose="02020603050405020304" pitchFamily="18" charset="0"/>
              </a:rPr>
              <a:t>stdlib.h</a:t>
            </a:r>
            <a:r>
              <a:rPr lang="en-US" sz="2000" b="1" dirty="0">
                <a:latin typeface="Times New Roman" panose="02020603050405020304" pitchFamily="18" charset="0"/>
                <a:cs typeface="Times New Roman" panose="02020603050405020304" pitchFamily="18" charset="0"/>
              </a:rPr>
              <a:t>&gt; #include &lt;</a:t>
            </a:r>
            <a:r>
              <a:rPr lang="en-US" sz="2000" b="1" dirty="0" err="1">
                <a:latin typeface="Times New Roman" panose="02020603050405020304" pitchFamily="18" charset="0"/>
                <a:cs typeface="Times New Roman" panose="02020603050405020304" pitchFamily="18" charset="0"/>
              </a:rPr>
              <a:t>unistd.h</a:t>
            </a:r>
            <a:r>
              <a:rPr lang="en-US" sz="2000" b="1" dirty="0">
                <a:latin typeface="Times New Roman" panose="02020603050405020304" pitchFamily="18" charset="0"/>
                <a:cs typeface="Times New Roman" panose="02020603050405020304" pitchFamily="18" charset="0"/>
              </a:rPr>
              <a:t>&gt; #include &lt;</a:t>
            </a:r>
            <a:r>
              <a:rPr lang="en-US" sz="2000" b="1" dirty="0" err="1">
                <a:latin typeface="Times New Roman" panose="02020603050405020304" pitchFamily="18" charset="0"/>
                <a:cs typeface="Times New Roman" panose="02020603050405020304" pitchFamily="18" charset="0"/>
              </a:rPr>
              <a:t>fcntl.h</a:t>
            </a:r>
            <a:r>
              <a:rPr lang="en-US" sz="2000" b="1" dirty="0">
                <a:latin typeface="Times New Roman" panose="02020603050405020304" pitchFamily="18" charset="0"/>
                <a:cs typeface="Times New Roman" panose="02020603050405020304" pitchFamily="18" charset="0"/>
              </a:rPr>
              <a:t>&gt; #include &lt;sys/</a:t>
            </a:r>
            <a:r>
              <a:rPr lang="en-US" sz="2000" b="1" dirty="0" err="1">
                <a:latin typeface="Times New Roman" panose="02020603050405020304" pitchFamily="18" charset="0"/>
                <a:cs typeface="Times New Roman" panose="02020603050405020304" pitchFamily="18" charset="0"/>
              </a:rPr>
              <a:t>types.h</a:t>
            </a:r>
            <a:r>
              <a:rPr lang="en-US" sz="2000" b="1" dirty="0">
                <a:latin typeface="Times New Roman" panose="02020603050405020304" pitchFamily="18" charset="0"/>
                <a:cs typeface="Times New Roman" panose="02020603050405020304" pitchFamily="18" charset="0"/>
              </a:rPr>
              <a:t>&gt; #include &lt;sys/</a:t>
            </a:r>
            <a:r>
              <a:rPr lang="en-US" sz="2000" b="1" dirty="0" err="1">
                <a:latin typeface="Times New Roman" panose="02020603050405020304" pitchFamily="18" charset="0"/>
                <a:cs typeface="Times New Roman" panose="02020603050405020304" pitchFamily="18" charset="0"/>
              </a:rPr>
              <a:t>stat.h</a:t>
            </a:r>
            <a:r>
              <a:rPr lang="en-US" sz="2000" b="1" dirty="0">
                <a:latin typeface="Times New Roman" panose="02020603050405020304" pitchFamily="18" charset="0"/>
                <a:cs typeface="Times New Roman" panose="02020603050405020304" pitchFamily="18" charset="0"/>
              </a:rPr>
              <a:t>&gt; #include &lt;</a:t>
            </a:r>
            <a:r>
              <a:rPr lang="en-US" sz="2000" b="1" dirty="0" err="1">
                <a:latin typeface="Times New Roman" panose="02020603050405020304" pitchFamily="18" charset="0"/>
                <a:cs typeface="Times New Roman" panose="02020603050405020304" pitchFamily="18" charset="0"/>
              </a:rPr>
              <a:t>dirent.h</a:t>
            </a:r>
            <a:r>
              <a:rPr lang="en-US" sz="2000" b="1" dirty="0">
                <a:latin typeface="Times New Roman" panose="02020603050405020304" pitchFamily="18" charset="0"/>
                <a:cs typeface="Times New Roman" panose="02020603050405020304" pitchFamily="18" charset="0"/>
              </a:rPr>
              <a:t>&gt;</a:t>
            </a:r>
          </a:p>
          <a:p>
            <a:pPr marL="0" indent="0">
              <a:lnSpc>
                <a:spcPct val="80000"/>
              </a:lnSpc>
              <a:buNone/>
            </a:pP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main(</a:t>
            </a:r>
            <a:r>
              <a:rPr lang="en-US" sz="2000" b="1" dirty="0" err="1">
                <a:latin typeface="Times New Roman" panose="02020603050405020304" pitchFamily="18" charset="0"/>
                <a:cs typeface="Times New Roman" panose="02020603050405020304" pitchFamily="18" charset="0"/>
              </a:rPr>
              <a:t>int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argc</a:t>
            </a:r>
            <a:r>
              <a:rPr lang="en-US" sz="2000" b="1" dirty="0">
                <a:latin typeface="Times New Roman" panose="02020603050405020304" pitchFamily="18" charset="0"/>
                <a:cs typeface="Times New Roman" panose="02020603050405020304" pitchFamily="18" charset="0"/>
              </a:rPr>
              <a:t>, char *</a:t>
            </a:r>
            <a:r>
              <a:rPr lang="en-US" sz="2000" b="1" dirty="0" err="1">
                <a:latin typeface="Times New Roman" panose="02020603050405020304" pitchFamily="18" charset="0"/>
                <a:cs typeface="Times New Roman" panose="02020603050405020304" pitchFamily="18" charset="0"/>
              </a:rPr>
              <a:t>argv</a:t>
            </a:r>
            <a:r>
              <a:rPr lang="en-US" sz="2000" b="1" dirty="0">
                <a:latin typeface="Times New Roman" panose="02020603050405020304" pitchFamily="18" charset="0"/>
                <a:cs typeface="Times New Roman" panose="02020603050405020304" pitchFamily="18" charset="0"/>
              </a:rPr>
              <a:t>[]){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struct</a:t>
            </a:r>
            <a:r>
              <a:rPr lang="en-US" sz="2000" b="1" dirty="0">
                <a:solidFill>
                  <a:srgbClr val="FF0000"/>
                </a:solidFill>
                <a:latin typeface="Times New Roman" panose="02020603050405020304" pitchFamily="18" charset="0"/>
                <a:cs typeface="Times New Roman" panose="02020603050405020304" pitchFamily="18" charset="0"/>
              </a:rPr>
              <a:t> stat </a:t>
            </a:r>
            <a:r>
              <a:rPr lang="en-US" sz="2000" b="1" dirty="0" err="1">
                <a:solidFill>
                  <a:srgbClr val="FF0000"/>
                </a:solidFill>
                <a:latin typeface="Times New Roman" panose="02020603050405020304" pitchFamily="18" charset="0"/>
                <a:cs typeface="Times New Roman" panose="02020603050405020304" pitchFamily="18" charset="0"/>
              </a:rPr>
              <a:t>sb</a:t>
            </a:r>
            <a:r>
              <a:rPr lang="en-US" sz="2000" b="1" dirty="0">
                <a:latin typeface="Times New Roman" panose="02020603050405020304" pitchFamily="18" charset="0"/>
                <a:cs typeface="Times New Roman" panose="02020603050405020304" pitchFamily="18" charset="0"/>
              </a:rPr>
              <a:t>;  DIR *</a:t>
            </a:r>
            <a:r>
              <a:rPr lang="en-US" sz="2000" b="1" dirty="0" err="1">
                <a:latin typeface="Times New Roman" panose="02020603050405020304" pitchFamily="18" charset="0"/>
                <a:cs typeface="Times New Roman" panose="02020603050405020304" pitchFamily="18" charset="0"/>
              </a:rPr>
              <a:t>dirp</a:t>
            </a:r>
            <a:r>
              <a:rPr lang="en-US" sz="2000" b="1" dirty="0">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struct</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dirent</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direntp</a:t>
            </a:r>
            <a:r>
              <a:rPr lang="en-US" sz="2000" b="1" dirty="0">
                <a:latin typeface="Times New Roman" panose="02020603050405020304" pitchFamily="18" charset="0"/>
                <a:cs typeface="Times New Roman" panose="02020603050405020304" pitchFamily="18" charset="0"/>
              </a:rPr>
              <a:t>;  char filename[128];  </a:t>
            </a:r>
          </a:p>
          <a:p>
            <a:pPr marL="0" indent="0">
              <a:lnSpc>
                <a:spcPct val="80000"/>
              </a:lnSpc>
              <a:buNone/>
            </a:pPr>
            <a:r>
              <a:rPr lang="en-US" sz="2000" b="1" dirty="0">
                <a:latin typeface="Times New Roman" panose="02020603050405020304" pitchFamily="18" charset="0"/>
                <a:cs typeface="Times New Roman" panose="02020603050405020304" pitchFamily="18" charset="0"/>
              </a:rPr>
              <a:t>    if ((</a:t>
            </a:r>
            <a:r>
              <a:rPr lang="en-US" sz="2000" b="1" dirty="0" err="1">
                <a:latin typeface="Times New Roman" panose="02020603050405020304" pitchFamily="18" charset="0"/>
                <a:cs typeface="Times New Roman" panose="02020603050405020304" pitchFamily="18" charset="0"/>
              </a:rPr>
              <a:t>dirp</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opendir</a:t>
            </a:r>
            <a:r>
              <a:rPr lang="en-US" sz="2000" b="1" dirty="0">
                <a:latin typeface="Times New Roman" panose="02020603050405020304" pitchFamily="18" charset="0"/>
                <a:cs typeface="Times New Roman" panose="02020603050405020304" pitchFamily="18" charset="0"/>
              </a:rPr>
              <a:t>("/root")) == NULL){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printf</a:t>
            </a:r>
            <a:r>
              <a:rPr lang="en-US" sz="2000" b="1" dirty="0">
                <a:latin typeface="Times New Roman" panose="02020603050405020304" pitchFamily="18" charset="0"/>
                <a:cs typeface="Times New Roman" panose="02020603050405020304" pitchFamily="18" charset="0"/>
              </a:rPr>
              <a:t>("Open Directory </a:t>
            </a:r>
            <a:r>
              <a:rPr lang="en-US" sz="2000" b="1" dirty="0" err="1">
                <a:latin typeface="Times New Roman" panose="02020603050405020304" pitchFamily="18" charset="0"/>
                <a:cs typeface="Times New Roman" panose="02020603050405020304" pitchFamily="18" charset="0"/>
              </a:rPr>
              <a:t>Error%s</a:t>
            </a:r>
            <a:r>
              <a:rPr lang="en-US" sz="2000" b="1" dirty="0">
                <a:latin typeface="Times New Roman" panose="02020603050405020304" pitchFamily="18" charset="0"/>
                <a:cs typeface="Times New Roman" panose="02020603050405020304" pitchFamily="18" charset="0"/>
              </a:rPr>
              <a:t>\n");    exit(1);  }  </a:t>
            </a:r>
          </a:p>
          <a:p>
            <a:pPr marL="0" indent="0">
              <a:lnSpc>
                <a:spcPct val="80000"/>
              </a:lnSpc>
              <a:buNone/>
            </a:pPr>
            <a:r>
              <a:rPr lang="en-US" sz="2000" b="1" dirty="0">
                <a:latin typeface="Times New Roman" panose="02020603050405020304" pitchFamily="18" charset="0"/>
                <a:cs typeface="Times New Roman" panose="02020603050405020304" pitchFamily="18" charset="0"/>
              </a:rPr>
              <a:t>    while ((</a:t>
            </a:r>
            <a:r>
              <a:rPr lang="en-US" sz="2000" b="1" dirty="0" err="1">
                <a:latin typeface="Times New Roman" panose="02020603050405020304" pitchFamily="18" charset="0"/>
                <a:cs typeface="Times New Roman" panose="02020603050405020304" pitchFamily="18" charset="0"/>
              </a:rPr>
              <a:t>direntp</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readdir</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dirp</a:t>
            </a:r>
            <a:r>
              <a:rPr lang="en-US" sz="2000" b="1" dirty="0">
                <a:latin typeface="Times New Roman" panose="02020603050405020304" pitchFamily="18" charset="0"/>
                <a:cs typeface="Times New Roman" panose="02020603050405020304" pitchFamily="18" charset="0"/>
              </a:rPr>
              <a:t>)) != NULL){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sprintf</a:t>
            </a:r>
            <a:r>
              <a:rPr lang="en-US" sz="2000" b="1" dirty="0">
                <a:latin typeface="Times New Roman" panose="02020603050405020304" pitchFamily="18" charset="0"/>
                <a:cs typeface="Times New Roman" panose="02020603050405020304" pitchFamily="18" charset="0"/>
              </a:rPr>
              <a:t>(filename, "/root/%s",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direntp</a:t>
            </a:r>
            <a:r>
              <a:rPr lang="en-US" sz="2000" b="1" dirty="0">
                <a:latin typeface="Times New Roman" panose="02020603050405020304" pitchFamily="18" charset="0"/>
                <a:cs typeface="Times New Roman" panose="02020603050405020304" pitchFamily="18" charset="0"/>
              </a:rPr>
              <a:t>-&gt;</a:t>
            </a:r>
            <a:r>
              <a:rPr lang="en-US" sz="2000" b="1" dirty="0" err="1">
                <a:latin typeface="Times New Roman" panose="02020603050405020304" pitchFamily="18" charset="0"/>
                <a:cs typeface="Times New Roman" panose="02020603050405020304" pitchFamily="18" charset="0"/>
              </a:rPr>
              <a:t>d_name</a:t>
            </a:r>
            <a:r>
              <a:rPr lang="en-US" sz="2000" b="1" dirty="0">
                <a:latin typeface="Times New Roman" panose="02020603050405020304" pitchFamily="18" charset="0"/>
                <a:cs typeface="Times New Roman" panose="02020603050405020304" pitchFamily="18" charset="0"/>
              </a:rPr>
              <a:t>);    </a:t>
            </a:r>
          </a:p>
          <a:p>
            <a:pPr marL="0" indent="0">
              <a:lnSpc>
                <a:spcPct val="80000"/>
              </a:lnSpc>
              <a:buNone/>
            </a:pPr>
            <a:r>
              <a:rPr lang="en-US" sz="2000" b="1" dirty="0">
                <a:latin typeface="Times New Roman" panose="02020603050405020304" pitchFamily="18" charset="0"/>
                <a:cs typeface="Times New Roman" panose="02020603050405020304" pitchFamily="18" charset="0"/>
              </a:rPr>
              <a:t>          if (</a:t>
            </a:r>
            <a:r>
              <a:rPr lang="en-US" sz="2000" b="1" dirty="0" err="1">
                <a:latin typeface="Times New Roman" panose="02020603050405020304" pitchFamily="18" charset="0"/>
                <a:cs typeface="Times New Roman" panose="02020603050405020304" pitchFamily="18" charset="0"/>
              </a:rPr>
              <a:t>lstat</a:t>
            </a:r>
            <a:r>
              <a:rPr lang="en-US" sz="2000" b="1" dirty="0">
                <a:latin typeface="Times New Roman" panose="02020603050405020304" pitchFamily="18" charset="0"/>
                <a:cs typeface="Times New Roman" panose="02020603050405020304" pitchFamily="18" charset="0"/>
              </a:rPr>
              <a:t>(filename, &amp;</a:t>
            </a:r>
            <a:r>
              <a:rPr lang="en-US" sz="2000" b="1" dirty="0" err="1">
                <a:latin typeface="Times New Roman" panose="02020603050405020304" pitchFamily="18" charset="0"/>
                <a:cs typeface="Times New Roman" panose="02020603050405020304" pitchFamily="18" charset="0"/>
              </a:rPr>
              <a:t>sb</a:t>
            </a:r>
            <a:r>
              <a:rPr lang="en-US" sz="2000" b="1" dirty="0">
                <a:latin typeface="Times New Roman" panose="02020603050405020304" pitchFamily="18" charset="0"/>
                <a:cs typeface="Times New Roman" panose="02020603050405020304" pitchFamily="18" charset="0"/>
              </a:rPr>
              <a:t>) == -1){</a:t>
            </a:r>
            <a:r>
              <a:rPr lang="en-US" sz="2000" b="1" dirty="0" err="1">
                <a:latin typeface="Times New Roman" panose="02020603050405020304" pitchFamily="18" charset="0"/>
                <a:cs typeface="Times New Roman" panose="02020603050405020304" pitchFamily="18" charset="0"/>
              </a:rPr>
              <a:t>printf</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lstat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Error%s</a:t>
            </a:r>
            <a:r>
              <a:rPr lang="en-US" sz="2000" b="1" dirty="0">
                <a:latin typeface="Times New Roman" panose="02020603050405020304" pitchFamily="18" charset="0"/>
                <a:cs typeface="Times New Roman" panose="02020603050405020304" pitchFamily="18" charset="0"/>
              </a:rPr>
              <a:t>\n"); exit(1);}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printf</a:t>
            </a:r>
            <a:r>
              <a:rPr lang="en-US" sz="2000" b="1" dirty="0">
                <a:latin typeface="Times New Roman" panose="02020603050405020304" pitchFamily="18" charset="0"/>
                <a:cs typeface="Times New Roman" panose="02020603050405020304" pitchFamily="18" charset="0"/>
              </a:rPr>
              <a:t>("name : %s, mode : %d, size : %d, user id : %d\n",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direntp</a:t>
            </a:r>
            <a:r>
              <a:rPr lang="en-US" sz="2000" b="1" dirty="0">
                <a:latin typeface="Times New Roman" panose="02020603050405020304" pitchFamily="18" charset="0"/>
                <a:cs typeface="Times New Roman" panose="02020603050405020304" pitchFamily="18" charset="0"/>
              </a:rPr>
              <a:t>-&gt;</a:t>
            </a:r>
            <a:r>
              <a:rPr lang="en-US" sz="2000" b="1" dirty="0" err="1">
                <a:latin typeface="Times New Roman" panose="02020603050405020304" pitchFamily="18" charset="0"/>
                <a:cs typeface="Times New Roman" panose="02020603050405020304" pitchFamily="18" charset="0"/>
              </a:rPr>
              <a:t>d_name</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sb.st_mode</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sb.st_size</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sb.st_uid</a:t>
            </a:r>
            <a:r>
              <a:rPr lang="en-US" sz="2000" b="1" dirty="0">
                <a:latin typeface="Times New Roman" panose="02020603050405020304" pitchFamily="18" charset="0"/>
                <a:cs typeface="Times New Roman" panose="02020603050405020304" pitchFamily="18" charset="0"/>
              </a:rPr>
              <a:t>);  }  </a:t>
            </a:r>
          </a:p>
          <a:p>
            <a:pPr marL="0" indent="0">
              <a:lnSpc>
                <a:spcPct val="80000"/>
              </a:lnSpc>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closedir</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dirp</a:t>
            </a:r>
            <a:r>
              <a:rPr lang="en-US" sz="2000" b="1" dirty="0">
                <a:latin typeface="Times New Roman" panose="02020603050405020304" pitchFamily="18" charset="0"/>
                <a:cs typeface="Times New Roman" panose="02020603050405020304" pitchFamily="18" charset="0"/>
              </a:rPr>
              <a:t>);  </a:t>
            </a:r>
          </a:p>
          <a:p>
            <a:pPr marL="0" indent="0">
              <a:lnSpc>
                <a:spcPct val="80000"/>
              </a:lnSpc>
              <a:buNone/>
            </a:pPr>
            <a:r>
              <a:rPr lang="en-US" sz="2000" b="1" dirty="0">
                <a:latin typeface="Times New Roman" panose="02020603050405020304" pitchFamily="18" charset="0"/>
                <a:cs typeface="Times New Roman" panose="02020603050405020304" pitchFamily="18" charset="0"/>
              </a:rPr>
              <a:t>    return 0;</a:t>
            </a:r>
          </a:p>
          <a:p>
            <a:pPr marL="0" indent="0">
              <a:lnSpc>
                <a:spcPct val="80000"/>
              </a:lnSpc>
              <a:buNone/>
            </a:pPr>
            <a:r>
              <a:rPr lang="en-US" sz="2000" b="1" dirty="0">
                <a:latin typeface="Times New Roman" panose="02020603050405020304" pitchFamily="18" charset="0"/>
                <a:cs typeface="Times New Roman" panose="02020603050405020304" pitchFamily="18" charset="0"/>
              </a:rPr>
              <a:t>}</a:t>
            </a:r>
          </a:p>
        </p:txBody>
      </p:sp>
      <p:sp>
        <p:nvSpPr>
          <p:cNvPr id="10" name="矩形 9">
            <a:extLst>
              <a:ext uri="{FF2B5EF4-FFF2-40B4-BE49-F238E27FC236}">
                <a16:creationId xmlns:a16="http://schemas.microsoft.com/office/drawing/2014/main" id="{E5255869-DA6B-4462-A43B-AE435E48AD77}"/>
              </a:ext>
            </a:extLst>
          </p:cNvPr>
          <p:cNvSpPr/>
          <p:nvPr/>
        </p:nvSpPr>
        <p:spPr>
          <a:xfrm>
            <a:off x="6567651" y="3005134"/>
            <a:ext cx="3920837" cy="430887"/>
          </a:xfrm>
          <a:prstGeom prst="rect">
            <a:avLst/>
          </a:prstGeom>
          <a:solidFill>
            <a:srgbClr val="FFFF00"/>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打开一个目录名对应的目录流</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437D8BC3-6498-456A-9871-049178C2FA29}"/>
              </a:ext>
            </a:extLst>
          </p:cNvPr>
          <p:cNvSpPr/>
          <p:nvPr/>
        </p:nvSpPr>
        <p:spPr>
          <a:xfrm>
            <a:off x="6567651" y="3878433"/>
            <a:ext cx="3920837" cy="769441"/>
          </a:xfrm>
          <a:prstGeom prst="rect">
            <a:avLst/>
          </a:prstGeom>
          <a:solidFill>
            <a:srgbClr val="FFFF00"/>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读取一个文件条目</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返回其指针</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流自动指向下一条目</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6229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7179018-BDA7-25E5-A12D-AF9CEC2FA7E8}"/>
              </a:ext>
            </a:extLst>
          </p:cNvPr>
          <p:cNvSpPr>
            <a:spLocks noGrp="1"/>
          </p:cNvSpPr>
          <p:nvPr>
            <p:ph type="sldNum" sz="quarter" idx="12"/>
          </p:nvPr>
        </p:nvSpPr>
        <p:spPr/>
        <p:txBody>
          <a:bodyPr/>
          <a:lstStyle/>
          <a:p>
            <a:pPr>
              <a:buNone/>
            </a:pPr>
            <a:fld id="{23E5303B-8A3A-477A-93B0-1543526987BB}" type="slidenum">
              <a:rPr lang="en-US" altLang="ko-KR" smtClean="0"/>
              <a:pPr>
                <a:buNone/>
              </a:pPr>
              <a:t>26</a:t>
            </a:fld>
            <a:endParaRPr lang="en-US" altLang="ko-KR" dirty="0"/>
          </a:p>
        </p:txBody>
      </p:sp>
      <p:sp>
        <p:nvSpPr>
          <p:cNvPr id="7" name="标题 6">
            <a:extLst>
              <a:ext uri="{FF2B5EF4-FFF2-40B4-BE49-F238E27FC236}">
                <a16:creationId xmlns:a16="http://schemas.microsoft.com/office/drawing/2014/main" id="{D087748C-3CF4-CD79-AA90-937CF1458CB1}"/>
              </a:ext>
            </a:extLst>
          </p:cNvPr>
          <p:cNvSpPr>
            <a:spLocks noGrp="1"/>
          </p:cNvSpPr>
          <p:nvPr>
            <p:ph type="title"/>
          </p:nvPr>
        </p:nvSpPr>
        <p:spPr/>
        <p:txBody>
          <a:bodyPr>
            <a:normAutofit/>
          </a:bodyPr>
          <a:lstStyle/>
          <a:p>
            <a:r>
              <a:rPr lang="zh-CN" altLang="en-US" dirty="0"/>
              <a:t>文件系统的存储与读取</a:t>
            </a:r>
          </a:p>
        </p:txBody>
      </p:sp>
      <p:pic>
        <p:nvPicPr>
          <p:cNvPr id="213" name="图片 212">
            <a:extLst>
              <a:ext uri="{FF2B5EF4-FFF2-40B4-BE49-F238E27FC236}">
                <a16:creationId xmlns:a16="http://schemas.microsoft.com/office/drawing/2014/main" id="{1524BBF6-C9AA-65B7-B56A-3474A36F4519}"/>
              </a:ext>
            </a:extLst>
          </p:cNvPr>
          <p:cNvPicPr>
            <a:picLocks noChangeAspect="1"/>
          </p:cNvPicPr>
          <p:nvPr/>
        </p:nvPicPr>
        <p:blipFill>
          <a:blip r:embed="rId2"/>
          <a:stretch>
            <a:fillRect/>
          </a:stretch>
        </p:blipFill>
        <p:spPr>
          <a:xfrm>
            <a:off x="2351584" y="2348883"/>
            <a:ext cx="4763620" cy="2739181"/>
          </a:xfrm>
          <a:prstGeom prst="rect">
            <a:avLst/>
          </a:prstGeom>
        </p:spPr>
      </p:pic>
      <p:pic>
        <p:nvPicPr>
          <p:cNvPr id="369" name="图片 368">
            <a:extLst>
              <a:ext uri="{FF2B5EF4-FFF2-40B4-BE49-F238E27FC236}">
                <a16:creationId xmlns:a16="http://schemas.microsoft.com/office/drawing/2014/main" id="{0B7B202D-38C3-08AA-FCD2-CD8E6306A0DF}"/>
              </a:ext>
            </a:extLst>
          </p:cNvPr>
          <p:cNvPicPr>
            <a:picLocks noChangeAspect="1"/>
          </p:cNvPicPr>
          <p:nvPr/>
        </p:nvPicPr>
        <p:blipFill>
          <a:blip r:embed="rId3"/>
          <a:stretch>
            <a:fillRect/>
          </a:stretch>
        </p:blipFill>
        <p:spPr>
          <a:xfrm>
            <a:off x="6074516" y="1700808"/>
            <a:ext cx="4480637" cy="1728192"/>
          </a:xfrm>
          <a:prstGeom prst="rect">
            <a:avLst/>
          </a:prstGeom>
        </p:spPr>
      </p:pic>
    </p:spTree>
    <p:extLst>
      <p:ext uri="{BB962C8B-B14F-4D97-AF65-F5344CB8AC3E}">
        <p14:creationId xmlns:p14="http://schemas.microsoft.com/office/powerpoint/2010/main" val="236848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01817" y="1659618"/>
            <a:ext cx="5870247" cy="695330"/>
            <a:chOff x="844893" y="750631"/>
            <a:chExt cx="5870247" cy="695330"/>
          </a:xfrm>
        </p:grpSpPr>
        <p:sp>
          <p:nvSpPr>
            <p:cNvPr id="9" name="内容占位符 2"/>
            <p:cNvSpPr txBox="1">
              <a:spLocks/>
            </p:cNvSpPr>
            <p:nvPr/>
          </p:nvSpPr>
          <p:spPr>
            <a:xfrm>
              <a:off x="1142976" y="750631"/>
              <a:ext cx="171451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文件访问模式</a:t>
              </a:r>
            </a:p>
          </p:txBody>
        </p:sp>
        <p:sp>
          <p:nvSpPr>
            <p:cNvPr id="12" name="TextBox 11"/>
            <p:cNvSpPr txBox="1"/>
            <p:nvPr/>
          </p:nvSpPr>
          <p:spPr>
            <a:xfrm>
              <a:off x="844893" y="750631"/>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9" name="图片 28" descr="小点1.png"/>
            <p:cNvPicPr>
              <a:picLocks noChangeAspect="1"/>
            </p:cNvPicPr>
            <p:nvPr/>
          </p:nvPicPr>
          <p:blipFill>
            <a:blip r:embed="rId2" cstate="print"/>
            <a:stretch>
              <a:fillRect/>
            </a:stretch>
          </p:blipFill>
          <p:spPr>
            <a:xfrm>
              <a:off x="1262422" y="1192415"/>
              <a:ext cx="151066" cy="148997"/>
            </a:xfrm>
            <a:prstGeom prst="rect">
              <a:avLst/>
            </a:prstGeom>
            <a:effectLst/>
          </p:spPr>
        </p:pic>
        <p:sp>
          <p:nvSpPr>
            <p:cNvPr id="30" name="内容占位符 2"/>
            <p:cNvSpPr txBox="1">
              <a:spLocks/>
            </p:cNvSpPr>
            <p:nvPr/>
          </p:nvSpPr>
          <p:spPr>
            <a:xfrm>
              <a:off x="1394985" y="1087639"/>
              <a:ext cx="5320155"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进程访问文件数据前必须先“打开”文件</a:t>
              </a: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sp>
        <p:nvSpPr>
          <p:cNvPr id="14" name="内容占位符 2"/>
          <p:cNvSpPr txBox="1">
            <a:spLocks/>
          </p:cNvSpPr>
          <p:nvPr/>
        </p:nvSpPr>
        <p:spPr>
          <a:xfrm>
            <a:off x="1351909" y="2359710"/>
            <a:ext cx="3177015" cy="1357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1" eaLnBrk="1" fontAlgn="auto" hangingPunct="1">
              <a:spcBef>
                <a:spcPts val="0"/>
              </a:spcBef>
              <a:spcAft>
                <a:spcPts val="0"/>
              </a:spcAft>
              <a:buSzTx/>
            </a:pPr>
            <a:r>
              <a:rPr lang="en-US" altLang="zh-CN" dirty="0"/>
              <a:t>f = open(name, flag);</a:t>
            </a:r>
          </a:p>
          <a:p>
            <a:pPr lvl="1" eaLnBrk="1" fontAlgn="auto" hangingPunct="1">
              <a:spcBef>
                <a:spcPts val="0"/>
              </a:spcBef>
              <a:spcAft>
                <a:spcPts val="0"/>
              </a:spcAft>
              <a:buSzTx/>
            </a:pPr>
            <a:r>
              <a:rPr lang="en-US" altLang="zh-CN" dirty="0"/>
              <a:t>…</a:t>
            </a:r>
          </a:p>
          <a:p>
            <a:pPr lvl="1" eaLnBrk="1" fontAlgn="auto" hangingPunct="1">
              <a:spcBef>
                <a:spcPts val="0"/>
              </a:spcBef>
              <a:spcAft>
                <a:spcPts val="0"/>
              </a:spcAft>
              <a:buSzTx/>
            </a:pPr>
            <a:r>
              <a:rPr lang="en-US" altLang="zh-CN" dirty="0"/>
              <a:t>read(f, …);</a:t>
            </a:r>
          </a:p>
          <a:p>
            <a:pPr lvl="1" eaLnBrk="1" fontAlgn="auto" hangingPunct="1">
              <a:spcBef>
                <a:spcPts val="0"/>
              </a:spcBef>
              <a:spcAft>
                <a:spcPts val="0"/>
              </a:spcAft>
              <a:buSzTx/>
            </a:pPr>
            <a:r>
              <a:rPr lang="en-US" altLang="zh-CN" dirty="0"/>
              <a:t>…</a:t>
            </a:r>
          </a:p>
          <a:p>
            <a:pPr lvl="1" eaLnBrk="1" fontAlgn="auto" hangingPunct="1">
              <a:spcBef>
                <a:spcPts val="0"/>
              </a:spcBef>
              <a:spcAft>
                <a:spcPts val="0"/>
              </a:spcAft>
              <a:buSzTx/>
            </a:pPr>
            <a:r>
              <a:rPr lang="en-US" altLang="zh-CN" dirty="0"/>
              <a:t>close(f);</a:t>
            </a:r>
            <a:endParaRPr lang="zh-CN" altLang="en-US" dirty="0"/>
          </a:p>
        </p:txBody>
      </p:sp>
      <p:sp>
        <p:nvSpPr>
          <p:cNvPr id="2" name="文本框 1">
            <a:extLst>
              <a:ext uri="{FF2B5EF4-FFF2-40B4-BE49-F238E27FC236}">
                <a16:creationId xmlns:a16="http://schemas.microsoft.com/office/drawing/2014/main" id="{3A303DF0-DB21-F718-DB74-57B124E3479B}"/>
              </a:ext>
            </a:extLst>
          </p:cNvPr>
          <p:cNvSpPr txBox="1"/>
          <p:nvPr/>
        </p:nvSpPr>
        <p:spPr>
          <a:xfrm>
            <a:off x="6965138" y="1590950"/>
            <a:ext cx="4108308" cy="2419124"/>
          </a:xfrm>
          <a:prstGeom prst="rect">
            <a:avLst/>
          </a:prstGeom>
          <a:noFill/>
        </p:spPr>
        <p:txBody>
          <a:bodyPr wrap="square" rtlCol="0">
            <a:spAutoFit/>
          </a:bodyPr>
          <a:lstStyle/>
          <a:p>
            <a:pPr algn="just">
              <a:lnSpc>
                <a:spcPct val="100000"/>
              </a:lnSpc>
              <a:buNone/>
            </a:pPr>
            <a:r>
              <a:rPr lang="zh-CN" altLang="en-US" dirty="0">
                <a:latin typeface="微软雅黑" panose="020B0503020204020204" pitchFamily="34" charset="-122"/>
                <a:ea typeface="微软雅黑" panose="020B0503020204020204" pitchFamily="34" charset="-122"/>
              </a:rPr>
              <a:t>“打开”操作，是用户通知操作系统，为这个文件的读写做好准备，即找到文件名与文件位置的对应关系等</a:t>
            </a:r>
            <a:endParaRPr lang="en-US" altLang="zh-CN" dirty="0">
              <a:latin typeface="微软雅黑" panose="020B0503020204020204" pitchFamily="34" charset="-122"/>
              <a:ea typeface="微软雅黑" panose="020B0503020204020204" pitchFamily="34" charset="-122"/>
            </a:endParaRPr>
          </a:p>
          <a:p>
            <a:pPr algn="just">
              <a:lnSpc>
                <a:spcPct val="100000"/>
              </a:lnSpc>
              <a:buNone/>
            </a:pPr>
            <a:r>
              <a:rPr lang="zh-CN" altLang="en-US" dirty="0">
                <a:latin typeface="微软雅黑" panose="020B0503020204020204" pitchFamily="34" charset="-122"/>
                <a:ea typeface="微软雅黑" panose="020B0503020204020204" pitchFamily="34" charset="-122"/>
              </a:rPr>
              <a:t>因为文件操作很慢，所以需要一些准备工作以“预热”，例如找到文件开始的磁道扇区，文件的长度等</a:t>
            </a:r>
            <a:endParaRPr lang="en-US" altLang="zh-CN" dirty="0">
              <a:latin typeface="微软雅黑" panose="020B0503020204020204" pitchFamily="34" charset="-122"/>
              <a:ea typeface="微软雅黑" panose="020B0503020204020204" pitchFamily="34" charset="-122"/>
            </a:endParaRPr>
          </a:p>
          <a:p>
            <a:pPr algn="just">
              <a:lnSpc>
                <a:spcPct val="100000"/>
              </a:lnSpc>
              <a:buNone/>
            </a:pPr>
            <a:r>
              <a:rPr lang="zh-CN" altLang="en-US" dirty="0">
                <a:latin typeface="微软雅黑" panose="020B0503020204020204" pitchFamily="34" charset="-122"/>
                <a:ea typeface="微软雅黑" panose="020B0503020204020204" pitchFamily="34" charset="-122"/>
              </a:rPr>
              <a:t>因为文件很多，所以不能为每一个文件都“预热”</a:t>
            </a:r>
          </a:p>
        </p:txBody>
      </p:sp>
      <p:sp>
        <p:nvSpPr>
          <p:cNvPr id="6" name="标题 5">
            <a:extLst>
              <a:ext uri="{FF2B5EF4-FFF2-40B4-BE49-F238E27FC236}">
                <a16:creationId xmlns:a16="http://schemas.microsoft.com/office/drawing/2014/main" id="{4D42436D-5614-625A-5115-50001B2734B6}"/>
              </a:ext>
            </a:extLst>
          </p:cNvPr>
          <p:cNvSpPr>
            <a:spLocks noGrp="1"/>
          </p:cNvSpPr>
          <p:nvPr>
            <p:ph type="title"/>
          </p:nvPr>
        </p:nvSpPr>
        <p:spPr/>
        <p:txBody>
          <a:bodyPr>
            <a:normAutofit/>
          </a:bodyPr>
          <a:lstStyle/>
          <a:p>
            <a:r>
              <a:rPr lang="zh-CN" altLang="en-US" dirty="0"/>
              <a:t>打开文件和文件描述符</a:t>
            </a:r>
          </a:p>
        </p:txBody>
      </p:sp>
      <p:sp>
        <p:nvSpPr>
          <p:cNvPr id="10" name="灯片编号占位符 9">
            <a:extLst>
              <a:ext uri="{FF2B5EF4-FFF2-40B4-BE49-F238E27FC236}">
                <a16:creationId xmlns:a16="http://schemas.microsoft.com/office/drawing/2014/main" id="{BC413554-7775-CF01-0CD6-0360344AF774}"/>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27</a:t>
            </a:fld>
            <a:endParaRPr lang="zh-CN" altLang="en-US" dirty="0"/>
          </a:p>
        </p:txBody>
      </p:sp>
    </p:spTree>
    <p:extLst>
      <p:ext uri="{BB962C8B-B14F-4D97-AF65-F5344CB8AC3E}">
        <p14:creationId xmlns:p14="http://schemas.microsoft.com/office/powerpoint/2010/main" val="1379180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07517" y="2347722"/>
            <a:ext cx="3869983" cy="423636"/>
            <a:chOff x="844893" y="1442929"/>
            <a:chExt cx="3869983" cy="423636"/>
          </a:xfrm>
        </p:grpSpPr>
        <p:sp>
          <p:nvSpPr>
            <p:cNvPr id="15" name="内容占位符 2"/>
            <p:cNvSpPr txBox="1">
              <a:spLocks/>
            </p:cNvSpPr>
            <p:nvPr/>
          </p:nvSpPr>
          <p:spPr>
            <a:xfrm>
              <a:off x="1142976" y="1442929"/>
              <a:ext cx="3571900" cy="42363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内核跟踪进程打开的所有文件</a:t>
              </a:r>
            </a:p>
          </p:txBody>
        </p:sp>
        <p:sp>
          <p:nvSpPr>
            <p:cNvPr id="16" name="TextBox 15"/>
            <p:cNvSpPr txBox="1"/>
            <p:nvPr/>
          </p:nvSpPr>
          <p:spPr>
            <a:xfrm>
              <a:off x="844893" y="1442929"/>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807517" y="1655424"/>
            <a:ext cx="6584627" cy="695330"/>
            <a:chOff x="844893" y="750631"/>
            <a:chExt cx="6584627" cy="695330"/>
          </a:xfrm>
        </p:grpSpPr>
        <p:sp>
          <p:nvSpPr>
            <p:cNvPr id="9" name="内容占位符 2"/>
            <p:cNvSpPr txBox="1">
              <a:spLocks/>
            </p:cNvSpPr>
            <p:nvPr/>
          </p:nvSpPr>
          <p:spPr>
            <a:xfrm>
              <a:off x="1142976" y="750631"/>
              <a:ext cx="171451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文件访问模式</a:t>
              </a:r>
            </a:p>
          </p:txBody>
        </p:sp>
        <p:sp>
          <p:nvSpPr>
            <p:cNvPr id="12" name="TextBox 11"/>
            <p:cNvSpPr txBox="1"/>
            <p:nvPr/>
          </p:nvSpPr>
          <p:spPr>
            <a:xfrm>
              <a:off x="844893" y="750631"/>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9" name="图片 28" descr="小点1.png"/>
            <p:cNvPicPr>
              <a:picLocks noChangeAspect="1"/>
            </p:cNvPicPr>
            <p:nvPr/>
          </p:nvPicPr>
          <p:blipFill>
            <a:blip r:embed="rId3" cstate="print"/>
            <a:stretch>
              <a:fillRect/>
            </a:stretch>
          </p:blipFill>
          <p:spPr>
            <a:xfrm>
              <a:off x="1262422" y="1192415"/>
              <a:ext cx="151066" cy="148997"/>
            </a:xfrm>
            <a:prstGeom prst="rect">
              <a:avLst/>
            </a:prstGeom>
            <a:effectLst/>
          </p:spPr>
        </p:pic>
        <p:sp>
          <p:nvSpPr>
            <p:cNvPr id="30" name="内容占位符 2"/>
            <p:cNvSpPr txBox="1">
              <a:spLocks/>
            </p:cNvSpPr>
            <p:nvPr/>
          </p:nvSpPr>
          <p:spPr>
            <a:xfrm>
              <a:off x="1394985" y="1087639"/>
              <a:ext cx="6034535"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进程访问文件数据前必须先“打开”文件</a:t>
              </a:r>
            </a:p>
          </p:txBody>
        </p:sp>
      </p:grpSp>
      <p:grpSp>
        <p:nvGrpSpPr>
          <p:cNvPr id="5" name="组合 4"/>
          <p:cNvGrpSpPr/>
          <p:nvPr/>
        </p:nvGrpSpPr>
        <p:grpSpPr>
          <a:xfrm>
            <a:off x="1225042" y="2766883"/>
            <a:ext cx="4952652" cy="355598"/>
            <a:chOff x="1262422" y="3056936"/>
            <a:chExt cx="4952652" cy="355598"/>
          </a:xfrm>
        </p:grpSpPr>
        <p:pic>
          <p:nvPicPr>
            <p:cNvPr id="19" name="图片 18" descr="小点1.png"/>
            <p:cNvPicPr>
              <a:picLocks noChangeAspect="1"/>
            </p:cNvPicPr>
            <p:nvPr/>
          </p:nvPicPr>
          <p:blipFill>
            <a:blip r:embed="rId3" cstate="print"/>
            <a:stretch>
              <a:fillRect/>
            </a:stretch>
          </p:blipFill>
          <p:spPr>
            <a:xfrm>
              <a:off x="1262422" y="3161712"/>
              <a:ext cx="151066" cy="148997"/>
            </a:xfrm>
            <a:prstGeom prst="rect">
              <a:avLst/>
            </a:prstGeom>
            <a:effectLst/>
          </p:spPr>
        </p:pic>
        <p:sp>
          <p:nvSpPr>
            <p:cNvPr id="20" name="内容占位符 2"/>
            <p:cNvSpPr txBox="1">
              <a:spLocks/>
            </p:cNvSpPr>
            <p:nvPr/>
          </p:nvSpPr>
          <p:spPr>
            <a:xfrm>
              <a:off x="1394985" y="3056936"/>
              <a:ext cx="4820089"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操作系统为每个进程维护一个打开文件表</a:t>
              </a:r>
            </a:p>
          </p:txBody>
        </p:sp>
      </p:grpSp>
      <p:grpSp>
        <p:nvGrpSpPr>
          <p:cNvPr id="7" name="组合 6"/>
          <p:cNvGrpSpPr/>
          <p:nvPr/>
        </p:nvGrpSpPr>
        <p:grpSpPr>
          <a:xfrm>
            <a:off x="1225042" y="3140632"/>
            <a:ext cx="4677730" cy="354014"/>
            <a:chOff x="1262422" y="3366496"/>
            <a:chExt cx="4677730" cy="354014"/>
          </a:xfrm>
        </p:grpSpPr>
        <p:pic>
          <p:nvPicPr>
            <p:cNvPr id="21" name="图片 20" descr="小点1.png"/>
            <p:cNvPicPr>
              <a:picLocks noChangeAspect="1"/>
            </p:cNvPicPr>
            <p:nvPr/>
          </p:nvPicPr>
          <p:blipFill>
            <a:blip r:embed="rId3" cstate="print"/>
            <a:stretch>
              <a:fillRect/>
            </a:stretch>
          </p:blipFill>
          <p:spPr>
            <a:xfrm>
              <a:off x="1262422" y="3471272"/>
              <a:ext cx="151066" cy="148997"/>
            </a:xfrm>
            <a:prstGeom prst="rect">
              <a:avLst/>
            </a:prstGeom>
            <a:effectLst/>
          </p:spPr>
        </p:pic>
        <p:sp>
          <p:nvSpPr>
            <p:cNvPr id="22" name="内容占位符 2"/>
            <p:cNvSpPr txBox="1">
              <a:spLocks/>
            </p:cNvSpPr>
            <p:nvPr/>
          </p:nvSpPr>
          <p:spPr>
            <a:xfrm>
              <a:off x="1394986" y="3366496"/>
              <a:ext cx="4545166"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文件描述符是打开文件的标识</a:t>
              </a: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5865022" y="4478085"/>
            <a:ext cx="1887219" cy="508624"/>
            <a:chOff x="2711620" y="4052887"/>
            <a:chExt cx="1887219" cy="508624"/>
          </a:xfrm>
        </p:grpSpPr>
        <p:sp>
          <p:nvSpPr>
            <p:cNvPr id="23" name="TextBox 5"/>
            <p:cNvSpPr txBox="1">
              <a:spLocks noChangeArrowheads="1"/>
            </p:cNvSpPr>
            <p:nvPr/>
          </p:nvSpPr>
          <p:spPr bwMode="auto">
            <a:xfrm>
              <a:off x="3260576" y="4052887"/>
              <a:ext cx="1338263" cy="369887"/>
            </a:xfrm>
            <a:prstGeom prst="rect">
              <a:avLst/>
            </a:prstGeom>
            <a:noFill/>
            <a:ln w="28575">
              <a:solidFill>
                <a:srgbClr val="11576A"/>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zh-CN" altLang="en-US" sz="1800" b="1" dirty="0">
                  <a:solidFill>
                    <a:srgbClr val="11576A"/>
                  </a:solidFill>
                  <a:latin typeface="微软雅黑"/>
                  <a:ea typeface="微软雅黑"/>
                </a:rPr>
                <a:t>文件描述符</a:t>
              </a:r>
            </a:p>
          </p:txBody>
        </p:sp>
        <p:cxnSp>
          <p:nvCxnSpPr>
            <p:cNvPr id="24" name="Straight Arrow Connector 14"/>
            <p:cNvCxnSpPr>
              <a:cxnSpLocks noChangeShapeType="1"/>
              <a:stCxn id="23" idx="1"/>
              <a:endCxn id="28" idx="3"/>
            </p:cNvCxnSpPr>
            <p:nvPr/>
          </p:nvCxnSpPr>
          <p:spPr bwMode="auto">
            <a:xfrm flipH="1">
              <a:off x="2711620" y="4237831"/>
              <a:ext cx="548956" cy="323680"/>
            </a:xfrm>
            <a:prstGeom prst="straightConnector1">
              <a:avLst/>
            </a:prstGeom>
            <a:noFill/>
            <a:ln w="38100">
              <a:solidFill>
                <a:srgbClr val="11576A"/>
              </a:solidFill>
              <a:round/>
              <a:headEnd/>
              <a:tailEnd type="triangle" w="med" len="med"/>
            </a:ln>
            <a:extLst>
              <a:ext uri="{909E8E84-426E-40dd-AFC4-6F175D3DCCD1}">
                <a14:hiddenFill xmlns="" xmlns:a14="http://schemas.microsoft.com/office/drawing/2010/main">
                  <a:noFill/>
                </a14:hiddenFill>
              </a:ext>
            </a:extLst>
          </p:spPr>
        </p:cxnSp>
      </p:grpSp>
      <p:grpSp>
        <p:nvGrpSpPr>
          <p:cNvPr id="2" name="组合 1"/>
          <p:cNvGrpSpPr/>
          <p:nvPr/>
        </p:nvGrpSpPr>
        <p:grpSpPr>
          <a:xfrm>
            <a:off x="4341022" y="4077072"/>
            <a:ext cx="1524000" cy="1481137"/>
            <a:chOff x="1187624" y="3651870"/>
            <a:chExt cx="1524000" cy="1481137"/>
          </a:xfrm>
        </p:grpSpPr>
        <p:sp>
          <p:nvSpPr>
            <p:cNvPr id="17" name="Rectangle 3"/>
            <p:cNvSpPr>
              <a:spLocks noChangeArrowheads="1"/>
            </p:cNvSpPr>
            <p:nvPr/>
          </p:nvSpPr>
          <p:spPr bwMode="auto">
            <a:xfrm>
              <a:off x="1187624" y="42186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18" name="TextBox 4"/>
            <p:cNvSpPr txBox="1">
              <a:spLocks noChangeArrowheads="1"/>
            </p:cNvSpPr>
            <p:nvPr/>
          </p:nvSpPr>
          <p:spPr bwMode="auto">
            <a:xfrm>
              <a:off x="1279699" y="3651870"/>
              <a:ext cx="133985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zh-CN" altLang="en-US" sz="1800" b="1" dirty="0">
                  <a:solidFill>
                    <a:srgbClr val="11576A"/>
                  </a:solidFill>
                  <a:latin typeface="微软雅黑"/>
                  <a:ea typeface="微软雅黑"/>
                </a:rPr>
                <a:t>打开文件表</a:t>
              </a:r>
            </a:p>
          </p:txBody>
        </p:sp>
        <p:sp>
          <p:nvSpPr>
            <p:cNvPr id="25" name="Rectangle 18"/>
            <p:cNvSpPr>
              <a:spLocks noChangeArrowheads="1"/>
            </p:cNvSpPr>
            <p:nvPr/>
          </p:nvSpPr>
          <p:spPr bwMode="auto">
            <a:xfrm>
              <a:off x="1187624" y="39900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27" name="Rectangle 21"/>
            <p:cNvSpPr>
              <a:spLocks noChangeArrowheads="1"/>
            </p:cNvSpPr>
            <p:nvPr/>
          </p:nvSpPr>
          <p:spPr bwMode="auto">
            <a:xfrm>
              <a:off x="1187624" y="46758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28" name="Rectangle 22"/>
            <p:cNvSpPr>
              <a:spLocks noChangeArrowheads="1"/>
            </p:cNvSpPr>
            <p:nvPr/>
          </p:nvSpPr>
          <p:spPr bwMode="auto">
            <a:xfrm>
              <a:off x="1187624" y="44472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31" name="Rectangle 23"/>
            <p:cNvSpPr>
              <a:spLocks noChangeArrowheads="1"/>
            </p:cNvSpPr>
            <p:nvPr/>
          </p:nvSpPr>
          <p:spPr bwMode="auto">
            <a:xfrm>
              <a:off x="1187624" y="4904407"/>
              <a:ext cx="1524000" cy="2286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grpSp>
      <p:sp>
        <p:nvSpPr>
          <p:cNvPr id="13" name="标题 12">
            <a:extLst>
              <a:ext uri="{FF2B5EF4-FFF2-40B4-BE49-F238E27FC236}">
                <a16:creationId xmlns:a16="http://schemas.microsoft.com/office/drawing/2014/main" id="{79C4B442-36E9-06AC-258E-83DC431EC79E}"/>
              </a:ext>
            </a:extLst>
          </p:cNvPr>
          <p:cNvSpPr>
            <a:spLocks noGrp="1"/>
          </p:cNvSpPr>
          <p:nvPr>
            <p:ph type="title"/>
          </p:nvPr>
        </p:nvSpPr>
        <p:spPr/>
        <p:txBody>
          <a:bodyPr>
            <a:normAutofit/>
          </a:bodyPr>
          <a:lstStyle/>
          <a:p>
            <a:r>
              <a:rPr lang="zh-CN" altLang="en-US" dirty="0"/>
              <a:t>打开文件和文件描述符</a:t>
            </a:r>
          </a:p>
        </p:txBody>
      </p:sp>
      <p:sp>
        <p:nvSpPr>
          <p:cNvPr id="32" name="灯片编号占位符 31">
            <a:extLst>
              <a:ext uri="{FF2B5EF4-FFF2-40B4-BE49-F238E27FC236}">
                <a16:creationId xmlns:a16="http://schemas.microsoft.com/office/drawing/2014/main" id="{49D191A5-E0D3-4FE3-1A0A-425A6EDDFBCF}"/>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28</a:t>
            </a:fld>
            <a:endParaRPr lang="zh-CN" altLang="en-US" dirty="0"/>
          </a:p>
        </p:txBody>
      </p:sp>
    </p:spTree>
    <p:extLst>
      <p:ext uri="{BB962C8B-B14F-4D97-AF65-F5344CB8AC3E}">
        <p14:creationId xmlns:p14="http://schemas.microsoft.com/office/powerpoint/2010/main" val="1561008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22" presetClass="entr" presetSubtype="2"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right)">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628800"/>
            <a:ext cx="6391403" cy="428628"/>
            <a:chOff x="844893" y="1019164"/>
            <a:chExt cx="6391403" cy="428628"/>
          </a:xfrm>
        </p:grpSpPr>
        <p:sp>
          <p:nvSpPr>
            <p:cNvPr id="9" name="内容占位符 2"/>
            <p:cNvSpPr txBox="1">
              <a:spLocks/>
            </p:cNvSpPr>
            <p:nvPr/>
          </p:nvSpPr>
          <p:spPr>
            <a:xfrm>
              <a:off x="1142976" y="1019164"/>
              <a:ext cx="609332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操作系统在打开文件表中维护的打开文件状态和信息</a:t>
              </a: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1184933" y="1965808"/>
            <a:ext cx="1452190" cy="358322"/>
            <a:chOff x="1262422" y="1356172"/>
            <a:chExt cx="1452190" cy="358322"/>
          </a:xfrm>
        </p:grpSpPr>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a:spLocks/>
            </p:cNvSpPr>
            <p:nvPr/>
          </p:nvSpPr>
          <p:spPr>
            <a:xfrm>
              <a:off x="1394985" y="1356172"/>
              <a:ext cx="1319627"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文件指针</a:t>
              </a: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1603252" y="2296234"/>
            <a:ext cx="9299975" cy="671970"/>
            <a:chOff x="1680737" y="1686598"/>
            <a:chExt cx="9299975" cy="671970"/>
          </a:xfrm>
        </p:grpSpPr>
        <p:sp>
          <p:nvSpPr>
            <p:cNvPr id="14" name="内容占位符 2"/>
            <p:cNvSpPr txBox="1">
              <a:spLocks/>
            </p:cNvSpPr>
            <p:nvPr/>
          </p:nvSpPr>
          <p:spPr>
            <a:xfrm>
              <a:off x="1680737" y="1686598"/>
              <a:ext cx="267694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最近一次读写位置</a:t>
              </a:r>
            </a:p>
          </p:txBody>
        </p:sp>
        <p:sp>
          <p:nvSpPr>
            <p:cNvPr id="17" name="内容占位符 2"/>
            <p:cNvSpPr txBox="1">
              <a:spLocks/>
            </p:cNvSpPr>
            <p:nvPr/>
          </p:nvSpPr>
          <p:spPr>
            <a:xfrm>
              <a:off x="1680737" y="2000246"/>
              <a:ext cx="9299975"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100000"/>
                </a:lnSpc>
                <a:spcBef>
                  <a:spcPts val="0"/>
                </a:spcBef>
                <a:spcAft>
                  <a:spcPts val="0"/>
                </a:spcAft>
                <a:buSzTx/>
              </a:pPr>
              <a:r>
                <a:rPr lang="zh-CN" altLang="en-US" dirty="0"/>
                <a:t>每个进程为每个文件分别维护一个自己的打开文件指针</a:t>
              </a:r>
              <a:endParaRPr lang="en-US" altLang="zh-CN" dirty="0"/>
            </a:p>
            <a:p>
              <a:pPr marL="0" lvl="1" indent="0" eaLnBrk="1" fontAlgn="auto" hangingPunct="1">
                <a:lnSpc>
                  <a:spcPct val="100000"/>
                </a:lnSpc>
                <a:spcBef>
                  <a:spcPts val="0"/>
                </a:spcBef>
                <a:spcAft>
                  <a:spcPts val="0"/>
                </a:spcAft>
                <a:buSzTx/>
              </a:pPr>
              <a:r>
                <a:rPr lang="zh-CN" altLang="en-US" dirty="0"/>
                <a:t>文件指针仅对已打开的文件维护，是因为文件的数量可能非常庞大</a:t>
              </a:r>
              <a:endParaRPr lang="en-US" altLang="zh-CN" dirty="0"/>
            </a:p>
            <a:p>
              <a:pPr marL="0" lvl="1" indent="0" eaLnBrk="1" fontAlgn="auto" hangingPunct="1">
                <a:lnSpc>
                  <a:spcPct val="100000"/>
                </a:lnSpc>
                <a:spcBef>
                  <a:spcPts val="0"/>
                </a:spcBef>
                <a:spcAft>
                  <a:spcPts val="0"/>
                </a:spcAft>
                <a:buSzTx/>
              </a:pPr>
              <a:r>
                <a:rPr lang="en-US" altLang="zh-CN" dirty="0"/>
                <a:t>OS</a:t>
              </a:r>
              <a:r>
                <a:rPr lang="zh-CN" altLang="en-US" dirty="0"/>
                <a:t>可能设置一个进程的打开文件上限，也是为了节省文件指针的内存消耗</a:t>
              </a:r>
            </a:p>
          </p:txBody>
        </p:sp>
      </p:grpSp>
      <p:sp>
        <p:nvSpPr>
          <p:cNvPr id="7" name="标题 6">
            <a:extLst>
              <a:ext uri="{FF2B5EF4-FFF2-40B4-BE49-F238E27FC236}">
                <a16:creationId xmlns:a16="http://schemas.microsoft.com/office/drawing/2014/main" id="{241B3904-2A90-7568-CB1D-68C0A6D7533F}"/>
              </a:ext>
            </a:extLst>
          </p:cNvPr>
          <p:cNvSpPr>
            <a:spLocks noGrp="1"/>
          </p:cNvSpPr>
          <p:nvPr>
            <p:ph type="title"/>
          </p:nvPr>
        </p:nvSpPr>
        <p:spPr/>
        <p:txBody>
          <a:bodyPr>
            <a:normAutofit/>
          </a:bodyPr>
          <a:lstStyle/>
          <a:p>
            <a:r>
              <a:rPr lang="zh-CN" altLang="en-US" dirty="0"/>
              <a:t>文件描述符</a:t>
            </a:r>
          </a:p>
        </p:txBody>
      </p:sp>
      <p:sp>
        <p:nvSpPr>
          <p:cNvPr id="11" name="灯片编号占位符 10">
            <a:extLst>
              <a:ext uri="{FF2B5EF4-FFF2-40B4-BE49-F238E27FC236}">
                <a16:creationId xmlns:a16="http://schemas.microsoft.com/office/drawing/2014/main" id="{B80991AE-E7AF-58C4-1013-B91A5E5BF690}"/>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29</a:t>
            </a:fld>
            <a:endParaRPr lang="zh-CN" altLang="en-US" dirty="0"/>
          </a:p>
        </p:txBody>
      </p:sp>
    </p:spTree>
    <p:extLst>
      <p:ext uri="{BB962C8B-B14F-4D97-AF65-F5344CB8AC3E}">
        <p14:creationId xmlns:p14="http://schemas.microsoft.com/office/powerpoint/2010/main" val="330968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628800"/>
            <a:ext cx="6391403" cy="428628"/>
            <a:chOff x="844893" y="1019164"/>
            <a:chExt cx="6391403" cy="428628"/>
          </a:xfrm>
        </p:grpSpPr>
        <p:sp>
          <p:nvSpPr>
            <p:cNvPr id="9" name="内容占位符 2"/>
            <p:cNvSpPr txBox="1">
              <a:spLocks/>
            </p:cNvSpPr>
            <p:nvPr/>
          </p:nvSpPr>
          <p:spPr>
            <a:xfrm>
              <a:off x="1142976" y="1019164"/>
              <a:ext cx="609332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操作系统在打开文件表中维护的打开文件状态和信息</a:t>
              </a: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1184933" y="1965808"/>
            <a:ext cx="1452190" cy="358322"/>
            <a:chOff x="1262422" y="1356172"/>
            <a:chExt cx="1452190" cy="358322"/>
          </a:xfrm>
        </p:grpSpPr>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a:spLocks/>
            </p:cNvSpPr>
            <p:nvPr/>
          </p:nvSpPr>
          <p:spPr>
            <a:xfrm>
              <a:off x="1394985" y="1356172"/>
              <a:ext cx="1319627"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文件指针</a:t>
              </a: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84933" y="2324130"/>
            <a:ext cx="2023694" cy="355598"/>
            <a:chOff x="1262422" y="2323278"/>
            <a:chExt cx="2023694" cy="355598"/>
          </a:xfrm>
        </p:grpSpPr>
        <p:pic>
          <p:nvPicPr>
            <p:cNvPr id="15" name="图片 14" descr="小点1.png"/>
            <p:cNvPicPr>
              <a:picLocks noChangeAspect="1"/>
            </p:cNvPicPr>
            <p:nvPr/>
          </p:nvPicPr>
          <p:blipFill>
            <a:blip r:embed="rId2" cstate="print"/>
            <a:stretch>
              <a:fillRect/>
            </a:stretch>
          </p:blipFill>
          <p:spPr>
            <a:xfrm>
              <a:off x="1262422" y="2428054"/>
              <a:ext cx="151066" cy="148997"/>
            </a:xfrm>
            <a:prstGeom prst="rect">
              <a:avLst/>
            </a:prstGeom>
            <a:effectLst/>
          </p:spPr>
        </p:pic>
        <p:sp>
          <p:nvSpPr>
            <p:cNvPr id="16" name="内容占位符 2"/>
            <p:cNvSpPr txBox="1">
              <a:spLocks/>
            </p:cNvSpPr>
            <p:nvPr/>
          </p:nvSpPr>
          <p:spPr>
            <a:xfrm>
              <a:off x="1394985" y="2323278"/>
              <a:ext cx="1891131"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文件打开计数</a:t>
              </a:r>
            </a:p>
          </p:txBody>
        </p:sp>
      </p:grpSp>
      <p:grpSp>
        <p:nvGrpSpPr>
          <p:cNvPr id="18" name="组合 17"/>
          <p:cNvGrpSpPr/>
          <p:nvPr/>
        </p:nvGrpSpPr>
        <p:grpSpPr>
          <a:xfrm>
            <a:off x="1603249" y="2687191"/>
            <a:ext cx="6203630" cy="1010482"/>
            <a:chOff x="1680738" y="2632838"/>
            <a:chExt cx="6203630" cy="1010482"/>
          </a:xfrm>
        </p:grpSpPr>
        <p:sp>
          <p:nvSpPr>
            <p:cNvPr id="19" name="内容占位符 2"/>
            <p:cNvSpPr txBox="1">
              <a:spLocks/>
            </p:cNvSpPr>
            <p:nvPr/>
          </p:nvSpPr>
          <p:spPr>
            <a:xfrm>
              <a:off x="1680738" y="2632838"/>
              <a:ext cx="2605510"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当前打开文件的次数</a:t>
              </a:r>
            </a:p>
          </p:txBody>
        </p:sp>
        <p:sp>
          <p:nvSpPr>
            <p:cNvPr id="20" name="内容占位符 2"/>
            <p:cNvSpPr txBox="1">
              <a:spLocks/>
            </p:cNvSpPr>
            <p:nvPr/>
          </p:nvSpPr>
          <p:spPr>
            <a:xfrm>
              <a:off x="1680738" y="2936878"/>
              <a:ext cx="6203630" cy="70644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2" eaLnBrk="1" fontAlgn="auto" hangingPunct="1">
                <a:lnSpc>
                  <a:spcPct val="100000"/>
                </a:lnSpc>
                <a:spcBef>
                  <a:spcPts val="788"/>
                </a:spcBef>
                <a:spcAft>
                  <a:spcPts val="0"/>
                </a:spcAft>
                <a:buSzTx/>
                <a:tabLst>
                  <a:tab pos="1825625" algn="l"/>
                  <a:tab pos="2740025" algn="l"/>
                  <a:tab pos="3654425" algn="l"/>
                  <a:tab pos="4568825" algn="l"/>
                  <a:tab pos="5483225" algn="l"/>
                  <a:tab pos="6397625" algn="l"/>
                  <a:tab pos="7312025" algn="l"/>
                  <a:tab pos="8226425" algn="l"/>
                  <a:tab pos="9140825" algn="l"/>
                  <a:tab pos="10055225" algn="l"/>
                </a:tabLst>
              </a:pPr>
              <a:r>
                <a:rPr lang="zh-CN" altLang="en-US" sz="2000" dirty="0"/>
                <a:t>最后一个进程关闭文件时，将其从打开文件表中移除</a:t>
              </a:r>
              <a:endParaRPr lang="en-GB" altLang="en-US" sz="2000" dirty="0"/>
            </a:p>
          </p:txBody>
        </p:sp>
      </p:grpSp>
      <p:sp>
        <p:nvSpPr>
          <p:cNvPr id="6" name="标题 5">
            <a:extLst>
              <a:ext uri="{FF2B5EF4-FFF2-40B4-BE49-F238E27FC236}">
                <a16:creationId xmlns:a16="http://schemas.microsoft.com/office/drawing/2014/main" id="{BF6CA045-6C91-EF3C-F9E8-A752E4734CE8}"/>
              </a:ext>
            </a:extLst>
          </p:cNvPr>
          <p:cNvSpPr>
            <a:spLocks noGrp="1"/>
          </p:cNvSpPr>
          <p:nvPr>
            <p:ph type="title"/>
          </p:nvPr>
        </p:nvSpPr>
        <p:spPr/>
        <p:txBody>
          <a:bodyPr>
            <a:normAutofit/>
          </a:bodyPr>
          <a:lstStyle/>
          <a:p>
            <a:r>
              <a:rPr lang="zh-CN" altLang="en-US" dirty="0"/>
              <a:t>文件描述符</a:t>
            </a:r>
          </a:p>
        </p:txBody>
      </p:sp>
      <p:sp>
        <p:nvSpPr>
          <p:cNvPr id="10" name="灯片编号占位符 9">
            <a:extLst>
              <a:ext uri="{FF2B5EF4-FFF2-40B4-BE49-F238E27FC236}">
                <a16:creationId xmlns:a16="http://schemas.microsoft.com/office/drawing/2014/main" id="{9D0F08DF-5350-08D2-4C1C-42A34BEF4E7F}"/>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30</a:t>
            </a:fld>
            <a:endParaRPr lang="zh-CN" altLang="en-US" dirty="0"/>
          </a:p>
        </p:txBody>
      </p:sp>
    </p:spTree>
    <p:extLst>
      <p:ext uri="{BB962C8B-B14F-4D97-AF65-F5344CB8AC3E}">
        <p14:creationId xmlns:p14="http://schemas.microsoft.com/office/powerpoint/2010/main" val="52910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628800"/>
            <a:ext cx="6391403" cy="428628"/>
            <a:chOff x="844893" y="1019164"/>
            <a:chExt cx="6391403" cy="428628"/>
          </a:xfrm>
        </p:grpSpPr>
        <p:sp>
          <p:nvSpPr>
            <p:cNvPr id="9" name="内容占位符 2"/>
            <p:cNvSpPr txBox="1">
              <a:spLocks/>
            </p:cNvSpPr>
            <p:nvPr/>
          </p:nvSpPr>
          <p:spPr>
            <a:xfrm>
              <a:off x="1142976" y="1019164"/>
              <a:ext cx="609332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操作系统在打开文件表中维护的打开文件状态和信息</a:t>
              </a: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1184933" y="1965808"/>
            <a:ext cx="1452190" cy="358322"/>
            <a:chOff x="1262422" y="1356172"/>
            <a:chExt cx="1452190" cy="358322"/>
          </a:xfrm>
        </p:grpSpPr>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a:spLocks/>
            </p:cNvSpPr>
            <p:nvPr/>
          </p:nvSpPr>
          <p:spPr>
            <a:xfrm>
              <a:off x="1394985" y="1356172"/>
              <a:ext cx="1319627"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文件指针</a:t>
              </a: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84933" y="2324130"/>
            <a:ext cx="2023694" cy="355598"/>
            <a:chOff x="1262422" y="2323278"/>
            <a:chExt cx="2023694" cy="355598"/>
          </a:xfrm>
        </p:grpSpPr>
        <p:pic>
          <p:nvPicPr>
            <p:cNvPr id="15" name="图片 14" descr="小点1.png"/>
            <p:cNvPicPr>
              <a:picLocks noChangeAspect="1"/>
            </p:cNvPicPr>
            <p:nvPr/>
          </p:nvPicPr>
          <p:blipFill>
            <a:blip r:embed="rId2" cstate="print"/>
            <a:stretch>
              <a:fillRect/>
            </a:stretch>
          </p:blipFill>
          <p:spPr>
            <a:xfrm>
              <a:off x="1262422" y="2428054"/>
              <a:ext cx="151066" cy="148997"/>
            </a:xfrm>
            <a:prstGeom prst="rect">
              <a:avLst/>
            </a:prstGeom>
            <a:effectLst/>
          </p:spPr>
        </p:pic>
        <p:sp>
          <p:nvSpPr>
            <p:cNvPr id="16" name="内容占位符 2"/>
            <p:cNvSpPr txBox="1">
              <a:spLocks/>
            </p:cNvSpPr>
            <p:nvPr/>
          </p:nvSpPr>
          <p:spPr>
            <a:xfrm>
              <a:off x="1394985" y="2323278"/>
              <a:ext cx="1891131"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文件打开计数</a:t>
              </a:r>
            </a:p>
          </p:txBody>
        </p:sp>
      </p:grpSp>
      <p:grpSp>
        <p:nvGrpSpPr>
          <p:cNvPr id="17" name="组合 16"/>
          <p:cNvGrpSpPr/>
          <p:nvPr/>
        </p:nvGrpSpPr>
        <p:grpSpPr>
          <a:xfrm>
            <a:off x="1184933" y="2679728"/>
            <a:ext cx="3021546" cy="355598"/>
            <a:chOff x="1262422" y="3291830"/>
            <a:chExt cx="3021546" cy="355598"/>
          </a:xfrm>
        </p:grpSpPr>
        <p:pic>
          <p:nvPicPr>
            <p:cNvPr id="21" name="图片 20" descr="小点1.png"/>
            <p:cNvPicPr>
              <a:picLocks noChangeAspect="1"/>
            </p:cNvPicPr>
            <p:nvPr/>
          </p:nvPicPr>
          <p:blipFill>
            <a:blip r:embed="rId2" cstate="print"/>
            <a:stretch>
              <a:fillRect/>
            </a:stretch>
          </p:blipFill>
          <p:spPr>
            <a:xfrm>
              <a:off x="1262422" y="3396606"/>
              <a:ext cx="151066" cy="148997"/>
            </a:xfrm>
            <a:prstGeom prst="rect">
              <a:avLst/>
            </a:prstGeom>
            <a:effectLst/>
          </p:spPr>
        </p:pic>
        <p:sp>
          <p:nvSpPr>
            <p:cNvPr id="22" name="内容占位符 2"/>
            <p:cNvSpPr txBox="1">
              <a:spLocks/>
            </p:cNvSpPr>
            <p:nvPr/>
          </p:nvSpPr>
          <p:spPr>
            <a:xfrm>
              <a:off x="1394985" y="3291830"/>
              <a:ext cx="2888983"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文件的磁盘位置</a:t>
              </a:r>
            </a:p>
          </p:txBody>
        </p:sp>
      </p:grpSp>
      <p:sp>
        <p:nvSpPr>
          <p:cNvPr id="23" name="内容占位符 2"/>
          <p:cNvSpPr txBox="1">
            <a:spLocks/>
          </p:cNvSpPr>
          <p:nvPr/>
        </p:nvSpPr>
        <p:spPr>
          <a:xfrm>
            <a:off x="1603249" y="3036910"/>
            <a:ext cx="2319758"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缓存数据访问信息</a:t>
            </a:r>
          </a:p>
        </p:txBody>
      </p:sp>
      <p:sp>
        <p:nvSpPr>
          <p:cNvPr id="6" name="标题 5">
            <a:extLst>
              <a:ext uri="{FF2B5EF4-FFF2-40B4-BE49-F238E27FC236}">
                <a16:creationId xmlns:a16="http://schemas.microsoft.com/office/drawing/2014/main" id="{21DD2662-42FB-AECA-AB40-F0E5597886A7}"/>
              </a:ext>
            </a:extLst>
          </p:cNvPr>
          <p:cNvSpPr>
            <a:spLocks noGrp="1"/>
          </p:cNvSpPr>
          <p:nvPr>
            <p:ph type="title"/>
          </p:nvPr>
        </p:nvSpPr>
        <p:spPr/>
        <p:txBody>
          <a:bodyPr>
            <a:normAutofit/>
          </a:bodyPr>
          <a:lstStyle/>
          <a:p>
            <a:r>
              <a:rPr lang="zh-CN" altLang="en-US" dirty="0"/>
              <a:t>文件描述符</a:t>
            </a:r>
          </a:p>
        </p:txBody>
      </p:sp>
      <p:sp>
        <p:nvSpPr>
          <p:cNvPr id="10" name="灯片编号占位符 9">
            <a:extLst>
              <a:ext uri="{FF2B5EF4-FFF2-40B4-BE49-F238E27FC236}">
                <a16:creationId xmlns:a16="http://schemas.microsoft.com/office/drawing/2014/main" id="{E7B3500C-94FE-EACF-57BB-EDC66616E760}"/>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31</a:t>
            </a:fld>
            <a:endParaRPr lang="zh-CN" altLang="en-US" dirty="0"/>
          </a:p>
        </p:txBody>
      </p:sp>
    </p:spTree>
    <p:extLst>
      <p:ext uri="{BB962C8B-B14F-4D97-AF65-F5344CB8AC3E}">
        <p14:creationId xmlns:p14="http://schemas.microsoft.com/office/powerpoint/2010/main" val="202424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628800"/>
            <a:ext cx="6391403" cy="428628"/>
            <a:chOff x="844893" y="1019164"/>
            <a:chExt cx="6391403" cy="428628"/>
          </a:xfrm>
        </p:grpSpPr>
        <p:sp>
          <p:nvSpPr>
            <p:cNvPr id="9" name="内容占位符 2"/>
            <p:cNvSpPr txBox="1">
              <a:spLocks/>
            </p:cNvSpPr>
            <p:nvPr/>
          </p:nvSpPr>
          <p:spPr>
            <a:xfrm>
              <a:off x="1142976" y="1019164"/>
              <a:ext cx="609332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操作系统在打开文件表中维护的打开文件状态和信息</a:t>
              </a: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1184933" y="1965808"/>
            <a:ext cx="1452190" cy="358322"/>
            <a:chOff x="1262422" y="1356172"/>
            <a:chExt cx="1452190" cy="358322"/>
          </a:xfrm>
        </p:grpSpPr>
        <p:pic>
          <p:nvPicPr>
            <p:cNvPr id="29" name="图片 28" descr="小点1.png"/>
            <p:cNvPicPr>
              <a:picLocks noChangeAspect="1"/>
            </p:cNvPicPr>
            <p:nvPr/>
          </p:nvPicPr>
          <p:blipFill>
            <a:blip r:embed="rId2" cstate="print"/>
            <a:stretch>
              <a:fillRect/>
            </a:stretch>
          </p:blipFill>
          <p:spPr>
            <a:xfrm>
              <a:off x="1262422" y="1460948"/>
              <a:ext cx="151066" cy="148997"/>
            </a:xfrm>
            <a:prstGeom prst="rect">
              <a:avLst/>
            </a:prstGeom>
            <a:effectLst/>
          </p:spPr>
        </p:pic>
        <p:sp>
          <p:nvSpPr>
            <p:cNvPr id="30" name="内容占位符 2"/>
            <p:cNvSpPr txBox="1">
              <a:spLocks/>
            </p:cNvSpPr>
            <p:nvPr/>
          </p:nvSpPr>
          <p:spPr>
            <a:xfrm>
              <a:off x="1394985" y="1356172"/>
              <a:ext cx="1319627"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文件指针</a:t>
              </a: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84933" y="2324130"/>
            <a:ext cx="2023694" cy="355598"/>
            <a:chOff x="1262422" y="2323278"/>
            <a:chExt cx="2023694" cy="355598"/>
          </a:xfrm>
        </p:grpSpPr>
        <p:pic>
          <p:nvPicPr>
            <p:cNvPr id="15" name="图片 14" descr="小点1.png"/>
            <p:cNvPicPr>
              <a:picLocks noChangeAspect="1"/>
            </p:cNvPicPr>
            <p:nvPr/>
          </p:nvPicPr>
          <p:blipFill>
            <a:blip r:embed="rId2" cstate="print"/>
            <a:stretch>
              <a:fillRect/>
            </a:stretch>
          </p:blipFill>
          <p:spPr>
            <a:xfrm>
              <a:off x="1262422" y="2428054"/>
              <a:ext cx="151066" cy="148997"/>
            </a:xfrm>
            <a:prstGeom prst="rect">
              <a:avLst/>
            </a:prstGeom>
            <a:effectLst/>
          </p:spPr>
        </p:pic>
        <p:sp>
          <p:nvSpPr>
            <p:cNvPr id="16" name="内容占位符 2"/>
            <p:cNvSpPr txBox="1">
              <a:spLocks/>
            </p:cNvSpPr>
            <p:nvPr/>
          </p:nvSpPr>
          <p:spPr>
            <a:xfrm>
              <a:off x="1394985" y="2323278"/>
              <a:ext cx="1891131"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文件打开计数</a:t>
              </a:r>
            </a:p>
          </p:txBody>
        </p:sp>
      </p:grpSp>
      <p:grpSp>
        <p:nvGrpSpPr>
          <p:cNvPr id="17" name="组合 16"/>
          <p:cNvGrpSpPr/>
          <p:nvPr/>
        </p:nvGrpSpPr>
        <p:grpSpPr>
          <a:xfrm>
            <a:off x="1184933" y="2679728"/>
            <a:ext cx="3021546" cy="355598"/>
            <a:chOff x="1262422" y="3291830"/>
            <a:chExt cx="3021546" cy="355598"/>
          </a:xfrm>
        </p:grpSpPr>
        <p:pic>
          <p:nvPicPr>
            <p:cNvPr id="21" name="图片 20" descr="小点1.png"/>
            <p:cNvPicPr>
              <a:picLocks noChangeAspect="1"/>
            </p:cNvPicPr>
            <p:nvPr/>
          </p:nvPicPr>
          <p:blipFill>
            <a:blip r:embed="rId2" cstate="print"/>
            <a:stretch>
              <a:fillRect/>
            </a:stretch>
          </p:blipFill>
          <p:spPr>
            <a:xfrm>
              <a:off x="1262422" y="3396606"/>
              <a:ext cx="151066" cy="148997"/>
            </a:xfrm>
            <a:prstGeom prst="rect">
              <a:avLst/>
            </a:prstGeom>
            <a:effectLst/>
          </p:spPr>
        </p:pic>
        <p:sp>
          <p:nvSpPr>
            <p:cNvPr id="22" name="内容占位符 2"/>
            <p:cNvSpPr txBox="1">
              <a:spLocks/>
            </p:cNvSpPr>
            <p:nvPr/>
          </p:nvSpPr>
          <p:spPr>
            <a:xfrm>
              <a:off x="1394985" y="3291830"/>
              <a:ext cx="2888983"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文件的磁盘位置</a:t>
              </a:r>
            </a:p>
          </p:txBody>
        </p:sp>
      </p:grpSp>
      <p:grpSp>
        <p:nvGrpSpPr>
          <p:cNvPr id="4" name="组合 3"/>
          <p:cNvGrpSpPr/>
          <p:nvPr/>
        </p:nvGrpSpPr>
        <p:grpSpPr>
          <a:xfrm>
            <a:off x="1184933" y="3018792"/>
            <a:ext cx="1452190" cy="355598"/>
            <a:chOff x="1262422" y="2409156"/>
            <a:chExt cx="1452190" cy="355598"/>
          </a:xfrm>
        </p:grpSpPr>
        <p:pic>
          <p:nvPicPr>
            <p:cNvPr id="18" name="图片 17" descr="小点1.png"/>
            <p:cNvPicPr>
              <a:picLocks noChangeAspect="1"/>
            </p:cNvPicPr>
            <p:nvPr/>
          </p:nvPicPr>
          <p:blipFill>
            <a:blip r:embed="rId2" cstate="print"/>
            <a:stretch>
              <a:fillRect/>
            </a:stretch>
          </p:blipFill>
          <p:spPr>
            <a:xfrm>
              <a:off x="1262422" y="2513932"/>
              <a:ext cx="151066" cy="148997"/>
            </a:xfrm>
            <a:prstGeom prst="rect">
              <a:avLst/>
            </a:prstGeom>
            <a:effectLst/>
          </p:spPr>
        </p:pic>
        <p:sp>
          <p:nvSpPr>
            <p:cNvPr id="19" name="内容占位符 2"/>
            <p:cNvSpPr txBox="1">
              <a:spLocks/>
            </p:cNvSpPr>
            <p:nvPr/>
          </p:nvSpPr>
          <p:spPr>
            <a:xfrm>
              <a:off x="1394985" y="2409156"/>
              <a:ext cx="1319627"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访问权限</a:t>
              </a:r>
            </a:p>
          </p:txBody>
        </p:sp>
      </p:grpSp>
      <p:sp>
        <p:nvSpPr>
          <p:cNvPr id="20" name="内容占位符 2"/>
          <p:cNvSpPr txBox="1">
            <a:spLocks/>
          </p:cNvSpPr>
          <p:nvPr/>
        </p:nvSpPr>
        <p:spPr>
          <a:xfrm>
            <a:off x="1542183" y="3374390"/>
            <a:ext cx="4619454"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每个进程的文件访问模式信息</a:t>
            </a:r>
            <a:endParaRPr lang="en-GB" altLang="zh-CN" dirty="0"/>
          </a:p>
        </p:txBody>
      </p:sp>
      <p:sp>
        <p:nvSpPr>
          <p:cNvPr id="7" name="标题 6">
            <a:extLst>
              <a:ext uri="{FF2B5EF4-FFF2-40B4-BE49-F238E27FC236}">
                <a16:creationId xmlns:a16="http://schemas.microsoft.com/office/drawing/2014/main" id="{3FF93AE9-2299-3A86-9144-25D6604060F9}"/>
              </a:ext>
            </a:extLst>
          </p:cNvPr>
          <p:cNvSpPr>
            <a:spLocks noGrp="1"/>
          </p:cNvSpPr>
          <p:nvPr>
            <p:ph type="title"/>
          </p:nvPr>
        </p:nvSpPr>
        <p:spPr/>
        <p:txBody>
          <a:bodyPr>
            <a:normAutofit/>
          </a:bodyPr>
          <a:lstStyle/>
          <a:p>
            <a:r>
              <a:rPr lang="zh-CN" altLang="en-US" dirty="0"/>
              <a:t>文件描述符</a:t>
            </a:r>
          </a:p>
        </p:txBody>
      </p:sp>
      <p:sp>
        <p:nvSpPr>
          <p:cNvPr id="11" name="灯片编号占位符 10">
            <a:extLst>
              <a:ext uri="{FF2B5EF4-FFF2-40B4-BE49-F238E27FC236}">
                <a16:creationId xmlns:a16="http://schemas.microsoft.com/office/drawing/2014/main" id="{FDF7B69B-C500-5A83-E723-5B4149647A0C}"/>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32</a:t>
            </a:fld>
            <a:endParaRPr lang="zh-CN" altLang="en-US" dirty="0"/>
          </a:p>
        </p:txBody>
      </p:sp>
    </p:spTree>
    <p:extLst>
      <p:ext uri="{BB962C8B-B14F-4D97-AF65-F5344CB8AC3E}">
        <p14:creationId xmlns:p14="http://schemas.microsoft.com/office/powerpoint/2010/main" val="34301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767408" y="1628800"/>
            <a:ext cx="5671323" cy="696462"/>
            <a:chOff x="844893" y="1019164"/>
            <a:chExt cx="5671323" cy="696462"/>
          </a:xfrm>
        </p:grpSpPr>
        <p:sp>
          <p:nvSpPr>
            <p:cNvPr id="9" name="内容占位符 2"/>
            <p:cNvSpPr txBox="1">
              <a:spLocks/>
            </p:cNvSpPr>
            <p:nvPr/>
          </p:nvSpPr>
          <p:spPr>
            <a:xfrm>
              <a:off x="1142976" y="1019164"/>
              <a:ext cx="200026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文件描述符</a:t>
              </a:r>
              <a:endParaRPr lang="en-US" altLang="zh-CN" dirty="0"/>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33" name="图片 32" descr="小点1.png"/>
            <p:cNvPicPr>
              <a:picLocks noChangeAspect="1"/>
            </p:cNvPicPr>
            <p:nvPr/>
          </p:nvPicPr>
          <p:blipFill>
            <a:blip r:embed="rId3" cstate="print"/>
            <a:stretch>
              <a:fillRect/>
            </a:stretch>
          </p:blipFill>
          <p:spPr>
            <a:xfrm>
              <a:off x="1262422" y="1462080"/>
              <a:ext cx="151066" cy="148997"/>
            </a:xfrm>
            <a:prstGeom prst="rect">
              <a:avLst/>
            </a:prstGeom>
            <a:effectLst/>
          </p:spPr>
        </p:pic>
        <p:sp>
          <p:nvSpPr>
            <p:cNvPr id="34" name="内容占位符 2"/>
            <p:cNvSpPr txBox="1">
              <a:spLocks/>
            </p:cNvSpPr>
            <p:nvPr/>
          </p:nvSpPr>
          <p:spPr>
            <a:xfrm>
              <a:off x="1394985" y="1357304"/>
              <a:ext cx="5121231"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每个被打开的文件都有一个文件描述符</a:t>
              </a:r>
            </a:p>
          </p:txBody>
        </p:sp>
      </p:grpSp>
      <p:grpSp>
        <p:nvGrpSpPr>
          <p:cNvPr id="3" name="组合 2"/>
          <p:cNvGrpSpPr/>
          <p:nvPr/>
        </p:nvGrpSpPr>
        <p:grpSpPr>
          <a:xfrm>
            <a:off x="1184933" y="2278092"/>
            <a:ext cx="5541826" cy="675598"/>
            <a:chOff x="1262422" y="1668456"/>
            <a:chExt cx="5541826" cy="675598"/>
          </a:xfrm>
        </p:grpSpPr>
        <p:pic>
          <p:nvPicPr>
            <p:cNvPr id="18" name="图片 17" descr="小点1.png"/>
            <p:cNvPicPr>
              <a:picLocks noChangeAspect="1"/>
            </p:cNvPicPr>
            <p:nvPr/>
          </p:nvPicPr>
          <p:blipFill>
            <a:blip r:embed="rId3" cstate="print"/>
            <a:stretch>
              <a:fillRect/>
            </a:stretch>
          </p:blipFill>
          <p:spPr>
            <a:xfrm>
              <a:off x="1262422" y="1773232"/>
              <a:ext cx="151066" cy="148997"/>
            </a:xfrm>
            <a:prstGeom prst="rect">
              <a:avLst/>
            </a:prstGeom>
            <a:effectLst/>
          </p:spPr>
        </p:pic>
        <p:sp>
          <p:nvSpPr>
            <p:cNvPr id="19" name="内容占位符 2"/>
            <p:cNvSpPr txBox="1">
              <a:spLocks/>
            </p:cNvSpPr>
            <p:nvPr/>
          </p:nvSpPr>
          <p:spPr>
            <a:xfrm>
              <a:off x="1394985" y="1668456"/>
              <a:ext cx="1891131"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文件状态信息</a:t>
              </a:r>
            </a:p>
          </p:txBody>
        </p:sp>
        <p:pic>
          <p:nvPicPr>
            <p:cNvPr id="24" name="图片 23" descr="小点1.png"/>
            <p:cNvPicPr>
              <a:picLocks noChangeAspect="1"/>
            </p:cNvPicPr>
            <p:nvPr/>
          </p:nvPicPr>
          <p:blipFill>
            <a:blip r:embed="rId3" cstate="print"/>
            <a:stretch>
              <a:fillRect/>
            </a:stretch>
          </p:blipFill>
          <p:spPr>
            <a:xfrm>
              <a:off x="1565844" y="2090508"/>
              <a:ext cx="151066" cy="148997"/>
            </a:xfrm>
            <a:prstGeom prst="rect">
              <a:avLst/>
            </a:prstGeom>
            <a:effectLst/>
          </p:spPr>
        </p:pic>
        <p:sp>
          <p:nvSpPr>
            <p:cNvPr id="25" name="内容占位符 2"/>
            <p:cNvSpPr txBox="1">
              <a:spLocks/>
            </p:cNvSpPr>
            <p:nvPr/>
          </p:nvSpPr>
          <p:spPr>
            <a:xfrm>
              <a:off x="1698407" y="1985732"/>
              <a:ext cx="5105841"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目录项、当前文件指针、文件操作设置等</a:t>
              </a:r>
            </a:p>
          </p:txBody>
        </p:sp>
      </p:grpSp>
      <p:grpSp>
        <p:nvGrpSpPr>
          <p:cNvPr id="4" name="组合 3"/>
          <p:cNvGrpSpPr/>
          <p:nvPr/>
        </p:nvGrpSpPr>
        <p:grpSpPr>
          <a:xfrm>
            <a:off x="767408" y="2909016"/>
            <a:ext cx="4807227" cy="696462"/>
            <a:chOff x="844893" y="2299380"/>
            <a:chExt cx="4807227" cy="696462"/>
          </a:xfrm>
        </p:grpSpPr>
        <p:sp>
          <p:nvSpPr>
            <p:cNvPr id="36" name="内容占位符 2"/>
            <p:cNvSpPr txBox="1">
              <a:spLocks/>
            </p:cNvSpPr>
            <p:nvPr/>
          </p:nvSpPr>
          <p:spPr>
            <a:xfrm>
              <a:off x="1142976" y="2299380"/>
              <a:ext cx="164307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打开文件表</a:t>
              </a:r>
              <a:endParaRPr lang="en-US" altLang="zh-CN" dirty="0"/>
            </a:p>
          </p:txBody>
        </p:sp>
        <p:sp>
          <p:nvSpPr>
            <p:cNvPr id="40" name="TextBox 39"/>
            <p:cNvSpPr txBox="1"/>
            <p:nvPr/>
          </p:nvSpPr>
          <p:spPr>
            <a:xfrm>
              <a:off x="844893" y="2299380"/>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41" name="图片 40" descr="小点1.png"/>
            <p:cNvPicPr>
              <a:picLocks noChangeAspect="1"/>
            </p:cNvPicPr>
            <p:nvPr/>
          </p:nvPicPr>
          <p:blipFill>
            <a:blip r:embed="rId3" cstate="print"/>
            <a:stretch>
              <a:fillRect/>
            </a:stretch>
          </p:blipFill>
          <p:spPr>
            <a:xfrm>
              <a:off x="1262422" y="2742296"/>
              <a:ext cx="151066" cy="148997"/>
            </a:xfrm>
            <a:prstGeom prst="rect">
              <a:avLst/>
            </a:prstGeom>
            <a:effectLst/>
          </p:spPr>
        </p:pic>
        <p:sp>
          <p:nvSpPr>
            <p:cNvPr id="42" name="内容占位符 2"/>
            <p:cNvSpPr txBox="1">
              <a:spLocks/>
            </p:cNvSpPr>
            <p:nvPr/>
          </p:nvSpPr>
          <p:spPr>
            <a:xfrm>
              <a:off x="1394985" y="2637520"/>
              <a:ext cx="4257135"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每个进程一个进程打开文件表</a:t>
              </a:r>
            </a:p>
          </p:txBody>
        </p:sp>
      </p:grpSp>
      <p:grpSp>
        <p:nvGrpSpPr>
          <p:cNvPr id="5" name="组合 4"/>
          <p:cNvGrpSpPr/>
          <p:nvPr/>
        </p:nvGrpSpPr>
        <p:grpSpPr>
          <a:xfrm>
            <a:off x="1184933" y="3558308"/>
            <a:ext cx="4809776" cy="701480"/>
            <a:chOff x="1262422" y="2948672"/>
            <a:chExt cx="4809776" cy="701480"/>
          </a:xfrm>
        </p:grpSpPr>
        <p:pic>
          <p:nvPicPr>
            <p:cNvPr id="45" name="图片 44" descr="小点1.png"/>
            <p:cNvPicPr>
              <a:picLocks noChangeAspect="1"/>
            </p:cNvPicPr>
            <p:nvPr/>
          </p:nvPicPr>
          <p:blipFill>
            <a:blip r:embed="rId3" cstate="print"/>
            <a:stretch>
              <a:fillRect/>
            </a:stretch>
          </p:blipFill>
          <p:spPr>
            <a:xfrm>
              <a:off x="1262422" y="3053448"/>
              <a:ext cx="151066" cy="148997"/>
            </a:xfrm>
            <a:prstGeom prst="rect">
              <a:avLst/>
            </a:prstGeom>
            <a:effectLst/>
          </p:spPr>
        </p:pic>
        <p:sp>
          <p:nvSpPr>
            <p:cNvPr id="46" name="内容占位符 2"/>
            <p:cNvSpPr txBox="1">
              <a:spLocks/>
            </p:cNvSpPr>
            <p:nvPr/>
          </p:nvSpPr>
          <p:spPr>
            <a:xfrm>
              <a:off x="1394985" y="2948672"/>
              <a:ext cx="3969103"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一个系统级的打开文件表</a:t>
              </a:r>
            </a:p>
          </p:txBody>
        </p:sp>
        <p:pic>
          <p:nvPicPr>
            <p:cNvPr id="31" name="图片 30" descr="小点1.png"/>
            <p:cNvPicPr>
              <a:picLocks noChangeAspect="1"/>
            </p:cNvPicPr>
            <p:nvPr/>
          </p:nvPicPr>
          <p:blipFill>
            <a:blip r:embed="rId3" cstate="print"/>
            <a:stretch>
              <a:fillRect/>
            </a:stretch>
          </p:blipFill>
          <p:spPr>
            <a:xfrm>
              <a:off x="1262422" y="3396606"/>
              <a:ext cx="151066" cy="148997"/>
            </a:xfrm>
            <a:prstGeom prst="rect">
              <a:avLst/>
            </a:prstGeom>
            <a:effectLst/>
          </p:spPr>
        </p:pic>
        <p:sp>
          <p:nvSpPr>
            <p:cNvPr id="32" name="内容占位符 2"/>
            <p:cNvSpPr txBox="1">
              <a:spLocks/>
            </p:cNvSpPr>
            <p:nvPr/>
          </p:nvSpPr>
          <p:spPr>
            <a:xfrm>
              <a:off x="1394985" y="3291830"/>
              <a:ext cx="4677213"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有文件被打开时，文件卷就不能被卸载</a:t>
              </a:r>
            </a:p>
          </p:txBody>
        </p:sp>
      </p:grpSp>
      <p:sp>
        <p:nvSpPr>
          <p:cNvPr id="10" name="标题 9">
            <a:extLst>
              <a:ext uri="{FF2B5EF4-FFF2-40B4-BE49-F238E27FC236}">
                <a16:creationId xmlns:a16="http://schemas.microsoft.com/office/drawing/2014/main" id="{1F5AA146-5E6C-3316-9522-235FC5FBE468}"/>
              </a:ext>
            </a:extLst>
          </p:cNvPr>
          <p:cNvSpPr>
            <a:spLocks noGrp="1"/>
          </p:cNvSpPr>
          <p:nvPr>
            <p:ph type="title"/>
          </p:nvPr>
        </p:nvSpPr>
        <p:spPr/>
        <p:txBody>
          <a:bodyPr>
            <a:normAutofit/>
          </a:bodyPr>
          <a:lstStyle/>
          <a:p>
            <a:r>
              <a:rPr lang="zh-CN" altLang="en-US" dirty="0"/>
              <a:t>文件系统中打开文件的数据结构</a:t>
            </a:r>
          </a:p>
        </p:txBody>
      </p:sp>
      <p:sp>
        <p:nvSpPr>
          <p:cNvPr id="13" name="灯片编号占位符 12">
            <a:extLst>
              <a:ext uri="{FF2B5EF4-FFF2-40B4-BE49-F238E27FC236}">
                <a16:creationId xmlns:a16="http://schemas.microsoft.com/office/drawing/2014/main" id="{7CE8CC1A-C98C-95B8-8EDB-889D28A9EAE7}"/>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33</a:t>
            </a:fld>
            <a:endParaRPr lang="zh-CN" altLang="en-US" dirty="0"/>
          </a:p>
        </p:txBody>
      </p:sp>
    </p:spTree>
    <p:extLst>
      <p:ext uri="{BB962C8B-B14F-4D97-AF65-F5344CB8AC3E}">
        <p14:creationId xmlns:p14="http://schemas.microsoft.com/office/powerpoint/2010/main" val="86962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组合 80"/>
          <p:cNvGrpSpPr/>
          <p:nvPr/>
        </p:nvGrpSpPr>
        <p:grpSpPr>
          <a:xfrm>
            <a:off x="4875266" y="1995476"/>
            <a:ext cx="4715412" cy="3577428"/>
            <a:chOff x="1938322" y="1157276"/>
            <a:chExt cx="4715412" cy="3577428"/>
          </a:xfrm>
        </p:grpSpPr>
        <p:grpSp>
          <p:nvGrpSpPr>
            <p:cNvPr id="82" name="组合 68"/>
            <p:cNvGrpSpPr/>
            <p:nvPr/>
          </p:nvGrpSpPr>
          <p:grpSpPr>
            <a:xfrm>
              <a:off x="2298684" y="1157276"/>
              <a:ext cx="571504" cy="432000"/>
              <a:chOff x="1139825" y="1000114"/>
              <a:chExt cx="571504" cy="432000"/>
            </a:xfrm>
          </p:grpSpPr>
          <p:sp>
            <p:nvSpPr>
              <p:cNvPr id="164" name="矩形 163"/>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5" name="TextBox 164"/>
              <p:cNvSpPr txBox="1"/>
              <p:nvPr/>
            </p:nvSpPr>
            <p:spPr>
              <a:xfrm>
                <a:off x="11398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err="1">
                    <a:solidFill>
                      <a:srgbClr val="11576A"/>
                    </a:solidFill>
                    <a:latin typeface="微软雅黑"/>
                    <a:ea typeface="微软雅黑"/>
                  </a:rPr>
                  <a:t>vol</a:t>
                </a:r>
                <a:endParaRPr lang="zh-CN" altLang="en-US" sz="1600" b="1" dirty="0">
                  <a:solidFill>
                    <a:srgbClr val="11576A"/>
                  </a:solidFill>
                  <a:latin typeface="微软雅黑"/>
                  <a:ea typeface="微软雅黑"/>
                </a:endParaRPr>
              </a:p>
            </p:txBody>
          </p:sp>
        </p:grpSp>
        <p:grpSp>
          <p:nvGrpSpPr>
            <p:cNvPr id="83" name="组合 72"/>
            <p:cNvGrpSpPr/>
            <p:nvPr/>
          </p:nvGrpSpPr>
          <p:grpSpPr>
            <a:xfrm>
              <a:off x="4067172" y="1157276"/>
              <a:ext cx="468398" cy="432000"/>
              <a:chOff x="1176314" y="2000246"/>
              <a:chExt cx="468398" cy="432000"/>
            </a:xfrm>
          </p:grpSpPr>
          <p:sp>
            <p:nvSpPr>
              <p:cNvPr id="162" name="矩形 161"/>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3" name="TextBox 162"/>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84" name="组合 73"/>
            <p:cNvGrpSpPr/>
            <p:nvPr/>
          </p:nvGrpSpPr>
          <p:grpSpPr>
            <a:xfrm>
              <a:off x="3357554" y="1928808"/>
              <a:ext cx="468398" cy="432000"/>
              <a:chOff x="1176314" y="2000246"/>
              <a:chExt cx="468398" cy="432000"/>
            </a:xfrm>
          </p:grpSpPr>
          <p:sp>
            <p:nvSpPr>
              <p:cNvPr id="160" name="矩形 159"/>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1" name="TextBox 160"/>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85" name="组合 76"/>
            <p:cNvGrpSpPr/>
            <p:nvPr/>
          </p:nvGrpSpPr>
          <p:grpSpPr>
            <a:xfrm>
              <a:off x="4079872" y="1928808"/>
              <a:ext cx="468398" cy="432000"/>
              <a:chOff x="1176314" y="2000246"/>
              <a:chExt cx="468398" cy="432000"/>
            </a:xfrm>
          </p:grpSpPr>
          <p:sp>
            <p:nvSpPr>
              <p:cNvPr id="158" name="矩形 157"/>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9" name="TextBox 158"/>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86" name="组合 79"/>
            <p:cNvGrpSpPr/>
            <p:nvPr/>
          </p:nvGrpSpPr>
          <p:grpSpPr>
            <a:xfrm>
              <a:off x="4802190" y="1928808"/>
              <a:ext cx="468398" cy="432000"/>
              <a:chOff x="1176314" y="2000246"/>
              <a:chExt cx="468398" cy="432000"/>
            </a:xfrm>
          </p:grpSpPr>
          <p:sp>
            <p:nvSpPr>
              <p:cNvPr id="156" name="矩形 155"/>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7" name="TextBox 156"/>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87" name="组合 84"/>
            <p:cNvGrpSpPr/>
            <p:nvPr/>
          </p:nvGrpSpPr>
          <p:grpSpPr>
            <a:xfrm>
              <a:off x="2979726" y="2711458"/>
              <a:ext cx="468398" cy="432000"/>
              <a:chOff x="1176314" y="2000246"/>
              <a:chExt cx="468398" cy="432000"/>
            </a:xfrm>
          </p:grpSpPr>
          <p:sp>
            <p:nvSpPr>
              <p:cNvPr id="154" name="矩形 153"/>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5" name="TextBox 154"/>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88" name="组合 87"/>
            <p:cNvGrpSpPr/>
            <p:nvPr/>
          </p:nvGrpSpPr>
          <p:grpSpPr>
            <a:xfrm>
              <a:off x="3706814" y="2711458"/>
              <a:ext cx="468398" cy="432000"/>
              <a:chOff x="1176314" y="2000246"/>
              <a:chExt cx="468398" cy="432000"/>
            </a:xfrm>
          </p:grpSpPr>
          <p:sp>
            <p:nvSpPr>
              <p:cNvPr id="152" name="矩形 151"/>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3" name="TextBox 152"/>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89" name="组合 90"/>
            <p:cNvGrpSpPr/>
            <p:nvPr/>
          </p:nvGrpSpPr>
          <p:grpSpPr>
            <a:xfrm>
              <a:off x="5154534" y="2711458"/>
              <a:ext cx="468398" cy="432000"/>
              <a:chOff x="1176314" y="2000246"/>
              <a:chExt cx="468398" cy="432000"/>
            </a:xfrm>
          </p:grpSpPr>
          <p:sp>
            <p:nvSpPr>
              <p:cNvPr id="150" name="矩形 149"/>
              <p:cNvSpPr>
                <a:spLocks noChangeAspect="1"/>
              </p:cNvSpPr>
              <p:nvPr/>
            </p:nvSpPr>
            <p:spPr>
              <a:xfrm>
                <a:off x="1187450" y="2000246"/>
                <a:ext cx="43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51" name="TextBox 150"/>
              <p:cNvSpPr txBox="1"/>
              <p:nvPr/>
            </p:nvSpPr>
            <p:spPr>
              <a:xfrm>
                <a:off x="1176314" y="2052634"/>
                <a:ext cx="468398" cy="338554"/>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dir</a:t>
                </a:r>
                <a:endParaRPr lang="zh-CN" altLang="en-US" sz="1600" b="1" dirty="0">
                  <a:solidFill>
                    <a:srgbClr val="11576A"/>
                  </a:solidFill>
                  <a:latin typeface="微软雅黑"/>
                  <a:ea typeface="微软雅黑"/>
                </a:endParaRPr>
              </a:p>
            </p:txBody>
          </p:sp>
        </p:grpSp>
        <p:grpSp>
          <p:nvGrpSpPr>
            <p:cNvPr id="90" name="组合 93"/>
            <p:cNvGrpSpPr/>
            <p:nvPr/>
          </p:nvGrpSpPr>
          <p:grpSpPr>
            <a:xfrm>
              <a:off x="2954326" y="3482982"/>
              <a:ext cx="571504" cy="432000"/>
              <a:chOff x="1127125" y="1000114"/>
              <a:chExt cx="571504" cy="432000"/>
            </a:xfrm>
          </p:grpSpPr>
          <p:sp>
            <p:nvSpPr>
              <p:cNvPr id="148" name="矩形 147"/>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9" name="TextBox 148"/>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91" name="组合 96"/>
            <p:cNvGrpSpPr/>
            <p:nvPr/>
          </p:nvGrpSpPr>
          <p:grpSpPr>
            <a:xfrm>
              <a:off x="3668706" y="3482982"/>
              <a:ext cx="571504" cy="432000"/>
              <a:chOff x="1127125" y="1000114"/>
              <a:chExt cx="571504" cy="432000"/>
            </a:xfrm>
          </p:grpSpPr>
          <p:sp>
            <p:nvSpPr>
              <p:cNvPr id="146" name="矩形 145"/>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7" name="TextBox 146"/>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92" name="组合 99"/>
            <p:cNvGrpSpPr/>
            <p:nvPr/>
          </p:nvGrpSpPr>
          <p:grpSpPr>
            <a:xfrm>
              <a:off x="4394200" y="3482982"/>
              <a:ext cx="571504" cy="432000"/>
              <a:chOff x="1127125" y="1000114"/>
              <a:chExt cx="571504" cy="432000"/>
            </a:xfrm>
          </p:grpSpPr>
          <p:sp>
            <p:nvSpPr>
              <p:cNvPr id="144" name="矩形 143"/>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5" name="TextBox 144"/>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93" name="组合 102"/>
            <p:cNvGrpSpPr/>
            <p:nvPr/>
          </p:nvGrpSpPr>
          <p:grpSpPr>
            <a:xfrm>
              <a:off x="5105404" y="3482982"/>
              <a:ext cx="571504" cy="432000"/>
              <a:chOff x="1127125" y="1000114"/>
              <a:chExt cx="571504" cy="432000"/>
            </a:xfrm>
          </p:grpSpPr>
          <p:sp>
            <p:nvSpPr>
              <p:cNvPr id="142" name="矩形 141"/>
              <p:cNvSpPr>
                <a:spLocks noChangeAspect="1"/>
              </p:cNvSpPr>
              <p:nvPr/>
            </p:nvSpPr>
            <p:spPr>
              <a:xfrm>
                <a:off x="1187450" y="1000114"/>
                <a:ext cx="432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3" name="TextBox 142"/>
              <p:cNvSpPr txBox="1"/>
              <p:nvPr/>
            </p:nvSpPr>
            <p:spPr>
              <a:xfrm>
                <a:off x="1127125" y="1042977"/>
                <a:ext cx="571504" cy="338554"/>
              </a:xfrm>
              <a:prstGeom prst="rect">
                <a:avLst/>
              </a:prstGeom>
              <a:noFill/>
            </p:spPr>
            <p:txBody>
              <a:bodyPr wrap="square" rtlCol="0">
                <a:spAutoFit/>
              </a:bodyPr>
              <a:lstStyle/>
              <a:p>
                <a:pPr algn="ctr" eaLnBrk="1" fontAlgn="auto" hangingPunct="1">
                  <a:lnSpc>
                    <a:spcPct val="100000"/>
                  </a:lnSpc>
                  <a:spcBef>
                    <a:spcPts val="0"/>
                  </a:spcBef>
                  <a:spcAft>
                    <a:spcPts val="0"/>
                  </a:spcAft>
                  <a:buSzTx/>
                  <a:buNone/>
                </a:pPr>
                <a:r>
                  <a:rPr lang="en-US" altLang="zh-CN" sz="1600" b="1" dirty="0">
                    <a:solidFill>
                      <a:srgbClr val="11576A"/>
                    </a:solidFill>
                    <a:latin typeface="微软雅黑"/>
                    <a:ea typeface="微软雅黑"/>
                  </a:rPr>
                  <a:t>file</a:t>
                </a:r>
                <a:endParaRPr lang="zh-CN" altLang="en-US" sz="1600" b="1" dirty="0">
                  <a:solidFill>
                    <a:srgbClr val="11576A"/>
                  </a:solidFill>
                  <a:latin typeface="微软雅黑"/>
                  <a:ea typeface="微软雅黑"/>
                </a:endParaRPr>
              </a:p>
            </p:txBody>
          </p:sp>
        </p:grpSp>
        <p:grpSp>
          <p:nvGrpSpPr>
            <p:cNvPr id="94" name="组合 134"/>
            <p:cNvGrpSpPr/>
            <p:nvPr/>
          </p:nvGrpSpPr>
          <p:grpSpPr>
            <a:xfrm>
              <a:off x="1938322" y="4192600"/>
              <a:ext cx="4715412" cy="542104"/>
              <a:chOff x="2357422" y="4357700"/>
              <a:chExt cx="4715412" cy="542104"/>
            </a:xfrm>
          </p:grpSpPr>
          <p:grpSp>
            <p:nvGrpSpPr>
              <p:cNvPr id="115" name="组合 109"/>
              <p:cNvGrpSpPr/>
              <p:nvPr/>
            </p:nvGrpSpPr>
            <p:grpSpPr>
              <a:xfrm>
                <a:off x="2357422" y="4357700"/>
                <a:ext cx="676787" cy="542104"/>
                <a:chOff x="414314" y="4391034"/>
                <a:chExt cx="676787" cy="542104"/>
              </a:xfrm>
            </p:grpSpPr>
            <p:sp>
              <p:nvSpPr>
                <p:cNvPr id="140" name="矩形 139"/>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41" name="TextBox 140"/>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16" name="组合 110"/>
              <p:cNvGrpSpPr/>
              <p:nvPr/>
            </p:nvGrpSpPr>
            <p:grpSpPr>
              <a:xfrm>
                <a:off x="2862244" y="4357700"/>
                <a:ext cx="676787" cy="542104"/>
                <a:chOff x="414314" y="4391034"/>
                <a:chExt cx="676787" cy="542104"/>
              </a:xfrm>
            </p:grpSpPr>
            <p:sp>
              <p:nvSpPr>
                <p:cNvPr id="138" name="矩形 137"/>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9" name="TextBox 138"/>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17" name="组合 113"/>
              <p:cNvGrpSpPr/>
              <p:nvPr/>
            </p:nvGrpSpPr>
            <p:grpSpPr>
              <a:xfrm>
                <a:off x="3367073" y="4357700"/>
                <a:ext cx="676787" cy="542104"/>
                <a:chOff x="414314" y="4391034"/>
                <a:chExt cx="676787" cy="542104"/>
              </a:xfrm>
            </p:grpSpPr>
            <p:sp>
              <p:nvSpPr>
                <p:cNvPr id="136" name="矩形 135"/>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7" name="TextBox 136"/>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18" name="组合 116"/>
              <p:cNvGrpSpPr/>
              <p:nvPr/>
            </p:nvGrpSpPr>
            <p:grpSpPr>
              <a:xfrm>
                <a:off x="3871895" y="4357700"/>
                <a:ext cx="676787" cy="542104"/>
                <a:chOff x="414314" y="4391034"/>
                <a:chExt cx="676787" cy="542104"/>
              </a:xfrm>
            </p:grpSpPr>
            <p:sp>
              <p:nvSpPr>
                <p:cNvPr id="134" name="矩形 133"/>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5" name="TextBox 134"/>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19" name="组合 119"/>
              <p:cNvGrpSpPr/>
              <p:nvPr/>
            </p:nvGrpSpPr>
            <p:grpSpPr>
              <a:xfrm>
                <a:off x="4376234" y="4357700"/>
                <a:ext cx="676787" cy="542104"/>
                <a:chOff x="414314" y="4391034"/>
                <a:chExt cx="676787" cy="542104"/>
              </a:xfrm>
            </p:grpSpPr>
            <p:sp>
              <p:nvSpPr>
                <p:cNvPr id="132" name="矩形 131"/>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3" name="TextBox 132"/>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20" name="组合 122"/>
              <p:cNvGrpSpPr/>
              <p:nvPr/>
            </p:nvGrpSpPr>
            <p:grpSpPr>
              <a:xfrm>
                <a:off x="4881056" y="4357700"/>
                <a:ext cx="676787" cy="542104"/>
                <a:chOff x="414314" y="4391034"/>
                <a:chExt cx="676787" cy="542104"/>
              </a:xfrm>
            </p:grpSpPr>
            <p:sp>
              <p:nvSpPr>
                <p:cNvPr id="130" name="矩形 129"/>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1" name="TextBox 130"/>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21" name="组合 125"/>
              <p:cNvGrpSpPr/>
              <p:nvPr/>
            </p:nvGrpSpPr>
            <p:grpSpPr>
              <a:xfrm>
                <a:off x="5385885" y="4357700"/>
                <a:ext cx="676787" cy="542104"/>
                <a:chOff x="414314" y="4391034"/>
                <a:chExt cx="676787" cy="542104"/>
              </a:xfrm>
            </p:grpSpPr>
            <p:sp>
              <p:nvSpPr>
                <p:cNvPr id="128" name="矩形 127"/>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9" name="TextBox 128"/>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22" name="组合 128"/>
              <p:cNvGrpSpPr/>
              <p:nvPr/>
            </p:nvGrpSpPr>
            <p:grpSpPr>
              <a:xfrm>
                <a:off x="5890707" y="4357700"/>
                <a:ext cx="676787" cy="542104"/>
                <a:chOff x="414314" y="4391034"/>
                <a:chExt cx="676787" cy="542104"/>
              </a:xfrm>
            </p:grpSpPr>
            <p:sp>
              <p:nvSpPr>
                <p:cNvPr id="126" name="矩形 125"/>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7" name="TextBox 126"/>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nvGrpSpPr>
              <p:cNvPr id="123" name="组合 131"/>
              <p:cNvGrpSpPr/>
              <p:nvPr/>
            </p:nvGrpSpPr>
            <p:grpSpPr>
              <a:xfrm>
                <a:off x="6396047" y="4357700"/>
                <a:ext cx="676787" cy="542104"/>
                <a:chOff x="414314" y="4391034"/>
                <a:chExt cx="676787" cy="542104"/>
              </a:xfrm>
            </p:grpSpPr>
            <p:sp>
              <p:nvSpPr>
                <p:cNvPr id="124" name="矩形 123"/>
                <p:cNvSpPr>
                  <a:spLocks noChangeAspect="1"/>
                </p:cNvSpPr>
                <p:nvPr/>
              </p:nvSpPr>
              <p:spPr>
                <a:xfrm>
                  <a:off x="500034" y="4429138"/>
                  <a:ext cx="504000" cy="504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25" name="TextBox 124"/>
                <p:cNvSpPr txBox="1"/>
                <p:nvPr/>
              </p:nvSpPr>
              <p:spPr>
                <a:xfrm>
                  <a:off x="414314" y="4391034"/>
                  <a:ext cx="676787" cy="523220"/>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data</a:t>
                  </a:r>
                </a:p>
                <a:p>
                  <a:pPr algn="ctr" eaLnBrk="1" fontAlgn="auto" hangingPunct="1">
                    <a:lnSpc>
                      <a:spcPct val="100000"/>
                    </a:lnSpc>
                    <a:spcBef>
                      <a:spcPts val="0"/>
                    </a:spcBef>
                    <a:spcAft>
                      <a:spcPts val="0"/>
                    </a:spcAft>
                    <a:buSzTx/>
                    <a:buNone/>
                  </a:pPr>
                  <a:r>
                    <a:rPr lang="en-US" altLang="zh-CN" sz="1400" b="1" dirty="0">
                      <a:solidFill>
                        <a:srgbClr val="11576A"/>
                      </a:solidFill>
                      <a:latin typeface="微软雅黑"/>
                      <a:ea typeface="微软雅黑"/>
                    </a:rPr>
                    <a:t>block</a:t>
                  </a:r>
                  <a:endParaRPr lang="zh-CN" altLang="en-US" sz="1400" b="1" dirty="0">
                    <a:solidFill>
                      <a:srgbClr val="11576A"/>
                    </a:solidFill>
                    <a:latin typeface="微软雅黑"/>
                    <a:ea typeface="微软雅黑"/>
                  </a:endParaRPr>
                </a:p>
              </p:txBody>
            </p:sp>
          </p:grpSp>
        </p:grpSp>
        <p:cxnSp>
          <p:nvCxnSpPr>
            <p:cNvPr id="95" name="直接箭头连接符 94"/>
            <p:cNvCxnSpPr/>
            <p:nvPr/>
          </p:nvCxnSpPr>
          <p:spPr>
            <a:xfrm flipV="1">
              <a:off x="2803513" y="1362075"/>
              <a:ext cx="1254137"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162" idx="2"/>
              <a:endCxn id="158" idx="0"/>
            </p:cNvCxnSpPr>
            <p:nvPr/>
          </p:nvCxnSpPr>
          <p:spPr>
            <a:xfrm rot="16200000" flipH="1">
              <a:off x="4127654" y="1755929"/>
              <a:ext cx="334774" cy="1467"/>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endCxn id="160" idx="0"/>
            </p:cNvCxnSpPr>
            <p:nvPr/>
          </p:nvCxnSpPr>
          <p:spPr>
            <a:xfrm rot="10800000" flipV="1">
              <a:off x="3686176" y="1590674"/>
              <a:ext cx="428625" cy="31432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a:endCxn id="156" idx="0"/>
            </p:cNvCxnSpPr>
            <p:nvPr/>
          </p:nvCxnSpPr>
          <p:spPr>
            <a:xfrm>
              <a:off x="4438650" y="1590675"/>
              <a:ext cx="495300" cy="31432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160" idx="2"/>
              <a:endCxn id="154" idx="0"/>
            </p:cNvCxnSpPr>
            <p:nvPr/>
          </p:nvCxnSpPr>
          <p:spPr>
            <a:xfrm rot="5400000">
              <a:off x="3248975" y="2378909"/>
              <a:ext cx="353817" cy="31761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160" idx="2"/>
              <a:endCxn id="152" idx="0"/>
            </p:cNvCxnSpPr>
            <p:nvPr/>
          </p:nvCxnSpPr>
          <p:spPr>
            <a:xfrm rot="16200000" flipH="1">
              <a:off x="3553774" y="2391723"/>
              <a:ext cx="353817" cy="291985"/>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154" idx="2"/>
              <a:endCxn id="148" idx="0"/>
            </p:cNvCxnSpPr>
            <p:nvPr/>
          </p:nvCxnSpPr>
          <p:spPr>
            <a:xfrm rot="16200000" flipH="1">
              <a:off x="3035516" y="3314804"/>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rot="16200000" flipH="1">
              <a:off x="3757712" y="3314804"/>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rot="16200000" flipH="1">
              <a:off x="5186472" y="3314804"/>
              <a:ext cx="342692" cy="0"/>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stCxn id="156" idx="2"/>
              <a:endCxn id="150" idx="0"/>
            </p:cNvCxnSpPr>
            <p:nvPr/>
          </p:nvCxnSpPr>
          <p:spPr>
            <a:xfrm rot="16200000" flipH="1">
              <a:off x="4999992" y="2390142"/>
              <a:ext cx="344292" cy="28562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a:stCxn id="158" idx="2"/>
              <a:endCxn id="144" idx="0"/>
            </p:cNvCxnSpPr>
            <p:nvPr/>
          </p:nvCxnSpPr>
          <p:spPr>
            <a:xfrm rot="16200000" flipH="1">
              <a:off x="3924458" y="2743358"/>
              <a:ext cx="1125342" cy="360242"/>
            </a:xfrm>
            <a:prstGeom prst="straightConnector1">
              <a:avLst/>
            </a:prstGeom>
            <a:ln w="38100">
              <a:solidFill>
                <a:srgbClr val="11576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148" idx="2"/>
              <a:endCxn id="141" idx="0"/>
            </p:cNvCxnSpPr>
            <p:nvPr/>
          </p:nvCxnSpPr>
          <p:spPr>
            <a:xfrm rot="5400000">
              <a:off x="2606029" y="3585428"/>
              <a:ext cx="295068" cy="95417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48" idx="2"/>
              <a:endCxn id="139" idx="0"/>
            </p:cNvCxnSpPr>
            <p:nvPr/>
          </p:nvCxnSpPr>
          <p:spPr>
            <a:xfrm rot="5400000">
              <a:off x="2839392" y="3837841"/>
              <a:ext cx="314118" cy="468401"/>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148" idx="2"/>
              <a:endCxn id="137" idx="0"/>
            </p:cNvCxnSpPr>
            <p:nvPr/>
          </p:nvCxnSpPr>
          <p:spPr>
            <a:xfrm rot="16200000" flipH="1">
              <a:off x="3077517" y="4068116"/>
              <a:ext cx="323643" cy="1737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146" idx="2"/>
              <a:endCxn id="133" idx="0"/>
            </p:cNvCxnSpPr>
            <p:nvPr/>
          </p:nvCxnSpPr>
          <p:spPr>
            <a:xfrm rot="16200000" flipH="1">
              <a:off x="3977631" y="3882381"/>
              <a:ext cx="314118" cy="379319"/>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a:stCxn id="144" idx="2"/>
              <a:endCxn id="135" idx="0"/>
            </p:cNvCxnSpPr>
            <p:nvPr/>
          </p:nvCxnSpPr>
          <p:spPr>
            <a:xfrm rot="5400000">
              <a:off x="4087966" y="3627491"/>
              <a:ext cx="295068" cy="87005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a:stCxn id="144" idx="2"/>
              <a:endCxn id="131" idx="0"/>
            </p:cNvCxnSpPr>
            <p:nvPr/>
          </p:nvCxnSpPr>
          <p:spPr>
            <a:xfrm rot="16200000" flipH="1">
              <a:off x="4568979" y="4016528"/>
              <a:ext cx="323643" cy="12055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a:stCxn id="142" idx="2"/>
              <a:endCxn id="129" idx="0"/>
            </p:cNvCxnSpPr>
            <p:nvPr/>
          </p:nvCxnSpPr>
          <p:spPr>
            <a:xfrm rot="5400000">
              <a:off x="5181756" y="4038651"/>
              <a:ext cx="323643" cy="76304"/>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a:stCxn id="142" idx="2"/>
              <a:endCxn id="127" idx="0"/>
            </p:cNvCxnSpPr>
            <p:nvPr/>
          </p:nvCxnSpPr>
          <p:spPr>
            <a:xfrm rot="16200000" flipH="1">
              <a:off x="5419881" y="3876830"/>
              <a:ext cx="323643" cy="39994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a:stCxn id="142" idx="2"/>
              <a:endCxn id="125" idx="0"/>
            </p:cNvCxnSpPr>
            <p:nvPr/>
          </p:nvCxnSpPr>
          <p:spPr>
            <a:xfrm rot="16200000" flipH="1">
              <a:off x="5686580" y="3610130"/>
              <a:ext cx="295068" cy="904771"/>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3662344" y="2812558"/>
            <a:ext cx="2294526" cy="1721342"/>
            <a:chOff x="1572624" y="1955308"/>
            <a:chExt cx="2294526" cy="1721342"/>
          </a:xfrm>
        </p:grpSpPr>
        <p:sp>
          <p:nvSpPr>
            <p:cNvPr id="167" name="Text Box 55"/>
            <p:cNvSpPr txBox="1">
              <a:spLocks noChangeArrowheads="1"/>
            </p:cNvSpPr>
            <p:nvPr/>
          </p:nvSpPr>
          <p:spPr bwMode="auto">
            <a:xfrm>
              <a:off x="1572624" y="1955308"/>
              <a:ext cx="1622425" cy="338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gn="ctr" eaLnBrk="1" fontAlgn="auto" hangingPunct="1">
                <a:lnSpc>
                  <a:spcPct val="100000"/>
                </a:lnSpc>
                <a:spcBef>
                  <a:spcPts val="0"/>
                </a:spcBef>
                <a:spcAft>
                  <a:spcPts val="0"/>
                </a:spcAft>
                <a:buSzTx/>
                <a:buNone/>
              </a:pPr>
              <a:r>
                <a:rPr lang="zh-CN" altLang="en-US" sz="1600" b="1" dirty="0">
                  <a:solidFill>
                    <a:srgbClr val="11576A"/>
                  </a:solidFill>
                  <a:latin typeface="微软雅黑"/>
                  <a:ea typeface="微软雅黑"/>
                  <a:cs typeface="宋体" charset="0"/>
                </a:rPr>
                <a:t>系统打开文件表</a:t>
              </a:r>
              <a:endParaRPr lang="en-US" altLang="zh-CN" sz="1600" b="1" dirty="0">
                <a:solidFill>
                  <a:srgbClr val="11576A"/>
                </a:solidFill>
                <a:latin typeface="微软雅黑"/>
                <a:ea typeface="微软雅黑"/>
                <a:cs typeface="宋体" charset="0"/>
              </a:endParaRPr>
            </a:p>
          </p:txBody>
        </p:sp>
        <p:grpSp>
          <p:nvGrpSpPr>
            <p:cNvPr id="178" name="组合 177"/>
            <p:cNvGrpSpPr/>
            <p:nvPr/>
          </p:nvGrpSpPr>
          <p:grpSpPr>
            <a:xfrm>
              <a:off x="1924860" y="2373310"/>
              <a:ext cx="504000" cy="1224000"/>
              <a:chOff x="1788426" y="3071816"/>
              <a:chExt cx="504000" cy="1224000"/>
            </a:xfrm>
          </p:grpSpPr>
          <p:sp>
            <p:nvSpPr>
              <p:cNvPr id="173" name="矩形 172"/>
              <p:cNvSpPr/>
              <p:nvPr/>
            </p:nvSpPr>
            <p:spPr>
              <a:xfrm>
                <a:off x="1788426" y="3071816"/>
                <a:ext cx="504000" cy="1224000"/>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4" name="矩形 173"/>
              <p:cNvSpPr/>
              <p:nvPr/>
            </p:nvSpPr>
            <p:spPr>
              <a:xfrm>
                <a:off x="1789093" y="3435356"/>
                <a:ext cx="500400" cy="180000"/>
              </a:xfrm>
              <a:prstGeom prst="rect">
                <a:avLst/>
              </a:prstGeom>
              <a:gradFill>
                <a:gsLst>
                  <a:gs pos="100000">
                    <a:srgbClr val="11576A"/>
                  </a:gs>
                  <a:gs pos="0">
                    <a:srgbClr val="0EB1C8"/>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5" name="矩形 174"/>
              <p:cNvSpPr/>
              <p:nvPr/>
            </p:nvSpPr>
            <p:spPr>
              <a:xfrm>
                <a:off x="1789093" y="3775084"/>
                <a:ext cx="500400" cy="180000"/>
              </a:xfrm>
              <a:prstGeom prst="rect">
                <a:avLst/>
              </a:prstGeom>
              <a:gradFill>
                <a:gsLst>
                  <a:gs pos="100000">
                    <a:srgbClr val="11576A"/>
                  </a:gs>
                  <a:gs pos="0">
                    <a:srgbClr val="0EB1C8"/>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cxnSp>
          <p:nvCxnSpPr>
            <p:cNvPr id="180" name="直接箭头连接符 179"/>
            <p:cNvCxnSpPr>
              <a:stCxn id="174" idx="3"/>
              <a:endCxn id="155" idx="1"/>
            </p:cNvCxnSpPr>
            <p:nvPr/>
          </p:nvCxnSpPr>
          <p:spPr>
            <a:xfrm flipV="1">
              <a:off x="2425927" y="2819400"/>
              <a:ext cx="1393598"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接箭头连接符 181"/>
            <p:cNvCxnSpPr>
              <a:stCxn id="175" idx="3"/>
              <a:endCxn id="149" idx="1"/>
            </p:cNvCxnSpPr>
            <p:nvPr/>
          </p:nvCxnSpPr>
          <p:spPr>
            <a:xfrm>
              <a:off x="2425927" y="3166578"/>
              <a:ext cx="1441223" cy="51007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2428349" y="1993899"/>
            <a:ext cx="1622425" cy="3279821"/>
            <a:chOff x="338625" y="1136645"/>
            <a:chExt cx="1622425" cy="3279821"/>
          </a:xfrm>
        </p:grpSpPr>
        <p:sp>
          <p:nvSpPr>
            <p:cNvPr id="166" name="Text Box 54"/>
            <p:cNvSpPr txBox="1">
              <a:spLocks noChangeArrowheads="1"/>
            </p:cNvSpPr>
            <p:nvPr/>
          </p:nvSpPr>
          <p:spPr bwMode="auto">
            <a:xfrm>
              <a:off x="338625" y="1136645"/>
              <a:ext cx="1622425" cy="338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gn="ctr" eaLnBrk="1" fontAlgn="auto" hangingPunct="1">
                <a:lnSpc>
                  <a:spcPct val="100000"/>
                </a:lnSpc>
                <a:spcBef>
                  <a:spcPts val="0"/>
                </a:spcBef>
                <a:spcAft>
                  <a:spcPts val="0"/>
                </a:spcAft>
                <a:buSzTx/>
                <a:buNone/>
              </a:pPr>
              <a:r>
                <a:rPr lang="zh-CN" altLang="en-US" sz="1600" b="1" dirty="0">
                  <a:solidFill>
                    <a:srgbClr val="11576A"/>
                  </a:solidFill>
                  <a:latin typeface="微软雅黑"/>
                  <a:ea typeface="微软雅黑"/>
                  <a:cs typeface="宋体" charset="0"/>
                </a:rPr>
                <a:t>进程打开文件表</a:t>
              </a:r>
              <a:endParaRPr lang="en-US" altLang="zh-CN" sz="1600" b="1" dirty="0">
                <a:solidFill>
                  <a:srgbClr val="11576A"/>
                </a:solidFill>
                <a:latin typeface="微软雅黑"/>
                <a:ea typeface="微软雅黑"/>
                <a:cs typeface="宋体" charset="0"/>
              </a:endParaRPr>
            </a:p>
          </p:txBody>
        </p:sp>
        <p:grpSp>
          <p:nvGrpSpPr>
            <p:cNvPr id="176" name="组合 175"/>
            <p:cNvGrpSpPr/>
            <p:nvPr/>
          </p:nvGrpSpPr>
          <p:grpSpPr>
            <a:xfrm>
              <a:off x="857224" y="1563680"/>
              <a:ext cx="504000" cy="1224000"/>
              <a:chOff x="857224" y="1785932"/>
              <a:chExt cx="504000" cy="1224000"/>
            </a:xfrm>
          </p:grpSpPr>
          <p:sp>
            <p:nvSpPr>
              <p:cNvPr id="168" name="矩形 167"/>
              <p:cNvSpPr/>
              <p:nvPr/>
            </p:nvSpPr>
            <p:spPr>
              <a:xfrm>
                <a:off x="857224" y="1785932"/>
                <a:ext cx="504000" cy="1224000"/>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69" name="矩形 168"/>
              <p:cNvSpPr/>
              <p:nvPr/>
            </p:nvSpPr>
            <p:spPr>
              <a:xfrm>
                <a:off x="857891" y="2143122"/>
                <a:ext cx="500400" cy="180000"/>
              </a:xfrm>
              <a:prstGeom prst="rect">
                <a:avLst/>
              </a:prstGeom>
              <a:gradFill>
                <a:gsLst>
                  <a:gs pos="100000">
                    <a:srgbClr val="11576A"/>
                  </a:gs>
                  <a:gs pos="0">
                    <a:srgbClr val="0EB1C8"/>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grpSp>
          <p:nvGrpSpPr>
            <p:cNvPr id="177" name="组合 176"/>
            <p:cNvGrpSpPr/>
            <p:nvPr/>
          </p:nvGrpSpPr>
          <p:grpSpPr>
            <a:xfrm>
              <a:off x="857224" y="3192466"/>
              <a:ext cx="504000" cy="1224000"/>
              <a:chOff x="857224" y="3071816"/>
              <a:chExt cx="504000" cy="1224000"/>
            </a:xfrm>
          </p:grpSpPr>
          <p:sp>
            <p:nvSpPr>
              <p:cNvPr id="170" name="矩形 169"/>
              <p:cNvSpPr/>
              <p:nvPr/>
            </p:nvSpPr>
            <p:spPr>
              <a:xfrm>
                <a:off x="857224" y="3071816"/>
                <a:ext cx="504000" cy="1224000"/>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1" name="矩形 170"/>
              <p:cNvSpPr/>
              <p:nvPr/>
            </p:nvSpPr>
            <p:spPr>
              <a:xfrm>
                <a:off x="857891" y="3359156"/>
                <a:ext cx="500400" cy="180000"/>
              </a:xfrm>
              <a:prstGeom prst="rect">
                <a:avLst/>
              </a:prstGeom>
              <a:gradFill>
                <a:gsLst>
                  <a:gs pos="100000">
                    <a:srgbClr val="11576A"/>
                  </a:gs>
                  <a:gs pos="0">
                    <a:srgbClr val="0EB1C8"/>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72" name="矩形 171"/>
              <p:cNvSpPr/>
              <p:nvPr/>
            </p:nvSpPr>
            <p:spPr>
              <a:xfrm>
                <a:off x="857891" y="3857634"/>
                <a:ext cx="500400" cy="180000"/>
              </a:xfrm>
              <a:prstGeom prst="rect">
                <a:avLst/>
              </a:prstGeom>
              <a:gradFill>
                <a:gsLst>
                  <a:gs pos="100000">
                    <a:srgbClr val="11576A"/>
                  </a:gs>
                  <a:gs pos="0">
                    <a:srgbClr val="0EB1C8"/>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cxnSp>
          <p:nvCxnSpPr>
            <p:cNvPr id="184" name="直接箭头连接符 183"/>
            <p:cNvCxnSpPr>
              <a:stCxn id="169" idx="3"/>
              <a:endCxn id="174" idx="1"/>
            </p:cNvCxnSpPr>
            <p:nvPr/>
          </p:nvCxnSpPr>
          <p:spPr>
            <a:xfrm>
              <a:off x="1358291" y="2010870"/>
              <a:ext cx="546709" cy="8275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直接箭头连接符 185"/>
            <p:cNvCxnSpPr>
              <a:stCxn id="171" idx="3"/>
              <a:endCxn id="174" idx="1"/>
            </p:cNvCxnSpPr>
            <p:nvPr/>
          </p:nvCxnSpPr>
          <p:spPr>
            <a:xfrm flipV="1">
              <a:off x="1358291" y="2838450"/>
              <a:ext cx="565759" cy="73135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箭头连接符 187"/>
            <p:cNvCxnSpPr>
              <a:stCxn id="172" idx="3"/>
              <a:endCxn id="175" idx="1"/>
            </p:cNvCxnSpPr>
            <p:nvPr/>
          </p:nvCxnSpPr>
          <p:spPr>
            <a:xfrm flipV="1">
              <a:off x="1358291" y="3181350"/>
              <a:ext cx="565759" cy="88693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6" name="标题 5">
            <a:extLst>
              <a:ext uri="{FF2B5EF4-FFF2-40B4-BE49-F238E27FC236}">
                <a16:creationId xmlns:a16="http://schemas.microsoft.com/office/drawing/2014/main" id="{B408EF11-6F86-918C-A550-D059A93A56C1}"/>
              </a:ext>
            </a:extLst>
          </p:cNvPr>
          <p:cNvSpPr>
            <a:spLocks noGrp="1"/>
          </p:cNvSpPr>
          <p:nvPr>
            <p:ph type="title"/>
          </p:nvPr>
        </p:nvSpPr>
        <p:spPr/>
        <p:txBody>
          <a:bodyPr>
            <a:normAutofit/>
          </a:bodyPr>
          <a:lstStyle/>
          <a:p>
            <a:r>
              <a:rPr lang="zh-CN" altLang="en-US" dirty="0"/>
              <a:t>打开文件表</a:t>
            </a:r>
          </a:p>
        </p:txBody>
      </p:sp>
      <p:sp>
        <p:nvSpPr>
          <p:cNvPr id="9" name="灯片编号占位符 8">
            <a:extLst>
              <a:ext uri="{FF2B5EF4-FFF2-40B4-BE49-F238E27FC236}">
                <a16:creationId xmlns:a16="http://schemas.microsoft.com/office/drawing/2014/main" id="{4CFDF759-F632-59A1-959F-B53189297380}"/>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34</a:t>
            </a:fld>
            <a:endParaRPr lang="zh-CN" altLang="en-US" dirty="0"/>
          </a:p>
        </p:txBody>
      </p:sp>
    </p:spTree>
    <p:extLst>
      <p:ext uri="{BB962C8B-B14F-4D97-AF65-F5344CB8AC3E}">
        <p14:creationId xmlns:p14="http://schemas.microsoft.com/office/powerpoint/2010/main" val="153613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up)">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1628800"/>
            <a:ext cx="6974555" cy="428628"/>
            <a:chOff x="837805" y="1019164"/>
            <a:chExt cx="6974555" cy="428628"/>
          </a:xfrm>
        </p:grpSpPr>
        <p:sp>
          <p:nvSpPr>
            <p:cNvPr id="9" name="内容占位符 2"/>
            <p:cNvSpPr txBox="1">
              <a:spLocks/>
            </p:cNvSpPr>
            <p:nvPr/>
          </p:nvSpPr>
          <p:spPr>
            <a:xfrm>
              <a:off x="1142976" y="1019164"/>
              <a:ext cx="666938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一些文件系统提供文件锁，用于协调多进程的文件访问</a:t>
              </a:r>
              <a:endParaRPr lang="en-US" altLang="zh-CN" dirty="0"/>
            </a:p>
          </p:txBody>
        </p:sp>
        <p:sp>
          <p:nvSpPr>
            <p:cNvPr id="12" name="TextBox 11"/>
            <p:cNvSpPr txBox="1"/>
            <p:nvPr/>
          </p:nvSpPr>
          <p:spPr>
            <a:xfrm>
              <a:off x="837805"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192021" y="2174992"/>
            <a:ext cx="6477930" cy="358322"/>
            <a:chOff x="1262422" y="1419622"/>
            <a:chExt cx="6477930" cy="358322"/>
          </a:xfrm>
        </p:grpSpPr>
        <p:pic>
          <p:nvPicPr>
            <p:cNvPr id="29" name="图片 28" descr="小点1.png"/>
            <p:cNvPicPr>
              <a:picLocks noChangeAspect="1"/>
            </p:cNvPicPr>
            <p:nvPr/>
          </p:nvPicPr>
          <p:blipFill>
            <a:blip r:embed="rId3" cstate="print"/>
            <a:stretch>
              <a:fillRect/>
            </a:stretch>
          </p:blipFill>
          <p:spPr>
            <a:xfrm>
              <a:off x="1262422" y="1524398"/>
              <a:ext cx="151066" cy="148997"/>
            </a:xfrm>
            <a:prstGeom prst="rect">
              <a:avLst/>
            </a:prstGeom>
            <a:effectLst/>
          </p:spPr>
        </p:pic>
        <p:sp>
          <p:nvSpPr>
            <p:cNvPr id="30" name="内容占位符 2"/>
            <p:cNvSpPr txBox="1">
              <a:spLocks/>
            </p:cNvSpPr>
            <p:nvPr/>
          </p:nvSpPr>
          <p:spPr>
            <a:xfrm>
              <a:off x="1394985" y="1419622"/>
              <a:ext cx="6345367"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强制 </a:t>
              </a:r>
              <a:r>
                <a:rPr lang="en-GB" altLang="en-US" dirty="0"/>
                <a:t>– </a:t>
              </a:r>
              <a:r>
                <a:rPr lang="zh-CN" altLang="en-US" dirty="0"/>
                <a:t>根据锁保持情况和访问需求确定是否拒绝访问</a:t>
              </a:r>
            </a:p>
          </p:txBody>
        </p:sp>
      </p:grpSp>
      <p:grpSp>
        <p:nvGrpSpPr>
          <p:cNvPr id="2" name="组合 1"/>
          <p:cNvGrpSpPr/>
          <p:nvPr/>
        </p:nvGrpSpPr>
        <p:grpSpPr>
          <a:xfrm>
            <a:off x="1192021" y="2679048"/>
            <a:ext cx="5309842" cy="358322"/>
            <a:chOff x="1262422" y="1853388"/>
            <a:chExt cx="5309842" cy="358322"/>
          </a:xfrm>
        </p:grpSpPr>
        <p:pic>
          <p:nvPicPr>
            <p:cNvPr id="31" name="图片 30" descr="小点1.png"/>
            <p:cNvPicPr>
              <a:picLocks noChangeAspect="1"/>
            </p:cNvPicPr>
            <p:nvPr/>
          </p:nvPicPr>
          <p:blipFill>
            <a:blip r:embed="rId3" cstate="print"/>
            <a:stretch>
              <a:fillRect/>
            </a:stretch>
          </p:blipFill>
          <p:spPr>
            <a:xfrm>
              <a:off x="1262422" y="1942565"/>
              <a:ext cx="151066" cy="148997"/>
            </a:xfrm>
            <a:prstGeom prst="rect">
              <a:avLst/>
            </a:prstGeom>
            <a:effectLst/>
          </p:spPr>
        </p:pic>
        <p:sp>
          <p:nvSpPr>
            <p:cNvPr id="32" name="内容占位符 2"/>
            <p:cNvSpPr txBox="1">
              <a:spLocks/>
            </p:cNvSpPr>
            <p:nvPr/>
          </p:nvSpPr>
          <p:spPr>
            <a:xfrm>
              <a:off x="1394985" y="1853388"/>
              <a:ext cx="517727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solidFill>
                    <a:srgbClr val="C00000"/>
                  </a:solidFill>
                </a:rPr>
                <a:t>劝告</a:t>
              </a:r>
              <a:r>
                <a:rPr lang="en-GB" altLang="en-US" dirty="0"/>
                <a:t> – </a:t>
              </a:r>
              <a:r>
                <a:rPr lang="zh-CN" altLang="en-US" dirty="0"/>
                <a:t>进程可以查找锁的状态来决定怎么做</a:t>
              </a:r>
            </a:p>
          </p:txBody>
        </p:sp>
      </p:grpSp>
      <p:sp>
        <p:nvSpPr>
          <p:cNvPr id="5" name="文本框 4">
            <a:extLst>
              <a:ext uri="{FF2B5EF4-FFF2-40B4-BE49-F238E27FC236}">
                <a16:creationId xmlns:a16="http://schemas.microsoft.com/office/drawing/2014/main" id="{F22B59C9-1221-BB61-A45D-2993F9C922BA}"/>
              </a:ext>
            </a:extLst>
          </p:cNvPr>
          <p:cNvSpPr txBox="1"/>
          <p:nvPr/>
        </p:nvSpPr>
        <p:spPr>
          <a:xfrm>
            <a:off x="3035660" y="3820631"/>
            <a:ext cx="6120680" cy="1532727"/>
          </a:xfrm>
          <a:prstGeom prst="rect">
            <a:avLst/>
          </a:prstGeom>
          <a:noFill/>
        </p:spPr>
        <p:txBody>
          <a:bodyPr wrap="square" rtlCol="0">
            <a:spAutoFit/>
          </a:bodyPr>
          <a:lstStyle/>
          <a:p>
            <a:pPr>
              <a:lnSpc>
                <a:spcPct val="100000"/>
              </a:lnSpc>
              <a:buNone/>
            </a:pPr>
            <a:r>
              <a:rPr lang="zh-CN" altLang="en-US" dirty="0">
                <a:latin typeface="微软雅黑" panose="020B0503020204020204" pitchFamily="34" charset="-122"/>
                <a:ea typeface="微软雅黑" panose="020B0503020204020204" pitchFamily="34" charset="-122"/>
              </a:rPr>
              <a:t>文件被打开后，多个进程可以对同一个文件读写，多个线程也可以因为读取而并发修改内存中的文件指针</a:t>
            </a:r>
            <a:endParaRPr lang="en-US" altLang="zh-CN" dirty="0">
              <a:latin typeface="微软雅黑" panose="020B0503020204020204" pitchFamily="34" charset="-122"/>
              <a:ea typeface="微软雅黑" panose="020B0503020204020204" pitchFamily="34" charset="-122"/>
            </a:endParaRPr>
          </a:p>
          <a:p>
            <a:pPr>
              <a:lnSpc>
                <a:spcPct val="100000"/>
              </a:lnSpc>
              <a:buNone/>
            </a:pPr>
            <a:r>
              <a:rPr lang="zh-CN" altLang="en-US" dirty="0">
                <a:latin typeface="微软雅黑" panose="020B0503020204020204" pitchFamily="34" charset="-122"/>
                <a:ea typeface="微软雅黑" panose="020B0503020204020204" pitchFamily="34" charset="-122"/>
              </a:rPr>
              <a:t>但是，因为考虑到文件操作过慢，</a:t>
            </a:r>
            <a:r>
              <a:rPr lang="en-US" altLang="zh-CN" dirty="0">
                <a:latin typeface="微软雅黑" panose="020B0503020204020204" pitchFamily="34" charset="-122"/>
                <a:ea typeface="微软雅黑" panose="020B0503020204020204" pitchFamily="34" charset="-122"/>
              </a:rPr>
              <a:t>OS</a:t>
            </a:r>
            <a:r>
              <a:rPr lang="zh-CN" altLang="en-US" dirty="0">
                <a:latin typeface="微软雅黑" panose="020B0503020204020204" pitchFamily="34" charset="-122"/>
                <a:ea typeface="微软雅黑" panose="020B0503020204020204" pitchFamily="34" charset="-122"/>
              </a:rPr>
              <a:t>在大多数情况下并没有刻意保障其操作的原子性，而是将这些任务交给了程序员来完成</a:t>
            </a:r>
          </a:p>
        </p:txBody>
      </p:sp>
      <p:sp>
        <p:nvSpPr>
          <p:cNvPr id="10" name="标题 9">
            <a:extLst>
              <a:ext uri="{FF2B5EF4-FFF2-40B4-BE49-F238E27FC236}">
                <a16:creationId xmlns:a16="http://schemas.microsoft.com/office/drawing/2014/main" id="{5661237F-D31A-6E12-76B2-98A58CD6A4AD}"/>
              </a:ext>
            </a:extLst>
          </p:cNvPr>
          <p:cNvSpPr>
            <a:spLocks noGrp="1"/>
          </p:cNvSpPr>
          <p:nvPr>
            <p:ph type="title"/>
          </p:nvPr>
        </p:nvSpPr>
        <p:spPr/>
        <p:txBody>
          <a:bodyPr>
            <a:normAutofit/>
          </a:bodyPr>
          <a:lstStyle/>
          <a:p>
            <a:r>
              <a:rPr lang="zh-CN" altLang="en-US" dirty="0"/>
              <a:t>打开文件锁</a:t>
            </a:r>
          </a:p>
        </p:txBody>
      </p:sp>
      <p:sp>
        <p:nvSpPr>
          <p:cNvPr id="13" name="灯片编号占位符 12">
            <a:extLst>
              <a:ext uri="{FF2B5EF4-FFF2-40B4-BE49-F238E27FC236}">
                <a16:creationId xmlns:a16="http://schemas.microsoft.com/office/drawing/2014/main" id="{A5BD9A0D-07DB-7C81-0D40-3EF2C49912DC}"/>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35</a:t>
            </a:fld>
            <a:endParaRPr lang="zh-CN" altLang="en-US" dirty="0"/>
          </a:p>
        </p:txBody>
      </p:sp>
    </p:spTree>
    <p:extLst>
      <p:ext uri="{BB962C8B-B14F-4D97-AF65-F5344CB8AC3E}">
        <p14:creationId xmlns:p14="http://schemas.microsoft.com/office/powerpoint/2010/main" val="426089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A1E0F41-988F-758C-09A6-1EDCF89E7B74}"/>
              </a:ext>
            </a:extLst>
          </p:cNvPr>
          <p:cNvSpPr>
            <a:spLocks noGrp="1"/>
          </p:cNvSpPr>
          <p:nvPr>
            <p:ph type="title"/>
          </p:nvPr>
        </p:nvSpPr>
        <p:spPr/>
        <p:txBody>
          <a:bodyPr>
            <a:normAutofit/>
          </a:bodyPr>
          <a:lstStyle/>
          <a:p>
            <a:r>
              <a:rPr lang="en-US" altLang="zh-CN" dirty="0"/>
              <a:t>3</a:t>
            </a:r>
            <a:r>
              <a:rPr lang="zh-CN" altLang="en-US" dirty="0"/>
              <a:t>．提高文件系统性能</a:t>
            </a:r>
          </a:p>
        </p:txBody>
      </p:sp>
      <p:sp>
        <p:nvSpPr>
          <p:cNvPr id="5" name="内容占位符 4">
            <a:extLst>
              <a:ext uri="{FF2B5EF4-FFF2-40B4-BE49-F238E27FC236}">
                <a16:creationId xmlns:a16="http://schemas.microsoft.com/office/drawing/2014/main" id="{292528C3-F905-17A1-93BA-E4AC7AB8EBF6}"/>
              </a:ext>
            </a:extLst>
          </p:cNvPr>
          <p:cNvSpPr>
            <a:spLocks noGrp="1"/>
          </p:cNvSpPr>
          <p:nvPr>
            <p:ph idx="1"/>
          </p:nvPr>
        </p:nvSpPr>
        <p:spPr>
          <a:xfrm>
            <a:off x="690281" y="1557338"/>
            <a:ext cx="10801200" cy="2519734"/>
          </a:xfrm>
        </p:spPr>
        <p:txBody>
          <a:bodyPr>
            <a:normAutofit fontScale="70000" lnSpcReduction="20000"/>
          </a:bodyPr>
          <a:lstStyle/>
          <a:p>
            <a:pPr eaLnBrk="1" hangingPunct="1">
              <a:lnSpc>
                <a:spcPct val="100000"/>
              </a:lnSpc>
              <a:spcBef>
                <a:spcPct val="50000"/>
              </a:spcBef>
              <a:buClrTx/>
              <a:buSzTx/>
              <a:buFontTx/>
              <a:buNone/>
            </a:pPr>
            <a:r>
              <a:rPr lang="zh-CN" altLang="en-US" sz="2800" dirty="0">
                <a:latin typeface="Times New Roman" panose="02020603050405020304" pitchFamily="18" charset="0"/>
              </a:rPr>
              <a:t>使用高速介质掩盖对低速介质的访问</a:t>
            </a:r>
            <a:endParaRPr lang="en-US" altLang="zh-CN" sz="2800" dirty="0">
              <a:latin typeface="Times New Roman" panose="02020603050405020304" pitchFamily="18" charset="0"/>
            </a:endParaRPr>
          </a:p>
          <a:p>
            <a:pPr eaLnBrk="1" hangingPunct="1">
              <a:lnSpc>
                <a:spcPct val="100000"/>
              </a:lnSpc>
              <a:spcBef>
                <a:spcPct val="50000"/>
              </a:spcBef>
              <a:buClrTx/>
              <a:buSzTx/>
              <a:buFontTx/>
              <a:buNone/>
            </a:pPr>
            <a:r>
              <a:rPr lang="en-US" altLang="zh-CN" sz="2800" dirty="0">
                <a:latin typeface="Times New Roman" panose="02020603050405020304" pitchFamily="18" charset="0"/>
              </a:rPr>
              <a:t>a) </a:t>
            </a:r>
            <a:r>
              <a:rPr lang="zh-CN" altLang="en-US" sz="2800" dirty="0">
                <a:latin typeface="Times New Roman" panose="02020603050405020304" pitchFamily="18" charset="0"/>
              </a:rPr>
              <a:t>在磁盘访问中增加高速缓存技术</a:t>
            </a:r>
            <a:endParaRPr lang="en-US" altLang="zh-CN" sz="2800" dirty="0">
              <a:latin typeface="Times New Roman" panose="02020603050405020304" pitchFamily="18" charset="0"/>
            </a:endParaRPr>
          </a:p>
          <a:p>
            <a:pPr eaLnBrk="1" hangingPunct="1">
              <a:lnSpc>
                <a:spcPct val="100000"/>
              </a:lnSpc>
              <a:spcBef>
                <a:spcPct val="50000"/>
              </a:spcBef>
              <a:buClrTx/>
              <a:buSzTx/>
              <a:buFontTx/>
              <a:buNone/>
            </a:pPr>
            <a:r>
              <a:rPr lang="en-US" altLang="zh-CN" sz="2800" dirty="0">
                <a:latin typeface="Times New Roman" panose="02020603050405020304" pitchFamily="18" charset="0"/>
              </a:rPr>
              <a:t>b) </a:t>
            </a:r>
            <a:r>
              <a:rPr lang="zh-CN" altLang="en-US" sz="2800" dirty="0">
                <a:latin typeface="Times New Roman" panose="02020603050405020304" pitchFamily="18" charset="0"/>
              </a:rPr>
              <a:t>使用块预先读技术</a:t>
            </a:r>
          </a:p>
          <a:p>
            <a:pPr eaLnBrk="1" hangingPunct="1">
              <a:lnSpc>
                <a:spcPct val="100000"/>
              </a:lnSpc>
              <a:spcBef>
                <a:spcPct val="50000"/>
              </a:spcBef>
              <a:buClrTx/>
              <a:buSzTx/>
              <a:buFontTx/>
              <a:buNone/>
            </a:pPr>
            <a:r>
              <a:rPr lang="zh-CN" altLang="en-US" sz="2800" dirty="0">
                <a:latin typeface="Times New Roman" panose="02020603050405020304" pitchFamily="18" charset="0"/>
              </a:rPr>
              <a:t>提升低速介质的性能，减少低速介质的使用</a:t>
            </a:r>
            <a:endParaRPr lang="en-US" altLang="zh-CN" sz="2800" dirty="0">
              <a:latin typeface="Times New Roman" panose="02020603050405020304" pitchFamily="18" charset="0"/>
            </a:endParaRPr>
          </a:p>
          <a:p>
            <a:pPr eaLnBrk="1" hangingPunct="1">
              <a:lnSpc>
                <a:spcPct val="100000"/>
              </a:lnSpc>
              <a:spcBef>
                <a:spcPct val="50000"/>
              </a:spcBef>
              <a:buClrTx/>
              <a:buSzTx/>
              <a:buFontTx/>
              <a:buNone/>
            </a:pPr>
            <a:r>
              <a:rPr lang="en-US" altLang="zh-CN" sz="2800" dirty="0">
                <a:latin typeface="Times New Roman" panose="02020603050405020304" pitchFamily="18" charset="0"/>
              </a:rPr>
              <a:t>c) </a:t>
            </a:r>
            <a:r>
              <a:rPr lang="zh-CN" altLang="en-US" sz="2800" dirty="0">
                <a:latin typeface="Times New Roman" panose="02020603050405020304" pitchFamily="18" charset="0"/>
              </a:rPr>
              <a:t>尽量减少磁盘臂移动</a:t>
            </a:r>
          </a:p>
          <a:p>
            <a:pPr eaLnBrk="1" hangingPunct="1">
              <a:lnSpc>
                <a:spcPct val="100000"/>
              </a:lnSpc>
              <a:spcBef>
                <a:spcPct val="50000"/>
              </a:spcBef>
              <a:buClrTx/>
              <a:buSzTx/>
              <a:buFontTx/>
              <a:buNone/>
            </a:pPr>
            <a:r>
              <a:rPr lang="en-US" altLang="zh-CN" sz="2800" dirty="0">
                <a:latin typeface="Times New Roman" panose="02020603050405020304" pitchFamily="18" charset="0"/>
              </a:rPr>
              <a:t>d) </a:t>
            </a:r>
            <a:r>
              <a:rPr lang="zh-CN" altLang="en-US" sz="2800" dirty="0">
                <a:latin typeface="Times New Roman" panose="02020603050405020304" pitchFamily="18" charset="0"/>
              </a:rPr>
              <a:t>增加磁盘的个数以增加吞吐率</a:t>
            </a:r>
          </a:p>
          <a:p>
            <a:endParaRPr lang="zh-CN" altLang="en-US" dirty="0"/>
          </a:p>
        </p:txBody>
      </p:sp>
      <p:sp>
        <p:nvSpPr>
          <p:cNvPr id="6" name="灯片编号占位符 5">
            <a:extLst>
              <a:ext uri="{FF2B5EF4-FFF2-40B4-BE49-F238E27FC236}">
                <a16:creationId xmlns:a16="http://schemas.microsoft.com/office/drawing/2014/main" id="{1694ECDD-11B4-113A-33BE-715A14EA391C}"/>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36</a:t>
            </a:fld>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5734426" y="2204864"/>
            <a:ext cx="2262216" cy="2572830"/>
            <a:chOff x="2051720" y="1491630"/>
            <a:chExt cx="2262216" cy="2572830"/>
          </a:xfrm>
        </p:grpSpPr>
        <p:sp>
          <p:nvSpPr>
            <p:cNvPr id="4" name="矩形 3"/>
            <p:cNvSpPr/>
            <p:nvPr/>
          </p:nvSpPr>
          <p:spPr>
            <a:xfrm>
              <a:off x="2051720" y="1491630"/>
              <a:ext cx="2160240" cy="2160240"/>
            </a:xfrm>
            <a:prstGeom prst="rect">
              <a:avLst/>
            </a:prstGeom>
            <a:gradFill>
              <a:gsLst>
                <a:gs pos="0">
                  <a:srgbClr val="0EB1C8"/>
                </a:gs>
                <a:gs pos="100000">
                  <a:srgbClr val="11576A"/>
                </a:gs>
                <a:gs pos="100000">
                  <a:schemeClr val="accent1">
                    <a:tint val="23500"/>
                    <a:satMod val="160000"/>
                  </a:schemeClr>
                </a:gs>
              </a:gsLst>
              <a:lin ang="5400000" scaled="0"/>
            </a:gradFill>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5" name="矩形 4"/>
            <p:cNvSpPr/>
            <p:nvPr/>
          </p:nvSpPr>
          <p:spPr>
            <a:xfrm>
              <a:off x="2244451" y="1697144"/>
              <a:ext cx="1772505" cy="1800200"/>
            </a:xfrm>
            <a:prstGeom prst="rect">
              <a:avLst/>
            </a:prstGeom>
            <a:ln w="28575">
              <a:solidFill>
                <a:srgbClr val="FFC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6" name="直接连接符 5"/>
            <p:cNvCxnSpPr/>
            <p:nvPr/>
          </p:nvCxnSpPr>
          <p:spPr>
            <a:xfrm>
              <a:off x="2233941" y="2067694"/>
              <a:ext cx="1772505"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2261496" y="2819304"/>
              <a:ext cx="1764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2261496" y="3147814"/>
              <a:ext cx="1764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标题 1"/>
            <p:cNvSpPr txBox="1">
              <a:spLocks/>
            </p:cNvSpPr>
            <p:nvPr/>
          </p:nvSpPr>
          <p:spPr>
            <a:xfrm>
              <a:off x="2626222" y="1728674"/>
              <a:ext cx="1297706" cy="360040"/>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eaLnBrk="1" fontAlgn="auto" hangingPunct="1">
                <a:lnSpc>
                  <a:spcPct val="100000"/>
                </a:lnSpc>
                <a:spcBef>
                  <a:spcPct val="0"/>
                </a:spcBef>
                <a:spcAft>
                  <a:spcPts val="0"/>
                </a:spcAft>
                <a:buSzTx/>
                <a:buNone/>
                <a:defRPr/>
              </a:pPr>
              <a:r>
                <a:rPr lang="zh-CN" altLang="en-US" sz="1600" dirty="0">
                  <a:solidFill>
                    <a:prstClr val="white"/>
                  </a:solidFill>
                </a:rPr>
                <a:t>内存虚拟盘</a:t>
              </a:r>
            </a:p>
          </p:txBody>
        </p:sp>
        <p:sp>
          <p:nvSpPr>
            <p:cNvPr id="11" name="标题 1"/>
            <p:cNvSpPr txBox="1">
              <a:spLocks/>
            </p:cNvSpPr>
            <p:nvPr/>
          </p:nvSpPr>
          <p:spPr>
            <a:xfrm>
              <a:off x="2254110" y="3704420"/>
              <a:ext cx="1800200" cy="360040"/>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algn="ctr" eaLnBrk="1" fontAlgn="auto" hangingPunct="1">
                <a:lnSpc>
                  <a:spcPct val="100000"/>
                </a:lnSpc>
                <a:spcBef>
                  <a:spcPct val="0"/>
                </a:spcBef>
                <a:spcAft>
                  <a:spcPts val="0"/>
                </a:spcAft>
                <a:buSzTx/>
                <a:buNone/>
                <a:defRPr/>
              </a:pPr>
              <a:r>
                <a:rPr lang="zh-CN" altLang="en-US" sz="1600" dirty="0"/>
                <a:t>内存</a:t>
              </a:r>
            </a:p>
          </p:txBody>
        </p:sp>
        <p:sp>
          <p:nvSpPr>
            <p:cNvPr id="12" name="标题 1"/>
            <p:cNvSpPr txBox="1">
              <a:spLocks/>
            </p:cNvSpPr>
            <p:nvPr/>
          </p:nvSpPr>
          <p:spPr>
            <a:xfrm>
              <a:off x="2297712" y="2808794"/>
              <a:ext cx="2016224" cy="360040"/>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eaLnBrk="1" fontAlgn="auto" hangingPunct="1">
                <a:lnSpc>
                  <a:spcPct val="100000"/>
                </a:lnSpc>
                <a:spcBef>
                  <a:spcPct val="0"/>
                </a:spcBef>
                <a:spcAft>
                  <a:spcPts val="0"/>
                </a:spcAft>
                <a:buSzTx/>
                <a:buNone/>
                <a:defRPr/>
              </a:pPr>
              <a:r>
                <a:rPr lang="zh-CN" altLang="en-US" sz="1600" dirty="0">
                  <a:solidFill>
                    <a:prstClr val="white"/>
                  </a:solidFill>
                </a:rPr>
                <a:t>打开文件表</a:t>
              </a:r>
            </a:p>
          </p:txBody>
        </p:sp>
        <p:sp>
          <p:nvSpPr>
            <p:cNvPr id="13" name="标题 1"/>
            <p:cNvSpPr txBox="1">
              <a:spLocks/>
            </p:cNvSpPr>
            <p:nvPr/>
          </p:nvSpPr>
          <p:spPr>
            <a:xfrm>
              <a:off x="2417584" y="3147814"/>
              <a:ext cx="1584176" cy="360040"/>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eaLnBrk="1" fontAlgn="auto" hangingPunct="1">
                <a:lnSpc>
                  <a:spcPct val="100000"/>
                </a:lnSpc>
                <a:spcBef>
                  <a:spcPct val="0"/>
                </a:spcBef>
                <a:spcAft>
                  <a:spcPts val="0"/>
                </a:spcAft>
                <a:buSzTx/>
                <a:buNone/>
                <a:defRPr/>
              </a:pPr>
              <a:r>
                <a:rPr lang="zh-CN" altLang="en-US" sz="1600" dirty="0">
                  <a:solidFill>
                    <a:prstClr val="white"/>
                  </a:solidFill>
                </a:rPr>
                <a:t>数据块缓存</a:t>
              </a:r>
            </a:p>
          </p:txBody>
        </p:sp>
      </p:grpSp>
      <p:cxnSp>
        <p:nvCxnSpPr>
          <p:cNvPr id="14" name="直接连接符 13"/>
          <p:cNvCxnSpPr/>
          <p:nvPr/>
        </p:nvCxnSpPr>
        <p:spPr>
          <a:xfrm>
            <a:off x="5042780" y="3291332"/>
            <a:ext cx="648072" cy="0"/>
          </a:xfrm>
          <a:prstGeom prst="line">
            <a:avLst/>
          </a:prstGeom>
          <a:ln w="28575">
            <a:solidFill>
              <a:srgbClr val="11576A"/>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923100" y="3292193"/>
            <a:ext cx="648072" cy="0"/>
          </a:xfrm>
          <a:prstGeom prst="line">
            <a:avLst/>
          </a:prstGeom>
          <a:ln w="28575">
            <a:solidFill>
              <a:srgbClr val="11576A"/>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8616280" y="3009736"/>
            <a:ext cx="864096" cy="948493"/>
            <a:chOff x="296260" y="2283718"/>
            <a:chExt cx="864096" cy="948493"/>
          </a:xfrm>
        </p:grpSpPr>
        <p:sp>
          <p:nvSpPr>
            <p:cNvPr id="17" name="标题 1"/>
            <p:cNvSpPr txBox="1">
              <a:spLocks/>
            </p:cNvSpPr>
            <p:nvPr/>
          </p:nvSpPr>
          <p:spPr>
            <a:xfrm>
              <a:off x="404272" y="2872171"/>
              <a:ext cx="648072" cy="360040"/>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eaLnBrk="1" fontAlgn="auto" hangingPunct="1">
                <a:lnSpc>
                  <a:spcPct val="100000"/>
                </a:lnSpc>
                <a:spcBef>
                  <a:spcPct val="0"/>
                </a:spcBef>
                <a:spcAft>
                  <a:spcPts val="0"/>
                </a:spcAft>
                <a:buSzTx/>
                <a:buNone/>
                <a:defRPr/>
              </a:pPr>
              <a:r>
                <a:rPr lang="en-US" altLang="zh-CN" sz="1600" dirty="0"/>
                <a:t>CPU</a:t>
              </a:r>
              <a:endParaRPr lang="zh-CN" altLang="en-US" sz="1600" dirty="0"/>
            </a:p>
          </p:txBody>
        </p:sp>
        <p:sp>
          <p:nvSpPr>
            <p:cNvPr id="20" name="矩形 19"/>
            <p:cNvSpPr/>
            <p:nvPr/>
          </p:nvSpPr>
          <p:spPr>
            <a:xfrm>
              <a:off x="296260" y="2283718"/>
              <a:ext cx="864096" cy="547658"/>
            </a:xfrm>
            <a:prstGeom prst="rect">
              <a:avLst/>
            </a:prstGeom>
            <a:gradFill>
              <a:gsLst>
                <a:gs pos="0">
                  <a:srgbClr val="0EB1C8"/>
                </a:gs>
                <a:gs pos="100000">
                  <a:srgbClr val="11576A"/>
                </a:gs>
                <a:gs pos="100000">
                  <a:schemeClr val="accent1">
                    <a:tint val="23500"/>
                    <a:satMod val="160000"/>
                  </a:schemeClr>
                </a:gs>
              </a:gsLst>
              <a:lin ang="5400000" scaled="0"/>
            </a:gradFill>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grpSp>
        <p:nvGrpSpPr>
          <p:cNvPr id="3" name="组合 2"/>
          <p:cNvGrpSpPr/>
          <p:nvPr/>
        </p:nvGrpSpPr>
        <p:grpSpPr>
          <a:xfrm>
            <a:off x="3890652" y="2824205"/>
            <a:ext cx="1224136" cy="1263052"/>
            <a:chOff x="5065546" y="1965718"/>
            <a:chExt cx="1224136" cy="1263052"/>
          </a:xfrm>
        </p:grpSpPr>
        <p:sp>
          <p:nvSpPr>
            <p:cNvPr id="16" name="矩形 15"/>
            <p:cNvSpPr/>
            <p:nvPr/>
          </p:nvSpPr>
          <p:spPr>
            <a:xfrm>
              <a:off x="5107586" y="1965718"/>
              <a:ext cx="1080120" cy="894064"/>
            </a:xfrm>
            <a:prstGeom prst="rect">
              <a:avLst/>
            </a:prstGeom>
            <a:gradFill>
              <a:gsLst>
                <a:gs pos="0">
                  <a:srgbClr val="0EB1C8"/>
                </a:gs>
                <a:gs pos="100000">
                  <a:srgbClr val="11576A"/>
                </a:gs>
                <a:gs pos="100000">
                  <a:schemeClr val="accent1">
                    <a:tint val="23500"/>
                    <a:satMod val="160000"/>
                  </a:schemeClr>
                </a:gs>
              </a:gsLst>
              <a:lin ang="5400000" scaled="0"/>
            </a:gradFill>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8" name="矩形 17"/>
            <p:cNvSpPr/>
            <p:nvPr/>
          </p:nvSpPr>
          <p:spPr>
            <a:xfrm>
              <a:off x="5273969" y="2109734"/>
              <a:ext cx="739754" cy="627052"/>
            </a:xfrm>
            <a:prstGeom prst="rect">
              <a:avLst/>
            </a:prstGeom>
            <a:ln w="28575">
              <a:solidFill>
                <a:srgbClr val="FFC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9" name="标题 1"/>
            <p:cNvSpPr txBox="1">
              <a:spLocks/>
            </p:cNvSpPr>
            <p:nvPr/>
          </p:nvSpPr>
          <p:spPr>
            <a:xfrm>
              <a:off x="5065546" y="2868730"/>
              <a:ext cx="1224136" cy="360040"/>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eaLnBrk="1" fontAlgn="auto" hangingPunct="1">
                <a:lnSpc>
                  <a:spcPct val="100000"/>
                </a:lnSpc>
                <a:spcBef>
                  <a:spcPct val="0"/>
                </a:spcBef>
                <a:spcAft>
                  <a:spcPts val="0"/>
                </a:spcAft>
                <a:buSzTx/>
                <a:buNone/>
                <a:defRPr/>
              </a:pPr>
              <a:r>
                <a:rPr lang="zh-CN" altLang="en-US" sz="1600" dirty="0"/>
                <a:t>磁盘控制器</a:t>
              </a:r>
            </a:p>
          </p:txBody>
        </p:sp>
        <p:sp>
          <p:nvSpPr>
            <p:cNvPr id="22" name="标题 1"/>
            <p:cNvSpPr txBox="1">
              <a:spLocks/>
            </p:cNvSpPr>
            <p:nvPr/>
          </p:nvSpPr>
          <p:spPr>
            <a:xfrm>
              <a:off x="5332763" y="2123872"/>
              <a:ext cx="762121" cy="576064"/>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eaLnBrk="1" fontAlgn="auto" hangingPunct="1">
                <a:lnSpc>
                  <a:spcPct val="100000"/>
                </a:lnSpc>
                <a:spcBef>
                  <a:spcPct val="0"/>
                </a:spcBef>
                <a:spcAft>
                  <a:spcPts val="0"/>
                </a:spcAft>
                <a:buSzTx/>
                <a:buNone/>
                <a:defRPr/>
              </a:pPr>
              <a:r>
                <a:rPr lang="zh-CN" altLang="en-US" sz="1600" dirty="0">
                  <a:solidFill>
                    <a:prstClr val="white"/>
                  </a:solidFill>
                </a:rPr>
                <a:t>扇区</a:t>
              </a:r>
              <a:endParaRPr lang="en-US" altLang="zh-CN" sz="1600" dirty="0">
                <a:solidFill>
                  <a:prstClr val="white"/>
                </a:solidFill>
              </a:endParaRPr>
            </a:p>
            <a:p>
              <a:pPr eaLnBrk="1" fontAlgn="auto" hangingPunct="1">
                <a:lnSpc>
                  <a:spcPct val="100000"/>
                </a:lnSpc>
                <a:spcBef>
                  <a:spcPct val="0"/>
                </a:spcBef>
                <a:spcAft>
                  <a:spcPts val="0"/>
                </a:spcAft>
                <a:buSzTx/>
                <a:buNone/>
                <a:defRPr/>
              </a:pPr>
              <a:r>
                <a:rPr lang="zh-CN" altLang="en-US" sz="1600" dirty="0">
                  <a:solidFill>
                    <a:prstClr val="white"/>
                  </a:solidFill>
                </a:rPr>
                <a:t>缓存</a:t>
              </a:r>
            </a:p>
          </p:txBody>
        </p:sp>
      </p:grpSp>
      <p:cxnSp>
        <p:nvCxnSpPr>
          <p:cNvPr id="23" name="直接连接符 22"/>
          <p:cNvCxnSpPr/>
          <p:nvPr/>
        </p:nvCxnSpPr>
        <p:spPr>
          <a:xfrm>
            <a:off x="3232070" y="3270391"/>
            <a:ext cx="658582" cy="0"/>
          </a:xfrm>
          <a:prstGeom prst="line">
            <a:avLst/>
          </a:prstGeom>
          <a:ln w="28575">
            <a:solidFill>
              <a:srgbClr val="11576A"/>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2531448" y="2707881"/>
            <a:ext cx="679602" cy="1430364"/>
            <a:chOff x="7072822" y="1807354"/>
            <a:chExt cx="679602" cy="1430364"/>
          </a:xfrm>
        </p:grpSpPr>
        <p:sp>
          <p:nvSpPr>
            <p:cNvPr id="24" name="标题 1"/>
            <p:cNvSpPr txBox="1">
              <a:spLocks/>
            </p:cNvSpPr>
            <p:nvPr/>
          </p:nvSpPr>
          <p:spPr>
            <a:xfrm>
              <a:off x="7104352" y="2877678"/>
              <a:ext cx="648072" cy="360040"/>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eaLnBrk="1" fontAlgn="auto" hangingPunct="1">
                <a:lnSpc>
                  <a:spcPct val="100000"/>
                </a:lnSpc>
                <a:spcBef>
                  <a:spcPct val="0"/>
                </a:spcBef>
                <a:spcAft>
                  <a:spcPts val="0"/>
                </a:spcAft>
                <a:buSzTx/>
                <a:buNone/>
                <a:defRPr/>
              </a:pPr>
              <a:r>
                <a:rPr lang="zh-CN" altLang="en-US" sz="1600" dirty="0"/>
                <a:t>磁盘</a:t>
              </a:r>
            </a:p>
          </p:txBody>
        </p:sp>
        <p:grpSp>
          <p:nvGrpSpPr>
            <p:cNvPr id="25" name="组合 24"/>
            <p:cNvGrpSpPr/>
            <p:nvPr/>
          </p:nvGrpSpPr>
          <p:grpSpPr>
            <a:xfrm>
              <a:off x="7072822" y="1923678"/>
              <a:ext cx="649562" cy="957124"/>
              <a:chOff x="7420790" y="2355726"/>
              <a:chExt cx="649562" cy="957124"/>
            </a:xfrm>
            <a:gradFill>
              <a:gsLst>
                <a:gs pos="0">
                  <a:srgbClr val="0EB1C8"/>
                </a:gs>
                <a:gs pos="100000">
                  <a:srgbClr val="11576A"/>
                </a:gs>
                <a:gs pos="100000">
                  <a:schemeClr val="accent1">
                    <a:tint val="23500"/>
                    <a:satMod val="160000"/>
                  </a:schemeClr>
                </a:gs>
              </a:gsLst>
              <a:lin ang="2160000" scaled="0"/>
            </a:gradFill>
          </p:grpSpPr>
          <p:sp>
            <p:nvSpPr>
              <p:cNvPr id="26" name="矩形 25"/>
              <p:cNvSpPr/>
              <p:nvPr/>
            </p:nvSpPr>
            <p:spPr>
              <a:xfrm>
                <a:off x="7420790" y="2355726"/>
                <a:ext cx="648072" cy="864096"/>
              </a:xfrm>
              <a:prstGeom prst="rect">
                <a:avLst/>
              </a:prstGeom>
              <a:grp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7" name="椭圆 26"/>
              <p:cNvSpPr/>
              <p:nvPr/>
            </p:nvSpPr>
            <p:spPr>
              <a:xfrm>
                <a:off x="7422352" y="3096826"/>
                <a:ext cx="648000" cy="216024"/>
              </a:xfrm>
              <a:prstGeom prst="ellipse">
                <a:avLst/>
              </a:prstGeom>
              <a:grp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sp>
          <p:nvSpPr>
            <p:cNvPr id="28" name="椭圆 27"/>
            <p:cNvSpPr/>
            <p:nvPr/>
          </p:nvSpPr>
          <p:spPr>
            <a:xfrm>
              <a:off x="7074384" y="1807354"/>
              <a:ext cx="648000" cy="216024"/>
            </a:xfrm>
            <a:prstGeom prst="ellipse">
              <a:avLst/>
            </a:prstGeom>
            <a:gradFill>
              <a:gsLst>
                <a:gs pos="0">
                  <a:srgbClr val="0EB1C8"/>
                </a:gs>
                <a:gs pos="100000">
                  <a:srgbClr val="11576A"/>
                </a:gs>
                <a:gs pos="100000">
                  <a:schemeClr val="accent1">
                    <a:tint val="23500"/>
                    <a:satMod val="160000"/>
                  </a:schemeClr>
                </a:gs>
              </a:gsLst>
              <a:lin ang="162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sp>
        <p:nvSpPr>
          <p:cNvPr id="32" name="标题 31">
            <a:extLst>
              <a:ext uri="{FF2B5EF4-FFF2-40B4-BE49-F238E27FC236}">
                <a16:creationId xmlns:a16="http://schemas.microsoft.com/office/drawing/2014/main" id="{7BB2769F-7153-0D0E-622C-5A29FE142F7C}"/>
              </a:ext>
            </a:extLst>
          </p:cNvPr>
          <p:cNvSpPr>
            <a:spLocks noGrp="1"/>
          </p:cNvSpPr>
          <p:nvPr>
            <p:ph type="title"/>
          </p:nvPr>
        </p:nvSpPr>
        <p:spPr/>
        <p:txBody>
          <a:bodyPr>
            <a:normAutofit/>
          </a:bodyPr>
          <a:lstStyle/>
          <a:p>
            <a:r>
              <a:rPr lang="zh-CN" altLang="en-US" dirty="0"/>
              <a:t>多种磁盘缓存位置</a:t>
            </a:r>
          </a:p>
        </p:txBody>
      </p:sp>
      <p:sp>
        <p:nvSpPr>
          <p:cNvPr id="34" name="灯片编号占位符 33">
            <a:extLst>
              <a:ext uri="{FF2B5EF4-FFF2-40B4-BE49-F238E27FC236}">
                <a16:creationId xmlns:a16="http://schemas.microsoft.com/office/drawing/2014/main" id="{33290BCA-8709-9CDC-776B-82A85C3486D7}"/>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37</a:t>
            </a:fld>
            <a:endParaRPr lang="zh-CN" altLang="en-US" dirty="0"/>
          </a:p>
        </p:txBody>
      </p:sp>
    </p:spTree>
    <p:extLst>
      <p:ext uri="{BB962C8B-B14F-4D97-AF65-F5344CB8AC3E}">
        <p14:creationId xmlns:p14="http://schemas.microsoft.com/office/powerpoint/2010/main" val="314742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767408" y="1628800"/>
            <a:ext cx="4298611" cy="1007614"/>
            <a:chOff x="844893" y="1019164"/>
            <a:chExt cx="4298611" cy="1007614"/>
          </a:xfrm>
        </p:grpSpPr>
        <p:sp>
          <p:nvSpPr>
            <p:cNvPr id="9" name="内容占位符 2"/>
            <p:cNvSpPr txBox="1">
              <a:spLocks/>
            </p:cNvSpPr>
            <p:nvPr/>
          </p:nvSpPr>
          <p:spPr>
            <a:xfrm>
              <a:off x="1142976" y="1019164"/>
              <a:ext cx="278608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数据块按需读入内存</a:t>
              </a:r>
              <a:endParaRPr lang="en-US" altLang="zh-CN" dirty="0"/>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33" name="图片 32" descr="小点1.png"/>
            <p:cNvPicPr>
              <a:picLocks noChangeAspect="1"/>
            </p:cNvPicPr>
            <p:nvPr/>
          </p:nvPicPr>
          <p:blipFill>
            <a:blip r:embed="rId3" cstate="print"/>
            <a:stretch>
              <a:fillRect/>
            </a:stretch>
          </p:blipFill>
          <p:spPr>
            <a:xfrm>
              <a:off x="1262422" y="1462080"/>
              <a:ext cx="151066" cy="148997"/>
            </a:xfrm>
            <a:prstGeom prst="rect">
              <a:avLst/>
            </a:prstGeom>
            <a:effectLst/>
          </p:spPr>
        </p:pic>
        <p:sp>
          <p:nvSpPr>
            <p:cNvPr id="34" name="内容占位符 2"/>
            <p:cNvSpPr txBox="1">
              <a:spLocks/>
            </p:cNvSpPr>
            <p:nvPr/>
          </p:nvSpPr>
          <p:spPr>
            <a:xfrm>
              <a:off x="1394985" y="1357304"/>
              <a:ext cx="231975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提供</a:t>
              </a:r>
              <a:r>
                <a:rPr lang="en-US" altLang="zh-CN" dirty="0"/>
                <a:t>read()</a:t>
              </a:r>
              <a:r>
                <a:rPr lang="zh-CN" altLang="en-US" dirty="0"/>
                <a:t>操作</a:t>
              </a:r>
            </a:p>
          </p:txBody>
        </p:sp>
        <p:pic>
          <p:nvPicPr>
            <p:cNvPr id="18" name="图片 17" descr="小点1.png"/>
            <p:cNvPicPr>
              <a:picLocks noChangeAspect="1"/>
            </p:cNvPicPr>
            <p:nvPr/>
          </p:nvPicPr>
          <p:blipFill>
            <a:blip r:embed="rId3" cstate="print"/>
            <a:stretch>
              <a:fillRect/>
            </a:stretch>
          </p:blipFill>
          <p:spPr>
            <a:xfrm>
              <a:off x="1262422" y="1773232"/>
              <a:ext cx="151066" cy="148997"/>
            </a:xfrm>
            <a:prstGeom prst="rect">
              <a:avLst/>
            </a:prstGeom>
            <a:effectLst/>
          </p:spPr>
        </p:pic>
        <p:sp>
          <p:nvSpPr>
            <p:cNvPr id="19" name="内容占位符 2"/>
            <p:cNvSpPr txBox="1">
              <a:spLocks/>
            </p:cNvSpPr>
            <p:nvPr/>
          </p:nvSpPr>
          <p:spPr>
            <a:xfrm>
              <a:off x="1394985" y="1668456"/>
              <a:ext cx="374851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预读</a:t>
              </a:r>
              <a:r>
                <a:rPr lang="en-US" altLang="zh-CN" dirty="0"/>
                <a:t>: </a:t>
              </a:r>
              <a:r>
                <a:rPr lang="zh-CN" altLang="en-US" dirty="0"/>
                <a:t>预先读取后面的数据块</a:t>
              </a:r>
            </a:p>
          </p:txBody>
        </p:sp>
      </p:grpSp>
      <p:grpSp>
        <p:nvGrpSpPr>
          <p:cNvPr id="3" name="组合 2"/>
          <p:cNvGrpSpPr/>
          <p:nvPr/>
        </p:nvGrpSpPr>
        <p:grpSpPr>
          <a:xfrm>
            <a:off x="767408" y="2594236"/>
            <a:ext cx="4227173" cy="1007614"/>
            <a:chOff x="844893" y="1984600"/>
            <a:chExt cx="4227173" cy="1007614"/>
          </a:xfrm>
        </p:grpSpPr>
        <p:sp>
          <p:nvSpPr>
            <p:cNvPr id="22" name="内容占位符 2"/>
            <p:cNvSpPr txBox="1">
              <a:spLocks/>
            </p:cNvSpPr>
            <p:nvPr/>
          </p:nvSpPr>
          <p:spPr>
            <a:xfrm>
              <a:off x="1142976" y="1984600"/>
              <a:ext cx="264320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数据块使用后被缓存</a:t>
              </a:r>
              <a:endParaRPr lang="en-US" altLang="zh-CN" dirty="0"/>
            </a:p>
          </p:txBody>
        </p:sp>
        <p:sp>
          <p:nvSpPr>
            <p:cNvPr id="23" name="TextBox 22"/>
            <p:cNvSpPr txBox="1"/>
            <p:nvPr/>
          </p:nvSpPr>
          <p:spPr>
            <a:xfrm>
              <a:off x="844893" y="1984600"/>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4" name="图片 23" descr="小点1.png"/>
            <p:cNvPicPr>
              <a:picLocks noChangeAspect="1"/>
            </p:cNvPicPr>
            <p:nvPr/>
          </p:nvPicPr>
          <p:blipFill>
            <a:blip r:embed="rId3" cstate="print"/>
            <a:stretch>
              <a:fillRect/>
            </a:stretch>
          </p:blipFill>
          <p:spPr>
            <a:xfrm>
              <a:off x="1262422" y="2427516"/>
              <a:ext cx="151066" cy="148997"/>
            </a:xfrm>
            <a:prstGeom prst="rect">
              <a:avLst/>
            </a:prstGeom>
            <a:effectLst/>
          </p:spPr>
        </p:pic>
        <p:sp>
          <p:nvSpPr>
            <p:cNvPr id="25" name="内容占位符 2"/>
            <p:cNvSpPr txBox="1">
              <a:spLocks/>
            </p:cNvSpPr>
            <p:nvPr/>
          </p:nvSpPr>
          <p:spPr>
            <a:xfrm>
              <a:off x="1394985" y="2322740"/>
              <a:ext cx="339132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假设数据将会再次用到</a:t>
              </a:r>
            </a:p>
          </p:txBody>
        </p:sp>
        <p:pic>
          <p:nvPicPr>
            <p:cNvPr id="27" name="图片 26" descr="小点1.png"/>
            <p:cNvPicPr>
              <a:picLocks noChangeAspect="1"/>
            </p:cNvPicPr>
            <p:nvPr/>
          </p:nvPicPr>
          <p:blipFill>
            <a:blip r:embed="rId3" cstate="print"/>
            <a:stretch>
              <a:fillRect/>
            </a:stretch>
          </p:blipFill>
          <p:spPr>
            <a:xfrm>
              <a:off x="1262422" y="2738668"/>
              <a:ext cx="151066" cy="148997"/>
            </a:xfrm>
            <a:prstGeom prst="rect">
              <a:avLst/>
            </a:prstGeom>
            <a:effectLst/>
          </p:spPr>
        </p:pic>
        <p:sp>
          <p:nvSpPr>
            <p:cNvPr id="28" name="内容占位符 2"/>
            <p:cNvSpPr txBox="1">
              <a:spLocks/>
            </p:cNvSpPr>
            <p:nvPr/>
          </p:nvSpPr>
          <p:spPr>
            <a:xfrm>
              <a:off x="1394985" y="2633892"/>
              <a:ext cx="3677081"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写操作可能被缓存和延迟写入</a:t>
              </a:r>
            </a:p>
          </p:txBody>
        </p:sp>
      </p:grpSp>
      <p:grpSp>
        <p:nvGrpSpPr>
          <p:cNvPr id="4" name="组合 3"/>
          <p:cNvGrpSpPr/>
          <p:nvPr/>
        </p:nvGrpSpPr>
        <p:grpSpPr>
          <a:xfrm>
            <a:off x="767408" y="3567604"/>
            <a:ext cx="3012727" cy="696462"/>
            <a:chOff x="844893" y="2957968"/>
            <a:chExt cx="3012727" cy="696462"/>
          </a:xfrm>
        </p:grpSpPr>
        <p:sp>
          <p:nvSpPr>
            <p:cNvPr id="36" name="内容占位符 2"/>
            <p:cNvSpPr txBox="1">
              <a:spLocks/>
            </p:cNvSpPr>
            <p:nvPr/>
          </p:nvSpPr>
          <p:spPr>
            <a:xfrm>
              <a:off x="1142976" y="2957968"/>
              <a:ext cx="271464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dirty="0"/>
                <a:t>两种数据块缓存方式</a:t>
              </a:r>
              <a:endParaRPr lang="en-US" altLang="zh-CN" dirty="0"/>
            </a:p>
          </p:txBody>
        </p:sp>
        <p:sp>
          <p:nvSpPr>
            <p:cNvPr id="40" name="TextBox 39"/>
            <p:cNvSpPr txBox="1"/>
            <p:nvPr/>
          </p:nvSpPr>
          <p:spPr>
            <a:xfrm>
              <a:off x="844893" y="2957968"/>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41" name="图片 40" descr="小点1.png"/>
            <p:cNvPicPr>
              <a:picLocks noChangeAspect="1"/>
            </p:cNvPicPr>
            <p:nvPr/>
          </p:nvPicPr>
          <p:blipFill>
            <a:blip r:embed="rId3" cstate="print"/>
            <a:stretch>
              <a:fillRect/>
            </a:stretch>
          </p:blipFill>
          <p:spPr>
            <a:xfrm>
              <a:off x="1262422" y="3386708"/>
              <a:ext cx="151066" cy="148997"/>
            </a:xfrm>
            <a:prstGeom prst="rect">
              <a:avLst/>
            </a:prstGeom>
            <a:effectLst/>
          </p:spPr>
        </p:pic>
        <p:sp>
          <p:nvSpPr>
            <p:cNvPr id="42" name="内容占位符 2"/>
            <p:cNvSpPr txBox="1">
              <a:spLocks/>
            </p:cNvSpPr>
            <p:nvPr/>
          </p:nvSpPr>
          <p:spPr>
            <a:xfrm>
              <a:off x="1394985" y="3296108"/>
              <a:ext cx="2248321"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数据块缓存</a:t>
              </a:r>
            </a:p>
          </p:txBody>
        </p:sp>
      </p:grpSp>
      <p:grpSp>
        <p:nvGrpSpPr>
          <p:cNvPr id="5" name="组合 4"/>
          <p:cNvGrpSpPr/>
          <p:nvPr/>
        </p:nvGrpSpPr>
        <p:grpSpPr>
          <a:xfrm>
            <a:off x="1184933" y="4216896"/>
            <a:ext cx="4166834" cy="358322"/>
            <a:chOff x="1262422" y="3607260"/>
            <a:chExt cx="4166834" cy="358322"/>
          </a:xfrm>
        </p:grpSpPr>
        <p:pic>
          <p:nvPicPr>
            <p:cNvPr id="45" name="图片 44" descr="小点1.png"/>
            <p:cNvPicPr>
              <a:picLocks noChangeAspect="1"/>
            </p:cNvPicPr>
            <p:nvPr/>
          </p:nvPicPr>
          <p:blipFill>
            <a:blip r:embed="rId3" cstate="print"/>
            <a:stretch>
              <a:fillRect/>
            </a:stretch>
          </p:blipFill>
          <p:spPr>
            <a:xfrm>
              <a:off x="1262422" y="3697860"/>
              <a:ext cx="151066" cy="148997"/>
            </a:xfrm>
            <a:prstGeom prst="rect">
              <a:avLst/>
            </a:prstGeom>
            <a:effectLst/>
          </p:spPr>
        </p:pic>
        <p:sp>
          <p:nvSpPr>
            <p:cNvPr id="46" name="内容占位符 2"/>
            <p:cNvSpPr txBox="1">
              <a:spLocks/>
            </p:cNvSpPr>
            <p:nvPr/>
          </p:nvSpPr>
          <p:spPr>
            <a:xfrm>
              <a:off x="1394985" y="3607260"/>
              <a:ext cx="4034271"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页缓存</a:t>
              </a:r>
              <a:r>
                <a:rPr lang="en-US" altLang="zh-CN" dirty="0"/>
                <a:t>: </a:t>
              </a:r>
              <a:r>
                <a:rPr lang="zh-CN" altLang="en-US" dirty="0"/>
                <a:t>统一缓存数据块和内存页</a:t>
              </a:r>
            </a:p>
          </p:txBody>
        </p:sp>
      </p:grpSp>
      <p:sp>
        <p:nvSpPr>
          <p:cNvPr id="10" name="标题 9">
            <a:extLst>
              <a:ext uri="{FF2B5EF4-FFF2-40B4-BE49-F238E27FC236}">
                <a16:creationId xmlns:a16="http://schemas.microsoft.com/office/drawing/2014/main" id="{46FC5C2E-19C2-71AD-B700-D7FF780D5912}"/>
              </a:ext>
            </a:extLst>
          </p:cNvPr>
          <p:cNvSpPr>
            <a:spLocks noGrp="1"/>
          </p:cNvSpPr>
          <p:nvPr>
            <p:ph type="title"/>
          </p:nvPr>
        </p:nvSpPr>
        <p:spPr/>
        <p:txBody>
          <a:bodyPr>
            <a:normAutofit/>
          </a:bodyPr>
          <a:lstStyle/>
          <a:p>
            <a:r>
              <a:rPr lang="zh-CN" altLang="en-US" dirty="0"/>
              <a:t>数据块缓存</a:t>
            </a:r>
          </a:p>
        </p:txBody>
      </p:sp>
      <p:sp>
        <p:nvSpPr>
          <p:cNvPr id="13" name="灯片编号占位符 12">
            <a:extLst>
              <a:ext uri="{FF2B5EF4-FFF2-40B4-BE49-F238E27FC236}">
                <a16:creationId xmlns:a16="http://schemas.microsoft.com/office/drawing/2014/main" id="{8373A636-6C62-6A96-DDF8-41581161D58A}"/>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38</a:t>
            </a:fld>
            <a:endParaRPr lang="zh-CN" altLang="en-US" dirty="0"/>
          </a:p>
        </p:txBody>
      </p:sp>
    </p:spTree>
    <p:extLst>
      <p:ext uri="{BB962C8B-B14F-4D97-AF65-F5344CB8AC3E}">
        <p14:creationId xmlns:p14="http://schemas.microsoft.com/office/powerpoint/2010/main" val="46249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43372" y="1843504"/>
            <a:ext cx="2256687" cy="646331"/>
            <a:chOff x="4568866" y="918428"/>
            <a:chExt cx="2256687" cy="646331"/>
          </a:xfrm>
        </p:grpSpPr>
        <p:sp>
          <p:nvSpPr>
            <p:cNvPr id="6" name="矩形 5"/>
            <p:cNvSpPr/>
            <p:nvPr/>
          </p:nvSpPr>
          <p:spPr>
            <a:xfrm>
              <a:off x="4568866" y="951254"/>
              <a:ext cx="2232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7" name="TextBox 6"/>
            <p:cNvSpPr txBox="1"/>
            <p:nvPr/>
          </p:nvSpPr>
          <p:spPr>
            <a:xfrm>
              <a:off x="4595262" y="918428"/>
              <a:ext cx="2230291" cy="646331"/>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文件读写</a:t>
              </a:r>
              <a:endParaRPr lang="en-US" altLang="zh-CN" b="1" dirty="0">
                <a:solidFill>
                  <a:prstClr val="white"/>
                </a:solidFill>
                <a:latin typeface="微软雅黑"/>
                <a:ea typeface="微软雅黑"/>
              </a:endParaRPr>
            </a:p>
            <a:p>
              <a:pPr algn="ctr" eaLnBrk="1" fontAlgn="auto" hangingPunct="1">
                <a:lnSpc>
                  <a:spcPct val="100000"/>
                </a:lnSpc>
                <a:spcBef>
                  <a:spcPts val="0"/>
                </a:spcBef>
                <a:spcAft>
                  <a:spcPts val="0"/>
                </a:spcAft>
                <a:buSzTx/>
                <a:buNone/>
              </a:pPr>
              <a:r>
                <a:rPr lang="en-US" altLang="zh-CN" b="1" dirty="0">
                  <a:solidFill>
                    <a:prstClr val="white"/>
                  </a:solidFill>
                  <a:latin typeface="微软雅黑"/>
                  <a:ea typeface="微软雅黑"/>
                </a:rPr>
                <a:t>read() and write()</a:t>
              </a:r>
              <a:endParaRPr lang="zh-CN" altLang="en-US" b="1" dirty="0">
                <a:solidFill>
                  <a:prstClr val="white"/>
                </a:solidFill>
                <a:latin typeface="微软雅黑"/>
                <a:ea typeface="微软雅黑"/>
              </a:endParaRPr>
            </a:p>
          </p:txBody>
        </p:sp>
      </p:grpSp>
      <p:grpSp>
        <p:nvGrpSpPr>
          <p:cNvPr id="25" name="组合 24"/>
          <p:cNvGrpSpPr/>
          <p:nvPr/>
        </p:nvGrpSpPr>
        <p:grpSpPr>
          <a:xfrm>
            <a:off x="4643713" y="4617606"/>
            <a:ext cx="1656000" cy="1115650"/>
            <a:chOff x="3586159" y="3676658"/>
            <a:chExt cx="1656000" cy="1115650"/>
          </a:xfrm>
        </p:grpSpPr>
        <p:grpSp>
          <p:nvGrpSpPr>
            <p:cNvPr id="19" name="组合 18"/>
            <p:cNvGrpSpPr/>
            <p:nvPr/>
          </p:nvGrpSpPr>
          <p:grpSpPr>
            <a:xfrm>
              <a:off x="3586159" y="4220804"/>
              <a:ext cx="1656000" cy="571504"/>
              <a:chOff x="3586159" y="4220804"/>
              <a:chExt cx="1656000" cy="571504"/>
            </a:xfrm>
          </p:grpSpPr>
          <p:sp>
            <p:nvSpPr>
              <p:cNvPr id="12" name="矩形 11"/>
              <p:cNvSpPr/>
              <p:nvPr/>
            </p:nvSpPr>
            <p:spPr>
              <a:xfrm>
                <a:off x="3586159" y="4220804"/>
                <a:ext cx="1656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 name="TextBox 12"/>
              <p:cNvSpPr txBox="1"/>
              <p:nvPr/>
            </p:nvSpPr>
            <p:spPr>
              <a:xfrm>
                <a:off x="3842957" y="4311497"/>
                <a:ext cx="1107996"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文件系统</a:t>
                </a:r>
              </a:p>
            </p:txBody>
          </p:sp>
        </p:grpSp>
        <p:cxnSp>
          <p:nvCxnSpPr>
            <p:cNvPr id="16" name="直接箭头连接符 15"/>
            <p:cNvCxnSpPr/>
            <p:nvPr/>
          </p:nvCxnSpPr>
          <p:spPr>
            <a:xfrm rot="16200000" flipH="1">
              <a:off x="4144722" y="3928891"/>
              <a:ext cx="504466" cy="0"/>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4618314" y="4046103"/>
            <a:ext cx="1656000" cy="571504"/>
            <a:chOff x="3560759" y="3105154"/>
            <a:chExt cx="1656000" cy="571504"/>
          </a:xfrm>
        </p:grpSpPr>
        <p:sp>
          <p:nvSpPr>
            <p:cNvPr id="10" name="矩形 9"/>
            <p:cNvSpPr/>
            <p:nvPr/>
          </p:nvSpPr>
          <p:spPr>
            <a:xfrm>
              <a:off x="3560759" y="3105154"/>
              <a:ext cx="1656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 name="TextBox 10"/>
            <p:cNvSpPr txBox="1"/>
            <p:nvPr/>
          </p:nvSpPr>
          <p:spPr>
            <a:xfrm>
              <a:off x="3690900" y="3211303"/>
              <a:ext cx="1338828"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数据块缓存</a:t>
              </a:r>
            </a:p>
          </p:txBody>
        </p:sp>
      </p:grpSp>
      <p:cxnSp>
        <p:nvCxnSpPr>
          <p:cNvPr id="20" name="直接箭头连接符 19"/>
          <p:cNvCxnSpPr/>
          <p:nvPr/>
        </p:nvCxnSpPr>
        <p:spPr>
          <a:xfrm flipH="1">
            <a:off x="5447928" y="2489832"/>
            <a:ext cx="30402" cy="1514270"/>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564837" y="2834002"/>
            <a:ext cx="4469312" cy="954107"/>
          </a:xfrm>
          <a:prstGeom prst="rect">
            <a:avLst/>
          </a:prstGeom>
          <a:noFill/>
        </p:spPr>
        <p:txBody>
          <a:bodyPr wrap="square" rtlCol="0">
            <a:spAutoFit/>
          </a:bodyPr>
          <a:lstStyle/>
          <a:p>
            <a:pPr>
              <a:buNone/>
            </a:pPr>
            <a:r>
              <a:rPr lang="zh-CN" altLang="en-US" sz="2000" dirty="0">
                <a:latin typeface="微软雅黑" panose="020B0503020204020204" pitchFamily="34" charset="-122"/>
                <a:ea typeface="微软雅黑" panose="020B0503020204020204" pitchFamily="34" charset="-122"/>
              </a:rPr>
              <a:t>此时请考虑以下问题：</a:t>
            </a:r>
            <a:endParaRPr lang="en-US" altLang="zh-CN" sz="2000" dirty="0">
              <a:latin typeface="微软雅黑" panose="020B0503020204020204" pitchFamily="34" charset="-122"/>
              <a:ea typeface="微软雅黑" panose="020B0503020204020204" pitchFamily="34" charset="-122"/>
            </a:endParaRPr>
          </a:p>
          <a:p>
            <a:pPr marL="342900" indent="-342900">
              <a:buAutoNum type="arabicPeriod"/>
            </a:pPr>
            <a:r>
              <a:rPr lang="zh-CN" altLang="en-US" sz="2000" dirty="0">
                <a:latin typeface="微软雅黑" panose="020B0503020204020204" pitchFamily="34" charset="-122"/>
                <a:ea typeface="微软雅黑" panose="020B0503020204020204" pitchFamily="34" charset="-122"/>
              </a:rPr>
              <a:t>读缓存什么时候“不再缓存”了</a:t>
            </a:r>
            <a:endParaRPr lang="en-US" altLang="zh-CN" sz="2000" dirty="0">
              <a:latin typeface="微软雅黑" panose="020B0503020204020204" pitchFamily="34" charset="-122"/>
              <a:ea typeface="微软雅黑" panose="020B0503020204020204" pitchFamily="34" charset="-122"/>
            </a:endParaRPr>
          </a:p>
          <a:p>
            <a:pPr marL="342900" indent="-342900">
              <a:buAutoNum type="arabicPeriod"/>
            </a:pPr>
            <a:r>
              <a:rPr lang="zh-CN" altLang="en-US" sz="2000" dirty="0">
                <a:latin typeface="微软雅黑" panose="020B0503020204020204" pitchFamily="34" charset="-122"/>
                <a:ea typeface="微软雅黑" panose="020B0503020204020204" pitchFamily="34" charset="-122"/>
              </a:rPr>
              <a:t>“不再缓存”的时候，怎么处理？</a:t>
            </a:r>
          </a:p>
        </p:txBody>
      </p:sp>
      <p:sp>
        <p:nvSpPr>
          <p:cNvPr id="23" name="文本框 22"/>
          <p:cNvSpPr txBox="1"/>
          <p:nvPr/>
        </p:nvSpPr>
        <p:spPr>
          <a:xfrm>
            <a:off x="6561417" y="3763437"/>
            <a:ext cx="4469312" cy="646331"/>
          </a:xfrm>
          <a:prstGeom prst="rect">
            <a:avLst/>
          </a:prstGeom>
          <a:noFill/>
        </p:spPr>
        <p:txBody>
          <a:bodyPr wrap="square" rtlCol="0">
            <a:spAutoFit/>
          </a:bodyPr>
          <a:lstStyle/>
          <a:p>
            <a:pPr marL="342900" indent="-342900">
              <a:buFont typeface="+mj-lt"/>
              <a:buAutoNum type="arabicPeriod" startAt="3"/>
            </a:pPr>
            <a:r>
              <a:rPr lang="zh-CN" altLang="en-US" sz="2000" dirty="0">
                <a:latin typeface="微软雅黑" panose="020B0503020204020204" pitchFamily="34" charset="-122"/>
                <a:ea typeface="微软雅黑" panose="020B0503020204020204" pitchFamily="34" charset="-122"/>
              </a:rPr>
              <a:t>写缓存什么时候“不再缓存”了</a:t>
            </a:r>
            <a:endParaRPr lang="en-US" altLang="zh-CN" sz="2000" dirty="0">
              <a:latin typeface="微软雅黑" panose="020B0503020204020204" pitchFamily="34" charset="-122"/>
              <a:ea typeface="微软雅黑" panose="020B0503020204020204" pitchFamily="34" charset="-122"/>
            </a:endParaRPr>
          </a:p>
          <a:p>
            <a:pPr marL="342900" indent="-342900">
              <a:buAutoNum type="arabicPeriod" startAt="3"/>
            </a:pPr>
            <a:r>
              <a:rPr lang="zh-CN" altLang="en-US" sz="2000" dirty="0">
                <a:latin typeface="微软雅黑" panose="020B0503020204020204" pitchFamily="34" charset="-122"/>
                <a:ea typeface="微软雅黑" panose="020B0503020204020204" pitchFamily="34" charset="-122"/>
              </a:rPr>
              <a:t>“不再缓存”的时候，怎么处理？</a:t>
            </a:r>
          </a:p>
        </p:txBody>
      </p:sp>
      <p:sp>
        <p:nvSpPr>
          <p:cNvPr id="8" name="标题 7">
            <a:extLst>
              <a:ext uri="{FF2B5EF4-FFF2-40B4-BE49-F238E27FC236}">
                <a16:creationId xmlns:a16="http://schemas.microsoft.com/office/drawing/2014/main" id="{EA114A9F-41F7-1310-4C2B-F451AE5951C0}"/>
              </a:ext>
            </a:extLst>
          </p:cNvPr>
          <p:cNvSpPr>
            <a:spLocks noGrp="1"/>
          </p:cNvSpPr>
          <p:nvPr>
            <p:ph type="title"/>
          </p:nvPr>
        </p:nvSpPr>
        <p:spPr/>
        <p:txBody>
          <a:bodyPr>
            <a:normAutofit/>
          </a:bodyPr>
          <a:lstStyle/>
          <a:p>
            <a:r>
              <a:rPr lang="zh-CN" altLang="en-US" dirty="0"/>
              <a:t>数据块缓存</a:t>
            </a:r>
          </a:p>
        </p:txBody>
      </p:sp>
      <p:sp>
        <p:nvSpPr>
          <p:cNvPr id="14" name="灯片编号占位符 13">
            <a:extLst>
              <a:ext uri="{FF2B5EF4-FFF2-40B4-BE49-F238E27FC236}">
                <a16:creationId xmlns:a16="http://schemas.microsoft.com/office/drawing/2014/main" id="{7A63A22D-893E-8798-ADDB-09D09C7C70F2}"/>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39</a:t>
            </a:fld>
            <a:endParaRPr lang="zh-CN" altLang="en-US" dirty="0"/>
          </a:p>
        </p:txBody>
      </p:sp>
    </p:spTree>
    <p:extLst>
      <p:ext uri="{BB962C8B-B14F-4D97-AF65-F5344CB8AC3E}">
        <p14:creationId xmlns:p14="http://schemas.microsoft.com/office/powerpoint/2010/main" val="393970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直接连接符 38"/>
          <p:cNvCxnSpPr/>
          <p:nvPr/>
        </p:nvCxnSpPr>
        <p:spPr>
          <a:xfrm rot="16200000" flipH="1">
            <a:off x="-7536741" y="3340893"/>
            <a:ext cx="11858708" cy="71438"/>
          </a:xfrm>
          <a:prstGeom prst="line">
            <a:avLst/>
          </a:prstGeom>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1103085" y="2514253"/>
            <a:ext cx="4953733" cy="636040"/>
            <a:chOff x="1096957" y="1599514"/>
            <a:chExt cx="4953733" cy="636040"/>
          </a:xfrm>
        </p:grpSpPr>
        <p:pic>
          <p:nvPicPr>
            <p:cNvPr id="43" name="图片 42" descr="小点1.png"/>
            <p:cNvPicPr>
              <a:picLocks noChangeAspect="1"/>
            </p:cNvPicPr>
            <p:nvPr/>
          </p:nvPicPr>
          <p:blipFill>
            <a:blip r:embed="rId3" cstate="print"/>
            <a:stretch>
              <a:fillRect/>
            </a:stretch>
          </p:blipFill>
          <p:spPr>
            <a:xfrm>
              <a:off x="1096957" y="1704490"/>
              <a:ext cx="151066" cy="148997"/>
            </a:xfrm>
            <a:prstGeom prst="rect">
              <a:avLst/>
            </a:prstGeom>
            <a:effectLst/>
          </p:spPr>
        </p:pic>
        <p:sp>
          <p:nvSpPr>
            <p:cNvPr id="44" name="内容占位符 2"/>
            <p:cNvSpPr txBox="1">
              <a:spLocks/>
            </p:cNvSpPr>
            <p:nvPr/>
          </p:nvSpPr>
          <p:spPr>
            <a:xfrm>
              <a:off x="1230601" y="1599514"/>
              <a:ext cx="4605775"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t>在虚拟内存中文件数据块被映射成页</a:t>
              </a:r>
            </a:p>
          </p:txBody>
        </p:sp>
        <p:pic>
          <p:nvPicPr>
            <p:cNvPr id="47" name="图片 46" descr="小点1.png"/>
            <p:cNvPicPr>
              <a:picLocks noChangeAspect="1"/>
            </p:cNvPicPr>
            <p:nvPr/>
          </p:nvPicPr>
          <p:blipFill>
            <a:blip r:embed="rId3" cstate="print"/>
            <a:stretch>
              <a:fillRect/>
            </a:stretch>
          </p:blipFill>
          <p:spPr>
            <a:xfrm>
              <a:off x="1096957" y="1952449"/>
              <a:ext cx="151066" cy="148997"/>
            </a:xfrm>
            <a:prstGeom prst="rect">
              <a:avLst/>
            </a:prstGeom>
            <a:effectLst/>
          </p:spPr>
        </p:pic>
        <p:sp>
          <p:nvSpPr>
            <p:cNvPr id="48" name="内容占位符 2"/>
            <p:cNvSpPr txBox="1">
              <a:spLocks/>
            </p:cNvSpPr>
            <p:nvPr/>
          </p:nvSpPr>
          <p:spPr>
            <a:xfrm>
              <a:off x="1230601" y="1877232"/>
              <a:ext cx="4820089"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t>文件的读</a:t>
              </a:r>
              <a:r>
                <a:rPr lang="en-US" altLang="zh-CN" sz="1800" dirty="0"/>
                <a:t>/</a:t>
              </a:r>
              <a:r>
                <a:rPr lang="zh-CN" altLang="en-US" sz="1800" dirty="0"/>
                <a:t>写操作被转换成对内存的访问</a:t>
              </a:r>
            </a:p>
          </p:txBody>
        </p:sp>
      </p:grpSp>
      <p:grpSp>
        <p:nvGrpSpPr>
          <p:cNvPr id="6" name="组合 5"/>
          <p:cNvGrpSpPr/>
          <p:nvPr/>
        </p:nvGrpSpPr>
        <p:grpSpPr>
          <a:xfrm>
            <a:off x="1103085" y="3071229"/>
            <a:ext cx="4739419" cy="358322"/>
            <a:chOff x="1096957" y="2213428"/>
            <a:chExt cx="4739419" cy="358322"/>
          </a:xfrm>
        </p:grpSpPr>
        <p:pic>
          <p:nvPicPr>
            <p:cNvPr id="49" name="图片 48" descr="小点1.png"/>
            <p:cNvPicPr>
              <a:picLocks noChangeAspect="1"/>
            </p:cNvPicPr>
            <p:nvPr/>
          </p:nvPicPr>
          <p:blipFill>
            <a:blip r:embed="rId3" cstate="print"/>
            <a:stretch>
              <a:fillRect/>
            </a:stretch>
          </p:blipFill>
          <p:spPr>
            <a:xfrm>
              <a:off x="1096957" y="2297787"/>
              <a:ext cx="151066" cy="148997"/>
            </a:xfrm>
            <a:prstGeom prst="rect">
              <a:avLst/>
            </a:prstGeom>
            <a:effectLst/>
          </p:spPr>
        </p:pic>
        <p:sp>
          <p:nvSpPr>
            <p:cNvPr id="50" name="内容占位符 2"/>
            <p:cNvSpPr txBox="1">
              <a:spLocks/>
            </p:cNvSpPr>
            <p:nvPr/>
          </p:nvSpPr>
          <p:spPr>
            <a:xfrm>
              <a:off x="1230601" y="2213428"/>
              <a:ext cx="4605775"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t>可能导致缺页和</a:t>
              </a:r>
              <a:r>
                <a:rPr lang="en-US" altLang="zh-CN" sz="1800" dirty="0"/>
                <a:t>/</a:t>
              </a:r>
              <a:r>
                <a:rPr lang="zh-CN" altLang="en-US" sz="1800" dirty="0"/>
                <a:t>或设置为脏页</a:t>
              </a:r>
            </a:p>
          </p:txBody>
        </p:sp>
      </p:grpSp>
      <p:grpSp>
        <p:nvGrpSpPr>
          <p:cNvPr id="7" name="组合 6"/>
          <p:cNvGrpSpPr/>
          <p:nvPr/>
        </p:nvGrpSpPr>
        <p:grpSpPr>
          <a:xfrm>
            <a:off x="1103085" y="3358710"/>
            <a:ext cx="6571387" cy="358322"/>
            <a:chOff x="1096957" y="2501460"/>
            <a:chExt cx="6571387" cy="358322"/>
          </a:xfrm>
        </p:grpSpPr>
        <p:pic>
          <p:nvPicPr>
            <p:cNvPr id="51" name="图片 50" descr="小点1.png"/>
            <p:cNvPicPr>
              <a:picLocks noChangeAspect="1"/>
            </p:cNvPicPr>
            <p:nvPr/>
          </p:nvPicPr>
          <p:blipFill>
            <a:blip r:embed="rId3" cstate="print"/>
            <a:stretch>
              <a:fillRect/>
            </a:stretch>
          </p:blipFill>
          <p:spPr>
            <a:xfrm>
              <a:off x="1096957" y="2585819"/>
              <a:ext cx="151066" cy="148997"/>
            </a:xfrm>
            <a:prstGeom prst="rect">
              <a:avLst/>
            </a:prstGeom>
            <a:effectLst/>
          </p:spPr>
        </p:pic>
        <p:sp>
          <p:nvSpPr>
            <p:cNvPr id="52" name="内容占位符 2"/>
            <p:cNvSpPr txBox="1">
              <a:spLocks/>
            </p:cNvSpPr>
            <p:nvPr/>
          </p:nvSpPr>
          <p:spPr>
            <a:xfrm>
              <a:off x="1230601" y="2501460"/>
              <a:ext cx="6437743" cy="35832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t>问题</a:t>
              </a:r>
              <a:r>
                <a:rPr lang="en-US" altLang="zh-CN" sz="1800" dirty="0"/>
                <a:t>: </a:t>
              </a:r>
              <a:r>
                <a:rPr lang="zh-CN" altLang="en-US" sz="1800" dirty="0"/>
                <a:t>页置换算法需要协调虚拟存储和页缓存间的页面数</a:t>
              </a:r>
            </a:p>
          </p:txBody>
        </p:sp>
      </p:grpSp>
      <p:grpSp>
        <p:nvGrpSpPr>
          <p:cNvPr id="8" name="组合 7"/>
          <p:cNvGrpSpPr/>
          <p:nvPr/>
        </p:nvGrpSpPr>
        <p:grpSpPr>
          <a:xfrm>
            <a:off x="767412" y="1634938"/>
            <a:ext cx="7228551" cy="655198"/>
            <a:chOff x="761284" y="720199"/>
            <a:chExt cx="7228551" cy="655198"/>
          </a:xfrm>
        </p:grpSpPr>
        <p:grpSp>
          <p:nvGrpSpPr>
            <p:cNvPr id="2" name="组合 1"/>
            <p:cNvGrpSpPr/>
            <p:nvPr/>
          </p:nvGrpSpPr>
          <p:grpSpPr>
            <a:xfrm>
              <a:off x="761284" y="720199"/>
              <a:ext cx="2521840" cy="428628"/>
              <a:chOff x="716416" y="627534"/>
              <a:chExt cx="2521840" cy="428628"/>
            </a:xfrm>
          </p:grpSpPr>
          <p:sp>
            <p:nvSpPr>
              <p:cNvPr id="36" name="内容占位符 2"/>
              <p:cNvSpPr txBox="1">
                <a:spLocks/>
              </p:cNvSpPr>
              <p:nvPr/>
            </p:nvSpPr>
            <p:spPr>
              <a:xfrm>
                <a:off x="1016059" y="627534"/>
                <a:ext cx="2222197"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sz="1800" dirty="0"/>
                  <a:t>虚拟页式存储</a:t>
                </a:r>
                <a:endParaRPr lang="en-US" altLang="zh-CN" sz="1800" dirty="0"/>
              </a:p>
            </p:txBody>
          </p:sp>
          <p:sp>
            <p:nvSpPr>
              <p:cNvPr id="40" name="TextBox 22"/>
              <p:cNvSpPr txBox="1"/>
              <p:nvPr/>
            </p:nvSpPr>
            <p:spPr>
              <a:xfrm>
                <a:off x="716416" y="663957"/>
                <a:ext cx="433390" cy="369332"/>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1096957" y="1028246"/>
              <a:ext cx="6892878" cy="347151"/>
              <a:chOff x="1135506" y="964827"/>
              <a:chExt cx="6892878" cy="347151"/>
            </a:xfrm>
          </p:grpSpPr>
          <p:pic>
            <p:nvPicPr>
              <p:cNvPr id="41" name="图片 40" descr="小点1.png"/>
              <p:cNvPicPr>
                <a:picLocks noChangeAspect="1"/>
              </p:cNvPicPr>
              <p:nvPr/>
            </p:nvPicPr>
            <p:blipFill>
              <a:blip r:embed="rId3" cstate="print"/>
              <a:stretch>
                <a:fillRect/>
              </a:stretch>
            </p:blipFill>
            <p:spPr>
              <a:xfrm>
                <a:off x="1135506" y="1049186"/>
                <a:ext cx="151066" cy="148997"/>
              </a:xfrm>
              <a:prstGeom prst="rect">
                <a:avLst/>
              </a:prstGeom>
              <a:effectLst/>
            </p:spPr>
          </p:pic>
          <p:sp>
            <p:nvSpPr>
              <p:cNvPr id="42" name="内容占位符 2"/>
              <p:cNvSpPr txBox="1">
                <a:spLocks/>
              </p:cNvSpPr>
              <p:nvPr/>
            </p:nvSpPr>
            <p:spPr>
              <a:xfrm>
                <a:off x="1268069" y="964827"/>
                <a:ext cx="6760315" cy="347151"/>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t>在虚拟地址空间中虚拟页面可映射到本地外存文件中</a:t>
                </a:r>
              </a:p>
            </p:txBody>
          </p:sp>
        </p:grpSp>
      </p:grpSp>
      <p:grpSp>
        <p:nvGrpSpPr>
          <p:cNvPr id="4" name="组合 3"/>
          <p:cNvGrpSpPr/>
          <p:nvPr/>
        </p:nvGrpSpPr>
        <p:grpSpPr>
          <a:xfrm>
            <a:off x="767408" y="2215832"/>
            <a:ext cx="3290796" cy="428628"/>
            <a:chOff x="697961" y="1242894"/>
            <a:chExt cx="3290796" cy="428628"/>
          </a:xfrm>
        </p:grpSpPr>
        <p:sp>
          <p:nvSpPr>
            <p:cNvPr id="45" name="内容占位符 2"/>
            <p:cNvSpPr txBox="1">
              <a:spLocks/>
            </p:cNvSpPr>
            <p:nvPr/>
          </p:nvSpPr>
          <p:spPr>
            <a:xfrm>
              <a:off x="974471" y="1242894"/>
              <a:ext cx="301428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Bef>
                  <a:spcPts val="0"/>
                </a:spcBef>
                <a:spcAft>
                  <a:spcPts val="0"/>
                </a:spcAft>
                <a:buSzTx/>
              </a:pPr>
              <a:r>
                <a:rPr lang="zh-CN" altLang="en-US" sz="1800" dirty="0"/>
                <a:t>文件数据块的页缓存</a:t>
              </a:r>
              <a:endParaRPr lang="en-US" altLang="zh-CN" sz="1800" dirty="0"/>
            </a:p>
          </p:txBody>
        </p:sp>
        <p:sp>
          <p:nvSpPr>
            <p:cNvPr id="46" name="TextBox 22"/>
            <p:cNvSpPr txBox="1"/>
            <p:nvPr/>
          </p:nvSpPr>
          <p:spPr>
            <a:xfrm>
              <a:off x="697961" y="1242894"/>
              <a:ext cx="433390" cy="369332"/>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grpSp>
      <p:grpSp>
        <p:nvGrpSpPr>
          <p:cNvPr id="9" name="组合 8"/>
          <p:cNvGrpSpPr/>
          <p:nvPr/>
        </p:nvGrpSpPr>
        <p:grpSpPr>
          <a:xfrm>
            <a:off x="3873678" y="3933056"/>
            <a:ext cx="4454570" cy="2293458"/>
            <a:chOff x="1851652" y="2813961"/>
            <a:chExt cx="4454570" cy="2293458"/>
          </a:xfrm>
        </p:grpSpPr>
        <p:sp>
          <p:nvSpPr>
            <p:cNvPr id="53" name="Rectangle 5"/>
            <p:cNvSpPr>
              <a:spLocks noChangeArrowheads="1"/>
            </p:cNvSpPr>
            <p:nvPr/>
          </p:nvSpPr>
          <p:spPr bwMode="auto">
            <a:xfrm>
              <a:off x="1949624" y="2847363"/>
              <a:ext cx="2667000" cy="304800"/>
            </a:xfrm>
            <a:prstGeom prst="rect">
              <a:avLst/>
            </a:prstGeom>
            <a:gradFill>
              <a:gsLst>
                <a:gs pos="0">
                  <a:srgbClr val="0EB1C8"/>
                </a:gs>
                <a:gs pos="100000">
                  <a:srgbClr val="11576A"/>
                </a:gs>
                <a:gs pos="100000">
                  <a:schemeClr val="accent1">
                    <a:tint val="23500"/>
                    <a:satMod val="160000"/>
                  </a:schemeClr>
                </a:gs>
              </a:gsLst>
              <a:lin ang="5400000" scaled="0"/>
            </a:gradFill>
            <a:ln w="12700">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54" name="Rectangle 6"/>
            <p:cNvSpPr>
              <a:spLocks noChangeArrowheads="1"/>
            </p:cNvSpPr>
            <p:nvPr/>
          </p:nvSpPr>
          <p:spPr bwMode="auto">
            <a:xfrm>
              <a:off x="3472037" y="2847363"/>
              <a:ext cx="228600" cy="304800"/>
            </a:xfrm>
            <a:prstGeom prst="rect">
              <a:avLst/>
            </a:prstGeom>
            <a:solidFill>
              <a:srgbClr val="2929FF"/>
            </a:solidFill>
            <a:ln w="12700">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55" name="TextBox 7"/>
            <p:cNvSpPr txBox="1">
              <a:spLocks noChangeArrowheads="1"/>
            </p:cNvSpPr>
            <p:nvPr/>
          </p:nvSpPr>
          <p:spPr bwMode="auto">
            <a:xfrm>
              <a:off x="4985012" y="2813961"/>
              <a:ext cx="1107996" cy="369332"/>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zh-CN" altLang="en-US" sz="1800" b="1" dirty="0">
                  <a:solidFill>
                    <a:srgbClr val="11576A"/>
                  </a:solidFill>
                  <a:latin typeface="微软雅黑" pitchFamily="34" charset="-122"/>
                  <a:ea typeface="微软雅黑" pitchFamily="34" charset="-122"/>
                  <a:cs typeface="+mn-cs"/>
                </a:rPr>
                <a:t>虚拟内存</a:t>
              </a:r>
              <a:endParaRPr lang="en-US" altLang="zh-CN" sz="1800" b="1" dirty="0">
                <a:solidFill>
                  <a:srgbClr val="11576A"/>
                </a:solidFill>
                <a:latin typeface="微软雅黑" pitchFamily="34" charset="-122"/>
                <a:ea typeface="微软雅黑" pitchFamily="34" charset="-122"/>
                <a:cs typeface="+mn-cs"/>
              </a:endParaRPr>
            </a:p>
          </p:txBody>
        </p:sp>
        <p:sp>
          <p:nvSpPr>
            <p:cNvPr id="56" name="Rectangle 11"/>
            <p:cNvSpPr>
              <a:spLocks noChangeArrowheads="1"/>
            </p:cNvSpPr>
            <p:nvPr/>
          </p:nvSpPr>
          <p:spPr bwMode="auto">
            <a:xfrm>
              <a:off x="4083224" y="4785700"/>
              <a:ext cx="1524000" cy="304800"/>
            </a:xfrm>
            <a:prstGeom prst="rect">
              <a:avLst/>
            </a:prstGeom>
            <a:gradFill>
              <a:gsLst>
                <a:gs pos="0">
                  <a:schemeClr val="bg1">
                    <a:lumMod val="75000"/>
                  </a:schemeClr>
                </a:gs>
                <a:gs pos="100000">
                  <a:schemeClr val="tx1">
                    <a:lumMod val="65000"/>
                    <a:lumOff val="35000"/>
                  </a:schemeClr>
                </a:gs>
                <a:gs pos="100000">
                  <a:schemeClr val="accent1">
                    <a:tint val="23500"/>
                    <a:satMod val="160000"/>
                  </a:schemeClr>
                </a:gs>
              </a:gsLst>
              <a:lin ang="5400000" scaled="0"/>
            </a:gradFill>
            <a:ln w="12700">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58" name="Rectangle 13"/>
            <p:cNvSpPr>
              <a:spLocks noChangeArrowheads="1"/>
            </p:cNvSpPr>
            <p:nvPr/>
          </p:nvSpPr>
          <p:spPr bwMode="auto">
            <a:xfrm>
              <a:off x="4235624" y="2847363"/>
              <a:ext cx="228600" cy="304800"/>
            </a:xfrm>
            <a:prstGeom prst="rect">
              <a:avLst/>
            </a:prstGeom>
            <a:solidFill>
              <a:srgbClr val="2929FF"/>
            </a:solidFill>
            <a:ln w="12700">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59" name="Rectangle 14"/>
            <p:cNvSpPr>
              <a:spLocks noChangeArrowheads="1"/>
            </p:cNvSpPr>
            <p:nvPr/>
          </p:nvSpPr>
          <p:spPr bwMode="auto">
            <a:xfrm>
              <a:off x="4235624" y="4785700"/>
              <a:ext cx="228600" cy="304800"/>
            </a:xfrm>
            <a:prstGeom prst="rect">
              <a:avLst/>
            </a:prstGeom>
            <a:solidFill>
              <a:srgbClr val="2929FF"/>
            </a:solidFill>
            <a:ln w="12700">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cxnSp>
          <p:nvCxnSpPr>
            <p:cNvPr id="81" name="Straight Connector 15"/>
            <p:cNvCxnSpPr>
              <a:cxnSpLocks noChangeShapeType="1"/>
            </p:cNvCxnSpPr>
            <p:nvPr/>
          </p:nvCxnSpPr>
          <p:spPr bwMode="auto">
            <a:xfrm>
              <a:off x="3484511" y="3152163"/>
              <a:ext cx="0" cy="1245162"/>
            </a:xfrm>
            <a:prstGeom prst="line">
              <a:avLst/>
            </a:prstGeom>
            <a:noFill/>
            <a:ln w="19050">
              <a:solidFill>
                <a:srgbClr val="11576A"/>
              </a:solidFill>
              <a:prstDash val="sysDash"/>
              <a:round/>
              <a:headEnd/>
              <a:tailEnd/>
            </a:ln>
            <a:extLst>
              <a:ext uri="{909E8E84-426E-40dd-AFC4-6F175D3DCCD1}">
                <a14:hiddenFill xmlns="" xmlns:a14="http://schemas.microsoft.com/office/drawing/2010/main">
                  <a:noFill/>
                </a14:hiddenFill>
              </a:ext>
            </a:extLst>
          </p:spPr>
        </p:cxnSp>
        <p:cxnSp>
          <p:nvCxnSpPr>
            <p:cNvPr id="82" name="Straight Connector 16"/>
            <p:cNvCxnSpPr>
              <a:cxnSpLocks noChangeShapeType="1"/>
            </p:cNvCxnSpPr>
            <p:nvPr/>
          </p:nvCxnSpPr>
          <p:spPr bwMode="auto">
            <a:xfrm flipH="1">
              <a:off x="3691339" y="3152163"/>
              <a:ext cx="2" cy="1245162"/>
            </a:xfrm>
            <a:prstGeom prst="line">
              <a:avLst/>
            </a:prstGeom>
            <a:noFill/>
            <a:ln w="19050">
              <a:solidFill>
                <a:srgbClr val="11576A"/>
              </a:solidFill>
              <a:prstDash val="sysDash"/>
              <a:round/>
              <a:headEnd/>
              <a:tailEnd/>
            </a:ln>
            <a:extLst>
              <a:ext uri="{909E8E84-426E-40dd-AFC4-6F175D3DCCD1}">
                <a14:hiddenFill xmlns="" xmlns:a14="http://schemas.microsoft.com/office/drawing/2010/main">
                  <a:noFill/>
                </a14:hiddenFill>
              </a:ext>
            </a:extLst>
          </p:spPr>
        </p:cxnSp>
        <p:cxnSp>
          <p:nvCxnSpPr>
            <p:cNvPr id="83" name="Straight Connector 17"/>
            <p:cNvCxnSpPr>
              <a:cxnSpLocks noChangeShapeType="1"/>
            </p:cNvCxnSpPr>
            <p:nvPr/>
          </p:nvCxnSpPr>
          <p:spPr bwMode="auto">
            <a:xfrm rot="5400000">
              <a:off x="3408311" y="3988775"/>
              <a:ext cx="1676400" cy="3175"/>
            </a:xfrm>
            <a:prstGeom prst="line">
              <a:avLst/>
            </a:prstGeom>
            <a:noFill/>
            <a:ln w="19050">
              <a:solidFill>
                <a:srgbClr val="11576A"/>
              </a:solidFill>
              <a:prstDash val="sysDash"/>
              <a:round/>
              <a:headEnd/>
              <a:tailEnd/>
            </a:ln>
            <a:extLst>
              <a:ext uri="{909E8E84-426E-40dd-AFC4-6F175D3DCCD1}">
                <a14:hiddenFill xmlns="" xmlns:a14="http://schemas.microsoft.com/office/drawing/2010/main">
                  <a:noFill/>
                </a14:hiddenFill>
              </a:ext>
            </a:extLst>
          </p:spPr>
        </p:cxnSp>
        <p:cxnSp>
          <p:nvCxnSpPr>
            <p:cNvPr id="84" name="Straight Connector 18"/>
            <p:cNvCxnSpPr>
              <a:cxnSpLocks noChangeShapeType="1"/>
            </p:cNvCxnSpPr>
            <p:nvPr/>
          </p:nvCxnSpPr>
          <p:spPr bwMode="auto">
            <a:xfrm rot="5400000">
              <a:off x="3615138" y="3988775"/>
              <a:ext cx="1677988" cy="1588"/>
            </a:xfrm>
            <a:prstGeom prst="line">
              <a:avLst/>
            </a:prstGeom>
            <a:noFill/>
            <a:ln w="19050">
              <a:solidFill>
                <a:srgbClr val="11576A"/>
              </a:solidFill>
              <a:prstDash val="sysDash"/>
              <a:round/>
              <a:headEnd/>
              <a:tailEnd/>
            </a:ln>
            <a:extLst>
              <a:ext uri="{909E8E84-426E-40dd-AFC4-6F175D3DCCD1}">
                <a14:hiddenFill xmlns="" xmlns:a14="http://schemas.microsoft.com/office/drawing/2010/main">
                  <a:noFill/>
                </a14:hiddenFill>
              </a:ext>
            </a:extLst>
          </p:spPr>
        </p:cxnSp>
        <p:sp>
          <p:nvSpPr>
            <p:cNvPr id="85" name="Rectangle 19"/>
            <p:cNvSpPr>
              <a:spLocks noChangeArrowheads="1"/>
            </p:cNvSpPr>
            <p:nvPr/>
          </p:nvSpPr>
          <p:spPr bwMode="auto">
            <a:xfrm>
              <a:off x="3168824" y="4099900"/>
              <a:ext cx="1676400" cy="304800"/>
            </a:xfrm>
            <a:prstGeom prst="rect">
              <a:avLst/>
            </a:prstGeom>
            <a:gradFill>
              <a:gsLst>
                <a:gs pos="0">
                  <a:srgbClr val="92D050"/>
                </a:gs>
                <a:gs pos="100000">
                  <a:srgbClr val="00B050"/>
                </a:gs>
                <a:gs pos="100000">
                  <a:schemeClr val="accent1">
                    <a:tint val="23500"/>
                    <a:satMod val="160000"/>
                  </a:schemeClr>
                </a:gs>
              </a:gsLst>
              <a:lin ang="5400000" scaled="0"/>
            </a:gradFill>
            <a:ln w="12700">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86" name="Rounded Rectangle 20"/>
            <p:cNvSpPr>
              <a:spLocks noChangeArrowheads="1"/>
            </p:cNvSpPr>
            <p:nvPr/>
          </p:nvSpPr>
          <p:spPr bwMode="auto">
            <a:xfrm>
              <a:off x="1851652" y="3456963"/>
              <a:ext cx="4145632" cy="381000"/>
            </a:xfrm>
            <a:prstGeom prst="roundRect">
              <a:avLst>
                <a:gd name="adj" fmla="val 16667"/>
              </a:avLst>
            </a:prstGeom>
            <a:gradFill>
              <a:gsLst>
                <a:gs pos="0">
                  <a:srgbClr val="FFFF00"/>
                </a:gs>
                <a:gs pos="100000">
                  <a:srgbClr val="FFC000"/>
                </a:gs>
                <a:gs pos="100000">
                  <a:schemeClr val="accent1">
                    <a:tint val="23500"/>
                    <a:satMod val="160000"/>
                  </a:schemeClr>
                </a:gs>
              </a:gsLst>
              <a:lin ang="5400000" scaled="0"/>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eaLnBrk="1" fontAlgn="auto" hangingPunct="1">
                <a:lnSpc>
                  <a:spcPct val="100000"/>
                </a:lnSpc>
                <a:spcBef>
                  <a:spcPts val="0"/>
                </a:spcBef>
                <a:spcAft>
                  <a:spcPts val="0"/>
                </a:spcAft>
                <a:buSzTx/>
                <a:buNone/>
              </a:pPr>
              <a:r>
                <a:rPr lang="zh-CN" altLang="en-US" b="1" dirty="0">
                  <a:solidFill>
                    <a:srgbClr val="11576A"/>
                  </a:solidFill>
                  <a:latin typeface="微软雅黑"/>
                  <a:ea typeface="微软雅黑"/>
                </a:rPr>
                <a:t>内核中的存储管理机构</a:t>
              </a:r>
              <a:endParaRPr lang="en-US" altLang="zh-CN" b="1" dirty="0">
                <a:solidFill>
                  <a:srgbClr val="11576A"/>
                </a:solidFill>
                <a:latin typeface="微软雅黑"/>
                <a:ea typeface="微软雅黑"/>
              </a:endParaRPr>
            </a:p>
          </p:txBody>
        </p:sp>
        <p:sp>
          <p:nvSpPr>
            <p:cNvPr id="87" name="Rectangle 21"/>
            <p:cNvSpPr>
              <a:spLocks noChangeArrowheads="1"/>
            </p:cNvSpPr>
            <p:nvPr/>
          </p:nvSpPr>
          <p:spPr bwMode="auto">
            <a:xfrm>
              <a:off x="3472037" y="4099900"/>
              <a:ext cx="228600" cy="304800"/>
            </a:xfrm>
            <a:prstGeom prst="rect">
              <a:avLst/>
            </a:prstGeom>
            <a:solidFill>
              <a:srgbClr val="2929FF"/>
            </a:solidFill>
            <a:ln w="28575">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88" name="Rectangle 22"/>
            <p:cNvSpPr>
              <a:spLocks noChangeArrowheads="1"/>
            </p:cNvSpPr>
            <p:nvPr/>
          </p:nvSpPr>
          <p:spPr bwMode="auto">
            <a:xfrm>
              <a:off x="4235624" y="4099900"/>
              <a:ext cx="228600" cy="304800"/>
            </a:xfrm>
            <a:prstGeom prst="rect">
              <a:avLst/>
            </a:prstGeom>
            <a:solidFill>
              <a:srgbClr val="2929FF"/>
            </a:solidFill>
            <a:ln w="28575">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89" name="TextBox 23"/>
            <p:cNvSpPr txBox="1">
              <a:spLocks noChangeArrowheads="1"/>
            </p:cNvSpPr>
            <p:nvPr/>
          </p:nvSpPr>
          <p:spPr bwMode="auto">
            <a:xfrm>
              <a:off x="5328954" y="4068329"/>
              <a:ext cx="646331" cy="369332"/>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zh-CN" altLang="en-US" sz="1800" b="1" dirty="0">
                  <a:solidFill>
                    <a:srgbClr val="11576A"/>
                  </a:solidFill>
                  <a:latin typeface="微软雅黑" pitchFamily="34" charset="-122"/>
                  <a:ea typeface="微软雅黑" pitchFamily="34" charset="-122"/>
                  <a:cs typeface="+mn-cs"/>
                </a:rPr>
                <a:t>主存</a:t>
              </a:r>
              <a:endParaRPr lang="en-US" altLang="zh-CN" sz="1800" b="1" dirty="0">
                <a:solidFill>
                  <a:srgbClr val="11576A"/>
                </a:solidFill>
                <a:latin typeface="微软雅黑" pitchFamily="34" charset="-122"/>
                <a:ea typeface="微软雅黑" pitchFamily="34" charset="-122"/>
                <a:cs typeface="+mn-cs"/>
              </a:endParaRPr>
            </a:p>
          </p:txBody>
        </p:sp>
        <p:sp>
          <p:nvSpPr>
            <p:cNvPr id="90" name="TextBox 24"/>
            <p:cNvSpPr txBox="1">
              <a:spLocks noChangeArrowheads="1"/>
            </p:cNvSpPr>
            <p:nvPr/>
          </p:nvSpPr>
          <p:spPr bwMode="auto">
            <a:xfrm>
              <a:off x="5659891" y="4738087"/>
              <a:ext cx="646331" cy="369332"/>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zh-CN" altLang="en-US" sz="1800" b="1" dirty="0">
                  <a:solidFill>
                    <a:srgbClr val="11576A"/>
                  </a:solidFill>
                  <a:latin typeface="微软雅黑" pitchFamily="34" charset="-122"/>
                  <a:ea typeface="微软雅黑" pitchFamily="34" charset="-122"/>
                  <a:cs typeface="+mn-cs"/>
                </a:rPr>
                <a:t>外存</a:t>
              </a:r>
              <a:endParaRPr lang="en-US" altLang="zh-CN" sz="1800" b="1" dirty="0">
                <a:solidFill>
                  <a:srgbClr val="11576A"/>
                </a:solidFill>
                <a:latin typeface="微软雅黑" pitchFamily="34" charset="-122"/>
                <a:ea typeface="微软雅黑" pitchFamily="34" charset="-122"/>
                <a:cs typeface="+mn-cs"/>
              </a:endParaRPr>
            </a:p>
          </p:txBody>
        </p:sp>
        <p:sp>
          <p:nvSpPr>
            <p:cNvPr id="60" name="TextBox 15"/>
            <p:cNvSpPr txBox="1">
              <a:spLocks noChangeArrowheads="1"/>
            </p:cNvSpPr>
            <p:nvPr/>
          </p:nvSpPr>
          <p:spPr bwMode="auto">
            <a:xfrm>
              <a:off x="4641130" y="4768823"/>
              <a:ext cx="1018227"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zh-CN" altLang="en-US" sz="1600" b="1" dirty="0">
                  <a:solidFill>
                    <a:srgbClr val="11576A"/>
                  </a:solidFill>
                  <a:latin typeface="微软雅黑"/>
                  <a:ea typeface="微软雅黑"/>
                </a:rPr>
                <a:t>对换文件</a:t>
              </a:r>
              <a:endParaRPr lang="en-US" altLang="zh-CN" sz="1600" b="1" dirty="0">
                <a:solidFill>
                  <a:srgbClr val="11576A"/>
                </a:solidFill>
                <a:latin typeface="微软雅黑"/>
                <a:ea typeface="微软雅黑"/>
              </a:endParaRPr>
            </a:p>
          </p:txBody>
        </p:sp>
      </p:grpSp>
      <p:grpSp>
        <p:nvGrpSpPr>
          <p:cNvPr id="23" name="组合 22"/>
          <p:cNvGrpSpPr/>
          <p:nvPr/>
        </p:nvGrpSpPr>
        <p:grpSpPr>
          <a:xfrm>
            <a:off x="3861806" y="5178147"/>
            <a:ext cx="2633969" cy="369332"/>
            <a:chOff x="1839776" y="4059052"/>
            <a:chExt cx="2633969" cy="369332"/>
          </a:xfrm>
        </p:grpSpPr>
        <p:sp>
          <p:nvSpPr>
            <p:cNvPr id="63" name="TextBox 29"/>
            <p:cNvSpPr txBox="1">
              <a:spLocks noChangeArrowheads="1"/>
            </p:cNvSpPr>
            <p:nvPr/>
          </p:nvSpPr>
          <p:spPr bwMode="auto">
            <a:xfrm>
              <a:off x="1839776" y="4059052"/>
              <a:ext cx="877163" cy="369332"/>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zh-CN" altLang="en-US" sz="1800" b="1" dirty="0">
                  <a:solidFill>
                    <a:srgbClr val="11576A"/>
                  </a:solidFill>
                  <a:latin typeface="微软雅黑" pitchFamily="34" charset="-122"/>
                  <a:ea typeface="微软雅黑" pitchFamily="34" charset="-122"/>
                  <a:cs typeface="+mn-cs"/>
                </a:rPr>
                <a:t>页缓存</a:t>
              </a:r>
              <a:endParaRPr lang="en-US" altLang="zh-CN" sz="1800" b="1" dirty="0">
                <a:solidFill>
                  <a:srgbClr val="11576A"/>
                </a:solidFill>
                <a:latin typeface="微软雅黑" pitchFamily="34" charset="-122"/>
                <a:ea typeface="微软雅黑" pitchFamily="34" charset="-122"/>
                <a:cs typeface="+mn-cs"/>
              </a:endParaRPr>
            </a:p>
          </p:txBody>
        </p:sp>
        <p:cxnSp>
          <p:nvCxnSpPr>
            <p:cNvPr id="64" name="Straight Arrow Connector 31"/>
            <p:cNvCxnSpPr>
              <a:cxnSpLocks noChangeShapeType="1"/>
            </p:cNvCxnSpPr>
            <p:nvPr/>
          </p:nvCxnSpPr>
          <p:spPr bwMode="auto">
            <a:xfrm>
              <a:off x="2689852" y="4252300"/>
              <a:ext cx="457200" cy="1588"/>
            </a:xfrm>
            <a:prstGeom prst="straightConnector1">
              <a:avLst/>
            </a:prstGeom>
            <a:noFill/>
            <a:ln w="28575">
              <a:solidFill>
                <a:srgbClr val="C00000"/>
              </a:solidFill>
              <a:round/>
              <a:headEnd type="none" w="med" len="med"/>
              <a:tailEnd type="triangle" w="med" len="med"/>
            </a:ln>
            <a:extLst>
              <a:ext uri="{909E8E84-426E-40dd-AFC4-6F175D3DCCD1}">
                <a14:hiddenFill xmlns="" xmlns:a14="http://schemas.microsoft.com/office/drawing/2010/main">
                  <a:noFill/>
                </a14:hiddenFill>
              </a:ext>
            </a:extLst>
          </p:spPr>
        </p:cxnSp>
        <p:sp>
          <p:nvSpPr>
            <p:cNvPr id="65" name="Rectangle 21"/>
            <p:cNvSpPr>
              <a:spLocks noChangeArrowheads="1"/>
            </p:cNvSpPr>
            <p:nvPr/>
          </p:nvSpPr>
          <p:spPr bwMode="auto">
            <a:xfrm>
              <a:off x="3476938" y="4092525"/>
              <a:ext cx="228600" cy="304800"/>
            </a:xfrm>
            <a:prstGeom prst="rect">
              <a:avLst/>
            </a:prstGeom>
            <a:noFill/>
            <a:ln w="28575">
              <a:solidFill>
                <a:srgbClr val="C00000"/>
              </a:solid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66" name="Rectangle 22"/>
            <p:cNvSpPr>
              <a:spLocks noChangeArrowheads="1"/>
            </p:cNvSpPr>
            <p:nvPr/>
          </p:nvSpPr>
          <p:spPr bwMode="auto">
            <a:xfrm flipH="1">
              <a:off x="4243334" y="4090111"/>
              <a:ext cx="230411" cy="307214"/>
            </a:xfrm>
            <a:prstGeom prst="rect">
              <a:avLst/>
            </a:prstGeom>
            <a:noFill/>
            <a:ln w="28575">
              <a:solidFill>
                <a:srgbClr val="C00000"/>
              </a:solid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grpSp>
      <p:grpSp>
        <p:nvGrpSpPr>
          <p:cNvPr id="21" name="组合 20"/>
          <p:cNvGrpSpPr/>
          <p:nvPr/>
        </p:nvGrpSpPr>
        <p:grpSpPr>
          <a:xfrm>
            <a:off x="3701673" y="5852788"/>
            <a:ext cx="2251181" cy="369332"/>
            <a:chOff x="1679643" y="4733693"/>
            <a:chExt cx="2251181" cy="369332"/>
          </a:xfrm>
        </p:grpSpPr>
        <p:sp>
          <p:nvSpPr>
            <p:cNvPr id="67" name="TextBox 12"/>
            <p:cNvSpPr txBox="1">
              <a:spLocks noChangeArrowheads="1"/>
            </p:cNvSpPr>
            <p:nvPr/>
          </p:nvSpPr>
          <p:spPr bwMode="auto">
            <a:xfrm>
              <a:off x="1679643" y="4733693"/>
              <a:ext cx="64633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fontAlgn="auto" hangingPunct="1">
                <a:lnSpc>
                  <a:spcPct val="100000"/>
                </a:lnSpc>
                <a:spcBef>
                  <a:spcPts val="0"/>
                </a:spcBef>
                <a:spcAft>
                  <a:spcPts val="0"/>
                </a:spcAft>
                <a:buSzTx/>
                <a:buNone/>
              </a:pPr>
              <a:r>
                <a:rPr lang="zh-CN" altLang="en-US" sz="1800" b="1" dirty="0">
                  <a:solidFill>
                    <a:srgbClr val="11576A"/>
                  </a:solidFill>
                  <a:latin typeface="微软雅黑" pitchFamily="34" charset="-122"/>
                  <a:ea typeface="微软雅黑" pitchFamily="34" charset="-122"/>
                  <a:cs typeface="+mn-cs"/>
                </a:rPr>
                <a:t>文件</a:t>
              </a:r>
              <a:endParaRPr lang="en-US" altLang="zh-CN" sz="1800" b="1" dirty="0">
                <a:solidFill>
                  <a:srgbClr val="11576A"/>
                </a:solidFill>
                <a:latin typeface="微软雅黑" pitchFamily="34" charset="-122"/>
                <a:ea typeface="微软雅黑" pitchFamily="34" charset="-122"/>
                <a:cs typeface="+mn-cs"/>
              </a:endParaRPr>
            </a:p>
          </p:txBody>
        </p:sp>
        <p:sp>
          <p:nvSpPr>
            <p:cNvPr id="68" name="Rectangle 28"/>
            <p:cNvSpPr>
              <a:spLocks noChangeArrowheads="1"/>
            </p:cNvSpPr>
            <p:nvPr/>
          </p:nvSpPr>
          <p:spPr bwMode="auto">
            <a:xfrm>
              <a:off x="2406824" y="4785700"/>
              <a:ext cx="1524000" cy="304800"/>
            </a:xfrm>
            <a:prstGeom prst="rect">
              <a:avLst/>
            </a:prstGeom>
            <a:gradFill>
              <a:gsLst>
                <a:gs pos="0">
                  <a:schemeClr val="bg1">
                    <a:lumMod val="75000"/>
                  </a:schemeClr>
                </a:gs>
                <a:gs pos="100000">
                  <a:schemeClr val="tx1">
                    <a:lumMod val="65000"/>
                    <a:lumOff val="35000"/>
                  </a:schemeClr>
                </a:gs>
                <a:gs pos="100000">
                  <a:schemeClr val="accent1">
                    <a:tint val="23500"/>
                    <a:satMod val="160000"/>
                  </a:schemeClr>
                </a:gs>
              </a:gsLst>
              <a:lin ang="5400000" scaled="0"/>
            </a:gradFill>
            <a:ln w="12700">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sp>
          <p:nvSpPr>
            <p:cNvPr id="69" name="Rectangle 27"/>
            <p:cNvSpPr>
              <a:spLocks noChangeArrowheads="1"/>
            </p:cNvSpPr>
            <p:nvPr/>
          </p:nvSpPr>
          <p:spPr bwMode="auto">
            <a:xfrm>
              <a:off x="3473624" y="4785700"/>
              <a:ext cx="228600" cy="304800"/>
            </a:xfrm>
            <a:prstGeom prst="rect">
              <a:avLst/>
            </a:prstGeom>
            <a:solidFill>
              <a:srgbClr val="2929FF"/>
            </a:solidFill>
            <a:ln w="12700">
              <a:noFill/>
              <a:miter lim="800000"/>
              <a:headEnd/>
              <a:tailEnd/>
            </a:ln>
          </p:spPr>
          <p:txBody>
            <a:bodyPr/>
            <a:lstStyle/>
            <a:p>
              <a:pPr eaLnBrk="1" fontAlgn="auto" hangingPunct="1">
                <a:lnSpc>
                  <a:spcPct val="100000"/>
                </a:lnSpc>
                <a:spcBef>
                  <a:spcPts val="0"/>
                </a:spcBef>
                <a:spcAft>
                  <a:spcPts val="0"/>
                </a:spcAft>
                <a:buSzTx/>
                <a:buNone/>
              </a:pPr>
              <a:endParaRPr lang="zh-CN" altLang="en-US">
                <a:solidFill>
                  <a:prstClr val="black"/>
                </a:solidFill>
                <a:latin typeface="MS PGothic"/>
                <a:ea typeface="宋体" charset="0"/>
                <a:cs typeface="宋体" charset="0"/>
              </a:endParaRPr>
            </a:p>
          </p:txBody>
        </p:sp>
      </p:grpSp>
      <p:grpSp>
        <p:nvGrpSpPr>
          <p:cNvPr id="22" name="组合 21"/>
          <p:cNvGrpSpPr/>
          <p:nvPr/>
        </p:nvGrpSpPr>
        <p:grpSpPr>
          <a:xfrm>
            <a:off x="5499453" y="5516424"/>
            <a:ext cx="205373" cy="388375"/>
            <a:chOff x="3477423" y="4397325"/>
            <a:chExt cx="205373" cy="388375"/>
          </a:xfrm>
        </p:grpSpPr>
        <p:cxnSp>
          <p:nvCxnSpPr>
            <p:cNvPr id="72" name="Straight Connector 15"/>
            <p:cNvCxnSpPr>
              <a:cxnSpLocks noChangeShapeType="1"/>
            </p:cNvCxnSpPr>
            <p:nvPr/>
          </p:nvCxnSpPr>
          <p:spPr bwMode="auto">
            <a:xfrm>
              <a:off x="3477423" y="4397325"/>
              <a:ext cx="0" cy="388375"/>
            </a:xfrm>
            <a:prstGeom prst="line">
              <a:avLst/>
            </a:prstGeom>
            <a:noFill/>
            <a:ln w="19050">
              <a:solidFill>
                <a:srgbClr val="11576A"/>
              </a:solidFill>
              <a:prstDash val="sysDash"/>
              <a:round/>
              <a:headEnd/>
              <a:tailEnd/>
            </a:ln>
            <a:extLst>
              <a:ext uri="{909E8E84-426E-40dd-AFC4-6F175D3DCCD1}">
                <a14:hiddenFill xmlns="" xmlns:a14="http://schemas.microsoft.com/office/drawing/2010/main">
                  <a:noFill/>
                </a14:hiddenFill>
              </a:ext>
            </a:extLst>
          </p:spPr>
        </p:cxnSp>
        <p:cxnSp>
          <p:nvCxnSpPr>
            <p:cNvPr id="73" name="Straight Connector 16"/>
            <p:cNvCxnSpPr>
              <a:cxnSpLocks noChangeShapeType="1"/>
            </p:cNvCxnSpPr>
            <p:nvPr/>
          </p:nvCxnSpPr>
          <p:spPr bwMode="auto">
            <a:xfrm>
              <a:off x="3682796" y="4404700"/>
              <a:ext cx="0" cy="381000"/>
            </a:xfrm>
            <a:prstGeom prst="line">
              <a:avLst/>
            </a:prstGeom>
            <a:noFill/>
            <a:ln w="19050">
              <a:solidFill>
                <a:srgbClr val="11576A"/>
              </a:solidFill>
              <a:prstDash val="sysDash"/>
              <a:round/>
              <a:headEnd/>
              <a:tailEnd/>
            </a:ln>
            <a:extLst>
              <a:ext uri="{909E8E84-426E-40dd-AFC4-6F175D3DCCD1}">
                <a14:hiddenFill xmlns="" xmlns:a14="http://schemas.microsoft.com/office/drawing/2010/main">
                  <a:noFill/>
                </a14:hiddenFill>
              </a:ext>
            </a:extLst>
          </p:spPr>
        </p:cxnSp>
      </p:grpSp>
      <p:sp>
        <p:nvSpPr>
          <p:cNvPr id="12" name="标题 11">
            <a:extLst>
              <a:ext uri="{FF2B5EF4-FFF2-40B4-BE49-F238E27FC236}">
                <a16:creationId xmlns:a16="http://schemas.microsoft.com/office/drawing/2014/main" id="{4A503B06-768B-5F96-8DCD-5E41C9F9CF28}"/>
              </a:ext>
            </a:extLst>
          </p:cNvPr>
          <p:cNvSpPr>
            <a:spLocks noGrp="1"/>
          </p:cNvSpPr>
          <p:nvPr>
            <p:ph type="title"/>
          </p:nvPr>
        </p:nvSpPr>
        <p:spPr/>
        <p:txBody>
          <a:bodyPr>
            <a:normAutofit/>
          </a:bodyPr>
          <a:lstStyle/>
          <a:p>
            <a:r>
              <a:rPr lang="zh-CN" altLang="en-US" dirty="0"/>
              <a:t>页缓存</a:t>
            </a:r>
          </a:p>
        </p:txBody>
      </p:sp>
      <p:sp>
        <p:nvSpPr>
          <p:cNvPr id="14" name="灯片编号占位符 13">
            <a:extLst>
              <a:ext uri="{FF2B5EF4-FFF2-40B4-BE49-F238E27FC236}">
                <a16:creationId xmlns:a16="http://schemas.microsoft.com/office/drawing/2014/main" id="{392029D9-434F-21E2-7CA6-82B02892F1BA}"/>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40</a:t>
            </a:fld>
            <a:endParaRPr lang="zh-CN" altLang="en-US" dirty="0"/>
          </a:p>
        </p:txBody>
      </p:sp>
    </p:spTree>
    <p:extLst>
      <p:ext uri="{BB962C8B-B14F-4D97-AF65-F5344CB8AC3E}">
        <p14:creationId xmlns:p14="http://schemas.microsoft.com/office/powerpoint/2010/main" val="306681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up)">
                                      <p:cBhvr>
                                        <p:cTn id="21" dur="500"/>
                                        <p:tgtEl>
                                          <p:spTgt spid="22"/>
                                        </p:tgtEl>
                                      </p:cBhvr>
                                    </p:animEffect>
                                  </p:childTnLst>
                                </p:cTn>
                              </p:par>
                              <p:par>
                                <p:cTn id="22" presetID="22" presetClass="entr" presetSubtype="8"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71664" y="1869624"/>
            <a:ext cx="2571768" cy="571504"/>
            <a:chOff x="1723587" y="928676"/>
            <a:chExt cx="2571768" cy="571504"/>
          </a:xfrm>
        </p:grpSpPr>
        <p:sp>
          <p:nvSpPr>
            <p:cNvPr id="4" name="矩形 3"/>
            <p:cNvSpPr/>
            <p:nvPr/>
          </p:nvSpPr>
          <p:spPr>
            <a:xfrm>
              <a:off x="1723587" y="928676"/>
              <a:ext cx="2571768"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5" name="TextBox 4"/>
            <p:cNvSpPr txBox="1"/>
            <p:nvPr/>
          </p:nvSpPr>
          <p:spPr>
            <a:xfrm>
              <a:off x="2265687" y="1024382"/>
              <a:ext cx="1338828"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虚拟页对换</a:t>
              </a:r>
            </a:p>
          </p:txBody>
        </p:sp>
      </p:grpSp>
      <p:grpSp>
        <p:nvGrpSpPr>
          <p:cNvPr id="3" name="组合 2"/>
          <p:cNvGrpSpPr/>
          <p:nvPr/>
        </p:nvGrpSpPr>
        <p:grpSpPr>
          <a:xfrm>
            <a:off x="5916947" y="1838380"/>
            <a:ext cx="2256687" cy="646331"/>
            <a:chOff x="4568866" y="918428"/>
            <a:chExt cx="2256687" cy="646331"/>
          </a:xfrm>
        </p:grpSpPr>
        <p:sp>
          <p:nvSpPr>
            <p:cNvPr id="6" name="矩形 5"/>
            <p:cNvSpPr/>
            <p:nvPr/>
          </p:nvSpPr>
          <p:spPr>
            <a:xfrm>
              <a:off x="4568866" y="951254"/>
              <a:ext cx="2232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7" name="TextBox 6"/>
            <p:cNvSpPr txBox="1"/>
            <p:nvPr/>
          </p:nvSpPr>
          <p:spPr>
            <a:xfrm>
              <a:off x="4595262" y="918428"/>
              <a:ext cx="2230291" cy="646331"/>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文件读写</a:t>
              </a:r>
              <a:endParaRPr lang="en-US" altLang="zh-CN" b="1" dirty="0">
                <a:solidFill>
                  <a:prstClr val="white"/>
                </a:solidFill>
                <a:latin typeface="微软雅黑"/>
                <a:ea typeface="微软雅黑"/>
              </a:endParaRPr>
            </a:p>
            <a:p>
              <a:pPr algn="ctr" eaLnBrk="1" fontAlgn="auto" hangingPunct="1">
                <a:lnSpc>
                  <a:spcPct val="100000"/>
                </a:lnSpc>
                <a:spcBef>
                  <a:spcPts val="0"/>
                </a:spcBef>
                <a:spcAft>
                  <a:spcPts val="0"/>
                </a:spcAft>
                <a:buSzTx/>
                <a:buNone/>
              </a:pPr>
              <a:r>
                <a:rPr lang="en-US" altLang="zh-CN" b="1" dirty="0">
                  <a:solidFill>
                    <a:prstClr val="white"/>
                  </a:solidFill>
                  <a:latin typeface="微软雅黑"/>
                  <a:ea typeface="微软雅黑"/>
                </a:rPr>
                <a:t>read() and write()</a:t>
              </a:r>
              <a:endParaRPr lang="zh-CN" altLang="en-US" b="1" dirty="0">
                <a:solidFill>
                  <a:prstClr val="white"/>
                </a:solidFill>
                <a:latin typeface="微软雅黑"/>
                <a:ea typeface="微软雅黑"/>
              </a:endParaRPr>
            </a:p>
          </p:txBody>
        </p:sp>
      </p:grpSp>
      <p:grpSp>
        <p:nvGrpSpPr>
          <p:cNvPr id="23" name="组合 22"/>
          <p:cNvGrpSpPr/>
          <p:nvPr/>
        </p:nvGrpSpPr>
        <p:grpSpPr>
          <a:xfrm>
            <a:off x="3595176" y="2436728"/>
            <a:ext cx="1512000" cy="1075970"/>
            <a:chOff x="2247099" y="1495780"/>
            <a:chExt cx="1512000" cy="1075970"/>
          </a:xfrm>
        </p:grpSpPr>
        <p:grpSp>
          <p:nvGrpSpPr>
            <p:cNvPr id="14" name="组合 13"/>
            <p:cNvGrpSpPr/>
            <p:nvPr/>
          </p:nvGrpSpPr>
          <p:grpSpPr>
            <a:xfrm>
              <a:off x="2247099" y="2000246"/>
              <a:ext cx="1512000" cy="571504"/>
              <a:chOff x="2247099" y="2000246"/>
              <a:chExt cx="1512000" cy="571504"/>
            </a:xfrm>
          </p:grpSpPr>
          <p:sp>
            <p:nvSpPr>
              <p:cNvPr id="8" name="矩形 7"/>
              <p:cNvSpPr/>
              <p:nvPr/>
            </p:nvSpPr>
            <p:spPr>
              <a:xfrm>
                <a:off x="2247099" y="2000246"/>
                <a:ext cx="1512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9" name="TextBox 8"/>
              <p:cNvSpPr txBox="1"/>
              <p:nvPr/>
            </p:nvSpPr>
            <p:spPr>
              <a:xfrm>
                <a:off x="2564517" y="2115002"/>
                <a:ext cx="877163"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页缓存</a:t>
                </a:r>
              </a:p>
            </p:txBody>
          </p:sp>
        </p:grpSp>
        <p:cxnSp>
          <p:nvCxnSpPr>
            <p:cNvPr id="15" name="直接箭头连接符 14"/>
            <p:cNvCxnSpPr/>
            <p:nvPr/>
          </p:nvCxnSpPr>
          <p:spPr>
            <a:xfrm rot="16200000" flipH="1">
              <a:off x="2750865" y="1748013"/>
              <a:ext cx="504466" cy="0"/>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4934236" y="4617606"/>
            <a:ext cx="1656000" cy="1115650"/>
            <a:chOff x="3586159" y="3676658"/>
            <a:chExt cx="1656000" cy="1115650"/>
          </a:xfrm>
        </p:grpSpPr>
        <p:grpSp>
          <p:nvGrpSpPr>
            <p:cNvPr id="19" name="组合 18"/>
            <p:cNvGrpSpPr/>
            <p:nvPr/>
          </p:nvGrpSpPr>
          <p:grpSpPr>
            <a:xfrm>
              <a:off x="3586159" y="4220804"/>
              <a:ext cx="1656000" cy="571504"/>
              <a:chOff x="3586159" y="4220804"/>
              <a:chExt cx="1656000" cy="571504"/>
            </a:xfrm>
          </p:grpSpPr>
          <p:sp>
            <p:nvSpPr>
              <p:cNvPr id="12" name="矩形 11"/>
              <p:cNvSpPr/>
              <p:nvPr/>
            </p:nvSpPr>
            <p:spPr>
              <a:xfrm>
                <a:off x="3586159" y="4220804"/>
                <a:ext cx="1656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 name="TextBox 12"/>
              <p:cNvSpPr txBox="1"/>
              <p:nvPr/>
            </p:nvSpPr>
            <p:spPr>
              <a:xfrm>
                <a:off x="3842957" y="4311497"/>
                <a:ext cx="1107996"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文件系统</a:t>
                </a:r>
              </a:p>
            </p:txBody>
          </p:sp>
        </p:grpSp>
        <p:cxnSp>
          <p:nvCxnSpPr>
            <p:cNvPr id="16" name="直接箭头连接符 15"/>
            <p:cNvCxnSpPr/>
            <p:nvPr/>
          </p:nvCxnSpPr>
          <p:spPr>
            <a:xfrm rot="16200000" flipH="1">
              <a:off x="4144722" y="3928891"/>
              <a:ext cx="504466" cy="0"/>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602036" y="2494423"/>
            <a:ext cx="2326157" cy="2123187"/>
            <a:chOff x="3253955" y="1553471"/>
            <a:chExt cx="2326157" cy="2123187"/>
          </a:xfrm>
        </p:grpSpPr>
        <p:grpSp>
          <p:nvGrpSpPr>
            <p:cNvPr id="17" name="组合 16"/>
            <p:cNvGrpSpPr/>
            <p:nvPr/>
          </p:nvGrpSpPr>
          <p:grpSpPr>
            <a:xfrm>
              <a:off x="3560759" y="3105154"/>
              <a:ext cx="1656000" cy="571504"/>
              <a:chOff x="3560759" y="3105154"/>
              <a:chExt cx="1656000" cy="571504"/>
            </a:xfrm>
          </p:grpSpPr>
          <p:sp>
            <p:nvSpPr>
              <p:cNvPr id="10" name="矩形 9"/>
              <p:cNvSpPr/>
              <p:nvPr/>
            </p:nvSpPr>
            <p:spPr>
              <a:xfrm>
                <a:off x="3560759" y="3105154"/>
                <a:ext cx="1656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 name="TextBox 10"/>
              <p:cNvSpPr txBox="1"/>
              <p:nvPr/>
            </p:nvSpPr>
            <p:spPr>
              <a:xfrm>
                <a:off x="3690900" y="3211303"/>
                <a:ext cx="1338828"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数据块缓存</a:t>
                </a:r>
              </a:p>
            </p:txBody>
          </p:sp>
        </p:grpSp>
        <p:cxnSp>
          <p:nvCxnSpPr>
            <p:cNvPr id="18" name="直接箭头连接符 17"/>
            <p:cNvCxnSpPr/>
            <p:nvPr/>
          </p:nvCxnSpPr>
          <p:spPr>
            <a:xfrm>
              <a:off x="3253955" y="2590800"/>
              <a:ext cx="660400" cy="482600"/>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4568866" y="1553471"/>
              <a:ext cx="1011246" cy="1509682"/>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7" name="标题 26">
            <a:extLst>
              <a:ext uri="{FF2B5EF4-FFF2-40B4-BE49-F238E27FC236}">
                <a16:creationId xmlns:a16="http://schemas.microsoft.com/office/drawing/2014/main" id="{4117C244-0AFF-825A-B596-246A25E7EAEB}"/>
              </a:ext>
            </a:extLst>
          </p:cNvPr>
          <p:cNvSpPr>
            <a:spLocks noGrp="1"/>
          </p:cNvSpPr>
          <p:nvPr>
            <p:ph type="title"/>
          </p:nvPr>
        </p:nvSpPr>
        <p:spPr/>
        <p:txBody>
          <a:bodyPr>
            <a:normAutofit/>
          </a:bodyPr>
          <a:lstStyle/>
          <a:p>
            <a:r>
              <a:rPr lang="zh-CN" altLang="en-US" dirty="0"/>
              <a:t>数据块缓存</a:t>
            </a:r>
          </a:p>
        </p:txBody>
      </p:sp>
      <p:sp>
        <p:nvSpPr>
          <p:cNvPr id="29" name="灯片编号占位符 28">
            <a:extLst>
              <a:ext uri="{FF2B5EF4-FFF2-40B4-BE49-F238E27FC236}">
                <a16:creationId xmlns:a16="http://schemas.microsoft.com/office/drawing/2014/main" id="{3B4C14D0-0425-FFDD-C0FD-E90BDD967E85}"/>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41</a:t>
            </a:fld>
            <a:endParaRPr lang="zh-CN" altLang="en-US" dirty="0"/>
          </a:p>
        </p:txBody>
      </p:sp>
    </p:spTree>
    <p:extLst>
      <p:ext uri="{BB962C8B-B14F-4D97-AF65-F5344CB8AC3E}">
        <p14:creationId xmlns:p14="http://schemas.microsoft.com/office/powerpoint/2010/main" val="3441289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up)">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up)">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34945" y="2060848"/>
            <a:ext cx="2571768" cy="571504"/>
            <a:chOff x="428596" y="1203598"/>
            <a:chExt cx="2571768" cy="571504"/>
          </a:xfrm>
        </p:grpSpPr>
        <p:sp>
          <p:nvSpPr>
            <p:cNvPr id="4" name="矩形 3"/>
            <p:cNvSpPr/>
            <p:nvPr/>
          </p:nvSpPr>
          <p:spPr>
            <a:xfrm>
              <a:off x="428596" y="1203598"/>
              <a:ext cx="2571768"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5" name="TextBox 4"/>
            <p:cNvSpPr txBox="1"/>
            <p:nvPr/>
          </p:nvSpPr>
          <p:spPr>
            <a:xfrm>
              <a:off x="1055876" y="1304684"/>
              <a:ext cx="1338828"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虚拟页对换</a:t>
              </a:r>
            </a:p>
          </p:txBody>
        </p:sp>
      </p:grpSp>
      <p:grpSp>
        <p:nvGrpSpPr>
          <p:cNvPr id="3" name="组合 2"/>
          <p:cNvGrpSpPr/>
          <p:nvPr/>
        </p:nvGrpSpPr>
        <p:grpSpPr>
          <a:xfrm>
            <a:off x="5876752" y="2060852"/>
            <a:ext cx="2235472" cy="646331"/>
            <a:chOff x="3270403" y="1203598"/>
            <a:chExt cx="2235472" cy="646331"/>
          </a:xfrm>
        </p:grpSpPr>
        <p:sp>
          <p:nvSpPr>
            <p:cNvPr id="6" name="矩形 5"/>
            <p:cNvSpPr/>
            <p:nvPr/>
          </p:nvSpPr>
          <p:spPr>
            <a:xfrm>
              <a:off x="3273875" y="1226176"/>
              <a:ext cx="2232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7" name="TextBox 6"/>
            <p:cNvSpPr txBox="1"/>
            <p:nvPr/>
          </p:nvSpPr>
          <p:spPr>
            <a:xfrm>
              <a:off x="3270403" y="1203598"/>
              <a:ext cx="2230291" cy="646331"/>
            </a:xfrm>
            <a:prstGeom prst="rect">
              <a:avLst/>
            </a:prstGeom>
            <a:noFill/>
          </p:spPr>
          <p:txBody>
            <a:bodyPr wrap="none" rtlCol="0">
              <a:spAutoFit/>
            </a:bodyPr>
            <a:lstStyle/>
            <a:p>
              <a:pPr algn="ct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文件读写</a:t>
              </a:r>
              <a:endParaRPr lang="en-US" altLang="zh-CN" b="1" dirty="0">
                <a:solidFill>
                  <a:prstClr val="white"/>
                </a:solidFill>
                <a:latin typeface="微软雅黑"/>
                <a:ea typeface="微软雅黑"/>
              </a:endParaRPr>
            </a:p>
            <a:p>
              <a:pPr algn="ctr" eaLnBrk="1" fontAlgn="auto" hangingPunct="1">
                <a:lnSpc>
                  <a:spcPct val="100000"/>
                </a:lnSpc>
                <a:spcBef>
                  <a:spcPts val="0"/>
                </a:spcBef>
                <a:spcAft>
                  <a:spcPts val="0"/>
                </a:spcAft>
                <a:buSzTx/>
                <a:buNone/>
              </a:pPr>
              <a:r>
                <a:rPr lang="en-US" altLang="zh-CN" b="1" dirty="0">
                  <a:solidFill>
                    <a:prstClr val="white"/>
                  </a:solidFill>
                  <a:latin typeface="微软雅黑"/>
                  <a:ea typeface="微软雅黑"/>
                </a:rPr>
                <a:t>read() and write()</a:t>
              </a:r>
              <a:endParaRPr lang="zh-CN" altLang="en-US" b="1" dirty="0">
                <a:solidFill>
                  <a:prstClr val="white"/>
                </a:solidFill>
                <a:latin typeface="微软雅黑"/>
                <a:ea typeface="微软雅黑"/>
              </a:endParaRPr>
            </a:p>
          </p:txBody>
        </p:sp>
      </p:grpSp>
      <p:grpSp>
        <p:nvGrpSpPr>
          <p:cNvPr id="17" name="组合 16"/>
          <p:cNvGrpSpPr/>
          <p:nvPr/>
        </p:nvGrpSpPr>
        <p:grpSpPr>
          <a:xfrm>
            <a:off x="4897517" y="3802718"/>
            <a:ext cx="1656000" cy="1115650"/>
            <a:chOff x="2291168" y="2945468"/>
            <a:chExt cx="1656000" cy="1115650"/>
          </a:xfrm>
        </p:grpSpPr>
        <p:grpSp>
          <p:nvGrpSpPr>
            <p:cNvPr id="9" name="组合 8"/>
            <p:cNvGrpSpPr/>
            <p:nvPr/>
          </p:nvGrpSpPr>
          <p:grpSpPr>
            <a:xfrm>
              <a:off x="2291168" y="3489614"/>
              <a:ext cx="1656000" cy="571504"/>
              <a:chOff x="2291168" y="3489614"/>
              <a:chExt cx="1656000" cy="571504"/>
            </a:xfrm>
          </p:grpSpPr>
          <p:sp>
            <p:nvSpPr>
              <p:cNvPr id="12" name="矩形 11"/>
              <p:cNvSpPr/>
              <p:nvPr/>
            </p:nvSpPr>
            <p:spPr>
              <a:xfrm>
                <a:off x="2291168" y="3489614"/>
                <a:ext cx="1656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3" name="TextBox 12"/>
              <p:cNvSpPr txBox="1"/>
              <p:nvPr/>
            </p:nvSpPr>
            <p:spPr>
              <a:xfrm>
                <a:off x="2565170" y="3590700"/>
                <a:ext cx="1107996"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文件系统</a:t>
                </a:r>
              </a:p>
            </p:txBody>
          </p:sp>
        </p:grpSp>
        <p:cxnSp>
          <p:nvCxnSpPr>
            <p:cNvPr id="15" name="直接箭头连接符 14"/>
            <p:cNvCxnSpPr/>
            <p:nvPr/>
          </p:nvCxnSpPr>
          <p:spPr>
            <a:xfrm rot="16200000" flipH="1">
              <a:off x="2849731" y="3197701"/>
              <a:ext cx="504466" cy="0"/>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4565317" y="2716860"/>
            <a:ext cx="2067345" cy="1085858"/>
            <a:chOff x="1958964" y="1859610"/>
            <a:chExt cx="2067345" cy="1085858"/>
          </a:xfrm>
        </p:grpSpPr>
        <p:grpSp>
          <p:nvGrpSpPr>
            <p:cNvPr id="8" name="组合 7"/>
            <p:cNvGrpSpPr/>
            <p:nvPr/>
          </p:nvGrpSpPr>
          <p:grpSpPr>
            <a:xfrm>
              <a:off x="2265768" y="2373964"/>
              <a:ext cx="1656000" cy="571504"/>
              <a:chOff x="2265768" y="2373964"/>
              <a:chExt cx="1656000" cy="571504"/>
            </a:xfrm>
          </p:grpSpPr>
          <p:sp>
            <p:nvSpPr>
              <p:cNvPr id="10" name="矩形 9"/>
              <p:cNvSpPr/>
              <p:nvPr/>
            </p:nvSpPr>
            <p:spPr>
              <a:xfrm>
                <a:off x="2265768" y="2373964"/>
                <a:ext cx="1656000"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11" name="TextBox 10"/>
              <p:cNvSpPr txBox="1"/>
              <p:nvPr/>
            </p:nvSpPr>
            <p:spPr>
              <a:xfrm>
                <a:off x="2655186" y="2477126"/>
                <a:ext cx="877163" cy="369332"/>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b="1" dirty="0">
                    <a:solidFill>
                      <a:prstClr val="white"/>
                    </a:solidFill>
                    <a:latin typeface="微软雅黑"/>
                    <a:ea typeface="微软雅黑"/>
                  </a:rPr>
                  <a:t>页缓存</a:t>
                </a:r>
              </a:p>
            </p:txBody>
          </p:sp>
        </p:grpSp>
        <p:cxnSp>
          <p:nvCxnSpPr>
            <p:cNvPr id="16" name="直接箭头连接符 15"/>
            <p:cNvCxnSpPr/>
            <p:nvPr/>
          </p:nvCxnSpPr>
          <p:spPr>
            <a:xfrm>
              <a:off x="1958964" y="1859610"/>
              <a:ext cx="660400" cy="482600"/>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3442109" y="1862422"/>
              <a:ext cx="584200" cy="469900"/>
            </a:xfrm>
            <a:prstGeom prst="straightConnector1">
              <a:avLst/>
            </a:prstGeom>
            <a:ln w="38100">
              <a:solidFill>
                <a:srgbClr val="11576A"/>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ACDB9952-E478-6F8B-2AEA-68E50C7DDE12}"/>
              </a:ext>
            </a:extLst>
          </p:cNvPr>
          <p:cNvSpPr txBox="1"/>
          <p:nvPr/>
        </p:nvSpPr>
        <p:spPr>
          <a:xfrm>
            <a:off x="8256240" y="2531266"/>
            <a:ext cx="3456383" cy="2369880"/>
          </a:xfrm>
          <a:prstGeom prst="rect">
            <a:avLst/>
          </a:prstGeom>
          <a:noFill/>
        </p:spPr>
        <p:txBody>
          <a:bodyPr wrap="square" rtlCol="0">
            <a:spAutoFit/>
          </a:bodyPr>
          <a:lstStyle/>
          <a:p>
            <a:pPr>
              <a:lnSpc>
                <a:spcPct val="100000"/>
              </a:lnSpc>
              <a:buNone/>
            </a:pPr>
            <a:r>
              <a:rPr lang="zh-CN" altLang="en-US" sz="2000" dirty="0">
                <a:latin typeface="微软雅黑" panose="020B0503020204020204" pitchFamily="34" charset="-122"/>
                <a:ea typeface="微软雅黑" panose="020B0503020204020204" pitchFamily="34" charset="-122"/>
              </a:rPr>
              <a:t>细节：</a:t>
            </a:r>
            <a:endParaRPr lang="en-US" altLang="zh-CN" sz="2000" dirty="0">
              <a:latin typeface="微软雅黑" panose="020B0503020204020204" pitchFamily="34" charset="-122"/>
              <a:ea typeface="微软雅黑" panose="020B0503020204020204" pitchFamily="34" charset="-122"/>
            </a:endParaRPr>
          </a:p>
          <a:p>
            <a:pPr marL="342900" indent="-342900">
              <a:lnSpc>
                <a:spcPct val="100000"/>
              </a:lnSpc>
              <a:buAutoNum type="arabicPeriod"/>
            </a:pPr>
            <a:r>
              <a:rPr lang="en-US" altLang="zh-CN" sz="2000" dirty="0">
                <a:latin typeface="微软雅黑" panose="020B0503020204020204" pitchFamily="34" charset="-122"/>
                <a:ea typeface="微软雅黑" panose="020B0503020204020204" pitchFamily="34" charset="-122"/>
              </a:rPr>
              <a:t>read/write</a:t>
            </a:r>
            <a:r>
              <a:rPr lang="zh-CN" altLang="en-US" sz="2000" dirty="0">
                <a:latin typeface="微软雅黑" panose="020B0503020204020204" pitchFamily="34" charset="-122"/>
                <a:ea typeface="微软雅黑" panose="020B0503020204020204" pitchFamily="34" charset="-122"/>
              </a:rPr>
              <a:t>并没有固定的大小，合并之后，统一采用</a:t>
            </a:r>
            <a:r>
              <a:rPr lang="en-US" altLang="zh-CN" sz="2000" dirty="0" err="1">
                <a:latin typeface="微软雅黑" panose="020B0503020204020204" pitchFamily="34" charset="-122"/>
                <a:ea typeface="微软雅黑" panose="020B0503020204020204" pitchFamily="34" charset="-122"/>
              </a:rPr>
              <a:t>4K</a:t>
            </a:r>
            <a:r>
              <a:rPr lang="zh-CN" altLang="en-US" sz="2000" dirty="0">
                <a:latin typeface="微软雅黑" panose="020B0503020204020204" pitchFamily="34" charset="-122"/>
                <a:ea typeface="微软雅黑" panose="020B0503020204020204" pitchFamily="34" charset="-122"/>
              </a:rPr>
              <a:t>对齐</a:t>
            </a:r>
            <a:endParaRPr lang="en-US" altLang="zh-CN" sz="2000" dirty="0">
              <a:latin typeface="微软雅黑" panose="020B0503020204020204" pitchFamily="34" charset="-122"/>
              <a:ea typeface="微软雅黑" panose="020B0503020204020204" pitchFamily="34" charset="-122"/>
            </a:endParaRPr>
          </a:p>
          <a:p>
            <a:pPr marL="342900" indent="-342900">
              <a:lnSpc>
                <a:spcPct val="100000"/>
              </a:lnSpc>
              <a:buAutoNum type="arabicPeriod"/>
            </a:pPr>
            <a:r>
              <a:rPr lang="zh-CN" altLang="en-US" sz="2000" dirty="0">
                <a:latin typeface="微软雅黑" panose="020B0503020204020204" pitchFamily="34" charset="-122"/>
                <a:ea typeface="微软雅黑" panose="020B0503020204020204" pitchFamily="34" charset="-122"/>
              </a:rPr>
              <a:t>虚拟页没有清晰的读写标记而</a:t>
            </a:r>
            <a:r>
              <a:rPr lang="en-US" altLang="zh-CN" sz="2000" dirty="0">
                <a:latin typeface="微软雅黑" panose="020B0503020204020204" pitchFamily="34" charset="-122"/>
                <a:ea typeface="微软雅黑" panose="020B0503020204020204" pitchFamily="34" charset="-122"/>
              </a:rPr>
              <a:t>read/write</a:t>
            </a:r>
            <a:r>
              <a:rPr lang="zh-CN" altLang="en-US" sz="2000" dirty="0">
                <a:latin typeface="微软雅黑" panose="020B0503020204020204" pitchFamily="34" charset="-122"/>
                <a:ea typeface="微软雅黑" panose="020B0503020204020204" pitchFamily="34" charset="-122"/>
              </a:rPr>
              <a:t>可以清楚的知道是否命中</a:t>
            </a:r>
          </a:p>
        </p:txBody>
      </p:sp>
      <p:sp>
        <p:nvSpPr>
          <p:cNvPr id="23" name="标题 22">
            <a:extLst>
              <a:ext uri="{FF2B5EF4-FFF2-40B4-BE49-F238E27FC236}">
                <a16:creationId xmlns:a16="http://schemas.microsoft.com/office/drawing/2014/main" id="{DE371889-D6B5-EEA6-23E0-C95BC83CCF31}"/>
              </a:ext>
            </a:extLst>
          </p:cNvPr>
          <p:cNvSpPr>
            <a:spLocks noGrp="1"/>
          </p:cNvSpPr>
          <p:nvPr>
            <p:ph type="title"/>
          </p:nvPr>
        </p:nvSpPr>
        <p:spPr/>
        <p:txBody>
          <a:bodyPr>
            <a:normAutofit/>
          </a:bodyPr>
          <a:lstStyle/>
          <a:p>
            <a:r>
              <a:rPr lang="zh-CN" altLang="en-US" dirty="0"/>
              <a:t>页缓存</a:t>
            </a:r>
          </a:p>
        </p:txBody>
      </p:sp>
      <p:sp>
        <p:nvSpPr>
          <p:cNvPr id="25" name="灯片编号占位符 24">
            <a:extLst>
              <a:ext uri="{FF2B5EF4-FFF2-40B4-BE49-F238E27FC236}">
                <a16:creationId xmlns:a16="http://schemas.microsoft.com/office/drawing/2014/main" id="{F41ADA9C-CC71-2A57-63EA-7C9875A68463}"/>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42</a:t>
            </a:fld>
            <a:endParaRPr lang="zh-CN" altLang="en-US" dirty="0"/>
          </a:p>
        </p:txBody>
      </p:sp>
    </p:spTree>
    <p:extLst>
      <p:ext uri="{BB962C8B-B14F-4D97-AF65-F5344CB8AC3E}">
        <p14:creationId xmlns:p14="http://schemas.microsoft.com/office/powerpoint/2010/main" val="71094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2"/>
          </p:nvPr>
        </p:nvSpPr>
        <p:spPr>
          <a:prstGeom prst="rect">
            <a:avLst/>
          </a:prstGeom>
        </p:spPr>
        <p:txBody>
          <a:bodyPr/>
          <a:lstStyle/>
          <a:p>
            <a:pPr algn="r" defTabSz="457200" fontAlgn="auto">
              <a:spcBef>
                <a:spcPts val="0"/>
              </a:spcBef>
              <a:spcAft>
                <a:spcPts val="0"/>
              </a:spcAft>
              <a:defRPr/>
            </a:pPr>
            <a:fld id="{E0BF073B-729F-064A-9185-3DC28912AF5F}" type="slidenum">
              <a:rPr lang="en-US" b="0">
                <a:solidFill>
                  <a:prstClr val="black">
                    <a:tint val="75000"/>
                  </a:prstClr>
                </a:solidFill>
                <a:latin typeface="Calibri"/>
                <a:ea typeface="+mn-ea"/>
              </a:rPr>
              <a:pPr algn="r" defTabSz="457200" fontAlgn="auto">
                <a:spcBef>
                  <a:spcPts val="0"/>
                </a:spcBef>
                <a:spcAft>
                  <a:spcPts val="0"/>
                </a:spcAft>
                <a:defRPr/>
              </a:pPr>
              <a:t>43</a:t>
            </a:fld>
            <a:endParaRPr lang="en-US" b="0">
              <a:solidFill>
                <a:prstClr val="black">
                  <a:tint val="75000"/>
                </a:prstClr>
              </a:solidFill>
              <a:latin typeface="Calibri"/>
              <a:ea typeface="+mn-ea"/>
            </a:endParaRPr>
          </a:p>
        </p:txBody>
      </p:sp>
      <p:sp>
        <p:nvSpPr>
          <p:cNvPr id="2" name="Title 1"/>
          <p:cNvSpPr>
            <a:spLocks noGrp="1"/>
          </p:cNvSpPr>
          <p:nvPr>
            <p:ph type="title"/>
          </p:nvPr>
        </p:nvSpPr>
        <p:spPr>
          <a:prstGeom prst="rect">
            <a:avLst/>
          </a:prstGeom>
        </p:spPr>
        <p:txBody>
          <a:bodyPr>
            <a:normAutofit/>
          </a:bodyPr>
          <a:lstStyle/>
          <a:p>
            <a:r>
              <a:rPr lang="en-US" dirty="0">
                <a:latin typeface="Helvetica"/>
                <a:cs typeface="Helvetica"/>
              </a:rPr>
              <a:t>Split-Level I/O Scheduling: Multi-Layer Hooks</a:t>
            </a:r>
          </a:p>
        </p:txBody>
      </p:sp>
      <p:grpSp>
        <p:nvGrpSpPr>
          <p:cNvPr id="9" name="Group 8"/>
          <p:cNvGrpSpPr/>
          <p:nvPr/>
        </p:nvGrpSpPr>
        <p:grpSpPr>
          <a:xfrm>
            <a:off x="3647728" y="1862658"/>
            <a:ext cx="4872133" cy="3942606"/>
            <a:chOff x="1383625" y="1446985"/>
            <a:chExt cx="5604708" cy="4980535"/>
          </a:xfrm>
        </p:grpSpPr>
        <p:grpSp>
          <p:nvGrpSpPr>
            <p:cNvPr id="132" name="Group 131"/>
            <p:cNvGrpSpPr/>
            <p:nvPr/>
          </p:nvGrpSpPr>
          <p:grpSpPr>
            <a:xfrm>
              <a:off x="1383625" y="2398075"/>
              <a:ext cx="5538675" cy="515631"/>
              <a:chOff x="1369609" y="2658607"/>
              <a:chExt cx="3131712" cy="430941"/>
            </a:xfrm>
          </p:grpSpPr>
          <p:sp>
            <p:nvSpPr>
              <p:cNvPr id="133" name="Rectangle 132"/>
              <p:cNvSpPr/>
              <p:nvPr/>
            </p:nvSpPr>
            <p:spPr>
              <a:xfrm>
                <a:off x="1377562" y="2658607"/>
                <a:ext cx="3123759" cy="423196"/>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34" name="TextBox 133"/>
              <p:cNvSpPr txBox="1"/>
              <p:nvPr/>
            </p:nvSpPr>
            <p:spPr>
              <a:xfrm>
                <a:off x="1369609" y="2699616"/>
                <a:ext cx="1289674" cy="38993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rPr>
                  <a:t>Page Cache</a:t>
                </a:r>
              </a:p>
            </p:txBody>
          </p:sp>
        </p:grpSp>
        <p:sp>
          <p:nvSpPr>
            <p:cNvPr id="135" name="Rounded Rectangle 134"/>
            <p:cNvSpPr/>
            <p:nvPr/>
          </p:nvSpPr>
          <p:spPr>
            <a:xfrm>
              <a:off x="3653801" y="2502400"/>
              <a:ext cx="417930" cy="298215"/>
            </a:xfrm>
            <a:prstGeom prst="roundRect">
              <a:avLst/>
            </a:prstGeom>
            <a:ln/>
          </p:spPr>
          <p:style>
            <a:lnRef idx="1">
              <a:schemeClr val="accent5"/>
            </a:lnRef>
            <a:fillRef idx="2">
              <a:schemeClr val="accent5"/>
            </a:fillRef>
            <a:effectRef idx="1">
              <a:schemeClr val="accent5"/>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grpSp>
          <p:nvGrpSpPr>
            <p:cNvPr id="136" name="Group 135"/>
            <p:cNvGrpSpPr/>
            <p:nvPr/>
          </p:nvGrpSpPr>
          <p:grpSpPr>
            <a:xfrm>
              <a:off x="3653801" y="1456447"/>
              <a:ext cx="1107991" cy="466562"/>
              <a:chOff x="1324688" y="2423945"/>
              <a:chExt cx="3176633" cy="1071713"/>
            </a:xfrm>
          </p:grpSpPr>
          <p:sp>
            <p:nvSpPr>
              <p:cNvPr id="137" name="Rectangle 136"/>
              <p:cNvSpPr/>
              <p:nvPr/>
            </p:nvSpPr>
            <p:spPr>
              <a:xfrm>
                <a:off x="1377562" y="2658607"/>
                <a:ext cx="3123759" cy="822960"/>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38" name="TextBox 137"/>
              <p:cNvSpPr txBox="1"/>
              <p:nvPr/>
            </p:nvSpPr>
            <p:spPr>
              <a:xfrm>
                <a:off x="1324688" y="2423945"/>
                <a:ext cx="3123761" cy="1071713"/>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rPr>
                  <a:t>App</a:t>
                </a:r>
              </a:p>
            </p:txBody>
          </p:sp>
        </p:grpSp>
        <p:grpSp>
          <p:nvGrpSpPr>
            <p:cNvPr id="139" name="Group 138"/>
            <p:cNvGrpSpPr/>
            <p:nvPr/>
          </p:nvGrpSpPr>
          <p:grpSpPr>
            <a:xfrm>
              <a:off x="5583553" y="1465913"/>
              <a:ext cx="1107991" cy="471570"/>
              <a:chOff x="1324688" y="2398353"/>
              <a:chExt cx="3176633" cy="1083214"/>
            </a:xfrm>
          </p:grpSpPr>
          <p:sp>
            <p:nvSpPr>
              <p:cNvPr id="140" name="Rectangle 139"/>
              <p:cNvSpPr/>
              <p:nvPr/>
            </p:nvSpPr>
            <p:spPr>
              <a:xfrm>
                <a:off x="1377562" y="2658607"/>
                <a:ext cx="3123759" cy="822960"/>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41" name="TextBox 140"/>
              <p:cNvSpPr txBox="1"/>
              <p:nvPr/>
            </p:nvSpPr>
            <p:spPr>
              <a:xfrm>
                <a:off x="1324688" y="2398353"/>
                <a:ext cx="3123761" cy="1071711"/>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rPr>
                  <a:t>App</a:t>
                </a:r>
              </a:p>
            </p:txBody>
          </p:sp>
        </p:grpSp>
        <p:grpSp>
          <p:nvGrpSpPr>
            <p:cNvPr id="142" name="Group 141"/>
            <p:cNvGrpSpPr/>
            <p:nvPr/>
          </p:nvGrpSpPr>
          <p:grpSpPr>
            <a:xfrm>
              <a:off x="1677192" y="1446985"/>
              <a:ext cx="1107991" cy="469888"/>
              <a:chOff x="1324688" y="2402213"/>
              <a:chExt cx="3176633" cy="1079354"/>
            </a:xfrm>
          </p:grpSpPr>
          <p:sp>
            <p:nvSpPr>
              <p:cNvPr id="143" name="Rectangle 142"/>
              <p:cNvSpPr/>
              <p:nvPr/>
            </p:nvSpPr>
            <p:spPr>
              <a:xfrm>
                <a:off x="1377562" y="2658607"/>
                <a:ext cx="3123759" cy="822960"/>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44" name="TextBox 143"/>
              <p:cNvSpPr txBox="1"/>
              <p:nvPr/>
            </p:nvSpPr>
            <p:spPr>
              <a:xfrm>
                <a:off x="1324688" y="2402213"/>
                <a:ext cx="3123761" cy="1071714"/>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rPr>
                  <a:t>App</a:t>
                </a:r>
              </a:p>
            </p:txBody>
          </p:sp>
        </p:grpSp>
        <p:grpSp>
          <p:nvGrpSpPr>
            <p:cNvPr id="145" name="Group 144"/>
            <p:cNvGrpSpPr/>
            <p:nvPr/>
          </p:nvGrpSpPr>
          <p:grpSpPr>
            <a:xfrm>
              <a:off x="1397691" y="1916879"/>
              <a:ext cx="842718" cy="488482"/>
              <a:chOff x="1377561" y="2305802"/>
              <a:chExt cx="842718" cy="521874"/>
            </a:xfrm>
          </p:grpSpPr>
          <p:sp>
            <p:nvSpPr>
              <p:cNvPr id="146" name="TextBox 145"/>
              <p:cNvSpPr txBox="1"/>
              <p:nvPr/>
            </p:nvSpPr>
            <p:spPr>
              <a:xfrm>
                <a:off x="1377561" y="2370758"/>
                <a:ext cx="842718" cy="456918"/>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a:solidFill>
                      <a:prstClr val="black"/>
                    </a:solidFill>
                    <a:latin typeface="Calibri"/>
                    <a:ea typeface="+mn-ea"/>
                  </a:rPr>
                  <a:t>read()</a:t>
                </a:r>
              </a:p>
            </p:txBody>
          </p:sp>
          <p:cxnSp>
            <p:nvCxnSpPr>
              <p:cNvPr id="147" name="Straight Connector 146"/>
              <p:cNvCxnSpPr>
                <a:stCxn id="143" idx="2"/>
              </p:cNvCxnSpPr>
              <p:nvPr/>
            </p:nvCxnSpPr>
            <p:spPr>
              <a:xfrm>
                <a:off x="2220279" y="2305802"/>
                <a:ext cx="0" cy="514089"/>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grpSp>
        <p:grpSp>
          <p:nvGrpSpPr>
            <p:cNvPr id="148" name="Group 147"/>
            <p:cNvGrpSpPr/>
            <p:nvPr/>
          </p:nvGrpSpPr>
          <p:grpSpPr>
            <a:xfrm>
              <a:off x="3321419" y="1916879"/>
              <a:ext cx="946848" cy="488482"/>
              <a:chOff x="1315671" y="2305802"/>
              <a:chExt cx="946848" cy="521874"/>
            </a:xfrm>
          </p:grpSpPr>
          <p:sp>
            <p:nvSpPr>
              <p:cNvPr id="149" name="TextBox 148"/>
              <p:cNvSpPr txBox="1"/>
              <p:nvPr/>
            </p:nvSpPr>
            <p:spPr>
              <a:xfrm>
                <a:off x="1315671" y="2370758"/>
                <a:ext cx="946848" cy="456918"/>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a:solidFill>
                      <a:srgbClr val="FF0000"/>
                    </a:solidFill>
                    <a:latin typeface="Calibri"/>
                    <a:ea typeface="+mn-ea"/>
                  </a:rPr>
                  <a:t>write()</a:t>
                </a:r>
              </a:p>
            </p:txBody>
          </p:sp>
          <p:cxnSp>
            <p:nvCxnSpPr>
              <p:cNvPr id="150" name="Straight Connector 149"/>
              <p:cNvCxnSpPr/>
              <p:nvPr/>
            </p:nvCxnSpPr>
            <p:spPr>
              <a:xfrm>
                <a:off x="2220279" y="2305802"/>
                <a:ext cx="0" cy="514089"/>
              </a:xfrm>
              <a:prstGeom prst="line">
                <a:avLst/>
              </a:prstGeom>
              <a:ln>
                <a:solidFill>
                  <a:srgbClr val="FF0000"/>
                </a:solidFill>
                <a:tailEnd type="triangle" w="lg"/>
              </a:ln>
            </p:spPr>
            <p:style>
              <a:lnRef idx="2">
                <a:schemeClr val="accent1"/>
              </a:lnRef>
              <a:fillRef idx="0">
                <a:schemeClr val="accent1"/>
              </a:fillRef>
              <a:effectRef idx="1">
                <a:schemeClr val="accent1"/>
              </a:effectRef>
              <a:fontRef idx="minor">
                <a:schemeClr val="tx1"/>
              </a:fontRef>
            </p:style>
          </p:cxnSp>
        </p:grpSp>
        <p:grpSp>
          <p:nvGrpSpPr>
            <p:cNvPr id="151" name="Group 150"/>
            <p:cNvGrpSpPr/>
            <p:nvPr/>
          </p:nvGrpSpPr>
          <p:grpSpPr>
            <a:xfrm>
              <a:off x="5462439" y="1937483"/>
              <a:ext cx="848074" cy="1578789"/>
              <a:chOff x="1516689" y="2305802"/>
              <a:chExt cx="848074" cy="1686713"/>
            </a:xfrm>
          </p:grpSpPr>
          <p:sp>
            <p:nvSpPr>
              <p:cNvPr id="152" name="TextBox 151"/>
              <p:cNvSpPr txBox="1"/>
              <p:nvPr/>
            </p:nvSpPr>
            <p:spPr>
              <a:xfrm>
                <a:off x="1516689" y="2348744"/>
                <a:ext cx="848074" cy="456917"/>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a:solidFill>
                      <a:srgbClr val="FF0000"/>
                    </a:solidFill>
                    <a:latin typeface="Calibri"/>
                    <a:ea typeface="+mn-ea"/>
                  </a:rPr>
                  <a:t>fsync()</a:t>
                </a:r>
              </a:p>
            </p:txBody>
          </p:sp>
          <p:cxnSp>
            <p:nvCxnSpPr>
              <p:cNvPr id="153" name="Straight Connector 152"/>
              <p:cNvCxnSpPr/>
              <p:nvPr/>
            </p:nvCxnSpPr>
            <p:spPr>
              <a:xfrm>
                <a:off x="2220279" y="2305802"/>
                <a:ext cx="0" cy="1686713"/>
              </a:xfrm>
              <a:prstGeom prst="line">
                <a:avLst/>
              </a:prstGeom>
              <a:ln>
                <a:solidFill>
                  <a:srgbClr val="FF0000"/>
                </a:solidFill>
                <a:tailEnd type="triangle" w="lg"/>
              </a:ln>
            </p:spPr>
            <p:style>
              <a:lnRef idx="2">
                <a:schemeClr val="accent1"/>
              </a:lnRef>
              <a:fillRef idx="0">
                <a:schemeClr val="accent1"/>
              </a:fillRef>
              <a:effectRef idx="1">
                <a:schemeClr val="accent1"/>
              </a:effectRef>
              <a:fontRef idx="minor">
                <a:schemeClr val="tx1"/>
              </a:fontRef>
            </p:style>
          </p:cxnSp>
        </p:grpSp>
        <p:grpSp>
          <p:nvGrpSpPr>
            <p:cNvPr id="154" name="Group 153"/>
            <p:cNvGrpSpPr/>
            <p:nvPr/>
          </p:nvGrpSpPr>
          <p:grpSpPr>
            <a:xfrm>
              <a:off x="1383625" y="3514549"/>
              <a:ext cx="5590643" cy="467238"/>
              <a:chOff x="1397692" y="3985964"/>
              <a:chExt cx="5616411" cy="586036"/>
            </a:xfrm>
          </p:grpSpPr>
          <p:sp>
            <p:nvSpPr>
              <p:cNvPr id="155" name="Rectangle 154"/>
              <p:cNvSpPr/>
              <p:nvPr/>
            </p:nvSpPr>
            <p:spPr>
              <a:xfrm>
                <a:off x="1397692" y="3985964"/>
                <a:ext cx="5616411" cy="586036"/>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56" name="TextBox 155"/>
              <p:cNvSpPr txBox="1"/>
              <p:nvPr/>
            </p:nvSpPr>
            <p:spPr>
              <a:xfrm>
                <a:off x="1397692" y="3985964"/>
                <a:ext cx="5616411" cy="585188"/>
              </a:xfrm>
              <a:prstGeom prst="rect">
                <a:avLst/>
              </a:prstGeom>
              <a:noFill/>
            </p:spPr>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File System</a:t>
                </a:r>
              </a:p>
            </p:txBody>
          </p:sp>
        </p:grpSp>
        <p:grpSp>
          <p:nvGrpSpPr>
            <p:cNvPr id="157" name="Group 156"/>
            <p:cNvGrpSpPr/>
            <p:nvPr/>
          </p:nvGrpSpPr>
          <p:grpSpPr>
            <a:xfrm>
              <a:off x="2964884" y="2917246"/>
              <a:ext cx="1397365" cy="599025"/>
              <a:chOff x="2594903" y="3490582"/>
              <a:chExt cx="1397365" cy="599025"/>
            </a:xfrm>
          </p:grpSpPr>
          <p:sp>
            <p:nvSpPr>
              <p:cNvPr id="158" name="TextBox 157"/>
              <p:cNvSpPr txBox="1"/>
              <p:nvPr/>
            </p:nvSpPr>
            <p:spPr>
              <a:xfrm>
                <a:off x="2606119" y="3630533"/>
                <a:ext cx="1386149" cy="427682"/>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a:solidFill>
                      <a:prstClr val="black"/>
                    </a:solidFill>
                    <a:latin typeface="Calibri"/>
                    <a:ea typeface="+mn-ea"/>
                  </a:rPr>
                  <a:t>write-back</a:t>
                </a:r>
              </a:p>
            </p:txBody>
          </p:sp>
          <p:cxnSp>
            <p:nvCxnSpPr>
              <p:cNvPr id="159" name="Straight Connector 158"/>
              <p:cNvCxnSpPr/>
              <p:nvPr/>
            </p:nvCxnSpPr>
            <p:spPr>
              <a:xfrm>
                <a:off x="2594903" y="3490582"/>
                <a:ext cx="11217" cy="599025"/>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grpSp>
        <p:sp>
          <p:nvSpPr>
            <p:cNvPr id="160" name="Rectangle 159"/>
            <p:cNvSpPr/>
            <p:nvPr/>
          </p:nvSpPr>
          <p:spPr>
            <a:xfrm>
              <a:off x="1397690" y="4538297"/>
              <a:ext cx="5590643" cy="467238"/>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61" name="TextBox 160"/>
            <p:cNvSpPr txBox="1"/>
            <p:nvPr/>
          </p:nvSpPr>
          <p:spPr>
            <a:xfrm>
              <a:off x="1438280" y="4582627"/>
              <a:ext cx="2610282" cy="466562"/>
            </a:xfrm>
            <a:prstGeom prst="rect">
              <a:avLst/>
            </a:prstGeom>
            <a:noFill/>
          </p:spPr>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Block-Level Queues </a:t>
              </a:r>
            </a:p>
          </p:txBody>
        </p:sp>
        <p:sp>
          <p:nvSpPr>
            <p:cNvPr id="162" name="Rounded Rectangle 161"/>
            <p:cNvSpPr/>
            <p:nvPr/>
          </p:nvSpPr>
          <p:spPr>
            <a:xfrm>
              <a:off x="4343862" y="2502119"/>
              <a:ext cx="417930" cy="298496"/>
            </a:xfrm>
            <a:prstGeom prst="roundRect">
              <a:avLst/>
            </a:prstGeom>
            <a:ln/>
          </p:spPr>
          <p:style>
            <a:lnRef idx="1">
              <a:schemeClr val="accent5"/>
            </a:lnRef>
            <a:fillRef idx="2">
              <a:schemeClr val="accent5"/>
            </a:fillRef>
            <a:effectRef idx="1">
              <a:schemeClr val="accent5"/>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63" name="Rounded Rectangle 162"/>
            <p:cNvSpPr/>
            <p:nvPr/>
          </p:nvSpPr>
          <p:spPr>
            <a:xfrm>
              <a:off x="4988028" y="2502119"/>
              <a:ext cx="417930" cy="298496"/>
            </a:xfrm>
            <a:prstGeom prst="roundRect">
              <a:avLst/>
            </a:prstGeom>
            <a:ln/>
          </p:spPr>
          <p:style>
            <a:lnRef idx="1">
              <a:schemeClr val="accent5"/>
            </a:lnRef>
            <a:fillRef idx="2">
              <a:schemeClr val="accent5"/>
            </a:fillRef>
            <a:effectRef idx="1">
              <a:schemeClr val="accent5"/>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64" name="Rounded Rectangle 163"/>
            <p:cNvSpPr/>
            <p:nvPr/>
          </p:nvSpPr>
          <p:spPr>
            <a:xfrm>
              <a:off x="5712666" y="2502119"/>
              <a:ext cx="417930" cy="298496"/>
            </a:xfrm>
            <a:prstGeom prst="roundRect">
              <a:avLst/>
            </a:prstGeom>
            <a:ln/>
          </p:spPr>
          <p:style>
            <a:lnRef idx="1">
              <a:schemeClr val="accent5"/>
            </a:lnRef>
            <a:fillRef idx="2">
              <a:schemeClr val="accent5"/>
            </a:fillRef>
            <a:effectRef idx="1">
              <a:schemeClr val="accent5"/>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grpSp>
          <p:nvGrpSpPr>
            <p:cNvPr id="165" name="Group 164"/>
            <p:cNvGrpSpPr/>
            <p:nvPr/>
          </p:nvGrpSpPr>
          <p:grpSpPr>
            <a:xfrm>
              <a:off x="4187782" y="3976458"/>
              <a:ext cx="1087957" cy="561839"/>
              <a:chOff x="2590624" y="3527768"/>
              <a:chExt cx="1087957" cy="561839"/>
            </a:xfrm>
          </p:grpSpPr>
          <p:sp>
            <p:nvSpPr>
              <p:cNvPr id="166" name="TextBox 165"/>
              <p:cNvSpPr txBox="1"/>
              <p:nvPr/>
            </p:nvSpPr>
            <p:spPr>
              <a:xfrm>
                <a:off x="2606119" y="3630533"/>
                <a:ext cx="1072462" cy="427682"/>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err="1">
                    <a:solidFill>
                      <a:srgbClr val="FF0000"/>
                    </a:solidFill>
                    <a:latin typeface="Calibri"/>
                    <a:ea typeface="+mn-ea"/>
                  </a:rPr>
                  <a:t>add_req</a:t>
                </a:r>
                <a:endParaRPr lang="en-US" sz="1600" dirty="0">
                  <a:solidFill>
                    <a:srgbClr val="FF0000"/>
                  </a:solidFill>
                  <a:latin typeface="Calibri"/>
                  <a:ea typeface="+mn-ea"/>
                </a:endParaRPr>
              </a:p>
            </p:txBody>
          </p:sp>
          <p:cxnSp>
            <p:nvCxnSpPr>
              <p:cNvPr id="167" name="Straight Connector 166"/>
              <p:cNvCxnSpPr/>
              <p:nvPr/>
            </p:nvCxnSpPr>
            <p:spPr>
              <a:xfrm>
                <a:off x="2590624" y="3527768"/>
                <a:ext cx="15496" cy="561839"/>
              </a:xfrm>
              <a:prstGeom prst="line">
                <a:avLst/>
              </a:prstGeom>
              <a:ln>
                <a:solidFill>
                  <a:srgbClr val="FF0000"/>
                </a:solidFill>
                <a:tailEnd type="triangle" w="lg"/>
              </a:ln>
            </p:spPr>
            <p:style>
              <a:lnRef idx="2">
                <a:schemeClr val="accent1"/>
              </a:lnRef>
              <a:fillRef idx="0">
                <a:schemeClr val="accent1"/>
              </a:fillRef>
              <a:effectRef idx="1">
                <a:schemeClr val="accent1"/>
              </a:effectRef>
              <a:fontRef idx="minor">
                <a:schemeClr val="tx1"/>
              </a:fontRef>
            </p:style>
          </p:cxnSp>
        </p:grpSp>
        <p:grpSp>
          <p:nvGrpSpPr>
            <p:cNvPr id="168" name="Group 167"/>
            <p:cNvGrpSpPr/>
            <p:nvPr/>
          </p:nvGrpSpPr>
          <p:grpSpPr>
            <a:xfrm>
              <a:off x="4168334" y="4647159"/>
              <a:ext cx="779295" cy="304800"/>
              <a:chOff x="4134897" y="4582627"/>
              <a:chExt cx="779295" cy="304800"/>
            </a:xfrm>
          </p:grpSpPr>
          <p:sp>
            <p:nvSpPr>
              <p:cNvPr id="169" name="Rounded Rectangle 168"/>
              <p:cNvSpPr/>
              <p:nvPr/>
            </p:nvSpPr>
            <p:spPr>
              <a:xfrm>
                <a:off x="4134897" y="4582627"/>
                <a:ext cx="417930" cy="199199"/>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170" name="Rounded Rectangle 169"/>
              <p:cNvSpPr/>
              <p:nvPr/>
            </p:nvSpPr>
            <p:spPr>
              <a:xfrm>
                <a:off x="4287297" y="4635427"/>
                <a:ext cx="417930" cy="199199"/>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171" name="Rounded Rectangle 170"/>
              <p:cNvSpPr/>
              <p:nvPr/>
            </p:nvSpPr>
            <p:spPr>
              <a:xfrm>
                <a:off x="4496262" y="4688228"/>
                <a:ext cx="417930" cy="199199"/>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grpSp>
        <p:grpSp>
          <p:nvGrpSpPr>
            <p:cNvPr id="172" name="Group 171"/>
            <p:cNvGrpSpPr/>
            <p:nvPr/>
          </p:nvGrpSpPr>
          <p:grpSpPr>
            <a:xfrm>
              <a:off x="5560269" y="4647159"/>
              <a:ext cx="779295" cy="304800"/>
              <a:chOff x="4134897" y="4582627"/>
              <a:chExt cx="779295" cy="304800"/>
            </a:xfrm>
          </p:grpSpPr>
          <p:sp>
            <p:nvSpPr>
              <p:cNvPr id="173" name="Rounded Rectangle 172"/>
              <p:cNvSpPr/>
              <p:nvPr/>
            </p:nvSpPr>
            <p:spPr>
              <a:xfrm>
                <a:off x="4134897" y="4582627"/>
                <a:ext cx="417930" cy="199199"/>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174" name="Rounded Rectangle 173"/>
              <p:cNvSpPr/>
              <p:nvPr/>
            </p:nvSpPr>
            <p:spPr>
              <a:xfrm>
                <a:off x="4287297" y="4635427"/>
                <a:ext cx="417930" cy="199199"/>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175" name="Rounded Rectangle 174"/>
              <p:cNvSpPr/>
              <p:nvPr/>
            </p:nvSpPr>
            <p:spPr>
              <a:xfrm>
                <a:off x="4496262" y="4688228"/>
                <a:ext cx="417930" cy="199199"/>
              </a:xfrm>
              <a:prstGeom prst="roundRect">
                <a:avLst/>
              </a:prstGeom>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grpSp>
        <p:sp>
          <p:nvSpPr>
            <p:cNvPr id="176" name="Can 175"/>
            <p:cNvSpPr/>
            <p:nvPr/>
          </p:nvSpPr>
          <p:spPr>
            <a:xfrm>
              <a:off x="1791244" y="5604560"/>
              <a:ext cx="1036858" cy="822960"/>
            </a:xfrm>
            <a:prstGeom prst="can">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77" name="Can 176"/>
            <p:cNvSpPr/>
            <p:nvPr/>
          </p:nvSpPr>
          <p:spPr>
            <a:xfrm>
              <a:off x="3746890" y="5604560"/>
              <a:ext cx="1036858" cy="822960"/>
            </a:xfrm>
            <a:prstGeom prst="can">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178" name="Can 177"/>
            <p:cNvSpPr/>
            <p:nvPr/>
          </p:nvSpPr>
          <p:spPr>
            <a:xfrm>
              <a:off x="5623951" y="5604560"/>
              <a:ext cx="1036858" cy="822960"/>
            </a:xfrm>
            <a:prstGeom prst="can">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grpSp>
          <p:nvGrpSpPr>
            <p:cNvPr id="179" name="Group 178"/>
            <p:cNvGrpSpPr/>
            <p:nvPr/>
          </p:nvGrpSpPr>
          <p:grpSpPr>
            <a:xfrm>
              <a:off x="2532785" y="5005535"/>
              <a:ext cx="1551799" cy="599025"/>
              <a:chOff x="1196666" y="3490582"/>
              <a:chExt cx="1551799" cy="599025"/>
            </a:xfrm>
          </p:grpSpPr>
          <p:sp>
            <p:nvSpPr>
              <p:cNvPr id="180" name="TextBox 179"/>
              <p:cNvSpPr txBox="1"/>
              <p:nvPr/>
            </p:nvSpPr>
            <p:spPr>
              <a:xfrm>
                <a:off x="1196666" y="3618498"/>
                <a:ext cx="1551799" cy="427682"/>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err="1">
                    <a:solidFill>
                      <a:srgbClr val="FF0000"/>
                    </a:solidFill>
                    <a:latin typeface="Calibri"/>
                    <a:ea typeface="+mn-ea"/>
                  </a:rPr>
                  <a:t>dispatch_req</a:t>
                </a:r>
                <a:endParaRPr lang="en-US" sz="1600" dirty="0">
                  <a:solidFill>
                    <a:srgbClr val="FF0000"/>
                  </a:solidFill>
                  <a:latin typeface="Calibri"/>
                  <a:ea typeface="+mn-ea"/>
                </a:endParaRPr>
              </a:p>
            </p:txBody>
          </p:sp>
          <p:cxnSp>
            <p:nvCxnSpPr>
              <p:cNvPr id="181" name="Straight Connector 180"/>
              <p:cNvCxnSpPr/>
              <p:nvPr/>
            </p:nvCxnSpPr>
            <p:spPr>
              <a:xfrm>
                <a:off x="2594903" y="3490582"/>
                <a:ext cx="11217" cy="599025"/>
              </a:xfrm>
              <a:prstGeom prst="line">
                <a:avLst/>
              </a:prstGeom>
              <a:ln>
                <a:solidFill>
                  <a:srgbClr val="FF0000"/>
                </a:solidFill>
                <a:tailEnd type="triangle" w="lg"/>
              </a:ln>
            </p:spPr>
            <p:style>
              <a:lnRef idx="2">
                <a:schemeClr val="accent1"/>
              </a:lnRef>
              <a:fillRef idx="0">
                <a:schemeClr val="accent1"/>
              </a:fillRef>
              <a:effectRef idx="1">
                <a:schemeClr val="accent1"/>
              </a:effectRef>
              <a:fontRef idx="minor">
                <a:schemeClr val="tx1"/>
              </a:fontRef>
            </p:style>
          </p:cxnSp>
        </p:grpSp>
        <p:grpSp>
          <p:nvGrpSpPr>
            <p:cNvPr id="182" name="Group 181"/>
            <p:cNvGrpSpPr/>
            <p:nvPr/>
          </p:nvGrpSpPr>
          <p:grpSpPr>
            <a:xfrm>
              <a:off x="4499967" y="5005535"/>
              <a:ext cx="1630630" cy="599026"/>
              <a:chOff x="2563448" y="3535972"/>
              <a:chExt cx="1230100" cy="599026"/>
            </a:xfrm>
          </p:grpSpPr>
          <p:sp>
            <p:nvSpPr>
              <p:cNvPr id="183" name="TextBox 182"/>
              <p:cNvSpPr txBox="1"/>
              <p:nvPr/>
            </p:nvSpPr>
            <p:spPr>
              <a:xfrm>
                <a:off x="2563448" y="3661897"/>
                <a:ext cx="1230100" cy="427681"/>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err="1">
                    <a:solidFill>
                      <a:srgbClr val="FF0000"/>
                    </a:solidFill>
                    <a:latin typeface="Calibri"/>
                    <a:ea typeface="+mn-ea"/>
                  </a:rPr>
                  <a:t>req_complete</a:t>
                </a:r>
                <a:endParaRPr lang="en-US" sz="1600" dirty="0">
                  <a:solidFill>
                    <a:srgbClr val="FF0000"/>
                  </a:solidFill>
                  <a:latin typeface="Calibri"/>
                  <a:ea typeface="+mn-ea"/>
                </a:endParaRPr>
              </a:p>
            </p:txBody>
          </p:sp>
          <p:cxnSp>
            <p:nvCxnSpPr>
              <p:cNvPr id="184" name="Straight Connector 183"/>
              <p:cNvCxnSpPr/>
              <p:nvPr/>
            </p:nvCxnSpPr>
            <p:spPr>
              <a:xfrm flipH="1" flipV="1">
                <a:off x="2585875" y="3535972"/>
                <a:ext cx="1" cy="599026"/>
              </a:xfrm>
              <a:prstGeom prst="line">
                <a:avLst/>
              </a:prstGeom>
              <a:ln>
                <a:solidFill>
                  <a:srgbClr val="FF0000"/>
                </a:solidFill>
                <a:tailEnd type="triangle" w="lg"/>
              </a:ln>
            </p:spPr>
            <p:style>
              <a:lnRef idx="2">
                <a:schemeClr val="accent1"/>
              </a:lnRef>
              <a:fillRef idx="0">
                <a:schemeClr val="accent1"/>
              </a:fillRef>
              <a:effectRef idx="1">
                <a:schemeClr val="accent1"/>
              </a:effectRef>
              <a:fontRef idx="minor">
                <a:schemeClr val="tx1"/>
              </a:fontRef>
            </p:style>
          </p:cxnSp>
        </p:grpSp>
        <p:sp>
          <p:nvSpPr>
            <p:cNvPr id="185" name="TextBox 184"/>
            <p:cNvSpPr txBox="1"/>
            <p:nvPr/>
          </p:nvSpPr>
          <p:spPr>
            <a:xfrm>
              <a:off x="1852298" y="5886174"/>
              <a:ext cx="932885" cy="466562"/>
            </a:xfrm>
            <a:prstGeom prst="rect">
              <a:avLst/>
            </a:prstGeom>
            <a:noFill/>
          </p:spPr>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Disk</a:t>
              </a:r>
            </a:p>
          </p:txBody>
        </p:sp>
        <p:sp>
          <p:nvSpPr>
            <p:cNvPr id="186" name="TextBox 185"/>
            <p:cNvSpPr txBox="1"/>
            <p:nvPr/>
          </p:nvSpPr>
          <p:spPr>
            <a:xfrm>
              <a:off x="5699586" y="5891841"/>
              <a:ext cx="932885" cy="466562"/>
            </a:xfrm>
            <a:prstGeom prst="rect">
              <a:avLst/>
            </a:prstGeom>
            <a:noFill/>
          </p:spPr>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SSD</a:t>
              </a:r>
            </a:p>
          </p:txBody>
        </p:sp>
        <p:sp>
          <p:nvSpPr>
            <p:cNvPr id="187" name="Round Diagonal Corner Rectangle 186"/>
            <p:cNvSpPr/>
            <p:nvPr/>
          </p:nvSpPr>
          <p:spPr>
            <a:xfrm>
              <a:off x="3877817" y="5886174"/>
              <a:ext cx="290517" cy="304865"/>
            </a:xfrm>
            <a:prstGeom prst="round2DiagRect">
              <a:avLst/>
            </a:prstGeom>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188" name="Round Diagonal Corner Rectangle 187"/>
            <p:cNvSpPr/>
            <p:nvPr/>
          </p:nvSpPr>
          <p:spPr>
            <a:xfrm>
              <a:off x="4295747" y="5891841"/>
              <a:ext cx="290517" cy="304865"/>
            </a:xfrm>
            <a:prstGeom prst="round2DiagRect">
              <a:avLst/>
            </a:prstGeom>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189" name="Round Diagonal Corner Rectangle 188"/>
            <p:cNvSpPr/>
            <p:nvPr/>
          </p:nvSpPr>
          <p:spPr>
            <a:xfrm>
              <a:off x="4071731" y="6044241"/>
              <a:ext cx="290517" cy="304865"/>
            </a:xfrm>
            <a:prstGeom prst="round2DiagRect">
              <a:avLst/>
            </a:prstGeom>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cxnSp>
          <p:nvCxnSpPr>
            <p:cNvPr id="190" name="Straight Connector 189"/>
            <p:cNvCxnSpPr/>
            <p:nvPr/>
          </p:nvCxnSpPr>
          <p:spPr>
            <a:xfrm flipH="1" flipV="1">
              <a:off x="6339565" y="1968373"/>
              <a:ext cx="1" cy="1515677"/>
            </a:xfrm>
            <a:prstGeom prst="line">
              <a:avLst/>
            </a:prstGeom>
            <a:ln>
              <a:solidFill>
                <a:srgbClr val="FF0000"/>
              </a:solidFill>
              <a:tailEnd type="triangle" w="lg"/>
            </a:ln>
          </p:spPr>
          <p:style>
            <a:lnRef idx="2">
              <a:schemeClr val="accent1"/>
            </a:lnRef>
            <a:fillRef idx="0">
              <a:schemeClr val="accent1"/>
            </a:fillRef>
            <a:effectRef idx="1">
              <a:schemeClr val="accent1"/>
            </a:effectRef>
            <a:fontRef idx="minor">
              <a:schemeClr val="tx1"/>
            </a:fontRef>
          </p:style>
        </p:cxnSp>
        <p:cxnSp>
          <p:nvCxnSpPr>
            <p:cNvPr id="191" name="Straight Connector 190"/>
            <p:cNvCxnSpPr/>
            <p:nvPr/>
          </p:nvCxnSpPr>
          <p:spPr>
            <a:xfrm flipV="1">
              <a:off x="4362249" y="1916879"/>
              <a:ext cx="0" cy="481194"/>
            </a:xfrm>
            <a:prstGeom prst="line">
              <a:avLst/>
            </a:prstGeom>
            <a:ln>
              <a:solidFill>
                <a:srgbClr val="FF0000"/>
              </a:solidFill>
              <a:tailEnd type="triangle" w="lg"/>
            </a:ln>
          </p:spPr>
          <p:style>
            <a:lnRef idx="2">
              <a:schemeClr val="accent1"/>
            </a:lnRef>
            <a:fillRef idx="0">
              <a:schemeClr val="accent1"/>
            </a:fillRef>
            <a:effectRef idx="1">
              <a:schemeClr val="accent1"/>
            </a:effectRef>
            <a:fontRef idx="minor">
              <a:schemeClr val="tx1"/>
            </a:fontRef>
          </p:style>
        </p:cxnSp>
        <p:cxnSp>
          <p:nvCxnSpPr>
            <p:cNvPr id="192" name="Straight Connector 191"/>
            <p:cNvCxnSpPr/>
            <p:nvPr/>
          </p:nvCxnSpPr>
          <p:spPr>
            <a:xfrm flipV="1">
              <a:off x="2397807" y="1916881"/>
              <a:ext cx="0" cy="481194"/>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99743512"/>
      </p:ext>
    </p:extLst>
  </p:cSld>
  <p:clrMapOvr>
    <a:masterClrMapping/>
  </p:clrMapOvr>
  <mc:AlternateContent xmlns:mc="http://schemas.openxmlformats.org/markup-compatibility/2006" xmlns:p14="http://schemas.microsoft.com/office/powerpoint/2010/main">
    <mc:Choice Requires="p14">
      <p:transition spd="slow" p14:dur="2000" advTm="27890"/>
    </mc:Choice>
    <mc:Fallback xmlns="">
      <p:transition xmlns:p14="http://schemas.microsoft.com/office/powerpoint/2010/main" spd="slow" advTm="2789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2996226" y="2408754"/>
            <a:ext cx="5538675" cy="506364"/>
            <a:chOff x="1369609" y="2658607"/>
            <a:chExt cx="3131712" cy="423196"/>
          </a:xfrm>
        </p:grpSpPr>
        <p:sp>
          <p:nvSpPr>
            <p:cNvPr id="8" name="Rectangle 7"/>
            <p:cNvSpPr/>
            <p:nvPr/>
          </p:nvSpPr>
          <p:spPr>
            <a:xfrm>
              <a:off x="1377562" y="2658607"/>
              <a:ext cx="3123759" cy="423196"/>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7" name="TextBox 6"/>
            <p:cNvSpPr txBox="1"/>
            <p:nvPr/>
          </p:nvSpPr>
          <p:spPr>
            <a:xfrm>
              <a:off x="1369609" y="2699616"/>
              <a:ext cx="1289674" cy="30838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rPr>
                <a:t>Page Cache</a:t>
              </a:r>
            </a:p>
          </p:txBody>
        </p:sp>
      </p:grpSp>
      <p:sp>
        <p:nvSpPr>
          <p:cNvPr id="11" name="Rounded Rectangle 10"/>
          <p:cNvSpPr/>
          <p:nvPr/>
        </p:nvSpPr>
        <p:spPr>
          <a:xfrm>
            <a:off x="5266399" y="2513082"/>
            <a:ext cx="572226" cy="298215"/>
          </a:xfrm>
          <a:prstGeom prst="roundRect">
            <a:avLst/>
          </a:prstGeom>
          <a:ln/>
        </p:spPr>
        <p:style>
          <a:lnRef idx="1">
            <a:schemeClr val="accent5"/>
          </a:lnRef>
          <a:fillRef idx="2">
            <a:schemeClr val="accent5"/>
          </a:fillRef>
          <a:effectRef idx="1">
            <a:schemeClr val="accent5"/>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sz="1100" dirty="0">
              <a:solidFill>
                <a:prstClr val="black"/>
              </a:solidFill>
              <a:latin typeface="Calibri"/>
            </a:endParaRPr>
          </a:p>
        </p:txBody>
      </p:sp>
      <p:sp>
        <p:nvSpPr>
          <p:cNvPr id="56" name="Rounded Rectangle 55"/>
          <p:cNvSpPr/>
          <p:nvPr/>
        </p:nvSpPr>
        <p:spPr>
          <a:xfrm>
            <a:off x="5956462" y="2512798"/>
            <a:ext cx="570703" cy="298496"/>
          </a:xfrm>
          <a:prstGeom prst="roundRect">
            <a:avLst/>
          </a:prstGeom>
          <a:ln/>
        </p:spPr>
        <p:style>
          <a:lnRef idx="1">
            <a:schemeClr val="accent5"/>
          </a:lnRef>
          <a:fillRef idx="2">
            <a:schemeClr val="accent5"/>
          </a:fillRef>
          <a:effectRef idx="1">
            <a:schemeClr val="accent5"/>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sz="1100" dirty="0">
              <a:solidFill>
                <a:prstClr val="black"/>
              </a:solidFill>
              <a:latin typeface="Calibri"/>
            </a:endParaRPr>
          </a:p>
        </p:txBody>
      </p:sp>
      <p:sp>
        <p:nvSpPr>
          <p:cNvPr id="59" name="Rounded Rectangle 58"/>
          <p:cNvSpPr/>
          <p:nvPr/>
        </p:nvSpPr>
        <p:spPr>
          <a:xfrm>
            <a:off x="6600628" y="2512798"/>
            <a:ext cx="595525" cy="298496"/>
          </a:xfrm>
          <a:prstGeom prst="roundRect">
            <a:avLst/>
          </a:prstGeom>
          <a:ln/>
        </p:spPr>
        <p:style>
          <a:lnRef idx="1">
            <a:schemeClr val="accent5"/>
          </a:lnRef>
          <a:fillRef idx="2">
            <a:schemeClr val="accent5"/>
          </a:fillRef>
          <a:effectRef idx="1">
            <a:schemeClr val="accent5"/>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sz="1100" dirty="0">
              <a:solidFill>
                <a:prstClr val="black"/>
              </a:solidFill>
              <a:latin typeface="Calibri"/>
            </a:endParaRPr>
          </a:p>
        </p:txBody>
      </p:sp>
      <p:sp>
        <p:nvSpPr>
          <p:cNvPr id="60" name="Rounded Rectangle 59"/>
          <p:cNvSpPr/>
          <p:nvPr/>
        </p:nvSpPr>
        <p:spPr>
          <a:xfrm>
            <a:off x="7325266" y="2512798"/>
            <a:ext cx="597847" cy="298496"/>
          </a:xfrm>
          <a:prstGeom prst="roundRect">
            <a:avLst/>
          </a:prstGeom>
          <a:ln/>
        </p:spPr>
        <p:style>
          <a:lnRef idx="1">
            <a:schemeClr val="accent5"/>
          </a:lnRef>
          <a:fillRef idx="2">
            <a:schemeClr val="accent5"/>
          </a:fillRef>
          <a:effectRef idx="1">
            <a:schemeClr val="accent5"/>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sz="1100" dirty="0">
              <a:solidFill>
                <a:prstClr val="black"/>
              </a:solidFill>
              <a:latin typeface="Calibri"/>
            </a:endParaRPr>
          </a:p>
        </p:txBody>
      </p:sp>
      <p:sp>
        <p:nvSpPr>
          <p:cNvPr id="16" name="Slide Number Placeholder 15"/>
          <p:cNvSpPr>
            <a:spLocks noGrp="1"/>
          </p:cNvSpPr>
          <p:nvPr>
            <p:ph type="sldNum" sz="quarter" idx="12"/>
          </p:nvPr>
        </p:nvSpPr>
        <p:spPr>
          <a:prstGeom prst="rect">
            <a:avLst/>
          </a:prstGeom>
        </p:spPr>
        <p:txBody>
          <a:bodyPr/>
          <a:lstStyle/>
          <a:p>
            <a:pPr algn="r" defTabSz="457200" fontAlgn="auto">
              <a:spcBef>
                <a:spcPts val="0"/>
              </a:spcBef>
              <a:spcAft>
                <a:spcPts val="0"/>
              </a:spcAft>
              <a:defRPr/>
            </a:pPr>
            <a:fld id="{E0BF073B-729F-064A-9185-3DC28912AF5F}" type="slidenum">
              <a:rPr lang="en-US" b="0">
                <a:solidFill>
                  <a:prstClr val="black">
                    <a:tint val="75000"/>
                  </a:prstClr>
                </a:solidFill>
                <a:latin typeface="Calibri"/>
                <a:ea typeface="+mn-ea"/>
              </a:rPr>
              <a:pPr algn="r" defTabSz="457200" fontAlgn="auto">
                <a:spcBef>
                  <a:spcPts val="0"/>
                </a:spcBef>
                <a:spcAft>
                  <a:spcPts val="0"/>
                </a:spcAft>
                <a:defRPr/>
              </a:pPr>
              <a:t>44</a:t>
            </a:fld>
            <a:endParaRPr lang="en-US" b="0">
              <a:solidFill>
                <a:prstClr val="black">
                  <a:tint val="75000"/>
                </a:prstClr>
              </a:solidFill>
              <a:latin typeface="Calibri"/>
              <a:ea typeface="+mn-ea"/>
            </a:endParaRPr>
          </a:p>
        </p:txBody>
      </p:sp>
      <p:sp>
        <p:nvSpPr>
          <p:cNvPr id="2" name="Title 1"/>
          <p:cNvSpPr>
            <a:spLocks noGrp="1"/>
          </p:cNvSpPr>
          <p:nvPr>
            <p:ph type="title"/>
          </p:nvPr>
        </p:nvSpPr>
        <p:spPr>
          <a:prstGeom prst="rect">
            <a:avLst/>
          </a:prstGeom>
        </p:spPr>
        <p:txBody>
          <a:bodyPr/>
          <a:lstStyle/>
          <a:p>
            <a:r>
              <a:rPr lang="en-US" dirty="0">
                <a:latin typeface="Helvetica"/>
                <a:cs typeface="Helvetica"/>
              </a:rPr>
              <a:t>Split-Level I/O Scheduling: Tags</a:t>
            </a:r>
          </a:p>
        </p:txBody>
      </p:sp>
      <p:sp>
        <p:nvSpPr>
          <p:cNvPr id="102" name="Content Placeholder 2"/>
          <p:cNvSpPr>
            <a:spLocks noGrp="1"/>
          </p:cNvSpPr>
          <p:nvPr>
            <p:ph idx="1"/>
          </p:nvPr>
        </p:nvSpPr>
        <p:spPr>
          <a:xfrm>
            <a:off x="695399" y="4586205"/>
            <a:ext cx="10801200" cy="1471901"/>
          </a:xfrm>
          <a:prstGeom prst="rect">
            <a:avLst/>
          </a:prstGeom>
        </p:spPr>
        <p:txBody>
          <a:bodyPr>
            <a:normAutofit fontScale="77500" lnSpcReduction="20000"/>
          </a:bodyPr>
          <a:lstStyle/>
          <a:p>
            <a:pPr>
              <a:spcAft>
                <a:spcPts val="3600"/>
              </a:spcAft>
            </a:pPr>
            <a:r>
              <a:rPr lang="en-US" dirty="0">
                <a:solidFill>
                  <a:srgbClr val="000000"/>
                </a:solidFill>
                <a:cs typeface="Helvetica Light"/>
              </a:rPr>
              <a:t>Use </a:t>
            </a:r>
            <a:r>
              <a:rPr lang="en-US" dirty="0">
                <a:solidFill>
                  <a:srgbClr val="4F81BD"/>
                </a:solidFill>
                <a:cs typeface="Helvetica Light"/>
              </a:rPr>
              <a:t>tags</a:t>
            </a:r>
            <a:r>
              <a:rPr lang="en-US" dirty="0">
                <a:solidFill>
                  <a:srgbClr val="000000"/>
                </a:solidFill>
                <a:cs typeface="Helvetica Light"/>
              </a:rPr>
              <a:t> to track I/O request across layers and identify the originating application.</a:t>
            </a:r>
          </a:p>
          <a:p>
            <a:pPr>
              <a:spcAft>
                <a:spcPts val="3600"/>
              </a:spcAft>
            </a:pPr>
            <a:r>
              <a:rPr lang="en-US" dirty="0">
                <a:solidFill>
                  <a:srgbClr val="000000"/>
                </a:solidFill>
                <a:cs typeface="Helvetica Light"/>
              </a:rPr>
              <a:t>Tags identify </a:t>
            </a:r>
            <a:r>
              <a:rPr lang="en-US" dirty="0">
                <a:solidFill>
                  <a:srgbClr val="4F81BD"/>
                </a:solidFill>
                <a:cs typeface="Helvetica Light"/>
              </a:rPr>
              <a:t>a set of processes </a:t>
            </a:r>
            <a:r>
              <a:rPr lang="en-US" dirty="0">
                <a:solidFill>
                  <a:srgbClr val="000000"/>
                </a:solidFill>
                <a:cs typeface="Helvetica Light"/>
              </a:rPr>
              <a:t>responsible for an I/O request.</a:t>
            </a:r>
          </a:p>
        </p:txBody>
      </p:sp>
      <p:grpSp>
        <p:nvGrpSpPr>
          <p:cNvPr id="24" name="Group 23"/>
          <p:cNvGrpSpPr/>
          <p:nvPr/>
        </p:nvGrpSpPr>
        <p:grpSpPr>
          <a:xfrm>
            <a:off x="5266402" y="1569287"/>
            <a:ext cx="1107991" cy="369332"/>
            <a:chOff x="1324688" y="2658607"/>
            <a:chExt cx="3176633" cy="848370"/>
          </a:xfrm>
        </p:grpSpPr>
        <p:sp>
          <p:nvSpPr>
            <p:cNvPr id="25" name="Rectangle 24"/>
            <p:cNvSpPr/>
            <p:nvPr/>
          </p:nvSpPr>
          <p:spPr>
            <a:xfrm>
              <a:off x="1377562" y="2658607"/>
              <a:ext cx="3123759" cy="822960"/>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26" name="TextBox 25"/>
            <p:cNvSpPr txBox="1"/>
            <p:nvPr/>
          </p:nvSpPr>
          <p:spPr>
            <a:xfrm>
              <a:off x="1324688" y="2658607"/>
              <a:ext cx="3123762" cy="84837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rPr>
                <a:t>App1</a:t>
              </a:r>
            </a:p>
          </p:txBody>
        </p:sp>
      </p:grpSp>
      <p:grpSp>
        <p:nvGrpSpPr>
          <p:cNvPr id="27" name="Group 26"/>
          <p:cNvGrpSpPr/>
          <p:nvPr/>
        </p:nvGrpSpPr>
        <p:grpSpPr>
          <a:xfrm>
            <a:off x="7196154" y="1589891"/>
            <a:ext cx="1107991" cy="369332"/>
            <a:chOff x="1324688" y="2658607"/>
            <a:chExt cx="3176633" cy="848370"/>
          </a:xfrm>
        </p:grpSpPr>
        <p:sp>
          <p:nvSpPr>
            <p:cNvPr id="28" name="Rectangle 27"/>
            <p:cNvSpPr/>
            <p:nvPr/>
          </p:nvSpPr>
          <p:spPr>
            <a:xfrm>
              <a:off x="1377562" y="2658607"/>
              <a:ext cx="3123759" cy="822960"/>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29" name="TextBox 28"/>
            <p:cNvSpPr txBox="1"/>
            <p:nvPr/>
          </p:nvSpPr>
          <p:spPr>
            <a:xfrm>
              <a:off x="1324688" y="2658607"/>
              <a:ext cx="3123762" cy="84837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rPr>
                <a:t>App2</a:t>
              </a:r>
            </a:p>
          </p:txBody>
        </p:sp>
      </p:grpSp>
      <p:grpSp>
        <p:nvGrpSpPr>
          <p:cNvPr id="44" name="Group 43"/>
          <p:cNvGrpSpPr/>
          <p:nvPr/>
        </p:nvGrpSpPr>
        <p:grpSpPr>
          <a:xfrm>
            <a:off x="5126867" y="1927560"/>
            <a:ext cx="754001" cy="481195"/>
            <a:chOff x="1508518" y="2305802"/>
            <a:chExt cx="754001" cy="514089"/>
          </a:xfrm>
        </p:grpSpPr>
        <p:sp>
          <p:nvSpPr>
            <p:cNvPr id="45" name="TextBox 44"/>
            <p:cNvSpPr txBox="1"/>
            <p:nvPr/>
          </p:nvSpPr>
          <p:spPr>
            <a:xfrm>
              <a:off x="1508518" y="2370757"/>
              <a:ext cx="754001" cy="361697"/>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a:solidFill>
                    <a:prstClr val="black"/>
                  </a:solidFill>
                  <a:latin typeface="Calibri"/>
                  <a:ea typeface="+mn-ea"/>
                </a:rPr>
                <a:t>write()</a:t>
              </a:r>
            </a:p>
          </p:txBody>
        </p:sp>
        <p:cxnSp>
          <p:nvCxnSpPr>
            <p:cNvPr id="46" name="Straight Connector 45"/>
            <p:cNvCxnSpPr/>
            <p:nvPr/>
          </p:nvCxnSpPr>
          <p:spPr>
            <a:xfrm>
              <a:off x="2220279" y="2305802"/>
              <a:ext cx="0" cy="514089"/>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grpSp>
      <p:grpSp>
        <p:nvGrpSpPr>
          <p:cNvPr id="47" name="Group 46"/>
          <p:cNvGrpSpPr/>
          <p:nvPr/>
        </p:nvGrpSpPr>
        <p:grpSpPr>
          <a:xfrm>
            <a:off x="7075037" y="1948164"/>
            <a:ext cx="848074" cy="460592"/>
            <a:chOff x="1516689" y="2305802"/>
            <a:chExt cx="848074" cy="492077"/>
          </a:xfrm>
        </p:grpSpPr>
        <p:sp>
          <p:nvSpPr>
            <p:cNvPr id="48" name="TextBox 47"/>
            <p:cNvSpPr txBox="1"/>
            <p:nvPr/>
          </p:nvSpPr>
          <p:spPr>
            <a:xfrm>
              <a:off x="1516689" y="2348744"/>
              <a:ext cx="848074" cy="361697"/>
            </a:xfrm>
            <a:prstGeom prst="rect">
              <a:avLst/>
            </a:prstGeom>
            <a:noFill/>
            <a:ln>
              <a:noFill/>
            </a:ln>
          </p:spPr>
          <p:txBody>
            <a:bodyPr wrap="square" rtlCol="0">
              <a:spAutoFit/>
            </a:bodyPr>
            <a:lstStyle/>
            <a:p>
              <a:pPr defTabSz="457200" eaLnBrk="1" fontAlgn="auto" hangingPunct="1">
                <a:lnSpc>
                  <a:spcPct val="100000"/>
                </a:lnSpc>
                <a:spcBef>
                  <a:spcPts val="0"/>
                </a:spcBef>
                <a:spcAft>
                  <a:spcPts val="0"/>
                </a:spcAft>
                <a:buSzTx/>
                <a:buNone/>
                <a:defRPr/>
              </a:pPr>
              <a:r>
                <a:rPr lang="en-US" sz="1600" dirty="0">
                  <a:solidFill>
                    <a:prstClr val="black"/>
                  </a:solidFill>
                  <a:latin typeface="Calibri"/>
                  <a:ea typeface="+mn-ea"/>
                </a:rPr>
                <a:t>write()</a:t>
              </a:r>
            </a:p>
          </p:txBody>
        </p:sp>
        <p:cxnSp>
          <p:nvCxnSpPr>
            <p:cNvPr id="49" name="Straight Connector 48"/>
            <p:cNvCxnSpPr/>
            <p:nvPr/>
          </p:nvCxnSpPr>
          <p:spPr>
            <a:xfrm>
              <a:off x="2220279" y="2305802"/>
              <a:ext cx="0" cy="492077"/>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grpSp>
      <p:cxnSp>
        <p:nvCxnSpPr>
          <p:cNvPr id="55" name="Straight Connector 54"/>
          <p:cNvCxnSpPr>
            <a:stCxn id="8" idx="2"/>
          </p:cNvCxnSpPr>
          <p:nvPr/>
        </p:nvCxnSpPr>
        <p:spPr>
          <a:xfrm>
            <a:off x="5772593" y="2915118"/>
            <a:ext cx="0" cy="298592"/>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2944258" y="3914859"/>
            <a:ext cx="5590643" cy="467238"/>
          </a:xfrm>
          <a:prstGeom prst="rect">
            <a:avLst/>
          </a:prstGeom>
          <a:ln/>
        </p:spPr>
        <p:style>
          <a:lnRef idx="2">
            <a:schemeClr val="dk1"/>
          </a:lnRef>
          <a:fillRef idx="1">
            <a:schemeClr val="lt1"/>
          </a:fillRef>
          <a:effectRef idx="0">
            <a:schemeClr val="dk1"/>
          </a:effectRef>
          <a:fontRef idx="minor">
            <a:schemeClr val="dk1"/>
          </a:fontRef>
        </p:style>
        <p:txBody>
          <a:bodyPr/>
          <a:lstStyle/>
          <a:p>
            <a:pPr defTabSz="457200" eaLnBrk="1" fontAlgn="auto" hangingPunct="1">
              <a:lnSpc>
                <a:spcPct val="100000"/>
              </a:lnSpc>
              <a:spcBef>
                <a:spcPts val="0"/>
              </a:spcBef>
              <a:spcAft>
                <a:spcPts val="0"/>
              </a:spcAft>
              <a:buSzTx/>
              <a:buNone/>
              <a:defRPr/>
            </a:pPr>
            <a:endParaRPr lang="en-US">
              <a:solidFill>
                <a:prstClr val="black"/>
              </a:solidFill>
              <a:latin typeface="Calibri"/>
            </a:endParaRPr>
          </a:p>
        </p:txBody>
      </p:sp>
      <p:sp>
        <p:nvSpPr>
          <p:cNvPr id="75" name="TextBox 74"/>
          <p:cNvSpPr txBox="1"/>
          <p:nvPr/>
        </p:nvSpPr>
        <p:spPr>
          <a:xfrm>
            <a:off x="4467452" y="4012765"/>
            <a:ext cx="2610282" cy="369332"/>
          </a:xfrm>
          <a:prstGeom prst="rect">
            <a:avLst/>
          </a:prstGeom>
          <a:noFill/>
        </p:spPr>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Block-Level Scheduler</a:t>
            </a:r>
          </a:p>
        </p:txBody>
      </p:sp>
      <p:cxnSp>
        <p:nvCxnSpPr>
          <p:cNvPr id="90" name="Straight Connector 89"/>
          <p:cNvCxnSpPr/>
          <p:nvPr/>
        </p:nvCxnSpPr>
        <p:spPr>
          <a:xfrm flipV="1">
            <a:off x="7952164" y="1929988"/>
            <a:ext cx="0" cy="478768"/>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cxnSp>
        <p:nvCxnSpPr>
          <p:cNvPr id="91" name="Straight Connector 90"/>
          <p:cNvCxnSpPr/>
          <p:nvPr/>
        </p:nvCxnSpPr>
        <p:spPr>
          <a:xfrm flipV="1">
            <a:off x="5974847" y="1927558"/>
            <a:ext cx="0" cy="481194"/>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149519" y="3217133"/>
            <a:ext cx="1246148" cy="369332"/>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57200" eaLnBrk="1" fontAlgn="auto" hangingPunct="1">
              <a:lnSpc>
                <a:spcPct val="100000"/>
              </a:lnSpc>
              <a:spcBef>
                <a:spcPts val="0"/>
              </a:spcBef>
              <a:spcAft>
                <a:spcPts val="0"/>
              </a:spcAft>
              <a:buSzTx/>
              <a:buNone/>
              <a:defRPr/>
            </a:pPr>
            <a:r>
              <a:rPr lang="en-US" dirty="0">
                <a:solidFill>
                  <a:prstClr val="black"/>
                </a:solidFill>
                <a:latin typeface="Calibri"/>
              </a:rPr>
              <a:t>write-back</a:t>
            </a:r>
          </a:p>
        </p:txBody>
      </p:sp>
      <p:cxnSp>
        <p:nvCxnSpPr>
          <p:cNvPr id="98" name="Straight Connector 97"/>
          <p:cNvCxnSpPr>
            <a:stCxn id="87" idx="2"/>
          </p:cNvCxnSpPr>
          <p:nvPr/>
        </p:nvCxnSpPr>
        <p:spPr>
          <a:xfrm>
            <a:off x="5772593" y="3586465"/>
            <a:ext cx="0" cy="328394"/>
          </a:xfrm>
          <a:prstGeom prst="line">
            <a:avLst/>
          </a:prstGeom>
          <a:ln>
            <a:solidFill>
              <a:schemeClr val="tx1"/>
            </a:solidFill>
            <a:tailEnd type="triangle" w="lg"/>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284841" y="2457474"/>
            <a:ext cx="301660" cy="369332"/>
          </a:xfrm>
          <a:prstGeom prst="rect">
            <a:avLst/>
          </a:prstGeom>
          <a:noFill/>
        </p:spPr>
        <p:txBody>
          <a:bodyPr wrap="none" rtlCol="0">
            <a:spAutoFit/>
          </a:bodyPr>
          <a:lstStyle/>
          <a:p>
            <a:pP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1</a:t>
            </a:r>
          </a:p>
        </p:txBody>
      </p:sp>
      <p:sp>
        <p:nvSpPr>
          <p:cNvPr id="38" name="TextBox 37"/>
          <p:cNvSpPr txBox="1"/>
          <p:nvPr/>
        </p:nvSpPr>
        <p:spPr>
          <a:xfrm>
            <a:off x="5974847" y="2465793"/>
            <a:ext cx="301660" cy="369332"/>
          </a:xfrm>
          <a:prstGeom prst="rect">
            <a:avLst/>
          </a:prstGeom>
          <a:noFill/>
        </p:spPr>
        <p:txBody>
          <a:bodyPr wrap="none" rtlCol="0">
            <a:spAutoFit/>
          </a:bodyPr>
          <a:lstStyle/>
          <a:p>
            <a:pP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1</a:t>
            </a:r>
          </a:p>
        </p:txBody>
      </p:sp>
      <p:sp>
        <p:nvSpPr>
          <p:cNvPr id="39" name="TextBox 38"/>
          <p:cNvSpPr txBox="1"/>
          <p:nvPr/>
        </p:nvSpPr>
        <p:spPr>
          <a:xfrm>
            <a:off x="7325263" y="2465793"/>
            <a:ext cx="301660" cy="369332"/>
          </a:xfrm>
          <a:prstGeom prst="rect">
            <a:avLst/>
          </a:prstGeom>
          <a:noFill/>
        </p:spPr>
        <p:txBody>
          <a:bodyPr wrap="none" rtlCol="0">
            <a:spAutoFit/>
          </a:bodyPr>
          <a:lstStyle/>
          <a:p>
            <a:pP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2</a:t>
            </a:r>
          </a:p>
        </p:txBody>
      </p:sp>
      <p:grpSp>
        <p:nvGrpSpPr>
          <p:cNvPr id="6" name="Group 5"/>
          <p:cNvGrpSpPr/>
          <p:nvPr/>
        </p:nvGrpSpPr>
        <p:grpSpPr>
          <a:xfrm>
            <a:off x="5266399" y="2755658"/>
            <a:ext cx="301660" cy="369332"/>
            <a:chOff x="3742399" y="2755658"/>
            <a:chExt cx="301660" cy="369332"/>
          </a:xfrm>
        </p:grpSpPr>
        <p:sp>
          <p:nvSpPr>
            <p:cNvPr id="103" name="Round Diagonal Corner Rectangle 102"/>
            <p:cNvSpPr/>
            <p:nvPr/>
          </p:nvSpPr>
          <p:spPr>
            <a:xfrm>
              <a:off x="3742399" y="2826806"/>
              <a:ext cx="238293" cy="288162"/>
            </a:xfrm>
            <a:prstGeom prst="round2DiagRect">
              <a:avLst/>
            </a:prstGeom>
            <a:solidFill>
              <a:schemeClr val="accent2"/>
            </a:solidFill>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40" name="TextBox 39"/>
            <p:cNvSpPr txBox="1"/>
            <p:nvPr/>
          </p:nvSpPr>
          <p:spPr>
            <a:xfrm>
              <a:off x="3742399" y="2755658"/>
              <a:ext cx="301660" cy="369332"/>
            </a:xfrm>
            <a:prstGeom prst="rect">
              <a:avLst/>
            </a:prstGeom>
            <a:noFill/>
          </p:spPr>
          <p:txBody>
            <a:bodyPr wrap="none" rtlCol="0">
              <a:spAutoFit/>
            </a:bodyPr>
            <a:lstStyle/>
            <a:p>
              <a:pP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1</a:t>
              </a:r>
            </a:p>
          </p:txBody>
        </p:sp>
      </p:grpSp>
      <p:grpSp>
        <p:nvGrpSpPr>
          <p:cNvPr id="5" name="Group 4"/>
          <p:cNvGrpSpPr/>
          <p:nvPr/>
        </p:nvGrpSpPr>
        <p:grpSpPr>
          <a:xfrm>
            <a:off x="5936416" y="2753355"/>
            <a:ext cx="301660" cy="369935"/>
            <a:chOff x="4412416" y="2753352"/>
            <a:chExt cx="301660" cy="369935"/>
          </a:xfrm>
        </p:grpSpPr>
        <p:sp>
          <p:nvSpPr>
            <p:cNvPr id="104" name="Round Diagonal Corner Rectangle 103"/>
            <p:cNvSpPr/>
            <p:nvPr/>
          </p:nvSpPr>
          <p:spPr>
            <a:xfrm>
              <a:off x="4432459" y="2835125"/>
              <a:ext cx="238293" cy="288162"/>
            </a:xfrm>
            <a:prstGeom prst="round2DiagRect">
              <a:avLst/>
            </a:prstGeom>
            <a:solidFill>
              <a:schemeClr val="accent2"/>
            </a:solidFill>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41" name="TextBox 40"/>
            <p:cNvSpPr txBox="1"/>
            <p:nvPr/>
          </p:nvSpPr>
          <p:spPr>
            <a:xfrm>
              <a:off x="4412416" y="2753352"/>
              <a:ext cx="301660" cy="369332"/>
            </a:xfrm>
            <a:prstGeom prst="rect">
              <a:avLst/>
            </a:prstGeom>
            <a:noFill/>
          </p:spPr>
          <p:txBody>
            <a:bodyPr wrap="none" rtlCol="0">
              <a:spAutoFit/>
            </a:bodyPr>
            <a:lstStyle/>
            <a:p>
              <a:pP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1</a:t>
              </a:r>
            </a:p>
          </p:txBody>
        </p:sp>
      </p:grpSp>
      <p:grpSp>
        <p:nvGrpSpPr>
          <p:cNvPr id="4" name="Group 3"/>
          <p:cNvGrpSpPr/>
          <p:nvPr/>
        </p:nvGrpSpPr>
        <p:grpSpPr>
          <a:xfrm>
            <a:off x="7261896" y="2730452"/>
            <a:ext cx="301660" cy="369332"/>
            <a:chOff x="5737896" y="2730452"/>
            <a:chExt cx="301660" cy="369332"/>
          </a:xfrm>
        </p:grpSpPr>
        <p:sp>
          <p:nvSpPr>
            <p:cNvPr id="105" name="Round Diagonal Corner Rectangle 104"/>
            <p:cNvSpPr/>
            <p:nvPr/>
          </p:nvSpPr>
          <p:spPr>
            <a:xfrm>
              <a:off x="5801263" y="2811294"/>
              <a:ext cx="238293" cy="288162"/>
            </a:xfrm>
            <a:prstGeom prst="round2DiagRect">
              <a:avLst/>
            </a:prstGeom>
            <a:solidFill>
              <a:schemeClr val="accent2"/>
            </a:solidFill>
            <a:ln/>
          </p:spPr>
          <p:style>
            <a:lnRef idx="1">
              <a:schemeClr val="accent1"/>
            </a:lnRef>
            <a:fillRef idx="3">
              <a:schemeClr val="accent1"/>
            </a:fillRef>
            <a:effectRef idx="2">
              <a:schemeClr val="accent1"/>
            </a:effectRef>
            <a:fontRef idx="minor">
              <a:schemeClr val="lt1"/>
            </a:fontRef>
          </p:style>
          <p:txBody>
            <a:bodyPr/>
            <a:lstStyle/>
            <a:p>
              <a:pPr defTabSz="457200" eaLnBrk="1" fontAlgn="auto" hangingPunct="1">
                <a:lnSpc>
                  <a:spcPct val="100000"/>
                </a:lnSpc>
                <a:spcBef>
                  <a:spcPts val="0"/>
                </a:spcBef>
                <a:spcAft>
                  <a:spcPts val="0"/>
                </a:spcAft>
                <a:buSzTx/>
                <a:buNone/>
                <a:defRPr/>
              </a:pPr>
              <a:endParaRPr lang="en-US">
                <a:solidFill>
                  <a:prstClr val="white"/>
                </a:solidFill>
                <a:latin typeface="Calibri"/>
              </a:endParaRPr>
            </a:p>
          </p:txBody>
        </p:sp>
        <p:sp>
          <p:nvSpPr>
            <p:cNvPr id="42" name="TextBox 41"/>
            <p:cNvSpPr txBox="1"/>
            <p:nvPr/>
          </p:nvSpPr>
          <p:spPr>
            <a:xfrm>
              <a:off x="5737896" y="2730452"/>
              <a:ext cx="301660" cy="369332"/>
            </a:xfrm>
            <a:prstGeom prst="rect">
              <a:avLst/>
            </a:prstGeom>
            <a:noFill/>
          </p:spPr>
          <p:txBody>
            <a:bodyPr wrap="none" rtlCol="0">
              <a:spAutoFit/>
            </a:bodyPr>
            <a:lstStyle/>
            <a:p>
              <a:pPr defTabSz="457200" eaLnBrk="1" fontAlgn="auto" hangingPunct="1">
                <a:lnSpc>
                  <a:spcPct val="100000"/>
                </a:lnSpc>
                <a:spcBef>
                  <a:spcPts val="0"/>
                </a:spcBef>
                <a:spcAft>
                  <a:spcPts val="0"/>
                </a:spcAft>
                <a:buSzTx/>
                <a:buNone/>
                <a:defRPr/>
              </a:pPr>
              <a:r>
                <a:rPr lang="en-US" dirty="0">
                  <a:solidFill>
                    <a:prstClr val="black"/>
                  </a:solidFill>
                  <a:latin typeface="Calibri"/>
                  <a:ea typeface="+mn-ea"/>
                </a:rPr>
                <a:t>2</a:t>
              </a:r>
            </a:p>
          </p:txBody>
        </p:sp>
      </p:grpSp>
      <p:sp>
        <p:nvSpPr>
          <p:cNvPr id="12" name="文本框 11">
            <a:extLst>
              <a:ext uri="{FF2B5EF4-FFF2-40B4-BE49-F238E27FC236}">
                <a16:creationId xmlns:a16="http://schemas.microsoft.com/office/drawing/2014/main" id="{9E29888C-04BC-442C-8DE4-70C8683D2804}"/>
              </a:ext>
            </a:extLst>
          </p:cNvPr>
          <p:cNvSpPr txBox="1"/>
          <p:nvPr/>
        </p:nvSpPr>
        <p:spPr>
          <a:xfrm>
            <a:off x="842625" y="6277460"/>
            <a:ext cx="9937104" cy="313932"/>
          </a:xfrm>
          <a:prstGeom prst="rect">
            <a:avLst/>
          </a:prstGeom>
          <a:noFill/>
        </p:spPr>
        <p:txBody>
          <a:bodyPr wrap="square">
            <a:spAutoFit/>
          </a:bodyPr>
          <a:lstStyle/>
          <a:p>
            <a:pPr>
              <a:buNone/>
            </a:pPr>
            <a:r>
              <a:rPr lang="en-US" altLang="zh-CN" dirty="0"/>
              <a:t>Split-level I/O scheduling</a:t>
            </a:r>
            <a:r>
              <a:rPr lang="zh-CN" altLang="en-US" dirty="0"/>
              <a:t>https://dl.acm.org/doi/10.1145/2815400.2815421</a:t>
            </a:r>
          </a:p>
        </p:txBody>
      </p:sp>
    </p:spTree>
    <p:extLst>
      <p:ext uri="{BB962C8B-B14F-4D97-AF65-F5344CB8AC3E}">
        <p14:creationId xmlns:p14="http://schemas.microsoft.com/office/powerpoint/2010/main" val="2928008958"/>
      </p:ext>
    </p:extLst>
  </p:cSld>
  <p:clrMapOvr>
    <a:masterClrMapping/>
  </p:clrMapOvr>
  <mc:AlternateContent xmlns:mc="http://schemas.openxmlformats.org/markup-compatibility/2006" xmlns:p14="http://schemas.microsoft.com/office/powerpoint/2010/main">
    <mc:Choice Requires="p14">
      <p:transition spd="slow" p14:dur="2000" advTm="27890"/>
    </mc:Choice>
    <mc:Fallback xmlns="">
      <p:transition xmlns:p14="http://schemas.microsoft.com/office/powerpoint/2010/main" spd="slow" advTm="278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2000" fill="hold" nodeType="clickEffect">
                                  <p:stCondLst>
                                    <p:cond delay="0"/>
                                  </p:stCondLst>
                                  <p:childTnLst>
                                    <p:animEffect transition="out" filter="fade">
                                      <p:cBhvr>
                                        <p:cTn id="6" dur="2000" tmFilter="0, 0; .2, .5; .8, .5; 1, 0"/>
                                        <p:tgtEl>
                                          <p:spTgt spid="44"/>
                                        </p:tgtEl>
                                      </p:cBhvr>
                                    </p:animEffect>
                                    <p:animScale>
                                      <p:cBhvr>
                                        <p:cTn id="7" dur="1000" autoRev="1" fill="hold"/>
                                        <p:tgtEl>
                                          <p:spTgt spid="44"/>
                                        </p:tgtEl>
                                      </p:cBhvr>
                                      <p:by x="105000" y="105000"/>
                                    </p:animScale>
                                  </p:childTnLst>
                                </p:cTn>
                              </p:par>
                              <p:par>
                                <p:cTn id="8" presetID="19" presetClass="emph" presetSubtype="0" fill="hold" grpId="0" nodeType="withEffect">
                                  <p:stCondLst>
                                    <p:cond delay="0"/>
                                  </p:stCondLst>
                                  <p:childTnLst>
                                    <p:animClr clrSpc="rgb" dir="cw">
                                      <p:cBhvr override="childStyle">
                                        <p:cTn id="9" dur="2000" fill="hold"/>
                                        <p:tgtEl>
                                          <p:spTgt spid="11"/>
                                        </p:tgtEl>
                                        <p:attrNameLst>
                                          <p:attrName>style.color</p:attrName>
                                        </p:attrNameLst>
                                      </p:cBhvr>
                                      <p:to>
                                        <a:schemeClr val="accent2"/>
                                      </p:to>
                                    </p:animClr>
                                    <p:animClr clrSpc="rgb" dir="cw">
                                      <p:cBhvr>
                                        <p:cTn id="10" dur="2000" fill="hold"/>
                                        <p:tgtEl>
                                          <p:spTgt spid="11"/>
                                        </p:tgtEl>
                                        <p:attrNameLst>
                                          <p:attrName>fillcolor</p:attrName>
                                        </p:attrNameLst>
                                      </p:cBhvr>
                                      <p:to>
                                        <a:schemeClr val="accent2"/>
                                      </p:to>
                                    </p:animClr>
                                    <p:set>
                                      <p:cBhvr>
                                        <p:cTn id="11" dur="2000" fill="hold"/>
                                        <p:tgtEl>
                                          <p:spTgt spid="11"/>
                                        </p:tgtEl>
                                        <p:attrNameLst>
                                          <p:attrName>fill.type</p:attrName>
                                        </p:attrNameLst>
                                      </p:cBhvr>
                                      <p:to>
                                        <p:strVal val="solid"/>
                                      </p:to>
                                    </p:set>
                                    <p:set>
                                      <p:cBhvr>
                                        <p:cTn id="12" dur="2000" fill="hold"/>
                                        <p:tgtEl>
                                          <p:spTgt spid="11"/>
                                        </p:tgtEl>
                                        <p:attrNameLst>
                                          <p:attrName>fill.on</p:attrName>
                                        </p:attrNameLst>
                                      </p:cBhvr>
                                      <p:to>
                                        <p:strVal val="tru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9" presetClass="emph" presetSubtype="0" fill="hold" grpId="0" nodeType="withEffect">
                                  <p:stCondLst>
                                    <p:cond delay="2000"/>
                                  </p:stCondLst>
                                  <p:childTnLst>
                                    <p:animClr clrSpc="rgb" dir="cw">
                                      <p:cBhvr override="childStyle">
                                        <p:cTn id="16" dur="2000" fill="hold"/>
                                        <p:tgtEl>
                                          <p:spTgt spid="56"/>
                                        </p:tgtEl>
                                        <p:attrNameLst>
                                          <p:attrName>style.color</p:attrName>
                                        </p:attrNameLst>
                                      </p:cBhvr>
                                      <p:to>
                                        <a:schemeClr val="accent2"/>
                                      </p:to>
                                    </p:animClr>
                                    <p:animClr clrSpc="rgb" dir="cw">
                                      <p:cBhvr>
                                        <p:cTn id="17" dur="2000" fill="hold"/>
                                        <p:tgtEl>
                                          <p:spTgt spid="56"/>
                                        </p:tgtEl>
                                        <p:attrNameLst>
                                          <p:attrName>fillcolor</p:attrName>
                                        </p:attrNameLst>
                                      </p:cBhvr>
                                      <p:to>
                                        <a:schemeClr val="accent2"/>
                                      </p:to>
                                    </p:animClr>
                                    <p:set>
                                      <p:cBhvr>
                                        <p:cTn id="18" dur="2000" fill="hold"/>
                                        <p:tgtEl>
                                          <p:spTgt spid="56"/>
                                        </p:tgtEl>
                                        <p:attrNameLst>
                                          <p:attrName>fill.type</p:attrName>
                                        </p:attrNameLst>
                                      </p:cBhvr>
                                      <p:to>
                                        <p:strVal val="solid"/>
                                      </p:to>
                                    </p:set>
                                    <p:set>
                                      <p:cBhvr>
                                        <p:cTn id="19" dur="2000" fill="hold"/>
                                        <p:tgtEl>
                                          <p:spTgt spid="56"/>
                                        </p:tgtEl>
                                        <p:attrNameLst>
                                          <p:attrName>fill.on</p:attrName>
                                        </p:attrNameLst>
                                      </p:cBhvr>
                                      <p:to>
                                        <p:strVal val="true"/>
                                      </p:to>
                                    </p:set>
                                  </p:childTnLst>
                                </p:cTn>
                              </p:par>
                              <p:par>
                                <p:cTn id="20" presetID="1" presetClass="entr" presetSubtype="0" fill="hold" grpId="0" nodeType="withEffect">
                                  <p:stCondLst>
                                    <p:cond delay="2000"/>
                                  </p:stCondLst>
                                  <p:childTnLst>
                                    <p:set>
                                      <p:cBhvr>
                                        <p:cTn id="21" dur="1" fill="hold">
                                          <p:stCondLst>
                                            <p:cond delay="0"/>
                                          </p:stCondLst>
                                        </p:cTn>
                                        <p:tgtEl>
                                          <p:spTgt spid="3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6" presetClass="emph" presetSubtype="0" fill="hold" nodeType="clickEffect">
                                  <p:stCondLst>
                                    <p:cond delay="0"/>
                                  </p:stCondLst>
                                  <p:childTnLst>
                                    <p:animEffect transition="out" filter="fade">
                                      <p:cBhvr>
                                        <p:cTn id="25" dur="2000" tmFilter="0, 0; .2, .5; .8, .5; 1, 0"/>
                                        <p:tgtEl>
                                          <p:spTgt spid="91"/>
                                        </p:tgtEl>
                                      </p:cBhvr>
                                    </p:animEffect>
                                    <p:animScale>
                                      <p:cBhvr>
                                        <p:cTn id="26" dur="1000" autoRev="1" fill="hold"/>
                                        <p:tgtEl>
                                          <p:spTgt spid="91"/>
                                        </p:tgtEl>
                                      </p:cBhvr>
                                      <p:by x="105000" y="105000"/>
                                    </p:animScale>
                                  </p:childTnLst>
                                </p:cTn>
                              </p:par>
                            </p:childTnLst>
                          </p:cTn>
                        </p:par>
                        <p:par>
                          <p:cTn id="27" fill="hold">
                            <p:stCondLst>
                              <p:cond delay="2000"/>
                            </p:stCondLst>
                            <p:childTnLst>
                              <p:par>
                                <p:cTn id="28" presetID="1" presetClass="exit" presetSubtype="0" fill="hold" nodeType="afterEffect">
                                  <p:stCondLst>
                                    <p:cond delay="0"/>
                                  </p:stCondLst>
                                  <p:childTnLst>
                                    <p:set>
                                      <p:cBhvr>
                                        <p:cTn id="29" dur="1" fill="hold">
                                          <p:stCondLst>
                                            <p:cond delay="0"/>
                                          </p:stCondLst>
                                        </p:cTn>
                                        <p:tgtEl>
                                          <p:spTgt spid="91"/>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4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6" presetClass="emph" presetSubtype="0" fill="hold" nodeType="clickEffect">
                                  <p:stCondLst>
                                    <p:cond delay="0"/>
                                  </p:stCondLst>
                                  <p:childTnLst>
                                    <p:animEffect transition="out" filter="fade">
                                      <p:cBhvr>
                                        <p:cTn id="35" dur="2000" tmFilter="0, 0; .2, .5; .8, .5; 1, 0"/>
                                        <p:tgtEl>
                                          <p:spTgt spid="47"/>
                                        </p:tgtEl>
                                      </p:cBhvr>
                                    </p:animEffect>
                                    <p:animScale>
                                      <p:cBhvr>
                                        <p:cTn id="36" dur="1000" autoRev="1" fill="hold"/>
                                        <p:tgtEl>
                                          <p:spTgt spid="47"/>
                                        </p:tgtEl>
                                      </p:cBhvr>
                                      <p:by x="105000" y="105000"/>
                                    </p:animScale>
                                  </p:childTnLst>
                                </p:cTn>
                              </p:par>
                              <p:par>
                                <p:cTn id="37" presetID="19" presetClass="emph" presetSubtype="0" fill="hold" grpId="0" nodeType="withEffect">
                                  <p:stCondLst>
                                    <p:cond delay="0"/>
                                  </p:stCondLst>
                                  <p:childTnLst>
                                    <p:animClr clrSpc="rgb" dir="cw">
                                      <p:cBhvr override="childStyle">
                                        <p:cTn id="38" dur="2000" fill="hold"/>
                                        <p:tgtEl>
                                          <p:spTgt spid="60"/>
                                        </p:tgtEl>
                                        <p:attrNameLst>
                                          <p:attrName>style.color</p:attrName>
                                        </p:attrNameLst>
                                      </p:cBhvr>
                                      <p:to>
                                        <a:schemeClr val="accent2"/>
                                      </p:to>
                                    </p:animClr>
                                    <p:animClr clrSpc="rgb" dir="cw">
                                      <p:cBhvr>
                                        <p:cTn id="39" dur="2000" fill="hold"/>
                                        <p:tgtEl>
                                          <p:spTgt spid="60"/>
                                        </p:tgtEl>
                                        <p:attrNameLst>
                                          <p:attrName>fillcolor</p:attrName>
                                        </p:attrNameLst>
                                      </p:cBhvr>
                                      <p:to>
                                        <a:schemeClr val="accent2"/>
                                      </p:to>
                                    </p:animClr>
                                    <p:set>
                                      <p:cBhvr>
                                        <p:cTn id="40" dur="2000" fill="hold"/>
                                        <p:tgtEl>
                                          <p:spTgt spid="60"/>
                                        </p:tgtEl>
                                        <p:attrNameLst>
                                          <p:attrName>fill.type</p:attrName>
                                        </p:attrNameLst>
                                      </p:cBhvr>
                                      <p:to>
                                        <p:strVal val="solid"/>
                                      </p:to>
                                    </p:set>
                                    <p:set>
                                      <p:cBhvr>
                                        <p:cTn id="41" dur="2000" fill="hold"/>
                                        <p:tgtEl>
                                          <p:spTgt spid="60"/>
                                        </p:tgtEl>
                                        <p:attrNameLst>
                                          <p:attrName>fill.on</p:attrName>
                                        </p:attrNameLst>
                                      </p:cBhvr>
                                      <p:to>
                                        <p:strVal val="true"/>
                                      </p:to>
                                    </p:set>
                                  </p:childTnLst>
                                </p:cTn>
                              </p:par>
                              <p:par>
                                <p:cTn id="42" presetID="1"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6" presetClass="emph" presetSubtype="0" fill="hold" nodeType="clickEffect">
                                  <p:stCondLst>
                                    <p:cond delay="0"/>
                                  </p:stCondLst>
                                  <p:childTnLst>
                                    <p:animEffect transition="out" filter="fade">
                                      <p:cBhvr>
                                        <p:cTn id="47" dur="500" tmFilter="0, 0; .2, .5; .8, .5; 1, 0"/>
                                        <p:tgtEl>
                                          <p:spTgt spid="90"/>
                                        </p:tgtEl>
                                      </p:cBhvr>
                                    </p:animEffect>
                                    <p:animScale>
                                      <p:cBhvr>
                                        <p:cTn id="48" dur="250" autoRev="1" fill="hold"/>
                                        <p:tgtEl>
                                          <p:spTgt spid="90"/>
                                        </p:tgtEl>
                                      </p:cBhvr>
                                      <p:by x="105000" y="105000"/>
                                    </p:animScale>
                                  </p:childTnLst>
                                </p:cTn>
                              </p:par>
                            </p:childTnLst>
                          </p:cTn>
                        </p:par>
                        <p:par>
                          <p:cTn id="49" fill="hold">
                            <p:stCondLst>
                              <p:cond delay="500"/>
                            </p:stCondLst>
                            <p:childTnLst>
                              <p:par>
                                <p:cTn id="50" presetID="1" presetClass="exit" presetSubtype="0" fill="hold" nodeType="afterEffect">
                                  <p:stCondLst>
                                    <p:cond delay="0"/>
                                  </p:stCondLst>
                                  <p:childTnLst>
                                    <p:set>
                                      <p:cBhvr>
                                        <p:cTn id="51" dur="1" fill="hold">
                                          <p:stCondLst>
                                            <p:cond delay="0"/>
                                          </p:stCondLst>
                                        </p:cTn>
                                        <p:tgtEl>
                                          <p:spTgt spid="90"/>
                                        </p:tgtEl>
                                        <p:attrNameLst>
                                          <p:attrName>style.visibility</p:attrName>
                                        </p:attrNameLst>
                                      </p:cBhvr>
                                      <p:to>
                                        <p:strVal val="hidden"/>
                                      </p:to>
                                    </p:set>
                                  </p:childTnLst>
                                </p:cTn>
                              </p:par>
                            </p:childTnLst>
                          </p:cTn>
                        </p:par>
                        <p:par>
                          <p:cTn id="52" fill="hold">
                            <p:stCondLst>
                              <p:cond delay="500"/>
                            </p:stCondLst>
                            <p:childTnLst>
                              <p:par>
                                <p:cTn id="53" presetID="1" presetClass="exit" presetSubtype="0" fill="hold" nodeType="afterEffect">
                                  <p:stCondLst>
                                    <p:cond delay="0"/>
                                  </p:stCondLst>
                                  <p:childTnLst>
                                    <p:set>
                                      <p:cBhvr>
                                        <p:cTn id="54" dur="1" fill="hold">
                                          <p:stCondLst>
                                            <p:cond delay="0"/>
                                          </p:stCondLst>
                                        </p:cTn>
                                        <p:tgtEl>
                                          <p:spTgt spid="47"/>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2" presetClass="entr" presetSubtype="4" fill="hold" grpId="0" nodeType="clickEffect">
                                  <p:stCondLst>
                                    <p:cond delay="0"/>
                                  </p:stCondLst>
                                  <p:childTnLst>
                                    <p:set>
                                      <p:cBhvr>
                                        <p:cTn id="58" dur="1" fill="hold">
                                          <p:stCondLst>
                                            <p:cond delay="0"/>
                                          </p:stCondLst>
                                        </p:cTn>
                                        <p:tgtEl>
                                          <p:spTgt spid="87"/>
                                        </p:tgtEl>
                                        <p:attrNameLst>
                                          <p:attrName>style.visibility</p:attrName>
                                        </p:attrNameLst>
                                      </p:cBhvr>
                                      <p:to>
                                        <p:strVal val="visible"/>
                                      </p:to>
                                    </p:set>
                                    <p:anim calcmode="lin" valueType="num">
                                      <p:cBhvr additive="base">
                                        <p:cTn id="59" dur="1000"/>
                                        <p:tgtEl>
                                          <p:spTgt spid="87"/>
                                        </p:tgtEl>
                                        <p:attrNameLst>
                                          <p:attrName>ppt_y</p:attrName>
                                        </p:attrNameLst>
                                      </p:cBhvr>
                                      <p:tavLst>
                                        <p:tav tm="0">
                                          <p:val>
                                            <p:strVal val="#ppt_y+#ppt_h*1.125000"/>
                                          </p:val>
                                        </p:tav>
                                        <p:tav tm="100000">
                                          <p:val>
                                            <p:strVal val="#ppt_y"/>
                                          </p:val>
                                        </p:tav>
                                      </p:tavLst>
                                    </p:anim>
                                    <p:animEffect transition="in" filter="wipe(up)">
                                      <p:cBhvr>
                                        <p:cTn id="60" dur="1000"/>
                                        <p:tgtEl>
                                          <p:spTgt spid="87"/>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9" presetClass="emph" presetSubtype="0" fill="hold" grpId="1" nodeType="clickEffect">
                                  <p:stCondLst>
                                    <p:cond delay="0"/>
                                  </p:stCondLst>
                                  <p:childTnLst>
                                    <p:animClr clrSpc="rgb" dir="cw">
                                      <p:cBhvr override="childStyle">
                                        <p:cTn id="74" dur="2000" fill="hold"/>
                                        <p:tgtEl>
                                          <p:spTgt spid="11"/>
                                        </p:tgtEl>
                                        <p:attrNameLst>
                                          <p:attrName>style.color</p:attrName>
                                        </p:attrNameLst>
                                      </p:cBhvr>
                                      <p:to>
                                        <a:srgbClr val="B3EDFF"/>
                                      </p:to>
                                    </p:animClr>
                                    <p:animClr clrSpc="rgb" dir="cw">
                                      <p:cBhvr>
                                        <p:cTn id="75" dur="2000" fill="hold"/>
                                        <p:tgtEl>
                                          <p:spTgt spid="11"/>
                                        </p:tgtEl>
                                        <p:attrNameLst>
                                          <p:attrName>fillcolor</p:attrName>
                                        </p:attrNameLst>
                                      </p:cBhvr>
                                      <p:to>
                                        <a:srgbClr val="B3EDFF"/>
                                      </p:to>
                                    </p:animClr>
                                    <p:set>
                                      <p:cBhvr>
                                        <p:cTn id="76" dur="2000" fill="hold"/>
                                        <p:tgtEl>
                                          <p:spTgt spid="11"/>
                                        </p:tgtEl>
                                        <p:attrNameLst>
                                          <p:attrName>fill.type</p:attrName>
                                        </p:attrNameLst>
                                      </p:cBhvr>
                                      <p:to>
                                        <p:strVal val="solid"/>
                                      </p:to>
                                    </p:set>
                                    <p:set>
                                      <p:cBhvr>
                                        <p:cTn id="77" dur="2000" fill="hold"/>
                                        <p:tgtEl>
                                          <p:spTgt spid="11"/>
                                        </p:tgtEl>
                                        <p:attrNameLst>
                                          <p:attrName>fill.on</p:attrName>
                                        </p:attrNameLst>
                                      </p:cBhvr>
                                      <p:to>
                                        <p:strVal val="true"/>
                                      </p:to>
                                    </p:set>
                                  </p:childTnLst>
                                </p:cTn>
                              </p:par>
                              <p:par>
                                <p:cTn id="78" presetID="1" presetClass="exit" presetSubtype="0" fill="hold" grpId="1" nodeType="withEffect">
                                  <p:stCondLst>
                                    <p:cond delay="0"/>
                                  </p:stCondLst>
                                  <p:childTnLst>
                                    <p:set>
                                      <p:cBhvr>
                                        <p:cTn id="79" dur="1" fill="hold">
                                          <p:stCondLst>
                                            <p:cond delay="0"/>
                                          </p:stCondLst>
                                        </p:cTn>
                                        <p:tgtEl>
                                          <p:spTgt spid="3"/>
                                        </p:tgtEl>
                                        <p:attrNameLst>
                                          <p:attrName>style.visibility</p:attrName>
                                        </p:attrNameLst>
                                      </p:cBhvr>
                                      <p:to>
                                        <p:strVal val="hidden"/>
                                      </p:to>
                                    </p:set>
                                  </p:childTnLst>
                                </p:cTn>
                              </p:par>
                              <p:par>
                                <p:cTn id="80" presetID="1" presetClass="entr" presetSubtype="0" fill="hold" nodeType="withEffect">
                                  <p:stCondLst>
                                    <p:cond delay="0"/>
                                  </p:stCondLst>
                                  <p:childTnLst>
                                    <p:set>
                                      <p:cBhvr>
                                        <p:cTn id="81" dur="1" fill="hold">
                                          <p:stCondLst>
                                            <p:cond delay="0"/>
                                          </p:stCondLst>
                                        </p:cTn>
                                        <p:tgtEl>
                                          <p:spTgt spid="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0" presetClass="path" presetSubtype="0" accel="50000" decel="50000" fill="hold" nodeType="clickEffect">
                                  <p:stCondLst>
                                    <p:cond delay="0"/>
                                  </p:stCondLst>
                                  <p:childTnLst>
                                    <p:animMotion origin="layout" path="M -0.00052 0.03285 L 0.00157 0.18024 " pathEditMode="relative" ptsTypes="AA">
                                      <p:cBhvr>
                                        <p:cTn id="85" dur="2000" fill="hold"/>
                                        <p:tgtEl>
                                          <p:spTgt spid="6"/>
                                        </p:tgtEl>
                                        <p:attrNameLst>
                                          <p:attrName>ppt_x</p:attrName>
                                          <p:attrName>ppt_y</p:attrName>
                                        </p:attrNameLst>
                                      </p:cBhvr>
                                    </p:animMotion>
                                  </p:childTnLst>
                                  <p:subTnLst>
                                    <p:set>
                                      <p:cBhvr override="childStyle">
                                        <p:cTn dur="1" fill="hold" display="0" masterRel="sameClick" afterEffect="1">
                                          <p:stCondLst>
                                            <p:cond evt="end" delay="0">
                                              <p:tn val="84"/>
                                            </p:cond>
                                          </p:stCondLst>
                                        </p:cTn>
                                        <p:tgtEl>
                                          <p:spTgt spid="6"/>
                                        </p:tgtEl>
                                        <p:attrNameLst>
                                          <p:attrName>style.visibility</p:attrName>
                                        </p:attrNameLst>
                                      </p:cBhvr>
                                      <p:to>
                                        <p:strVal val="hidden"/>
                                      </p:to>
                                    </p:set>
                                  </p:subTnLst>
                                </p:cTn>
                              </p:par>
                              <p:par>
                                <p:cTn id="86" presetID="19" presetClass="emph" presetSubtype="0" fill="hold" grpId="1" nodeType="withEffect">
                                  <p:stCondLst>
                                    <p:cond delay="2000"/>
                                  </p:stCondLst>
                                  <p:childTnLst>
                                    <p:animClr clrSpc="rgb" dir="cw">
                                      <p:cBhvr override="childStyle">
                                        <p:cTn id="87" dur="2000" fill="hold"/>
                                        <p:tgtEl>
                                          <p:spTgt spid="56"/>
                                        </p:tgtEl>
                                        <p:attrNameLst>
                                          <p:attrName>style.color</p:attrName>
                                        </p:attrNameLst>
                                      </p:cBhvr>
                                      <p:to>
                                        <a:srgbClr val="B3EDFF"/>
                                      </p:to>
                                    </p:animClr>
                                    <p:animClr clrSpc="rgb" dir="cw">
                                      <p:cBhvr>
                                        <p:cTn id="88" dur="2000" fill="hold"/>
                                        <p:tgtEl>
                                          <p:spTgt spid="56"/>
                                        </p:tgtEl>
                                        <p:attrNameLst>
                                          <p:attrName>fillcolor</p:attrName>
                                        </p:attrNameLst>
                                      </p:cBhvr>
                                      <p:to>
                                        <a:srgbClr val="B3EDFF"/>
                                      </p:to>
                                    </p:animClr>
                                    <p:set>
                                      <p:cBhvr>
                                        <p:cTn id="89" dur="2000" fill="hold"/>
                                        <p:tgtEl>
                                          <p:spTgt spid="56"/>
                                        </p:tgtEl>
                                        <p:attrNameLst>
                                          <p:attrName>fill.type</p:attrName>
                                        </p:attrNameLst>
                                      </p:cBhvr>
                                      <p:to>
                                        <p:strVal val="solid"/>
                                      </p:to>
                                    </p:set>
                                    <p:set>
                                      <p:cBhvr>
                                        <p:cTn id="90" dur="2000" fill="hold"/>
                                        <p:tgtEl>
                                          <p:spTgt spid="56"/>
                                        </p:tgtEl>
                                        <p:attrNameLst>
                                          <p:attrName>fill.on</p:attrName>
                                        </p:attrNameLst>
                                      </p:cBhvr>
                                      <p:to>
                                        <p:strVal val="true"/>
                                      </p:to>
                                    </p:set>
                                  </p:childTnLst>
                                </p:cTn>
                              </p:par>
                              <p:par>
                                <p:cTn id="91" presetID="1" presetClass="exit" presetSubtype="0" fill="hold" grpId="1" nodeType="withEffect">
                                  <p:stCondLst>
                                    <p:cond delay="2000"/>
                                  </p:stCondLst>
                                  <p:childTnLst>
                                    <p:set>
                                      <p:cBhvr>
                                        <p:cTn id="92" dur="1" fill="hold">
                                          <p:stCondLst>
                                            <p:cond delay="0"/>
                                          </p:stCondLst>
                                        </p:cTn>
                                        <p:tgtEl>
                                          <p:spTgt spid="38"/>
                                        </p:tgtEl>
                                        <p:attrNameLst>
                                          <p:attrName>style.visibility</p:attrName>
                                        </p:attrNameLst>
                                      </p:cBhvr>
                                      <p:to>
                                        <p:strVal val="hidden"/>
                                      </p:to>
                                    </p:set>
                                  </p:childTnLst>
                                </p:cTn>
                              </p:par>
                              <p:par>
                                <p:cTn id="93" presetID="1" presetClass="entr" presetSubtype="0" fill="hold" nodeType="withEffect">
                                  <p:stCondLst>
                                    <p:cond delay="2000"/>
                                  </p:stCondLst>
                                  <p:childTnLst>
                                    <p:set>
                                      <p:cBhvr>
                                        <p:cTn id="94" dur="1" fill="hold">
                                          <p:stCondLst>
                                            <p:cond delay="0"/>
                                          </p:stCondLst>
                                        </p:cTn>
                                        <p:tgtEl>
                                          <p:spTgt spid="5"/>
                                        </p:tgtEl>
                                        <p:attrNameLst>
                                          <p:attrName>style.visibility</p:attrName>
                                        </p:attrNameLst>
                                      </p:cBhvr>
                                      <p:to>
                                        <p:strVal val="visible"/>
                                      </p:to>
                                    </p:set>
                                  </p:childTnLst>
                                </p:cTn>
                              </p:par>
                              <p:par>
                                <p:cTn id="95" presetID="0" presetClass="path" presetSubtype="0" accel="50000" decel="50000" fill="hold" nodeType="withEffect">
                                  <p:stCondLst>
                                    <p:cond delay="2000"/>
                                  </p:stCondLst>
                                  <p:childTnLst>
                                    <p:animMotion origin="layout" path="M -0.00121 0.03332 L -0.00017 0.18071 " pathEditMode="relative" ptsTypes="AA">
                                      <p:cBhvr>
                                        <p:cTn id="96" dur="2000" fill="hold"/>
                                        <p:tgtEl>
                                          <p:spTgt spid="5"/>
                                        </p:tgtEl>
                                        <p:attrNameLst>
                                          <p:attrName>ppt_x</p:attrName>
                                          <p:attrName>ppt_y</p:attrName>
                                        </p:attrNameLst>
                                      </p:cBhvr>
                                    </p:animMotion>
                                  </p:childTnLst>
                                  <p:subTnLst>
                                    <p:set>
                                      <p:cBhvr override="childStyle">
                                        <p:cTn dur="1" fill="hold" display="0" masterRel="sameClick" afterEffect="1">
                                          <p:stCondLst>
                                            <p:cond evt="end" delay="0">
                                              <p:tn val="95"/>
                                            </p:cond>
                                          </p:stCondLst>
                                        </p:cTn>
                                        <p:tgtEl>
                                          <p:spTgt spid="5"/>
                                        </p:tgtEl>
                                        <p:attrNameLst>
                                          <p:attrName>style.visibility</p:attrName>
                                        </p:attrNameLst>
                                      </p:cBhvr>
                                      <p:to>
                                        <p:strVal val="hidden"/>
                                      </p:to>
                                    </p:set>
                                  </p:subTnLst>
                                </p:cTn>
                              </p:par>
                              <p:par>
                                <p:cTn id="97" presetID="19" presetClass="emph" presetSubtype="0" fill="hold" grpId="1" nodeType="withEffect">
                                  <p:stCondLst>
                                    <p:cond delay="4000"/>
                                  </p:stCondLst>
                                  <p:childTnLst>
                                    <p:animClr clrSpc="rgb" dir="cw">
                                      <p:cBhvr override="childStyle">
                                        <p:cTn id="98" dur="2000" fill="hold"/>
                                        <p:tgtEl>
                                          <p:spTgt spid="60"/>
                                        </p:tgtEl>
                                        <p:attrNameLst>
                                          <p:attrName>style.color</p:attrName>
                                        </p:attrNameLst>
                                      </p:cBhvr>
                                      <p:to>
                                        <a:srgbClr val="B3EDFF"/>
                                      </p:to>
                                    </p:animClr>
                                    <p:animClr clrSpc="rgb" dir="cw">
                                      <p:cBhvr>
                                        <p:cTn id="99" dur="2000" fill="hold"/>
                                        <p:tgtEl>
                                          <p:spTgt spid="60"/>
                                        </p:tgtEl>
                                        <p:attrNameLst>
                                          <p:attrName>fillcolor</p:attrName>
                                        </p:attrNameLst>
                                      </p:cBhvr>
                                      <p:to>
                                        <a:srgbClr val="B3EDFF"/>
                                      </p:to>
                                    </p:animClr>
                                    <p:set>
                                      <p:cBhvr>
                                        <p:cTn id="100" dur="2000" fill="hold"/>
                                        <p:tgtEl>
                                          <p:spTgt spid="60"/>
                                        </p:tgtEl>
                                        <p:attrNameLst>
                                          <p:attrName>fill.type</p:attrName>
                                        </p:attrNameLst>
                                      </p:cBhvr>
                                      <p:to>
                                        <p:strVal val="solid"/>
                                      </p:to>
                                    </p:set>
                                    <p:set>
                                      <p:cBhvr>
                                        <p:cTn id="101" dur="2000" fill="hold"/>
                                        <p:tgtEl>
                                          <p:spTgt spid="60"/>
                                        </p:tgtEl>
                                        <p:attrNameLst>
                                          <p:attrName>fill.on</p:attrName>
                                        </p:attrNameLst>
                                      </p:cBhvr>
                                      <p:to>
                                        <p:strVal val="true"/>
                                      </p:to>
                                    </p:set>
                                  </p:childTnLst>
                                </p:cTn>
                              </p:par>
                              <p:par>
                                <p:cTn id="102" presetID="1" presetClass="exit" presetSubtype="0" fill="hold" grpId="1" nodeType="withEffect">
                                  <p:stCondLst>
                                    <p:cond delay="4000"/>
                                  </p:stCondLst>
                                  <p:childTnLst>
                                    <p:set>
                                      <p:cBhvr>
                                        <p:cTn id="103" dur="1" fill="hold">
                                          <p:stCondLst>
                                            <p:cond delay="0"/>
                                          </p:stCondLst>
                                        </p:cTn>
                                        <p:tgtEl>
                                          <p:spTgt spid="39"/>
                                        </p:tgtEl>
                                        <p:attrNameLst>
                                          <p:attrName>style.visibility</p:attrName>
                                        </p:attrNameLst>
                                      </p:cBhvr>
                                      <p:to>
                                        <p:strVal val="hidden"/>
                                      </p:to>
                                    </p:set>
                                  </p:childTnLst>
                                </p:cTn>
                              </p:par>
                              <p:par>
                                <p:cTn id="104" presetID="1" presetClass="entr" presetSubtype="0" fill="hold" nodeType="withEffect">
                                  <p:stCondLst>
                                    <p:cond delay="4000"/>
                                  </p:stCondLst>
                                  <p:childTnLst>
                                    <p:set>
                                      <p:cBhvr>
                                        <p:cTn id="105" dur="1" fill="hold">
                                          <p:stCondLst>
                                            <p:cond delay="0"/>
                                          </p:stCondLst>
                                        </p:cTn>
                                        <p:tgtEl>
                                          <p:spTgt spid="4"/>
                                        </p:tgtEl>
                                        <p:attrNameLst>
                                          <p:attrName>style.visibility</p:attrName>
                                        </p:attrNameLst>
                                      </p:cBhvr>
                                      <p:to>
                                        <p:strVal val="visible"/>
                                      </p:to>
                                    </p:set>
                                  </p:childTnLst>
                                </p:cTn>
                              </p:par>
                              <p:par>
                                <p:cTn id="106" presetID="0" presetClass="path" presetSubtype="0" accel="50000" fill="hold" nodeType="withEffect">
                                  <p:stCondLst>
                                    <p:cond delay="4000"/>
                                  </p:stCondLst>
                                  <p:childTnLst>
                                    <p:animMotion origin="layout" path="M 0.00104 0.03656 L 0.00208 0.18371 " pathEditMode="relative" ptsTypes="AA">
                                      <p:cBhvr>
                                        <p:cTn id="107" dur="2000" fill="hold"/>
                                        <p:tgtEl>
                                          <p:spTgt spid="4"/>
                                        </p:tgtEl>
                                        <p:attrNameLst>
                                          <p:attrName>ppt_x</p:attrName>
                                          <p:attrName>ppt_y</p:attrName>
                                        </p:attrNameLst>
                                      </p:cBhvr>
                                    </p:animMotion>
                                  </p:childTnLst>
                                  <p:subTnLst>
                                    <p:set>
                                      <p:cBhvr override="childStyle">
                                        <p:cTn dur="1" fill="hold" display="0" masterRel="sameClick" afterEffect="1">
                                          <p:stCondLst>
                                            <p:cond evt="end" delay="0">
                                              <p:tn val="106"/>
                                            </p:cond>
                                          </p:stCondLst>
                                        </p:cTn>
                                        <p:tgtEl>
                                          <p:spTgt spid="4"/>
                                        </p:tgtEl>
                                        <p:attrNameLst>
                                          <p:attrName>style.visibility</p:attrName>
                                        </p:attrNameLst>
                                      </p:cBhvr>
                                      <p:to>
                                        <p:strVal val="hidden"/>
                                      </p:to>
                                    </p:set>
                                  </p:subTnLst>
                                </p:cTn>
                              </p:par>
                            </p:childTnLst>
                          </p:cTn>
                        </p:par>
                      </p:childTnLst>
                    </p:cTn>
                  </p:par>
                  <p:par>
                    <p:cTn id="108" fill="hold">
                      <p:stCondLst>
                        <p:cond delay="indefinite"/>
                      </p:stCondLst>
                      <p:childTnLst>
                        <p:par>
                          <p:cTn id="109" fill="hold">
                            <p:stCondLst>
                              <p:cond delay="0"/>
                            </p:stCondLst>
                            <p:childTnLst>
                              <p:par>
                                <p:cTn id="110" presetID="12" presetClass="entr" presetSubtype="4" fill="hold" nodeType="clickEffect">
                                  <p:stCondLst>
                                    <p:cond delay="0"/>
                                  </p:stCondLst>
                                  <p:childTnLst>
                                    <p:set>
                                      <p:cBhvr>
                                        <p:cTn id="111" dur="1" fill="hold">
                                          <p:stCondLst>
                                            <p:cond delay="0"/>
                                          </p:stCondLst>
                                        </p:cTn>
                                        <p:tgtEl>
                                          <p:spTgt spid="102">
                                            <p:txEl>
                                              <p:pRg st="0" end="0"/>
                                            </p:txEl>
                                          </p:spTgt>
                                        </p:tgtEl>
                                        <p:attrNameLst>
                                          <p:attrName>style.visibility</p:attrName>
                                        </p:attrNameLst>
                                      </p:cBhvr>
                                      <p:to>
                                        <p:strVal val="visible"/>
                                      </p:to>
                                    </p:set>
                                    <p:anim calcmode="lin" valueType="num">
                                      <p:cBhvr additive="base">
                                        <p:cTn id="112" dur="500"/>
                                        <p:tgtEl>
                                          <p:spTgt spid="102">
                                            <p:txEl>
                                              <p:pRg st="0" end="0"/>
                                            </p:txEl>
                                          </p:spTgt>
                                        </p:tgtEl>
                                        <p:attrNameLst>
                                          <p:attrName>ppt_y</p:attrName>
                                        </p:attrNameLst>
                                      </p:cBhvr>
                                      <p:tavLst>
                                        <p:tav tm="0">
                                          <p:val>
                                            <p:strVal val="#ppt_y+#ppt_h*1.125000"/>
                                          </p:val>
                                        </p:tav>
                                        <p:tav tm="100000">
                                          <p:val>
                                            <p:strVal val="#ppt_y"/>
                                          </p:val>
                                        </p:tav>
                                      </p:tavLst>
                                    </p:anim>
                                    <p:animEffect transition="in" filter="wipe(up)">
                                      <p:cBhvr>
                                        <p:cTn id="113" dur="500"/>
                                        <p:tgtEl>
                                          <p:spTgt spid="102">
                                            <p:txEl>
                                              <p:pRg st="0" end="0"/>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12" presetClass="entr" presetSubtype="4" fill="hold" nodeType="clickEffect">
                                  <p:stCondLst>
                                    <p:cond delay="0"/>
                                  </p:stCondLst>
                                  <p:childTnLst>
                                    <p:set>
                                      <p:cBhvr>
                                        <p:cTn id="117" dur="1" fill="hold">
                                          <p:stCondLst>
                                            <p:cond delay="0"/>
                                          </p:stCondLst>
                                        </p:cTn>
                                        <p:tgtEl>
                                          <p:spTgt spid="102">
                                            <p:txEl>
                                              <p:pRg st="1" end="1"/>
                                            </p:txEl>
                                          </p:spTgt>
                                        </p:tgtEl>
                                        <p:attrNameLst>
                                          <p:attrName>style.visibility</p:attrName>
                                        </p:attrNameLst>
                                      </p:cBhvr>
                                      <p:to>
                                        <p:strVal val="visible"/>
                                      </p:to>
                                    </p:set>
                                    <p:anim calcmode="lin" valueType="num">
                                      <p:cBhvr additive="base">
                                        <p:cTn id="118" dur="500"/>
                                        <p:tgtEl>
                                          <p:spTgt spid="102">
                                            <p:txEl>
                                              <p:pRg st="1" end="1"/>
                                            </p:txEl>
                                          </p:spTgt>
                                        </p:tgtEl>
                                        <p:attrNameLst>
                                          <p:attrName>ppt_y</p:attrName>
                                        </p:attrNameLst>
                                      </p:cBhvr>
                                      <p:tavLst>
                                        <p:tav tm="0">
                                          <p:val>
                                            <p:strVal val="#ppt_y+#ppt_h*1.125000"/>
                                          </p:val>
                                        </p:tav>
                                        <p:tav tm="100000">
                                          <p:val>
                                            <p:strVal val="#ppt_y"/>
                                          </p:val>
                                        </p:tav>
                                      </p:tavLst>
                                    </p:anim>
                                    <p:animEffect transition="in" filter="wipe(up)">
                                      <p:cBhvr>
                                        <p:cTn id="119" dur="500"/>
                                        <p:tgtEl>
                                          <p:spTgt spid="1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56" grpId="0" animBg="1"/>
      <p:bldP spid="56" grpId="1" animBg="1"/>
      <p:bldP spid="60" grpId="0" animBg="1"/>
      <p:bldP spid="60" grpId="1" animBg="1"/>
      <p:bldP spid="74" grpId="0" animBg="1"/>
      <p:bldP spid="75" grpId="0"/>
      <p:bldP spid="87" grpId="0" animBg="1"/>
      <p:bldP spid="3" grpId="0"/>
      <p:bldP spid="3" grpId="1"/>
      <p:bldP spid="38" grpId="0"/>
      <p:bldP spid="38" grpId="1"/>
      <p:bldP spid="39" grpId="0"/>
      <p:bldP spid="39"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buNone/>
            </a:pPr>
            <a:fld id="{5EEFC526-8A43-41C1-B1D0-B3D20E53516B}" type="slidenum">
              <a:rPr lang="en-US" altLang="ko-KR" smtClean="0"/>
              <a:pPr>
                <a:buNone/>
              </a:pPr>
              <a:t>45</a:t>
            </a:fld>
            <a:endParaRPr lang="en-US" altLang="ko-KR" dirty="0"/>
          </a:p>
        </p:txBody>
      </p:sp>
      <p:sp>
        <p:nvSpPr>
          <p:cNvPr id="2" name="标题 1"/>
          <p:cNvSpPr>
            <a:spLocks noGrp="1"/>
          </p:cNvSpPr>
          <p:nvPr>
            <p:ph type="title"/>
          </p:nvPr>
        </p:nvSpPr>
        <p:spPr>
          <a:prstGeom prst="rect">
            <a:avLst/>
          </a:prstGeom>
        </p:spPr>
        <p:txBody>
          <a:bodyPr/>
          <a:lstStyle/>
          <a:p>
            <a:r>
              <a:rPr lang="zh-CN" altLang="en-US" dirty="0"/>
              <a:t>使用预先读取技术掩盖磁盘缓存</a:t>
            </a:r>
          </a:p>
        </p:txBody>
      </p:sp>
      <p:sp>
        <p:nvSpPr>
          <p:cNvPr id="3" name="内容占位符 2"/>
          <p:cNvSpPr>
            <a:spLocks noGrp="1"/>
          </p:cNvSpPr>
          <p:nvPr>
            <p:ph idx="1"/>
          </p:nvPr>
        </p:nvSpPr>
        <p:spPr>
          <a:prstGeom prst="rect">
            <a:avLst/>
          </a:prstGeom>
        </p:spPr>
        <p:txBody>
          <a:bodyPr/>
          <a:lstStyle/>
          <a:p>
            <a:r>
              <a:rPr lang="zh-CN" altLang="en-US" dirty="0"/>
              <a:t>用户的读取是否是“可预测的”</a:t>
            </a:r>
            <a:endParaRPr lang="en-US" altLang="zh-CN" dirty="0"/>
          </a:p>
          <a:p>
            <a:r>
              <a:rPr lang="zh-CN" altLang="en-US" dirty="0"/>
              <a:t>我们先假设用户对文件的读写是“顺序的从头读到尾”</a:t>
            </a:r>
          </a:p>
        </p:txBody>
      </p:sp>
      <p:pic>
        <p:nvPicPr>
          <p:cNvPr id="80898" name="Picture 2" descr="http://blog.chinaunix.net/attachment/201108/26/667478_1314328971gga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624" y="3063340"/>
            <a:ext cx="5962650" cy="819151"/>
          </a:xfrm>
          <a:prstGeom prst="rect">
            <a:avLst/>
          </a:prstGeom>
          <a:noFill/>
          <a:extLst>
            <a:ext uri="{909E8E84-426E-40DD-AFC4-6F175D3DCCD1}">
              <a14:hiddenFill xmlns:a14="http://schemas.microsoft.com/office/drawing/2010/main">
                <a:solidFill>
                  <a:srgbClr val="FFFFFF"/>
                </a:solidFill>
              </a14:hiddenFill>
            </a:ext>
          </a:extLst>
        </p:spPr>
      </p:pic>
      <p:pic>
        <p:nvPicPr>
          <p:cNvPr id="80900" name="Picture 4" descr="http://blog.chinaunix.net/attachment/201108/26/667478_1314329038yCl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1149" y="5085184"/>
            <a:ext cx="5943600" cy="828676"/>
          </a:xfrm>
          <a:prstGeom prst="rect">
            <a:avLst/>
          </a:prstGeom>
          <a:noFill/>
          <a:extLst>
            <a:ext uri="{909E8E84-426E-40DD-AFC4-6F175D3DCCD1}">
              <a14:hiddenFill xmlns:a14="http://schemas.microsoft.com/office/drawing/2010/main">
                <a:solidFill>
                  <a:srgbClr val="FFFFFF"/>
                </a:solidFill>
              </a14:hiddenFill>
            </a:ext>
          </a:extLst>
        </p:spPr>
      </p:pic>
      <p:sp>
        <p:nvSpPr>
          <p:cNvPr id="7" name="下箭头 6"/>
          <p:cNvSpPr/>
          <p:nvPr/>
        </p:nvSpPr>
        <p:spPr bwMode="auto">
          <a:xfrm>
            <a:off x="5159896" y="4009488"/>
            <a:ext cx="1440160" cy="936104"/>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00000"/>
              </a:lnSpc>
              <a:spcBef>
                <a:spcPct val="0"/>
              </a:spcBef>
              <a:buSzTx/>
              <a:buNone/>
            </a:pPr>
            <a:r>
              <a:rPr lang="zh-CN" altLang="en-US" dirty="0">
                <a:latin typeface="Times New Roman" pitchFamily="18" charset="0"/>
              </a:rPr>
              <a:t>加入预取机制</a:t>
            </a:r>
          </a:p>
        </p:txBody>
      </p:sp>
    </p:spTree>
    <p:extLst>
      <p:ext uri="{BB962C8B-B14F-4D97-AF65-F5344CB8AC3E}">
        <p14:creationId xmlns:p14="http://schemas.microsoft.com/office/powerpoint/2010/main" val="2752692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898"/>
                                        </p:tgtEl>
                                        <p:attrNameLst>
                                          <p:attrName>style.visibility</p:attrName>
                                        </p:attrNameLst>
                                      </p:cBhvr>
                                      <p:to>
                                        <p:strVal val="visible"/>
                                      </p:to>
                                    </p:set>
                                    <p:anim calcmode="lin" valueType="num">
                                      <p:cBhvr additive="base">
                                        <p:cTn id="7" dur="500" fill="hold"/>
                                        <p:tgtEl>
                                          <p:spTgt spid="80898"/>
                                        </p:tgtEl>
                                        <p:attrNameLst>
                                          <p:attrName>ppt_x</p:attrName>
                                        </p:attrNameLst>
                                      </p:cBhvr>
                                      <p:tavLst>
                                        <p:tav tm="0">
                                          <p:val>
                                            <p:strVal val="#ppt_x"/>
                                          </p:val>
                                        </p:tav>
                                        <p:tav tm="100000">
                                          <p:val>
                                            <p:strVal val="#ppt_x"/>
                                          </p:val>
                                        </p:tav>
                                      </p:tavLst>
                                    </p:anim>
                                    <p:anim calcmode="lin" valueType="num">
                                      <p:cBhvr additive="base">
                                        <p:cTn id="8" dur="500" fill="hold"/>
                                        <p:tgtEl>
                                          <p:spTgt spid="808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0900"/>
                                        </p:tgtEl>
                                        <p:attrNameLst>
                                          <p:attrName>style.visibility</p:attrName>
                                        </p:attrNameLst>
                                      </p:cBhvr>
                                      <p:to>
                                        <p:strVal val="visible"/>
                                      </p:to>
                                    </p:set>
                                    <p:anim calcmode="lin" valueType="num">
                                      <p:cBhvr additive="base">
                                        <p:cTn id="17" dur="500" fill="hold"/>
                                        <p:tgtEl>
                                          <p:spTgt spid="80900"/>
                                        </p:tgtEl>
                                        <p:attrNameLst>
                                          <p:attrName>ppt_x</p:attrName>
                                        </p:attrNameLst>
                                      </p:cBhvr>
                                      <p:tavLst>
                                        <p:tav tm="0">
                                          <p:val>
                                            <p:strVal val="#ppt_x"/>
                                          </p:val>
                                        </p:tav>
                                        <p:tav tm="100000">
                                          <p:val>
                                            <p:strVal val="#ppt_x"/>
                                          </p:val>
                                        </p:tav>
                                      </p:tavLst>
                                    </p:anim>
                                    <p:anim calcmode="lin" valueType="num">
                                      <p:cBhvr additive="base">
                                        <p:cTn id="18" dur="500" fill="hold"/>
                                        <p:tgtEl>
                                          <p:spTgt spid="809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buNone/>
            </a:pPr>
            <a:fld id="{5EEFC526-8A43-41C1-B1D0-B3D20E53516B}" type="slidenum">
              <a:rPr lang="en-US" altLang="ko-KR" smtClean="0"/>
              <a:pPr>
                <a:buNone/>
              </a:pPr>
              <a:t>46</a:t>
            </a:fld>
            <a:endParaRPr lang="en-US" altLang="ko-KR" dirty="0"/>
          </a:p>
        </p:txBody>
      </p:sp>
      <p:sp>
        <p:nvSpPr>
          <p:cNvPr id="2" name="标题 1"/>
          <p:cNvSpPr>
            <a:spLocks noGrp="1"/>
          </p:cNvSpPr>
          <p:nvPr>
            <p:ph type="title"/>
          </p:nvPr>
        </p:nvSpPr>
        <p:spPr>
          <a:prstGeom prst="rect">
            <a:avLst/>
          </a:prstGeom>
        </p:spPr>
        <p:txBody>
          <a:bodyPr/>
          <a:lstStyle/>
          <a:p>
            <a:r>
              <a:rPr lang="zh-CN" altLang="en-US" dirty="0"/>
              <a:t>如何有效的预取？</a:t>
            </a:r>
          </a:p>
        </p:txBody>
      </p:sp>
      <p:sp>
        <p:nvSpPr>
          <p:cNvPr id="3" name="内容占位符 2"/>
          <p:cNvSpPr>
            <a:spLocks noGrp="1"/>
          </p:cNvSpPr>
          <p:nvPr>
            <p:ph idx="1"/>
          </p:nvPr>
        </p:nvSpPr>
        <p:spPr>
          <a:prstGeom prst="rect">
            <a:avLst/>
          </a:prstGeom>
        </p:spPr>
        <p:txBody>
          <a:bodyPr/>
          <a:lstStyle/>
          <a:p>
            <a:r>
              <a:rPr lang="zh-CN" altLang="en-US" dirty="0"/>
              <a:t>预取的方向</a:t>
            </a:r>
            <a:endParaRPr lang="en-US" altLang="zh-CN" dirty="0"/>
          </a:p>
          <a:p>
            <a:pPr lvl="1"/>
            <a:r>
              <a:rPr lang="zh-CN" altLang="en-US" dirty="0"/>
              <a:t>如果用户现在读取第</a:t>
            </a:r>
            <a:r>
              <a:rPr lang="en-US" altLang="zh-CN" dirty="0"/>
              <a:t>n</a:t>
            </a:r>
            <a:r>
              <a:rPr lang="zh-CN" altLang="en-US" dirty="0"/>
              <a:t>块，如何预测下次用户读取第</a:t>
            </a:r>
            <a:r>
              <a:rPr lang="en-US" altLang="zh-CN" dirty="0"/>
              <a:t>f(n)</a:t>
            </a:r>
            <a:r>
              <a:rPr lang="zh-CN" altLang="en-US" dirty="0"/>
              <a:t>块？</a:t>
            </a:r>
            <a:endParaRPr lang="en-US" altLang="zh-CN" dirty="0"/>
          </a:p>
          <a:p>
            <a:r>
              <a:rPr lang="zh-CN" altLang="en-US" dirty="0"/>
              <a:t>预取的时机</a:t>
            </a:r>
            <a:endParaRPr lang="en-US" altLang="zh-CN" dirty="0"/>
          </a:p>
          <a:p>
            <a:pPr lvl="1"/>
            <a:r>
              <a:rPr lang="zh-CN" altLang="en-US" dirty="0"/>
              <a:t>用户在请求第</a:t>
            </a:r>
            <a:r>
              <a:rPr lang="en-US" altLang="zh-CN" dirty="0"/>
              <a:t>n</a:t>
            </a:r>
            <a:r>
              <a:rPr lang="zh-CN" altLang="en-US" dirty="0"/>
              <a:t>块时，预测到用户需要第</a:t>
            </a:r>
            <a:r>
              <a:rPr lang="en-US" altLang="zh-CN" dirty="0"/>
              <a:t>n+1</a:t>
            </a:r>
            <a:r>
              <a:rPr lang="zh-CN" altLang="en-US" dirty="0"/>
              <a:t>块，何时发起读取操作？</a:t>
            </a:r>
            <a:endParaRPr lang="en-US" altLang="zh-CN" dirty="0"/>
          </a:p>
          <a:p>
            <a:r>
              <a:rPr lang="zh-CN" altLang="en-US" dirty="0"/>
              <a:t>预取的数量</a:t>
            </a:r>
            <a:endParaRPr lang="en-US" altLang="zh-CN" dirty="0"/>
          </a:p>
          <a:p>
            <a:pPr lvl="1"/>
            <a:r>
              <a:rPr lang="zh-CN" altLang="en-US" dirty="0"/>
              <a:t>预测多久的将来才合理？</a:t>
            </a:r>
          </a:p>
        </p:txBody>
      </p:sp>
      <p:pic>
        <p:nvPicPr>
          <p:cNvPr id="82946" name="Picture 2" descr="http://blog.chinaunix.net/attachment/201108/26/667478_1314329100x9Xy.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9" y="4509120"/>
            <a:ext cx="6296025" cy="187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0391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buNone/>
            </a:pPr>
            <a:fld id="{5EEFC526-8A43-41C1-B1D0-B3D20E53516B}" type="slidenum">
              <a:rPr lang="en-US" altLang="ko-KR" smtClean="0"/>
              <a:pPr>
                <a:buNone/>
              </a:pPr>
              <a:t>47</a:t>
            </a:fld>
            <a:endParaRPr lang="en-US" altLang="ko-KR" dirty="0"/>
          </a:p>
        </p:txBody>
      </p:sp>
      <p:sp>
        <p:nvSpPr>
          <p:cNvPr id="2" name="标题 1"/>
          <p:cNvSpPr>
            <a:spLocks noGrp="1"/>
          </p:cNvSpPr>
          <p:nvPr>
            <p:ph type="title"/>
          </p:nvPr>
        </p:nvSpPr>
        <p:spPr>
          <a:prstGeom prst="rect">
            <a:avLst/>
          </a:prstGeom>
        </p:spPr>
        <p:txBody>
          <a:bodyPr/>
          <a:lstStyle/>
          <a:p>
            <a:r>
              <a:rPr lang="zh-CN" altLang="en-US" dirty="0"/>
              <a:t>现行的</a:t>
            </a:r>
            <a:r>
              <a:rPr lang="en-US" altLang="zh-CN" dirty="0"/>
              <a:t>Linux </a:t>
            </a:r>
            <a:r>
              <a:rPr lang="en-US" altLang="zh-CN" dirty="0" err="1"/>
              <a:t>Readahead</a:t>
            </a:r>
            <a:r>
              <a:rPr lang="zh-CN" altLang="en-US" dirty="0"/>
              <a:t>方案</a:t>
            </a:r>
          </a:p>
        </p:txBody>
      </p:sp>
      <p:sp>
        <p:nvSpPr>
          <p:cNvPr id="3" name="内容占位符 2"/>
          <p:cNvSpPr>
            <a:spLocks noGrp="1"/>
          </p:cNvSpPr>
          <p:nvPr>
            <p:ph idx="1"/>
          </p:nvPr>
        </p:nvSpPr>
        <p:spPr>
          <a:prstGeom prst="rect">
            <a:avLst/>
          </a:prstGeom>
        </p:spPr>
        <p:txBody>
          <a:bodyPr>
            <a:normAutofit/>
          </a:bodyPr>
          <a:lstStyle/>
          <a:p>
            <a:r>
              <a:rPr lang="zh-CN" altLang="en-US" sz="2400" dirty="0"/>
              <a:t>同步预取获得用户请求的内容，异步预取获取未来的信息</a:t>
            </a:r>
            <a:endParaRPr lang="en-US" altLang="zh-CN" sz="2400" dirty="0"/>
          </a:p>
          <a:p>
            <a:r>
              <a:rPr lang="zh-CN" altLang="en-US" sz="2400" dirty="0"/>
              <a:t>预取来的数据存在内核空间中，在用户请求时直接使用，并且可以检测预测是否准确</a:t>
            </a:r>
            <a:endParaRPr lang="en-US" altLang="zh-CN" sz="2400" dirty="0"/>
          </a:p>
          <a:p>
            <a:r>
              <a:rPr lang="zh-CN" altLang="en-US" sz="2400" dirty="0"/>
              <a:t>准确预测会得到奖励，使得下次预测更激进，窗口变大一倍</a:t>
            </a:r>
            <a:endParaRPr lang="en-US" altLang="zh-CN" sz="2400" dirty="0"/>
          </a:p>
          <a:p>
            <a:r>
              <a:rPr lang="zh-CN" altLang="en-US" sz="2400" dirty="0"/>
              <a:t>预测错误会使得预取窗口复位</a:t>
            </a:r>
          </a:p>
        </p:txBody>
      </p:sp>
      <p:sp>
        <p:nvSpPr>
          <p:cNvPr id="7" name="矩形 6"/>
          <p:cNvSpPr/>
          <p:nvPr/>
        </p:nvSpPr>
        <p:spPr>
          <a:xfrm>
            <a:off x="8774594" y="5492151"/>
            <a:ext cx="1872208" cy="683264"/>
          </a:xfrm>
          <a:prstGeom prst="rect">
            <a:avLst/>
          </a:prstGeom>
        </p:spPr>
        <p:txBody>
          <a:bodyPr wrap="square">
            <a:spAutoFit/>
          </a:bodyPr>
          <a:lstStyle/>
          <a:p>
            <a:pPr>
              <a:buNone/>
            </a:pPr>
            <a:r>
              <a:rPr lang="zh-CN" altLang="en-US" sz="1200" dirty="0"/>
              <a:t>详见http://blog.chinaunix.net/uid-667478-id-2384354.html</a:t>
            </a:r>
          </a:p>
        </p:txBody>
      </p:sp>
      <p:pic>
        <p:nvPicPr>
          <p:cNvPr id="83972" name="Picture 4" descr="http://blog.chinaunix.net/attachment/201108/26/667478_13143294064q4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3" y="3789040"/>
            <a:ext cx="5915025" cy="2447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0624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buNone/>
            </a:pPr>
            <a:fld id="{5EEFC526-8A43-41C1-B1D0-B3D20E53516B}" type="slidenum">
              <a:rPr lang="en-US" altLang="ko-KR" smtClean="0"/>
              <a:pPr>
                <a:buNone/>
              </a:pPr>
              <a:t>48</a:t>
            </a:fld>
            <a:endParaRPr lang="en-US" altLang="ko-KR" dirty="0"/>
          </a:p>
        </p:txBody>
      </p:sp>
      <p:sp>
        <p:nvSpPr>
          <p:cNvPr id="2" name="标题 1"/>
          <p:cNvSpPr>
            <a:spLocks noGrp="1"/>
          </p:cNvSpPr>
          <p:nvPr>
            <p:ph type="title"/>
          </p:nvPr>
        </p:nvSpPr>
        <p:spPr>
          <a:prstGeom prst="rect">
            <a:avLst/>
          </a:prstGeom>
        </p:spPr>
        <p:txBody>
          <a:bodyPr/>
          <a:lstStyle/>
          <a:p>
            <a:r>
              <a:rPr lang="zh-CN" altLang="en-US" dirty="0"/>
              <a:t>新介质对文件系统引发的变革</a:t>
            </a:r>
          </a:p>
        </p:txBody>
      </p:sp>
      <p:sp>
        <p:nvSpPr>
          <p:cNvPr id="3" name="内容占位符 2"/>
          <p:cNvSpPr>
            <a:spLocks noGrp="1"/>
          </p:cNvSpPr>
          <p:nvPr>
            <p:ph idx="1"/>
          </p:nvPr>
        </p:nvSpPr>
        <p:spPr>
          <a:prstGeom prst="rect">
            <a:avLst/>
          </a:prstGeom>
        </p:spPr>
        <p:txBody>
          <a:bodyPr>
            <a:normAutofit/>
          </a:bodyPr>
          <a:lstStyle/>
          <a:p>
            <a:r>
              <a:rPr lang="zh-CN" altLang="en-US" sz="2400" dirty="0"/>
              <a:t>非易失性内存</a:t>
            </a:r>
            <a:endParaRPr lang="en-US" altLang="zh-CN" sz="2400" dirty="0"/>
          </a:p>
          <a:p>
            <a:r>
              <a:rPr lang="zh-CN" altLang="en-US" sz="2400" dirty="0"/>
              <a:t>像内存一样的读写接口</a:t>
            </a:r>
            <a:endParaRPr lang="en-US" altLang="zh-CN" sz="2400" dirty="0"/>
          </a:p>
          <a:p>
            <a:r>
              <a:rPr lang="zh-CN" altLang="en-US" sz="2400" dirty="0"/>
              <a:t>与内存相差无几的速度</a:t>
            </a:r>
            <a:endParaRPr lang="en-US" altLang="zh-CN" sz="2400" dirty="0"/>
          </a:p>
          <a:p>
            <a:r>
              <a:rPr lang="zh-CN" altLang="en-US" sz="2400" dirty="0"/>
              <a:t>像磁盘一样掉电不丢失</a:t>
            </a:r>
            <a:endParaRPr lang="en-US" altLang="zh-CN" sz="2400" dirty="0"/>
          </a:p>
          <a:p>
            <a:r>
              <a:rPr lang="zh-CN" altLang="en-US" sz="2400" dirty="0"/>
              <a:t>思考：</a:t>
            </a:r>
            <a:endParaRPr lang="en-US" altLang="zh-CN" sz="2400" dirty="0"/>
          </a:p>
          <a:p>
            <a:pPr lvl="1"/>
            <a:r>
              <a:rPr lang="en-US" altLang="zh-CN" sz="2000" dirty="0" err="1"/>
              <a:t>NVM</a:t>
            </a:r>
            <a:r>
              <a:rPr lang="zh-CN" altLang="en-US" sz="2000" dirty="0"/>
              <a:t>上可以构建文件系统吗？</a:t>
            </a:r>
            <a:endParaRPr lang="en-US" altLang="zh-CN" sz="2000" dirty="0"/>
          </a:p>
          <a:p>
            <a:pPr lvl="1"/>
            <a:r>
              <a:rPr lang="zh-CN" altLang="en-US" sz="2000" dirty="0"/>
              <a:t>这样的文件系统还需要</a:t>
            </a:r>
            <a:r>
              <a:rPr lang="en-US" altLang="zh-CN" sz="2000" dirty="0"/>
              <a:t>Page Cache</a:t>
            </a:r>
            <a:r>
              <a:rPr lang="zh-CN" altLang="en-US" sz="2000" dirty="0"/>
              <a:t>吗？</a:t>
            </a:r>
            <a:endParaRPr lang="en-US" altLang="zh-CN" sz="2000" dirty="0"/>
          </a:p>
          <a:p>
            <a:pPr lvl="1"/>
            <a:endParaRPr lang="en-US" altLang="zh-CN" sz="2000" dirty="0"/>
          </a:p>
          <a:p>
            <a:endParaRPr lang="en-US" altLang="zh-CN" sz="2400" dirty="0"/>
          </a:p>
        </p:txBody>
      </p:sp>
      <p:pic>
        <p:nvPicPr>
          <p:cNvPr id="4" name="图片 3">
            <a:extLst>
              <a:ext uri="{FF2B5EF4-FFF2-40B4-BE49-F238E27FC236}">
                <a16:creationId xmlns:a16="http://schemas.microsoft.com/office/drawing/2014/main" id="{D4A80CE7-4D7F-67E7-6D8C-2CC785704367}"/>
              </a:ext>
            </a:extLst>
          </p:cNvPr>
          <p:cNvPicPr>
            <a:picLocks noChangeAspect="1"/>
          </p:cNvPicPr>
          <p:nvPr/>
        </p:nvPicPr>
        <p:blipFill>
          <a:blip r:embed="rId2"/>
          <a:srcRect l="15693"/>
          <a:stretch/>
        </p:blipFill>
        <p:spPr>
          <a:xfrm>
            <a:off x="6888088" y="692696"/>
            <a:ext cx="5303912" cy="2918760"/>
          </a:xfrm>
          <a:prstGeom prst="rect">
            <a:avLst/>
          </a:prstGeom>
        </p:spPr>
      </p:pic>
      <p:pic>
        <p:nvPicPr>
          <p:cNvPr id="5" name="内容占位符 4">
            <a:extLst>
              <a:ext uri="{FF2B5EF4-FFF2-40B4-BE49-F238E27FC236}">
                <a16:creationId xmlns:a16="http://schemas.microsoft.com/office/drawing/2014/main" id="{9D491EDC-A682-ABC3-B2A8-D9B13BC8267B}"/>
              </a:ext>
            </a:extLst>
          </p:cNvPr>
          <p:cNvPicPr>
            <a:picLocks noChangeAspect="1"/>
          </p:cNvPicPr>
          <p:nvPr/>
        </p:nvPicPr>
        <p:blipFill>
          <a:blip r:embed="rId3"/>
          <a:stretch>
            <a:fillRect/>
          </a:stretch>
        </p:blipFill>
        <p:spPr>
          <a:xfrm>
            <a:off x="7014302" y="3673412"/>
            <a:ext cx="4868995" cy="3178503"/>
          </a:xfrm>
          <a:prstGeom prst="rect">
            <a:avLst/>
          </a:prstGeom>
        </p:spPr>
      </p:pic>
      <p:sp>
        <p:nvSpPr>
          <p:cNvPr id="8" name="文本框 7">
            <a:extLst>
              <a:ext uri="{FF2B5EF4-FFF2-40B4-BE49-F238E27FC236}">
                <a16:creationId xmlns:a16="http://schemas.microsoft.com/office/drawing/2014/main" id="{DEAFE1BB-7E17-B9CE-F79C-26CFD5F0FAC9}"/>
              </a:ext>
            </a:extLst>
          </p:cNvPr>
          <p:cNvSpPr txBox="1"/>
          <p:nvPr/>
        </p:nvSpPr>
        <p:spPr>
          <a:xfrm>
            <a:off x="172727" y="5991581"/>
            <a:ext cx="6559200" cy="535531"/>
          </a:xfrm>
          <a:prstGeom prst="rect">
            <a:avLst/>
          </a:prstGeom>
          <a:noFill/>
        </p:spPr>
        <p:txBody>
          <a:bodyPr wrap="square">
            <a:spAutoFit/>
          </a:bodyPr>
          <a:lstStyle/>
          <a:p>
            <a:pPr>
              <a:buNone/>
            </a:pPr>
            <a:r>
              <a:rPr lang="zh-CN" altLang="en-US" dirty="0"/>
              <a:t>https://www.usenix.org/system/files/conference/fast16/fast16-papers-xu.pdf</a:t>
            </a:r>
          </a:p>
        </p:txBody>
      </p:sp>
    </p:spTree>
    <p:extLst>
      <p:ext uri="{BB962C8B-B14F-4D97-AF65-F5344CB8AC3E}">
        <p14:creationId xmlns:p14="http://schemas.microsoft.com/office/powerpoint/2010/main" val="387727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 calcmode="lin" valueType="num">
                                      <p:cBhvr additive="base">
                                        <p:cTn id="4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ppt_x"/>
                                          </p:val>
                                        </p:tav>
                                        <p:tav tm="100000">
                                          <p:val>
                                            <p:strVal val="#ppt_x"/>
                                          </p:val>
                                        </p:tav>
                                      </p:tavLst>
                                    </p:anim>
                                    <p:anim calcmode="lin" valueType="num">
                                      <p:cBhvr additive="base">
                                        <p:cTn id="5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1B478-B87F-E205-7630-0A237FAA049A}"/>
              </a:ext>
            </a:extLst>
          </p:cNvPr>
          <p:cNvSpPr>
            <a:spLocks noGrp="1"/>
          </p:cNvSpPr>
          <p:nvPr>
            <p:ph type="title"/>
          </p:nvPr>
        </p:nvSpPr>
        <p:spPr>
          <a:prstGeom prst="rect">
            <a:avLst/>
          </a:prstGeom>
        </p:spPr>
        <p:txBody>
          <a:bodyPr/>
          <a:lstStyle/>
          <a:p>
            <a:r>
              <a:rPr lang="zh-CN" altLang="en-US" dirty="0"/>
              <a:t>前情提要</a:t>
            </a:r>
          </a:p>
        </p:txBody>
      </p:sp>
      <p:sp>
        <p:nvSpPr>
          <p:cNvPr id="3" name="内容占位符 2">
            <a:extLst>
              <a:ext uri="{FF2B5EF4-FFF2-40B4-BE49-F238E27FC236}">
                <a16:creationId xmlns:a16="http://schemas.microsoft.com/office/drawing/2014/main" id="{356496CB-1BF2-BF31-8EDF-C7343A706198}"/>
              </a:ext>
            </a:extLst>
          </p:cNvPr>
          <p:cNvSpPr>
            <a:spLocks noGrp="1"/>
          </p:cNvSpPr>
          <p:nvPr>
            <p:ph idx="1"/>
          </p:nvPr>
        </p:nvSpPr>
        <p:spPr>
          <a:xfrm>
            <a:off x="695399" y="1569766"/>
            <a:ext cx="10801200" cy="4667546"/>
          </a:xfrm>
          <a:prstGeom prst="rect">
            <a:avLst/>
          </a:prstGeom>
        </p:spPr>
        <p:txBody>
          <a:bodyPr>
            <a:normAutofit fontScale="55000" lnSpcReduction="20000"/>
          </a:bodyPr>
          <a:lstStyle/>
          <a:p>
            <a:pPr eaLnBrk="1" hangingPunct="1">
              <a:lnSpc>
                <a:spcPct val="120000"/>
              </a:lnSpc>
            </a:pPr>
            <a:r>
              <a:rPr lang="zh-CN" altLang="en-US" dirty="0"/>
              <a:t>文件系统是将</a:t>
            </a:r>
            <a:r>
              <a:rPr lang="zh-CN" altLang="en-US" dirty="0">
                <a:solidFill>
                  <a:srgbClr val="FF0000"/>
                </a:solidFill>
              </a:rPr>
              <a:t>固定大小的块数据</a:t>
            </a:r>
            <a:r>
              <a:rPr lang="zh-CN" altLang="en-US" dirty="0"/>
              <a:t>（扇区）组织成</a:t>
            </a:r>
            <a:r>
              <a:rPr lang="zh-CN" altLang="en-US" dirty="0">
                <a:solidFill>
                  <a:srgbClr val="FF0000"/>
                </a:solidFill>
              </a:rPr>
              <a:t>任意长度</a:t>
            </a:r>
            <a:r>
              <a:rPr lang="zh-CN" altLang="en-US" dirty="0"/>
              <a:t>（文件，或者磁带）的数据结构，并提供增删改查机制的方法。参考数据结构课程，会有连续、链表、树等模式</a:t>
            </a:r>
            <a:endParaRPr lang="en-US" altLang="zh-CN" dirty="0"/>
          </a:p>
          <a:p>
            <a:pPr eaLnBrk="1" hangingPunct="1">
              <a:lnSpc>
                <a:spcPct val="120000"/>
              </a:lnSpc>
            </a:pPr>
            <a:r>
              <a:rPr lang="zh-CN" altLang="en-US" dirty="0"/>
              <a:t>文件夹是文件的索引，其中保存了文件名，以及其他附属信息</a:t>
            </a:r>
            <a:endParaRPr lang="en-US" altLang="zh-CN" dirty="0"/>
          </a:p>
          <a:p>
            <a:pPr eaLnBrk="1" hangingPunct="1">
              <a:lnSpc>
                <a:spcPct val="120000"/>
              </a:lnSpc>
            </a:pPr>
            <a:r>
              <a:rPr lang="zh-CN" altLang="en-US" dirty="0"/>
              <a:t>文件夹也是一个文件，也需要存在磁盘上</a:t>
            </a:r>
            <a:endParaRPr lang="en-US" altLang="zh-CN" dirty="0"/>
          </a:p>
          <a:p>
            <a:pPr eaLnBrk="1" hangingPunct="1">
              <a:lnSpc>
                <a:spcPct val="120000"/>
              </a:lnSpc>
            </a:pPr>
            <a:r>
              <a:rPr lang="zh-CN" altLang="en-US" dirty="0"/>
              <a:t>一个磁盘（分区）上所有的文件都按树状组织，打开一个磁盘，就需要找到树根。为此，树根存在了磁盘固定的位置上</a:t>
            </a:r>
            <a:endParaRPr lang="en-US" altLang="zh-CN" dirty="0"/>
          </a:p>
          <a:p>
            <a:pPr eaLnBrk="1" hangingPunct="1">
              <a:lnSpc>
                <a:spcPct val="120000"/>
              </a:lnSpc>
            </a:pPr>
            <a:r>
              <a:rPr lang="zh-CN" altLang="en-US" dirty="0"/>
              <a:t>文件系统需要处理的最重要的问题之一是</a:t>
            </a:r>
            <a:r>
              <a:rPr lang="zh-CN" altLang="en-US" dirty="0">
                <a:solidFill>
                  <a:srgbClr val="FF0000"/>
                </a:solidFill>
              </a:rPr>
              <a:t>性能差异</a:t>
            </a:r>
            <a:r>
              <a:rPr lang="zh-CN" altLang="en-US" dirty="0"/>
              <a:t>。因为磁盘和内存、</a:t>
            </a:r>
            <a:r>
              <a:rPr lang="en-US" altLang="zh-CN" dirty="0"/>
              <a:t>CPU</a:t>
            </a:r>
            <a:r>
              <a:rPr lang="zh-CN" altLang="en-US" dirty="0"/>
              <a:t>之间存在数万倍以上的性能带差，因此需要借助内存设计若干种缓存机制以尽可能的减少对磁盘的读写操作</a:t>
            </a:r>
            <a:endParaRPr lang="en-US" altLang="zh-CN" dirty="0"/>
          </a:p>
          <a:p>
            <a:pPr eaLnBrk="1" hangingPunct="1">
              <a:lnSpc>
                <a:spcPct val="120000"/>
              </a:lnSpc>
            </a:pPr>
            <a:r>
              <a:rPr lang="zh-CN" altLang="en-US" dirty="0"/>
              <a:t>打开文件句柄、文件指针用于暂存</a:t>
            </a:r>
            <a:r>
              <a:rPr lang="zh-CN" altLang="en-US" dirty="0">
                <a:solidFill>
                  <a:srgbClr val="FF0000"/>
                </a:solidFill>
              </a:rPr>
              <a:t>文件的位置</a:t>
            </a:r>
            <a:r>
              <a:rPr lang="zh-CN" altLang="en-US" dirty="0"/>
              <a:t>，以及上次读取的位置，以避免反复读磁盘查找</a:t>
            </a:r>
            <a:endParaRPr lang="en-US" altLang="zh-CN" dirty="0"/>
          </a:p>
          <a:p>
            <a:pPr eaLnBrk="1" hangingPunct="1">
              <a:lnSpc>
                <a:spcPct val="120000"/>
              </a:lnSpc>
            </a:pPr>
            <a:r>
              <a:rPr lang="zh-CN" altLang="en-US" dirty="0"/>
              <a:t>文件句柄还同时兼具锁的功能，但是取决于系统的实现方式，并不一定都是强制锁</a:t>
            </a:r>
            <a:endParaRPr lang="en-US" altLang="zh-CN" dirty="0"/>
          </a:p>
          <a:p>
            <a:pPr eaLnBrk="1" hangingPunct="1">
              <a:lnSpc>
                <a:spcPct val="120000"/>
              </a:lnSpc>
            </a:pPr>
            <a:r>
              <a:rPr lang="zh-CN" altLang="en-US" dirty="0"/>
              <a:t>文件系统中设置了</a:t>
            </a:r>
            <a:r>
              <a:rPr lang="zh-CN" altLang="en-US" dirty="0">
                <a:solidFill>
                  <a:srgbClr val="FF0000"/>
                </a:solidFill>
              </a:rPr>
              <a:t>数据缓存</a:t>
            </a:r>
            <a:r>
              <a:rPr lang="zh-CN" altLang="en-US" dirty="0"/>
              <a:t>机制，以期待尽可能利用数据的局部性，减少重复的读操作，合并相临的写操作</a:t>
            </a:r>
            <a:endParaRPr lang="en-US" altLang="zh-CN" dirty="0"/>
          </a:p>
          <a:p>
            <a:pPr eaLnBrk="1" hangingPunct="1">
              <a:lnSpc>
                <a:spcPct val="120000"/>
              </a:lnSpc>
            </a:pPr>
            <a:r>
              <a:rPr lang="zh-CN" altLang="en-US" dirty="0"/>
              <a:t>文件系统的缓存机制与虚拟内存机制存在很强的关联性和相似性，因此两个机制合并为一套</a:t>
            </a:r>
            <a:r>
              <a:rPr lang="zh-CN" altLang="en-US" dirty="0">
                <a:solidFill>
                  <a:srgbClr val="FF0000"/>
                </a:solidFill>
              </a:rPr>
              <a:t>页面缓存</a:t>
            </a:r>
            <a:r>
              <a:rPr lang="en-US" altLang="zh-CN" dirty="0"/>
              <a:t>(page cache)</a:t>
            </a:r>
            <a:r>
              <a:rPr lang="zh-CN" altLang="en-US" dirty="0"/>
              <a:t>机制，以</a:t>
            </a:r>
            <a:r>
              <a:rPr lang="en-US" altLang="zh-CN" dirty="0" err="1"/>
              <a:t>4K</a:t>
            </a:r>
            <a:r>
              <a:rPr lang="zh-CN" altLang="en-US" dirty="0"/>
              <a:t>为单位缓存数据，并按照访问时间频度判定数据写回的时机</a:t>
            </a:r>
            <a:endParaRPr lang="en-US" altLang="zh-CN" dirty="0"/>
          </a:p>
          <a:p>
            <a:pPr eaLnBrk="1" hangingPunct="1">
              <a:lnSpc>
                <a:spcPct val="120000"/>
              </a:lnSpc>
            </a:pPr>
            <a:r>
              <a:rPr lang="zh-CN" altLang="en-US" dirty="0"/>
              <a:t>与</a:t>
            </a:r>
            <a:r>
              <a:rPr lang="en-US" altLang="zh-CN" dirty="0"/>
              <a:t>Cache</a:t>
            </a:r>
            <a:r>
              <a:rPr lang="zh-CN" altLang="en-US" dirty="0"/>
              <a:t>一样，缓存机制放大了读区域，延后了写操作。放大的读区域造成的代价可以被批量读掩盖，延后的写操作给系统带来了很多的困扰，最典型的情况是写回时无法知道数据的优先级和来源等语义</a:t>
            </a:r>
            <a:endParaRPr lang="en-US" altLang="zh-CN" dirty="0"/>
          </a:p>
          <a:p>
            <a:pPr eaLnBrk="1" hangingPunct="1">
              <a:lnSpc>
                <a:spcPct val="120000"/>
              </a:lnSpc>
            </a:pPr>
            <a:r>
              <a:rPr lang="zh-CN" altLang="en-US" dirty="0"/>
              <a:t>为了优化文件系统的性能，</a:t>
            </a:r>
            <a:r>
              <a:rPr lang="en-US" altLang="zh-CN" dirty="0"/>
              <a:t>OS</a:t>
            </a:r>
            <a:r>
              <a:rPr lang="zh-CN" altLang="en-US" dirty="0"/>
              <a:t>做了很多的优化，其中之一是预取机制。但是，局限于磁盘的读取模式预取目前只能简单的判定程序读写文件的</a:t>
            </a:r>
            <a:r>
              <a:rPr lang="zh-CN" altLang="en-US" dirty="0">
                <a:solidFill>
                  <a:srgbClr val="FF0000"/>
                </a:solidFill>
              </a:rPr>
              <a:t>线性趋势</a:t>
            </a:r>
            <a:r>
              <a:rPr lang="zh-CN" altLang="en-US" dirty="0"/>
              <a:t>，无法实现对复杂趋势的拟合</a:t>
            </a:r>
            <a:endParaRPr lang="en-US" altLang="zh-CN" dirty="0"/>
          </a:p>
          <a:p>
            <a:pPr eaLnBrk="1" hangingPunct="1">
              <a:lnSpc>
                <a:spcPct val="120000"/>
              </a:lnSpc>
            </a:pPr>
            <a:r>
              <a:rPr lang="zh-CN" altLang="en-US" dirty="0"/>
              <a:t>新的介质需要新的文件系统设计，比如</a:t>
            </a:r>
            <a:r>
              <a:rPr lang="en-US" altLang="zh-CN" dirty="0"/>
              <a:t>NVM</a:t>
            </a:r>
            <a:r>
              <a:rPr lang="zh-CN" altLang="en-US" dirty="0"/>
              <a:t>可以和内存一样读写，就不再需要</a:t>
            </a:r>
            <a:r>
              <a:rPr lang="en-US" altLang="zh-CN" dirty="0"/>
              <a:t>page cache</a:t>
            </a:r>
            <a:r>
              <a:rPr lang="zh-CN" altLang="en-US" dirty="0"/>
              <a:t>了</a:t>
            </a:r>
            <a:endParaRPr lang="en-US" altLang="zh-CN" dirty="0"/>
          </a:p>
        </p:txBody>
      </p:sp>
      <p:sp>
        <p:nvSpPr>
          <p:cNvPr id="7" name="灯片编号占位符 6">
            <a:extLst>
              <a:ext uri="{FF2B5EF4-FFF2-40B4-BE49-F238E27FC236}">
                <a16:creationId xmlns:a16="http://schemas.microsoft.com/office/drawing/2014/main" id="{617E7E99-F91F-EC8F-D0B2-CA37B4A1A772}"/>
              </a:ext>
            </a:extLst>
          </p:cNvPr>
          <p:cNvSpPr>
            <a:spLocks noGrp="1"/>
          </p:cNvSpPr>
          <p:nvPr>
            <p:ph type="sldNum" sz="quarter" idx="12"/>
          </p:nvPr>
        </p:nvSpPr>
        <p:spPr>
          <a:xfrm>
            <a:off x="9448800" y="6525344"/>
            <a:ext cx="2743200" cy="326571"/>
          </a:xfrm>
        </p:spPr>
        <p:txBody>
          <a:bodyPr/>
          <a:lstStyle/>
          <a:p>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fld id="{7209BB76-661F-4F23-A2E6-DCF093FEDF36}" type="slidenum">
              <a:rPr kumimoji="0" lang="zh-CN" altLang="en-US" sz="1600" b="1" i="0" u="none" strike="noStrike" kern="120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t>49</a:t>
            </a:fld>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543084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1" name="直接连接符 120"/>
          <p:cNvCxnSpPr/>
          <p:nvPr/>
        </p:nvCxnSpPr>
        <p:spPr>
          <a:xfrm rot="16200000" flipH="1">
            <a:off x="-9255897" y="3250405"/>
            <a:ext cx="14859104" cy="71438"/>
          </a:xfrm>
          <a:prstGeom prst="line">
            <a:avLst/>
          </a:prstGeom>
        </p:spPr>
        <p:style>
          <a:lnRef idx="1">
            <a:schemeClr val="accent1"/>
          </a:lnRef>
          <a:fillRef idx="0">
            <a:schemeClr val="accent1"/>
          </a:fillRef>
          <a:effectRef idx="0">
            <a:schemeClr val="accent1"/>
          </a:effectRef>
          <a:fontRef idx="minor">
            <a:schemeClr val="tx1"/>
          </a:fontRef>
        </p:style>
      </p:cxnSp>
      <p:sp>
        <p:nvSpPr>
          <p:cNvPr id="117" name="圆柱形 116"/>
          <p:cNvSpPr/>
          <p:nvPr/>
        </p:nvSpPr>
        <p:spPr>
          <a:xfrm>
            <a:off x="5092198" y="3349996"/>
            <a:ext cx="105409" cy="445060"/>
          </a:xfrm>
          <a:prstGeom prst="can">
            <a:avLst/>
          </a:prstGeom>
          <a:gradFill flip="none" rotWithShape="1">
            <a:gsLst>
              <a:gs pos="100000">
                <a:srgbClr val="0093DD"/>
              </a:gs>
              <a:gs pos="0">
                <a:schemeClr val="bg1">
                  <a:lumMod val="95000"/>
                </a:schemeClr>
              </a:gs>
              <a:gs pos="100000">
                <a:schemeClr val="accent1">
                  <a:tint val="23500"/>
                  <a:satMod val="160000"/>
                </a:schemeClr>
              </a:gs>
            </a:gsLst>
            <a:lin ang="10800000" scaled="1"/>
            <a:tileRect/>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1" name="立方体 60"/>
          <p:cNvSpPr/>
          <p:nvPr/>
        </p:nvSpPr>
        <p:spPr>
          <a:xfrm rot="420000">
            <a:off x="5603930" y="3480578"/>
            <a:ext cx="1195187" cy="111833"/>
          </a:xfrm>
          <a:prstGeom prst="cube">
            <a:avLst>
              <a:gd name="adj" fmla="val 81000"/>
            </a:avLst>
          </a:prstGeom>
          <a:solidFill>
            <a:schemeClr val="bg1">
              <a:lumMod val="50000"/>
            </a:schemeClr>
          </a:soli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2" name="椭圆 61"/>
          <p:cNvSpPr/>
          <p:nvPr/>
        </p:nvSpPr>
        <p:spPr>
          <a:xfrm>
            <a:off x="3989294" y="3141707"/>
            <a:ext cx="2307297" cy="395286"/>
          </a:xfrm>
          <a:prstGeom prst="ellipse">
            <a:avLst/>
          </a:prstGeom>
          <a:gradFill>
            <a:gsLst>
              <a:gs pos="100000">
                <a:srgbClr val="0093DD"/>
              </a:gs>
              <a:gs pos="0">
                <a:schemeClr val="bg1">
                  <a:lumMod val="95000"/>
                </a:schemeClr>
              </a:gs>
              <a:gs pos="100000">
                <a:schemeClr val="accent1">
                  <a:tint val="23500"/>
                  <a:satMod val="160000"/>
                </a:schemeClr>
              </a:gs>
            </a:gsLst>
            <a:lin ang="5400000" scaled="0"/>
          </a:gra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nvGrpSpPr>
          <p:cNvPr id="63" name="组合 62"/>
          <p:cNvGrpSpPr/>
          <p:nvPr/>
        </p:nvGrpSpPr>
        <p:grpSpPr>
          <a:xfrm>
            <a:off x="4639321" y="3198475"/>
            <a:ext cx="1010175" cy="255953"/>
            <a:chOff x="2466960" y="1640130"/>
            <a:chExt cx="1643074" cy="416314"/>
          </a:xfrm>
          <a:gradFill>
            <a:gsLst>
              <a:gs pos="100000">
                <a:srgbClr val="33FFFF"/>
              </a:gs>
              <a:gs pos="0">
                <a:srgbClr val="CCFFFF"/>
              </a:gs>
              <a:gs pos="100000">
                <a:schemeClr val="accent1">
                  <a:tint val="23500"/>
                  <a:satMod val="160000"/>
                </a:schemeClr>
              </a:gs>
            </a:gsLst>
            <a:lin ang="5400000" scaled="0"/>
          </a:gradFill>
        </p:grpSpPr>
        <p:sp>
          <p:nvSpPr>
            <p:cNvPr id="68" name="椭圆 67"/>
            <p:cNvSpPr/>
            <p:nvPr/>
          </p:nvSpPr>
          <p:spPr>
            <a:xfrm>
              <a:off x="2466960" y="1649892"/>
              <a:ext cx="1643074" cy="406552"/>
            </a:xfrm>
            <a:prstGeom prst="ellips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69" name="直接连接符 68"/>
            <p:cNvCxnSpPr/>
            <p:nvPr/>
          </p:nvCxnSpPr>
          <p:spPr>
            <a:xfrm rot="4500000" flipH="1" flipV="1">
              <a:off x="3003058" y="1707175"/>
              <a:ext cx="108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rot="2280000" flipH="1" flipV="1">
              <a:off x="2781696" y="1731923"/>
              <a:ext cx="1368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rot="1740000" flipH="1" flipV="1">
              <a:off x="2584262" y="1780015"/>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64" idx="2"/>
              <a:endCxn id="68" idx="2"/>
            </p:cNvCxnSpPr>
            <p:nvPr/>
          </p:nvCxnSpPr>
          <p:spPr>
            <a:xfrm rot="10800000">
              <a:off x="2466960" y="1862609"/>
              <a:ext cx="209552"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rot="10800000">
              <a:off x="3889370" y="1853084"/>
              <a:ext cx="209552"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rot="1740000" flipH="1" flipV="1">
              <a:off x="3712903" y="1968219"/>
              <a:ext cx="1368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rot="2880000" flipH="1" flipV="1">
              <a:off x="3522935" y="1998150"/>
              <a:ext cx="108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rot="16200000" flipH="1">
              <a:off x="3265796" y="2013105"/>
              <a:ext cx="86678"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rot="720000" flipH="1" flipV="1">
              <a:off x="3848956" y="1918734"/>
              <a:ext cx="180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rot="17040000" flipH="1">
              <a:off x="3005278" y="2003580"/>
              <a:ext cx="86678"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rot="19020000" flipH="1">
              <a:off x="2771543" y="1978336"/>
              <a:ext cx="108000"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rot="20280000" flipH="1">
              <a:off x="2583976" y="1933320"/>
              <a:ext cx="144000"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rot="7980000" flipH="1" flipV="1">
              <a:off x="3465822" y="1711336"/>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rot="7980000" flipH="1" flipV="1">
              <a:off x="3664702" y="1735810"/>
              <a:ext cx="126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rot="8880000" flipH="1" flipV="1">
              <a:off x="3815184" y="1772329"/>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grpSp>
      <p:sp>
        <p:nvSpPr>
          <p:cNvPr id="64" name="椭圆 63"/>
          <p:cNvSpPr/>
          <p:nvPr/>
        </p:nvSpPr>
        <p:spPr>
          <a:xfrm>
            <a:off x="4768155" y="3269372"/>
            <a:ext cx="746651" cy="131762"/>
          </a:xfrm>
          <a:prstGeom prst="ellipse">
            <a:avLst/>
          </a:prstGeom>
          <a:solidFill>
            <a:schemeClr val="bg1">
              <a:lumMod val="85000"/>
            </a:schemeClr>
          </a:soli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5" name="圆柱形 64"/>
          <p:cNvSpPr/>
          <p:nvPr/>
        </p:nvSpPr>
        <p:spPr>
          <a:xfrm>
            <a:off x="5092198" y="2894782"/>
            <a:ext cx="105409" cy="445060"/>
          </a:xfrm>
          <a:prstGeom prst="can">
            <a:avLst/>
          </a:prstGeom>
          <a:gradFill flip="none" rotWithShape="1">
            <a:gsLst>
              <a:gs pos="100000">
                <a:srgbClr val="0093DD"/>
              </a:gs>
              <a:gs pos="0">
                <a:schemeClr val="bg1">
                  <a:lumMod val="95000"/>
                </a:schemeClr>
              </a:gs>
              <a:gs pos="100000">
                <a:schemeClr val="accent1">
                  <a:tint val="23500"/>
                  <a:satMod val="160000"/>
                </a:schemeClr>
              </a:gs>
            </a:gsLst>
            <a:lin ang="10800000" scaled="1"/>
            <a:tileRect/>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37" name="立方体 36"/>
          <p:cNvSpPr/>
          <p:nvPr/>
        </p:nvSpPr>
        <p:spPr>
          <a:xfrm rot="420000">
            <a:off x="5603930" y="2870373"/>
            <a:ext cx="1195187" cy="111833"/>
          </a:xfrm>
          <a:prstGeom prst="cube">
            <a:avLst>
              <a:gd name="adj" fmla="val 81000"/>
            </a:avLst>
          </a:prstGeom>
          <a:solidFill>
            <a:schemeClr val="bg1">
              <a:lumMod val="50000"/>
            </a:schemeClr>
          </a:soli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38" name="椭圆 37"/>
          <p:cNvSpPr/>
          <p:nvPr/>
        </p:nvSpPr>
        <p:spPr>
          <a:xfrm>
            <a:off x="3989294" y="2531503"/>
            <a:ext cx="2307297" cy="395286"/>
          </a:xfrm>
          <a:prstGeom prst="ellipse">
            <a:avLst/>
          </a:prstGeom>
          <a:gradFill>
            <a:gsLst>
              <a:gs pos="100000">
                <a:srgbClr val="0093DD"/>
              </a:gs>
              <a:gs pos="0">
                <a:schemeClr val="bg1">
                  <a:lumMod val="95000"/>
                </a:schemeClr>
              </a:gs>
              <a:gs pos="100000">
                <a:schemeClr val="accent1">
                  <a:tint val="23500"/>
                  <a:satMod val="160000"/>
                </a:schemeClr>
              </a:gs>
            </a:gsLst>
            <a:lin ang="5400000" scaled="0"/>
          </a:gra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nvGrpSpPr>
          <p:cNvPr id="39" name="组合 38"/>
          <p:cNvGrpSpPr/>
          <p:nvPr/>
        </p:nvGrpSpPr>
        <p:grpSpPr>
          <a:xfrm>
            <a:off x="4639321" y="2588270"/>
            <a:ext cx="1010175" cy="255953"/>
            <a:chOff x="2466960" y="1640130"/>
            <a:chExt cx="1643074" cy="416314"/>
          </a:xfrm>
          <a:gradFill>
            <a:gsLst>
              <a:gs pos="100000">
                <a:srgbClr val="33FFFF"/>
              </a:gs>
              <a:gs pos="0">
                <a:srgbClr val="CCFFFF"/>
              </a:gs>
              <a:gs pos="100000">
                <a:schemeClr val="accent1">
                  <a:tint val="23500"/>
                  <a:satMod val="160000"/>
                </a:schemeClr>
              </a:gs>
            </a:gsLst>
            <a:lin ang="5400000" scaled="0"/>
          </a:gradFill>
        </p:grpSpPr>
        <p:sp>
          <p:nvSpPr>
            <p:cNvPr id="44" name="椭圆 43"/>
            <p:cNvSpPr/>
            <p:nvPr/>
          </p:nvSpPr>
          <p:spPr>
            <a:xfrm>
              <a:off x="2466960" y="1649892"/>
              <a:ext cx="1643074" cy="406552"/>
            </a:xfrm>
            <a:prstGeom prst="ellips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45" name="直接连接符 44"/>
            <p:cNvCxnSpPr/>
            <p:nvPr/>
          </p:nvCxnSpPr>
          <p:spPr>
            <a:xfrm rot="4500000" flipH="1" flipV="1">
              <a:off x="3003058" y="1707175"/>
              <a:ext cx="108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rot="2280000" flipH="1" flipV="1">
              <a:off x="2781696" y="1731923"/>
              <a:ext cx="1368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rot="1740000" flipH="1" flipV="1">
              <a:off x="2584262" y="1780015"/>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40" idx="2"/>
              <a:endCxn id="44" idx="2"/>
            </p:cNvCxnSpPr>
            <p:nvPr/>
          </p:nvCxnSpPr>
          <p:spPr>
            <a:xfrm rot="10800000">
              <a:off x="2466960" y="1862609"/>
              <a:ext cx="209552"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rot="10800000">
              <a:off x="3889370" y="1853084"/>
              <a:ext cx="209552"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rot="1740000" flipH="1" flipV="1">
              <a:off x="3712903" y="1968219"/>
              <a:ext cx="1368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2880000" flipH="1" flipV="1">
              <a:off x="3522935" y="1998150"/>
              <a:ext cx="108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16200000" flipH="1">
              <a:off x="3265796" y="2013105"/>
              <a:ext cx="86678"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720000" flipH="1" flipV="1">
              <a:off x="3848956" y="1918734"/>
              <a:ext cx="180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rot="17040000" flipH="1">
              <a:off x="3005278" y="2003580"/>
              <a:ext cx="86678"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19020000" flipH="1">
              <a:off x="2771543" y="1978336"/>
              <a:ext cx="108000"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rot="20280000" flipH="1">
              <a:off x="2583976" y="1933320"/>
              <a:ext cx="144000"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rot="7980000" flipH="1" flipV="1">
              <a:off x="3465822" y="1711336"/>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rot="7980000" flipH="1" flipV="1">
              <a:off x="3664702" y="1735810"/>
              <a:ext cx="126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rot="8880000" flipH="1" flipV="1">
              <a:off x="3815184" y="1772329"/>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grpSp>
      <p:sp>
        <p:nvSpPr>
          <p:cNvPr id="40" name="椭圆 39"/>
          <p:cNvSpPr/>
          <p:nvPr/>
        </p:nvSpPr>
        <p:spPr>
          <a:xfrm>
            <a:off x="4768155" y="2659167"/>
            <a:ext cx="746651" cy="131762"/>
          </a:xfrm>
          <a:prstGeom prst="ellipse">
            <a:avLst/>
          </a:prstGeom>
          <a:solidFill>
            <a:schemeClr val="bg1">
              <a:lumMod val="85000"/>
            </a:schemeClr>
          </a:soli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41" name="圆柱形 40"/>
          <p:cNvSpPr/>
          <p:nvPr/>
        </p:nvSpPr>
        <p:spPr>
          <a:xfrm>
            <a:off x="5092198" y="2284578"/>
            <a:ext cx="105409" cy="445060"/>
          </a:xfrm>
          <a:prstGeom prst="can">
            <a:avLst/>
          </a:prstGeom>
          <a:gradFill flip="none" rotWithShape="1">
            <a:gsLst>
              <a:gs pos="100000">
                <a:srgbClr val="0093DD"/>
              </a:gs>
              <a:gs pos="0">
                <a:schemeClr val="bg1">
                  <a:lumMod val="95000"/>
                </a:schemeClr>
              </a:gs>
              <a:gs pos="100000">
                <a:schemeClr val="accent1">
                  <a:tint val="23500"/>
                  <a:satMod val="160000"/>
                </a:schemeClr>
              </a:gs>
            </a:gsLst>
            <a:lin ang="10800000" scaled="1"/>
            <a:tileRect/>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32" name="立方体 31"/>
          <p:cNvSpPr/>
          <p:nvPr/>
        </p:nvSpPr>
        <p:spPr>
          <a:xfrm rot="420000">
            <a:off x="5603930" y="2263883"/>
            <a:ext cx="1195187" cy="111833"/>
          </a:xfrm>
          <a:prstGeom prst="cube">
            <a:avLst>
              <a:gd name="adj" fmla="val 81000"/>
            </a:avLst>
          </a:prstGeom>
          <a:solidFill>
            <a:schemeClr val="bg1">
              <a:lumMod val="50000"/>
            </a:schemeClr>
          </a:soli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9" name="椭圆 28"/>
          <p:cNvSpPr/>
          <p:nvPr/>
        </p:nvSpPr>
        <p:spPr>
          <a:xfrm>
            <a:off x="3989294" y="1925013"/>
            <a:ext cx="2307297" cy="395286"/>
          </a:xfrm>
          <a:prstGeom prst="ellipse">
            <a:avLst/>
          </a:prstGeom>
          <a:gradFill>
            <a:gsLst>
              <a:gs pos="100000">
                <a:srgbClr val="0093DD"/>
              </a:gs>
              <a:gs pos="0">
                <a:schemeClr val="bg1">
                  <a:lumMod val="95000"/>
                </a:schemeClr>
              </a:gs>
              <a:gs pos="100000">
                <a:schemeClr val="accent1">
                  <a:tint val="23500"/>
                  <a:satMod val="160000"/>
                </a:schemeClr>
              </a:gs>
            </a:gsLst>
            <a:lin ang="5400000" scaled="0"/>
          </a:gra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nvGrpSpPr>
          <p:cNvPr id="26" name="组合 25"/>
          <p:cNvGrpSpPr/>
          <p:nvPr/>
        </p:nvGrpSpPr>
        <p:grpSpPr>
          <a:xfrm>
            <a:off x="4639321" y="1981780"/>
            <a:ext cx="1010175" cy="255953"/>
            <a:chOff x="2466960" y="1640130"/>
            <a:chExt cx="1643074" cy="416314"/>
          </a:xfrm>
          <a:gradFill>
            <a:gsLst>
              <a:gs pos="100000">
                <a:srgbClr val="33FFFF"/>
              </a:gs>
              <a:gs pos="0">
                <a:srgbClr val="CCFFFF"/>
              </a:gs>
              <a:gs pos="100000">
                <a:schemeClr val="accent1">
                  <a:tint val="23500"/>
                  <a:satMod val="160000"/>
                </a:schemeClr>
              </a:gs>
            </a:gsLst>
            <a:lin ang="5400000" scaled="0"/>
          </a:gradFill>
        </p:grpSpPr>
        <p:sp>
          <p:nvSpPr>
            <p:cNvPr id="5" name="椭圆 4"/>
            <p:cNvSpPr/>
            <p:nvPr/>
          </p:nvSpPr>
          <p:spPr>
            <a:xfrm>
              <a:off x="2466960" y="1649892"/>
              <a:ext cx="1643074" cy="406552"/>
            </a:xfrm>
            <a:prstGeom prst="ellips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7" name="直接连接符 6"/>
            <p:cNvCxnSpPr/>
            <p:nvPr/>
          </p:nvCxnSpPr>
          <p:spPr>
            <a:xfrm rot="4500000" flipH="1" flipV="1">
              <a:off x="3003058" y="1707175"/>
              <a:ext cx="108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2280000" flipH="1" flipV="1">
              <a:off x="2781696" y="1731923"/>
              <a:ext cx="1368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1740000" flipH="1" flipV="1">
              <a:off x="2584262" y="1780015"/>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4" idx="2"/>
              <a:endCxn id="5" idx="2"/>
            </p:cNvCxnSpPr>
            <p:nvPr/>
          </p:nvCxnSpPr>
          <p:spPr>
            <a:xfrm rot="10800000">
              <a:off x="2466960" y="1862609"/>
              <a:ext cx="209552"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3889370" y="1853084"/>
              <a:ext cx="209552"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740000" flipH="1" flipV="1">
              <a:off x="3712903" y="1968219"/>
              <a:ext cx="1368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rot="2880000" flipH="1" flipV="1">
              <a:off x="3522935" y="1998150"/>
              <a:ext cx="108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16200000" flipH="1">
              <a:off x="3265796" y="2013105"/>
              <a:ext cx="86678"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720000" flipH="1" flipV="1">
              <a:off x="3848956" y="1918734"/>
              <a:ext cx="180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7040000" flipH="1">
              <a:off x="3005278" y="2003580"/>
              <a:ext cx="86678"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9020000" flipH="1">
              <a:off x="2771543" y="1978336"/>
              <a:ext cx="108000"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20280000" flipH="1">
              <a:off x="2583976" y="1933320"/>
              <a:ext cx="144000" cy="0"/>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7980000" flipH="1" flipV="1">
              <a:off x="3465822" y="1711336"/>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7980000" flipH="1" flipV="1">
              <a:off x="3664702" y="1735810"/>
              <a:ext cx="126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8880000" flipH="1" flipV="1">
              <a:off x="3815184" y="1772329"/>
              <a:ext cx="144000" cy="1588"/>
            </a:xfrm>
            <a:prstGeom prst="line">
              <a:avLst/>
            </a:prstGeom>
            <a:grpFill/>
            <a:ln w="19050">
              <a:solidFill>
                <a:srgbClr val="11576A"/>
              </a:solidFill>
            </a:ln>
          </p:spPr>
          <p:style>
            <a:lnRef idx="1">
              <a:schemeClr val="accent1"/>
            </a:lnRef>
            <a:fillRef idx="0">
              <a:schemeClr val="accent1"/>
            </a:fillRef>
            <a:effectRef idx="0">
              <a:schemeClr val="accent1"/>
            </a:effectRef>
            <a:fontRef idx="minor">
              <a:schemeClr val="tx1"/>
            </a:fontRef>
          </p:style>
        </p:cxnSp>
      </p:grpSp>
      <p:sp>
        <p:nvSpPr>
          <p:cNvPr id="4" name="椭圆 3"/>
          <p:cNvSpPr/>
          <p:nvPr/>
        </p:nvSpPr>
        <p:spPr>
          <a:xfrm>
            <a:off x="4768155" y="2052677"/>
            <a:ext cx="746651" cy="131762"/>
          </a:xfrm>
          <a:prstGeom prst="ellipse">
            <a:avLst/>
          </a:prstGeom>
          <a:solidFill>
            <a:schemeClr val="bg1">
              <a:lumMod val="85000"/>
            </a:schemeClr>
          </a:soli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27" name="圆柱形 26"/>
          <p:cNvSpPr/>
          <p:nvPr/>
        </p:nvSpPr>
        <p:spPr>
          <a:xfrm>
            <a:off x="5092198" y="1678087"/>
            <a:ext cx="105409" cy="445060"/>
          </a:xfrm>
          <a:prstGeom prst="can">
            <a:avLst/>
          </a:prstGeom>
          <a:gradFill flip="none" rotWithShape="1">
            <a:gsLst>
              <a:gs pos="100000">
                <a:srgbClr val="0093DD"/>
              </a:gs>
              <a:gs pos="0">
                <a:schemeClr val="bg1">
                  <a:lumMod val="95000"/>
                </a:schemeClr>
              </a:gs>
              <a:gs pos="100000">
                <a:schemeClr val="accent1">
                  <a:tint val="23500"/>
                  <a:satMod val="160000"/>
                </a:schemeClr>
              </a:gs>
            </a:gsLst>
            <a:lin ang="10800000" scaled="1"/>
            <a:tileRect/>
          </a:gradFill>
          <a:ln w="1905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30" name="立方体 29"/>
          <p:cNvSpPr/>
          <p:nvPr/>
        </p:nvSpPr>
        <p:spPr>
          <a:xfrm rot="420000">
            <a:off x="5603930" y="2100626"/>
            <a:ext cx="1195187" cy="111833"/>
          </a:xfrm>
          <a:prstGeom prst="cube">
            <a:avLst>
              <a:gd name="adj" fmla="val 81000"/>
            </a:avLst>
          </a:prstGeom>
          <a:solidFill>
            <a:schemeClr val="bg1">
              <a:lumMod val="50000"/>
            </a:schemeClr>
          </a:soli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31" name="平行四边形 30"/>
          <p:cNvSpPr/>
          <p:nvPr/>
        </p:nvSpPr>
        <p:spPr>
          <a:xfrm rot="360000">
            <a:off x="5671986" y="2066662"/>
            <a:ext cx="219102" cy="55405"/>
          </a:xfrm>
          <a:prstGeom prst="parallelogram">
            <a:avLst>
              <a:gd name="adj" fmla="val 109448"/>
            </a:avLst>
          </a:prstGeom>
          <a:solidFill>
            <a:srgbClr val="00206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nvGrpSpPr>
          <p:cNvPr id="17" name="组合 16"/>
          <p:cNvGrpSpPr/>
          <p:nvPr/>
        </p:nvGrpSpPr>
        <p:grpSpPr>
          <a:xfrm>
            <a:off x="3746224" y="1647666"/>
            <a:ext cx="916526" cy="409117"/>
            <a:chOff x="1512488" y="790412"/>
            <a:chExt cx="916526" cy="409117"/>
          </a:xfrm>
        </p:grpSpPr>
        <p:cxnSp>
          <p:nvCxnSpPr>
            <p:cNvPr id="85" name="直接箭头连接符 84"/>
            <p:cNvCxnSpPr/>
            <p:nvPr/>
          </p:nvCxnSpPr>
          <p:spPr>
            <a:xfrm>
              <a:off x="2032755" y="936007"/>
              <a:ext cx="396259" cy="263522"/>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512488" y="790412"/>
              <a:ext cx="617477" cy="307777"/>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400" b="1" dirty="0">
                  <a:solidFill>
                    <a:srgbClr val="11576A"/>
                  </a:solidFill>
                  <a:latin typeface="微软雅黑"/>
                  <a:ea typeface="微软雅黑"/>
                </a:rPr>
                <a:t>磁道</a:t>
              </a:r>
              <a:r>
                <a:rPr lang="en-US" altLang="zh-CN" sz="1400" b="1" dirty="0">
                  <a:solidFill>
                    <a:srgbClr val="11576A"/>
                  </a:solidFill>
                  <a:latin typeface="微软雅黑"/>
                  <a:ea typeface="微软雅黑"/>
                </a:rPr>
                <a:t>t</a:t>
              </a:r>
              <a:endParaRPr lang="zh-CN" altLang="en-US" sz="1400" b="1" dirty="0">
                <a:solidFill>
                  <a:srgbClr val="11576A"/>
                </a:solidFill>
                <a:latin typeface="微软雅黑"/>
                <a:ea typeface="微软雅黑"/>
              </a:endParaRPr>
            </a:p>
          </p:txBody>
        </p:sp>
      </p:grpSp>
      <p:sp>
        <p:nvSpPr>
          <p:cNvPr id="87" name="TextBox 86"/>
          <p:cNvSpPr txBox="1"/>
          <p:nvPr/>
        </p:nvSpPr>
        <p:spPr>
          <a:xfrm>
            <a:off x="5318117" y="1628804"/>
            <a:ext cx="723275" cy="307777"/>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400" b="1" dirty="0">
                <a:solidFill>
                  <a:srgbClr val="11576A"/>
                </a:solidFill>
                <a:latin typeface="微软雅黑"/>
                <a:ea typeface="微软雅黑"/>
              </a:rPr>
              <a:t>磁盘轴</a:t>
            </a:r>
          </a:p>
        </p:txBody>
      </p:sp>
      <p:cxnSp>
        <p:nvCxnSpPr>
          <p:cNvPr id="91" name="直接连接符 90"/>
          <p:cNvCxnSpPr/>
          <p:nvPr/>
        </p:nvCxnSpPr>
        <p:spPr>
          <a:xfrm rot="5400000">
            <a:off x="4120886" y="2815892"/>
            <a:ext cx="1018122" cy="976"/>
          </a:xfrm>
          <a:prstGeom prst="line">
            <a:avLst/>
          </a:prstGeom>
          <a:ln w="28575">
            <a:solidFill>
              <a:srgbClr val="11576A"/>
            </a:solidFill>
            <a:prstDash val="sysDash"/>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rot="5400000">
            <a:off x="5137992" y="2815892"/>
            <a:ext cx="1018122" cy="976"/>
          </a:xfrm>
          <a:prstGeom prst="line">
            <a:avLst/>
          </a:prstGeom>
          <a:ln w="28575">
            <a:solidFill>
              <a:srgbClr val="11576A"/>
            </a:solidFill>
            <a:prstDash val="sysDash"/>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7119374" y="2531507"/>
            <a:ext cx="723275" cy="307777"/>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400" b="1" dirty="0">
                <a:solidFill>
                  <a:srgbClr val="11576A"/>
                </a:solidFill>
                <a:latin typeface="微软雅黑"/>
                <a:ea typeface="微软雅黑"/>
              </a:rPr>
              <a:t>磁头组</a:t>
            </a:r>
          </a:p>
        </p:txBody>
      </p:sp>
      <p:sp>
        <p:nvSpPr>
          <p:cNvPr id="96" name="任意多边形 95"/>
          <p:cNvSpPr/>
          <p:nvPr/>
        </p:nvSpPr>
        <p:spPr>
          <a:xfrm>
            <a:off x="4715455" y="2618964"/>
            <a:ext cx="189346" cy="78081"/>
          </a:xfrm>
          <a:custGeom>
            <a:avLst/>
            <a:gdLst>
              <a:gd name="connsiteX0" fmla="*/ 0 w 307975"/>
              <a:gd name="connsiteY0" fmla="*/ 50800 h 127000"/>
              <a:gd name="connsiteX1" fmla="*/ 130175 w 307975"/>
              <a:gd name="connsiteY1" fmla="*/ 127000 h 127000"/>
              <a:gd name="connsiteX2" fmla="*/ 307975 w 307975"/>
              <a:gd name="connsiteY2" fmla="*/ 85725 h 127000"/>
              <a:gd name="connsiteX3" fmla="*/ 203200 w 307975"/>
              <a:gd name="connsiteY3" fmla="*/ 0 h 127000"/>
              <a:gd name="connsiteX4" fmla="*/ 0 w 307975"/>
              <a:gd name="connsiteY4" fmla="*/ 50800 h 1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975" h="127000">
                <a:moveTo>
                  <a:pt x="0" y="50800"/>
                </a:moveTo>
                <a:lnTo>
                  <a:pt x="130175" y="127000"/>
                </a:lnTo>
                <a:lnTo>
                  <a:pt x="307975" y="85725"/>
                </a:lnTo>
                <a:lnTo>
                  <a:pt x="203200" y="0"/>
                </a:lnTo>
                <a:lnTo>
                  <a:pt x="0" y="50800"/>
                </a:lnTo>
                <a:close/>
              </a:path>
            </a:pathLst>
          </a:custGeom>
          <a:solidFill>
            <a:srgbClr val="0093DD"/>
          </a:soli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nvGrpSpPr>
          <p:cNvPr id="33" name="组合 32"/>
          <p:cNvGrpSpPr/>
          <p:nvPr/>
        </p:nvGrpSpPr>
        <p:grpSpPr>
          <a:xfrm>
            <a:off x="3774480" y="2283538"/>
            <a:ext cx="976112" cy="351041"/>
            <a:chOff x="1540744" y="1426284"/>
            <a:chExt cx="976112" cy="351041"/>
          </a:xfrm>
        </p:grpSpPr>
        <p:sp>
          <p:nvSpPr>
            <p:cNvPr id="97" name="TextBox 96"/>
            <p:cNvSpPr txBox="1"/>
            <p:nvPr/>
          </p:nvSpPr>
          <p:spPr>
            <a:xfrm>
              <a:off x="1540744" y="1426284"/>
              <a:ext cx="631904" cy="307777"/>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400" b="1" dirty="0">
                  <a:solidFill>
                    <a:srgbClr val="11576A"/>
                  </a:solidFill>
                  <a:latin typeface="微软雅黑"/>
                  <a:ea typeface="微软雅黑"/>
                </a:rPr>
                <a:t>扇区</a:t>
              </a:r>
              <a:r>
                <a:rPr lang="en-US" altLang="zh-CN" sz="1400" b="1" dirty="0">
                  <a:solidFill>
                    <a:srgbClr val="11576A"/>
                  </a:solidFill>
                  <a:latin typeface="微软雅黑"/>
                  <a:ea typeface="微软雅黑"/>
                </a:rPr>
                <a:t>s</a:t>
              </a:r>
              <a:endParaRPr lang="zh-CN" altLang="en-US" sz="1400" b="1" dirty="0">
                <a:solidFill>
                  <a:srgbClr val="11576A"/>
                </a:solidFill>
                <a:latin typeface="微软雅黑"/>
                <a:ea typeface="微软雅黑"/>
              </a:endParaRPr>
            </a:p>
          </p:txBody>
        </p:sp>
        <p:cxnSp>
          <p:nvCxnSpPr>
            <p:cNvPr id="98" name="直接箭头连接符 97"/>
            <p:cNvCxnSpPr/>
            <p:nvPr/>
          </p:nvCxnSpPr>
          <p:spPr>
            <a:xfrm>
              <a:off x="2095220" y="1580173"/>
              <a:ext cx="421636" cy="197152"/>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3781404" y="2863905"/>
            <a:ext cx="833599" cy="307777"/>
            <a:chOff x="1547664" y="2006651"/>
            <a:chExt cx="833599" cy="307777"/>
          </a:xfrm>
        </p:grpSpPr>
        <p:sp>
          <p:nvSpPr>
            <p:cNvPr id="100" name="TextBox 99"/>
            <p:cNvSpPr txBox="1"/>
            <p:nvPr/>
          </p:nvSpPr>
          <p:spPr>
            <a:xfrm>
              <a:off x="1547664" y="2006651"/>
              <a:ext cx="636713" cy="307777"/>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400" b="1" dirty="0">
                  <a:solidFill>
                    <a:srgbClr val="11576A"/>
                  </a:solidFill>
                  <a:latin typeface="微软雅黑"/>
                  <a:ea typeface="微软雅黑"/>
                </a:rPr>
                <a:t>柱面</a:t>
              </a:r>
              <a:r>
                <a:rPr lang="en-US" altLang="zh-CN" sz="1400" b="1" dirty="0">
                  <a:solidFill>
                    <a:srgbClr val="11576A"/>
                  </a:solidFill>
                  <a:latin typeface="微软雅黑"/>
                  <a:ea typeface="微软雅黑"/>
                </a:rPr>
                <a:t>c</a:t>
              </a:r>
              <a:endParaRPr lang="zh-CN" altLang="en-US" sz="1400" b="1" dirty="0">
                <a:solidFill>
                  <a:srgbClr val="11576A"/>
                </a:solidFill>
                <a:latin typeface="微软雅黑"/>
                <a:ea typeface="微软雅黑"/>
              </a:endParaRPr>
            </a:p>
          </p:txBody>
        </p:sp>
        <p:cxnSp>
          <p:nvCxnSpPr>
            <p:cNvPr id="105" name="直接箭头连接符 104"/>
            <p:cNvCxnSpPr/>
            <p:nvPr/>
          </p:nvCxnSpPr>
          <p:spPr>
            <a:xfrm>
              <a:off x="2110836" y="2160540"/>
              <a:ext cx="270427" cy="0"/>
            </a:xfrm>
            <a:prstGeom prst="straightConnector1">
              <a:avLst/>
            </a:prstGeom>
            <a:ln w="28575">
              <a:solidFill>
                <a:srgbClr val="005072"/>
              </a:solidFill>
              <a:tailEnd type="triangle"/>
            </a:ln>
          </p:spPr>
          <p:style>
            <a:lnRef idx="1">
              <a:schemeClr val="accent1"/>
            </a:lnRef>
            <a:fillRef idx="0">
              <a:schemeClr val="accent1"/>
            </a:fillRef>
            <a:effectRef idx="0">
              <a:schemeClr val="accent1"/>
            </a:effectRef>
            <a:fontRef idx="minor">
              <a:schemeClr val="tx1"/>
            </a:fontRef>
          </p:style>
        </p:cxnSp>
      </p:grpSp>
      <p:sp>
        <p:nvSpPr>
          <p:cNvPr id="106" name="TextBox 105"/>
          <p:cNvSpPr txBox="1"/>
          <p:nvPr/>
        </p:nvSpPr>
        <p:spPr>
          <a:xfrm>
            <a:off x="3823169" y="3571140"/>
            <a:ext cx="543739" cy="307777"/>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400" b="1" dirty="0">
                <a:solidFill>
                  <a:srgbClr val="11576A"/>
                </a:solidFill>
                <a:latin typeface="微软雅黑"/>
                <a:ea typeface="微软雅黑"/>
              </a:rPr>
              <a:t>盘片</a:t>
            </a:r>
          </a:p>
        </p:txBody>
      </p:sp>
      <p:cxnSp>
        <p:nvCxnSpPr>
          <p:cNvPr id="110" name="直接箭头连接符 109"/>
          <p:cNvCxnSpPr/>
          <p:nvPr/>
        </p:nvCxnSpPr>
        <p:spPr>
          <a:xfrm flipV="1">
            <a:off x="4215739" y="3401718"/>
            <a:ext cx="257666" cy="210818"/>
          </a:xfrm>
          <a:prstGeom prst="straightConnector1">
            <a:avLst/>
          </a:prstGeom>
          <a:ln w="28575">
            <a:solidFill>
              <a:srgbClr val="005072"/>
            </a:solidFill>
            <a:tailEnd type="triangle"/>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5626072" y="3652563"/>
            <a:ext cx="543739" cy="307777"/>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400" b="1" dirty="0">
                <a:solidFill>
                  <a:srgbClr val="11576A"/>
                </a:solidFill>
                <a:latin typeface="微软雅黑"/>
                <a:ea typeface="微软雅黑"/>
              </a:rPr>
              <a:t>磁头</a:t>
            </a:r>
          </a:p>
        </p:txBody>
      </p:sp>
      <p:cxnSp>
        <p:nvCxnSpPr>
          <p:cNvPr id="112" name="直接箭头连接符 111"/>
          <p:cNvCxnSpPr/>
          <p:nvPr/>
        </p:nvCxnSpPr>
        <p:spPr>
          <a:xfrm flipV="1">
            <a:off x="5963954" y="3545187"/>
            <a:ext cx="164957" cy="163000"/>
          </a:xfrm>
          <a:prstGeom prst="straightConnector1">
            <a:avLst/>
          </a:prstGeom>
          <a:ln w="28575">
            <a:solidFill>
              <a:srgbClr val="005072"/>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5854391" y="2924961"/>
            <a:ext cx="723275" cy="307777"/>
          </a:xfrm>
          <a:prstGeom prst="rect">
            <a:avLst/>
          </a:prstGeom>
          <a:noFill/>
        </p:spPr>
        <p:txBody>
          <a:bodyPr wrap="square" rtlCol="0">
            <a:spAutoFit/>
          </a:bodyPr>
          <a:lstStyle/>
          <a:p>
            <a:pPr eaLnBrk="1" fontAlgn="auto" hangingPunct="1">
              <a:lnSpc>
                <a:spcPct val="100000"/>
              </a:lnSpc>
              <a:spcBef>
                <a:spcPts val="0"/>
              </a:spcBef>
              <a:spcAft>
                <a:spcPts val="0"/>
              </a:spcAft>
              <a:buSzTx/>
              <a:buNone/>
            </a:pPr>
            <a:r>
              <a:rPr lang="zh-CN" altLang="en-US" sz="1400" b="1" dirty="0">
                <a:solidFill>
                  <a:srgbClr val="11576A"/>
                </a:solidFill>
                <a:latin typeface="微软雅黑"/>
                <a:ea typeface="微软雅黑"/>
              </a:rPr>
              <a:t>读写头</a:t>
            </a:r>
          </a:p>
        </p:txBody>
      </p:sp>
      <p:sp>
        <p:nvSpPr>
          <p:cNvPr id="119" name="任意多边形 118"/>
          <p:cNvSpPr/>
          <p:nvPr/>
        </p:nvSpPr>
        <p:spPr>
          <a:xfrm>
            <a:off x="4935642" y="3623915"/>
            <a:ext cx="405238" cy="263132"/>
          </a:xfrm>
          <a:custGeom>
            <a:avLst/>
            <a:gdLst>
              <a:gd name="connsiteX0" fmla="*/ 548640 w 659130"/>
              <a:gd name="connsiteY0" fmla="*/ 0 h 427990"/>
              <a:gd name="connsiteX1" fmla="*/ 655320 w 659130"/>
              <a:gd name="connsiteY1" fmla="*/ 152400 h 427990"/>
              <a:gd name="connsiteX2" fmla="*/ 571500 w 659130"/>
              <a:gd name="connsiteY2" fmla="*/ 342900 h 427990"/>
              <a:gd name="connsiteX3" fmla="*/ 335280 w 659130"/>
              <a:gd name="connsiteY3" fmla="*/ 426720 h 427990"/>
              <a:gd name="connsiteX4" fmla="*/ 99060 w 659130"/>
              <a:gd name="connsiteY4" fmla="*/ 350520 h 427990"/>
              <a:gd name="connsiteX5" fmla="*/ 0 w 659130"/>
              <a:gd name="connsiteY5" fmla="*/ 220980 h 42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130" h="427990">
                <a:moveTo>
                  <a:pt x="548640" y="0"/>
                </a:moveTo>
                <a:cubicBezTo>
                  <a:pt x="600075" y="47625"/>
                  <a:pt x="651510" y="95250"/>
                  <a:pt x="655320" y="152400"/>
                </a:cubicBezTo>
                <a:cubicBezTo>
                  <a:pt x="659130" y="209550"/>
                  <a:pt x="624840" y="297180"/>
                  <a:pt x="571500" y="342900"/>
                </a:cubicBezTo>
                <a:cubicBezTo>
                  <a:pt x="518160" y="388620"/>
                  <a:pt x="414020" y="425450"/>
                  <a:pt x="335280" y="426720"/>
                </a:cubicBezTo>
                <a:cubicBezTo>
                  <a:pt x="256540" y="427990"/>
                  <a:pt x="154940" y="384810"/>
                  <a:pt x="99060" y="350520"/>
                </a:cubicBezTo>
                <a:cubicBezTo>
                  <a:pt x="43180" y="316230"/>
                  <a:pt x="21590" y="268605"/>
                  <a:pt x="0" y="220980"/>
                </a:cubicBezTo>
              </a:path>
            </a:pathLst>
          </a:custGeom>
          <a:ln w="28575">
            <a:solidFill>
              <a:srgbClr val="00507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42" name="立方体 41"/>
          <p:cNvSpPr/>
          <p:nvPr/>
        </p:nvSpPr>
        <p:spPr>
          <a:xfrm rot="420000">
            <a:off x="5603930" y="2707116"/>
            <a:ext cx="1195187" cy="111833"/>
          </a:xfrm>
          <a:prstGeom prst="cube">
            <a:avLst>
              <a:gd name="adj" fmla="val 81000"/>
            </a:avLst>
          </a:prstGeom>
          <a:solidFill>
            <a:schemeClr val="bg1">
              <a:lumMod val="50000"/>
            </a:schemeClr>
          </a:soli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43" name="平行四边形 42"/>
          <p:cNvSpPr/>
          <p:nvPr/>
        </p:nvSpPr>
        <p:spPr>
          <a:xfrm rot="360000">
            <a:off x="5671986" y="2673152"/>
            <a:ext cx="219102" cy="55405"/>
          </a:xfrm>
          <a:prstGeom prst="parallelogram">
            <a:avLst>
              <a:gd name="adj" fmla="val 109448"/>
            </a:avLst>
          </a:prstGeom>
          <a:solidFill>
            <a:srgbClr val="00206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6" name="立方体 65"/>
          <p:cNvSpPr/>
          <p:nvPr/>
        </p:nvSpPr>
        <p:spPr>
          <a:xfrm rot="420000">
            <a:off x="5603930" y="3317321"/>
            <a:ext cx="1195187" cy="111833"/>
          </a:xfrm>
          <a:prstGeom prst="cube">
            <a:avLst>
              <a:gd name="adj" fmla="val 81000"/>
            </a:avLst>
          </a:prstGeom>
          <a:solidFill>
            <a:schemeClr val="bg1">
              <a:lumMod val="50000"/>
            </a:schemeClr>
          </a:solidFill>
          <a:ln w="19050">
            <a:solidFill>
              <a:srgbClr val="005072"/>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sp>
        <p:nvSpPr>
          <p:cNvPr id="67" name="平行四边形 66"/>
          <p:cNvSpPr/>
          <p:nvPr/>
        </p:nvSpPr>
        <p:spPr>
          <a:xfrm rot="360000">
            <a:off x="5671986" y="3283356"/>
            <a:ext cx="219102" cy="55405"/>
          </a:xfrm>
          <a:prstGeom prst="parallelogram">
            <a:avLst>
              <a:gd name="adj" fmla="val 109448"/>
            </a:avLst>
          </a:prstGeom>
          <a:solidFill>
            <a:srgbClr val="00206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116" name="直接箭头连接符 115"/>
          <p:cNvCxnSpPr>
            <a:endCxn id="67" idx="0"/>
          </p:cNvCxnSpPr>
          <p:nvPr/>
        </p:nvCxnSpPr>
        <p:spPr>
          <a:xfrm rot="5400000">
            <a:off x="5767205" y="3130779"/>
            <a:ext cx="182709" cy="121806"/>
          </a:xfrm>
          <a:prstGeom prst="straightConnector1">
            <a:avLst/>
          </a:prstGeom>
          <a:ln w="28575">
            <a:solidFill>
              <a:srgbClr val="005072"/>
            </a:solidFill>
            <a:tailEnd type="triangle"/>
          </a:ln>
        </p:spPr>
        <p:style>
          <a:lnRef idx="1">
            <a:schemeClr val="accent1"/>
          </a:lnRef>
          <a:fillRef idx="0">
            <a:schemeClr val="accent1"/>
          </a:fillRef>
          <a:effectRef idx="0">
            <a:schemeClr val="accent1"/>
          </a:effectRef>
          <a:fontRef idx="minor">
            <a:schemeClr val="tx1"/>
          </a:fontRef>
        </p:style>
      </p:cxnSp>
      <p:sp>
        <p:nvSpPr>
          <p:cNvPr id="92" name="立方体 91"/>
          <p:cNvSpPr/>
          <p:nvPr/>
        </p:nvSpPr>
        <p:spPr>
          <a:xfrm>
            <a:off x="6636247" y="1895738"/>
            <a:ext cx="483127" cy="1932509"/>
          </a:xfrm>
          <a:prstGeom prst="cube">
            <a:avLst/>
          </a:prstGeom>
          <a:gradFill flip="none" rotWithShape="1">
            <a:gsLst>
              <a:gs pos="100000">
                <a:srgbClr val="0093DD"/>
              </a:gs>
              <a:gs pos="32000">
                <a:schemeClr val="bg1">
                  <a:lumMod val="95000"/>
                </a:schemeClr>
              </a:gs>
              <a:gs pos="100000">
                <a:schemeClr val="accent1">
                  <a:tint val="23500"/>
                  <a:satMod val="160000"/>
                </a:schemeClr>
              </a:gs>
            </a:gsLst>
            <a:lin ang="10800000" scaled="1"/>
            <a:tileRect/>
          </a:gradFill>
          <a:ln w="19050">
            <a:solidFill>
              <a:srgbClr val="11576A"/>
            </a:solidFill>
          </a:ln>
          <a:scene3d>
            <a:camera prst="orthographicFront">
              <a:rot lat="0" lon="1080000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cxnSp>
        <p:nvCxnSpPr>
          <p:cNvPr id="95" name="直接箭头连接符 94"/>
          <p:cNvCxnSpPr/>
          <p:nvPr/>
        </p:nvCxnSpPr>
        <p:spPr>
          <a:xfrm rot="10800000">
            <a:off x="7003329" y="2675770"/>
            <a:ext cx="199198" cy="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2783760" y="3843915"/>
            <a:ext cx="5882325" cy="663620"/>
            <a:chOff x="550020" y="2986665"/>
            <a:chExt cx="5882325" cy="663620"/>
          </a:xfrm>
        </p:grpSpPr>
        <p:sp>
          <p:nvSpPr>
            <p:cNvPr id="99" name="内容占位符 2"/>
            <p:cNvSpPr txBox="1">
              <a:spLocks/>
            </p:cNvSpPr>
            <p:nvPr/>
          </p:nvSpPr>
          <p:spPr>
            <a:xfrm>
              <a:off x="860181" y="3003954"/>
              <a:ext cx="5572164" cy="646331"/>
            </a:xfrm>
            <a:prstGeom prst="rect">
              <a:avLst/>
            </a:prstGeom>
          </p:spPr>
          <p:txBody>
            <a:bodyPr wrap="square">
              <a:spAutoFit/>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sz="1800" dirty="0">
                  <a:sym typeface="宋体" charset="0"/>
                </a:rPr>
                <a:t>读取或写入时，磁头必须被定位在</a:t>
              </a:r>
              <a:r>
                <a:rPr lang="zh-CN" altLang="en-US" sz="1800" dirty="0">
                  <a:solidFill>
                    <a:srgbClr val="C00000"/>
                  </a:solidFill>
                  <a:sym typeface="宋体" charset="0"/>
                </a:rPr>
                <a:t>期望的磁道</a:t>
              </a:r>
              <a:r>
                <a:rPr lang="zh-CN" altLang="en-US" sz="1800" dirty="0">
                  <a:sym typeface="宋体" charset="0"/>
                </a:rPr>
                <a:t>，并从所</a:t>
              </a:r>
              <a:r>
                <a:rPr lang="zh-CN" altLang="en-US" sz="1800" dirty="0">
                  <a:solidFill>
                    <a:srgbClr val="C00000"/>
                  </a:solidFill>
                  <a:sym typeface="宋体" charset="0"/>
                </a:rPr>
                <a:t>期望的柱面和扇区</a:t>
              </a:r>
              <a:r>
                <a:rPr lang="zh-CN" altLang="en-US" sz="1800" dirty="0">
                  <a:sym typeface="宋体" charset="0"/>
                </a:rPr>
                <a:t>的开始</a:t>
              </a:r>
              <a:endParaRPr lang="zh-CN" altLang="en-US" sz="1800" dirty="0"/>
            </a:p>
          </p:txBody>
        </p:sp>
        <p:sp>
          <p:nvSpPr>
            <p:cNvPr id="101" name="TextBox 11"/>
            <p:cNvSpPr txBox="1"/>
            <p:nvPr/>
          </p:nvSpPr>
          <p:spPr>
            <a:xfrm>
              <a:off x="550020" y="2986665"/>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6" name="组合 5"/>
          <p:cNvGrpSpPr/>
          <p:nvPr/>
        </p:nvGrpSpPr>
        <p:grpSpPr>
          <a:xfrm>
            <a:off x="2783760" y="4437471"/>
            <a:ext cx="4418771" cy="629642"/>
            <a:chOff x="550020" y="3580221"/>
            <a:chExt cx="4418771" cy="629642"/>
          </a:xfrm>
        </p:grpSpPr>
        <p:sp>
          <p:nvSpPr>
            <p:cNvPr id="102" name="内容占位符 2"/>
            <p:cNvSpPr txBox="1">
              <a:spLocks/>
            </p:cNvSpPr>
            <p:nvPr/>
          </p:nvSpPr>
          <p:spPr>
            <a:xfrm>
              <a:off x="834569" y="3580352"/>
              <a:ext cx="1500198" cy="369332"/>
            </a:xfrm>
            <a:prstGeom prst="rect">
              <a:avLst/>
            </a:prstGeom>
          </p:spPr>
          <p:txBody>
            <a:bodyPr wrap="square">
              <a:spAutoFit/>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sz="1800" dirty="0"/>
                <a:t>寻道时间</a:t>
              </a:r>
            </a:p>
          </p:txBody>
        </p:sp>
        <p:sp>
          <p:nvSpPr>
            <p:cNvPr id="103" name="TextBox 31"/>
            <p:cNvSpPr txBox="1"/>
            <p:nvPr/>
          </p:nvSpPr>
          <p:spPr>
            <a:xfrm>
              <a:off x="550020" y="3580221"/>
              <a:ext cx="433390" cy="369332"/>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pic>
          <p:nvPicPr>
            <p:cNvPr id="104" name="图片 103" descr="小点1.png"/>
            <p:cNvPicPr>
              <a:picLocks noChangeAspect="1"/>
            </p:cNvPicPr>
            <p:nvPr/>
          </p:nvPicPr>
          <p:blipFill>
            <a:blip r:embed="rId2" cstate="print"/>
            <a:stretch>
              <a:fillRect/>
            </a:stretch>
          </p:blipFill>
          <p:spPr>
            <a:xfrm>
              <a:off x="944833" y="3973007"/>
              <a:ext cx="151066" cy="148997"/>
            </a:xfrm>
            <a:prstGeom prst="rect">
              <a:avLst/>
            </a:prstGeom>
            <a:effectLst/>
          </p:spPr>
        </p:pic>
        <p:sp>
          <p:nvSpPr>
            <p:cNvPr id="107" name="内容占位符 2"/>
            <p:cNvSpPr txBox="1">
              <a:spLocks/>
            </p:cNvSpPr>
            <p:nvPr/>
          </p:nvSpPr>
          <p:spPr>
            <a:xfrm>
              <a:off x="1077397" y="3868231"/>
              <a:ext cx="3891394" cy="341632"/>
            </a:xfrm>
            <a:prstGeom prst="rect">
              <a:avLst/>
            </a:prstGeom>
          </p:spPr>
          <p:txBody>
            <a:bodyPr wrap="square">
              <a:spAutoFit/>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sym typeface="宋体" charset="0"/>
                </a:rPr>
                <a:t>定位到期望的磁道所花费的时间</a:t>
              </a:r>
              <a:endParaRPr lang="zh-CN" altLang="en-US" sz="1800" dirty="0"/>
            </a:p>
          </p:txBody>
        </p:sp>
      </p:grpSp>
      <p:grpSp>
        <p:nvGrpSpPr>
          <p:cNvPr id="11" name="组合 10"/>
          <p:cNvGrpSpPr/>
          <p:nvPr/>
        </p:nvGrpSpPr>
        <p:grpSpPr>
          <a:xfrm>
            <a:off x="2783756" y="4971367"/>
            <a:ext cx="5572828" cy="643008"/>
            <a:chOff x="550020" y="4114117"/>
            <a:chExt cx="5572828" cy="643008"/>
          </a:xfrm>
        </p:grpSpPr>
        <p:sp>
          <p:nvSpPr>
            <p:cNvPr id="108" name="内容占位符 2"/>
            <p:cNvSpPr txBox="1">
              <a:spLocks/>
            </p:cNvSpPr>
            <p:nvPr/>
          </p:nvSpPr>
          <p:spPr>
            <a:xfrm>
              <a:off x="834569" y="4114117"/>
              <a:ext cx="1500198" cy="369332"/>
            </a:xfrm>
            <a:prstGeom prst="rect">
              <a:avLst/>
            </a:prstGeom>
          </p:spPr>
          <p:txBody>
            <a:bodyPr wrap="square">
              <a:spAutoFit/>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sz="1800" dirty="0"/>
                <a:t>旋转延迟</a:t>
              </a:r>
            </a:p>
          </p:txBody>
        </p:sp>
        <p:sp>
          <p:nvSpPr>
            <p:cNvPr id="109" name="TextBox 33"/>
            <p:cNvSpPr txBox="1"/>
            <p:nvPr/>
          </p:nvSpPr>
          <p:spPr>
            <a:xfrm>
              <a:off x="550020" y="4114117"/>
              <a:ext cx="433390" cy="369332"/>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pic>
          <p:nvPicPr>
            <p:cNvPr id="113" name="图片 112" descr="小点1.png"/>
            <p:cNvPicPr>
              <a:picLocks noChangeAspect="1"/>
            </p:cNvPicPr>
            <p:nvPr/>
          </p:nvPicPr>
          <p:blipFill>
            <a:blip r:embed="rId2" cstate="print"/>
            <a:stretch>
              <a:fillRect/>
            </a:stretch>
          </p:blipFill>
          <p:spPr>
            <a:xfrm>
              <a:off x="944833" y="4491198"/>
              <a:ext cx="151066" cy="148997"/>
            </a:xfrm>
            <a:prstGeom prst="rect">
              <a:avLst/>
            </a:prstGeom>
            <a:effectLst/>
          </p:spPr>
        </p:pic>
        <p:sp>
          <p:nvSpPr>
            <p:cNvPr id="115" name="内容占位符 2"/>
            <p:cNvSpPr txBox="1">
              <a:spLocks/>
            </p:cNvSpPr>
            <p:nvPr/>
          </p:nvSpPr>
          <p:spPr>
            <a:xfrm>
              <a:off x="1088446" y="4415493"/>
              <a:ext cx="5034402" cy="341632"/>
            </a:xfrm>
            <a:prstGeom prst="rect">
              <a:avLst/>
            </a:prstGeom>
          </p:spPr>
          <p:txBody>
            <a:bodyPr wrap="square">
              <a:spAutoFit/>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sym typeface="宋体" charset="0"/>
                </a:rPr>
                <a:t>从零扇区开始处到达目的地花费的时间</a:t>
              </a:r>
              <a:endParaRPr lang="zh-CN" altLang="en-US" sz="1800" dirty="0"/>
            </a:p>
          </p:txBody>
        </p:sp>
      </p:grpSp>
      <p:sp>
        <p:nvSpPr>
          <p:cNvPr id="118" name="内容占位符 2"/>
          <p:cNvSpPr txBox="1">
            <a:spLocks/>
          </p:cNvSpPr>
          <p:nvPr/>
        </p:nvSpPr>
        <p:spPr>
          <a:xfrm>
            <a:off x="2854304" y="5593700"/>
            <a:ext cx="5391592" cy="341632"/>
          </a:xfrm>
          <a:prstGeom prst="rect">
            <a:avLst/>
          </a:prstGeom>
        </p:spPr>
        <p:txBody>
          <a:bodyPr wrap="square">
            <a:spAutoFit/>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sz="1800" dirty="0">
                <a:solidFill>
                  <a:srgbClr val="C00000"/>
                </a:solidFill>
                <a:sym typeface="宋体" charset="0"/>
              </a:rPr>
              <a:t>平均旋转延迟时间=磁盘旋转一周时间的一半</a:t>
            </a:r>
            <a:endParaRPr lang="zh-CN" altLang="en-US" sz="1800" dirty="0">
              <a:solidFill>
                <a:srgbClr val="C00000"/>
              </a:solidFill>
            </a:endParaRPr>
          </a:p>
        </p:txBody>
      </p:sp>
      <p:sp>
        <p:nvSpPr>
          <p:cNvPr id="84" name="标题 83">
            <a:extLst>
              <a:ext uri="{FF2B5EF4-FFF2-40B4-BE49-F238E27FC236}">
                <a16:creationId xmlns:a16="http://schemas.microsoft.com/office/drawing/2014/main" id="{78BA99A3-5063-A79E-C85B-495CC52BC80C}"/>
              </a:ext>
            </a:extLst>
          </p:cNvPr>
          <p:cNvSpPr>
            <a:spLocks noGrp="1"/>
          </p:cNvSpPr>
          <p:nvPr>
            <p:ph type="title"/>
          </p:nvPr>
        </p:nvSpPr>
        <p:spPr/>
        <p:txBody>
          <a:bodyPr>
            <a:normAutofit/>
          </a:bodyPr>
          <a:lstStyle/>
          <a:p>
            <a:r>
              <a:rPr lang="zh-CN" altLang="en-US" dirty="0"/>
              <a:t>磁盘工作机制和性能参数</a:t>
            </a:r>
          </a:p>
        </p:txBody>
      </p:sp>
      <p:sp>
        <p:nvSpPr>
          <p:cNvPr id="90" name="灯片编号占位符 89">
            <a:extLst>
              <a:ext uri="{FF2B5EF4-FFF2-40B4-BE49-F238E27FC236}">
                <a16:creationId xmlns:a16="http://schemas.microsoft.com/office/drawing/2014/main" id="{A73A262B-8B11-819C-5677-364908D1B6FC}"/>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50</a:t>
            </a:fld>
            <a:endParaRPr lang="zh-CN" altLang="en-US" dirty="0"/>
          </a:p>
        </p:txBody>
      </p:sp>
    </p:spTree>
    <p:extLst>
      <p:ext uri="{BB962C8B-B14F-4D97-AF65-F5344CB8AC3E}">
        <p14:creationId xmlns:p14="http://schemas.microsoft.com/office/powerpoint/2010/main" val="178878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8"/>
                                        </p:tgtEl>
                                        <p:attrNameLst>
                                          <p:attrName>style.visibility</p:attrName>
                                        </p:attrNameLst>
                                      </p:cBhvr>
                                      <p:to>
                                        <p:strVal val="visible"/>
                                      </p:to>
                                    </p:set>
                                    <p:animEffect transition="in" filter="wipe(left)">
                                      <p:cBhvr>
                                        <p:cTn id="37"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Object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9504" y="3335731"/>
            <a:ext cx="2514600" cy="895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Oval 6"/>
          <p:cNvSpPr>
            <a:spLocks noChangeArrowheads="1"/>
          </p:cNvSpPr>
          <p:nvPr/>
        </p:nvSpPr>
        <p:spPr bwMode="auto">
          <a:xfrm>
            <a:off x="4965977" y="3348329"/>
            <a:ext cx="522097" cy="870161"/>
          </a:xfrm>
          <a:prstGeom prst="ellipse">
            <a:avLst/>
          </a:prstGeom>
          <a:noFill/>
          <a:ln w="28575">
            <a:solidFill>
              <a:srgbClr val="00507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fontAlgn="auto" hangingPunct="1">
              <a:lnSpc>
                <a:spcPct val="100000"/>
              </a:lnSpc>
              <a:spcBef>
                <a:spcPts val="0"/>
              </a:spcBef>
              <a:spcAft>
                <a:spcPts val="0"/>
              </a:spcAft>
              <a:buSzTx/>
              <a:buNone/>
            </a:pPr>
            <a:endParaRPr lang="zh-CN" altLang="en-US">
              <a:solidFill>
                <a:srgbClr val="000099"/>
              </a:solidFill>
              <a:latin typeface="MS PGothic"/>
              <a:ea typeface="MS PGothic" charset="0"/>
              <a:cs typeface="MS PGothic" charset="0"/>
            </a:endParaRPr>
          </a:p>
        </p:txBody>
      </p:sp>
      <p:grpSp>
        <p:nvGrpSpPr>
          <p:cNvPr id="5" name="组合 4"/>
          <p:cNvGrpSpPr/>
          <p:nvPr/>
        </p:nvGrpSpPr>
        <p:grpSpPr>
          <a:xfrm>
            <a:off x="2423592" y="1700812"/>
            <a:ext cx="2117948" cy="976821"/>
            <a:chOff x="262350" y="843558"/>
            <a:chExt cx="2117948" cy="976821"/>
          </a:xfrm>
        </p:grpSpPr>
        <p:sp>
          <p:nvSpPr>
            <p:cNvPr id="33" name="TextBox 32"/>
            <p:cNvSpPr txBox="1"/>
            <p:nvPr/>
          </p:nvSpPr>
          <p:spPr>
            <a:xfrm>
              <a:off x="467544" y="843558"/>
              <a:ext cx="1569660"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等待设备可用</a:t>
              </a:r>
            </a:p>
          </p:txBody>
        </p:sp>
        <p:cxnSp>
          <p:nvCxnSpPr>
            <p:cNvPr id="42" name="直接连接符 41"/>
            <p:cNvCxnSpPr/>
            <p:nvPr/>
          </p:nvCxnSpPr>
          <p:spPr>
            <a:xfrm>
              <a:off x="2380298"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262350"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1647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78126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1053297"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318087"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1581736"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1846526"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115508"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4308131" y="1696380"/>
            <a:ext cx="1569660" cy="981253"/>
            <a:chOff x="2146889" y="839126"/>
            <a:chExt cx="1569660" cy="981253"/>
          </a:xfrm>
        </p:grpSpPr>
        <p:sp>
          <p:nvSpPr>
            <p:cNvPr id="34" name="TextBox 33"/>
            <p:cNvSpPr txBox="1"/>
            <p:nvPr/>
          </p:nvSpPr>
          <p:spPr>
            <a:xfrm>
              <a:off x="2146889" y="839126"/>
              <a:ext cx="1569660"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等待通道可用</a:t>
              </a:r>
              <a:endParaRPr lang="en-US" altLang="zh-CN" b="1" dirty="0">
                <a:solidFill>
                  <a:srgbClr val="005072"/>
                </a:solidFill>
                <a:latin typeface="微软雅黑"/>
                <a:ea typeface="微软雅黑"/>
              </a:endParaRPr>
            </a:p>
          </p:txBody>
        </p:sp>
        <p:cxnSp>
          <p:nvCxnSpPr>
            <p:cNvPr id="41" name="直接连接符 40"/>
            <p:cNvCxnSpPr/>
            <p:nvPr/>
          </p:nvCxnSpPr>
          <p:spPr>
            <a:xfrm>
              <a:off x="3436035"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2653472"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2918262"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318724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5598421" y="1700812"/>
            <a:ext cx="1869927" cy="976821"/>
            <a:chOff x="3437175" y="843558"/>
            <a:chExt cx="1869927" cy="976821"/>
          </a:xfrm>
        </p:grpSpPr>
        <p:sp>
          <p:nvSpPr>
            <p:cNvPr id="35" name="TextBox 34"/>
            <p:cNvSpPr txBox="1"/>
            <p:nvPr/>
          </p:nvSpPr>
          <p:spPr>
            <a:xfrm>
              <a:off x="4026442" y="843558"/>
              <a:ext cx="659155"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寻道</a:t>
              </a:r>
            </a:p>
          </p:txBody>
        </p:sp>
        <p:cxnSp>
          <p:nvCxnSpPr>
            <p:cNvPr id="40" name="直接连接符 39"/>
            <p:cNvCxnSpPr/>
            <p:nvPr/>
          </p:nvCxnSpPr>
          <p:spPr>
            <a:xfrm>
              <a:off x="5307102"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3437175" y="1613880"/>
              <a:ext cx="1869926" cy="0"/>
            </a:xfrm>
            <a:prstGeom prst="line">
              <a:avLst/>
            </a:prstGeom>
            <a:ln w="38100">
              <a:solidFill>
                <a:srgbClr val="00507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9109506" y="1696380"/>
            <a:ext cx="1409536" cy="981253"/>
            <a:chOff x="6948264" y="839126"/>
            <a:chExt cx="1409536" cy="981253"/>
          </a:xfrm>
        </p:grpSpPr>
        <p:sp>
          <p:nvSpPr>
            <p:cNvPr id="37" name="TextBox 36"/>
            <p:cNvSpPr txBox="1"/>
            <p:nvPr/>
          </p:nvSpPr>
          <p:spPr>
            <a:xfrm>
              <a:off x="6948264" y="839126"/>
              <a:ext cx="1409536" cy="369332"/>
            </a:xfrm>
            <a:prstGeom prst="rect">
              <a:avLst/>
            </a:prstGeom>
            <a:noFill/>
            <a:ln>
              <a:noFill/>
            </a:ln>
          </p:spPr>
          <p:txBody>
            <a:bodyPr wrap="square" rtlCol="0">
              <a:spAutoFit/>
            </a:bodyPr>
            <a:lstStyle/>
            <a:p>
              <a:pPr eaLnBrk="1" fontAlgn="auto" hangingPunct="1">
                <a:lnSpc>
                  <a:spcPct val="100000"/>
                </a:lnSpc>
                <a:spcBef>
                  <a:spcPts val="0"/>
                </a:spcBef>
                <a:spcAft>
                  <a:spcPts val="0"/>
                </a:spcAft>
                <a:buSzTx/>
                <a:buNone/>
              </a:pPr>
              <a:r>
                <a:rPr lang="en-US" altLang="zh-CN" b="1" dirty="0">
                  <a:solidFill>
                    <a:srgbClr val="005072"/>
                  </a:solidFill>
                  <a:latin typeface="微软雅黑"/>
                  <a:ea typeface="微软雅黑"/>
                </a:rPr>
                <a:t>   </a:t>
              </a:r>
              <a:r>
                <a:rPr lang="zh-CN" altLang="en-US" b="1" dirty="0">
                  <a:solidFill>
                    <a:srgbClr val="005072"/>
                  </a:solidFill>
                  <a:latin typeface="微软雅黑"/>
                  <a:ea typeface="微软雅黑"/>
                </a:rPr>
                <a:t>数据传送</a:t>
              </a:r>
            </a:p>
          </p:txBody>
        </p:sp>
        <p:cxnSp>
          <p:nvCxnSpPr>
            <p:cNvPr id="38" name="直接连接符 37"/>
            <p:cNvCxnSpPr/>
            <p:nvPr/>
          </p:nvCxnSpPr>
          <p:spPr>
            <a:xfrm>
              <a:off x="8226663"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7188036" y="1613880"/>
              <a:ext cx="1008000" cy="0"/>
            </a:xfrm>
            <a:prstGeom prst="line">
              <a:avLst/>
            </a:prstGeom>
            <a:ln w="38100">
              <a:solidFill>
                <a:srgbClr val="00507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4691600" y="4265989"/>
            <a:ext cx="1107996" cy="341632"/>
          </a:xfrm>
          <a:prstGeom prst="rect">
            <a:avLst/>
          </a:prstGeom>
        </p:spPr>
        <p:txBody>
          <a:bodyPr wrap="none">
            <a:spAutoFit/>
          </a:bodyPr>
          <a:lstStyle/>
          <a:p>
            <a:pPr marL="342900" indent="-342900" eaLnBrk="1" fontAlgn="auto" hangingPunct="1">
              <a:lnSpc>
                <a:spcPct val="90000"/>
              </a:lnSpc>
              <a:spcAft>
                <a:spcPts val="0"/>
              </a:spcAft>
              <a:buClr>
                <a:srgbClr val="800080"/>
              </a:buClr>
              <a:buSzPct val="75000"/>
              <a:buNone/>
              <a:tabLst>
                <a:tab pos="911225" algn="l"/>
                <a:tab pos="1825625" algn="l"/>
                <a:tab pos="2740025" algn="l"/>
                <a:tab pos="3652838" algn="l"/>
                <a:tab pos="4567238" algn="l"/>
                <a:tab pos="5481638" algn="l"/>
                <a:tab pos="6396038" algn="l"/>
                <a:tab pos="7310438" algn="l"/>
                <a:tab pos="8224838" algn="l"/>
                <a:tab pos="9139238" algn="l"/>
                <a:tab pos="10053638" algn="l"/>
              </a:tabLst>
            </a:pPr>
            <a:r>
              <a:rPr lang="zh-CN" altLang="en-US" b="1" dirty="0">
                <a:solidFill>
                  <a:srgbClr val="005072"/>
                </a:solidFill>
                <a:latin typeface="微软雅黑"/>
                <a:ea typeface="微软雅黑"/>
                <a:sym typeface="宋体" charset="0"/>
              </a:rPr>
              <a:t>访问时间</a:t>
            </a:r>
            <a:endParaRPr lang="zh-CN" altLang="zh-CN" b="1" dirty="0">
              <a:solidFill>
                <a:srgbClr val="005072"/>
              </a:solidFill>
              <a:latin typeface="微软雅黑"/>
              <a:ea typeface="微软雅黑"/>
              <a:sym typeface="宋体" charset="0"/>
            </a:endParaRPr>
          </a:p>
        </p:txBody>
      </p:sp>
      <p:grpSp>
        <p:nvGrpSpPr>
          <p:cNvPr id="4" name="组合 3"/>
          <p:cNvGrpSpPr/>
          <p:nvPr/>
        </p:nvGrpSpPr>
        <p:grpSpPr>
          <a:xfrm>
            <a:off x="4545735" y="2759901"/>
            <a:ext cx="5854699" cy="369332"/>
            <a:chOff x="2384489" y="1902651"/>
            <a:chExt cx="5854699" cy="369332"/>
          </a:xfrm>
        </p:grpSpPr>
        <p:cxnSp>
          <p:nvCxnSpPr>
            <p:cNvPr id="56" name="直接连接符 55"/>
            <p:cNvCxnSpPr/>
            <p:nvPr/>
          </p:nvCxnSpPr>
          <p:spPr>
            <a:xfrm>
              <a:off x="6115188" y="2119077"/>
              <a:ext cx="2124000" cy="0"/>
            </a:xfrm>
            <a:prstGeom prst="line">
              <a:avLst/>
            </a:prstGeom>
            <a:ln w="57150">
              <a:solidFill>
                <a:srgbClr val="00507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TextBox 30"/>
            <p:cNvSpPr txBox="1"/>
            <p:nvPr/>
          </p:nvSpPr>
          <p:spPr>
            <a:xfrm>
              <a:off x="4855696" y="1902651"/>
              <a:ext cx="902811"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设备忙</a:t>
              </a:r>
            </a:p>
          </p:txBody>
        </p:sp>
        <p:cxnSp>
          <p:nvCxnSpPr>
            <p:cNvPr id="58" name="直接连接符 57"/>
            <p:cNvCxnSpPr/>
            <p:nvPr/>
          </p:nvCxnSpPr>
          <p:spPr>
            <a:xfrm>
              <a:off x="2384489" y="2119077"/>
              <a:ext cx="2160000" cy="0"/>
            </a:xfrm>
            <a:prstGeom prst="line">
              <a:avLst/>
            </a:prstGeom>
            <a:ln w="57150">
              <a:solidFill>
                <a:srgbClr val="00507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7526475" y="1699644"/>
            <a:ext cx="1822807" cy="977989"/>
            <a:chOff x="5365229" y="842390"/>
            <a:chExt cx="1822807" cy="977989"/>
          </a:xfrm>
        </p:grpSpPr>
        <p:sp>
          <p:nvSpPr>
            <p:cNvPr id="36" name="TextBox 35"/>
            <p:cNvSpPr txBox="1"/>
            <p:nvPr/>
          </p:nvSpPr>
          <p:spPr>
            <a:xfrm>
              <a:off x="5580112" y="842390"/>
              <a:ext cx="1440160" cy="369332"/>
            </a:xfrm>
            <a:prstGeom prst="rect">
              <a:avLst/>
            </a:prstGeom>
            <a:noFill/>
            <a:ln>
              <a:noFill/>
            </a:ln>
          </p:spPr>
          <p:txBody>
            <a:bodyPr wrap="squar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旋转延时</a:t>
              </a:r>
            </a:p>
          </p:txBody>
        </p:sp>
        <p:cxnSp>
          <p:nvCxnSpPr>
            <p:cNvPr id="39" name="直接连接符 38"/>
            <p:cNvCxnSpPr/>
            <p:nvPr/>
          </p:nvCxnSpPr>
          <p:spPr>
            <a:xfrm>
              <a:off x="7170926"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5365229" y="1604355"/>
              <a:ext cx="1822807" cy="9525"/>
            </a:xfrm>
            <a:prstGeom prst="line">
              <a:avLst/>
            </a:prstGeom>
            <a:ln w="38100">
              <a:solidFill>
                <a:srgbClr val="00507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 name="标题 10">
            <a:extLst>
              <a:ext uri="{FF2B5EF4-FFF2-40B4-BE49-F238E27FC236}">
                <a16:creationId xmlns:a16="http://schemas.microsoft.com/office/drawing/2014/main" id="{C0981182-F850-46E9-A78F-F025453F308E}"/>
              </a:ext>
            </a:extLst>
          </p:cNvPr>
          <p:cNvSpPr>
            <a:spLocks noGrp="1"/>
          </p:cNvSpPr>
          <p:nvPr>
            <p:ph type="title"/>
          </p:nvPr>
        </p:nvSpPr>
        <p:spPr/>
        <p:txBody>
          <a:bodyPr>
            <a:normAutofit/>
          </a:bodyPr>
          <a:lstStyle/>
          <a:p>
            <a:r>
              <a:rPr lang="zh-CN" altLang="en-US" dirty="0"/>
              <a:t>磁盘</a:t>
            </a:r>
            <a:r>
              <a:rPr lang="en-US" altLang="zh-CN" dirty="0"/>
              <a:t>I/O</a:t>
            </a:r>
            <a:r>
              <a:rPr lang="zh-CN" altLang="en-US" dirty="0"/>
              <a:t>传输时间</a:t>
            </a:r>
          </a:p>
        </p:txBody>
      </p:sp>
      <p:sp>
        <p:nvSpPr>
          <p:cNvPr id="13" name="灯片编号占位符 12">
            <a:extLst>
              <a:ext uri="{FF2B5EF4-FFF2-40B4-BE49-F238E27FC236}">
                <a16:creationId xmlns:a16="http://schemas.microsoft.com/office/drawing/2014/main" id="{3910C0C5-E245-68F2-0FE2-96DE5BFE479C}"/>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51</a:t>
            </a:fld>
            <a:endParaRPr lang="zh-CN" altLang="en-US" dirty="0"/>
          </a:p>
        </p:txBody>
      </p:sp>
    </p:spTree>
    <p:extLst>
      <p:ext uri="{BB962C8B-B14F-4D97-AF65-F5344CB8AC3E}">
        <p14:creationId xmlns:p14="http://schemas.microsoft.com/office/powerpoint/2010/main" val="2413426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500" fill="hold"/>
                                        <p:tgtEl>
                                          <p:spTgt spid="17"/>
                                        </p:tgtEl>
                                        <p:attrNameLst>
                                          <p:attrName>ppt_w</p:attrName>
                                        </p:attrNameLst>
                                      </p:cBhvr>
                                      <p:tavLst>
                                        <p:tav tm="0">
                                          <p:val>
                                            <p:fltVal val="0"/>
                                          </p:val>
                                        </p:tav>
                                        <p:tav tm="100000">
                                          <p:val>
                                            <p:strVal val="#ppt_w"/>
                                          </p:val>
                                        </p:tav>
                                      </p:tavLst>
                                    </p:anim>
                                    <p:anim calcmode="lin" valueType="num">
                                      <p:cBhvr>
                                        <p:cTn id="43" dur="500" fill="hold"/>
                                        <p:tgtEl>
                                          <p:spTgt spid="17"/>
                                        </p:tgtEl>
                                        <p:attrNameLst>
                                          <p:attrName>ppt_h</p:attrName>
                                        </p:attrNameLst>
                                      </p:cBhvr>
                                      <p:tavLst>
                                        <p:tav tm="0">
                                          <p:val>
                                            <p:fltVal val="0"/>
                                          </p:val>
                                        </p:tav>
                                        <p:tav tm="100000">
                                          <p:val>
                                            <p:strVal val="#ppt_h"/>
                                          </p:val>
                                        </p:tav>
                                      </p:tavLst>
                                    </p:anim>
                                    <p:animEffect transition="in" filter="fade">
                                      <p:cBhvr>
                                        <p:cTn id="44" dur="500"/>
                                        <p:tgtEl>
                                          <p:spTgt spid="17"/>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left)">
                                      <p:cBhvr>
                                        <p:cTn id="4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1075" y="3335731"/>
            <a:ext cx="2514600" cy="895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Oval 6"/>
          <p:cNvSpPr>
            <a:spLocks noChangeArrowheads="1"/>
          </p:cNvSpPr>
          <p:nvPr/>
        </p:nvSpPr>
        <p:spPr bwMode="auto">
          <a:xfrm>
            <a:off x="5760724" y="3348329"/>
            <a:ext cx="522097" cy="870161"/>
          </a:xfrm>
          <a:prstGeom prst="ellipse">
            <a:avLst/>
          </a:prstGeom>
          <a:noFill/>
          <a:ln w="28575">
            <a:solidFill>
              <a:srgbClr val="00507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fontAlgn="auto" hangingPunct="1">
              <a:lnSpc>
                <a:spcPct val="100000"/>
              </a:lnSpc>
              <a:spcBef>
                <a:spcPts val="0"/>
              </a:spcBef>
              <a:spcAft>
                <a:spcPts val="0"/>
              </a:spcAft>
              <a:buSzTx/>
              <a:buNone/>
            </a:pPr>
            <a:endParaRPr lang="zh-CN" altLang="en-US">
              <a:solidFill>
                <a:srgbClr val="000099"/>
              </a:solidFill>
              <a:latin typeface="MS PGothic"/>
              <a:ea typeface="MS PGothic" charset="0"/>
              <a:cs typeface="MS PGothic" charset="0"/>
            </a:endParaRPr>
          </a:p>
        </p:txBody>
      </p:sp>
      <p:sp>
        <p:nvSpPr>
          <p:cNvPr id="3" name="矩形 2"/>
          <p:cNvSpPr/>
          <p:nvPr/>
        </p:nvSpPr>
        <p:spPr>
          <a:xfrm>
            <a:off x="5460057" y="4243675"/>
            <a:ext cx="1107996" cy="341632"/>
          </a:xfrm>
          <a:prstGeom prst="rect">
            <a:avLst/>
          </a:prstGeom>
        </p:spPr>
        <p:txBody>
          <a:bodyPr wrap="none">
            <a:spAutoFit/>
          </a:bodyPr>
          <a:lstStyle/>
          <a:p>
            <a:pPr marL="342900" indent="-342900" eaLnBrk="1" fontAlgn="auto" hangingPunct="1">
              <a:lnSpc>
                <a:spcPct val="90000"/>
              </a:lnSpc>
              <a:spcAft>
                <a:spcPts val="0"/>
              </a:spcAft>
              <a:buClr>
                <a:srgbClr val="800080"/>
              </a:buClr>
              <a:buSzPct val="75000"/>
              <a:buNone/>
              <a:tabLst>
                <a:tab pos="911225" algn="l"/>
                <a:tab pos="1825625" algn="l"/>
                <a:tab pos="2740025" algn="l"/>
                <a:tab pos="3652838" algn="l"/>
                <a:tab pos="4567238" algn="l"/>
                <a:tab pos="5481638" algn="l"/>
                <a:tab pos="6396038" algn="l"/>
                <a:tab pos="7310438" algn="l"/>
                <a:tab pos="8224838" algn="l"/>
                <a:tab pos="9139238" algn="l"/>
                <a:tab pos="10053638" algn="l"/>
              </a:tabLst>
            </a:pPr>
            <a:r>
              <a:rPr lang="zh-CN" altLang="en-US" b="1" dirty="0">
                <a:solidFill>
                  <a:srgbClr val="005072"/>
                </a:solidFill>
                <a:latin typeface="微软雅黑"/>
                <a:ea typeface="微软雅黑"/>
                <a:sym typeface="宋体" charset="0"/>
              </a:rPr>
              <a:t>寻道时间</a:t>
            </a:r>
            <a:endParaRPr lang="zh-CN" altLang="zh-CN" b="1" dirty="0">
              <a:solidFill>
                <a:srgbClr val="005072"/>
              </a:solidFill>
              <a:latin typeface="微软雅黑"/>
              <a:ea typeface="微软雅黑"/>
              <a:sym typeface="宋体" charset="0"/>
            </a:endParaRPr>
          </a:p>
        </p:txBody>
      </p:sp>
      <p:grpSp>
        <p:nvGrpSpPr>
          <p:cNvPr id="56" name="组合 55"/>
          <p:cNvGrpSpPr/>
          <p:nvPr/>
        </p:nvGrpSpPr>
        <p:grpSpPr>
          <a:xfrm>
            <a:off x="2535163" y="1700812"/>
            <a:ext cx="2117948" cy="976821"/>
            <a:chOff x="262350" y="843558"/>
            <a:chExt cx="2117948" cy="976821"/>
          </a:xfrm>
        </p:grpSpPr>
        <p:sp>
          <p:nvSpPr>
            <p:cNvPr id="57" name="TextBox 32"/>
            <p:cNvSpPr txBox="1"/>
            <p:nvPr/>
          </p:nvSpPr>
          <p:spPr>
            <a:xfrm>
              <a:off x="467544" y="843558"/>
              <a:ext cx="1569660"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等待设备可用</a:t>
              </a:r>
            </a:p>
          </p:txBody>
        </p:sp>
        <p:cxnSp>
          <p:nvCxnSpPr>
            <p:cNvPr id="58" name="直接连接符 57"/>
            <p:cNvCxnSpPr/>
            <p:nvPr/>
          </p:nvCxnSpPr>
          <p:spPr>
            <a:xfrm>
              <a:off x="2380298"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262350"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51647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78126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1053297"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1318087"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1581736"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846526"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2115508"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4419702" y="1696380"/>
            <a:ext cx="1569660" cy="981253"/>
            <a:chOff x="2146889" y="839126"/>
            <a:chExt cx="1569660" cy="981253"/>
          </a:xfrm>
        </p:grpSpPr>
        <p:sp>
          <p:nvSpPr>
            <p:cNvPr id="68" name="TextBox 33"/>
            <p:cNvSpPr txBox="1"/>
            <p:nvPr/>
          </p:nvSpPr>
          <p:spPr>
            <a:xfrm>
              <a:off x="2146889" y="839126"/>
              <a:ext cx="1569660"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等待通道可用</a:t>
              </a:r>
              <a:endParaRPr lang="en-US" altLang="zh-CN" b="1" dirty="0">
                <a:solidFill>
                  <a:srgbClr val="005072"/>
                </a:solidFill>
                <a:latin typeface="微软雅黑"/>
                <a:ea typeface="微软雅黑"/>
              </a:endParaRPr>
            </a:p>
          </p:txBody>
        </p:sp>
        <p:cxnSp>
          <p:nvCxnSpPr>
            <p:cNvPr id="69" name="直接连接符 68"/>
            <p:cNvCxnSpPr/>
            <p:nvPr/>
          </p:nvCxnSpPr>
          <p:spPr>
            <a:xfrm>
              <a:off x="3436035"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2653472"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2918262"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318724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a:off x="5709992" y="1700812"/>
            <a:ext cx="1869927" cy="976821"/>
            <a:chOff x="3437175" y="843558"/>
            <a:chExt cx="1869927" cy="976821"/>
          </a:xfrm>
        </p:grpSpPr>
        <p:sp>
          <p:nvSpPr>
            <p:cNvPr id="74" name="TextBox 34"/>
            <p:cNvSpPr txBox="1"/>
            <p:nvPr/>
          </p:nvSpPr>
          <p:spPr>
            <a:xfrm>
              <a:off x="4026442" y="843558"/>
              <a:ext cx="659155"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寻道</a:t>
              </a:r>
            </a:p>
          </p:txBody>
        </p:sp>
        <p:cxnSp>
          <p:nvCxnSpPr>
            <p:cNvPr id="75" name="直接连接符 74"/>
            <p:cNvCxnSpPr/>
            <p:nvPr/>
          </p:nvCxnSpPr>
          <p:spPr>
            <a:xfrm>
              <a:off x="5307102"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3437175" y="1613880"/>
              <a:ext cx="1869926" cy="0"/>
            </a:xfrm>
            <a:prstGeom prst="line">
              <a:avLst/>
            </a:prstGeom>
            <a:ln w="38100">
              <a:solidFill>
                <a:srgbClr val="00507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7" name="组合 76"/>
          <p:cNvGrpSpPr/>
          <p:nvPr/>
        </p:nvGrpSpPr>
        <p:grpSpPr>
          <a:xfrm>
            <a:off x="9221077" y="1696380"/>
            <a:ext cx="1409536" cy="981253"/>
            <a:chOff x="6948264" y="839126"/>
            <a:chExt cx="1409536" cy="981253"/>
          </a:xfrm>
        </p:grpSpPr>
        <p:sp>
          <p:nvSpPr>
            <p:cNvPr id="78" name="TextBox 36"/>
            <p:cNvSpPr txBox="1"/>
            <p:nvPr/>
          </p:nvSpPr>
          <p:spPr>
            <a:xfrm>
              <a:off x="6948264" y="839126"/>
              <a:ext cx="1409536" cy="369332"/>
            </a:xfrm>
            <a:prstGeom prst="rect">
              <a:avLst/>
            </a:prstGeom>
            <a:noFill/>
            <a:ln>
              <a:noFill/>
            </a:ln>
          </p:spPr>
          <p:txBody>
            <a:bodyPr wrap="square" rtlCol="0">
              <a:spAutoFit/>
            </a:bodyPr>
            <a:lstStyle/>
            <a:p>
              <a:pPr eaLnBrk="1" fontAlgn="auto" hangingPunct="1">
                <a:lnSpc>
                  <a:spcPct val="100000"/>
                </a:lnSpc>
                <a:spcBef>
                  <a:spcPts val="0"/>
                </a:spcBef>
                <a:spcAft>
                  <a:spcPts val="0"/>
                </a:spcAft>
                <a:buSzTx/>
                <a:buNone/>
              </a:pPr>
              <a:r>
                <a:rPr lang="en-US" altLang="zh-CN" b="1" dirty="0">
                  <a:solidFill>
                    <a:srgbClr val="005072"/>
                  </a:solidFill>
                  <a:latin typeface="微软雅黑"/>
                  <a:ea typeface="微软雅黑"/>
                </a:rPr>
                <a:t>   </a:t>
              </a:r>
              <a:r>
                <a:rPr lang="zh-CN" altLang="en-US" b="1" dirty="0">
                  <a:solidFill>
                    <a:srgbClr val="005072"/>
                  </a:solidFill>
                  <a:latin typeface="微软雅黑"/>
                  <a:ea typeface="微软雅黑"/>
                </a:rPr>
                <a:t>数据传送</a:t>
              </a:r>
            </a:p>
          </p:txBody>
        </p:sp>
        <p:cxnSp>
          <p:nvCxnSpPr>
            <p:cNvPr id="79" name="直接连接符 78"/>
            <p:cNvCxnSpPr/>
            <p:nvPr/>
          </p:nvCxnSpPr>
          <p:spPr>
            <a:xfrm>
              <a:off x="8226663"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7188036" y="1613880"/>
              <a:ext cx="1008000" cy="0"/>
            </a:xfrm>
            <a:prstGeom prst="line">
              <a:avLst/>
            </a:prstGeom>
            <a:ln w="38100">
              <a:solidFill>
                <a:srgbClr val="00507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1" name="组合 80"/>
          <p:cNvGrpSpPr/>
          <p:nvPr/>
        </p:nvGrpSpPr>
        <p:grpSpPr>
          <a:xfrm>
            <a:off x="4657306" y="2759901"/>
            <a:ext cx="5854699" cy="369332"/>
            <a:chOff x="2384489" y="1902651"/>
            <a:chExt cx="5854699" cy="369332"/>
          </a:xfrm>
        </p:grpSpPr>
        <p:cxnSp>
          <p:nvCxnSpPr>
            <p:cNvPr id="82" name="直接连接符 81"/>
            <p:cNvCxnSpPr/>
            <p:nvPr/>
          </p:nvCxnSpPr>
          <p:spPr>
            <a:xfrm>
              <a:off x="6115188" y="2119077"/>
              <a:ext cx="2124000" cy="0"/>
            </a:xfrm>
            <a:prstGeom prst="line">
              <a:avLst/>
            </a:prstGeom>
            <a:ln w="57150">
              <a:solidFill>
                <a:srgbClr val="00507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3" name="TextBox 30"/>
            <p:cNvSpPr txBox="1"/>
            <p:nvPr/>
          </p:nvSpPr>
          <p:spPr>
            <a:xfrm>
              <a:off x="4855696" y="1902651"/>
              <a:ext cx="902811"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设备忙</a:t>
              </a:r>
            </a:p>
          </p:txBody>
        </p:sp>
        <p:cxnSp>
          <p:nvCxnSpPr>
            <p:cNvPr id="84" name="直接连接符 83"/>
            <p:cNvCxnSpPr/>
            <p:nvPr/>
          </p:nvCxnSpPr>
          <p:spPr>
            <a:xfrm>
              <a:off x="2384489" y="2119077"/>
              <a:ext cx="2160000" cy="0"/>
            </a:xfrm>
            <a:prstGeom prst="line">
              <a:avLst/>
            </a:prstGeom>
            <a:ln w="57150">
              <a:solidFill>
                <a:srgbClr val="00507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7638046" y="1699644"/>
            <a:ext cx="1822807" cy="977989"/>
            <a:chOff x="5365229" y="842390"/>
            <a:chExt cx="1822807" cy="977989"/>
          </a:xfrm>
        </p:grpSpPr>
        <p:sp>
          <p:nvSpPr>
            <p:cNvPr id="86" name="TextBox 35"/>
            <p:cNvSpPr txBox="1"/>
            <p:nvPr/>
          </p:nvSpPr>
          <p:spPr>
            <a:xfrm>
              <a:off x="5580112" y="842390"/>
              <a:ext cx="1440160" cy="369332"/>
            </a:xfrm>
            <a:prstGeom prst="rect">
              <a:avLst/>
            </a:prstGeom>
            <a:noFill/>
            <a:ln>
              <a:noFill/>
            </a:ln>
          </p:spPr>
          <p:txBody>
            <a:bodyPr wrap="squar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旋转延时</a:t>
              </a:r>
            </a:p>
          </p:txBody>
        </p:sp>
        <p:cxnSp>
          <p:nvCxnSpPr>
            <p:cNvPr id="87" name="直接连接符 86"/>
            <p:cNvCxnSpPr/>
            <p:nvPr/>
          </p:nvCxnSpPr>
          <p:spPr>
            <a:xfrm>
              <a:off x="7170926"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V="1">
              <a:off x="5365229" y="1604355"/>
              <a:ext cx="1822807" cy="9525"/>
            </a:xfrm>
            <a:prstGeom prst="line">
              <a:avLst/>
            </a:prstGeom>
            <a:ln w="38100">
              <a:solidFill>
                <a:srgbClr val="00507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标题 4">
            <a:extLst>
              <a:ext uri="{FF2B5EF4-FFF2-40B4-BE49-F238E27FC236}">
                <a16:creationId xmlns:a16="http://schemas.microsoft.com/office/drawing/2014/main" id="{A3A83295-4A58-7D92-9575-1882ED5D54B5}"/>
              </a:ext>
            </a:extLst>
          </p:cNvPr>
          <p:cNvSpPr>
            <a:spLocks noGrp="1"/>
          </p:cNvSpPr>
          <p:nvPr>
            <p:ph type="title"/>
          </p:nvPr>
        </p:nvSpPr>
        <p:spPr/>
        <p:txBody>
          <a:bodyPr>
            <a:normAutofit/>
          </a:bodyPr>
          <a:lstStyle/>
          <a:p>
            <a:r>
              <a:rPr lang="zh-CN" altLang="en-US" dirty="0"/>
              <a:t>磁盘</a:t>
            </a:r>
            <a:r>
              <a:rPr lang="en-US" altLang="zh-CN" dirty="0"/>
              <a:t>I/O</a:t>
            </a:r>
            <a:r>
              <a:rPr lang="zh-CN" altLang="en-US" dirty="0"/>
              <a:t>传输时间</a:t>
            </a:r>
          </a:p>
        </p:txBody>
      </p:sp>
      <p:sp>
        <p:nvSpPr>
          <p:cNvPr id="7" name="灯片编号占位符 6">
            <a:extLst>
              <a:ext uri="{FF2B5EF4-FFF2-40B4-BE49-F238E27FC236}">
                <a16:creationId xmlns:a16="http://schemas.microsoft.com/office/drawing/2014/main" id="{C06F1E5E-6074-CB82-0284-D2BD8432044C}"/>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52</a:t>
            </a:fld>
            <a:endParaRPr lang="zh-CN" altLang="en-US" dirty="0"/>
          </a:p>
        </p:txBody>
      </p:sp>
    </p:spTree>
    <p:extLst>
      <p:ext uri="{BB962C8B-B14F-4D97-AF65-F5344CB8AC3E}">
        <p14:creationId xmlns:p14="http://schemas.microsoft.com/office/powerpoint/2010/main" val="408811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1075" y="3335731"/>
            <a:ext cx="2514600" cy="895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Oval 6"/>
          <p:cNvSpPr>
            <a:spLocks noChangeArrowheads="1"/>
          </p:cNvSpPr>
          <p:nvPr/>
        </p:nvSpPr>
        <p:spPr bwMode="auto">
          <a:xfrm>
            <a:off x="6421291" y="3405851"/>
            <a:ext cx="522097" cy="870161"/>
          </a:xfrm>
          <a:prstGeom prst="ellipse">
            <a:avLst/>
          </a:prstGeom>
          <a:noFill/>
          <a:ln w="28575">
            <a:solidFill>
              <a:srgbClr val="00507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fontAlgn="auto" hangingPunct="1">
              <a:lnSpc>
                <a:spcPct val="100000"/>
              </a:lnSpc>
              <a:spcBef>
                <a:spcPts val="0"/>
              </a:spcBef>
              <a:spcAft>
                <a:spcPts val="0"/>
              </a:spcAft>
              <a:buSzTx/>
              <a:buNone/>
            </a:pPr>
            <a:endParaRPr lang="zh-CN" altLang="en-US">
              <a:solidFill>
                <a:srgbClr val="000099"/>
              </a:solidFill>
              <a:latin typeface="MS PGothic"/>
              <a:ea typeface="MS PGothic" charset="0"/>
              <a:cs typeface="MS PGothic" charset="0"/>
            </a:endParaRPr>
          </a:p>
        </p:txBody>
      </p:sp>
      <p:sp>
        <p:nvSpPr>
          <p:cNvPr id="3" name="矩形 2"/>
          <p:cNvSpPr/>
          <p:nvPr/>
        </p:nvSpPr>
        <p:spPr>
          <a:xfrm>
            <a:off x="6128337" y="4346124"/>
            <a:ext cx="1107996" cy="341632"/>
          </a:xfrm>
          <a:prstGeom prst="rect">
            <a:avLst/>
          </a:prstGeom>
        </p:spPr>
        <p:txBody>
          <a:bodyPr wrap="none">
            <a:spAutoFit/>
          </a:bodyPr>
          <a:lstStyle/>
          <a:p>
            <a:pPr marL="342900" indent="-342900" eaLnBrk="1" fontAlgn="auto" hangingPunct="1">
              <a:lnSpc>
                <a:spcPct val="90000"/>
              </a:lnSpc>
              <a:spcAft>
                <a:spcPts val="0"/>
              </a:spcAft>
              <a:buClr>
                <a:srgbClr val="800080"/>
              </a:buClr>
              <a:buSzPct val="75000"/>
              <a:buNone/>
              <a:tabLst>
                <a:tab pos="911225" algn="l"/>
                <a:tab pos="1825625" algn="l"/>
                <a:tab pos="2740025" algn="l"/>
                <a:tab pos="3652838" algn="l"/>
                <a:tab pos="4567238" algn="l"/>
                <a:tab pos="5481638" algn="l"/>
                <a:tab pos="6396038" algn="l"/>
                <a:tab pos="7310438" algn="l"/>
                <a:tab pos="8224838" algn="l"/>
                <a:tab pos="9139238" algn="l"/>
                <a:tab pos="10053638" algn="l"/>
              </a:tabLst>
            </a:pPr>
            <a:r>
              <a:rPr lang="zh-CN" altLang="en-US" b="1" dirty="0">
                <a:solidFill>
                  <a:srgbClr val="005072"/>
                </a:solidFill>
                <a:latin typeface="微软雅黑"/>
                <a:ea typeface="微软雅黑"/>
                <a:sym typeface="宋体" charset="0"/>
              </a:rPr>
              <a:t>旋转延迟</a:t>
            </a:r>
            <a:endParaRPr lang="zh-CN" altLang="zh-CN" b="1" dirty="0">
              <a:solidFill>
                <a:srgbClr val="005072"/>
              </a:solidFill>
              <a:latin typeface="微软雅黑"/>
              <a:ea typeface="微软雅黑"/>
              <a:sym typeface="宋体" charset="0"/>
            </a:endParaRPr>
          </a:p>
        </p:txBody>
      </p:sp>
      <p:sp>
        <p:nvSpPr>
          <p:cNvPr id="56" name="Text Box 13"/>
          <p:cNvSpPr txBox="1">
            <a:spLocks noChangeArrowheads="1"/>
          </p:cNvSpPr>
          <p:nvPr/>
        </p:nvSpPr>
        <p:spPr bwMode="auto">
          <a:xfrm>
            <a:off x="5679615" y="4633522"/>
            <a:ext cx="2527538"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bevel/>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sym typeface="MS PGothic" charset="0"/>
              </a:defRPr>
            </a:lvl1pPr>
            <a:lvl2pPr>
              <a:defRPr sz="2000">
                <a:solidFill>
                  <a:schemeClr val="folHlink"/>
                </a:solidFill>
                <a:latin typeface="Times New Roman" charset="0"/>
                <a:ea typeface="MS PGothic" charset="0"/>
                <a:cs typeface="MS PGothic" charset="0"/>
                <a:sym typeface="MS PGothic" charset="0"/>
              </a:defRPr>
            </a:lvl2pPr>
            <a:lvl3pPr>
              <a:defRPr sz="2400">
                <a:solidFill>
                  <a:schemeClr val="tx1"/>
                </a:solidFill>
                <a:latin typeface="Times New Roman" charset="0"/>
                <a:ea typeface="MS PGothic" charset="0"/>
                <a:cs typeface="MS PGothic" charset="0"/>
                <a:sym typeface="MS PGothic" charset="0"/>
              </a:defRPr>
            </a:lvl3pPr>
            <a:lvl4pPr>
              <a:defRPr sz="1600">
                <a:solidFill>
                  <a:schemeClr val="tx1"/>
                </a:solidFill>
                <a:latin typeface="Times New Roman" charset="0"/>
                <a:ea typeface="MS PGothic" charset="0"/>
                <a:cs typeface="MS PGothic" charset="0"/>
                <a:sym typeface="MS PGothic" charset="0"/>
              </a:defRPr>
            </a:lvl4pPr>
            <a:lvl5pPr>
              <a:defRPr sz="1400">
                <a:solidFill>
                  <a:schemeClr val="tx1"/>
                </a:solidFill>
                <a:latin typeface="Times New Roman" charset="0"/>
                <a:ea typeface="MS PGothic" charset="0"/>
                <a:cs typeface="MS PGothic" charset="0"/>
                <a:sym typeface="MS PGothic" charset="0"/>
              </a:defRPr>
            </a:lvl5pPr>
            <a:lvl6pPr eaLnBrk="0" fontAlgn="base" hangingPunct="0">
              <a:spcBef>
                <a:spcPct val="20000"/>
              </a:spcBef>
              <a:spcAft>
                <a:spcPct val="0"/>
              </a:spcAft>
              <a:buClr>
                <a:schemeClr val="tx1"/>
              </a:buClr>
              <a:buSzPct val="100000"/>
              <a:buFont typeface="Monotype Sorts" charset="0"/>
              <a:buChar char="–"/>
              <a:defRPr sz="1400">
                <a:solidFill>
                  <a:schemeClr val="tx1"/>
                </a:solidFill>
                <a:latin typeface="Times New Roman" charset="0"/>
                <a:ea typeface="MS PGothic" charset="0"/>
                <a:cs typeface="MS PGothic" charset="0"/>
                <a:sym typeface="MS PGothic" charset="0"/>
              </a:defRPr>
            </a:lvl6pPr>
            <a:lvl7pPr eaLnBrk="0" fontAlgn="base" hangingPunct="0">
              <a:spcBef>
                <a:spcPct val="20000"/>
              </a:spcBef>
              <a:spcAft>
                <a:spcPct val="0"/>
              </a:spcAft>
              <a:buClr>
                <a:schemeClr val="tx1"/>
              </a:buClr>
              <a:buSzPct val="100000"/>
              <a:buFont typeface="Monotype Sorts" charset="0"/>
              <a:buChar char="–"/>
              <a:defRPr sz="1400">
                <a:solidFill>
                  <a:schemeClr val="tx1"/>
                </a:solidFill>
                <a:latin typeface="Times New Roman" charset="0"/>
                <a:ea typeface="MS PGothic" charset="0"/>
                <a:cs typeface="MS PGothic" charset="0"/>
                <a:sym typeface="MS PGothic" charset="0"/>
              </a:defRPr>
            </a:lvl7pPr>
            <a:lvl8pPr eaLnBrk="0" fontAlgn="base" hangingPunct="0">
              <a:spcBef>
                <a:spcPct val="20000"/>
              </a:spcBef>
              <a:spcAft>
                <a:spcPct val="0"/>
              </a:spcAft>
              <a:buClr>
                <a:schemeClr val="tx1"/>
              </a:buClr>
              <a:buSzPct val="100000"/>
              <a:buFont typeface="Monotype Sorts" charset="0"/>
              <a:buChar char="–"/>
              <a:defRPr sz="1400">
                <a:solidFill>
                  <a:schemeClr val="tx1"/>
                </a:solidFill>
                <a:latin typeface="Times New Roman" charset="0"/>
                <a:ea typeface="MS PGothic" charset="0"/>
                <a:cs typeface="MS PGothic" charset="0"/>
                <a:sym typeface="MS PGothic" charset="0"/>
              </a:defRPr>
            </a:lvl8pPr>
            <a:lvl9pPr eaLnBrk="0" fontAlgn="base" hangingPunct="0">
              <a:spcBef>
                <a:spcPct val="20000"/>
              </a:spcBef>
              <a:spcAft>
                <a:spcPct val="0"/>
              </a:spcAft>
              <a:buClr>
                <a:schemeClr val="tx1"/>
              </a:buClr>
              <a:buSzPct val="100000"/>
              <a:buFont typeface="Monotype Sorts" charset="0"/>
              <a:buChar char="–"/>
              <a:defRPr sz="1400">
                <a:solidFill>
                  <a:schemeClr val="tx1"/>
                </a:solidFill>
                <a:latin typeface="Times New Roman" charset="0"/>
                <a:ea typeface="MS PGothic" charset="0"/>
                <a:cs typeface="MS PGothic" charset="0"/>
                <a:sym typeface="MS PGothic" charset="0"/>
              </a:defRPr>
            </a:lvl9pPr>
          </a:lstStyle>
          <a:p>
            <a:pPr eaLnBrk="1" fontAlgn="auto" hangingPunct="1">
              <a:lnSpc>
                <a:spcPct val="100000"/>
              </a:lnSpc>
              <a:spcBef>
                <a:spcPct val="50000"/>
              </a:spcBef>
              <a:spcAft>
                <a:spcPts val="0"/>
              </a:spcAft>
              <a:buSzTx/>
              <a:buNone/>
            </a:pPr>
            <a:r>
              <a:rPr lang="en-US" altLang="zh-CN" sz="1600" b="1" dirty="0">
                <a:solidFill>
                  <a:srgbClr val="C00000"/>
                </a:solidFill>
                <a:latin typeface="微软雅黑"/>
                <a:ea typeface="微软雅黑"/>
              </a:rPr>
              <a:t>1/r =</a:t>
            </a:r>
            <a:r>
              <a:rPr lang="zh-CN" altLang="en-US" sz="1600" b="1" dirty="0">
                <a:solidFill>
                  <a:srgbClr val="C00000"/>
                </a:solidFill>
                <a:latin typeface="微软雅黑"/>
                <a:ea typeface="微软雅黑"/>
              </a:rPr>
              <a:t>旋转一周的时间</a:t>
            </a:r>
          </a:p>
        </p:txBody>
      </p:sp>
      <p:grpSp>
        <p:nvGrpSpPr>
          <p:cNvPr id="57" name="组合 56"/>
          <p:cNvGrpSpPr/>
          <p:nvPr/>
        </p:nvGrpSpPr>
        <p:grpSpPr>
          <a:xfrm>
            <a:off x="2535163" y="1700812"/>
            <a:ext cx="2117948" cy="976821"/>
            <a:chOff x="262350" y="843558"/>
            <a:chExt cx="2117948" cy="976821"/>
          </a:xfrm>
        </p:grpSpPr>
        <p:sp>
          <p:nvSpPr>
            <p:cNvPr id="58" name="TextBox 32"/>
            <p:cNvSpPr txBox="1"/>
            <p:nvPr/>
          </p:nvSpPr>
          <p:spPr>
            <a:xfrm>
              <a:off x="467544" y="843558"/>
              <a:ext cx="1569660"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等待设备可用</a:t>
              </a:r>
            </a:p>
          </p:txBody>
        </p:sp>
        <p:cxnSp>
          <p:nvCxnSpPr>
            <p:cNvPr id="59" name="直接连接符 58"/>
            <p:cNvCxnSpPr/>
            <p:nvPr/>
          </p:nvCxnSpPr>
          <p:spPr>
            <a:xfrm>
              <a:off x="2380298"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262350"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51647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8126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1053297"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1318087"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581736"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1846526"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2115508"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4419702" y="1696380"/>
            <a:ext cx="1569660" cy="981253"/>
            <a:chOff x="2146889" y="839126"/>
            <a:chExt cx="1569660" cy="981253"/>
          </a:xfrm>
        </p:grpSpPr>
        <p:sp>
          <p:nvSpPr>
            <p:cNvPr id="69" name="TextBox 33"/>
            <p:cNvSpPr txBox="1"/>
            <p:nvPr/>
          </p:nvSpPr>
          <p:spPr>
            <a:xfrm>
              <a:off x="2146889" y="839126"/>
              <a:ext cx="1569660"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等待通道可用</a:t>
              </a:r>
              <a:endParaRPr lang="en-US" altLang="zh-CN" b="1" dirty="0">
                <a:solidFill>
                  <a:srgbClr val="005072"/>
                </a:solidFill>
                <a:latin typeface="微软雅黑"/>
                <a:ea typeface="微软雅黑"/>
              </a:endParaRPr>
            </a:p>
          </p:txBody>
        </p:sp>
        <p:cxnSp>
          <p:nvCxnSpPr>
            <p:cNvPr id="70" name="直接连接符 69"/>
            <p:cNvCxnSpPr/>
            <p:nvPr/>
          </p:nvCxnSpPr>
          <p:spPr>
            <a:xfrm>
              <a:off x="3436035"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2653472"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2918262"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318724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5709992" y="1700812"/>
            <a:ext cx="1869927" cy="976821"/>
            <a:chOff x="3437175" y="843558"/>
            <a:chExt cx="1869927" cy="976821"/>
          </a:xfrm>
        </p:grpSpPr>
        <p:sp>
          <p:nvSpPr>
            <p:cNvPr id="75" name="TextBox 34"/>
            <p:cNvSpPr txBox="1"/>
            <p:nvPr/>
          </p:nvSpPr>
          <p:spPr>
            <a:xfrm>
              <a:off x="4026442" y="843558"/>
              <a:ext cx="659155"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寻道</a:t>
              </a:r>
            </a:p>
          </p:txBody>
        </p:sp>
        <p:cxnSp>
          <p:nvCxnSpPr>
            <p:cNvPr id="76" name="直接连接符 75"/>
            <p:cNvCxnSpPr/>
            <p:nvPr/>
          </p:nvCxnSpPr>
          <p:spPr>
            <a:xfrm>
              <a:off x="5307102"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3437175" y="1613880"/>
              <a:ext cx="1869926" cy="0"/>
            </a:xfrm>
            <a:prstGeom prst="line">
              <a:avLst/>
            </a:prstGeom>
            <a:ln w="38100">
              <a:solidFill>
                <a:srgbClr val="00507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9221077" y="1696380"/>
            <a:ext cx="1409536" cy="981253"/>
            <a:chOff x="6948264" y="839126"/>
            <a:chExt cx="1409536" cy="981253"/>
          </a:xfrm>
        </p:grpSpPr>
        <p:sp>
          <p:nvSpPr>
            <p:cNvPr id="79" name="TextBox 36"/>
            <p:cNvSpPr txBox="1"/>
            <p:nvPr/>
          </p:nvSpPr>
          <p:spPr>
            <a:xfrm>
              <a:off x="6948264" y="839126"/>
              <a:ext cx="1409536" cy="369332"/>
            </a:xfrm>
            <a:prstGeom prst="rect">
              <a:avLst/>
            </a:prstGeom>
            <a:noFill/>
            <a:ln>
              <a:noFill/>
            </a:ln>
          </p:spPr>
          <p:txBody>
            <a:bodyPr wrap="square" rtlCol="0">
              <a:spAutoFit/>
            </a:bodyPr>
            <a:lstStyle/>
            <a:p>
              <a:pPr eaLnBrk="1" fontAlgn="auto" hangingPunct="1">
                <a:lnSpc>
                  <a:spcPct val="100000"/>
                </a:lnSpc>
                <a:spcBef>
                  <a:spcPts val="0"/>
                </a:spcBef>
                <a:spcAft>
                  <a:spcPts val="0"/>
                </a:spcAft>
                <a:buSzTx/>
                <a:buNone/>
              </a:pPr>
              <a:r>
                <a:rPr lang="en-US" altLang="zh-CN" b="1" dirty="0">
                  <a:solidFill>
                    <a:srgbClr val="005072"/>
                  </a:solidFill>
                  <a:latin typeface="微软雅黑"/>
                  <a:ea typeface="微软雅黑"/>
                </a:rPr>
                <a:t>   </a:t>
              </a:r>
              <a:r>
                <a:rPr lang="zh-CN" altLang="en-US" b="1" dirty="0">
                  <a:solidFill>
                    <a:srgbClr val="005072"/>
                  </a:solidFill>
                  <a:latin typeface="微软雅黑"/>
                  <a:ea typeface="微软雅黑"/>
                </a:rPr>
                <a:t>数据传送</a:t>
              </a:r>
            </a:p>
          </p:txBody>
        </p:sp>
        <p:cxnSp>
          <p:nvCxnSpPr>
            <p:cNvPr id="80" name="直接连接符 79"/>
            <p:cNvCxnSpPr/>
            <p:nvPr/>
          </p:nvCxnSpPr>
          <p:spPr>
            <a:xfrm>
              <a:off x="8226663"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7188036" y="1613880"/>
              <a:ext cx="1008000" cy="0"/>
            </a:xfrm>
            <a:prstGeom prst="line">
              <a:avLst/>
            </a:prstGeom>
            <a:ln w="38100">
              <a:solidFill>
                <a:srgbClr val="00507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4657306" y="2759901"/>
            <a:ext cx="5854699" cy="369332"/>
            <a:chOff x="2384489" y="1902651"/>
            <a:chExt cx="5854699" cy="369332"/>
          </a:xfrm>
        </p:grpSpPr>
        <p:cxnSp>
          <p:nvCxnSpPr>
            <p:cNvPr id="83" name="直接连接符 82"/>
            <p:cNvCxnSpPr/>
            <p:nvPr/>
          </p:nvCxnSpPr>
          <p:spPr>
            <a:xfrm>
              <a:off x="6115188" y="2119077"/>
              <a:ext cx="2124000" cy="0"/>
            </a:xfrm>
            <a:prstGeom prst="line">
              <a:avLst/>
            </a:prstGeom>
            <a:ln w="57150">
              <a:solidFill>
                <a:srgbClr val="00507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TextBox 30"/>
            <p:cNvSpPr txBox="1"/>
            <p:nvPr/>
          </p:nvSpPr>
          <p:spPr>
            <a:xfrm>
              <a:off x="4855696" y="1902651"/>
              <a:ext cx="902811"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设备忙</a:t>
              </a:r>
            </a:p>
          </p:txBody>
        </p:sp>
        <p:cxnSp>
          <p:nvCxnSpPr>
            <p:cNvPr id="85" name="直接连接符 84"/>
            <p:cNvCxnSpPr/>
            <p:nvPr/>
          </p:nvCxnSpPr>
          <p:spPr>
            <a:xfrm>
              <a:off x="2384489" y="2119077"/>
              <a:ext cx="2160000" cy="0"/>
            </a:xfrm>
            <a:prstGeom prst="line">
              <a:avLst/>
            </a:prstGeom>
            <a:ln w="57150">
              <a:solidFill>
                <a:srgbClr val="00507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7638046" y="1699644"/>
            <a:ext cx="1822807" cy="977989"/>
            <a:chOff x="5365229" y="842390"/>
            <a:chExt cx="1822807" cy="977989"/>
          </a:xfrm>
        </p:grpSpPr>
        <p:sp>
          <p:nvSpPr>
            <p:cNvPr id="87" name="TextBox 35"/>
            <p:cNvSpPr txBox="1"/>
            <p:nvPr/>
          </p:nvSpPr>
          <p:spPr>
            <a:xfrm>
              <a:off x="5580112" y="842390"/>
              <a:ext cx="1440160" cy="369332"/>
            </a:xfrm>
            <a:prstGeom prst="rect">
              <a:avLst/>
            </a:prstGeom>
            <a:noFill/>
            <a:ln>
              <a:noFill/>
            </a:ln>
          </p:spPr>
          <p:txBody>
            <a:bodyPr wrap="squar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旋转延时</a:t>
              </a:r>
            </a:p>
          </p:txBody>
        </p:sp>
        <p:cxnSp>
          <p:nvCxnSpPr>
            <p:cNvPr id="88" name="直接连接符 87"/>
            <p:cNvCxnSpPr/>
            <p:nvPr/>
          </p:nvCxnSpPr>
          <p:spPr>
            <a:xfrm>
              <a:off x="7170926"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5365229" y="1604355"/>
              <a:ext cx="1822807" cy="9525"/>
            </a:xfrm>
            <a:prstGeom prst="line">
              <a:avLst/>
            </a:prstGeom>
            <a:ln w="38100">
              <a:solidFill>
                <a:srgbClr val="00507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标题 4">
            <a:extLst>
              <a:ext uri="{FF2B5EF4-FFF2-40B4-BE49-F238E27FC236}">
                <a16:creationId xmlns:a16="http://schemas.microsoft.com/office/drawing/2014/main" id="{FB9AF636-1B4C-D8A5-5137-98188F0EAD87}"/>
              </a:ext>
            </a:extLst>
          </p:cNvPr>
          <p:cNvSpPr>
            <a:spLocks noGrp="1"/>
          </p:cNvSpPr>
          <p:nvPr>
            <p:ph type="title"/>
          </p:nvPr>
        </p:nvSpPr>
        <p:spPr/>
        <p:txBody>
          <a:bodyPr>
            <a:normAutofit/>
          </a:bodyPr>
          <a:lstStyle/>
          <a:p>
            <a:r>
              <a:rPr lang="zh-CN" altLang="en-US" dirty="0"/>
              <a:t>磁盘</a:t>
            </a:r>
            <a:r>
              <a:rPr lang="en-US" altLang="zh-CN" dirty="0"/>
              <a:t>I/O</a:t>
            </a:r>
            <a:r>
              <a:rPr lang="zh-CN" altLang="en-US" dirty="0"/>
              <a:t>传输时间</a:t>
            </a:r>
          </a:p>
        </p:txBody>
      </p:sp>
      <p:sp>
        <p:nvSpPr>
          <p:cNvPr id="7" name="灯片编号占位符 6">
            <a:extLst>
              <a:ext uri="{FF2B5EF4-FFF2-40B4-BE49-F238E27FC236}">
                <a16:creationId xmlns:a16="http://schemas.microsoft.com/office/drawing/2014/main" id="{7FC4F0D9-1622-0B3D-7B67-B060D407A540}"/>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53</a:t>
            </a:fld>
            <a:endParaRPr lang="zh-CN" altLang="en-US" dirty="0"/>
          </a:p>
        </p:txBody>
      </p:sp>
    </p:spTree>
    <p:extLst>
      <p:ext uri="{BB962C8B-B14F-4D97-AF65-F5344CB8AC3E}">
        <p14:creationId xmlns:p14="http://schemas.microsoft.com/office/powerpoint/2010/main" val="14786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left)">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51512" y="3335731"/>
            <a:ext cx="2514600" cy="895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Oval 6"/>
          <p:cNvSpPr>
            <a:spLocks noChangeArrowheads="1"/>
          </p:cNvSpPr>
          <p:nvPr/>
        </p:nvSpPr>
        <p:spPr bwMode="auto">
          <a:xfrm>
            <a:off x="7093286" y="3390550"/>
            <a:ext cx="522097" cy="870161"/>
          </a:xfrm>
          <a:prstGeom prst="ellipse">
            <a:avLst/>
          </a:prstGeom>
          <a:noFill/>
          <a:ln w="28575">
            <a:solidFill>
              <a:srgbClr val="00507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fontAlgn="auto" hangingPunct="1">
              <a:lnSpc>
                <a:spcPct val="100000"/>
              </a:lnSpc>
              <a:spcBef>
                <a:spcPts val="0"/>
              </a:spcBef>
              <a:spcAft>
                <a:spcPts val="0"/>
              </a:spcAft>
              <a:buSzTx/>
              <a:buNone/>
            </a:pPr>
            <a:endParaRPr lang="zh-CN" altLang="en-US">
              <a:solidFill>
                <a:srgbClr val="000099"/>
              </a:solidFill>
              <a:latin typeface="MS PGothic"/>
              <a:ea typeface="MS PGothic" charset="0"/>
              <a:cs typeface="MS PGothic" charset="0"/>
            </a:endParaRPr>
          </a:p>
        </p:txBody>
      </p:sp>
      <p:sp>
        <p:nvSpPr>
          <p:cNvPr id="3" name="矩形 2"/>
          <p:cNvSpPr/>
          <p:nvPr/>
        </p:nvSpPr>
        <p:spPr>
          <a:xfrm>
            <a:off x="6803849" y="4290716"/>
            <a:ext cx="1107996" cy="341632"/>
          </a:xfrm>
          <a:prstGeom prst="rect">
            <a:avLst/>
          </a:prstGeom>
        </p:spPr>
        <p:txBody>
          <a:bodyPr wrap="none">
            <a:spAutoFit/>
          </a:bodyPr>
          <a:lstStyle/>
          <a:p>
            <a:pPr marL="342900" indent="-342900" eaLnBrk="1" fontAlgn="auto" hangingPunct="1">
              <a:lnSpc>
                <a:spcPct val="90000"/>
              </a:lnSpc>
              <a:spcAft>
                <a:spcPts val="0"/>
              </a:spcAft>
              <a:buClr>
                <a:srgbClr val="800080"/>
              </a:buClr>
              <a:buSzPct val="75000"/>
              <a:buNone/>
              <a:tabLst>
                <a:tab pos="911225" algn="l"/>
                <a:tab pos="1825625" algn="l"/>
                <a:tab pos="2740025" algn="l"/>
                <a:tab pos="3652838" algn="l"/>
                <a:tab pos="4567238" algn="l"/>
                <a:tab pos="5481638" algn="l"/>
                <a:tab pos="6396038" algn="l"/>
                <a:tab pos="7310438" algn="l"/>
                <a:tab pos="8224838" algn="l"/>
                <a:tab pos="9139238" algn="l"/>
                <a:tab pos="10053638" algn="l"/>
              </a:tabLst>
            </a:pPr>
            <a:r>
              <a:rPr lang="zh-CN" altLang="en-US" b="1" dirty="0">
                <a:solidFill>
                  <a:srgbClr val="005072"/>
                </a:solidFill>
                <a:latin typeface="微软雅黑"/>
                <a:ea typeface="微软雅黑"/>
                <a:sym typeface="宋体" charset="0"/>
              </a:rPr>
              <a:t>传输时间</a:t>
            </a:r>
            <a:endParaRPr lang="zh-CN" altLang="zh-CN" b="1" dirty="0">
              <a:solidFill>
                <a:srgbClr val="005072"/>
              </a:solidFill>
              <a:latin typeface="微软雅黑"/>
              <a:ea typeface="微软雅黑"/>
              <a:sym typeface="宋体" charset="0"/>
            </a:endParaRPr>
          </a:p>
        </p:txBody>
      </p:sp>
      <p:sp>
        <p:nvSpPr>
          <p:cNvPr id="56" name="Text Box 13"/>
          <p:cNvSpPr txBox="1">
            <a:spLocks noChangeArrowheads="1"/>
          </p:cNvSpPr>
          <p:nvPr/>
        </p:nvSpPr>
        <p:spPr bwMode="auto">
          <a:xfrm>
            <a:off x="6398911" y="4632348"/>
            <a:ext cx="2527538" cy="3139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bevel/>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sym typeface="MS PGothic" charset="0"/>
              </a:defRPr>
            </a:lvl1pPr>
            <a:lvl2pPr>
              <a:defRPr sz="2000">
                <a:solidFill>
                  <a:schemeClr val="folHlink"/>
                </a:solidFill>
                <a:latin typeface="Times New Roman" charset="0"/>
                <a:ea typeface="MS PGothic" charset="0"/>
                <a:cs typeface="MS PGothic" charset="0"/>
                <a:sym typeface="MS PGothic" charset="0"/>
              </a:defRPr>
            </a:lvl2pPr>
            <a:lvl3pPr>
              <a:defRPr sz="2400">
                <a:solidFill>
                  <a:schemeClr val="tx1"/>
                </a:solidFill>
                <a:latin typeface="Times New Roman" charset="0"/>
                <a:ea typeface="MS PGothic" charset="0"/>
                <a:cs typeface="MS PGothic" charset="0"/>
                <a:sym typeface="MS PGothic" charset="0"/>
              </a:defRPr>
            </a:lvl3pPr>
            <a:lvl4pPr>
              <a:defRPr sz="1600">
                <a:solidFill>
                  <a:schemeClr val="tx1"/>
                </a:solidFill>
                <a:latin typeface="Times New Roman" charset="0"/>
                <a:ea typeface="MS PGothic" charset="0"/>
                <a:cs typeface="MS PGothic" charset="0"/>
                <a:sym typeface="MS PGothic" charset="0"/>
              </a:defRPr>
            </a:lvl4pPr>
            <a:lvl5pPr>
              <a:defRPr sz="1400">
                <a:solidFill>
                  <a:schemeClr val="tx1"/>
                </a:solidFill>
                <a:latin typeface="Times New Roman" charset="0"/>
                <a:ea typeface="MS PGothic" charset="0"/>
                <a:cs typeface="MS PGothic" charset="0"/>
                <a:sym typeface="MS PGothic" charset="0"/>
              </a:defRPr>
            </a:lvl5pPr>
            <a:lvl6pPr eaLnBrk="0" fontAlgn="base" hangingPunct="0">
              <a:spcBef>
                <a:spcPct val="20000"/>
              </a:spcBef>
              <a:spcAft>
                <a:spcPct val="0"/>
              </a:spcAft>
              <a:buClr>
                <a:schemeClr val="tx1"/>
              </a:buClr>
              <a:buSzPct val="100000"/>
              <a:buFont typeface="Monotype Sorts" charset="0"/>
              <a:buChar char="–"/>
              <a:defRPr sz="1400">
                <a:solidFill>
                  <a:schemeClr val="tx1"/>
                </a:solidFill>
                <a:latin typeface="Times New Roman" charset="0"/>
                <a:ea typeface="MS PGothic" charset="0"/>
                <a:cs typeface="MS PGothic" charset="0"/>
                <a:sym typeface="MS PGothic" charset="0"/>
              </a:defRPr>
            </a:lvl6pPr>
            <a:lvl7pPr eaLnBrk="0" fontAlgn="base" hangingPunct="0">
              <a:spcBef>
                <a:spcPct val="20000"/>
              </a:spcBef>
              <a:spcAft>
                <a:spcPct val="0"/>
              </a:spcAft>
              <a:buClr>
                <a:schemeClr val="tx1"/>
              </a:buClr>
              <a:buSzPct val="100000"/>
              <a:buFont typeface="Monotype Sorts" charset="0"/>
              <a:buChar char="–"/>
              <a:defRPr sz="1400">
                <a:solidFill>
                  <a:schemeClr val="tx1"/>
                </a:solidFill>
                <a:latin typeface="Times New Roman" charset="0"/>
                <a:ea typeface="MS PGothic" charset="0"/>
                <a:cs typeface="MS PGothic" charset="0"/>
                <a:sym typeface="MS PGothic" charset="0"/>
              </a:defRPr>
            </a:lvl7pPr>
            <a:lvl8pPr eaLnBrk="0" fontAlgn="base" hangingPunct="0">
              <a:spcBef>
                <a:spcPct val="20000"/>
              </a:spcBef>
              <a:spcAft>
                <a:spcPct val="0"/>
              </a:spcAft>
              <a:buClr>
                <a:schemeClr val="tx1"/>
              </a:buClr>
              <a:buSzPct val="100000"/>
              <a:buFont typeface="Monotype Sorts" charset="0"/>
              <a:buChar char="–"/>
              <a:defRPr sz="1400">
                <a:solidFill>
                  <a:schemeClr val="tx1"/>
                </a:solidFill>
                <a:latin typeface="Times New Roman" charset="0"/>
                <a:ea typeface="MS PGothic" charset="0"/>
                <a:cs typeface="MS PGothic" charset="0"/>
                <a:sym typeface="MS PGothic" charset="0"/>
              </a:defRPr>
            </a:lvl8pPr>
            <a:lvl9pPr eaLnBrk="0" fontAlgn="base" hangingPunct="0">
              <a:spcBef>
                <a:spcPct val="20000"/>
              </a:spcBef>
              <a:spcAft>
                <a:spcPct val="0"/>
              </a:spcAft>
              <a:buClr>
                <a:schemeClr val="tx1"/>
              </a:buClr>
              <a:buSzPct val="100000"/>
              <a:buFont typeface="Monotype Sorts" charset="0"/>
              <a:buChar char="–"/>
              <a:defRPr sz="1400">
                <a:solidFill>
                  <a:schemeClr val="tx1"/>
                </a:solidFill>
                <a:latin typeface="Times New Roman" charset="0"/>
                <a:ea typeface="MS PGothic" charset="0"/>
                <a:cs typeface="MS PGothic" charset="0"/>
                <a:sym typeface="MS PGothic" charset="0"/>
              </a:defRPr>
            </a:lvl9pPr>
          </a:lstStyle>
          <a:p>
            <a:pPr marL="342900" indent="-342900" eaLnBrk="1" fontAlgn="auto" hangingPunct="1">
              <a:lnSpc>
                <a:spcPct val="90000"/>
              </a:lnSpc>
              <a:spcAft>
                <a:spcPts val="0"/>
              </a:spcAft>
              <a:buClr>
                <a:srgbClr val="800080"/>
              </a:buClr>
              <a:buSzPct val="75000"/>
              <a:buNone/>
              <a:tabLst>
                <a:tab pos="911225" algn="l"/>
                <a:tab pos="1825625" algn="l"/>
                <a:tab pos="2740025" algn="l"/>
                <a:tab pos="3652838" algn="l"/>
                <a:tab pos="4567238" algn="l"/>
                <a:tab pos="5481638" algn="l"/>
                <a:tab pos="6396038" algn="l"/>
                <a:tab pos="7310438" algn="l"/>
                <a:tab pos="8224838" algn="l"/>
                <a:tab pos="9139238" algn="l"/>
                <a:tab pos="10053638" algn="l"/>
              </a:tabLst>
            </a:pPr>
            <a:r>
              <a:rPr lang="zh-CN" altLang="zh-CN" sz="1600" b="1" dirty="0">
                <a:solidFill>
                  <a:srgbClr val="C00000"/>
                </a:solidFill>
                <a:latin typeface="微软雅黑"/>
                <a:ea typeface="微软雅黑"/>
                <a:sym typeface="宋体" charset="0"/>
              </a:rPr>
              <a:t>b = </a:t>
            </a:r>
            <a:r>
              <a:rPr lang="zh-CN" altLang="en-US" sz="1600" b="1" dirty="0">
                <a:solidFill>
                  <a:srgbClr val="C00000"/>
                </a:solidFill>
                <a:latin typeface="微软雅黑"/>
                <a:ea typeface="微软雅黑"/>
                <a:sym typeface="宋体" charset="0"/>
              </a:rPr>
              <a:t>传输的比特数</a:t>
            </a:r>
            <a:endParaRPr lang="en-US" altLang="zh-CN" sz="1600" b="1" dirty="0">
              <a:solidFill>
                <a:srgbClr val="C00000"/>
              </a:solidFill>
              <a:latin typeface="微软雅黑"/>
              <a:ea typeface="微软雅黑"/>
              <a:sym typeface="宋体" charset="0"/>
            </a:endParaRPr>
          </a:p>
        </p:txBody>
      </p:sp>
      <p:sp>
        <p:nvSpPr>
          <p:cNvPr id="4" name="矩形 3"/>
          <p:cNvSpPr/>
          <p:nvPr/>
        </p:nvSpPr>
        <p:spPr>
          <a:xfrm>
            <a:off x="6381736" y="4890717"/>
            <a:ext cx="2073003" cy="313932"/>
          </a:xfrm>
          <a:prstGeom prst="rect">
            <a:avLst/>
          </a:prstGeom>
        </p:spPr>
        <p:txBody>
          <a:bodyPr wrap="none">
            <a:spAutoFit/>
          </a:bodyPr>
          <a:lstStyle/>
          <a:p>
            <a:pPr marL="342900" indent="-342900" eaLnBrk="1" fontAlgn="auto" hangingPunct="1">
              <a:lnSpc>
                <a:spcPct val="90000"/>
              </a:lnSpc>
              <a:spcAft>
                <a:spcPts val="0"/>
              </a:spcAft>
              <a:buClr>
                <a:srgbClr val="800080"/>
              </a:buClr>
              <a:buSzPct val="75000"/>
              <a:buNone/>
              <a:tabLst>
                <a:tab pos="911225" algn="l"/>
                <a:tab pos="1825625" algn="l"/>
                <a:tab pos="2740025" algn="l"/>
                <a:tab pos="3652838" algn="l"/>
                <a:tab pos="4567238" algn="l"/>
                <a:tab pos="5481638" algn="l"/>
                <a:tab pos="6396038" algn="l"/>
                <a:tab pos="7310438" algn="l"/>
                <a:tab pos="8224838" algn="l"/>
                <a:tab pos="9139238" algn="l"/>
                <a:tab pos="10053638" algn="l"/>
              </a:tabLst>
            </a:pPr>
            <a:r>
              <a:rPr lang="zh-CN" altLang="zh-CN" sz="1600" b="1" dirty="0">
                <a:solidFill>
                  <a:srgbClr val="C00000"/>
                </a:solidFill>
                <a:latin typeface="微软雅黑"/>
                <a:ea typeface="微软雅黑"/>
                <a:sym typeface="宋体" charset="0"/>
              </a:rPr>
              <a:t>N = </a:t>
            </a:r>
            <a:r>
              <a:rPr lang="zh-CN" altLang="en-US" sz="1600" b="1" dirty="0">
                <a:solidFill>
                  <a:srgbClr val="C00000"/>
                </a:solidFill>
                <a:latin typeface="微软雅黑"/>
                <a:ea typeface="微软雅黑"/>
                <a:sym typeface="宋体" charset="0"/>
              </a:rPr>
              <a:t>磁道上的比特数</a:t>
            </a:r>
            <a:endParaRPr lang="en-US" altLang="zh-CN" sz="1600" b="1" dirty="0">
              <a:solidFill>
                <a:srgbClr val="C00000"/>
              </a:solidFill>
              <a:latin typeface="微软雅黑"/>
              <a:ea typeface="微软雅黑"/>
              <a:sym typeface="宋体" charset="0"/>
            </a:endParaRPr>
          </a:p>
        </p:txBody>
      </p:sp>
      <p:sp>
        <p:nvSpPr>
          <p:cNvPr id="5" name="矩形 4"/>
          <p:cNvSpPr/>
          <p:nvPr/>
        </p:nvSpPr>
        <p:spPr>
          <a:xfrm>
            <a:off x="6464822" y="5151613"/>
            <a:ext cx="1369286" cy="313932"/>
          </a:xfrm>
          <a:prstGeom prst="rect">
            <a:avLst/>
          </a:prstGeom>
        </p:spPr>
        <p:txBody>
          <a:bodyPr wrap="none">
            <a:spAutoFit/>
          </a:bodyPr>
          <a:lstStyle/>
          <a:p>
            <a:pPr marL="342900" indent="-342900" eaLnBrk="1" fontAlgn="auto" hangingPunct="1">
              <a:lnSpc>
                <a:spcPct val="90000"/>
              </a:lnSpc>
              <a:spcAft>
                <a:spcPts val="0"/>
              </a:spcAft>
              <a:buClr>
                <a:srgbClr val="800080"/>
              </a:buClr>
              <a:buSzPct val="75000"/>
              <a:buNone/>
              <a:tabLst>
                <a:tab pos="911225" algn="l"/>
                <a:tab pos="1825625" algn="l"/>
                <a:tab pos="2740025" algn="l"/>
                <a:tab pos="3652838" algn="l"/>
                <a:tab pos="4567238" algn="l"/>
                <a:tab pos="5481638" algn="l"/>
                <a:tab pos="6396038" algn="l"/>
                <a:tab pos="7310438" algn="l"/>
                <a:tab pos="8224838" algn="l"/>
                <a:tab pos="9139238" algn="l"/>
                <a:tab pos="10053638" algn="l"/>
              </a:tabLst>
            </a:pPr>
            <a:r>
              <a:rPr lang="zh-CN" altLang="zh-CN" sz="1600" b="1" dirty="0">
                <a:solidFill>
                  <a:srgbClr val="C00000"/>
                </a:solidFill>
                <a:latin typeface="微软雅黑"/>
                <a:ea typeface="微软雅黑"/>
                <a:sym typeface="宋体" charset="0"/>
              </a:rPr>
              <a:t>r = </a:t>
            </a:r>
            <a:r>
              <a:rPr lang="zh-CN" altLang="en-US" sz="1600" b="1" dirty="0">
                <a:solidFill>
                  <a:srgbClr val="C00000"/>
                </a:solidFill>
                <a:latin typeface="微软雅黑"/>
                <a:ea typeface="微软雅黑"/>
                <a:sym typeface="宋体" charset="0"/>
              </a:rPr>
              <a:t>磁盘转数</a:t>
            </a:r>
            <a:endParaRPr lang="zh-CN" altLang="zh-CN" sz="1400" b="1" dirty="0">
              <a:solidFill>
                <a:srgbClr val="C00000"/>
              </a:solidFill>
              <a:latin typeface="微软雅黑"/>
              <a:ea typeface="微软雅黑"/>
              <a:cs typeface="MS PGothic" charset="0"/>
            </a:endParaRPr>
          </a:p>
        </p:txBody>
      </p:sp>
      <p:grpSp>
        <p:nvGrpSpPr>
          <p:cNvPr id="57" name="组合 56"/>
          <p:cNvGrpSpPr/>
          <p:nvPr/>
        </p:nvGrpSpPr>
        <p:grpSpPr>
          <a:xfrm>
            <a:off x="2495600" y="1700812"/>
            <a:ext cx="2117948" cy="976821"/>
            <a:chOff x="262350" y="843558"/>
            <a:chExt cx="2117948" cy="976821"/>
          </a:xfrm>
        </p:grpSpPr>
        <p:sp>
          <p:nvSpPr>
            <p:cNvPr id="58" name="TextBox 32"/>
            <p:cNvSpPr txBox="1"/>
            <p:nvPr/>
          </p:nvSpPr>
          <p:spPr>
            <a:xfrm>
              <a:off x="467544" y="843558"/>
              <a:ext cx="1569660"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等待设备可用</a:t>
              </a:r>
            </a:p>
          </p:txBody>
        </p:sp>
        <p:cxnSp>
          <p:nvCxnSpPr>
            <p:cNvPr id="59" name="直接连接符 58"/>
            <p:cNvCxnSpPr/>
            <p:nvPr/>
          </p:nvCxnSpPr>
          <p:spPr>
            <a:xfrm>
              <a:off x="2380298"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262350"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51647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8126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1053297"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1318087"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581736"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1846526"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2115508"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4380139" y="1696380"/>
            <a:ext cx="1569660" cy="981253"/>
            <a:chOff x="2146889" y="839126"/>
            <a:chExt cx="1569660" cy="981253"/>
          </a:xfrm>
        </p:grpSpPr>
        <p:sp>
          <p:nvSpPr>
            <p:cNvPr id="69" name="TextBox 33"/>
            <p:cNvSpPr txBox="1"/>
            <p:nvPr/>
          </p:nvSpPr>
          <p:spPr>
            <a:xfrm>
              <a:off x="2146889" y="839126"/>
              <a:ext cx="1569660"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等待通道可用</a:t>
              </a:r>
              <a:endParaRPr lang="en-US" altLang="zh-CN" b="1" dirty="0">
                <a:solidFill>
                  <a:srgbClr val="005072"/>
                </a:solidFill>
                <a:latin typeface="微软雅黑"/>
                <a:ea typeface="微软雅黑"/>
              </a:endParaRPr>
            </a:p>
          </p:txBody>
        </p:sp>
        <p:cxnSp>
          <p:nvCxnSpPr>
            <p:cNvPr id="70" name="直接连接符 69"/>
            <p:cNvCxnSpPr/>
            <p:nvPr/>
          </p:nvCxnSpPr>
          <p:spPr>
            <a:xfrm>
              <a:off x="3436035"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2653472"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2918262"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3187244" y="147732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5670429" y="1700812"/>
            <a:ext cx="1869927" cy="976821"/>
            <a:chOff x="3437175" y="843558"/>
            <a:chExt cx="1869927" cy="976821"/>
          </a:xfrm>
        </p:grpSpPr>
        <p:sp>
          <p:nvSpPr>
            <p:cNvPr id="75" name="TextBox 34"/>
            <p:cNvSpPr txBox="1"/>
            <p:nvPr/>
          </p:nvSpPr>
          <p:spPr>
            <a:xfrm>
              <a:off x="4026442" y="843558"/>
              <a:ext cx="659155"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寻道</a:t>
              </a:r>
            </a:p>
          </p:txBody>
        </p:sp>
        <p:cxnSp>
          <p:nvCxnSpPr>
            <p:cNvPr id="76" name="直接连接符 75"/>
            <p:cNvCxnSpPr/>
            <p:nvPr/>
          </p:nvCxnSpPr>
          <p:spPr>
            <a:xfrm>
              <a:off x="5307102"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3437175" y="1613880"/>
              <a:ext cx="1869926" cy="0"/>
            </a:xfrm>
            <a:prstGeom prst="line">
              <a:avLst/>
            </a:prstGeom>
            <a:ln w="38100">
              <a:solidFill>
                <a:srgbClr val="00507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9181514" y="1696380"/>
            <a:ext cx="1409536" cy="981253"/>
            <a:chOff x="6948264" y="839126"/>
            <a:chExt cx="1409536" cy="981253"/>
          </a:xfrm>
        </p:grpSpPr>
        <p:sp>
          <p:nvSpPr>
            <p:cNvPr id="79" name="TextBox 36"/>
            <p:cNvSpPr txBox="1"/>
            <p:nvPr/>
          </p:nvSpPr>
          <p:spPr>
            <a:xfrm>
              <a:off x="6948264" y="839126"/>
              <a:ext cx="1409536" cy="369332"/>
            </a:xfrm>
            <a:prstGeom prst="rect">
              <a:avLst/>
            </a:prstGeom>
            <a:noFill/>
            <a:ln>
              <a:noFill/>
            </a:ln>
          </p:spPr>
          <p:txBody>
            <a:bodyPr wrap="square" rtlCol="0">
              <a:spAutoFit/>
            </a:bodyPr>
            <a:lstStyle/>
            <a:p>
              <a:pPr eaLnBrk="1" fontAlgn="auto" hangingPunct="1">
                <a:lnSpc>
                  <a:spcPct val="100000"/>
                </a:lnSpc>
                <a:spcBef>
                  <a:spcPts val="0"/>
                </a:spcBef>
                <a:spcAft>
                  <a:spcPts val="0"/>
                </a:spcAft>
                <a:buSzTx/>
                <a:buNone/>
              </a:pPr>
              <a:r>
                <a:rPr lang="en-US" altLang="zh-CN" b="1" dirty="0">
                  <a:solidFill>
                    <a:srgbClr val="005072"/>
                  </a:solidFill>
                  <a:latin typeface="微软雅黑"/>
                  <a:ea typeface="微软雅黑"/>
                </a:rPr>
                <a:t>   </a:t>
              </a:r>
              <a:r>
                <a:rPr lang="zh-CN" altLang="en-US" b="1" dirty="0">
                  <a:solidFill>
                    <a:srgbClr val="005072"/>
                  </a:solidFill>
                  <a:latin typeface="微软雅黑"/>
                  <a:ea typeface="微软雅黑"/>
                </a:rPr>
                <a:t>数据传送</a:t>
              </a:r>
            </a:p>
          </p:txBody>
        </p:sp>
        <p:cxnSp>
          <p:nvCxnSpPr>
            <p:cNvPr id="80" name="直接连接符 79"/>
            <p:cNvCxnSpPr/>
            <p:nvPr/>
          </p:nvCxnSpPr>
          <p:spPr>
            <a:xfrm>
              <a:off x="8226663"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7188036" y="1613880"/>
              <a:ext cx="1008000" cy="0"/>
            </a:xfrm>
            <a:prstGeom prst="line">
              <a:avLst/>
            </a:prstGeom>
            <a:ln w="38100">
              <a:solidFill>
                <a:srgbClr val="00507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4617743" y="2759901"/>
            <a:ext cx="5854699" cy="369332"/>
            <a:chOff x="2384489" y="1902651"/>
            <a:chExt cx="5854699" cy="369332"/>
          </a:xfrm>
        </p:grpSpPr>
        <p:cxnSp>
          <p:nvCxnSpPr>
            <p:cNvPr id="83" name="直接连接符 82"/>
            <p:cNvCxnSpPr/>
            <p:nvPr/>
          </p:nvCxnSpPr>
          <p:spPr>
            <a:xfrm>
              <a:off x="6115188" y="2119077"/>
              <a:ext cx="2124000" cy="0"/>
            </a:xfrm>
            <a:prstGeom prst="line">
              <a:avLst/>
            </a:prstGeom>
            <a:ln w="57150">
              <a:solidFill>
                <a:srgbClr val="00507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TextBox 30"/>
            <p:cNvSpPr txBox="1"/>
            <p:nvPr/>
          </p:nvSpPr>
          <p:spPr>
            <a:xfrm>
              <a:off x="4855696" y="1902651"/>
              <a:ext cx="902811" cy="369332"/>
            </a:xfrm>
            <a:prstGeom prst="rect">
              <a:avLst/>
            </a:prstGeom>
            <a:noFill/>
            <a:ln>
              <a:noFill/>
            </a:ln>
          </p:spPr>
          <p:txBody>
            <a:bodyPr wrap="non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设备忙</a:t>
              </a:r>
            </a:p>
          </p:txBody>
        </p:sp>
        <p:cxnSp>
          <p:nvCxnSpPr>
            <p:cNvPr id="85" name="直接连接符 84"/>
            <p:cNvCxnSpPr/>
            <p:nvPr/>
          </p:nvCxnSpPr>
          <p:spPr>
            <a:xfrm>
              <a:off x="2384489" y="2119077"/>
              <a:ext cx="2160000" cy="0"/>
            </a:xfrm>
            <a:prstGeom prst="line">
              <a:avLst/>
            </a:prstGeom>
            <a:ln w="57150">
              <a:solidFill>
                <a:srgbClr val="00507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7598483" y="1699644"/>
            <a:ext cx="1822807" cy="977989"/>
            <a:chOff x="5365229" y="842390"/>
            <a:chExt cx="1822807" cy="977989"/>
          </a:xfrm>
        </p:grpSpPr>
        <p:sp>
          <p:nvSpPr>
            <p:cNvPr id="87" name="TextBox 35"/>
            <p:cNvSpPr txBox="1"/>
            <p:nvPr/>
          </p:nvSpPr>
          <p:spPr>
            <a:xfrm>
              <a:off x="5580112" y="842390"/>
              <a:ext cx="1440160" cy="369332"/>
            </a:xfrm>
            <a:prstGeom prst="rect">
              <a:avLst/>
            </a:prstGeom>
            <a:noFill/>
            <a:ln>
              <a:noFill/>
            </a:ln>
          </p:spPr>
          <p:txBody>
            <a:bodyPr wrap="square" rtlCol="0">
              <a:spAutoFit/>
            </a:bodyPr>
            <a:lstStyle/>
            <a:p>
              <a:pPr eaLnBrk="1" fontAlgn="auto" hangingPunct="1">
                <a:lnSpc>
                  <a:spcPct val="100000"/>
                </a:lnSpc>
                <a:spcBef>
                  <a:spcPts val="0"/>
                </a:spcBef>
                <a:spcAft>
                  <a:spcPts val="0"/>
                </a:spcAft>
                <a:buSzTx/>
                <a:buNone/>
              </a:pPr>
              <a:r>
                <a:rPr lang="zh-CN" altLang="en-US" b="1" dirty="0">
                  <a:solidFill>
                    <a:srgbClr val="005072"/>
                  </a:solidFill>
                  <a:latin typeface="微软雅黑"/>
                  <a:ea typeface="微软雅黑"/>
                </a:rPr>
                <a:t>旋转延时</a:t>
              </a:r>
            </a:p>
          </p:txBody>
        </p:sp>
        <p:cxnSp>
          <p:nvCxnSpPr>
            <p:cNvPr id="88" name="直接连接符 87"/>
            <p:cNvCxnSpPr/>
            <p:nvPr/>
          </p:nvCxnSpPr>
          <p:spPr>
            <a:xfrm>
              <a:off x="7170926" y="1388331"/>
              <a:ext cx="0" cy="432048"/>
            </a:xfrm>
            <a:prstGeom prst="line">
              <a:avLst/>
            </a:prstGeom>
            <a:ln w="5715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5365229" y="1604355"/>
              <a:ext cx="1822807" cy="9525"/>
            </a:xfrm>
            <a:prstGeom prst="line">
              <a:avLst/>
            </a:prstGeom>
            <a:ln w="38100">
              <a:solidFill>
                <a:srgbClr val="00507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pic>
        <p:nvPicPr>
          <p:cNvPr id="42" name="Picture 2" descr="http://blog.chinaunix.net/attachment/201108/26/667478_1314329274Q57q.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400" y="4260711"/>
            <a:ext cx="5094525" cy="1793521"/>
          </a:xfrm>
          <a:prstGeom prst="rect">
            <a:avLst/>
          </a:prstGeom>
          <a:noFill/>
          <a:extLst>
            <a:ext uri="{909E8E84-426E-40DD-AFC4-6F175D3DCCD1}">
              <a14:hiddenFill xmlns:a14="http://schemas.microsoft.com/office/drawing/2010/main">
                <a:solidFill>
                  <a:srgbClr val="FFFFFF"/>
                </a:solidFill>
              </a14:hiddenFill>
            </a:ext>
          </a:extLst>
        </p:spPr>
      </p:pic>
      <p:sp>
        <p:nvSpPr>
          <p:cNvPr id="7" name="标题 6">
            <a:extLst>
              <a:ext uri="{FF2B5EF4-FFF2-40B4-BE49-F238E27FC236}">
                <a16:creationId xmlns:a16="http://schemas.microsoft.com/office/drawing/2014/main" id="{72E6B6C0-D923-7A28-FD88-7C346DC37B56}"/>
              </a:ext>
            </a:extLst>
          </p:cNvPr>
          <p:cNvSpPr>
            <a:spLocks noGrp="1"/>
          </p:cNvSpPr>
          <p:nvPr>
            <p:ph type="title"/>
          </p:nvPr>
        </p:nvSpPr>
        <p:spPr/>
        <p:txBody>
          <a:bodyPr>
            <a:normAutofit/>
          </a:bodyPr>
          <a:lstStyle/>
          <a:p>
            <a:r>
              <a:rPr lang="zh-CN" altLang="en-US" dirty="0"/>
              <a:t>磁盘</a:t>
            </a:r>
            <a:r>
              <a:rPr lang="en-US" altLang="zh-CN" dirty="0"/>
              <a:t>I/O</a:t>
            </a:r>
            <a:r>
              <a:rPr lang="zh-CN" altLang="en-US" dirty="0"/>
              <a:t>传输时间</a:t>
            </a:r>
          </a:p>
        </p:txBody>
      </p:sp>
      <p:sp>
        <p:nvSpPr>
          <p:cNvPr id="9" name="灯片编号占位符 8">
            <a:extLst>
              <a:ext uri="{FF2B5EF4-FFF2-40B4-BE49-F238E27FC236}">
                <a16:creationId xmlns:a16="http://schemas.microsoft.com/office/drawing/2014/main" id="{800688D6-95ED-A26F-E87E-EE3658E58F26}"/>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54</a:t>
            </a:fld>
            <a:endParaRPr lang="zh-CN" altLang="en-US" dirty="0"/>
          </a:p>
        </p:txBody>
      </p:sp>
    </p:spTree>
    <p:extLst>
      <p:ext uri="{BB962C8B-B14F-4D97-AF65-F5344CB8AC3E}">
        <p14:creationId xmlns:p14="http://schemas.microsoft.com/office/powerpoint/2010/main" val="215487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left)">
                                      <p:cBhvr>
                                        <p:cTn id="12" dur="500"/>
                                        <p:tgtEl>
                                          <p:spTgt spid="5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6" grpId="0"/>
      <p:bldP spid="4" grpId="0"/>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67408" y="1628800"/>
            <a:ext cx="5870247" cy="687391"/>
            <a:chOff x="844893" y="843558"/>
            <a:chExt cx="5870247" cy="687391"/>
          </a:xfrm>
        </p:grpSpPr>
        <p:sp>
          <p:nvSpPr>
            <p:cNvPr id="19" name="内容占位符 2"/>
            <p:cNvSpPr txBox="1">
              <a:spLocks/>
            </p:cNvSpPr>
            <p:nvPr/>
          </p:nvSpPr>
          <p:spPr>
            <a:xfrm>
              <a:off x="1142976" y="843558"/>
              <a:ext cx="5572164" cy="687391"/>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sym typeface="宋体" charset="0"/>
                </a:rPr>
                <a:t>通过优化磁盘访问请求顺序来提高磁盘访问性能</a:t>
              </a:r>
              <a:endParaRPr lang="zh-CN" altLang="en-US" dirty="0"/>
            </a:p>
          </p:txBody>
        </p:sp>
        <p:sp>
          <p:nvSpPr>
            <p:cNvPr id="20" name="TextBox 19"/>
            <p:cNvSpPr txBox="1"/>
            <p:nvPr/>
          </p:nvSpPr>
          <p:spPr>
            <a:xfrm>
              <a:off x="844893" y="843559"/>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2" name="组合 1"/>
          <p:cNvGrpSpPr/>
          <p:nvPr/>
        </p:nvGrpSpPr>
        <p:grpSpPr>
          <a:xfrm>
            <a:off x="1203520" y="2751655"/>
            <a:ext cx="4793473" cy="428628"/>
            <a:chOff x="1281005" y="1841981"/>
            <a:chExt cx="4793473" cy="428628"/>
          </a:xfrm>
        </p:grpSpPr>
        <p:sp>
          <p:nvSpPr>
            <p:cNvPr id="17" name="内容占位符 2"/>
            <p:cNvSpPr txBox="1">
              <a:spLocks/>
            </p:cNvSpPr>
            <p:nvPr/>
          </p:nvSpPr>
          <p:spPr>
            <a:xfrm>
              <a:off x="1431008" y="1841981"/>
              <a:ext cx="464347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pPr>
              <a:r>
                <a:rPr lang="zh-CN" altLang="en-US" dirty="0">
                  <a:sym typeface="宋体" charset="0"/>
                </a:rPr>
                <a:t>随机处理磁盘访问请求的性能表现很差</a:t>
              </a:r>
              <a:endParaRPr lang="zh-CN" altLang="en-US" dirty="0"/>
            </a:p>
          </p:txBody>
        </p:sp>
        <p:pic>
          <p:nvPicPr>
            <p:cNvPr id="11" name="图片 10" descr="小点1.png"/>
            <p:cNvPicPr>
              <a:picLocks noChangeAspect="1"/>
            </p:cNvPicPr>
            <p:nvPr/>
          </p:nvPicPr>
          <p:blipFill>
            <a:blip r:embed="rId2" cstate="print"/>
            <a:stretch>
              <a:fillRect/>
            </a:stretch>
          </p:blipFill>
          <p:spPr>
            <a:xfrm>
              <a:off x="1281005" y="1974777"/>
              <a:ext cx="151066" cy="148997"/>
            </a:xfrm>
            <a:prstGeom prst="rect">
              <a:avLst/>
            </a:prstGeom>
            <a:effectLst/>
          </p:spPr>
        </p:pic>
      </p:grpSp>
      <p:grpSp>
        <p:nvGrpSpPr>
          <p:cNvPr id="4" name="组合 3"/>
          <p:cNvGrpSpPr/>
          <p:nvPr/>
        </p:nvGrpSpPr>
        <p:grpSpPr>
          <a:xfrm>
            <a:off x="1202453" y="2031575"/>
            <a:ext cx="4294470" cy="428628"/>
            <a:chOff x="1279942" y="1172050"/>
            <a:chExt cx="4294470" cy="428628"/>
          </a:xfrm>
        </p:grpSpPr>
        <p:sp>
          <p:nvSpPr>
            <p:cNvPr id="9" name="内容占位符 2"/>
            <p:cNvSpPr txBox="1">
              <a:spLocks/>
            </p:cNvSpPr>
            <p:nvPr/>
          </p:nvSpPr>
          <p:spPr>
            <a:xfrm>
              <a:off x="1431008" y="1172050"/>
              <a:ext cx="414340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defRPr/>
              </a:pPr>
              <a:r>
                <a:rPr lang="zh-CN" altLang="en-US" dirty="0">
                  <a:sym typeface="宋体" charset="0"/>
                </a:rPr>
                <a:t>寻道时间是磁盘访问最耗时的部分</a:t>
              </a:r>
              <a:endParaRPr lang="zh-CN" altLang="en-US" dirty="0"/>
            </a:p>
          </p:txBody>
        </p:sp>
        <p:pic>
          <p:nvPicPr>
            <p:cNvPr id="13" name="图片 12" descr="小点1.png"/>
            <p:cNvPicPr>
              <a:picLocks noChangeAspect="1"/>
            </p:cNvPicPr>
            <p:nvPr/>
          </p:nvPicPr>
          <p:blipFill>
            <a:blip r:embed="rId2" cstate="print"/>
            <a:stretch>
              <a:fillRect/>
            </a:stretch>
          </p:blipFill>
          <p:spPr>
            <a:xfrm>
              <a:off x="1279942" y="1275606"/>
              <a:ext cx="151066" cy="148997"/>
            </a:xfrm>
            <a:prstGeom prst="rect">
              <a:avLst/>
            </a:prstGeom>
            <a:effectLst/>
          </p:spPr>
        </p:pic>
      </p:grpSp>
      <p:grpSp>
        <p:nvGrpSpPr>
          <p:cNvPr id="3" name="组合 2"/>
          <p:cNvGrpSpPr/>
          <p:nvPr/>
        </p:nvGrpSpPr>
        <p:grpSpPr>
          <a:xfrm>
            <a:off x="1202453" y="2391615"/>
            <a:ext cx="4876234" cy="428628"/>
            <a:chOff x="1279942" y="1499078"/>
            <a:chExt cx="4876234" cy="428628"/>
          </a:xfrm>
        </p:grpSpPr>
        <p:sp>
          <p:nvSpPr>
            <p:cNvPr id="15" name="内容占位符 2"/>
            <p:cNvSpPr txBox="1">
              <a:spLocks/>
            </p:cNvSpPr>
            <p:nvPr/>
          </p:nvSpPr>
          <p:spPr>
            <a:xfrm>
              <a:off x="1431008" y="1499078"/>
              <a:ext cx="4725168"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pPr>
              <a:r>
                <a:rPr lang="zh-CN" altLang="en-US" dirty="0">
                  <a:sym typeface="宋体" charset="0"/>
                </a:rPr>
                <a:t>同时会有多个在同一磁盘上的</a:t>
              </a:r>
              <a:r>
                <a:rPr lang="en-US" altLang="zh-CN" dirty="0">
                  <a:sym typeface="宋体" charset="0"/>
                </a:rPr>
                <a:t>I/O</a:t>
              </a:r>
              <a:r>
                <a:rPr lang="zh-CN" altLang="en-US" dirty="0">
                  <a:sym typeface="宋体" charset="0"/>
                </a:rPr>
                <a:t>请求</a:t>
              </a:r>
              <a:endParaRPr lang="zh-CN" altLang="en-US" dirty="0"/>
            </a:p>
          </p:txBody>
        </p:sp>
        <p:pic>
          <p:nvPicPr>
            <p:cNvPr id="14" name="图片 13" descr="小点1.png"/>
            <p:cNvPicPr>
              <a:picLocks noChangeAspect="1"/>
            </p:cNvPicPr>
            <p:nvPr/>
          </p:nvPicPr>
          <p:blipFill>
            <a:blip r:embed="rId2" cstate="print"/>
            <a:stretch>
              <a:fillRect/>
            </a:stretch>
          </p:blipFill>
          <p:spPr>
            <a:xfrm>
              <a:off x="1279942" y="1627902"/>
              <a:ext cx="151066" cy="148997"/>
            </a:xfrm>
            <a:prstGeom prst="rect">
              <a:avLst/>
            </a:prstGeom>
            <a:effectLst/>
          </p:spPr>
        </p:pic>
      </p:grpSp>
      <p:sp>
        <p:nvSpPr>
          <p:cNvPr id="10" name="标题 9">
            <a:extLst>
              <a:ext uri="{FF2B5EF4-FFF2-40B4-BE49-F238E27FC236}">
                <a16:creationId xmlns:a16="http://schemas.microsoft.com/office/drawing/2014/main" id="{71F1530C-DDCB-444D-4C14-C6A283B96310}"/>
              </a:ext>
            </a:extLst>
          </p:cNvPr>
          <p:cNvSpPr>
            <a:spLocks noGrp="1"/>
          </p:cNvSpPr>
          <p:nvPr>
            <p:ph type="title"/>
          </p:nvPr>
        </p:nvSpPr>
        <p:spPr/>
        <p:txBody>
          <a:bodyPr>
            <a:normAutofit/>
          </a:bodyPr>
          <a:lstStyle/>
          <a:p>
            <a:r>
              <a:rPr lang="zh-CN" altLang="en-US" dirty="0"/>
              <a:t>磁盘调度算法</a:t>
            </a:r>
          </a:p>
        </p:txBody>
      </p:sp>
      <p:sp>
        <p:nvSpPr>
          <p:cNvPr id="16" name="灯片编号占位符 15">
            <a:extLst>
              <a:ext uri="{FF2B5EF4-FFF2-40B4-BE49-F238E27FC236}">
                <a16:creationId xmlns:a16="http://schemas.microsoft.com/office/drawing/2014/main" id="{C29EC359-FA21-6F7D-1D4D-AEF40355D278}"/>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55</a:t>
            </a:fld>
            <a:endParaRPr lang="zh-CN" altLang="en-US" dirty="0"/>
          </a:p>
        </p:txBody>
      </p:sp>
    </p:spTree>
    <p:extLst>
      <p:ext uri="{BB962C8B-B14F-4D97-AF65-F5344CB8AC3E}">
        <p14:creationId xmlns:p14="http://schemas.microsoft.com/office/powerpoint/2010/main" val="398781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628800"/>
            <a:ext cx="2441223" cy="428628"/>
            <a:chOff x="844893" y="1059582"/>
            <a:chExt cx="2441223" cy="428628"/>
          </a:xfrm>
        </p:grpSpPr>
        <p:sp>
          <p:nvSpPr>
            <p:cNvPr id="9" name="内容占位符 2"/>
            <p:cNvSpPr txBox="1">
              <a:spLocks/>
            </p:cNvSpPr>
            <p:nvPr/>
          </p:nvSpPr>
          <p:spPr>
            <a:xfrm>
              <a:off x="1142976" y="1059582"/>
              <a:ext cx="214314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defRPr/>
              </a:pPr>
              <a:r>
                <a:rPr lang="zh-CN" altLang="en-US" dirty="0">
                  <a:sym typeface="宋体" charset="0"/>
                </a:rPr>
                <a:t>按顺序处理请求</a:t>
              </a:r>
              <a:endParaRPr lang="zh-CN" altLang="en-US" dirty="0"/>
            </a:p>
          </p:txBody>
        </p:sp>
        <p:sp>
          <p:nvSpPr>
            <p:cNvPr id="12" name="TextBox 11"/>
            <p:cNvSpPr txBox="1"/>
            <p:nvPr/>
          </p:nvSpPr>
          <p:spPr>
            <a:xfrm>
              <a:off x="844893" y="1059582"/>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767408" y="2003016"/>
            <a:ext cx="2726975" cy="428628"/>
            <a:chOff x="844893" y="1433798"/>
            <a:chExt cx="2726975" cy="428628"/>
          </a:xfrm>
        </p:grpSpPr>
        <p:sp>
          <p:nvSpPr>
            <p:cNvPr id="15" name="内容占位符 2"/>
            <p:cNvSpPr txBox="1">
              <a:spLocks/>
            </p:cNvSpPr>
            <p:nvPr/>
          </p:nvSpPr>
          <p:spPr>
            <a:xfrm>
              <a:off x="1142976" y="1433798"/>
              <a:ext cx="242889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pPr>
              <a:r>
                <a:rPr lang="zh-CN" altLang="en-US" dirty="0">
                  <a:sym typeface="宋体" charset="0"/>
                </a:rPr>
                <a:t>公平对待所有进程</a:t>
              </a:r>
              <a:endParaRPr lang="zh-CN" altLang="en-US" dirty="0"/>
            </a:p>
          </p:txBody>
        </p:sp>
        <p:sp>
          <p:nvSpPr>
            <p:cNvPr id="16" name="TextBox 15"/>
            <p:cNvSpPr txBox="1"/>
            <p:nvPr/>
          </p:nvSpPr>
          <p:spPr>
            <a:xfrm>
              <a:off x="844893" y="1433798"/>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767408" y="2424308"/>
            <a:ext cx="5941685" cy="428628"/>
            <a:chOff x="844893" y="1855090"/>
            <a:chExt cx="5941685" cy="428628"/>
          </a:xfrm>
        </p:grpSpPr>
        <p:sp>
          <p:nvSpPr>
            <p:cNvPr id="17" name="内容占位符 2"/>
            <p:cNvSpPr txBox="1">
              <a:spLocks/>
            </p:cNvSpPr>
            <p:nvPr/>
          </p:nvSpPr>
          <p:spPr>
            <a:xfrm>
              <a:off x="1142976" y="1855090"/>
              <a:ext cx="564360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pPr>
              <a:r>
                <a:rPr lang="zh-CN" altLang="en-US" dirty="0">
                  <a:sym typeface="宋体" charset="0"/>
                </a:rPr>
                <a:t>在有很多进程的情况下，接近随机调度的性能</a:t>
              </a:r>
              <a:endParaRPr lang="zh-CN" altLang="en-US" dirty="0"/>
            </a:p>
          </p:txBody>
        </p:sp>
        <p:sp>
          <p:nvSpPr>
            <p:cNvPr id="18" name="TextBox 17"/>
            <p:cNvSpPr txBox="1"/>
            <p:nvPr/>
          </p:nvSpPr>
          <p:spPr>
            <a:xfrm>
              <a:off x="844893" y="1855090"/>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cxnSp>
        <p:nvCxnSpPr>
          <p:cNvPr id="14" name="直接连接符 13"/>
          <p:cNvCxnSpPr/>
          <p:nvPr/>
        </p:nvCxnSpPr>
        <p:spPr>
          <a:xfrm rot="5400000">
            <a:off x="-6393733" y="3178967"/>
            <a:ext cx="8572560" cy="357190"/>
          </a:xfrm>
          <a:prstGeom prst="line">
            <a:avLst/>
          </a:prstGeom>
        </p:spPr>
        <p:style>
          <a:lnRef idx="1">
            <a:schemeClr val="accent1"/>
          </a:lnRef>
          <a:fillRef idx="0">
            <a:schemeClr val="accent1"/>
          </a:fillRef>
          <a:effectRef idx="0">
            <a:schemeClr val="accent1"/>
          </a:effectRef>
          <a:fontRef idx="minor">
            <a:schemeClr val="tx1"/>
          </a:fontRef>
        </p:style>
      </p:cxnSp>
      <p:sp>
        <p:nvSpPr>
          <p:cNvPr id="7" name="标题 6">
            <a:extLst>
              <a:ext uri="{FF2B5EF4-FFF2-40B4-BE49-F238E27FC236}">
                <a16:creationId xmlns:a16="http://schemas.microsoft.com/office/drawing/2014/main" id="{CB7FE956-C6C7-D277-2A90-A86F8A7B6DB1}"/>
              </a:ext>
            </a:extLst>
          </p:cNvPr>
          <p:cNvSpPr>
            <a:spLocks noGrp="1"/>
          </p:cNvSpPr>
          <p:nvPr>
            <p:ph type="title"/>
          </p:nvPr>
        </p:nvSpPr>
        <p:spPr/>
        <p:txBody>
          <a:bodyPr>
            <a:normAutofit/>
          </a:bodyPr>
          <a:lstStyle/>
          <a:p>
            <a:r>
              <a:rPr lang="zh-CN" altLang="en-US" dirty="0"/>
              <a:t>先进先出</a:t>
            </a:r>
            <a:r>
              <a:rPr lang="en-US" altLang="zh-CN" dirty="0"/>
              <a:t>(FIFO)</a:t>
            </a:r>
            <a:r>
              <a:rPr lang="zh-CN" altLang="en-US" dirty="0"/>
              <a:t>算法</a:t>
            </a:r>
          </a:p>
        </p:txBody>
      </p:sp>
      <p:sp>
        <p:nvSpPr>
          <p:cNvPr id="11" name="灯片编号占位符 10">
            <a:extLst>
              <a:ext uri="{FF2B5EF4-FFF2-40B4-BE49-F238E27FC236}">
                <a16:creationId xmlns:a16="http://schemas.microsoft.com/office/drawing/2014/main" id="{F0AB629E-4746-F576-0B96-66DCF3A2B44A}"/>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56</a:t>
            </a:fld>
            <a:endParaRPr lang="zh-CN" altLang="en-US" dirty="0"/>
          </a:p>
        </p:txBody>
      </p:sp>
    </p:spTree>
    <p:extLst>
      <p:ext uri="{BB962C8B-B14F-4D97-AF65-F5344CB8AC3E}">
        <p14:creationId xmlns:p14="http://schemas.microsoft.com/office/powerpoint/2010/main" val="2024893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1"/>
          <p:cNvSpPr>
            <a:spLocks noChangeArrowheads="1"/>
          </p:cNvSpPr>
          <p:nvPr/>
        </p:nvSpPr>
        <p:spPr bwMode="auto">
          <a:xfrm>
            <a:off x="2865366" y="7524740"/>
            <a:ext cx="7733207"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eaLnBrk="1" fontAlgn="auto" hangingPunct="1">
              <a:lnSpc>
                <a:spcPct val="100000"/>
              </a:lnSpc>
              <a:spcBef>
                <a:spcPts val="0"/>
              </a:spcBef>
              <a:spcAft>
                <a:spcPts val="0"/>
              </a:spcAft>
              <a:buSzTx/>
              <a:buNone/>
            </a:pPr>
            <a:r>
              <a:rPr lang="en-US" altLang="zh-CN" sz="1600" dirty="0">
                <a:solidFill>
                  <a:srgbClr val="000099"/>
                </a:solidFill>
                <a:latin typeface="MS PGothic"/>
                <a:ea typeface="MS PGothic" charset="0"/>
                <a:cs typeface="MS PGothic" charset="0"/>
                <a:hlinkClick r:id="rId2"/>
              </a:rPr>
              <a:t>http://cs.uttyler.edu/Faculty/Rainwater/COSC3355/Animations/diskschedulingfcfs.htm</a:t>
            </a:r>
            <a:endParaRPr lang="en-US" altLang="zh-CN" sz="1600" dirty="0">
              <a:solidFill>
                <a:srgbClr val="000099"/>
              </a:solidFill>
              <a:latin typeface="MS PGothic"/>
              <a:ea typeface="MS PGothic" charset="0"/>
              <a:cs typeface="MS PGothic" charset="0"/>
            </a:endParaRPr>
          </a:p>
        </p:txBody>
      </p:sp>
      <p:sp>
        <p:nvSpPr>
          <p:cNvPr id="6" name="Text Box 3"/>
          <p:cNvSpPr>
            <a:spLocks noChangeArrowheads="1"/>
          </p:cNvSpPr>
          <p:nvPr/>
        </p:nvSpPr>
        <p:spPr bwMode="auto">
          <a:xfrm>
            <a:off x="2448443" y="5480606"/>
            <a:ext cx="19816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zh-CN" altLang="en-US" sz="1600" b="1" dirty="0">
                <a:solidFill>
                  <a:srgbClr val="11576A"/>
                </a:solidFill>
                <a:latin typeface="微软雅黑" pitchFamily="34" charset="-122"/>
                <a:ea typeface="微软雅黑" pitchFamily="34" charset="-122"/>
                <a:sym typeface="宋体" charset="0"/>
              </a:rPr>
              <a:t>合计磁头移动距离</a:t>
            </a:r>
            <a:r>
              <a:rPr lang="en-US" altLang="zh-CN" sz="1600" b="1" dirty="0">
                <a:solidFill>
                  <a:srgbClr val="11576A"/>
                </a:solidFill>
                <a:latin typeface="微软雅黑" pitchFamily="34" charset="-122"/>
                <a:ea typeface="微软雅黑" pitchFamily="34" charset="-122"/>
                <a:sym typeface="宋体" charset="0"/>
              </a:rPr>
              <a:t>=</a:t>
            </a:r>
            <a:endParaRPr lang="zh-CN" altLang="en-US" sz="1600" b="1" dirty="0">
              <a:solidFill>
                <a:srgbClr val="11576A"/>
              </a:solidFill>
              <a:latin typeface="微软雅黑" pitchFamily="34" charset="-122"/>
              <a:ea typeface="微软雅黑" pitchFamily="34" charset="-122"/>
            </a:endParaRPr>
          </a:p>
        </p:txBody>
      </p:sp>
      <p:grpSp>
        <p:nvGrpSpPr>
          <p:cNvPr id="2" name="组合 1"/>
          <p:cNvGrpSpPr/>
          <p:nvPr/>
        </p:nvGrpSpPr>
        <p:grpSpPr>
          <a:xfrm>
            <a:off x="3060240" y="1700808"/>
            <a:ext cx="6609253" cy="349888"/>
            <a:chOff x="1237860" y="843558"/>
            <a:chExt cx="6609253" cy="349888"/>
          </a:xfrm>
        </p:grpSpPr>
        <p:sp>
          <p:nvSpPr>
            <p:cNvPr id="9" name="TextBox 8"/>
            <p:cNvSpPr txBox="1"/>
            <p:nvPr/>
          </p:nvSpPr>
          <p:spPr>
            <a:xfrm>
              <a:off x="1237860" y="854892"/>
              <a:ext cx="4514377"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600" b="1" dirty="0">
                  <a:solidFill>
                    <a:srgbClr val="005072"/>
                  </a:solidFill>
                  <a:latin typeface="微软雅黑"/>
                  <a:ea typeface="微软雅黑"/>
                </a:rPr>
                <a:t>磁盘访问序列 </a:t>
              </a:r>
              <a:r>
                <a:rPr lang="en-US" altLang="zh-CN" sz="1600" b="1" dirty="0">
                  <a:solidFill>
                    <a:srgbClr val="005072"/>
                  </a:solidFill>
                  <a:latin typeface="微软雅黑"/>
                  <a:ea typeface="微软雅黑"/>
                </a:rPr>
                <a:t>= 98,183,37,122,14,124,65,67</a:t>
              </a:r>
              <a:endParaRPr lang="zh-CN" altLang="en-US" sz="1600" b="1" dirty="0">
                <a:solidFill>
                  <a:srgbClr val="005072"/>
                </a:solidFill>
                <a:latin typeface="微软雅黑"/>
                <a:ea typeface="微软雅黑"/>
              </a:endParaRPr>
            </a:p>
          </p:txBody>
        </p:sp>
        <p:sp>
          <p:nvSpPr>
            <p:cNvPr id="10" name="TextBox 9"/>
            <p:cNvSpPr txBox="1"/>
            <p:nvPr/>
          </p:nvSpPr>
          <p:spPr>
            <a:xfrm>
              <a:off x="5918380" y="843558"/>
              <a:ext cx="1928733"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600" b="1" dirty="0">
                  <a:solidFill>
                    <a:srgbClr val="005072"/>
                  </a:solidFill>
                  <a:latin typeface="微软雅黑"/>
                  <a:ea typeface="微软雅黑"/>
                </a:rPr>
                <a:t>初始磁头位置：</a:t>
              </a:r>
              <a:r>
                <a:rPr lang="en-US" altLang="zh-CN" sz="1600" b="1" dirty="0">
                  <a:solidFill>
                    <a:srgbClr val="005072"/>
                  </a:solidFill>
                  <a:latin typeface="微软雅黑"/>
                  <a:ea typeface="微软雅黑"/>
                </a:rPr>
                <a:t>53</a:t>
              </a:r>
              <a:endParaRPr lang="zh-CN" altLang="en-US" sz="1600" b="1" dirty="0">
                <a:solidFill>
                  <a:srgbClr val="005072"/>
                </a:solidFill>
                <a:latin typeface="微软雅黑"/>
                <a:ea typeface="微软雅黑"/>
              </a:endParaRPr>
            </a:p>
          </p:txBody>
        </p:sp>
      </p:grpSp>
      <p:grpSp>
        <p:nvGrpSpPr>
          <p:cNvPr id="3" name="组合 2"/>
          <p:cNvGrpSpPr/>
          <p:nvPr/>
        </p:nvGrpSpPr>
        <p:grpSpPr>
          <a:xfrm>
            <a:off x="2875509" y="1995641"/>
            <a:ext cx="6967188" cy="556760"/>
            <a:chOff x="1053133" y="1138391"/>
            <a:chExt cx="6967188" cy="556760"/>
          </a:xfrm>
        </p:grpSpPr>
        <p:sp>
          <p:nvSpPr>
            <p:cNvPr id="11" name="TextBox 10"/>
            <p:cNvSpPr txBox="1"/>
            <p:nvPr/>
          </p:nvSpPr>
          <p:spPr>
            <a:xfrm>
              <a:off x="1053133" y="1138391"/>
              <a:ext cx="311304"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0</a:t>
              </a:r>
              <a:endParaRPr lang="zh-CN" altLang="en-US" sz="1600" b="1" dirty="0">
                <a:solidFill>
                  <a:srgbClr val="005072"/>
                </a:solidFill>
                <a:latin typeface="微软雅黑"/>
                <a:ea typeface="微软雅黑"/>
              </a:endParaRPr>
            </a:p>
          </p:txBody>
        </p:sp>
        <p:sp>
          <p:nvSpPr>
            <p:cNvPr id="12" name="TextBox 11"/>
            <p:cNvSpPr txBox="1"/>
            <p:nvPr/>
          </p:nvSpPr>
          <p:spPr>
            <a:xfrm>
              <a:off x="1433364"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14</a:t>
              </a:r>
              <a:endParaRPr lang="zh-CN" altLang="en-US" sz="1600" b="1" dirty="0">
                <a:solidFill>
                  <a:srgbClr val="005072"/>
                </a:solidFill>
                <a:latin typeface="微软雅黑"/>
                <a:ea typeface="微软雅黑"/>
              </a:endParaRPr>
            </a:p>
          </p:txBody>
        </p:sp>
        <p:sp>
          <p:nvSpPr>
            <p:cNvPr id="15" name="TextBox 14"/>
            <p:cNvSpPr txBox="1"/>
            <p:nvPr/>
          </p:nvSpPr>
          <p:spPr>
            <a:xfrm>
              <a:off x="2233836"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37</a:t>
              </a:r>
              <a:endParaRPr lang="zh-CN" altLang="en-US" sz="1600" b="1" dirty="0">
                <a:solidFill>
                  <a:srgbClr val="005072"/>
                </a:solidFill>
                <a:latin typeface="微软雅黑"/>
                <a:ea typeface="微软雅黑"/>
              </a:endParaRPr>
            </a:p>
          </p:txBody>
        </p:sp>
        <p:sp>
          <p:nvSpPr>
            <p:cNvPr id="16" name="TextBox 15"/>
            <p:cNvSpPr txBox="1"/>
            <p:nvPr/>
          </p:nvSpPr>
          <p:spPr>
            <a:xfrm>
              <a:off x="2751609"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53</a:t>
              </a:r>
              <a:endParaRPr lang="zh-CN" altLang="en-US" sz="1600" b="1" dirty="0">
                <a:solidFill>
                  <a:srgbClr val="005072"/>
                </a:solidFill>
                <a:latin typeface="微软雅黑"/>
                <a:ea typeface="微软雅黑"/>
              </a:endParaRPr>
            </a:p>
          </p:txBody>
        </p:sp>
        <p:sp>
          <p:nvSpPr>
            <p:cNvPr id="17" name="TextBox 16"/>
            <p:cNvSpPr txBox="1"/>
            <p:nvPr/>
          </p:nvSpPr>
          <p:spPr>
            <a:xfrm>
              <a:off x="3065165"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65</a:t>
              </a:r>
              <a:endParaRPr lang="zh-CN" altLang="en-US" sz="1600" b="1" dirty="0">
                <a:solidFill>
                  <a:srgbClr val="005072"/>
                </a:solidFill>
                <a:latin typeface="微软雅黑"/>
                <a:ea typeface="微软雅黑"/>
              </a:endParaRPr>
            </a:p>
          </p:txBody>
        </p:sp>
        <p:sp>
          <p:nvSpPr>
            <p:cNvPr id="18" name="TextBox 17"/>
            <p:cNvSpPr txBox="1"/>
            <p:nvPr/>
          </p:nvSpPr>
          <p:spPr>
            <a:xfrm>
              <a:off x="3376439"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67</a:t>
              </a:r>
              <a:endParaRPr lang="zh-CN" altLang="en-US" sz="1600" b="1" dirty="0">
                <a:solidFill>
                  <a:srgbClr val="005072"/>
                </a:solidFill>
                <a:latin typeface="微软雅黑"/>
                <a:ea typeface="微软雅黑"/>
              </a:endParaRPr>
            </a:p>
          </p:txBody>
        </p:sp>
        <p:sp>
          <p:nvSpPr>
            <p:cNvPr id="19" name="TextBox 18"/>
            <p:cNvSpPr txBox="1"/>
            <p:nvPr/>
          </p:nvSpPr>
          <p:spPr>
            <a:xfrm>
              <a:off x="4221485"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98</a:t>
              </a:r>
              <a:endParaRPr lang="zh-CN" altLang="en-US" sz="1600" b="1" dirty="0">
                <a:solidFill>
                  <a:srgbClr val="005072"/>
                </a:solidFill>
                <a:latin typeface="微软雅黑"/>
                <a:ea typeface="微软雅黑"/>
              </a:endParaRPr>
            </a:p>
          </p:txBody>
        </p:sp>
        <p:sp>
          <p:nvSpPr>
            <p:cNvPr id="20" name="TextBox 19"/>
            <p:cNvSpPr txBox="1"/>
            <p:nvPr/>
          </p:nvSpPr>
          <p:spPr>
            <a:xfrm>
              <a:off x="4768974"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122</a:t>
              </a:r>
              <a:endParaRPr lang="zh-CN" altLang="en-US" sz="1600" b="1" dirty="0">
                <a:solidFill>
                  <a:srgbClr val="005072"/>
                </a:solidFill>
                <a:latin typeface="微软雅黑"/>
                <a:ea typeface="微软雅黑"/>
              </a:endParaRPr>
            </a:p>
          </p:txBody>
        </p:sp>
        <p:sp>
          <p:nvSpPr>
            <p:cNvPr id="22" name="TextBox 21"/>
            <p:cNvSpPr txBox="1"/>
            <p:nvPr/>
          </p:nvSpPr>
          <p:spPr>
            <a:xfrm>
              <a:off x="5234930"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124</a:t>
              </a:r>
              <a:endParaRPr lang="zh-CN" altLang="en-US" sz="1600" b="1" dirty="0">
                <a:solidFill>
                  <a:srgbClr val="005072"/>
                </a:solidFill>
                <a:latin typeface="微软雅黑"/>
                <a:ea typeface="微软雅黑"/>
              </a:endParaRPr>
            </a:p>
          </p:txBody>
        </p:sp>
        <p:sp>
          <p:nvSpPr>
            <p:cNvPr id="23" name="TextBox 22"/>
            <p:cNvSpPr txBox="1"/>
            <p:nvPr/>
          </p:nvSpPr>
          <p:spPr>
            <a:xfrm>
              <a:off x="6982527"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183</a:t>
              </a:r>
              <a:endParaRPr lang="zh-CN" altLang="en-US" sz="1600" b="1" dirty="0">
                <a:solidFill>
                  <a:srgbClr val="005072"/>
                </a:solidFill>
                <a:latin typeface="微软雅黑"/>
                <a:ea typeface="微软雅黑"/>
              </a:endParaRPr>
            </a:p>
          </p:txBody>
        </p:sp>
        <p:sp>
          <p:nvSpPr>
            <p:cNvPr id="24" name="TextBox 23"/>
            <p:cNvSpPr txBox="1"/>
            <p:nvPr/>
          </p:nvSpPr>
          <p:spPr>
            <a:xfrm>
              <a:off x="7455743"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199</a:t>
              </a:r>
              <a:endParaRPr lang="zh-CN" altLang="en-US" sz="1600" b="1" dirty="0">
                <a:solidFill>
                  <a:srgbClr val="005072"/>
                </a:solidFill>
                <a:latin typeface="微软雅黑"/>
                <a:ea typeface="微软雅黑"/>
              </a:endParaRPr>
            </a:p>
          </p:txBody>
        </p:sp>
        <p:cxnSp>
          <p:nvCxnSpPr>
            <p:cNvPr id="25" name="直接连接符 24"/>
            <p:cNvCxnSpPr/>
            <p:nvPr/>
          </p:nvCxnSpPr>
          <p:spPr>
            <a:xfrm>
              <a:off x="7741493" y="140715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217340" y="140715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300689"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321796"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262364"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453508"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426346"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3366914"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462808"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069357"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658913"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rot="5400000">
              <a:off x="4480172" y="-1711025"/>
              <a:ext cx="0" cy="6516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cxnSp>
        <p:nvCxnSpPr>
          <p:cNvPr id="37" name="直接连接符 36"/>
          <p:cNvCxnSpPr/>
          <p:nvPr/>
        </p:nvCxnSpPr>
        <p:spPr>
          <a:xfrm rot="60000">
            <a:off x="4872683" y="2572620"/>
            <a:ext cx="1368000" cy="360040"/>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281031" y="2957605"/>
            <a:ext cx="2777645" cy="306520"/>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4306144" y="3282613"/>
            <a:ext cx="4793870" cy="341552"/>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286528" y="3647158"/>
            <a:ext cx="2736000" cy="318001"/>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3466431" y="3984209"/>
            <a:ext cx="3600000" cy="350515"/>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444793" y="4356286"/>
            <a:ext cx="3669667" cy="275995"/>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5232723" y="4675714"/>
            <a:ext cx="1903800" cy="316607"/>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181856" y="5016701"/>
            <a:ext cx="130292" cy="424606"/>
            <a:chOff x="3359480" y="4159451"/>
            <a:chExt cx="130292" cy="424606"/>
          </a:xfrm>
        </p:grpSpPr>
        <p:cxnSp>
          <p:nvCxnSpPr>
            <p:cNvPr id="44" name="直接连接符 43"/>
            <p:cNvCxnSpPr/>
            <p:nvPr/>
          </p:nvCxnSpPr>
          <p:spPr>
            <a:xfrm>
              <a:off x="3359480" y="4159451"/>
              <a:ext cx="60392" cy="335656"/>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3381772" y="4476057"/>
              <a:ext cx="108000" cy="108000"/>
            </a:xfrm>
            <a:prstGeom prst="ellipse">
              <a:avLst/>
            </a:prstGeom>
            <a:solidFill>
              <a:srgbClr val="00507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sp>
        <p:nvSpPr>
          <p:cNvPr id="46" name="Text Box 3"/>
          <p:cNvSpPr>
            <a:spLocks noChangeArrowheads="1"/>
          </p:cNvSpPr>
          <p:nvPr/>
        </p:nvSpPr>
        <p:spPr bwMode="auto">
          <a:xfrm>
            <a:off x="4256380" y="5493391"/>
            <a:ext cx="437941"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45</a:t>
            </a:r>
            <a:endParaRPr lang="zh-CN" altLang="en-US" sz="1600" b="1" dirty="0">
              <a:solidFill>
                <a:srgbClr val="11576A"/>
              </a:solidFill>
              <a:latin typeface="微软雅黑" pitchFamily="34" charset="-122"/>
              <a:ea typeface="微软雅黑" pitchFamily="34" charset="-122"/>
            </a:endParaRPr>
          </a:p>
        </p:txBody>
      </p:sp>
      <p:sp>
        <p:nvSpPr>
          <p:cNvPr id="47" name="Text Box 3"/>
          <p:cNvSpPr>
            <a:spLocks noChangeArrowheads="1"/>
          </p:cNvSpPr>
          <p:nvPr/>
        </p:nvSpPr>
        <p:spPr bwMode="auto">
          <a:xfrm>
            <a:off x="4514502" y="5491314"/>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+85</a:t>
            </a:r>
            <a:endParaRPr lang="zh-CN" altLang="en-US" sz="1600" b="1" dirty="0">
              <a:solidFill>
                <a:srgbClr val="11576A"/>
              </a:solidFill>
              <a:latin typeface="微软雅黑" pitchFamily="34" charset="-122"/>
              <a:ea typeface="微软雅黑" pitchFamily="34" charset="-122"/>
            </a:endParaRPr>
          </a:p>
        </p:txBody>
      </p:sp>
      <p:sp>
        <p:nvSpPr>
          <p:cNvPr id="48" name="Text Box 3"/>
          <p:cNvSpPr>
            <a:spLocks noChangeArrowheads="1"/>
          </p:cNvSpPr>
          <p:nvPr/>
        </p:nvSpPr>
        <p:spPr bwMode="auto">
          <a:xfrm>
            <a:off x="4897287" y="5490956"/>
            <a:ext cx="720069"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+146</a:t>
            </a:r>
            <a:endParaRPr lang="zh-CN" altLang="en-US" sz="1600" b="1" dirty="0">
              <a:solidFill>
                <a:srgbClr val="11576A"/>
              </a:solidFill>
              <a:latin typeface="微软雅黑" pitchFamily="34" charset="-122"/>
              <a:ea typeface="微软雅黑" pitchFamily="34" charset="-122"/>
            </a:endParaRPr>
          </a:p>
        </p:txBody>
      </p:sp>
      <p:sp>
        <p:nvSpPr>
          <p:cNvPr id="49" name="Text Box 3"/>
          <p:cNvSpPr>
            <a:spLocks noChangeArrowheads="1"/>
          </p:cNvSpPr>
          <p:nvPr/>
        </p:nvSpPr>
        <p:spPr bwMode="auto">
          <a:xfrm>
            <a:off x="5423582" y="5488857"/>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+85</a:t>
            </a:r>
            <a:endParaRPr lang="zh-CN" altLang="en-US" sz="1600" b="1" dirty="0">
              <a:solidFill>
                <a:srgbClr val="11576A"/>
              </a:solidFill>
              <a:latin typeface="微软雅黑" pitchFamily="34" charset="-122"/>
              <a:ea typeface="微软雅黑" pitchFamily="34" charset="-122"/>
            </a:endParaRPr>
          </a:p>
        </p:txBody>
      </p:sp>
      <p:sp>
        <p:nvSpPr>
          <p:cNvPr id="50" name="Text Box 3"/>
          <p:cNvSpPr>
            <a:spLocks noChangeArrowheads="1"/>
          </p:cNvSpPr>
          <p:nvPr/>
        </p:nvSpPr>
        <p:spPr bwMode="auto">
          <a:xfrm>
            <a:off x="5817907" y="5487189"/>
            <a:ext cx="720069"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+108</a:t>
            </a:r>
            <a:endParaRPr lang="zh-CN" altLang="en-US" sz="1600" b="1" dirty="0">
              <a:solidFill>
                <a:srgbClr val="11576A"/>
              </a:solidFill>
              <a:latin typeface="微软雅黑" pitchFamily="34" charset="-122"/>
              <a:ea typeface="微软雅黑" pitchFamily="34" charset="-122"/>
            </a:endParaRPr>
          </a:p>
        </p:txBody>
      </p:sp>
      <p:sp>
        <p:nvSpPr>
          <p:cNvPr id="51" name="Text Box 3"/>
          <p:cNvSpPr>
            <a:spLocks noChangeArrowheads="1"/>
          </p:cNvSpPr>
          <p:nvPr/>
        </p:nvSpPr>
        <p:spPr bwMode="auto">
          <a:xfrm>
            <a:off x="6355908" y="5480961"/>
            <a:ext cx="720069"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+110</a:t>
            </a:r>
            <a:endParaRPr lang="zh-CN" altLang="en-US" sz="1600" b="1" dirty="0">
              <a:solidFill>
                <a:srgbClr val="11576A"/>
              </a:solidFill>
              <a:latin typeface="微软雅黑" pitchFamily="34" charset="-122"/>
              <a:ea typeface="微软雅黑" pitchFamily="34" charset="-122"/>
            </a:endParaRPr>
          </a:p>
        </p:txBody>
      </p:sp>
      <p:sp>
        <p:nvSpPr>
          <p:cNvPr id="52" name="Text Box 3"/>
          <p:cNvSpPr>
            <a:spLocks noChangeArrowheads="1"/>
          </p:cNvSpPr>
          <p:nvPr/>
        </p:nvSpPr>
        <p:spPr bwMode="auto">
          <a:xfrm>
            <a:off x="6882236" y="5476986"/>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+59</a:t>
            </a:r>
            <a:endParaRPr lang="zh-CN" altLang="en-US" sz="1600" b="1" dirty="0">
              <a:solidFill>
                <a:srgbClr val="11576A"/>
              </a:solidFill>
              <a:latin typeface="微软雅黑" pitchFamily="34" charset="-122"/>
              <a:ea typeface="微软雅黑" pitchFamily="34" charset="-122"/>
            </a:endParaRPr>
          </a:p>
        </p:txBody>
      </p:sp>
      <p:sp>
        <p:nvSpPr>
          <p:cNvPr id="53" name="Text Box 3"/>
          <p:cNvSpPr>
            <a:spLocks noChangeArrowheads="1"/>
          </p:cNvSpPr>
          <p:nvPr/>
        </p:nvSpPr>
        <p:spPr bwMode="auto">
          <a:xfrm>
            <a:off x="7297116" y="5476889"/>
            <a:ext cx="46679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a:t>
            </a:r>
            <a:endParaRPr lang="zh-CN" altLang="en-US" sz="1600" b="1" dirty="0">
              <a:solidFill>
                <a:srgbClr val="11576A"/>
              </a:solidFill>
              <a:latin typeface="微软雅黑" pitchFamily="34" charset="-122"/>
              <a:ea typeface="微软雅黑" pitchFamily="34" charset="-122"/>
            </a:endParaRPr>
          </a:p>
        </p:txBody>
      </p:sp>
      <p:sp>
        <p:nvSpPr>
          <p:cNvPr id="54" name="Text Box 3"/>
          <p:cNvSpPr>
            <a:spLocks noChangeArrowheads="1"/>
          </p:cNvSpPr>
          <p:nvPr/>
        </p:nvSpPr>
        <p:spPr bwMode="auto">
          <a:xfrm>
            <a:off x="7582057" y="5474781"/>
            <a:ext cx="720069"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=640</a:t>
            </a:r>
            <a:endParaRPr lang="zh-CN" altLang="en-US" sz="1600" b="1" dirty="0">
              <a:solidFill>
                <a:srgbClr val="11576A"/>
              </a:solidFill>
              <a:latin typeface="微软雅黑" pitchFamily="34" charset="-122"/>
              <a:ea typeface="微软雅黑" pitchFamily="34" charset="-122"/>
            </a:endParaRPr>
          </a:p>
        </p:txBody>
      </p:sp>
      <p:sp>
        <p:nvSpPr>
          <p:cNvPr id="13" name="标题 12">
            <a:extLst>
              <a:ext uri="{FF2B5EF4-FFF2-40B4-BE49-F238E27FC236}">
                <a16:creationId xmlns:a16="http://schemas.microsoft.com/office/drawing/2014/main" id="{3456B0DA-668D-819D-F69E-F7CB1C51C99B}"/>
              </a:ext>
            </a:extLst>
          </p:cNvPr>
          <p:cNvSpPr>
            <a:spLocks noGrp="1"/>
          </p:cNvSpPr>
          <p:nvPr>
            <p:ph type="title"/>
          </p:nvPr>
        </p:nvSpPr>
        <p:spPr/>
        <p:txBody>
          <a:bodyPr>
            <a:normAutofit/>
          </a:bodyPr>
          <a:lstStyle/>
          <a:p>
            <a:r>
              <a:rPr lang="en-US" altLang="zh-CN" dirty="0"/>
              <a:t>FIFO</a:t>
            </a:r>
            <a:r>
              <a:rPr lang="zh-CN" altLang="en-US" dirty="0"/>
              <a:t>算法示例</a:t>
            </a:r>
          </a:p>
        </p:txBody>
      </p:sp>
      <p:sp>
        <p:nvSpPr>
          <p:cNvPr id="55" name="灯片编号占位符 54">
            <a:extLst>
              <a:ext uri="{FF2B5EF4-FFF2-40B4-BE49-F238E27FC236}">
                <a16:creationId xmlns:a16="http://schemas.microsoft.com/office/drawing/2014/main" id="{F5991539-B732-19D9-9BDB-AC8B3061ED23}"/>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57</a:t>
            </a:fld>
            <a:endParaRPr lang="zh-CN" altLang="en-US" dirty="0"/>
          </a:p>
        </p:txBody>
      </p:sp>
    </p:spTree>
    <p:extLst>
      <p:ext uri="{BB962C8B-B14F-4D97-AF65-F5344CB8AC3E}">
        <p14:creationId xmlns:p14="http://schemas.microsoft.com/office/powerpoint/2010/main" val="162458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left)">
                                      <p:cBhvr>
                                        <p:cTn id="17" dur="500"/>
                                        <p:tgtEl>
                                          <p:spTgt spid="37"/>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left)">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wipe(left)">
                                      <p:cBhvr>
                                        <p:cTn id="30" dur="500"/>
                                        <p:tgtEl>
                                          <p:spTgt spid="38"/>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wipe(left)">
                                      <p:cBhvr>
                                        <p:cTn id="34" dur="500"/>
                                        <p:tgtEl>
                                          <p:spTgt spid="4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right)">
                                      <p:cBhvr>
                                        <p:cTn id="39" dur="500"/>
                                        <p:tgtEl>
                                          <p:spTgt spid="39"/>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wipe(left)">
                                      <p:cBhvr>
                                        <p:cTn id="43" dur="500"/>
                                        <p:tgtEl>
                                          <p:spTgt spid="4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left)">
                                      <p:cBhvr>
                                        <p:cTn id="48" dur="500"/>
                                        <p:tgtEl>
                                          <p:spTgt spid="40"/>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wipe(left)">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wipe(right)">
                                      <p:cBhvr>
                                        <p:cTn id="57" dur="500"/>
                                        <p:tgtEl>
                                          <p:spTgt spid="41"/>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left)">
                                      <p:cBhvr>
                                        <p:cTn id="61" dur="500"/>
                                        <p:tgtEl>
                                          <p:spTgt spid="5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left)">
                                      <p:cBhvr>
                                        <p:cTn id="66" dur="500"/>
                                        <p:tgtEl>
                                          <p:spTgt spid="42"/>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wipe(left)">
                                      <p:cBhvr>
                                        <p:cTn id="70" dur="500"/>
                                        <p:tgtEl>
                                          <p:spTgt spid="5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wipe(right)">
                                      <p:cBhvr>
                                        <p:cTn id="75" dur="500"/>
                                        <p:tgtEl>
                                          <p:spTgt spid="43"/>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wipe(left)">
                                      <p:cBhvr>
                                        <p:cTn id="79" dur="500"/>
                                        <p:tgtEl>
                                          <p:spTgt spid="5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4"/>
                                        </p:tgtEl>
                                        <p:attrNameLst>
                                          <p:attrName>style.visibility</p:attrName>
                                        </p:attrNameLst>
                                      </p:cBhvr>
                                      <p:to>
                                        <p:strVal val="visible"/>
                                      </p:to>
                                    </p:set>
                                    <p:animEffect transition="in" filter="wipe(up)">
                                      <p:cBhvr>
                                        <p:cTn id="84" dur="500"/>
                                        <p:tgtEl>
                                          <p:spTgt spid="4"/>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wipe(left)">
                                      <p:cBhvr>
                                        <p:cTn id="9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6" grpId="0"/>
      <p:bldP spid="47" grpId="0"/>
      <p:bldP spid="48" grpId="0"/>
      <p:bldP spid="49" grpId="0"/>
      <p:bldP spid="50" grpId="0"/>
      <p:bldP spid="51" grpId="0"/>
      <p:bldP spid="52" grpId="0"/>
      <p:bldP spid="53" grpId="0"/>
      <p:bldP spid="5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67408" y="1628800"/>
            <a:ext cx="5798809" cy="755656"/>
            <a:chOff x="844893" y="1000114"/>
            <a:chExt cx="5798809" cy="755656"/>
          </a:xfrm>
        </p:grpSpPr>
        <p:sp>
          <p:nvSpPr>
            <p:cNvPr id="9" name="内容占位符 2"/>
            <p:cNvSpPr txBox="1">
              <a:spLocks/>
            </p:cNvSpPr>
            <p:nvPr/>
          </p:nvSpPr>
          <p:spPr>
            <a:xfrm>
              <a:off x="1142976" y="1000114"/>
              <a:ext cx="550072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defRPr/>
              </a:pPr>
              <a:r>
                <a:rPr lang="zh-CN" altLang="en-US" dirty="0">
                  <a:sym typeface="宋体" charset="0"/>
                </a:rPr>
                <a:t>选择从磁臂当前位置需要移动最少的</a:t>
              </a:r>
              <a:r>
                <a:rPr lang="en-US" altLang="zh-CN" dirty="0">
                  <a:sym typeface="宋体" charset="0"/>
                </a:rPr>
                <a:t>I/O</a:t>
              </a:r>
              <a:r>
                <a:rPr lang="zh-CN" altLang="en-US" dirty="0">
                  <a:sym typeface="宋体" charset="0"/>
                </a:rPr>
                <a:t>请求</a:t>
              </a:r>
              <a:endParaRPr lang="zh-CN" altLang="en-US" dirty="0"/>
            </a:p>
          </p:txBody>
        </p:sp>
        <p:sp>
          <p:nvSpPr>
            <p:cNvPr id="12" name="TextBox 11"/>
            <p:cNvSpPr txBox="1"/>
            <p:nvPr/>
          </p:nvSpPr>
          <p:spPr>
            <a:xfrm>
              <a:off x="844893" y="100011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sp>
          <p:nvSpPr>
            <p:cNvPr id="15" name="内容占位符 2"/>
            <p:cNvSpPr txBox="1">
              <a:spLocks/>
            </p:cNvSpPr>
            <p:nvPr/>
          </p:nvSpPr>
          <p:spPr>
            <a:xfrm>
              <a:off x="1142976" y="1327142"/>
              <a:ext cx="307183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pPr>
              <a:r>
                <a:rPr lang="zh-CN" altLang="en-US" dirty="0">
                  <a:sym typeface="宋体" charset="0"/>
                </a:rPr>
                <a:t>总是选择最短寻道时间</a:t>
              </a:r>
              <a:endParaRPr lang="zh-CN" altLang="en-US" dirty="0"/>
            </a:p>
          </p:txBody>
        </p:sp>
        <p:sp>
          <p:nvSpPr>
            <p:cNvPr id="16" name="TextBox 15"/>
            <p:cNvSpPr txBox="1"/>
            <p:nvPr/>
          </p:nvSpPr>
          <p:spPr>
            <a:xfrm>
              <a:off x="844893" y="1327142"/>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cxnSp>
        <p:nvCxnSpPr>
          <p:cNvPr id="45" name="肘形连接符 44"/>
          <p:cNvCxnSpPr/>
          <p:nvPr/>
        </p:nvCxnSpPr>
        <p:spPr>
          <a:xfrm rot="5400000">
            <a:off x="-5965105" y="3321843"/>
            <a:ext cx="8215370" cy="14287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5" name="标题 4">
            <a:extLst>
              <a:ext uri="{FF2B5EF4-FFF2-40B4-BE49-F238E27FC236}">
                <a16:creationId xmlns:a16="http://schemas.microsoft.com/office/drawing/2014/main" id="{ABFCF5EB-D2CC-150D-947D-6B3AD9187283}"/>
              </a:ext>
            </a:extLst>
          </p:cNvPr>
          <p:cNvSpPr>
            <a:spLocks noGrp="1"/>
          </p:cNvSpPr>
          <p:nvPr>
            <p:ph type="title"/>
          </p:nvPr>
        </p:nvSpPr>
        <p:spPr/>
        <p:txBody>
          <a:bodyPr>
            <a:normAutofit/>
          </a:bodyPr>
          <a:lstStyle/>
          <a:p>
            <a:r>
              <a:rPr lang="zh-CN" altLang="en-US" dirty="0"/>
              <a:t>最短服务时间优先</a:t>
            </a:r>
            <a:r>
              <a:rPr lang="en-US" altLang="zh-CN" dirty="0"/>
              <a:t>(SSTF)</a:t>
            </a:r>
            <a:endParaRPr lang="zh-CN" altLang="en-US" dirty="0"/>
          </a:p>
        </p:txBody>
      </p:sp>
      <p:sp>
        <p:nvSpPr>
          <p:cNvPr id="7" name="灯片编号占位符 6">
            <a:extLst>
              <a:ext uri="{FF2B5EF4-FFF2-40B4-BE49-F238E27FC236}">
                <a16:creationId xmlns:a16="http://schemas.microsoft.com/office/drawing/2014/main" id="{0BBB1926-C172-C7CB-F0C2-01FE0BE824D5}"/>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58</a:t>
            </a:fld>
            <a:endParaRPr lang="zh-CN" altLang="en-US" dirty="0"/>
          </a:p>
        </p:txBody>
      </p:sp>
    </p:spTree>
    <p:extLst>
      <p:ext uri="{BB962C8B-B14F-4D97-AF65-F5344CB8AC3E}">
        <p14:creationId xmlns:p14="http://schemas.microsoft.com/office/powerpoint/2010/main" val="249431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1"/>
          <p:cNvSpPr>
            <a:spLocks noChangeArrowheads="1"/>
          </p:cNvSpPr>
          <p:nvPr/>
        </p:nvSpPr>
        <p:spPr bwMode="auto">
          <a:xfrm>
            <a:off x="2566990" y="7524740"/>
            <a:ext cx="7733207"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eaLnBrk="1" fontAlgn="auto" hangingPunct="1">
              <a:lnSpc>
                <a:spcPct val="100000"/>
              </a:lnSpc>
              <a:spcBef>
                <a:spcPts val="0"/>
              </a:spcBef>
              <a:spcAft>
                <a:spcPts val="0"/>
              </a:spcAft>
              <a:buSzTx/>
              <a:buNone/>
            </a:pPr>
            <a:r>
              <a:rPr lang="en-US" altLang="zh-CN" sz="1600" dirty="0">
                <a:solidFill>
                  <a:srgbClr val="000099"/>
                </a:solidFill>
                <a:latin typeface="MS PGothic"/>
                <a:ea typeface="MS PGothic" charset="0"/>
                <a:cs typeface="MS PGothic" charset="0"/>
                <a:hlinkClick r:id="rId2"/>
              </a:rPr>
              <a:t>http://cs.uttyler.edu/Faculty/Rainwater/COSC3355/Animations/diskschedulingfcfs.htm</a:t>
            </a:r>
            <a:endParaRPr lang="en-US" altLang="zh-CN" sz="1600" dirty="0">
              <a:solidFill>
                <a:srgbClr val="000099"/>
              </a:solidFill>
              <a:latin typeface="MS PGothic"/>
              <a:ea typeface="MS PGothic" charset="0"/>
              <a:cs typeface="MS PGothic" charset="0"/>
            </a:endParaRPr>
          </a:p>
        </p:txBody>
      </p:sp>
      <p:sp>
        <p:nvSpPr>
          <p:cNvPr id="6" name="Text Box 3"/>
          <p:cNvSpPr>
            <a:spLocks noChangeArrowheads="1"/>
          </p:cNvSpPr>
          <p:nvPr/>
        </p:nvSpPr>
        <p:spPr bwMode="auto">
          <a:xfrm>
            <a:off x="2855640" y="5813965"/>
            <a:ext cx="19816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zh-CN" altLang="en-US" sz="1600" b="1" dirty="0">
                <a:solidFill>
                  <a:srgbClr val="11576A"/>
                </a:solidFill>
                <a:latin typeface="微软雅黑" pitchFamily="34" charset="-122"/>
                <a:ea typeface="微软雅黑" pitchFamily="34" charset="-122"/>
                <a:sym typeface="宋体" charset="0"/>
              </a:rPr>
              <a:t>合计磁头移动距离</a:t>
            </a:r>
            <a:r>
              <a:rPr lang="en-US" altLang="zh-CN" sz="1600" b="1" dirty="0">
                <a:solidFill>
                  <a:srgbClr val="11576A"/>
                </a:solidFill>
                <a:latin typeface="微软雅黑" pitchFamily="34" charset="-122"/>
                <a:ea typeface="微软雅黑" pitchFamily="34" charset="-122"/>
                <a:sym typeface="宋体" charset="0"/>
              </a:rPr>
              <a:t>=</a:t>
            </a:r>
            <a:endParaRPr lang="zh-CN" altLang="en-US" sz="1600" b="1" dirty="0">
              <a:solidFill>
                <a:srgbClr val="11576A"/>
              </a:solidFill>
              <a:latin typeface="微软雅黑" pitchFamily="34" charset="-122"/>
              <a:ea typeface="微软雅黑" pitchFamily="34" charset="-122"/>
            </a:endParaRPr>
          </a:p>
        </p:txBody>
      </p:sp>
      <p:grpSp>
        <p:nvGrpSpPr>
          <p:cNvPr id="2" name="组合 1"/>
          <p:cNvGrpSpPr/>
          <p:nvPr/>
        </p:nvGrpSpPr>
        <p:grpSpPr>
          <a:xfrm>
            <a:off x="2761864" y="1700808"/>
            <a:ext cx="6609253" cy="349888"/>
            <a:chOff x="1237860" y="843558"/>
            <a:chExt cx="6609253" cy="349888"/>
          </a:xfrm>
        </p:grpSpPr>
        <p:sp>
          <p:nvSpPr>
            <p:cNvPr id="9" name="TextBox 8"/>
            <p:cNvSpPr txBox="1"/>
            <p:nvPr/>
          </p:nvSpPr>
          <p:spPr>
            <a:xfrm>
              <a:off x="1237860" y="854892"/>
              <a:ext cx="4514377"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600" b="1" dirty="0">
                  <a:solidFill>
                    <a:srgbClr val="005072"/>
                  </a:solidFill>
                  <a:latin typeface="微软雅黑"/>
                  <a:ea typeface="微软雅黑"/>
                </a:rPr>
                <a:t>磁盘访问序列 </a:t>
              </a:r>
              <a:r>
                <a:rPr lang="en-US" altLang="zh-CN" sz="1600" b="1" dirty="0">
                  <a:solidFill>
                    <a:srgbClr val="005072"/>
                  </a:solidFill>
                  <a:latin typeface="微软雅黑"/>
                  <a:ea typeface="微软雅黑"/>
                </a:rPr>
                <a:t>= 98,183,37,122,14,124,65,67</a:t>
              </a:r>
              <a:endParaRPr lang="zh-CN" altLang="en-US" sz="1600" b="1" dirty="0">
                <a:solidFill>
                  <a:srgbClr val="005072"/>
                </a:solidFill>
                <a:latin typeface="微软雅黑"/>
                <a:ea typeface="微软雅黑"/>
              </a:endParaRPr>
            </a:p>
          </p:txBody>
        </p:sp>
        <p:sp>
          <p:nvSpPr>
            <p:cNvPr id="10" name="TextBox 9"/>
            <p:cNvSpPr txBox="1"/>
            <p:nvPr/>
          </p:nvSpPr>
          <p:spPr>
            <a:xfrm>
              <a:off x="5918380" y="843558"/>
              <a:ext cx="1928733"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600" b="1" dirty="0">
                  <a:solidFill>
                    <a:srgbClr val="005072"/>
                  </a:solidFill>
                  <a:latin typeface="微软雅黑"/>
                  <a:ea typeface="微软雅黑"/>
                </a:rPr>
                <a:t>初始磁头位置：</a:t>
              </a:r>
              <a:r>
                <a:rPr lang="en-US" altLang="zh-CN" sz="1600" b="1" dirty="0">
                  <a:solidFill>
                    <a:srgbClr val="005072"/>
                  </a:solidFill>
                  <a:latin typeface="微软雅黑"/>
                  <a:ea typeface="微软雅黑"/>
                </a:rPr>
                <a:t>53</a:t>
              </a:r>
              <a:endParaRPr lang="zh-CN" altLang="en-US" sz="1600" b="1" dirty="0">
                <a:solidFill>
                  <a:srgbClr val="005072"/>
                </a:solidFill>
                <a:latin typeface="微软雅黑"/>
                <a:ea typeface="微软雅黑"/>
              </a:endParaRPr>
            </a:p>
          </p:txBody>
        </p:sp>
      </p:grpSp>
      <p:grpSp>
        <p:nvGrpSpPr>
          <p:cNvPr id="3" name="组合 2"/>
          <p:cNvGrpSpPr/>
          <p:nvPr/>
        </p:nvGrpSpPr>
        <p:grpSpPr>
          <a:xfrm>
            <a:off x="2577133" y="1995641"/>
            <a:ext cx="6967188" cy="556760"/>
            <a:chOff x="1053133" y="1138391"/>
            <a:chExt cx="6967188" cy="556760"/>
          </a:xfrm>
        </p:grpSpPr>
        <p:sp>
          <p:nvSpPr>
            <p:cNvPr id="11" name="TextBox 10"/>
            <p:cNvSpPr txBox="1"/>
            <p:nvPr/>
          </p:nvSpPr>
          <p:spPr>
            <a:xfrm>
              <a:off x="1053133" y="1138391"/>
              <a:ext cx="311304"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0</a:t>
              </a:r>
              <a:endParaRPr lang="zh-CN" altLang="en-US" sz="1600" b="1" dirty="0">
                <a:solidFill>
                  <a:srgbClr val="005072"/>
                </a:solidFill>
                <a:latin typeface="微软雅黑"/>
                <a:ea typeface="微软雅黑"/>
              </a:endParaRPr>
            </a:p>
          </p:txBody>
        </p:sp>
        <p:sp>
          <p:nvSpPr>
            <p:cNvPr id="12" name="TextBox 11"/>
            <p:cNvSpPr txBox="1"/>
            <p:nvPr/>
          </p:nvSpPr>
          <p:spPr>
            <a:xfrm>
              <a:off x="1433364"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14</a:t>
              </a:r>
              <a:endParaRPr lang="zh-CN" altLang="en-US" sz="1600" b="1" dirty="0">
                <a:solidFill>
                  <a:srgbClr val="005072"/>
                </a:solidFill>
                <a:latin typeface="微软雅黑"/>
                <a:ea typeface="微软雅黑"/>
              </a:endParaRPr>
            </a:p>
          </p:txBody>
        </p:sp>
        <p:sp>
          <p:nvSpPr>
            <p:cNvPr id="15" name="TextBox 14"/>
            <p:cNvSpPr txBox="1"/>
            <p:nvPr/>
          </p:nvSpPr>
          <p:spPr>
            <a:xfrm>
              <a:off x="2233836"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37</a:t>
              </a:r>
              <a:endParaRPr lang="zh-CN" altLang="en-US" sz="1600" b="1" dirty="0">
                <a:solidFill>
                  <a:srgbClr val="005072"/>
                </a:solidFill>
                <a:latin typeface="微软雅黑"/>
                <a:ea typeface="微软雅黑"/>
              </a:endParaRPr>
            </a:p>
          </p:txBody>
        </p:sp>
        <p:sp>
          <p:nvSpPr>
            <p:cNvPr id="16" name="TextBox 15"/>
            <p:cNvSpPr txBox="1"/>
            <p:nvPr/>
          </p:nvSpPr>
          <p:spPr>
            <a:xfrm>
              <a:off x="2751609"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53</a:t>
              </a:r>
              <a:endParaRPr lang="zh-CN" altLang="en-US" sz="1600" b="1" dirty="0">
                <a:solidFill>
                  <a:srgbClr val="005072"/>
                </a:solidFill>
                <a:latin typeface="微软雅黑"/>
                <a:ea typeface="微软雅黑"/>
              </a:endParaRPr>
            </a:p>
          </p:txBody>
        </p:sp>
        <p:sp>
          <p:nvSpPr>
            <p:cNvPr id="17" name="TextBox 16"/>
            <p:cNvSpPr txBox="1"/>
            <p:nvPr/>
          </p:nvSpPr>
          <p:spPr>
            <a:xfrm>
              <a:off x="3065165"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65</a:t>
              </a:r>
              <a:endParaRPr lang="zh-CN" altLang="en-US" sz="1600" b="1" dirty="0">
                <a:solidFill>
                  <a:srgbClr val="005072"/>
                </a:solidFill>
                <a:latin typeface="微软雅黑"/>
                <a:ea typeface="微软雅黑"/>
              </a:endParaRPr>
            </a:p>
          </p:txBody>
        </p:sp>
        <p:sp>
          <p:nvSpPr>
            <p:cNvPr id="18" name="TextBox 17"/>
            <p:cNvSpPr txBox="1"/>
            <p:nvPr/>
          </p:nvSpPr>
          <p:spPr>
            <a:xfrm>
              <a:off x="3376439"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67</a:t>
              </a:r>
              <a:endParaRPr lang="zh-CN" altLang="en-US" sz="1600" b="1" dirty="0">
                <a:solidFill>
                  <a:srgbClr val="005072"/>
                </a:solidFill>
                <a:latin typeface="微软雅黑"/>
                <a:ea typeface="微软雅黑"/>
              </a:endParaRPr>
            </a:p>
          </p:txBody>
        </p:sp>
        <p:sp>
          <p:nvSpPr>
            <p:cNvPr id="19" name="TextBox 18"/>
            <p:cNvSpPr txBox="1"/>
            <p:nvPr/>
          </p:nvSpPr>
          <p:spPr>
            <a:xfrm>
              <a:off x="4221485"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98</a:t>
              </a:r>
              <a:endParaRPr lang="zh-CN" altLang="en-US" sz="1600" b="1" dirty="0">
                <a:solidFill>
                  <a:srgbClr val="005072"/>
                </a:solidFill>
                <a:latin typeface="微软雅黑"/>
                <a:ea typeface="微软雅黑"/>
              </a:endParaRPr>
            </a:p>
          </p:txBody>
        </p:sp>
        <p:sp>
          <p:nvSpPr>
            <p:cNvPr id="20" name="TextBox 19"/>
            <p:cNvSpPr txBox="1"/>
            <p:nvPr/>
          </p:nvSpPr>
          <p:spPr>
            <a:xfrm>
              <a:off x="4768974"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122</a:t>
              </a:r>
              <a:endParaRPr lang="zh-CN" altLang="en-US" sz="1600" b="1" dirty="0">
                <a:solidFill>
                  <a:srgbClr val="005072"/>
                </a:solidFill>
                <a:latin typeface="微软雅黑"/>
                <a:ea typeface="微软雅黑"/>
              </a:endParaRPr>
            </a:p>
          </p:txBody>
        </p:sp>
        <p:sp>
          <p:nvSpPr>
            <p:cNvPr id="22" name="TextBox 21"/>
            <p:cNvSpPr txBox="1"/>
            <p:nvPr/>
          </p:nvSpPr>
          <p:spPr>
            <a:xfrm>
              <a:off x="5234930"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124</a:t>
              </a:r>
              <a:endParaRPr lang="zh-CN" altLang="en-US" sz="1600" b="1" dirty="0">
                <a:solidFill>
                  <a:srgbClr val="005072"/>
                </a:solidFill>
                <a:latin typeface="微软雅黑"/>
                <a:ea typeface="微软雅黑"/>
              </a:endParaRPr>
            </a:p>
          </p:txBody>
        </p:sp>
        <p:sp>
          <p:nvSpPr>
            <p:cNvPr id="23" name="TextBox 22"/>
            <p:cNvSpPr txBox="1"/>
            <p:nvPr/>
          </p:nvSpPr>
          <p:spPr>
            <a:xfrm>
              <a:off x="6982527"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183</a:t>
              </a:r>
              <a:endParaRPr lang="zh-CN" altLang="en-US" sz="1600" b="1" dirty="0">
                <a:solidFill>
                  <a:srgbClr val="005072"/>
                </a:solidFill>
                <a:latin typeface="微软雅黑"/>
                <a:ea typeface="微软雅黑"/>
              </a:endParaRPr>
            </a:p>
          </p:txBody>
        </p:sp>
        <p:sp>
          <p:nvSpPr>
            <p:cNvPr id="24" name="TextBox 23"/>
            <p:cNvSpPr txBox="1"/>
            <p:nvPr/>
          </p:nvSpPr>
          <p:spPr>
            <a:xfrm>
              <a:off x="7455743"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199</a:t>
              </a:r>
              <a:endParaRPr lang="zh-CN" altLang="en-US" sz="1600" b="1" dirty="0">
                <a:solidFill>
                  <a:srgbClr val="005072"/>
                </a:solidFill>
                <a:latin typeface="微软雅黑"/>
                <a:ea typeface="微软雅黑"/>
              </a:endParaRPr>
            </a:p>
          </p:txBody>
        </p:sp>
        <p:cxnSp>
          <p:nvCxnSpPr>
            <p:cNvPr id="25" name="直接连接符 24"/>
            <p:cNvCxnSpPr/>
            <p:nvPr/>
          </p:nvCxnSpPr>
          <p:spPr>
            <a:xfrm>
              <a:off x="7741493" y="140715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217340" y="140715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300689"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321796"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262364"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453508"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426346"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3366914"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462808"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069357"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658913"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rot="5400000">
              <a:off x="4480172" y="-1711025"/>
              <a:ext cx="0" cy="6516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cxnSp>
        <p:nvCxnSpPr>
          <p:cNvPr id="37" name="直接连接符 36"/>
          <p:cNvCxnSpPr/>
          <p:nvPr/>
        </p:nvCxnSpPr>
        <p:spPr>
          <a:xfrm>
            <a:off x="4577557" y="2560710"/>
            <a:ext cx="305927" cy="364234"/>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83480" y="2968816"/>
            <a:ext cx="66866" cy="388176"/>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4007768" y="3392162"/>
            <a:ext cx="942578" cy="180854"/>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3182913" y="3604950"/>
            <a:ext cx="805240" cy="328106"/>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3182917" y="3975260"/>
            <a:ext cx="2874615" cy="381022"/>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096000" y="4356286"/>
            <a:ext cx="720080" cy="275995"/>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6817476" y="4645442"/>
            <a:ext cx="63100" cy="329108"/>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6880769" y="5013372"/>
            <a:ext cx="1997920" cy="437417"/>
            <a:chOff x="3359480" y="4159451"/>
            <a:chExt cx="1997920" cy="437417"/>
          </a:xfrm>
        </p:grpSpPr>
        <p:cxnSp>
          <p:nvCxnSpPr>
            <p:cNvPr id="44" name="直接连接符 43"/>
            <p:cNvCxnSpPr>
              <a:endCxn id="45" idx="2"/>
            </p:cNvCxnSpPr>
            <p:nvPr/>
          </p:nvCxnSpPr>
          <p:spPr>
            <a:xfrm>
              <a:off x="3359480" y="4159451"/>
              <a:ext cx="1889920" cy="383417"/>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5249400" y="4488868"/>
              <a:ext cx="108000" cy="108000"/>
            </a:xfrm>
            <a:prstGeom prst="ellipse">
              <a:avLst/>
            </a:prstGeom>
            <a:solidFill>
              <a:srgbClr val="00507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sp>
        <p:nvSpPr>
          <p:cNvPr id="46" name="Text Box 3"/>
          <p:cNvSpPr>
            <a:spLocks noChangeArrowheads="1"/>
          </p:cNvSpPr>
          <p:nvPr/>
        </p:nvSpPr>
        <p:spPr bwMode="auto">
          <a:xfrm>
            <a:off x="4663577" y="5826750"/>
            <a:ext cx="437941"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12</a:t>
            </a:r>
            <a:endParaRPr lang="zh-CN" altLang="en-US" sz="1600" b="1" dirty="0">
              <a:solidFill>
                <a:srgbClr val="11576A"/>
              </a:solidFill>
              <a:latin typeface="微软雅黑" pitchFamily="34" charset="-122"/>
              <a:ea typeface="微软雅黑" pitchFamily="34" charset="-122"/>
            </a:endParaRPr>
          </a:p>
        </p:txBody>
      </p:sp>
      <p:sp>
        <p:nvSpPr>
          <p:cNvPr id="47" name="Text Box 3"/>
          <p:cNvSpPr>
            <a:spLocks noChangeArrowheads="1"/>
          </p:cNvSpPr>
          <p:nvPr/>
        </p:nvSpPr>
        <p:spPr bwMode="auto">
          <a:xfrm>
            <a:off x="4913325" y="5824673"/>
            <a:ext cx="46679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a:t>
            </a:r>
            <a:endParaRPr lang="zh-CN" altLang="en-US" sz="1600" b="1" dirty="0">
              <a:solidFill>
                <a:srgbClr val="11576A"/>
              </a:solidFill>
              <a:latin typeface="微软雅黑" pitchFamily="34" charset="-122"/>
              <a:ea typeface="微软雅黑" pitchFamily="34" charset="-122"/>
            </a:endParaRPr>
          </a:p>
        </p:txBody>
      </p:sp>
      <p:sp>
        <p:nvSpPr>
          <p:cNvPr id="48" name="Text Box 3"/>
          <p:cNvSpPr>
            <a:spLocks noChangeArrowheads="1"/>
          </p:cNvSpPr>
          <p:nvPr/>
        </p:nvSpPr>
        <p:spPr bwMode="auto">
          <a:xfrm>
            <a:off x="5199204" y="5824315"/>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+30</a:t>
            </a:r>
            <a:endParaRPr lang="zh-CN" altLang="en-US" sz="1600" b="1" dirty="0">
              <a:solidFill>
                <a:srgbClr val="11576A"/>
              </a:solidFill>
              <a:latin typeface="微软雅黑" pitchFamily="34" charset="-122"/>
              <a:ea typeface="微软雅黑" pitchFamily="34" charset="-122"/>
            </a:endParaRPr>
          </a:p>
        </p:txBody>
      </p:sp>
      <p:sp>
        <p:nvSpPr>
          <p:cNvPr id="49" name="Text Box 3"/>
          <p:cNvSpPr>
            <a:spLocks noChangeArrowheads="1"/>
          </p:cNvSpPr>
          <p:nvPr/>
        </p:nvSpPr>
        <p:spPr bwMode="auto">
          <a:xfrm>
            <a:off x="5606012" y="5822216"/>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+23</a:t>
            </a:r>
            <a:endParaRPr lang="zh-CN" altLang="en-US" sz="1600" b="1" dirty="0">
              <a:solidFill>
                <a:srgbClr val="11576A"/>
              </a:solidFill>
              <a:latin typeface="微软雅黑" pitchFamily="34" charset="-122"/>
              <a:ea typeface="微软雅黑" pitchFamily="34" charset="-122"/>
            </a:endParaRPr>
          </a:p>
        </p:txBody>
      </p:sp>
      <p:sp>
        <p:nvSpPr>
          <p:cNvPr id="50" name="Text Box 3"/>
          <p:cNvSpPr>
            <a:spLocks noChangeArrowheads="1"/>
          </p:cNvSpPr>
          <p:nvPr/>
        </p:nvSpPr>
        <p:spPr bwMode="auto">
          <a:xfrm>
            <a:off x="6022253" y="5820548"/>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+84</a:t>
            </a:r>
            <a:endParaRPr lang="zh-CN" altLang="en-US" sz="1600" b="1" dirty="0">
              <a:solidFill>
                <a:srgbClr val="11576A"/>
              </a:solidFill>
              <a:latin typeface="微软雅黑" pitchFamily="34" charset="-122"/>
              <a:ea typeface="微软雅黑" pitchFamily="34" charset="-122"/>
            </a:endParaRPr>
          </a:p>
        </p:txBody>
      </p:sp>
      <p:sp>
        <p:nvSpPr>
          <p:cNvPr id="51" name="Text Box 3"/>
          <p:cNvSpPr>
            <a:spLocks noChangeArrowheads="1"/>
          </p:cNvSpPr>
          <p:nvPr/>
        </p:nvSpPr>
        <p:spPr bwMode="auto">
          <a:xfrm>
            <a:off x="6425337" y="5814320"/>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+24</a:t>
            </a:r>
            <a:endParaRPr lang="zh-CN" altLang="en-US" sz="1600" b="1" dirty="0">
              <a:solidFill>
                <a:srgbClr val="11576A"/>
              </a:solidFill>
              <a:latin typeface="微软雅黑" pitchFamily="34" charset="-122"/>
              <a:ea typeface="微软雅黑" pitchFamily="34" charset="-122"/>
            </a:endParaRPr>
          </a:p>
        </p:txBody>
      </p:sp>
      <p:sp>
        <p:nvSpPr>
          <p:cNvPr id="52" name="Text Box 3"/>
          <p:cNvSpPr>
            <a:spLocks noChangeArrowheads="1"/>
          </p:cNvSpPr>
          <p:nvPr/>
        </p:nvSpPr>
        <p:spPr bwMode="auto">
          <a:xfrm>
            <a:off x="6832145" y="5810345"/>
            <a:ext cx="46679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a:t>
            </a:r>
            <a:endParaRPr lang="zh-CN" altLang="en-US" sz="1600" b="1" dirty="0">
              <a:solidFill>
                <a:srgbClr val="11576A"/>
              </a:solidFill>
              <a:latin typeface="微软雅黑" pitchFamily="34" charset="-122"/>
              <a:ea typeface="微软雅黑" pitchFamily="34" charset="-122"/>
            </a:endParaRPr>
          </a:p>
        </p:txBody>
      </p:sp>
      <p:sp>
        <p:nvSpPr>
          <p:cNvPr id="53" name="Text Box 3"/>
          <p:cNvSpPr>
            <a:spLocks noChangeArrowheads="1"/>
          </p:cNvSpPr>
          <p:nvPr/>
        </p:nvSpPr>
        <p:spPr bwMode="auto">
          <a:xfrm>
            <a:off x="7129799" y="5810248"/>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+59</a:t>
            </a:r>
            <a:endParaRPr lang="zh-CN" altLang="en-US" sz="1600" b="1" dirty="0">
              <a:solidFill>
                <a:srgbClr val="11576A"/>
              </a:solidFill>
              <a:latin typeface="微软雅黑" pitchFamily="34" charset="-122"/>
              <a:ea typeface="微软雅黑" pitchFamily="34" charset="-122"/>
            </a:endParaRPr>
          </a:p>
        </p:txBody>
      </p:sp>
      <p:sp>
        <p:nvSpPr>
          <p:cNvPr id="54" name="Text Box 3"/>
          <p:cNvSpPr>
            <a:spLocks noChangeArrowheads="1"/>
          </p:cNvSpPr>
          <p:nvPr/>
        </p:nvSpPr>
        <p:spPr bwMode="auto">
          <a:xfrm>
            <a:off x="7563129" y="5808140"/>
            <a:ext cx="720069"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=236</a:t>
            </a:r>
            <a:endParaRPr lang="zh-CN" altLang="en-US" sz="1600" b="1" dirty="0">
              <a:solidFill>
                <a:srgbClr val="11576A"/>
              </a:solidFill>
              <a:latin typeface="微软雅黑" pitchFamily="34" charset="-122"/>
              <a:ea typeface="微软雅黑" pitchFamily="34" charset="-122"/>
            </a:endParaRPr>
          </a:p>
        </p:txBody>
      </p:sp>
      <p:sp>
        <p:nvSpPr>
          <p:cNvPr id="13" name="标题 12">
            <a:extLst>
              <a:ext uri="{FF2B5EF4-FFF2-40B4-BE49-F238E27FC236}">
                <a16:creationId xmlns:a16="http://schemas.microsoft.com/office/drawing/2014/main" id="{69E8FD73-FE78-2942-03DC-CF6269FB1CFD}"/>
              </a:ext>
            </a:extLst>
          </p:cNvPr>
          <p:cNvSpPr>
            <a:spLocks noGrp="1"/>
          </p:cNvSpPr>
          <p:nvPr>
            <p:ph type="title"/>
          </p:nvPr>
        </p:nvSpPr>
        <p:spPr/>
        <p:txBody>
          <a:bodyPr>
            <a:normAutofit/>
          </a:bodyPr>
          <a:lstStyle/>
          <a:p>
            <a:r>
              <a:rPr lang="en-US" altLang="zh-CN" dirty="0"/>
              <a:t>SSTF</a:t>
            </a:r>
            <a:r>
              <a:rPr lang="zh-CN" altLang="en-US" dirty="0"/>
              <a:t>算法示例</a:t>
            </a:r>
          </a:p>
        </p:txBody>
      </p:sp>
      <p:sp>
        <p:nvSpPr>
          <p:cNvPr id="55" name="灯片编号占位符 54">
            <a:extLst>
              <a:ext uri="{FF2B5EF4-FFF2-40B4-BE49-F238E27FC236}">
                <a16:creationId xmlns:a16="http://schemas.microsoft.com/office/drawing/2014/main" id="{F279B795-0302-509F-F3E1-B9337AC6A957}"/>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59</a:t>
            </a:fld>
            <a:endParaRPr lang="zh-CN" altLang="en-US" dirty="0"/>
          </a:p>
        </p:txBody>
      </p:sp>
    </p:spTree>
    <p:extLst>
      <p:ext uri="{BB962C8B-B14F-4D97-AF65-F5344CB8AC3E}">
        <p14:creationId xmlns:p14="http://schemas.microsoft.com/office/powerpoint/2010/main" val="35352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left)">
                                      <p:cBhvr>
                                        <p:cTn id="17" dur="500"/>
                                        <p:tgtEl>
                                          <p:spTgt spid="37"/>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left)">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wipe(up)">
                                      <p:cBhvr>
                                        <p:cTn id="30" dur="500"/>
                                        <p:tgtEl>
                                          <p:spTgt spid="38"/>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wipe(left)">
                                      <p:cBhvr>
                                        <p:cTn id="34" dur="500"/>
                                        <p:tgtEl>
                                          <p:spTgt spid="4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right)">
                                      <p:cBhvr>
                                        <p:cTn id="39" dur="500"/>
                                        <p:tgtEl>
                                          <p:spTgt spid="39"/>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wipe(left)">
                                      <p:cBhvr>
                                        <p:cTn id="43" dur="500"/>
                                        <p:tgtEl>
                                          <p:spTgt spid="4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right)">
                                      <p:cBhvr>
                                        <p:cTn id="48" dur="500"/>
                                        <p:tgtEl>
                                          <p:spTgt spid="40"/>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wipe(left)">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wipe(left)">
                                      <p:cBhvr>
                                        <p:cTn id="57" dur="500"/>
                                        <p:tgtEl>
                                          <p:spTgt spid="41"/>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left)">
                                      <p:cBhvr>
                                        <p:cTn id="61" dur="500"/>
                                        <p:tgtEl>
                                          <p:spTgt spid="5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left)">
                                      <p:cBhvr>
                                        <p:cTn id="66" dur="500"/>
                                        <p:tgtEl>
                                          <p:spTgt spid="42"/>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wipe(left)">
                                      <p:cBhvr>
                                        <p:cTn id="70" dur="500"/>
                                        <p:tgtEl>
                                          <p:spTgt spid="5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wipe(up)">
                                      <p:cBhvr>
                                        <p:cTn id="75" dur="500"/>
                                        <p:tgtEl>
                                          <p:spTgt spid="43"/>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wipe(left)">
                                      <p:cBhvr>
                                        <p:cTn id="79" dur="500"/>
                                        <p:tgtEl>
                                          <p:spTgt spid="5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4"/>
                                        </p:tgtEl>
                                        <p:attrNameLst>
                                          <p:attrName>style.visibility</p:attrName>
                                        </p:attrNameLst>
                                      </p:cBhvr>
                                      <p:to>
                                        <p:strVal val="visible"/>
                                      </p:to>
                                    </p:set>
                                    <p:animEffect transition="in" filter="wipe(left)">
                                      <p:cBhvr>
                                        <p:cTn id="84" dur="500"/>
                                        <p:tgtEl>
                                          <p:spTgt spid="4"/>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wipe(left)">
                                      <p:cBhvr>
                                        <p:cTn id="9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6" grpId="0"/>
      <p:bldP spid="47" grpId="0"/>
      <p:bldP spid="48" grpId="0"/>
      <p:bldP spid="49" grpId="0"/>
      <p:bldP spid="50" grpId="0"/>
      <p:bldP spid="51" grpId="0"/>
      <p:bldP spid="52" grpId="0"/>
      <p:bldP spid="53" grpId="0"/>
      <p:bldP spid="5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67408" y="1628800"/>
            <a:ext cx="10369151" cy="428628"/>
            <a:chOff x="844893" y="1000114"/>
            <a:chExt cx="10369151" cy="428628"/>
          </a:xfrm>
        </p:grpSpPr>
        <p:sp>
          <p:nvSpPr>
            <p:cNvPr id="9" name="内容占位符 2"/>
            <p:cNvSpPr txBox="1">
              <a:spLocks/>
            </p:cNvSpPr>
            <p:nvPr/>
          </p:nvSpPr>
          <p:spPr>
            <a:xfrm>
              <a:off x="1142975" y="1000114"/>
              <a:ext cx="10071069"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defRPr/>
              </a:pPr>
              <a:r>
                <a:rPr lang="zh-CN" altLang="en-US" dirty="0">
                  <a:sym typeface="宋体" charset="0"/>
                </a:rPr>
                <a:t>磁臂在一个方向上移动，访问所有未完成的请求，直到磁臂到达该方向上最后的磁道</a:t>
              </a:r>
              <a:endParaRPr lang="zh-CN" altLang="en-US" dirty="0"/>
            </a:p>
          </p:txBody>
        </p:sp>
        <p:sp>
          <p:nvSpPr>
            <p:cNvPr id="12" name="TextBox 11"/>
            <p:cNvSpPr txBox="1"/>
            <p:nvPr/>
          </p:nvSpPr>
          <p:spPr>
            <a:xfrm>
              <a:off x="844893" y="100011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767408" y="1988840"/>
            <a:ext cx="1655405" cy="428628"/>
            <a:chOff x="844893" y="1657570"/>
            <a:chExt cx="1655405" cy="428628"/>
          </a:xfrm>
        </p:grpSpPr>
        <p:sp>
          <p:nvSpPr>
            <p:cNvPr id="15" name="内容占位符 2"/>
            <p:cNvSpPr txBox="1">
              <a:spLocks/>
            </p:cNvSpPr>
            <p:nvPr/>
          </p:nvSpPr>
          <p:spPr>
            <a:xfrm>
              <a:off x="1142976" y="1657570"/>
              <a:ext cx="135732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pPr>
              <a:r>
                <a:rPr lang="zh-CN" altLang="en-US" dirty="0">
                  <a:sym typeface="宋体" charset="0"/>
                </a:rPr>
                <a:t>调换方向</a:t>
              </a:r>
              <a:endParaRPr lang="zh-CN" altLang="en-US" dirty="0"/>
            </a:p>
          </p:txBody>
        </p:sp>
        <p:sp>
          <p:nvSpPr>
            <p:cNvPr id="16" name="TextBox 15"/>
            <p:cNvSpPr txBox="1"/>
            <p:nvPr/>
          </p:nvSpPr>
          <p:spPr>
            <a:xfrm>
              <a:off x="844893" y="1657570"/>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5" name="组合 4"/>
          <p:cNvGrpSpPr/>
          <p:nvPr/>
        </p:nvGrpSpPr>
        <p:grpSpPr>
          <a:xfrm>
            <a:off x="767408" y="2331516"/>
            <a:ext cx="4941553" cy="428628"/>
            <a:chOff x="844893" y="2000246"/>
            <a:chExt cx="4941553" cy="428628"/>
          </a:xfrm>
        </p:grpSpPr>
        <p:sp>
          <p:nvSpPr>
            <p:cNvPr id="10" name="内容占位符 2"/>
            <p:cNvSpPr txBox="1">
              <a:spLocks/>
            </p:cNvSpPr>
            <p:nvPr/>
          </p:nvSpPr>
          <p:spPr>
            <a:xfrm>
              <a:off x="1142976" y="2000246"/>
              <a:ext cx="464347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00000"/>
                </a:lnSpc>
                <a:spcAft>
                  <a:spcPts val="0"/>
                </a:spcAft>
                <a:buSzTx/>
              </a:pPr>
              <a:r>
                <a:rPr lang="zh-CN" altLang="en-US" dirty="0">
                  <a:sym typeface="宋体" charset="0"/>
                </a:rPr>
                <a:t>也称为电梯算法</a:t>
              </a:r>
              <a:r>
                <a:rPr lang="en-US" altLang="zh-CN" dirty="0">
                  <a:sym typeface="宋体" charset="0"/>
                </a:rPr>
                <a:t>(</a:t>
              </a:r>
              <a:r>
                <a:rPr lang="zh-CN" altLang="zh-CN" dirty="0">
                  <a:sym typeface="宋体" charset="0"/>
                </a:rPr>
                <a:t>elevator algorithm</a:t>
              </a:r>
              <a:r>
                <a:rPr lang="en-US" altLang="zh-CN" dirty="0">
                  <a:sym typeface="宋体" charset="0"/>
                </a:rPr>
                <a:t>)</a:t>
              </a:r>
              <a:endParaRPr lang="zh-CN" altLang="en-US" dirty="0"/>
            </a:p>
          </p:txBody>
        </p:sp>
        <p:sp>
          <p:nvSpPr>
            <p:cNvPr id="11" name="TextBox 10"/>
            <p:cNvSpPr txBox="1"/>
            <p:nvPr/>
          </p:nvSpPr>
          <p:spPr>
            <a:xfrm>
              <a:off x="844893" y="2000246"/>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cxnSp>
        <p:nvCxnSpPr>
          <p:cNvPr id="43" name="直接连接符 42"/>
          <p:cNvCxnSpPr/>
          <p:nvPr/>
        </p:nvCxnSpPr>
        <p:spPr>
          <a:xfrm rot="5400000">
            <a:off x="-4857816" y="3500438"/>
            <a:ext cx="6572296" cy="142876"/>
          </a:xfrm>
          <a:prstGeom prst="line">
            <a:avLst/>
          </a:prstGeom>
        </p:spPr>
        <p:style>
          <a:lnRef idx="1">
            <a:schemeClr val="accent1"/>
          </a:lnRef>
          <a:fillRef idx="0">
            <a:schemeClr val="accent1"/>
          </a:fillRef>
          <a:effectRef idx="0">
            <a:schemeClr val="accent1"/>
          </a:effectRef>
          <a:fontRef idx="minor">
            <a:schemeClr val="tx1"/>
          </a:fontRef>
        </p:style>
      </p:cxnSp>
      <p:sp>
        <p:nvSpPr>
          <p:cNvPr id="7" name="标题 6">
            <a:extLst>
              <a:ext uri="{FF2B5EF4-FFF2-40B4-BE49-F238E27FC236}">
                <a16:creationId xmlns:a16="http://schemas.microsoft.com/office/drawing/2014/main" id="{1EA3A3A4-6142-3B25-3930-B91CDF2DFCF9}"/>
              </a:ext>
            </a:extLst>
          </p:cNvPr>
          <p:cNvSpPr>
            <a:spLocks noGrp="1"/>
          </p:cNvSpPr>
          <p:nvPr>
            <p:ph type="title"/>
          </p:nvPr>
        </p:nvSpPr>
        <p:spPr/>
        <p:txBody>
          <a:bodyPr>
            <a:normAutofit/>
          </a:bodyPr>
          <a:lstStyle/>
          <a:p>
            <a:r>
              <a:rPr lang="zh-CN" altLang="en-US" dirty="0"/>
              <a:t>扫描算法</a:t>
            </a:r>
            <a:r>
              <a:rPr lang="en-US" altLang="zh-CN" dirty="0"/>
              <a:t>(SCAN)</a:t>
            </a:r>
            <a:endParaRPr lang="zh-CN" altLang="en-US" dirty="0"/>
          </a:p>
        </p:txBody>
      </p:sp>
      <p:sp>
        <p:nvSpPr>
          <p:cNvPr id="14" name="灯片编号占位符 13">
            <a:extLst>
              <a:ext uri="{FF2B5EF4-FFF2-40B4-BE49-F238E27FC236}">
                <a16:creationId xmlns:a16="http://schemas.microsoft.com/office/drawing/2014/main" id="{0B216610-E7D5-4EAB-323D-473258C3D43B}"/>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60</a:t>
            </a:fld>
            <a:endParaRPr lang="zh-CN" altLang="en-US" dirty="0"/>
          </a:p>
        </p:txBody>
      </p:sp>
    </p:spTree>
    <p:extLst>
      <p:ext uri="{BB962C8B-B14F-4D97-AF65-F5344CB8AC3E}">
        <p14:creationId xmlns:p14="http://schemas.microsoft.com/office/powerpoint/2010/main" val="149043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1"/>
          <p:cNvSpPr>
            <a:spLocks noChangeArrowheads="1"/>
          </p:cNvSpPr>
          <p:nvPr/>
        </p:nvSpPr>
        <p:spPr bwMode="auto">
          <a:xfrm>
            <a:off x="2229396" y="6061234"/>
            <a:ext cx="7733207"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eaLnBrk="1" fontAlgn="auto" hangingPunct="1">
              <a:lnSpc>
                <a:spcPct val="100000"/>
              </a:lnSpc>
              <a:spcBef>
                <a:spcPts val="0"/>
              </a:spcBef>
              <a:spcAft>
                <a:spcPts val="0"/>
              </a:spcAft>
              <a:buSzTx/>
              <a:buNone/>
            </a:pPr>
            <a:r>
              <a:rPr lang="en-US" altLang="zh-CN" sz="1600" dirty="0">
                <a:solidFill>
                  <a:srgbClr val="000099"/>
                </a:solidFill>
                <a:latin typeface="MS PGothic"/>
                <a:ea typeface="MS PGothic" charset="0"/>
                <a:cs typeface="MS PGothic" charset="0"/>
                <a:hlinkClick r:id="rId2"/>
              </a:rPr>
              <a:t>http://cs.uttyler.edu/Faculty/Rainwater/COSC3355/Animations/diskschedulingfcfs.htm</a:t>
            </a:r>
            <a:endParaRPr lang="en-US" altLang="zh-CN" sz="1600" dirty="0">
              <a:solidFill>
                <a:srgbClr val="000099"/>
              </a:solidFill>
              <a:latin typeface="MS PGothic"/>
              <a:ea typeface="MS PGothic" charset="0"/>
              <a:cs typeface="MS PGothic" charset="0"/>
            </a:endParaRPr>
          </a:p>
        </p:txBody>
      </p:sp>
      <p:sp>
        <p:nvSpPr>
          <p:cNvPr id="6" name="Text Box 3"/>
          <p:cNvSpPr>
            <a:spLocks noChangeArrowheads="1"/>
          </p:cNvSpPr>
          <p:nvPr/>
        </p:nvSpPr>
        <p:spPr bwMode="auto">
          <a:xfrm>
            <a:off x="2707804" y="5669949"/>
            <a:ext cx="19816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zh-CN" altLang="en-US" sz="1600" b="1" dirty="0">
                <a:solidFill>
                  <a:srgbClr val="11576A"/>
                </a:solidFill>
                <a:latin typeface="微软雅黑" pitchFamily="34" charset="-122"/>
                <a:ea typeface="微软雅黑" pitchFamily="34" charset="-122"/>
                <a:sym typeface="宋体" charset="0"/>
              </a:rPr>
              <a:t>合计磁头移动距离</a:t>
            </a:r>
            <a:r>
              <a:rPr lang="en-US" altLang="zh-CN" sz="1600" b="1" dirty="0">
                <a:solidFill>
                  <a:srgbClr val="11576A"/>
                </a:solidFill>
                <a:latin typeface="微软雅黑" pitchFamily="34" charset="-122"/>
                <a:ea typeface="微软雅黑" pitchFamily="34" charset="-122"/>
                <a:sym typeface="宋体" charset="0"/>
              </a:rPr>
              <a:t>=</a:t>
            </a:r>
            <a:endParaRPr lang="zh-CN" altLang="en-US" sz="1600" b="1" dirty="0">
              <a:solidFill>
                <a:srgbClr val="11576A"/>
              </a:solidFill>
              <a:latin typeface="微软雅黑" pitchFamily="34" charset="-122"/>
              <a:ea typeface="微软雅黑" pitchFamily="34" charset="-122"/>
            </a:endParaRPr>
          </a:p>
        </p:txBody>
      </p:sp>
      <p:grpSp>
        <p:nvGrpSpPr>
          <p:cNvPr id="2" name="组合 1"/>
          <p:cNvGrpSpPr/>
          <p:nvPr/>
        </p:nvGrpSpPr>
        <p:grpSpPr>
          <a:xfrm>
            <a:off x="2761864" y="1700808"/>
            <a:ext cx="6609253" cy="349888"/>
            <a:chOff x="1237860" y="843558"/>
            <a:chExt cx="6609253" cy="349888"/>
          </a:xfrm>
        </p:grpSpPr>
        <p:sp>
          <p:nvSpPr>
            <p:cNvPr id="9" name="TextBox 8"/>
            <p:cNvSpPr txBox="1"/>
            <p:nvPr/>
          </p:nvSpPr>
          <p:spPr>
            <a:xfrm>
              <a:off x="1237860" y="854892"/>
              <a:ext cx="4514377"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600" b="1" dirty="0">
                  <a:solidFill>
                    <a:srgbClr val="005072"/>
                  </a:solidFill>
                  <a:latin typeface="微软雅黑"/>
                  <a:ea typeface="微软雅黑"/>
                </a:rPr>
                <a:t>磁盘访问序列 </a:t>
              </a:r>
              <a:r>
                <a:rPr lang="en-US" altLang="zh-CN" sz="1600" b="1" dirty="0">
                  <a:solidFill>
                    <a:srgbClr val="005072"/>
                  </a:solidFill>
                  <a:latin typeface="微软雅黑"/>
                  <a:ea typeface="微软雅黑"/>
                </a:rPr>
                <a:t>= 98,183,37,122,14,124,65,67</a:t>
              </a:r>
              <a:endParaRPr lang="zh-CN" altLang="en-US" sz="1600" b="1" dirty="0">
                <a:solidFill>
                  <a:srgbClr val="005072"/>
                </a:solidFill>
                <a:latin typeface="微软雅黑"/>
                <a:ea typeface="微软雅黑"/>
              </a:endParaRPr>
            </a:p>
          </p:txBody>
        </p:sp>
        <p:sp>
          <p:nvSpPr>
            <p:cNvPr id="10" name="TextBox 9"/>
            <p:cNvSpPr txBox="1"/>
            <p:nvPr/>
          </p:nvSpPr>
          <p:spPr>
            <a:xfrm>
              <a:off x="5918380" y="843558"/>
              <a:ext cx="1928733"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zh-CN" altLang="en-US" sz="1600" b="1" dirty="0">
                  <a:solidFill>
                    <a:srgbClr val="005072"/>
                  </a:solidFill>
                  <a:latin typeface="微软雅黑"/>
                  <a:ea typeface="微软雅黑"/>
                </a:rPr>
                <a:t>初始磁头位置：</a:t>
              </a:r>
              <a:r>
                <a:rPr lang="en-US" altLang="zh-CN" sz="1600" b="1" dirty="0">
                  <a:solidFill>
                    <a:srgbClr val="005072"/>
                  </a:solidFill>
                  <a:latin typeface="微软雅黑"/>
                  <a:ea typeface="微软雅黑"/>
                </a:rPr>
                <a:t>53</a:t>
              </a:r>
              <a:endParaRPr lang="zh-CN" altLang="en-US" sz="1600" b="1" dirty="0">
                <a:solidFill>
                  <a:srgbClr val="005072"/>
                </a:solidFill>
                <a:latin typeface="微软雅黑"/>
                <a:ea typeface="微软雅黑"/>
              </a:endParaRPr>
            </a:p>
          </p:txBody>
        </p:sp>
      </p:grpSp>
      <p:grpSp>
        <p:nvGrpSpPr>
          <p:cNvPr id="3" name="组合 2"/>
          <p:cNvGrpSpPr/>
          <p:nvPr/>
        </p:nvGrpSpPr>
        <p:grpSpPr>
          <a:xfrm>
            <a:off x="2577133" y="1995641"/>
            <a:ext cx="6967188" cy="556760"/>
            <a:chOff x="1053133" y="1138391"/>
            <a:chExt cx="6967188" cy="556760"/>
          </a:xfrm>
        </p:grpSpPr>
        <p:sp>
          <p:nvSpPr>
            <p:cNvPr id="11" name="TextBox 10"/>
            <p:cNvSpPr txBox="1"/>
            <p:nvPr/>
          </p:nvSpPr>
          <p:spPr>
            <a:xfrm>
              <a:off x="1053133" y="1138391"/>
              <a:ext cx="311304"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0</a:t>
              </a:r>
              <a:endParaRPr lang="zh-CN" altLang="en-US" sz="1600" b="1" dirty="0">
                <a:solidFill>
                  <a:srgbClr val="005072"/>
                </a:solidFill>
                <a:latin typeface="微软雅黑"/>
                <a:ea typeface="微软雅黑"/>
              </a:endParaRPr>
            </a:p>
          </p:txBody>
        </p:sp>
        <p:sp>
          <p:nvSpPr>
            <p:cNvPr id="12" name="TextBox 11"/>
            <p:cNvSpPr txBox="1"/>
            <p:nvPr/>
          </p:nvSpPr>
          <p:spPr>
            <a:xfrm>
              <a:off x="1433364"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14</a:t>
              </a:r>
              <a:endParaRPr lang="zh-CN" altLang="en-US" sz="1600" b="1" dirty="0">
                <a:solidFill>
                  <a:srgbClr val="005072"/>
                </a:solidFill>
                <a:latin typeface="微软雅黑"/>
                <a:ea typeface="微软雅黑"/>
              </a:endParaRPr>
            </a:p>
          </p:txBody>
        </p:sp>
        <p:sp>
          <p:nvSpPr>
            <p:cNvPr id="15" name="TextBox 14"/>
            <p:cNvSpPr txBox="1"/>
            <p:nvPr/>
          </p:nvSpPr>
          <p:spPr>
            <a:xfrm>
              <a:off x="2233836"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37</a:t>
              </a:r>
              <a:endParaRPr lang="zh-CN" altLang="en-US" sz="1600" b="1" dirty="0">
                <a:solidFill>
                  <a:srgbClr val="005072"/>
                </a:solidFill>
                <a:latin typeface="微软雅黑"/>
                <a:ea typeface="微软雅黑"/>
              </a:endParaRPr>
            </a:p>
          </p:txBody>
        </p:sp>
        <p:sp>
          <p:nvSpPr>
            <p:cNvPr id="16" name="TextBox 15"/>
            <p:cNvSpPr txBox="1"/>
            <p:nvPr/>
          </p:nvSpPr>
          <p:spPr>
            <a:xfrm>
              <a:off x="2751609"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53</a:t>
              </a:r>
              <a:endParaRPr lang="zh-CN" altLang="en-US" sz="1600" b="1" dirty="0">
                <a:solidFill>
                  <a:srgbClr val="005072"/>
                </a:solidFill>
                <a:latin typeface="微软雅黑"/>
                <a:ea typeface="微软雅黑"/>
              </a:endParaRPr>
            </a:p>
          </p:txBody>
        </p:sp>
        <p:sp>
          <p:nvSpPr>
            <p:cNvPr id="17" name="TextBox 16"/>
            <p:cNvSpPr txBox="1"/>
            <p:nvPr/>
          </p:nvSpPr>
          <p:spPr>
            <a:xfrm>
              <a:off x="3065165"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65</a:t>
              </a:r>
              <a:endParaRPr lang="zh-CN" altLang="en-US" sz="1600" b="1" dirty="0">
                <a:solidFill>
                  <a:srgbClr val="005072"/>
                </a:solidFill>
                <a:latin typeface="微软雅黑"/>
                <a:ea typeface="微软雅黑"/>
              </a:endParaRPr>
            </a:p>
          </p:txBody>
        </p:sp>
        <p:sp>
          <p:nvSpPr>
            <p:cNvPr id="18" name="TextBox 17"/>
            <p:cNvSpPr txBox="1"/>
            <p:nvPr/>
          </p:nvSpPr>
          <p:spPr>
            <a:xfrm>
              <a:off x="3376439"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67</a:t>
              </a:r>
              <a:endParaRPr lang="zh-CN" altLang="en-US" sz="1600" b="1" dirty="0">
                <a:solidFill>
                  <a:srgbClr val="005072"/>
                </a:solidFill>
                <a:latin typeface="微软雅黑"/>
                <a:ea typeface="微软雅黑"/>
              </a:endParaRPr>
            </a:p>
          </p:txBody>
        </p:sp>
        <p:sp>
          <p:nvSpPr>
            <p:cNvPr id="19" name="TextBox 18"/>
            <p:cNvSpPr txBox="1"/>
            <p:nvPr/>
          </p:nvSpPr>
          <p:spPr>
            <a:xfrm>
              <a:off x="4221485" y="1138391"/>
              <a:ext cx="437940"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98</a:t>
              </a:r>
              <a:endParaRPr lang="zh-CN" altLang="en-US" sz="1600" b="1" dirty="0">
                <a:solidFill>
                  <a:srgbClr val="005072"/>
                </a:solidFill>
                <a:latin typeface="微软雅黑"/>
                <a:ea typeface="微软雅黑"/>
              </a:endParaRPr>
            </a:p>
          </p:txBody>
        </p:sp>
        <p:sp>
          <p:nvSpPr>
            <p:cNvPr id="20" name="TextBox 19"/>
            <p:cNvSpPr txBox="1"/>
            <p:nvPr/>
          </p:nvSpPr>
          <p:spPr>
            <a:xfrm>
              <a:off x="4768974"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122</a:t>
              </a:r>
              <a:endParaRPr lang="zh-CN" altLang="en-US" sz="1600" b="1" dirty="0">
                <a:solidFill>
                  <a:srgbClr val="005072"/>
                </a:solidFill>
                <a:latin typeface="微软雅黑"/>
                <a:ea typeface="微软雅黑"/>
              </a:endParaRPr>
            </a:p>
          </p:txBody>
        </p:sp>
        <p:sp>
          <p:nvSpPr>
            <p:cNvPr id="22" name="TextBox 21"/>
            <p:cNvSpPr txBox="1"/>
            <p:nvPr/>
          </p:nvSpPr>
          <p:spPr>
            <a:xfrm>
              <a:off x="5234930"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124</a:t>
              </a:r>
              <a:endParaRPr lang="zh-CN" altLang="en-US" sz="1600" b="1" dirty="0">
                <a:solidFill>
                  <a:srgbClr val="005072"/>
                </a:solidFill>
                <a:latin typeface="微软雅黑"/>
                <a:ea typeface="微软雅黑"/>
              </a:endParaRPr>
            </a:p>
          </p:txBody>
        </p:sp>
        <p:sp>
          <p:nvSpPr>
            <p:cNvPr id="23" name="TextBox 22"/>
            <p:cNvSpPr txBox="1"/>
            <p:nvPr/>
          </p:nvSpPr>
          <p:spPr>
            <a:xfrm>
              <a:off x="6982527"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183</a:t>
              </a:r>
              <a:endParaRPr lang="zh-CN" altLang="en-US" sz="1600" b="1" dirty="0">
                <a:solidFill>
                  <a:srgbClr val="005072"/>
                </a:solidFill>
                <a:latin typeface="微软雅黑"/>
                <a:ea typeface="微软雅黑"/>
              </a:endParaRPr>
            </a:p>
          </p:txBody>
        </p:sp>
        <p:sp>
          <p:nvSpPr>
            <p:cNvPr id="24" name="TextBox 23"/>
            <p:cNvSpPr txBox="1"/>
            <p:nvPr/>
          </p:nvSpPr>
          <p:spPr>
            <a:xfrm>
              <a:off x="7455743" y="1138391"/>
              <a:ext cx="564578" cy="338554"/>
            </a:xfrm>
            <a:prstGeom prst="rect">
              <a:avLst/>
            </a:prstGeom>
            <a:noFill/>
          </p:spPr>
          <p:txBody>
            <a:bodyPr wrap="none" rtlCol="0">
              <a:spAutoFit/>
            </a:bodyPr>
            <a:lstStyle/>
            <a:p>
              <a:pPr eaLnBrk="1" fontAlgn="auto" hangingPunct="1">
                <a:lnSpc>
                  <a:spcPct val="100000"/>
                </a:lnSpc>
                <a:spcBef>
                  <a:spcPts val="0"/>
                </a:spcBef>
                <a:spcAft>
                  <a:spcPts val="0"/>
                </a:spcAft>
                <a:buSzTx/>
                <a:buNone/>
              </a:pPr>
              <a:r>
                <a:rPr lang="en-US" altLang="zh-CN" sz="1600" b="1" dirty="0">
                  <a:solidFill>
                    <a:srgbClr val="005072"/>
                  </a:solidFill>
                  <a:latin typeface="微软雅黑"/>
                  <a:ea typeface="微软雅黑"/>
                </a:rPr>
                <a:t>199</a:t>
              </a:r>
              <a:endParaRPr lang="zh-CN" altLang="en-US" sz="1600" b="1" dirty="0">
                <a:solidFill>
                  <a:srgbClr val="005072"/>
                </a:solidFill>
                <a:latin typeface="微软雅黑"/>
                <a:ea typeface="微软雅黑"/>
              </a:endParaRPr>
            </a:p>
          </p:txBody>
        </p:sp>
        <p:cxnSp>
          <p:nvCxnSpPr>
            <p:cNvPr id="25" name="直接连接符 24"/>
            <p:cNvCxnSpPr/>
            <p:nvPr/>
          </p:nvCxnSpPr>
          <p:spPr>
            <a:xfrm>
              <a:off x="7741493" y="140715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217340" y="1407151"/>
              <a:ext cx="0" cy="288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300689"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321796"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262364"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453508"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426346"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3366914"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462808"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069357"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658913" y="1407151"/>
              <a:ext cx="0" cy="144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rot="5400000">
              <a:off x="4480172" y="-1711025"/>
              <a:ext cx="0" cy="6516000"/>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grpSp>
      <p:cxnSp>
        <p:nvCxnSpPr>
          <p:cNvPr id="37" name="直接连接符 36"/>
          <p:cNvCxnSpPr/>
          <p:nvPr/>
        </p:nvCxnSpPr>
        <p:spPr>
          <a:xfrm flipH="1">
            <a:off x="3986812" y="2560710"/>
            <a:ext cx="590745" cy="364234"/>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3182917" y="2924944"/>
            <a:ext cx="803895" cy="360040"/>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732785" y="3313400"/>
            <a:ext cx="441574" cy="284846"/>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2732785" y="3645024"/>
            <a:ext cx="2167654" cy="288032"/>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900443" y="3933056"/>
            <a:ext cx="49907" cy="360040"/>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4950346" y="4293096"/>
            <a:ext cx="1027162" cy="288032"/>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999039" y="4581128"/>
            <a:ext cx="759895" cy="288032"/>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6868253" y="5198272"/>
            <a:ext cx="1997920" cy="437417"/>
            <a:chOff x="3359480" y="4159451"/>
            <a:chExt cx="1997920" cy="437417"/>
          </a:xfrm>
        </p:grpSpPr>
        <p:cxnSp>
          <p:nvCxnSpPr>
            <p:cNvPr id="44" name="直接连接符 43"/>
            <p:cNvCxnSpPr>
              <a:endCxn id="45" idx="2"/>
            </p:cNvCxnSpPr>
            <p:nvPr/>
          </p:nvCxnSpPr>
          <p:spPr>
            <a:xfrm>
              <a:off x="3359480" y="4159451"/>
              <a:ext cx="1889920" cy="383417"/>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5249400" y="4488868"/>
              <a:ext cx="108000" cy="108000"/>
            </a:xfrm>
            <a:prstGeom prst="ellipse">
              <a:avLst/>
            </a:prstGeom>
            <a:solidFill>
              <a:srgbClr val="00507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lnSpc>
                  <a:spcPct val="100000"/>
                </a:lnSpc>
                <a:spcBef>
                  <a:spcPts val="0"/>
                </a:spcBef>
                <a:spcAft>
                  <a:spcPts val="0"/>
                </a:spcAft>
                <a:buSzTx/>
                <a:buNone/>
              </a:pPr>
              <a:endParaRPr lang="zh-CN" altLang="en-US">
                <a:solidFill>
                  <a:prstClr val="black"/>
                </a:solidFill>
                <a:latin typeface="MS PGothic"/>
                <a:ea typeface="微软雅黑"/>
              </a:endParaRPr>
            </a:p>
          </p:txBody>
        </p:sp>
      </p:grpSp>
      <p:sp>
        <p:nvSpPr>
          <p:cNvPr id="46" name="Text Box 3"/>
          <p:cNvSpPr>
            <a:spLocks noChangeArrowheads="1"/>
          </p:cNvSpPr>
          <p:nvPr/>
        </p:nvSpPr>
        <p:spPr bwMode="auto">
          <a:xfrm>
            <a:off x="4515741" y="5682734"/>
            <a:ext cx="437941"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16</a:t>
            </a:r>
            <a:endParaRPr lang="zh-CN" altLang="en-US" sz="1600" b="1" dirty="0">
              <a:solidFill>
                <a:srgbClr val="11576A"/>
              </a:solidFill>
              <a:latin typeface="微软雅黑" pitchFamily="34" charset="-122"/>
              <a:ea typeface="微软雅黑" pitchFamily="34" charset="-122"/>
            </a:endParaRPr>
          </a:p>
        </p:txBody>
      </p:sp>
      <p:sp>
        <p:nvSpPr>
          <p:cNvPr id="47" name="Text Box 3"/>
          <p:cNvSpPr>
            <a:spLocks noChangeArrowheads="1"/>
          </p:cNvSpPr>
          <p:nvPr/>
        </p:nvSpPr>
        <p:spPr bwMode="auto">
          <a:xfrm>
            <a:off x="4756744" y="5680657"/>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+23</a:t>
            </a:r>
            <a:endParaRPr lang="zh-CN" altLang="en-US" sz="1600" b="1" dirty="0">
              <a:solidFill>
                <a:srgbClr val="11576A"/>
              </a:solidFill>
              <a:latin typeface="微软雅黑" pitchFamily="34" charset="-122"/>
              <a:ea typeface="微软雅黑" pitchFamily="34" charset="-122"/>
            </a:endParaRPr>
          </a:p>
        </p:txBody>
      </p:sp>
      <p:sp>
        <p:nvSpPr>
          <p:cNvPr id="48" name="Text Box 3"/>
          <p:cNvSpPr>
            <a:spLocks noChangeArrowheads="1"/>
          </p:cNvSpPr>
          <p:nvPr/>
        </p:nvSpPr>
        <p:spPr bwMode="auto">
          <a:xfrm>
            <a:off x="5142594" y="5680299"/>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+14</a:t>
            </a:r>
            <a:endParaRPr lang="zh-CN" altLang="en-US" sz="1600" b="1" dirty="0">
              <a:solidFill>
                <a:srgbClr val="11576A"/>
              </a:solidFill>
              <a:latin typeface="微软雅黑" pitchFamily="34" charset="-122"/>
              <a:ea typeface="微软雅黑" pitchFamily="34" charset="-122"/>
            </a:endParaRPr>
          </a:p>
        </p:txBody>
      </p:sp>
      <p:sp>
        <p:nvSpPr>
          <p:cNvPr id="49" name="Text Box 3"/>
          <p:cNvSpPr>
            <a:spLocks noChangeArrowheads="1"/>
          </p:cNvSpPr>
          <p:nvPr/>
        </p:nvSpPr>
        <p:spPr bwMode="auto">
          <a:xfrm>
            <a:off x="5549127" y="5678200"/>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+65</a:t>
            </a:r>
            <a:endParaRPr lang="zh-CN" altLang="en-US" sz="1600" b="1" dirty="0">
              <a:solidFill>
                <a:srgbClr val="11576A"/>
              </a:solidFill>
              <a:latin typeface="微软雅黑" pitchFamily="34" charset="-122"/>
              <a:ea typeface="微软雅黑" pitchFamily="34" charset="-122"/>
            </a:endParaRPr>
          </a:p>
        </p:txBody>
      </p:sp>
      <p:sp>
        <p:nvSpPr>
          <p:cNvPr id="50" name="Text Box 3"/>
          <p:cNvSpPr>
            <a:spLocks noChangeArrowheads="1"/>
          </p:cNvSpPr>
          <p:nvPr/>
        </p:nvSpPr>
        <p:spPr bwMode="auto">
          <a:xfrm>
            <a:off x="5944613" y="5676532"/>
            <a:ext cx="46679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a:t>
            </a:r>
            <a:endParaRPr lang="zh-CN" altLang="en-US" sz="1600" b="1" dirty="0">
              <a:solidFill>
                <a:srgbClr val="11576A"/>
              </a:solidFill>
              <a:latin typeface="微软雅黑" pitchFamily="34" charset="-122"/>
              <a:ea typeface="微软雅黑" pitchFamily="34" charset="-122"/>
            </a:endParaRPr>
          </a:p>
        </p:txBody>
      </p:sp>
      <p:sp>
        <p:nvSpPr>
          <p:cNvPr id="51" name="Text Box 3"/>
          <p:cNvSpPr>
            <a:spLocks noChangeArrowheads="1"/>
          </p:cNvSpPr>
          <p:nvPr/>
        </p:nvSpPr>
        <p:spPr bwMode="auto">
          <a:xfrm>
            <a:off x="6213863" y="5676532"/>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+31</a:t>
            </a:r>
            <a:endParaRPr lang="zh-CN" altLang="en-US" sz="1600" b="1" dirty="0">
              <a:solidFill>
                <a:srgbClr val="11576A"/>
              </a:solidFill>
              <a:latin typeface="微软雅黑" pitchFamily="34" charset="-122"/>
              <a:ea typeface="微软雅黑" pitchFamily="34" charset="-122"/>
            </a:endParaRPr>
          </a:p>
        </p:txBody>
      </p:sp>
      <p:sp>
        <p:nvSpPr>
          <p:cNvPr id="52" name="Text Box 3"/>
          <p:cNvSpPr>
            <a:spLocks noChangeArrowheads="1"/>
          </p:cNvSpPr>
          <p:nvPr/>
        </p:nvSpPr>
        <p:spPr bwMode="auto">
          <a:xfrm>
            <a:off x="6599428" y="5666329"/>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+24</a:t>
            </a:r>
            <a:endParaRPr lang="zh-CN" altLang="en-US" sz="1600" b="1" dirty="0">
              <a:solidFill>
                <a:srgbClr val="11576A"/>
              </a:solidFill>
              <a:latin typeface="微软雅黑" pitchFamily="34" charset="-122"/>
              <a:ea typeface="微软雅黑" pitchFamily="34" charset="-122"/>
            </a:endParaRPr>
          </a:p>
        </p:txBody>
      </p:sp>
      <p:sp>
        <p:nvSpPr>
          <p:cNvPr id="53" name="Text Box 3"/>
          <p:cNvSpPr>
            <a:spLocks noChangeArrowheads="1"/>
          </p:cNvSpPr>
          <p:nvPr/>
        </p:nvSpPr>
        <p:spPr bwMode="auto">
          <a:xfrm>
            <a:off x="6993631" y="5666232"/>
            <a:ext cx="46679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a:t>
            </a:r>
            <a:endParaRPr lang="zh-CN" altLang="en-US" sz="1600" b="1" dirty="0">
              <a:solidFill>
                <a:srgbClr val="11576A"/>
              </a:solidFill>
              <a:latin typeface="微软雅黑" pitchFamily="34" charset="-122"/>
              <a:ea typeface="微软雅黑" pitchFamily="34" charset="-122"/>
            </a:endParaRPr>
          </a:p>
        </p:txBody>
      </p:sp>
      <p:sp>
        <p:nvSpPr>
          <p:cNvPr id="54" name="Text Box 3"/>
          <p:cNvSpPr>
            <a:spLocks noChangeArrowheads="1"/>
          </p:cNvSpPr>
          <p:nvPr/>
        </p:nvSpPr>
        <p:spPr bwMode="auto">
          <a:xfrm>
            <a:off x="7680190" y="5662680"/>
            <a:ext cx="720069"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=236</a:t>
            </a:r>
            <a:endParaRPr lang="zh-CN" altLang="en-US" sz="1600" b="1" dirty="0">
              <a:solidFill>
                <a:srgbClr val="11576A"/>
              </a:solidFill>
              <a:latin typeface="微软雅黑" pitchFamily="34" charset="-122"/>
              <a:ea typeface="微软雅黑" pitchFamily="34" charset="-122"/>
            </a:endParaRPr>
          </a:p>
        </p:txBody>
      </p:sp>
      <p:cxnSp>
        <p:nvCxnSpPr>
          <p:cNvPr id="66" name="直接连接符 65"/>
          <p:cNvCxnSpPr/>
          <p:nvPr/>
        </p:nvCxnSpPr>
        <p:spPr>
          <a:xfrm>
            <a:off x="6786144" y="4869160"/>
            <a:ext cx="63100" cy="329108"/>
          </a:xfrm>
          <a:prstGeom prst="line">
            <a:avLst/>
          </a:prstGeom>
          <a:ln w="28575">
            <a:solidFill>
              <a:srgbClr val="005072"/>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Text Box 3"/>
          <p:cNvSpPr>
            <a:spLocks noChangeArrowheads="1"/>
          </p:cNvSpPr>
          <p:nvPr/>
        </p:nvSpPr>
        <p:spPr bwMode="auto">
          <a:xfrm>
            <a:off x="7261195" y="5674161"/>
            <a:ext cx="5934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algn="ctr" eaLnBrk="1" fontAlgn="auto" hangingPunct="1">
              <a:lnSpc>
                <a:spcPct val="100000"/>
              </a:lnSpc>
              <a:spcBef>
                <a:spcPct val="50000"/>
              </a:spcBef>
              <a:spcAft>
                <a:spcPts val="0"/>
              </a:spcAft>
              <a:buSzTx/>
              <a:buNone/>
            </a:pPr>
            <a:r>
              <a:rPr lang="en-US" altLang="zh-CN" sz="1600" b="1" dirty="0">
                <a:solidFill>
                  <a:srgbClr val="11576A"/>
                </a:solidFill>
                <a:latin typeface="微软雅黑" pitchFamily="34" charset="-122"/>
                <a:ea typeface="微软雅黑" pitchFamily="34" charset="-122"/>
                <a:sym typeface="宋体" charset="0"/>
              </a:rPr>
              <a:t>+59</a:t>
            </a:r>
            <a:endParaRPr lang="zh-CN" altLang="en-US" sz="1600" b="1" dirty="0">
              <a:solidFill>
                <a:srgbClr val="11576A"/>
              </a:solidFill>
              <a:latin typeface="微软雅黑" pitchFamily="34" charset="-122"/>
              <a:ea typeface="微软雅黑" pitchFamily="34" charset="-122"/>
            </a:endParaRPr>
          </a:p>
        </p:txBody>
      </p:sp>
      <p:sp>
        <p:nvSpPr>
          <p:cNvPr id="13" name="标题 12">
            <a:extLst>
              <a:ext uri="{FF2B5EF4-FFF2-40B4-BE49-F238E27FC236}">
                <a16:creationId xmlns:a16="http://schemas.microsoft.com/office/drawing/2014/main" id="{AD9A6FAA-DDCD-5BA8-2071-663595308A97}"/>
              </a:ext>
            </a:extLst>
          </p:cNvPr>
          <p:cNvSpPr>
            <a:spLocks noGrp="1"/>
          </p:cNvSpPr>
          <p:nvPr>
            <p:ph type="title"/>
          </p:nvPr>
        </p:nvSpPr>
        <p:spPr/>
        <p:txBody>
          <a:bodyPr>
            <a:normAutofit/>
          </a:bodyPr>
          <a:lstStyle/>
          <a:p>
            <a:r>
              <a:rPr lang="en-US" altLang="zh-CN" dirty="0"/>
              <a:t>SCAN</a:t>
            </a:r>
            <a:r>
              <a:rPr lang="zh-CN" altLang="en-US" dirty="0"/>
              <a:t>算法示例</a:t>
            </a:r>
          </a:p>
        </p:txBody>
      </p:sp>
      <p:sp>
        <p:nvSpPr>
          <p:cNvPr id="55" name="灯片编号占位符 54">
            <a:extLst>
              <a:ext uri="{FF2B5EF4-FFF2-40B4-BE49-F238E27FC236}">
                <a16:creationId xmlns:a16="http://schemas.microsoft.com/office/drawing/2014/main" id="{1EE73BC6-40FB-8B05-3D92-BE6F84DE72F9}"/>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61</a:t>
            </a:fld>
            <a:endParaRPr lang="zh-CN" altLang="en-US" dirty="0"/>
          </a:p>
        </p:txBody>
      </p:sp>
    </p:spTree>
    <p:extLst>
      <p:ext uri="{BB962C8B-B14F-4D97-AF65-F5344CB8AC3E}">
        <p14:creationId xmlns:p14="http://schemas.microsoft.com/office/powerpoint/2010/main" val="43102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right)">
                                      <p:cBhvr>
                                        <p:cTn id="17" dur="500"/>
                                        <p:tgtEl>
                                          <p:spTgt spid="37"/>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left)">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wipe(right)">
                                      <p:cBhvr>
                                        <p:cTn id="30" dur="500"/>
                                        <p:tgtEl>
                                          <p:spTgt spid="38"/>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wipe(left)">
                                      <p:cBhvr>
                                        <p:cTn id="34" dur="500"/>
                                        <p:tgtEl>
                                          <p:spTgt spid="4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right)">
                                      <p:cBhvr>
                                        <p:cTn id="39" dur="500"/>
                                        <p:tgtEl>
                                          <p:spTgt spid="39"/>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wipe(left)">
                                      <p:cBhvr>
                                        <p:cTn id="43" dur="500"/>
                                        <p:tgtEl>
                                          <p:spTgt spid="4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left)">
                                      <p:cBhvr>
                                        <p:cTn id="48" dur="500"/>
                                        <p:tgtEl>
                                          <p:spTgt spid="40"/>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wipe(left)">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wipe(up)">
                                      <p:cBhvr>
                                        <p:cTn id="57" dur="500"/>
                                        <p:tgtEl>
                                          <p:spTgt spid="41"/>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left)">
                                      <p:cBhvr>
                                        <p:cTn id="61" dur="500"/>
                                        <p:tgtEl>
                                          <p:spTgt spid="5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left)">
                                      <p:cBhvr>
                                        <p:cTn id="66" dur="500"/>
                                        <p:tgtEl>
                                          <p:spTgt spid="42"/>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wipe(left)">
                                      <p:cBhvr>
                                        <p:cTn id="70" dur="500"/>
                                        <p:tgtEl>
                                          <p:spTgt spid="5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wipe(left)">
                                      <p:cBhvr>
                                        <p:cTn id="75" dur="500"/>
                                        <p:tgtEl>
                                          <p:spTgt spid="43"/>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wipe(left)">
                                      <p:cBhvr>
                                        <p:cTn id="79" dur="500"/>
                                        <p:tgtEl>
                                          <p:spTgt spid="5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66"/>
                                        </p:tgtEl>
                                        <p:attrNameLst>
                                          <p:attrName>style.visibility</p:attrName>
                                        </p:attrNameLst>
                                      </p:cBhvr>
                                      <p:to>
                                        <p:strVal val="visible"/>
                                      </p:to>
                                    </p:set>
                                    <p:animEffect transition="in" filter="wipe(up)">
                                      <p:cBhvr>
                                        <p:cTn id="84" dur="500"/>
                                        <p:tgtEl>
                                          <p:spTgt spid="66"/>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4"/>
                                        </p:tgtEl>
                                        <p:attrNameLst>
                                          <p:attrName>style.visibility</p:attrName>
                                        </p:attrNameLst>
                                      </p:cBhvr>
                                      <p:to>
                                        <p:strVal val="visible"/>
                                      </p:to>
                                    </p:set>
                                    <p:animEffect transition="in" filter="wipe(left)">
                                      <p:cBhvr>
                                        <p:cTn id="93" dur="500"/>
                                        <p:tgtEl>
                                          <p:spTgt spid="4"/>
                                        </p:tgtEl>
                                      </p:cBhvr>
                                    </p:animEffect>
                                  </p:childTnLst>
                                </p:cTn>
                              </p:par>
                            </p:childTnLst>
                          </p:cTn>
                        </p:par>
                        <p:par>
                          <p:cTn id="94" fill="hold">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69"/>
                                        </p:tgtEl>
                                        <p:attrNameLst>
                                          <p:attrName>style.visibility</p:attrName>
                                        </p:attrNameLst>
                                      </p:cBhvr>
                                      <p:to>
                                        <p:strVal val="visible"/>
                                      </p:to>
                                    </p:set>
                                    <p:animEffect transition="in" filter="wipe(left)">
                                      <p:cBhvr>
                                        <p:cTn id="97" dur="500"/>
                                        <p:tgtEl>
                                          <p:spTgt spid="6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54"/>
                                        </p:tgtEl>
                                        <p:attrNameLst>
                                          <p:attrName>style.visibility</p:attrName>
                                        </p:attrNameLst>
                                      </p:cBhvr>
                                      <p:to>
                                        <p:strVal val="visible"/>
                                      </p:to>
                                    </p:set>
                                    <p:animEffect transition="in" filter="wipe(left)">
                                      <p:cBhvr>
                                        <p:cTn id="10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6" grpId="0"/>
      <p:bldP spid="47" grpId="0"/>
      <p:bldP spid="48" grpId="0"/>
      <p:bldP spid="49" grpId="0"/>
      <p:bldP spid="50" grpId="0"/>
      <p:bldP spid="51" grpId="0"/>
      <p:bldP spid="52" grpId="0"/>
      <p:bldP spid="53" grpId="0"/>
      <p:bldP spid="54" grpId="0"/>
      <p:bldP spid="6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628800"/>
            <a:ext cx="3727107" cy="428628"/>
            <a:chOff x="844893" y="1000114"/>
            <a:chExt cx="3727107" cy="428628"/>
          </a:xfrm>
        </p:grpSpPr>
        <p:sp>
          <p:nvSpPr>
            <p:cNvPr id="9" name="内容占位符 2"/>
            <p:cNvSpPr txBox="1">
              <a:spLocks/>
            </p:cNvSpPr>
            <p:nvPr/>
          </p:nvSpPr>
          <p:spPr>
            <a:xfrm>
              <a:off x="1142976" y="1000114"/>
              <a:ext cx="342902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defRPr/>
              </a:pPr>
              <a:r>
                <a:rPr lang="zh-CN" altLang="en-US" dirty="0">
                  <a:sym typeface="宋体" charset="0"/>
                </a:rPr>
                <a:t>限制了仅在一个方向上扫描</a:t>
              </a:r>
              <a:endParaRPr lang="zh-CN" altLang="en-US" dirty="0"/>
            </a:p>
          </p:txBody>
        </p:sp>
        <p:sp>
          <p:nvSpPr>
            <p:cNvPr id="12" name="TextBox 11"/>
            <p:cNvSpPr txBox="1"/>
            <p:nvPr/>
          </p:nvSpPr>
          <p:spPr>
            <a:xfrm>
              <a:off x="844893" y="100011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767408" y="1971476"/>
            <a:ext cx="9217023" cy="699866"/>
            <a:chOff x="844893" y="1342790"/>
            <a:chExt cx="9217023" cy="699866"/>
          </a:xfrm>
        </p:grpSpPr>
        <p:sp>
          <p:nvSpPr>
            <p:cNvPr id="15" name="内容占位符 2"/>
            <p:cNvSpPr txBox="1">
              <a:spLocks/>
            </p:cNvSpPr>
            <p:nvPr/>
          </p:nvSpPr>
          <p:spPr>
            <a:xfrm>
              <a:off x="1142975" y="1342790"/>
              <a:ext cx="8918941" cy="69986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sym typeface="宋体" charset="0"/>
                </a:rPr>
                <a:t>当最后一个磁道也被访问过了后，磁臂返回到磁盘的另外一端再次进行</a:t>
              </a:r>
              <a:endParaRPr lang="zh-CN" altLang="en-US" dirty="0"/>
            </a:p>
          </p:txBody>
        </p:sp>
        <p:sp>
          <p:nvSpPr>
            <p:cNvPr id="16" name="TextBox 15"/>
            <p:cNvSpPr txBox="1"/>
            <p:nvPr/>
          </p:nvSpPr>
          <p:spPr>
            <a:xfrm>
              <a:off x="844893" y="1342790"/>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cxnSp>
        <p:nvCxnSpPr>
          <p:cNvPr id="40" name="直接连接符 39"/>
          <p:cNvCxnSpPr/>
          <p:nvPr/>
        </p:nvCxnSpPr>
        <p:spPr>
          <a:xfrm rot="5400000">
            <a:off x="-6286576" y="3500438"/>
            <a:ext cx="9001188" cy="142876"/>
          </a:xfrm>
          <a:prstGeom prst="line">
            <a:avLst/>
          </a:prstGeom>
        </p:spPr>
        <p:style>
          <a:lnRef idx="1">
            <a:schemeClr val="accent1"/>
          </a:lnRef>
          <a:fillRef idx="0">
            <a:schemeClr val="accent1"/>
          </a:fillRef>
          <a:effectRef idx="0">
            <a:schemeClr val="accent1"/>
          </a:effectRef>
          <a:fontRef idx="minor">
            <a:schemeClr val="tx1"/>
          </a:fontRef>
        </p:style>
      </p:cxnSp>
      <p:sp>
        <p:nvSpPr>
          <p:cNvPr id="6" name="标题 5">
            <a:extLst>
              <a:ext uri="{FF2B5EF4-FFF2-40B4-BE49-F238E27FC236}">
                <a16:creationId xmlns:a16="http://schemas.microsoft.com/office/drawing/2014/main" id="{0E8DD97D-1179-0928-3F2D-45A6F2DC1604}"/>
              </a:ext>
            </a:extLst>
          </p:cNvPr>
          <p:cNvSpPr>
            <a:spLocks noGrp="1"/>
          </p:cNvSpPr>
          <p:nvPr>
            <p:ph type="title"/>
          </p:nvPr>
        </p:nvSpPr>
        <p:spPr/>
        <p:txBody>
          <a:bodyPr>
            <a:normAutofit/>
          </a:bodyPr>
          <a:lstStyle/>
          <a:p>
            <a:r>
              <a:rPr lang="zh-CN" altLang="en-US" dirty="0"/>
              <a:t>循环扫描算法</a:t>
            </a:r>
            <a:r>
              <a:rPr lang="en-US" altLang="zh-CN" dirty="0"/>
              <a:t>(C-SCAN)</a:t>
            </a:r>
            <a:endParaRPr lang="zh-CN" altLang="en-US" dirty="0"/>
          </a:p>
        </p:txBody>
      </p:sp>
      <p:sp>
        <p:nvSpPr>
          <p:cNvPr id="10" name="灯片编号占位符 9">
            <a:extLst>
              <a:ext uri="{FF2B5EF4-FFF2-40B4-BE49-F238E27FC236}">
                <a16:creationId xmlns:a16="http://schemas.microsoft.com/office/drawing/2014/main" id="{71B3BCD6-6356-CFB4-8D54-049BA96ED2B9}"/>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62</a:t>
            </a:fld>
            <a:endParaRPr lang="zh-CN" altLang="en-US" dirty="0"/>
          </a:p>
        </p:txBody>
      </p:sp>
    </p:spTree>
    <p:extLst>
      <p:ext uri="{BB962C8B-B14F-4D97-AF65-F5344CB8AC3E}">
        <p14:creationId xmlns:p14="http://schemas.microsoft.com/office/powerpoint/2010/main" val="336831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10" y="1628800"/>
            <a:ext cx="10585176" cy="714380"/>
            <a:chOff x="844894" y="1000114"/>
            <a:chExt cx="5870247" cy="714380"/>
          </a:xfrm>
        </p:grpSpPr>
        <p:sp>
          <p:nvSpPr>
            <p:cNvPr id="9" name="内容占位符 2"/>
            <p:cNvSpPr txBox="1">
              <a:spLocks/>
            </p:cNvSpPr>
            <p:nvPr/>
          </p:nvSpPr>
          <p:spPr>
            <a:xfrm>
              <a:off x="1044562" y="1000114"/>
              <a:ext cx="5670579" cy="71438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Bef>
                  <a:spcPts val="0"/>
                </a:spcBef>
                <a:spcAft>
                  <a:spcPts val="0"/>
                </a:spcAft>
                <a:buSzTx/>
              </a:pPr>
              <a:r>
                <a:rPr lang="zh-CN" altLang="en-US" dirty="0">
                  <a:sym typeface="宋体" charset="0"/>
                </a:rPr>
                <a:t>磁臂先到达该方向上最后一个请求处，然后立即反转，而不是先到最后点路径上的所有请求</a:t>
              </a:r>
            </a:p>
          </p:txBody>
        </p:sp>
        <p:sp>
          <p:nvSpPr>
            <p:cNvPr id="12" name="TextBox 11"/>
            <p:cNvSpPr txBox="1"/>
            <p:nvPr/>
          </p:nvSpPr>
          <p:spPr>
            <a:xfrm>
              <a:off x="844894" y="1000114"/>
              <a:ext cx="279604"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sp>
        <p:nvSpPr>
          <p:cNvPr id="5" name="标题 4">
            <a:extLst>
              <a:ext uri="{FF2B5EF4-FFF2-40B4-BE49-F238E27FC236}">
                <a16:creationId xmlns:a16="http://schemas.microsoft.com/office/drawing/2014/main" id="{467CB0CD-B1DB-5973-D3CF-4132A9D20C20}"/>
              </a:ext>
            </a:extLst>
          </p:cNvPr>
          <p:cNvSpPr>
            <a:spLocks noGrp="1"/>
          </p:cNvSpPr>
          <p:nvPr>
            <p:ph type="title"/>
          </p:nvPr>
        </p:nvSpPr>
        <p:spPr/>
        <p:txBody>
          <a:bodyPr>
            <a:normAutofit/>
          </a:bodyPr>
          <a:lstStyle/>
          <a:p>
            <a:r>
              <a:rPr lang="en-US" altLang="zh-CN" dirty="0"/>
              <a:t>C-LOOK</a:t>
            </a:r>
            <a:r>
              <a:rPr lang="zh-CN" altLang="en-US" dirty="0"/>
              <a:t>算法</a:t>
            </a:r>
          </a:p>
        </p:txBody>
      </p:sp>
      <p:sp>
        <p:nvSpPr>
          <p:cNvPr id="7" name="灯片编号占位符 6">
            <a:extLst>
              <a:ext uri="{FF2B5EF4-FFF2-40B4-BE49-F238E27FC236}">
                <a16:creationId xmlns:a16="http://schemas.microsoft.com/office/drawing/2014/main" id="{DF46D0B1-ABDE-DD3F-DA13-F55FA9FD0782}"/>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63</a:t>
            </a:fld>
            <a:endParaRPr lang="zh-CN" altLang="en-US" dirty="0"/>
          </a:p>
        </p:txBody>
      </p:sp>
    </p:spTree>
    <p:extLst>
      <p:ext uri="{BB962C8B-B14F-4D97-AF65-F5344CB8AC3E}">
        <p14:creationId xmlns:p14="http://schemas.microsoft.com/office/powerpoint/2010/main" val="105956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634474"/>
            <a:ext cx="9145016" cy="909644"/>
            <a:chOff x="844893" y="1019164"/>
            <a:chExt cx="9145016" cy="909644"/>
          </a:xfrm>
        </p:grpSpPr>
        <p:sp>
          <p:nvSpPr>
            <p:cNvPr id="9" name="内容占位符 2"/>
            <p:cNvSpPr txBox="1">
              <a:spLocks/>
            </p:cNvSpPr>
            <p:nvPr/>
          </p:nvSpPr>
          <p:spPr>
            <a:xfrm>
              <a:off x="1142976" y="1019164"/>
              <a:ext cx="385765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磁头粘着</a:t>
              </a:r>
              <a:r>
                <a:rPr lang="zh-CN" altLang="zh-CN" dirty="0"/>
                <a:t>(Arm</a:t>
              </a:r>
              <a:r>
                <a:rPr lang="zh-CN" altLang="en-US" dirty="0"/>
                <a:t> </a:t>
              </a:r>
              <a:r>
                <a:rPr lang="en-US" altLang="zh-CN" dirty="0"/>
                <a:t>S</a:t>
              </a:r>
              <a:r>
                <a:rPr lang="zh-CN" altLang="zh-CN" dirty="0"/>
                <a:t>tickiness)</a:t>
              </a:r>
              <a:r>
                <a:rPr lang="zh-CN" altLang="en-US" dirty="0"/>
                <a:t>现象</a:t>
              </a: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9" name="图片 28" descr="小点1.png"/>
            <p:cNvPicPr>
              <a:picLocks noChangeAspect="1"/>
            </p:cNvPicPr>
            <p:nvPr/>
          </p:nvPicPr>
          <p:blipFill>
            <a:blip r:embed="rId2" cstate="print"/>
            <a:stretch>
              <a:fillRect/>
            </a:stretch>
          </p:blipFill>
          <p:spPr>
            <a:xfrm>
              <a:off x="1262422" y="1444618"/>
              <a:ext cx="151066" cy="148997"/>
            </a:xfrm>
            <a:prstGeom prst="rect">
              <a:avLst/>
            </a:prstGeom>
            <a:effectLst/>
          </p:spPr>
        </p:pic>
        <p:sp>
          <p:nvSpPr>
            <p:cNvPr id="30" name="内容占位符 2"/>
            <p:cNvSpPr txBox="1">
              <a:spLocks/>
            </p:cNvSpPr>
            <p:nvPr/>
          </p:nvSpPr>
          <p:spPr>
            <a:xfrm>
              <a:off x="1394985" y="1339842"/>
              <a:ext cx="8594924" cy="58896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SSTF、SCAN及CSCAN等算法中，可能出现磁头停留在某处不动的情况</a:t>
              </a:r>
            </a:p>
          </p:txBody>
        </p:sp>
      </p:grpSp>
      <p:grpSp>
        <p:nvGrpSpPr>
          <p:cNvPr id="3" name="组合 2"/>
          <p:cNvGrpSpPr/>
          <p:nvPr/>
        </p:nvGrpSpPr>
        <p:grpSpPr>
          <a:xfrm>
            <a:off x="1184933" y="2276872"/>
            <a:ext cx="5095528" cy="354014"/>
            <a:chOff x="1262422" y="1661562"/>
            <a:chExt cx="5095528" cy="354014"/>
          </a:xfrm>
        </p:grpSpPr>
        <p:pic>
          <p:nvPicPr>
            <p:cNvPr id="27" name="图片 26" descr="小点1.png"/>
            <p:cNvPicPr>
              <a:picLocks noChangeAspect="1"/>
            </p:cNvPicPr>
            <p:nvPr/>
          </p:nvPicPr>
          <p:blipFill>
            <a:blip r:embed="rId2" cstate="print"/>
            <a:stretch>
              <a:fillRect/>
            </a:stretch>
          </p:blipFill>
          <p:spPr>
            <a:xfrm>
              <a:off x="1262422" y="1766338"/>
              <a:ext cx="151066" cy="148997"/>
            </a:xfrm>
            <a:prstGeom prst="rect">
              <a:avLst/>
            </a:prstGeom>
            <a:effectLst/>
          </p:spPr>
        </p:pic>
        <p:sp>
          <p:nvSpPr>
            <p:cNvPr id="28" name="内容占位符 2"/>
            <p:cNvSpPr txBox="1">
              <a:spLocks/>
            </p:cNvSpPr>
            <p:nvPr/>
          </p:nvSpPr>
          <p:spPr>
            <a:xfrm>
              <a:off x="1394986" y="1661562"/>
              <a:ext cx="4962964"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如：进程反复请求对某一磁道的I/</a:t>
              </a:r>
              <a:r>
                <a:rPr lang="en-US" altLang="zh-CN" dirty="0"/>
                <a:t>O</a:t>
              </a:r>
              <a:r>
                <a:rPr lang="zh-CN" altLang="en-US" dirty="0"/>
                <a:t>操作</a:t>
              </a:r>
            </a:p>
          </p:txBody>
        </p:sp>
      </p:grpSp>
      <p:grpSp>
        <p:nvGrpSpPr>
          <p:cNvPr id="4" name="组合 3"/>
          <p:cNvGrpSpPr/>
          <p:nvPr/>
        </p:nvGrpSpPr>
        <p:grpSpPr>
          <a:xfrm>
            <a:off x="767408" y="2753670"/>
            <a:ext cx="5298743" cy="770026"/>
            <a:chOff x="844893" y="2138360"/>
            <a:chExt cx="5298743" cy="770026"/>
          </a:xfrm>
        </p:grpSpPr>
        <p:sp>
          <p:nvSpPr>
            <p:cNvPr id="15" name="内容占位符 2"/>
            <p:cNvSpPr txBox="1">
              <a:spLocks/>
            </p:cNvSpPr>
            <p:nvPr/>
          </p:nvSpPr>
          <p:spPr>
            <a:xfrm>
              <a:off x="1142976" y="2138360"/>
              <a:ext cx="1785950" cy="42363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40000"/>
                </a:lnSpc>
                <a:spcBef>
                  <a:spcPct val="50000"/>
                </a:spcBef>
                <a:spcAft>
                  <a:spcPts val="0"/>
                </a:spcAft>
                <a:buSzTx/>
              </a:pPr>
              <a:r>
                <a:rPr lang="en-US" altLang="zh-CN" dirty="0"/>
                <a:t>N</a:t>
              </a:r>
              <a:r>
                <a:rPr lang="zh-CN" altLang="en-US" dirty="0"/>
                <a:t>步扫描算法</a:t>
              </a:r>
              <a:endParaRPr lang="en-US" altLang="zh-CN" dirty="0"/>
            </a:p>
          </p:txBody>
        </p:sp>
        <p:sp>
          <p:nvSpPr>
            <p:cNvPr id="16" name="TextBox 15"/>
            <p:cNvSpPr txBox="1"/>
            <p:nvPr/>
          </p:nvSpPr>
          <p:spPr>
            <a:xfrm>
              <a:off x="844893" y="2201860"/>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19" name="图片 18" descr="小点1.png"/>
            <p:cNvPicPr>
              <a:picLocks noChangeAspect="1"/>
            </p:cNvPicPr>
            <p:nvPr/>
          </p:nvPicPr>
          <p:blipFill>
            <a:blip r:embed="rId2" cstate="print"/>
            <a:stretch>
              <a:fillRect/>
            </a:stretch>
          </p:blipFill>
          <p:spPr>
            <a:xfrm>
              <a:off x="1262422" y="2657564"/>
              <a:ext cx="151066" cy="148997"/>
            </a:xfrm>
            <a:prstGeom prst="rect">
              <a:avLst/>
            </a:prstGeom>
            <a:effectLst/>
          </p:spPr>
        </p:pic>
        <p:sp>
          <p:nvSpPr>
            <p:cNvPr id="20" name="内容占位符 2"/>
            <p:cNvSpPr txBox="1">
              <a:spLocks/>
            </p:cNvSpPr>
            <p:nvPr/>
          </p:nvSpPr>
          <p:spPr>
            <a:xfrm>
              <a:off x="1394985" y="2552788"/>
              <a:ext cx="4748651"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将磁盘请求队列分成长度为N的子队列</a:t>
              </a:r>
            </a:p>
          </p:txBody>
        </p:sp>
      </p:grpSp>
      <p:grpSp>
        <p:nvGrpSpPr>
          <p:cNvPr id="5" name="组合 4"/>
          <p:cNvGrpSpPr/>
          <p:nvPr/>
        </p:nvGrpSpPr>
        <p:grpSpPr>
          <a:xfrm>
            <a:off x="1184933" y="3477658"/>
            <a:ext cx="4095396" cy="354014"/>
            <a:chOff x="1262422" y="2862348"/>
            <a:chExt cx="4095396" cy="354014"/>
          </a:xfrm>
        </p:grpSpPr>
        <p:pic>
          <p:nvPicPr>
            <p:cNvPr id="21" name="图片 20" descr="小点1.png"/>
            <p:cNvPicPr>
              <a:picLocks noChangeAspect="1"/>
            </p:cNvPicPr>
            <p:nvPr/>
          </p:nvPicPr>
          <p:blipFill>
            <a:blip r:embed="rId2" cstate="print"/>
            <a:stretch>
              <a:fillRect/>
            </a:stretch>
          </p:blipFill>
          <p:spPr>
            <a:xfrm>
              <a:off x="1262422" y="2967124"/>
              <a:ext cx="151066" cy="148997"/>
            </a:xfrm>
            <a:prstGeom prst="rect">
              <a:avLst/>
            </a:prstGeom>
            <a:effectLst/>
          </p:spPr>
        </p:pic>
        <p:sp>
          <p:nvSpPr>
            <p:cNvPr id="22" name="内容占位符 2"/>
            <p:cNvSpPr txBox="1">
              <a:spLocks/>
            </p:cNvSpPr>
            <p:nvPr/>
          </p:nvSpPr>
          <p:spPr>
            <a:xfrm>
              <a:off x="1394986" y="2862348"/>
              <a:ext cx="3962832"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按F</a:t>
              </a:r>
              <a:r>
                <a:rPr lang="en-US" altLang="zh-CN" dirty="0"/>
                <a:t>I</a:t>
              </a:r>
              <a:r>
                <a:rPr lang="zh-CN" altLang="en-US" dirty="0"/>
                <a:t>F</a:t>
              </a:r>
              <a:r>
                <a:rPr lang="en-US" altLang="zh-CN" dirty="0"/>
                <a:t>O</a:t>
              </a:r>
              <a:r>
                <a:rPr lang="zh-CN" altLang="en-US" dirty="0"/>
                <a:t>算法依次处理所有子队列</a:t>
              </a:r>
            </a:p>
          </p:txBody>
        </p:sp>
      </p:grpSp>
      <p:grpSp>
        <p:nvGrpSpPr>
          <p:cNvPr id="6" name="组合 5"/>
          <p:cNvGrpSpPr/>
          <p:nvPr/>
        </p:nvGrpSpPr>
        <p:grpSpPr>
          <a:xfrm>
            <a:off x="1184933" y="3791890"/>
            <a:ext cx="2952388" cy="357190"/>
            <a:chOff x="1262422" y="3176580"/>
            <a:chExt cx="2952388" cy="357190"/>
          </a:xfrm>
        </p:grpSpPr>
        <p:pic>
          <p:nvPicPr>
            <p:cNvPr id="23" name="图片 22" descr="小点1.png"/>
            <p:cNvPicPr>
              <a:picLocks noChangeAspect="1"/>
            </p:cNvPicPr>
            <p:nvPr/>
          </p:nvPicPr>
          <p:blipFill>
            <a:blip r:embed="rId2" cstate="print"/>
            <a:stretch>
              <a:fillRect/>
            </a:stretch>
          </p:blipFill>
          <p:spPr>
            <a:xfrm>
              <a:off x="1262422" y="3268656"/>
              <a:ext cx="151066" cy="148997"/>
            </a:xfrm>
            <a:prstGeom prst="rect">
              <a:avLst/>
            </a:prstGeom>
            <a:effectLst/>
          </p:spPr>
        </p:pic>
        <p:sp>
          <p:nvSpPr>
            <p:cNvPr id="24" name="内容占位符 2"/>
            <p:cNvSpPr txBox="1">
              <a:spLocks/>
            </p:cNvSpPr>
            <p:nvPr/>
          </p:nvSpPr>
          <p:spPr>
            <a:xfrm>
              <a:off x="1394986" y="3176580"/>
              <a:ext cx="2819824" cy="35719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扫描算法处理每个队列</a:t>
              </a:r>
            </a:p>
          </p:txBody>
        </p:sp>
      </p:grpSp>
      <p:sp>
        <p:nvSpPr>
          <p:cNvPr id="11" name="标题 10">
            <a:extLst>
              <a:ext uri="{FF2B5EF4-FFF2-40B4-BE49-F238E27FC236}">
                <a16:creationId xmlns:a16="http://schemas.microsoft.com/office/drawing/2014/main" id="{58CB5E4E-609B-F22E-DCC1-B1134B86D177}"/>
              </a:ext>
            </a:extLst>
          </p:cNvPr>
          <p:cNvSpPr>
            <a:spLocks noGrp="1"/>
          </p:cNvSpPr>
          <p:nvPr>
            <p:ph type="title"/>
          </p:nvPr>
        </p:nvSpPr>
        <p:spPr/>
        <p:txBody>
          <a:bodyPr>
            <a:normAutofit/>
          </a:bodyPr>
          <a:lstStyle/>
          <a:p>
            <a:r>
              <a:rPr lang="en-US" altLang="zh-CN" dirty="0"/>
              <a:t>N</a:t>
            </a:r>
            <a:r>
              <a:rPr lang="zh-CN" altLang="en-US" dirty="0"/>
              <a:t>步扫描</a:t>
            </a:r>
            <a:r>
              <a:rPr lang="en-US" altLang="zh-CN" dirty="0"/>
              <a:t>(N-step-SCAN)</a:t>
            </a:r>
            <a:r>
              <a:rPr lang="zh-CN" altLang="en-US" dirty="0"/>
              <a:t>算法</a:t>
            </a:r>
          </a:p>
        </p:txBody>
      </p:sp>
      <p:sp>
        <p:nvSpPr>
          <p:cNvPr id="14" name="灯片编号占位符 13">
            <a:extLst>
              <a:ext uri="{FF2B5EF4-FFF2-40B4-BE49-F238E27FC236}">
                <a16:creationId xmlns:a16="http://schemas.microsoft.com/office/drawing/2014/main" id="{9349F743-C944-33A9-1653-C70D15084376}"/>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64</a:t>
            </a:fld>
            <a:endParaRPr lang="zh-CN" altLang="en-US" dirty="0"/>
          </a:p>
        </p:txBody>
      </p:sp>
    </p:spTree>
    <p:extLst>
      <p:ext uri="{BB962C8B-B14F-4D97-AF65-F5344CB8AC3E}">
        <p14:creationId xmlns:p14="http://schemas.microsoft.com/office/powerpoint/2010/main" val="343555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628800"/>
            <a:ext cx="5584495" cy="695330"/>
            <a:chOff x="844893" y="1019164"/>
            <a:chExt cx="5584495" cy="695330"/>
          </a:xfrm>
        </p:grpSpPr>
        <p:sp>
          <p:nvSpPr>
            <p:cNvPr id="9" name="内容占位符 2"/>
            <p:cNvSpPr txBox="1">
              <a:spLocks/>
            </p:cNvSpPr>
            <p:nvPr/>
          </p:nvSpPr>
          <p:spPr>
            <a:xfrm>
              <a:off x="1142976" y="1019164"/>
              <a:ext cx="421484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eaLnBrk="1" fontAlgn="auto" hangingPunct="1">
                <a:lnSpc>
                  <a:spcPct val="100000"/>
                </a:lnSpc>
                <a:spcAft>
                  <a:spcPts val="0"/>
                </a:spcAft>
                <a:buSzTx/>
              </a:pPr>
              <a:r>
                <a:rPr lang="zh-CN" altLang="en-US" dirty="0"/>
                <a:t>FSCAN算法是N步扫描算法的简化</a:t>
              </a:r>
            </a:p>
          </p:txBody>
        </p:sp>
        <p:sp>
          <p:nvSpPr>
            <p:cNvPr id="12" name="TextBox 11"/>
            <p:cNvSpPr txBox="1"/>
            <p:nvPr/>
          </p:nvSpPr>
          <p:spPr>
            <a:xfrm>
              <a:off x="844893" y="1019164"/>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9" name="图片 28" descr="小点1.png"/>
            <p:cNvPicPr>
              <a:picLocks noChangeAspect="1"/>
            </p:cNvPicPr>
            <p:nvPr/>
          </p:nvPicPr>
          <p:blipFill>
            <a:blip r:embed="rId2" cstate="print"/>
            <a:stretch>
              <a:fillRect/>
            </a:stretch>
          </p:blipFill>
          <p:spPr>
            <a:xfrm>
              <a:off x="1262422" y="1444618"/>
              <a:ext cx="151066" cy="148997"/>
            </a:xfrm>
            <a:prstGeom prst="rect">
              <a:avLst/>
            </a:prstGeom>
            <a:effectLst/>
          </p:spPr>
        </p:pic>
        <p:sp>
          <p:nvSpPr>
            <p:cNvPr id="30" name="内容占位符 2"/>
            <p:cNvSpPr txBox="1">
              <a:spLocks/>
            </p:cNvSpPr>
            <p:nvPr/>
          </p:nvSpPr>
          <p:spPr>
            <a:xfrm>
              <a:off x="1394985" y="1339842"/>
              <a:ext cx="5034403" cy="37465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FSCAN只将磁盘请求队列分成两个子队列</a:t>
              </a:r>
            </a:p>
          </p:txBody>
        </p:sp>
      </p:grpSp>
      <p:grpSp>
        <p:nvGrpSpPr>
          <p:cNvPr id="3" name="组合 2"/>
          <p:cNvGrpSpPr/>
          <p:nvPr/>
        </p:nvGrpSpPr>
        <p:grpSpPr>
          <a:xfrm>
            <a:off x="767408" y="2163792"/>
            <a:ext cx="4084297" cy="770026"/>
            <a:chOff x="844893" y="1554156"/>
            <a:chExt cx="4084297" cy="770026"/>
          </a:xfrm>
        </p:grpSpPr>
        <p:sp>
          <p:nvSpPr>
            <p:cNvPr id="15" name="内容占位符 2"/>
            <p:cNvSpPr txBox="1">
              <a:spLocks/>
            </p:cNvSpPr>
            <p:nvPr/>
          </p:nvSpPr>
          <p:spPr>
            <a:xfrm>
              <a:off x="1142976" y="1554156"/>
              <a:ext cx="1785950" cy="42363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lnSpc>
                  <a:spcPct val="140000"/>
                </a:lnSpc>
                <a:spcBef>
                  <a:spcPct val="50000"/>
                </a:spcBef>
                <a:spcAft>
                  <a:spcPts val="0"/>
                </a:spcAft>
                <a:buSzTx/>
              </a:pPr>
              <a:r>
                <a:rPr lang="en-US" altLang="zh-CN" dirty="0"/>
                <a:t>FSCAN</a:t>
              </a:r>
              <a:r>
                <a:rPr lang="zh-CN" altLang="en-US" dirty="0"/>
                <a:t>算法</a:t>
              </a:r>
              <a:endParaRPr lang="en-US" altLang="zh-CN" dirty="0"/>
            </a:p>
          </p:txBody>
        </p:sp>
        <p:sp>
          <p:nvSpPr>
            <p:cNvPr id="16" name="TextBox 15"/>
            <p:cNvSpPr txBox="1"/>
            <p:nvPr/>
          </p:nvSpPr>
          <p:spPr>
            <a:xfrm>
              <a:off x="844893" y="1617656"/>
              <a:ext cx="433390" cy="400110"/>
            </a:xfrm>
            <a:prstGeom prst="rect">
              <a:avLst/>
            </a:prstGeom>
            <a:noFill/>
            <a:effectLst/>
          </p:spPr>
          <p:txBody>
            <a:bodyPr wrap="square" rtlCol="0">
              <a:spAutoFit/>
            </a:bodyPr>
            <a:lstStyle/>
            <a:p>
              <a:pPr marL="342900" indent="-342900" eaLnBrk="1" fontAlgn="auto" hangingPunct="1">
                <a:lnSpc>
                  <a:spcPct val="100000"/>
                </a:lnSpc>
                <a:spcAft>
                  <a:spcPts val="0"/>
                </a:spcAft>
                <a:buSzTx/>
                <a:buNone/>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19" name="图片 18" descr="小点1.png"/>
            <p:cNvPicPr>
              <a:picLocks noChangeAspect="1"/>
            </p:cNvPicPr>
            <p:nvPr/>
          </p:nvPicPr>
          <p:blipFill>
            <a:blip r:embed="rId2" cstate="print"/>
            <a:stretch>
              <a:fillRect/>
            </a:stretch>
          </p:blipFill>
          <p:spPr>
            <a:xfrm>
              <a:off x="1262422" y="2073360"/>
              <a:ext cx="151066" cy="148997"/>
            </a:xfrm>
            <a:prstGeom prst="rect">
              <a:avLst/>
            </a:prstGeom>
            <a:effectLst/>
          </p:spPr>
        </p:pic>
        <p:sp>
          <p:nvSpPr>
            <p:cNvPr id="20" name="内容占位符 2"/>
            <p:cNvSpPr txBox="1">
              <a:spLocks/>
            </p:cNvSpPr>
            <p:nvPr/>
          </p:nvSpPr>
          <p:spPr>
            <a:xfrm>
              <a:off x="1394985" y="1968584"/>
              <a:ext cx="3534205"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把磁盘</a:t>
              </a:r>
              <a:r>
                <a:rPr lang="en-US" altLang="zh-CN" dirty="0"/>
                <a:t>I/O</a:t>
              </a:r>
              <a:r>
                <a:rPr lang="zh-CN" altLang="en-US" dirty="0"/>
                <a:t>请求分成两个队列</a:t>
              </a:r>
            </a:p>
          </p:txBody>
        </p:sp>
      </p:grpSp>
      <p:grpSp>
        <p:nvGrpSpPr>
          <p:cNvPr id="4" name="组合 3"/>
          <p:cNvGrpSpPr/>
          <p:nvPr/>
        </p:nvGrpSpPr>
        <p:grpSpPr>
          <a:xfrm>
            <a:off x="1184933" y="2887780"/>
            <a:ext cx="4095396" cy="354014"/>
            <a:chOff x="1262422" y="2278144"/>
            <a:chExt cx="4095396" cy="354014"/>
          </a:xfrm>
        </p:grpSpPr>
        <p:pic>
          <p:nvPicPr>
            <p:cNvPr id="21" name="图片 20" descr="小点1.png"/>
            <p:cNvPicPr>
              <a:picLocks noChangeAspect="1"/>
            </p:cNvPicPr>
            <p:nvPr/>
          </p:nvPicPr>
          <p:blipFill>
            <a:blip r:embed="rId2" cstate="print"/>
            <a:stretch>
              <a:fillRect/>
            </a:stretch>
          </p:blipFill>
          <p:spPr>
            <a:xfrm>
              <a:off x="1262422" y="2382920"/>
              <a:ext cx="151066" cy="148997"/>
            </a:xfrm>
            <a:prstGeom prst="rect">
              <a:avLst/>
            </a:prstGeom>
            <a:effectLst/>
          </p:spPr>
        </p:pic>
        <p:sp>
          <p:nvSpPr>
            <p:cNvPr id="22" name="内容占位符 2"/>
            <p:cNvSpPr txBox="1">
              <a:spLocks/>
            </p:cNvSpPr>
            <p:nvPr/>
          </p:nvSpPr>
          <p:spPr>
            <a:xfrm>
              <a:off x="1394986" y="2278144"/>
              <a:ext cx="3962832"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交替使用扫描算法处理一个队列</a:t>
              </a:r>
            </a:p>
          </p:txBody>
        </p:sp>
      </p:grpSp>
      <p:grpSp>
        <p:nvGrpSpPr>
          <p:cNvPr id="5" name="组合 4"/>
          <p:cNvGrpSpPr/>
          <p:nvPr/>
        </p:nvGrpSpPr>
        <p:grpSpPr>
          <a:xfrm>
            <a:off x="1184933" y="3202012"/>
            <a:ext cx="5524156" cy="681054"/>
            <a:chOff x="1262422" y="2592376"/>
            <a:chExt cx="5524156" cy="681054"/>
          </a:xfrm>
        </p:grpSpPr>
        <p:pic>
          <p:nvPicPr>
            <p:cNvPr id="23" name="图片 22" descr="小点1.png"/>
            <p:cNvPicPr>
              <a:picLocks noChangeAspect="1"/>
            </p:cNvPicPr>
            <p:nvPr/>
          </p:nvPicPr>
          <p:blipFill>
            <a:blip r:embed="rId2" cstate="print"/>
            <a:stretch>
              <a:fillRect/>
            </a:stretch>
          </p:blipFill>
          <p:spPr>
            <a:xfrm>
              <a:off x="1262422" y="2684452"/>
              <a:ext cx="151066" cy="148997"/>
            </a:xfrm>
            <a:prstGeom prst="rect">
              <a:avLst/>
            </a:prstGeom>
            <a:effectLst/>
          </p:spPr>
        </p:pic>
        <p:sp>
          <p:nvSpPr>
            <p:cNvPr id="24" name="内容占位符 2"/>
            <p:cNvSpPr txBox="1">
              <a:spLocks/>
            </p:cNvSpPr>
            <p:nvPr/>
          </p:nvSpPr>
          <p:spPr>
            <a:xfrm>
              <a:off x="1394986" y="2592376"/>
              <a:ext cx="4748650" cy="35719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新生成的磁盘</a:t>
              </a:r>
              <a:r>
                <a:rPr lang="en-US" altLang="zh-CN" dirty="0"/>
                <a:t>I/O</a:t>
              </a:r>
              <a:r>
                <a:rPr lang="zh-CN" altLang="en-US" dirty="0"/>
                <a:t>请求放入另一队列中</a:t>
              </a:r>
            </a:p>
          </p:txBody>
        </p:sp>
        <p:sp>
          <p:nvSpPr>
            <p:cNvPr id="17" name="内容占位符 2"/>
            <p:cNvSpPr txBox="1">
              <a:spLocks/>
            </p:cNvSpPr>
            <p:nvPr/>
          </p:nvSpPr>
          <p:spPr>
            <a:xfrm>
              <a:off x="1394986" y="2916240"/>
              <a:ext cx="5391592" cy="35719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eaLnBrk="1" fontAlgn="auto" hangingPunct="1">
                <a:lnSpc>
                  <a:spcPct val="90000"/>
                </a:lnSpc>
                <a:spcBef>
                  <a:spcPts val="0"/>
                </a:spcBef>
                <a:spcAft>
                  <a:spcPts val="0"/>
                </a:spcAft>
                <a:buSzTx/>
              </a:pPr>
              <a:r>
                <a:rPr lang="zh-CN" altLang="en-US" dirty="0"/>
                <a:t>所有的新请求都将被推迟到下一次扫描时处理</a:t>
              </a:r>
            </a:p>
          </p:txBody>
        </p:sp>
      </p:grpSp>
      <p:sp>
        <p:nvSpPr>
          <p:cNvPr id="10" name="标题 9">
            <a:extLst>
              <a:ext uri="{FF2B5EF4-FFF2-40B4-BE49-F238E27FC236}">
                <a16:creationId xmlns:a16="http://schemas.microsoft.com/office/drawing/2014/main" id="{41039757-79AA-9E94-CDCD-72A26B742FF6}"/>
              </a:ext>
            </a:extLst>
          </p:cNvPr>
          <p:cNvSpPr>
            <a:spLocks noGrp="1"/>
          </p:cNvSpPr>
          <p:nvPr>
            <p:ph type="title"/>
          </p:nvPr>
        </p:nvSpPr>
        <p:spPr/>
        <p:txBody>
          <a:bodyPr>
            <a:normAutofit/>
          </a:bodyPr>
          <a:lstStyle/>
          <a:p>
            <a:r>
              <a:rPr lang="zh-CN" altLang="en-US" dirty="0"/>
              <a:t>双队列扫描</a:t>
            </a:r>
            <a:r>
              <a:rPr lang="en-US" altLang="zh-CN" dirty="0"/>
              <a:t>(FSCAN)</a:t>
            </a:r>
            <a:r>
              <a:rPr lang="zh-CN" altLang="en-US" dirty="0"/>
              <a:t>算法</a:t>
            </a:r>
          </a:p>
        </p:txBody>
      </p:sp>
      <p:sp>
        <p:nvSpPr>
          <p:cNvPr id="13" name="灯片编号占位符 12">
            <a:extLst>
              <a:ext uri="{FF2B5EF4-FFF2-40B4-BE49-F238E27FC236}">
                <a16:creationId xmlns:a16="http://schemas.microsoft.com/office/drawing/2014/main" id="{FCCC011C-CF6D-1B60-6275-D9F272A010C3}"/>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65</a:t>
            </a:fld>
            <a:endParaRPr lang="zh-CN" altLang="en-US" dirty="0"/>
          </a:p>
        </p:txBody>
      </p:sp>
    </p:spTree>
    <p:extLst>
      <p:ext uri="{BB962C8B-B14F-4D97-AF65-F5344CB8AC3E}">
        <p14:creationId xmlns:p14="http://schemas.microsoft.com/office/powerpoint/2010/main" val="808400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780E45E-E5E7-6518-EBB1-A6C92B71B727}"/>
              </a:ext>
            </a:extLst>
          </p:cNvPr>
          <p:cNvSpPr>
            <a:spLocks noGrp="1"/>
          </p:cNvSpPr>
          <p:nvPr>
            <p:ph type="title"/>
          </p:nvPr>
        </p:nvSpPr>
        <p:spPr/>
        <p:txBody>
          <a:bodyPr>
            <a:normAutofit fontScale="90000"/>
          </a:bodyPr>
          <a:lstStyle/>
          <a:p>
            <a:r>
              <a:rPr lang="en-US" altLang="zh-CN" dirty="0"/>
              <a:t>2</a:t>
            </a:r>
            <a:r>
              <a:rPr lang="zh-CN" altLang="en-US" dirty="0"/>
              <a:t>． </a:t>
            </a:r>
            <a:r>
              <a:rPr lang="en-US" altLang="zh-CN" dirty="0"/>
              <a:t>RAID</a:t>
            </a:r>
            <a:r>
              <a:rPr lang="zh-CN" altLang="en-US" dirty="0"/>
              <a:t>（</a:t>
            </a:r>
            <a:r>
              <a:rPr lang="en-US" altLang="zh-CN" dirty="0"/>
              <a:t>Redundant Array of Inexpensive Disks)</a:t>
            </a:r>
            <a:endParaRPr lang="zh-CN" altLang="en-US" dirty="0"/>
          </a:p>
        </p:txBody>
      </p:sp>
      <p:sp>
        <p:nvSpPr>
          <p:cNvPr id="5" name="内容占位符 4">
            <a:extLst>
              <a:ext uri="{FF2B5EF4-FFF2-40B4-BE49-F238E27FC236}">
                <a16:creationId xmlns:a16="http://schemas.microsoft.com/office/drawing/2014/main" id="{FCB98D75-7D2B-D932-FF24-9818AEA44026}"/>
              </a:ext>
            </a:extLst>
          </p:cNvPr>
          <p:cNvSpPr>
            <a:spLocks noGrp="1"/>
          </p:cNvSpPr>
          <p:nvPr>
            <p:ph idx="1"/>
          </p:nvPr>
        </p:nvSpPr>
        <p:spPr/>
        <p:txBody>
          <a:bodyPr>
            <a:normAutofit/>
          </a:bodyPr>
          <a:lstStyle/>
          <a:p>
            <a:r>
              <a:rPr lang="en-US" altLang="zh-CN" sz="2400" dirty="0"/>
              <a:t>RAID</a:t>
            </a:r>
            <a:r>
              <a:rPr lang="zh-CN" altLang="en-US" sz="2400" dirty="0"/>
              <a:t>研究目标：通过多个并行组件获得额外的磁盘访问性能，实现多个独立的</a:t>
            </a:r>
            <a:r>
              <a:rPr lang="en-US" altLang="zh-CN" sz="2400" dirty="0"/>
              <a:t>I/O</a:t>
            </a:r>
            <a:r>
              <a:rPr lang="zh-CN" altLang="en-US" sz="2400" dirty="0"/>
              <a:t>请求可以并行处理，前提是数据信息存放在不同的磁盘中。</a:t>
            </a:r>
          </a:p>
          <a:p>
            <a:r>
              <a:rPr lang="en-US" altLang="zh-CN" sz="2400" dirty="0"/>
              <a:t>RAID</a:t>
            </a:r>
            <a:r>
              <a:rPr lang="zh-CN" altLang="en-US" sz="2400" dirty="0"/>
              <a:t>包含了</a:t>
            </a:r>
            <a:r>
              <a:rPr lang="en-US" altLang="zh-CN" sz="2400" dirty="0"/>
              <a:t>0-5</a:t>
            </a:r>
            <a:r>
              <a:rPr lang="zh-CN" altLang="en-US" sz="2400" dirty="0"/>
              <a:t>个层，它们具有不同的设计结构。其中共同点是：</a:t>
            </a:r>
          </a:p>
          <a:p>
            <a:pPr lvl="1"/>
            <a:r>
              <a:rPr lang="en-US" altLang="zh-CN" sz="2000" dirty="0"/>
              <a:t>1</a:t>
            </a:r>
            <a:r>
              <a:rPr lang="zh-CN" altLang="en-US" sz="2000" dirty="0"/>
              <a:t>）</a:t>
            </a:r>
            <a:r>
              <a:rPr lang="en-US" altLang="zh-CN" sz="2000" dirty="0"/>
              <a:t>RAID</a:t>
            </a:r>
            <a:r>
              <a:rPr lang="zh-CN" altLang="en-US" sz="2000" dirty="0"/>
              <a:t>是一组物理磁盘驱动器，</a:t>
            </a:r>
            <a:r>
              <a:rPr lang="en-US" altLang="zh-CN" sz="2000" dirty="0"/>
              <a:t>OS</a:t>
            </a:r>
            <a:r>
              <a:rPr lang="zh-CN" altLang="en-US" sz="2000" dirty="0"/>
              <a:t>将它看成单个。</a:t>
            </a:r>
          </a:p>
          <a:p>
            <a:pPr lvl="1"/>
            <a:r>
              <a:rPr lang="en-US" altLang="zh-CN" sz="2000" dirty="0"/>
              <a:t>2</a:t>
            </a:r>
            <a:r>
              <a:rPr lang="zh-CN" altLang="en-US" sz="2000" dirty="0"/>
              <a:t>）数据分布在物理驱动器阵列中。</a:t>
            </a:r>
          </a:p>
          <a:p>
            <a:pPr lvl="1"/>
            <a:r>
              <a:rPr lang="en-US" altLang="zh-CN" sz="2000" dirty="0"/>
              <a:t>3</a:t>
            </a:r>
            <a:r>
              <a:rPr lang="zh-CN" altLang="en-US" sz="2000" dirty="0"/>
              <a:t>）用冗余的磁盘空间保存奇偶检验信息，使数据具有可恢复性。</a:t>
            </a:r>
          </a:p>
          <a:p>
            <a:endParaRPr lang="zh-CN" altLang="en-US" sz="2400" dirty="0"/>
          </a:p>
        </p:txBody>
      </p:sp>
      <p:sp>
        <p:nvSpPr>
          <p:cNvPr id="6" name="灯片编号占位符 5">
            <a:extLst>
              <a:ext uri="{FF2B5EF4-FFF2-40B4-BE49-F238E27FC236}">
                <a16:creationId xmlns:a16="http://schemas.microsoft.com/office/drawing/2014/main" id="{55AEEB8B-0836-CFEE-8921-AECBB4649429}"/>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66</a:t>
            </a:fld>
            <a:endParaRPr lang="zh-CN" altLang="en-US" dirty="0"/>
          </a:p>
        </p:txBody>
      </p:sp>
    </p:spTree>
    <p:extLst>
      <p:ext uri="{BB962C8B-B14F-4D97-AF65-F5344CB8AC3E}">
        <p14:creationId xmlns:p14="http://schemas.microsoft.com/office/powerpoint/2010/main" val="36132157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02A79E1-A0AA-6156-E92F-14FF36A065EA}"/>
              </a:ext>
            </a:extLst>
          </p:cNvPr>
          <p:cNvSpPr>
            <a:spLocks noGrp="1"/>
          </p:cNvSpPr>
          <p:nvPr>
            <p:ph type="title"/>
          </p:nvPr>
        </p:nvSpPr>
        <p:spPr/>
        <p:txBody>
          <a:bodyPr>
            <a:normAutofit/>
          </a:bodyPr>
          <a:lstStyle/>
          <a:p>
            <a:r>
              <a:rPr lang="zh-CN" altLang="en-US" dirty="0"/>
              <a:t>具体的</a:t>
            </a:r>
            <a:r>
              <a:rPr lang="en-US" altLang="zh-CN" dirty="0"/>
              <a:t>RAID</a:t>
            </a:r>
            <a:r>
              <a:rPr lang="zh-CN" altLang="en-US" dirty="0"/>
              <a:t>分层特性</a:t>
            </a:r>
          </a:p>
        </p:txBody>
      </p:sp>
      <p:sp>
        <p:nvSpPr>
          <p:cNvPr id="5" name="内容占位符 4">
            <a:extLst>
              <a:ext uri="{FF2B5EF4-FFF2-40B4-BE49-F238E27FC236}">
                <a16:creationId xmlns:a16="http://schemas.microsoft.com/office/drawing/2014/main" id="{9928BE44-6B5A-6585-A1FF-EFCD98246302}"/>
              </a:ext>
            </a:extLst>
          </p:cNvPr>
          <p:cNvSpPr>
            <a:spLocks noGrp="1"/>
          </p:cNvSpPr>
          <p:nvPr>
            <p:ph idx="1"/>
          </p:nvPr>
        </p:nvSpPr>
        <p:spPr/>
        <p:txBody>
          <a:bodyPr>
            <a:normAutofit/>
          </a:bodyPr>
          <a:lstStyle/>
          <a:p>
            <a:r>
              <a:rPr lang="en-US" altLang="zh-CN" sz="2400" dirty="0"/>
              <a:t>1. RAID0</a:t>
            </a:r>
            <a:r>
              <a:rPr lang="zh-CN" altLang="en-US" sz="2400" dirty="0"/>
              <a:t>没有用冗余数据提高性能，而是用将数据存储在磁盘阵列中，提高数据访问的并行性。</a:t>
            </a:r>
          </a:p>
          <a:p>
            <a:r>
              <a:rPr lang="en-US" altLang="zh-CN" sz="2400" dirty="0"/>
              <a:t>2. RAID1-5</a:t>
            </a:r>
            <a:r>
              <a:rPr lang="zh-CN" altLang="en-US" sz="2400" dirty="0"/>
              <a:t>使用冗余数据，但其采用方法不同。</a:t>
            </a:r>
          </a:p>
          <a:p>
            <a:endParaRPr lang="zh-CN" altLang="en-US" sz="2400" dirty="0"/>
          </a:p>
        </p:txBody>
      </p:sp>
      <p:sp>
        <p:nvSpPr>
          <p:cNvPr id="6" name="灯片编号占位符 5">
            <a:extLst>
              <a:ext uri="{FF2B5EF4-FFF2-40B4-BE49-F238E27FC236}">
                <a16:creationId xmlns:a16="http://schemas.microsoft.com/office/drawing/2014/main" id="{6CADABDE-069E-6543-A6E4-77AD5D7B313F}"/>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67</a:t>
            </a:fld>
            <a:endParaRPr lang="zh-CN" altLang="en-US" dirty="0"/>
          </a:p>
        </p:txBody>
      </p:sp>
    </p:spTree>
    <p:extLst>
      <p:ext uri="{BB962C8B-B14F-4D97-AF65-F5344CB8AC3E}">
        <p14:creationId xmlns:p14="http://schemas.microsoft.com/office/powerpoint/2010/main" val="471540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4" descr="5-19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644594"/>
            <a:ext cx="6858000" cy="429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ext Box 6"/>
          <p:cNvSpPr txBox="1">
            <a:spLocks noChangeArrowheads="1"/>
          </p:cNvSpPr>
          <p:nvPr/>
        </p:nvSpPr>
        <p:spPr bwMode="auto">
          <a:xfrm>
            <a:off x="2207481" y="6093296"/>
            <a:ext cx="7777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1"/>
              </a:buClr>
              <a:buSzPct val="80000"/>
              <a:buFont typeface="Wingdings" panose="05000000000000000000" pitchFamily="2" charset="2"/>
              <a:buChar char="¢"/>
              <a:defRPr kumimoji="1" sz="2800">
                <a:solidFill>
                  <a:schemeClr val="tx2"/>
                </a:solidFill>
                <a:latin typeface="Verdana" panose="020B0604030504040204" pitchFamily="34" charset="0"/>
                <a:ea typeface="宋体" panose="02010600030101010101" pitchFamily="2" charset="-122"/>
              </a:defRPr>
            </a:lvl1pPr>
            <a:lvl2pPr marL="742950" indent="-285750">
              <a:spcBef>
                <a:spcPct val="20000"/>
              </a:spcBef>
              <a:buClr>
                <a:schemeClr val="accent1"/>
              </a:buClr>
              <a:buSzPct val="80000"/>
              <a:buFont typeface="Wingdings" panose="05000000000000000000" pitchFamily="2" charset="2"/>
              <a:buChar char="l"/>
              <a:defRPr kumimoji="1" sz="24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folHlink"/>
              </a:buClr>
              <a:buSzPct val="70000"/>
              <a:buFont typeface="Wingdings" panose="05000000000000000000" pitchFamily="2" charset="2"/>
              <a:buChar char="l"/>
              <a:defRPr kumimoji="1"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1"/>
              </a:buClr>
              <a:buSzPct val="60000"/>
              <a:buFont typeface="Wingdings" panose="05000000000000000000" pitchFamily="2" charset="2"/>
              <a:buChar char="l"/>
              <a:defRPr kumimoji="1"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hlink"/>
              </a:buClr>
              <a:buSzPct val="50000"/>
              <a:buFont typeface="Wingdings" panose="05000000000000000000" pitchFamily="2" charset="2"/>
              <a:buChar char="l"/>
              <a:defRPr kumimoji="1"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kumimoji="1"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kumimoji="1"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kumimoji="1"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kumimoji="1"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SzTx/>
              <a:buFontTx/>
              <a:buNone/>
            </a:pPr>
            <a:r>
              <a:rPr kumimoji="0" lang="zh-CN" altLang="en-US" sz="2000" dirty="0">
                <a:latin typeface="微软雅黑" panose="020B0503020204020204" pitchFamily="34" charset="-122"/>
                <a:ea typeface="微软雅黑" panose="020B0503020204020204" pitchFamily="34" charset="-122"/>
              </a:rPr>
              <a:t>备份和使用的设备对</a:t>
            </a:r>
            <a:r>
              <a:rPr kumimoji="0" lang="en-US" altLang="zh-CN" sz="2000" dirty="0">
                <a:latin typeface="微软雅黑" panose="020B0503020204020204" pitchFamily="34" charset="-122"/>
                <a:ea typeface="微软雅黑" panose="020B0503020204020204" pitchFamily="34" charset="-122"/>
              </a:rPr>
              <a:t>OS</a:t>
            </a:r>
            <a:r>
              <a:rPr kumimoji="0" lang="zh-CN" altLang="en-US" sz="2000" dirty="0">
                <a:latin typeface="微软雅黑" panose="020B0503020204020204" pitchFamily="34" charset="-122"/>
                <a:ea typeface="微软雅黑" panose="020B0503020204020204" pitchFamily="34" charset="-122"/>
              </a:rPr>
              <a:t>是隐藏的，由</a:t>
            </a:r>
            <a:r>
              <a:rPr kumimoji="0" lang="en-US" altLang="zh-CN" sz="2000" dirty="0">
                <a:latin typeface="微软雅黑" panose="020B0503020204020204" pitchFamily="34" charset="-122"/>
                <a:ea typeface="微软雅黑" panose="020B0503020204020204" pitchFamily="34" charset="-122"/>
              </a:rPr>
              <a:t>RAID</a:t>
            </a:r>
            <a:r>
              <a:rPr kumimoji="0" lang="zh-CN" altLang="en-US" sz="2000" dirty="0">
                <a:latin typeface="微软雅黑" panose="020B0503020204020204" pitchFamily="34" charset="-122"/>
                <a:ea typeface="微软雅黑" panose="020B0503020204020204" pitchFamily="34" charset="-122"/>
              </a:rPr>
              <a:t>控制器完成并行操作。</a:t>
            </a:r>
          </a:p>
        </p:txBody>
      </p:sp>
      <p:sp>
        <p:nvSpPr>
          <p:cNvPr id="4" name="标题 3">
            <a:extLst>
              <a:ext uri="{FF2B5EF4-FFF2-40B4-BE49-F238E27FC236}">
                <a16:creationId xmlns:a16="http://schemas.microsoft.com/office/drawing/2014/main" id="{95601C74-D86B-6B94-4097-F6C75E20604C}"/>
              </a:ext>
            </a:extLst>
          </p:cNvPr>
          <p:cNvSpPr>
            <a:spLocks noGrp="1"/>
          </p:cNvSpPr>
          <p:nvPr>
            <p:ph type="title"/>
          </p:nvPr>
        </p:nvSpPr>
        <p:spPr/>
        <p:txBody>
          <a:bodyPr>
            <a:normAutofit/>
          </a:bodyPr>
          <a:lstStyle/>
          <a:p>
            <a:r>
              <a:rPr lang="en-US" altLang="zh-CN" dirty="0"/>
              <a:t>0-2</a:t>
            </a:r>
            <a:r>
              <a:rPr lang="zh-CN" altLang="en-US" dirty="0"/>
              <a:t>级</a:t>
            </a:r>
            <a:r>
              <a:rPr lang="en-US" altLang="zh-CN" dirty="0"/>
              <a:t>RAID</a:t>
            </a:r>
            <a:r>
              <a:rPr lang="zh-CN" altLang="en-US" dirty="0"/>
              <a:t>结构</a:t>
            </a:r>
          </a:p>
        </p:txBody>
      </p:sp>
      <p:sp>
        <p:nvSpPr>
          <p:cNvPr id="6" name="灯片编号占位符 5">
            <a:extLst>
              <a:ext uri="{FF2B5EF4-FFF2-40B4-BE49-F238E27FC236}">
                <a16:creationId xmlns:a16="http://schemas.microsoft.com/office/drawing/2014/main" id="{31E057A1-22F0-0447-EC7D-1666CC03B47C}"/>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68</a:t>
            </a:fld>
            <a:endParaRPr lang="zh-CN" altLang="en-US" dirty="0"/>
          </a:p>
        </p:txBody>
      </p:sp>
    </p:spTree>
    <p:extLst>
      <p:ext uri="{BB962C8B-B14F-4D97-AF65-F5344CB8AC3E}">
        <p14:creationId xmlns:p14="http://schemas.microsoft.com/office/powerpoint/2010/main" val="9703191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4" descr="5-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720" y="1484784"/>
            <a:ext cx="5659690" cy="494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a:extLst>
              <a:ext uri="{FF2B5EF4-FFF2-40B4-BE49-F238E27FC236}">
                <a16:creationId xmlns:a16="http://schemas.microsoft.com/office/drawing/2014/main" id="{3D3D9461-2046-EA74-6307-940A005785BB}"/>
              </a:ext>
            </a:extLst>
          </p:cNvPr>
          <p:cNvSpPr>
            <a:spLocks noGrp="1"/>
          </p:cNvSpPr>
          <p:nvPr>
            <p:ph type="title"/>
          </p:nvPr>
        </p:nvSpPr>
        <p:spPr/>
        <p:txBody>
          <a:bodyPr>
            <a:normAutofit/>
          </a:bodyPr>
          <a:lstStyle/>
          <a:p>
            <a:r>
              <a:rPr lang="en-US" altLang="zh-CN" dirty="0"/>
              <a:t>3-5</a:t>
            </a:r>
            <a:r>
              <a:rPr lang="zh-CN" altLang="en-US" dirty="0"/>
              <a:t>级</a:t>
            </a:r>
            <a:r>
              <a:rPr lang="en-US" altLang="zh-CN" dirty="0"/>
              <a:t>RAID</a:t>
            </a:r>
            <a:r>
              <a:rPr lang="zh-CN" altLang="en-US" dirty="0"/>
              <a:t>结构</a:t>
            </a:r>
          </a:p>
        </p:txBody>
      </p:sp>
      <p:sp>
        <p:nvSpPr>
          <p:cNvPr id="6" name="灯片编号占位符 5">
            <a:extLst>
              <a:ext uri="{FF2B5EF4-FFF2-40B4-BE49-F238E27FC236}">
                <a16:creationId xmlns:a16="http://schemas.microsoft.com/office/drawing/2014/main" id="{D15664ED-6A4D-F729-F874-63365F5E0C12}"/>
              </a:ext>
            </a:extLst>
          </p:cNvPr>
          <p:cNvSpPr>
            <a:spLocks noGrp="1"/>
          </p:cNvSpPr>
          <p:nvPr>
            <p:ph type="sldNum" sz="quarter" idx="12"/>
          </p:nvPr>
        </p:nvSpPr>
        <p:spPr/>
        <p:txBody>
          <a:bodyPr/>
          <a:lstStyle/>
          <a:p>
            <a:pPr>
              <a:buFont typeface="Wingdings" panose="05000000000000000000" pitchFamily="2" charset="2"/>
              <a:buNone/>
            </a:pPr>
            <a:fld id="{7209BB76-661F-4F23-A2E6-DCF093FEDF36}" type="slidenum">
              <a:rPr lang="zh-CN" altLang="en-US" smtClean="0"/>
              <a:pPr>
                <a:buFont typeface="Wingdings" panose="05000000000000000000" pitchFamily="2" charset="2"/>
                <a:buNone/>
              </a:pPr>
              <a:t>69</a:t>
            </a:fld>
            <a:endParaRPr lang="zh-CN" altLang="en-US" dirty="0"/>
          </a:p>
        </p:txBody>
      </p:sp>
    </p:spTree>
    <p:extLst>
      <p:ext uri="{BB962C8B-B14F-4D97-AF65-F5344CB8AC3E}">
        <p14:creationId xmlns:p14="http://schemas.microsoft.com/office/powerpoint/2010/main" val="7923526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idx="4294967295"/>
          </p:nvPr>
        </p:nvSpPr>
        <p:spPr>
          <a:xfrm>
            <a:off x="2135560" y="2376671"/>
            <a:ext cx="7777162" cy="1872481"/>
          </a:xfrm>
          <a:prstGeom prst="rect">
            <a:avLst/>
          </a:prstGeom>
        </p:spPr>
        <p:txBody>
          <a:bodyPr>
            <a:normAutofit/>
          </a:bodyPr>
          <a:lstStyle/>
          <a:p>
            <a:pPr eaLnBrk="1" hangingPunct="1"/>
            <a:r>
              <a:rPr lang="en-US" altLang="zh-CN" sz="5400" i="1" dirty="0">
                <a:solidFill>
                  <a:srgbClr val="993300"/>
                </a:solidFill>
                <a:ea typeface="宋体" panose="02010600030101010101" pitchFamily="2" charset="-122"/>
              </a:rPr>
              <a:t>Thanks for your time!</a:t>
            </a:r>
            <a:br>
              <a:rPr lang="en-US" altLang="zh-CN" sz="5400" i="1" dirty="0">
                <a:solidFill>
                  <a:srgbClr val="993300"/>
                </a:solidFill>
                <a:ea typeface="宋体" panose="02010600030101010101" pitchFamily="2" charset="-122"/>
              </a:rPr>
            </a:br>
            <a:r>
              <a:rPr lang="en-US" altLang="zh-CN" sz="5400" i="1" dirty="0">
                <a:solidFill>
                  <a:srgbClr val="993300"/>
                </a:solidFill>
                <a:ea typeface="宋体" panose="02010600030101010101" pitchFamily="2" charset="-122"/>
              </a:rPr>
              <a:t>Questions &amp; Answers</a:t>
            </a:r>
            <a:endParaRPr lang="en-US" altLang="ko-KR" sz="5400" i="1" dirty="0">
              <a:solidFill>
                <a:srgbClr val="993300"/>
              </a:solidFill>
              <a:ea typeface="굴림" pitchFamily="34" charset="-127"/>
            </a:endParaRPr>
          </a:p>
        </p:txBody>
      </p:sp>
      <p:sp>
        <p:nvSpPr>
          <p:cNvPr id="2" name="灯片编号占位符 1">
            <a:extLst>
              <a:ext uri="{FF2B5EF4-FFF2-40B4-BE49-F238E27FC236}">
                <a16:creationId xmlns:a16="http://schemas.microsoft.com/office/drawing/2014/main" id="{A8C0FF34-2795-84EB-080D-34199E63F1FE}"/>
              </a:ext>
            </a:extLst>
          </p:cNvPr>
          <p:cNvSpPr>
            <a:spLocks noGrp="1"/>
          </p:cNvSpPr>
          <p:nvPr>
            <p:ph type="sldNum" sz="quarter" idx="12"/>
          </p:nvPr>
        </p:nvSpPr>
        <p:spPr>
          <a:xfrm>
            <a:off x="9347200" y="6555824"/>
            <a:ext cx="2844800" cy="304800"/>
          </a:xfrm>
        </p:spPr>
        <p:txBody>
          <a:bodyPr/>
          <a:lstStyle/>
          <a:p>
            <a:pPr algn="r">
              <a:buNone/>
            </a:pPr>
            <a:fld id="{23E5303B-8A3A-477A-93B0-1543526987BB}" type="slidenum">
              <a:rPr lang="en-US" altLang="ko-KR" smtClean="0">
                <a:solidFill>
                  <a:schemeClr val="bg1"/>
                </a:solidFill>
              </a:rPr>
              <a:pPr algn="r">
                <a:buNone/>
              </a:pPr>
              <a:t>70</a:t>
            </a:fld>
            <a:endParaRPr lang="en-US" altLang="ko-KR" dirty="0">
              <a:solidFill>
                <a:schemeClr val="bg1"/>
              </a:solidFill>
            </a:endParaRPr>
          </a:p>
        </p:txBody>
      </p:sp>
    </p:spTree>
  </p:cSld>
  <p:clrMapOvr>
    <a:masterClrMapping/>
  </p:clrMapOvr>
</p:sld>
</file>

<file path=ppt/theme/theme1.xml><?xml version="1.0" encoding="utf-8"?>
<a:theme xmlns:a="http://schemas.openxmlformats.org/drawingml/2006/main" name="psh3_Print">
  <a:themeElements>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sh3_Print 1">
        <a:dk1>
          <a:srgbClr val="5F5F5F"/>
        </a:dk1>
        <a:lt1>
          <a:srgbClr val="FFFFFF"/>
        </a:lt1>
        <a:dk2>
          <a:srgbClr val="000000"/>
        </a:dk2>
        <a:lt2>
          <a:srgbClr val="DDDDDD"/>
        </a:lt2>
        <a:accent1>
          <a:srgbClr val="C0C0C0"/>
        </a:accent1>
        <a:accent2>
          <a:srgbClr val="EAEAEA"/>
        </a:accent2>
        <a:accent3>
          <a:srgbClr val="FFFFFF"/>
        </a:accent3>
        <a:accent4>
          <a:srgbClr val="505050"/>
        </a:accent4>
        <a:accent5>
          <a:srgbClr val="DCDCDC"/>
        </a:accent5>
        <a:accent6>
          <a:srgbClr val="D4D4D4"/>
        </a:accent6>
        <a:hlink>
          <a:srgbClr val="4D4D4D"/>
        </a:hlink>
        <a:folHlink>
          <a:srgbClr val="B2B2B2"/>
        </a:folHlink>
      </a:clrScheme>
      <a:clrMap bg1="lt1" tx1="dk1" bg2="lt2" tx2="dk2" accent1="accent1" accent2="accent2" accent3="accent3" accent4="accent4" accent5="accent5" accent6="accent6" hlink="hlink" folHlink="folHlink"/>
    </a:extraClrScheme>
    <a:extraClrScheme>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
      <a:clrScheme name="psh3_Print 3">
        <a:dk1>
          <a:srgbClr val="384868"/>
        </a:dk1>
        <a:lt1>
          <a:srgbClr val="FFFFFF"/>
        </a:lt1>
        <a:dk2>
          <a:srgbClr val="000000"/>
        </a:dk2>
        <a:lt2>
          <a:srgbClr val="CCCCCC"/>
        </a:lt2>
        <a:accent1>
          <a:srgbClr val="C0C9F6"/>
        </a:accent1>
        <a:accent2>
          <a:srgbClr val="A1B67A"/>
        </a:accent2>
        <a:accent3>
          <a:srgbClr val="FFFFFF"/>
        </a:accent3>
        <a:accent4>
          <a:srgbClr val="2E3C58"/>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sh3_Print">
  <a:themeElements>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sh3_Print 1">
        <a:dk1>
          <a:srgbClr val="5F5F5F"/>
        </a:dk1>
        <a:lt1>
          <a:srgbClr val="FFFFFF"/>
        </a:lt1>
        <a:dk2>
          <a:srgbClr val="000000"/>
        </a:dk2>
        <a:lt2>
          <a:srgbClr val="DDDDDD"/>
        </a:lt2>
        <a:accent1>
          <a:srgbClr val="C0C0C0"/>
        </a:accent1>
        <a:accent2>
          <a:srgbClr val="EAEAEA"/>
        </a:accent2>
        <a:accent3>
          <a:srgbClr val="FFFFFF"/>
        </a:accent3>
        <a:accent4>
          <a:srgbClr val="505050"/>
        </a:accent4>
        <a:accent5>
          <a:srgbClr val="DCDCDC"/>
        </a:accent5>
        <a:accent6>
          <a:srgbClr val="D4D4D4"/>
        </a:accent6>
        <a:hlink>
          <a:srgbClr val="4D4D4D"/>
        </a:hlink>
        <a:folHlink>
          <a:srgbClr val="B2B2B2"/>
        </a:folHlink>
      </a:clrScheme>
      <a:clrMap bg1="lt1" tx1="dk1" bg2="lt2" tx2="dk2" accent1="accent1" accent2="accent2" accent3="accent3" accent4="accent4" accent5="accent5" accent6="accent6" hlink="hlink" folHlink="folHlink"/>
    </a:extraClrScheme>
    <a:extraClrScheme>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
      <a:clrScheme name="psh3_Print 3">
        <a:dk1>
          <a:srgbClr val="384868"/>
        </a:dk1>
        <a:lt1>
          <a:srgbClr val="FFFFFF"/>
        </a:lt1>
        <a:dk2>
          <a:srgbClr val="000000"/>
        </a:dk2>
        <a:lt2>
          <a:srgbClr val="CCCCCC"/>
        </a:lt2>
        <a:accent1>
          <a:srgbClr val="C0C9F6"/>
        </a:accent1>
        <a:accent2>
          <a:srgbClr val="A1B67A"/>
        </a:accent2>
        <a:accent3>
          <a:srgbClr val="FFFFFF"/>
        </a:accent3>
        <a:accent4>
          <a:srgbClr val="2E3C58"/>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psh3_Print</Template>
  <TotalTime>0</TotalTime>
  <Words>5200</Words>
  <Application>Microsoft Office PowerPoint</Application>
  <PresentationFormat>宽屏</PresentationFormat>
  <Paragraphs>820</Paragraphs>
  <Slides>70</Slides>
  <Notes>18</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vt:i4>
      </vt:variant>
      <vt:variant>
        <vt:lpstr>幻灯片标题</vt:lpstr>
      </vt:variant>
      <vt:variant>
        <vt:i4>70</vt:i4>
      </vt:variant>
    </vt:vector>
  </HeadingPairs>
  <TitlesOfParts>
    <vt:vector size="89" baseType="lpstr">
      <vt:lpstr>굴림</vt:lpstr>
      <vt:lpstr>Helvetica Light</vt:lpstr>
      <vt:lpstr>MS PGothic</vt:lpstr>
      <vt:lpstr>等线</vt:lpstr>
      <vt:lpstr>楷体</vt:lpstr>
      <vt:lpstr>喵呜黑体</vt:lpstr>
      <vt:lpstr>宋体</vt:lpstr>
      <vt:lpstr>微软雅黑</vt:lpstr>
      <vt:lpstr>张海山锐谐体2.0-授权联系：Samtype@QQ.com</vt:lpstr>
      <vt:lpstr>Arial</vt:lpstr>
      <vt:lpstr>Calibri</vt:lpstr>
      <vt:lpstr>Courier New</vt:lpstr>
      <vt:lpstr>Helvetica</vt:lpstr>
      <vt:lpstr>Times New Roman</vt:lpstr>
      <vt:lpstr>Verdana</vt:lpstr>
      <vt:lpstr>Wingdings</vt:lpstr>
      <vt:lpstr>psh3_Print</vt:lpstr>
      <vt:lpstr>1_psh3_Print</vt:lpstr>
      <vt:lpstr>VISIO</vt:lpstr>
      <vt:lpstr>章节6：文件管理</vt:lpstr>
      <vt:lpstr>前情提要</vt:lpstr>
      <vt:lpstr>Introduction of directory structure</vt:lpstr>
      <vt:lpstr>某些同学的桌面</vt:lpstr>
      <vt:lpstr>分层文件系统</vt:lpstr>
      <vt:lpstr>多级目录中路径名</vt:lpstr>
      <vt:lpstr>目录(文件夹)是文件系统中一种特殊的文件</vt:lpstr>
      <vt:lpstr>PowerPoint 演示文稿</vt:lpstr>
      <vt:lpstr>关于目录（文件夹）的思考：</vt:lpstr>
      <vt:lpstr>多级目录结构有以下特点：</vt:lpstr>
      <vt:lpstr>3．对目录操作</vt:lpstr>
      <vt:lpstr>目录实现</vt:lpstr>
      <vt:lpstr>Case: FAT in DOS </vt:lpstr>
      <vt:lpstr>FAT文件系统的实现细节</vt:lpstr>
      <vt:lpstr>在目录中处理长文件名的两种方法：</vt:lpstr>
      <vt:lpstr>Case: I-Node in Unix </vt:lpstr>
      <vt:lpstr>Case: I-Node in Unix </vt:lpstr>
      <vt:lpstr>关于文件系统设计的思考</vt:lpstr>
      <vt:lpstr>文件管理的特殊处理</vt:lpstr>
      <vt:lpstr>文件系统的组织视图</vt:lpstr>
      <vt:lpstr>文件系统的存储视图</vt:lpstr>
      <vt:lpstr>文件系统的存储结构</vt:lpstr>
      <vt:lpstr>打开文件和文件描述符</vt:lpstr>
      <vt:lpstr>打开文件和文件描述符</vt:lpstr>
      <vt:lpstr>打开文件和文件描述符</vt:lpstr>
      <vt:lpstr>文件系统的存储与读取</vt:lpstr>
      <vt:lpstr>打开文件和文件描述符</vt:lpstr>
      <vt:lpstr>打开文件和文件描述符</vt:lpstr>
      <vt:lpstr>文件描述符</vt:lpstr>
      <vt:lpstr>文件描述符</vt:lpstr>
      <vt:lpstr>文件描述符</vt:lpstr>
      <vt:lpstr>文件描述符</vt:lpstr>
      <vt:lpstr>文件系统中打开文件的数据结构</vt:lpstr>
      <vt:lpstr>打开文件表</vt:lpstr>
      <vt:lpstr>打开文件锁</vt:lpstr>
      <vt:lpstr>3．提高文件系统性能</vt:lpstr>
      <vt:lpstr>多种磁盘缓存位置</vt:lpstr>
      <vt:lpstr>数据块缓存</vt:lpstr>
      <vt:lpstr>数据块缓存</vt:lpstr>
      <vt:lpstr>页缓存</vt:lpstr>
      <vt:lpstr>数据块缓存</vt:lpstr>
      <vt:lpstr>页缓存</vt:lpstr>
      <vt:lpstr>Split-Level I/O Scheduling: Multi-Layer Hooks</vt:lpstr>
      <vt:lpstr>Split-Level I/O Scheduling: Tags</vt:lpstr>
      <vt:lpstr>使用预先读取技术掩盖磁盘缓存</vt:lpstr>
      <vt:lpstr>如何有效的预取？</vt:lpstr>
      <vt:lpstr>现行的Linux Readahead方案</vt:lpstr>
      <vt:lpstr>新介质对文件系统引发的变革</vt:lpstr>
      <vt:lpstr>前情提要</vt:lpstr>
      <vt:lpstr>磁盘工作机制和性能参数</vt:lpstr>
      <vt:lpstr>磁盘I/O传输时间</vt:lpstr>
      <vt:lpstr>磁盘I/O传输时间</vt:lpstr>
      <vt:lpstr>磁盘I/O传输时间</vt:lpstr>
      <vt:lpstr>磁盘I/O传输时间</vt:lpstr>
      <vt:lpstr>磁盘调度算法</vt:lpstr>
      <vt:lpstr>先进先出(FIFO)算法</vt:lpstr>
      <vt:lpstr>FIFO算法示例</vt:lpstr>
      <vt:lpstr>最短服务时间优先(SSTF)</vt:lpstr>
      <vt:lpstr>SSTF算法示例</vt:lpstr>
      <vt:lpstr>扫描算法(SCAN)</vt:lpstr>
      <vt:lpstr>SCAN算法示例</vt:lpstr>
      <vt:lpstr>循环扫描算法(C-SCAN)</vt:lpstr>
      <vt:lpstr>C-LOOK算法</vt:lpstr>
      <vt:lpstr>N步扫描(N-step-SCAN)算法</vt:lpstr>
      <vt:lpstr>双队列扫描(FSCAN)算法</vt:lpstr>
      <vt:lpstr>2． RAID（Redundant Array of Inexpensive Disks)</vt:lpstr>
      <vt:lpstr>具体的RAID分层特性</vt:lpstr>
      <vt:lpstr>0-2级RAID结构</vt:lpstr>
      <vt:lpstr>3-5级RAID结构</vt:lpstr>
      <vt:lpstr>Thanks for your time! Questions &amp;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2023-12-04T10:22:36Z</dcterms:created>
  <dcterms:modified xsi:type="dcterms:W3CDTF">2025-11-18T02:38:17Z</dcterms:modified>
</cp:coreProperties>
</file>