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1" r:id="rId1"/>
    <p:sldMasterId id="2147483725" r:id="rId2"/>
  </p:sldMasterIdLst>
  <p:notesMasterIdLst>
    <p:notesMasterId r:id="rId44"/>
  </p:notesMasterIdLst>
  <p:sldIdLst>
    <p:sldId id="2686" r:id="rId3"/>
    <p:sldId id="1962" r:id="rId4"/>
    <p:sldId id="257" r:id="rId5"/>
    <p:sldId id="258" r:id="rId6"/>
    <p:sldId id="259" r:id="rId7"/>
    <p:sldId id="260" r:id="rId8"/>
    <p:sldId id="261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1963" r:id="rId18"/>
    <p:sldId id="298" r:id="rId19"/>
    <p:sldId id="299" r:id="rId20"/>
    <p:sldId id="300" r:id="rId21"/>
    <p:sldId id="297" r:id="rId22"/>
    <p:sldId id="263" r:id="rId23"/>
    <p:sldId id="275" r:id="rId24"/>
    <p:sldId id="276" r:id="rId25"/>
    <p:sldId id="277" r:id="rId26"/>
    <p:sldId id="278" r:id="rId27"/>
    <p:sldId id="283" r:id="rId28"/>
    <p:sldId id="1964" r:id="rId29"/>
    <p:sldId id="474" r:id="rId30"/>
    <p:sldId id="1967" r:id="rId31"/>
    <p:sldId id="1969" r:id="rId32"/>
    <p:sldId id="1966" r:id="rId33"/>
    <p:sldId id="1965" r:id="rId34"/>
    <p:sldId id="1968" r:id="rId35"/>
    <p:sldId id="1970" r:id="rId36"/>
    <p:sldId id="1971" r:id="rId37"/>
    <p:sldId id="1972" r:id="rId38"/>
    <p:sldId id="279" r:id="rId39"/>
    <p:sldId id="280" r:id="rId40"/>
    <p:sldId id="271" r:id="rId41"/>
    <p:sldId id="272" r:id="rId42"/>
    <p:sldId id="273" r:id="rId4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45" autoAdjust="0"/>
  </p:normalViewPr>
  <p:slideViewPr>
    <p:cSldViewPr>
      <p:cViewPr varScale="1">
        <p:scale>
          <a:sx n="95" d="100"/>
          <a:sy n="95" d="100"/>
        </p:scale>
        <p:origin x="140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7B498F-C264-499B-85C2-2638D25221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93583F-6AE3-4E79-8C9F-724370C06D75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012F2B-C7D4-436D-8ABE-CE80C731379E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8E406C-FC38-463F-AA76-B50DBCB54501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A88313-1800-4080-8DB9-E10FB7148DA7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53F868-743A-4EA8-88A0-07AA8347A509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8B644D-DBC1-4380-AAFA-6CFCBAD60F48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11084B-419E-4AD6-9FBA-BE219511BDE4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367D87-5992-4996-98FD-A75D248A970C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747A56-B668-4797-8D92-28F4525FA581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091C89-FDCE-430D-8C1F-D21D0EE75FCF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F7D72E-63F9-41FE-816E-62D2187B2907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B6A91E-BD6F-4194-A09A-9A342039261F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B498F-C264-499B-85C2-2638D252215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42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kumimoji="0" lang="zh-CN" altLang="en-US" sz="1350">
              <a:latin typeface="Times New Roman" panose="02020603050405020304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1" y="1125541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405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1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18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05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05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05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E8D4E27-0B1C-44DA-B25B-8476CFE9F7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3752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4158B206-D202-4F7F-4B44-E5AFE871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6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11" name="标题占位符 1">
            <a:extLst>
              <a:ext uri="{FF2B5EF4-FFF2-40B4-BE49-F238E27FC236}">
                <a16:creationId xmlns:a16="http://schemas.microsoft.com/office/drawing/2014/main" id="{8D0CE66A-84A6-A178-E76B-3C7B5CFD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7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3C046D9E-0B39-3EE1-F033-9215EA5E2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257175" lvl="0" indent="-257175" algn="l" defTabSz="6858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defTabSz="6858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A63BE9-39C1-1A2A-95EC-9175003A958C}"/>
              </a:ext>
            </a:extLst>
          </p:cNvPr>
          <p:cNvSpPr txBox="1"/>
          <p:nvPr userDrawn="1"/>
        </p:nvSpPr>
        <p:spPr>
          <a:xfrm>
            <a:off x="152400" y="2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：死锁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90A1B2-EC06-14BF-62DA-4EBF3B252E77}"/>
              </a:ext>
            </a:extLst>
          </p:cNvPr>
          <p:cNvGrpSpPr/>
          <p:nvPr userDrawn="1"/>
        </p:nvGrpSpPr>
        <p:grpSpPr>
          <a:xfrm>
            <a:off x="0" y="980758"/>
            <a:ext cx="633731" cy="406400"/>
            <a:chOff x="56" y="2009"/>
            <a:chExt cx="998" cy="640"/>
          </a:xfrm>
        </p:grpSpPr>
        <p:sp>
          <p:nvSpPr>
            <p:cNvPr id="15" name="任意多边形: 形状 7">
              <a:extLst>
                <a:ext uri="{FF2B5EF4-FFF2-40B4-BE49-F238E27FC236}">
                  <a16:creationId xmlns:a16="http://schemas.microsoft.com/office/drawing/2014/main" id="{FE9CDE0D-4031-F634-7E80-8B47FC19326A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F53BF12-67B6-989B-753B-FF81BDB33874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8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158B206-D202-4F7F-4B44-E5AFE87190E1}"/>
              </a:ext>
            </a:extLst>
          </p:cNvPr>
          <p:cNvSpPr>
            <a:spLocks noGrp="1"/>
          </p:cNvSpPr>
          <p:nvPr userDrawn="1"/>
        </p:nvSpPr>
        <p:spPr>
          <a:xfrm>
            <a:off x="9448800" y="6528388"/>
            <a:ext cx="2743200" cy="32657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>
                <a:solidFill>
                  <a:schemeClr val="bg1"/>
                </a:solidFill>
              </a:rPr>
              <a:pPr algn="r">
                <a:buFont typeface="Wingdings" panose="05000000000000000000" pitchFamily="2" charset="2"/>
                <a:buNone/>
              </a:p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12">
            <a:extLst>
              <a:ext uri="{FF2B5EF4-FFF2-40B4-BE49-F238E27FC236}">
                <a16:creationId xmlns:a16="http://schemas.microsoft.com/office/drawing/2014/main" id="{92A63BE9-39C1-1A2A-95EC-9175003A958C}"/>
              </a:ext>
            </a:extLst>
          </p:cNvPr>
          <p:cNvSpPr txBox="1"/>
          <p:nvPr userDrawn="1"/>
        </p:nvSpPr>
        <p:spPr>
          <a:xfrm>
            <a:off x="152400" y="3044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：死锁</a:t>
            </a:r>
          </a:p>
        </p:txBody>
      </p:sp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8E88FAF1-ED4A-AA32-CA3D-834BC6C1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7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6288EA30-C349-5A3B-6CAB-F51523242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257175" lvl="0" indent="-257175" algn="l" defTabSz="6858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defTabSz="6858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4110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96534-9475-4839-9945-D054E4582B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983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2F27D-8165-4537-9820-4AB3FB2D05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0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A484A-9739-4B91-960C-46244B458F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661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2D7D7-8B4F-43E6-BE19-1B8B6565FE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62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70B60-CA1D-4F1B-82C8-AC5C2A1D7E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060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8B728-9E59-47C8-8292-B6190F89EB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422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F1404-D7F2-472C-B446-7FD0F87921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762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2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2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478BB-1009-43FA-86B1-3E8D6938ED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7941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B5516-FA4A-416E-A0F4-B17840EAF8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475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6BA471-FAD1-4D5A-A57C-D1E2C9FCFA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7" y="15369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97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88A0CF-08D8-447A-8BF3-EEA532954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85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389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382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266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54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54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5172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14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91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726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8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13017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13019" y="-2802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63BD98-72E9-4E9A-9EB7-30181D6F415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7" y="15369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2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宋体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  <a:ea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  <a:ea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  <a:ea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  <a:ea typeface="宋体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kumimoji="1" sz="2100">
          <a:solidFill>
            <a:schemeClr val="tx2"/>
          </a:solidFill>
          <a:latin typeface="+mn-lt"/>
          <a:ea typeface="宋体" charset="0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kumimoji="1" sz="1800">
          <a:solidFill>
            <a:schemeClr val="tx1"/>
          </a:solidFill>
          <a:latin typeface="+mn-lt"/>
          <a:ea typeface="宋体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kumimoji="1" sz="1800">
          <a:solidFill>
            <a:schemeClr val="tx1"/>
          </a:solidFill>
          <a:latin typeface="+mn-lt"/>
          <a:ea typeface="宋体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kumimoji="1" sz="1500">
          <a:solidFill>
            <a:schemeClr val="tx1"/>
          </a:solidFill>
          <a:latin typeface="+mn-lt"/>
          <a:ea typeface="宋体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kumimoji="1" sz="1500">
          <a:solidFill>
            <a:schemeClr val="tx1"/>
          </a:solidFill>
          <a:latin typeface="+mn-lt"/>
          <a:ea typeface="宋体" charset="0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53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375"/>
            <a:ext cx="12192000" cy="119221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：死锁（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Deadlock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Description of Dead Lock</a:t>
            </a:r>
          </a:p>
        </p:txBody>
      </p:sp>
      <p:sp>
        <p:nvSpPr>
          <p:cNvPr id="512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Scene of dead lock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/>
              <a:t>Process A: Holds </a:t>
            </a:r>
            <a:r>
              <a:rPr lang="en-US" altLang="zh-CN" sz="2000" dirty="0" err="1"/>
              <a:t>CD-Rom</a:t>
            </a:r>
            <a:r>
              <a:rPr lang="en-US" altLang="zh-CN" sz="2000" dirty="0"/>
              <a:t>, requests printer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/>
              <a:t>Process B: Holds printer, requests </a:t>
            </a:r>
            <a:r>
              <a:rPr lang="en-US" altLang="zh-CN" sz="2000" dirty="0" err="1"/>
              <a:t>CD-Rom</a:t>
            </a:r>
            <a:endParaRPr lang="en-US" altLang="zh-CN" sz="20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/>
              <a:t>Dead lock: Both processes are blocked, </a:t>
            </a:r>
            <a:r>
              <a:rPr lang="en-US" altLang="zh-CN" sz="2000" dirty="0" err="1"/>
              <a:t>CD-Rom</a:t>
            </a:r>
            <a:r>
              <a:rPr lang="en-US" altLang="zh-CN" sz="2000" dirty="0"/>
              <a:t> and printer are not available for other processes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9224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CF9A16E-F989-437C-8FC0-23959217463D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3705225" y="4794250"/>
            <a:ext cx="1150938" cy="503238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FF0000"/>
                </a:solidFill>
              </a:rPr>
              <a:t>Proc A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6945314" y="4722814"/>
            <a:ext cx="1150937" cy="503237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FF0000"/>
                </a:solidFill>
              </a:rPr>
              <a:t>Proc B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289550" y="3857626"/>
            <a:ext cx="935038" cy="360363"/>
          </a:xfrm>
          <a:prstGeom prst="rect">
            <a:avLst/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tx1"/>
                </a:solidFill>
              </a:rPr>
              <a:t>Printer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289550" y="5730876"/>
            <a:ext cx="1150938" cy="360363"/>
          </a:xfrm>
          <a:prstGeom prst="rect">
            <a:avLst/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tx1"/>
                </a:solidFill>
              </a:rPr>
              <a:t>CD-ROM</a:t>
            </a:r>
          </a:p>
        </p:txBody>
      </p:sp>
      <p:cxnSp>
        <p:nvCxnSpPr>
          <p:cNvPr id="11" name="AutoShape 9"/>
          <p:cNvCxnSpPr>
            <a:cxnSpLocks noChangeShapeType="1"/>
            <a:stCxn id="10" idx="1"/>
            <a:endCxn id="7" idx="4"/>
          </p:cNvCxnSpPr>
          <p:nvPr/>
        </p:nvCxnSpPr>
        <p:spPr bwMode="auto">
          <a:xfrm rot="10800000">
            <a:off x="4281488" y="5297488"/>
            <a:ext cx="1008062" cy="614362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0"/>
          <p:cNvCxnSpPr>
            <a:cxnSpLocks noChangeShapeType="1"/>
            <a:stCxn id="7" idx="0"/>
            <a:endCxn id="9" idx="1"/>
          </p:cNvCxnSpPr>
          <p:nvPr/>
        </p:nvCxnSpPr>
        <p:spPr bwMode="auto">
          <a:xfrm rot="-5400000">
            <a:off x="4407694" y="3912394"/>
            <a:ext cx="755650" cy="1008062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1"/>
          <p:cNvCxnSpPr>
            <a:cxnSpLocks noChangeShapeType="1"/>
            <a:stCxn id="9" idx="3"/>
            <a:endCxn id="8" idx="0"/>
          </p:cNvCxnSpPr>
          <p:nvPr/>
        </p:nvCxnSpPr>
        <p:spPr bwMode="auto">
          <a:xfrm>
            <a:off x="6224589" y="4038601"/>
            <a:ext cx="1296987" cy="684213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2"/>
          <p:cNvCxnSpPr>
            <a:cxnSpLocks noChangeShapeType="1"/>
            <a:stCxn id="8" idx="4"/>
            <a:endCxn id="10" idx="3"/>
          </p:cNvCxnSpPr>
          <p:nvPr/>
        </p:nvCxnSpPr>
        <p:spPr bwMode="auto">
          <a:xfrm rot="5400000">
            <a:off x="6638132" y="5028407"/>
            <a:ext cx="685800" cy="1081087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Analysis of Dead Lock</a:t>
            </a:r>
          </a:p>
        </p:txBody>
      </p:sp>
      <p:sp>
        <p:nvSpPr>
          <p:cNvPr id="614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200"/>
              <a:t>Definition of dead lock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A process set that any process in this set is waiting for the event executed by another process in this set. This status is named dead lock.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200"/>
              <a:t>Conditions of dead lock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>
                <a:solidFill>
                  <a:srgbClr val="FF0000"/>
                </a:solidFill>
              </a:rPr>
              <a:t>Mutually</a:t>
            </a:r>
            <a:r>
              <a:rPr lang="en-US" altLang="zh-CN" sz="1900"/>
              <a:t> </a:t>
            </a:r>
            <a:r>
              <a:rPr lang="en-US" altLang="zh-CN" sz="1900">
                <a:solidFill>
                  <a:srgbClr val="FF0000"/>
                </a:solidFill>
              </a:rPr>
              <a:t>exclusive</a:t>
            </a:r>
            <a:r>
              <a:rPr lang="en-US" altLang="zh-CN" sz="1900"/>
              <a:t> resource allocation: the resource can</a:t>
            </a:r>
            <a:r>
              <a:rPr lang="en-US" altLang="zh-CN" sz="1900">
                <a:latin typeface="Arial" panose="020B0604020202020204" pitchFamily="34" charset="0"/>
              </a:rPr>
              <a:t>’</a:t>
            </a:r>
            <a:r>
              <a:rPr lang="en-US" altLang="zh-CN" sz="1900"/>
              <a:t>t be shared by multiple processes.(nonpreemptable)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Process </a:t>
            </a:r>
            <a:r>
              <a:rPr lang="en-US" altLang="zh-CN" sz="1900">
                <a:solidFill>
                  <a:srgbClr val="FF0000"/>
                </a:solidFill>
              </a:rPr>
              <a:t>holding</a:t>
            </a:r>
            <a:r>
              <a:rPr lang="en-US" altLang="zh-CN" sz="1900"/>
              <a:t> some resource and </a:t>
            </a:r>
            <a:r>
              <a:rPr lang="en-US" altLang="zh-CN" sz="1900">
                <a:solidFill>
                  <a:srgbClr val="FF0000"/>
                </a:solidFill>
              </a:rPr>
              <a:t>waiting</a:t>
            </a:r>
            <a:r>
              <a:rPr lang="en-US" altLang="zh-CN" sz="1900"/>
              <a:t> for some resource, it is blocked until the request is satisfied.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The holden resource </a:t>
            </a:r>
            <a:r>
              <a:rPr lang="en-US" altLang="zh-CN" sz="1900">
                <a:solidFill>
                  <a:srgbClr val="FF0000"/>
                </a:solidFill>
              </a:rPr>
              <a:t>can</a:t>
            </a:r>
            <a:r>
              <a:rPr lang="en-US" altLang="zh-CN" sz="1900">
                <a:solidFill>
                  <a:srgbClr val="FF0000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1900">
                <a:solidFill>
                  <a:srgbClr val="FF0000"/>
                </a:solidFill>
              </a:rPr>
              <a:t>t be bereft </a:t>
            </a:r>
            <a:r>
              <a:rPr lang="en-US" altLang="zh-CN" sz="1900"/>
              <a:t>by OS, only its master can release it.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>
                <a:solidFill>
                  <a:srgbClr val="FF0000"/>
                </a:solidFill>
              </a:rPr>
              <a:t>Circular</a:t>
            </a:r>
            <a:r>
              <a:rPr lang="en-US" altLang="zh-CN" sz="1900"/>
              <a:t> </a:t>
            </a:r>
            <a:r>
              <a:rPr lang="en-US" altLang="zh-CN" sz="1900">
                <a:solidFill>
                  <a:srgbClr val="FF0000"/>
                </a:solidFill>
              </a:rPr>
              <a:t>waiting sequence</a:t>
            </a:r>
            <a:r>
              <a:rPr lang="en-US" altLang="zh-CN" sz="1900"/>
              <a:t>: each process in this sequence is waiting its neighbor to release some resource, and the sequence is circular.  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0248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AC79CA8-1E74-49BD-B048-D05CDE7BC1DC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21511" name="Picture 7" descr="死锁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1987505"/>
            <a:ext cx="561657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Analysis of Dead Lock</a:t>
            </a:r>
          </a:p>
        </p:txBody>
      </p:sp>
      <p:sp>
        <p:nvSpPr>
          <p:cNvPr id="819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Dangerous of dead lock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/>
              <a:t>The dead lock process set will never be activated and the holden resource will be unavailable for ever.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/>
              <a:t>Unreasonable resource allocation mechanism may cause dead lock.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Describe dead lock via </a:t>
            </a:r>
            <a:r>
              <a:rPr lang="en-US" altLang="zh-CN" sz="2400">
                <a:solidFill>
                  <a:srgbClr val="FF0000"/>
                </a:solidFill>
              </a:rPr>
              <a:t>directed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00"/>
                </a:solidFill>
              </a:rPr>
              <a:t>graph</a:t>
            </a:r>
            <a:r>
              <a:rPr lang="en-US" altLang="zh-CN" sz="2400"/>
              <a:t>: 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2296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C42076A-C3B2-4F84-BF88-291B5E759812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7" name="Picture 10" descr="资源分配图示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6" y="3786189"/>
            <a:ext cx="7343775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Sample of Dead Lock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9083F56-30EA-5128-9E93-199F0C6C9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3319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528C7FA-3407-490B-8A75-99FE05047F4B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9" name="Picture 14" descr="死锁过程与死锁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785938"/>
            <a:ext cx="9180513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How to resolve dead lock problem</a:t>
            </a:r>
          </a:p>
        </p:txBody>
      </p:sp>
      <p:sp>
        <p:nvSpPr>
          <p:cNvPr id="1024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200"/>
              <a:t>Dead lock prevention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OS defines some constraint rules and restrict resource request and allocation of process.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The constraint rules will destroy the conditions of dead lock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200"/>
              <a:t>Dead lock avoidance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OS analyzes current status of resource allocation and try to allocate resource in a safe way</a:t>
            </a:r>
            <a:endParaRPr lang="en-US" altLang="zh-CN" sz="2200"/>
          </a:p>
          <a:p>
            <a:pPr eaLnBrk="1" hangingPunct="1">
              <a:spcBef>
                <a:spcPct val="0"/>
              </a:spcBef>
            </a:pPr>
            <a:r>
              <a:rPr lang="en-US" altLang="zh-CN" sz="2200"/>
              <a:t>Dead lock detection and system recovery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A special process is in charge of dead lock detection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The dead lock process will be killed and the holden resource will be released.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200"/>
              <a:t>Ostrich policy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Dead lock is a kind of low-probability event.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900"/>
              <a:t>Do nothing for low-probability event.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4344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7A8368B-F576-40F4-97C4-03B8E71BA8C5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Dead lock prevention</a:t>
            </a:r>
          </a:p>
        </p:txBody>
      </p:sp>
      <p:sp>
        <p:nvSpPr>
          <p:cNvPr id="1946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Idea of this method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/>
              <a:t>Destroys the conditions of dead lock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Mechanism and constraint rules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Spooling </a:t>
            </a:r>
            <a:r>
              <a:rPr lang="en-US" altLang="zh-CN" sz="2000"/>
              <a:t>mechanism: sharing resource virtually.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Resource allocating prediction</a:t>
            </a:r>
            <a:r>
              <a:rPr lang="en-US" altLang="zh-CN" sz="2000"/>
              <a:t>: satisfy all resource requirements of a process in one allocation, otherwise the process will be blocked until all needed resource is available.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Resource bereaving</a:t>
            </a:r>
            <a:r>
              <a:rPr lang="en-US" altLang="zh-CN" sz="2000"/>
              <a:t>: bereaves the resource of dead lock process and allocates the resource to other process.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Labeled resource sequence</a:t>
            </a:r>
            <a:r>
              <a:rPr lang="en-US" altLang="zh-CN" sz="2000"/>
              <a:t>: assign type ID for each kind of resource, process must request the resource in ascending/descending order.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6392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254E32D-4342-402D-8287-09748FE2718C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ChangeArrowheads="1"/>
          </p:cNvSpPr>
          <p:nvPr/>
        </p:nvSpPr>
        <p:spPr bwMode="auto">
          <a:xfrm>
            <a:off x="1524001" y="24812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2063750" y="1412875"/>
          <a:ext cx="78486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Visio" r:id="rId3" imgW="5940493" imgH="2374650" progId="Visio.Drawing.11">
                  <p:embed/>
                </p:oleObj>
              </mc:Choice>
              <mc:Fallback>
                <p:oleObj name="Visio" r:id="rId3" imgW="5940493" imgH="237465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412875"/>
                        <a:ext cx="7848600" cy="3143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055440" y="903257"/>
            <a:ext cx="46085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Spooling</a:t>
            </a:r>
            <a:r>
              <a:rPr lang="zh-CN" altLang="en-US" b="1">
                <a:latin typeface="Times New Roman" panose="02020603050405020304" pitchFamily="18" charset="0"/>
              </a:rPr>
              <a:t>工作原理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2424113" y="4365626"/>
            <a:ext cx="80645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预输入模块：将作业输入到输入井中；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缓输出模块：将作业结果缓冲式输出到独享设备上；</a:t>
            </a:r>
            <a:r>
              <a:rPr lang="zh-CN" altLang="en-US" sz="2000" b="1">
                <a:latin typeface="Times New Roman" panose="02020603050405020304" pitchFamily="18" charset="0"/>
              </a:rPr>
              <a:t> 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作业调度模块：控制作业从输入井中取数，向输出井中送数；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输入、输出井：在磁盘上开辟的两个 “井”区域。 </a:t>
            </a:r>
          </a:p>
        </p:txBody>
      </p:sp>
      <p:sp>
        <p:nvSpPr>
          <p:cNvPr id="18438" name="灯片编号占位符 1"/>
          <p:cNvSpPr txBox="1">
            <a:spLocks noGrp="1"/>
          </p:cNvSpPr>
          <p:nvPr/>
        </p:nvSpPr>
        <p:spPr bwMode="auto">
          <a:xfrm>
            <a:off x="7772400" y="6248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DF8B39EF-8E5C-4FEE-8DB4-68DDE3686BC7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Dead lock avoidance</a:t>
            </a:r>
          </a:p>
        </p:txBody>
      </p:sp>
      <p:sp>
        <p:nvSpPr>
          <p:cNvPr id="2253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400"/>
              <a:t>Idea of this method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000"/>
              <a:t>Dead lock preventing is unreasonable and not friendly  for user.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000"/>
              <a:t>OS analyzes the resource allocation status and assures the system to be safe and stable.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/>
              <a:t>Status of resource allocation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000"/>
              <a:t>Safe status: a reasonable resource allocation sequence is existed to make all process run to end properly.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000"/>
              <a:t>Unsafe status: can</a:t>
            </a:r>
            <a:r>
              <a:rPr lang="en-US" altLang="zh-CN" sz="2000">
                <a:latin typeface="Arial" panose="020B0604020202020204" pitchFamily="34" charset="0"/>
              </a:rPr>
              <a:t>’</a:t>
            </a:r>
            <a:r>
              <a:rPr lang="en-US" altLang="zh-CN" sz="2000"/>
              <a:t>t find a safe resource allocation sequence to avoid dead lock.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/>
              <a:t>Mechanism of dead lock avoidance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000"/>
              <a:t>When process request some resource, OS will check whether the status is safe, the resource will be allocated under safe status and won</a:t>
            </a:r>
            <a:r>
              <a:rPr lang="en-US" altLang="zh-CN" sz="2000">
                <a:latin typeface="Arial" panose="020B0604020202020204" pitchFamily="34" charset="0"/>
              </a:rPr>
              <a:t>’</a:t>
            </a:r>
            <a:r>
              <a:rPr lang="en-US" altLang="zh-CN" sz="2000"/>
              <a:t>t be allocated under unsafe status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19464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C2F6607-2AD1-4C50-9BC1-D2C2C4C5884E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Resource allocation track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BF29281-2889-5BFA-80E9-100DD6981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21511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01775771-C3B1-4528-91EE-BCC5E2FDD460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8" name="Picture 13" descr="资源轨迹图方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035" y="1552260"/>
            <a:ext cx="6669929" cy="4589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Banker algorithm: simple condition</a:t>
            </a:r>
          </a:p>
        </p:txBody>
      </p:sp>
      <p:sp>
        <p:nvSpPr>
          <p:cNvPr id="2662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Record the max-requirement of resource and current allocation status of all process.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Simulation: allocate the resource to a process and check whether all process can run to end properly.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If the safe allocation sequence is found, the resource can be allocated to this process, otherwise the resource can</a:t>
            </a:r>
            <a:r>
              <a:rPr lang="en-US" altLang="zh-CN" sz="2400">
                <a:latin typeface="Arial" panose="020B0604020202020204" pitchFamily="34" charset="0"/>
              </a:rPr>
              <a:t>’</a:t>
            </a:r>
            <a:r>
              <a:rPr lang="en-US" altLang="zh-CN" sz="2400"/>
              <a:t>t be allocated to this process.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23560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A9271EC-346D-4E68-A13D-263ACD3A1909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Banker algorithm: simple condition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E270BA-8156-3285-A150-1CC2A6C8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25607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A147E27-74DF-4DDA-A917-56B88915B2CD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7" name="Picture 9" descr="单种资源银行家算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1630263"/>
            <a:ext cx="880110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Banker algorithm: complex condition</a:t>
            </a:r>
          </a:p>
        </p:txBody>
      </p:sp>
      <p:sp>
        <p:nvSpPr>
          <p:cNvPr id="3072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400"/>
              <a:t>Using matrix and vector to describe resource allocation status.</a:t>
            </a:r>
            <a:endParaRPr lang="en-US" altLang="zh-CN" sz="2000"/>
          </a:p>
          <a:p>
            <a:pPr eaLnBrk="1" hangingPunct="1">
              <a:spcBef>
                <a:spcPct val="0"/>
              </a:spcBef>
            </a:pPr>
            <a:r>
              <a:rPr lang="en-US" altLang="zh-CN" sz="2400"/>
              <a:t>Simulation: matrix operation.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27656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0E6F479-6A5A-48B1-81B7-32555720D818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  <p:pic>
        <p:nvPicPr>
          <p:cNvPr id="7" name="Picture 9" descr="多种资源银行家算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2857501"/>
            <a:ext cx="784860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Banker algorithm: complex condition</a:t>
            </a:r>
          </a:p>
        </p:txBody>
      </p:sp>
      <p:sp>
        <p:nvSpPr>
          <p:cNvPr id="3277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000"/>
              <a:t>Check all resource requests in following steps.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000"/>
              <a:t>Step 1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Check the rows in </a:t>
            </a:r>
            <a:r>
              <a:rPr lang="en-US" altLang="zh-CN" sz="1700">
                <a:latin typeface="Arial" panose="020B0604020202020204" pitchFamily="34" charset="0"/>
              </a:rPr>
              <a:t>“</a:t>
            </a:r>
            <a:r>
              <a:rPr lang="en-US" altLang="zh-CN" sz="1700"/>
              <a:t>requested matrix</a:t>
            </a:r>
            <a:r>
              <a:rPr lang="en-US" altLang="zh-CN" sz="1700">
                <a:latin typeface="Arial" panose="020B0604020202020204" pitchFamily="34" charset="0"/>
              </a:rPr>
              <a:t>”</a:t>
            </a:r>
            <a:r>
              <a:rPr lang="en-US" altLang="zh-CN" sz="1700"/>
              <a:t> and try to find a row that fewer than A ( available resource).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All rows in </a:t>
            </a:r>
            <a:r>
              <a:rPr lang="en-US" altLang="zh-CN" sz="1700">
                <a:latin typeface="Arial" panose="020B0604020202020204" pitchFamily="34" charset="0"/>
              </a:rPr>
              <a:t>“</a:t>
            </a:r>
            <a:r>
              <a:rPr lang="en-US" altLang="zh-CN" sz="1700"/>
              <a:t>requested matrix</a:t>
            </a:r>
            <a:r>
              <a:rPr lang="en-US" altLang="zh-CN" sz="1700">
                <a:latin typeface="Arial" panose="020B0604020202020204" pitchFamily="34" charset="0"/>
              </a:rPr>
              <a:t>”</a:t>
            </a:r>
            <a:r>
              <a:rPr lang="en-US" altLang="zh-CN" sz="1700"/>
              <a:t> is larger than A, that means  the system is under dead lock status.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The request of the process indicated by this row can be satisfied.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000"/>
              <a:t>Step 2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Assign the resource to the select process.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Label this process to be </a:t>
            </a:r>
            <a:r>
              <a:rPr lang="en-US" altLang="zh-CN" sz="1700">
                <a:latin typeface="Arial" panose="020B0604020202020204" pitchFamily="34" charset="0"/>
              </a:rPr>
              <a:t>“</a:t>
            </a:r>
            <a:r>
              <a:rPr lang="en-US" altLang="zh-CN" sz="1700"/>
              <a:t>end</a:t>
            </a:r>
            <a:r>
              <a:rPr lang="en-US" altLang="zh-CN" sz="1700">
                <a:latin typeface="Arial" panose="020B0604020202020204" pitchFamily="34" charset="0"/>
              </a:rPr>
              <a:t>”</a:t>
            </a:r>
            <a:r>
              <a:rPr lang="en-US" altLang="zh-CN" sz="1700"/>
              <a:t> and release the resource holden by this process, update A.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000"/>
              <a:t>Step 3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Execute step 1 and step 2 circularly, until all processes are labeled to be </a:t>
            </a:r>
            <a:r>
              <a:rPr lang="en-US" altLang="zh-CN" sz="1700">
                <a:latin typeface="Arial" panose="020B0604020202020204" pitchFamily="34" charset="0"/>
              </a:rPr>
              <a:t>“</a:t>
            </a:r>
            <a:r>
              <a:rPr lang="en-US" altLang="zh-CN" sz="1700"/>
              <a:t>end</a:t>
            </a:r>
            <a:r>
              <a:rPr lang="en-US" altLang="zh-CN" sz="1700">
                <a:latin typeface="Arial" panose="020B0604020202020204" pitchFamily="34" charset="0"/>
              </a:rPr>
              <a:t>”</a:t>
            </a:r>
            <a:r>
              <a:rPr lang="en-US" altLang="zh-CN" sz="170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000"/>
              <a:t>Step 4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1700"/>
              <a:t>If all processes are labeled to be </a:t>
            </a:r>
            <a:r>
              <a:rPr lang="en-US" altLang="zh-CN" sz="1700">
                <a:latin typeface="Arial" panose="020B0604020202020204" pitchFamily="34" charset="0"/>
              </a:rPr>
              <a:t>“</a:t>
            </a:r>
            <a:r>
              <a:rPr lang="en-US" altLang="zh-CN" sz="1700"/>
              <a:t>end</a:t>
            </a:r>
            <a:r>
              <a:rPr lang="en-US" altLang="zh-CN" sz="1700">
                <a:latin typeface="Arial" panose="020B0604020202020204" pitchFamily="34" charset="0"/>
              </a:rPr>
              <a:t>”</a:t>
            </a:r>
            <a:r>
              <a:rPr lang="en-US" altLang="zh-CN" sz="1700"/>
              <a:t>, that means the resource request is safe and can be executed, otherwise the request is not safe and can</a:t>
            </a:r>
            <a:r>
              <a:rPr lang="en-US" altLang="zh-CN" sz="1700">
                <a:latin typeface="Arial" panose="020B0604020202020204" pitchFamily="34" charset="0"/>
              </a:rPr>
              <a:t>’</a:t>
            </a:r>
            <a:r>
              <a:rPr lang="en-US" altLang="zh-CN" sz="1700"/>
              <a:t>t be executed.</a:t>
            </a:r>
          </a:p>
          <a:p>
            <a:pPr lvl="1" eaLnBrk="1" hangingPunct="1">
              <a:spcBef>
                <a:spcPct val="0"/>
              </a:spcBef>
            </a:pPr>
            <a:endParaRPr lang="en-US" altLang="zh-CN" sz="2000"/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CITS, NanKai University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29703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3A6EE0F3-EB92-46FD-A819-BACE53971E40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7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7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7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7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7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7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27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示例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977900" y="6508750"/>
            <a:ext cx="2514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>
          <a:xfrm>
            <a:off x="5943600" y="650875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0A7CA-BA47-4DF4-A0C9-3C45E410154C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5B0877-4836-41EA-7752-9A222B651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76E51A-015D-8BA5-29E5-4ED4B06D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77502"/>
            <a:ext cx="9144000" cy="45277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示例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977900" y="6508750"/>
            <a:ext cx="2514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>
          <a:xfrm>
            <a:off x="5943600" y="650875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0A7CA-BA47-4DF4-A0C9-3C45E410154C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5B0877-4836-41EA-7752-9A222B651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C3E29E-E7ED-1E49-6630-FA2364DC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50484"/>
            <a:ext cx="9144000" cy="435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39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F9848-0DE1-4EB4-6040-464232A1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05534-72F2-8703-CD4D-914C3197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D8F6C-5F68-AE38-0C5C-2901B92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977900" y="6508750"/>
            <a:ext cx="2514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5AEF7-5EA1-DB0E-1B55-E1AC7E66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5943600" y="650875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850140-8EBE-6388-BF29-E49763F3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C205-B818-4E8C-97E3-6235F41AECED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6217C8-75DE-F0C8-98C9-045C2475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50731"/>
            <a:ext cx="9144000" cy="435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07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F9848-0DE1-4EB4-6040-464232A1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05534-72F2-8703-CD4D-914C3197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D8F6C-5F68-AE38-0C5C-2901B92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977900" y="6508750"/>
            <a:ext cx="2514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5AEF7-5EA1-DB0E-1B55-E1AC7E66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5943600" y="650875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b="1" kern="1200">
                <a:solidFill>
                  <a:schemeClr val="bg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850140-8EBE-6388-BF29-E49763F3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C205-B818-4E8C-97E3-6235F41AECED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717125-2464-7D8E-F4F5-C1D4AC84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41010"/>
            <a:ext cx="9144000" cy="437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51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625" y="1084264"/>
            <a:ext cx="8229600" cy="509587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dirty="0">
                <a:cs typeface="+mj-cs"/>
              </a:rPr>
              <a:t>安全状态与死锁的关系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590056" y="4898927"/>
            <a:ext cx="4735512" cy="642937"/>
            <a:chOff x="683568" y="3788616"/>
            <a:chExt cx="4735219" cy="642942"/>
          </a:xfrm>
        </p:grpSpPr>
        <p:sp>
          <p:nvSpPr>
            <p:cNvPr id="35858" name="内容占位符 2"/>
            <p:cNvSpPr txBox="1">
              <a:spLocks/>
            </p:cNvSpPr>
            <p:nvPr/>
          </p:nvSpPr>
          <p:spPr bwMode="auto">
            <a:xfrm>
              <a:off x="981651" y="3788616"/>
              <a:ext cx="4437136" cy="642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269875" indent="-93663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系统处于安全状态，一定没有死锁</a:t>
              </a:r>
              <a:endParaRPr lang="en-US" altLang="zh-CN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9" name="TextBox 11"/>
            <p:cNvSpPr txBox="1">
              <a:spLocks noChangeArrowheads="1"/>
            </p:cNvSpPr>
            <p:nvPr/>
          </p:nvSpPr>
          <p:spPr bwMode="auto">
            <a:xfrm>
              <a:off x="683568" y="3788616"/>
              <a:ext cx="4333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590057" y="5246588"/>
            <a:ext cx="5602287" cy="774700"/>
            <a:chOff x="683568" y="4136526"/>
            <a:chExt cx="5602059" cy="774888"/>
          </a:xfrm>
        </p:grpSpPr>
        <p:pic>
          <p:nvPicPr>
            <p:cNvPr id="35854" name="图片 13" descr="小点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97" y="4595023"/>
              <a:ext cx="151066" cy="148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内容占位符 2"/>
            <p:cNvSpPr txBox="1">
              <a:spLocks/>
            </p:cNvSpPr>
            <p:nvPr/>
          </p:nvSpPr>
          <p:spPr bwMode="auto">
            <a:xfrm>
              <a:off x="1236404" y="4503772"/>
              <a:ext cx="5049223" cy="40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9875" indent="-269875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lvl="1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避免死锁就是确保系统不会进入不安全状态</a:t>
              </a:r>
              <a:endPara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6" name="内容占位符 2"/>
            <p:cNvSpPr txBox="1">
              <a:spLocks/>
            </p:cNvSpPr>
            <p:nvPr/>
          </p:nvSpPr>
          <p:spPr bwMode="auto">
            <a:xfrm>
              <a:off x="981651" y="4136526"/>
              <a:ext cx="5085208" cy="72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269875" indent="-93663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系统处于不安全状态，可能出现死锁</a:t>
              </a:r>
              <a:endParaRPr lang="en-US" altLang="zh-CN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7" name="TextBox 12"/>
            <p:cNvSpPr txBox="1">
              <a:spLocks noChangeArrowheads="1"/>
            </p:cNvSpPr>
            <p:nvPr/>
          </p:nvSpPr>
          <p:spPr bwMode="auto">
            <a:xfrm>
              <a:off x="683568" y="4136526"/>
              <a:ext cx="4333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4645322" y="1724199"/>
            <a:ext cx="2890838" cy="2928937"/>
            <a:chOff x="3837778" y="1071552"/>
            <a:chExt cx="2890800" cy="2928958"/>
          </a:xfrm>
        </p:grpSpPr>
        <p:sp>
          <p:nvSpPr>
            <p:cNvPr id="26" name="矩形 25"/>
            <p:cNvSpPr/>
            <p:nvPr/>
          </p:nvSpPr>
          <p:spPr>
            <a:xfrm>
              <a:off x="3837778" y="1071552"/>
              <a:ext cx="2881275" cy="2928958"/>
            </a:xfrm>
            <a:prstGeom prst="rect">
              <a:avLst/>
            </a:prstGeom>
            <a:gradFill>
              <a:gsLst>
                <a:gs pos="100000">
                  <a:srgbClr val="339900"/>
                </a:gs>
                <a:gs pos="0">
                  <a:srgbClr val="CCFF9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2" name="直接连接符 31"/>
            <p:cNvCxnSpPr/>
            <p:nvPr/>
          </p:nvCxnSpPr>
          <p:spPr>
            <a:xfrm rot="10800000" flipH="1">
              <a:off x="3839366" y="1963733"/>
              <a:ext cx="2881274" cy="679455"/>
            </a:xfrm>
            <a:prstGeom prst="line">
              <a:avLst/>
            </a:pr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848" name="组合 35"/>
            <p:cNvGrpSpPr>
              <a:grpSpLocks/>
            </p:cNvGrpSpPr>
            <p:nvPr/>
          </p:nvGrpSpPr>
          <p:grpSpPr bwMode="auto">
            <a:xfrm>
              <a:off x="3837778" y="1071552"/>
              <a:ext cx="2890800" cy="1568450"/>
              <a:chOff x="3844920" y="1071552"/>
              <a:chExt cx="2880000" cy="1568450"/>
            </a:xfrm>
          </p:grpSpPr>
          <p:sp>
            <p:nvSpPr>
              <p:cNvPr id="35" name="任意多边形 34"/>
              <p:cNvSpPr/>
              <p:nvPr/>
            </p:nvSpPr>
            <p:spPr>
              <a:xfrm>
                <a:off x="3844920" y="1071552"/>
                <a:ext cx="2880000" cy="1568461"/>
              </a:xfrm>
              <a:custGeom>
                <a:avLst/>
                <a:gdLst>
                  <a:gd name="connsiteX0" fmla="*/ 12700 w 2863850"/>
                  <a:gd name="connsiteY0" fmla="*/ 0 h 1568450"/>
                  <a:gd name="connsiteX1" fmla="*/ 2863850 w 2863850"/>
                  <a:gd name="connsiteY1" fmla="*/ 6350 h 1568450"/>
                  <a:gd name="connsiteX2" fmla="*/ 2851150 w 2863850"/>
                  <a:gd name="connsiteY2" fmla="*/ 895350 h 1568450"/>
                  <a:gd name="connsiteX3" fmla="*/ 0 w 2863850"/>
                  <a:gd name="connsiteY3" fmla="*/ 1568450 h 1568450"/>
                  <a:gd name="connsiteX4" fmla="*/ 12700 w 2863850"/>
                  <a:gd name="connsiteY4" fmla="*/ 0 h 156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3850" h="1568450">
                    <a:moveTo>
                      <a:pt x="12700" y="0"/>
                    </a:moveTo>
                    <a:lnTo>
                      <a:pt x="2863850" y="6350"/>
                    </a:lnTo>
                    <a:lnTo>
                      <a:pt x="2851150" y="895350"/>
                    </a:lnTo>
                    <a:lnTo>
                      <a:pt x="0" y="1568450"/>
                    </a:lnTo>
                    <a:lnTo>
                      <a:pt x="1270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4072663" y="1357304"/>
                <a:ext cx="1285799" cy="642942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4387046" y="1500180"/>
              <a:ext cx="646105" cy="3698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+mj-ea"/>
                  <a:ea typeface="+mj-ea"/>
                </a:rPr>
                <a:t>死锁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752278" y="1214428"/>
              <a:ext cx="890576" cy="3698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+mj-ea"/>
                  <a:ea typeface="+mj-ea"/>
                </a:rPr>
                <a:t>不安全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45962" y="2285998"/>
              <a:ext cx="660391" cy="3698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+mj-ea"/>
                  <a:ea typeface="+mj-ea"/>
                </a:rPr>
                <a:t>安全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Dead lock detection and recovery</a:t>
            </a:r>
          </a:p>
        </p:txBody>
      </p:sp>
      <p:sp>
        <p:nvSpPr>
          <p:cNvPr id="1229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200"/>
              <a:t>Idea of this method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A daemon process is in charge of dead lock detection and try to resume system.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200"/>
              <a:t>How to detect dead lock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Using graph, set, vector and matrix as data structure to record the status of resource allocation, and try to find </a:t>
            </a:r>
            <a:r>
              <a:rPr lang="en-US" altLang="zh-CN" sz="1900">
                <a:solidFill>
                  <a:srgbClr val="FF0000"/>
                </a:solidFill>
              </a:rPr>
              <a:t>circular</a:t>
            </a:r>
            <a:r>
              <a:rPr lang="en-US" altLang="zh-CN" sz="1900"/>
              <a:t> </a:t>
            </a:r>
            <a:r>
              <a:rPr lang="en-US" altLang="zh-CN" sz="1900">
                <a:solidFill>
                  <a:srgbClr val="FF0000"/>
                </a:solidFill>
              </a:rPr>
              <a:t>waiting</a:t>
            </a:r>
            <a:r>
              <a:rPr lang="en-US" altLang="zh-CN" sz="1900"/>
              <a:t> status 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Discussion about </a:t>
            </a:r>
            <a:r>
              <a:rPr lang="en-US" altLang="zh-CN" sz="1900">
                <a:solidFill>
                  <a:srgbClr val="FF0000"/>
                </a:solidFill>
              </a:rPr>
              <a:t>dead lock detection algorithm</a:t>
            </a:r>
            <a:r>
              <a:rPr lang="en-US" altLang="zh-CN" sz="19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Deadlock Detection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设定分配矩阵</a:t>
            </a:r>
            <a:r>
              <a:rPr lang="en-US" altLang="zh-CN" dirty="0"/>
              <a:t>Allocation</a:t>
            </a:r>
            <a:r>
              <a:rPr lang="zh-CN" altLang="en-US" dirty="0"/>
              <a:t>、资源向量、可用向量，分别记录当前系统中已分配的资源、总量和剩余资源</a:t>
            </a:r>
            <a:endParaRPr lang="en-US" altLang="zh-CN" dirty="0"/>
          </a:p>
          <a:p>
            <a:pPr eaLnBrk="1" hangingPunct="1"/>
            <a:r>
              <a:rPr lang="zh-CN" altLang="en-US" dirty="0"/>
              <a:t>请求矩阵中的向量定义成</a:t>
            </a:r>
            <a:r>
              <a:rPr lang="en-US" altLang="zh-CN" dirty="0" err="1"/>
              <a:t>qij</a:t>
            </a:r>
            <a:r>
              <a:rPr lang="zh-CN" altLang="en-US" dirty="0"/>
              <a:t>，表示进程</a:t>
            </a:r>
            <a:r>
              <a:rPr lang="en-US" altLang="zh-CN" dirty="0" err="1"/>
              <a:t>i</a:t>
            </a:r>
            <a:r>
              <a:rPr lang="zh-CN" altLang="en-US" dirty="0"/>
              <a:t>请求类型</a:t>
            </a:r>
            <a:r>
              <a:rPr lang="en-US" altLang="zh-CN" dirty="0"/>
              <a:t>j</a:t>
            </a:r>
            <a:r>
              <a:rPr lang="zh-CN" altLang="en-US" dirty="0"/>
              <a:t>的资源量，代表当前进程产生的资源请求 </a:t>
            </a:r>
            <a:endParaRPr lang="en-US" altLang="zh-CN" dirty="0"/>
          </a:p>
          <a:p>
            <a:pPr eaLnBrk="1" hangingPunct="1"/>
            <a:r>
              <a:rPr lang="zh-CN" altLang="en-US" dirty="0"/>
              <a:t>初始态所有进程无标记，通过算法标记进程 </a:t>
            </a:r>
            <a:endParaRPr lang="en-US" altLang="zh-CN" dirty="0"/>
          </a:p>
          <a:p>
            <a:pPr eaLnBrk="1" hangingPunct="1"/>
            <a:r>
              <a:rPr lang="zh-CN" altLang="en-US" dirty="0"/>
              <a:t>最后查看：若有无标记的进程，则说明有死锁现象存在 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Deadlock Detection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）在分配矩阵中标记一行全为</a:t>
            </a:r>
            <a:r>
              <a:rPr lang="en-US" altLang="zh-CN" dirty="0"/>
              <a:t>0</a:t>
            </a:r>
            <a:r>
              <a:rPr lang="zh-CN" altLang="en-US" dirty="0"/>
              <a:t>的进程 </a:t>
            </a: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）向量</a:t>
            </a:r>
            <a:r>
              <a:rPr lang="en-US" altLang="zh-CN" dirty="0"/>
              <a:t>W</a:t>
            </a:r>
            <a:r>
              <a:rPr lang="zh-CN" altLang="en-US" dirty="0"/>
              <a:t>初始化成可用向量</a:t>
            </a:r>
            <a:r>
              <a:rPr lang="en-US" altLang="zh-CN" dirty="0"/>
              <a:t>Available 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）按下标</a:t>
            </a:r>
            <a:r>
              <a:rPr lang="en-US" altLang="zh-CN" dirty="0" err="1"/>
              <a:t>i</a:t>
            </a:r>
            <a:r>
              <a:rPr lang="zh-CN" altLang="en-US" dirty="0"/>
              <a:t>查找，进程</a:t>
            </a:r>
            <a:r>
              <a:rPr lang="en-US" altLang="zh-CN" dirty="0" err="1"/>
              <a:t>i</a:t>
            </a:r>
            <a:r>
              <a:rPr lang="zh-CN" altLang="en-US" dirty="0"/>
              <a:t>未标记并且该进程的请求向量小于等于</a:t>
            </a:r>
            <a:r>
              <a:rPr lang="en-US" altLang="zh-CN" dirty="0"/>
              <a:t>W</a:t>
            </a:r>
            <a:r>
              <a:rPr lang="zh-CN" altLang="en-US" dirty="0"/>
              <a:t>，就进行标记；若找不到这样的行，算法终止。 </a:t>
            </a:r>
          </a:p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）若找到这样的行，标记进程</a:t>
            </a:r>
            <a:r>
              <a:rPr lang="en-US" altLang="zh-CN" dirty="0" err="1"/>
              <a:t>i</a:t>
            </a:r>
            <a:r>
              <a:rPr lang="zh-CN" altLang="en-US" dirty="0"/>
              <a:t>后，再把分配矩阵中的相应行加到</a:t>
            </a:r>
            <a:r>
              <a:rPr lang="en-US" altLang="zh-CN" dirty="0"/>
              <a:t>W</a:t>
            </a:r>
            <a:r>
              <a:rPr lang="zh-CN" altLang="en-US" dirty="0"/>
              <a:t>中，返回步骤</a:t>
            </a:r>
            <a:r>
              <a:rPr lang="en-US" altLang="zh-CN" dirty="0"/>
              <a:t>3</a:t>
            </a:r>
            <a:r>
              <a:rPr lang="zh-CN" altLang="en-US" dirty="0"/>
              <a:t>。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Deadlock Detection</a:t>
            </a:r>
          </a:p>
        </p:txBody>
      </p:sp>
      <p:pic>
        <p:nvPicPr>
          <p:cNvPr id="4096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76" y="1570038"/>
            <a:ext cx="6608447" cy="4351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Dead lock detection and recovery</a:t>
            </a:r>
          </a:p>
        </p:txBody>
      </p:sp>
      <p:sp>
        <p:nvSpPr>
          <p:cNvPr id="1741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200"/>
              <a:t>How to recover system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Resource bereaving: bereaves the resource of dead lock process and allocates the resource to other process.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Backdating: set check point in process, the process will backdate to the check point when dead lock is detected.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900"/>
              <a:t>Process killing: kills the process 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524625"/>
            <a:ext cx="2743200" cy="327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 dirty="0"/>
          </a:p>
        </p:txBody>
      </p:sp>
      <p:pic>
        <p:nvPicPr>
          <p:cNvPr id="45061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1341439"/>
            <a:ext cx="909955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524625"/>
            <a:ext cx="2743200" cy="327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235AE17-E474-4F6A-937A-3E38B813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示例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哲学家就餐题的死锁问题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8AA1576-06D5-4FC1-93B1-F0347CD5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7416825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回顾问题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哲学家仅有两个状态，思考和吃饭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吃饭时需要得到左右手的两只筷子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思考时会放回筷子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在这里，死锁是什么情况？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" name="Picture 6" descr="哲学家就餐问题">
            <a:extLst>
              <a:ext uri="{FF2B5EF4-FFF2-40B4-BE49-F238E27FC236}">
                <a16:creationId xmlns:a16="http://schemas.microsoft.com/office/drawing/2014/main" id="{B4FFD501-F425-4502-89DB-DFB800DAF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400" y="1797050"/>
            <a:ext cx="347345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53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4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175EFC-BBC4-4BAD-A661-3632F3AEFCBB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9149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常见错误解法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05F483-CD21-F3EE-DAC2-61E598640B35}"/>
              </a:ext>
            </a:extLst>
          </p:cNvPr>
          <p:cNvSpPr txBox="1"/>
          <p:nvPr/>
        </p:nvSpPr>
        <p:spPr>
          <a:xfrm>
            <a:off x="2063552" y="1916832"/>
            <a:ext cx="80648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#define N 5                    </a:t>
            </a:r>
            <a:r>
              <a:rPr lang="en-US" altLang="zh-CN" dirty="0"/>
              <a:t>	</a:t>
            </a:r>
            <a:r>
              <a:rPr lang="zh-CN" altLang="en-US" dirty="0"/>
              <a:t>/* 哲学家的数目 */</a:t>
            </a:r>
          </a:p>
          <a:p>
            <a:endParaRPr lang="zh-CN" altLang="en-US" dirty="0"/>
          </a:p>
          <a:p>
            <a:r>
              <a:rPr lang="zh-CN" altLang="en-US" dirty="0"/>
              <a:t>void philosopher(int i)     </a:t>
            </a:r>
            <a:r>
              <a:rPr lang="en-US" altLang="zh-CN" dirty="0"/>
              <a:t>	</a:t>
            </a:r>
            <a:r>
              <a:rPr lang="zh-CN" altLang="en-US" dirty="0"/>
              <a:t>/* i:哲学家编号,从0到4*/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    while (TRUE) {                    </a:t>
            </a:r>
          </a:p>
          <a:p>
            <a:r>
              <a:rPr lang="zh-CN" altLang="en-US" dirty="0"/>
              <a:t>        think();                      </a:t>
            </a:r>
            <a:r>
              <a:rPr lang="en-US" altLang="zh-CN" dirty="0"/>
              <a:t>	</a:t>
            </a:r>
            <a:r>
              <a:rPr lang="zh-CN" altLang="en-US" dirty="0"/>
              <a:t>/* 哲学家在思考 */</a:t>
            </a:r>
          </a:p>
          <a:p>
            <a:r>
              <a:rPr lang="zh-CN" altLang="en-US" dirty="0"/>
              <a:t>        take_</a:t>
            </a:r>
            <a:r>
              <a:rPr lang="en-US" altLang="zh-CN" dirty="0"/>
              <a:t>chopstick </a:t>
            </a:r>
            <a:r>
              <a:rPr lang="zh-CN" altLang="en-US" dirty="0"/>
              <a:t>(i);                 </a:t>
            </a:r>
            <a:r>
              <a:rPr lang="en-US" altLang="zh-CN" dirty="0"/>
              <a:t>	</a:t>
            </a:r>
            <a:r>
              <a:rPr lang="zh-CN" altLang="en-US" dirty="0"/>
              <a:t>/* 拿起左边的叉子 */</a:t>
            </a:r>
          </a:p>
          <a:p>
            <a:r>
              <a:rPr lang="zh-CN" altLang="en-US" dirty="0"/>
              <a:t>        take_</a:t>
            </a:r>
            <a:r>
              <a:rPr lang="en-US" altLang="zh-CN" kern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chopstick</a:t>
            </a:r>
            <a:r>
              <a:rPr lang="zh-CN" altLang="en-US" dirty="0"/>
              <a:t>((i+1) % N);     /* 拿起边上的叉子</a:t>
            </a:r>
            <a:r>
              <a:rPr lang="en-US" altLang="zh-CN" dirty="0"/>
              <a:t>, %</a:t>
            </a:r>
            <a:r>
              <a:rPr lang="zh-CN" altLang="en-US" dirty="0"/>
              <a:t>是模运算 */</a:t>
            </a:r>
          </a:p>
          <a:p>
            <a:r>
              <a:rPr lang="zh-CN" altLang="en-US" dirty="0"/>
              <a:t>        eat();                        </a:t>
            </a:r>
            <a:r>
              <a:rPr lang="en-US" altLang="zh-CN" dirty="0"/>
              <a:t>	</a:t>
            </a:r>
            <a:r>
              <a:rPr lang="zh-CN" altLang="en-US" dirty="0"/>
              <a:t>/* 进餐 */</a:t>
            </a:r>
          </a:p>
          <a:p>
            <a:r>
              <a:rPr lang="zh-CN" altLang="en-US" dirty="0"/>
              <a:t>        put_</a:t>
            </a:r>
            <a:r>
              <a:rPr lang="en-US" altLang="zh-CN" kern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chopstick</a:t>
            </a:r>
            <a:r>
              <a:rPr lang="zh-CN" altLang="en-US" dirty="0"/>
              <a:t>(i);                  </a:t>
            </a:r>
            <a:r>
              <a:rPr lang="en-US" altLang="zh-CN" dirty="0"/>
              <a:t>	</a:t>
            </a:r>
            <a:r>
              <a:rPr lang="zh-CN" altLang="en-US" dirty="0"/>
              <a:t>/* 放下左边的</a:t>
            </a:r>
            <a:r>
              <a:rPr lang="zh-CN" altLang="zh-CN" kern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叉子</a:t>
            </a:r>
            <a:r>
              <a:rPr lang="zh-CN" altLang="en-US" dirty="0"/>
              <a:t>*/</a:t>
            </a:r>
          </a:p>
          <a:p>
            <a:r>
              <a:rPr lang="zh-CN" altLang="en-US" dirty="0"/>
              <a:t>        put_</a:t>
            </a:r>
            <a:r>
              <a:rPr lang="en-US" altLang="zh-CN" kern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chopstick</a:t>
            </a:r>
            <a:r>
              <a:rPr lang="zh-CN" altLang="en-US" dirty="0"/>
              <a:t>((i+1) % N);       /* 放下右边的</a:t>
            </a:r>
            <a:r>
              <a:rPr lang="zh-CN" altLang="zh-CN" kern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叉子</a:t>
            </a:r>
            <a:r>
              <a:rPr lang="zh-CN" altLang="en-US" dirty="0"/>
              <a:t>*/</a:t>
            </a:r>
          </a:p>
          <a:p>
            <a:r>
              <a:rPr lang="zh-CN" altLang="en-US" dirty="0"/>
              <a:t>    }</a:t>
            </a:r>
          </a:p>
          <a:p>
            <a:r>
              <a:rPr lang="zh-CN" altLang="en-US" dirty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具有死锁预防属性的哲学家就餐问题求解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保守策略从根本上杜绝死锁的可能性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一次请求所有的资源</a:t>
            </a:r>
            <a:endParaRPr lang="en-US" altLang="zh-CN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0AA0A08-EFD1-4D28-8B2C-7169CF3DA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752" y="2034042"/>
            <a:ext cx="6264696" cy="3587136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083B90B-35BE-477B-869E-446E7E158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621" y="5614090"/>
            <a:ext cx="62646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将拿到两把筷子做为临界区，确保一次拿到所有资源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6893EBA-520D-4A2F-AAD5-B7DA422E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320" y="1948450"/>
            <a:ext cx="6264696" cy="36134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#define   N   5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哲学家个数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emaphore fork[5];                 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TW" altLang="en-US" sz="1400" b="1" dirty="0">
                <a:solidFill>
                  <a:srgbClr val="11576A"/>
                </a:solidFill>
                <a:latin typeface="+mn-ea"/>
                <a:ea typeface="+mn-ea"/>
              </a:rPr>
              <a:t>信号量初值为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semaphore   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;	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互斥信号量，初值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1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void   philosopher(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哲学家编号：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0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－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4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while(TRUE){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think( 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哲学家在思考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P(</a:t>
            </a:r>
            <a:r>
              <a:rPr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);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进入临界区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P(fork[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去拿左边的叉子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P(fork[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去拿右边的叉子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V(mutex);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退出临界区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eat( 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吃面条中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….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V(fork[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	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放下左边的叉子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V(fork[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放下右边的叉子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7338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具有死锁预防属性的哲学家就餐问题求解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保守策略从根本上杜绝死锁的可能性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按照指定的顺序申请资源，所有的资源都是先申请小编号的，再申请大编号的</a:t>
            </a:r>
            <a:endParaRPr lang="en-US" altLang="zh-CN" dirty="0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CC0F9E74-247D-4552-A8CD-E7E8CEF5A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971" y="2492896"/>
            <a:ext cx="6408712" cy="3826689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39754D24-987E-468A-A17F-FA80874D6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4132" y="2565643"/>
            <a:ext cx="6454196" cy="376103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#define   N   5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哲学家个数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semaphore fork[5];                  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TW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信号量初值为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void   philosopher(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int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哲学家编号：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0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－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while(TRUE)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{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think( );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哲学家在思考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if (</a:t>
            </a:r>
            <a:r>
              <a:rPr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!= 4)</a:t>
            </a:r>
            <a:r>
              <a:rPr lang="zh-CN" alt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P(fork[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	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先拿小号的叉子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P(fork[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再拿大号的叉子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 else {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P(fork[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先拿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0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号叉子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P(fork[</a:t>
            </a:r>
            <a:r>
              <a:rPr lang="en-US" altLang="zh-CN" sz="16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再拿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4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号叉子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    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eat( );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吃面条中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  <a:cs typeface="Courier New" panose="02070309020205020404" pitchFamily="49" charset="0"/>
              </a:rPr>
              <a:t>….</a:t>
            </a: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endParaRPr lang="en-US" altLang="zh-TW" sz="1600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endParaRPr lang="en-US" altLang="zh-CN" sz="1600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50000"/>
              </a:lnSpc>
              <a:spcAft>
                <a:spcPct val="40000"/>
              </a:spcAft>
              <a:buFont typeface="Arial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58647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具有死锁预防属性的哲学家就餐问题求解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保守策略从根本上杜绝死锁的可能性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桌上只有</a:t>
            </a:r>
            <a:r>
              <a:rPr lang="en-US" altLang="zh-CN" dirty="0"/>
              <a:t>5</a:t>
            </a:r>
            <a:r>
              <a:rPr lang="zh-CN" altLang="en-US" dirty="0"/>
              <a:t>根筷子，因此最多支持</a:t>
            </a:r>
            <a:r>
              <a:rPr lang="en-US" altLang="zh-CN" dirty="0"/>
              <a:t>2</a:t>
            </a:r>
            <a:r>
              <a:rPr lang="zh-CN" altLang="en-US" dirty="0"/>
              <a:t>个哲学家试图吃饭</a:t>
            </a:r>
            <a:endParaRPr lang="en-US" altLang="zh-CN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0AA0A08-EFD1-4D28-8B2C-7169CF3DA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608" y="2506160"/>
            <a:ext cx="6264696" cy="3587136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6893EBA-520D-4A2F-AAD5-B7DA422E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4176" y="2420568"/>
            <a:ext cx="6264696" cy="374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ts val="1100"/>
              </a:lnSpc>
              <a:spcAft>
                <a:spcPct val="40000"/>
              </a:spcAft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#define   N   5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哲学家个数</a:t>
            </a:r>
            <a:endParaRPr lang="en-US" altLang="zh-CN" sz="1400" b="1" dirty="0">
              <a:solidFill>
                <a:srgbClr val="11576A"/>
              </a:solidFill>
              <a:latin typeface="+mn-ea"/>
              <a:ea typeface="+mn-ea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emaphore fork[5];                 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TW" altLang="en-US" sz="1400" b="1" dirty="0">
                <a:solidFill>
                  <a:srgbClr val="11576A"/>
                </a:solidFill>
                <a:latin typeface="+mn-ea"/>
                <a:ea typeface="+mn-ea"/>
              </a:rPr>
              <a:t>信号量初值为</a:t>
            </a:r>
            <a:r>
              <a:rPr lang="en-US" altLang="zh-TW" sz="1400" b="1" dirty="0">
                <a:solidFill>
                  <a:srgbClr val="11576A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semaphore   mutex;	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ea typeface="+mn-ea"/>
              </a:rPr>
              <a:t>吃饭人数，初值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endParaRPr lang="en-US" altLang="zh-CN" sz="1400" b="1" dirty="0">
              <a:solidFill>
                <a:srgbClr val="FF0000"/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void   philosopher(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哲学家编号：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0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－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4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while(TRUE){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think( 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哲学家在思考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P(</a:t>
            </a:r>
            <a:r>
              <a:rPr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);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进入临界区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P(fork[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去拿左边的叉子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P(fork[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去拿右边的叉子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eat( );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吃面条中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….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V(fork[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]);	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放下左边的叉子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V(fork[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+ 1) % N]); 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放下右边的叉子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V(</a:t>
            </a:r>
            <a:r>
              <a:rPr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);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                                  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  <a:ea typeface="+mn-ea"/>
              </a:rPr>
              <a:t>// 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  <a:ea typeface="+mn-ea"/>
              </a:rPr>
              <a:t>退出临界区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>
              <a:lnSpc>
                <a:spcPts val="1100"/>
              </a:lnSpc>
              <a:spcAft>
                <a:spcPct val="40000"/>
              </a:spcAft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1426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具有死锁预防属性的哲学家就餐问题求解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从资源管理的设计上消除死锁的可能性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资源剥夺：支持从别的哲学家手中抢筷子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使用管程：在等待另一支筷子的过程中，释放手中的筷子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注意：资源剥夺是需要</a:t>
            </a:r>
            <a:r>
              <a:rPr lang="en-US" altLang="zh-CN" dirty="0"/>
              <a:t>OS</a:t>
            </a:r>
            <a:r>
              <a:rPr lang="zh-CN" altLang="en-US" dirty="0"/>
              <a:t>提供支持的属性，因为资源分配后可以被夺走会让系统变得更复杂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1761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具有死锁避免属性的哲学家就餐问题求解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查看现阶段资源的分配情况决定接下来的资源分配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由操作系统控制进程的调度顺序避免进入可能的死锁区：银行家算法在信号量中的实现</a:t>
            </a:r>
            <a:endParaRPr lang="en-US" altLang="zh-CN" dirty="0"/>
          </a:p>
        </p:txBody>
      </p:sp>
      <p:sp>
        <p:nvSpPr>
          <p:cNvPr id="108" name="TextBox 56">
            <a:extLst>
              <a:ext uri="{FF2B5EF4-FFF2-40B4-BE49-F238E27FC236}">
                <a16:creationId xmlns:a16="http://schemas.microsoft.com/office/drawing/2014/main" id="{0F3AE84B-B24E-4A45-9659-C66EA72C9280}"/>
              </a:ext>
            </a:extLst>
          </p:cNvPr>
          <p:cNvSpPr txBox="1"/>
          <p:nvPr/>
        </p:nvSpPr>
        <p:spPr>
          <a:xfrm>
            <a:off x="2207568" y="521685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最大需求矩阵 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C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9" name="TextBox 122">
            <a:extLst>
              <a:ext uri="{FF2B5EF4-FFF2-40B4-BE49-F238E27FC236}">
                <a16:creationId xmlns:a16="http://schemas.microsoft.com/office/drawing/2014/main" id="{D1D8D57D-35ED-48B3-BEA3-29651F5B1565}"/>
              </a:ext>
            </a:extLst>
          </p:cNvPr>
          <p:cNvSpPr txBox="1"/>
          <p:nvPr/>
        </p:nvSpPr>
        <p:spPr>
          <a:xfrm>
            <a:off x="8083923" y="5228173"/>
            <a:ext cx="1379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系统资源向量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</a:rPr>
              <a:t>R</a:t>
            </a:r>
            <a:endParaRPr lang="zh-CN" altLang="en-US" sz="1400" b="1" dirty="0">
              <a:solidFill>
                <a:srgbClr val="11576A"/>
              </a:solidFill>
              <a:latin typeface="+mn-ea"/>
            </a:endParaRPr>
          </a:p>
        </p:txBody>
      </p:sp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7EAB25F4-CFD8-41D8-846A-EDECDA41D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091516"/>
              </p:ext>
            </p:extLst>
          </p:nvPr>
        </p:nvGraphicFramePr>
        <p:xfrm>
          <a:off x="7421796" y="4774689"/>
          <a:ext cx="2592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</a:tbl>
          </a:graphicData>
        </a:graphic>
      </p:graphicFrame>
      <p:sp>
        <p:nvSpPr>
          <p:cNvPr id="121" name="TextBox 37">
            <a:extLst>
              <a:ext uri="{FF2B5EF4-FFF2-40B4-BE49-F238E27FC236}">
                <a16:creationId xmlns:a16="http://schemas.microsoft.com/office/drawing/2014/main" id="{12502E6C-B09B-47C5-87C1-8671DA65E85A}"/>
              </a:ext>
            </a:extLst>
          </p:cNvPr>
          <p:cNvSpPr txBox="1"/>
          <p:nvPr/>
        </p:nvSpPr>
        <p:spPr>
          <a:xfrm>
            <a:off x="7468551" y="3861048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2" name="TextBox 37">
            <a:extLst>
              <a:ext uri="{FF2B5EF4-FFF2-40B4-BE49-F238E27FC236}">
                <a16:creationId xmlns:a16="http://schemas.microsoft.com/office/drawing/2014/main" id="{B19DFD8C-EE7A-43DD-9CD0-1D7B27809C13}"/>
              </a:ext>
            </a:extLst>
          </p:cNvPr>
          <p:cNvSpPr txBox="1"/>
          <p:nvPr/>
        </p:nvSpPr>
        <p:spPr>
          <a:xfrm>
            <a:off x="7999657" y="3861048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3" name="TextBox 37">
            <a:extLst>
              <a:ext uri="{FF2B5EF4-FFF2-40B4-BE49-F238E27FC236}">
                <a16:creationId xmlns:a16="http://schemas.microsoft.com/office/drawing/2014/main" id="{D34C6B29-BC55-4397-9CA5-6742E68E7D36}"/>
              </a:ext>
            </a:extLst>
          </p:cNvPr>
          <p:cNvSpPr txBox="1"/>
          <p:nvPr/>
        </p:nvSpPr>
        <p:spPr>
          <a:xfrm>
            <a:off x="8530763" y="3861048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4" name="TextBox 37">
            <a:extLst>
              <a:ext uri="{FF2B5EF4-FFF2-40B4-BE49-F238E27FC236}">
                <a16:creationId xmlns:a16="http://schemas.microsoft.com/office/drawing/2014/main" id="{5140F6E4-8E24-46CE-A634-5F6DD07335B8}"/>
              </a:ext>
            </a:extLst>
          </p:cNvPr>
          <p:cNvSpPr txBox="1"/>
          <p:nvPr/>
        </p:nvSpPr>
        <p:spPr>
          <a:xfrm>
            <a:off x="9061869" y="3861048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513299B2-9335-4A6B-A5A1-0B0129F2C9B6}"/>
              </a:ext>
            </a:extLst>
          </p:cNvPr>
          <p:cNvSpPr txBox="1"/>
          <p:nvPr/>
        </p:nvSpPr>
        <p:spPr>
          <a:xfrm>
            <a:off x="9592975" y="3861048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graphicFrame>
        <p:nvGraphicFramePr>
          <p:cNvPr id="126" name="表格 125">
            <a:extLst>
              <a:ext uri="{FF2B5EF4-FFF2-40B4-BE49-F238E27FC236}">
                <a16:creationId xmlns:a16="http://schemas.microsoft.com/office/drawing/2014/main" id="{F47968B7-931B-42BE-A52E-032FC9033824}"/>
              </a:ext>
            </a:extLst>
          </p:cNvPr>
          <p:cNvGraphicFramePr>
            <a:graphicFrameLocks noGrp="1"/>
          </p:cNvGraphicFramePr>
          <p:nvPr/>
        </p:nvGraphicFramePr>
        <p:xfrm>
          <a:off x="1847528" y="2996952"/>
          <a:ext cx="25922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0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8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3650"/>
                  </a:ext>
                </a:extLst>
              </a:tr>
            </a:tbl>
          </a:graphicData>
        </a:graphic>
      </p:graphicFrame>
      <p:sp>
        <p:nvSpPr>
          <p:cNvPr id="128" name="TextBox 40">
            <a:extLst>
              <a:ext uri="{FF2B5EF4-FFF2-40B4-BE49-F238E27FC236}">
                <a16:creationId xmlns:a16="http://schemas.microsoft.com/office/drawing/2014/main" id="{C6D7BFA2-495C-4584-A1AB-30C7960574ED}"/>
              </a:ext>
            </a:extLst>
          </p:cNvPr>
          <p:cNvSpPr txBox="1"/>
          <p:nvPr/>
        </p:nvSpPr>
        <p:spPr>
          <a:xfrm>
            <a:off x="767408" y="299695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9" name="TextBox 40">
            <a:extLst>
              <a:ext uri="{FF2B5EF4-FFF2-40B4-BE49-F238E27FC236}">
                <a16:creationId xmlns:a16="http://schemas.microsoft.com/office/drawing/2014/main" id="{241F70B0-BDDB-41FA-9299-92D0E4C1B49D}"/>
              </a:ext>
            </a:extLst>
          </p:cNvPr>
          <p:cNvSpPr txBox="1"/>
          <p:nvPr/>
        </p:nvSpPr>
        <p:spPr>
          <a:xfrm>
            <a:off x="767408" y="337892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0" name="TextBox 40">
            <a:extLst>
              <a:ext uri="{FF2B5EF4-FFF2-40B4-BE49-F238E27FC236}">
                <a16:creationId xmlns:a16="http://schemas.microsoft.com/office/drawing/2014/main" id="{3DE509D3-9B7F-44B8-972E-55BAF7750756}"/>
              </a:ext>
            </a:extLst>
          </p:cNvPr>
          <p:cNvSpPr txBox="1"/>
          <p:nvPr/>
        </p:nvSpPr>
        <p:spPr>
          <a:xfrm>
            <a:off x="767408" y="376089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1" name="TextBox 40">
            <a:extLst>
              <a:ext uri="{FF2B5EF4-FFF2-40B4-BE49-F238E27FC236}">
                <a16:creationId xmlns:a16="http://schemas.microsoft.com/office/drawing/2014/main" id="{CEF5C54F-27B9-448C-BD9B-7298822CAF13}"/>
              </a:ext>
            </a:extLst>
          </p:cNvPr>
          <p:cNvSpPr txBox="1"/>
          <p:nvPr/>
        </p:nvSpPr>
        <p:spPr>
          <a:xfrm>
            <a:off x="767408" y="414286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2" name="TextBox 40">
            <a:extLst>
              <a:ext uri="{FF2B5EF4-FFF2-40B4-BE49-F238E27FC236}">
                <a16:creationId xmlns:a16="http://schemas.microsoft.com/office/drawing/2014/main" id="{6A7BE9CC-7087-4AF5-A667-47AF71C9F71C}"/>
              </a:ext>
            </a:extLst>
          </p:cNvPr>
          <p:cNvSpPr txBox="1"/>
          <p:nvPr/>
        </p:nvSpPr>
        <p:spPr>
          <a:xfrm>
            <a:off x="767408" y="4524831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3" name="TextBox 37">
            <a:extLst>
              <a:ext uri="{FF2B5EF4-FFF2-40B4-BE49-F238E27FC236}">
                <a16:creationId xmlns:a16="http://schemas.microsoft.com/office/drawing/2014/main" id="{B6CD1000-E830-4B5C-9CB3-4A83D20F1AC5}"/>
              </a:ext>
            </a:extLst>
          </p:cNvPr>
          <p:cNvSpPr txBox="1"/>
          <p:nvPr/>
        </p:nvSpPr>
        <p:spPr>
          <a:xfrm>
            <a:off x="1902529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4" name="TextBox 37">
            <a:extLst>
              <a:ext uri="{FF2B5EF4-FFF2-40B4-BE49-F238E27FC236}">
                <a16:creationId xmlns:a16="http://schemas.microsoft.com/office/drawing/2014/main" id="{D39B2C02-0780-46AD-BEEA-ED3D013086C2}"/>
              </a:ext>
            </a:extLst>
          </p:cNvPr>
          <p:cNvSpPr txBox="1"/>
          <p:nvPr/>
        </p:nvSpPr>
        <p:spPr>
          <a:xfrm>
            <a:off x="2433635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5" name="TextBox 37">
            <a:extLst>
              <a:ext uri="{FF2B5EF4-FFF2-40B4-BE49-F238E27FC236}">
                <a16:creationId xmlns:a16="http://schemas.microsoft.com/office/drawing/2014/main" id="{830F7503-238E-4841-A935-7CCCDD1817AF}"/>
              </a:ext>
            </a:extLst>
          </p:cNvPr>
          <p:cNvSpPr txBox="1"/>
          <p:nvPr/>
        </p:nvSpPr>
        <p:spPr>
          <a:xfrm>
            <a:off x="2964741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6" name="TextBox 37">
            <a:extLst>
              <a:ext uri="{FF2B5EF4-FFF2-40B4-BE49-F238E27FC236}">
                <a16:creationId xmlns:a16="http://schemas.microsoft.com/office/drawing/2014/main" id="{28D2C180-1A5E-48A6-8966-D8E574C932BF}"/>
              </a:ext>
            </a:extLst>
          </p:cNvPr>
          <p:cNvSpPr txBox="1"/>
          <p:nvPr/>
        </p:nvSpPr>
        <p:spPr>
          <a:xfrm>
            <a:off x="3495847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37" name="TextBox 37">
            <a:extLst>
              <a:ext uri="{FF2B5EF4-FFF2-40B4-BE49-F238E27FC236}">
                <a16:creationId xmlns:a16="http://schemas.microsoft.com/office/drawing/2014/main" id="{C3085338-AEB6-41FA-A3D3-DD940C283C5B}"/>
              </a:ext>
            </a:extLst>
          </p:cNvPr>
          <p:cNvSpPr txBox="1"/>
          <p:nvPr/>
        </p:nvSpPr>
        <p:spPr>
          <a:xfrm>
            <a:off x="4026953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66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具有死锁避免属性的哲学家就餐问题求解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查看现阶段资源的分配情况决定接下来的资源分配</a:t>
            </a:r>
            <a:endParaRPr lang="en-US" alt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E3D89B8-7852-4A4C-95F7-3128CCBC0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12342"/>
              </p:ext>
            </p:extLst>
          </p:nvPr>
        </p:nvGraphicFramePr>
        <p:xfrm>
          <a:off x="1013501" y="2996952"/>
          <a:ext cx="25922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0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8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3650"/>
                  </a:ext>
                </a:extLst>
              </a:tr>
            </a:tbl>
          </a:graphicData>
        </a:graphic>
      </p:graphicFrame>
      <p:sp>
        <p:nvSpPr>
          <p:cNvPr id="108" name="TextBox 56">
            <a:extLst>
              <a:ext uri="{FF2B5EF4-FFF2-40B4-BE49-F238E27FC236}">
                <a16:creationId xmlns:a16="http://schemas.microsoft.com/office/drawing/2014/main" id="{0F3AE84B-B24E-4A45-9659-C66EA72C9280}"/>
              </a:ext>
            </a:extLst>
          </p:cNvPr>
          <p:cNvSpPr txBox="1"/>
          <p:nvPr/>
        </p:nvSpPr>
        <p:spPr>
          <a:xfrm>
            <a:off x="1535587" y="486338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最大需求矩阵 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C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09" name="TextBox 40">
            <a:extLst>
              <a:ext uri="{FF2B5EF4-FFF2-40B4-BE49-F238E27FC236}">
                <a16:creationId xmlns:a16="http://schemas.microsoft.com/office/drawing/2014/main" id="{374FC31A-156C-4AB2-8ADE-DAE56FAAA374}"/>
              </a:ext>
            </a:extLst>
          </p:cNvPr>
          <p:cNvSpPr txBox="1"/>
          <p:nvPr/>
        </p:nvSpPr>
        <p:spPr>
          <a:xfrm>
            <a:off x="-66619" y="299695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0" name="TextBox 40">
            <a:extLst>
              <a:ext uri="{FF2B5EF4-FFF2-40B4-BE49-F238E27FC236}">
                <a16:creationId xmlns:a16="http://schemas.microsoft.com/office/drawing/2014/main" id="{08A6FD70-D84F-4CCD-8696-830ED91DE560}"/>
              </a:ext>
            </a:extLst>
          </p:cNvPr>
          <p:cNvSpPr txBox="1"/>
          <p:nvPr/>
        </p:nvSpPr>
        <p:spPr>
          <a:xfrm>
            <a:off x="-66619" y="337892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1" name="TextBox 40">
            <a:extLst>
              <a:ext uri="{FF2B5EF4-FFF2-40B4-BE49-F238E27FC236}">
                <a16:creationId xmlns:a16="http://schemas.microsoft.com/office/drawing/2014/main" id="{1648A9E1-BB48-4FF2-8634-C8E554F4FE2D}"/>
              </a:ext>
            </a:extLst>
          </p:cNvPr>
          <p:cNvSpPr txBox="1"/>
          <p:nvPr/>
        </p:nvSpPr>
        <p:spPr>
          <a:xfrm>
            <a:off x="-66619" y="376089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2" name="TextBox 40">
            <a:extLst>
              <a:ext uri="{FF2B5EF4-FFF2-40B4-BE49-F238E27FC236}">
                <a16:creationId xmlns:a16="http://schemas.microsoft.com/office/drawing/2014/main" id="{28CFD0D5-C45D-442D-B213-752589D7A276}"/>
              </a:ext>
            </a:extLst>
          </p:cNvPr>
          <p:cNvSpPr txBox="1"/>
          <p:nvPr/>
        </p:nvSpPr>
        <p:spPr>
          <a:xfrm>
            <a:off x="-66619" y="4142862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3" name="TextBox 40">
            <a:extLst>
              <a:ext uri="{FF2B5EF4-FFF2-40B4-BE49-F238E27FC236}">
                <a16:creationId xmlns:a16="http://schemas.microsoft.com/office/drawing/2014/main" id="{738DD68E-F6DD-4A72-92D6-52A495F5D7FA}"/>
              </a:ext>
            </a:extLst>
          </p:cNvPr>
          <p:cNvSpPr txBox="1"/>
          <p:nvPr/>
        </p:nvSpPr>
        <p:spPr>
          <a:xfrm>
            <a:off x="-66619" y="4524831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4" name="TextBox 37">
            <a:extLst>
              <a:ext uri="{FF2B5EF4-FFF2-40B4-BE49-F238E27FC236}">
                <a16:creationId xmlns:a16="http://schemas.microsoft.com/office/drawing/2014/main" id="{9218F462-D456-4242-874F-679E3894BED9}"/>
              </a:ext>
            </a:extLst>
          </p:cNvPr>
          <p:cNvSpPr txBox="1"/>
          <p:nvPr/>
        </p:nvSpPr>
        <p:spPr>
          <a:xfrm>
            <a:off x="1068502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5" name="TextBox 37">
            <a:extLst>
              <a:ext uri="{FF2B5EF4-FFF2-40B4-BE49-F238E27FC236}">
                <a16:creationId xmlns:a16="http://schemas.microsoft.com/office/drawing/2014/main" id="{49B8EE15-AFB0-4905-8FAD-1B579C31A527}"/>
              </a:ext>
            </a:extLst>
          </p:cNvPr>
          <p:cNvSpPr txBox="1"/>
          <p:nvPr/>
        </p:nvSpPr>
        <p:spPr>
          <a:xfrm>
            <a:off x="1599608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6" name="TextBox 37">
            <a:extLst>
              <a:ext uri="{FF2B5EF4-FFF2-40B4-BE49-F238E27FC236}">
                <a16:creationId xmlns:a16="http://schemas.microsoft.com/office/drawing/2014/main" id="{091CB1F0-389A-4766-9AD8-09A3814BC0F8}"/>
              </a:ext>
            </a:extLst>
          </p:cNvPr>
          <p:cNvSpPr txBox="1"/>
          <p:nvPr/>
        </p:nvSpPr>
        <p:spPr>
          <a:xfrm>
            <a:off x="2130714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7" name="TextBox 37">
            <a:extLst>
              <a:ext uri="{FF2B5EF4-FFF2-40B4-BE49-F238E27FC236}">
                <a16:creationId xmlns:a16="http://schemas.microsoft.com/office/drawing/2014/main" id="{FF54C09D-A1A0-466D-A196-7B0BE24D7222}"/>
              </a:ext>
            </a:extLst>
          </p:cNvPr>
          <p:cNvSpPr txBox="1"/>
          <p:nvPr/>
        </p:nvSpPr>
        <p:spPr>
          <a:xfrm>
            <a:off x="2661820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8" name="TextBox 37">
            <a:extLst>
              <a:ext uri="{FF2B5EF4-FFF2-40B4-BE49-F238E27FC236}">
                <a16:creationId xmlns:a16="http://schemas.microsoft.com/office/drawing/2014/main" id="{EDE71DDF-8B1E-476E-A2FD-8A0C137F170B}"/>
              </a:ext>
            </a:extLst>
          </p:cNvPr>
          <p:cNvSpPr txBox="1"/>
          <p:nvPr/>
        </p:nvSpPr>
        <p:spPr>
          <a:xfrm>
            <a:off x="3192926" y="2215753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19" name="TextBox 122">
            <a:extLst>
              <a:ext uri="{FF2B5EF4-FFF2-40B4-BE49-F238E27FC236}">
                <a16:creationId xmlns:a16="http://schemas.microsoft.com/office/drawing/2014/main" id="{D1D8D57D-35ED-48B3-BEA3-29651F5B1565}"/>
              </a:ext>
            </a:extLst>
          </p:cNvPr>
          <p:cNvSpPr txBox="1"/>
          <p:nvPr/>
        </p:nvSpPr>
        <p:spPr>
          <a:xfrm>
            <a:off x="719165" y="6327808"/>
            <a:ext cx="1379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系统资源向量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</a:rPr>
              <a:t>R</a:t>
            </a:r>
            <a:endParaRPr lang="zh-CN" altLang="en-US" sz="1400" b="1" dirty="0">
              <a:solidFill>
                <a:srgbClr val="11576A"/>
              </a:solidFill>
              <a:latin typeface="+mn-ea"/>
            </a:endParaRPr>
          </a:p>
        </p:txBody>
      </p:sp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7EAB25F4-CFD8-41D8-846A-EDECDA41D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921454"/>
              </p:ext>
            </p:extLst>
          </p:nvPr>
        </p:nvGraphicFramePr>
        <p:xfrm>
          <a:off x="335360" y="5998825"/>
          <a:ext cx="2592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</a:tbl>
          </a:graphicData>
        </a:graphic>
      </p:graphicFrame>
      <p:sp>
        <p:nvSpPr>
          <p:cNvPr id="121" name="TextBox 37">
            <a:extLst>
              <a:ext uri="{FF2B5EF4-FFF2-40B4-BE49-F238E27FC236}">
                <a16:creationId xmlns:a16="http://schemas.microsoft.com/office/drawing/2014/main" id="{12502E6C-B09B-47C5-87C1-8671DA65E85A}"/>
              </a:ext>
            </a:extLst>
          </p:cNvPr>
          <p:cNvSpPr txBox="1"/>
          <p:nvPr/>
        </p:nvSpPr>
        <p:spPr>
          <a:xfrm>
            <a:off x="382115" y="5085184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2" name="TextBox 37">
            <a:extLst>
              <a:ext uri="{FF2B5EF4-FFF2-40B4-BE49-F238E27FC236}">
                <a16:creationId xmlns:a16="http://schemas.microsoft.com/office/drawing/2014/main" id="{B19DFD8C-EE7A-43DD-9CD0-1D7B27809C13}"/>
              </a:ext>
            </a:extLst>
          </p:cNvPr>
          <p:cNvSpPr txBox="1"/>
          <p:nvPr/>
        </p:nvSpPr>
        <p:spPr>
          <a:xfrm>
            <a:off x="913221" y="5085184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3" name="TextBox 37">
            <a:extLst>
              <a:ext uri="{FF2B5EF4-FFF2-40B4-BE49-F238E27FC236}">
                <a16:creationId xmlns:a16="http://schemas.microsoft.com/office/drawing/2014/main" id="{D34C6B29-BC55-4397-9CA5-6742E68E7D36}"/>
              </a:ext>
            </a:extLst>
          </p:cNvPr>
          <p:cNvSpPr txBox="1"/>
          <p:nvPr/>
        </p:nvSpPr>
        <p:spPr>
          <a:xfrm>
            <a:off x="1444327" y="5085184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4" name="TextBox 37">
            <a:extLst>
              <a:ext uri="{FF2B5EF4-FFF2-40B4-BE49-F238E27FC236}">
                <a16:creationId xmlns:a16="http://schemas.microsoft.com/office/drawing/2014/main" id="{5140F6E4-8E24-46CE-A634-5F6DD07335B8}"/>
              </a:ext>
            </a:extLst>
          </p:cNvPr>
          <p:cNvSpPr txBox="1"/>
          <p:nvPr/>
        </p:nvSpPr>
        <p:spPr>
          <a:xfrm>
            <a:off x="1975433" y="5085184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513299B2-9335-4A6B-A5A1-0B0129F2C9B6}"/>
              </a:ext>
            </a:extLst>
          </p:cNvPr>
          <p:cNvSpPr txBox="1"/>
          <p:nvPr/>
        </p:nvSpPr>
        <p:spPr>
          <a:xfrm>
            <a:off x="2506539" y="5085184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0DD1A151-E89B-4B23-B9AE-B108CA5FB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3824"/>
              </p:ext>
            </p:extLst>
          </p:nvPr>
        </p:nvGraphicFramePr>
        <p:xfrm>
          <a:off x="4943872" y="2952205"/>
          <a:ext cx="25922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0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8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3650"/>
                  </a:ext>
                </a:extLst>
              </a:tr>
            </a:tbl>
          </a:graphicData>
        </a:graphic>
      </p:graphicFrame>
      <p:sp>
        <p:nvSpPr>
          <p:cNvPr id="36" name="TextBox 56">
            <a:extLst>
              <a:ext uri="{FF2B5EF4-FFF2-40B4-BE49-F238E27FC236}">
                <a16:creationId xmlns:a16="http://schemas.microsoft.com/office/drawing/2014/main" id="{333BBD8C-28C2-40E4-9BC6-A8F49C115D77}"/>
              </a:ext>
            </a:extLst>
          </p:cNvPr>
          <p:cNvSpPr txBox="1"/>
          <p:nvPr/>
        </p:nvSpPr>
        <p:spPr>
          <a:xfrm>
            <a:off x="5495807" y="4855924"/>
            <a:ext cx="1372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已分配矩阵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A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F19C0CF0-8E15-4CB0-A148-60DB6F11C37C}"/>
              </a:ext>
            </a:extLst>
          </p:cNvPr>
          <p:cNvSpPr txBox="1"/>
          <p:nvPr/>
        </p:nvSpPr>
        <p:spPr>
          <a:xfrm>
            <a:off x="3863752" y="295220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6CB3EF25-8875-4F83-865C-A9501389F69E}"/>
              </a:ext>
            </a:extLst>
          </p:cNvPr>
          <p:cNvSpPr txBox="1"/>
          <p:nvPr/>
        </p:nvSpPr>
        <p:spPr>
          <a:xfrm>
            <a:off x="3863752" y="333417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12E22293-7BC4-4E4E-8F8C-B1A9A9FEAD23}"/>
              </a:ext>
            </a:extLst>
          </p:cNvPr>
          <p:cNvSpPr txBox="1"/>
          <p:nvPr/>
        </p:nvSpPr>
        <p:spPr>
          <a:xfrm>
            <a:off x="3863752" y="371614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7940D738-B9DB-474A-9C82-44B4152483F7}"/>
              </a:ext>
            </a:extLst>
          </p:cNvPr>
          <p:cNvSpPr txBox="1"/>
          <p:nvPr/>
        </p:nvSpPr>
        <p:spPr>
          <a:xfrm>
            <a:off x="3863752" y="409811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B9E9E5-0797-4AF6-8F87-E104CCDDC81C}"/>
              </a:ext>
            </a:extLst>
          </p:cNvPr>
          <p:cNvSpPr txBox="1"/>
          <p:nvPr/>
        </p:nvSpPr>
        <p:spPr>
          <a:xfrm>
            <a:off x="3863752" y="4480084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2" name="TextBox 37">
            <a:extLst>
              <a:ext uri="{FF2B5EF4-FFF2-40B4-BE49-F238E27FC236}">
                <a16:creationId xmlns:a16="http://schemas.microsoft.com/office/drawing/2014/main" id="{044AF934-5578-4166-80A1-7149785296EF}"/>
              </a:ext>
            </a:extLst>
          </p:cNvPr>
          <p:cNvSpPr txBox="1"/>
          <p:nvPr/>
        </p:nvSpPr>
        <p:spPr>
          <a:xfrm>
            <a:off x="4998873" y="217100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ABD1263D-4DCA-43F8-A493-7A7A4A51A8DE}"/>
              </a:ext>
            </a:extLst>
          </p:cNvPr>
          <p:cNvSpPr txBox="1"/>
          <p:nvPr/>
        </p:nvSpPr>
        <p:spPr>
          <a:xfrm>
            <a:off x="5529979" y="217100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4" name="TextBox 37">
            <a:extLst>
              <a:ext uri="{FF2B5EF4-FFF2-40B4-BE49-F238E27FC236}">
                <a16:creationId xmlns:a16="http://schemas.microsoft.com/office/drawing/2014/main" id="{D6F532BD-9656-4983-974C-EB3B22D0EA94}"/>
              </a:ext>
            </a:extLst>
          </p:cNvPr>
          <p:cNvSpPr txBox="1"/>
          <p:nvPr/>
        </p:nvSpPr>
        <p:spPr>
          <a:xfrm>
            <a:off x="6061085" y="217100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5" name="TextBox 37">
            <a:extLst>
              <a:ext uri="{FF2B5EF4-FFF2-40B4-BE49-F238E27FC236}">
                <a16:creationId xmlns:a16="http://schemas.microsoft.com/office/drawing/2014/main" id="{08394AF1-6DCB-4BD5-BF8F-D8A5025CE79A}"/>
              </a:ext>
            </a:extLst>
          </p:cNvPr>
          <p:cNvSpPr txBox="1"/>
          <p:nvPr/>
        </p:nvSpPr>
        <p:spPr>
          <a:xfrm>
            <a:off x="6592191" y="217100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73358FEA-DA5E-444B-82D5-93162986DEE8}"/>
              </a:ext>
            </a:extLst>
          </p:cNvPr>
          <p:cNvSpPr txBox="1"/>
          <p:nvPr/>
        </p:nvSpPr>
        <p:spPr>
          <a:xfrm>
            <a:off x="7123297" y="217100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FFF4A9C8-1189-4EFB-9D7A-204B9A8FA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217178"/>
              </p:ext>
            </p:extLst>
          </p:nvPr>
        </p:nvGraphicFramePr>
        <p:xfrm>
          <a:off x="9192347" y="2914055"/>
          <a:ext cx="25922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0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8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3650"/>
                  </a:ext>
                </a:extLst>
              </a:tr>
            </a:tbl>
          </a:graphicData>
        </a:graphic>
      </p:graphicFrame>
      <p:sp>
        <p:nvSpPr>
          <p:cNvPr id="48" name="TextBox 56">
            <a:extLst>
              <a:ext uri="{FF2B5EF4-FFF2-40B4-BE49-F238E27FC236}">
                <a16:creationId xmlns:a16="http://schemas.microsoft.com/office/drawing/2014/main" id="{C168CA8A-7818-4914-BFE7-47AE609B9860}"/>
              </a:ext>
            </a:extLst>
          </p:cNvPr>
          <p:cNvSpPr txBox="1"/>
          <p:nvPr/>
        </p:nvSpPr>
        <p:spPr>
          <a:xfrm>
            <a:off x="9744282" y="4817774"/>
            <a:ext cx="1806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当前请求矩阵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C-A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49" name="TextBox 40">
            <a:extLst>
              <a:ext uri="{FF2B5EF4-FFF2-40B4-BE49-F238E27FC236}">
                <a16:creationId xmlns:a16="http://schemas.microsoft.com/office/drawing/2014/main" id="{9E5DCF01-7E54-43B8-8EAC-845EB55D55ED}"/>
              </a:ext>
            </a:extLst>
          </p:cNvPr>
          <p:cNvSpPr txBox="1"/>
          <p:nvPr/>
        </p:nvSpPr>
        <p:spPr>
          <a:xfrm>
            <a:off x="8112227" y="291405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0" name="TextBox 40">
            <a:extLst>
              <a:ext uri="{FF2B5EF4-FFF2-40B4-BE49-F238E27FC236}">
                <a16:creationId xmlns:a16="http://schemas.microsoft.com/office/drawing/2014/main" id="{12F8CBB3-3280-4B89-8121-1A725FAB6602}"/>
              </a:ext>
            </a:extLst>
          </p:cNvPr>
          <p:cNvSpPr txBox="1"/>
          <p:nvPr/>
        </p:nvSpPr>
        <p:spPr>
          <a:xfrm>
            <a:off x="8112227" y="329602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EBDDD80F-801D-45BE-B387-AEB898448C4B}"/>
              </a:ext>
            </a:extLst>
          </p:cNvPr>
          <p:cNvSpPr txBox="1"/>
          <p:nvPr/>
        </p:nvSpPr>
        <p:spPr>
          <a:xfrm>
            <a:off x="8112227" y="367799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2" name="TextBox 40">
            <a:extLst>
              <a:ext uri="{FF2B5EF4-FFF2-40B4-BE49-F238E27FC236}">
                <a16:creationId xmlns:a16="http://schemas.microsoft.com/office/drawing/2014/main" id="{F726B102-DD52-45F5-A990-33FBC631CA6B}"/>
              </a:ext>
            </a:extLst>
          </p:cNvPr>
          <p:cNvSpPr txBox="1"/>
          <p:nvPr/>
        </p:nvSpPr>
        <p:spPr>
          <a:xfrm>
            <a:off x="8112227" y="4059965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3" name="TextBox 40">
            <a:extLst>
              <a:ext uri="{FF2B5EF4-FFF2-40B4-BE49-F238E27FC236}">
                <a16:creationId xmlns:a16="http://schemas.microsoft.com/office/drawing/2014/main" id="{3EF7AF1E-3F6D-4BF0-A56D-3FDEE87C0E85}"/>
              </a:ext>
            </a:extLst>
          </p:cNvPr>
          <p:cNvSpPr txBox="1"/>
          <p:nvPr/>
        </p:nvSpPr>
        <p:spPr>
          <a:xfrm>
            <a:off x="8112227" y="4441934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哲学家</a:t>
            </a:r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#4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C884FC9-AF87-43C8-86E7-B27FD6729019}"/>
              </a:ext>
            </a:extLst>
          </p:cNvPr>
          <p:cNvSpPr txBox="1"/>
          <p:nvPr/>
        </p:nvSpPr>
        <p:spPr>
          <a:xfrm>
            <a:off x="9247348" y="213285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ECA24067-A587-4AB3-B55B-9307D2BE4880}"/>
              </a:ext>
            </a:extLst>
          </p:cNvPr>
          <p:cNvSpPr txBox="1"/>
          <p:nvPr/>
        </p:nvSpPr>
        <p:spPr>
          <a:xfrm>
            <a:off x="9778454" y="213285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6" name="TextBox 37">
            <a:extLst>
              <a:ext uri="{FF2B5EF4-FFF2-40B4-BE49-F238E27FC236}">
                <a16:creationId xmlns:a16="http://schemas.microsoft.com/office/drawing/2014/main" id="{3DBF8CCB-44B6-4268-956A-A59121CA2876}"/>
              </a:ext>
            </a:extLst>
          </p:cNvPr>
          <p:cNvSpPr txBox="1"/>
          <p:nvPr/>
        </p:nvSpPr>
        <p:spPr>
          <a:xfrm>
            <a:off x="10309560" y="213285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1CF2F005-7158-4952-8A95-A7F1F8032CA5}"/>
              </a:ext>
            </a:extLst>
          </p:cNvPr>
          <p:cNvSpPr txBox="1"/>
          <p:nvPr/>
        </p:nvSpPr>
        <p:spPr>
          <a:xfrm>
            <a:off x="10840666" y="213285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2ADC3063-C733-4DFE-BDD1-98417E5EB5B5}"/>
              </a:ext>
            </a:extLst>
          </p:cNvPr>
          <p:cNvSpPr txBox="1"/>
          <p:nvPr/>
        </p:nvSpPr>
        <p:spPr>
          <a:xfrm>
            <a:off x="11371772" y="2132856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59" name="TextBox 122">
            <a:extLst>
              <a:ext uri="{FF2B5EF4-FFF2-40B4-BE49-F238E27FC236}">
                <a16:creationId xmlns:a16="http://schemas.microsoft.com/office/drawing/2014/main" id="{9DAAEEF1-A014-4809-8483-9269E0383947}"/>
              </a:ext>
            </a:extLst>
          </p:cNvPr>
          <p:cNvSpPr txBox="1"/>
          <p:nvPr/>
        </p:nvSpPr>
        <p:spPr>
          <a:xfrm>
            <a:off x="6925512" y="6287021"/>
            <a:ext cx="2749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系统可用资源向量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</a:rPr>
              <a:t>R-SUM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（</a:t>
            </a:r>
            <a:r>
              <a:rPr lang="en-US" altLang="zh-CN" sz="1400" b="1" dirty="0">
                <a:solidFill>
                  <a:srgbClr val="11576A"/>
                </a:solidFill>
                <a:latin typeface="+mn-ea"/>
              </a:rPr>
              <a:t>A</a:t>
            </a:r>
            <a:r>
              <a:rPr lang="zh-CN" altLang="en-US" sz="1400" b="1" dirty="0">
                <a:solidFill>
                  <a:srgbClr val="11576A"/>
                </a:solidFill>
                <a:latin typeface="+mn-ea"/>
              </a:rPr>
              <a:t>）</a:t>
            </a: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1A72A0BD-95F1-46ED-8E0C-CCD92EDE8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47941"/>
              </p:ext>
            </p:extLst>
          </p:nvPr>
        </p:nvGraphicFramePr>
        <p:xfrm>
          <a:off x="6983645" y="5916181"/>
          <a:ext cx="2592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57">
                  <a:extLst>
                    <a:ext uri="{9D8B030D-6E8A-4147-A177-3AD203B41FA5}">
                      <a16:colId xmlns:a16="http://schemas.microsoft.com/office/drawing/2014/main" val="2351211858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386044481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980998963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1021967424"/>
                    </a:ext>
                  </a:extLst>
                </a:gridCol>
                <a:gridCol w="518457">
                  <a:extLst>
                    <a:ext uri="{9D8B030D-6E8A-4147-A177-3AD203B41FA5}">
                      <a16:colId xmlns:a16="http://schemas.microsoft.com/office/drawing/2014/main" val="277657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67565"/>
                  </a:ext>
                </a:extLst>
              </a:tr>
            </a:tbl>
          </a:graphicData>
        </a:graphic>
      </p:graphicFrame>
      <p:sp>
        <p:nvSpPr>
          <p:cNvPr id="61" name="TextBox 37">
            <a:extLst>
              <a:ext uri="{FF2B5EF4-FFF2-40B4-BE49-F238E27FC236}">
                <a16:creationId xmlns:a16="http://schemas.microsoft.com/office/drawing/2014/main" id="{A5325484-1303-4652-8FB8-6BA4BBF4C6BA}"/>
              </a:ext>
            </a:extLst>
          </p:cNvPr>
          <p:cNvSpPr txBox="1"/>
          <p:nvPr/>
        </p:nvSpPr>
        <p:spPr>
          <a:xfrm>
            <a:off x="7030400" y="5002540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0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06952ACF-48AF-42A8-BC20-8015DD56C524}"/>
              </a:ext>
            </a:extLst>
          </p:cNvPr>
          <p:cNvSpPr txBox="1"/>
          <p:nvPr/>
        </p:nvSpPr>
        <p:spPr>
          <a:xfrm>
            <a:off x="7561506" y="5002540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1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8079280D-58F1-4A70-BF40-D7CE4D45102F}"/>
              </a:ext>
            </a:extLst>
          </p:cNvPr>
          <p:cNvSpPr txBox="1"/>
          <p:nvPr/>
        </p:nvSpPr>
        <p:spPr>
          <a:xfrm>
            <a:off x="8092612" y="5002540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2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64" name="TextBox 37">
            <a:extLst>
              <a:ext uri="{FF2B5EF4-FFF2-40B4-BE49-F238E27FC236}">
                <a16:creationId xmlns:a16="http://schemas.microsoft.com/office/drawing/2014/main" id="{18012970-999B-4102-B671-DC1560ACA7E8}"/>
              </a:ext>
            </a:extLst>
          </p:cNvPr>
          <p:cNvSpPr txBox="1"/>
          <p:nvPr/>
        </p:nvSpPr>
        <p:spPr>
          <a:xfrm>
            <a:off x="8623718" y="5002540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3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CC48DC1E-2246-4CA4-87F0-5CCB65ED6801}"/>
              </a:ext>
            </a:extLst>
          </p:cNvPr>
          <p:cNvSpPr txBox="1"/>
          <p:nvPr/>
        </p:nvSpPr>
        <p:spPr>
          <a:xfrm>
            <a:off x="9154824" y="5002540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筷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11576A"/>
                </a:solidFill>
                <a:latin typeface="+mn-ea"/>
              </a:rPr>
              <a:t>子</a:t>
            </a:r>
            <a:endParaRPr lang="en-US" altLang="zh-CN" sz="1600" b="1" dirty="0">
              <a:solidFill>
                <a:srgbClr val="11576A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11576A"/>
                </a:solidFill>
                <a:latin typeface="+mn-ea"/>
              </a:rPr>
              <a:t>4</a:t>
            </a:r>
            <a:endParaRPr lang="zh-CN" altLang="en-US" sz="1600" b="1" dirty="0">
              <a:solidFill>
                <a:srgbClr val="11576A"/>
              </a:solidFill>
              <a:latin typeface="+mn-ea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D41EC9C-BBA9-437F-808B-5BE356B9C867}"/>
              </a:ext>
            </a:extLst>
          </p:cNvPr>
          <p:cNvSpPr/>
          <p:nvPr/>
        </p:nvSpPr>
        <p:spPr bwMode="auto">
          <a:xfrm>
            <a:off x="11114676" y="3760892"/>
            <a:ext cx="957988" cy="16123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98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具有死锁避免属性的哲学家就餐问题求解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查看现阶段资源的分配情况决定接下来的资源分配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由操作系统控制进程的调度顺序避免进入可能的死锁区：银行家算法在信号量中的实现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站在</a:t>
            </a:r>
            <a:r>
              <a:rPr lang="en-US" altLang="zh-CN" dirty="0"/>
              <a:t>OS</a:t>
            </a:r>
            <a:r>
              <a:rPr lang="zh-CN" altLang="en-US" dirty="0"/>
              <a:t>的视角：程序调用</a:t>
            </a:r>
            <a:r>
              <a:rPr lang="en-US" altLang="zh-CN" dirty="0"/>
              <a:t>P</a:t>
            </a:r>
            <a:r>
              <a:rPr lang="zh-CN" altLang="en-US" dirty="0"/>
              <a:t>操作，表示对资源的需求；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                        OS</a:t>
            </a:r>
            <a:r>
              <a:rPr lang="zh-CN" altLang="en-US" dirty="0"/>
              <a:t>分配资源并让</a:t>
            </a:r>
            <a:r>
              <a:rPr lang="en-US" altLang="zh-CN" dirty="0"/>
              <a:t>P</a:t>
            </a:r>
            <a:r>
              <a:rPr lang="zh-CN" altLang="en-US" dirty="0"/>
              <a:t>操作返回，表示资源分配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因此，银行家算法的矩阵分析过程，应包括在</a:t>
            </a:r>
            <a:r>
              <a:rPr lang="en-US" altLang="zh-CN" dirty="0"/>
              <a:t>P</a:t>
            </a:r>
            <a:r>
              <a:rPr lang="zh-CN" altLang="en-US" dirty="0"/>
              <a:t>操作对应的代码中</a:t>
            </a:r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E2E689-292F-4F84-89DF-2DDBC1C75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20" y="3459651"/>
            <a:ext cx="6816080" cy="339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41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具有死锁避免属性的哲学家就餐问题求解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查看现阶段资源的分配情况决定接下来的资源分配：具备银行家算法的信号量</a:t>
            </a:r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164A2DB-7089-49EA-811E-D15997A8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16" y="3140968"/>
            <a:ext cx="4464495" cy="3539430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Semaphore::P()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while(1){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	</a:t>
            </a: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利用银行家算法判定是否可以分配；</a:t>
            </a:r>
            <a:endParaRPr lang="en-US" altLang="zh-CN" sz="16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if(</a:t>
            </a: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可以分配）</a:t>
            </a:r>
            <a:endParaRPr lang="en-US" altLang="zh-CN" sz="16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break;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else</a:t>
            </a:r>
          </a:p>
          <a:p>
            <a:pPr eaLnBrk="1" hangingPunct="1"/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this thread t to q;</a:t>
            </a:r>
            <a:endParaRPr lang="en-US" altLang="zh-CN" sz="16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buFont typeface="Monotype Sorts" charset="0"/>
              <a:buNone/>
            </a:pPr>
            <a:r>
              <a:rPr lang="zh-CN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if (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 0)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Add this thread t to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block(p);</a:t>
            </a:r>
          </a:p>
          <a:p>
            <a:pPr eaLnBrk="1" hangingPunct="1">
              <a:buFont typeface="Monotype Sorts" charset="0"/>
              <a:buNone/>
            </a:pP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B317CA1-7128-4AD8-98D9-68CFCF68E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3573016"/>
            <a:ext cx="4464496" cy="1815882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Semaphore::V()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++; 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if (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&lt;=0)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Remove a thread t from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wakeup(t);        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585C2DE-5388-4006-8CA5-1A51800F7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800" y="1989476"/>
            <a:ext cx="2200801" cy="1077218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classSemaphore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WaitQueue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4493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非资源死锁问题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两阶段加锁 </a:t>
            </a:r>
          </a:p>
          <a:p>
            <a:pPr lvl="1" eaLnBrk="1" hangingPunct="1"/>
            <a:r>
              <a:rPr lang="zh-CN" altLang="en-US" dirty="0"/>
              <a:t>对需要修改的数据：先请求加锁，再修改数据；若有一个数据已加锁，进程则释放所有加锁的记录。</a:t>
            </a:r>
          </a:p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通信死锁 </a:t>
            </a:r>
          </a:p>
          <a:p>
            <a:pPr lvl="1" eaLnBrk="1" hangingPunct="1"/>
            <a:r>
              <a:rPr lang="zh-CN" altLang="en-US" dirty="0"/>
              <a:t>通信中多个进程发送信息，但需要阻塞当前进程等待对方回复。若发送信息丢失，则死锁。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例如：分布式系统中的通信问题 </a:t>
            </a:r>
          </a:p>
          <a:p>
            <a:pPr lvl="1" eaLnBrk="1" hangingPunct="1"/>
            <a:r>
              <a:rPr lang="zh-CN" altLang="en-US" dirty="0"/>
              <a:t>解决办法：超时中断；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非资源死锁问题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活锁</a:t>
            </a:r>
          </a:p>
          <a:p>
            <a:pPr lvl="1" eaLnBrk="1" hangingPunct="1"/>
            <a:r>
              <a:rPr lang="zh-CN" altLang="en-US"/>
              <a:t>所谓活锁既是：进程没有死锁，但却无法运行下去，只是在不断的重复尝试，如冲突检测。</a:t>
            </a:r>
          </a:p>
          <a:p>
            <a:pPr eaLnBrk="1" hangingPunct="1"/>
            <a:r>
              <a:rPr lang="en-US" altLang="zh-CN"/>
              <a:t>4. </a:t>
            </a:r>
            <a:r>
              <a:rPr lang="zh-CN" altLang="en-US"/>
              <a:t>进程饿死</a:t>
            </a:r>
          </a:p>
          <a:p>
            <a:pPr lvl="1" eaLnBrk="1" hangingPunct="1"/>
            <a:r>
              <a:rPr lang="zh-CN" altLang="en-US"/>
              <a:t>由于条件限制使有些进程请求永远无法得到服务，进程被饿死。从饿死进程角度看，像是发生了死锁。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Graduate entrance examination sample</a:t>
            </a:r>
          </a:p>
        </p:txBody>
      </p:sp>
      <p:sp>
        <p:nvSpPr>
          <p:cNvPr id="4199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/>
              <a:t>北大</a:t>
            </a:r>
            <a:r>
              <a:rPr lang="en-US" altLang="zh-CN" sz="2400"/>
              <a:t>1997</a:t>
            </a:r>
            <a:r>
              <a:rPr lang="zh-CN" altLang="en-US" sz="2400"/>
              <a:t>年</a:t>
            </a:r>
            <a:r>
              <a:rPr lang="en-US" altLang="zh-CN" sz="2400"/>
              <a:t>OS</a:t>
            </a:r>
            <a:r>
              <a:rPr lang="zh-CN" altLang="en-US" sz="2400"/>
              <a:t>考研试题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系统中有三种资源（</a:t>
            </a:r>
            <a:r>
              <a:rPr lang="en-US" altLang="zh-CN" sz="2000"/>
              <a:t>A</a:t>
            </a:r>
            <a:r>
              <a:rPr lang="zh-CN" altLang="en-US" sz="2000"/>
              <a:t>，</a:t>
            </a:r>
            <a:r>
              <a:rPr lang="en-US" altLang="zh-CN" sz="2000"/>
              <a:t>B</a:t>
            </a:r>
            <a:r>
              <a:rPr lang="zh-CN" altLang="en-US" sz="2000"/>
              <a:t>，</a:t>
            </a:r>
            <a:r>
              <a:rPr lang="en-US" altLang="zh-CN" sz="2000"/>
              <a:t>C</a:t>
            </a:r>
            <a:r>
              <a:rPr lang="zh-CN" altLang="en-US" sz="2000"/>
              <a:t>）和</a:t>
            </a:r>
            <a:r>
              <a:rPr lang="en-US" altLang="zh-CN" sz="2000"/>
              <a:t>5</a:t>
            </a:r>
            <a:r>
              <a:rPr lang="zh-CN" altLang="en-US" sz="2000"/>
              <a:t>个进程</a:t>
            </a:r>
            <a:r>
              <a:rPr lang="en-US" altLang="zh-CN" sz="2000"/>
              <a:t>P1</a:t>
            </a:r>
            <a:r>
              <a:rPr lang="zh-CN" altLang="en-US" sz="2000"/>
              <a:t>～</a:t>
            </a:r>
            <a:r>
              <a:rPr lang="en-US" altLang="zh-CN" sz="2000"/>
              <a:t>P5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资源总数为（</a:t>
            </a:r>
            <a:r>
              <a:rPr lang="en-US" altLang="zh-CN" sz="2000"/>
              <a:t>17</a:t>
            </a:r>
            <a:r>
              <a:rPr lang="zh-CN" altLang="en-US" sz="2000"/>
              <a:t>，</a:t>
            </a:r>
            <a:r>
              <a:rPr lang="en-US" altLang="zh-CN" sz="2000"/>
              <a:t>5</a:t>
            </a:r>
            <a:r>
              <a:rPr lang="zh-CN" altLang="en-US" sz="2000"/>
              <a:t>，</a:t>
            </a:r>
            <a:r>
              <a:rPr lang="en-US" altLang="zh-CN" sz="2000"/>
              <a:t>20</a:t>
            </a:r>
            <a:r>
              <a:rPr lang="zh-CN" altLang="en-US" sz="2000"/>
              <a:t>），</a:t>
            </a:r>
            <a:r>
              <a:rPr lang="en-US" altLang="zh-CN" sz="2000"/>
              <a:t>T0</a:t>
            </a:r>
            <a:r>
              <a:rPr lang="zh-CN" altLang="en-US" sz="2000"/>
              <a:t>时刻系统状态如表所示，系统采用银行家算法实施死锁避免策略</a:t>
            </a:r>
          </a:p>
        </p:txBody>
      </p:sp>
      <p:graphicFrame>
        <p:nvGraphicFramePr>
          <p:cNvPr id="7" name="Group 186"/>
          <p:cNvGraphicFramePr>
            <a:graphicFrameLocks noGrp="1"/>
          </p:cNvGraphicFramePr>
          <p:nvPr/>
        </p:nvGraphicFramePr>
        <p:xfrm>
          <a:off x="2667000" y="3429000"/>
          <a:ext cx="7632700" cy="2560635"/>
        </p:xfrm>
        <a:graphic>
          <a:graphicData uri="http://schemas.openxmlformats.org/drawingml/2006/table">
            <a:tbl>
              <a:tblPr/>
              <a:tblGrid>
                <a:gridCol w="109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0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0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最大资源需求量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已分配资源量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Graduate entrance examination sample</a:t>
            </a:r>
          </a:p>
        </p:txBody>
      </p:sp>
      <p:sp>
        <p:nvSpPr>
          <p:cNvPr id="4301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¢"/>
            </a:pPr>
            <a:r>
              <a:rPr lang="zh-CN" altLang="en-US">
                <a:solidFill>
                  <a:schemeClr val="tx2"/>
                </a:solidFill>
              </a:rPr>
              <a:t>请解答以下问题：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</a:t>
            </a:r>
            <a:r>
              <a:rPr lang="en-US" altLang="zh-CN" sz="2000"/>
              <a:t>T0</a:t>
            </a:r>
            <a:r>
              <a:rPr lang="zh-CN" altLang="en-US" sz="2000"/>
              <a:t>时刻是否为安全状态？若是则给出安全序列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）在</a:t>
            </a:r>
            <a:r>
              <a:rPr lang="en-US" altLang="zh-CN" sz="2000"/>
              <a:t>T0</a:t>
            </a:r>
            <a:r>
              <a:rPr lang="zh-CN" altLang="en-US" sz="2000"/>
              <a:t>时刻</a:t>
            </a:r>
            <a:r>
              <a:rPr lang="en-US" altLang="zh-CN" sz="2000"/>
              <a:t>P2</a:t>
            </a:r>
            <a:r>
              <a:rPr lang="zh-CN" altLang="en-US" sz="2000"/>
              <a:t>请求资源（</a:t>
            </a:r>
            <a:r>
              <a:rPr lang="en-US" altLang="zh-CN" sz="2000"/>
              <a:t>0</a:t>
            </a:r>
            <a:r>
              <a:rPr lang="zh-CN" altLang="en-US" sz="2000"/>
              <a:t>，</a:t>
            </a:r>
            <a:r>
              <a:rPr lang="en-US" altLang="zh-CN" sz="2000"/>
              <a:t>3</a:t>
            </a:r>
            <a:r>
              <a:rPr lang="zh-CN" altLang="en-US" sz="2000"/>
              <a:t>，</a:t>
            </a:r>
            <a:r>
              <a:rPr lang="en-US" altLang="zh-CN" sz="2000"/>
              <a:t>4</a:t>
            </a:r>
            <a:r>
              <a:rPr lang="zh-CN" altLang="en-US" sz="2000"/>
              <a:t>），是否能够实施资源分配，为什么？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）在（</a:t>
            </a:r>
            <a:r>
              <a:rPr lang="en-US" altLang="zh-CN" sz="2000"/>
              <a:t>2</a:t>
            </a:r>
            <a:r>
              <a:rPr lang="zh-CN" altLang="en-US" sz="2000"/>
              <a:t>）的基础上，若</a:t>
            </a:r>
            <a:r>
              <a:rPr lang="en-US" altLang="zh-CN" sz="2000"/>
              <a:t>P4</a:t>
            </a:r>
            <a:r>
              <a:rPr lang="zh-CN" altLang="en-US" sz="2000"/>
              <a:t>请求资源（</a:t>
            </a:r>
            <a:r>
              <a:rPr lang="en-US" altLang="zh-CN" sz="2000"/>
              <a:t>2</a:t>
            </a:r>
            <a:r>
              <a:rPr lang="zh-CN" altLang="en-US" sz="2000"/>
              <a:t>，</a:t>
            </a:r>
            <a:r>
              <a:rPr lang="en-US" altLang="zh-CN" sz="2000"/>
              <a:t>0</a:t>
            </a:r>
            <a:r>
              <a:rPr lang="zh-CN" altLang="en-US" sz="2000"/>
              <a:t>，</a:t>
            </a:r>
            <a:r>
              <a:rPr lang="en-US" altLang="zh-CN" sz="2000"/>
              <a:t>1</a:t>
            </a:r>
            <a:r>
              <a:rPr lang="zh-CN" altLang="en-US" sz="2000"/>
              <a:t>），是否能够实施分配，为什么？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4</a:t>
            </a:r>
            <a:r>
              <a:rPr lang="zh-CN" altLang="en-US" sz="2000"/>
              <a:t>）在（</a:t>
            </a:r>
            <a:r>
              <a:rPr lang="en-US" altLang="zh-CN" sz="2000"/>
              <a:t>3</a:t>
            </a:r>
            <a:r>
              <a:rPr lang="zh-CN" altLang="en-US" sz="2000"/>
              <a:t>）的基础上，若</a:t>
            </a:r>
            <a:r>
              <a:rPr lang="en-US" altLang="zh-CN" sz="2000"/>
              <a:t>P1</a:t>
            </a:r>
            <a:r>
              <a:rPr lang="zh-CN" altLang="en-US" sz="2000"/>
              <a:t>请求资源（</a:t>
            </a:r>
            <a:r>
              <a:rPr lang="en-US" altLang="zh-CN" sz="2000"/>
              <a:t>0</a:t>
            </a:r>
            <a:r>
              <a:rPr lang="zh-CN" altLang="en-US" sz="2000"/>
              <a:t>，</a:t>
            </a:r>
            <a:r>
              <a:rPr lang="en-US" altLang="zh-CN" sz="2000"/>
              <a:t>2</a:t>
            </a:r>
            <a:r>
              <a:rPr lang="zh-CN" altLang="en-US" sz="2000"/>
              <a:t>，</a:t>
            </a:r>
            <a:r>
              <a:rPr lang="en-US" altLang="zh-CN" sz="2000"/>
              <a:t>0</a:t>
            </a:r>
            <a:r>
              <a:rPr lang="zh-CN" altLang="en-US" sz="2000"/>
              <a:t>），是否能够实施分配，为什么？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" name="页脚占位符 4"/>
          <p:cNvSpPr txBox="1">
            <a:spLocks noGrp="1"/>
          </p:cNvSpPr>
          <p:nvPr/>
        </p:nvSpPr>
        <p:spPr bwMode="auto">
          <a:xfrm>
            <a:off x="7467600" y="6508750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+mn-lt"/>
                <a:ea typeface="굴림" pitchFamily="50" charset="-127"/>
              </a:rPr>
              <a:t> </a:t>
            </a:r>
            <a:r>
              <a:rPr lang="en-US" altLang="zh-CN" sz="1200" b="1" dirty="0" err="1">
                <a:solidFill>
                  <a:schemeClr val="bg1"/>
                </a:solidFill>
                <a:latin typeface="+mn-lt"/>
                <a:ea typeface="굴림" pitchFamily="50" charset="-127"/>
              </a:rPr>
              <a:t>NanKai</a:t>
            </a:r>
            <a:r>
              <a:rPr lang="en-US" altLang="zh-CN" sz="1200" b="1" dirty="0">
                <a:solidFill>
                  <a:schemeClr val="bg1"/>
                </a:solidFill>
                <a:latin typeface="+mn-lt"/>
                <a:ea typeface="굴림" pitchFamily="50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49159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254A9D6-6719-4B16-9FA7-E5010B5B075B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3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1224" y="2549756"/>
            <a:ext cx="10369551" cy="8921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</a:rPr>
            </a:br>
            <a:r>
              <a:rPr lang="en-US" altLang="zh-CN" sz="5400" i="1" dirty="0">
                <a:solidFill>
                  <a:srgbClr val="993300"/>
                </a:solidFill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/>
              <a:cs typeface="굴림"/>
            </a:endParaRPr>
          </a:p>
        </p:txBody>
      </p:sp>
      <p:sp>
        <p:nvSpPr>
          <p:cNvPr id="3" name="日期占位符 3"/>
          <p:cNvSpPr txBox="1">
            <a:spLocks noGrp="1"/>
          </p:cNvSpPr>
          <p:nvPr/>
        </p:nvSpPr>
        <p:spPr bwMode="auto">
          <a:xfrm>
            <a:off x="2501900" y="6508750"/>
            <a:ext cx="2514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Operating System</a:t>
            </a:r>
            <a:endParaRPr lang="en-US" altLang="ko-KR" sz="1200" b="1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4" name="页脚占位符 4"/>
          <p:cNvSpPr txBox="1">
            <a:spLocks noGrp="1"/>
          </p:cNvSpPr>
          <p:nvPr/>
        </p:nvSpPr>
        <p:spPr bwMode="auto">
          <a:xfrm>
            <a:off x="7752184" y="6524876"/>
            <a:ext cx="28956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 </a:t>
            </a:r>
            <a:r>
              <a:rPr lang="en-US" altLang="zh-CN" sz="1200" b="1" dirty="0" err="1">
                <a:solidFill>
                  <a:schemeClr val="bg1"/>
                </a:solidFill>
                <a:latin typeface="+mn-lt"/>
                <a:ea typeface="굴림" pitchFamily="50" charset="-127"/>
              </a:rPr>
              <a:t>NanKai</a:t>
            </a:r>
            <a:r>
              <a:rPr lang="en-US" altLang="zh-CN" sz="1200" b="1" dirty="0">
                <a:solidFill>
                  <a:schemeClr val="bg1"/>
                </a:solidFill>
                <a:latin typeface="+mn-lt"/>
                <a:ea typeface="굴림" pitchFamily="50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+mn-lt"/>
              <a:ea typeface="굴림" pitchFamily="50" charset="-127"/>
            </a:endParaRPr>
          </a:p>
        </p:txBody>
      </p:sp>
      <p:sp>
        <p:nvSpPr>
          <p:cNvPr id="50182" name="灯片编号占位符 5"/>
          <p:cNvSpPr txBox="1">
            <a:spLocks noGrp="1"/>
          </p:cNvSpPr>
          <p:nvPr/>
        </p:nvSpPr>
        <p:spPr bwMode="auto">
          <a:xfrm>
            <a:off x="5186363" y="650875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A4A5F60-C088-4DA2-9B2A-680C4C74FF7F}" type="slidenum">
              <a:rPr lang="en-US" altLang="ko-KR" sz="1200" b="1">
                <a:solidFill>
                  <a:schemeClr val="bg1"/>
                </a:solidFill>
                <a:ea typeface="굴림"/>
                <a:cs typeface="굴림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ko-KR" sz="1200" b="1">
              <a:solidFill>
                <a:schemeClr val="bg1"/>
              </a:solidFill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3089</Words>
  <Application>Microsoft Office PowerPoint</Application>
  <PresentationFormat>宽屏</PresentationFormat>
  <Paragraphs>663</Paragraphs>
  <Slides>41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굴림</vt:lpstr>
      <vt:lpstr>Monotype Sorts</vt:lpstr>
      <vt:lpstr>MS PGothic</vt:lpstr>
      <vt:lpstr>等线</vt:lpstr>
      <vt:lpstr>等线 Light</vt:lpstr>
      <vt:lpstr>喵呜黑体</vt:lpstr>
      <vt:lpstr>宋体</vt:lpstr>
      <vt:lpstr>微软雅黑</vt:lpstr>
      <vt:lpstr>张海山锐谐体2.0-授权联系：Samtype@QQ.com</vt:lpstr>
      <vt:lpstr>Arial</vt:lpstr>
      <vt:lpstr>Courier New</vt:lpstr>
      <vt:lpstr>Symbol</vt:lpstr>
      <vt:lpstr>Tahoma</vt:lpstr>
      <vt:lpstr>Times New Roman</vt:lpstr>
      <vt:lpstr>Verdana</vt:lpstr>
      <vt:lpstr>Wingdings</vt:lpstr>
      <vt:lpstr>2_psh3_Print</vt:lpstr>
      <vt:lpstr>Office 主题​​</vt:lpstr>
      <vt:lpstr>Visio</vt:lpstr>
      <vt:lpstr>操作系统</vt:lpstr>
      <vt:lpstr>章节9：死锁（Deadlock） </vt:lpstr>
      <vt:lpstr>Description of Dead Lock</vt:lpstr>
      <vt:lpstr>Analysis of Dead Lock</vt:lpstr>
      <vt:lpstr>Analysis of Dead Lock</vt:lpstr>
      <vt:lpstr>Sample of Dead Lock</vt:lpstr>
      <vt:lpstr>How to resolve dead lock problem</vt:lpstr>
      <vt:lpstr>Dead lock prevention</vt:lpstr>
      <vt:lpstr>PowerPoint 演示文稿</vt:lpstr>
      <vt:lpstr>Dead lock avoidance</vt:lpstr>
      <vt:lpstr>Resource allocation track</vt:lpstr>
      <vt:lpstr>Banker algorithm: simple condition</vt:lpstr>
      <vt:lpstr>Banker algorithm: simple condition</vt:lpstr>
      <vt:lpstr>Banker algorithm: complex condition</vt:lpstr>
      <vt:lpstr>Banker algorithm: complex condition</vt:lpstr>
      <vt:lpstr>示例</vt:lpstr>
      <vt:lpstr>示例</vt:lpstr>
      <vt:lpstr>示例</vt:lpstr>
      <vt:lpstr>示例</vt:lpstr>
      <vt:lpstr>PowerPoint 演示文稿</vt:lpstr>
      <vt:lpstr>Dead lock detection and recovery</vt:lpstr>
      <vt:lpstr>Deadlock Detection</vt:lpstr>
      <vt:lpstr>Deadlock Detection</vt:lpstr>
      <vt:lpstr>Deadlock Detection</vt:lpstr>
      <vt:lpstr>Dead lock detection and recovery</vt:lpstr>
      <vt:lpstr>PowerPoint 演示文稿</vt:lpstr>
      <vt:lpstr>示例: 哲学家就餐题的死锁问题</vt:lpstr>
      <vt:lpstr>常见错误解法</vt:lpstr>
      <vt:lpstr>具有死锁预防属性的哲学家就餐问题求解</vt:lpstr>
      <vt:lpstr>具有死锁预防属性的哲学家就餐问题求解</vt:lpstr>
      <vt:lpstr>具有死锁预防属性的哲学家就餐问题求解</vt:lpstr>
      <vt:lpstr>具有死锁预防属性的哲学家就餐问题求解</vt:lpstr>
      <vt:lpstr>具有死锁避免属性的哲学家就餐问题求解</vt:lpstr>
      <vt:lpstr>具有死锁避免属性的哲学家就餐问题求解</vt:lpstr>
      <vt:lpstr>具有死锁避免属性的哲学家就餐问题求解</vt:lpstr>
      <vt:lpstr>具有死锁避免属性的哲学家就餐问题求解</vt:lpstr>
      <vt:lpstr>非资源死锁问题</vt:lpstr>
      <vt:lpstr>非资源死锁问题</vt:lpstr>
      <vt:lpstr>Graduate entrance examination sample</vt:lpstr>
      <vt:lpstr>Graduate entrance examination sample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2026-01-14T10:29:27Z</dcterms:created>
  <dcterms:modified xsi:type="dcterms:W3CDTF">2026-01-14T10:29:34Z</dcterms:modified>
</cp:coreProperties>
</file>