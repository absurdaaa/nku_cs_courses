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6" r:id="rId1"/>
    <p:sldMasterId id="2147484007" r:id="rId2"/>
  </p:sldMasterIdLst>
  <p:notesMasterIdLst>
    <p:notesMasterId r:id="rId25"/>
  </p:notesMasterIdLst>
  <p:handoutMasterIdLst>
    <p:handoutMasterId r:id="rId26"/>
  </p:handoutMasterIdLst>
  <p:sldIdLst>
    <p:sldId id="1962" r:id="rId3"/>
    <p:sldId id="539" r:id="rId4"/>
    <p:sldId id="679" r:id="rId5"/>
    <p:sldId id="716" r:id="rId6"/>
    <p:sldId id="680" r:id="rId7"/>
    <p:sldId id="678" r:id="rId8"/>
    <p:sldId id="520" r:id="rId9"/>
    <p:sldId id="548" r:id="rId10"/>
    <p:sldId id="549" r:id="rId11"/>
    <p:sldId id="700" r:id="rId12"/>
    <p:sldId id="523" r:id="rId13"/>
    <p:sldId id="590" r:id="rId14"/>
    <p:sldId id="571" r:id="rId15"/>
    <p:sldId id="593" r:id="rId16"/>
    <p:sldId id="572" r:id="rId17"/>
    <p:sldId id="573" r:id="rId18"/>
    <p:sldId id="525" r:id="rId19"/>
    <p:sldId id="594" r:id="rId20"/>
    <p:sldId id="526" r:id="rId21"/>
    <p:sldId id="684" r:id="rId22"/>
    <p:sldId id="685" r:id="rId23"/>
    <p:sldId id="281" r:id="rId24"/>
  </p:sldIdLst>
  <p:sldSz cx="12192000" cy="6858000"/>
  <p:notesSz cx="6858000" cy="9144000"/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CC"/>
    <a:srgbClr val="F5ED5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6" autoAdjust="0"/>
    <p:restoredTop sz="85198" autoAdjust="0"/>
  </p:normalViewPr>
  <p:slideViewPr>
    <p:cSldViewPr>
      <p:cViewPr varScale="1">
        <p:scale>
          <a:sx n="100" d="100"/>
          <a:sy n="100" d="100"/>
        </p:scale>
        <p:origin x="1094" y="67"/>
      </p:cViewPr>
      <p:guideLst>
        <p:guide orient="horz" pos="1253"/>
        <p:guide pos="3840"/>
        <p:guide pos="801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3F76284-487D-4B32-B3F6-3D37AE83692A}" type="datetimeFigureOut">
              <a:rPr lang="zh-CN" altLang="en-US"/>
              <a:pPr>
                <a:defRPr/>
              </a:pPr>
              <a:t>2025/11/4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fld id="{A4E10AC0-FECC-4ECE-891D-19BC0B63CF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BA1F4EE4-25C1-46B1-B6E5-29A9C72CD7E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206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196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189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156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zh-CN" altLang="en-US">
              <a:latin typeface="Times New Roman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1" y="1125541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1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24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ko-KR"/>
              <a:t>CITS, NanKai University</a:t>
            </a:r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80AC5814-5CA3-408A-9260-AC574452359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654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C044BFF-DA73-B2DC-D4E6-79A2C4F0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1368730-9EB3-86DF-BD43-AB15442B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D3EEC6D0-8677-62EF-AB76-B3721D78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6A1D22-F226-2837-E96B-AC2D7456820F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1" name="任意多边形: 形状 7">
              <a:extLst>
                <a:ext uri="{FF2B5EF4-FFF2-40B4-BE49-F238E27FC236}">
                  <a16:creationId xmlns:a16="http://schemas.microsoft.com/office/drawing/2014/main" id="{320E78A4-DE66-1852-88CE-6FEC79FE3E9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248046D-045F-9729-1D7F-A91B22E59859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15A3F2A-AA50-551B-D74F-1487BE07C97D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34694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047D318-0735-D6D7-2CB5-20C27003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7BE5FA1D-8EE8-17E5-156A-769E04D6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8D14A260-67EA-A87F-D3B1-B2AFB0BC8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77B53-9D60-4EF3-F62B-E9B317775EC6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14668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6E8D8FA-1FAA-4669-85F5-1369F8E4458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721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0955442-AAEE-48F5-88BF-6994C81C4C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77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8B4222E-8486-448E-BA6C-05363C5A46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26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3E5303B-8A3A-477A-93B0-1543526987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148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5E38285-AEC6-4325-9BE2-2498450B005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837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C9F6213-1008-42A4-9F93-64A8F44EA9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5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8C574B0-1D19-44D2-9C7D-BFE3A871EA3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978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2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2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EE4EC84-1CEF-40C2-8964-DC7BA04E7DD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81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DE58688-3171-448B-A580-A5C9113ABB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4612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0BDD75-9BC1-4A9E-ACFE-5450CC20E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2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A41AEB2E-625B-4C0D-9F33-3B197CFCF6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7003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3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748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3807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76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247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5999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38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7685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97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174A42-3524-63A3-2C79-B40655B149AB}"/>
              </a:ext>
            </a:extLst>
          </p:cNvPr>
          <p:cNvSpPr/>
          <p:nvPr userDrawn="1"/>
        </p:nvSpPr>
        <p:spPr>
          <a:xfrm>
            <a:off x="0" y="6536157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82ECCF-C647-0675-D5C5-33E981887A80}"/>
              </a:ext>
            </a:extLst>
          </p:cNvPr>
          <p:cNvSpPr/>
          <p:nvPr userDrawn="1"/>
        </p:nvSpPr>
        <p:spPr>
          <a:xfrm>
            <a:off x="-1" y="-2802"/>
            <a:ext cx="12191365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6FE44C-1956-4BCB-8017-E97870A07C1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5" r:id="rId2"/>
    <p:sldLayoutId id="2147484004" r:id="rId3"/>
    <p:sldLayoutId id="2147484003" r:id="rId4"/>
    <p:sldLayoutId id="2147484002" r:id="rId5"/>
    <p:sldLayoutId id="2147484001" r:id="rId6"/>
    <p:sldLayoutId id="2147484000" r:id="rId7"/>
    <p:sldLayoutId id="2147483999" r:id="rId8"/>
    <p:sldLayoutId id="2147483998" r:id="rId9"/>
    <p:sldLayoutId id="2147483997" r:id="rId10"/>
    <p:sldLayoutId id="2147483996" r:id="rId11"/>
    <p:sldLayoutId id="214748399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1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：文件管理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</p:txBody>
      </p:sp>
      <p:pic>
        <p:nvPicPr>
          <p:cNvPr id="43012" name="Picture 4" descr="文件乱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755" y="1656029"/>
            <a:ext cx="3240088" cy="228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3" name="Picture 5" descr="文件乱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93" t="8954" r="493" b="9141"/>
          <a:stretch/>
        </p:blipFill>
        <p:spPr bwMode="auto">
          <a:xfrm>
            <a:off x="1919536" y="4044213"/>
            <a:ext cx="3218287" cy="22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4" name="Picture 6" descr="文件夹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03" y="1656028"/>
            <a:ext cx="2553241" cy="228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5" name="Picture 7" descr="文件夹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" t="6762" r="-37" b="11140"/>
          <a:stretch/>
        </p:blipFill>
        <p:spPr bwMode="auto">
          <a:xfrm>
            <a:off x="6384032" y="4118171"/>
            <a:ext cx="3456384" cy="212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A64A4B-0BBB-1336-E6ED-E978D557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31902-324B-4A3C-9E83-A286EAB4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3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4E8685C-9627-4882-975A-DE722EDB5DB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现代人眼中的文件是什么</a:t>
            </a:r>
          </a:p>
        </p:txBody>
      </p:sp>
      <p:pic>
        <p:nvPicPr>
          <p:cNvPr id="79874" name="Picture 2">
            <a:extLst>
              <a:ext uri="{FF2B5EF4-FFF2-40B4-BE49-F238E27FC236}">
                <a16:creationId xmlns:a16="http://schemas.microsoft.com/office/drawing/2014/main" id="{7663060B-86D2-45B6-8C9F-03231A75CD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5109" y="1570038"/>
            <a:ext cx="5801782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71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4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Physical Structure of Disk </a:t>
            </a:r>
            <a:endParaRPr lang="zh-CN" altLang="en-US" dirty="0"/>
          </a:p>
        </p:txBody>
      </p:sp>
      <p:sp>
        <p:nvSpPr>
          <p:cNvPr id="7" name="圆柱形 6"/>
          <p:cNvSpPr/>
          <p:nvPr/>
        </p:nvSpPr>
        <p:spPr>
          <a:xfrm>
            <a:off x="5937840" y="4114803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8" name="立方体 7"/>
          <p:cNvSpPr/>
          <p:nvPr/>
        </p:nvSpPr>
        <p:spPr>
          <a:xfrm rot="420000">
            <a:off x="6449572" y="4245385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34936" y="3906514"/>
            <a:ext cx="2307297" cy="395286"/>
          </a:xfrm>
          <a:prstGeom prst="ellipse">
            <a:avLst/>
          </a:prstGeom>
          <a:gradFill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84963" y="3963282"/>
            <a:ext cx="1010175" cy="255953"/>
            <a:chOff x="2466960" y="1640130"/>
            <a:chExt cx="1643074" cy="416314"/>
          </a:xfrm>
          <a:gradFill>
            <a:gsLst>
              <a:gs pos="100000">
                <a:srgbClr val="33FFFF"/>
              </a:gs>
              <a:gs pos="0">
                <a:srgbClr val="CC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11" name="椭圆 10"/>
            <p:cNvSpPr/>
            <p:nvPr/>
          </p:nvSpPr>
          <p:spPr>
            <a:xfrm>
              <a:off x="2466960" y="1649892"/>
              <a:ext cx="1643074" cy="406552"/>
            </a:xfrm>
            <a:prstGeom prst="ellips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rot="4500000" flipH="1" flipV="1">
              <a:off x="3003058" y="1707175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2280000" flipH="1" flipV="1">
              <a:off x="2781696" y="1731923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740000" flipH="1" flipV="1">
              <a:off x="2584262" y="1780015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27" idx="2"/>
              <a:endCxn id="11" idx="2"/>
            </p:cNvCxnSpPr>
            <p:nvPr/>
          </p:nvCxnSpPr>
          <p:spPr>
            <a:xfrm flipH="1" flipV="1">
              <a:off x="2466960" y="1853169"/>
              <a:ext cx="209552" cy="9439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0800000">
              <a:off x="3889370" y="1853084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1740000" flipH="1" flipV="1">
              <a:off x="3712903" y="1968219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2880000" flipH="1" flipV="1">
              <a:off x="3522935" y="1998150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rot="16200000" flipH="1">
              <a:off x="3265796" y="2013105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720000" flipH="1" flipV="1">
              <a:off x="3848956" y="1918734"/>
              <a:ext cx="180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17040000" flipH="1">
              <a:off x="3005278" y="2003580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rot="19020000" flipH="1">
              <a:off x="2771543" y="1978336"/>
              <a:ext cx="108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20280000" flipH="1">
              <a:off x="2583976" y="1933320"/>
              <a:ext cx="144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rot="7980000" flipH="1" flipV="1">
              <a:off x="3465822" y="1711336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7980000" flipH="1" flipV="1">
              <a:off x="3664702" y="1735810"/>
              <a:ext cx="126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8880000" flipH="1" flipV="1">
              <a:off x="3815184" y="1772329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椭圆 26"/>
          <p:cNvSpPr/>
          <p:nvPr/>
        </p:nvSpPr>
        <p:spPr>
          <a:xfrm>
            <a:off x="5613797" y="4034179"/>
            <a:ext cx="746651" cy="1317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28" name="圆柱形 27"/>
          <p:cNvSpPr/>
          <p:nvPr/>
        </p:nvSpPr>
        <p:spPr>
          <a:xfrm>
            <a:off x="5937840" y="3659589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29" name="立方体 28"/>
          <p:cNvSpPr/>
          <p:nvPr/>
        </p:nvSpPr>
        <p:spPr>
          <a:xfrm rot="420000">
            <a:off x="6449572" y="3635180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34936" y="3296310"/>
            <a:ext cx="2307297" cy="395286"/>
          </a:xfrm>
          <a:prstGeom prst="ellipse">
            <a:avLst/>
          </a:prstGeom>
          <a:gradFill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484963" y="3353077"/>
            <a:ext cx="1010175" cy="255953"/>
            <a:chOff x="2466960" y="1640130"/>
            <a:chExt cx="1643074" cy="416314"/>
          </a:xfrm>
          <a:gradFill>
            <a:gsLst>
              <a:gs pos="100000">
                <a:srgbClr val="33FFFF"/>
              </a:gs>
              <a:gs pos="0">
                <a:srgbClr val="CC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32" name="椭圆 31"/>
            <p:cNvSpPr/>
            <p:nvPr/>
          </p:nvSpPr>
          <p:spPr>
            <a:xfrm>
              <a:off x="2466960" y="1649892"/>
              <a:ext cx="1643074" cy="406552"/>
            </a:xfrm>
            <a:prstGeom prst="ellips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 rot="4500000" flipH="1" flipV="1">
              <a:off x="3003058" y="1707175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2280000" flipH="1" flipV="1">
              <a:off x="2781696" y="1731923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rot="1740000" flipH="1" flipV="1">
              <a:off x="2584262" y="1780015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48" idx="2"/>
              <a:endCxn id="32" idx="2"/>
            </p:cNvCxnSpPr>
            <p:nvPr/>
          </p:nvCxnSpPr>
          <p:spPr>
            <a:xfrm flipH="1" flipV="1">
              <a:off x="2466960" y="1853169"/>
              <a:ext cx="209552" cy="9439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rot="10800000">
              <a:off x="3889370" y="1853084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rot="1740000" flipH="1" flipV="1">
              <a:off x="3712903" y="1968219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rot="2880000" flipH="1" flipV="1">
              <a:off x="3522935" y="1998150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rot="16200000" flipH="1">
              <a:off x="3265796" y="2013105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rot="720000" flipH="1" flipV="1">
              <a:off x="3848956" y="1918734"/>
              <a:ext cx="180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rot="17040000" flipH="1">
              <a:off x="3005278" y="2003580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 rot="19020000" flipH="1">
              <a:off x="2771543" y="1978336"/>
              <a:ext cx="108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rot="20280000" flipH="1">
              <a:off x="2583976" y="1933320"/>
              <a:ext cx="144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rot="7980000" flipH="1" flipV="1">
              <a:off x="3465822" y="1711336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7980000" flipH="1" flipV="1">
              <a:off x="3664702" y="1735810"/>
              <a:ext cx="126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rot="8880000" flipH="1" flipV="1">
              <a:off x="3815184" y="1772329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椭圆 47"/>
          <p:cNvSpPr/>
          <p:nvPr/>
        </p:nvSpPr>
        <p:spPr>
          <a:xfrm>
            <a:off x="5613797" y="3423974"/>
            <a:ext cx="746651" cy="1317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49" name="圆柱形 48"/>
          <p:cNvSpPr/>
          <p:nvPr/>
        </p:nvSpPr>
        <p:spPr>
          <a:xfrm>
            <a:off x="5937840" y="3049385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50" name="立方体 49"/>
          <p:cNvSpPr/>
          <p:nvPr/>
        </p:nvSpPr>
        <p:spPr>
          <a:xfrm rot="420000">
            <a:off x="6449572" y="3028690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834936" y="2689820"/>
            <a:ext cx="2307297" cy="395286"/>
          </a:xfrm>
          <a:prstGeom prst="ellipse">
            <a:avLst/>
          </a:prstGeom>
          <a:gradFill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484963" y="2746587"/>
            <a:ext cx="1010175" cy="255953"/>
            <a:chOff x="2466960" y="1640130"/>
            <a:chExt cx="1643074" cy="416314"/>
          </a:xfrm>
          <a:gradFill>
            <a:gsLst>
              <a:gs pos="100000">
                <a:srgbClr val="33FFFF"/>
              </a:gs>
              <a:gs pos="0">
                <a:srgbClr val="CC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3" name="椭圆 52"/>
            <p:cNvSpPr/>
            <p:nvPr/>
          </p:nvSpPr>
          <p:spPr>
            <a:xfrm>
              <a:off x="2466960" y="1649892"/>
              <a:ext cx="1643074" cy="406552"/>
            </a:xfrm>
            <a:prstGeom prst="ellips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 rot="4500000" flipH="1" flipV="1">
              <a:off x="3003058" y="1707175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2280000" flipH="1" flipV="1">
              <a:off x="2781696" y="1731923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rot="1740000" flipH="1" flipV="1">
              <a:off x="2584262" y="1780015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69" idx="2"/>
              <a:endCxn id="53" idx="2"/>
            </p:cNvCxnSpPr>
            <p:nvPr/>
          </p:nvCxnSpPr>
          <p:spPr>
            <a:xfrm flipH="1" flipV="1">
              <a:off x="2466960" y="1853169"/>
              <a:ext cx="209552" cy="9439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0800000">
              <a:off x="3889370" y="1853084"/>
              <a:ext cx="209552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rot="1740000" flipH="1" flipV="1">
              <a:off x="3712903" y="1968219"/>
              <a:ext cx="1368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2880000" flipH="1" flipV="1">
              <a:off x="3522935" y="1998150"/>
              <a:ext cx="108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rot="16200000" flipH="1">
              <a:off x="3265796" y="2013105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rot="720000" flipH="1" flipV="1">
              <a:off x="3848956" y="1918734"/>
              <a:ext cx="180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rot="17040000" flipH="1">
              <a:off x="3005278" y="2003580"/>
              <a:ext cx="86678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rot="19020000" flipH="1">
              <a:off x="2771543" y="1978336"/>
              <a:ext cx="108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rot="20280000" flipH="1">
              <a:off x="2583976" y="1933320"/>
              <a:ext cx="144000" cy="0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7980000" flipH="1" flipV="1">
              <a:off x="3465822" y="1711336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rot="7980000" flipH="1" flipV="1">
              <a:off x="3664702" y="1735810"/>
              <a:ext cx="126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8880000" flipH="1" flipV="1">
              <a:off x="3815184" y="1772329"/>
              <a:ext cx="144000" cy="1588"/>
            </a:xfrm>
            <a:prstGeom prst="line">
              <a:avLst/>
            </a:prstGeom>
            <a:grpFill/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椭圆 68"/>
          <p:cNvSpPr/>
          <p:nvPr/>
        </p:nvSpPr>
        <p:spPr>
          <a:xfrm>
            <a:off x="5613797" y="2817484"/>
            <a:ext cx="746651" cy="1317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70" name="圆柱形 69"/>
          <p:cNvSpPr/>
          <p:nvPr/>
        </p:nvSpPr>
        <p:spPr>
          <a:xfrm>
            <a:off x="5937840" y="2442894"/>
            <a:ext cx="105409" cy="445060"/>
          </a:xfrm>
          <a:prstGeom prst="can">
            <a:avLst/>
          </a:prstGeom>
          <a:gradFill flip="none" rotWithShape="1">
            <a:gsLst>
              <a:gs pos="100000">
                <a:srgbClr val="0093DD"/>
              </a:gs>
              <a:gs pos="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71" name="立方体 70"/>
          <p:cNvSpPr/>
          <p:nvPr/>
        </p:nvSpPr>
        <p:spPr>
          <a:xfrm rot="420000">
            <a:off x="6449572" y="2865433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72" name="平行四边形 71"/>
          <p:cNvSpPr/>
          <p:nvPr/>
        </p:nvSpPr>
        <p:spPr>
          <a:xfrm rot="360000">
            <a:off x="6517628" y="2831469"/>
            <a:ext cx="219102" cy="55405"/>
          </a:xfrm>
          <a:prstGeom prst="parallelogram">
            <a:avLst>
              <a:gd name="adj" fmla="val 109448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591866" y="2412473"/>
            <a:ext cx="916526" cy="409117"/>
            <a:chOff x="1512488" y="790412"/>
            <a:chExt cx="916526" cy="409117"/>
          </a:xfrm>
        </p:grpSpPr>
        <p:cxnSp>
          <p:nvCxnSpPr>
            <p:cNvPr id="74" name="直接箭头连接符 73"/>
            <p:cNvCxnSpPr/>
            <p:nvPr/>
          </p:nvCxnSpPr>
          <p:spPr>
            <a:xfrm>
              <a:off x="2032755" y="936007"/>
              <a:ext cx="396259" cy="263522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85"/>
            <p:cNvSpPr txBox="1"/>
            <p:nvPr/>
          </p:nvSpPr>
          <p:spPr>
            <a:xfrm>
              <a:off x="1512488" y="790412"/>
              <a:ext cx="6174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磁道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t</a:t>
              </a:r>
              <a:endPara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76" name="TextBox 86"/>
          <p:cNvSpPr txBox="1"/>
          <p:nvPr/>
        </p:nvSpPr>
        <p:spPr>
          <a:xfrm>
            <a:off x="6163759" y="239361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磁盘轴</a:t>
            </a:r>
          </a:p>
        </p:txBody>
      </p:sp>
      <p:cxnSp>
        <p:nvCxnSpPr>
          <p:cNvPr id="77" name="直接箭头连接符 76"/>
          <p:cNvCxnSpPr/>
          <p:nvPr/>
        </p:nvCxnSpPr>
        <p:spPr>
          <a:xfrm rot="10800000">
            <a:off x="6062624" y="2543425"/>
            <a:ext cx="154932" cy="0"/>
          </a:xfrm>
          <a:prstGeom prst="straightConnector1">
            <a:avLst/>
          </a:prstGeom>
          <a:ln w="28575">
            <a:solidFill>
              <a:srgbClr val="1157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rot="5400000">
            <a:off x="4966528" y="3580699"/>
            <a:ext cx="1018122" cy="976"/>
          </a:xfrm>
          <a:prstGeom prst="line">
            <a:avLst/>
          </a:prstGeom>
          <a:ln w="28575">
            <a:solidFill>
              <a:srgbClr val="11576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rot="5400000">
            <a:off x="5983634" y="3580699"/>
            <a:ext cx="1018122" cy="976"/>
          </a:xfrm>
          <a:prstGeom prst="line">
            <a:avLst/>
          </a:prstGeom>
          <a:ln w="28575">
            <a:solidFill>
              <a:srgbClr val="11576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93"/>
          <p:cNvSpPr txBox="1"/>
          <p:nvPr/>
        </p:nvSpPr>
        <p:spPr>
          <a:xfrm>
            <a:off x="7965016" y="329631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磁头组</a:t>
            </a:r>
          </a:p>
        </p:txBody>
      </p:sp>
      <p:sp>
        <p:nvSpPr>
          <p:cNvPr id="81" name="任意多边形 80"/>
          <p:cNvSpPr/>
          <p:nvPr/>
        </p:nvSpPr>
        <p:spPr>
          <a:xfrm>
            <a:off x="5561097" y="3383771"/>
            <a:ext cx="189346" cy="78081"/>
          </a:xfrm>
          <a:custGeom>
            <a:avLst/>
            <a:gdLst>
              <a:gd name="connsiteX0" fmla="*/ 0 w 307975"/>
              <a:gd name="connsiteY0" fmla="*/ 50800 h 127000"/>
              <a:gd name="connsiteX1" fmla="*/ 130175 w 307975"/>
              <a:gd name="connsiteY1" fmla="*/ 127000 h 127000"/>
              <a:gd name="connsiteX2" fmla="*/ 307975 w 307975"/>
              <a:gd name="connsiteY2" fmla="*/ 85725 h 127000"/>
              <a:gd name="connsiteX3" fmla="*/ 203200 w 307975"/>
              <a:gd name="connsiteY3" fmla="*/ 0 h 127000"/>
              <a:gd name="connsiteX4" fmla="*/ 0 w 307975"/>
              <a:gd name="connsiteY4" fmla="*/ 508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975" h="127000">
                <a:moveTo>
                  <a:pt x="0" y="50800"/>
                </a:moveTo>
                <a:lnTo>
                  <a:pt x="130175" y="127000"/>
                </a:lnTo>
                <a:lnTo>
                  <a:pt x="307975" y="85725"/>
                </a:lnTo>
                <a:lnTo>
                  <a:pt x="20320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93DD"/>
          </a:solidFill>
          <a:ln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4620122" y="3048345"/>
            <a:ext cx="976112" cy="351041"/>
            <a:chOff x="1540744" y="1426284"/>
            <a:chExt cx="976112" cy="351041"/>
          </a:xfrm>
        </p:grpSpPr>
        <p:sp>
          <p:nvSpPr>
            <p:cNvPr id="83" name="TextBox 96"/>
            <p:cNvSpPr txBox="1"/>
            <p:nvPr/>
          </p:nvSpPr>
          <p:spPr>
            <a:xfrm>
              <a:off x="1540744" y="1426284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扇区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s</a:t>
              </a:r>
              <a:endPara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84" name="直接箭头连接符 83"/>
            <p:cNvCxnSpPr/>
            <p:nvPr/>
          </p:nvCxnSpPr>
          <p:spPr>
            <a:xfrm>
              <a:off x="2095220" y="1580173"/>
              <a:ext cx="421636" cy="197152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/>
          <p:cNvGrpSpPr/>
          <p:nvPr/>
        </p:nvGrpSpPr>
        <p:grpSpPr>
          <a:xfrm>
            <a:off x="4627046" y="3628712"/>
            <a:ext cx="833599" cy="307777"/>
            <a:chOff x="1547664" y="2006651"/>
            <a:chExt cx="833599" cy="307777"/>
          </a:xfrm>
        </p:grpSpPr>
        <p:sp>
          <p:nvSpPr>
            <p:cNvPr id="86" name="TextBox 99"/>
            <p:cNvSpPr txBox="1"/>
            <p:nvPr/>
          </p:nvSpPr>
          <p:spPr>
            <a:xfrm>
              <a:off x="1547664" y="2006651"/>
              <a:ext cx="6367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柱面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c</a:t>
              </a:r>
              <a:endPara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>
              <a:off x="2110836" y="2160540"/>
              <a:ext cx="270427" cy="0"/>
            </a:xfrm>
            <a:prstGeom prst="straightConnector1">
              <a:avLst/>
            </a:prstGeom>
            <a:ln w="28575">
              <a:solidFill>
                <a:srgbClr val="00507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105"/>
          <p:cNvSpPr txBox="1"/>
          <p:nvPr/>
        </p:nvSpPr>
        <p:spPr>
          <a:xfrm>
            <a:off x="4668811" y="433594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盘片</a:t>
            </a: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061381" y="4166525"/>
            <a:ext cx="257666" cy="210818"/>
          </a:xfrm>
          <a:prstGeom prst="straightConnector1">
            <a:avLst/>
          </a:pr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10"/>
          <p:cNvSpPr txBox="1"/>
          <p:nvPr/>
        </p:nvSpPr>
        <p:spPr>
          <a:xfrm>
            <a:off x="6471714" y="441737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磁头</a:t>
            </a:r>
          </a:p>
        </p:txBody>
      </p:sp>
      <p:cxnSp>
        <p:nvCxnSpPr>
          <p:cNvPr id="91" name="直接箭头连接符 90"/>
          <p:cNvCxnSpPr/>
          <p:nvPr/>
        </p:nvCxnSpPr>
        <p:spPr>
          <a:xfrm flipV="1">
            <a:off x="6809596" y="4309994"/>
            <a:ext cx="164957" cy="163000"/>
          </a:xfrm>
          <a:prstGeom prst="straightConnector1">
            <a:avLst/>
          </a:pr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113"/>
          <p:cNvSpPr txBox="1"/>
          <p:nvPr/>
        </p:nvSpPr>
        <p:spPr>
          <a:xfrm>
            <a:off x="6700033" y="3689768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400" b="1" dirty="0">
                <a:solidFill>
                  <a:srgbClr val="11576A"/>
                </a:solidFill>
                <a:latin typeface="微软雅黑"/>
                <a:ea typeface="微软雅黑"/>
              </a:rPr>
              <a:t>读写头</a:t>
            </a:r>
          </a:p>
        </p:txBody>
      </p:sp>
      <p:sp>
        <p:nvSpPr>
          <p:cNvPr id="93" name="任意多边形 92"/>
          <p:cNvSpPr/>
          <p:nvPr/>
        </p:nvSpPr>
        <p:spPr>
          <a:xfrm>
            <a:off x="5781284" y="4388722"/>
            <a:ext cx="405238" cy="263132"/>
          </a:xfrm>
          <a:custGeom>
            <a:avLst/>
            <a:gdLst>
              <a:gd name="connsiteX0" fmla="*/ 548640 w 659130"/>
              <a:gd name="connsiteY0" fmla="*/ 0 h 427990"/>
              <a:gd name="connsiteX1" fmla="*/ 655320 w 659130"/>
              <a:gd name="connsiteY1" fmla="*/ 152400 h 427990"/>
              <a:gd name="connsiteX2" fmla="*/ 571500 w 659130"/>
              <a:gd name="connsiteY2" fmla="*/ 342900 h 427990"/>
              <a:gd name="connsiteX3" fmla="*/ 335280 w 659130"/>
              <a:gd name="connsiteY3" fmla="*/ 426720 h 427990"/>
              <a:gd name="connsiteX4" fmla="*/ 99060 w 659130"/>
              <a:gd name="connsiteY4" fmla="*/ 350520 h 427990"/>
              <a:gd name="connsiteX5" fmla="*/ 0 w 659130"/>
              <a:gd name="connsiteY5" fmla="*/ 220980 h 42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130" h="427990">
                <a:moveTo>
                  <a:pt x="548640" y="0"/>
                </a:moveTo>
                <a:cubicBezTo>
                  <a:pt x="600075" y="47625"/>
                  <a:pt x="651510" y="95250"/>
                  <a:pt x="655320" y="152400"/>
                </a:cubicBezTo>
                <a:cubicBezTo>
                  <a:pt x="659130" y="209550"/>
                  <a:pt x="624840" y="297180"/>
                  <a:pt x="571500" y="342900"/>
                </a:cubicBezTo>
                <a:cubicBezTo>
                  <a:pt x="518160" y="388620"/>
                  <a:pt x="414020" y="425450"/>
                  <a:pt x="335280" y="426720"/>
                </a:cubicBezTo>
                <a:cubicBezTo>
                  <a:pt x="256540" y="427990"/>
                  <a:pt x="154940" y="384810"/>
                  <a:pt x="99060" y="350520"/>
                </a:cubicBezTo>
                <a:cubicBezTo>
                  <a:pt x="43180" y="316230"/>
                  <a:pt x="21590" y="268605"/>
                  <a:pt x="0" y="220980"/>
                </a:cubicBezTo>
              </a:path>
            </a:pathLst>
          </a:cu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94" name="立方体 93"/>
          <p:cNvSpPr/>
          <p:nvPr/>
        </p:nvSpPr>
        <p:spPr>
          <a:xfrm rot="420000">
            <a:off x="6449572" y="3471923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95" name="平行四边形 94"/>
          <p:cNvSpPr/>
          <p:nvPr/>
        </p:nvSpPr>
        <p:spPr>
          <a:xfrm rot="360000">
            <a:off x="6517628" y="3437959"/>
            <a:ext cx="219102" cy="55405"/>
          </a:xfrm>
          <a:prstGeom prst="parallelogram">
            <a:avLst>
              <a:gd name="adj" fmla="val 109448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96" name="立方体 95"/>
          <p:cNvSpPr/>
          <p:nvPr/>
        </p:nvSpPr>
        <p:spPr>
          <a:xfrm rot="420000">
            <a:off x="6449572" y="4082128"/>
            <a:ext cx="1195187" cy="111833"/>
          </a:xfrm>
          <a:prstGeom prst="cube">
            <a:avLst>
              <a:gd name="adj" fmla="val 81000"/>
            </a:avLst>
          </a:prstGeom>
          <a:solidFill>
            <a:schemeClr val="bg1">
              <a:lumMod val="50000"/>
            </a:schemeClr>
          </a:solidFill>
          <a:ln w="19050">
            <a:solidFill>
              <a:srgbClr val="005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sp>
        <p:nvSpPr>
          <p:cNvPr id="97" name="平行四边形 96"/>
          <p:cNvSpPr/>
          <p:nvPr/>
        </p:nvSpPr>
        <p:spPr>
          <a:xfrm rot="360000">
            <a:off x="6517628" y="4048163"/>
            <a:ext cx="219102" cy="55405"/>
          </a:xfrm>
          <a:prstGeom prst="parallelogram">
            <a:avLst>
              <a:gd name="adj" fmla="val 109448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cxnSp>
        <p:nvCxnSpPr>
          <p:cNvPr id="98" name="直接箭头连接符 97"/>
          <p:cNvCxnSpPr>
            <a:endCxn id="97" idx="0"/>
          </p:cNvCxnSpPr>
          <p:nvPr/>
        </p:nvCxnSpPr>
        <p:spPr>
          <a:xfrm rot="5400000">
            <a:off x="6612847" y="3895586"/>
            <a:ext cx="182709" cy="121806"/>
          </a:xfrm>
          <a:prstGeom prst="straightConnector1">
            <a:avLst/>
          </a:prstGeom>
          <a:ln w="28575">
            <a:solidFill>
              <a:srgbClr val="005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立方体 98"/>
          <p:cNvSpPr/>
          <p:nvPr/>
        </p:nvSpPr>
        <p:spPr>
          <a:xfrm>
            <a:off x="7481889" y="2660545"/>
            <a:ext cx="483127" cy="1932509"/>
          </a:xfrm>
          <a:prstGeom prst="cube">
            <a:avLst/>
          </a:prstGeom>
          <a:gradFill flip="none" rotWithShape="1">
            <a:gsLst>
              <a:gs pos="100000">
                <a:srgbClr val="0093DD"/>
              </a:gs>
              <a:gs pos="32000">
                <a:schemeClr val="bg1">
                  <a:lumMod val="9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rgbClr val="11576A"/>
            </a:solidFill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zh-CN" altLang="en-US">
              <a:solidFill>
                <a:prstClr val="black"/>
              </a:solidFill>
              <a:latin typeface="MS PGothic"/>
              <a:ea typeface="微软雅黑"/>
            </a:endParaRPr>
          </a:p>
        </p:txBody>
      </p:sp>
      <p:cxnSp>
        <p:nvCxnSpPr>
          <p:cNvPr id="100" name="直接箭头连接符 99"/>
          <p:cNvCxnSpPr/>
          <p:nvPr/>
        </p:nvCxnSpPr>
        <p:spPr>
          <a:xfrm rot="10800000">
            <a:off x="7848971" y="3440577"/>
            <a:ext cx="199198" cy="0"/>
          </a:xfrm>
          <a:prstGeom prst="straightConnector1">
            <a:avLst/>
          </a:prstGeom>
          <a:ln w="28575">
            <a:solidFill>
              <a:srgbClr val="1157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59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0B246-D627-470F-851F-E3FC3C18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5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C7F3B5E-D604-4915-8982-C965CC0AB07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文件在计算机中的抽象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0E9ECE-7A11-48F9-A615-D03F221442A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文件是一段数据，是一个数组被固化到了介质上</a:t>
            </a:r>
            <a:endParaRPr lang="en-US" altLang="zh-CN" dirty="0"/>
          </a:p>
          <a:p>
            <a:r>
              <a:rPr lang="zh-CN" altLang="en-US" dirty="0"/>
              <a:t>文件早期的存在形式，是磁带上的一段</a:t>
            </a:r>
            <a:endParaRPr lang="en-US" altLang="zh-CN" dirty="0"/>
          </a:p>
          <a:p>
            <a:r>
              <a:rPr lang="zh-CN" altLang="en-US" dirty="0"/>
              <a:t>文件指针，抽象的是磁头与文件开头的相对距离</a:t>
            </a:r>
            <a:endParaRPr lang="en-US" altLang="zh-CN" dirty="0"/>
          </a:p>
          <a:p>
            <a:r>
              <a:rPr lang="zh-CN" altLang="en-US" dirty="0"/>
              <a:t>调用</a:t>
            </a:r>
            <a:r>
              <a:rPr lang="en-US" altLang="zh-CN" dirty="0"/>
              <a:t>read</a:t>
            </a:r>
            <a:r>
              <a:rPr lang="zh-CN" altLang="en-US" dirty="0"/>
              <a:t>指针后会移相应的字节数</a:t>
            </a:r>
            <a:endParaRPr lang="en-US" altLang="zh-CN" dirty="0"/>
          </a:p>
          <a:p>
            <a:r>
              <a:rPr lang="en-US" altLang="zh-CN" dirty="0" err="1"/>
              <a:t>ftell</a:t>
            </a:r>
            <a:r>
              <a:rPr lang="en-US" altLang="zh-CN" dirty="0"/>
              <a:t>, </a:t>
            </a:r>
            <a:r>
              <a:rPr lang="en-US" altLang="zh-CN" dirty="0" err="1"/>
              <a:t>fseek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0E057D-C493-63FC-A9B6-B93729B4CDC9}"/>
              </a:ext>
            </a:extLst>
          </p:cNvPr>
          <p:cNvSpPr txBox="1"/>
          <p:nvPr/>
        </p:nvSpPr>
        <p:spPr>
          <a:xfrm>
            <a:off x="3431704" y="5085184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文件对应于磁带中的一段，需要记录它的长度和上次读取的位置，以可连续的读取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D7D361A-C1CC-B6A1-8302-97DFB990D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0" r="7573" b="12983"/>
          <a:stretch/>
        </p:blipFill>
        <p:spPr bwMode="auto">
          <a:xfrm>
            <a:off x="4558097" y="1628800"/>
            <a:ext cx="3075806" cy="340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54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6" descr="C:\B\b4\JPG\foo\5-1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479" y="1412776"/>
            <a:ext cx="7550150" cy="382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TextBox 4"/>
          <p:cNvSpPr txBox="1">
            <a:spLocks noChangeArrowheads="1"/>
          </p:cNvSpPr>
          <p:nvPr/>
        </p:nvSpPr>
        <p:spPr bwMode="auto">
          <a:xfrm>
            <a:off x="1919536" y="5229123"/>
            <a:ext cx="842416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 kumimoji="1"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盘商将有两个环带的物理几何规格虚化成统一环带的几何规格，便于</a:t>
            </a:r>
            <a:r>
              <a:rPr kumimoji="0"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kumimoji="0"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的识别。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29C8CF8-8F34-7C84-94FA-DEAFBAF8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磁盘的物理及虚拟几何规格知识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6F542-62AB-797D-3509-D4D50321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2800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Architecture of File Management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5088679" y="6076912"/>
            <a:ext cx="2592388" cy="431800"/>
            <a:chOff x="2336" y="3748"/>
            <a:chExt cx="1633" cy="272"/>
          </a:xfrm>
        </p:grpSpPr>
        <p:sp>
          <p:nvSpPr>
            <p:cNvPr id="5166" name="AutoShape 6"/>
            <p:cNvSpPr>
              <a:spLocks noChangeArrowheads="1"/>
            </p:cNvSpPr>
            <p:nvPr/>
          </p:nvSpPr>
          <p:spPr bwMode="auto">
            <a:xfrm>
              <a:off x="2336" y="3748"/>
              <a:ext cx="1633" cy="272"/>
            </a:xfrm>
            <a:prstGeom prst="flowChartAlternateProcess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406" y="3780"/>
              <a:ext cx="1528" cy="198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File management</a:t>
              </a:r>
              <a:endParaRPr lang="zh-CN" alt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064492" y="4936865"/>
            <a:ext cx="1943100" cy="503238"/>
            <a:chOff x="703" y="2614"/>
            <a:chExt cx="1224" cy="317"/>
          </a:xfrm>
        </p:grpSpPr>
        <p:sp>
          <p:nvSpPr>
            <p:cNvPr id="5164" name="AutoShape 9"/>
            <p:cNvSpPr>
              <a:spLocks noChangeArrowheads="1"/>
            </p:cNvSpPr>
            <p:nvPr/>
          </p:nvSpPr>
          <p:spPr bwMode="auto">
            <a:xfrm>
              <a:off x="703" y="2614"/>
              <a:ext cx="1224" cy="317"/>
            </a:xfrm>
            <a:prstGeom prst="flowChartPredefinedProcess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811" y="2659"/>
              <a:ext cx="872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structure</a:t>
              </a:r>
              <a:endPara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2064492" y="3855781"/>
            <a:ext cx="1943100" cy="503237"/>
            <a:chOff x="703" y="2614"/>
            <a:chExt cx="1224" cy="317"/>
          </a:xfrm>
        </p:grpSpPr>
        <p:sp>
          <p:nvSpPr>
            <p:cNvPr id="5162" name="AutoShape 13"/>
            <p:cNvSpPr>
              <a:spLocks noChangeArrowheads="1"/>
            </p:cNvSpPr>
            <p:nvPr/>
          </p:nvSpPr>
          <p:spPr bwMode="auto">
            <a:xfrm>
              <a:off x="703" y="2614"/>
              <a:ext cx="1224" cy="317"/>
            </a:xfrm>
            <a:prstGeom prst="flowChartPredefinedProcess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811" y="2659"/>
              <a:ext cx="878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Interface</a:t>
              </a:r>
              <a:endPara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1842245" y="2776281"/>
            <a:ext cx="2459037" cy="503237"/>
            <a:chOff x="703" y="2614"/>
            <a:chExt cx="1224" cy="317"/>
          </a:xfrm>
        </p:grpSpPr>
        <p:sp>
          <p:nvSpPr>
            <p:cNvPr id="5160" name="AutoShape 16"/>
            <p:cNvSpPr>
              <a:spLocks noChangeArrowheads="1"/>
            </p:cNvSpPr>
            <p:nvPr/>
          </p:nvSpPr>
          <p:spPr bwMode="auto">
            <a:xfrm>
              <a:off x="703" y="2614"/>
              <a:ext cx="1224" cy="317"/>
            </a:xfrm>
            <a:prstGeom prst="flowChartPredefinedProcess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•"/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847" y="2665"/>
              <a:ext cx="95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Management</a:t>
              </a:r>
              <a:endPara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20" name="AutoShape 18"/>
          <p:cNvSpPr>
            <a:spLocks noChangeArrowheads="1"/>
          </p:cNvSpPr>
          <p:nvPr/>
        </p:nvSpPr>
        <p:spPr bwMode="auto">
          <a:xfrm>
            <a:off x="4944217" y="3857365"/>
            <a:ext cx="792162" cy="503238"/>
          </a:xfrm>
          <a:prstGeom prst="flowChartMultidocument">
            <a:avLst/>
          </a:prstGeom>
          <a:solidFill>
            <a:srgbClr val="FF66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cxnSp>
        <p:nvCxnSpPr>
          <p:cNvPr id="21" name="AutoShape 20"/>
          <p:cNvCxnSpPr>
            <a:cxnSpLocks noChangeShapeType="1"/>
          </p:cNvCxnSpPr>
          <p:nvPr/>
        </p:nvCxnSpPr>
        <p:spPr bwMode="auto">
          <a:xfrm rot="5400000" flipH="1">
            <a:off x="4386214" y="4089937"/>
            <a:ext cx="649287" cy="3349625"/>
          </a:xfrm>
          <a:prstGeom prst="bentConnector3">
            <a:avLst>
              <a:gd name="adj1" fmla="val 4988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21"/>
          <p:cNvCxnSpPr>
            <a:cxnSpLocks noChangeShapeType="1"/>
          </p:cNvCxnSpPr>
          <p:nvPr/>
        </p:nvCxnSpPr>
        <p:spPr bwMode="auto">
          <a:xfrm flipV="1">
            <a:off x="3036042" y="4359015"/>
            <a:ext cx="0" cy="5778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2"/>
          <p:cNvCxnSpPr>
            <a:cxnSpLocks noChangeShapeType="1"/>
          </p:cNvCxnSpPr>
          <p:nvPr/>
        </p:nvCxnSpPr>
        <p:spPr bwMode="auto">
          <a:xfrm flipV="1">
            <a:off x="3036042" y="3279518"/>
            <a:ext cx="0" cy="5762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3"/>
          <p:cNvCxnSpPr>
            <a:cxnSpLocks noChangeShapeType="1"/>
            <a:endCxn id="20" idx="1"/>
          </p:cNvCxnSpPr>
          <p:nvPr/>
        </p:nvCxnSpPr>
        <p:spPr bwMode="auto">
          <a:xfrm flipV="1">
            <a:off x="4007595" y="4109778"/>
            <a:ext cx="936625" cy="1079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4"/>
          <p:cNvCxnSpPr>
            <a:cxnSpLocks noChangeShapeType="1"/>
            <a:endCxn id="20" idx="1"/>
          </p:cNvCxnSpPr>
          <p:nvPr/>
        </p:nvCxnSpPr>
        <p:spPr bwMode="auto">
          <a:xfrm>
            <a:off x="4007595" y="4108190"/>
            <a:ext cx="936625" cy="1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5"/>
          <p:cNvCxnSpPr>
            <a:cxnSpLocks noChangeShapeType="1"/>
            <a:stCxn id="5160" idx="3"/>
            <a:endCxn id="20" idx="1"/>
          </p:cNvCxnSpPr>
          <p:nvPr/>
        </p:nvCxnSpPr>
        <p:spPr bwMode="auto">
          <a:xfrm>
            <a:off x="4301279" y="3028690"/>
            <a:ext cx="642938" cy="10810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AutoShape 26"/>
          <p:cNvSpPr>
            <a:spLocks noChangeArrowheads="1"/>
          </p:cNvSpPr>
          <p:nvPr/>
        </p:nvSpPr>
        <p:spPr bwMode="auto">
          <a:xfrm>
            <a:off x="6817467" y="3784343"/>
            <a:ext cx="863600" cy="504825"/>
          </a:xfrm>
          <a:prstGeom prst="can">
            <a:avLst>
              <a:gd name="adj" fmla="val 25000"/>
            </a:avLst>
          </a:prstGeom>
          <a:solidFill>
            <a:srgbClr val="6666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>
            <a:off x="5807820" y="3928806"/>
            <a:ext cx="936625" cy="287337"/>
          </a:xfrm>
          <a:prstGeom prst="leftRightArrow">
            <a:avLst>
              <a:gd name="adj1" fmla="val 50000"/>
              <a:gd name="adj2" fmla="val 65193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8257329" y="4865431"/>
            <a:ext cx="1943100" cy="503237"/>
            <a:chOff x="703" y="2614"/>
            <a:chExt cx="1224" cy="317"/>
          </a:xfrm>
        </p:grpSpPr>
        <p:sp>
          <p:nvSpPr>
            <p:cNvPr id="30" name="AutoShape 29"/>
            <p:cNvSpPr>
              <a:spLocks noChangeArrowheads="1"/>
            </p:cNvSpPr>
            <p:nvPr/>
          </p:nvSpPr>
          <p:spPr bwMode="auto">
            <a:xfrm>
              <a:off x="703" y="2614"/>
              <a:ext cx="1224" cy="317"/>
            </a:xfrm>
            <a:prstGeom prst="flowChartPredefinedProcess">
              <a:avLst/>
            </a:prstGeom>
            <a:solidFill>
              <a:srgbClr val="FFCC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847" y="2652"/>
              <a:ext cx="931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Allocation</a:t>
              </a:r>
              <a:endPara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11" name="Group 31"/>
          <p:cNvGrpSpPr>
            <a:grpSpLocks/>
          </p:cNvGrpSpPr>
          <p:nvPr/>
        </p:nvGrpSpPr>
        <p:grpSpPr bwMode="auto">
          <a:xfrm>
            <a:off x="8257329" y="3784340"/>
            <a:ext cx="1943100" cy="503238"/>
            <a:chOff x="703" y="2614"/>
            <a:chExt cx="1224" cy="317"/>
          </a:xfrm>
        </p:grpSpPr>
        <p:sp>
          <p:nvSpPr>
            <p:cNvPr id="33" name="AutoShape 32"/>
            <p:cNvSpPr>
              <a:spLocks noChangeArrowheads="1"/>
            </p:cNvSpPr>
            <p:nvPr/>
          </p:nvSpPr>
          <p:spPr bwMode="auto">
            <a:xfrm>
              <a:off x="703" y="2614"/>
              <a:ext cx="1224" cy="317"/>
            </a:xfrm>
            <a:prstGeom prst="flowChartPredefinedProcess">
              <a:avLst/>
            </a:prstGeom>
            <a:solidFill>
              <a:srgbClr val="FFCC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937" y="2658"/>
              <a:ext cx="670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Access</a:t>
              </a:r>
              <a:endPara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12" name="Group 34"/>
          <p:cNvGrpSpPr>
            <a:grpSpLocks/>
          </p:cNvGrpSpPr>
          <p:nvPr/>
        </p:nvGrpSpPr>
        <p:grpSpPr bwMode="auto">
          <a:xfrm>
            <a:off x="8257329" y="2704840"/>
            <a:ext cx="1943100" cy="503238"/>
            <a:chOff x="703" y="2614"/>
            <a:chExt cx="1224" cy="317"/>
          </a:xfrm>
        </p:grpSpPr>
        <p:sp>
          <p:nvSpPr>
            <p:cNvPr id="36" name="AutoShape 35"/>
            <p:cNvSpPr>
              <a:spLocks noChangeArrowheads="1"/>
            </p:cNvSpPr>
            <p:nvPr/>
          </p:nvSpPr>
          <p:spPr bwMode="auto">
            <a:xfrm>
              <a:off x="703" y="2614"/>
              <a:ext cx="1224" cy="317"/>
            </a:xfrm>
            <a:prstGeom prst="flowChartPredefinedProcess">
              <a:avLst/>
            </a:prstGeom>
            <a:solidFill>
              <a:srgbClr val="FFCC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7" name="Text Box 36"/>
            <p:cNvSpPr txBox="1">
              <a:spLocks noChangeArrowheads="1"/>
            </p:cNvSpPr>
            <p:nvPr/>
          </p:nvSpPr>
          <p:spPr bwMode="auto">
            <a:xfrm>
              <a:off x="811" y="2665"/>
              <a:ext cx="966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 typeface="Wingdings" panose="05000000000000000000" pitchFamily="2" charset="2"/>
                <a:buNone/>
                <a:defRPr/>
              </a:pPr>
              <a:r>
                <a:rPr lang="en-US" altLang="zh-CN" b="1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Protection</a:t>
              </a:r>
              <a:endPara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cxnSp>
        <p:nvCxnSpPr>
          <p:cNvPr id="38" name="AutoShape 37"/>
          <p:cNvCxnSpPr>
            <a:cxnSpLocks noChangeShapeType="1"/>
          </p:cNvCxnSpPr>
          <p:nvPr/>
        </p:nvCxnSpPr>
        <p:spPr bwMode="auto">
          <a:xfrm flipV="1">
            <a:off x="9228879" y="4287578"/>
            <a:ext cx="0" cy="5778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38"/>
          <p:cNvCxnSpPr>
            <a:cxnSpLocks noChangeShapeType="1"/>
          </p:cNvCxnSpPr>
          <p:nvPr/>
        </p:nvCxnSpPr>
        <p:spPr bwMode="auto">
          <a:xfrm flipV="1">
            <a:off x="9228879" y="3208078"/>
            <a:ext cx="0" cy="57626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41"/>
          <p:cNvCxnSpPr>
            <a:cxnSpLocks noChangeShapeType="1"/>
          </p:cNvCxnSpPr>
          <p:nvPr/>
        </p:nvCxnSpPr>
        <p:spPr bwMode="auto">
          <a:xfrm rot="-5400000">
            <a:off x="7446913" y="4307422"/>
            <a:ext cx="720725" cy="2843212"/>
          </a:xfrm>
          <a:prstGeom prst="bentConnector3">
            <a:avLst>
              <a:gd name="adj1" fmla="val 4537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4728317" y="4360606"/>
            <a:ext cx="8826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File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6725392" y="4360606"/>
            <a:ext cx="8255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Disk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5771307" y="3497006"/>
            <a:ext cx="12858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9C4E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Mapping</a:t>
            </a:r>
            <a:endParaRPr lang="zh-CN" altLang="en-US" b="1" dirty="0">
              <a:solidFill>
                <a:srgbClr val="9C4E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4" name="Line 45"/>
          <p:cNvSpPr>
            <a:spLocks noChangeShapeType="1"/>
          </p:cNvSpPr>
          <p:nvPr/>
        </p:nvSpPr>
        <p:spPr bwMode="auto">
          <a:xfrm>
            <a:off x="6312642" y="2128581"/>
            <a:ext cx="0" cy="34559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Box 46"/>
          <p:cNvSpPr txBox="1">
            <a:spLocks noChangeArrowheads="1"/>
          </p:cNvSpPr>
          <p:nvPr/>
        </p:nvSpPr>
        <p:spPr bwMode="auto">
          <a:xfrm>
            <a:off x="2783632" y="1984115"/>
            <a:ext cx="2659063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Application Level: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logical abstraction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" name="Text Box 47"/>
          <p:cNvSpPr txBox="1">
            <a:spLocks noChangeArrowheads="1"/>
          </p:cNvSpPr>
          <p:nvPr/>
        </p:nvSpPr>
        <p:spPr bwMode="auto">
          <a:xfrm>
            <a:off x="6938120" y="1984115"/>
            <a:ext cx="3348037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Physical level: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Disk space management</a:t>
            </a:r>
            <a:endParaRPr lang="zh-CN" altLang="en-US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cxnSp>
        <p:nvCxnSpPr>
          <p:cNvPr id="47" name="AutoShape 48"/>
          <p:cNvCxnSpPr>
            <a:cxnSpLocks noChangeShapeType="1"/>
            <a:endCxn id="27" idx="4"/>
          </p:cNvCxnSpPr>
          <p:nvPr/>
        </p:nvCxnSpPr>
        <p:spPr bwMode="auto">
          <a:xfrm flipH="1" flipV="1">
            <a:off x="7681067" y="4036756"/>
            <a:ext cx="576262" cy="108108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49"/>
          <p:cNvCxnSpPr>
            <a:cxnSpLocks noChangeShapeType="1"/>
            <a:endCxn id="27" idx="4"/>
          </p:cNvCxnSpPr>
          <p:nvPr/>
        </p:nvCxnSpPr>
        <p:spPr bwMode="auto">
          <a:xfrm flipH="1">
            <a:off x="7681067" y="4036753"/>
            <a:ext cx="57626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50"/>
          <p:cNvCxnSpPr>
            <a:cxnSpLocks noChangeShapeType="1"/>
            <a:endCxn id="27" idx="4"/>
          </p:cNvCxnSpPr>
          <p:nvPr/>
        </p:nvCxnSpPr>
        <p:spPr bwMode="auto">
          <a:xfrm flipH="1">
            <a:off x="7681067" y="2957253"/>
            <a:ext cx="576262" cy="1079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6C307A-31E9-DBCA-1717-F9404816D397}"/>
              </a:ext>
            </a:extLst>
          </p:cNvPr>
          <p:cNvSpPr txBox="1"/>
          <p:nvPr/>
        </p:nvSpPr>
        <p:spPr>
          <a:xfrm>
            <a:off x="685029" y="1469744"/>
            <a:ext cx="1066368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zh-CN" altLang="en-US" dirty="0"/>
              <a:t>文件系统的作用，是把用户的文件（一段</a:t>
            </a:r>
            <a:r>
              <a:rPr lang="zh-CN" altLang="en-US" dirty="0">
                <a:solidFill>
                  <a:srgbClr val="FF0000"/>
                </a:solidFill>
              </a:rPr>
              <a:t>长度可以变化</a:t>
            </a:r>
            <a:r>
              <a:rPr lang="zh-CN" altLang="en-US" dirty="0"/>
              <a:t>的连续数据）放到磁盘（碰头、磁道、柱面等为单位管理的</a:t>
            </a:r>
            <a:r>
              <a:rPr lang="zh-CN" altLang="en-US" dirty="0">
                <a:solidFill>
                  <a:srgbClr val="FF0000"/>
                </a:solidFill>
              </a:rPr>
              <a:t>慢速旋转设备</a:t>
            </a:r>
            <a:r>
              <a:rPr lang="zh-CN" altLang="en-US" dirty="0"/>
              <a:t>）上，并需要综合考虑</a:t>
            </a:r>
            <a:r>
              <a:rPr lang="zh-CN" altLang="en-US" dirty="0">
                <a:solidFill>
                  <a:srgbClr val="FF0000"/>
                </a:solidFill>
              </a:rPr>
              <a:t>空间利用率、读写性能</a:t>
            </a:r>
            <a:r>
              <a:rPr lang="zh-CN" altLang="en-US" dirty="0"/>
              <a:t>、用户之间的</a:t>
            </a:r>
            <a:r>
              <a:rPr lang="zh-CN" altLang="en-US" dirty="0">
                <a:solidFill>
                  <a:srgbClr val="FF0000"/>
                </a:solidFill>
              </a:rPr>
              <a:t>隔离</a:t>
            </a:r>
            <a:r>
              <a:rPr lang="zh-CN" altLang="en-US" dirty="0"/>
              <a:t>等问题</a:t>
            </a:r>
          </a:p>
        </p:txBody>
      </p:sp>
      <p:sp>
        <p:nvSpPr>
          <p:cNvPr id="5152" name="灯片编号占位符 5151">
            <a:extLst>
              <a:ext uri="{FF2B5EF4-FFF2-40B4-BE49-F238E27FC236}">
                <a16:creationId xmlns:a16="http://schemas.microsoft.com/office/drawing/2014/main" id="{9C132061-1D1D-1FB0-01A9-D780A73B9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7" grpId="0" animBg="1"/>
      <p:bldP spid="28" grpId="0" animBg="1"/>
      <p:bldP spid="41" grpId="0"/>
      <p:bldP spid="42" grpId="0"/>
      <p:bldP spid="43" grpId="0"/>
      <p:bldP spid="45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B60753-04E8-913D-8096-14E09D7A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分解任务一：面对用户要完成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BBED3A-3825-59C7-ECFB-9923EE6D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文件访问：文件的创建、打开、关闭、读、写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目录管理：对文件访问和控制信息的管理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构成文件结构：划分成记录、顺序、索引文件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文件访问控制：并发访问和用户权限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限额(</a:t>
            </a:r>
            <a:r>
              <a:rPr lang="en-US" altLang="zh-CN" sz="2400" dirty="0"/>
              <a:t>quota)</a:t>
            </a:r>
            <a:r>
              <a:rPr lang="zh-CN" altLang="en-US" sz="2400" dirty="0"/>
              <a:t>设定：每个用户可建立的文件数、占用外存空间大小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审计(</a:t>
            </a:r>
            <a:r>
              <a:rPr lang="en-US" altLang="zh-CN" sz="2400" dirty="0"/>
              <a:t>auditing)：</a:t>
            </a:r>
            <a:r>
              <a:rPr lang="zh-CN" altLang="en-US" sz="2400" dirty="0"/>
              <a:t>对指定文件的使用信息记录（访问时间和用户等），存在日志中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2FD2E-8724-C662-116A-CA0C8B14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1447B7F-20B2-4DBC-A584-7D7172230DDA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6443218-F2FC-F0B3-B753-759D2425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分解任务二：在内部要完成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9AD053F-0105-25F4-62A7-CBD6DE136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实现文件的分块存储：内外存的存储块相配合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I/O</a:t>
            </a:r>
            <a:r>
              <a:rPr lang="zh-CN" altLang="en-US" sz="2400" dirty="0"/>
              <a:t>缓冲和调度：文件存储介质性能优化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文件定位：在外存介质上查找文件的各个存储块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外存储空间管理：如分配和释放。主要针对可改写的外存－－如磁盘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外存设备访问和控制：由设备驱动程序支持的各种基本文件系统如硬盘，软盘，</a:t>
            </a:r>
            <a:r>
              <a:rPr lang="en-US" altLang="zh-CN" sz="2400" dirty="0"/>
              <a:t>CD ROM</a:t>
            </a:r>
            <a:r>
              <a:rPr lang="zh-CN" altLang="en-US" sz="2400" dirty="0"/>
              <a:t>，</a:t>
            </a:r>
            <a:r>
              <a:rPr lang="en-US" altLang="zh-CN" sz="2400" dirty="0"/>
              <a:t>USB</a:t>
            </a:r>
            <a:r>
              <a:rPr lang="zh-CN" altLang="en-US" sz="2400" dirty="0"/>
              <a:t>等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90D18-918E-E3AC-77DA-84BC3845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9</a:t>
            </a:fld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10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/>
              <a:t>Physical Structure of Disk </a:t>
            </a:r>
            <a:endParaRPr lang="zh-CN" altLang="en-US" dirty="0"/>
          </a:p>
        </p:txBody>
      </p:sp>
      <p:pic>
        <p:nvPicPr>
          <p:cNvPr id="7" name="Picture 5" descr="1-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15217" y="1570038"/>
            <a:ext cx="756156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27C354-15EC-8E6E-DF3D-506B888BE8E7}"/>
              </a:ext>
            </a:extLst>
          </p:cNvPr>
          <p:cNvSpPr txBox="1"/>
          <p:nvPr/>
        </p:nvSpPr>
        <p:spPr>
          <a:xfrm>
            <a:off x="7854641" y="4866041"/>
            <a:ext cx="241176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磁头寻道很慢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定位扇区靠旋转，因此读写是否连续，严重影响性能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读取速度远不如内存</a:t>
            </a:r>
          </a:p>
        </p:txBody>
      </p:sp>
    </p:spTree>
    <p:extLst>
      <p:ext uri="{BB962C8B-B14F-4D97-AF65-F5344CB8AC3E}">
        <p14:creationId xmlns:p14="http://schemas.microsoft.com/office/powerpoint/2010/main" val="5500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fld id="{9F3EE478-BB74-429F-BD89-DDC56E602AF4}" type="slidenum">
              <a:rPr lang="en-US" altLang="ko-KR">
                <a:solidFill>
                  <a:schemeClr val="bg1"/>
                </a:solidFill>
                <a:ea typeface="굴림" pitchFamily="34" charset="-127"/>
              </a:rPr>
              <a:pPr>
                <a:buNone/>
              </a:pPr>
              <a:t>11</a:t>
            </a:fld>
            <a:endParaRPr lang="en-US" altLang="ko-KR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Physical structure of file: continuous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8" name="Picture 8" descr="文件的连续分配方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772816"/>
            <a:ext cx="8085137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571715"/>
            <a:ext cx="6192688" cy="3405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9877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7F7435A-DCF9-41E6-83DC-2231E4E5F3BE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7E01798-1D3A-7060-4A58-D8713FFA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３）实现磁盘顺序分配方式示例：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484EEAC-F078-A26E-297C-5A9270EC8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5085184"/>
            <a:ext cx="10801200" cy="1239060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 每个文件分配一个连续的块</a:t>
            </a:r>
          </a:p>
          <a:p>
            <a:r>
              <a:rPr lang="zh-CN" altLang="en-US" sz="2400" dirty="0"/>
              <a:t> 文件分配表中每个文件只占有一项</a:t>
            </a:r>
          </a:p>
          <a:p>
            <a:r>
              <a:rPr lang="zh-CN" altLang="en-US" sz="2400" dirty="0"/>
              <a:t> 会有外碎片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E09780-4E6F-6793-BCC9-7AFA128B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51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67408" y="1700808"/>
            <a:ext cx="5527307" cy="763624"/>
            <a:chOff x="844893" y="1934564"/>
            <a:chExt cx="5527307" cy="763624"/>
          </a:xfrm>
        </p:grpSpPr>
        <p:sp>
          <p:nvSpPr>
            <p:cNvPr id="42" name="内容占位符 2"/>
            <p:cNvSpPr txBox="1">
              <a:spLocks/>
            </p:cNvSpPr>
            <p:nvPr/>
          </p:nvSpPr>
          <p:spPr>
            <a:xfrm>
              <a:off x="1142976" y="1934564"/>
              <a:ext cx="335758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latin typeface="微软雅黑"/>
                  <a:ea typeface="微软雅黑"/>
                  <a:cs typeface="宋体" charset="0"/>
                </a:rPr>
                <a:t>文件以数据块链表方式存储</a:t>
              </a:r>
              <a:endParaRPr lang="en-US" altLang="zh-CN" dirty="0">
                <a:latin typeface="微软雅黑"/>
                <a:ea typeface="微软雅黑"/>
                <a:cs typeface="宋体" charset="0"/>
              </a:endParaRPr>
            </a:p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en-US" altLang="zh-CN" dirty="0">
                <a:latin typeface="微软雅黑"/>
                <a:ea typeface="微软雅黑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4893" y="19345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内容占位符 2"/>
            <p:cNvSpPr txBox="1">
              <a:spLocks/>
            </p:cNvSpPr>
            <p:nvPr/>
          </p:nvSpPr>
          <p:spPr>
            <a:xfrm>
              <a:off x="1142976" y="2272704"/>
              <a:ext cx="5229224" cy="425484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latin typeface="微软雅黑"/>
                  <a:ea typeface="微软雅黑"/>
                  <a:cs typeface="宋体" charset="0"/>
                </a:rPr>
                <a:t>文件头包含了到第一块和最后一块的指针</a:t>
              </a:r>
              <a:endParaRPr lang="en-US" altLang="zh-CN" dirty="0">
                <a:latin typeface="微软雅黑"/>
                <a:ea typeface="微软雅黑"/>
                <a:cs typeface="宋体" charset="0"/>
              </a:endParaRPr>
            </a:p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en-US" altLang="zh-CN" dirty="0">
                <a:latin typeface="微软雅黑"/>
                <a:ea typeface="微软雅黑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44893" y="227270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408" y="3410248"/>
            <a:ext cx="3655099" cy="1014646"/>
            <a:chOff x="844893" y="2584981"/>
            <a:chExt cx="3655099" cy="1014646"/>
          </a:xfrm>
        </p:grpSpPr>
        <p:pic>
          <p:nvPicPr>
            <p:cNvPr id="47" name="图片 4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031301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8" name="内容占位符 2"/>
            <p:cNvSpPr txBox="1">
              <a:spLocks/>
            </p:cNvSpPr>
            <p:nvPr/>
          </p:nvSpPr>
          <p:spPr>
            <a:xfrm>
              <a:off x="1394985" y="2926525"/>
              <a:ext cx="3105007" cy="38788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latin typeface="微软雅黑"/>
                  <a:ea typeface="微软雅黑"/>
                  <a:cs typeface="宋体" charset="0"/>
                </a:rPr>
                <a:t>创建、增大、缩小很容易</a:t>
              </a:r>
              <a:endParaRPr lang="en-US" altLang="zh-CN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dirty="0">
                <a:latin typeface="微软雅黑"/>
                <a:ea typeface="微软雅黑"/>
                <a:cs typeface="宋体" charset="0"/>
              </a:endParaRPr>
            </a:p>
          </p:txBody>
        </p:sp>
        <p:sp>
          <p:nvSpPr>
            <p:cNvPr id="49" name="内容占位符 2"/>
            <p:cNvSpPr txBox="1">
              <a:spLocks/>
            </p:cNvSpPr>
            <p:nvPr/>
          </p:nvSpPr>
          <p:spPr>
            <a:xfrm>
              <a:off x="1142976" y="2584981"/>
              <a:ext cx="857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优点</a:t>
              </a:r>
              <a:endParaRPr lang="en-US" altLang="zh-CN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44893" y="2584981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51" name="图片 50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346081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2" name="内容占位符 2"/>
            <p:cNvSpPr txBox="1">
              <a:spLocks/>
            </p:cNvSpPr>
            <p:nvPr/>
          </p:nvSpPr>
          <p:spPr>
            <a:xfrm>
              <a:off x="1394985" y="3241305"/>
              <a:ext cx="281982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latin typeface="微软雅黑"/>
                  <a:ea typeface="微软雅黑"/>
                  <a:cs typeface="宋体" charset="0"/>
                </a:rPr>
                <a:t>没有碎片</a:t>
              </a:r>
              <a:endParaRPr lang="en-US" altLang="zh-CN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dirty="0">
                <a:latin typeface="微软雅黑"/>
                <a:ea typeface="微软雅黑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67408" y="4360168"/>
            <a:ext cx="3868729" cy="729424"/>
            <a:chOff x="843499" y="3534901"/>
            <a:chExt cx="3868729" cy="729424"/>
          </a:xfrm>
        </p:grpSpPr>
        <p:pic>
          <p:nvPicPr>
            <p:cNvPr id="53" name="图片 5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1028" y="3981221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4" name="内容占位符 2"/>
            <p:cNvSpPr txBox="1">
              <a:spLocks/>
            </p:cNvSpPr>
            <p:nvPr/>
          </p:nvSpPr>
          <p:spPr>
            <a:xfrm>
              <a:off x="1393591" y="3876445"/>
              <a:ext cx="3318637" cy="38788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latin typeface="微软雅黑"/>
                  <a:ea typeface="微软雅黑"/>
                  <a:cs typeface="宋体" charset="0"/>
                </a:rPr>
                <a:t>无法实现真正的随机访问</a:t>
              </a:r>
              <a:endParaRPr lang="en-US" altLang="zh-CN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dirty="0">
                <a:latin typeface="微软雅黑"/>
                <a:ea typeface="微软雅黑"/>
              </a:endParaRPr>
            </a:p>
          </p:txBody>
        </p:sp>
        <p:sp>
          <p:nvSpPr>
            <p:cNvPr id="55" name="内容占位符 2"/>
            <p:cNvSpPr txBox="1">
              <a:spLocks/>
            </p:cNvSpPr>
            <p:nvPr/>
          </p:nvSpPr>
          <p:spPr>
            <a:xfrm>
              <a:off x="1141582" y="3534901"/>
              <a:ext cx="857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缺点</a:t>
              </a:r>
              <a:endParaRPr lang="en-US" altLang="zh-CN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43499" y="3534901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84933" y="5016496"/>
            <a:ext cx="4607116" cy="649163"/>
            <a:chOff x="1261028" y="4191225"/>
            <a:chExt cx="4607116" cy="649163"/>
          </a:xfrm>
        </p:grpSpPr>
        <p:pic>
          <p:nvPicPr>
            <p:cNvPr id="57" name="图片 5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1028" y="4296001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8" name="内容占位符 2"/>
            <p:cNvSpPr txBox="1">
              <a:spLocks/>
            </p:cNvSpPr>
            <p:nvPr/>
          </p:nvSpPr>
          <p:spPr>
            <a:xfrm>
              <a:off x="1393592" y="4191225"/>
              <a:ext cx="1928826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可靠性差</a:t>
              </a:r>
            </a:p>
          </p:txBody>
        </p:sp>
        <p:sp>
          <p:nvSpPr>
            <p:cNvPr id="59" name="内容占位符 2"/>
            <p:cNvSpPr txBox="1">
              <a:spLocks/>
            </p:cNvSpPr>
            <p:nvPr/>
          </p:nvSpPr>
          <p:spPr>
            <a:xfrm>
              <a:off x="1651446" y="4512808"/>
              <a:ext cx="4216698" cy="32758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>
                  <a:latin typeface="微软雅黑"/>
                  <a:ea typeface="微软雅黑"/>
                  <a:cs typeface="宋体" charset="0"/>
                </a:rPr>
                <a:t>破坏一个链，后面的数据块就丢了</a:t>
              </a:r>
              <a:endParaRPr lang="en-US" altLang="zh-CN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dirty="0">
                <a:latin typeface="微软雅黑"/>
                <a:ea typeface="微软雅黑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7408" y="2538395"/>
            <a:ext cx="6456142" cy="831438"/>
            <a:chOff x="827584" y="1020232"/>
            <a:chExt cx="6456142" cy="831438"/>
          </a:xfrm>
        </p:grpSpPr>
        <p:sp>
          <p:nvSpPr>
            <p:cNvPr id="60" name="矩形 59"/>
            <p:cNvSpPr/>
            <p:nvPr/>
          </p:nvSpPr>
          <p:spPr>
            <a:xfrm>
              <a:off x="827584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FF99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I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248746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5641234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073282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987824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4316626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5198300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1667134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2117470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2530086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3430758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3885722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4744046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6995726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537988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954630" y="1404257"/>
              <a:ext cx="1317171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3142726" y="1404257"/>
              <a:ext cx="1317171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5374974" y="1404257"/>
              <a:ext cx="1317171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8" name="任意多边形 77"/>
            <p:cNvSpPr/>
            <p:nvPr/>
          </p:nvSpPr>
          <p:spPr>
            <a:xfrm>
              <a:off x="921973" y="1426029"/>
              <a:ext cx="6313714" cy="425641"/>
            </a:xfrm>
            <a:custGeom>
              <a:avLst/>
              <a:gdLst>
                <a:gd name="connsiteX0" fmla="*/ 0 w 6313714"/>
                <a:gd name="connsiteY0" fmla="*/ 0 h 542471"/>
                <a:gd name="connsiteX1" fmla="*/ 849086 w 6313714"/>
                <a:gd name="connsiteY1" fmla="*/ 457200 h 542471"/>
                <a:gd name="connsiteX2" fmla="*/ 4659086 w 6313714"/>
                <a:gd name="connsiteY2" fmla="*/ 511628 h 542471"/>
                <a:gd name="connsiteX3" fmla="*/ 5856514 w 6313714"/>
                <a:gd name="connsiteY3" fmla="*/ 446314 h 542471"/>
                <a:gd name="connsiteX4" fmla="*/ 6313714 w 6313714"/>
                <a:gd name="connsiteY4" fmla="*/ 0 h 54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3714" h="542471">
                  <a:moveTo>
                    <a:pt x="0" y="0"/>
                  </a:moveTo>
                  <a:cubicBezTo>
                    <a:pt x="36286" y="185964"/>
                    <a:pt x="72572" y="371929"/>
                    <a:pt x="849086" y="457200"/>
                  </a:cubicBezTo>
                  <a:cubicBezTo>
                    <a:pt x="1625600" y="542471"/>
                    <a:pt x="3824515" y="513442"/>
                    <a:pt x="4659086" y="511628"/>
                  </a:cubicBezTo>
                  <a:cubicBezTo>
                    <a:pt x="5493657" y="509814"/>
                    <a:pt x="5580743" y="531585"/>
                    <a:pt x="5856514" y="446314"/>
                  </a:cubicBezTo>
                  <a:cubicBezTo>
                    <a:pt x="6132285" y="361043"/>
                    <a:pt x="6222999" y="180521"/>
                    <a:pt x="6313714" y="0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6732241" y="1404257"/>
              <a:ext cx="360040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2728256" y="1404257"/>
              <a:ext cx="360040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2300402" y="1404257"/>
              <a:ext cx="360040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4499992" y="1404257"/>
              <a:ext cx="813115" cy="231389"/>
            </a:xfrm>
            <a:custGeom>
              <a:avLst/>
              <a:gdLst>
                <a:gd name="connsiteX0" fmla="*/ 0 w 1317171"/>
                <a:gd name="connsiteY0" fmla="*/ 0 h 326572"/>
                <a:gd name="connsiteX1" fmla="*/ 163286 w 1317171"/>
                <a:gd name="connsiteY1" fmla="*/ 206829 h 326572"/>
                <a:gd name="connsiteX2" fmla="*/ 587829 w 1317171"/>
                <a:gd name="connsiteY2" fmla="*/ 315686 h 326572"/>
                <a:gd name="connsiteX3" fmla="*/ 1055914 w 1317171"/>
                <a:gd name="connsiteY3" fmla="*/ 272143 h 326572"/>
                <a:gd name="connsiteX4" fmla="*/ 1317171 w 1317171"/>
                <a:gd name="connsiteY4" fmla="*/ 21772 h 32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7171" h="326572">
                  <a:moveTo>
                    <a:pt x="0" y="0"/>
                  </a:moveTo>
                  <a:cubicBezTo>
                    <a:pt x="32657" y="77107"/>
                    <a:pt x="65315" y="154215"/>
                    <a:pt x="163286" y="206829"/>
                  </a:cubicBezTo>
                  <a:cubicBezTo>
                    <a:pt x="261257" y="259443"/>
                    <a:pt x="439058" y="304800"/>
                    <a:pt x="587829" y="315686"/>
                  </a:cubicBezTo>
                  <a:cubicBezTo>
                    <a:pt x="736600" y="326572"/>
                    <a:pt x="934357" y="321129"/>
                    <a:pt x="1055914" y="272143"/>
                  </a:cubicBezTo>
                  <a:cubicBezTo>
                    <a:pt x="1177471" y="223157"/>
                    <a:pt x="1247321" y="122464"/>
                    <a:pt x="1317171" y="21772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9" name="标题 8">
            <a:extLst>
              <a:ext uri="{FF2B5EF4-FFF2-40B4-BE49-F238E27FC236}">
                <a16:creationId xmlns:a16="http://schemas.microsoft.com/office/drawing/2014/main" id="{5D80D7E1-8694-345D-361E-5CEC2116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链式分配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5DFA12A-C995-ABE0-3CFA-52723082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550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1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1665571"/>
            <a:ext cx="4741862" cy="292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900" name="Text Box 1028"/>
          <p:cNvSpPr txBox="1">
            <a:spLocks noChangeArrowheads="1"/>
          </p:cNvSpPr>
          <p:nvPr/>
        </p:nvSpPr>
        <p:spPr bwMode="auto">
          <a:xfrm>
            <a:off x="1487488" y="4642591"/>
            <a:ext cx="474186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基于独立的块做分配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每个块中包含链中下一块的指针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在文件分配表中每个文件只有一个入口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无外碎片</a:t>
            </a:r>
          </a:p>
        </p:txBody>
      </p:sp>
      <p:sp>
        <p:nvSpPr>
          <p:cNvPr id="80901" name="Text Box 1029"/>
          <p:cNvSpPr txBox="1">
            <a:spLocks noChangeArrowheads="1"/>
          </p:cNvSpPr>
          <p:nvPr/>
        </p:nvSpPr>
        <p:spPr bwMode="auto">
          <a:xfrm>
            <a:off x="6123384" y="4637005"/>
            <a:ext cx="3429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任何自由块可添加到链中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无须预先分配</a:t>
            </a:r>
          </a:p>
        </p:txBody>
      </p:sp>
      <p:sp>
        <p:nvSpPr>
          <p:cNvPr id="80902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7B48F6D-C024-4E62-9D43-50E0174AC4AB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567F016-82C6-E7B0-F9F1-48938F17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４）实现磁盘 链式分配方式示例：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D0EFA8-3824-E45F-0753-570C2117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051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784721" y="1628800"/>
            <a:ext cx="3869983" cy="435882"/>
            <a:chOff x="844893" y="2011126"/>
            <a:chExt cx="3869983" cy="435882"/>
          </a:xfrm>
        </p:grpSpPr>
        <p:sp>
          <p:nvSpPr>
            <p:cNvPr id="42" name="内容占位符 2"/>
            <p:cNvSpPr txBox="1">
              <a:spLocks/>
            </p:cNvSpPr>
            <p:nvPr/>
          </p:nvSpPr>
          <p:spPr>
            <a:xfrm>
              <a:off x="1142976" y="2032898"/>
              <a:ext cx="3571900" cy="41411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为每个文件创建一个</a:t>
              </a:r>
              <a:r>
                <a:rPr lang="zh-CN" altLang="en-US" sz="1800" dirty="0">
                  <a:solidFill>
                    <a:srgbClr val="C00000"/>
                  </a:solidFill>
                  <a:latin typeface="微软雅黑"/>
                  <a:ea typeface="微软雅黑"/>
                  <a:cs typeface="宋体" charset="0"/>
                </a:rPr>
                <a:t>索引数据块</a:t>
              </a:r>
              <a:endParaRPr lang="en-US" altLang="zh-CN" sz="1800" dirty="0">
                <a:solidFill>
                  <a:srgbClr val="FF0000"/>
                </a:solidFill>
                <a:latin typeface="微软雅黑"/>
                <a:ea typeface="微软雅黑"/>
                <a:cs typeface="宋体" charset="0"/>
              </a:endParaRPr>
            </a:p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en-US" altLang="zh-CN" sz="1800" dirty="0">
                <a:latin typeface="微软雅黑"/>
                <a:ea typeface="微软雅黑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4893" y="201112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84721" y="3600725"/>
            <a:ext cx="3727107" cy="1262639"/>
            <a:chOff x="844893" y="2835719"/>
            <a:chExt cx="3727107" cy="1262639"/>
          </a:xfrm>
        </p:grpSpPr>
        <p:pic>
          <p:nvPicPr>
            <p:cNvPr id="49" name="图片 4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260267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0" name="内容占位符 2"/>
            <p:cNvSpPr txBox="1">
              <a:spLocks/>
            </p:cNvSpPr>
            <p:nvPr/>
          </p:nvSpPr>
          <p:spPr>
            <a:xfrm>
              <a:off x="1394985" y="3177263"/>
              <a:ext cx="3177015" cy="32639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创建、增大、缩小很容易</a:t>
              </a:r>
              <a:endParaRPr lang="en-US" altLang="zh-CN" sz="1800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sz="1800" dirty="0">
                <a:latin typeface="微软雅黑"/>
                <a:ea typeface="微软雅黑"/>
              </a:endParaRPr>
            </a:p>
          </p:txBody>
        </p:sp>
        <p:sp>
          <p:nvSpPr>
            <p:cNvPr id="51" name="内容占位符 2"/>
            <p:cNvSpPr txBox="1">
              <a:spLocks/>
            </p:cNvSpPr>
            <p:nvPr/>
          </p:nvSpPr>
          <p:spPr>
            <a:xfrm>
              <a:off x="1142976" y="2868377"/>
              <a:ext cx="857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优点</a:t>
              </a:r>
              <a:endParaRPr lang="en-US" altLang="zh-CN" sz="18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44893" y="2835719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53" name="图片 5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542389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4" name="内容占位符 2"/>
            <p:cNvSpPr txBox="1">
              <a:spLocks/>
            </p:cNvSpPr>
            <p:nvPr/>
          </p:nvSpPr>
          <p:spPr>
            <a:xfrm>
              <a:off x="1394985" y="3448499"/>
              <a:ext cx="281982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没有碎片</a:t>
              </a:r>
              <a:endParaRPr lang="en-US" altLang="zh-CN" sz="1800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sz="1800" dirty="0">
                <a:latin typeface="微软雅黑"/>
                <a:ea typeface="微软雅黑"/>
              </a:endParaRPr>
            </a:p>
          </p:txBody>
        </p:sp>
        <p:pic>
          <p:nvPicPr>
            <p:cNvPr id="68" name="图片 6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83392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69" name="内容占位符 2"/>
            <p:cNvSpPr txBox="1">
              <a:spLocks/>
            </p:cNvSpPr>
            <p:nvPr/>
          </p:nvSpPr>
          <p:spPr>
            <a:xfrm>
              <a:off x="1394985" y="3740036"/>
              <a:ext cx="281982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支持直接访问</a:t>
              </a:r>
              <a:endParaRPr lang="en-US" altLang="zh-CN" sz="1800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sz="1800" dirty="0">
                <a:latin typeface="微软雅黑"/>
                <a:ea typeface="微软雅黑"/>
                <a:cs typeface="宋体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67408" y="2714544"/>
            <a:ext cx="6445256" cy="982799"/>
            <a:chOff x="827584" y="1020232"/>
            <a:chExt cx="6445256" cy="982799"/>
          </a:xfrm>
        </p:grpSpPr>
        <p:sp>
          <p:nvSpPr>
            <p:cNvPr id="60" name="矩形 59"/>
            <p:cNvSpPr/>
            <p:nvPr/>
          </p:nvSpPr>
          <p:spPr>
            <a:xfrm>
              <a:off x="827584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FF99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I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248746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5641234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6073282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987824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4316626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5198300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987287" y="1433602"/>
              <a:ext cx="859295" cy="202044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098038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2530086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429614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3861662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4745190" y="1020232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6984840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6527102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1665990" y="1020232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8" name="内容占位符 2"/>
            <p:cNvSpPr txBox="1">
              <a:spLocks/>
            </p:cNvSpPr>
            <p:nvPr/>
          </p:nvSpPr>
          <p:spPr>
            <a:xfrm>
              <a:off x="1595126" y="1059582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1826393" y="1423952"/>
              <a:ext cx="859295" cy="202044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1821297" y="1419491"/>
              <a:ext cx="1296144" cy="288032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1828608" y="1420407"/>
              <a:ext cx="2664296" cy="360040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1827861" y="1419524"/>
              <a:ext cx="3600400" cy="432048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1828608" y="1434444"/>
              <a:ext cx="4896544" cy="504056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4" name="任意多边形 83"/>
            <p:cNvSpPr/>
            <p:nvPr/>
          </p:nvSpPr>
          <p:spPr>
            <a:xfrm>
              <a:off x="1828608" y="1426967"/>
              <a:ext cx="5400600" cy="576064"/>
            </a:xfrm>
            <a:custGeom>
              <a:avLst/>
              <a:gdLst>
                <a:gd name="connsiteX0" fmla="*/ 0 w 2111829"/>
                <a:gd name="connsiteY0" fmla="*/ 0 h 469900"/>
                <a:gd name="connsiteX1" fmla="*/ 381000 w 2111829"/>
                <a:gd name="connsiteY1" fmla="*/ 370115 h 469900"/>
                <a:gd name="connsiteX2" fmla="*/ 1219200 w 2111829"/>
                <a:gd name="connsiteY2" fmla="*/ 457200 h 469900"/>
                <a:gd name="connsiteX3" fmla="*/ 1861457 w 2111829"/>
                <a:gd name="connsiteY3" fmla="*/ 293915 h 469900"/>
                <a:gd name="connsiteX4" fmla="*/ 2111829 w 2111829"/>
                <a:gd name="connsiteY4" fmla="*/ 10886 h 46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1829" h="469900">
                  <a:moveTo>
                    <a:pt x="0" y="0"/>
                  </a:moveTo>
                  <a:cubicBezTo>
                    <a:pt x="88900" y="146957"/>
                    <a:pt x="177800" y="293915"/>
                    <a:pt x="381000" y="370115"/>
                  </a:cubicBezTo>
                  <a:cubicBezTo>
                    <a:pt x="584200" y="446315"/>
                    <a:pt x="972457" y="469900"/>
                    <a:pt x="1219200" y="457200"/>
                  </a:cubicBezTo>
                  <a:cubicBezTo>
                    <a:pt x="1465943" y="444500"/>
                    <a:pt x="1712686" y="368301"/>
                    <a:pt x="1861457" y="293915"/>
                  </a:cubicBezTo>
                  <a:cubicBezTo>
                    <a:pt x="2010229" y="219529"/>
                    <a:pt x="2061029" y="115207"/>
                    <a:pt x="2111829" y="10886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84717" y="4761832"/>
            <a:ext cx="4364368" cy="940270"/>
            <a:chOff x="844893" y="3996830"/>
            <a:chExt cx="4364368" cy="940270"/>
          </a:xfrm>
        </p:grpSpPr>
        <p:pic>
          <p:nvPicPr>
            <p:cNvPr id="55" name="图片 5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517" y="441156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6" name="内容占位符 2"/>
            <p:cNvSpPr txBox="1">
              <a:spLocks/>
            </p:cNvSpPr>
            <p:nvPr/>
          </p:nvSpPr>
          <p:spPr>
            <a:xfrm>
              <a:off x="1423080" y="4317674"/>
              <a:ext cx="3786181" cy="31381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当文件很小时，存储索引的</a:t>
              </a:r>
              <a:r>
                <a:rPr lang="zh-CN" altLang="en-US" sz="1800" dirty="0">
                  <a:solidFill>
                    <a:srgbClr val="C00000"/>
                  </a:solidFill>
                  <a:latin typeface="微软雅黑"/>
                  <a:ea typeface="微软雅黑"/>
                  <a:cs typeface="宋体" charset="0"/>
                </a:rPr>
                <a:t>开销</a:t>
              </a:r>
              <a:endParaRPr lang="en-US" altLang="zh-CN" sz="1800" dirty="0">
                <a:solidFill>
                  <a:srgbClr val="C00000"/>
                </a:solidFill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zh-CN" altLang="en-US" sz="1800" dirty="0">
                <a:latin typeface="微软雅黑"/>
                <a:ea typeface="微软雅黑"/>
              </a:endParaRPr>
            </a:p>
          </p:txBody>
        </p:sp>
        <p:sp>
          <p:nvSpPr>
            <p:cNvPr id="57" name="内容占位符 2"/>
            <p:cNvSpPr txBox="1">
              <a:spLocks/>
            </p:cNvSpPr>
            <p:nvPr/>
          </p:nvSpPr>
          <p:spPr>
            <a:xfrm>
              <a:off x="1148274" y="4014408"/>
              <a:ext cx="857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/>
                <a:t>缺点</a:t>
              </a:r>
              <a:endParaRPr lang="en-US" altLang="zh-CN" sz="1800" dirty="0"/>
            </a:p>
          </p:txBody>
        </p:sp>
        <p:pic>
          <p:nvPicPr>
            <p:cNvPr id="58" name="图片 5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517" y="468280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9" name="内容占位符 2"/>
            <p:cNvSpPr txBox="1">
              <a:spLocks/>
            </p:cNvSpPr>
            <p:nvPr/>
          </p:nvSpPr>
          <p:spPr>
            <a:xfrm>
              <a:off x="1423080" y="4578024"/>
              <a:ext cx="3390645" cy="35907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0080"/>
                </a:buClr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如何处理大文件</a:t>
              </a:r>
              <a:r>
                <a:rPr lang="en-US" altLang="zh-CN" sz="1800" dirty="0">
                  <a:latin typeface="微软雅黑"/>
                  <a:ea typeface="微软雅黑"/>
                  <a:cs typeface="宋体" charset="0"/>
                </a:rPr>
                <a:t>?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44893" y="399683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202246" y="1928354"/>
            <a:ext cx="3452454" cy="358322"/>
            <a:chOff x="1262422" y="1163352"/>
            <a:chExt cx="3452454" cy="358322"/>
          </a:xfrm>
        </p:grpSpPr>
        <p:pic>
          <p:nvPicPr>
            <p:cNvPr id="94" name="图片 93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268128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95" name="内容占位符 2"/>
            <p:cNvSpPr txBox="1">
              <a:spLocks/>
            </p:cNvSpPr>
            <p:nvPr/>
          </p:nvSpPr>
          <p:spPr>
            <a:xfrm>
              <a:off x="1394985" y="1163352"/>
              <a:ext cx="331989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指向文件数据块的指针列表</a:t>
              </a:r>
              <a:endParaRPr lang="en-US" altLang="zh-CN" sz="1800" dirty="0">
                <a:latin typeface="微软雅黑"/>
                <a:ea typeface="微软雅黑"/>
                <a:cs typeface="宋体" charset="0"/>
              </a:endParaRPr>
            </a:p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en-US" altLang="zh-CN" sz="1800" dirty="0">
                <a:latin typeface="微软雅黑"/>
                <a:ea typeface="微软雅黑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84721" y="2165492"/>
            <a:ext cx="3943131" cy="445804"/>
            <a:chOff x="844893" y="1400490"/>
            <a:chExt cx="3943131" cy="445804"/>
          </a:xfrm>
        </p:grpSpPr>
        <p:sp>
          <p:nvSpPr>
            <p:cNvPr id="96" name="内容占位符 2"/>
            <p:cNvSpPr txBox="1">
              <a:spLocks/>
            </p:cNvSpPr>
            <p:nvPr/>
          </p:nvSpPr>
          <p:spPr>
            <a:xfrm>
              <a:off x="1142976" y="1433148"/>
              <a:ext cx="3645048" cy="41314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sz="1800" dirty="0">
                  <a:latin typeface="微软雅黑"/>
                  <a:ea typeface="微软雅黑"/>
                  <a:cs typeface="宋体" charset="0"/>
                </a:rPr>
                <a:t>文件头包含了索引数据块指针</a:t>
              </a:r>
              <a:endParaRPr lang="en-US" altLang="zh-CN" sz="1800" dirty="0">
                <a:latin typeface="微软雅黑"/>
                <a:ea typeface="微软雅黑"/>
                <a:cs typeface="宋体" charset="0"/>
              </a:endParaRPr>
            </a:p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endParaRPr lang="en-US" altLang="zh-CN" sz="1800" dirty="0">
                <a:latin typeface="微软雅黑"/>
                <a:ea typeface="微软雅黑"/>
              </a:endParaRPr>
            </a:p>
          </p:txBody>
        </p:sp>
        <p:sp>
          <p:nvSpPr>
            <p:cNvPr id="97" name="TextBox 47"/>
            <p:cNvSpPr txBox="1"/>
            <p:nvPr/>
          </p:nvSpPr>
          <p:spPr>
            <a:xfrm>
              <a:off x="844893" y="140049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CDA7E9C9-CD28-BF78-BD3A-0ED3ED25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索引分配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B5F9458-E003-B144-8A45-3E404359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892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368897" y="1689204"/>
            <a:ext cx="6988079" cy="1811804"/>
            <a:chOff x="844893" y="831954"/>
            <a:chExt cx="6988079" cy="1811804"/>
          </a:xfrm>
        </p:grpSpPr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1142976" y="831954"/>
              <a:ext cx="314327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/>
                <a:t>链式索引块</a:t>
              </a:r>
              <a:r>
                <a:rPr lang="en-US" altLang="zh-CN" dirty="0"/>
                <a:t> (IB+IB+…)</a:t>
              </a:r>
              <a:endParaRPr lang="zh-CN" alt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4893" y="83195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383814" y="1342928"/>
              <a:ext cx="288000" cy="3960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FF99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I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804976" y="1342928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544054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91182" y="1342928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419036" y="1342928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872856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315790" y="1342928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754530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669824" y="1342928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236632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6" name="内容占位符 2"/>
            <p:cNvSpPr txBox="1">
              <a:spLocks/>
            </p:cNvSpPr>
            <p:nvPr/>
          </p:nvSpPr>
          <p:spPr>
            <a:xfrm>
              <a:off x="2165768" y="1382278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3101872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544972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102790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218092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2" name="内容占位符 2"/>
            <p:cNvSpPr txBox="1">
              <a:spLocks/>
            </p:cNvSpPr>
            <p:nvPr/>
          </p:nvSpPr>
          <p:spPr>
            <a:xfrm>
              <a:off x="6147228" y="1382278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6660650" y="1342928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5" name="内容占位符 2"/>
            <p:cNvSpPr txBox="1">
              <a:spLocks/>
            </p:cNvSpPr>
            <p:nvPr/>
          </p:nvSpPr>
          <p:spPr>
            <a:xfrm>
              <a:off x="6589786" y="1382278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1481959" y="1744717"/>
              <a:ext cx="872359" cy="250969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6372201" y="1744717"/>
              <a:ext cx="360040" cy="250969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2360772" y="1744717"/>
              <a:ext cx="4032448" cy="899041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2411760" y="1744717"/>
              <a:ext cx="872359" cy="106953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0" name="任意多边形 39"/>
            <p:cNvSpPr/>
            <p:nvPr/>
          </p:nvSpPr>
          <p:spPr>
            <a:xfrm>
              <a:off x="2411760" y="1723697"/>
              <a:ext cx="1304407" cy="271989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5035578" y="1723697"/>
              <a:ext cx="1304407" cy="416005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5857635" y="1723697"/>
              <a:ext cx="432048" cy="127973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6804248" y="1723697"/>
              <a:ext cx="432048" cy="127973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6762209" y="1723697"/>
              <a:ext cx="906135" cy="416005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368897" y="3716338"/>
            <a:ext cx="6988079" cy="1944910"/>
            <a:chOff x="844893" y="2859088"/>
            <a:chExt cx="6988079" cy="1944910"/>
          </a:xfrm>
        </p:grpSpPr>
        <p:sp>
          <p:nvSpPr>
            <p:cNvPr id="12" name="内容占位符 2"/>
            <p:cNvSpPr txBox="1">
              <a:spLocks/>
            </p:cNvSpPr>
            <p:nvPr/>
          </p:nvSpPr>
          <p:spPr>
            <a:xfrm>
              <a:off x="1142976" y="2859088"/>
              <a:ext cx="314327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/>
                <a:t>多级索引块</a:t>
              </a:r>
              <a:r>
                <a:rPr lang="en-US" altLang="zh-CN" dirty="0"/>
                <a:t>(IB*IB </a:t>
              </a:r>
              <a:r>
                <a:rPr lang="zh-CN" altLang="en-US" dirty="0"/>
                <a:t>*</a:t>
              </a:r>
              <a:r>
                <a:rPr lang="en-US" altLang="zh-CN" dirty="0"/>
                <a:t>…)</a:t>
              </a:r>
              <a:endParaRPr lang="zh-CN" alt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4893" y="285908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383814" y="3339270"/>
              <a:ext cx="288000" cy="396000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100000">
                  <a:srgbClr val="FF99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I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804976" y="3339270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544054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991182" y="3339270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4872856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315790" y="3339270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754530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2669824" y="3339270"/>
              <a:ext cx="288000" cy="396000"/>
            </a:xfrm>
            <a:prstGeom prst="rect">
              <a:avLst/>
            </a:prstGeom>
            <a:gradFill>
              <a:gsLst>
                <a:gs pos="0">
                  <a:srgbClr val="66FF33"/>
                </a:gs>
                <a:gs pos="100000">
                  <a:srgbClr val="0033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2236632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0" name="内容占位符 2"/>
            <p:cNvSpPr txBox="1">
              <a:spLocks/>
            </p:cNvSpPr>
            <p:nvPr/>
          </p:nvSpPr>
          <p:spPr>
            <a:xfrm>
              <a:off x="2165768" y="3378620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61" name="矩形 60"/>
            <p:cNvSpPr/>
            <p:nvPr/>
          </p:nvSpPr>
          <p:spPr>
            <a:xfrm>
              <a:off x="3101872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7544972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7102790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093DD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6218092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6" name="内容占位符 2"/>
            <p:cNvSpPr txBox="1">
              <a:spLocks/>
            </p:cNvSpPr>
            <p:nvPr/>
          </p:nvSpPr>
          <p:spPr>
            <a:xfrm>
              <a:off x="6147228" y="3378620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68" name="矩形 67"/>
            <p:cNvSpPr/>
            <p:nvPr/>
          </p:nvSpPr>
          <p:spPr>
            <a:xfrm>
              <a:off x="6660650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9" name="内容占位符 2"/>
            <p:cNvSpPr txBox="1">
              <a:spLocks/>
            </p:cNvSpPr>
            <p:nvPr/>
          </p:nvSpPr>
          <p:spPr>
            <a:xfrm>
              <a:off x="6589786" y="3378620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4426840" y="3339270"/>
              <a:ext cx="288000" cy="396000"/>
            </a:xfrm>
            <a:prstGeom prst="rect">
              <a:avLst/>
            </a:prstGeom>
            <a:gradFill>
              <a:gsLst>
                <a:gs pos="100000">
                  <a:srgbClr val="663300"/>
                </a:gs>
                <a:gs pos="0">
                  <a:srgbClr val="CC66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sz="16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2" name="内容占位符 2"/>
            <p:cNvSpPr txBox="1">
              <a:spLocks/>
            </p:cNvSpPr>
            <p:nvPr/>
          </p:nvSpPr>
          <p:spPr>
            <a:xfrm>
              <a:off x="4355976" y="3378620"/>
              <a:ext cx="576064" cy="360040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en-US" altLang="zh-CN" sz="1800" dirty="0">
                  <a:solidFill>
                    <a:prstClr val="white"/>
                  </a:solidFill>
                </a:rPr>
                <a:t>IB</a:t>
              </a:r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1481959" y="3734389"/>
              <a:ext cx="872359" cy="277522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2390740" y="3734388"/>
              <a:ext cx="2232248" cy="565554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2339752" y="3734388"/>
              <a:ext cx="4104456" cy="853586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2339752" y="3734388"/>
              <a:ext cx="4485516" cy="1069610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6600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7" name="任意多边形 76"/>
            <p:cNvSpPr/>
            <p:nvPr/>
          </p:nvSpPr>
          <p:spPr>
            <a:xfrm>
              <a:off x="6835778" y="3765918"/>
              <a:ext cx="432048" cy="199981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8" name="任意多边形 77"/>
            <p:cNvSpPr/>
            <p:nvPr/>
          </p:nvSpPr>
          <p:spPr>
            <a:xfrm>
              <a:off x="6793739" y="3765918"/>
              <a:ext cx="874605" cy="416005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9" name="任意多边形 78"/>
            <p:cNvSpPr/>
            <p:nvPr/>
          </p:nvSpPr>
          <p:spPr>
            <a:xfrm>
              <a:off x="4932040" y="3744899"/>
              <a:ext cx="1407945" cy="339020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5857635" y="3744899"/>
              <a:ext cx="432048" cy="122996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3635897" y="3744899"/>
              <a:ext cx="864096" cy="267011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2" name="任意多边形 81"/>
            <p:cNvSpPr/>
            <p:nvPr/>
          </p:nvSpPr>
          <p:spPr>
            <a:xfrm>
              <a:off x="3203848" y="3744899"/>
              <a:ext cx="1296144" cy="411027"/>
            </a:xfrm>
            <a:custGeom>
              <a:avLst/>
              <a:gdLst>
                <a:gd name="connsiteX0" fmla="*/ 0 w 872359"/>
                <a:gd name="connsiteY0" fmla="*/ 0 h 350345"/>
                <a:gd name="connsiteX1" fmla="*/ 168166 w 872359"/>
                <a:gd name="connsiteY1" fmla="*/ 283780 h 350345"/>
                <a:gd name="connsiteX2" fmla="*/ 620111 w 872359"/>
                <a:gd name="connsiteY2" fmla="*/ 304800 h 350345"/>
                <a:gd name="connsiteX3" fmla="*/ 872359 w 872359"/>
                <a:gd name="connsiteY3" fmla="*/ 10511 h 350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2359" h="350345">
                  <a:moveTo>
                    <a:pt x="0" y="0"/>
                  </a:moveTo>
                  <a:cubicBezTo>
                    <a:pt x="32407" y="116490"/>
                    <a:pt x="64814" y="232980"/>
                    <a:pt x="168166" y="283780"/>
                  </a:cubicBezTo>
                  <a:cubicBezTo>
                    <a:pt x="271518" y="334580"/>
                    <a:pt x="502746" y="350345"/>
                    <a:pt x="620111" y="304800"/>
                  </a:cubicBezTo>
                  <a:cubicBezTo>
                    <a:pt x="737476" y="259255"/>
                    <a:pt x="804917" y="134883"/>
                    <a:pt x="872359" y="10511"/>
                  </a:cubicBez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6" name="标题 5">
            <a:extLst>
              <a:ext uri="{FF2B5EF4-FFF2-40B4-BE49-F238E27FC236}">
                <a16:creationId xmlns:a16="http://schemas.microsoft.com/office/drawing/2014/main" id="{5B81390D-8591-6D53-59A7-3B7A2EFA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大文件的索引分配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05550B4-5A5A-585B-25B1-A151BF50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059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88A85C-F432-419B-AC4D-301B06D259F5}" type="slidenum">
              <a:rPr lang="en-US" altLang="ko-KR">
                <a:solidFill>
                  <a:schemeClr val="bg1"/>
                </a:solidFill>
                <a:ea typeface="굴림" pitchFamily="34" charset="-127"/>
              </a:rPr>
              <a:pPr/>
              <a:t>17</a:t>
            </a:fld>
            <a:endParaRPr lang="en-US" altLang="ko-KR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Physical structure of file: index table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8" name="Picture 11" descr="文件的索引表分配方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056" y="1700808"/>
            <a:ext cx="8497888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1552258"/>
            <a:ext cx="6265316" cy="387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24" name="Text Box 1028"/>
          <p:cNvSpPr txBox="1">
            <a:spLocks noChangeArrowheads="1"/>
          </p:cNvSpPr>
          <p:nvPr/>
        </p:nvSpPr>
        <p:spPr bwMode="auto">
          <a:xfrm>
            <a:off x="2639616" y="5531089"/>
            <a:ext cx="512921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采用的方式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文件分配表中包含着对应的索引块号</a:t>
            </a:r>
          </a:p>
        </p:txBody>
      </p:sp>
      <p:sp>
        <p:nvSpPr>
          <p:cNvPr id="81925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2F93688-A0BF-4597-A4E3-3DF2344CA0C9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AE8772A-6F99-D79A-DCB3-EC4454C8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５）磁盘基于块的索引分配示例：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27ECB2-2FDB-09FB-B44C-BEE89014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15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fld id="{341670B7-74BE-49A0-B9E2-9F54B41A920E}" type="slidenum">
              <a:rPr lang="en-US" altLang="ko-KR">
                <a:solidFill>
                  <a:schemeClr val="bg1"/>
                </a:solidFill>
                <a:ea typeface="굴림" pitchFamily="34" charset="-127"/>
              </a:rPr>
              <a:pPr>
                <a:buNone/>
              </a:pPr>
              <a:t>19</a:t>
            </a:fld>
            <a:endParaRPr lang="en-US" altLang="ko-KR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Summary of file physical structure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graphicFrame>
        <p:nvGraphicFramePr>
          <p:cNvPr id="7" name="Group 7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53642"/>
              </p:ext>
            </p:extLst>
          </p:nvPr>
        </p:nvGraphicFramePr>
        <p:xfrm>
          <a:off x="695325" y="1570038"/>
          <a:ext cx="10801348" cy="4145060"/>
        </p:xfrm>
        <a:graphic>
          <a:graphicData uri="http://schemas.openxmlformats.org/drawingml/2006/table">
            <a:tbl>
              <a:tblPr/>
              <a:tblGrid>
                <a:gridCol w="142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0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74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Continuous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Link table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Index table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74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media</a:t>
                      </a: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tape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Unsupported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unsupported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7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disk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supported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98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Access mode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Sequential &amp; random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sequential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Sequential &amp; random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74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Efficiency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Low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Middle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High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98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Application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To simple to be used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Not popular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C4E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Widely used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9C4E00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45717" marB="45717" horzOverflow="overflow">
                    <a:lnL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C4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467B4-67C2-45A5-8462-34058FB9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20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4954B4-3493-4580-AA3E-8CCA7CBFC32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 err="1"/>
              <a:t>GFS:Google</a:t>
            </a:r>
            <a:r>
              <a:rPr lang="en-US" altLang="zh-CN" dirty="0"/>
              <a:t> File System</a:t>
            </a:r>
            <a:r>
              <a:rPr lang="zh-CN" altLang="en-US" dirty="0"/>
              <a:t>设计原则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DF8BC-B38B-438F-B48A-C7E73F0A80EB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硬盘是一种</a:t>
            </a:r>
            <a:r>
              <a:rPr lang="zh-CN" altLang="en-US" dirty="0">
                <a:solidFill>
                  <a:srgbClr val="FF0000"/>
                </a:solidFill>
              </a:rPr>
              <a:t>廉价</a:t>
            </a:r>
            <a:r>
              <a:rPr lang="zh-CN" altLang="en-US" dirty="0"/>
              <a:t>的存储设备</a:t>
            </a:r>
            <a:endParaRPr lang="en-US" altLang="zh-CN" dirty="0"/>
          </a:p>
          <a:p>
            <a:r>
              <a:rPr lang="zh-CN" altLang="en-US" dirty="0"/>
              <a:t>使用复制和更新，可以达到修改的效果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不必删除</a:t>
            </a:r>
            <a:r>
              <a:rPr lang="zh-CN" altLang="en-US" dirty="0"/>
              <a:t>任何无用的数据，也就不用考虑删除后形成的“空洞”</a:t>
            </a:r>
            <a:endParaRPr lang="en-US" altLang="zh-CN" dirty="0"/>
          </a:p>
          <a:p>
            <a:r>
              <a:rPr lang="zh-CN" altLang="en-US" dirty="0"/>
              <a:t>大量连续读写的性能要远高于小数据量的随机读写</a:t>
            </a:r>
          </a:p>
        </p:txBody>
      </p:sp>
    </p:spTree>
    <p:extLst>
      <p:ext uri="{BB962C8B-B14F-4D97-AF65-F5344CB8AC3E}">
        <p14:creationId xmlns:p14="http://schemas.microsoft.com/office/powerpoint/2010/main" val="269616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6467B4-67C2-45A5-8462-34058FB9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21</a:t>
            </a:fld>
            <a:endParaRPr lang="en-US" altLang="ko-KR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4954B4-3493-4580-AA3E-8CCA7CBFC32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 err="1"/>
              <a:t>GFS:Google</a:t>
            </a:r>
            <a:r>
              <a:rPr lang="en-US" altLang="zh-CN" dirty="0"/>
              <a:t> File 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DF8BC-B38B-438F-B48A-C7E73F0A80EB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一块至少为</a:t>
            </a:r>
            <a:r>
              <a:rPr lang="en-US" altLang="zh-CN" dirty="0"/>
              <a:t>64M</a:t>
            </a:r>
            <a:r>
              <a:rPr lang="zh-CN" altLang="en-US" dirty="0"/>
              <a:t>，连续使用</a:t>
            </a:r>
            <a:endParaRPr lang="en-US" altLang="zh-CN" dirty="0"/>
          </a:p>
          <a:p>
            <a:pPr eaLnBrk="1" hangingPunct="1"/>
            <a:r>
              <a:rPr lang="zh-CN" altLang="en-US" dirty="0"/>
              <a:t>数据总是追加，不必删除</a:t>
            </a:r>
            <a:endParaRPr lang="en-US" altLang="zh-CN" dirty="0"/>
          </a:p>
          <a:p>
            <a:pPr eaLnBrk="1" hangingPunct="1"/>
            <a:r>
              <a:rPr lang="zh-CN" altLang="en-US" dirty="0"/>
              <a:t>当一个数据块追加超过限制的时候，把它复制到新的空闲位置上，并在后面预留一个新块</a:t>
            </a:r>
          </a:p>
        </p:txBody>
      </p:sp>
    </p:spTree>
    <p:extLst>
      <p:ext uri="{BB962C8B-B14F-4D97-AF65-F5344CB8AC3E}">
        <p14:creationId xmlns:p14="http://schemas.microsoft.com/office/powerpoint/2010/main" val="3603222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560" y="2376671"/>
            <a:ext cx="7777162" cy="1872481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C0FF34-2795-84EB-080D-34199E63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55824"/>
            <a:ext cx="2844800" cy="304800"/>
          </a:xfrm>
        </p:spPr>
        <p:txBody>
          <a:bodyPr/>
          <a:lstStyle/>
          <a:p>
            <a:pPr algn="r">
              <a:buNone/>
            </a:pPr>
            <a:fld id="{23E5303B-8A3A-477A-93B0-1543526987BB}" type="slidenum">
              <a:rPr lang="en-US" altLang="ko-KR" smtClean="0">
                <a:solidFill>
                  <a:schemeClr val="bg1"/>
                </a:solidFill>
              </a:rPr>
              <a:pPr algn="r">
                <a:buNone/>
              </a:pPr>
              <a:t>22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880</Words>
  <Application>Microsoft Office PowerPoint</Application>
  <PresentationFormat>宽屏</PresentationFormat>
  <Paragraphs>179</Paragraphs>
  <Slides>22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굴림</vt:lpstr>
      <vt:lpstr>MS PGothic</vt:lpstr>
      <vt:lpstr>等线</vt:lpstr>
      <vt:lpstr>喵呜黑体</vt:lpstr>
      <vt:lpstr>宋体</vt:lpstr>
      <vt:lpstr>微软雅黑</vt:lpstr>
      <vt:lpstr>张海山锐谐体2.0-授权联系：Samtype@QQ.com</vt:lpstr>
      <vt:lpstr>Arial</vt:lpstr>
      <vt:lpstr>Calibri</vt:lpstr>
      <vt:lpstr>Tahoma</vt:lpstr>
      <vt:lpstr>Times New Roman</vt:lpstr>
      <vt:lpstr>Verdana</vt:lpstr>
      <vt:lpstr>Wingdings</vt:lpstr>
      <vt:lpstr>psh3_Print</vt:lpstr>
      <vt:lpstr>1_psh3_Print</vt:lpstr>
      <vt:lpstr>章节6：文件管理</vt:lpstr>
      <vt:lpstr>文件</vt:lpstr>
      <vt:lpstr>现代人眼中的文件是什么</vt:lpstr>
      <vt:lpstr>Physical Structure of Disk </vt:lpstr>
      <vt:lpstr>文件在计算机中的抽象</vt:lpstr>
      <vt:lpstr>磁盘的物理及虚拟几何规格知识</vt:lpstr>
      <vt:lpstr>Architecture of File Management</vt:lpstr>
      <vt:lpstr>分解任务一：面对用户要完成</vt:lpstr>
      <vt:lpstr>分解任务二：在内部要完成</vt:lpstr>
      <vt:lpstr>Physical Structure of Disk </vt:lpstr>
      <vt:lpstr>Physical structure of file: continuous</vt:lpstr>
      <vt:lpstr>３）实现磁盘顺序分配方式示例：</vt:lpstr>
      <vt:lpstr>链式分配</vt:lpstr>
      <vt:lpstr>４）实现磁盘 链式分配方式示例：</vt:lpstr>
      <vt:lpstr>索引分配</vt:lpstr>
      <vt:lpstr>大文件的索引分配</vt:lpstr>
      <vt:lpstr>Physical structure of file: index table</vt:lpstr>
      <vt:lpstr>５）磁盘基于块的索引分配示例：</vt:lpstr>
      <vt:lpstr>Summary of file physical structure</vt:lpstr>
      <vt:lpstr>GFS:Google File System设计原则</vt:lpstr>
      <vt:lpstr>GFS:Google File System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2023-12-04T10:22:36Z</dcterms:created>
  <dcterms:modified xsi:type="dcterms:W3CDTF">2025-11-04T03:43:46Z</dcterms:modified>
</cp:coreProperties>
</file>