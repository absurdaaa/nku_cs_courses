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6" r:id="rId1"/>
    <p:sldMasterId id="2147484007" r:id="rId2"/>
  </p:sldMasterIdLst>
  <p:notesMasterIdLst>
    <p:notesMasterId r:id="rId42"/>
  </p:notesMasterIdLst>
  <p:handoutMasterIdLst>
    <p:handoutMasterId r:id="rId43"/>
  </p:handoutMasterIdLst>
  <p:sldIdLst>
    <p:sldId id="1962" r:id="rId3"/>
    <p:sldId id="730" r:id="rId4"/>
    <p:sldId id="705" r:id="rId5"/>
    <p:sldId id="706" r:id="rId6"/>
    <p:sldId id="707" r:id="rId7"/>
    <p:sldId id="1965" r:id="rId8"/>
    <p:sldId id="670" r:id="rId9"/>
    <p:sldId id="672" r:id="rId10"/>
    <p:sldId id="683" r:id="rId11"/>
    <p:sldId id="673" r:id="rId12"/>
    <p:sldId id="312" r:id="rId13"/>
    <p:sldId id="704" r:id="rId14"/>
    <p:sldId id="703" r:id="rId15"/>
    <p:sldId id="715" r:id="rId16"/>
    <p:sldId id="731" r:id="rId17"/>
    <p:sldId id="649" r:id="rId18"/>
    <p:sldId id="535" r:id="rId19"/>
    <p:sldId id="536" r:id="rId20"/>
    <p:sldId id="568" r:id="rId21"/>
    <p:sldId id="669" r:id="rId22"/>
    <p:sldId id="595" r:id="rId23"/>
    <p:sldId id="553" r:id="rId24"/>
    <p:sldId id="554" r:id="rId25"/>
    <p:sldId id="596" r:id="rId26"/>
    <p:sldId id="555" r:id="rId27"/>
    <p:sldId id="556" r:id="rId28"/>
    <p:sldId id="676" r:id="rId29"/>
    <p:sldId id="559" r:id="rId30"/>
    <p:sldId id="560" r:id="rId31"/>
    <p:sldId id="561" r:id="rId32"/>
    <p:sldId id="1963" r:id="rId33"/>
    <p:sldId id="654" r:id="rId34"/>
    <p:sldId id="655" r:id="rId35"/>
    <p:sldId id="656" r:id="rId36"/>
    <p:sldId id="657" r:id="rId37"/>
    <p:sldId id="658" r:id="rId38"/>
    <p:sldId id="1964" r:id="rId39"/>
    <p:sldId id="597" r:id="rId40"/>
    <p:sldId id="281" r:id="rId41"/>
  </p:sldIdLst>
  <p:sldSz cx="12192000" cy="6858000"/>
  <p:notesSz cx="6858000" cy="91440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CC"/>
    <a:srgbClr val="F5ED5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6" autoAdjust="0"/>
    <p:restoredTop sz="85198" autoAdjust="0"/>
  </p:normalViewPr>
  <p:slideViewPr>
    <p:cSldViewPr>
      <p:cViewPr varScale="1">
        <p:scale>
          <a:sx n="63" d="100"/>
          <a:sy n="63" d="100"/>
        </p:scale>
        <p:origin x="54" y="60"/>
      </p:cViewPr>
      <p:guideLst>
        <p:guide orient="horz" pos="1253"/>
        <p:guide pos="3840"/>
        <p:guide pos="801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3F76284-487D-4B32-B3F6-3D37AE83692A}" type="datetimeFigureOut">
              <a:rPr lang="zh-CN" altLang="en-US"/>
              <a:pPr>
                <a:defRPr/>
              </a:pPr>
              <a:t>2025/11/18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fld id="{A4E10AC0-FECC-4ECE-891D-19BC0B63CF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BA1F4EE4-25C1-46B1-B6E5-29A9C72CD7E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22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03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678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2282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5020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514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083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381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7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20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75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63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zh-CN" altLang="en-US">
              <a:latin typeface="Times New Roman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1" y="1125541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1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ko-KR"/>
              <a:t>CITS, NanKai University</a:t>
            </a:r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80AC5814-5CA3-408A-9260-AC574452359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654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C044BFF-DA73-B2DC-D4E6-79A2C4F0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1368730-9EB3-86DF-BD43-AB15442B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D3EEC6D0-8677-62EF-AB76-B3721D78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6A1D22-F226-2837-E96B-AC2D7456820F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1" name="任意多边形: 形状 7">
              <a:extLst>
                <a:ext uri="{FF2B5EF4-FFF2-40B4-BE49-F238E27FC236}">
                  <a16:creationId xmlns:a16="http://schemas.microsoft.com/office/drawing/2014/main" id="{320E78A4-DE66-1852-88CE-6FEC79FE3E9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248046D-045F-9729-1D7F-A91B22E59859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15A3F2A-AA50-551B-D74F-1487BE07C97D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3469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047D318-0735-D6D7-2CB5-20C27003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7BE5FA1D-8EE8-17E5-156A-769E04D6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D14A260-67EA-A87F-D3B1-B2AFB0BC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77B53-9D60-4EF3-F62B-E9B317775EC6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1466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6E8D8FA-1FAA-4669-85F5-1369F8E445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721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0955442-AAEE-48F5-88BF-6994C81C4C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77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8B4222E-8486-448E-BA6C-05363C5A46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26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3E5303B-8A3A-477A-93B0-1543526987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4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5E38285-AEC6-4325-9BE2-2498450B005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837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C9F6213-1008-42A4-9F93-64A8F44EA9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5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C574B0-1D19-44D2-9C7D-BFE3A871EA3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97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2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2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EE4EC84-1CEF-40C2-8964-DC7BA04E7D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81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DE58688-3171-448B-A580-A5C9113ABB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461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2FC802-994A-4E6D-AA97-4A3F677E9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2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12A52DE-A688-48B9-8F40-550CA4C4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00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48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3807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76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247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5999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38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7685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174A42-3524-63A3-2C79-B40655B149AB}"/>
              </a:ext>
            </a:extLst>
          </p:cNvPr>
          <p:cNvSpPr/>
          <p:nvPr userDrawn="1"/>
        </p:nvSpPr>
        <p:spPr>
          <a:xfrm>
            <a:off x="0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82ECCF-C647-0675-D5C5-33E981887A80}"/>
              </a:ext>
            </a:extLst>
          </p:cNvPr>
          <p:cNvSpPr/>
          <p:nvPr userDrawn="1"/>
        </p:nvSpPr>
        <p:spPr>
          <a:xfrm>
            <a:off x="-1" y="-2802"/>
            <a:ext cx="12191365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947088-FDE6-4740-B961-C2BE016BB5D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5" r:id="rId2"/>
    <p:sldLayoutId id="2147484004" r:id="rId3"/>
    <p:sldLayoutId id="2147484003" r:id="rId4"/>
    <p:sldLayoutId id="2147484002" r:id="rId5"/>
    <p:sldLayoutId id="2147484001" r:id="rId6"/>
    <p:sldLayoutId id="2147484000" r:id="rId7"/>
    <p:sldLayoutId id="2147483999" r:id="rId8"/>
    <p:sldLayoutId id="2147483998" r:id="rId9"/>
    <p:sldLayoutId id="2147483997" r:id="rId10"/>
    <p:sldLayoutId id="2147483996" r:id="rId11"/>
    <p:sldLayoutId id="214748399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1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tencent.com/developer/news/244988" TargetMode="Externa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：文件管理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54175D-19B0-4A61-73C6-EE3B7FCFF3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文件系统的性能思考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E507B0-547A-B8AC-B9B2-3E53402B836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OS</a:t>
            </a:r>
            <a:r>
              <a:rPr lang="zh-CN" altLang="en-US" dirty="0"/>
              <a:t>喜欢做顺序的读写以改进性能，为什么？</a:t>
            </a:r>
            <a:endParaRPr lang="en-US" altLang="zh-CN" dirty="0"/>
          </a:p>
          <a:p>
            <a:pPr lvl="1"/>
            <a:r>
              <a:rPr lang="zh-CN" altLang="en-US" dirty="0"/>
              <a:t>简单</a:t>
            </a:r>
            <a:endParaRPr lang="en-US" altLang="zh-CN" dirty="0"/>
          </a:p>
          <a:p>
            <a:pPr lvl="1"/>
            <a:r>
              <a:rPr lang="zh-CN" altLang="en-US" dirty="0"/>
              <a:t>尊重磁盘的物理特性</a:t>
            </a:r>
            <a:endParaRPr lang="en-US" altLang="zh-CN" dirty="0"/>
          </a:p>
          <a:p>
            <a:r>
              <a:rPr lang="zh-CN" altLang="en-US" dirty="0"/>
              <a:t>用户会按照什么样的方式读写磁盘呢？</a:t>
            </a:r>
            <a:endParaRPr lang="en-US" altLang="zh-CN" dirty="0"/>
          </a:p>
          <a:p>
            <a:pPr lvl="1"/>
            <a:r>
              <a:rPr lang="zh-CN" altLang="en-US" dirty="0"/>
              <a:t>执行程序</a:t>
            </a:r>
            <a:endParaRPr lang="en-US" altLang="zh-CN" dirty="0"/>
          </a:p>
          <a:p>
            <a:pPr lvl="1"/>
            <a:r>
              <a:rPr lang="zh-CN" altLang="en-US" dirty="0"/>
              <a:t>播放电影</a:t>
            </a:r>
            <a:endParaRPr lang="en-US" altLang="zh-CN" dirty="0"/>
          </a:p>
          <a:p>
            <a:pPr lvl="1"/>
            <a:r>
              <a:rPr lang="zh-CN" altLang="en-US" dirty="0"/>
              <a:t>读写数据库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684A2-943D-1ABD-2FF2-8EECA859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05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3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24" name="Picture 4">
            <a:extLst>
              <a:ext uri="{FF2B5EF4-FFF2-40B4-BE49-F238E27FC236}">
                <a16:creationId xmlns:a16="http://schemas.microsoft.com/office/drawing/2014/main" id="{55A81A18-96E3-4511-8D7F-DC89062C9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57338"/>
            <a:ext cx="4991100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ECA4638-EF1B-4FD8-B984-0C3371A65476}"/>
              </a:ext>
            </a:extLst>
          </p:cNvPr>
          <p:cNvSpPr txBox="1"/>
          <p:nvPr/>
        </p:nvSpPr>
        <p:spPr>
          <a:xfrm>
            <a:off x="263352" y="5445224"/>
            <a:ext cx="5904656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>
              <a:buNone/>
            </a:pPr>
            <a:r>
              <a:rPr lang="en-US" altLang="zh-CN" dirty="0">
                <a:solidFill>
                  <a:srgbClr val="002060"/>
                </a:solidFill>
              </a:rPr>
              <a:t>Header</a:t>
            </a:r>
            <a:r>
              <a:rPr lang="zh-CN" altLang="en-US" dirty="0">
                <a:solidFill>
                  <a:srgbClr val="002060"/>
                </a:solidFill>
              </a:rPr>
              <a:t>数据结构用于标识文件的版本、类型等基本信息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 err="1">
                <a:solidFill>
                  <a:srgbClr val="002060"/>
                </a:solidFill>
              </a:rPr>
              <a:t>e_entry</a:t>
            </a:r>
            <a:r>
              <a:rPr lang="zh-CN" altLang="en-US" dirty="0">
                <a:solidFill>
                  <a:srgbClr val="002060"/>
                </a:solidFill>
              </a:rPr>
              <a:t>标识的是程序的入口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 err="1">
                <a:solidFill>
                  <a:srgbClr val="002060"/>
                </a:solidFill>
              </a:rPr>
              <a:t>e_phoff</a:t>
            </a:r>
            <a:r>
              <a:rPr lang="zh-CN" altLang="en-US" dirty="0">
                <a:solidFill>
                  <a:srgbClr val="002060"/>
                </a:solidFill>
              </a:rPr>
              <a:t>是程序头表</a:t>
            </a:r>
            <a:r>
              <a:rPr lang="en-US" altLang="zh-CN" dirty="0">
                <a:solidFill>
                  <a:srgbClr val="002060"/>
                </a:solidFill>
              </a:rPr>
              <a:t>(program header table)</a:t>
            </a:r>
            <a:r>
              <a:rPr lang="zh-CN" altLang="en-US" dirty="0">
                <a:solidFill>
                  <a:srgbClr val="002060"/>
                </a:solidFill>
              </a:rPr>
              <a:t>的位置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 err="1">
                <a:solidFill>
                  <a:srgbClr val="002060"/>
                </a:solidFill>
              </a:rPr>
              <a:t>e_shoff</a:t>
            </a:r>
            <a:r>
              <a:rPr lang="zh-CN" altLang="en-US" dirty="0">
                <a:solidFill>
                  <a:srgbClr val="002060"/>
                </a:solidFill>
              </a:rPr>
              <a:t>是节头表</a:t>
            </a:r>
            <a:r>
              <a:rPr lang="en-US" altLang="zh-CN" dirty="0">
                <a:solidFill>
                  <a:srgbClr val="002060"/>
                </a:solidFill>
              </a:rPr>
              <a:t>(section header table)</a:t>
            </a:r>
            <a:r>
              <a:rPr lang="zh-CN" altLang="en-US" dirty="0">
                <a:solidFill>
                  <a:srgbClr val="002060"/>
                </a:solidFill>
              </a:rPr>
              <a:t>的位置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49EAB3-86D4-4B1B-A9EB-0C21D8A14D06}"/>
              </a:ext>
            </a:extLst>
          </p:cNvPr>
          <p:cNvSpPr txBox="1"/>
          <p:nvPr/>
        </p:nvSpPr>
        <p:spPr>
          <a:xfrm>
            <a:off x="8112224" y="6093296"/>
            <a:ext cx="367240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e_entry</a:t>
            </a:r>
            <a:r>
              <a:rPr lang="zh-CN" altLang="en-US" dirty="0">
                <a:solidFill>
                  <a:srgbClr val="FF0000"/>
                </a:solidFill>
              </a:rPr>
              <a:t>指向的是</a:t>
            </a:r>
            <a:r>
              <a:rPr lang="en-US" altLang="zh-CN" dirty="0">
                <a:solidFill>
                  <a:srgbClr val="FF0000"/>
                </a:solidFill>
              </a:rPr>
              <a:t>main</a:t>
            </a:r>
            <a:r>
              <a:rPr lang="zh-CN" altLang="en-US" dirty="0">
                <a:solidFill>
                  <a:srgbClr val="FF0000"/>
                </a:solidFill>
              </a:rPr>
              <a:t>函数吗？</a:t>
            </a:r>
          </a:p>
        </p:txBody>
      </p:sp>
    </p:spTree>
    <p:extLst>
      <p:ext uri="{BB962C8B-B14F-4D97-AF65-F5344CB8AC3E}">
        <p14:creationId xmlns:p14="http://schemas.microsoft.com/office/powerpoint/2010/main" val="419596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4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70" name="Picture 2">
            <a:extLst>
              <a:ext uri="{FF2B5EF4-FFF2-40B4-BE49-F238E27FC236}">
                <a16:creationId xmlns:a16="http://schemas.microsoft.com/office/drawing/2014/main" id="{BF3E8312-A98B-42F1-9FCC-43B33E72D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9138"/>
            <a:ext cx="5105069" cy="334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89CA6FD-9DCB-4F35-AA9B-7668405131E7}"/>
              </a:ext>
            </a:extLst>
          </p:cNvPr>
          <p:cNvSpPr txBox="1"/>
          <p:nvPr/>
        </p:nvSpPr>
        <p:spPr>
          <a:xfrm>
            <a:off x="263352" y="5445224"/>
            <a:ext cx="727280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>
              <a:buNone/>
            </a:pPr>
            <a:r>
              <a:rPr lang="en-US" altLang="zh-CN" dirty="0">
                <a:solidFill>
                  <a:srgbClr val="002060"/>
                </a:solidFill>
              </a:rPr>
              <a:t>Program Header</a:t>
            </a:r>
            <a:r>
              <a:rPr lang="zh-CN" altLang="en-US" dirty="0">
                <a:solidFill>
                  <a:srgbClr val="002060"/>
                </a:solidFill>
              </a:rPr>
              <a:t>数据结构将程序分成了段，如代码、数据、全局变量等，用于方便程序的加载过程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>
                <a:solidFill>
                  <a:srgbClr val="002060"/>
                </a:solidFill>
              </a:rPr>
              <a:t>offset</a:t>
            </a:r>
            <a:r>
              <a:rPr lang="zh-CN" altLang="en-US" dirty="0">
                <a:solidFill>
                  <a:srgbClr val="002060"/>
                </a:solidFill>
              </a:rPr>
              <a:t>是段在文件中的位置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 err="1">
                <a:solidFill>
                  <a:srgbClr val="002060"/>
                </a:solidFill>
              </a:rPr>
              <a:t>vaddr</a:t>
            </a:r>
            <a:r>
              <a:rPr lang="zh-CN" altLang="en-US" dirty="0">
                <a:solidFill>
                  <a:srgbClr val="002060"/>
                </a:solidFill>
              </a:rPr>
              <a:t>是段的虚拟地址，</a:t>
            </a:r>
            <a:r>
              <a:rPr lang="en-US" altLang="zh-CN" dirty="0" err="1">
                <a:solidFill>
                  <a:srgbClr val="002060"/>
                </a:solidFill>
              </a:rPr>
              <a:t>paddr</a:t>
            </a:r>
            <a:r>
              <a:rPr lang="zh-CN" altLang="en-US" dirty="0">
                <a:solidFill>
                  <a:srgbClr val="002060"/>
                </a:solidFill>
              </a:rPr>
              <a:t>是物理地址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zh-CN" altLang="en-US" dirty="0">
                <a:solidFill>
                  <a:srgbClr val="002060"/>
                </a:solidFill>
              </a:rPr>
              <a:t>用于没有</a:t>
            </a:r>
            <a:r>
              <a:rPr lang="en-US" altLang="zh-CN" dirty="0">
                <a:solidFill>
                  <a:srgbClr val="002060"/>
                </a:solidFill>
              </a:rPr>
              <a:t>MMU</a:t>
            </a:r>
            <a:r>
              <a:rPr lang="zh-CN" altLang="en-US" dirty="0">
                <a:solidFill>
                  <a:srgbClr val="002060"/>
                </a:solidFill>
              </a:rPr>
              <a:t>的设备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92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5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946" name="Picture 2">
            <a:extLst>
              <a:ext uri="{FF2B5EF4-FFF2-40B4-BE49-F238E27FC236}">
                <a16:creationId xmlns:a16="http://schemas.microsoft.com/office/drawing/2014/main" id="{0C51BEF2-7FF1-403D-94B9-8ABA19D73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8840"/>
            <a:ext cx="429577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F34A779-D5D4-4630-99F0-4E8467D6975D}"/>
              </a:ext>
            </a:extLst>
          </p:cNvPr>
          <p:cNvSpPr txBox="1"/>
          <p:nvPr/>
        </p:nvSpPr>
        <p:spPr>
          <a:xfrm>
            <a:off x="3431704" y="1531650"/>
            <a:ext cx="698477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defRPr/>
            </a:pPr>
            <a:r>
              <a:rPr lang="en-US" altLang="zh-CN" dirty="0">
                <a:solidFill>
                  <a:srgbClr val="000000"/>
                </a:solidFill>
                <a:hlinkClick r:id="rId5"/>
              </a:rPr>
              <a:t>https://cloud.tencent.com/developer/news/244988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AE33BE-9359-49E2-A71D-75D9AE0E6D8A}"/>
              </a:ext>
            </a:extLst>
          </p:cNvPr>
          <p:cNvSpPr txBox="1"/>
          <p:nvPr/>
        </p:nvSpPr>
        <p:spPr>
          <a:xfrm>
            <a:off x="263352" y="5445224"/>
            <a:ext cx="727280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>
              <a:buNone/>
            </a:pPr>
            <a:r>
              <a:rPr lang="en-US" altLang="zh-CN" dirty="0">
                <a:solidFill>
                  <a:srgbClr val="002060"/>
                </a:solidFill>
              </a:rPr>
              <a:t>Program Header</a:t>
            </a:r>
            <a:r>
              <a:rPr lang="zh-CN" altLang="en-US" dirty="0">
                <a:solidFill>
                  <a:srgbClr val="002060"/>
                </a:solidFill>
              </a:rPr>
              <a:t>数据结构将程序分成了段，如代码、数据、全局变量等，用于方便程序的加载过程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>
                <a:solidFill>
                  <a:srgbClr val="002060"/>
                </a:solidFill>
              </a:rPr>
              <a:t>offset</a:t>
            </a:r>
            <a:r>
              <a:rPr lang="zh-CN" altLang="en-US" dirty="0">
                <a:solidFill>
                  <a:srgbClr val="002060"/>
                </a:solidFill>
              </a:rPr>
              <a:t>是段在文件中的位置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latinLnBrk="1" hangingPunct="1">
              <a:buNone/>
            </a:pPr>
            <a:r>
              <a:rPr lang="en-US" altLang="zh-CN" dirty="0" err="1">
                <a:solidFill>
                  <a:srgbClr val="002060"/>
                </a:solidFill>
              </a:rPr>
              <a:t>vaddr</a:t>
            </a:r>
            <a:r>
              <a:rPr lang="zh-CN" altLang="en-US" dirty="0">
                <a:solidFill>
                  <a:srgbClr val="002060"/>
                </a:solidFill>
              </a:rPr>
              <a:t>是段的虚拟地址，</a:t>
            </a:r>
            <a:r>
              <a:rPr lang="en-US" altLang="zh-CN" dirty="0" err="1">
                <a:solidFill>
                  <a:srgbClr val="002060"/>
                </a:solidFill>
              </a:rPr>
              <a:t>paddr</a:t>
            </a:r>
            <a:r>
              <a:rPr lang="zh-CN" altLang="en-US" dirty="0">
                <a:solidFill>
                  <a:srgbClr val="002060"/>
                </a:solidFill>
              </a:rPr>
              <a:t>是物理地址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zh-CN" altLang="en-US" dirty="0">
                <a:solidFill>
                  <a:srgbClr val="002060"/>
                </a:solidFill>
              </a:rPr>
              <a:t>用于没有</a:t>
            </a:r>
            <a:r>
              <a:rPr lang="en-US" altLang="zh-CN" dirty="0">
                <a:solidFill>
                  <a:srgbClr val="002060"/>
                </a:solidFill>
              </a:rPr>
              <a:t>MMU</a:t>
            </a:r>
            <a:r>
              <a:rPr lang="zh-CN" altLang="en-US" dirty="0">
                <a:solidFill>
                  <a:srgbClr val="002060"/>
                </a:solidFill>
              </a:rPr>
              <a:t>的设备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718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6D54C-FC57-48F3-9D17-D94B859E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7B162C-10C2-4DFE-B37D-80D43CD856C4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FBC297-DD68-4395-99AC-C9399386B7A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可执行程序的加载过程</a:t>
            </a:r>
            <a:r>
              <a:rPr lang="en-US" altLang="zh-CN" dirty="0"/>
              <a:t>: </a:t>
            </a:r>
            <a:r>
              <a:rPr lang="en-US" altLang="zh-CN" dirty="0" err="1"/>
              <a:t>mmap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D8A73-65FB-4DA2-825A-0C8DDD9705B0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Read</a:t>
            </a:r>
            <a:r>
              <a:rPr lang="zh-CN" altLang="en-US" dirty="0"/>
              <a:t>调用的原理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FF0126-7B84-49A1-A1B3-3D1E611B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503712" y="2348881"/>
            <a:ext cx="5583582" cy="387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8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4AABDC-AE2C-4A44-A0DD-7B222CD1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7B162C-10C2-4DFE-B37D-80D43CD856C4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2307AE4-773E-455D-A907-7B4762F52C6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如何避免这一份重复的</a:t>
            </a:r>
            <a:r>
              <a:rPr lang="en-US" altLang="zh-CN" dirty="0"/>
              <a:t>copy?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04415E-E64A-4EB5-9450-46A108A90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6"/>
            <a:ext cx="10801200" cy="5099593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85750" indent="-285750">
              <a:lnSpc>
                <a:spcPct val="150000"/>
              </a:lnSpc>
              <a:buFont typeface="Wingdings" charset="0"/>
              <a:buChar char="l"/>
            </a:pPr>
            <a:r>
              <a:rPr lang="en-US" altLang="en-US" sz="2400" dirty="0" err="1">
                <a:latin typeface="微软雅黑"/>
                <a:ea typeface="微软雅黑"/>
              </a:rPr>
              <a:t>mmap</a:t>
            </a:r>
            <a:r>
              <a:rPr lang="zh-CN" altLang="en-US" sz="2400" dirty="0">
                <a:latin typeface="微软雅黑"/>
                <a:ea typeface="微软雅黑"/>
              </a:rPr>
              <a:t>原理</a:t>
            </a: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在虚拟地址中制造一个合法的空洞，但未分配物理内存</a:t>
            </a: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通知操作系统，如果该虚拟地址空间被访问，转译至指定文件的特定位置</a:t>
            </a:r>
            <a:endParaRPr lang="en-US" altLang="zh-CN" dirty="0">
              <a:latin typeface="微软雅黑"/>
              <a:ea typeface="微软雅黑"/>
            </a:endParaRPr>
          </a:p>
          <a:p>
            <a:pPr lvl="2">
              <a:lnSpc>
                <a:spcPct val="150000"/>
              </a:lnSpc>
              <a:buFont typeface="Wingdings" charset="0"/>
              <a:buChar char="l"/>
            </a:pPr>
            <a:r>
              <a:rPr lang="zh-CN" altLang="en-US" sz="2100" dirty="0">
                <a:latin typeface="微软雅黑"/>
                <a:ea typeface="微软雅黑"/>
              </a:rPr>
              <a:t>例如将虚拟地址空间的</a:t>
            </a:r>
            <a:r>
              <a:rPr lang="en-US" altLang="zh-CN" sz="2100" dirty="0">
                <a:latin typeface="微软雅黑"/>
                <a:ea typeface="微软雅黑"/>
              </a:rPr>
              <a:t>0x40000000-0x40001000</a:t>
            </a:r>
            <a:r>
              <a:rPr lang="zh-CN" altLang="en-US" sz="2100" dirty="0">
                <a:latin typeface="微软雅黑"/>
                <a:ea typeface="微软雅黑"/>
              </a:rPr>
              <a:t>定位到文件的第</a:t>
            </a:r>
            <a:r>
              <a:rPr lang="en-US" altLang="zh-CN" sz="2100" dirty="0">
                <a:latin typeface="微软雅黑"/>
                <a:ea typeface="微软雅黑"/>
              </a:rPr>
              <a:t>1024</a:t>
            </a:r>
            <a:r>
              <a:rPr lang="zh-CN" altLang="en-US" sz="2100" dirty="0">
                <a:latin typeface="微软雅黑"/>
                <a:ea typeface="微软雅黑"/>
              </a:rPr>
              <a:t>字节到</a:t>
            </a:r>
            <a:r>
              <a:rPr lang="en-US" altLang="zh-CN" sz="2100" dirty="0">
                <a:latin typeface="微软雅黑"/>
                <a:ea typeface="微软雅黑"/>
              </a:rPr>
              <a:t>5120</a:t>
            </a:r>
            <a:r>
              <a:rPr lang="zh-CN" altLang="en-US" sz="2100" dirty="0">
                <a:latin typeface="微软雅黑"/>
                <a:ea typeface="微软雅黑"/>
              </a:rPr>
              <a:t>字节</a:t>
            </a:r>
            <a:endParaRPr lang="en-US" altLang="zh-CN" dirty="0">
              <a:latin typeface="微软雅黑"/>
              <a:ea typeface="微软雅黑"/>
            </a:endParaRP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进程采用指针方式读写内存，初次访问时将会触发缺页异常</a:t>
            </a:r>
            <a:endParaRPr lang="en-US" altLang="zh-CN" dirty="0">
              <a:latin typeface="微软雅黑"/>
              <a:ea typeface="微软雅黑"/>
            </a:endParaRP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通过缺页机制</a:t>
            </a:r>
            <a:r>
              <a:rPr lang="en-US" altLang="zh-CN" dirty="0">
                <a:latin typeface="微软雅黑"/>
                <a:ea typeface="微软雅黑"/>
              </a:rPr>
              <a:t>OS</a:t>
            </a:r>
            <a:r>
              <a:rPr lang="zh-CN" altLang="en-US" dirty="0">
                <a:latin typeface="微软雅黑"/>
                <a:ea typeface="微软雅黑"/>
              </a:rPr>
              <a:t>捕猎对这一块空间的读写，并通过注册时转换关系从而将内存读写转义成对文件的读写</a:t>
            </a:r>
            <a:endParaRPr lang="en-US" altLang="zh-CN" dirty="0">
              <a:latin typeface="微软雅黑"/>
              <a:ea typeface="微软雅黑"/>
            </a:endParaRPr>
          </a:p>
          <a:p>
            <a:pPr lvl="2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在上面的例子中，缺页捕获到读地址是</a:t>
            </a:r>
            <a:r>
              <a:rPr lang="en-US" altLang="zh-CN" dirty="0">
                <a:latin typeface="微软雅黑"/>
                <a:ea typeface="微软雅黑"/>
              </a:rPr>
              <a:t>0x40000800</a:t>
            </a:r>
            <a:r>
              <a:rPr lang="zh-CN" altLang="en-US" dirty="0">
                <a:latin typeface="微软雅黑"/>
                <a:ea typeface="微软雅黑"/>
              </a:rPr>
              <a:t>，则去读文件中的第</a:t>
            </a:r>
            <a:r>
              <a:rPr lang="en-US" altLang="zh-CN" dirty="0">
                <a:latin typeface="微软雅黑"/>
                <a:ea typeface="微软雅黑"/>
              </a:rPr>
              <a:t>1024+2048</a:t>
            </a:r>
            <a:r>
              <a:rPr lang="zh-CN" altLang="en-US" dirty="0">
                <a:latin typeface="微软雅黑"/>
                <a:ea typeface="微软雅黑"/>
              </a:rPr>
              <a:t>字节</a:t>
            </a:r>
            <a:r>
              <a:rPr lang="en-US" altLang="zh-CN" dirty="0">
                <a:latin typeface="微软雅黑"/>
                <a:ea typeface="微软雅黑"/>
              </a:rPr>
              <a:t> </a:t>
            </a:r>
          </a:p>
          <a:p>
            <a:pPr indent="-285750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/>
                <a:ea typeface="微软雅黑"/>
              </a:rPr>
              <a:t>为了避免频繁的读写，</a:t>
            </a:r>
            <a:r>
              <a:rPr lang="en-US" altLang="zh-CN" dirty="0">
                <a:solidFill>
                  <a:schemeClr val="tx1"/>
                </a:solidFill>
                <a:latin typeface="微软雅黑"/>
                <a:ea typeface="微软雅黑"/>
              </a:rPr>
              <a:t>OS</a:t>
            </a:r>
            <a:r>
              <a:rPr lang="zh-CN" altLang="en-US" dirty="0">
                <a:solidFill>
                  <a:schemeClr val="tx1"/>
                </a:solidFill>
                <a:latin typeface="微软雅黑"/>
                <a:ea typeface="微软雅黑"/>
              </a:rPr>
              <a:t>申请一个</a:t>
            </a:r>
            <a:r>
              <a:rPr lang="en-US" altLang="zh-CN" dirty="0">
                <a:solidFill>
                  <a:schemeClr val="tx1"/>
                </a:solidFill>
                <a:latin typeface="微软雅黑"/>
                <a:ea typeface="微软雅黑"/>
              </a:rPr>
              <a:t>page</a:t>
            </a:r>
            <a:r>
              <a:rPr lang="zh-CN" altLang="en-US" dirty="0">
                <a:solidFill>
                  <a:schemeClr val="tx1"/>
                </a:solidFill>
                <a:latin typeface="微软雅黑"/>
                <a:ea typeface="微软雅黑"/>
              </a:rPr>
              <a:t>做</a:t>
            </a:r>
            <a:r>
              <a:rPr lang="en-US" altLang="zh-CN" dirty="0">
                <a:solidFill>
                  <a:schemeClr val="tx1"/>
                </a:solidFill>
                <a:latin typeface="微软雅黑"/>
                <a:ea typeface="微软雅黑"/>
              </a:rPr>
              <a:t>page cache</a:t>
            </a:r>
            <a:r>
              <a:rPr lang="zh-CN" altLang="en-US" dirty="0">
                <a:solidFill>
                  <a:schemeClr val="tx1"/>
                </a:solidFill>
                <a:latin typeface="微软雅黑"/>
                <a:ea typeface="微软雅黑"/>
              </a:rPr>
              <a:t>，并挂在进程的页表中</a:t>
            </a: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假设分配的</a:t>
            </a:r>
            <a:r>
              <a:rPr lang="en-US" altLang="zh-CN" dirty="0">
                <a:latin typeface="微软雅黑"/>
                <a:ea typeface="微软雅黑"/>
              </a:rPr>
              <a:t>page cache</a:t>
            </a:r>
            <a:r>
              <a:rPr lang="zh-CN" altLang="en-US" dirty="0">
                <a:latin typeface="微软雅黑"/>
                <a:ea typeface="微软雅黑"/>
              </a:rPr>
              <a:t>在虚拟地址</a:t>
            </a:r>
            <a:r>
              <a:rPr lang="en-US" altLang="zh-CN" dirty="0">
                <a:latin typeface="微软雅黑"/>
                <a:ea typeface="微软雅黑"/>
              </a:rPr>
              <a:t>0xC1000000</a:t>
            </a:r>
            <a:r>
              <a:rPr lang="zh-CN" altLang="en-US" dirty="0">
                <a:latin typeface="微软雅黑"/>
                <a:ea typeface="微软雅黑"/>
              </a:rPr>
              <a:t>的位置，那么对于</a:t>
            </a:r>
            <a:r>
              <a:rPr lang="en-US" altLang="zh-CN" dirty="0">
                <a:latin typeface="微软雅黑"/>
                <a:ea typeface="微软雅黑"/>
              </a:rPr>
              <a:t>0x40000800</a:t>
            </a:r>
            <a:r>
              <a:rPr lang="zh-CN" altLang="en-US" dirty="0">
                <a:latin typeface="微软雅黑"/>
                <a:ea typeface="微软雅黑"/>
              </a:rPr>
              <a:t>的访问，会被转译成</a:t>
            </a:r>
            <a:r>
              <a:rPr lang="en-US" altLang="zh-CN" dirty="0">
                <a:latin typeface="微软雅黑"/>
                <a:ea typeface="微软雅黑"/>
              </a:rPr>
              <a:t>0xC1000800</a:t>
            </a:r>
            <a:r>
              <a:rPr lang="zh-CN" altLang="en-US" dirty="0">
                <a:latin typeface="微软雅黑"/>
                <a:ea typeface="微软雅黑"/>
              </a:rPr>
              <a:t>的位置的访问</a:t>
            </a:r>
            <a:endParaRPr lang="en-US" altLang="zh-CN" dirty="0">
              <a:latin typeface="微软雅黑"/>
              <a:ea typeface="微软雅黑"/>
            </a:endParaRPr>
          </a:p>
          <a:p>
            <a:pPr lvl="1">
              <a:lnSpc>
                <a:spcPct val="150000"/>
              </a:lnSpc>
              <a:buFont typeface="Wingdings" charset="0"/>
              <a:buChar char="l"/>
            </a:pPr>
            <a:r>
              <a:rPr lang="zh-CN" altLang="en-US" dirty="0">
                <a:latin typeface="微软雅黑"/>
                <a:ea typeface="微软雅黑"/>
              </a:rPr>
              <a:t>这种低位不动，高位简单换算的做法，可以用页表操作来实现</a:t>
            </a:r>
          </a:p>
        </p:txBody>
      </p:sp>
    </p:spTree>
    <p:extLst>
      <p:ext uri="{BB962C8B-B14F-4D97-AF65-F5344CB8AC3E}">
        <p14:creationId xmlns:p14="http://schemas.microsoft.com/office/powerpoint/2010/main" val="194492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9834E4E-19EE-3072-034A-CFE852CA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503712" y="2348881"/>
            <a:ext cx="5583582" cy="387210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6ED27E-58BE-4B1E-850D-607FB8F7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7B162C-10C2-4DFE-B37D-80D43CD856C4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C6B4083-DF61-1830-3C5C-520F0BDE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mmap</a:t>
            </a:r>
            <a:r>
              <a:rPr lang="zh-CN" altLang="en-US" dirty="0"/>
              <a:t>系统调用函数原型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F5412A-7A43-47EC-8A4F-AE386249ECCC}"/>
              </a:ext>
            </a:extLst>
          </p:cNvPr>
          <p:cNvSpPr/>
          <p:nvPr/>
        </p:nvSpPr>
        <p:spPr bwMode="auto">
          <a:xfrm>
            <a:off x="5087888" y="2269626"/>
            <a:ext cx="2133600" cy="72732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dirty="0">
                <a:latin typeface="Times New Roman" pitchFamily="18" charset="0"/>
              </a:rPr>
              <a:t>空白虚拟页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32707376-8BC5-0839-DB31-B53180ADE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68852"/>
            <a:ext cx="10801200" cy="996052"/>
          </a:xfrm>
        </p:spPr>
        <p:txBody>
          <a:bodyPr/>
          <a:lstStyle/>
          <a:p>
            <a:r>
              <a:rPr lang="en-US" altLang="zh-CN" dirty="0"/>
              <a:t> void *</a:t>
            </a:r>
            <a:r>
              <a:rPr lang="en-US" altLang="zh-CN" dirty="0" err="1"/>
              <a:t>mmap</a:t>
            </a:r>
            <a:r>
              <a:rPr lang="en-US" altLang="zh-CN" dirty="0"/>
              <a:t>(void *</a:t>
            </a:r>
            <a:r>
              <a:rPr lang="en-US" altLang="zh-CN" dirty="0" err="1"/>
              <a:t>addr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length, int </a:t>
            </a:r>
            <a:r>
              <a:rPr lang="en-US" altLang="zh-CN" dirty="0" err="1"/>
              <a:t>prot</a:t>
            </a:r>
            <a:r>
              <a:rPr lang="en-US" altLang="zh-CN" dirty="0"/>
              <a:t>, int flags, int </a:t>
            </a:r>
            <a:r>
              <a:rPr lang="en-US" altLang="zh-CN" dirty="0" err="1"/>
              <a:t>fd</a:t>
            </a:r>
            <a:r>
              <a:rPr lang="en-US" altLang="zh-CN" dirty="0"/>
              <a:t>, </a:t>
            </a:r>
            <a:r>
              <a:rPr lang="en-US" altLang="zh-CN" dirty="0" err="1"/>
              <a:t>off_t</a:t>
            </a:r>
            <a:r>
              <a:rPr lang="en-US" altLang="zh-CN" dirty="0"/>
              <a:t> offset);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CA6FC4-EC26-45CC-9E6B-1C4395FDBB0D}"/>
              </a:ext>
            </a:extLst>
          </p:cNvPr>
          <p:cNvSpPr txBox="1"/>
          <p:nvPr/>
        </p:nvSpPr>
        <p:spPr>
          <a:xfrm>
            <a:off x="263352" y="3429000"/>
            <a:ext cx="28083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 err="1"/>
              <a:t>mmap</a:t>
            </a:r>
            <a:r>
              <a:rPr lang="zh-CN" altLang="en-US"/>
              <a:t>实现了按需加载和单份拷贝两个优化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189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3F875-B4EF-49CD-A837-4485276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7B162C-10C2-4DFE-B37D-80D43CD856C4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75086EB-0CEA-4716-B3D6-57D66C37FFD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 err="1"/>
              <a:t>mmap</a:t>
            </a:r>
            <a:r>
              <a:rPr lang="zh-CN" altLang="en-US"/>
              <a:t>加载数据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18A10987-A6EC-2BBE-7534-74FFD69F1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FBA73D21-4081-4940-8503-6ADEE0AB4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91255" y="1988840"/>
            <a:ext cx="4969510" cy="4218940"/>
          </a:xfrm>
          <a:prstGeom prst="rect">
            <a:avLst/>
          </a:prstGeom>
        </p:spPr>
      </p:pic>
      <p:pic>
        <p:nvPicPr>
          <p:cNvPr id="8" name="图片 6">
            <a:extLst>
              <a:ext uri="{FF2B5EF4-FFF2-40B4-BE49-F238E27FC236}">
                <a16:creationId xmlns:a16="http://schemas.microsoft.com/office/drawing/2014/main" id="{2E1477F5-E8E0-4D4B-92A7-72DF795AC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60766" y="1988840"/>
            <a:ext cx="4411345" cy="42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8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954FBA-6FAE-443D-99FC-81FBC401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67B162C-10C2-4DFE-B37D-80D43CD856C4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227F0C-A007-4C8F-8805-93A6C51C870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 err="1"/>
              <a:t>mmap</a:t>
            </a:r>
            <a:r>
              <a:rPr lang="zh-CN" altLang="en-US" dirty="0"/>
              <a:t>为什么可以省下空间？</a:t>
            </a:r>
          </a:p>
        </p:txBody>
      </p:sp>
      <p:sp>
        <p:nvSpPr>
          <p:cNvPr id="76" name="内容占位符 75">
            <a:extLst>
              <a:ext uri="{FF2B5EF4-FFF2-40B4-BE49-F238E27FC236}">
                <a16:creationId xmlns:a16="http://schemas.microsoft.com/office/drawing/2014/main" id="{6CA952B4-42B0-3474-C6EB-AFE564DD7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DEB8F3-24D7-4981-B561-73ED379BF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21" y="1562841"/>
            <a:ext cx="3527425" cy="1150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651227-C7F2-4578-B24F-50C645E907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55183" y="1566015"/>
            <a:ext cx="1143000" cy="11525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8962A1-5CA3-48C0-B354-1D12578B1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858" y="1921616"/>
            <a:ext cx="176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进程</a:t>
            </a:r>
            <a:r>
              <a:rPr lang="en-US" altLang="zh-CN" sz="1800">
                <a:solidFill>
                  <a:schemeClr val="tx1"/>
                </a:solidFill>
              </a:rPr>
              <a:t>A</a:t>
            </a:r>
            <a:r>
              <a:rPr lang="zh-CN" altLang="en-US" sz="1800">
                <a:solidFill>
                  <a:schemeClr val="tx1"/>
                </a:solidFill>
              </a:rPr>
              <a:t>用户空间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DA6E17-BF50-4552-9B49-34792D8BF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883" y="1839065"/>
            <a:ext cx="925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内核</a:t>
            </a:r>
            <a:endParaRPr lang="en-US" altLang="zh-CN" sz="1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1"/>
                </a:solidFill>
              </a:rPr>
              <a:t>空间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B9D4CB-D90D-4F72-9CBA-2FC8DCF27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809" y="4587177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t>进程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t>的页表</a:t>
            </a: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215A2B-1EB9-4CC6-B23E-FB87E760B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945" y="5657672"/>
            <a:ext cx="5543550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F600AC-0D04-45B3-8FE2-70F4DB0D8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946" y="5667197"/>
            <a:ext cx="287337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32A7A1-15F9-4C61-8D46-4B047105F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283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F7894F-F26E-4AFB-9FB8-1244CEE1C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207" y="5667197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E7379B-0570-4667-A062-A2867F1A3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546" y="5667197"/>
            <a:ext cx="288925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1C4C52-5D02-4EF3-B6B2-950269715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471" y="5667197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7E64B8-F287-4BE4-9E42-FFA252321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07" y="5667197"/>
            <a:ext cx="287338" cy="5857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47098B-836D-480F-94A5-16FFEFE34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1146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75C3B9-1EE3-41E5-9255-043D00797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071" y="5667197"/>
            <a:ext cx="287337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99807-B457-43A0-BFD7-F4AE456AD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408" y="5667197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052E83-8D30-44C4-97AC-46AB2149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332" y="5667197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6F9817-9C06-4978-B9CB-E68E21B2D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671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4F0887-F05C-4EB6-A3DE-151E84D56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533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04F839-FECE-45C1-9963-0CB5F3AE1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457" y="5667197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E1D5A7-E157-4491-9F46-1772EEE0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796" y="5667197"/>
            <a:ext cx="288925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DBACD7-525D-49C1-8669-474597CBE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721" y="5667197"/>
            <a:ext cx="287337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C62108-F74A-49F6-BFC4-3F74B6904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058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08704F-8BC7-4657-A8D1-995C6BA8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982" y="5667197"/>
            <a:ext cx="287338" cy="585788"/>
          </a:xfrm>
          <a:prstGeom prst="rect">
            <a:avLst/>
          </a:prstGeom>
          <a:solidFill>
            <a:srgbClr val="ADD6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125CF6-5F1A-48A1-AF3C-934110345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321" y="5667197"/>
            <a:ext cx="287337" cy="585788"/>
          </a:xfrm>
          <a:prstGeom prst="rect">
            <a:avLst/>
          </a:prstGeom>
          <a:solidFill>
            <a:srgbClr val="5CAD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EC5E86-86AE-4EF6-9962-40B90AB71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9658" y="5667197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D166F5-8AFA-4635-A1BB-F23AC0AB8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8582" y="5667197"/>
            <a:ext cx="287338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945311-FA57-4794-871E-525E24564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516" y="4587176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15C721-531D-4940-84B6-6495DB5DF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6086" y="4587176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AAA990-2429-4F82-8B04-F51D19E9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853" y="3748454"/>
            <a:ext cx="1063128" cy="231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进程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的页表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80768CE-0320-4BA7-8CF3-ED58F945A31B}"/>
              </a:ext>
            </a:extLst>
          </p:cNvPr>
          <p:cNvCxnSpPr>
            <a:stCxn id="35" idx="2"/>
            <a:endCxn id="33" idx="0"/>
          </p:cNvCxnSpPr>
          <p:nvPr/>
        </p:nvCxnSpPr>
        <p:spPr bwMode="auto">
          <a:xfrm>
            <a:off x="6100418" y="3980229"/>
            <a:ext cx="333663" cy="6069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0C07E3E-B6AC-468D-92F5-5898F10806D5}"/>
              </a:ext>
            </a:extLst>
          </p:cNvPr>
          <p:cNvCxnSpPr>
            <a:stCxn id="35" idx="3"/>
            <a:endCxn id="34" idx="0"/>
          </p:cNvCxnSpPr>
          <p:nvPr/>
        </p:nvCxnSpPr>
        <p:spPr bwMode="auto">
          <a:xfrm>
            <a:off x="6631982" y="3864341"/>
            <a:ext cx="1205669" cy="7228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B15931B-B587-47B5-8A7F-F7CAF1602AC5}"/>
              </a:ext>
            </a:extLst>
          </p:cNvPr>
          <p:cNvCxnSpPr>
            <a:stCxn id="35" idx="1"/>
            <a:endCxn id="11" idx="0"/>
          </p:cNvCxnSpPr>
          <p:nvPr/>
        </p:nvCxnSpPr>
        <p:spPr bwMode="auto">
          <a:xfrm flipH="1">
            <a:off x="4988373" y="3864342"/>
            <a:ext cx="580480" cy="7228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E90E640-5740-4F86-9350-5850F82ABC03}"/>
              </a:ext>
            </a:extLst>
          </p:cNvPr>
          <p:cNvCxnSpPr>
            <a:stCxn id="11" idx="2"/>
            <a:endCxn id="20" idx="0"/>
          </p:cNvCxnSpPr>
          <p:nvPr/>
        </p:nvCxnSpPr>
        <p:spPr bwMode="auto">
          <a:xfrm>
            <a:off x="4988373" y="4818951"/>
            <a:ext cx="315366" cy="8482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E3CCDB8-EEC4-4CA7-BEF4-7988AB2216E4}"/>
              </a:ext>
            </a:extLst>
          </p:cNvPr>
          <p:cNvCxnSpPr>
            <a:cxnSpLocks/>
          </p:cNvCxnSpPr>
          <p:nvPr/>
        </p:nvCxnSpPr>
        <p:spPr bwMode="auto">
          <a:xfrm flipH="1">
            <a:off x="4803429" y="4814189"/>
            <a:ext cx="1291678" cy="8339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6929DFC-109A-4BD7-9D94-F921445DBEBF}"/>
              </a:ext>
            </a:extLst>
          </p:cNvPr>
          <p:cNvCxnSpPr>
            <a:endCxn id="22" idx="0"/>
          </p:cNvCxnSpPr>
          <p:nvPr/>
        </p:nvCxnSpPr>
        <p:spPr bwMode="auto">
          <a:xfrm flipH="1">
            <a:off x="5880001" y="4818949"/>
            <a:ext cx="539998" cy="848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E925B7E-9842-4534-85DC-E3DB7C11E01B}"/>
              </a:ext>
            </a:extLst>
          </p:cNvPr>
          <p:cNvCxnSpPr>
            <a:stCxn id="34" idx="2"/>
            <a:endCxn id="28" idx="0"/>
          </p:cNvCxnSpPr>
          <p:nvPr/>
        </p:nvCxnSpPr>
        <p:spPr bwMode="auto">
          <a:xfrm>
            <a:off x="7837650" y="4818951"/>
            <a:ext cx="922870" cy="8482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53240087-B11A-465A-A09D-53097A270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068" y="5667296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F3ABB20-BF84-404A-B751-83A0C02C5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388" y="5667296"/>
            <a:ext cx="288925" cy="585788"/>
          </a:xfrm>
          <a:prstGeom prst="rect">
            <a:avLst/>
          </a:prstGeom>
          <a:solidFill>
            <a:srgbClr val="C0C9F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4BF682D-E4BF-4E4E-8920-4EDBAAAE3BBB}"/>
              </a:ext>
            </a:extLst>
          </p:cNvPr>
          <p:cNvCxnSpPr>
            <a:stCxn id="11" idx="2"/>
          </p:cNvCxnSpPr>
          <p:nvPr/>
        </p:nvCxnSpPr>
        <p:spPr bwMode="auto">
          <a:xfrm flipH="1">
            <a:off x="4736605" y="4818951"/>
            <a:ext cx="251768" cy="82919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A817B2C-7CBB-4FD7-9366-8FA21C6EC856}"/>
              </a:ext>
            </a:extLst>
          </p:cNvPr>
          <p:cNvCxnSpPr>
            <a:endCxn id="16" idx="0"/>
          </p:cNvCxnSpPr>
          <p:nvPr/>
        </p:nvCxnSpPr>
        <p:spPr bwMode="auto">
          <a:xfrm flipH="1">
            <a:off x="4152008" y="4703063"/>
            <a:ext cx="288130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CE10EF3-C34D-4D20-8C21-8E603F1F61C6}"/>
              </a:ext>
            </a:extLst>
          </p:cNvPr>
          <p:cNvCxnSpPr>
            <a:endCxn id="15" idx="0"/>
          </p:cNvCxnSpPr>
          <p:nvPr/>
        </p:nvCxnSpPr>
        <p:spPr bwMode="auto">
          <a:xfrm flipH="1">
            <a:off x="3863876" y="4703063"/>
            <a:ext cx="583804" cy="964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94CA2F5-0E21-45BF-8856-987E3D9827D2}"/>
              </a:ext>
            </a:extLst>
          </p:cNvPr>
          <p:cNvCxnSpPr>
            <a:endCxn id="13" idx="0"/>
          </p:cNvCxnSpPr>
          <p:nvPr/>
        </p:nvCxnSpPr>
        <p:spPr bwMode="auto">
          <a:xfrm flipH="1">
            <a:off x="3287614" y="4698301"/>
            <a:ext cx="1151730" cy="9688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C9F4CC1C-C9EF-4A76-B222-3C4AF1DA4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25" y="5657572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B6D7F92-738D-4FD6-817A-0A3BC792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7" y="5667296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7B5349A-2433-4CF0-A40E-775768BDC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9" y="5667296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2803C6E-FA79-417D-AA10-3E1A9CF9B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324" y="5667296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ADE5BF-A3E3-4BC0-A1C3-EE75E67C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313" y="5667296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21E362-35AE-43C4-BD2A-DE60C7B94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452" y="5667296"/>
            <a:ext cx="288925" cy="5857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88C822A-1E24-4F37-9832-6CD653F494F3}"/>
              </a:ext>
            </a:extLst>
          </p:cNvPr>
          <p:cNvGrpSpPr/>
          <p:nvPr/>
        </p:nvGrpSpPr>
        <p:grpSpPr>
          <a:xfrm>
            <a:off x="6659373" y="1778865"/>
            <a:ext cx="648000" cy="404813"/>
            <a:chOff x="2714612" y="2871791"/>
            <a:chExt cx="648000" cy="404813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5394476-D8AE-4041-B265-84190647F596}"/>
                </a:ext>
              </a:extLst>
            </p:cNvPr>
            <p:cNvGrpSpPr/>
            <p:nvPr/>
          </p:nvGrpSpPr>
          <p:grpSpPr>
            <a:xfrm>
              <a:off x="2714612" y="2928940"/>
              <a:ext cx="648000" cy="285334"/>
              <a:chOff x="3571868" y="2538416"/>
              <a:chExt cx="648000" cy="285334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8BD880F7-17BE-4BC8-8FAA-C9727EB7CC1F}"/>
                  </a:ext>
                </a:extLst>
              </p:cNvPr>
              <p:cNvSpPr/>
              <p:nvPr/>
            </p:nvSpPr>
            <p:spPr>
              <a:xfrm>
                <a:off x="3571868" y="2538416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9D9C9A3-27D5-4E2A-A0F3-28D7EF668D81}"/>
                  </a:ext>
                </a:extLst>
              </p:cNvPr>
              <p:cNvSpPr/>
              <p:nvPr/>
            </p:nvSpPr>
            <p:spPr>
              <a:xfrm>
                <a:off x="3571868" y="2679750"/>
                <a:ext cx="648000" cy="144000"/>
              </a:xfrm>
              <a:prstGeom prst="rect">
                <a:avLst/>
              </a:prstGeom>
              <a:gradFill>
                <a:gsLst>
                  <a:gs pos="100000">
                    <a:srgbClr val="FF9900"/>
                  </a:gs>
                  <a:gs pos="0">
                    <a:srgbClr val="FFCC66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58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TextBox 69">
              <a:extLst>
                <a:ext uri="{FF2B5EF4-FFF2-40B4-BE49-F238E27FC236}">
                  <a16:creationId xmlns:a16="http://schemas.microsoft.com/office/drawing/2014/main" id="{2F2A4E82-E770-46FD-ABBA-F8AAB69B55B1}"/>
                </a:ext>
              </a:extLst>
            </p:cNvPr>
            <p:cNvSpPr txBox="1"/>
            <p:nvPr/>
          </p:nvSpPr>
          <p:spPr>
            <a:xfrm>
              <a:off x="2776524" y="2871791"/>
              <a:ext cx="5549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b="1">
                  <a:solidFill>
                    <a:schemeClr val="bg1"/>
                  </a:solidFill>
                  <a:latin typeface="+mn-ea"/>
                </a:rPr>
                <a:t>head</a:t>
              </a:r>
              <a:endParaRPr lang="zh-CN" altLang="en-US" sz="105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8" name="TextBox 70">
              <a:extLst>
                <a:ext uri="{FF2B5EF4-FFF2-40B4-BE49-F238E27FC236}">
                  <a16:creationId xmlns:a16="http://schemas.microsoft.com/office/drawing/2014/main" id="{DE93BA26-508D-46D7-849F-D5C73AD993BF}"/>
                </a:ext>
              </a:extLst>
            </p:cNvPr>
            <p:cNvSpPr txBox="1"/>
            <p:nvPr/>
          </p:nvSpPr>
          <p:spPr>
            <a:xfrm>
              <a:off x="2833680" y="3022688"/>
              <a:ext cx="42832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b="1">
                  <a:solidFill>
                    <a:srgbClr val="11576A"/>
                  </a:solidFill>
                  <a:latin typeface="+mn-ea"/>
                </a:rPr>
                <a:t>tail</a:t>
              </a:r>
              <a:endParaRPr lang="zh-CN" altLang="en-US" sz="1050" b="1">
                <a:solidFill>
                  <a:srgbClr val="11576A"/>
                </a:solidFill>
                <a:latin typeface="+mn-ea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5BF8AF0-7262-4641-8295-B2FF4918F5DA}"/>
              </a:ext>
            </a:extLst>
          </p:cNvPr>
          <p:cNvGrpSpPr/>
          <p:nvPr/>
        </p:nvGrpSpPr>
        <p:grpSpPr>
          <a:xfrm>
            <a:off x="8245076" y="1850303"/>
            <a:ext cx="662368" cy="593529"/>
            <a:chOff x="3657516" y="2786064"/>
            <a:chExt cx="662368" cy="59352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6FF162F-310C-4978-A7D3-4CDD05B77F31}"/>
                </a:ext>
              </a:extLst>
            </p:cNvPr>
            <p:cNvSpPr/>
            <p:nvPr/>
          </p:nvSpPr>
          <p:spPr>
            <a:xfrm>
              <a:off x="3671884" y="2786064"/>
              <a:ext cx="648000" cy="144000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58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D064C26-0560-4B26-A2B3-4C1D32D4AC01}"/>
                </a:ext>
              </a:extLst>
            </p:cNvPr>
            <p:cNvSpPr/>
            <p:nvPr/>
          </p:nvSpPr>
          <p:spPr>
            <a:xfrm>
              <a:off x="3671884" y="2928940"/>
              <a:ext cx="648000" cy="432000"/>
            </a:xfrm>
            <a:prstGeom prst="rect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58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8788F8B2-0D5B-42CF-9079-AD876B74580A}"/>
                </a:ext>
              </a:extLst>
            </p:cNvPr>
            <p:cNvCxnSpPr/>
            <p:nvPr/>
          </p:nvCxnSpPr>
          <p:spPr>
            <a:xfrm rot="10800000" flipH="1">
              <a:off x="3671884" y="3073495"/>
              <a:ext cx="648000" cy="1588"/>
            </a:xfrm>
            <a:prstGeom prst="line">
              <a:avLst/>
            </a:prstGeom>
            <a:ln w="158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75">
              <a:extLst>
                <a:ext uri="{FF2B5EF4-FFF2-40B4-BE49-F238E27FC236}">
                  <a16:creationId xmlns:a16="http://schemas.microsoft.com/office/drawing/2014/main" id="{653E5090-4BCE-4B24-9D94-56D7B9D28EA8}"/>
                </a:ext>
              </a:extLst>
            </p:cNvPr>
            <p:cNvSpPr txBox="1"/>
            <p:nvPr/>
          </p:nvSpPr>
          <p:spPr>
            <a:xfrm>
              <a:off x="3657516" y="2897375"/>
              <a:ext cx="6591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solidFill>
                    <a:srgbClr val="11576A"/>
                  </a:solidFill>
                  <a:latin typeface="+mn-ea"/>
                </a:rPr>
                <a:t>寄存器组</a:t>
              </a:r>
            </a:p>
          </p:txBody>
        </p:sp>
        <p:sp>
          <p:nvSpPr>
            <p:cNvPr id="66" name="TextBox 82">
              <a:extLst>
                <a:ext uri="{FF2B5EF4-FFF2-40B4-BE49-F238E27FC236}">
                  <a16:creationId xmlns:a16="http://schemas.microsoft.com/office/drawing/2014/main" id="{4DC1F6DE-C783-4C94-836B-D939DEA7B570}"/>
                </a:ext>
              </a:extLst>
            </p:cNvPr>
            <p:cNvSpPr txBox="1"/>
            <p:nvPr/>
          </p:nvSpPr>
          <p:spPr>
            <a:xfrm>
              <a:off x="3800471" y="3071816"/>
              <a:ext cx="377026" cy="307777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1400" b="1" spc="100">
                  <a:solidFill>
                    <a:srgbClr val="11576A"/>
                  </a:solidFill>
                  <a:latin typeface="华文琥珀" pitchFamily="2" charset="-122"/>
                  <a:ea typeface="华文琥珀" pitchFamily="2" charset="-122"/>
                </a:rPr>
                <a:t>…</a:t>
              </a:r>
            </a:p>
          </p:txBody>
        </p:sp>
      </p:grp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E0BFB99-87B2-49AB-A203-20CBF2099145}"/>
              </a:ext>
            </a:extLst>
          </p:cNvPr>
          <p:cNvCxnSpPr/>
          <p:nvPr/>
        </p:nvCxnSpPr>
        <p:spPr>
          <a:xfrm>
            <a:off x="7253804" y="1909669"/>
            <a:ext cx="1005641" cy="0"/>
          </a:xfrm>
          <a:prstGeom prst="straightConnector1">
            <a:avLst/>
          </a:prstGeom>
          <a:ln w="28575">
            <a:solidFill>
              <a:srgbClr val="1157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873510D-B09B-4211-B4C5-C5854F29899C}"/>
              </a:ext>
            </a:extLst>
          </p:cNvPr>
          <p:cNvCxnSpPr/>
          <p:nvPr/>
        </p:nvCxnSpPr>
        <p:spPr>
          <a:xfrm>
            <a:off x="8788520" y="1909669"/>
            <a:ext cx="1005641" cy="0"/>
          </a:xfrm>
          <a:prstGeom prst="straightConnector1">
            <a:avLst/>
          </a:prstGeom>
          <a:ln w="28575">
            <a:solidFill>
              <a:srgbClr val="1157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6E0FFB9-8CFB-41DB-A34C-21CD23569C8A}"/>
              </a:ext>
            </a:extLst>
          </p:cNvPr>
          <p:cNvGrpSpPr/>
          <p:nvPr/>
        </p:nvGrpSpPr>
        <p:grpSpPr>
          <a:xfrm>
            <a:off x="9875152" y="1921740"/>
            <a:ext cx="397313" cy="73026"/>
            <a:chOff x="4589868" y="2795588"/>
            <a:chExt cx="397313" cy="73026"/>
          </a:xfrm>
        </p:grpSpPr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79BD0ED0-2251-4DCD-AE8C-32EBEB86E3DC}"/>
                </a:ext>
              </a:extLst>
            </p:cNvPr>
            <p:cNvCxnSpPr/>
            <p:nvPr/>
          </p:nvCxnSpPr>
          <p:spPr>
            <a:xfrm flipV="1">
              <a:off x="4589868" y="2795588"/>
              <a:ext cx="358370" cy="0"/>
            </a:xfrm>
            <a:prstGeom prst="line">
              <a:avLst/>
            </a:prstGeom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5D67600B-B257-4272-907B-A710B5235199}"/>
                </a:ext>
              </a:extLst>
            </p:cNvPr>
            <p:cNvCxnSpPr/>
            <p:nvPr/>
          </p:nvCxnSpPr>
          <p:spPr>
            <a:xfrm rot="5400000">
              <a:off x="4921508" y="2813588"/>
              <a:ext cx="36000" cy="1588"/>
            </a:xfrm>
            <a:prstGeom prst="line">
              <a:avLst/>
            </a:prstGeom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51CA824-6668-4CC3-8DEC-8106E2CAB826}"/>
                </a:ext>
              </a:extLst>
            </p:cNvPr>
            <p:cNvCxnSpPr/>
            <p:nvPr/>
          </p:nvCxnSpPr>
          <p:spPr>
            <a:xfrm>
              <a:off x="4879181" y="2836073"/>
              <a:ext cx="108000" cy="1588"/>
            </a:xfrm>
            <a:prstGeom prst="line">
              <a:avLst/>
            </a:prstGeom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3351542A-382C-4DA5-849A-75E7A813CFC5}"/>
                </a:ext>
              </a:extLst>
            </p:cNvPr>
            <p:cNvCxnSpPr/>
            <p:nvPr/>
          </p:nvCxnSpPr>
          <p:spPr>
            <a:xfrm>
              <a:off x="4895294" y="2867026"/>
              <a:ext cx="72000" cy="1588"/>
            </a:xfrm>
            <a:prstGeom prst="line">
              <a:avLst/>
            </a:prstGeom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168">
            <a:extLst>
              <a:ext uri="{FF2B5EF4-FFF2-40B4-BE49-F238E27FC236}">
                <a16:creationId xmlns:a16="http://schemas.microsoft.com/office/drawing/2014/main" id="{4A149565-44B7-430B-AF25-10C01EFC42B6}"/>
              </a:ext>
            </a:extLst>
          </p:cNvPr>
          <p:cNvSpPr txBox="1"/>
          <p:nvPr/>
        </p:nvSpPr>
        <p:spPr>
          <a:xfrm>
            <a:off x="5900551" y="1836551"/>
            <a:ext cx="800219" cy="220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lang="zh-CN" altLang="en-US" b="1" baseline="-25000" dirty="0">
                <a:solidFill>
                  <a:srgbClr val="11576A"/>
                </a:solidFill>
                <a:latin typeface="+mn-ea"/>
              </a:rPr>
              <a:t>就绪队列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AF26260-39AB-482A-BCE5-3F09082D4152}"/>
              </a:ext>
            </a:extLst>
          </p:cNvPr>
          <p:cNvCxnSpPr/>
          <p:nvPr/>
        </p:nvCxnSpPr>
        <p:spPr bwMode="auto">
          <a:xfrm flipH="1">
            <a:off x="6023670" y="2485178"/>
            <a:ext cx="2520602" cy="13099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A196F2F8-3F4F-43DD-BAAC-9F996EB46D43}"/>
              </a:ext>
            </a:extLst>
          </p:cNvPr>
          <p:cNvSpPr txBox="1"/>
          <p:nvPr/>
        </p:nvSpPr>
        <p:spPr>
          <a:xfrm>
            <a:off x="8218133" y="3433916"/>
            <a:ext cx="367240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page frame</a:t>
            </a:r>
            <a:r>
              <a:rPr lang="zh-CN" altLang="en-US" dirty="0">
                <a:solidFill>
                  <a:srgbClr val="FF0000"/>
                </a:solidFill>
              </a:rPr>
              <a:t>有两种权限是怎么做到的？</a:t>
            </a:r>
          </a:p>
        </p:txBody>
      </p:sp>
    </p:spTree>
    <p:extLst>
      <p:ext uri="{BB962C8B-B14F-4D97-AF65-F5344CB8AC3E}">
        <p14:creationId xmlns:p14="http://schemas.microsoft.com/office/powerpoint/2010/main" val="273372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62">
            <a:extLst>
              <a:ext uri="{FF2B5EF4-FFF2-40B4-BE49-F238E27FC236}">
                <a16:creationId xmlns:a16="http://schemas.microsoft.com/office/drawing/2014/main" id="{331EB15C-3387-7053-DC35-C9F46F20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缺页异常（缺页中断）的处理流程</a:t>
            </a:r>
          </a:p>
        </p:txBody>
      </p:sp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999E61BF-5D24-B476-D937-6AE2FCB3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3265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A4A3EF-B53D-4203-94C8-D0B336EE45CE}" type="slidenum">
              <a:rPr lang="en-US" altLang="ko-KR" sz="1200">
                <a:solidFill>
                  <a:schemeClr val="bg1"/>
                </a:solidFill>
                <a:ea typeface="굴림"/>
                <a:cs typeface="굴림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ko-KR" sz="1200" dirty="0">
              <a:solidFill>
                <a:schemeClr val="bg1"/>
              </a:solidFill>
              <a:ea typeface="굴림"/>
              <a:cs typeface="굴림"/>
            </a:endParaRPr>
          </a:p>
        </p:txBody>
      </p:sp>
      <p:sp>
        <p:nvSpPr>
          <p:cNvPr id="366" name="内容占位符 75">
            <a:extLst>
              <a:ext uri="{FF2B5EF4-FFF2-40B4-BE49-F238E27FC236}">
                <a16:creationId xmlns:a16="http://schemas.microsoft.com/office/drawing/2014/main" id="{A1FE06EA-F735-4115-912D-6A479573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例：执行 </a:t>
            </a:r>
            <a:r>
              <a:rPr lang="en-US" altLang="zh-CN" sz="2400" dirty="0"/>
              <a:t>int variable = *(p+102400);</a:t>
            </a:r>
            <a:r>
              <a:rPr lang="zh-CN" altLang="en-US" sz="2400" dirty="0"/>
              <a:t>或者执行 *</a:t>
            </a:r>
            <a:r>
              <a:rPr lang="en-US" altLang="zh-CN" sz="2400" dirty="0"/>
              <a:t>p(204800) = 4096;</a:t>
            </a:r>
          </a:p>
          <a:p>
            <a:endParaRPr lang="zh-CN" altLang="en-US" sz="2400" dirty="0"/>
          </a:p>
        </p:txBody>
      </p:sp>
      <p:sp>
        <p:nvSpPr>
          <p:cNvPr id="437" name="标注: 弯曲线形 436">
            <a:extLst>
              <a:ext uri="{FF2B5EF4-FFF2-40B4-BE49-F238E27FC236}">
                <a16:creationId xmlns:a16="http://schemas.microsoft.com/office/drawing/2014/main" id="{6D8B3323-7F12-4509-90D2-8E197AA6F249}"/>
              </a:ext>
            </a:extLst>
          </p:cNvPr>
          <p:cNvSpPr/>
          <p:nvPr/>
        </p:nvSpPr>
        <p:spPr bwMode="auto">
          <a:xfrm>
            <a:off x="10118674" y="3172342"/>
            <a:ext cx="2077260" cy="2517861"/>
          </a:xfrm>
          <a:prstGeom prst="borderCallout2">
            <a:avLst>
              <a:gd name="adj1" fmla="val 62549"/>
              <a:gd name="adj2" fmla="val -60201"/>
              <a:gd name="adj3" fmla="val 52521"/>
              <a:gd name="adj4" fmla="val -16248"/>
              <a:gd name="adj5" fmla="val 51724"/>
              <a:gd name="adj6" fmla="val -19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查找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vma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对应的描述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系统中的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maps)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，找到该页对应的文件和偏移量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借助文件系统，将文件名和偏移量，转换成磁道和扇区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驱动磁盘的磁臂和磁头，取到数据</a:t>
            </a:r>
          </a:p>
        </p:txBody>
      </p: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43207B2C-1E53-4077-A2FC-CCD875C19176}"/>
              </a:ext>
            </a:extLst>
          </p:cNvPr>
          <p:cNvGrpSpPr/>
          <p:nvPr/>
        </p:nvGrpSpPr>
        <p:grpSpPr>
          <a:xfrm>
            <a:off x="1803925" y="2981907"/>
            <a:ext cx="3105179" cy="2098520"/>
            <a:chOff x="1730172" y="1285337"/>
            <a:chExt cx="3105179" cy="2098520"/>
          </a:xfrm>
        </p:grpSpPr>
        <p:grpSp>
          <p:nvGrpSpPr>
            <p:cNvPr id="518" name="组合 517">
              <a:extLst>
                <a:ext uri="{FF2B5EF4-FFF2-40B4-BE49-F238E27FC236}">
                  <a16:creationId xmlns:a16="http://schemas.microsoft.com/office/drawing/2014/main" id="{DCA5DAEF-1956-4527-A5A6-4CDDF487C7D1}"/>
                </a:ext>
              </a:extLst>
            </p:cNvPr>
            <p:cNvGrpSpPr/>
            <p:nvPr/>
          </p:nvGrpSpPr>
          <p:grpSpPr>
            <a:xfrm>
              <a:off x="3692343" y="1458693"/>
              <a:ext cx="1143008" cy="1925164"/>
              <a:chOff x="7643834" y="1673536"/>
              <a:chExt cx="1143008" cy="1925164"/>
            </a:xfrm>
            <a:gradFill>
              <a:gsLst>
                <a:gs pos="100000">
                  <a:srgbClr val="007C8B"/>
                </a:gs>
                <a:gs pos="50000">
                  <a:srgbClr val="0EB1C8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</p:grpSpPr>
          <p:sp>
            <p:nvSpPr>
              <p:cNvPr id="523" name="椭圆 522">
                <a:extLst>
                  <a:ext uri="{FF2B5EF4-FFF2-40B4-BE49-F238E27FC236}">
                    <a16:creationId xmlns:a16="http://schemas.microsoft.com/office/drawing/2014/main" id="{749B322B-B7F7-490D-A220-9D1ECE91109D}"/>
                  </a:ext>
                </a:extLst>
              </p:cNvPr>
              <p:cNvSpPr/>
              <p:nvPr/>
            </p:nvSpPr>
            <p:spPr>
              <a:xfrm>
                <a:off x="7643834" y="3274700"/>
                <a:ext cx="1143008" cy="32400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72786F06-88C9-4D01-B08E-0094E608A94A}"/>
                  </a:ext>
                </a:extLst>
              </p:cNvPr>
              <p:cNvSpPr/>
              <p:nvPr/>
            </p:nvSpPr>
            <p:spPr>
              <a:xfrm>
                <a:off x="7643834" y="1673536"/>
                <a:ext cx="1143008" cy="175547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A52BAD95-168B-4734-8C83-47EF0829EDDC}"/>
                </a:ext>
              </a:extLst>
            </p:cNvPr>
            <p:cNvSpPr/>
            <p:nvPr/>
          </p:nvSpPr>
          <p:spPr>
            <a:xfrm>
              <a:off x="3692343" y="1285337"/>
              <a:ext cx="1143008" cy="324000"/>
            </a:xfrm>
            <a:prstGeom prst="ellipse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0" name="任意多边形 23">
              <a:extLst>
                <a:ext uri="{FF2B5EF4-FFF2-40B4-BE49-F238E27FC236}">
                  <a16:creationId xmlns:a16="http://schemas.microsoft.com/office/drawing/2014/main" id="{1A95A48E-313B-4C5B-8C88-70E9F0D2E215}"/>
                </a:ext>
              </a:extLst>
            </p:cNvPr>
            <p:cNvSpPr/>
            <p:nvPr/>
          </p:nvSpPr>
          <p:spPr>
            <a:xfrm>
              <a:off x="1730172" y="1390120"/>
              <a:ext cx="1652588" cy="4762"/>
            </a:xfrm>
            <a:custGeom>
              <a:avLst/>
              <a:gdLst>
                <a:gd name="connsiteX0" fmla="*/ 0 w 1652588"/>
                <a:gd name="connsiteY0" fmla="*/ 0 h 4762"/>
                <a:gd name="connsiteX1" fmla="*/ 1652588 w 1652588"/>
                <a:gd name="connsiteY1" fmla="*/ 4762 h 4762"/>
                <a:gd name="connsiteX2" fmla="*/ 1652588 w 1652588"/>
                <a:gd name="connsiteY2" fmla="*/ 4762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588" h="4762">
                  <a:moveTo>
                    <a:pt x="0" y="0"/>
                  </a:moveTo>
                  <a:lnTo>
                    <a:pt x="1652588" y="4762"/>
                  </a:lnTo>
                  <a:lnTo>
                    <a:pt x="1652588" y="4762"/>
                  </a:lnTo>
                </a:path>
              </a:pathLst>
            </a:cu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1" name="任意多边形 24">
              <a:extLst>
                <a:ext uri="{FF2B5EF4-FFF2-40B4-BE49-F238E27FC236}">
                  <a16:creationId xmlns:a16="http://schemas.microsoft.com/office/drawing/2014/main" id="{F2B629A8-DE17-4324-9844-138FDCE41717}"/>
                </a:ext>
              </a:extLst>
            </p:cNvPr>
            <p:cNvSpPr/>
            <p:nvPr/>
          </p:nvSpPr>
          <p:spPr>
            <a:xfrm>
              <a:off x="3373235" y="1394881"/>
              <a:ext cx="890612" cy="819149"/>
            </a:xfrm>
            <a:custGeom>
              <a:avLst/>
              <a:gdLst>
                <a:gd name="connsiteX0" fmla="*/ 314325 w 314325"/>
                <a:gd name="connsiteY0" fmla="*/ 285750 h 285750"/>
                <a:gd name="connsiteX1" fmla="*/ 0 w 314325"/>
                <a:gd name="connsiteY1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285750">
                  <a:moveTo>
                    <a:pt x="314325" y="28575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" name="矩形 521">
              <a:extLst>
                <a:ext uri="{FF2B5EF4-FFF2-40B4-BE49-F238E27FC236}">
                  <a16:creationId xmlns:a16="http://schemas.microsoft.com/office/drawing/2014/main" id="{1D40E21F-D56A-478F-BAD6-D2B88277CCC0}"/>
                </a:ext>
              </a:extLst>
            </p:cNvPr>
            <p:cNvSpPr/>
            <p:nvPr/>
          </p:nvSpPr>
          <p:spPr>
            <a:xfrm>
              <a:off x="4154309" y="2220155"/>
              <a:ext cx="214314" cy="244930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65000"/>
                    <a:lumOff val="35000"/>
                  </a:sysClr>
                </a:gs>
                <a:gs pos="0">
                  <a:sysClr val="window" lastClr="FFFFFF">
                    <a:lumMod val="75000"/>
                  </a:sys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525" name="组合 524">
            <a:extLst>
              <a:ext uri="{FF2B5EF4-FFF2-40B4-BE49-F238E27FC236}">
                <a16:creationId xmlns:a16="http://schemas.microsoft.com/office/drawing/2014/main" id="{0C73F36B-26A6-445A-9BC6-383D830AF998}"/>
              </a:ext>
            </a:extLst>
          </p:cNvPr>
          <p:cNvGrpSpPr/>
          <p:nvPr/>
        </p:nvGrpSpPr>
        <p:grpSpPr>
          <a:xfrm>
            <a:off x="1794408" y="3234325"/>
            <a:ext cx="758828" cy="1152000"/>
            <a:chOff x="1720657" y="1537755"/>
            <a:chExt cx="758828" cy="1152000"/>
          </a:xfrm>
        </p:grpSpPr>
        <p:cxnSp>
          <p:nvCxnSpPr>
            <p:cNvPr id="526" name="直接连接符 525">
              <a:extLst>
                <a:ext uri="{FF2B5EF4-FFF2-40B4-BE49-F238E27FC236}">
                  <a16:creationId xmlns:a16="http://schemas.microsoft.com/office/drawing/2014/main" id="{6CF97F2B-48A1-42CC-82CB-CA049C71A050}"/>
                </a:ext>
              </a:extLst>
            </p:cNvPr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527" name="直接连接符 526">
              <a:extLst>
                <a:ext uri="{FF2B5EF4-FFF2-40B4-BE49-F238E27FC236}">
                  <a16:creationId xmlns:a16="http://schemas.microsoft.com/office/drawing/2014/main" id="{A16011B4-FF62-47A1-B744-A980467FAB13}"/>
                </a:ext>
              </a:extLst>
            </p:cNvPr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cxnSp>
          <p:nvCxnSpPr>
            <p:cNvPr id="528" name="直接连接符 527">
              <a:extLst>
                <a:ext uri="{FF2B5EF4-FFF2-40B4-BE49-F238E27FC236}">
                  <a16:creationId xmlns:a16="http://schemas.microsoft.com/office/drawing/2014/main" id="{2F0F65C4-F1AC-40CD-85F6-630A4CFE4736}"/>
                </a:ext>
              </a:extLst>
            </p:cNvPr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</p:grpSp>
      <p:grpSp>
        <p:nvGrpSpPr>
          <p:cNvPr id="529" name="组合 528">
            <a:extLst>
              <a:ext uri="{FF2B5EF4-FFF2-40B4-BE49-F238E27FC236}">
                <a16:creationId xmlns:a16="http://schemas.microsoft.com/office/drawing/2014/main" id="{706FA739-4BAC-494B-8045-FDD74C9CE9AC}"/>
              </a:ext>
            </a:extLst>
          </p:cNvPr>
          <p:cNvGrpSpPr/>
          <p:nvPr/>
        </p:nvGrpSpPr>
        <p:grpSpPr>
          <a:xfrm>
            <a:off x="2303996" y="2584699"/>
            <a:ext cx="1924064" cy="461665"/>
            <a:chOff x="2230245" y="1067074"/>
            <a:chExt cx="1924064" cy="461665"/>
          </a:xfrm>
        </p:grpSpPr>
        <p:sp>
          <p:nvSpPr>
            <p:cNvPr id="530" name="Oval 91">
              <a:extLst>
                <a:ext uri="{FF2B5EF4-FFF2-40B4-BE49-F238E27FC236}">
                  <a16:creationId xmlns:a16="http://schemas.microsoft.com/office/drawing/2014/main" id="{9775B543-2463-46B4-BF50-E926DE950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11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31" name="TextBox 7">
              <a:extLst>
                <a:ext uri="{FF2B5EF4-FFF2-40B4-BE49-F238E27FC236}">
                  <a16:creationId xmlns:a16="http://schemas.microsoft.com/office/drawing/2014/main" id="{A811CB3F-5B15-4D9F-8E11-EDFD9A9A4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70657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SzPct val="100000"/>
                <a:buFontTx/>
                <a:buNone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通过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maps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查找该页数据在外存中的位置</a:t>
              </a:r>
            </a:p>
          </p:txBody>
        </p:sp>
      </p:grpSp>
      <p:grpSp>
        <p:nvGrpSpPr>
          <p:cNvPr id="532" name="组合 531">
            <a:extLst>
              <a:ext uri="{FF2B5EF4-FFF2-40B4-BE49-F238E27FC236}">
                <a16:creationId xmlns:a16="http://schemas.microsoft.com/office/drawing/2014/main" id="{787C6278-1495-42A9-AD53-06B092188A1A}"/>
              </a:ext>
            </a:extLst>
          </p:cNvPr>
          <p:cNvGrpSpPr/>
          <p:nvPr/>
        </p:nvGrpSpPr>
        <p:grpSpPr>
          <a:xfrm>
            <a:off x="968773" y="3661426"/>
            <a:ext cx="1003484" cy="504241"/>
            <a:chOff x="895022" y="1964854"/>
            <a:chExt cx="1003484" cy="504241"/>
          </a:xfrm>
        </p:grpSpPr>
        <p:sp>
          <p:nvSpPr>
            <p:cNvPr id="533" name="Oval 91">
              <a:extLst>
                <a:ext uri="{FF2B5EF4-FFF2-40B4-BE49-F238E27FC236}">
                  <a16:creationId xmlns:a16="http://schemas.microsoft.com/office/drawing/2014/main" id="{91FB010D-CF59-4731-9492-6E5BEBA63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11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34" name="TextBox 7">
              <a:extLst>
                <a:ext uri="{FF2B5EF4-FFF2-40B4-BE49-F238E27FC236}">
                  <a16:creationId xmlns:a16="http://schemas.microsoft.com/office/drawing/2014/main" id="{5E0E4F29-35F4-4489-8AA6-52E319589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022" y="1964854"/>
              <a:ext cx="100348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SzPct val="100000"/>
                <a:buFontTx/>
                <a:buNone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页表项引用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35" name="组合 534">
            <a:extLst>
              <a:ext uri="{FF2B5EF4-FFF2-40B4-BE49-F238E27FC236}">
                <a16:creationId xmlns:a16="http://schemas.microsoft.com/office/drawing/2014/main" id="{E5C49450-E1B0-48BA-83E8-BC9CD0B06226}"/>
              </a:ext>
            </a:extLst>
          </p:cNvPr>
          <p:cNvGrpSpPr/>
          <p:nvPr/>
        </p:nvGrpSpPr>
        <p:grpSpPr>
          <a:xfrm>
            <a:off x="2496225" y="3580401"/>
            <a:ext cx="547355" cy="503631"/>
            <a:chOff x="2422472" y="1883829"/>
            <a:chExt cx="547355" cy="503631"/>
          </a:xfrm>
        </p:grpSpPr>
        <p:sp>
          <p:nvSpPr>
            <p:cNvPr id="536" name="Oval 91">
              <a:extLst>
                <a:ext uri="{FF2B5EF4-FFF2-40B4-BE49-F238E27FC236}">
                  <a16:creationId xmlns:a16="http://schemas.microsoft.com/office/drawing/2014/main" id="{187DF2A9-8D8C-4683-8B7D-076FC2BA7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11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37" name="TextBox 7">
              <a:extLst>
                <a:ext uri="{FF2B5EF4-FFF2-40B4-BE49-F238E27FC236}">
                  <a16:creationId xmlns:a16="http://schemas.microsoft.com/office/drawing/2014/main" id="{C4363A2F-3EEA-4190-9EE6-D5BC7304B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SzPct val="100000"/>
                <a:buFontTx/>
                <a:buNone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异常</a:t>
              </a:r>
            </a:p>
          </p:txBody>
        </p:sp>
      </p:grpSp>
      <p:grpSp>
        <p:nvGrpSpPr>
          <p:cNvPr id="538" name="组合 537">
            <a:extLst>
              <a:ext uri="{FF2B5EF4-FFF2-40B4-BE49-F238E27FC236}">
                <a16:creationId xmlns:a16="http://schemas.microsoft.com/office/drawing/2014/main" id="{88F3A119-E31C-4265-A33B-17204015EBAB}"/>
              </a:ext>
            </a:extLst>
          </p:cNvPr>
          <p:cNvGrpSpPr/>
          <p:nvPr/>
        </p:nvGrpSpPr>
        <p:grpSpPr>
          <a:xfrm>
            <a:off x="551384" y="4091577"/>
            <a:ext cx="642942" cy="571504"/>
            <a:chOff x="477633" y="2395007"/>
            <a:chExt cx="642942" cy="571504"/>
          </a:xfrm>
        </p:grpSpPr>
        <p:sp>
          <p:nvSpPr>
            <p:cNvPr id="539" name="矩形 538">
              <a:extLst>
                <a:ext uri="{FF2B5EF4-FFF2-40B4-BE49-F238E27FC236}">
                  <a16:creationId xmlns:a16="http://schemas.microsoft.com/office/drawing/2014/main" id="{EC4C10EF-33C7-4122-87E6-BB9F1B8F0541}"/>
                </a:ext>
              </a:extLst>
            </p:cNvPr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40" name="TextBox 7">
              <a:extLst>
                <a:ext uri="{FF2B5EF4-FFF2-40B4-BE49-F238E27FC236}">
                  <a16:creationId xmlns:a16="http://schemas.microsoft.com/office/drawing/2014/main" id="{801BE62A-3714-4969-AB3C-0FD12B55E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load M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1" name="组合 540">
            <a:extLst>
              <a:ext uri="{FF2B5EF4-FFF2-40B4-BE49-F238E27FC236}">
                <a16:creationId xmlns:a16="http://schemas.microsoft.com/office/drawing/2014/main" id="{8DF3693F-D5B2-4BC1-BF89-775381145636}"/>
              </a:ext>
            </a:extLst>
          </p:cNvPr>
          <p:cNvGrpSpPr/>
          <p:nvPr/>
        </p:nvGrpSpPr>
        <p:grpSpPr>
          <a:xfrm>
            <a:off x="1034696" y="4386851"/>
            <a:ext cx="802572" cy="1137917"/>
            <a:chOff x="960945" y="2690279"/>
            <a:chExt cx="802572" cy="1137917"/>
          </a:xfrm>
        </p:grpSpPr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5D764542-F782-43DE-ABA5-F4D1C4DA6515}"/>
                </a:ext>
              </a:extLst>
            </p:cNvPr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543" name="Oval 91">
              <a:extLst>
                <a:ext uri="{FF2B5EF4-FFF2-40B4-BE49-F238E27FC236}">
                  <a16:creationId xmlns:a16="http://schemas.microsoft.com/office/drawing/2014/main" id="{755C3203-2097-4F0C-BD5A-BCC29EBBB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544" name="TextBox 7">
              <a:extLst>
                <a:ext uri="{FF2B5EF4-FFF2-40B4-BE49-F238E27FC236}">
                  <a16:creationId xmlns:a16="http://schemas.microsoft.com/office/drawing/2014/main" id="{E6E97FEF-6066-463C-B5DB-CD5DCB189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重新执行导致异常的指令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5" name="组合 544">
            <a:extLst>
              <a:ext uri="{FF2B5EF4-FFF2-40B4-BE49-F238E27FC236}">
                <a16:creationId xmlns:a16="http://schemas.microsoft.com/office/drawing/2014/main" id="{E2CDFE4D-4B8E-479C-B7DC-D0E6C88E9E58}"/>
              </a:ext>
            </a:extLst>
          </p:cNvPr>
          <p:cNvGrpSpPr/>
          <p:nvPr/>
        </p:nvGrpSpPr>
        <p:grpSpPr>
          <a:xfrm>
            <a:off x="1127646" y="4091579"/>
            <a:ext cx="1818253" cy="839393"/>
            <a:chOff x="1053893" y="2395007"/>
            <a:chExt cx="1818253" cy="839393"/>
          </a:xfrm>
        </p:grpSpPr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7EAD9FE6-ADDE-49BA-B0FE-4650F53BC07A}"/>
                </a:ext>
              </a:extLst>
            </p:cNvPr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8DB2B549-2573-41B2-8E8D-C5EF04C89D23}"/>
                </a:ext>
              </a:extLst>
            </p:cNvPr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grpSp>
          <p:nvGrpSpPr>
            <p:cNvPr id="548" name="组合 547">
              <a:extLst>
                <a:ext uri="{FF2B5EF4-FFF2-40B4-BE49-F238E27FC236}">
                  <a16:creationId xmlns:a16="http://schemas.microsoft.com/office/drawing/2014/main" id="{AA336BA0-7374-4D88-96A7-44E67F92AF66}"/>
                </a:ext>
              </a:extLst>
            </p:cNvPr>
            <p:cNvGrpSpPr/>
            <p:nvPr/>
          </p:nvGrpSpPr>
          <p:grpSpPr>
            <a:xfrm>
              <a:off x="1763517" y="2395007"/>
              <a:ext cx="1108629" cy="839393"/>
              <a:chOff x="1763517" y="2395007"/>
              <a:chExt cx="1108629" cy="839393"/>
            </a:xfrm>
          </p:grpSpPr>
          <p:sp>
            <p:nvSpPr>
              <p:cNvPr id="549" name="矩形 548">
                <a:extLst>
                  <a:ext uri="{FF2B5EF4-FFF2-40B4-BE49-F238E27FC236}">
                    <a16:creationId xmlns:a16="http://schemas.microsoft.com/office/drawing/2014/main" id="{4AA1876E-BFD0-45A6-9463-82F328793591}"/>
                  </a:ext>
                </a:extLst>
              </p:cNvPr>
              <p:cNvSpPr/>
              <p:nvPr/>
            </p:nvSpPr>
            <p:spPr>
              <a:xfrm>
                <a:off x="1763517" y="2395007"/>
                <a:ext cx="500066" cy="571504"/>
              </a:xfrm>
              <a:prstGeom prst="rect">
                <a:avLst/>
              </a:prstGeom>
              <a:solidFill>
                <a:srgbClr val="0EB1C8"/>
              </a:solidFill>
              <a:ln w="28575" cap="flat" cmpd="sng" algn="ctr">
                <a:solidFill>
                  <a:srgbClr val="1157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50" name="矩形 549">
                <a:extLst>
                  <a:ext uri="{FF2B5EF4-FFF2-40B4-BE49-F238E27FC236}">
                    <a16:creationId xmlns:a16="http://schemas.microsoft.com/office/drawing/2014/main" id="{9D142C55-28B8-43D6-8747-C9DC1171D711}"/>
                  </a:ext>
                </a:extLst>
              </p:cNvPr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rgbClr val="4472C4">
                      <a:tint val="23500"/>
                      <a:satMod val="160000"/>
                    </a:srgbClr>
                  </a:gs>
                </a:gsLst>
                <a:lin ang="5400000" scaled="0"/>
              </a:gradFill>
              <a:ln w="28575" cap="flat" cmpd="sng" algn="ctr">
                <a:solidFill>
                  <a:srgbClr val="1157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51" name="TextBox 7">
                <a:extLst>
                  <a:ext uri="{FF2B5EF4-FFF2-40B4-BE49-F238E27FC236}">
                    <a16:creationId xmlns:a16="http://schemas.microsoft.com/office/drawing/2014/main" id="{78A0E51C-2AF1-44E7-9781-E29D6B696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157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i</a:t>
                </a:r>
                <a:endPara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52" name="TextBox 7">
                <a:extLst>
                  <a:ext uri="{FF2B5EF4-FFF2-40B4-BE49-F238E27FC236}">
                    <a16:creationId xmlns:a16="http://schemas.microsoft.com/office/drawing/2014/main" id="{5157968B-D3CF-444F-9D60-1630599A82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157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页表</a:t>
                </a:r>
              </a:p>
            </p:txBody>
          </p:sp>
          <p:cxnSp>
            <p:nvCxnSpPr>
              <p:cNvPr id="553" name="直接连接符 552">
                <a:extLst>
                  <a:ext uri="{FF2B5EF4-FFF2-40B4-BE49-F238E27FC236}">
                    <a16:creationId xmlns:a16="http://schemas.microsoft.com/office/drawing/2014/main" id="{8B6EFEA4-D90E-45E2-B7FD-05498E86B622}"/>
                  </a:ext>
                </a:extLst>
              </p:cNvPr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11576A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554" name="组合 553">
            <a:extLst>
              <a:ext uri="{FF2B5EF4-FFF2-40B4-BE49-F238E27FC236}">
                <a16:creationId xmlns:a16="http://schemas.microsoft.com/office/drawing/2014/main" id="{4D79B4F2-CF7E-4EE3-914D-8D2BA6213227}"/>
              </a:ext>
            </a:extLst>
          </p:cNvPr>
          <p:cNvGrpSpPr/>
          <p:nvPr/>
        </p:nvGrpSpPr>
        <p:grpSpPr>
          <a:xfrm>
            <a:off x="1395150" y="4435734"/>
            <a:ext cx="1292233" cy="1173822"/>
            <a:chOff x="1321397" y="2739164"/>
            <a:chExt cx="1292233" cy="1173822"/>
          </a:xfrm>
        </p:grpSpPr>
        <p:grpSp>
          <p:nvGrpSpPr>
            <p:cNvPr id="555" name="组合 554">
              <a:extLst>
                <a:ext uri="{FF2B5EF4-FFF2-40B4-BE49-F238E27FC236}">
                  <a16:creationId xmlns:a16="http://schemas.microsoft.com/office/drawing/2014/main" id="{54CFE6F5-E3C5-4E37-822C-238FBFB27F70}"/>
                </a:ext>
              </a:extLst>
            </p:cNvPr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558" name="直接连接符 557">
                <a:extLst>
                  <a:ext uri="{FF2B5EF4-FFF2-40B4-BE49-F238E27FC236}">
                    <a16:creationId xmlns:a16="http://schemas.microsoft.com/office/drawing/2014/main" id="{E68B7CF5-AC31-4773-BB0F-83D8212B95CB}"/>
                  </a:ext>
                </a:extLst>
              </p:cNvPr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noFill/>
              <a:ln w="28575" cap="flat" cmpd="sng" algn="ctr">
                <a:solidFill>
                  <a:srgbClr val="11576A"/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F63B7DC9-8F58-4E58-AF26-F3C8D15371EF}"/>
                  </a:ext>
                </a:extLst>
              </p:cNvPr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1576A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60" name="直接连接符 559">
                <a:extLst>
                  <a:ext uri="{FF2B5EF4-FFF2-40B4-BE49-F238E27FC236}">
                    <a16:creationId xmlns:a16="http://schemas.microsoft.com/office/drawing/2014/main" id="{D3D0C771-918C-4A27-A379-C0D1ABDD0F55}"/>
                  </a:ext>
                </a:extLst>
              </p:cNvPr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11576A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56" name="Oval 91">
              <a:extLst>
                <a:ext uri="{FF2B5EF4-FFF2-40B4-BE49-F238E27FC236}">
                  <a16:creationId xmlns:a16="http://schemas.microsoft.com/office/drawing/2014/main" id="{61D48124-CAA2-4D1C-9D65-D43194E71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  <p:sp>
          <p:nvSpPr>
            <p:cNvPr id="557" name="TextBox 7">
              <a:extLst>
                <a:ext uri="{FF2B5EF4-FFF2-40B4-BE49-F238E27FC236}">
                  <a16:creationId xmlns:a16="http://schemas.microsoft.com/office/drawing/2014/main" id="{AA719EF1-8588-4764-9CC2-324340C7F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397" y="3635987"/>
              <a:ext cx="118593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页表项修改</a:t>
              </a:r>
            </a:p>
          </p:txBody>
        </p:sp>
      </p:grpSp>
      <p:grpSp>
        <p:nvGrpSpPr>
          <p:cNvPr id="561" name="组合 560">
            <a:extLst>
              <a:ext uri="{FF2B5EF4-FFF2-40B4-BE49-F238E27FC236}">
                <a16:creationId xmlns:a16="http://schemas.microsoft.com/office/drawing/2014/main" id="{360923F0-997C-4C3A-BC4D-85AFE125AA68}"/>
              </a:ext>
            </a:extLst>
          </p:cNvPr>
          <p:cNvGrpSpPr/>
          <p:nvPr/>
        </p:nvGrpSpPr>
        <p:grpSpPr>
          <a:xfrm>
            <a:off x="3172759" y="5040909"/>
            <a:ext cx="1277161" cy="510792"/>
            <a:chOff x="3099006" y="3344339"/>
            <a:chExt cx="1277161" cy="510792"/>
          </a:xfrm>
        </p:grpSpPr>
        <p:sp>
          <p:nvSpPr>
            <p:cNvPr id="562" name="Oval 91">
              <a:extLst>
                <a:ext uri="{FF2B5EF4-FFF2-40B4-BE49-F238E27FC236}">
                  <a16:creationId xmlns:a16="http://schemas.microsoft.com/office/drawing/2014/main" id="{093C869D-CF6B-480C-9D02-A23B41900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11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563" name="TextBox 7">
              <a:extLst>
                <a:ext uri="{FF2B5EF4-FFF2-40B4-BE49-F238E27FC236}">
                  <a16:creationId xmlns:a16="http://schemas.microsoft.com/office/drawing/2014/main" id="{A856ABED-30E1-429F-BD1C-740FED640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006" y="3578132"/>
              <a:ext cx="127716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页面换入</a:t>
              </a:r>
            </a:p>
          </p:txBody>
        </p:sp>
      </p:grpSp>
      <p:grpSp>
        <p:nvGrpSpPr>
          <p:cNvPr id="564" name="组合 563">
            <a:extLst>
              <a:ext uri="{FF2B5EF4-FFF2-40B4-BE49-F238E27FC236}">
                <a16:creationId xmlns:a16="http://schemas.microsoft.com/office/drawing/2014/main" id="{F35B663C-6383-4391-A532-9318FF90308A}"/>
              </a:ext>
            </a:extLst>
          </p:cNvPr>
          <p:cNvGrpSpPr/>
          <p:nvPr/>
        </p:nvGrpSpPr>
        <p:grpSpPr>
          <a:xfrm>
            <a:off x="2559761" y="4501157"/>
            <a:ext cx="931094" cy="1686709"/>
            <a:chOff x="2486010" y="2804585"/>
            <a:chExt cx="931094" cy="1686709"/>
          </a:xfrm>
        </p:grpSpPr>
        <p:sp>
          <p:nvSpPr>
            <p:cNvPr id="565" name="矩形 564">
              <a:extLst>
                <a:ext uri="{FF2B5EF4-FFF2-40B4-BE49-F238E27FC236}">
                  <a16:creationId xmlns:a16="http://schemas.microsoft.com/office/drawing/2014/main" id="{D96F6CA2-5ACA-4784-AAE5-7CFDAEB8F4DD}"/>
                </a:ext>
              </a:extLst>
            </p:cNvPr>
            <p:cNvSpPr/>
            <p:nvPr/>
          </p:nvSpPr>
          <p:spPr>
            <a:xfrm>
              <a:off x="2614423" y="2804585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6" name="矩形 565">
              <a:extLst>
                <a:ext uri="{FF2B5EF4-FFF2-40B4-BE49-F238E27FC236}">
                  <a16:creationId xmlns:a16="http://schemas.microsoft.com/office/drawing/2014/main" id="{2E9A1BC3-344A-48C6-A836-F3F261007CB8}"/>
                </a:ext>
              </a:extLst>
            </p:cNvPr>
            <p:cNvSpPr/>
            <p:nvPr/>
          </p:nvSpPr>
          <p:spPr>
            <a:xfrm>
              <a:off x="2620773" y="3209401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7" name="矩形 566">
              <a:extLst>
                <a:ext uri="{FF2B5EF4-FFF2-40B4-BE49-F238E27FC236}">
                  <a16:creationId xmlns:a16="http://schemas.microsoft.com/office/drawing/2014/main" id="{B8ED6032-7DCC-425E-B8FC-A195DF22D80B}"/>
                </a:ext>
              </a:extLst>
            </p:cNvPr>
            <p:cNvSpPr/>
            <p:nvPr/>
          </p:nvSpPr>
          <p:spPr>
            <a:xfrm>
              <a:off x="2620773" y="3209401"/>
              <a:ext cx="571504" cy="206880"/>
            </a:xfrm>
            <a:prstGeom prst="rect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568" name="直接连接符 567">
              <a:extLst>
                <a:ext uri="{FF2B5EF4-FFF2-40B4-BE49-F238E27FC236}">
                  <a16:creationId xmlns:a16="http://schemas.microsoft.com/office/drawing/2014/main" id="{0F67B4E8-657E-49CE-A67D-784DD54DCE79}"/>
                </a:ext>
              </a:extLst>
            </p:cNvPr>
            <p:cNvCxnSpPr/>
            <p:nvPr/>
          </p:nvCxnSpPr>
          <p:spPr>
            <a:xfrm>
              <a:off x="2620773" y="3012549"/>
              <a:ext cx="57600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CC4F34F2-A407-4652-889F-411AB37DDBFD}"/>
                </a:ext>
              </a:extLst>
            </p:cNvPr>
            <p:cNvCxnSpPr/>
            <p:nvPr/>
          </p:nvCxnSpPr>
          <p:spPr>
            <a:xfrm>
              <a:off x="2620773" y="3596753"/>
              <a:ext cx="57600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cxnSp>
          <p:nvCxnSpPr>
            <p:cNvPr id="570" name="直接连接符 569">
              <a:extLst>
                <a:ext uri="{FF2B5EF4-FFF2-40B4-BE49-F238E27FC236}">
                  <a16:creationId xmlns:a16="http://schemas.microsoft.com/office/drawing/2014/main" id="{77BAFF88-9320-4773-82F5-C59F909E3A98}"/>
                </a:ext>
              </a:extLst>
            </p:cNvPr>
            <p:cNvCxnSpPr/>
            <p:nvPr/>
          </p:nvCxnSpPr>
          <p:spPr>
            <a:xfrm>
              <a:off x="2620773" y="3796779"/>
              <a:ext cx="57600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cxnSp>
          <p:nvCxnSpPr>
            <p:cNvPr id="571" name="直接连接符 570">
              <a:extLst>
                <a:ext uri="{FF2B5EF4-FFF2-40B4-BE49-F238E27FC236}">
                  <a16:creationId xmlns:a16="http://schemas.microsoft.com/office/drawing/2014/main" id="{0A7A063B-BFB6-4C9C-906A-5BA1BC596101}"/>
                </a:ext>
              </a:extLst>
            </p:cNvPr>
            <p:cNvCxnSpPr/>
            <p:nvPr/>
          </p:nvCxnSpPr>
          <p:spPr>
            <a:xfrm>
              <a:off x="2620773" y="3993631"/>
              <a:ext cx="57600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sp>
          <p:nvSpPr>
            <p:cNvPr id="572" name="TextBox 7">
              <a:extLst>
                <a:ext uri="{FF2B5EF4-FFF2-40B4-BE49-F238E27FC236}">
                  <a16:creationId xmlns:a16="http://schemas.microsoft.com/office/drawing/2014/main" id="{B6EF3BEF-1A2C-421F-BA3C-684C9064F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8648" y="3182536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空闲页帧</a:t>
              </a:r>
            </a:p>
          </p:txBody>
        </p:sp>
        <p:sp>
          <p:nvSpPr>
            <p:cNvPr id="573" name="TextBox 7">
              <a:extLst>
                <a:ext uri="{FF2B5EF4-FFF2-40B4-BE49-F238E27FC236}">
                  <a16:creationId xmlns:a16="http://schemas.microsoft.com/office/drawing/2014/main" id="{5046FC06-4550-45E8-9124-C24D2B236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010" y="4214295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物理内存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74" name="组合 573">
            <a:extLst>
              <a:ext uri="{FF2B5EF4-FFF2-40B4-BE49-F238E27FC236}">
                <a16:creationId xmlns:a16="http://schemas.microsoft.com/office/drawing/2014/main" id="{D73D6EED-7258-4406-B799-F1BB1518C31C}"/>
              </a:ext>
            </a:extLst>
          </p:cNvPr>
          <p:cNvGrpSpPr/>
          <p:nvPr/>
        </p:nvGrpSpPr>
        <p:grpSpPr>
          <a:xfrm>
            <a:off x="1144232" y="2839031"/>
            <a:ext cx="932312" cy="838462"/>
            <a:chOff x="1070481" y="1142461"/>
            <a:chExt cx="932312" cy="838462"/>
          </a:xfrm>
        </p:grpSpPr>
        <p:sp>
          <p:nvSpPr>
            <p:cNvPr id="575" name="矩形 574">
              <a:extLst>
                <a:ext uri="{FF2B5EF4-FFF2-40B4-BE49-F238E27FC236}">
                  <a16:creationId xmlns:a16="http://schemas.microsoft.com/office/drawing/2014/main" id="{665A07ED-C5C7-47B5-B3C9-D27CA032A57B}"/>
                </a:ext>
              </a:extLst>
            </p:cNvPr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ysClr val="windowText" lastClr="000000">
                    <a:lumMod val="65000"/>
                    <a:lumOff val="35000"/>
                  </a:sysClr>
                </a:gs>
                <a:gs pos="0">
                  <a:sysClr val="window" lastClr="FFFFFF">
                    <a:lumMod val="75000"/>
                  </a:sys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76" name="TextBox 7">
              <a:extLst>
                <a:ext uri="{FF2B5EF4-FFF2-40B4-BE49-F238E27FC236}">
                  <a16:creationId xmlns:a16="http://schemas.microsoft.com/office/drawing/2014/main" id="{F1DAB6D1-015F-476F-ACD4-0DA380DB7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操作系统</a:t>
              </a:r>
            </a:p>
          </p:txBody>
        </p:sp>
      </p:grp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0D41D0B4-2D1D-419B-98DB-6AB9C06F76E0}"/>
              </a:ext>
            </a:extLst>
          </p:cNvPr>
          <p:cNvGrpSpPr/>
          <p:nvPr/>
        </p:nvGrpSpPr>
        <p:grpSpPr>
          <a:xfrm>
            <a:off x="3275553" y="4163015"/>
            <a:ext cx="1071570" cy="820744"/>
            <a:chOff x="3201802" y="2466445"/>
            <a:chExt cx="1071570" cy="820744"/>
          </a:xfrm>
        </p:grpSpPr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AA2FE490-0E5D-4B9A-BEB6-ACE2EE31C902}"/>
                </a:ext>
              </a:extLst>
            </p:cNvPr>
            <p:cNvCxnSpPr/>
            <p:nvPr/>
          </p:nvCxnSpPr>
          <p:spPr>
            <a:xfrm>
              <a:off x="3201802" y="3285601"/>
              <a:ext cx="1071570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53633CE4-9677-4AED-B70A-DE9301757E8F}"/>
                </a:ext>
              </a:extLst>
            </p:cNvPr>
            <p:cNvCxnSpPr/>
            <p:nvPr/>
          </p:nvCxnSpPr>
          <p:spPr>
            <a:xfrm rot="16200000" flipH="1">
              <a:off x="3851888" y="2873642"/>
              <a:ext cx="819156" cy="4762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</p:grpSp>
      <p:grpSp>
        <p:nvGrpSpPr>
          <p:cNvPr id="580" name="组合 579">
            <a:extLst>
              <a:ext uri="{FF2B5EF4-FFF2-40B4-BE49-F238E27FC236}">
                <a16:creationId xmlns:a16="http://schemas.microsoft.com/office/drawing/2014/main" id="{F18F6F75-1697-40D9-B416-A5A67CFF03A5}"/>
              </a:ext>
            </a:extLst>
          </p:cNvPr>
          <p:cNvGrpSpPr/>
          <p:nvPr/>
        </p:nvGrpSpPr>
        <p:grpSpPr>
          <a:xfrm>
            <a:off x="1814873" y="4261025"/>
            <a:ext cx="567185" cy="238070"/>
            <a:chOff x="670350" y="3718419"/>
            <a:chExt cx="567185" cy="238070"/>
          </a:xfrm>
        </p:grpSpPr>
        <p:sp>
          <p:nvSpPr>
            <p:cNvPr id="581" name="矩形 580">
              <a:extLst>
                <a:ext uri="{FF2B5EF4-FFF2-40B4-BE49-F238E27FC236}">
                  <a16:creationId xmlns:a16="http://schemas.microsoft.com/office/drawing/2014/main" id="{193E5B11-4C38-45EE-AE02-D104EEC6188A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582" name="直接连接符 581">
              <a:extLst>
                <a:ext uri="{FF2B5EF4-FFF2-40B4-BE49-F238E27FC236}">
                  <a16:creationId xmlns:a16="http://schemas.microsoft.com/office/drawing/2014/main" id="{10D1957E-2F28-4760-9A96-B1AC7B89B413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sp>
          <p:nvSpPr>
            <p:cNvPr id="583" name="TextBox 7">
              <a:extLst>
                <a:ext uri="{FF2B5EF4-FFF2-40B4-BE49-F238E27FC236}">
                  <a16:creationId xmlns:a16="http://schemas.microsoft.com/office/drawing/2014/main" id="{BA387DFD-8A87-4D23-AFD0-D32D4F0C4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0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4" name="TextBox 7">
              <a:extLst>
                <a:ext uri="{FF2B5EF4-FFF2-40B4-BE49-F238E27FC236}">
                  <a16:creationId xmlns:a16="http://schemas.microsoft.com/office/drawing/2014/main" id="{78025CC7-228F-444F-BB55-9676D03A8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无效</a:t>
              </a:r>
            </a:p>
          </p:txBody>
        </p:sp>
      </p:grpSp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44D005A3-2C3E-47E6-955B-44B11BD3D47E}"/>
              </a:ext>
            </a:extLst>
          </p:cNvPr>
          <p:cNvGrpSpPr/>
          <p:nvPr/>
        </p:nvGrpSpPr>
        <p:grpSpPr>
          <a:xfrm>
            <a:off x="1810633" y="4274111"/>
            <a:ext cx="567184" cy="238070"/>
            <a:chOff x="670351" y="3718419"/>
            <a:chExt cx="567184" cy="238070"/>
          </a:xfrm>
        </p:grpSpPr>
        <p:sp>
          <p:nvSpPr>
            <p:cNvPr id="586" name="矩形 585">
              <a:extLst>
                <a:ext uri="{FF2B5EF4-FFF2-40B4-BE49-F238E27FC236}">
                  <a16:creationId xmlns:a16="http://schemas.microsoft.com/office/drawing/2014/main" id="{2FE095B1-9628-4D2A-BBE7-3720672D0559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587" name="直接连接符 586">
              <a:extLst>
                <a:ext uri="{FF2B5EF4-FFF2-40B4-BE49-F238E27FC236}">
                  <a16:creationId xmlns:a16="http://schemas.microsoft.com/office/drawing/2014/main" id="{F2A833A8-5197-4ACF-8E6C-150B08A1B480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noFill/>
            <a:ln w="28575" cap="flat" cmpd="sng" algn="ctr">
              <a:solidFill>
                <a:srgbClr val="11576A"/>
              </a:solidFill>
              <a:prstDash val="solid"/>
              <a:miter lim="800000"/>
            </a:ln>
            <a:effectLst/>
          </p:spPr>
        </p:cxnSp>
        <p:sp>
          <p:nvSpPr>
            <p:cNvPr id="588" name="TextBox 7">
              <a:extLst>
                <a:ext uri="{FF2B5EF4-FFF2-40B4-BE49-F238E27FC236}">
                  <a16:creationId xmlns:a16="http://schemas.microsoft.com/office/drawing/2014/main" id="{4BF97B09-A167-4558-A9F9-C5F8B10DB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9" name="TextBox 7">
              <a:extLst>
                <a:ext uri="{FF2B5EF4-FFF2-40B4-BE49-F238E27FC236}">
                  <a16:creationId xmlns:a16="http://schemas.microsoft.com/office/drawing/2014/main" id="{7914FFD4-F151-4E98-BA35-3C874378D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m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90" name="TextBox 4">
            <a:extLst>
              <a:ext uri="{FF2B5EF4-FFF2-40B4-BE49-F238E27FC236}">
                <a16:creationId xmlns:a16="http://schemas.microsoft.com/office/drawing/2014/main" id="{8A4F3EBA-863D-4234-A106-CFECB20C3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436" y="2492896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根据地址高位部分得到页号，以页号查页表；</a:t>
            </a:r>
          </a:p>
        </p:txBody>
      </p:sp>
      <p:sp>
        <p:nvSpPr>
          <p:cNvPr id="591" name="TextBox 7">
            <a:extLst>
              <a:ext uri="{FF2B5EF4-FFF2-40B4-BE49-F238E27FC236}">
                <a16:creationId xmlns:a16="http://schemas.microsoft.com/office/drawing/2014/main" id="{CCFE1BFA-74DB-4B4B-BD2B-5BD41749E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440" y="3244157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2" name="TextBox 7">
            <a:extLst>
              <a:ext uri="{FF2B5EF4-FFF2-40B4-BE49-F238E27FC236}">
                <a16:creationId xmlns:a16="http://schemas.microsoft.com/office/drawing/2014/main" id="{CA1BA123-0215-46FD-B363-52A197B38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1849" y="3879014"/>
            <a:ext cx="40963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 eaLnBrk="1" hangingPunct="1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需要分配对应的页帧，并找到该页的内容在磁盘中的位置；</a:t>
            </a:r>
          </a:p>
        </p:txBody>
      </p:sp>
      <p:sp>
        <p:nvSpPr>
          <p:cNvPr id="593" name="TextBox 7">
            <a:extLst>
              <a:ext uri="{FF2B5EF4-FFF2-40B4-BE49-F238E27FC236}">
                <a16:creationId xmlns:a16="http://schemas.microsoft.com/office/drawing/2014/main" id="{A5F414D8-0FA9-4C0B-AECF-BD8B543DC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436" y="5332877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将页帧号填入页表中，并修改页表的有效位；</a:t>
            </a:r>
          </a:p>
        </p:txBody>
      </p:sp>
      <p:sp>
        <p:nvSpPr>
          <p:cNvPr id="594" name="TextBox 7">
            <a:extLst>
              <a:ext uri="{FF2B5EF4-FFF2-40B4-BE49-F238E27FC236}">
                <a16:creationId xmlns:a16="http://schemas.microsoft.com/office/drawing/2014/main" id="{9345C17B-1F4E-44F0-A513-79464C7BF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2445" y="6214509"/>
            <a:ext cx="4318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6.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异常返回，重新执行产生缺页的指令</a:t>
            </a:r>
          </a:p>
        </p:txBody>
      </p:sp>
      <p:sp>
        <p:nvSpPr>
          <p:cNvPr id="595" name="TextBox 7">
            <a:extLst>
              <a:ext uri="{FF2B5EF4-FFF2-40B4-BE49-F238E27FC236}">
                <a16:creationId xmlns:a16="http://schemas.microsoft.com/office/drawing/2014/main" id="{7C349504-7334-4B43-A180-7C4098ECA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3863" y="4499095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找到系统中的空闲页帧，从磁盘中读取相应的数据填入页帧中；</a:t>
            </a:r>
          </a:p>
        </p:txBody>
      </p:sp>
      <p:sp>
        <p:nvSpPr>
          <p:cNvPr id="596" name="TextBox 7">
            <a:extLst>
              <a:ext uri="{FF2B5EF4-FFF2-40B4-BE49-F238E27FC236}">
                <a16:creationId xmlns:a16="http://schemas.microsoft.com/office/drawing/2014/main" id="{C052D111-28E7-42C9-9CA6-8D6821379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104" y="1930033"/>
            <a:ext cx="604711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0.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程序主动（或隐式）运行</a:t>
            </a:r>
            <a:r>
              <a:rPr lang="en-US" altLang="zh-CN" sz="1600" b="1" dirty="0" err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mmap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，获取一块虚拟的地址空间，并将这个地址与文件的对应关系注册到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maps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91745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" grpId="0" uiExpand="1" build="p"/>
      <p:bldP spid="437" grpId="0" animBg="1"/>
      <p:bldP spid="590" grpId="0"/>
      <p:bldP spid="591" grpId="0"/>
      <p:bldP spid="592" grpId="0"/>
      <p:bldP spid="593" grpId="0"/>
      <p:bldP spid="594" grpId="0"/>
      <p:bldP spid="595" grpId="0"/>
      <p:bldP spid="59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fld id="{12F8587B-AA89-4747-B60B-D0DD4506EC06}" type="slidenum">
              <a:rPr lang="en-US" altLang="ko-KR">
                <a:solidFill>
                  <a:srgbClr val="FFFFFF"/>
                </a:solidFill>
                <a:ea typeface="굴림" pitchFamily="34" charset="-127"/>
              </a:rPr>
              <a:pPr>
                <a:buNone/>
                <a:defRPr/>
              </a:pPr>
              <a:t>12</a:t>
            </a:fld>
            <a:endParaRPr lang="en-US" altLang="ko-KR" dirty="0">
              <a:solidFill>
                <a:srgbClr val="FFFFFF"/>
              </a:solidFill>
              <a:ea typeface="굴림" pitchFamily="34" charset="-127"/>
            </a:endParaRPr>
          </a:p>
        </p:txBody>
      </p:sp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Description of Media File format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pic>
        <p:nvPicPr>
          <p:cNvPr id="84994" name="Picture 2" descr="https://images2018.cnblogs.com/blog/1177848/201711/1177848-20171124105430750-155831166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916835"/>
            <a:ext cx="2447925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996" name="Picture 4" descr="https://images2018.cnblogs.com/blog/1177848/201711/1177848-20171124105354187-59795141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178" y="1484784"/>
            <a:ext cx="3387253" cy="501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10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fld id="{6C1B54AB-8530-450D-A931-984F379DBD7E}" type="slidenum">
              <a:rPr lang="en-US" altLang="ko-KR">
                <a:solidFill>
                  <a:srgbClr val="FFFFFF"/>
                </a:solidFill>
                <a:ea typeface="굴림" pitchFamily="34" charset="-127"/>
              </a:rPr>
              <a:pPr>
                <a:buNone/>
                <a:defRPr/>
              </a:pPr>
              <a:t>13</a:t>
            </a:fld>
            <a:endParaRPr lang="en-US" altLang="ko-KR" dirty="0">
              <a:solidFill>
                <a:srgbClr val="FFFFFF"/>
              </a:solidFill>
              <a:ea typeface="굴림" pitchFamily="34" charset="-127"/>
            </a:endParaRPr>
          </a:p>
        </p:txBody>
      </p:sp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Logical structure of database file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pic>
        <p:nvPicPr>
          <p:cNvPr id="8200" name="Picture 11" descr="6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772819"/>
            <a:ext cx="7704138" cy="354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78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14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关于文件性能的思考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喜欢做顺序的预取以改进性能</a:t>
            </a:r>
            <a:endParaRPr lang="en-US" altLang="zh-CN" dirty="0"/>
          </a:p>
          <a:p>
            <a:pPr lvl="1"/>
            <a:r>
              <a:rPr lang="zh-CN" altLang="en-US" dirty="0"/>
              <a:t>简单</a:t>
            </a:r>
            <a:endParaRPr lang="en-US" altLang="zh-CN" dirty="0"/>
          </a:p>
          <a:p>
            <a:pPr lvl="1"/>
            <a:r>
              <a:rPr lang="zh-CN" altLang="en-US" dirty="0"/>
              <a:t>尊重磁盘的物理特性</a:t>
            </a:r>
            <a:endParaRPr lang="en-US" altLang="zh-CN" dirty="0"/>
          </a:p>
          <a:p>
            <a:r>
              <a:rPr lang="zh-CN" altLang="en-US" dirty="0"/>
              <a:t>数据文件的读取顺序是由文件格式决定的</a:t>
            </a:r>
            <a:endParaRPr lang="en-US" altLang="zh-CN" dirty="0"/>
          </a:p>
          <a:p>
            <a:pPr lvl="1"/>
            <a:r>
              <a:rPr lang="zh-CN" altLang="en-US" dirty="0"/>
              <a:t>应用程序决定使用顺序</a:t>
            </a:r>
            <a:endParaRPr lang="en-US" altLang="zh-CN" dirty="0"/>
          </a:p>
          <a:p>
            <a:pPr lvl="1"/>
            <a:r>
              <a:rPr lang="zh-CN" altLang="en-US" dirty="0"/>
              <a:t>格式的标准化以实现通用性</a:t>
            </a:r>
            <a:endParaRPr lang="en-US" altLang="zh-CN" dirty="0"/>
          </a:p>
          <a:p>
            <a:pPr lvl="1"/>
            <a:r>
              <a:rPr lang="zh-CN" altLang="en-US" dirty="0"/>
              <a:t>合理使用内存，减少</a:t>
            </a:r>
            <a:r>
              <a:rPr lang="en-US" altLang="zh-CN" dirty="0"/>
              <a:t>IO</a:t>
            </a:r>
            <a:r>
              <a:rPr lang="zh-CN" altLang="en-US" dirty="0"/>
              <a:t>访问是程序员的主要优化目标</a:t>
            </a:r>
            <a:endParaRPr lang="en-US" altLang="zh-CN" dirty="0"/>
          </a:p>
          <a:p>
            <a:r>
              <a:rPr lang="zh-CN" altLang="en-US" dirty="0"/>
              <a:t>如果二者之间存在矛盾，如何解决？</a:t>
            </a:r>
            <a:endParaRPr lang="en-US" altLang="zh-CN" dirty="0"/>
          </a:p>
          <a:p>
            <a:pPr lvl="1"/>
            <a:r>
              <a:rPr lang="zh-CN" altLang="en-US" dirty="0"/>
              <a:t>训练程序员</a:t>
            </a:r>
            <a:endParaRPr lang="en-US" altLang="zh-CN" dirty="0"/>
          </a:p>
          <a:p>
            <a:pPr lvl="1"/>
            <a:r>
              <a:rPr lang="zh-CN" altLang="en-US" dirty="0"/>
              <a:t>提供更多的程序逻辑信息（</a:t>
            </a:r>
            <a:r>
              <a:rPr lang="en-US" altLang="zh-CN" dirty="0" err="1"/>
              <a:t>fadvice</a:t>
            </a:r>
            <a:r>
              <a:rPr lang="en-US" altLang="zh-CN" dirty="0"/>
              <a:t>, </a:t>
            </a:r>
            <a:r>
              <a:rPr lang="en-US" altLang="zh-CN" dirty="0" err="1"/>
              <a:t>madvice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Bypass OS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40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7720-BC28-0C09-A52D-75BF60B85DD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文件系统的一些特殊问题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85B79D-F0B9-5588-3A14-085C7D57CEF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磁盘空间管理与容错</a:t>
            </a:r>
            <a:endParaRPr lang="en-US" altLang="zh-CN" dirty="0"/>
          </a:p>
          <a:p>
            <a:r>
              <a:rPr lang="zh-CN" altLang="en-US" dirty="0"/>
              <a:t>文件去重</a:t>
            </a:r>
            <a:endParaRPr lang="en-US" altLang="zh-CN" dirty="0"/>
          </a:p>
          <a:p>
            <a:r>
              <a:rPr lang="zh-CN" altLang="en-US" dirty="0"/>
              <a:t>多文件系统兼容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23BBC3-D366-D2F4-459B-2F3B84B9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4743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Disk space management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allocate disk space?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Block/sector: base unit of disk space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Bitmap or list: empty blocks management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The size of sector and the data structure of empty blocks  is very important for system performance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distribute the content of file/directory?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Continuous and intersectant distribution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Fragment management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improve data security and stability?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RAID(0~5): redundant data storage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Check the consistency of file system </a:t>
            </a:r>
          </a:p>
        </p:txBody>
      </p:sp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9441424B-B3CF-0B55-CA5F-550BA05F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86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Disk space allocation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38" y="2198087"/>
            <a:ext cx="6409524" cy="3095238"/>
          </a:xfrm>
          <a:prstGeom prst="rect">
            <a:avLst/>
          </a:prstGeom>
          <a:noFill/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1A94BC9B-B693-3D36-9128-177EFB7B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17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236F6-4781-4520-8B81-C6BFADFF0FA9}"/>
              </a:ext>
            </a:extLst>
          </p:cNvPr>
          <p:cNvSpPr txBox="1"/>
          <p:nvPr/>
        </p:nvSpPr>
        <p:spPr>
          <a:xfrm>
            <a:off x="2135560" y="5589240"/>
            <a:ext cx="84249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文件系统的数据块越大，单次传输时的磁盘控制动作就越简单，传输效率越高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但数据本身并不可能总是能够与数据块对齐，因此存储效率就越低</a:t>
            </a:r>
          </a:p>
        </p:txBody>
      </p:sp>
    </p:spTree>
    <p:extLst>
      <p:ext uri="{BB962C8B-B14F-4D97-AF65-F5344CB8AC3E}">
        <p14:creationId xmlns:p14="http://schemas.microsoft.com/office/powerpoint/2010/main" val="111222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Empty disk blocks management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AC3D9-DE50-BD14-4B1E-79CF67408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58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8" t="42467" r="17830" b="26407"/>
          <a:stretch>
            <a:fillRect/>
          </a:stretch>
        </p:blipFill>
        <p:spPr bwMode="auto">
          <a:xfrm>
            <a:off x="2495600" y="1417300"/>
            <a:ext cx="6767785" cy="4814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E55C6-FF06-4406-17A3-4469A759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E23413-E9D8-4CF0-9379-3E94B39A1C08}"/>
              </a:ext>
            </a:extLst>
          </p:cNvPr>
          <p:cNvSpPr txBox="1"/>
          <p:nvPr/>
        </p:nvSpPr>
        <p:spPr>
          <a:xfrm>
            <a:off x="1775520" y="6237312"/>
            <a:ext cx="914501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与内存管理类似，可以将空闲的块号串成链表，也可以存成位图</a:t>
            </a:r>
          </a:p>
        </p:txBody>
      </p:sp>
    </p:spTree>
    <p:extLst>
      <p:ext uri="{BB962C8B-B14F-4D97-AF65-F5344CB8AC3E}">
        <p14:creationId xmlns:p14="http://schemas.microsoft.com/office/powerpoint/2010/main" val="3420324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5"/>
          <p:cNvSpPr txBox="1">
            <a:spLocks noChangeArrowheads="1"/>
          </p:cNvSpPr>
          <p:nvPr/>
        </p:nvSpPr>
        <p:spPr bwMode="auto">
          <a:xfrm>
            <a:off x="2710802" y="1634868"/>
            <a:ext cx="6408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用检查文件系统状态的方法检查一致性．</a:t>
            </a:r>
          </a:p>
        </p:txBody>
      </p:sp>
      <p:pic>
        <p:nvPicPr>
          <p:cNvPr id="86020" name="Picture 6" descr="6-2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9"/>
          <a:stretch/>
        </p:blipFill>
        <p:spPr bwMode="auto">
          <a:xfrm>
            <a:off x="2207568" y="1561843"/>
            <a:ext cx="7908925" cy="280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7"/>
          <p:cNvSpPr>
            <a:spLocks noChangeArrowheads="1"/>
          </p:cNvSpPr>
          <p:nvPr/>
        </p:nvSpPr>
        <p:spPr bwMode="auto">
          <a:xfrm>
            <a:off x="2063750" y="4508503"/>
            <a:ext cx="8243888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2000"/>
              <a:t>通过对磁盘块的检测，发现文件系统是否正确。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(a) </a:t>
            </a:r>
            <a:r>
              <a:rPr lang="zh-CN" altLang="en-US" sz="2000"/>
              <a:t>一致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(b) </a:t>
            </a:r>
            <a:r>
              <a:rPr lang="zh-CN" altLang="en-US" sz="2000"/>
              <a:t>块丢失</a:t>
            </a:r>
            <a:r>
              <a:rPr lang="en-US" altLang="zh-CN" sz="2000"/>
              <a:t>----</a:t>
            </a:r>
            <a:r>
              <a:rPr lang="zh-CN" altLang="en-US" sz="2000"/>
              <a:t>添加到空闲块中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(c) </a:t>
            </a:r>
            <a:r>
              <a:rPr lang="zh-CN" altLang="en-US" sz="2000"/>
              <a:t>空闲表中有重复块</a:t>
            </a:r>
            <a:r>
              <a:rPr lang="en-US" altLang="zh-CN" sz="2000"/>
              <a:t>----</a:t>
            </a:r>
            <a:r>
              <a:rPr lang="zh-CN" altLang="en-US" sz="2000"/>
              <a:t>重置空闲表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(d) </a:t>
            </a:r>
            <a:r>
              <a:rPr lang="zh-CN" altLang="en-US" sz="2000"/>
              <a:t>有重复的数据块</a:t>
            </a:r>
            <a:r>
              <a:rPr lang="en-US" altLang="zh-CN" sz="2000"/>
              <a:t>----</a:t>
            </a:r>
            <a:r>
              <a:rPr lang="zh-CN" altLang="en-US" sz="2000"/>
              <a:t>拷贝到一文件中，提交用户认可</a:t>
            </a:r>
          </a:p>
        </p:txBody>
      </p:sp>
      <p:sp>
        <p:nvSpPr>
          <p:cNvPr id="86022" name="Oval 8"/>
          <p:cNvSpPr>
            <a:spLocks noChangeArrowheads="1"/>
          </p:cNvSpPr>
          <p:nvPr/>
        </p:nvSpPr>
        <p:spPr bwMode="auto">
          <a:xfrm>
            <a:off x="6527155" y="1706308"/>
            <a:ext cx="360363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6023" name="Oval 9"/>
          <p:cNvSpPr>
            <a:spLocks noChangeArrowheads="1"/>
          </p:cNvSpPr>
          <p:nvPr/>
        </p:nvSpPr>
        <p:spPr bwMode="auto">
          <a:xfrm>
            <a:off x="2782240" y="3217608"/>
            <a:ext cx="360362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6024" name="Oval 10"/>
          <p:cNvSpPr>
            <a:spLocks noChangeArrowheads="1"/>
          </p:cNvSpPr>
          <p:nvPr/>
        </p:nvSpPr>
        <p:spPr bwMode="auto">
          <a:xfrm>
            <a:off x="7103415" y="3217608"/>
            <a:ext cx="360362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012AC9-F924-EB8B-EDCE-E289CFF52E68}"/>
              </a:ext>
            </a:extLst>
          </p:cNvPr>
          <p:cNvSpPr txBox="1"/>
          <p:nvPr/>
        </p:nvSpPr>
        <p:spPr>
          <a:xfrm>
            <a:off x="8400256" y="4536392"/>
            <a:ext cx="2304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注意：一旦出现检测结果不一致时，</a:t>
            </a:r>
            <a:r>
              <a:rPr lang="en-US" altLang="zh-CN" dirty="0">
                <a:solidFill>
                  <a:srgbClr val="FF0000"/>
                </a:solidFill>
              </a:rPr>
              <a:t>OS</a:t>
            </a:r>
            <a:r>
              <a:rPr lang="zh-CN" altLang="en-US" dirty="0">
                <a:solidFill>
                  <a:srgbClr val="FF0000"/>
                </a:solidFill>
              </a:rPr>
              <a:t>也无法保障完全正确的修复过程，有时候修复只能靠“猜”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1B0670-E101-BEC2-78F5-183257F2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b)</a:t>
            </a:r>
            <a:r>
              <a:rPr lang="zh-CN" altLang="en-US" dirty="0"/>
              <a:t>文件系统的一致性检查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54F4A9-337A-2A0E-EC37-64CF6D47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86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961327"/>
            <a:ext cx="10801200" cy="59093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algn="l" eaLnBrk="1" hangingPunct="1"/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５．共享文件管理实现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95E42-9C70-03DC-BE0C-2E907197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当文件系统中用链接实现共享时，系统目录树结构会发生变化：</a:t>
            </a:r>
          </a:p>
          <a:p>
            <a:endParaRPr lang="zh-CN" altLang="en-US" dirty="0"/>
          </a:p>
        </p:txBody>
      </p:sp>
      <p:sp>
        <p:nvSpPr>
          <p:cNvPr id="69635" name="Text Box 6"/>
          <p:cNvSpPr txBox="1">
            <a:spLocks noChangeArrowheads="1"/>
          </p:cNvSpPr>
          <p:nvPr/>
        </p:nvSpPr>
        <p:spPr bwMode="auto">
          <a:xfrm>
            <a:off x="2479146" y="5804877"/>
            <a:ext cx="8207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这时树变成了“有向无环图”，增加了文件系统复杂性．</a:t>
            </a:r>
          </a:p>
        </p:txBody>
      </p:sp>
      <p:pic>
        <p:nvPicPr>
          <p:cNvPr id="69636" name="Picture 7" descr="6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2225734"/>
            <a:ext cx="3857011" cy="35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4230FCE-66F3-49EB-873C-FF3397358EE5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678D36-BE38-52CC-9D0B-836063CE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10221" y="1798540"/>
            <a:ext cx="4370049" cy="450131"/>
            <a:chOff x="844893" y="941286"/>
            <a:chExt cx="4370049" cy="450131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962789"/>
              <a:ext cx="407196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两个或多个文件名关联同一个文件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94128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3410221" y="5175142"/>
            <a:ext cx="7726339" cy="702130"/>
            <a:chOff x="844893" y="4317892"/>
            <a:chExt cx="7726339" cy="702130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4317892"/>
              <a:ext cx="7428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软链接</a:t>
              </a:r>
              <a:r>
                <a:rPr lang="en-US" altLang="zh-CN" dirty="0"/>
                <a:t>: </a:t>
              </a:r>
              <a:r>
                <a:rPr lang="zh-CN" altLang="en-US" dirty="0"/>
                <a:t>以“快捷方式”指向其他文件，快捷方式也是一个文件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431789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75967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4654900"/>
              <a:ext cx="424858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通过存储真实文件的逻辑名称来实现</a:t>
              </a:r>
              <a:endParaRPr lang="en-US" altLang="zh-CN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410221" y="4873514"/>
            <a:ext cx="7582315" cy="428628"/>
            <a:chOff x="844893" y="4016264"/>
            <a:chExt cx="7582315" cy="428628"/>
          </a:xfrm>
        </p:grpSpPr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142975" y="4016264"/>
              <a:ext cx="7284233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硬链接</a:t>
              </a:r>
              <a:r>
                <a:rPr lang="en-US" altLang="zh-CN" dirty="0"/>
                <a:t>: </a:t>
              </a:r>
              <a:r>
                <a:rPr lang="zh-CN" altLang="en-US" dirty="0"/>
                <a:t>多个文件夹中存储指向同一个文件的“链表头”（树根）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4893" y="40162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7065890" y="2593181"/>
            <a:ext cx="166584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/count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/spell/count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65428" y="2214552"/>
            <a:ext cx="3122723" cy="2428894"/>
            <a:chOff x="1000100" y="1357302"/>
            <a:chExt cx="3122723" cy="2428894"/>
          </a:xfrm>
        </p:grpSpPr>
        <p:sp>
          <p:nvSpPr>
            <p:cNvPr id="46" name="矩形 45"/>
            <p:cNvSpPr/>
            <p:nvPr/>
          </p:nvSpPr>
          <p:spPr>
            <a:xfrm>
              <a:off x="2304793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95270" y="3135042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661815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95140" y="3135042"/>
              <a:ext cx="5004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rade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17309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97309" y="3135042"/>
              <a:ext cx="3914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w7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3089020" y="3382363"/>
              <a:ext cx="214314" cy="403833"/>
              <a:chOff x="3176581" y="4486287"/>
              <a:chExt cx="214314" cy="40383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1" name="直接箭头连接符 70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组合 71"/>
            <p:cNvGrpSpPr/>
            <p:nvPr/>
          </p:nvGrpSpPr>
          <p:grpSpPr>
            <a:xfrm>
              <a:off x="2730243" y="3382363"/>
              <a:ext cx="214314" cy="403833"/>
              <a:chOff x="3176581" y="4486287"/>
              <a:chExt cx="214314" cy="403833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4" name="直接箭头连接符 7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组合 74"/>
            <p:cNvGrpSpPr/>
            <p:nvPr/>
          </p:nvGrpSpPr>
          <p:grpSpPr>
            <a:xfrm>
              <a:off x="2371465" y="3382363"/>
              <a:ext cx="214314" cy="403833"/>
              <a:chOff x="3176581" y="4486287"/>
              <a:chExt cx="214314" cy="403833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7" name="直接箭头连接符 76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矩形 79"/>
            <p:cNvSpPr/>
            <p:nvPr/>
          </p:nvSpPr>
          <p:spPr>
            <a:xfrm>
              <a:off x="1009623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00100" y="2071684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366645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3790" y="2071684"/>
              <a:ext cx="3497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all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1722139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749872" y="2071684"/>
              <a:ext cx="3048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w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3765633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706578" y="2071684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3838197" y="2319005"/>
              <a:ext cx="214314" cy="403833"/>
              <a:chOff x="3176581" y="4486287"/>
              <a:chExt cx="214314" cy="403833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椭圆 98"/>
            <p:cNvSpPr/>
            <p:nvPr/>
          </p:nvSpPr>
          <p:spPr>
            <a:xfrm>
              <a:off x="2857488" y="2508524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1076295" y="2319005"/>
              <a:ext cx="214314" cy="403833"/>
              <a:chOff x="3176581" y="4486287"/>
              <a:chExt cx="214314" cy="403833"/>
            </a:xfrm>
          </p:grpSpPr>
          <p:sp>
            <p:nvSpPr>
              <p:cNvPr id="108" name="椭圆 107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09" name="直接箭头连接符 108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矩形 110"/>
            <p:cNvSpPr/>
            <p:nvPr/>
          </p:nvSpPr>
          <p:spPr>
            <a:xfrm>
              <a:off x="2082384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001424" y="2071684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049112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968152" y="2071684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3406632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325672" y="2071684"/>
              <a:ext cx="5229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words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761925" y="1384352"/>
              <a:ext cx="36000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717621" y="1357302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spell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2403914" y="1384352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364229" y="1362065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dict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985209" y="1362065"/>
              <a:ext cx="4363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root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28" name="直接箭头连接符 127"/>
            <p:cNvCxnSpPr>
              <a:stCxn id="121" idx="2"/>
            </p:cNvCxnSpPr>
            <p:nvPr/>
          </p:nvCxnSpPr>
          <p:spPr>
            <a:xfrm rot="5400000">
              <a:off x="1923363" y="1414812"/>
              <a:ext cx="456585" cy="87431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>
              <a:stCxn id="119" idx="2"/>
              <a:endCxn id="116" idx="0"/>
            </p:cNvCxnSpPr>
            <p:nvPr/>
          </p:nvCxnSpPr>
          <p:spPr>
            <a:xfrm rot="16200000" flipH="1">
              <a:off x="3038276" y="1522838"/>
              <a:ext cx="452772" cy="64492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>
              <a:stCxn id="114" idx="2"/>
              <a:endCxn id="99" idx="7"/>
            </p:cNvCxnSpPr>
            <p:nvPr/>
          </p:nvCxnSpPr>
          <p:spPr>
            <a:xfrm rot="5400000">
              <a:off x="3024488" y="2349223"/>
              <a:ext cx="206616" cy="17475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>
              <a:stCxn id="112" idx="2"/>
              <a:endCxn id="99" idx="1"/>
            </p:cNvCxnSpPr>
            <p:nvPr/>
          </p:nvCxnSpPr>
          <p:spPr>
            <a:xfrm rot="16200000" flipH="1">
              <a:off x="2465352" y="2116388"/>
              <a:ext cx="206616" cy="64042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rot="16200000" flipH="1">
              <a:off x="874678" y="3006950"/>
              <a:ext cx="1368000" cy="0"/>
            </a:xfrm>
            <a:prstGeom prst="line">
              <a:avLst/>
            </a:prstGeom>
            <a:ln w="28575">
              <a:solidFill>
                <a:srgbClr val="11576A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>
              <a:off x="1545240" y="3690950"/>
              <a:ext cx="79986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>
              <a:stCxn id="85" idx="2"/>
            </p:cNvCxnSpPr>
            <p:nvPr/>
          </p:nvCxnSpPr>
          <p:spPr>
            <a:xfrm rot="16200000" flipH="1">
              <a:off x="1425900" y="2809712"/>
              <a:ext cx="952836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/>
            <p:cNvCxnSpPr/>
            <p:nvPr/>
          </p:nvCxnSpPr>
          <p:spPr>
            <a:xfrm flipV="1">
              <a:off x="1885934" y="3286125"/>
              <a:ext cx="396000" cy="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rot="5400000">
              <a:off x="3299122" y="2599069"/>
              <a:ext cx="576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10800000">
              <a:off x="2428860" y="2871788"/>
              <a:ext cx="1143008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147"/>
            <p:cNvCxnSpPr>
              <a:endCxn id="47" idx="0"/>
            </p:cNvCxnSpPr>
            <p:nvPr/>
          </p:nvCxnSpPr>
          <p:spPr>
            <a:xfrm rot="5400000">
              <a:off x="2288367" y="2999581"/>
              <a:ext cx="280987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264002" y="2207700"/>
            <a:ext cx="1884982" cy="1372793"/>
            <a:chOff x="1703049" y="1347783"/>
            <a:chExt cx="1884982" cy="1372793"/>
          </a:xfrm>
        </p:grpSpPr>
        <p:grpSp>
          <p:nvGrpSpPr>
            <p:cNvPr id="3" name="组合 2"/>
            <p:cNvGrpSpPr/>
            <p:nvPr/>
          </p:nvGrpSpPr>
          <p:grpSpPr>
            <a:xfrm>
              <a:off x="2367148" y="1355258"/>
              <a:ext cx="449162" cy="261610"/>
              <a:chOff x="2516439" y="1512311"/>
              <a:chExt cx="449162" cy="261610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556314" y="1536752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9" name="TextBox 120"/>
              <p:cNvSpPr txBox="1"/>
              <p:nvPr/>
            </p:nvSpPr>
            <p:spPr>
              <a:xfrm>
                <a:off x="2516439" y="1512311"/>
                <a:ext cx="4491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dict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012217" y="2073973"/>
              <a:ext cx="494046" cy="261610"/>
              <a:chOff x="7413844" y="1494744"/>
              <a:chExt cx="494046" cy="26161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7482272" y="151548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7" name="TextBox 111"/>
              <p:cNvSpPr txBox="1"/>
              <p:nvPr/>
            </p:nvSpPr>
            <p:spPr>
              <a:xfrm>
                <a:off x="7413844" y="1494744"/>
                <a:ext cx="4940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count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88" name="椭圆 87"/>
            <p:cNvSpPr/>
            <p:nvPr/>
          </p:nvSpPr>
          <p:spPr>
            <a:xfrm>
              <a:off x="2856486" y="2506262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714202" y="1347783"/>
              <a:ext cx="449162" cy="261610"/>
              <a:chOff x="7683032" y="1071536"/>
              <a:chExt cx="449162" cy="26161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727613" y="1106836"/>
                <a:ext cx="36000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97" name="TextBox 118"/>
              <p:cNvSpPr txBox="1"/>
              <p:nvPr/>
            </p:nvSpPr>
            <p:spPr>
              <a:xfrm>
                <a:off x="7683032" y="1071536"/>
                <a:ext cx="4491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0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spell</a:t>
                </a:r>
                <a:endParaRPr lang="zh-CN" altLang="en-US" sz="1100" b="1" spc="-10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75576" y="2078897"/>
              <a:ext cx="494046" cy="261610"/>
              <a:chOff x="7413844" y="1494744"/>
              <a:chExt cx="494046" cy="261610"/>
            </a:xfrm>
          </p:grpSpPr>
          <p:sp>
            <p:nvSpPr>
              <p:cNvPr id="131" name="矩形 130"/>
              <p:cNvSpPr/>
              <p:nvPr/>
            </p:nvSpPr>
            <p:spPr>
              <a:xfrm>
                <a:off x="7482272" y="151548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3" name="TextBox 111"/>
              <p:cNvSpPr txBox="1"/>
              <p:nvPr/>
            </p:nvSpPr>
            <p:spPr>
              <a:xfrm>
                <a:off x="7413844" y="1494744"/>
                <a:ext cx="4940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count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135" name="直接箭头连接符 134"/>
            <p:cNvCxnSpPr/>
            <p:nvPr/>
          </p:nvCxnSpPr>
          <p:spPr>
            <a:xfrm rot="5400000">
              <a:off x="1911911" y="1409781"/>
              <a:ext cx="456585" cy="87431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/>
            <p:cNvCxnSpPr/>
            <p:nvPr/>
          </p:nvCxnSpPr>
          <p:spPr>
            <a:xfrm rot="16200000" flipH="1">
              <a:off x="3039185" y="1511465"/>
              <a:ext cx="452772" cy="64492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/>
            <p:nvPr/>
          </p:nvCxnSpPr>
          <p:spPr>
            <a:xfrm rot="5400000">
              <a:off x="3020987" y="2345009"/>
              <a:ext cx="206616" cy="17475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/>
            <p:nvPr/>
          </p:nvCxnSpPr>
          <p:spPr>
            <a:xfrm rot="16200000" flipH="1">
              <a:off x="2462480" y="2112183"/>
              <a:ext cx="206616" cy="64042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3936646" y="2214552"/>
            <a:ext cx="2477871" cy="2432872"/>
            <a:chOff x="1371318" y="1357302"/>
            <a:chExt cx="2477871" cy="2432872"/>
          </a:xfrm>
        </p:grpSpPr>
        <p:grpSp>
          <p:nvGrpSpPr>
            <p:cNvPr id="98" name="组合 97"/>
            <p:cNvGrpSpPr/>
            <p:nvPr/>
          </p:nvGrpSpPr>
          <p:grpSpPr>
            <a:xfrm>
              <a:off x="2356188" y="1357302"/>
              <a:ext cx="449162" cy="261610"/>
              <a:chOff x="2516439" y="1512311"/>
              <a:chExt cx="449162" cy="261610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2556314" y="1536752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1" name="TextBox 120"/>
              <p:cNvSpPr txBox="1"/>
              <p:nvPr/>
            </p:nvSpPr>
            <p:spPr>
              <a:xfrm>
                <a:off x="2516439" y="1512311"/>
                <a:ext cx="4491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dict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729767" y="2071682"/>
              <a:ext cx="357190" cy="261610"/>
              <a:chOff x="1874539" y="2224084"/>
              <a:chExt cx="357190" cy="26161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1874539" y="225146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3" name="TextBox 84"/>
              <p:cNvSpPr txBox="1"/>
              <p:nvPr/>
            </p:nvSpPr>
            <p:spPr>
              <a:xfrm>
                <a:off x="1902272" y="2224084"/>
                <a:ext cx="30489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w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2277517" y="3144481"/>
              <a:ext cx="394660" cy="261610"/>
              <a:chOff x="2441106" y="3296079"/>
              <a:chExt cx="394660" cy="261610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2457193" y="3314821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5" name="TextBox 46"/>
              <p:cNvSpPr txBox="1"/>
              <p:nvPr/>
            </p:nvSpPr>
            <p:spPr>
              <a:xfrm>
                <a:off x="2441106" y="3296079"/>
                <a:ext cx="39466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list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71318" y="2079754"/>
              <a:ext cx="360345" cy="261610"/>
              <a:chOff x="1519045" y="2236052"/>
              <a:chExt cx="360345" cy="261610"/>
            </a:xfrm>
          </p:grpSpPr>
          <p:sp>
            <p:nvSpPr>
              <p:cNvPr id="106" name="矩形 105"/>
              <p:cNvSpPr/>
              <p:nvPr/>
            </p:nvSpPr>
            <p:spPr>
              <a:xfrm>
                <a:off x="1519045" y="225146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10" name="TextBox 82"/>
              <p:cNvSpPr txBox="1"/>
              <p:nvPr/>
            </p:nvSpPr>
            <p:spPr>
              <a:xfrm>
                <a:off x="1529614" y="2236052"/>
                <a:ext cx="34977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all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326289" y="2079754"/>
              <a:ext cx="522900" cy="261610"/>
              <a:chOff x="7693548" y="3114482"/>
              <a:chExt cx="522900" cy="261610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7776403" y="313892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22" name="TextBox 115"/>
              <p:cNvSpPr txBox="1"/>
              <p:nvPr/>
            </p:nvSpPr>
            <p:spPr>
              <a:xfrm>
                <a:off x="7693548" y="3114482"/>
                <a:ext cx="52290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words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143" name="椭圆 142"/>
            <p:cNvSpPr/>
            <p:nvPr/>
          </p:nvSpPr>
          <p:spPr>
            <a:xfrm>
              <a:off x="2374496" y="3575860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45" name="直接箭头连接符 144"/>
            <p:cNvCxnSpPr/>
            <p:nvPr/>
          </p:nvCxnSpPr>
          <p:spPr>
            <a:xfrm rot="16200000" flipH="1">
              <a:off x="2379659" y="3472362"/>
              <a:ext cx="18000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/>
            <p:nvPr/>
          </p:nvCxnSpPr>
          <p:spPr>
            <a:xfrm rot="5400000">
              <a:off x="1928233" y="1404351"/>
              <a:ext cx="456585" cy="87431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1543548" y="2324325"/>
              <a:ext cx="799861" cy="1368000"/>
              <a:chOff x="1697640" y="2475350"/>
              <a:chExt cx="799861" cy="1368000"/>
            </a:xfrm>
          </p:grpSpPr>
          <p:cxnSp>
            <p:nvCxnSpPr>
              <p:cNvPr id="149" name="直接连接符 148"/>
              <p:cNvCxnSpPr/>
              <p:nvPr/>
            </p:nvCxnSpPr>
            <p:spPr>
              <a:xfrm rot="16200000" flipH="1">
                <a:off x="1027078" y="3159350"/>
                <a:ext cx="136800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/>
              <p:cNvCxnSpPr/>
              <p:nvPr/>
            </p:nvCxnSpPr>
            <p:spPr>
              <a:xfrm>
                <a:off x="1697640" y="3843350"/>
                <a:ext cx="799861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1881395" y="2338994"/>
              <a:ext cx="396000" cy="952836"/>
              <a:chOff x="2038334" y="2485694"/>
              <a:chExt cx="396000" cy="952836"/>
            </a:xfrm>
          </p:grpSpPr>
          <p:cxnSp>
            <p:nvCxnSpPr>
              <p:cNvPr id="151" name="直接连接符 150"/>
              <p:cNvCxnSpPr/>
              <p:nvPr/>
            </p:nvCxnSpPr>
            <p:spPr>
              <a:xfrm rot="16200000" flipH="1">
                <a:off x="1578300" y="2962112"/>
                <a:ext cx="952836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箭头连接符 151"/>
              <p:cNvCxnSpPr/>
              <p:nvPr/>
            </p:nvCxnSpPr>
            <p:spPr>
              <a:xfrm flipV="1">
                <a:off x="2038334" y="3438525"/>
                <a:ext cx="396000" cy="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2424965" y="2308365"/>
              <a:ext cx="1158262" cy="829005"/>
              <a:chOff x="2581260" y="2463469"/>
              <a:chExt cx="1158262" cy="829005"/>
            </a:xfrm>
          </p:grpSpPr>
          <p:cxnSp>
            <p:nvCxnSpPr>
              <p:cNvPr id="153" name="直接连接符 152"/>
              <p:cNvCxnSpPr/>
              <p:nvPr/>
            </p:nvCxnSpPr>
            <p:spPr>
              <a:xfrm rot="5400000">
                <a:off x="3451522" y="2751469"/>
                <a:ext cx="57600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10800000">
                <a:off x="2581260" y="3024188"/>
                <a:ext cx="1143008" cy="158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/>
              <p:cNvCxnSpPr/>
              <p:nvPr/>
            </p:nvCxnSpPr>
            <p:spPr>
              <a:xfrm rot="5400000">
                <a:off x="2440767" y="3151981"/>
                <a:ext cx="280987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箭头连接符 155"/>
            <p:cNvCxnSpPr/>
            <p:nvPr/>
          </p:nvCxnSpPr>
          <p:spPr>
            <a:xfrm rot="16200000" flipH="1">
              <a:off x="3041841" y="1517706"/>
              <a:ext cx="452772" cy="64492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TextBox 4"/>
          <p:cNvSpPr txBox="1">
            <a:spLocks noChangeArrowheads="1"/>
          </p:cNvSpPr>
          <p:nvPr/>
        </p:nvSpPr>
        <p:spPr bwMode="auto">
          <a:xfrm>
            <a:off x="7053363" y="3433222"/>
            <a:ext cx="228299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/w/list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/all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/spell/words/list</a:t>
            </a:r>
          </a:p>
        </p:txBody>
      </p:sp>
      <p:sp>
        <p:nvSpPr>
          <p:cNvPr id="30" name="标题 29">
            <a:extLst>
              <a:ext uri="{FF2B5EF4-FFF2-40B4-BE49-F238E27FC236}">
                <a16:creationId xmlns:a16="http://schemas.microsoft.com/office/drawing/2014/main" id="{F35F8A81-1B8E-F9D5-E173-D8987E46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文件别名</a:t>
            </a:r>
          </a:p>
        </p:txBody>
      </p: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FE74FD68-E940-FFD9-0AFE-0CAF5850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321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4" descr="6-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2781300"/>
            <a:ext cx="7123112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AutoShape 8"/>
          <p:cNvSpPr>
            <a:spLocks noChangeArrowheads="1"/>
          </p:cNvSpPr>
          <p:nvPr/>
        </p:nvSpPr>
        <p:spPr bwMode="auto">
          <a:xfrm>
            <a:off x="1774828" y="4868863"/>
            <a:ext cx="792163" cy="431800"/>
          </a:xfrm>
          <a:prstGeom prst="wedgeRectCallout">
            <a:avLst>
              <a:gd name="adj1" fmla="val 80060"/>
              <a:gd name="adj2" fmla="val -63602"/>
            </a:avLst>
          </a:prstGeom>
          <a:solidFill>
            <a:srgbClr val="FFCC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i</a:t>
            </a:r>
            <a:r>
              <a:rPr lang="zh-CN" altLang="en-US" sz="1600">
                <a:latin typeface="Times New Roman" panose="02020603050405020304" pitchFamily="18" charset="0"/>
              </a:rPr>
              <a:t>节点</a:t>
            </a:r>
          </a:p>
        </p:txBody>
      </p:sp>
      <p:sp>
        <p:nvSpPr>
          <p:cNvPr id="70662" name="AutoShape 10"/>
          <p:cNvSpPr>
            <a:spLocks noChangeArrowheads="1"/>
          </p:cNvSpPr>
          <p:nvPr/>
        </p:nvSpPr>
        <p:spPr bwMode="auto">
          <a:xfrm>
            <a:off x="7104063" y="5300666"/>
            <a:ext cx="1439862" cy="1152525"/>
          </a:xfrm>
          <a:prstGeom prst="wedgeRectCallout">
            <a:avLst>
              <a:gd name="adj1" fmla="val 46583"/>
              <a:gd name="adj2" fmla="val -81819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</a:rPr>
              <a:t>解决办法</a:t>
            </a:r>
            <a:r>
              <a:rPr lang="en-US" altLang="zh-CN" sz="1400" dirty="0" err="1">
                <a:latin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</a:rPr>
              <a:t>节点不删只修改连接数；但会有记账不准。</a:t>
            </a:r>
          </a:p>
        </p:txBody>
      </p:sp>
      <p:sp>
        <p:nvSpPr>
          <p:cNvPr id="70663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BCE7D3E-EBCF-45EF-8D83-847878DF4C37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7CF2AF9-E6B2-86C4-067F-CE618F81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用链接实现文件共享控制（</a:t>
            </a:r>
            <a:r>
              <a:rPr lang="en-US" altLang="zh-CN" dirty="0" err="1"/>
              <a:t>i</a:t>
            </a:r>
            <a:r>
              <a:rPr lang="zh-CN" altLang="en-US" dirty="0"/>
              <a:t>节点方式）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EC06BA7-D715-0505-F7BE-2C4D02124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1283169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每个文件有指向自己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节点的指针；</a:t>
            </a:r>
          </a:p>
          <a:p>
            <a:r>
              <a:rPr lang="zh-CN" altLang="en-US" sz="2400" dirty="0"/>
              <a:t>创建共享时多指针指向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节点并增加引用数；</a:t>
            </a:r>
          </a:p>
          <a:p>
            <a:r>
              <a:rPr lang="zh-CN" altLang="en-US" sz="2400" dirty="0"/>
              <a:t>当属主文件被删除并连带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节点删除时会出错。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DB20C-3E0D-D25E-A06A-07012576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灯片编号占位符 1"/>
          <p:cNvSpPr txBox="1">
            <a:spLocks noGrp="1"/>
          </p:cNvSpPr>
          <p:nvPr/>
        </p:nvSpPr>
        <p:spPr bwMode="auto">
          <a:xfrm>
            <a:off x="6887738" y="5801747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1C531F3-B275-456E-A49B-5BD00FBD659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B2CE12-E39A-C248-9BD8-984229689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28" y="3933056"/>
            <a:ext cx="4455795" cy="2513831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EA9A612-E96C-843A-3F07-86C78486993D}"/>
              </a:ext>
            </a:extLst>
          </p:cNvPr>
          <p:cNvCxnSpPr/>
          <p:nvPr/>
        </p:nvCxnSpPr>
        <p:spPr bwMode="auto">
          <a:xfrm>
            <a:off x="4367805" y="5801747"/>
            <a:ext cx="3024758" cy="73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9D9AB23-25E7-8AC8-F72C-BE79D18083CC}"/>
              </a:ext>
            </a:extLst>
          </p:cNvPr>
          <p:cNvSpPr txBox="1"/>
          <p:nvPr/>
        </p:nvSpPr>
        <p:spPr>
          <a:xfrm>
            <a:off x="5015877" y="4211583"/>
            <a:ext cx="194421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记录</a:t>
            </a:r>
            <a:r>
              <a:rPr lang="en-US" altLang="zh-CN" dirty="0"/>
              <a:t>a</a:t>
            </a:r>
            <a:r>
              <a:rPr lang="zh-CN" altLang="en-US" dirty="0"/>
              <a:t>为指向</a:t>
            </a:r>
            <a:r>
              <a:rPr lang="en-US" altLang="zh-CN" dirty="0"/>
              <a:t>c</a:t>
            </a:r>
            <a:r>
              <a:rPr lang="zh-CN" altLang="en-US" dirty="0"/>
              <a:t>的链接，是一种特殊类型的文件，</a:t>
            </a:r>
            <a:r>
              <a:rPr lang="en-US" altLang="zh-CN" dirty="0"/>
              <a:t>c</a:t>
            </a:r>
            <a:r>
              <a:rPr lang="zh-CN" altLang="en-US" dirty="0"/>
              <a:t>如果被删除，</a:t>
            </a:r>
            <a:r>
              <a:rPr lang="en-US" altLang="zh-CN" dirty="0"/>
              <a:t>a</a:t>
            </a:r>
            <a:r>
              <a:rPr lang="zh-CN" altLang="en-US" dirty="0"/>
              <a:t>变成无效链接，不影响系统完整性也不能加复杂度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08751A5-794C-2B08-D955-EBC6089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采用符号链接可较好解决问题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2C9C850-56D9-F587-CDCD-61C7E424B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只有文件属主有指向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</a:t>
            </a:r>
          </a:p>
          <a:p>
            <a:r>
              <a:rPr lang="zh-CN" altLang="en-US" sz="2400" dirty="0"/>
              <a:t>建立一个新文件类型</a:t>
            </a:r>
            <a:r>
              <a:rPr lang="en-US" altLang="zh-CN" sz="2400" dirty="0"/>
              <a:t>link</a:t>
            </a:r>
            <a:r>
              <a:rPr lang="zh-CN" altLang="en-US" sz="2400" dirty="0"/>
              <a:t>，用做目录管理</a:t>
            </a:r>
          </a:p>
          <a:p>
            <a:r>
              <a:rPr lang="zh-CN" altLang="en-US" sz="2400" dirty="0"/>
              <a:t>有共享需求的用户只了解找到共享文件的目录，而无指向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</a:t>
            </a:r>
          </a:p>
          <a:p>
            <a:r>
              <a:rPr lang="zh-CN" altLang="en-US" sz="2400" dirty="0"/>
              <a:t>删除符号链接不会影响原文件</a:t>
            </a:r>
          </a:p>
          <a:p>
            <a:r>
              <a:rPr lang="zh-CN" altLang="en-US" sz="2400" dirty="0"/>
              <a:t>若属主删除被链接的文件，只能带来链接文件找不到正确目录文件，无大错</a:t>
            </a:r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E03254-47FD-47D4-6A5B-C24C8BDE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2368897" y="5155762"/>
            <a:ext cx="4370049" cy="702130"/>
            <a:chOff x="844893" y="4298512"/>
            <a:chExt cx="4370049" cy="702130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4298512"/>
              <a:ext cx="135732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更多实践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429851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74029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4635520"/>
              <a:ext cx="381995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限制路径可遍历文件目录的数量</a:t>
              </a:r>
              <a:endParaRPr lang="en-US" altLang="zh-CN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68897" y="4184658"/>
            <a:ext cx="3512793" cy="428628"/>
            <a:chOff x="844893" y="3327408"/>
            <a:chExt cx="3512793" cy="428628"/>
          </a:xfrm>
        </p:grpSpPr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142976" y="3327408"/>
              <a:ext cx="321471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如何保证没有循环？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4893" y="33274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6284404" y="2080932"/>
            <a:ext cx="303931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/avi/book/avi/book/avi/book/avi/book/avi/book/avi/book/avi/book/avi/book/avi/…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786422" y="4541848"/>
            <a:ext cx="5667032" cy="365122"/>
            <a:chOff x="1262422" y="3684598"/>
            <a:chExt cx="5667032" cy="365122"/>
          </a:xfrm>
        </p:grpSpPr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7893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394985" y="3684598"/>
              <a:ext cx="5534469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只允许到文件的链接，不允许在子目录的链接</a:t>
              </a:r>
              <a:endParaRPr lang="en-US" altLang="zh-CN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786422" y="4847564"/>
            <a:ext cx="5381280" cy="365122"/>
            <a:chOff x="1262422" y="3990314"/>
            <a:chExt cx="5381280" cy="365122"/>
          </a:xfrm>
        </p:grpSpPr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0950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394985" y="3990314"/>
              <a:ext cx="524871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增加链接时，用循环检测算法确定是否合理</a:t>
              </a:r>
              <a:endParaRPr lang="en-US" altLang="zh-CN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452662" y="1718153"/>
            <a:ext cx="4071966" cy="2425231"/>
            <a:chOff x="928662" y="860899"/>
            <a:chExt cx="4071966" cy="2425231"/>
          </a:xfrm>
        </p:grpSpPr>
        <p:sp>
          <p:nvSpPr>
            <p:cNvPr id="37" name="矩形 36"/>
            <p:cNvSpPr/>
            <p:nvPr/>
          </p:nvSpPr>
          <p:spPr>
            <a:xfrm>
              <a:off x="1081061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3438" y="1500180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text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438083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69503" y="1500180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793577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710712" y="1500180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148615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75910" y="1509705"/>
              <a:ext cx="4716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book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506511" y="1747501"/>
              <a:ext cx="214314" cy="403833"/>
              <a:chOff x="3176581" y="4486287"/>
              <a:chExt cx="214314" cy="403833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63" name="直接箭头连接符 62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椭圆 64"/>
            <p:cNvSpPr/>
            <p:nvPr/>
          </p:nvSpPr>
          <p:spPr>
            <a:xfrm>
              <a:off x="928662" y="1937020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6" name="直接箭头连接符 65"/>
            <p:cNvCxnSpPr>
              <a:endCxn id="65" idx="7"/>
            </p:cNvCxnSpPr>
            <p:nvPr/>
          </p:nvCxnSpPr>
          <p:spPr>
            <a:xfrm rot="5400000">
              <a:off x="1070900" y="1788191"/>
              <a:ext cx="220905" cy="139524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66"/>
            <p:cNvSpPr/>
            <p:nvPr/>
          </p:nvSpPr>
          <p:spPr>
            <a:xfrm>
              <a:off x="3075818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3432840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364260" y="1500180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3788334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143372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089717" y="1500180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hyp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3501268" y="1747501"/>
              <a:ext cx="214314" cy="403833"/>
              <a:chOff x="3176581" y="4486287"/>
              <a:chExt cx="214314" cy="403833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83" name="直接箭头连接符 82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矩形 29"/>
            <p:cNvSpPr/>
            <p:nvPr/>
          </p:nvSpPr>
          <p:spPr>
            <a:xfrm>
              <a:off x="2634023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659431" y="860899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tc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43069" y="860899"/>
              <a:ext cx="4363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root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2994581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967596" y="860899"/>
              <a:ext cx="4074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jim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2279407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252422" y="860899"/>
              <a:ext cx="3898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avi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708035" y="1101081"/>
              <a:ext cx="214314" cy="403833"/>
              <a:chOff x="3176581" y="4486287"/>
              <a:chExt cx="214314" cy="403833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矩形 99"/>
            <p:cNvSpPr/>
            <p:nvPr/>
          </p:nvSpPr>
          <p:spPr>
            <a:xfrm>
              <a:off x="2652697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643174" y="2634976"/>
              <a:ext cx="3898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avi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3009719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3078147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06" name="直接箭头连接符 105"/>
            <p:cNvCxnSpPr/>
            <p:nvPr/>
          </p:nvCxnSpPr>
          <p:spPr>
            <a:xfrm rot="16200000" flipH="1">
              <a:off x="3091528" y="2972297"/>
              <a:ext cx="180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矩形 106"/>
            <p:cNvSpPr/>
            <p:nvPr/>
          </p:nvSpPr>
          <p:spPr>
            <a:xfrm>
              <a:off x="4106187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4463209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423204" y="2644501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hex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4786314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13" name="直接箭头连接符 112"/>
            <p:cNvCxnSpPr>
              <a:endCxn id="112" idx="1"/>
            </p:cNvCxnSpPr>
            <p:nvPr/>
          </p:nvCxnSpPr>
          <p:spPr>
            <a:xfrm rot="16200000" flipH="1">
              <a:off x="4615907" y="2901408"/>
              <a:ext cx="220905" cy="182682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3000364" y="1509705"/>
              <a:ext cx="4716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book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695694" y="1500180"/>
              <a:ext cx="5052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50" b="1" spc="-150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unhex</a:t>
              </a:r>
              <a:endParaRPr lang="zh-CN" altLang="en-US" sz="105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915896" y="2638755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019546" y="2633747"/>
              <a:ext cx="5052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50" b="1" spc="-150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unhex</a:t>
              </a:r>
              <a:endParaRPr lang="zh-CN" altLang="en-US" sz="105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857620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22" name="直接箭头连接符 121"/>
            <p:cNvCxnSpPr>
              <a:stCxn id="117" idx="2"/>
              <a:endCxn id="119" idx="7"/>
            </p:cNvCxnSpPr>
            <p:nvPr/>
          </p:nvCxnSpPr>
          <p:spPr>
            <a:xfrm rot="5400000">
              <a:off x="4048595" y="2879616"/>
              <a:ext cx="215539" cy="23163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115" idx="2"/>
              <a:endCxn id="119" idx="0"/>
            </p:cNvCxnSpPr>
            <p:nvPr/>
          </p:nvCxnSpPr>
          <p:spPr>
            <a:xfrm rot="16200000" flipH="1">
              <a:off x="3297692" y="2404731"/>
              <a:ext cx="1317720" cy="1644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>
              <a:stCxn id="74" idx="2"/>
            </p:cNvCxnSpPr>
            <p:nvPr/>
          </p:nvCxnSpPr>
          <p:spPr>
            <a:xfrm rot="16200000" flipH="1">
              <a:off x="3946895" y="2130795"/>
              <a:ext cx="886160" cy="14814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90" idx="2"/>
            </p:cNvCxnSpPr>
            <p:nvPr/>
          </p:nvCxnSpPr>
          <p:spPr>
            <a:xfrm rot="5400000">
              <a:off x="1918279" y="987311"/>
              <a:ext cx="393871" cy="66426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>
              <a:stCxn id="88" idx="2"/>
              <a:endCxn id="70" idx="0"/>
            </p:cNvCxnSpPr>
            <p:nvPr/>
          </p:nvCxnSpPr>
          <p:spPr>
            <a:xfrm rot="16200000" flipH="1">
              <a:off x="3200872" y="1092974"/>
              <a:ext cx="377671" cy="43673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>
              <a:stCxn id="44" idx="2"/>
            </p:cNvCxnSpPr>
            <p:nvPr/>
          </p:nvCxnSpPr>
          <p:spPr>
            <a:xfrm rot="16200000" flipH="1">
              <a:off x="2052944" y="2030083"/>
              <a:ext cx="849965" cy="33242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>
              <a:stCxn id="114" idx="2"/>
            </p:cNvCxnSpPr>
            <p:nvPr/>
          </p:nvCxnSpPr>
          <p:spPr>
            <a:xfrm rot="5400000">
              <a:off x="2690431" y="2090784"/>
              <a:ext cx="865205" cy="226266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rot="16200000" flipH="1">
              <a:off x="1237735" y="2466433"/>
              <a:ext cx="1440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>
              <a:off x="1955781" y="3173734"/>
              <a:ext cx="1116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>
              <a:stCxn id="101" idx="2"/>
            </p:cNvCxnSpPr>
            <p:nvPr/>
          </p:nvCxnSpPr>
          <p:spPr>
            <a:xfrm rot="5400000">
              <a:off x="2774298" y="2960387"/>
              <a:ext cx="12760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 flipH="1">
              <a:off x="2211846" y="3016197"/>
              <a:ext cx="643207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/>
            <p:nvPr/>
          </p:nvCxnSpPr>
          <p:spPr>
            <a:xfrm rot="5400000" flipH="1" flipV="1">
              <a:off x="1591805" y="2376813"/>
              <a:ext cx="1262065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3309694" y="1718153"/>
            <a:ext cx="1237685" cy="2163289"/>
            <a:chOff x="1785690" y="860899"/>
            <a:chExt cx="1237685" cy="2163289"/>
          </a:xfrm>
        </p:grpSpPr>
        <p:grpSp>
          <p:nvGrpSpPr>
            <p:cNvPr id="2" name="组合 1"/>
            <p:cNvGrpSpPr/>
            <p:nvPr/>
          </p:nvGrpSpPr>
          <p:grpSpPr>
            <a:xfrm>
              <a:off x="2633525" y="2643333"/>
              <a:ext cx="389850" cy="261610"/>
              <a:chOff x="2415477" y="1011145"/>
              <a:chExt cx="389850" cy="26161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31807" y="1035586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6" name="TextBox 89"/>
              <p:cNvSpPr txBox="1"/>
              <p:nvPr/>
            </p:nvSpPr>
            <p:spPr>
              <a:xfrm>
                <a:off x="2415477" y="1011145"/>
                <a:ext cx="3898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avi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097014" y="1509705"/>
              <a:ext cx="471604" cy="261610"/>
              <a:chOff x="2243808" y="1662105"/>
              <a:chExt cx="471604" cy="261610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2301015" y="1679959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9" name="TextBox 43"/>
              <p:cNvSpPr txBox="1"/>
              <p:nvPr/>
            </p:nvSpPr>
            <p:spPr>
              <a:xfrm>
                <a:off x="2243808" y="1662105"/>
                <a:ext cx="47160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book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265915" y="860899"/>
              <a:ext cx="389850" cy="261610"/>
              <a:chOff x="2795574" y="2790314"/>
              <a:chExt cx="389850" cy="261610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2805097" y="281475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5" name="TextBox 100"/>
              <p:cNvSpPr txBox="1"/>
              <p:nvPr/>
            </p:nvSpPr>
            <p:spPr>
              <a:xfrm>
                <a:off x="2795574" y="2790314"/>
                <a:ext cx="3898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avi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86" name="直接箭头连接符 85"/>
            <p:cNvCxnSpPr/>
            <p:nvPr/>
          </p:nvCxnSpPr>
          <p:spPr>
            <a:xfrm rot="5400000">
              <a:off x="1920888" y="980200"/>
              <a:ext cx="393871" cy="66426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/>
            <p:nvPr/>
          </p:nvCxnSpPr>
          <p:spPr>
            <a:xfrm rot="16200000" flipH="1">
              <a:off x="2051218" y="2020531"/>
              <a:ext cx="849965" cy="33242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2199078" y="1745780"/>
              <a:ext cx="643207" cy="1278408"/>
              <a:chOff x="2357158" y="1898180"/>
              <a:chExt cx="643207" cy="1278408"/>
            </a:xfrm>
          </p:grpSpPr>
          <p:cxnSp>
            <p:nvCxnSpPr>
              <p:cNvPr id="96" name="直接连接符 95"/>
              <p:cNvCxnSpPr/>
              <p:nvPr/>
            </p:nvCxnSpPr>
            <p:spPr>
              <a:xfrm rot="5400000">
                <a:off x="2926698" y="3112787"/>
                <a:ext cx="127602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flipH="1">
                <a:off x="2357158" y="3168597"/>
                <a:ext cx="643207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/>
            </p:nvCxnSpPr>
            <p:spPr>
              <a:xfrm rot="5400000" flipH="1" flipV="1">
                <a:off x="1744205" y="2529213"/>
                <a:ext cx="1262065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标题 21">
            <a:extLst>
              <a:ext uri="{FF2B5EF4-FFF2-40B4-BE49-F238E27FC236}">
                <a16:creationId xmlns:a16="http://schemas.microsoft.com/office/drawing/2014/main" id="{8425261A-CDE3-A31A-E900-5DAC4671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文件目录中的循环</a:t>
            </a:r>
          </a:p>
        </p:txBody>
      </p:sp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A5167480-EB31-B0C4-FE0C-43A1CEAB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89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8CB3E7B-2DFB-360F-3963-78A5DB2C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文件共享还需要访问类型和权限的支持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084D541-A442-69C7-EA5D-6DA7DC4F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在具有共享机制文件系统中，要设置文件访问类型及文件权限，才可保证多个用户间的有效文件共享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文件访问类型：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读</a:t>
            </a:r>
            <a:r>
              <a:rPr lang="en-US" altLang="zh-CN" dirty="0"/>
              <a:t>read：</a:t>
            </a:r>
            <a:r>
              <a:rPr lang="zh-CN" altLang="en-US" dirty="0"/>
              <a:t>可读出文件内容；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写</a:t>
            </a:r>
            <a:r>
              <a:rPr lang="en-US" altLang="zh-CN" dirty="0"/>
              <a:t>write（</a:t>
            </a:r>
            <a:r>
              <a:rPr lang="zh-CN" altLang="en-US" dirty="0"/>
              <a:t>修改</a:t>
            </a:r>
            <a:r>
              <a:rPr lang="en-US" altLang="zh-CN" dirty="0"/>
              <a:t>update</a:t>
            </a:r>
            <a:r>
              <a:rPr lang="zh-CN" altLang="en-US" dirty="0"/>
              <a:t>或添加</a:t>
            </a:r>
            <a:r>
              <a:rPr lang="en-US" altLang="zh-CN" dirty="0"/>
              <a:t>append）：</a:t>
            </a:r>
            <a:r>
              <a:rPr lang="zh-CN" altLang="en-US" dirty="0"/>
              <a:t>可把数据写入文件；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执行</a:t>
            </a:r>
            <a:r>
              <a:rPr lang="en-US" altLang="zh-CN" dirty="0"/>
              <a:t>execute：</a:t>
            </a:r>
            <a:r>
              <a:rPr lang="zh-CN" altLang="en-US" dirty="0"/>
              <a:t>可由系统读出文件内容，作为代码执行；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删除</a:t>
            </a:r>
            <a:r>
              <a:rPr lang="en-US" altLang="zh-CN" dirty="0"/>
              <a:t>delete：</a:t>
            </a:r>
            <a:r>
              <a:rPr lang="zh-CN" altLang="en-US" dirty="0"/>
              <a:t>可删除文件；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修改访问权限</a:t>
            </a:r>
            <a:r>
              <a:rPr lang="en-US" altLang="zh-CN" dirty="0"/>
              <a:t>change protection：</a:t>
            </a:r>
            <a:r>
              <a:rPr lang="zh-CN" altLang="en-US" dirty="0"/>
              <a:t>修改文件属主或访问权限</a:t>
            </a:r>
          </a:p>
          <a:p>
            <a:endParaRPr lang="zh-CN" altLang="en-US" sz="28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4DC4D-48EF-3AE1-96FB-2775089A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25</a:t>
            </a:fld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1" name="Group 5"/>
          <p:cNvGrpSpPr>
            <a:grpSpLocks/>
          </p:cNvGrpSpPr>
          <p:nvPr/>
        </p:nvGrpSpPr>
        <p:grpSpPr bwMode="auto">
          <a:xfrm>
            <a:off x="2718594" y="3919568"/>
            <a:ext cx="6400800" cy="2066577"/>
            <a:chOff x="864" y="2736"/>
            <a:chExt cx="4032" cy="1450"/>
          </a:xfrm>
        </p:grpSpPr>
        <p:sp>
          <p:nvSpPr>
            <p:cNvPr id="73732" name="Rectangle 6"/>
            <p:cNvSpPr>
              <a:spLocks noChangeArrowheads="1"/>
            </p:cNvSpPr>
            <p:nvPr/>
          </p:nvSpPr>
          <p:spPr bwMode="auto">
            <a:xfrm>
              <a:off x="864" y="2736"/>
              <a:ext cx="4032" cy="14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3" name="Line 7"/>
            <p:cNvSpPr>
              <a:spLocks noChangeShapeType="1"/>
            </p:cNvSpPr>
            <p:nvPr/>
          </p:nvSpPr>
          <p:spPr bwMode="auto">
            <a:xfrm>
              <a:off x="864" y="3072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4" name="Line 8"/>
            <p:cNvSpPr>
              <a:spLocks noChangeShapeType="1"/>
            </p:cNvSpPr>
            <p:nvPr/>
          </p:nvSpPr>
          <p:spPr bwMode="auto">
            <a:xfrm>
              <a:off x="864" y="345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5" name="Line 9"/>
            <p:cNvSpPr>
              <a:spLocks noChangeShapeType="1"/>
            </p:cNvSpPr>
            <p:nvPr/>
          </p:nvSpPr>
          <p:spPr bwMode="auto">
            <a:xfrm>
              <a:off x="864" y="388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6" name="Line 10"/>
            <p:cNvSpPr>
              <a:spLocks noChangeShapeType="1"/>
            </p:cNvSpPr>
            <p:nvPr/>
          </p:nvSpPr>
          <p:spPr bwMode="auto">
            <a:xfrm>
              <a:off x="1632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7" name="Line 11"/>
            <p:cNvSpPr>
              <a:spLocks noChangeShapeType="1"/>
            </p:cNvSpPr>
            <p:nvPr/>
          </p:nvSpPr>
          <p:spPr bwMode="auto">
            <a:xfrm>
              <a:off x="2352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8" name="Line 12"/>
            <p:cNvSpPr>
              <a:spLocks noChangeShapeType="1"/>
            </p:cNvSpPr>
            <p:nvPr/>
          </p:nvSpPr>
          <p:spPr bwMode="auto">
            <a:xfrm>
              <a:off x="3120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9" name="Line 13"/>
            <p:cNvSpPr>
              <a:spLocks noChangeShapeType="1"/>
            </p:cNvSpPr>
            <p:nvPr/>
          </p:nvSpPr>
          <p:spPr bwMode="auto">
            <a:xfrm>
              <a:off x="3936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40" name="Text Box 14"/>
            <p:cNvSpPr txBox="1">
              <a:spLocks noChangeArrowheads="1"/>
            </p:cNvSpPr>
            <p:nvPr/>
          </p:nvSpPr>
          <p:spPr bwMode="auto">
            <a:xfrm>
              <a:off x="168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wang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1" name="Text Box 15"/>
            <p:cNvSpPr txBox="1">
              <a:spLocks noChangeArrowheads="1"/>
            </p:cNvSpPr>
            <p:nvPr/>
          </p:nvSpPr>
          <p:spPr bwMode="auto">
            <a:xfrm>
              <a:off x="240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liu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2" name="Text Box 16"/>
            <p:cNvSpPr txBox="1">
              <a:spLocks noChangeArrowheads="1"/>
            </p:cNvSpPr>
            <p:nvPr/>
          </p:nvSpPr>
          <p:spPr bwMode="auto">
            <a:xfrm>
              <a:off x="3168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zhang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3" name="Text Box 17"/>
            <p:cNvSpPr txBox="1">
              <a:spLocks noChangeArrowheads="1"/>
            </p:cNvSpPr>
            <p:nvPr/>
          </p:nvSpPr>
          <p:spPr bwMode="auto">
            <a:xfrm>
              <a:off x="408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zhao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4" name="Text Box 18"/>
            <p:cNvSpPr txBox="1">
              <a:spLocks noChangeArrowheads="1"/>
            </p:cNvSpPr>
            <p:nvPr/>
          </p:nvSpPr>
          <p:spPr bwMode="auto">
            <a:xfrm>
              <a:off x="960" y="316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a.c</a:t>
              </a:r>
            </a:p>
          </p:txBody>
        </p:sp>
        <p:sp>
          <p:nvSpPr>
            <p:cNvPr id="73745" name="Text Box 19"/>
            <p:cNvSpPr txBox="1">
              <a:spLocks noChangeArrowheads="1"/>
            </p:cNvSpPr>
            <p:nvPr/>
          </p:nvSpPr>
          <p:spPr bwMode="auto">
            <a:xfrm>
              <a:off x="960" y="3600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b.c</a:t>
              </a:r>
            </a:p>
          </p:txBody>
        </p:sp>
        <p:sp>
          <p:nvSpPr>
            <p:cNvPr id="73746" name="Text Box 20"/>
            <p:cNvSpPr txBox="1">
              <a:spLocks noChangeArrowheads="1"/>
            </p:cNvSpPr>
            <p:nvPr/>
          </p:nvSpPr>
          <p:spPr bwMode="auto">
            <a:xfrm>
              <a:off x="1008" y="3936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d.c</a:t>
              </a:r>
            </a:p>
          </p:txBody>
        </p:sp>
        <p:sp>
          <p:nvSpPr>
            <p:cNvPr id="73747" name="Text Box 21"/>
            <p:cNvSpPr txBox="1">
              <a:spLocks noChangeArrowheads="1"/>
            </p:cNvSpPr>
            <p:nvPr/>
          </p:nvSpPr>
          <p:spPr bwMode="auto">
            <a:xfrm>
              <a:off x="1680" y="316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RWE</a:t>
              </a:r>
            </a:p>
          </p:txBody>
        </p:sp>
        <p:sp>
          <p:nvSpPr>
            <p:cNvPr id="73748" name="Text Box 22"/>
            <p:cNvSpPr txBox="1">
              <a:spLocks noChangeArrowheads="1"/>
            </p:cNvSpPr>
            <p:nvPr/>
          </p:nvSpPr>
          <p:spPr bwMode="auto">
            <a:xfrm>
              <a:off x="2448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49" name="Text Box 23"/>
            <p:cNvSpPr txBox="1">
              <a:spLocks noChangeArrowheads="1"/>
            </p:cNvSpPr>
            <p:nvPr/>
          </p:nvSpPr>
          <p:spPr bwMode="auto">
            <a:xfrm>
              <a:off x="3216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0" name="Text Box 24"/>
            <p:cNvSpPr txBox="1">
              <a:spLocks noChangeArrowheads="1"/>
            </p:cNvSpPr>
            <p:nvPr/>
          </p:nvSpPr>
          <p:spPr bwMode="auto">
            <a:xfrm>
              <a:off x="4080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1" name="Text Box 25"/>
            <p:cNvSpPr txBox="1">
              <a:spLocks noChangeArrowheads="1"/>
            </p:cNvSpPr>
            <p:nvPr/>
          </p:nvSpPr>
          <p:spPr bwMode="auto">
            <a:xfrm>
              <a:off x="1680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52" name="Text Box 26"/>
            <p:cNvSpPr txBox="1">
              <a:spLocks noChangeArrowheads="1"/>
            </p:cNvSpPr>
            <p:nvPr/>
          </p:nvSpPr>
          <p:spPr bwMode="auto">
            <a:xfrm>
              <a:off x="2400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3" name="Text Box 27"/>
            <p:cNvSpPr txBox="1">
              <a:spLocks noChangeArrowheads="1"/>
            </p:cNvSpPr>
            <p:nvPr/>
          </p:nvSpPr>
          <p:spPr bwMode="auto">
            <a:xfrm>
              <a:off x="3216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54" name="Text Box 28"/>
            <p:cNvSpPr txBox="1">
              <a:spLocks noChangeArrowheads="1"/>
            </p:cNvSpPr>
            <p:nvPr/>
          </p:nvSpPr>
          <p:spPr bwMode="auto">
            <a:xfrm>
              <a:off x="4080" y="3504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RWE</a:t>
              </a:r>
            </a:p>
          </p:txBody>
        </p:sp>
        <p:sp>
          <p:nvSpPr>
            <p:cNvPr id="73755" name="Text Box 29"/>
            <p:cNvSpPr txBox="1">
              <a:spLocks noChangeArrowheads="1"/>
            </p:cNvSpPr>
            <p:nvPr/>
          </p:nvSpPr>
          <p:spPr bwMode="auto">
            <a:xfrm>
              <a:off x="1680" y="384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6" name="Text Box 30"/>
            <p:cNvSpPr txBox="1">
              <a:spLocks noChangeArrowheads="1"/>
            </p:cNvSpPr>
            <p:nvPr/>
          </p:nvSpPr>
          <p:spPr bwMode="auto">
            <a:xfrm>
              <a:off x="2448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7" name="Text Box 31"/>
            <p:cNvSpPr txBox="1">
              <a:spLocks noChangeArrowheads="1"/>
            </p:cNvSpPr>
            <p:nvPr/>
          </p:nvSpPr>
          <p:spPr bwMode="auto">
            <a:xfrm>
              <a:off x="3216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8" name="Text Box 32"/>
            <p:cNvSpPr txBox="1">
              <a:spLocks noChangeArrowheads="1"/>
            </p:cNvSpPr>
            <p:nvPr/>
          </p:nvSpPr>
          <p:spPr bwMode="auto">
            <a:xfrm>
              <a:off x="4080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73759" name="Text Box 33"/>
          <p:cNvSpPr txBox="1">
            <a:spLocks noChangeArrowheads="1"/>
          </p:cNvSpPr>
          <p:nvPr/>
        </p:nvSpPr>
        <p:spPr bwMode="auto">
          <a:xfrm>
            <a:off x="2495549" y="6136671"/>
            <a:ext cx="72009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有共享访问时查询该矩阵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42BB032-171A-A8D7-3EAC-97F45C16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文件共享还需要访问类型和权限的支持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AD9E2A3-116F-5051-976A-BBFBD5E5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73210" cy="2730802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000" dirty="0"/>
              <a:t>管理用户类型范围：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指定用户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用户组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任意用户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000" dirty="0"/>
              <a:t>访问类型和用户范围建立有机组合：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建立访问矩阵：矩阵中一维是包含的目录和文件，另一维是用户，每个元素是允许的访问方式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F75119-3B29-FFF6-41D4-95411173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26</a:t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Line 6"/>
          <p:cNvSpPr>
            <a:spLocks noChangeShapeType="1"/>
          </p:cNvSpPr>
          <p:nvPr/>
        </p:nvSpPr>
        <p:spPr bwMode="auto">
          <a:xfrm>
            <a:off x="2135212" y="2491953"/>
            <a:ext cx="73453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3" name="Rectangle 7"/>
          <p:cNvSpPr>
            <a:spLocks noChangeArrowheads="1"/>
          </p:cNvSpPr>
          <p:nvPr/>
        </p:nvSpPr>
        <p:spPr bwMode="auto">
          <a:xfrm>
            <a:off x="2855934" y="1772816"/>
            <a:ext cx="719138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4" name="Rectangle 9"/>
          <p:cNvSpPr>
            <a:spLocks noChangeArrowheads="1"/>
          </p:cNvSpPr>
          <p:nvPr/>
        </p:nvSpPr>
        <p:spPr bwMode="auto">
          <a:xfrm>
            <a:off x="4295800" y="1772816"/>
            <a:ext cx="719137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5375297" y="1844253"/>
            <a:ext cx="23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359271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MINIX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583407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EXT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5735535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Apple HFS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959671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FAT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51359" y="5156649"/>
            <a:ext cx="48245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如果文件系统各具特色，是不是每个应用程序都需要为不同的文件系统各自开发？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51359" y="5845254"/>
            <a:ext cx="48245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如果文件系统中的机制大同小异，是不是可以在多个系统间共享代码？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151359" y="2636366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 err="1">
                <a:latin typeface="Times New Roman" panose="02020603050405020304" pitchFamily="18" charset="0"/>
              </a:rPr>
              <a:t>Filesystem</a:t>
            </a:r>
            <a:r>
              <a:rPr lang="en-US" altLang="zh-CN" sz="1200" dirty="0">
                <a:latin typeface="Times New Roman" panose="02020603050405020304" pitchFamily="18" charset="0"/>
              </a:rPr>
              <a:t> API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151359" y="3129545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数据缓存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151359" y="4220542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设备缓存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4151359" y="4712732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设备驱动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A560AD5-819C-A485-F7AE-0D0C5B5E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多种文件并存的时候</a:t>
            </a:r>
            <a:r>
              <a:rPr lang="en-US" altLang="zh-CN" dirty="0"/>
              <a:t>….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1BBD6A-77F0-A77F-C608-B715214D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99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4E7670-E66D-4D3B-9301-5D9DD742A01C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3EEAABB-2590-0581-06CD-5955C8BF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虚拟文件系统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A4C80844-C8E8-FCB6-8552-6B724638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73210" cy="273080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为解决多种文件系统识别问题，提出了虚拟文件系统：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 在内存建立一个解释文件系统的抽象软件</a:t>
            </a:r>
            <a:r>
              <a:rPr lang="en-US" altLang="zh-CN" sz="2000" dirty="0"/>
              <a:t>VFS</a:t>
            </a:r>
          </a:p>
          <a:p>
            <a:pPr lvl="1" eaLnBrk="1" hangingPunct="1"/>
            <a:r>
              <a:rPr lang="en-US" altLang="zh-CN" sz="2000" dirty="0"/>
              <a:t> </a:t>
            </a:r>
            <a:r>
              <a:rPr lang="zh-CN" altLang="en-US" sz="2000" dirty="0"/>
              <a:t>用</a:t>
            </a:r>
            <a:r>
              <a:rPr lang="en-US" altLang="zh-CN" sz="2000" dirty="0"/>
              <a:t>VFS</a:t>
            </a:r>
            <a:r>
              <a:rPr lang="zh-CN" altLang="en-US" sz="2000" dirty="0"/>
              <a:t>建立物理设备与文件系统服务的接口</a:t>
            </a:r>
          </a:p>
          <a:p>
            <a:pPr lvl="1" eaLnBrk="1" hangingPunct="1"/>
            <a:r>
              <a:rPr lang="zh-CN" altLang="en-US" sz="2000" dirty="0"/>
              <a:t> </a:t>
            </a:r>
            <a:r>
              <a:rPr lang="en-US" altLang="zh-CN" sz="2000" dirty="0"/>
              <a:t>VFS</a:t>
            </a:r>
            <a:r>
              <a:rPr lang="zh-CN" altLang="en-US" sz="2000" dirty="0"/>
              <a:t>对每个文件系统细节进行抽象，使不同的文件系统在系统内部被管理进程看成相似的文件系统</a:t>
            </a:r>
          </a:p>
          <a:p>
            <a:pPr lvl="1" eaLnBrk="1" hangingPunct="1"/>
            <a:r>
              <a:rPr lang="zh-CN" altLang="en-US" sz="2000" dirty="0"/>
              <a:t> 系统启动时建立，系统关闭时消失 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FA3A5E0-8770-975E-E754-0E350501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28</a:t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9792B05-CDF6-425D-A965-65D5819E595A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3A03E29-A959-ACCB-83C0-5E8CDB8F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VFS</a:t>
            </a:r>
            <a:r>
              <a:rPr lang="zh-CN" altLang="en-US" dirty="0"/>
              <a:t>主要完成功能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记录可用文件系统类型</a:t>
            </a:r>
          </a:p>
          <a:p>
            <a:pPr lvl="1"/>
            <a:r>
              <a:rPr lang="zh-CN" altLang="en-US" dirty="0"/>
              <a:t>建立设备与文件系统的关联</a:t>
            </a:r>
          </a:p>
          <a:p>
            <a:pPr lvl="1"/>
            <a:r>
              <a:rPr lang="zh-CN" altLang="en-US" dirty="0"/>
              <a:t>实现面向文件级的通用性操作</a:t>
            </a:r>
          </a:p>
          <a:p>
            <a:pPr lvl="1"/>
            <a:r>
              <a:rPr lang="zh-CN" altLang="en-US" dirty="0"/>
              <a:t>将对特定文件系统的操作影射到物理文件系统中</a:t>
            </a:r>
          </a:p>
          <a:p>
            <a:endParaRPr lang="zh-CN" altLang="en-US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E49230A-CE2B-C558-CD42-1DE14683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</p:spPr>
        <p:txBody>
          <a:bodyPr>
            <a:normAutofit/>
          </a:bodyPr>
          <a:lstStyle/>
          <a:p>
            <a:r>
              <a:rPr lang="zh-CN" altLang="en-US" dirty="0"/>
              <a:t>虚拟文件系统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143F59-2CD9-EE15-29B4-4E974359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29</a:t>
            </a:fld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4"/>
          <p:cNvGraphicFramePr>
            <a:graphicFrameLocks noChangeAspect="1"/>
          </p:cNvGraphicFramePr>
          <p:nvPr/>
        </p:nvGraphicFramePr>
        <p:xfrm>
          <a:off x="2135188" y="2420938"/>
          <a:ext cx="7777162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r:id="rId3" imgW="5524500" imgH="3370580" progId="">
                  <p:embed/>
                </p:oleObj>
              </mc:Choice>
              <mc:Fallback>
                <p:oleObj r:id="rId3" imgW="5524500" imgH="337058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420938"/>
                        <a:ext cx="7777162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Line 6"/>
          <p:cNvSpPr>
            <a:spLocks noChangeShapeType="1"/>
          </p:cNvSpPr>
          <p:nvPr/>
        </p:nvSpPr>
        <p:spPr bwMode="auto">
          <a:xfrm>
            <a:off x="2279653" y="2276475"/>
            <a:ext cx="73453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3" name="Rectangle 7"/>
          <p:cNvSpPr>
            <a:spLocks noChangeArrowheads="1"/>
          </p:cNvSpPr>
          <p:nvPr/>
        </p:nvSpPr>
        <p:spPr bwMode="auto">
          <a:xfrm>
            <a:off x="3000375" y="1557338"/>
            <a:ext cx="719138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4" name="Rectangle 9"/>
          <p:cNvSpPr>
            <a:spLocks noChangeArrowheads="1"/>
          </p:cNvSpPr>
          <p:nvPr/>
        </p:nvSpPr>
        <p:spPr bwMode="auto">
          <a:xfrm>
            <a:off x="4440241" y="1557338"/>
            <a:ext cx="719137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5519738" y="1628775"/>
            <a:ext cx="23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78856" name="Line 11"/>
          <p:cNvSpPr>
            <a:spLocks noChangeShapeType="1"/>
          </p:cNvSpPr>
          <p:nvPr/>
        </p:nvSpPr>
        <p:spPr bwMode="auto">
          <a:xfrm>
            <a:off x="3792538" y="2565403"/>
            <a:ext cx="1223962" cy="1428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7" name="Text Box 12"/>
          <p:cNvSpPr txBox="1">
            <a:spLocks noChangeArrowheads="1"/>
          </p:cNvSpPr>
          <p:nvPr/>
        </p:nvSpPr>
        <p:spPr bwMode="auto">
          <a:xfrm>
            <a:off x="3143250" y="2492378"/>
            <a:ext cx="9350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Times New Roman" panose="02020603050405020304" pitchFamily="18" charset="0"/>
              </a:rPr>
              <a:t>POSIX</a:t>
            </a:r>
          </a:p>
        </p:txBody>
      </p:sp>
      <p:sp>
        <p:nvSpPr>
          <p:cNvPr id="7885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44079DE-5148-43F4-B969-2C626D5E20D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1476E51-B451-3E86-74E4-570D91DD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VFS</a:t>
            </a:r>
            <a:r>
              <a:rPr lang="zh-CN" altLang="en-US" dirty="0"/>
              <a:t>与实际文件系统的逻辑关系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86B10-CA8D-CE6E-7348-9CB71FB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44079DE-5148-43F4-B969-2C626D5E20D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1476E51-B451-3E86-74E4-570D91DD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openEuler</a:t>
            </a:r>
            <a:r>
              <a:rPr lang="zh-CN" altLang="en-US" dirty="0"/>
              <a:t>中的</a:t>
            </a:r>
            <a:r>
              <a:rPr lang="en-US" altLang="zh-CN" dirty="0"/>
              <a:t>VFS</a:t>
            </a:r>
            <a:r>
              <a:rPr lang="zh-CN" altLang="en-US" dirty="0"/>
              <a:t>和文件系统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86B10-CA8D-CE6E-7348-9CB71FB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31</a:t>
            </a:fld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0A48AE-288A-4950-9C98-F7BAE72B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84" y="1697809"/>
            <a:ext cx="5517232" cy="46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73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95400" y="1627990"/>
            <a:ext cx="3941421" cy="696462"/>
            <a:chOff x="844893" y="1019164"/>
            <a:chExt cx="3941421" cy="696462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目的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339132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对所有不同文件系统的抽象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5400" y="2280458"/>
            <a:ext cx="4370049" cy="702130"/>
            <a:chOff x="844893" y="1671632"/>
            <a:chExt cx="4370049" cy="702130"/>
          </a:xfrm>
        </p:grpSpPr>
        <p:sp>
          <p:nvSpPr>
            <p:cNvPr id="37" name="内容占位符 2"/>
            <p:cNvSpPr txBox="1">
              <a:spLocks/>
            </p:cNvSpPr>
            <p:nvPr/>
          </p:nvSpPr>
          <p:spPr>
            <a:xfrm>
              <a:off x="1142976" y="1671632"/>
              <a:ext cx="78581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功能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44893" y="167163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3" name="图片 4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1134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394985" y="2008640"/>
              <a:ext cx="381995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提供相同的文件和文件系统</a:t>
              </a:r>
              <a:r>
                <a:rPr lang="zh-CN" altLang="en-US" dirty="0">
                  <a:solidFill>
                    <a:srgbClr val="C00000"/>
                  </a:solidFill>
                </a:rPr>
                <a:t>接口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12925" y="2905036"/>
            <a:ext cx="5095528" cy="365122"/>
            <a:chOff x="1262422" y="2296210"/>
            <a:chExt cx="5095528" cy="365122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40098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394985" y="2296210"/>
              <a:ext cx="496296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管理所有文件和文件系统关联的</a:t>
              </a:r>
              <a:r>
                <a:rPr lang="zh-CN" altLang="en-US" dirty="0">
                  <a:solidFill>
                    <a:srgbClr val="C00000"/>
                  </a:solidFill>
                </a:rPr>
                <a:t>数据结构</a:t>
              </a:r>
              <a:endParaRPr lang="en-US" altLang="zh-CN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3236144"/>
            <a:ext cx="3595330" cy="365122"/>
            <a:chOff x="1262422" y="2627318"/>
            <a:chExt cx="3595330" cy="3651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3209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2627318"/>
              <a:ext cx="346276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高效查询</a:t>
              </a:r>
              <a:r>
                <a:rPr lang="zh-CN" altLang="en-US" dirty="0">
                  <a:solidFill>
                    <a:srgbClr val="C00000"/>
                  </a:solidFill>
                </a:rPr>
                <a:t>例程</a:t>
              </a:r>
              <a:r>
                <a:rPr lang="en-US" altLang="zh-CN" dirty="0"/>
                <a:t>, </a:t>
              </a:r>
              <a:r>
                <a:rPr lang="zh-CN" altLang="en-US" dirty="0"/>
                <a:t>遍历文件系统</a:t>
              </a:r>
              <a:endParaRPr lang="en-US" altLang="zh-CN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12925" y="3567934"/>
            <a:ext cx="3738206" cy="365122"/>
            <a:chOff x="1262422" y="2959108"/>
            <a:chExt cx="3738206" cy="365122"/>
          </a:xfrm>
        </p:grpSpPr>
        <p:pic>
          <p:nvPicPr>
            <p:cNvPr id="32" name="图片 31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06388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9" name="内容占位符 2"/>
            <p:cNvSpPr txBox="1">
              <a:spLocks/>
            </p:cNvSpPr>
            <p:nvPr/>
          </p:nvSpPr>
          <p:spPr>
            <a:xfrm>
              <a:off x="1394985" y="2959108"/>
              <a:ext cx="360564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与特定文件系统模块的</a:t>
              </a:r>
              <a:r>
                <a:rPr lang="zh-CN" altLang="en-US" dirty="0">
                  <a:solidFill>
                    <a:srgbClr val="C00000"/>
                  </a:solidFill>
                </a:rPr>
                <a:t>交互</a:t>
              </a:r>
              <a:endParaRPr lang="en-US" altLang="zh-CN" dirty="0">
                <a:solidFill>
                  <a:srgbClr val="C00000"/>
                </a:solidFill>
              </a:endParaRPr>
            </a:p>
          </p:txBody>
        </p:sp>
      </p:grpSp>
      <p:sp>
        <p:nvSpPr>
          <p:cNvPr id="11" name="标题 10">
            <a:extLst>
              <a:ext uri="{FF2B5EF4-FFF2-40B4-BE49-F238E27FC236}">
                <a16:creationId xmlns:a16="http://schemas.microsoft.com/office/drawing/2014/main" id="{24E06A85-0F8A-A3F0-7B33-CB3CFC1C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虚拟文件系统 </a:t>
            </a:r>
            <a:r>
              <a:rPr lang="en-US" altLang="zh-CN" dirty="0"/>
              <a:t>(VFS)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549E3F45-D974-38A8-AEA1-8BE5CB42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99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95400" y="1514094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1852234"/>
            <a:ext cx="4309710" cy="928694"/>
            <a:chOff x="1262422" y="1181698"/>
            <a:chExt cx="4309710" cy="928694"/>
          </a:xfrm>
        </p:grpSpPr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2864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181698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每个文件系统一个</a:t>
              </a: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5976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1492850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文件系统详细信息</a:t>
              </a:r>
            </a:p>
          </p:txBody>
        </p:sp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904016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21" name="内容占位符 2"/>
            <p:cNvSpPr txBox="1">
              <a:spLocks/>
            </p:cNvSpPr>
            <p:nvPr/>
          </p:nvSpPr>
          <p:spPr>
            <a:xfrm>
              <a:off x="1394985" y="1799240"/>
              <a:ext cx="4177147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块、块大小、空余块、计数</a:t>
              </a:r>
              <a:r>
                <a:rPr lang="en-US" altLang="zh-CN" dirty="0"/>
                <a:t>/</a:t>
              </a:r>
              <a:r>
                <a:rPr lang="zh-CN" altLang="en-US" dirty="0"/>
                <a:t>指针等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A1F5C5B1-6482-F501-E3DB-8A6AC636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9AB490-C489-2022-7FA0-12F35D2A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77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89080" y="1578442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89080" y="1978552"/>
            <a:ext cx="5727371" cy="428628"/>
            <a:chOff x="844893" y="2108804"/>
            <a:chExt cx="5727371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108804"/>
              <a:ext cx="542928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(Unix: “</a:t>
              </a:r>
              <a:r>
                <a:rPr lang="en-US" altLang="zh-CN" dirty="0" err="1"/>
                <a:t>vnode</a:t>
              </a:r>
              <a:r>
                <a:rPr lang="en-US" altLang="zh-CN" dirty="0"/>
                <a:t>” or “</a:t>
              </a:r>
              <a:r>
                <a:rPr lang="en-US" altLang="zh-CN" dirty="0" err="1">
                  <a:solidFill>
                    <a:srgbClr val="C00000"/>
                  </a:solidFill>
                </a:rPr>
                <a:t>inode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6" name="TextBox 22"/>
            <p:cNvSpPr txBox="1"/>
            <p:nvPr/>
          </p:nvSpPr>
          <p:spPr>
            <a:xfrm>
              <a:off x="844893" y="21088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6605" y="2316692"/>
            <a:ext cx="5037770" cy="928694"/>
            <a:chOff x="1262422" y="2446944"/>
            <a:chExt cx="5037770" cy="928694"/>
          </a:xfrm>
        </p:grpSpPr>
        <p:pic>
          <p:nvPicPr>
            <p:cNvPr id="22" name="图片 21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5517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3" name="内容占位符 2"/>
            <p:cNvSpPr txBox="1">
              <a:spLocks/>
            </p:cNvSpPr>
            <p:nvPr/>
          </p:nvSpPr>
          <p:spPr>
            <a:xfrm>
              <a:off x="1394985" y="2446944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每个文件一个</a:t>
              </a:r>
            </a:p>
          </p:txBody>
        </p:sp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86287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94985" y="2758096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文件详细信息</a:t>
              </a: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169262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5" y="3064486"/>
              <a:ext cx="4905207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访问权限、拥有者、大小、数据块位置等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6E3A4FB-0EC7-B855-C11B-8120CD79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E3DEA-76C6-D136-307E-FFBEE8FE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85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93912" y="1560510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3912" y="1960620"/>
            <a:ext cx="5727371" cy="428628"/>
            <a:chOff x="844893" y="2108804"/>
            <a:chExt cx="5727371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108804"/>
              <a:ext cx="542928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(Unix: “</a:t>
              </a:r>
              <a:r>
                <a:rPr lang="en-US" altLang="zh-CN" dirty="0" err="1"/>
                <a:t>vnode</a:t>
              </a:r>
              <a:r>
                <a:rPr lang="en-US" altLang="zh-CN" dirty="0"/>
                <a:t>” or “</a:t>
              </a:r>
              <a:r>
                <a:rPr lang="en-US" altLang="zh-CN" dirty="0" err="1">
                  <a:solidFill>
                    <a:srgbClr val="C00000"/>
                  </a:solidFill>
                </a:rPr>
                <a:t>inode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6" name="TextBox 22"/>
            <p:cNvSpPr txBox="1"/>
            <p:nvPr/>
          </p:nvSpPr>
          <p:spPr>
            <a:xfrm>
              <a:off x="844893" y="21088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93912" y="2384985"/>
            <a:ext cx="4084297" cy="428628"/>
            <a:chOff x="844893" y="3369288"/>
            <a:chExt cx="4084297" cy="428628"/>
          </a:xfrm>
        </p:grpSpPr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142976" y="3369288"/>
              <a:ext cx="378621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目录项</a:t>
              </a:r>
              <a:r>
                <a:rPr lang="en-US" altLang="zh-CN" dirty="0"/>
                <a:t> (Linux: “</a:t>
              </a:r>
              <a:r>
                <a:rPr lang="en-US" altLang="zh-CN" dirty="0" err="1"/>
                <a:t>dentry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31" name="TextBox 39"/>
            <p:cNvSpPr txBox="1"/>
            <p:nvPr/>
          </p:nvSpPr>
          <p:spPr>
            <a:xfrm>
              <a:off x="844893" y="336928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111437" y="2723125"/>
            <a:ext cx="6167098" cy="928694"/>
            <a:chOff x="1262422" y="3707428"/>
            <a:chExt cx="6167098" cy="928694"/>
          </a:xfrm>
        </p:grpSpPr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81220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4985" y="3707428"/>
              <a:ext cx="360564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每个目录项一个</a:t>
              </a:r>
              <a:r>
                <a:rPr lang="en-US" altLang="zh-CN" dirty="0"/>
                <a:t>(</a:t>
              </a:r>
              <a:r>
                <a:rPr lang="zh-CN" altLang="en-US" dirty="0"/>
                <a:t>目录和文件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41233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>
              <a:spLocks/>
            </p:cNvSpPr>
            <p:nvPr/>
          </p:nvSpPr>
          <p:spPr>
            <a:xfrm>
              <a:off x="1394985" y="4018580"/>
              <a:ext cx="603453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将目录项数据结构及树型布局编码成树型数据结构</a:t>
              </a:r>
            </a:p>
          </p:txBody>
        </p:sp>
        <p:pic>
          <p:nvPicPr>
            <p:cNvPr id="39" name="图片 3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4429746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40" name="内容占位符 2"/>
            <p:cNvSpPr txBox="1">
              <a:spLocks/>
            </p:cNvSpPr>
            <p:nvPr/>
          </p:nvSpPr>
          <p:spPr>
            <a:xfrm>
              <a:off x="1394985" y="4324970"/>
              <a:ext cx="4605775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指向文件控制块、父目录、子目录等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7DAE252A-498B-9658-C02A-7AC31D43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F8FB6-18E4-5BB4-8C1B-70B10C80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06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517627" y="3057041"/>
            <a:ext cx="2288181" cy="400110"/>
            <a:chOff x="363579" y="2199791"/>
            <a:chExt cx="2288181" cy="400110"/>
          </a:xfrm>
        </p:grpSpPr>
        <p:sp>
          <p:nvSpPr>
            <p:cNvPr id="45" name="TextBox 8"/>
            <p:cNvSpPr txBox="1">
              <a:spLocks noChangeArrowheads="1"/>
            </p:cNvSpPr>
            <p:nvPr/>
          </p:nvSpPr>
          <p:spPr bwMode="auto">
            <a:xfrm>
              <a:off x="363579" y="2199791"/>
              <a:ext cx="946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挂载点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94" name="直接箭头连接符 93"/>
            <p:cNvCxnSpPr/>
            <p:nvPr/>
          </p:nvCxnSpPr>
          <p:spPr>
            <a:xfrm flipV="1">
              <a:off x="1285852" y="2430780"/>
              <a:ext cx="1365908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2998941" y="1857364"/>
            <a:ext cx="4798677" cy="428628"/>
            <a:chOff x="844893" y="1000114"/>
            <a:chExt cx="4798677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45005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/>
                <a:t>文件系统需要先挂载才能被访问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06506" y="2200040"/>
            <a:ext cx="5291174" cy="428628"/>
            <a:chOff x="852462" y="1342790"/>
            <a:chExt cx="5291174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342790"/>
              <a:ext cx="500066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未挂载的文件系统被挂载在挂载点上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2462" y="134279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6" name="TextBox 4"/>
          <p:cNvSpPr txBox="1">
            <a:spLocks noChangeArrowheads="1"/>
          </p:cNvSpPr>
          <p:nvPr/>
        </p:nvSpPr>
        <p:spPr bwMode="auto">
          <a:xfrm>
            <a:off x="8629156" y="2825509"/>
            <a:ext cx="1211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未挂载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文件系统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06729" y="3216397"/>
            <a:ext cx="2831889" cy="2225690"/>
            <a:chOff x="4252681" y="2359147"/>
            <a:chExt cx="2831889" cy="2225690"/>
          </a:xfrm>
        </p:grpSpPr>
        <p:sp>
          <p:nvSpPr>
            <p:cNvPr id="48" name="等腰三角形 47"/>
            <p:cNvSpPr/>
            <p:nvPr/>
          </p:nvSpPr>
          <p:spPr>
            <a:xfrm>
              <a:off x="5593382" y="3045482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5934697" y="2931181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4" name="等腰三角形 53"/>
            <p:cNvSpPr/>
            <p:nvPr/>
          </p:nvSpPr>
          <p:spPr>
            <a:xfrm>
              <a:off x="5148879" y="3870457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330033"/>
                </a:gs>
                <a:gs pos="0">
                  <a:srgbClr val="CC66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490194" y="3756156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5" name="等腰三角形 74"/>
            <p:cNvSpPr/>
            <p:nvPr/>
          </p:nvSpPr>
          <p:spPr>
            <a:xfrm>
              <a:off x="6040002" y="3870457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6381317" y="3756156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7" name="等腰三角形 76"/>
            <p:cNvSpPr/>
            <p:nvPr/>
          </p:nvSpPr>
          <p:spPr>
            <a:xfrm>
              <a:off x="4420211" y="3045482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4761526" y="2931181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5336205" y="2359147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80" name="直接连接符 79"/>
            <p:cNvCxnSpPr>
              <a:stCxn id="79" idx="3"/>
            </p:cNvCxnSpPr>
            <p:nvPr/>
          </p:nvCxnSpPr>
          <p:spPr>
            <a:xfrm rot="5400000">
              <a:off x="4871858" y="2445380"/>
              <a:ext cx="449552" cy="520990"/>
            </a:xfrm>
            <a:prstGeom prst="line">
              <a:avLst/>
            </a:pr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5400000">
              <a:off x="5513213" y="2445380"/>
              <a:ext cx="449552" cy="520990"/>
            </a:xfrm>
            <a:prstGeom prst="line">
              <a:avLst/>
            </a:prstGeom>
            <a:ln w="38100">
              <a:solidFill>
                <a:srgbClr val="11576A"/>
              </a:solidFill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67"/>
            <p:cNvSpPr txBox="1"/>
            <p:nvPr/>
          </p:nvSpPr>
          <p:spPr>
            <a:xfrm>
              <a:off x="4252681" y="2782888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sue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9" name="TextBox 68"/>
            <p:cNvSpPr txBox="1"/>
            <p:nvPr/>
          </p:nvSpPr>
          <p:spPr>
            <a:xfrm>
              <a:off x="6072198" y="2782888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jane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0" name="TextBox 69"/>
            <p:cNvSpPr txBox="1"/>
            <p:nvPr/>
          </p:nvSpPr>
          <p:spPr>
            <a:xfrm>
              <a:off x="5593733" y="3702376"/>
              <a:ext cx="741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prog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1" name="TextBox 70"/>
            <p:cNvSpPr txBox="1"/>
            <p:nvPr/>
          </p:nvSpPr>
          <p:spPr>
            <a:xfrm>
              <a:off x="6475108" y="361284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doc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727848" y="2664233"/>
            <a:ext cx="2020736" cy="774055"/>
            <a:chOff x="1573804" y="1806979"/>
            <a:chExt cx="2020736" cy="774055"/>
          </a:xfrm>
        </p:grpSpPr>
        <p:grpSp>
          <p:nvGrpSpPr>
            <p:cNvPr id="6" name="组合 5"/>
            <p:cNvGrpSpPr/>
            <p:nvPr/>
          </p:nvGrpSpPr>
          <p:grpSpPr>
            <a:xfrm>
              <a:off x="1573804" y="1806979"/>
              <a:ext cx="2020736" cy="774055"/>
              <a:chOff x="1573804" y="1806979"/>
              <a:chExt cx="2020736" cy="774055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2073870" y="1806979"/>
                <a:ext cx="142876" cy="142876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2" name="直接连接符 91"/>
              <p:cNvCxnSpPr>
                <a:stCxn id="91" idx="3"/>
              </p:cNvCxnSpPr>
              <p:nvPr/>
            </p:nvCxnSpPr>
            <p:spPr>
              <a:xfrm rot="5400000">
                <a:off x="1609523" y="1893212"/>
                <a:ext cx="449552" cy="520990"/>
              </a:xfrm>
              <a:prstGeom prst="line">
                <a:avLst/>
              </a:prstGeom>
              <a:ln w="3810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rot="5400000">
                <a:off x="2250878" y="1893212"/>
                <a:ext cx="449552" cy="520990"/>
              </a:xfrm>
              <a:prstGeom prst="line">
                <a:avLst/>
              </a:prstGeom>
              <a:ln w="38100">
                <a:solidFill>
                  <a:srgbClr val="11576A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64"/>
              <p:cNvSpPr txBox="1"/>
              <p:nvPr/>
            </p:nvSpPr>
            <p:spPr>
              <a:xfrm>
                <a:off x="2799386" y="2211702"/>
                <a:ext cx="795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users</a:t>
                </a:r>
                <a:endParaRPr lang="zh-CN" altLang="en-US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4" name="椭圆 33"/>
            <p:cNvSpPr/>
            <p:nvPr/>
          </p:nvSpPr>
          <p:spPr>
            <a:xfrm>
              <a:off x="2669225" y="2344869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13" name="标题 12">
            <a:extLst>
              <a:ext uri="{FF2B5EF4-FFF2-40B4-BE49-F238E27FC236}">
                <a16:creationId xmlns:a16="http://schemas.microsoft.com/office/drawing/2014/main" id="{2005751D-A321-B61F-84EF-01760045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文件系统挂载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BF5E206B-1C93-5A08-E31D-34CB4C73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715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13 0.00255 L -0.2211 -0.000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61" y="-18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2005751D-A321-B61F-84EF-01760045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文件系统挂载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BF5E206B-1C93-5A08-E31D-34CB4C73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37</a:t>
            </a:fld>
            <a:endParaRPr lang="zh-CN" altLang="en-US" dirty="0"/>
          </a:p>
        </p:txBody>
      </p:sp>
      <p:pic>
        <p:nvPicPr>
          <p:cNvPr id="4098" name="Picture 2" descr="https://msreekan.com/wp-content/uploads/2015/04/kernelstoragepipeline.jpg">
            <a:extLst>
              <a:ext uri="{FF2B5EF4-FFF2-40B4-BE49-F238E27FC236}">
                <a16:creationId xmlns:a16="http://schemas.microsoft.com/office/drawing/2014/main" id="{E3814CD7-2C21-4BF5-923A-86E7BE83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1154575"/>
            <a:ext cx="6630882" cy="508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175164-E2E8-41B3-BEE9-826B8A4D3C3F}"/>
              </a:ext>
            </a:extLst>
          </p:cNvPr>
          <p:cNvSpPr/>
          <p:nvPr/>
        </p:nvSpPr>
        <p:spPr>
          <a:xfrm>
            <a:off x="479376" y="6590234"/>
            <a:ext cx="8784976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https://msreekan.com/2015/04/24/linux-storage-cache/</a:t>
            </a:r>
          </a:p>
        </p:txBody>
      </p:sp>
    </p:spTree>
    <p:extLst>
      <p:ext uri="{BB962C8B-B14F-4D97-AF65-F5344CB8AC3E}">
        <p14:creationId xmlns:p14="http://schemas.microsoft.com/office/powerpoint/2010/main" val="492223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95400" y="1552258"/>
            <a:ext cx="6727503" cy="428628"/>
            <a:chOff x="844893" y="742258"/>
            <a:chExt cx="67275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42258"/>
              <a:ext cx="64294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名字解析</a:t>
              </a:r>
              <a:r>
                <a:rPr lang="en-US" altLang="zh-CN" dirty="0"/>
                <a:t>: </a:t>
              </a:r>
              <a:r>
                <a:rPr lang="zh-CN" altLang="en-US" dirty="0"/>
                <a:t>把逻辑名字转换成物理资源（如文件）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422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063987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112925" y="1890398"/>
            <a:ext cx="7630058" cy="358322"/>
            <a:chOff x="1262422" y="1080398"/>
            <a:chExt cx="7630058" cy="358322"/>
          </a:xfrm>
        </p:grpSpPr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1851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080398"/>
              <a:ext cx="749749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依据路径名，在文件系统中找到实际文件位置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2218560"/>
            <a:ext cx="4166834" cy="358322"/>
            <a:chOff x="1262422" y="1408560"/>
            <a:chExt cx="4166834" cy="358322"/>
          </a:xfrm>
        </p:grpSpPr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51333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4985" y="1408560"/>
              <a:ext cx="403427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遍历文件目录直到找到目标文件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95400" y="2532208"/>
            <a:ext cx="3155603" cy="428628"/>
            <a:chOff x="844893" y="1722208"/>
            <a:chExt cx="3155603" cy="428628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1722208"/>
              <a:ext cx="28575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举例</a:t>
              </a:r>
              <a:r>
                <a:rPr lang="en-US" altLang="zh-CN" dirty="0"/>
                <a:t>: </a:t>
              </a:r>
              <a:r>
                <a:rPr lang="zh-CN" altLang="en-US" dirty="0"/>
                <a:t>解析</a:t>
              </a:r>
              <a:r>
                <a:rPr lang="en-US" altLang="zh-CN" dirty="0"/>
                <a:t>“/bin/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17222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12925" y="2869216"/>
            <a:ext cx="4809776" cy="365122"/>
            <a:chOff x="1262422" y="2059216"/>
            <a:chExt cx="4809776" cy="365122"/>
          </a:xfrm>
        </p:grpSpPr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16399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2059216"/>
              <a:ext cx="467721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读取根目录的文件头</a:t>
              </a:r>
              <a:r>
                <a:rPr lang="en-US" altLang="zh-CN" dirty="0"/>
                <a:t> (</a:t>
              </a:r>
              <a:r>
                <a:rPr lang="zh-CN" altLang="en-US" dirty="0"/>
                <a:t>在磁盘固定位置）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12925" y="3194119"/>
            <a:ext cx="5181786" cy="365122"/>
            <a:chOff x="1262422" y="2363345"/>
            <a:chExt cx="5181786" cy="365122"/>
          </a:xfrm>
        </p:grpSpPr>
        <p:pic>
          <p:nvPicPr>
            <p:cNvPr id="50" name="图片 49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46812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1394985" y="2363345"/>
              <a:ext cx="504922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读取根目录的数据块</a:t>
              </a:r>
              <a:r>
                <a:rPr lang="zh-CN" altLang="zh-CN" dirty="0"/>
                <a:t>，</a:t>
              </a:r>
              <a:r>
                <a:rPr lang="zh-CN" altLang="en-US" dirty="0"/>
                <a:t>搜索</a:t>
              </a:r>
              <a:r>
                <a:rPr lang="en-US" altLang="zh-CN" dirty="0"/>
                <a:t>“bin”</a:t>
              </a:r>
              <a:r>
                <a:rPr lang="zh-CN" altLang="en-US" dirty="0"/>
                <a:t>项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112925" y="3472012"/>
            <a:ext cx="2595198" cy="365122"/>
            <a:chOff x="1262422" y="2683780"/>
            <a:chExt cx="2595198" cy="365122"/>
          </a:xfrm>
        </p:grpSpPr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7885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>
              <a:spLocks/>
            </p:cNvSpPr>
            <p:nvPr/>
          </p:nvSpPr>
          <p:spPr>
            <a:xfrm>
              <a:off x="1394985" y="2683780"/>
              <a:ext cx="246263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/>
                <a:t>bin</a:t>
              </a:r>
              <a:r>
                <a:rPr lang="zh-CN" altLang="en-US" dirty="0"/>
                <a:t>的文件头</a:t>
              </a:r>
              <a:endParaRPr lang="en-US" altLang="zh-CN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12925" y="3797909"/>
            <a:ext cx="4166834" cy="365122"/>
            <a:chOff x="1262422" y="2987909"/>
            <a:chExt cx="4166834" cy="365122"/>
          </a:xfrm>
        </p:grpSpPr>
        <p:pic>
          <p:nvPicPr>
            <p:cNvPr id="43" name="图片 4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09268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394985" y="2987909"/>
              <a:ext cx="4034271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/>
                <a:t>bin</a:t>
              </a:r>
              <a:r>
                <a:rPr lang="zh-CN" altLang="en-US" dirty="0"/>
                <a:t>的数据块</a:t>
              </a:r>
              <a:r>
                <a:rPr lang="en-US" altLang="zh-CN" dirty="0"/>
                <a:t>; </a:t>
              </a:r>
              <a:r>
                <a:rPr lang="zh-CN" altLang="en-US" dirty="0"/>
                <a:t>搜索</a:t>
              </a:r>
              <a:r>
                <a:rPr lang="en-US" altLang="zh-CN" dirty="0"/>
                <a:t>“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  <a:r>
                <a:rPr lang="zh-CN" altLang="en-US" dirty="0"/>
                <a:t>顶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112925" y="4104976"/>
            <a:ext cx="2595198" cy="365122"/>
            <a:chOff x="1262422" y="3294976"/>
            <a:chExt cx="2595198" cy="365122"/>
          </a:xfrm>
        </p:grpSpPr>
        <p:pic>
          <p:nvPicPr>
            <p:cNvPr id="45" name="图片 4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39975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1394985" y="3294976"/>
              <a:ext cx="246263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 err="1"/>
                <a:t>ls</a:t>
              </a:r>
              <a:r>
                <a:rPr lang="zh-CN" altLang="en-US" dirty="0"/>
                <a:t>的文件头</a:t>
              </a:r>
              <a:endParaRPr lang="en-US" altLang="zh-CN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95400" y="4438806"/>
            <a:ext cx="3012727" cy="428628"/>
            <a:chOff x="844893" y="3628806"/>
            <a:chExt cx="3012727" cy="428628"/>
          </a:xfrm>
        </p:grpSpPr>
        <p:sp>
          <p:nvSpPr>
            <p:cNvPr id="47" name="内容占位符 2"/>
            <p:cNvSpPr txBox="1">
              <a:spLocks/>
            </p:cNvSpPr>
            <p:nvPr/>
          </p:nvSpPr>
          <p:spPr>
            <a:xfrm>
              <a:off x="1142976" y="3628806"/>
              <a:ext cx="271464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当前工作目录</a:t>
              </a:r>
              <a:r>
                <a:rPr lang="en-US" altLang="zh-CN" dirty="0"/>
                <a:t> (PWD)</a:t>
              </a:r>
              <a:endParaRPr lang="zh-CN" alt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44893" y="362880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12925" y="4776946"/>
            <a:ext cx="5809908" cy="358322"/>
            <a:chOff x="1262422" y="3966946"/>
            <a:chExt cx="5809908" cy="358322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07172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394985" y="3966946"/>
              <a:ext cx="567734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每个进程都会指向一个文件目录用于解析文件名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12925" y="5105108"/>
            <a:ext cx="5595594" cy="571486"/>
            <a:chOff x="1262422" y="4295108"/>
            <a:chExt cx="5595594" cy="571486"/>
          </a:xfrm>
        </p:grpSpPr>
        <p:pic>
          <p:nvPicPr>
            <p:cNvPr id="53" name="图片 5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39988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4" name="内容占位符 2"/>
            <p:cNvSpPr txBox="1">
              <a:spLocks/>
            </p:cNvSpPr>
            <p:nvPr/>
          </p:nvSpPr>
          <p:spPr>
            <a:xfrm>
              <a:off x="1394985" y="4295108"/>
              <a:ext cx="5463031" cy="57148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允许用户指定相对路径来代替绝对路径</a:t>
              </a:r>
              <a:endParaRPr lang="en-US" altLang="zh-CN" dirty="0"/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如，用</a:t>
              </a:r>
              <a:r>
                <a:rPr lang="en-US" altLang="zh-CN" dirty="0"/>
                <a:t> PWD=“/bin” </a:t>
              </a:r>
              <a:r>
                <a:rPr lang="zh-CN" altLang="en-US" dirty="0"/>
                <a:t>能够解析</a:t>
              </a:r>
              <a:r>
                <a:rPr lang="en-US" altLang="zh-CN" dirty="0"/>
                <a:t> “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  <a:endParaRPr lang="zh-CN" altLang="en-US" dirty="0"/>
            </a:p>
          </p:txBody>
        </p:sp>
      </p:grpSp>
      <p:sp>
        <p:nvSpPr>
          <p:cNvPr id="19" name="标题 18">
            <a:extLst>
              <a:ext uri="{FF2B5EF4-FFF2-40B4-BE49-F238E27FC236}">
                <a16:creationId xmlns:a16="http://schemas.microsoft.com/office/drawing/2014/main" id="{812ED99F-76D1-3F1F-9741-5AC0B022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VFS</a:t>
            </a:r>
            <a:r>
              <a:rPr lang="zh-CN" altLang="en-US" dirty="0"/>
              <a:t>功能举例：名字解析（路径遍历）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CAF31B9C-11BF-8C76-582F-95F20570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38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73487-D809-4F57-8309-07F2AACAAD08}"/>
              </a:ext>
            </a:extLst>
          </p:cNvPr>
          <p:cNvSpPr txBox="1"/>
          <p:nvPr/>
        </p:nvSpPr>
        <p:spPr>
          <a:xfrm>
            <a:off x="6708519" y="2280839"/>
            <a:ext cx="524822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反向思考 ：如何证明一个路径</a:t>
            </a:r>
            <a:r>
              <a:rPr lang="en-US" altLang="zh-CN" dirty="0"/>
              <a:t>(</a:t>
            </a:r>
            <a:r>
              <a:rPr lang="zh-CN" altLang="en-US" dirty="0"/>
              <a:t>文件</a:t>
            </a:r>
            <a:r>
              <a:rPr lang="en-US" altLang="zh-CN" dirty="0"/>
              <a:t>)</a:t>
            </a:r>
            <a:r>
              <a:rPr lang="zh-CN" altLang="en-US" dirty="0"/>
              <a:t>无法解析？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0E70CF0-4BD9-48A4-9B68-704DD5D9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168" y="2586860"/>
            <a:ext cx="5014922" cy="2246474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E45D798A-D8E2-4839-8F73-6073ED92FA81}"/>
              </a:ext>
            </a:extLst>
          </p:cNvPr>
          <p:cNvSpPr txBox="1"/>
          <p:nvPr/>
        </p:nvSpPr>
        <p:spPr>
          <a:xfrm>
            <a:off x="6757351" y="4956107"/>
            <a:ext cx="5248221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设计细节：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负缓存，要存多少项呢？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负缓存怎么跟文件操作同步？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负缓存什么时候失效？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https://www.geeksforgeeks.org/negative-caching-system-design/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2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560" y="2376671"/>
            <a:ext cx="7777162" cy="187248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C0FF34-2795-84EB-080D-34199E63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55824"/>
            <a:ext cx="2844800" cy="304800"/>
          </a:xfrm>
        </p:spPr>
        <p:txBody>
          <a:bodyPr/>
          <a:lstStyle/>
          <a:p>
            <a:pPr algn="r">
              <a:buNone/>
            </a:pPr>
            <a:fld id="{23E5303B-8A3A-477A-93B0-1543526987BB}" type="slidenum">
              <a:rPr lang="en-US" altLang="ko-KR" smtClean="0">
                <a:solidFill>
                  <a:schemeClr val="bg1"/>
                </a:solidFill>
              </a:rPr>
              <a:pPr algn="r">
                <a:buNone/>
              </a:pPr>
              <a:t>39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2412</Words>
  <Application>Microsoft Office PowerPoint</Application>
  <PresentationFormat>宽屏</PresentationFormat>
  <Paragraphs>408</Paragraphs>
  <Slides>39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굴림</vt:lpstr>
      <vt:lpstr>MS PGothic</vt:lpstr>
      <vt:lpstr>等线</vt:lpstr>
      <vt:lpstr>黑体</vt:lpstr>
      <vt:lpstr>华文琥珀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Courier New</vt:lpstr>
      <vt:lpstr>Times New Roman</vt:lpstr>
      <vt:lpstr>Verdana</vt:lpstr>
      <vt:lpstr>Wingdings</vt:lpstr>
      <vt:lpstr>psh3_Print</vt:lpstr>
      <vt:lpstr>1_psh3_Print</vt:lpstr>
      <vt:lpstr>章节6：文件管理</vt:lpstr>
      <vt:lpstr>文件系统的性能思考</vt:lpstr>
      <vt:lpstr>示例：elf文件格式</vt:lpstr>
      <vt:lpstr>示例：elf文件格式</vt:lpstr>
      <vt:lpstr>示例：elf文件格式</vt:lpstr>
      <vt:lpstr>可执行程序的加载过程: mmap</vt:lpstr>
      <vt:lpstr>如何避免这一份重复的copy?</vt:lpstr>
      <vt:lpstr>mmap系统调用函数原型</vt:lpstr>
      <vt:lpstr>利用mmap加载数据</vt:lpstr>
      <vt:lpstr>mmap为什么可以省下空间？</vt:lpstr>
      <vt:lpstr>缺页异常（缺页中断）的处理流程</vt:lpstr>
      <vt:lpstr>Description of Media File format</vt:lpstr>
      <vt:lpstr>Logical structure of database file</vt:lpstr>
      <vt:lpstr>关于文件性能的思考</vt:lpstr>
      <vt:lpstr>文件系统的一些特殊问题</vt:lpstr>
      <vt:lpstr>Disk space management</vt:lpstr>
      <vt:lpstr>Disk space allocation</vt:lpstr>
      <vt:lpstr>Empty disk blocks management</vt:lpstr>
      <vt:lpstr>b)文件系统的一致性检查</vt:lpstr>
      <vt:lpstr>５．共享文件管理实现</vt:lpstr>
      <vt:lpstr>文件别名</vt:lpstr>
      <vt:lpstr>用链接实现文件共享控制（i节点方式）</vt:lpstr>
      <vt:lpstr>采用符号链接可较好解决问题</vt:lpstr>
      <vt:lpstr>文件目录中的循环</vt:lpstr>
      <vt:lpstr>文件共享还需要访问类型和权限的支持</vt:lpstr>
      <vt:lpstr>文件共享还需要访问类型和权限的支持</vt:lpstr>
      <vt:lpstr>多种文件并存的时候….</vt:lpstr>
      <vt:lpstr>虚拟文件系统</vt:lpstr>
      <vt:lpstr>虚拟文件系统</vt:lpstr>
      <vt:lpstr>VFS与实际文件系统的逻辑关系</vt:lpstr>
      <vt:lpstr>openEuler中的VFS和文件系统</vt:lpstr>
      <vt:lpstr>虚拟文件系统 (VFS)</vt:lpstr>
      <vt:lpstr>文件系统基本数据结构</vt:lpstr>
      <vt:lpstr>文件系统基本数据结构</vt:lpstr>
      <vt:lpstr>文件系统基本数据结构</vt:lpstr>
      <vt:lpstr>文件系统挂载</vt:lpstr>
      <vt:lpstr>文件系统挂载</vt:lpstr>
      <vt:lpstr>VFS功能举例：名字解析（路径遍历）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2023-12-04T10:22:36Z</dcterms:created>
  <dcterms:modified xsi:type="dcterms:W3CDTF">2025-11-18T06:55:17Z</dcterms:modified>
</cp:coreProperties>
</file>