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0"/>
  </p:notesMasterIdLst>
  <p:sldIdLst>
    <p:sldId id="354" r:id="rId2"/>
    <p:sldId id="357" r:id="rId3"/>
    <p:sldId id="358" r:id="rId4"/>
    <p:sldId id="352" r:id="rId5"/>
    <p:sldId id="350" r:id="rId6"/>
    <p:sldId id="259" r:id="rId7"/>
    <p:sldId id="356" r:id="rId8"/>
    <p:sldId id="355" r:id="rId9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72A699-AE6E-465A-8D89-7549532534F6}" v="80" dt="2026-03-13T03:14:25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79"/>
  </p:normalViewPr>
  <p:slideViewPr>
    <p:cSldViewPr snapToGrid="0">
      <p:cViewPr varScale="1">
        <p:scale>
          <a:sx n="51" d="100"/>
          <a:sy n="51" d="100"/>
        </p:scale>
        <p:origin x="1017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 zhang" userId="71435f637f6fd63d" providerId="LiveId" clId="{5080AB5A-332D-4CE2-8E77-88CCDE8A32A0}"/>
    <pc:docChg chg="undo custSel addSld delSld modSld">
      <pc:chgData name="xu zhang" userId="71435f637f6fd63d" providerId="LiveId" clId="{5080AB5A-332D-4CE2-8E77-88CCDE8A32A0}" dt="2026-03-13T03:25:23.437" v="664" actId="20577"/>
      <pc:docMkLst>
        <pc:docMk/>
      </pc:docMkLst>
      <pc:sldChg chg="modSp mod">
        <pc:chgData name="xu zhang" userId="71435f637f6fd63d" providerId="LiveId" clId="{5080AB5A-332D-4CE2-8E77-88CCDE8A32A0}" dt="2026-03-13T03:25:23.437" v="664" actId="20577"/>
        <pc:sldMkLst>
          <pc:docMk/>
          <pc:sldMk cId="0" sldId="259"/>
        </pc:sldMkLst>
        <pc:spChg chg="mod">
          <ac:chgData name="xu zhang" userId="71435f637f6fd63d" providerId="LiveId" clId="{5080AB5A-332D-4CE2-8E77-88CCDE8A32A0}" dt="2026-03-13T03:25:23.437" v="664" actId="20577"/>
          <ac:spMkLst>
            <pc:docMk/>
            <pc:sldMk cId="0" sldId="259"/>
            <ac:spMk id="2" creationId="{00000000-0000-0000-0000-000000000000}"/>
          </ac:spMkLst>
        </pc:spChg>
      </pc:sldChg>
      <pc:sldChg chg="addSp delSp modSp mod">
        <pc:chgData name="xu zhang" userId="71435f637f6fd63d" providerId="LiveId" clId="{5080AB5A-332D-4CE2-8E77-88CCDE8A32A0}" dt="2026-03-08T06:07:07.476" v="163" actId="1076"/>
        <pc:sldMkLst>
          <pc:docMk/>
          <pc:sldMk cId="3162562234" sldId="352"/>
        </pc:sldMkLst>
        <pc:spChg chg="add mod">
          <ac:chgData name="xu zhang" userId="71435f637f6fd63d" providerId="LiveId" clId="{5080AB5A-332D-4CE2-8E77-88CCDE8A32A0}" dt="2026-03-08T06:02:34.454" v="94" actId="115"/>
          <ac:spMkLst>
            <pc:docMk/>
            <pc:sldMk cId="3162562234" sldId="352"/>
            <ac:spMk id="5" creationId="{FE59B443-A456-ADA3-66F3-7249C8C774C3}"/>
          </ac:spMkLst>
        </pc:spChg>
        <pc:spChg chg="add mod">
          <ac:chgData name="xu zhang" userId="71435f637f6fd63d" providerId="LiveId" clId="{5080AB5A-332D-4CE2-8E77-88CCDE8A32A0}" dt="2026-03-08T06:07:04.247" v="161" actId="1076"/>
          <ac:spMkLst>
            <pc:docMk/>
            <pc:sldMk cId="3162562234" sldId="352"/>
            <ac:spMk id="6" creationId="{9FBF1A79-8E79-23A0-74F1-054E234E802B}"/>
          </ac:spMkLst>
        </pc:spChg>
        <pc:picChg chg="add mod">
          <ac:chgData name="xu zhang" userId="71435f637f6fd63d" providerId="LiveId" clId="{5080AB5A-332D-4CE2-8E77-88CCDE8A32A0}" dt="2026-03-08T06:07:07.476" v="163" actId="1076"/>
          <ac:picMkLst>
            <pc:docMk/>
            <pc:sldMk cId="3162562234" sldId="352"/>
            <ac:picMk id="8" creationId="{648BACBA-E17E-40E1-217D-313F0E76E1F2}"/>
          </ac:picMkLst>
        </pc:picChg>
        <pc:picChg chg="add mod">
          <ac:chgData name="xu zhang" userId="71435f637f6fd63d" providerId="LiveId" clId="{5080AB5A-332D-4CE2-8E77-88CCDE8A32A0}" dt="2026-03-08T06:07:05.599" v="162" actId="1076"/>
          <ac:picMkLst>
            <pc:docMk/>
            <pc:sldMk cId="3162562234" sldId="352"/>
            <ac:picMk id="1026" creationId="{1A67649E-D1A6-91DF-96D2-557BC6612591}"/>
          </ac:picMkLst>
        </pc:picChg>
      </pc:sldChg>
      <pc:sldChg chg="modSp mod">
        <pc:chgData name="xu zhang" userId="71435f637f6fd63d" providerId="LiveId" clId="{5080AB5A-332D-4CE2-8E77-88CCDE8A32A0}" dt="2026-03-13T02:19:50.236" v="556" actId="20577"/>
        <pc:sldMkLst>
          <pc:docMk/>
          <pc:sldMk cId="2748060893" sldId="354"/>
        </pc:sldMkLst>
        <pc:spChg chg="mod">
          <ac:chgData name="xu zhang" userId="71435f637f6fd63d" providerId="LiveId" clId="{5080AB5A-332D-4CE2-8E77-88CCDE8A32A0}" dt="2026-03-13T02:19:50.236" v="556" actId="20577"/>
          <ac:spMkLst>
            <pc:docMk/>
            <pc:sldMk cId="2748060893" sldId="354"/>
            <ac:spMk id="3" creationId="{7B4F6A1A-E37F-5453-0580-C2E5F3F7B1AE}"/>
          </ac:spMkLst>
        </pc:spChg>
      </pc:sldChg>
      <pc:sldChg chg="modSp mod">
        <pc:chgData name="xu zhang" userId="71435f637f6fd63d" providerId="LiveId" clId="{5080AB5A-332D-4CE2-8E77-88CCDE8A32A0}" dt="2026-03-13T02:19:45.236" v="552" actId="20577"/>
        <pc:sldMkLst>
          <pc:docMk/>
          <pc:sldMk cId="4112297495" sldId="355"/>
        </pc:sldMkLst>
        <pc:spChg chg="mod">
          <ac:chgData name="xu zhang" userId="71435f637f6fd63d" providerId="LiveId" clId="{5080AB5A-332D-4CE2-8E77-88CCDE8A32A0}" dt="2026-03-13T02:19:45.236" v="552" actId="20577"/>
          <ac:spMkLst>
            <pc:docMk/>
            <pc:sldMk cId="4112297495" sldId="355"/>
            <ac:spMk id="3" creationId="{BAEAB7C3-4D10-BDFC-A1D1-497EEDB9355A}"/>
          </ac:spMkLst>
        </pc:spChg>
      </pc:sldChg>
      <pc:sldChg chg="modSp add mod">
        <pc:chgData name="xu zhang" userId="71435f637f6fd63d" providerId="LiveId" clId="{5080AB5A-332D-4CE2-8E77-88CCDE8A32A0}" dt="2026-03-13T02:54:55.010" v="609"/>
        <pc:sldMkLst>
          <pc:docMk/>
          <pc:sldMk cId="4030475168" sldId="357"/>
        </pc:sldMkLst>
        <pc:spChg chg="mod">
          <ac:chgData name="xu zhang" userId="71435f637f6fd63d" providerId="LiveId" clId="{5080AB5A-332D-4CE2-8E77-88CCDE8A32A0}" dt="2026-03-13T02:54:55.010" v="609"/>
          <ac:spMkLst>
            <pc:docMk/>
            <pc:sldMk cId="4030475168" sldId="357"/>
            <ac:spMk id="2" creationId="{F02F45BC-6F4F-6511-ABC0-ADF233F8F205}"/>
          </ac:spMkLst>
        </pc:spChg>
      </pc:sldChg>
      <pc:sldChg chg="modSp add mod">
        <pc:chgData name="xu zhang" userId="71435f637f6fd63d" providerId="LiveId" clId="{5080AB5A-332D-4CE2-8E77-88CCDE8A32A0}" dt="2026-03-13T03:21:48.625" v="661" actId="1076"/>
        <pc:sldMkLst>
          <pc:docMk/>
          <pc:sldMk cId="2680226596" sldId="358"/>
        </pc:sldMkLst>
        <pc:spChg chg="mod">
          <ac:chgData name="xu zhang" userId="71435f637f6fd63d" providerId="LiveId" clId="{5080AB5A-332D-4CE2-8E77-88CCDE8A32A0}" dt="2026-03-13T03:21:48.625" v="661" actId="1076"/>
          <ac:spMkLst>
            <pc:docMk/>
            <pc:sldMk cId="2680226596" sldId="358"/>
            <ac:spMk id="2" creationId="{88FBA805-C753-2C19-62E0-66DF848D789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82B2A-20E8-4CCF-8219-0022322B4E9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C42CA-8358-4247-8870-0B0EF32AEC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69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ISO9126</a:t>
            </a:r>
            <a:r>
              <a:rPr lang="zh-CN" altLang="en-US" dirty="0"/>
              <a:t>模型，是一个专门评价软件质量的模型，它定义了软件的六个质量属性，即功能性。。。每一个属性又细分成一些列子属性。下面我们简单解释一下每个质量属性的含义。这里概念性比较多，希望大家能够理解其中的含义，并在今后的开发过程中，能够开始考虑这些质量因素，知道自己所开发的软件还可以往怎样一个更好的方向去改进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08F8E-A66F-462A-B457-A69A741C093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59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44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020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2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23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045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362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51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305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13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401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7M4m127Wp?spm_id_from=333.788.videopod.sections&amp;vd_source=589fa79eeca734be6f988f2bf535a5c4" TargetMode="External"/><Relationship Id="rId2" Type="http://schemas.openxmlformats.org/officeDocument/2006/relationships/hyperlink" Target="https://www.bilibili.com/video/BV1Dy411b7Bk/?spm_id_from=333.337.search-card.all.click&amp;vd_source=589fa79eeca734be6f988f2bf535a5c4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7B4F6A1A-E37F-5453-0580-C2E5F3F7B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45" y="3126341"/>
            <a:ext cx="10515600" cy="1767417"/>
          </a:xfrm>
        </p:spPr>
        <p:txBody>
          <a:bodyPr>
            <a:noAutofit/>
          </a:bodyPr>
          <a:lstStyle/>
          <a:p>
            <a:pPr algn="ctr"/>
            <a:r>
              <a:rPr lang="zh-CN" altLang="en-US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  <a:t>软件工程第一次作业</a:t>
            </a:r>
            <a:br>
              <a:rPr lang="en-US" altLang="zh-CN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</a:br>
            <a:r>
              <a:rPr lang="en-US" altLang="zh-CN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  <a:t>--</a:t>
            </a:r>
            <a:r>
              <a:rPr lang="zh-CN" altLang="en-US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  <a:t>软件调研</a:t>
            </a:r>
            <a:br>
              <a:rPr lang="en-US" altLang="zh-CN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</a:br>
            <a:br>
              <a:rPr lang="en-US" altLang="zh-CN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</a:br>
            <a:r>
              <a:rPr lang="zh-CN" altLang="en-US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截至日期：</a:t>
            </a:r>
            <a: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3</a:t>
            </a:r>
            <a:r>
              <a:rPr lang="zh-CN" altLang="en-US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月</a:t>
            </a:r>
            <a: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30</a:t>
            </a:r>
            <a:r>
              <a:rPr lang="zh-CN" altLang="en-US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日晚上</a:t>
            </a:r>
            <a: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24</a:t>
            </a:r>
            <a:r>
              <a:rPr lang="zh-CN" altLang="en-US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点</a:t>
            </a:r>
            <a:b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</a:br>
            <a:b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</a:br>
            <a:r>
              <a:rPr lang="zh-CN" altLang="en-US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/>
                <a:ea typeface="等线 Light" panose="02010600030101010101" pitchFamily="2" charset="-122"/>
              </a:rPr>
              <a:t>分数：</a:t>
            </a:r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/>
                <a:ea typeface="等线 Light" panose="02010600030101010101" pitchFamily="2" charset="-122"/>
              </a:rPr>
              <a:t>5</a:t>
            </a:r>
            <a:endParaRPr lang="zh-CN" altLang="en-US" sz="5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06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145A0-4EAF-BC22-5C8F-58D511C3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02F45BC-6F4F-6511-ABC0-ADF233F8F20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41909" y="2237572"/>
            <a:ext cx="10908182" cy="438422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defTabSz="713105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题目：</a:t>
            </a:r>
          </a:p>
          <a:p>
            <a:pPr defTabSz="713105" latinLnBrk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智慧城市生成系统的开发正处于快速发展阶段，随着生成式人工智能技术的不断进步，程序化内容生成（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PCG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）技术在智慧城市三维场景建模、空间要素自动化生成、城市场景定制化拓展等领域的应用价值与技术成熟度大幅提升，成为智慧城市生成系统开发的核心底层技术。这类系统以插件化架构为核心设计思路，依托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PCG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技术实现城市场景的程序化建模与生成，基于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Blender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等主流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3D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创作平台完成插件化落地与实际应用，系统面向平台运维、插件开发、行业定制、终端建模等不同角色，提供高效、标准化的智慧城市场景生成与插件开发体验。为了深入了解当前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PCG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技术在智慧城市生成领域的应用现状，调研至少两个依托于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Blender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的城市生成插件（例如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Icity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City Generator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），重点围绕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PCG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技术的算法实现、功能落地、插件化设计等维度展开调研分析，同时根据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ISO9126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质量模型，对所调研的插件产品进行对比，撰写一份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软件评估报告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并对两个插件做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详细分析对比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。同时查阅两篇大模型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Agent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PCG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技术结合的场景生成（不限城市）相关论文进行研究总结，书写一份针对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两篇论文的总结报告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047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6BACC-EE25-5E83-8CCF-DE7EA3BB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8FBA805-C753-2C19-62E0-66DF848D789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3671" y="509047"/>
            <a:ext cx="11737500" cy="760743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defTabSz="713105"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Reference Paper List</a:t>
            </a:r>
          </a:p>
          <a:p>
            <a:pPr defTabSz="713105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[1] Zhang,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Shougao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et al. "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Cityx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Controllable procedural content generation for unbounded 3d cities."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arXiv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preprint arXiv:2407.17572 (2024).</a:t>
            </a:r>
          </a:p>
          <a:p>
            <a:pPr defTabSz="713105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[2] Zhou, Mengqi, et al. "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Scenex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Procedural controllable large-scale scene generation." Proceedings of the AAAI Conference on Artificial Intelligence. Vol. 39. No. 10. 2025.</a:t>
            </a:r>
          </a:p>
          <a:p>
            <a:pPr defTabSz="713105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[3] Shang, Yu, et al. "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Urbanworld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An urban world model for 3d city generation."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arXiv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preprint arXiv:2407.11965 (2024).</a:t>
            </a:r>
          </a:p>
          <a:p>
            <a:pPr defTabSz="713105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[4]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SongTang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SongTang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et al. "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UnrealLLM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Towards Highly Controllable and Interactable 3D Scene Generation by LLM-powered Procedural Content Generation." Findings of the Association for Computational Linguistics: ACL 2025. 2025.</a:t>
            </a:r>
          </a:p>
          <a:p>
            <a:pPr defTabSz="713105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[5] Zhang, Yi, et al. "Code2Worlds: Empowering Coding LLMs for 4D World Generation."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arXiv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preprint arXiv:2602.11757 (2026).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0226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hlinkClick r:id="rId2"/>
            <a:extLst>
              <a:ext uri="{FF2B5EF4-FFF2-40B4-BE49-F238E27FC236}">
                <a16:creationId xmlns:a16="http://schemas.microsoft.com/office/drawing/2014/main" id="{FE59B443-A456-ADA3-66F3-7249C8C774C3}"/>
              </a:ext>
            </a:extLst>
          </p:cNvPr>
          <p:cNvSpPr txBox="1"/>
          <p:nvPr/>
        </p:nvSpPr>
        <p:spPr>
          <a:xfrm>
            <a:off x="475488" y="402336"/>
            <a:ext cx="2535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u="sng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Icity</a:t>
            </a:r>
            <a:r>
              <a:rPr lang="zh-CN" altLang="en-US" sz="2400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插件讲解</a:t>
            </a:r>
          </a:p>
        </p:txBody>
      </p:sp>
      <p:sp>
        <p:nvSpPr>
          <p:cNvPr id="6" name="文本框 5">
            <a:hlinkClick r:id="rId2"/>
            <a:extLst>
              <a:ext uri="{FF2B5EF4-FFF2-40B4-BE49-F238E27FC236}">
                <a16:creationId xmlns:a16="http://schemas.microsoft.com/office/drawing/2014/main" id="{9FBF1A79-8E79-23A0-74F1-054E234E802B}"/>
              </a:ext>
            </a:extLst>
          </p:cNvPr>
          <p:cNvSpPr txBox="1"/>
          <p:nvPr/>
        </p:nvSpPr>
        <p:spPr>
          <a:xfrm>
            <a:off x="3255264" y="402335"/>
            <a:ext cx="3730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City Generator</a:t>
            </a:r>
            <a:r>
              <a:rPr lang="zh-CN" altLang="en-US" sz="2400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讲解</a:t>
            </a:r>
            <a:endParaRPr lang="zh-CN" altLang="en-US" sz="2400" u="sng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67649E-D1A6-91DF-96D2-557BC6612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16" y="1234586"/>
            <a:ext cx="8339328" cy="417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8BACBA-E17E-40E1-217D-313F0E76E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4227689"/>
            <a:ext cx="9058656" cy="451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62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ISO9126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质量模型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AB8B-5816-41F2-8B4B-CA5C3E4E6A65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181411" y="2636963"/>
            <a:ext cx="9628361" cy="4733125"/>
            <a:chOff x="1181410" y="1493962"/>
            <a:chExt cx="9628361" cy="4733125"/>
          </a:xfrm>
        </p:grpSpPr>
        <p:sp>
          <p:nvSpPr>
            <p:cNvPr id="5" name="object 3"/>
            <p:cNvSpPr/>
            <p:nvPr/>
          </p:nvSpPr>
          <p:spPr>
            <a:xfrm>
              <a:off x="9973821" y="3012783"/>
              <a:ext cx="0" cy="283210"/>
            </a:xfrm>
            <a:custGeom>
              <a:avLst/>
              <a:gdLst/>
              <a:ahLst/>
              <a:cxnLst/>
              <a:rect l="l" t="t" r="r" b="b"/>
              <a:pathLst>
                <a:path h="283210">
                  <a:moveTo>
                    <a:pt x="0" y="0"/>
                  </a:moveTo>
                  <a:lnTo>
                    <a:pt x="0" y="282864"/>
                  </a:lnTo>
                </a:path>
              </a:pathLst>
            </a:custGeom>
            <a:ln w="12699">
              <a:solidFill>
                <a:srgbClr val="639EC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object 4"/>
            <p:cNvSpPr/>
            <p:nvPr/>
          </p:nvSpPr>
          <p:spPr>
            <a:xfrm>
              <a:off x="6014855" y="2078778"/>
              <a:ext cx="3959225" cy="359410"/>
            </a:xfrm>
            <a:custGeom>
              <a:avLst/>
              <a:gdLst/>
              <a:ahLst/>
              <a:cxnLst/>
              <a:rect l="l" t="t" r="r" b="b"/>
              <a:pathLst>
                <a:path w="3959225" h="359410">
                  <a:moveTo>
                    <a:pt x="0" y="0"/>
                  </a:moveTo>
                  <a:lnTo>
                    <a:pt x="0" y="275480"/>
                  </a:lnTo>
                  <a:lnTo>
                    <a:pt x="3958965" y="275480"/>
                  </a:lnTo>
                  <a:lnTo>
                    <a:pt x="3958965" y="359319"/>
                  </a:lnTo>
                </a:path>
              </a:pathLst>
            </a:custGeom>
            <a:ln w="12699">
              <a:solidFill>
                <a:srgbClr val="578EB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object 5"/>
            <p:cNvSpPr/>
            <p:nvPr/>
          </p:nvSpPr>
          <p:spPr>
            <a:xfrm>
              <a:off x="8358557" y="3012783"/>
              <a:ext cx="0" cy="263525"/>
            </a:xfrm>
            <a:custGeom>
              <a:avLst/>
              <a:gdLst/>
              <a:ahLst/>
              <a:cxnLst/>
              <a:rect l="l" t="t" r="r" b="b"/>
              <a:pathLst>
                <a:path h="263525">
                  <a:moveTo>
                    <a:pt x="0" y="0"/>
                  </a:moveTo>
                  <a:lnTo>
                    <a:pt x="0" y="263207"/>
                  </a:lnTo>
                </a:path>
              </a:pathLst>
            </a:custGeom>
            <a:ln w="12699">
              <a:solidFill>
                <a:srgbClr val="639EC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bject 6"/>
            <p:cNvSpPr/>
            <p:nvPr/>
          </p:nvSpPr>
          <p:spPr>
            <a:xfrm>
              <a:off x="6014855" y="2078778"/>
              <a:ext cx="2343785" cy="359410"/>
            </a:xfrm>
            <a:custGeom>
              <a:avLst/>
              <a:gdLst/>
              <a:ahLst/>
              <a:cxnLst/>
              <a:rect l="l" t="t" r="r" b="b"/>
              <a:pathLst>
                <a:path w="2343784" h="359410">
                  <a:moveTo>
                    <a:pt x="0" y="0"/>
                  </a:moveTo>
                  <a:lnTo>
                    <a:pt x="0" y="275480"/>
                  </a:lnTo>
                  <a:lnTo>
                    <a:pt x="2343701" y="275480"/>
                  </a:lnTo>
                  <a:lnTo>
                    <a:pt x="2343701" y="359319"/>
                  </a:lnTo>
                </a:path>
              </a:pathLst>
            </a:custGeom>
            <a:ln w="12699">
              <a:solidFill>
                <a:srgbClr val="578EB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object 7"/>
            <p:cNvSpPr/>
            <p:nvPr/>
          </p:nvSpPr>
          <p:spPr>
            <a:xfrm>
              <a:off x="6748587" y="3012783"/>
              <a:ext cx="0" cy="263525"/>
            </a:xfrm>
            <a:custGeom>
              <a:avLst/>
              <a:gdLst/>
              <a:ahLst/>
              <a:cxnLst/>
              <a:rect l="l" t="t" r="r" b="b"/>
              <a:pathLst>
                <a:path h="263525">
                  <a:moveTo>
                    <a:pt x="0" y="0"/>
                  </a:moveTo>
                  <a:lnTo>
                    <a:pt x="0" y="263207"/>
                  </a:lnTo>
                </a:path>
              </a:pathLst>
            </a:custGeom>
            <a:ln w="12699">
              <a:solidFill>
                <a:srgbClr val="639EC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object 8"/>
            <p:cNvSpPr/>
            <p:nvPr/>
          </p:nvSpPr>
          <p:spPr>
            <a:xfrm>
              <a:off x="6014855" y="2078778"/>
              <a:ext cx="734060" cy="359410"/>
            </a:xfrm>
            <a:custGeom>
              <a:avLst/>
              <a:gdLst/>
              <a:ahLst/>
              <a:cxnLst/>
              <a:rect l="l" t="t" r="r" b="b"/>
              <a:pathLst>
                <a:path w="734059" h="359410">
                  <a:moveTo>
                    <a:pt x="0" y="0"/>
                  </a:moveTo>
                  <a:lnTo>
                    <a:pt x="0" y="275480"/>
                  </a:lnTo>
                  <a:lnTo>
                    <a:pt x="733731" y="275480"/>
                  </a:lnTo>
                  <a:lnTo>
                    <a:pt x="733731" y="359319"/>
                  </a:lnTo>
                </a:path>
              </a:pathLst>
            </a:custGeom>
            <a:ln w="12699">
              <a:solidFill>
                <a:srgbClr val="578EB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object 9"/>
            <p:cNvSpPr/>
            <p:nvPr/>
          </p:nvSpPr>
          <p:spPr>
            <a:xfrm>
              <a:off x="5118640" y="3012783"/>
              <a:ext cx="0" cy="263525"/>
            </a:xfrm>
            <a:custGeom>
              <a:avLst/>
              <a:gdLst/>
              <a:ahLst/>
              <a:cxnLst/>
              <a:rect l="l" t="t" r="r" b="b"/>
              <a:pathLst>
                <a:path h="263525">
                  <a:moveTo>
                    <a:pt x="0" y="0"/>
                  </a:moveTo>
                  <a:lnTo>
                    <a:pt x="0" y="263207"/>
                  </a:lnTo>
                </a:path>
              </a:pathLst>
            </a:custGeom>
            <a:ln w="12699">
              <a:solidFill>
                <a:srgbClr val="639EC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object 10"/>
            <p:cNvSpPr/>
            <p:nvPr/>
          </p:nvSpPr>
          <p:spPr>
            <a:xfrm>
              <a:off x="5118640" y="2078778"/>
              <a:ext cx="896619" cy="359410"/>
            </a:xfrm>
            <a:custGeom>
              <a:avLst/>
              <a:gdLst/>
              <a:ahLst/>
              <a:cxnLst/>
              <a:rect l="l" t="t" r="r" b="b"/>
              <a:pathLst>
                <a:path w="896620" h="359410">
                  <a:moveTo>
                    <a:pt x="896213" y="0"/>
                  </a:moveTo>
                  <a:lnTo>
                    <a:pt x="896213" y="275480"/>
                  </a:lnTo>
                  <a:lnTo>
                    <a:pt x="0" y="275480"/>
                  </a:lnTo>
                  <a:lnTo>
                    <a:pt x="0" y="359319"/>
                  </a:lnTo>
                </a:path>
              </a:pathLst>
            </a:custGeom>
            <a:ln w="12699">
              <a:solidFill>
                <a:srgbClr val="578EB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object 11"/>
            <p:cNvSpPr/>
            <p:nvPr/>
          </p:nvSpPr>
          <p:spPr>
            <a:xfrm>
              <a:off x="3509607" y="3012783"/>
              <a:ext cx="0" cy="263525"/>
            </a:xfrm>
            <a:custGeom>
              <a:avLst/>
              <a:gdLst/>
              <a:ahLst/>
              <a:cxnLst/>
              <a:rect l="l" t="t" r="r" b="b"/>
              <a:pathLst>
                <a:path h="263525">
                  <a:moveTo>
                    <a:pt x="0" y="0"/>
                  </a:moveTo>
                  <a:lnTo>
                    <a:pt x="0" y="263207"/>
                  </a:lnTo>
                </a:path>
              </a:pathLst>
            </a:custGeom>
            <a:ln w="12699">
              <a:solidFill>
                <a:srgbClr val="639EC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object 12"/>
            <p:cNvSpPr/>
            <p:nvPr/>
          </p:nvSpPr>
          <p:spPr>
            <a:xfrm>
              <a:off x="3509607" y="2078778"/>
              <a:ext cx="2505710" cy="359410"/>
            </a:xfrm>
            <a:custGeom>
              <a:avLst/>
              <a:gdLst/>
              <a:ahLst/>
              <a:cxnLst/>
              <a:rect l="l" t="t" r="r" b="b"/>
              <a:pathLst>
                <a:path w="2505710" h="359410">
                  <a:moveTo>
                    <a:pt x="2505246" y="0"/>
                  </a:moveTo>
                  <a:lnTo>
                    <a:pt x="2505246" y="275480"/>
                  </a:lnTo>
                  <a:lnTo>
                    <a:pt x="0" y="275480"/>
                  </a:lnTo>
                  <a:lnTo>
                    <a:pt x="0" y="359319"/>
                  </a:lnTo>
                </a:path>
              </a:pathLst>
            </a:custGeom>
            <a:ln w="12699">
              <a:solidFill>
                <a:srgbClr val="578EB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object 13"/>
            <p:cNvSpPr/>
            <p:nvPr/>
          </p:nvSpPr>
          <p:spPr>
            <a:xfrm>
              <a:off x="1895186" y="3012783"/>
              <a:ext cx="0" cy="263525"/>
            </a:xfrm>
            <a:custGeom>
              <a:avLst/>
              <a:gdLst/>
              <a:ahLst/>
              <a:cxnLst/>
              <a:rect l="l" t="t" r="r" b="b"/>
              <a:pathLst>
                <a:path h="263525">
                  <a:moveTo>
                    <a:pt x="0" y="0"/>
                  </a:moveTo>
                  <a:lnTo>
                    <a:pt x="0" y="263207"/>
                  </a:lnTo>
                </a:path>
              </a:pathLst>
            </a:custGeom>
            <a:ln w="12699">
              <a:solidFill>
                <a:srgbClr val="639EC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object 14"/>
            <p:cNvSpPr/>
            <p:nvPr/>
          </p:nvSpPr>
          <p:spPr>
            <a:xfrm>
              <a:off x="1895186" y="2078778"/>
              <a:ext cx="4119879" cy="359410"/>
            </a:xfrm>
            <a:custGeom>
              <a:avLst/>
              <a:gdLst/>
              <a:ahLst/>
              <a:cxnLst/>
              <a:rect l="l" t="t" r="r" b="b"/>
              <a:pathLst>
                <a:path w="4119879" h="359410">
                  <a:moveTo>
                    <a:pt x="4119668" y="0"/>
                  </a:moveTo>
                  <a:lnTo>
                    <a:pt x="4119668" y="275480"/>
                  </a:lnTo>
                  <a:lnTo>
                    <a:pt x="0" y="275480"/>
                  </a:lnTo>
                  <a:lnTo>
                    <a:pt x="0" y="359319"/>
                  </a:lnTo>
                </a:path>
              </a:pathLst>
            </a:custGeom>
            <a:ln w="12699">
              <a:solidFill>
                <a:srgbClr val="578EB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object 15"/>
            <p:cNvSpPr/>
            <p:nvPr/>
          </p:nvSpPr>
          <p:spPr>
            <a:xfrm>
              <a:off x="4651973" y="1493962"/>
              <a:ext cx="2726574" cy="59435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object 16"/>
            <p:cNvSpPr/>
            <p:nvPr/>
          </p:nvSpPr>
          <p:spPr>
            <a:xfrm>
              <a:off x="4762664" y="1599623"/>
              <a:ext cx="2705735" cy="575310"/>
            </a:xfrm>
            <a:custGeom>
              <a:avLst/>
              <a:gdLst/>
              <a:ahLst/>
              <a:cxnLst/>
              <a:rect l="l" t="t" r="r" b="b"/>
              <a:pathLst>
                <a:path w="2705734" h="575310">
                  <a:moveTo>
                    <a:pt x="2648028" y="0"/>
                  </a:moveTo>
                  <a:lnTo>
                    <a:pt x="57467" y="0"/>
                  </a:lnTo>
                  <a:lnTo>
                    <a:pt x="35098" y="4516"/>
                  </a:lnTo>
                  <a:lnTo>
                    <a:pt x="16831" y="16831"/>
                  </a:lnTo>
                  <a:lnTo>
                    <a:pt x="4516" y="35098"/>
                  </a:lnTo>
                  <a:lnTo>
                    <a:pt x="0" y="57467"/>
                  </a:lnTo>
                  <a:lnTo>
                    <a:pt x="0" y="517216"/>
                  </a:lnTo>
                  <a:lnTo>
                    <a:pt x="4516" y="539584"/>
                  </a:lnTo>
                  <a:lnTo>
                    <a:pt x="16831" y="557851"/>
                  </a:lnTo>
                  <a:lnTo>
                    <a:pt x="35098" y="570167"/>
                  </a:lnTo>
                  <a:lnTo>
                    <a:pt x="57467" y="574683"/>
                  </a:lnTo>
                  <a:lnTo>
                    <a:pt x="2648028" y="574683"/>
                  </a:lnTo>
                  <a:lnTo>
                    <a:pt x="2670397" y="570167"/>
                  </a:lnTo>
                  <a:lnTo>
                    <a:pt x="2688664" y="557851"/>
                  </a:lnTo>
                  <a:lnTo>
                    <a:pt x="2700980" y="539584"/>
                  </a:lnTo>
                  <a:lnTo>
                    <a:pt x="2705496" y="517216"/>
                  </a:lnTo>
                  <a:lnTo>
                    <a:pt x="2705496" y="57467"/>
                  </a:lnTo>
                  <a:lnTo>
                    <a:pt x="2700980" y="35098"/>
                  </a:lnTo>
                  <a:lnTo>
                    <a:pt x="2688664" y="16831"/>
                  </a:lnTo>
                  <a:lnTo>
                    <a:pt x="2670397" y="4516"/>
                  </a:lnTo>
                  <a:lnTo>
                    <a:pt x="2648028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object 17"/>
            <p:cNvSpPr/>
            <p:nvPr/>
          </p:nvSpPr>
          <p:spPr>
            <a:xfrm>
              <a:off x="4762664" y="1599624"/>
              <a:ext cx="2705735" cy="575310"/>
            </a:xfrm>
            <a:custGeom>
              <a:avLst/>
              <a:gdLst/>
              <a:ahLst/>
              <a:cxnLst/>
              <a:rect l="l" t="t" r="r" b="b"/>
              <a:pathLst>
                <a:path w="2705734" h="575310">
                  <a:moveTo>
                    <a:pt x="0" y="57467"/>
                  </a:moveTo>
                  <a:lnTo>
                    <a:pt x="4516" y="35098"/>
                  </a:lnTo>
                  <a:lnTo>
                    <a:pt x="16832" y="16832"/>
                  </a:lnTo>
                  <a:lnTo>
                    <a:pt x="35098" y="4516"/>
                  </a:lnTo>
                  <a:lnTo>
                    <a:pt x="57467" y="0"/>
                  </a:lnTo>
                  <a:lnTo>
                    <a:pt x="2648028" y="0"/>
                  </a:lnTo>
                  <a:lnTo>
                    <a:pt x="2670397" y="4516"/>
                  </a:lnTo>
                  <a:lnTo>
                    <a:pt x="2688664" y="16832"/>
                  </a:lnTo>
                  <a:lnTo>
                    <a:pt x="2700980" y="35098"/>
                  </a:lnTo>
                  <a:lnTo>
                    <a:pt x="2705496" y="57467"/>
                  </a:lnTo>
                  <a:lnTo>
                    <a:pt x="2705496" y="517216"/>
                  </a:lnTo>
                  <a:lnTo>
                    <a:pt x="2700980" y="539584"/>
                  </a:lnTo>
                  <a:lnTo>
                    <a:pt x="2688664" y="557851"/>
                  </a:lnTo>
                  <a:lnTo>
                    <a:pt x="2670397" y="570167"/>
                  </a:lnTo>
                  <a:lnTo>
                    <a:pt x="2648028" y="574683"/>
                  </a:lnTo>
                  <a:lnTo>
                    <a:pt x="57467" y="574683"/>
                  </a:lnTo>
                  <a:lnTo>
                    <a:pt x="35098" y="570167"/>
                  </a:lnTo>
                  <a:lnTo>
                    <a:pt x="16832" y="557851"/>
                  </a:lnTo>
                  <a:lnTo>
                    <a:pt x="4516" y="539584"/>
                  </a:lnTo>
                  <a:lnTo>
                    <a:pt x="0" y="517216"/>
                  </a:lnTo>
                  <a:lnTo>
                    <a:pt x="0" y="57467"/>
                  </a:lnTo>
                  <a:close/>
                </a:path>
              </a:pathLst>
            </a:custGeom>
            <a:ln w="6349">
              <a:solidFill>
                <a:srgbClr val="6CACD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object 18"/>
            <p:cNvSpPr txBox="1"/>
            <p:nvPr/>
          </p:nvSpPr>
          <p:spPr>
            <a:xfrm>
              <a:off x="5305787" y="1725675"/>
              <a:ext cx="16256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外部和内部质量</a:t>
              </a:r>
              <a:endPara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1" name="object 19"/>
            <p:cNvSpPr/>
            <p:nvPr/>
          </p:nvSpPr>
          <p:spPr>
            <a:xfrm>
              <a:off x="1181410" y="2429143"/>
              <a:ext cx="1429788" cy="59435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object 20"/>
            <p:cNvSpPr/>
            <p:nvPr/>
          </p:nvSpPr>
          <p:spPr>
            <a:xfrm>
              <a:off x="1291491" y="2533628"/>
              <a:ext cx="1409065" cy="575310"/>
            </a:xfrm>
            <a:custGeom>
              <a:avLst/>
              <a:gdLst/>
              <a:ahLst/>
              <a:cxnLst/>
              <a:rect l="l" t="t" r="r" b="b"/>
              <a:pathLst>
                <a:path w="1409064" h="575310">
                  <a:moveTo>
                    <a:pt x="1351033" y="0"/>
                  </a:moveTo>
                  <a:lnTo>
                    <a:pt x="57468" y="0"/>
                  </a:lnTo>
                  <a:lnTo>
                    <a:pt x="35099" y="4516"/>
                  </a:lnTo>
                  <a:lnTo>
                    <a:pt x="16831" y="16831"/>
                  </a:lnTo>
                  <a:lnTo>
                    <a:pt x="4516" y="35098"/>
                  </a:lnTo>
                  <a:lnTo>
                    <a:pt x="0" y="57467"/>
                  </a:lnTo>
                  <a:lnTo>
                    <a:pt x="0" y="517216"/>
                  </a:lnTo>
                  <a:lnTo>
                    <a:pt x="4516" y="539584"/>
                  </a:lnTo>
                  <a:lnTo>
                    <a:pt x="16831" y="557851"/>
                  </a:lnTo>
                  <a:lnTo>
                    <a:pt x="35099" y="570167"/>
                  </a:lnTo>
                  <a:lnTo>
                    <a:pt x="57468" y="574683"/>
                  </a:lnTo>
                  <a:lnTo>
                    <a:pt x="1351033" y="574683"/>
                  </a:lnTo>
                  <a:lnTo>
                    <a:pt x="1373402" y="570167"/>
                  </a:lnTo>
                  <a:lnTo>
                    <a:pt x="1391669" y="557851"/>
                  </a:lnTo>
                  <a:lnTo>
                    <a:pt x="1403986" y="539584"/>
                  </a:lnTo>
                  <a:lnTo>
                    <a:pt x="1408502" y="517216"/>
                  </a:lnTo>
                  <a:lnTo>
                    <a:pt x="1408502" y="57467"/>
                  </a:lnTo>
                  <a:lnTo>
                    <a:pt x="1403986" y="35098"/>
                  </a:lnTo>
                  <a:lnTo>
                    <a:pt x="1391669" y="16831"/>
                  </a:lnTo>
                  <a:lnTo>
                    <a:pt x="1373402" y="4516"/>
                  </a:lnTo>
                  <a:lnTo>
                    <a:pt x="1351033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object 21"/>
            <p:cNvSpPr/>
            <p:nvPr/>
          </p:nvSpPr>
          <p:spPr>
            <a:xfrm>
              <a:off x="1291491" y="2533628"/>
              <a:ext cx="1409065" cy="575310"/>
            </a:xfrm>
            <a:custGeom>
              <a:avLst/>
              <a:gdLst/>
              <a:ahLst/>
              <a:cxnLst/>
              <a:rect l="l" t="t" r="r" b="b"/>
              <a:pathLst>
                <a:path w="1409064" h="575310">
                  <a:moveTo>
                    <a:pt x="0" y="57467"/>
                  </a:moveTo>
                  <a:lnTo>
                    <a:pt x="4516" y="35098"/>
                  </a:lnTo>
                  <a:lnTo>
                    <a:pt x="16832" y="16832"/>
                  </a:lnTo>
                  <a:lnTo>
                    <a:pt x="35098" y="4516"/>
                  </a:lnTo>
                  <a:lnTo>
                    <a:pt x="57467" y="0"/>
                  </a:lnTo>
                  <a:lnTo>
                    <a:pt x="1351033" y="0"/>
                  </a:lnTo>
                  <a:lnTo>
                    <a:pt x="1373402" y="4516"/>
                  </a:lnTo>
                  <a:lnTo>
                    <a:pt x="1391669" y="16832"/>
                  </a:lnTo>
                  <a:lnTo>
                    <a:pt x="1403985" y="35098"/>
                  </a:lnTo>
                  <a:lnTo>
                    <a:pt x="1408501" y="57467"/>
                  </a:lnTo>
                  <a:lnTo>
                    <a:pt x="1408501" y="517216"/>
                  </a:lnTo>
                  <a:lnTo>
                    <a:pt x="1403985" y="539585"/>
                  </a:lnTo>
                  <a:lnTo>
                    <a:pt x="1391669" y="557851"/>
                  </a:lnTo>
                  <a:lnTo>
                    <a:pt x="1373402" y="570167"/>
                  </a:lnTo>
                  <a:lnTo>
                    <a:pt x="1351033" y="574683"/>
                  </a:lnTo>
                  <a:lnTo>
                    <a:pt x="57467" y="574683"/>
                  </a:lnTo>
                  <a:lnTo>
                    <a:pt x="35098" y="570167"/>
                  </a:lnTo>
                  <a:lnTo>
                    <a:pt x="16832" y="557851"/>
                  </a:lnTo>
                  <a:lnTo>
                    <a:pt x="4516" y="539585"/>
                  </a:lnTo>
                  <a:lnTo>
                    <a:pt x="0" y="517216"/>
                  </a:lnTo>
                  <a:lnTo>
                    <a:pt x="0" y="57467"/>
                  </a:lnTo>
                  <a:close/>
                </a:path>
              </a:pathLst>
            </a:custGeom>
            <a:ln w="6349">
              <a:solidFill>
                <a:srgbClr val="6CACD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object 22"/>
            <p:cNvSpPr txBox="1"/>
            <p:nvPr/>
          </p:nvSpPr>
          <p:spPr>
            <a:xfrm>
              <a:off x="1643318" y="2659680"/>
              <a:ext cx="7112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功能性</a:t>
              </a:r>
              <a:endPara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object 23"/>
            <p:cNvSpPr/>
            <p:nvPr/>
          </p:nvSpPr>
          <p:spPr>
            <a:xfrm>
              <a:off x="1181410" y="3264573"/>
              <a:ext cx="1429788" cy="28762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object 24"/>
            <p:cNvSpPr/>
            <p:nvPr/>
          </p:nvSpPr>
          <p:spPr>
            <a:xfrm>
              <a:off x="1291491" y="3371521"/>
              <a:ext cx="1409065" cy="2854960"/>
            </a:xfrm>
            <a:custGeom>
              <a:avLst/>
              <a:gdLst/>
              <a:ahLst/>
              <a:cxnLst/>
              <a:rect l="l" t="t" r="r" b="b"/>
              <a:pathLst>
                <a:path w="1409064" h="2854960">
                  <a:moveTo>
                    <a:pt x="1267651" y="0"/>
                  </a:moveTo>
                  <a:lnTo>
                    <a:pt x="140850" y="0"/>
                  </a:lnTo>
                  <a:lnTo>
                    <a:pt x="96330" y="7180"/>
                  </a:lnTo>
                  <a:lnTo>
                    <a:pt x="57665" y="27175"/>
                  </a:lnTo>
                  <a:lnTo>
                    <a:pt x="27175" y="57665"/>
                  </a:lnTo>
                  <a:lnTo>
                    <a:pt x="7180" y="96330"/>
                  </a:lnTo>
                  <a:lnTo>
                    <a:pt x="0" y="140850"/>
                  </a:lnTo>
                  <a:lnTo>
                    <a:pt x="0" y="2713912"/>
                  </a:lnTo>
                  <a:lnTo>
                    <a:pt x="7180" y="2758432"/>
                  </a:lnTo>
                  <a:lnTo>
                    <a:pt x="27175" y="2797096"/>
                  </a:lnTo>
                  <a:lnTo>
                    <a:pt x="57665" y="2827586"/>
                  </a:lnTo>
                  <a:lnTo>
                    <a:pt x="96330" y="2847582"/>
                  </a:lnTo>
                  <a:lnTo>
                    <a:pt x="140850" y="2854762"/>
                  </a:lnTo>
                  <a:lnTo>
                    <a:pt x="1267651" y="2854762"/>
                  </a:lnTo>
                  <a:lnTo>
                    <a:pt x="1312171" y="2847582"/>
                  </a:lnTo>
                  <a:lnTo>
                    <a:pt x="1350835" y="2827586"/>
                  </a:lnTo>
                  <a:lnTo>
                    <a:pt x="1381326" y="2797096"/>
                  </a:lnTo>
                  <a:lnTo>
                    <a:pt x="1401321" y="2758432"/>
                  </a:lnTo>
                  <a:lnTo>
                    <a:pt x="1408502" y="2713912"/>
                  </a:lnTo>
                  <a:lnTo>
                    <a:pt x="1408502" y="140850"/>
                  </a:lnTo>
                  <a:lnTo>
                    <a:pt x="1401321" y="96330"/>
                  </a:lnTo>
                  <a:lnTo>
                    <a:pt x="1381326" y="57665"/>
                  </a:lnTo>
                  <a:lnTo>
                    <a:pt x="1350835" y="27175"/>
                  </a:lnTo>
                  <a:lnTo>
                    <a:pt x="1312171" y="7180"/>
                  </a:lnTo>
                  <a:lnTo>
                    <a:pt x="1267651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object 25"/>
            <p:cNvSpPr/>
            <p:nvPr/>
          </p:nvSpPr>
          <p:spPr>
            <a:xfrm>
              <a:off x="1291491" y="3371521"/>
              <a:ext cx="1409065" cy="2854960"/>
            </a:xfrm>
            <a:custGeom>
              <a:avLst/>
              <a:gdLst/>
              <a:ahLst/>
              <a:cxnLst/>
              <a:rect l="l" t="t" r="r" b="b"/>
              <a:pathLst>
                <a:path w="1409064" h="2854960">
                  <a:moveTo>
                    <a:pt x="0" y="140849"/>
                  </a:moveTo>
                  <a:lnTo>
                    <a:pt x="7180" y="96330"/>
                  </a:lnTo>
                  <a:lnTo>
                    <a:pt x="27175" y="57665"/>
                  </a:lnTo>
                  <a:lnTo>
                    <a:pt x="57665" y="27175"/>
                  </a:lnTo>
                  <a:lnTo>
                    <a:pt x="96330" y="7180"/>
                  </a:lnTo>
                  <a:lnTo>
                    <a:pt x="140849" y="0"/>
                  </a:lnTo>
                  <a:lnTo>
                    <a:pt x="1267651" y="0"/>
                  </a:lnTo>
                  <a:lnTo>
                    <a:pt x="1312171" y="7180"/>
                  </a:lnTo>
                  <a:lnTo>
                    <a:pt x="1350835" y="27175"/>
                  </a:lnTo>
                  <a:lnTo>
                    <a:pt x="1381325" y="57665"/>
                  </a:lnTo>
                  <a:lnTo>
                    <a:pt x="1401321" y="96330"/>
                  </a:lnTo>
                  <a:lnTo>
                    <a:pt x="1408501" y="140849"/>
                  </a:lnTo>
                  <a:lnTo>
                    <a:pt x="1408501" y="2713912"/>
                  </a:lnTo>
                  <a:lnTo>
                    <a:pt x="1401321" y="2758431"/>
                  </a:lnTo>
                  <a:lnTo>
                    <a:pt x="1381325" y="2797096"/>
                  </a:lnTo>
                  <a:lnTo>
                    <a:pt x="1350835" y="2827586"/>
                  </a:lnTo>
                  <a:lnTo>
                    <a:pt x="1312171" y="2847581"/>
                  </a:lnTo>
                  <a:lnTo>
                    <a:pt x="1267651" y="2854762"/>
                  </a:lnTo>
                  <a:lnTo>
                    <a:pt x="140849" y="2854762"/>
                  </a:lnTo>
                  <a:lnTo>
                    <a:pt x="96330" y="2847581"/>
                  </a:lnTo>
                  <a:lnTo>
                    <a:pt x="57665" y="2827586"/>
                  </a:lnTo>
                  <a:lnTo>
                    <a:pt x="27175" y="2797096"/>
                  </a:lnTo>
                  <a:lnTo>
                    <a:pt x="7180" y="2758431"/>
                  </a:lnTo>
                  <a:lnTo>
                    <a:pt x="0" y="2713912"/>
                  </a:lnTo>
                  <a:lnTo>
                    <a:pt x="0" y="140849"/>
                  </a:lnTo>
                  <a:close/>
                </a:path>
              </a:pathLst>
            </a:custGeom>
            <a:ln w="6349">
              <a:solidFill>
                <a:srgbClr val="6CACD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bject 26"/>
            <p:cNvSpPr txBox="1"/>
            <p:nvPr/>
          </p:nvSpPr>
          <p:spPr>
            <a:xfrm>
              <a:off x="1529018" y="4054682"/>
              <a:ext cx="939800" cy="13970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25000"/>
                </a:lnSpc>
                <a:spcBef>
                  <a:spcPts val="10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适合性 准确性 互操作性 安全性</a:t>
              </a:r>
            </a:p>
          </p:txBody>
        </p:sp>
        <p:sp>
          <p:nvSpPr>
            <p:cNvPr id="29" name="object 27"/>
            <p:cNvSpPr/>
            <p:nvPr/>
          </p:nvSpPr>
          <p:spPr>
            <a:xfrm>
              <a:off x="2789924" y="2429143"/>
              <a:ext cx="1438101" cy="5943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object 28"/>
            <p:cNvSpPr/>
            <p:nvPr/>
          </p:nvSpPr>
          <p:spPr>
            <a:xfrm>
              <a:off x="2901108" y="2533628"/>
              <a:ext cx="1418590" cy="575310"/>
            </a:xfrm>
            <a:custGeom>
              <a:avLst/>
              <a:gdLst/>
              <a:ahLst/>
              <a:cxnLst/>
              <a:rect l="l" t="t" r="r" b="b"/>
              <a:pathLst>
                <a:path w="1418589" h="575310">
                  <a:moveTo>
                    <a:pt x="1360644" y="0"/>
                  </a:moveTo>
                  <a:lnTo>
                    <a:pt x="57467" y="0"/>
                  </a:lnTo>
                  <a:lnTo>
                    <a:pt x="35098" y="4516"/>
                  </a:lnTo>
                  <a:lnTo>
                    <a:pt x="16831" y="16831"/>
                  </a:lnTo>
                  <a:lnTo>
                    <a:pt x="4516" y="35098"/>
                  </a:lnTo>
                  <a:lnTo>
                    <a:pt x="0" y="57467"/>
                  </a:lnTo>
                  <a:lnTo>
                    <a:pt x="0" y="517216"/>
                  </a:lnTo>
                  <a:lnTo>
                    <a:pt x="4516" y="539584"/>
                  </a:lnTo>
                  <a:lnTo>
                    <a:pt x="16831" y="557851"/>
                  </a:lnTo>
                  <a:lnTo>
                    <a:pt x="35098" y="570167"/>
                  </a:lnTo>
                  <a:lnTo>
                    <a:pt x="57467" y="574683"/>
                  </a:lnTo>
                  <a:lnTo>
                    <a:pt x="1360644" y="574683"/>
                  </a:lnTo>
                  <a:lnTo>
                    <a:pt x="1383013" y="570167"/>
                  </a:lnTo>
                  <a:lnTo>
                    <a:pt x="1401280" y="557851"/>
                  </a:lnTo>
                  <a:lnTo>
                    <a:pt x="1413596" y="539584"/>
                  </a:lnTo>
                  <a:lnTo>
                    <a:pt x="1418112" y="517216"/>
                  </a:lnTo>
                  <a:lnTo>
                    <a:pt x="1418112" y="57467"/>
                  </a:lnTo>
                  <a:lnTo>
                    <a:pt x="1413596" y="35098"/>
                  </a:lnTo>
                  <a:lnTo>
                    <a:pt x="1401280" y="16831"/>
                  </a:lnTo>
                  <a:lnTo>
                    <a:pt x="1383013" y="4516"/>
                  </a:lnTo>
                  <a:lnTo>
                    <a:pt x="1360644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object 29"/>
            <p:cNvSpPr/>
            <p:nvPr/>
          </p:nvSpPr>
          <p:spPr>
            <a:xfrm>
              <a:off x="2901108" y="2533628"/>
              <a:ext cx="1418590" cy="575310"/>
            </a:xfrm>
            <a:custGeom>
              <a:avLst/>
              <a:gdLst/>
              <a:ahLst/>
              <a:cxnLst/>
              <a:rect l="l" t="t" r="r" b="b"/>
              <a:pathLst>
                <a:path w="1418589" h="575310">
                  <a:moveTo>
                    <a:pt x="0" y="57467"/>
                  </a:moveTo>
                  <a:lnTo>
                    <a:pt x="4516" y="35098"/>
                  </a:lnTo>
                  <a:lnTo>
                    <a:pt x="16831" y="16832"/>
                  </a:lnTo>
                  <a:lnTo>
                    <a:pt x="35098" y="4516"/>
                  </a:lnTo>
                  <a:lnTo>
                    <a:pt x="57467" y="0"/>
                  </a:lnTo>
                  <a:lnTo>
                    <a:pt x="1360644" y="0"/>
                  </a:lnTo>
                  <a:lnTo>
                    <a:pt x="1383013" y="4516"/>
                  </a:lnTo>
                  <a:lnTo>
                    <a:pt x="1401280" y="16832"/>
                  </a:lnTo>
                  <a:lnTo>
                    <a:pt x="1413596" y="35098"/>
                  </a:lnTo>
                  <a:lnTo>
                    <a:pt x="1418112" y="57467"/>
                  </a:lnTo>
                  <a:lnTo>
                    <a:pt x="1418112" y="517216"/>
                  </a:lnTo>
                  <a:lnTo>
                    <a:pt x="1413596" y="539585"/>
                  </a:lnTo>
                  <a:lnTo>
                    <a:pt x="1401280" y="557851"/>
                  </a:lnTo>
                  <a:lnTo>
                    <a:pt x="1383013" y="570167"/>
                  </a:lnTo>
                  <a:lnTo>
                    <a:pt x="1360644" y="574683"/>
                  </a:lnTo>
                  <a:lnTo>
                    <a:pt x="57467" y="574683"/>
                  </a:lnTo>
                  <a:lnTo>
                    <a:pt x="35098" y="570167"/>
                  </a:lnTo>
                  <a:lnTo>
                    <a:pt x="16831" y="557851"/>
                  </a:lnTo>
                  <a:lnTo>
                    <a:pt x="4516" y="539585"/>
                  </a:lnTo>
                  <a:lnTo>
                    <a:pt x="0" y="517216"/>
                  </a:lnTo>
                  <a:lnTo>
                    <a:pt x="0" y="57467"/>
                  </a:lnTo>
                  <a:close/>
                </a:path>
              </a:pathLst>
            </a:custGeom>
            <a:ln w="6349">
              <a:solidFill>
                <a:srgbClr val="6CACD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bject 30"/>
            <p:cNvSpPr txBox="1"/>
            <p:nvPr/>
          </p:nvSpPr>
          <p:spPr>
            <a:xfrm>
              <a:off x="3257739" y="2659680"/>
              <a:ext cx="7112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可靠性</a:t>
              </a:r>
              <a:endPara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3" name="object 31"/>
            <p:cNvSpPr/>
            <p:nvPr/>
          </p:nvSpPr>
          <p:spPr>
            <a:xfrm>
              <a:off x="2789924" y="3264573"/>
              <a:ext cx="1438101" cy="287620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bject 32"/>
            <p:cNvSpPr/>
            <p:nvPr/>
          </p:nvSpPr>
          <p:spPr>
            <a:xfrm>
              <a:off x="2901108" y="3371521"/>
              <a:ext cx="1418590" cy="2854960"/>
            </a:xfrm>
            <a:custGeom>
              <a:avLst/>
              <a:gdLst/>
              <a:ahLst/>
              <a:cxnLst/>
              <a:rect l="l" t="t" r="r" b="b"/>
              <a:pathLst>
                <a:path w="1418589" h="2854960">
                  <a:moveTo>
                    <a:pt x="1276301" y="0"/>
                  </a:moveTo>
                  <a:lnTo>
                    <a:pt x="141810" y="0"/>
                  </a:lnTo>
                  <a:lnTo>
                    <a:pt x="96987" y="7229"/>
                  </a:lnTo>
                  <a:lnTo>
                    <a:pt x="58059" y="27361"/>
                  </a:lnTo>
                  <a:lnTo>
                    <a:pt x="27361" y="58059"/>
                  </a:lnTo>
                  <a:lnTo>
                    <a:pt x="7229" y="96987"/>
                  </a:lnTo>
                  <a:lnTo>
                    <a:pt x="0" y="141810"/>
                  </a:lnTo>
                  <a:lnTo>
                    <a:pt x="0" y="2712951"/>
                  </a:lnTo>
                  <a:lnTo>
                    <a:pt x="7229" y="2757774"/>
                  </a:lnTo>
                  <a:lnTo>
                    <a:pt x="27361" y="2796703"/>
                  </a:lnTo>
                  <a:lnTo>
                    <a:pt x="58059" y="2827401"/>
                  </a:lnTo>
                  <a:lnTo>
                    <a:pt x="96987" y="2847533"/>
                  </a:lnTo>
                  <a:lnTo>
                    <a:pt x="141810" y="2854762"/>
                  </a:lnTo>
                  <a:lnTo>
                    <a:pt x="1276301" y="2854762"/>
                  </a:lnTo>
                  <a:lnTo>
                    <a:pt x="1321124" y="2847533"/>
                  </a:lnTo>
                  <a:lnTo>
                    <a:pt x="1360053" y="2827401"/>
                  </a:lnTo>
                  <a:lnTo>
                    <a:pt x="1390751" y="2796703"/>
                  </a:lnTo>
                  <a:lnTo>
                    <a:pt x="1410882" y="2757774"/>
                  </a:lnTo>
                  <a:lnTo>
                    <a:pt x="1418112" y="2712951"/>
                  </a:lnTo>
                  <a:lnTo>
                    <a:pt x="1418112" y="141810"/>
                  </a:lnTo>
                  <a:lnTo>
                    <a:pt x="1410882" y="96987"/>
                  </a:lnTo>
                  <a:lnTo>
                    <a:pt x="1390751" y="58059"/>
                  </a:lnTo>
                  <a:lnTo>
                    <a:pt x="1360053" y="27361"/>
                  </a:lnTo>
                  <a:lnTo>
                    <a:pt x="1321124" y="7229"/>
                  </a:lnTo>
                  <a:lnTo>
                    <a:pt x="1276301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bject 33"/>
            <p:cNvSpPr/>
            <p:nvPr/>
          </p:nvSpPr>
          <p:spPr>
            <a:xfrm>
              <a:off x="2901108" y="3371521"/>
              <a:ext cx="1418590" cy="2854960"/>
            </a:xfrm>
            <a:custGeom>
              <a:avLst/>
              <a:gdLst/>
              <a:ahLst/>
              <a:cxnLst/>
              <a:rect l="l" t="t" r="r" b="b"/>
              <a:pathLst>
                <a:path w="1418589" h="2854960">
                  <a:moveTo>
                    <a:pt x="0" y="141811"/>
                  </a:moveTo>
                  <a:lnTo>
                    <a:pt x="7229" y="96987"/>
                  </a:lnTo>
                  <a:lnTo>
                    <a:pt x="27361" y="58059"/>
                  </a:lnTo>
                  <a:lnTo>
                    <a:pt x="58059" y="27361"/>
                  </a:lnTo>
                  <a:lnTo>
                    <a:pt x="96987" y="7229"/>
                  </a:lnTo>
                  <a:lnTo>
                    <a:pt x="141810" y="0"/>
                  </a:lnTo>
                  <a:lnTo>
                    <a:pt x="1276301" y="0"/>
                  </a:lnTo>
                  <a:lnTo>
                    <a:pt x="1321124" y="7229"/>
                  </a:lnTo>
                  <a:lnTo>
                    <a:pt x="1360053" y="27361"/>
                  </a:lnTo>
                  <a:lnTo>
                    <a:pt x="1390751" y="58059"/>
                  </a:lnTo>
                  <a:lnTo>
                    <a:pt x="1410883" y="96987"/>
                  </a:lnTo>
                  <a:lnTo>
                    <a:pt x="1418112" y="141811"/>
                  </a:lnTo>
                  <a:lnTo>
                    <a:pt x="1418112" y="2712951"/>
                  </a:lnTo>
                  <a:lnTo>
                    <a:pt x="1410883" y="2757774"/>
                  </a:lnTo>
                  <a:lnTo>
                    <a:pt x="1390751" y="2796702"/>
                  </a:lnTo>
                  <a:lnTo>
                    <a:pt x="1360053" y="2827400"/>
                  </a:lnTo>
                  <a:lnTo>
                    <a:pt x="1321124" y="2847532"/>
                  </a:lnTo>
                  <a:lnTo>
                    <a:pt x="1276301" y="2854762"/>
                  </a:lnTo>
                  <a:lnTo>
                    <a:pt x="141810" y="2854762"/>
                  </a:lnTo>
                  <a:lnTo>
                    <a:pt x="96987" y="2847532"/>
                  </a:lnTo>
                  <a:lnTo>
                    <a:pt x="58059" y="2827400"/>
                  </a:lnTo>
                  <a:lnTo>
                    <a:pt x="27361" y="2796702"/>
                  </a:lnTo>
                  <a:lnTo>
                    <a:pt x="7229" y="2757774"/>
                  </a:lnTo>
                  <a:lnTo>
                    <a:pt x="0" y="2712951"/>
                  </a:lnTo>
                  <a:lnTo>
                    <a:pt x="0" y="141811"/>
                  </a:lnTo>
                  <a:close/>
                </a:path>
              </a:pathLst>
            </a:custGeom>
            <a:ln w="6349">
              <a:solidFill>
                <a:srgbClr val="6CACD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bject 34"/>
            <p:cNvSpPr txBox="1"/>
            <p:nvPr/>
          </p:nvSpPr>
          <p:spPr>
            <a:xfrm>
              <a:off x="3143440" y="4226132"/>
              <a:ext cx="939800" cy="1041400"/>
            </a:xfrm>
            <a:prstGeom prst="rect">
              <a:avLst/>
            </a:prstGeom>
          </p:spPr>
          <p:txBody>
            <a:bodyPr vert="horz" wrap="square" lIns="0" tIns="19050" rIns="0" bIns="0" rtlCol="0">
              <a:spAutoFit/>
            </a:bodyPr>
            <a:lstStyle/>
            <a:p>
              <a:pPr marL="12700" marR="5080" indent="114300" algn="just">
                <a:lnSpc>
                  <a:spcPct val="123000"/>
                </a:lnSpc>
                <a:spcBef>
                  <a:spcPts val="15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成熟性 容错性 可恢复性</a:t>
              </a:r>
              <a:endPara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7" name="object 35"/>
            <p:cNvSpPr/>
            <p:nvPr/>
          </p:nvSpPr>
          <p:spPr>
            <a:xfrm>
              <a:off x="4410905" y="2429143"/>
              <a:ext cx="1417319" cy="59435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bject 36"/>
            <p:cNvSpPr/>
            <p:nvPr/>
          </p:nvSpPr>
          <p:spPr>
            <a:xfrm>
              <a:off x="4520335" y="2533628"/>
              <a:ext cx="1398270" cy="575310"/>
            </a:xfrm>
            <a:custGeom>
              <a:avLst/>
              <a:gdLst/>
              <a:ahLst/>
              <a:cxnLst/>
              <a:rect l="l" t="t" r="r" b="b"/>
              <a:pathLst>
                <a:path w="1398270" h="575310">
                  <a:moveTo>
                    <a:pt x="1340255" y="0"/>
                  </a:moveTo>
                  <a:lnTo>
                    <a:pt x="57468" y="0"/>
                  </a:lnTo>
                  <a:lnTo>
                    <a:pt x="35099" y="4516"/>
                  </a:lnTo>
                  <a:lnTo>
                    <a:pt x="16832" y="16831"/>
                  </a:lnTo>
                  <a:lnTo>
                    <a:pt x="4516" y="35098"/>
                  </a:lnTo>
                  <a:lnTo>
                    <a:pt x="0" y="57467"/>
                  </a:lnTo>
                  <a:lnTo>
                    <a:pt x="0" y="517216"/>
                  </a:lnTo>
                  <a:lnTo>
                    <a:pt x="4516" y="539584"/>
                  </a:lnTo>
                  <a:lnTo>
                    <a:pt x="16832" y="557851"/>
                  </a:lnTo>
                  <a:lnTo>
                    <a:pt x="35099" y="570167"/>
                  </a:lnTo>
                  <a:lnTo>
                    <a:pt x="57468" y="574683"/>
                  </a:lnTo>
                  <a:lnTo>
                    <a:pt x="1340255" y="574683"/>
                  </a:lnTo>
                  <a:lnTo>
                    <a:pt x="1362624" y="570167"/>
                  </a:lnTo>
                  <a:lnTo>
                    <a:pt x="1380891" y="557851"/>
                  </a:lnTo>
                  <a:lnTo>
                    <a:pt x="1393207" y="539584"/>
                  </a:lnTo>
                  <a:lnTo>
                    <a:pt x="1397723" y="517216"/>
                  </a:lnTo>
                  <a:lnTo>
                    <a:pt x="1397723" y="57467"/>
                  </a:lnTo>
                  <a:lnTo>
                    <a:pt x="1393207" y="35098"/>
                  </a:lnTo>
                  <a:lnTo>
                    <a:pt x="1380891" y="16831"/>
                  </a:lnTo>
                  <a:lnTo>
                    <a:pt x="1362624" y="4516"/>
                  </a:lnTo>
                  <a:lnTo>
                    <a:pt x="1340255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bject 37"/>
            <p:cNvSpPr/>
            <p:nvPr/>
          </p:nvSpPr>
          <p:spPr>
            <a:xfrm>
              <a:off x="4520336" y="2533628"/>
              <a:ext cx="1398270" cy="575310"/>
            </a:xfrm>
            <a:custGeom>
              <a:avLst/>
              <a:gdLst/>
              <a:ahLst/>
              <a:cxnLst/>
              <a:rect l="l" t="t" r="r" b="b"/>
              <a:pathLst>
                <a:path w="1398270" h="575310">
                  <a:moveTo>
                    <a:pt x="0" y="57467"/>
                  </a:moveTo>
                  <a:lnTo>
                    <a:pt x="4516" y="35098"/>
                  </a:lnTo>
                  <a:lnTo>
                    <a:pt x="16832" y="16832"/>
                  </a:lnTo>
                  <a:lnTo>
                    <a:pt x="35098" y="4516"/>
                  </a:lnTo>
                  <a:lnTo>
                    <a:pt x="57467" y="0"/>
                  </a:lnTo>
                  <a:lnTo>
                    <a:pt x="1340254" y="0"/>
                  </a:lnTo>
                  <a:lnTo>
                    <a:pt x="1362623" y="4516"/>
                  </a:lnTo>
                  <a:lnTo>
                    <a:pt x="1380890" y="16832"/>
                  </a:lnTo>
                  <a:lnTo>
                    <a:pt x="1393206" y="35098"/>
                  </a:lnTo>
                  <a:lnTo>
                    <a:pt x="1397722" y="57467"/>
                  </a:lnTo>
                  <a:lnTo>
                    <a:pt x="1397722" y="517216"/>
                  </a:lnTo>
                  <a:lnTo>
                    <a:pt x="1393206" y="539585"/>
                  </a:lnTo>
                  <a:lnTo>
                    <a:pt x="1380890" y="557851"/>
                  </a:lnTo>
                  <a:lnTo>
                    <a:pt x="1362623" y="570167"/>
                  </a:lnTo>
                  <a:lnTo>
                    <a:pt x="1340254" y="574683"/>
                  </a:lnTo>
                  <a:lnTo>
                    <a:pt x="57467" y="574683"/>
                  </a:lnTo>
                  <a:lnTo>
                    <a:pt x="35098" y="570167"/>
                  </a:lnTo>
                  <a:lnTo>
                    <a:pt x="16832" y="557851"/>
                  </a:lnTo>
                  <a:lnTo>
                    <a:pt x="4516" y="539585"/>
                  </a:lnTo>
                  <a:lnTo>
                    <a:pt x="0" y="517216"/>
                  </a:lnTo>
                  <a:lnTo>
                    <a:pt x="0" y="57467"/>
                  </a:lnTo>
                  <a:close/>
                </a:path>
              </a:pathLst>
            </a:custGeom>
            <a:ln w="6349">
              <a:solidFill>
                <a:srgbClr val="6CACD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bject 38"/>
            <p:cNvSpPr txBox="1"/>
            <p:nvPr/>
          </p:nvSpPr>
          <p:spPr>
            <a:xfrm>
              <a:off x="4866773" y="2659680"/>
              <a:ext cx="7112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易用性</a:t>
              </a:r>
              <a:endPara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1" name="object 39"/>
            <p:cNvSpPr/>
            <p:nvPr/>
          </p:nvSpPr>
          <p:spPr>
            <a:xfrm>
              <a:off x="4410905" y="3264573"/>
              <a:ext cx="1417319" cy="287620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bject 40"/>
            <p:cNvSpPr/>
            <p:nvPr/>
          </p:nvSpPr>
          <p:spPr>
            <a:xfrm>
              <a:off x="4520335" y="3371521"/>
              <a:ext cx="1398270" cy="2854960"/>
            </a:xfrm>
            <a:custGeom>
              <a:avLst/>
              <a:gdLst/>
              <a:ahLst/>
              <a:cxnLst/>
              <a:rect l="l" t="t" r="r" b="b"/>
              <a:pathLst>
                <a:path w="1398270" h="2854960">
                  <a:moveTo>
                    <a:pt x="1257951" y="0"/>
                  </a:moveTo>
                  <a:lnTo>
                    <a:pt x="139772" y="0"/>
                  </a:lnTo>
                  <a:lnTo>
                    <a:pt x="95593" y="7125"/>
                  </a:lnTo>
                  <a:lnTo>
                    <a:pt x="57224" y="26967"/>
                  </a:lnTo>
                  <a:lnTo>
                    <a:pt x="26967" y="57224"/>
                  </a:lnTo>
                  <a:lnTo>
                    <a:pt x="7125" y="95593"/>
                  </a:lnTo>
                  <a:lnTo>
                    <a:pt x="0" y="139772"/>
                  </a:lnTo>
                  <a:lnTo>
                    <a:pt x="0" y="2714990"/>
                  </a:lnTo>
                  <a:lnTo>
                    <a:pt x="7125" y="2759169"/>
                  </a:lnTo>
                  <a:lnTo>
                    <a:pt x="26967" y="2797538"/>
                  </a:lnTo>
                  <a:lnTo>
                    <a:pt x="57224" y="2827794"/>
                  </a:lnTo>
                  <a:lnTo>
                    <a:pt x="95593" y="2847636"/>
                  </a:lnTo>
                  <a:lnTo>
                    <a:pt x="139772" y="2854762"/>
                  </a:lnTo>
                  <a:lnTo>
                    <a:pt x="1257951" y="2854762"/>
                  </a:lnTo>
                  <a:lnTo>
                    <a:pt x="1302130" y="2847636"/>
                  </a:lnTo>
                  <a:lnTo>
                    <a:pt x="1340499" y="2827794"/>
                  </a:lnTo>
                  <a:lnTo>
                    <a:pt x="1370756" y="2797538"/>
                  </a:lnTo>
                  <a:lnTo>
                    <a:pt x="1390598" y="2759169"/>
                  </a:lnTo>
                  <a:lnTo>
                    <a:pt x="1397723" y="2714990"/>
                  </a:lnTo>
                  <a:lnTo>
                    <a:pt x="1397723" y="139772"/>
                  </a:lnTo>
                  <a:lnTo>
                    <a:pt x="1390598" y="95593"/>
                  </a:lnTo>
                  <a:lnTo>
                    <a:pt x="1370756" y="57224"/>
                  </a:lnTo>
                  <a:lnTo>
                    <a:pt x="1340499" y="26967"/>
                  </a:lnTo>
                  <a:lnTo>
                    <a:pt x="1302130" y="7125"/>
                  </a:lnTo>
                  <a:lnTo>
                    <a:pt x="1257951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bject 41"/>
            <p:cNvSpPr/>
            <p:nvPr/>
          </p:nvSpPr>
          <p:spPr>
            <a:xfrm>
              <a:off x="4520336" y="3371521"/>
              <a:ext cx="1398270" cy="2854960"/>
            </a:xfrm>
            <a:custGeom>
              <a:avLst/>
              <a:gdLst/>
              <a:ahLst/>
              <a:cxnLst/>
              <a:rect l="l" t="t" r="r" b="b"/>
              <a:pathLst>
                <a:path w="1398270" h="2854960">
                  <a:moveTo>
                    <a:pt x="0" y="139772"/>
                  </a:moveTo>
                  <a:lnTo>
                    <a:pt x="7125" y="95593"/>
                  </a:lnTo>
                  <a:lnTo>
                    <a:pt x="26967" y="57224"/>
                  </a:lnTo>
                  <a:lnTo>
                    <a:pt x="57224" y="26967"/>
                  </a:lnTo>
                  <a:lnTo>
                    <a:pt x="95593" y="7125"/>
                  </a:lnTo>
                  <a:lnTo>
                    <a:pt x="139772" y="0"/>
                  </a:lnTo>
                  <a:lnTo>
                    <a:pt x="1257950" y="0"/>
                  </a:lnTo>
                  <a:lnTo>
                    <a:pt x="1302129" y="7125"/>
                  </a:lnTo>
                  <a:lnTo>
                    <a:pt x="1340498" y="26967"/>
                  </a:lnTo>
                  <a:lnTo>
                    <a:pt x="1370754" y="57224"/>
                  </a:lnTo>
                  <a:lnTo>
                    <a:pt x="1390596" y="95593"/>
                  </a:lnTo>
                  <a:lnTo>
                    <a:pt x="1397722" y="139772"/>
                  </a:lnTo>
                  <a:lnTo>
                    <a:pt x="1397722" y="2714990"/>
                  </a:lnTo>
                  <a:lnTo>
                    <a:pt x="1390596" y="2759168"/>
                  </a:lnTo>
                  <a:lnTo>
                    <a:pt x="1370754" y="2797537"/>
                  </a:lnTo>
                  <a:lnTo>
                    <a:pt x="1340498" y="2827794"/>
                  </a:lnTo>
                  <a:lnTo>
                    <a:pt x="1302129" y="2847636"/>
                  </a:lnTo>
                  <a:lnTo>
                    <a:pt x="1257950" y="2854762"/>
                  </a:lnTo>
                  <a:lnTo>
                    <a:pt x="139772" y="2854762"/>
                  </a:lnTo>
                  <a:lnTo>
                    <a:pt x="95593" y="2847636"/>
                  </a:lnTo>
                  <a:lnTo>
                    <a:pt x="57224" y="2827794"/>
                  </a:lnTo>
                  <a:lnTo>
                    <a:pt x="26967" y="2797537"/>
                  </a:lnTo>
                  <a:lnTo>
                    <a:pt x="7125" y="2759168"/>
                  </a:lnTo>
                  <a:lnTo>
                    <a:pt x="0" y="2714990"/>
                  </a:lnTo>
                  <a:lnTo>
                    <a:pt x="0" y="139772"/>
                  </a:lnTo>
                  <a:close/>
                </a:path>
              </a:pathLst>
            </a:custGeom>
            <a:ln w="6349">
              <a:solidFill>
                <a:srgbClr val="6CACD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bject 42"/>
            <p:cNvSpPr txBox="1"/>
            <p:nvPr/>
          </p:nvSpPr>
          <p:spPr>
            <a:xfrm>
              <a:off x="4752472" y="4054682"/>
              <a:ext cx="939800" cy="13970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25000"/>
                </a:lnSpc>
                <a:spcBef>
                  <a:spcPts val="10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易理解性 易学性 易操作性 吸引性</a:t>
              </a:r>
              <a:endPara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5" name="object 43"/>
            <p:cNvSpPr/>
            <p:nvPr/>
          </p:nvSpPr>
          <p:spPr>
            <a:xfrm>
              <a:off x="6006948" y="2429143"/>
              <a:ext cx="1483821" cy="5943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bject 44"/>
            <p:cNvSpPr/>
            <p:nvPr/>
          </p:nvSpPr>
          <p:spPr>
            <a:xfrm>
              <a:off x="6119174" y="2533628"/>
              <a:ext cx="1460500" cy="575310"/>
            </a:xfrm>
            <a:custGeom>
              <a:avLst/>
              <a:gdLst/>
              <a:ahLst/>
              <a:cxnLst/>
              <a:rect l="l" t="t" r="r" b="b"/>
              <a:pathLst>
                <a:path w="1460500" h="575310">
                  <a:moveTo>
                    <a:pt x="1402474" y="0"/>
                  </a:moveTo>
                  <a:lnTo>
                    <a:pt x="57467" y="0"/>
                  </a:lnTo>
                  <a:lnTo>
                    <a:pt x="35098" y="4516"/>
                  </a:lnTo>
                  <a:lnTo>
                    <a:pt x="16831" y="16831"/>
                  </a:lnTo>
                  <a:lnTo>
                    <a:pt x="4516" y="35098"/>
                  </a:lnTo>
                  <a:lnTo>
                    <a:pt x="0" y="57467"/>
                  </a:lnTo>
                  <a:lnTo>
                    <a:pt x="0" y="517216"/>
                  </a:lnTo>
                  <a:lnTo>
                    <a:pt x="4516" y="539584"/>
                  </a:lnTo>
                  <a:lnTo>
                    <a:pt x="16831" y="557851"/>
                  </a:lnTo>
                  <a:lnTo>
                    <a:pt x="35098" y="570167"/>
                  </a:lnTo>
                  <a:lnTo>
                    <a:pt x="57467" y="574683"/>
                  </a:lnTo>
                  <a:lnTo>
                    <a:pt x="1402474" y="574683"/>
                  </a:lnTo>
                  <a:lnTo>
                    <a:pt x="1424843" y="570167"/>
                  </a:lnTo>
                  <a:lnTo>
                    <a:pt x="1443110" y="557851"/>
                  </a:lnTo>
                  <a:lnTo>
                    <a:pt x="1455426" y="539584"/>
                  </a:lnTo>
                  <a:lnTo>
                    <a:pt x="1459942" y="517216"/>
                  </a:lnTo>
                  <a:lnTo>
                    <a:pt x="1459942" y="57467"/>
                  </a:lnTo>
                  <a:lnTo>
                    <a:pt x="1455426" y="35098"/>
                  </a:lnTo>
                  <a:lnTo>
                    <a:pt x="1443110" y="16831"/>
                  </a:lnTo>
                  <a:lnTo>
                    <a:pt x="1424843" y="4516"/>
                  </a:lnTo>
                  <a:lnTo>
                    <a:pt x="1402474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bject 45"/>
            <p:cNvSpPr/>
            <p:nvPr/>
          </p:nvSpPr>
          <p:spPr>
            <a:xfrm>
              <a:off x="6119174" y="2533628"/>
              <a:ext cx="1460500" cy="575310"/>
            </a:xfrm>
            <a:custGeom>
              <a:avLst/>
              <a:gdLst/>
              <a:ahLst/>
              <a:cxnLst/>
              <a:rect l="l" t="t" r="r" b="b"/>
              <a:pathLst>
                <a:path w="1460500" h="575310">
                  <a:moveTo>
                    <a:pt x="0" y="57467"/>
                  </a:moveTo>
                  <a:lnTo>
                    <a:pt x="4516" y="35098"/>
                  </a:lnTo>
                  <a:lnTo>
                    <a:pt x="16832" y="16832"/>
                  </a:lnTo>
                  <a:lnTo>
                    <a:pt x="35098" y="4516"/>
                  </a:lnTo>
                  <a:lnTo>
                    <a:pt x="57467" y="0"/>
                  </a:lnTo>
                  <a:lnTo>
                    <a:pt x="1402474" y="0"/>
                  </a:lnTo>
                  <a:lnTo>
                    <a:pt x="1424843" y="4516"/>
                  </a:lnTo>
                  <a:lnTo>
                    <a:pt x="1443110" y="16832"/>
                  </a:lnTo>
                  <a:lnTo>
                    <a:pt x="1455426" y="35098"/>
                  </a:lnTo>
                  <a:lnTo>
                    <a:pt x="1459942" y="57467"/>
                  </a:lnTo>
                  <a:lnTo>
                    <a:pt x="1459942" y="517216"/>
                  </a:lnTo>
                  <a:lnTo>
                    <a:pt x="1455426" y="539585"/>
                  </a:lnTo>
                  <a:lnTo>
                    <a:pt x="1443110" y="557851"/>
                  </a:lnTo>
                  <a:lnTo>
                    <a:pt x="1424843" y="570167"/>
                  </a:lnTo>
                  <a:lnTo>
                    <a:pt x="1402474" y="574683"/>
                  </a:lnTo>
                  <a:lnTo>
                    <a:pt x="57467" y="574683"/>
                  </a:lnTo>
                  <a:lnTo>
                    <a:pt x="35098" y="570167"/>
                  </a:lnTo>
                  <a:lnTo>
                    <a:pt x="16832" y="557851"/>
                  </a:lnTo>
                  <a:lnTo>
                    <a:pt x="4516" y="539585"/>
                  </a:lnTo>
                  <a:lnTo>
                    <a:pt x="0" y="517216"/>
                  </a:lnTo>
                  <a:lnTo>
                    <a:pt x="0" y="57467"/>
                  </a:lnTo>
                  <a:close/>
                </a:path>
              </a:pathLst>
            </a:custGeom>
            <a:ln w="6349">
              <a:solidFill>
                <a:srgbClr val="6CACD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bject 46"/>
            <p:cNvSpPr txBox="1"/>
            <p:nvPr/>
          </p:nvSpPr>
          <p:spPr>
            <a:xfrm>
              <a:off x="6333585" y="2659680"/>
              <a:ext cx="103759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效率/性能</a:t>
              </a:r>
              <a:endPara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9" name="object 47"/>
            <p:cNvSpPr/>
            <p:nvPr/>
          </p:nvSpPr>
          <p:spPr>
            <a:xfrm>
              <a:off x="6006948" y="3264573"/>
              <a:ext cx="1483821" cy="287620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bject 48"/>
            <p:cNvSpPr/>
            <p:nvPr/>
          </p:nvSpPr>
          <p:spPr>
            <a:xfrm>
              <a:off x="6119174" y="3371521"/>
              <a:ext cx="1460500" cy="2854960"/>
            </a:xfrm>
            <a:custGeom>
              <a:avLst/>
              <a:gdLst/>
              <a:ahLst/>
              <a:cxnLst/>
              <a:rect l="l" t="t" r="r" b="b"/>
              <a:pathLst>
                <a:path w="1460500" h="2854960">
                  <a:moveTo>
                    <a:pt x="1313948" y="0"/>
                  </a:moveTo>
                  <a:lnTo>
                    <a:pt x="145994" y="0"/>
                  </a:lnTo>
                  <a:lnTo>
                    <a:pt x="99848" y="7442"/>
                  </a:lnTo>
                  <a:lnTo>
                    <a:pt x="59771" y="28168"/>
                  </a:lnTo>
                  <a:lnTo>
                    <a:pt x="28168" y="59772"/>
                  </a:lnTo>
                  <a:lnTo>
                    <a:pt x="7442" y="99848"/>
                  </a:lnTo>
                  <a:lnTo>
                    <a:pt x="0" y="145994"/>
                  </a:lnTo>
                  <a:lnTo>
                    <a:pt x="0" y="2708768"/>
                  </a:lnTo>
                  <a:lnTo>
                    <a:pt x="7442" y="2754913"/>
                  </a:lnTo>
                  <a:lnTo>
                    <a:pt x="28168" y="2794990"/>
                  </a:lnTo>
                  <a:lnTo>
                    <a:pt x="59771" y="2826594"/>
                  </a:lnTo>
                  <a:lnTo>
                    <a:pt x="99848" y="2847319"/>
                  </a:lnTo>
                  <a:lnTo>
                    <a:pt x="145994" y="2854762"/>
                  </a:lnTo>
                  <a:lnTo>
                    <a:pt x="1313948" y="2854762"/>
                  </a:lnTo>
                  <a:lnTo>
                    <a:pt x="1360094" y="2847319"/>
                  </a:lnTo>
                  <a:lnTo>
                    <a:pt x="1400170" y="2826594"/>
                  </a:lnTo>
                  <a:lnTo>
                    <a:pt x="1431774" y="2794990"/>
                  </a:lnTo>
                  <a:lnTo>
                    <a:pt x="1452499" y="2754913"/>
                  </a:lnTo>
                  <a:lnTo>
                    <a:pt x="1459942" y="2708768"/>
                  </a:lnTo>
                  <a:lnTo>
                    <a:pt x="1459942" y="145994"/>
                  </a:lnTo>
                  <a:lnTo>
                    <a:pt x="1452499" y="99848"/>
                  </a:lnTo>
                  <a:lnTo>
                    <a:pt x="1431774" y="59772"/>
                  </a:lnTo>
                  <a:lnTo>
                    <a:pt x="1400170" y="28168"/>
                  </a:lnTo>
                  <a:lnTo>
                    <a:pt x="1360094" y="7442"/>
                  </a:lnTo>
                  <a:lnTo>
                    <a:pt x="1313948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bject 49"/>
            <p:cNvSpPr/>
            <p:nvPr/>
          </p:nvSpPr>
          <p:spPr>
            <a:xfrm>
              <a:off x="6119174" y="3371521"/>
              <a:ext cx="1460500" cy="2854960"/>
            </a:xfrm>
            <a:custGeom>
              <a:avLst/>
              <a:gdLst/>
              <a:ahLst/>
              <a:cxnLst/>
              <a:rect l="l" t="t" r="r" b="b"/>
              <a:pathLst>
                <a:path w="1460500" h="2854960">
                  <a:moveTo>
                    <a:pt x="0" y="145993"/>
                  </a:moveTo>
                  <a:lnTo>
                    <a:pt x="7442" y="99848"/>
                  </a:lnTo>
                  <a:lnTo>
                    <a:pt x="28168" y="59771"/>
                  </a:lnTo>
                  <a:lnTo>
                    <a:pt x="59771" y="28168"/>
                  </a:lnTo>
                  <a:lnTo>
                    <a:pt x="99848" y="7442"/>
                  </a:lnTo>
                  <a:lnTo>
                    <a:pt x="145993" y="0"/>
                  </a:lnTo>
                  <a:lnTo>
                    <a:pt x="1313948" y="0"/>
                  </a:lnTo>
                  <a:lnTo>
                    <a:pt x="1360094" y="7442"/>
                  </a:lnTo>
                  <a:lnTo>
                    <a:pt x="1400171" y="28168"/>
                  </a:lnTo>
                  <a:lnTo>
                    <a:pt x="1431774" y="59771"/>
                  </a:lnTo>
                  <a:lnTo>
                    <a:pt x="1452499" y="99848"/>
                  </a:lnTo>
                  <a:lnTo>
                    <a:pt x="1459942" y="145993"/>
                  </a:lnTo>
                  <a:lnTo>
                    <a:pt x="1459942" y="2708768"/>
                  </a:lnTo>
                  <a:lnTo>
                    <a:pt x="1452499" y="2754913"/>
                  </a:lnTo>
                  <a:lnTo>
                    <a:pt x="1431774" y="2794990"/>
                  </a:lnTo>
                  <a:lnTo>
                    <a:pt x="1400171" y="2826593"/>
                  </a:lnTo>
                  <a:lnTo>
                    <a:pt x="1360094" y="2847319"/>
                  </a:lnTo>
                  <a:lnTo>
                    <a:pt x="1313948" y="2854762"/>
                  </a:lnTo>
                  <a:lnTo>
                    <a:pt x="145993" y="2854762"/>
                  </a:lnTo>
                  <a:lnTo>
                    <a:pt x="99848" y="2847319"/>
                  </a:lnTo>
                  <a:lnTo>
                    <a:pt x="59771" y="2826593"/>
                  </a:lnTo>
                  <a:lnTo>
                    <a:pt x="28168" y="2794990"/>
                  </a:lnTo>
                  <a:lnTo>
                    <a:pt x="7442" y="2754913"/>
                  </a:lnTo>
                  <a:lnTo>
                    <a:pt x="0" y="2708768"/>
                  </a:lnTo>
                  <a:lnTo>
                    <a:pt x="0" y="145993"/>
                  </a:lnTo>
                  <a:close/>
                </a:path>
              </a:pathLst>
            </a:custGeom>
            <a:ln w="6349">
              <a:solidFill>
                <a:srgbClr val="6CACD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bject 50"/>
            <p:cNvSpPr txBox="1"/>
            <p:nvPr/>
          </p:nvSpPr>
          <p:spPr>
            <a:xfrm>
              <a:off x="6382420" y="4397582"/>
              <a:ext cx="939800" cy="67371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25000"/>
                </a:lnSpc>
                <a:spcBef>
                  <a:spcPts val="10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时间特性 资源利用</a:t>
              </a:r>
              <a:endPara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3" name="object 51"/>
            <p:cNvSpPr/>
            <p:nvPr/>
          </p:nvSpPr>
          <p:spPr>
            <a:xfrm>
              <a:off x="7665338" y="2424987"/>
              <a:ext cx="1384068" cy="60267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object 52"/>
            <p:cNvSpPr/>
            <p:nvPr/>
          </p:nvSpPr>
          <p:spPr>
            <a:xfrm>
              <a:off x="7780232" y="2533628"/>
              <a:ext cx="1358265" cy="575310"/>
            </a:xfrm>
            <a:custGeom>
              <a:avLst/>
              <a:gdLst/>
              <a:ahLst/>
              <a:cxnLst/>
              <a:rect l="l" t="t" r="r" b="b"/>
              <a:pathLst>
                <a:path w="1358265" h="575310">
                  <a:moveTo>
                    <a:pt x="1300298" y="0"/>
                  </a:moveTo>
                  <a:lnTo>
                    <a:pt x="57467" y="0"/>
                  </a:lnTo>
                  <a:lnTo>
                    <a:pt x="35098" y="4516"/>
                  </a:lnTo>
                  <a:lnTo>
                    <a:pt x="16831" y="16831"/>
                  </a:lnTo>
                  <a:lnTo>
                    <a:pt x="4516" y="35098"/>
                  </a:lnTo>
                  <a:lnTo>
                    <a:pt x="0" y="57467"/>
                  </a:lnTo>
                  <a:lnTo>
                    <a:pt x="0" y="517216"/>
                  </a:lnTo>
                  <a:lnTo>
                    <a:pt x="4516" y="539584"/>
                  </a:lnTo>
                  <a:lnTo>
                    <a:pt x="16831" y="557851"/>
                  </a:lnTo>
                  <a:lnTo>
                    <a:pt x="35098" y="570167"/>
                  </a:lnTo>
                  <a:lnTo>
                    <a:pt x="57467" y="574683"/>
                  </a:lnTo>
                  <a:lnTo>
                    <a:pt x="1300298" y="574683"/>
                  </a:lnTo>
                  <a:lnTo>
                    <a:pt x="1322667" y="570167"/>
                  </a:lnTo>
                  <a:lnTo>
                    <a:pt x="1340934" y="557851"/>
                  </a:lnTo>
                  <a:lnTo>
                    <a:pt x="1353249" y="539584"/>
                  </a:lnTo>
                  <a:lnTo>
                    <a:pt x="1357765" y="517216"/>
                  </a:lnTo>
                  <a:lnTo>
                    <a:pt x="1357765" y="57467"/>
                  </a:lnTo>
                  <a:lnTo>
                    <a:pt x="1353249" y="35098"/>
                  </a:lnTo>
                  <a:lnTo>
                    <a:pt x="1340934" y="16831"/>
                  </a:lnTo>
                  <a:lnTo>
                    <a:pt x="1322667" y="4516"/>
                  </a:lnTo>
                  <a:lnTo>
                    <a:pt x="13002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object 53"/>
            <p:cNvSpPr/>
            <p:nvPr/>
          </p:nvSpPr>
          <p:spPr>
            <a:xfrm>
              <a:off x="7780232" y="2533628"/>
              <a:ext cx="1358265" cy="575310"/>
            </a:xfrm>
            <a:custGeom>
              <a:avLst/>
              <a:gdLst/>
              <a:ahLst/>
              <a:cxnLst/>
              <a:rect l="l" t="t" r="r" b="b"/>
              <a:pathLst>
                <a:path w="1358265" h="575310">
                  <a:moveTo>
                    <a:pt x="0" y="57467"/>
                  </a:moveTo>
                  <a:lnTo>
                    <a:pt x="4516" y="35098"/>
                  </a:lnTo>
                  <a:lnTo>
                    <a:pt x="16832" y="16832"/>
                  </a:lnTo>
                  <a:lnTo>
                    <a:pt x="35098" y="4516"/>
                  </a:lnTo>
                  <a:lnTo>
                    <a:pt x="57467" y="0"/>
                  </a:lnTo>
                  <a:lnTo>
                    <a:pt x="1300299" y="0"/>
                  </a:lnTo>
                  <a:lnTo>
                    <a:pt x="1322667" y="4516"/>
                  </a:lnTo>
                  <a:lnTo>
                    <a:pt x="1340934" y="16832"/>
                  </a:lnTo>
                  <a:lnTo>
                    <a:pt x="1353250" y="35098"/>
                  </a:lnTo>
                  <a:lnTo>
                    <a:pt x="1357767" y="57467"/>
                  </a:lnTo>
                  <a:lnTo>
                    <a:pt x="1357767" y="517216"/>
                  </a:lnTo>
                  <a:lnTo>
                    <a:pt x="1353250" y="539585"/>
                  </a:lnTo>
                  <a:lnTo>
                    <a:pt x="1340934" y="557851"/>
                  </a:lnTo>
                  <a:lnTo>
                    <a:pt x="1322667" y="570167"/>
                  </a:lnTo>
                  <a:lnTo>
                    <a:pt x="1300299" y="574683"/>
                  </a:lnTo>
                  <a:lnTo>
                    <a:pt x="57467" y="574683"/>
                  </a:lnTo>
                  <a:lnTo>
                    <a:pt x="35098" y="570167"/>
                  </a:lnTo>
                  <a:lnTo>
                    <a:pt x="16832" y="557851"/>
                  </a:lnTo>
                  <a:lnTo>
                    <a:pt x="4516" y="539585"/>
                  </a:lnTo>
                  <a:lnTo>
                    <a:pt x="0" y="517216"/>
                  </a:lnTo>
                  <a:lnTo>
                    <a:pt x="0" y="57467"/>
                  </a:lnTo>
                  <a:close/>
                </a:path>
              </a:pathLst>
            </a:custGeom>
            <a:ln w="12699">
              <a:solidFill>
                <a:srgbClr val="81B8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object 54"/>
            <p:cNvSpPr txBox="1"/>
            <p:nvPr/>
          </p:nvSpPr>
          <p:spPr>
            <a:xfrm>
              <a:off x="7992390" y="2659680"/>
              <a:ext cx="9398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可维护性</a:t>
              </a:r>
              <a:endPara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7" name="object 55"/>
            <p:cNvSpPr/>
            <p:nvPr/>
          </p:nvSpPr>
          <p:spPr>
            <a:xfrm>
              <a:off x="7665338" y="3260417"/>
              <a:ext cx="1384068" cy="288451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object 56"/>
            <p:cNvSpPr/>
            <p:nvPr/>
          </p:nvSpPr>
          <p:spPr>
            <a:xfrm>
              <a:off x="7780232" y="3371521"/>
              <a:ext cx="1358265" cy="2854960"/>
            </a:xfrm>
            <a:custGeom>
              <a:avLst/>
              <a:gdLst/>
              <a:ahLst/>
              <a:cxnLst/>
              <a:rect l="l" t="t" r="r" b="b"/>
              <a:pathLst>
                <a:path w="1358265" h="2854960">
                  <a:moveTo>
                    <a:pt x="1221988" y="0"/>
                  </a:moveTo>
                  <a:lnTo>
                    <a:pt x="135776" y="0"/>
                  </a:lnTo>
                  <a:lnTo>
                    <a:pt x="92860" y="6922"/>
                  </a:lnTo>
                  <a:lnTo>
                    <a:pt x="55588" y="26197"/>
                  </a:lnTo>
                  <a:lnTo>
                    <a:pt x="26196" y="55589"/>
                  </a:lnTo>
                  <a:lnTo>
                    <a:pt x="6921" y="92861"/>
                  </a:lnTo>
                  <a:lnTo>
                    <a:pt x="0" y="135776"/>
                  </a:lnTo>
                  <a:lnTo>
                    <a:pt x="0" y="2718985"/>
                  </a:lnTo>
                  <a:lnTo>
                    <a:pt x="6921" y="2761901"/>
                  </a:lnTo>
                  <a:lnTo>
                    <a:pt x="26196" y="2799173"/>
                  </a:lnTo>
                  <a:lnTo>
                    <a:pt x="55588" y="2828565"/>
                  </a:lnTo>
                  <a:lnTo>
                    <a:pt x="92860" y="2847840"/>
                  </a:lnTo>
                  <a:lnTo>
                    <a:pt x="135776" y="2854762"/>
                  </a:lnTo>
                  <a:lnTo>
                    <a:pt x="1221988" y="2854762"/>
                  </a:lnTo>
                  <a:lnTo>
                    <a:pt x="1264905" y="2847840"/>
                  </a:lnTo>
                  <a:lnTo>
                    <a:pt x="1302177" y="2828565"/>
                  </a:lnTo>
                  <a:lnTo>
                    <a:pt x="1331569" y="2799173"/>
                  </a:lnTo>
                  <a:lnTo>
                    <a:pt x="1350843" y="2761901"/>
                  </a:lnTo>
                  <a:lnTo>
                    <a:pt x="1357765" y="2718985"/>
                  </a:lnTo>
                  <a:lnTo>
                    <a:pt x="1357765" y="135776"/>
                  </a:lnTo>
                  <a:lnTo>
                    <a:pt x="1350843" y="92861"/>
                  </a:lnTo>
                  <a:lnTo>
                    <a:pt x="1331569" y="55589"/>
                  </a:lnTo>
                  <a:lnTo>
                    <a:pt x="1302177" y="26197"/>
                  </a:lnTo>
                  <a:lnTo>
                    <a:pt x="1264905" y="6922"/>
                  </a:lnTo>
                  <a:lnTo>
                    <a:pt x="1221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object 57"/>
            <p:cNvSpPr/>
            <p:nvPr/>
          </p:nvSpPr>
          <p:spPr>
            <a:xfrm>
              <a:off x="7780232" y="3371521"/>
              <a:ext cx="1358265" cy="2854960"/>
            </a:xfrm>
            <a:custGeom>
              <a:avLst/>
              <a:gdLst/>
              <a:ahLst/>
              <a:cxnLst/>
              <a:rect l="l" t="t" r="r" b="b"/>
              <a:pathLst>
                <a:path w="1358265" h="2854960">
                  <a:moveTo>
                    <a:pt x="0" y="135776"/>
                  </a:moveTo>
                  <a:lnTo>
                    <a:pt x="6921" y="92860"/>
                  </a:lnTo>
                  <a:lnTo>
                    <a:pt x="26197" y="55588"/>
                  </a:lnTo>
                  <a:lnTo>
                    <a:pt x="55588" y="26197"/>
                  </a:lnTo>
                  <a:lnTo>
                    <a:pt x="92860" y="6921"/>
                  </a:lnTo>
                  <a:lnTo>
                    <a:pt x="135776" y="0"/>
                  </a:lnTo>
                  <a:lnTo>
                    <a:pt x="1221990" y="0"/>
                  </a:lnTo>
                  <a:lnTo>
                    <a:pt x="1264905" y="6921"/>
                  </a:lnTo>
                  <a:lnTo>
                    <a:pt x="1302177" y="26197"/>
                  </a:lnTo>
                  <a:lnTo>
                    <a:pt x="1331569" y="55588"/>
                  </a:lnTo>
                  <a:lnTo>
                    <a:pt x="1350844" y="92860"/>
                  </a:lnTo>
                  <a:lnTo>
                    <a:pt x="1357767" y="135776"/>
                  </a:lnTo>
                  <a:lnTo>
                    <a:pt x="1357767" y="2718985"/>
                  </a:lnTo>
                  <a:lnTo>
                    <a:pt x="1350844" y="2761901"/>
                  </a:lnTo>
                  <a:lnTo>
                    <a:pt x="1331569" y="2799173"/>
                  </a:lnTo>
                  <a:lnTo>
                    <a:pt x="1302177" y="2828565"/>
                  </a:lnTo>
                  <a:lnTo>
                    <a:pt x="1264905" y="2847840"/>
                  </a:lnTo>
                  <a:lnTo>
                    <a:pt x="1221990" y="2854762"/>
                  </a:lnTo>
                  <a:lnTo>
                    <a:pt x="135776" y="2854762"/>
                  </a:lnTo>
                  <a:lnTo>
                    <a:pt x="92860" y="2847840"/>
                  </a:lnTo>
                  <a:lnTo>
                    <a:pt x="55588" y="2828565"/>
                  </a:lnTo>
                  <a:lnTo>
                    <a:pt x="26197" y="2799173"/>
                  </a:lnTo>
                  <a:lnTo>
                    <a:pt x="6921" y="2761901"/>
                  </a:lnTo>
                  <a:lnTo>
                    <a:pt x="0" y="2718985"/>
                  </a:lnTo>
                  <a:lnTo>
                    <a:pt x="0" y="135776"/>
                  </a:lnTo>
                  <a:close/>
                </a:path>
              </a:pathLst>
            </a:custGeom>
            <a:ln w="12699">
              <a:solidFill>
                <a:srgbClr val="81B8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object 58"/>
            <p:cNvSpPr txBox="1"/>
            <p:nvPr/>
          </p:nvSpPr>
          <p:spPr>
            <a:xfrm>
              <a:off x="7992390" y="4054682"/>
              <a:ext cx="939800" cy="13970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25000"/>
                </a:lnSpc>
                <a:spcBef>
                  <a:spcPts val="10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易分析性 易改变性 稳定性 易测试性</a:t>
              </a:r>
              <a:endPara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1" name="object 59"/>
            <p:cNvSpPr/>
            <p:nvPr/>
          </p:nvSpPr>
          <p:spPr>
            <a:xfrm>
              <a:off x="9223973" y="2424987"/>
              <a:ext cx="1500446" cy="60267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object 60"/>
            <p:cNvSpPr/>
            <p:nvPr/>
          </p:nvSpPr>
          <p:spPr>
            <a:xfrm>
              <a:off x="9339111" y="2533628"/>
              <a:ext cx="1470660" cy="575310"/>
            </a:xfrm>
            <a:custGeom>
              <a:avLst/>
              <a:gdLst/>
              <a:ahLst/>
              <a:cxnLst/>
              <a:rect l="l" t="t" r="r" b="b"/>
              <a:pathLst>
                <a:path w="1470659" h="575310">
                  <a:moveTo>
                    <a:pt x="1413062" y="0"/>
                  </a:moveTo>
                  <a:lnTo>
                    <a:pt x="57468" y="0"/>
                  </a:lnTo>
                  <a:lnTo>
                    <a:pt x="35099" y="4516"/>
                  </a:lnTo>
                  <a:lnTo>
                    <a:pt x="16832" y="16831"/>
                  </a:lnTo>
                  <a:lnTo>
                    <a:pt x="4516" y="35098"/>
                  </a:lnTo>
                  <a:lnTo>
                    <a:pt x="0" y="57467"/>
                  </a:lnTo>
                  <a:lnTo>
                    <a:pt x="0" y="517216"/>
                  </a:lnTo>
                  <a:lnTo>
                    <a:pt x="4516" y="539584"/>
                  </a:lnTo>
                  <a:lnTo>
                    <a:pt x="16832" y="557851"/>
                  </a:lnTo>
                  <a:lnTo>
                    <a:pt x="35099" y="570167"/>
                  </a:lnTo>
                  <a:lnTo>
                    <a:pt x="57468" y="574683"/>
                  </a:lnTo>
                  <a:lnTo>
                    <a:pt x="1413062" y="574683"/>
                  </a:lnTo>
                  <a:lnTo>
                    <a:pt x="1435431" y="570167"/>
                  </a:lnTo>
                  <a:lnTo>
                    <a:pt x="1453698" y="557851"/>
                  </a:lnTo>
                  <a:lnTo>
                    <a:pt x="1466014" y="539584"/>
                  </a:lnTo>
                  <a:lnTo>
                    <a:pt x="1470530" y="517216"/>
                  </a:lnTo>
                  <a:lnTo>
                    <a:pt x="1470530" y="57467"/>
                  </a:lnTo>
                  <a:lnTo>
                    <a:pt x="1466014" y="35098"/>
                  </a:lnTo>
                  <a:lnTo>
                    <a:pt x="1453698" y="16831"/>
                  </a:lnTo>
                  <a:lnTo>
                    <a:pt x="1435431" y="4516"/>
                  </a:lnTo>
                  <a:lnTo>
                    <a:pt x="1413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object 61"/>
            <p:cNvSpPr/>
            <p:nvPr/>
          </p:nvSpPr>
          <p:spPr>
            <a:xfrm>
              <a:off x="9339111" y="2533628"/>
              <a:ext cx="1470660" cy="575310"/>
            </a:xfrm>
            <a:custGeom>
              <a:avLst/>
              <a:gdLst/>
              <a:ahLst/>
              <a:cxnLst/>
              <a:rect l="l" t="t" r="r" b="b"/>
              <a:pathLst>
                <a:path w="1470659" h="575310">
                  <a:moveTo>
                    <a:pt x="0" y="57467"/>
                  </a:moveTo>
                  <a:lnTo>
                    <a:pt x="4516" y="35098"/>
                  </a:lnTo>
                  <a:lnTo>
                    <a:pt x="16832" y="16832"/>
                  </a:lnTo>
                  <a:lnTo>
                    <a:pt x="35098" y="4516"/>
                  </a:lnTo>
                  <a:lnTo>
                    <a:pt x="57467" y="0"/>
                  </a:lnTo>
                  <a:lnTo>
                    <a:pt x="1413062" y="0"/>
                  </a:lnTo>
                  <a:lnTo>
                    <a:pt x="1435431" y="4516"/>
                  </a:lnTo>
                  <a:lnTo>
                    <a:pt x="1453698" y="16832"/>
                  </a:lnTo>
                  <a:lnTo>
                    <a:pt x="1466013" y="35098"/>
                  </a:lnTo>
                  <a:lnTo>
                    <a:pt x="1470529" y="57467"/>
                  </a:lnTo>
                  <a:lnTo>
                    <a:pt x="1470529" y="517216"/>
                  </a:lnTo>
                  <a:lnTo>
                    <a:pt x="1466013" y="539585"/>
                  </a:lnTo>
                  <a:lnTo>
                    <a:pt x="1453698" y="557851"/>
                  </a:lnTo>
                  <a:lnTo>
                    <a:pt x="1435431" y="570167"/>
                  </a:lnTo>
                  <a:lnTo>
                    <a:pt x="1413062" y="574683"/>
                  </a:lnTo>
                  <a:lnTo>
                    <a:pt x="57467" y="574683"/>
                  </a:lnTo>
                  <a:lnTo>
                    <a:pt x="35098" y="570167"/>
                  </a:lnTo>
                  <a:lnTo>
                    <a:pt x="16832" y="557851"/>
                  </a:lnTo>
                  <a:lnTo>
                    <a:pt x="4516" y="539585"/>
                  </a:lnTo>
                  <a:lnTo>
                    <a:pt x="0" y="517216"/>
                  </a:lnTo>
                  <a:lnTo>
                    <a:pt x="0" y="57467"/>
                  </a:lnTo>
                  <a:close/>
                </a:path>
              </a:pathLst>
            </a:custGeom>
            <a:ln w="12699">
              <a:solidFill>
                <a:srgbClr val="81B8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object 62"/>
            <p:cNvSpPr txBox="1"/>
            <p:nvPr/>
          </p:nvSpPr>
          <p:spPr>
            <a:xfrm>
              <a:off x="9607653" y="2659680"/>
              <a:ext cx="9398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可移植性</a:t>
              </a:r>
              <a:endPara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5" name="object 63"/>
            <p:cNvSpPr/>
            <p:nvPr/>
          </p:nvSpPr>
          <p:spPr>
            <a:xfrm>
              <a:off x="9223973" y="3281198"/>
              <a:ext cx="1500446" cy="286373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object 64"/>
            <p:cNvSpPr/>
            <p:nvPr/>
          </p:nvSpPr>
          <p:spPr>
            <a:xfrm>
              <a:off x="9339111" y="3391177"/>
              <a:ext cx="1470660" cy="2835910"/>
            </a:xfrm>
            <a:custGeom>
              <a:avLst/>
              <a:gdLst/>
              <a:ahLst/>
              <a:cxnLst/>
              <a:rect l="l" t="t" r="r" b="b"/>
              <a:pathLst>
                <a:path w="1470659" h="2835910">
                  <a:moveTo>
                    <a:pt x="1323478" y="0"/>
                  </a:moveTo>
                  <a:lnTo>
                    <a:pt x="147053" y="0"/>
                  </a:lnTo>
                  <a:lnTo>
                    <a:pt x="100573" y="7496"/>
                  </a:lnTo>
                  <a:lnTo>
                    <a:pt x="60205" y="28372"/>
                  </a:lnTo>
                  <a:lnTo>
                    <a:pt x="28372" y="60205"/>
                  </a:lnTo>
                  <a:lnTo>
                    <a:pt x="7496" y="100573"/>
                  </a:lnTo>
                  <a:lnTo>
                    <a:pt x="0" y="147053"/>
                  </a:lnTo>
                  <a:lnTo>
                    <a:pt x="0" y="2688635"/>
                  </a:lnTo>
                  <a:lnTo>
                    <a:pt x="7496" y="2735115"/>
                  </a:lnTo>
                  <a:lnTo>
                    <a:pt x="28372" y="2775483"/>
                  </a:lnTo>
                  <a:lnTo>
                    <a:pt x="60205" y="2807315"/>
                  </a:lnTo>
                  <a:lnTo>
                    <a:pt x="100573" y="2828191"/>
                  </a:lnTo>
                  <a:lnTo>
                    <a:pt x="147053" y="2835688"/>
                  </a:lnTo>
                  <a:lnTo>
                    <a:pt x="1323478" y="2835688"/>
                  </a:lnTo>
                  <a:lnTo>
                    <a:pt x="1369958" y="2828191"/>
                  </a:lnTo>
                  <a:lnTo>
                    <a:pt x="1410325" y="2807315"/>
                  </a:lnTo>
                  <a:lnTo>
                    <a:pt x="1442157" y="2775483"/>
                  </a:lnTo>
                  <a:lnTo>
                    <a:pt x="1463033" y="2735115"/>
                  </a:lnTo>
                  <a:lnTo>
                    <a:pt x="1470530" y="2688635"/>
                  </a:lnTo>
                  <a:lnTo>
                    <a:pt x="1470530" y="147053"/>
                  </a:lnTo>
                  <a:lnTo>
                    <a:pt x="1463033" y="100573"/>
                  </a:lnTo>
                  <a:lnTo>
                    <a:pt x="1442157" y="60205"/>
                  </a:lnTo>
                  <a:lnTo>
                    <a:pt x="1410325" y="28372"/>
                  </a:lnTo>
                  <a:lnTo>
                    <a:pt x="1369958" y="7496"/>
                  </a:lnTo>
                  <a:lnTo>
                    <a:pt x="13234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object 65"/>
            <p:cNvSpPr/>
            <p:nvPr/>
          </p:nvSpPr>
          <p:spPr>
            <a:xfrm>
              <a:off x="9339111" y="3391177"/>
              <a:ext cx="1470660" cy="2835910"/>
            </a:xfrm>
            <a:custGeom>
              <a:avLst/>
              <a:gdLst/>
              <a:ahLst/>
              <a:cxnLst/>
              <a:rect l="l" t="t" r="r" b="b"/>
              <a:pathLst>
                <a:path w="1470659" h="2835910">
                  <a:moveTo>
                    <a:pt x="0" y="147053"/>
                  </a:moveTo>
                  <a:lnTo>
                    <a:pt x="7496" y="100572"/>
                  </a:lnTo>
                  <a:lnTo>
                    <a:pt x="28372" y="60205"/>
                  </a:lnTo>
                  <a:lnTo>
                    <a:pt x="60205" y="28372"/>
                  </a:lnTo>
                  <a:lnTo>
                    <a:pt x="100572" y="7496"/>
                  </a:lnTo>
                  <a:lnTo>
                    <a:pt x="147053" y="0"/>
                  </a:lnTo>
                  <a:lnTo>
                    <a:pt x="1323477" y="0"/>
                  </a:lnTo>
                  <a:lnTo>
                    <a:pt x="1369957" y="7496"/>
                  </a:lnTo>
                  <a:lnTo>
                    <a:pt x="1410324" y="28372"/>
                  </a:lnTo>
                  <a:lnTo>
                    <a:pt x="1442157" y="60205"/>
                  </a:lnTo>
                  <a:lnTo>
                    <a:pt x="1463032" y="100572"/>
                  </a:lnTo>
                  <a:lnTo>
                    <a:pt x="1470529" y="147053"/>
                  </a:lnTo>
                  <a:lnTo>
                    <a:pt x="1470529" y="2688635"/>
                  </a:lnTo>
                  <a:lnTo>
                    <a:pt x="1463032" y="2735115"/>
                  </a:lnTo>
                  <a:lnTo>
                    <a:pt x="1442157" y="2775482"/>
                  </a:lnTo>
                  <a:lnTo>
                    <a:pt x="1410324" y="2807315"/>
                  </a:lnTo>
                  <a:lnTo>
                    <a:pt x="1369957" y="2828191"/>
                  </a:lnTo>
                  <a:lnTo>
                    <a:pt x="1323477" y="2835688"/>
                  </a:lnTo>
                  <a:lnTo>
                    <a:pt x="147053" y="2835688"/>
                  </a:lnTo>
                  <a:lnTo>
                    <a:pt x="100572" y="2828191"/>
                  </a:lnTo>
                  <a:lnTo>
                    <a:pt x="60205" y="2807315"/>
                  </a:lnTo>
                  <a:lnTo>
                    <a:pt x="28372" y="2775482"/>
                  </a:lnTo>
                  <a:lnTo>
                    <a:pt x="7496" y="2735115"/>
                  </a:lnTo>
                  <a:lnTo>
                    <a:pt x="0" y="2688635"/>
                  </a:lnTo>
                  <a:lnTo>
                    <a:pt x="0" y="147053"/>
                  </a:lnTo>
                  <a:close/>
                </a:path>
              </a:pathLst>
            </a:custGeom>
            <a:ln w="12699">
              <a:solidFill>
                <a:srgbClr val="81B8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object 66"/>
            <p:cNvSpPr txBox="1"/>
            <p:nvPr/>
          </p:nvSpPr>
          <p:spPr>
            <a:xfrm>
              <a:off x="9607653" y="4064801"/>
              <a:ext cx="939800" cy="13970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25000"/>
                </a:lnSpc>
                <a:spcBef>
                  <a:spcPts val="100"/>
                </a:spcBef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适应性 易安装性 共存性 替换性</a:t>
              </a:r>
              <a:endPara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1646" y="841494"/>
            <a:ext cx="10788707" cy="721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软件调研要求：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其中的技术点是程序内容生成技术（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PCG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）在城市场景生成中的应用以及多大语言模型（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PCG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结合的策略。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评分标准：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一份针对两个软件评估报告                           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一份针对两个涉及技术点的论文的总结报告    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398D5D-1EE6-F05A-4903-AE5E3EEA408C}"/>
              </a:ext>
            </a:extLst>
          </p:cNvPr>
          <p:cNvSpPr txBox="1"/>
          <p:nvPr/>
        </p:nvSpPr>
        <p:spPr>
          <a:xfrm>
            <a:off x="871329" y="524502"/>
            <a:ext cx="10299434" cy="11188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报告格式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(word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或者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软件评估报告：两部分内容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两个软件的介绍 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两个软件基于质量模型的对比表格                                                    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论文的总结报告包括：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论文内容简介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优势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不足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可实现性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性能指标 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50000"/>
              </a:lnSpc>
            </a:pP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5000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AEAB7C3-4D10-BDFC-A1D1-497EEDB9355A}"/>
              </a:ext>
            </a:extLst>
          </p:cNvPr>
          <p:cNvSpPr txBox="1"/>
          <p:nvPr/>
        </p:nvSpPr>
        <p:spPr>
          <a:xfrm>
            <a:off x="738229" y="607921"/>
            <a:ext cx="10715542" cy="7565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作业提交要求：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最后收取一份针对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两篇涉及技术点的论文的总结报告</a:t>
            </a:r>
            <a:r>
              <a:rPr lang="zh-CN" altLang="en-US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和一份针对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Blender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城市场景生成插件的评估报告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，两者不一定绑定。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将调研结果打包为压缩包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zip</a:t>
            </a:r>
          </a:p>
          <a:p>
            <a:pPr marL="342900" indent="-342900" algn="just" latinLnBrk="1">
              <a:lnSpc>
                <a:spcPct val="150000"/>
              </a:lnSpc>
              <a:buAutoNum type="arabicPeriod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命名方式：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第一次个人作业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同时上传飞书收集表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https://nankai.feishu.cn/share/base/form/shrcn7Y7RdakI4hz1nikLGiU6eb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提交时间：</a:t>
            </a:r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endParaRPr lang="en-US" altLang="zh-CN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22974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374</TotalTime>
  <Words>788</Words>
  <Application>Microsoft Office PowerPoint</Application>
  <PresentationFormat>自定义</PresentationFormat>
  <Paragraphs>56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等线 Light</vt:lpstr>
      <vt:lpstr>微软雅黑</vt:lpstr>
      <vt:lpstr>Arial</vt:lpstr>
      <vt:lpstr>Calibri</vt:lpstr>
      <vt:lpstr>Calibri Light</vt:lpstr>
      <vt:lpstr>Wingdings</vt:lpstr>
      <vt:lpstr>Office 主题​​</vt:lpstr>
      <vt:lpstr>软件工程第一次作业 --软件调研  截至日期：3月30日晚上24点  分数：5</vt:lpstr>
      <vt:lpstr>PowerPoint 演示文稿</vt:lpstr>
      <vt:lpstr>PowerPoint 演示文稿</vt:lpstr>
      <vt:lpstr>PowerPoint 演示文稿</vt:lpstr>
      <vt:lpstr>ISO9126 质量模型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第0次个人作业  截至日期：3月1日中午12点</dc:title>
  <dc:creator>小亮 王</dc:creator>
  <cp:lastModifiedBy>lenovo</cp:lastModifiedBy>
  <cp:revision>54</cp:revision>
  <dcterms:created xsi:type="dcterms:W3CDTF">2024-03-01T02:56:35Z</dcterms:created>
  <dcterms:modified xsi:type="dcterms:W3CDTF">2026-03-13T07:55:01Z</dcterms:modified>
</cp:coreProperties>
</file>