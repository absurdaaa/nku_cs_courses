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2" r:id="rId4"/>
    <p:sldId id="267" r:id="rId5"/>
    <p:sldId id="258" r:id="rId6"/>
    <p:sldId id="259" r:id="rId7"/>
    <p:sldId id="260" r:id="rId8"/>
    <p:sldId id="261" r:id="rId9"/>
    <p:sldId id="956" r:id="rId10"/>
    <p:sldId id="957" r:id="rId11"/>
    <p:sldId id="959" r:id="rId12"/>
    <p:sldId id="958" r:id="rId13"/>
  </p:sldIdLst>
  <p:sldSz cx="12192000" cy="6858000"/>
  <p:notesSz cx="6858000" cy="9144000"/>
  <p:custDataLst>
    <p:tags r:id="rId1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6" d="100"/>
          <a:sy n="96" d="100"/>
        </p:scale>
        <p:origin x="480" y="52"/>
      </p:cViewPr>
      <p:guideLst>
        <p:guide orient="horz" pos="2160"/>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slideLayouts/_rels/slideLayout1.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slideMaster" Target="../slideMasters/slideMaster1.xml"/><Relationship Id="rId5" Type="http://schemas.openxmlformats.org/officeDocument/2006/relationships/tags" Target="../tags/tag12.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slideMaster" Target="../slideMasters/slideMaster1.xml"/><Relationship Id="rId5" Type="http://schemas.openxmlformats.org/officeDocument/2006/relationships/tags" Target="../tags/tag17.xml"/><Relationship Id="rId4" Type="http://schemas.openxmlformats.org/officeDocument/2006/relationships/tags" Target="../tags/tag16.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slideMaster" Target="../slideMasters/slideMaster1.xml"/><Relationship Id="rId5" Type="http://schemas.openxmlformats.org/officeDocument/2006/relationships/tags" Target="../tags/tag22.xml"/><Relationship Id="rId4" Type="http://schemas.openxmlformats.org/officeDocument/2006/relationships/tags" Target="../tags/tag2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5.xml"/><Relationship Id="rId7" Type="http://schemas.openxmlformats.org/officeDocument/2006/relationships/slideMaster" Target="../slideMasters/slideMaster1.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6.xml"/><Relationship Id="rId3" Type="http://schemas.openxmlformats.org/officeDocument/2006/relationships/tags" Target="../tags/tag31.xml"/><Relationship Id="rId7" Type="http://schemas.openxmlformats.org/officeDocument/2006/relationships/tags" Target="../tags/tag35.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slideMaster" Target="../slideMasters/slideMaster1.xml"/><Relationship Id="rId4" Type="http://schemas.openxmlformats.org/officeDocument/2006/relationships/tags" Target="../tags/tag40.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tags" Target="../tags/tag41.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6.xml"/><Relationship Id="rId7" Type="http://schemas.openxmlformats.org/officeDocument/2006/relationships/slideMaster" Target="../slideMasters/slideMaster1.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slideMaster" Target="../slideMasters/slideMaster1.xml"/><Relationship Id="rId5" Type="http://schemas.openxmlformats.org/officeDocument/2006/relationships/tags" Target="../tags/tag54.xml"/><Relationship Id="rId4" Type="http://schemas.openxmlformats.org/officeDocument/2006/relationships/tags" Target="../tags/tag53.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slideMaster" Target="../slideMasters/slideMaster1.xml"/><Relationship Id="rId4" Type="http://schemas.openxmlformats.org/officeDocument/2006/relationships/tags" Target="../tags/tag58.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slideMaster" Target="../slideMasters/slideMaster1.xml"/><Relationship Id="rId5" Type="http://schemas.openxmlformats.org/officeDocument/2006/relationships/tags" Target="../tags/tag63.xml"/><Relationship Id="rId4" Type="http://schemas.openxmlformats.org/officeDocument/2006/relationships/tags" Target="../tags/tag6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2025/3/17</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2025/3/17</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2025/3/17</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2025/3/17</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2025/3/17</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2025/3/17</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2025/3/17</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2025/3/17</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2025/3/17</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2025/3/17</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2025/3/17</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18" Type="http://schemas.openxmlformats.org/officeDocument/2006/relationships/tags" Target="../tags/tag7.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tags" Target="../tags/tag5.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4.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2025/3/17</a:t>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ustDataLst>
      <p:tags r:id="rId13"/>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tags" Target="../tags/tag64.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8.xml"/><Relationship Id="rId1" Type="http://schemas.openxmlformats.org/officeDocument/2006/relationships/tags" Target="../tags/tag67.xml"/><Relationship Id="rId4"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1.xml"/><Relationship Id="rId1" Type="http://schemas.openxmlformats.org/officeDocument/2006/relationships/tags" Target="../tags/tag70.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7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7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74.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p:txBody>
          <a:bodyPr/>
          <a:lstStyle/>
          <a:p>
            <a:r>
              <a:rPr lang="zh-CN" altLang="zh-CN"/>
              <a:t>软件工程大作业</a:t>
            </a:r>
          </a:p>
        </p:txBody>
      </p:sp>
      <p:sp>
        <p:nvSpPr>
          <p:cNvPr id="3" name="副标题 2"/>
          <p:cNvSpPr>
            <a:spLocks noGrp="1"/>
          </p:cNvSpPr>
          <p:nvPr>
            <p:ph type="subTitle" idx="1"/>
            <p:custDataLst>
              <p:tags r:id="rId3"/>
            </p:custDataLst>
          </p:nvPr>
        </p:nvSpPr>
        <p:spPr/>
        <p:txBody>
          <a:bodyPr/>
          <a:lstStyle/>
          <a:p>
            <a:r>
              <a:rPr lang="zh-CN" altLang="en-US" dirty="0"/>
              <a:t>智慧海洋牧场可视化系统</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背景</a:t>
            </a:r>
          </a:p>
        </p:txBody>
      </p:sp>
      <p:sp>
        <p:nvSpPr>
          <p:cNvPr id="3" name="内容占位符 2"/>
          <p:cNvSpPr>
            <a:spLocks noGrp="1"/>
          </p:cNvSpPr>
          <p:nvPr>
            <p:ph idx="1"/>
          </p:nvPr>
        </p:nvSpPr>
        <p:spPr>
          <a:xfrm>
            <a:off x="608330" y="1490345"/>
            <a:ext cx="3977005" cy="4759325"/>
          </a:xfrm>
        </p:spPr>
        <p:txBody>
          <a:bodyPr>
            <a:noAutofit/>
          </a:bodyPr>
          <a:lstStyle/>
          <a:p>
            <a:r>
              <a:rPr lang="zh-CN" altLang="en-US">
                <a:sym typeface="+mn-ea"/>
              </a:rPr>
              <a:t>中国在全球渔业养殖中具有重要地位</a:t>
            </a:r>
            <a:r>
              <a:rPr lang="zh-CN" altLang="en-US"/>
              <a:t>。然而，目前我国水产养殖系统存在一系列问题。国外采用现代水质传感器技术和在线监控系统来全面监控养殖环境，并通过自动化养殖设备实现环境控制，提高效率，对环境起到积极作用。为了应对这些问题，中国在十四五发展计划中计划构建“物联网+海洋牧场”，通过物联网、大数据、云计算等现代信息技术，</a:t>
            </a:r>
            <a:r>
              <a:rPr lang="zh-CN" altLang="en-US">
                <a:solidFill>
                  <a:srgbClr val="FF0000"/>
                </a:solidFill>
              </a:rPr>
              <a:t>建立全面、实时、智能的养殖监控系统</a:t>
            </a:r>
            <a:r>
              <a:rPr lang="zh-CN" altLang="en-US"/>
              <a:t>，精确控制养殖环境，提高效率，减少病害的发生。</a:t>
            </a:r>
          </a:p>
        </p:txBody>
      </p:sp>
      <p:pic>
        <p:nvPicPr>
          <p:cNvPr id="9" name="图片 9" descr="f2424db8c50dacc49949349ae6ab392"/>
          <p:cNvPicPr>
            <a:picLocks noChangeAspect="1"/>
          </p:cNvPicPr>
          <p:nvPr>
            <p:custDataLst>
              <p:tags r:id="rId2"/>
            </p:custDataLst>
          </p:nvPr>
        </p:nvPicPr>
        <p:blipFill>
          <a:blip r:embed="rId4"/>
          <a:srcRect b="8425"/>
          <a:stretch>
            <a:fillRect/>
          </a:stretch>
        </p:blipFill>
        <p:spPr>
          <a:xfrm>
            <a:off x="4585335" y="1684655"/>
            <a:ext cx="7494905" cy="4409440"/>
          </a:xfrm>
          <a:prstGeom prst="rect">
            <a:avLst/>
          </a:prstGeom>
          <a:ln>
            <a:noFill/>
          </a:ln>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功能模块</a:t>
            </a:r>
          </a:p>
        </p:txBody>
      </p:sp>
      <p:sp>
        <p:nvSpPr>
          <p:cNvPr id="3" name="内容占位符 2"/>
          <p:cNvSpPr>
            <a:spLocks noGrp="1"/>
          </p:cNvSpPr>
          <p:nvPr>
            <p:ph idx="1"/>
          </p:nvPr>
        </p:nvSpPr>
        <p:spPr/>
        <p:txBody>
          <a:bodyPr/>
          <a:lstStyle/>
          <a:p>
            <a:r>
              <a:rPr lang="zh-CN" altLang="en-US" sz="2000" dirty="0">
                <a:solidFill>
                  <a:srgbClr val="FF0000"/>
                </a:solidFill>
              </a:rPr>
              <a:t>数据处理与分析模块</a:t>
            </a:r>
            <a:r>
              <a:rPr lang="zh-CN" altLang="en-US" sz="2000" dirty="0"/>
              <a:t>：数据处理与分析模块对存储在分布式管理系统中的数据进行处理和分析，生成可视化所需的数据。</a:t>
            </a:r>
          </a:p>
          <a:p>
            <a:r>
              <a:rPr lang="zh-CN" altLang="en-US" sz="2000" dirty="0">
                <a:solidFill>
                  <a:srgbClr val="FF0000"/>
                </a:solidFill>
              </a:rPr>
              <a:t>可视化展示模块</a:t>
            </a:r>
            <a:r>
              <a:rPr lang="zh-CN" altLang="en-US" sz="2000" dirty="0"/>
              <a:t>：可视化展示模块负责将处理后的数据以图形化的方式展示出来，使得用户可以直观地了解海洋牧场的运行状况和趋势。这包括各种图表、地图、仪表盘等可视化元素。此模块的设计考虑到用户体验，使得用户可以通过简单的操作获取所需的信息。</a:t>
            </a:r>
          </a:p>
          <a:p>
            <a:r>
              <a:rPr lang="zh-CN" altLang="en-US" sz="2000" dirty="0">
                <a:solidFill>
                  <a:srgbClr val="FF0000"/>
                </a:solidFill>
              </a:rPr>
              <a:t>报警与通知模块</a:t>
            </a:r>
            <a:r>
              <a:rPr lang="zh-CN" altLang="en-US" sz="2000" dirty="0"/>
              <a:t>：报警与通知模块负责在数据异常时及时向用户发送报警信息。用户可以根据自己的需求设置报警阈值和报警方式，确保能够在第一时间发现并处理问题。</a:t>
            </a:r>
          </a:p>
          <a:p>
            <a:r>
              <a:rPr lang="zh-CN" altLang="en-US" sz="2000" dirty="0">
                <a:solidFill>
                  <a:srgbClr val="FF0000"/>
                </a:solidFill>
                <a:sym typeface="+mn-ea"/>
              </a:rPr>
              <a:t>用户信息模块</a:t>
            </a:r>
            <a:r>
              <a:rPr lang="zh-CN" altLang="en-US" sz="2000" dirty="0">
                <a:sym typeface="+mn-ea"/>
              </a:rPr>
              <a:t>：用户可以通过手机号或者账号密码注册登录该系统并查看可视化系统，可以加验证码等功能。</a:t>
            </a:r>
            <a:endParaRPr lang="zh-CN" altLang="en-US" sz="2000" dirty="0"/>
          </a:p>
          <a:p>
            <a:endParaRPr lang="zh-CN" altLang="en-US" sz="2000" dirty="0"/>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p:cNvPicPr>
            <a:picLocks noGrp="1" noChangeAspect="1"/>
          </p:cNvPicPr>
          <p:nvPr>
            <p:ph idx="1"/>
            <p:custDataLst>
              <p:tags r:id="rId2"/>
            </p:custDataLst>
          </p:nvPr>
        </p:nvPicPr>
        <p:blipFill>
          <a:blip r:embed="rId4"/>
          <a:stretch>
            <a:fillRect/>
          </a:stretch>
        </p:blipFill>
        <p:spPr>
          <a:xfrm>
            <a:off x="608330" y="723900"/>
            <a:ext cx="10585450" cy="5304790"/>
          </a:xfrm>
          <a:prstGeom prst="rect">
            <a:avLst/>
          </a:prstGeom>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8" name="内容占位符 7"/>
          <p:cNvPicPr>
            <a:picLocks noGrp="1" noChangeAspect="1"/>
          </p:cNvPicPr>
          <p:nvPr>
            <p:ph idx="1"/>
          </p:nvPr>
        </p:nvPicPr>
        <p:blipFill>
          <a:blip r:embed="rId3"/>
          <a:srcRect r="600" b="3660"/>
          <a:stretch>
            <a:fillRect/>
          </a:stretch>
        </p:blipFill>
        <p:spPr>
          <a:xfrm>
            <a:off x="309880" y="184785"/>
            <a:ext cx="11466830" cy="6250940"/>
          </a:xfrm>
          <a:prstGeom prst="rect">
            <a:avLst/>
          </a:prstGeom>
        </p:spPr>
      </p:pic>
      <p:sp>
        <p:nvSpPr>
          <p:cNvPr id="9" name="文本框 8"/>
          <p:cNvSpPr txBox="1"/>
          <p:nvPr/>
        </p:nvSpPr>
        <p:spPr>
          <a:xfrm>
            <a:off x="1729740" y="945515"/>
            <a:ext cx="4064000" cy="368300"/>
          </a:xfrm>
          <a:prstGeom prst="rect">
            <a:avLst/>
          </a:prstGeom>
          <a:noFill/>
        </p:spPr>
        <p:txBody>
          <a:bodyPr wrap="square" rtlCol="0">
            <a:spAutoFit/>
          </a:bodyPr>
          <a:lstStyle/>
          <a:p>
            <a:r>
              <a:rPr lang="zh-CN" altLang="en-US">
                <a:solidFill>
                  <a:srgbClr val="FF0000"/>
                </a:solidFill>
              </a:rPr>
              <a:t>视频展示</a:t>
            </a:r>
          </a:p>
        </p:txBody>
      </p:sp>
      <p:sp>
        <p:nvSpPr>
          <p:cNvPr id="10" name="文本框 9"/>
          <p:cNvSpPr txBox="1"/>
          <p:nvPr/>
        </p:nvSpPr>
        <p:spPr>
          <a:xfrm>
            <a:off x="1892300" y="4107180"/>
            <a:ext cx="4064000" cy="368300"/>
          </a:xfrm>
          <a:prstGeom prst="rect">
            <a:avLst/>
          </a:prstGeom>
          <a:noFill/>
        </p:spPr>
        <p:txBody>
          <a:bodyPr wrap="square" rtlCol="0">
            <a:spAutoFit/>
          </a:bodyPr>
          <a:lstStyle/>
          <a:p>
            <a:r>
              <a:rPr lang="zh-CN" altLang="en-US">
                <a:solidFill>
                  <a:srgbClr val="FF0000"/>
                </a:solidFill>
              </a:rPr>
              <a:t>附加功能</a:t>
            </a:r>
          </a:p>
        </p:txBody>
      </p:sp>
      <p:sp>
        <p:nvSpPr>
          <p:cNvPr id="11" name="文本框 10"/>
          <p:cNvSpPr txBox="1"/>
          <p:nvPr/>
        </p:nvSpPr>
        <p:spPr>
          <a:xfrm>
            <a:off x="5995670" y="1023620"/>
            <a:ext cx="4064000" cy="368300"/>
          </a:xfrm>
          <a:prstGeom prst="rect">
            <a:avLst/>
          </a:prstGeom>
          <a:noFill/>
        </p:spPr>
        <p:txBody>
          <a:bodyPr wrap="square" rtlCol="0">
            <a:spAutoFit/>
          </a:bodyPr>
          <a:lstStyle/>
          <a:p>
            <a:r>
              <a:rPr lang="zh-CN" altLang="en-US">
                <a:solidFill>
                  <a:srgbClr val="FF0000"/>
                </a:solidFill>
              </a:rPr>
              <a:t>水文数据展示</a:t>
            </a:r>
          </a:p>
        </p:txBody>
      </p:sp>
      <p:sp>
        <p:nvSpPr>
          <p:cNvPr id="12" name="文本框 11"/>
          <p:cNvSpPr txBox="1"/>
          <p:nvPr/>
        </p:nvSpPr>
        <p:spPr>
          <a:xfrm>
            <a:off x="5650865" y="3523615"/>
            <a:ext cx="4064000" cy="368300"/>
          </a:xfrm>
          <a:prstGeom prst="rect">
            <a:avLst/>
          </a:prstGeom>
          <a:noFill/>
        </p:spPr>
        <p:txBody>
          <a:bodyPr wrap="square" rtlCol="0">
            <a:spAutoFit/>
          </a:bodyPr>
          <a:lstStyle/>
          <a:p>
            <a:r>
              <a:rPr lang="zh-CN" altLang="en-US">
                <a:solidFill>
                  <a:srgbClr val="FF0000"/>
                </a:solidFill>
              </a:rPr>
              <a:t>海洋牧场位置展示</a:t>
            </a:r>
          </a:p>
        </p:txBody>
      </p:sp>
      <p:sp>
        <p:nvSpPr>
          <p:cNvPr id="13" name="文本框 12"/>
          <p:cNvSpPr txBox="1"/>
          <p:nvPr/>
        </p:nvSpPr>
        <p:spPr>
          <a:xfrm>
            <a:off x="8533765" y="2192020"/>
            <a:ext cx="2263775" cy="922020"/>
          </a:xfrm>
          <a:prstGeom prst="rect">
            <a:avLst/>
          </a:prstGeom>
          <a:noFill/>
        </p:spPr>
        <p:txBody>
          <a:bodyPr wrap="square" rtlCol="0">
            <a:spAutoFit/>
          </a:bodyPr>
          <a:lstStyle/>
          <a:p>
            <a:r>
              <a:rPr lang="zh-CN" altLang="en-US">
                <a:solidFill>
                  <a:srgbClr val="FF0000"/>
                </a:solidFill>
              </a:rPr>
              <a:t>历史水文数据展示，可选择日期和具体数据进行展示</a:t>
            </a: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p:cNvPicPr>
            <a:picLocks noGrp="1" noChangeAspect="1"/>
          </p:cNvPicPr>
          <p:nvPr>
            <p:ph idx="1"/>
          </p:nvPr>
        </p:nvPicPr>
        <p:blipFill>
          <a:blip r:embed="rId3"/>
          <a:srcRect r="72" b="3809"/>
          <a:stretch>
            <a:fillRect/>
          </a:stretch>
        </p:blipFill>
        <p:spPr>
          <a:xfrm>
            <a:off x="144780" y="120650"/>
            <a:ext cx="11856720" cy="6419850"/>
          </a:xfrm>
          <a:prstGeom prst="rect">
            <a:avLst/>
          </a:prstGeom>
        </p:spPr>
      </p:pic>
      <p:sp>
        <p:nvSpPr>
          <p:cNvPr id="5" name="文本框 4"/>
          <p:cNvSpPr txBox="1"/>
          <p:nvPr/>
        </p:nvSpPr>
        <p:spPr>
          <a:xfrm>
            <a:off x="9661525" y="4404995"/>
            <a:ext cx="4064000" cy="368300"/>
          </a:xfrm>
          <a:prstGeom prst="rect">
            <a:avLst/>
          </a:prstGeom>
          <a:noFill/>
        </p:spPr>
        <p:txBody>
          <a:bodyPr wrap="square" rtlCol="0">
            <a:spAutoFit/>
          </a:bodyPr>
          <a:lstStyle/>
          <a:p>
            <a:r>
              <a:rPr lang="zh-CN" altLang="en-US">
                <a:solidFill>
                  <a:srgbClr val="FF0000"/>
                </a:solidFill>
              </a:rPr>
              <a:t>鱼群种类统计</a:t>
            </a:r>
          </a:p>
        </p:txBody>
      </p:sp>
      <p:sp>
        <p:nvSpPr>
          <p:cNvPr id="6" name="文本框 5"/>
          <p:cNvSpPr txBox="1"/>
          <p:nvPr/>
        </p:nvSpPr>
        <p:spPr>
          <a:xfrm>
            <a:off x="3051175" y="4226560"/>
            <a:ext cx="2261235" cy="948690"/>
          </a:xfrm>
          <a:prstGeom prst="rect">
            <a:avLst/>
          </a:prstGeom>
          <a:noFill/>
        </p:spPr>
        <p:txBody>
          <a:bodyPr wrap="square" rtlCol="0">
            <a:noAutofit/>
          </a:bodyPr>
          <a:lstStyle/>
          <a:p>
            <a:r>
              <a:rPr lang="zh-CN" altLang="en-US">
                <a:solidFill>
                  <a:srgbClr val="FF0000"/>
                </a:solidFill>
              </a:rPr>
              <a:t>鱼群重量，尺寸，生命等信息统计</a:t>
            </a:r>
          </a:p>
        </p:txBody>
      </p:sp>
      <p:sp>
        <p:nvSpPr>
          <p:cNvPr id="7" name="文本框 6"/>
          <p:cNvSpPr txBox="1"/>
          <p:nvPr/>
        </p:nvSpPr>
        <p:spPr>
          <a:xfrm>
            <a:off x="2085975" y="777875"/>
            <a:ext cx="4064000" cy="368300"/>
          </a:xfrm>
          <a:prstGeom prst="rect">
            <a:avLst/>
          </a:prstGeom>
          <a:noFill/>
        </p:spPr>
        <p:txBody>
          <a:bodyPr wrap="square" rtlCol="0">
            <a:spAutoFit/>
          </a:bodyPr>
          <a:lstStyle/>
          <a:p>
            <a:r>
              <a:rPr lang="zh-CN" altLang="en-US">
                <a:solidFill>
                  <a:srgbClr val="FF0000"/>
                </a:solidFill>
              </a:rPr>
              <a:t>鱼群数量和数量变化展示</a:t>
            </a:r>
          </a:p>
        </p:txBody>
      </p:sp>
      <p:sp>
        <p:nvSpPr>
          <p:cNvPr id="8" name="文本框 7"/>
          <p:cNvSpPr txBox="1"/>
          <p:nvPr/>
        </p:nvSpPr>
        <p:spPr>
          <a:xfrm>
            <a:off x="1277620" y="1989455"/>
            <a:ext cx="4064000" cy="368300"/>
          </a:xfrm>
          <a:prstGeom prst="rect">
            <a:avLst/>
          </a:prstGeom>
          <a:noFill/>
        </p:spPr>
        <p:txBody>
          <a:bodyPr wrap="square" rtlCol="0">
            <a:spAutoFit/>
          </a:bodyPr>
          <a:lstStyle/>
          <a:p>
            <a:r>
              <a:rPr lang="zh-CN" altLang="en-US">
                <a:solidFill>
                  <a:srgbClr val="FF0000"/>
                </a:solidFill>
              </a:rPr>
              <a:t>环境得分计算</a:t>
            </a:r>
          </a:p>
        </p:txBody>
      </p:sp>
      <p:sp>
        <p:nvSpPr>
          <p:cNvPr id="9" name="文本框 8"/>
          <p:cNvSpPr txBox="1"/>
          <p:nvPr/>
        </p:nvSpPr>
        <p:spPr>
          <a:xfrm>
            <a:off x="952500" y="4374515"/>
            <a:ext cx="4064000" cy="368300"/>
          </a:xfrm>
          <a:prstGeom prst="rect">
            <a:avLst/>
          </a:prstGeom>
          <a:noFill/>
        </p:spPr>
        <p:txBody>
          <a:bodyPr wrap="square" rtlCol="0">
            <a:spAutoFit/>
          </a:bodyPr>
          <a:lstStyle/>
          <a:p>
            <a:r>
              <a:rPr lang="zh-CN" altLang="en-US">
                <a:solidFill>
                  <a:srgbClr val="FF0000"/>
                </a:solidFill>
              </a:rPr>
              <a:t>某鱼群数量变化</a:t>
            </a:r>
          </a:p>
        </p:txBody>
      </p:sp>
      <p:sp>
        <p:nvSpPr>
          <p:cNvPr id="10" name="文本框 9"/>
          <p:cNvSpPr txBox="1"/>
          <p:nvPr/>
        </p:nvSpPr>
        <p:spPr>
          <a:xfrm>
            <a:off x="5692140" y="945515"/>
            <a:ext cx="4064000" cy="368300"/>
          </a:xfrm>
          <a:prstGeom prst="rect">
            <a:avLst/>
          </a:prstGeom>
          <a:noFill/>
        </p:spPr>
        <p:txBody>
          <a:bodyPr wrap="square" rtlCol="0">
            <a:spAutoFit/>
          </a:bodyPr>
          <a:lstStyle/>
          <a:p>
            <a:r>
              <a:rPr lang="zh-CN" altLang="en-US">
                <a:solidFill>
                  <a:srgbClr val="FF0000"/>
                </a:solidFill>
              </a:rPr>
              <a:t>总信息统计展示</a:t>
            </a:r>
          </a:p>
        </p:txBody>
      </p:sp>
      <p:sp>
        <p:nvSpPr>
          <p:cNvPr id="11" name="文本框 10"/>
          <p:cNvSpPr txBox="1"/>
          <p:nvPr/>
        </p:nvSpPr>
        <p:spPr>
          <a:xfrm>
            <a:off x="9732645" y="866140"/>
            <a:ext cx="4064000" cy="368300"/>
          </a:xfrm>
          <a:prstGeom prst="rect">
            <a:avLst/>
          </a:prstGeom>
          <a:noFill/>
        </p:spPr>
        <p:txBody>
          <a:bodyPr wrap="square" rtlCol="0">
            <a:spAutoFit/>
          </a:bodyPr>
          <a:lstStyle/>
          <a:p>
            <a:r>
              <a:rPr lang="zh-CN" altLang="en-US">
                <a:solidFill>
                  <a:srgbClr val="FF0000"/>
                </a:solidFill>
              </a:rPr>
              <a:t>硬件信息</a:t>
            </a: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p:cNvPicPr>
            <a:picLocks noGrp="1" noChangeAspect="1"/>
          </p:cNvPicPr>
          <p:nvPr>
            <p:ph idx="1"/>
          </p:nvPr>
        </p:nvPicPr>
        <p:blipFill>
          <a:blip r:embed="rId3"/>
          <a:srcRect r="17" b="4278"/>
          <a:stretch>
            <a:fillRect/>
          </a:stretch>
        </p:blipFill>
        <p:spPr>
          <a:xfrm>
            <a:off x="99695" y="178435"/>
            <a:ext cx="12028170" cy="6477000"/>
          </a:xfrm>
          <a:prstGeom prst="rect">
            <a:avLst/>
          </a:prstGeom>
        </p:spPr>
      </p:pic>
      <p:sp>
        <p:nvSpPr>
          <p:cNvPr id="5" name="文本框 4"/>
          <p:cNvSpPr txBox="1"/>
          <p:nvPr/>
        </p:nvSpPr>
        <p:spPr>
          <a:xfrm>
            <a:off x="1151890" y="4290060"/>
            <a:ext cx="4064000" cy="368300"/>
          </a:xfrm>
          <a:prstGeom prst="rect">
            <a:avLst/>
          </a:prstGeom>
          <a:noFill/>
        </p:spPr>
        <p:txBody>
          <a:bodyPr wrap="square" rtlCol="0">
            <a:spAutoFit/>
          </a:bodyPr>
          <a:lstStyle/>
          <a:p>
            <a:r>
              <a:rPr lang="zh-CN" altLang="en-US">
                <a:solidFill>
                  <a:srgbClr val="FF0000"/>
                </a:solidFill>
              </a:rPr>
              <a:t>数据类型统计</a:t>
            </a:r>
          </a:p>
        </p:txBody>
      </p:sp>
      <p:sp>
        <p:nvSpPr>
          <p:cNvPr id="6" name="文本框 5"/>
          <p:cNvSpPr txBox="1"/>
          <p:nvPr/>
        </p:nvSpPr>
        <p:spPr>
          <a:xfrm>
            <a:off x="2703830" y="899160"/>
            <a:ext cx="4064000" cy="368300"/>
          </a:xfrm>
          <a:prstGeom prst="rect">
            <a:avLst/>
          </a:prstGeom>
          <a:noFill/>
        </p:spPr>
        <p:txBody>
          <a:bodyPr wrap="square" rtlCol="0">
            <a:spAutoFit/>
          </a:bodyPr>
          <a:lstStyle/>
          <a:p>
            <a:r>
              <a:rPr lang="zh-CN" altLang="en-US">
                <a:solidFill>
                  <a:srgbClr val="FF0000"/>
                </a:solidFill>
              </a:rPr>
              <a:t>数据总量</a:t>
            </a:r>
          </a:p>
        </p:txBody>
      </p:sp>
      <p:sp>
        <p:nvSpPr>
          <p:cNvPr id="7" name="文本框 6"/>
          <p:cNvSpPr txBox="1"/>
          <p:nvPr/>
        </p:nvSpPr>
        <p:spPr>
          <a:xfrm>
            <a:off x="2301240" y="2910840"/>
            <a:ext cx="4064000" cy="368300"/>
          </a:xfrm>
          <a:prstGeom prst="rect">
            <a:avLst/>
          </a:prstGeom>
          <a:noFill/>
        </p:spPr>
        <p:txBody>
          <a:bodyPr wrap="square" rtlCol="0">
            <a:spAutoFit/>
          </a:bodyPr>
          <a:lstStyle/>
          <a:p>
            <a:r>
              <a:rPr lang="zh-CN" altLang="en-US">
                <a:solidFill>
                  <a:srgbClr val="FF0000"/>
                </a:solidFill>
              </a:rPr>
              <a:t>硬件信息统计</a:t>
            </a:r>
          </a:p>
        </p:txBody>
      </p:sp>
      <p:sp>
        <p:nvSpPr>
          <p:cNvPr id="8" name="文本框 7"/>
          <p:cNvSpPr txBox="1"/>
          <p:nvPr/>
        </p:nvSpPr>
        <p:spPr>
          <a:xfrm>
            <a:off x="8344535" y="777240"/>
            <a:ext cx="4064000" cy="368300"/>
          </a:xfrm>
          <a:prstGeom prst="rect">
            <a:avLst/>
          </a:prstGeom>
          <a:noFill/>
        </p:spPr>
        <p:txBody>
          <a:bodyPr wrap="square" rtlCol="0">
            <a:spAutoFit/>
          </a:bodyPr>
          <a:lstStyle/>
          <a:p>
            <a:r>
              <a:rPr lang="zh-CN" altLang="en-US">
                <a:solidFill>
                  <a:srgbClr val="FF0000"/>
                </a:solidFill>
              </a:rPr>
              <a:t>传感器信息</a:t>
            </a:r>
          </a:p>
        </p:txBody>
      </p:sp>
      <p:sp>
        <p:nvSpPr>
          <p:cNvPr id="9" name="文本框 8"/>
          <p:cNvSpPr txBox="1"/>
          <p:nvPr/>
        </p:nvSpPr>
        <p:spPr>
          <a:xfrm>
            <a:off x="4938395" y="928370"/>
            <a:ext cx="4064000" cy="368300"/>
          </a:xfrm>
          <a:prstGeom prst="rect">
            <a:avLst/>
          </a:prstGeom>
          <a:noFill/>
        </p:spPr>
        <p:txBody>
          <a:bodyPr wrap="square" rtlCol="0">
            <a:spAutoFit/>
          </a:bodyPr>
          <a:lstStyle/>
          <a:p>
            <a:r>
              <a:rPr lang="zh-CN" altLang="en-US">
                <a:solidFill>
                  <a:srgbClr val="FF0000"/>
                </a:solidFill>
              </a:rPr>
              <a:t>数据中心分布</a:t>
            </a:r>
          </a:p>
        </p:txBody>
      </p:sp>
      <p:sp>
        <p:nvSpPr>
          <p:cNvPr id="10" name="文本框 9"/>
          <p:cNvSpPr txBox="1"/>
          <p:nvPr/>
        </p:nvSpPr>
        <p:spPr>
          <a:xfrm>
            <a:off x="9392920" y="4611370"/>
            <a:ext cx="4064000" cy="368300"/>
          </a:xfrm>
          <a:prstGeom prst="rect">
            <a:avLst/>
          </a:prstGeom>
          <a:noFill/>
        </p:spPr>
        <p:txBody>
          <a:bodyPr wrap="square" rtlCol="0">
            <a:spAutoFit/>
          </a:bodyPr>
          <a:lstStyle/>
          <a:p>
            <a:r>
              <a:rPr lang="zh-CN" altLang="en-US">
                <a:solidFill>
                  <a:srgbClr val="FF0000"/>
                </a:solidFill>
              </a:rPr>
              <a:t>数据库交互统计</a:t>
            </a: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p:cNvPicPr>
            <a:picLocks noGrp="1" noChangeAspect="1"/>
          </p:cNvPicPr>
          <p:nvPr>
            <p:ph idx="1"/>
          </p:nvPr>
        </p:nvPicPr>
        <p:blipFill>
          <a:blip r:embed="rId3"/>
          <a:srcRect r="300" b="3695"/>
          <a:stretch>
            <a:fillRect/>
          </a:stretch>
        </p:blipFill>
        <p:spPr>
          <a:xfrm>
            <a:off x="233045" y="216535"/>
            <a:ext cx="11606530" cy="6305550"/>
          </a:xfrm>
          <a:prstGeom prst="rect">
            <a:avLst/>
          </a:prstGeom>
        </p:spPr>
      </p:pic>
      <p:sp>
        <p:nvSpPr>
          <p:cNvPr id="5" name="文本框 4"/>
          <p:cNvSpPr txBox="1"/>
          <p:nvPr/>
        </p:nvSpPr>
        <p:spPr>
          <a:xfrm>
            <a:off x="1362075" y="1426210"/>
            <a:ext cx="4064000" cy="368300"/>
          </a:xfrm>
          <a:prstGeom prst="rect">
            <a:avLst/>
          </a:prstGeom>
          <a:noFill/>
        </p:spPr>
        <p:txBody>
          <a:bodyPr wrap="square" rtlCol="0">
            <a:spAutoFit/>
          </a:bodyPr>
          <a:lstStyle/>
          <a:p>
            <a:r>
              <a:rPr lang="zh-CN" altLang="en-US">
                <a:solidFill>
                  <a:srgbClr val="FF0000"/>
                </a:solidFill>
              </a:rPr>
              <a:t>环境得分计算</a:t>
            </a:r>
          </a:p>
        </p:txBody>
      </p:sp>
      <p:sp>
        <p:nvSpPr>
          <p:cNvPr id="6" name="文本框 5"/>
          <p:cNvSpPr txBox="1"/>
          <p:nvPr/>
        </p:nvSpPr>
        <p:spPr>
          <a:xfrm>
            <a:off x="1352550" y="3188335"/>
            <a:ext cx="4064000" cy="368300"/>
          </a:xfrm>
          <a:prstGeom prst="rect">
            <a:avLst/>
          </a:prstGeom>
          <a:noFill/>
        </p:spPr>
        <p:txBody>
          <a:bodyPr wrap="square" rtlCol="0">
            <a:spAutoFit/>
          </a:bodyPr>
          <a:lstStyle/>
          <a:p>
            <a:r>
              <a:rPr lang="zh-CN" altLang="en-US"/>
              <a:t>预警</a:t>
            </a:r>
          </a:p>
        </p:txBody>
      </p:sp>
      <p:sp>
        <p:nvSpPr>
          <p:cNvPr id="7" name="文本框 6"/>
          <p:cNvSpPr txBox="1"/>
          <p:nvPr/>
        </p:nvSpPr>
        <p:spPr>
          <a:xfrm>
            <a:off x="4168775" y="947420"/>
            <a:ext cx="4064000" cy="368300"/>
          </a:xfrm>
          <a:prstGeom prst="rect">
            <a:avLst/>
          </a:prstGeom>
          <a:noFill/>
        </p:spPr>
        <p:txBody>
          <a:bodyPr wrap="square" rtlCol="0">
            <a:spAutoFit/>
          </a:bodyPr>
          <a:lstStyle/>
          <a:p>
            <a:r>
              <a:rPr lang="zh-CN" altLang="en-US">
                <a:solidFill>
                  <a:srgbClr val="FF0000"/>
                </a:solidFill>
              </a:rPr>
              <a:t>图像识别</a:t>
            </a:r>
          </a:p>
        </p:txBody>
      </p:sp>
      <p:sp>
        <p:nvSpPr>
          <p:cNvPr id="8" name="文本框 7"/>
          <p:cNvSpPr txBox="1"/>
          <p:nvPr/>
        </p:nvSpPr>
        <p:spPr>
          <a:xfrm>
            <a:off x="4149090" y="4184650"/>
            <a:ext cx="4064000" cy="368300"/>
          </a:xfrm>
          <a:prstGeom prst="rect">
            <a:avLst/>
          </a:prstGeom>
          <a:noFill/>
        </p:spPr>
        <p:txBody>
          <a:bodyPr wrap="square" rtlCol="0">
            <a:spAutoFit/>
          </a:bodyPr>
          <a:lstStyle/>
          <a:p>
            <a:r>
              <a:rPr lang="zh-CN" altLang="en-US">
                <a:solidFill>
                  <a:srgbClr val="FF0000"/>
                </a:solidFill>
              </a:rPr>
              <a:t>识别出的鱼的信息</a:t>
            </a: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需求分析</a:t>
            </a:r>
            <a:r>
              <a:rPr lang="en-US" altLang="zh-CN" b="1" dirty="0"/>
              <a:t>/</a:t>
            </a:r>
            <a:r>
              <a:rPr lang="zh-CN" altLang="en-US" b="1" dirty="0"/>
              <a:t>软件设计作业</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buClrTx/>
              <a:buSzTx/>
              <a:buFontTx/>
              <a:buNone/>
              <a:defRPr/>
            </a:pPr>
            <a:fld id="{74D2AB8B-5816-41F2-8B4B-CA5C3E4E6A65}"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t>9</a:t>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5" name="内容占位符 4"/>
          <p:cNvSpPr>
            <a:spLocks noGrp="1"/>
          </p:cNvSpPr>
          <p:nvPr>
            <p:ph idx="1"/>
          </p:nvPr>
        </p:nvSpPr>
        <p:spPr>
          <a:xfrm>
            <a:off x="838200" y="1572052"/>
            <a:ext cx="10515600" cy="347662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spcBef>
                <a:spcPts val="1200"/>
              </a:spcBef>
              <a:spcAft>
                <a:spcPts val="1200"/>
              </a:spcAft>
            </a:pPr>
            <a:r>
              <a:rPr lang="zh-CN" altLang="en-US" sz="2400" b="1" kern="100" dirty="0">
                <a:latin typeface="宋体" panose="02010600030101010101" pitchFamily="2" charset="-122"/>
                <a:ea typeface="宋体" panose="02010600030101010101" pitchFamily="2" charset="-122"/>
                <a:cs typeface="Times New Roman" panose="02020603050405020304" pitchFamily="18" charset="0"/>
              </a:rPr>
              <a:t>题目：</a:t>
            </a:r>
            <a:r>
              <a:rPr lang="zh-CN" altLang="zh-CN" sz="2400" b="1" kern="100" dirty="0">
                <a:latin typeface="宋体" panose="02010600030101010101" pitchFamily="2" charset="-122"/>
                <a:ea typeface="宋体" panose="02010600030101010101" pitchFamily="2" charset="-122"/>
                <a:cs typeface="Times New Roman" panose="02020603050405020304" pitchFamily="18" charset="0"/>
              </a:rPr>
              <a:t>“智慧</a:t>
            </a:r>
            <a:r>
              <a:rPr lang="zh-CN" altLang="en-US" sz="2400" b="1" kern="100" dirty="0">
                <a:latin typeface="宋体" panose="02010600030101010101" pitchFamily="2" charset="-122"/>
                <a:ea typeface="宋体" panose="02010600030101010101" pitchFamily="2" charset="-122"/>
                <a:cs typeface="Times New Roman" panose="02020603050405020304" pitchFamily="18" charset="0"/>
              </a:rPr>
              <a:t>海洋牧场</a:t>
            </a:r>
            <a:r>
              <a:rPr lang="zh-CN" altLang="zh-CN" sz="2400" b="1" kern="100" dirty="0">
                <a:latin typeface="宋体" panose="02010600030101010101" pitchFamily="2" charset="-122"/>
                <a:ea typeface="宋体" panose="02010600030101010101" pitchFamily="2" charset="-122"/>
                <a:cs typeface="Times New Roman" panose="02020603050405020304" pitchFamily="18" charset="0"/>
              </a:rPr>
              <a:t>可视化系统”</a:t>
            </a:r>
            <a:endParaRPr lang="zh-CN" altLang="zh-CN" sz="2400" kern="100" dirty="0">
              <a:latin typeface="宋体" panose="02010600030101010101" pitchFamily="2" charset="-122"/>
              <a:ea typeface="宋体" panose="02010600030101010101" pitchFamily="2" charset="-122"/>
              <a:cs typeface="Times New Roman" panose="02020603050405020304" pitchFamily="18" charset="0"/>
            </a:endParaRPr>
          </a:p>
          <a:p>
            <a:pPr marL="800100" lvl="1" indent="-342900" algn="just">
              <a:lnSpc>
                <a:spcPct val="150000"/>
              </a:lnSpc>
              <a:spcBef>
                <a:spcPts val="1200"/>
              </a:spcBef>
              <a:spcAft>
                <a:spcPts val="1200"/>
              </a:spcAft>
              <a:buFont typeface="Arial" panose="020B0604020202020204" pitchFamily="34" charset="0"/>
              <a:buChar char="•"/>
            </a:pPr>
            <a:r>
              <a:rPr lang="zh-CN" altLang="en-US" sz="2400" kern="100" dirty="0">
                <a:latin typeface="宋体" panose="02010600030101010101" pitchFamily="2" charset="-122"/>
                <a:ea typeface="宋体" panose="02010600030101010101" pitchFamily="2" charset="-122"/>
                <a:cs typeface="Times New Roman" panose="02020603050405020304" pitchFamily="18" charset="0"/>
              </a:rPr>
              <a:t>用户：用户（如要区分可分为普通用户与养殖户）、管理人员</a:t>
            </a:r>
            <a:r>
              <a:rPr lang="en-US" altLang="zh-CN" sz="2400" kern="100" dirty="0">
                <a:latin typeface="宋体" panose="02010600030101010101" pitchFamily="2" charset="-122"/>
                <a:ea typeface="宋体" panose="02010600030101010101" pitchFamily="2" charset="-122"/>
                <a:cs typeface="Times New Roman" panose="02020603050405020304" pitchFamily="18" charset="0"/>
              </a:rPr>
              <a:t>……</a:t>
            </a:r>
          </a:p>
          <a:p>
            <a:pPr marL="800100" lvl="1" indent="-342900" algn="just">
              <a:lnSpc>
                <a:spcPct val="150000"/>
              </a:lnSpc>
              <a:spcBef>
                <a:spcPts val="1200"/>
              </a:spcBef>
              <a:spcAft>
                <a:spcPts val="1200"/>
              </a:spcAft>
              <a:buFont typeface="Arial" panose="020B0604020202020204" pitchFamily="34" charset="0"/>
              <a:buChar char="•"/>
            </a:pPr>
            <a:r>
              <a:rPr lang="zh-CN" altLang="en-US" sz="2400" kern="100" dirty="0">
                <a:latin typeface="宋体" panose="02010600030101010101" pitchFamily="2" charset="-122"/>
                <a:ea typeface="宋体" panose="02010600030101010101" pitchFamily="2" charset="-122"/>
                <a:cs typeface="Times New Roman" panose="02020603050405020304" pitchFamily="18" charset="0"/>
              </a:rPr>
              <a:t>功能（包括但不限于）：系统注册</a:t>
            </a:r>
            <a:r>
              <a:rPr lang="en-US" altLang="zh-CN" sz="2400" kern="100" dirty="0">
                <a:latin typeface="宋体" panose="02010600030101010101" pitchFamily="2" charset="-122"/>
                <a:ea typeface="宋体" panose="02010600030101010101" pitchFamily="2" charset="-122"/>
                <a:cs typeface="Times New Roman" panose="02020603050405020304" pitchFamily="18" charset="0"/>
              </a:rPr>
              <a:t>/</a:t>
            </a:r>
            <a:r>
              <a:rPr lang="zh-CN" altLang="en-US" sz="2400" kern="100" dirty="0">
                <a:latin typeface="宋体" panose="02010600030101010101" pitchFamily="2" charset="-122"/>
                <a:ea typeface="宋体" panose="02010600030101010101" pitchFamily="2" charset="-122"/>
                <a:cs typeface="Times New Roman" panose="02020603050405020304" pitchFamily="18" charset="0"/>
              </a:rPr>
              <a:t>登录、系统用户信息的增删改查、普通用户与管理员的操作权限、渔场数据处理（删除、异常检测、数据分析、数据清洗等）、操作日志</a:t>
            </a:r>
            <a:r>
              <a:rPr lang="en-US" altLang="zh-CN" sz="2400" kern="100" dirty="0">
                <a:latin typeface="宋体" panose="02010600030101010101" pitchFamily="2" charset="-122"/>
                <a:ea typeface="宋体" panose="02010600030101010101" pitchFamily="2" charset="-122"/>
                <a:cs typeface="Times New Roman" panose="02020603050405020304" pitchFamily="18" charset="0"/>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8400" y="230718"/>
            <a:ext cx="10969200" cy="705600"/>
          </a:xfrm>
        </p:spPr>
        <p:txBody>
          <a:bodyPr/>
          <a:lstStyle/>
          <a:p>
            <a:r>
              <a:rPr lang="zh-CN" altLang="en-US" b="1" dirty="0"/>
              <a:t>需求分析报告</a:t>
            </a:r>
          </a:p>
        </p:txBody>
      </p:sp>
      <p:sp>
        <p:nvSpPr>
          <p:cNvPr id="3" name="内容占位符 2"/>
          <p:cNvSpPr>
            <a:spLocks noGrp="1"/>
          </p:cNvSpPr>
          <p:nvPr>
            <p:ph idx="1"/>
          </p:nvPr>
        </p:nvSpPr>
        <p:spPr>
          <a:xfrm>
            <a:off x="1741733" y="1082090"/>
            <a:ext cx="3549383" cy="4351338"/>
          </a:xfrm>
        </p:spPr>
        <p:txBody>
          <a:bodyPr>
            <a:noAutofit/>
          </a:bodyPr>
          <a:lstStyle/>
          <a:p>
            <a:r>
              <a:rPr lang="zh-CN" altLang="en-US" sz="1400" dirty="0">
                <a:solidFill>
                  <a:schemeClr val="tx1"/>
                </a:solidFill>
                <a:latin typeface="宋体" panose="02010600030101010101" pitchFamily="2" charset="-122"/>
                <a:ea typeface="宋体" panose="02010600030101010101" pitchFamily="2" charset="-122"/>
              </a:rPr>
              <a:t>一、引言</a:t>
            </a:r>
            <a:endParaRPr lang="en-US" altLang="zh-CN" sz="1400" dirty="0">
              <a:solidFill>
                <a:schemeClr val="tx1"/>
              </a:solidFill>
              <a:latin typeface="宋体" panose="02010600030101010101" pitchFamily="2" charset="-122"/>
              <a:ea typeface="宋体" panose="02010600030101010101" pitchFamily="2" charset="-122"/>
            </a:endParaRPr>
          </a:p>
          <a:p>
            <a:pPr lvl="1"/>
            <a:r>
              <a:rPr lang="zh-CN" altLang="en-US" sz="1400" dirty="0">
                <a:solidFill>
                  <a:schemeClr val="tx1"/>
                </a:solidFill>
                <a:latin typeface="宋体" panose="02010600030101010101" pitchFamily="2" charset="-122"/>
                <a:ea typeface="宋体" panose="02010600030101010101" pitchFamily="2" charset="-122"/>
              </a:rPr>
              <a:t>编写目的</a:t>
            </a:r>
            <a:endParaRPr lang="en-US" altLang="zh-CN" sz="1400" dirty="0">
              <a:solidFill>
                <a:schemeClr val="tx1"/>
              </a:solidFill>
              <a:latin typeface="宋体" panose="02010600030101010101" pitchFamily="2" charset="-122"/>
              <a:ea typeface="宋体" panose="02010600030101010101" pitchFamily="2" charset="-122"/>
            </a:endParaRPr>
          </a:p>
          <a:p>
            <a:pPr lvl="1"/>
            <a:r>
              <a:rPr lang="zh-CN" altLang="en-US" sz="1400" dirty="0">
                <a:solidFill>
                  <a:schemeClr val="tx1"/>
                </a:solidFill>
                <a:latin typeface="宋体" panose="02010600030101010101" pitchFamily="2" charset="-122"/>
                <a:ea typeface="宋体" panose="02010600030101010101" pitchFamily="2" charset="-122"/>
              </a:rPr>
              <a:t>项目背景</a:t>
            </a:r>
            <a:endParaRPr lang="en-US" altLang="zh-CN" sz="1400" dirty="0">
              <a:solidFill>
                <a:schemeClr val="tx1"/>
              </a:solidFill>
              <a:latin typeface="宋体" panose="02010600030101010101" pitchFamily="2" charset="-122"/>
              <a:ea typeface="宋体" panose="02010600030101010101" pitchFamily="2" charset="-122"/>
            </a:endParaRPr>
          </a:p>
          <a:p>
            <a:pPr lvl="1"/>
            <a:endParaRPr lang="en-US" altLang="zh-CN" sz="1400" dirty="0">
              <a:solidFill>
                <a:schemeClr val="tx1"/>
              </a:solidFill>
              <a:latin typeface="宋体" panose="02010600030101010101" pitchFamily="2" charset="-122"/>
              <a:ea typeface="宋体" panose="02010600030101010101" pitchFamily="2" charset="-122"/>
            </a:endParaRPr>
          </a:p>
          <a:p>
            <a:r>
              <a:rPr lang="zh-CN" altLang="en-US" sz="1400" dirty="0">
                <a:solidFill>
                  <a:schemeClr val="tx1"/>
                </a:solidFill>
                <a:latin typeface="宋体" panose="02010600030101010101" pitchFamily="2" charset="-122"/>
                <a:ea typeface="宋体" panose="02010600030101010101" pitchFamily="2" charset="-122"/>
              </a:rPr>
              <a:t>二、任务概述</a:t>
            </a:r>
            <a:endParaRPr lang="en-US" altLang="zh-CN" sz="1400" dirty="0">
              <a:solidFill>
                <a:schemeClr val="tx1"/>
              </a:solidFill>
              <a:latin typeface="宋体" panose="02010600030101010101" pitchFamily="2" charset="-122"/>
              <a:ea typeface="宋体" panose="02010600030101010101" pitchFamily="2" charset="-122"/>
            </a:endParaRPr>
          </a:p>
          <a:p>
            <a:pPr lvl="1"/>
            <a:r>
              <a:rPr lang="zh-CN" altLang="en-US" sz="1400" dirty="0">
                <a:solidFill>
                  <a:schemeClr val="tx1"/>
                </a:solidFill>
                <a:latin typeface="宋体" panose="02010600030101010101" pitchFamily="2" charset="-122"/>
                <a:ea typeface="宋体" panose="02010600030101010101" pitchFamily="2" charset="-122"/>
              </a:rPr>
              <a:t>任务目标</a:t>
            </a:r>
            <a:endParaRPr lang="en-US" altLang="zh-CN" sz="1400" dirty="0">
              <a:solidFill>
                <a:schemeClr val="tx1"/>
              </a:solidFill>
              <a:latin typeface="宋体" panose="02010600030101010101" pitchFamily="2" charset="-122"/>
              <a:ea typeface="宋体" panose="02010600030101010101" pitchFamily="2" charset="-122"/>
            </a:endParaRPr>
          </a:p>
          <a:p>
            <a:pPr lvl="1"/>
            <a:r>
              <a:rPr lang="zh-CN" altLang="en-US" sz="1400" dirty="0">
                <a:solidFill>
                  <a:schemeClr val="tx1"/>
                </a:solidFill>
                <a:latin typeface="宋体" panose="02010600030101010101" pitchFamily="2" charset="-122"/>
                <a:ea typeface="宋体" panose="02010600030101010101" pitchFamily="2" charset="-122"/>
              </a:rPr>
              <a:t>用户特点</a:t>
            </a:r>
            <a:endParaRPr lang="en-US" altLang="zh-CN" sz="1400" dirty="0">
              <a:solidFill>
                <a:schemeClr val="tx1"/>
              </a:solidFill>
              <a:latin typeface="宋体" panose="02010600030101010101" pitchFamily="2" charset="-122"/>
              <a:ea typeface="宋体" panose="02010600030101010101" pitchFamily="2" charset="-122"/>
            </a:endParaRPr>
          </a:p>
          <a:p>
            <a:pPr lvl="1"/>
            <a:r>
              <a:rPr lang="zh-CN" altLang="en-US" sz="1400" dirty="0">
                <a:solidFill>
                  <a:schemeClr val="tx1"/>
                </a:solidFill>
                <a:latin typeface="宋体" panose="02010600030101010101" pitchFamily="2" charset="-122"/>
                <a:ea typeface="宋体" panose="02010600030101010101" pitchFamily="2" charset="-122"/>
              </a:rPr>
              <a:t>假定与约束</a:t>
            </a:r>
            <a:endParaRPr lang="en-US" altLang="zh-CN" sz="1400" dirty="0">
              <a:solidFill>
                <a:schemeClr val="tx1"/>
              </a:solidFill>
              <a:latin typeface="宋体" panose="02010600030101010101" pitchFamily="2" charset="-122"/>
              <a:ea typeface="宋体" panose="02010600030101010101" pitchFamily="2" charset="-122"/>
            </a:endParaRPr>
          </a:p>
          <a:p>
            <a:pPr lvl="1"/>
            <a:endParaRPr lang="en-US" altLang="zh-CN" sz="1400" dirty="0">
              <a:solidFill>
                <a:schemeClr val="tx1"/>
              </a:solidFill>
              <a:latin typeface="宋体" panose="02010600030101010101" pitchFamily="2" charset="-122"/>
              <a:ea typeface="宋体" panose="02010600030101010101" pitchFamily="2" charset="-122"/>
            </a:endParaRPr>
          </a:p>
          <a:p>
            <a:r>
              <a:rPr lang="zh-CN" altLang="en-US" sz="1400" dirty="0">
                <a:solidFill>
                  <a:schemeClr val="tx1"/>
                </a:solidFill>
                <a:latin typeface="宋体" panose="02010600030101010101" pitchFamily="2" charset="-122"/>
                <a:ea typeface="宋体" panose="02010600030101010101" pitchFamily="2" charset="-122"/>
              </a:rPr>
              <a:t>三、业务描述</a:t>
            </a:r>
            <a:endParaRPr lang="en-US" altLang="zh-CN" sz="1400" dirty="0">
              <a:solidFill>
                <a:schemeClr val="tx1"/>
              </a:solidFill>
              <a:latin typeface="宋体" panose="02010600030101010101" pitchFamily="2" charset="-122"/>
              <a:ea typeface="宋体" panose="02010600030101010101" pitchFamily="2" charset="-122"/>
            </a:endParaRPr>
          </a:p>
          <a:p>
            <a:pPr lvl="1"/>
            <a:r>
              <a:rPr lang="zh-CN" altLang="en-US" sz="1400" dirty="0">
                <a:solidFill>
                  <a:schemeClr val="tx1"/>
                </a:solidFill>
                <a:latin typeface="宋体" panose="02010600030101010101" pitchFamily="2" charset="-122"/>
                <a:ea typeface="宋体" panose="02010600030101010101" pitchFamily="2" charset="-122"/>
              </a:rPr>
              <a:t>系统总业务流程图及其描述</a:t>
            </a:r>
            <a:endParaRPr lang="en-US" altLang="zh-CN" sz="1400" dirty="0">
              <a:solidFill>
                <a:schemeClr val="tx1"/>
              </a:solidFill>
              <a:latin typeface="宋体" panose="02010600030101010101" pitchFamily="2" charset="-122"/>
              <a:ea typeface="宋体" panose="02010600030101010101" pitchFamily="2" charset="-122"/>
            </a:endParaRPr>
          </a:p>
          <a:p>
            <a:pPr lvl="1"/>
            <a:r>
              <a:rPr lang="zh-CN" altLang="en-US" sz="1400" dirty="0">
                <a:solidFill>
                  <a:schemeClr val="tx1"/>
                </a:solidFill>
                <a:latin typeface="宋体" panose="02010600030101010101" pitchFamily="2" charset="-122"/>
                <a:ea typeface="宋体" panose="02010600030101010101" pitchFamily="2" charset="-122"/>
              </a:rPr>
              <a:t>各个子业务流程图及其描述</a:t>
            </a:r>
            <a:endParaRPr lang="en-US" altLang="zh-CN" sz="1400" dirty="0">
              <a:solidFill>
                <a:schemeClr val="tx1"/>
              </a:solidFill>
              <a:latin typeface="宋体" panose="02010600030101010101" pitchFamily="2" charset="-122"/>
              <a:ea typeface="宋体" panose="02010600030101010101" pitchFamily="2" charset="-122"/>
            </a:endParaRPr>
          </a:p>
          <a:p>
            <a:pPr lvl="1"/>
            <a:endParaRPr lang="en-US" altLang="zh-CN" sz="1400" dirty="0">
              <a:solidFill>
                <a:schemeClr val="tx1"/>
              </a:solidFill>
              <a:latin typeface="宋体" panose="02010600030101010101" pitchFamily="2" charset="-122"/>
              <a:ea typeface="宋体" panose="02010600030101010101" pitchFamily="2" charset="-122"/>
            </a:endParaRPr>
          </a:p>
        </p:txBody>
      </p:sp>
      <p:sp>
        <p:nvSpPr>
          <p:cNvPr id="6" name="内容占位符 2"/>
          <p:cNvSpPr txBox="1"/>
          <p:nvPr/>
        </p:nvSpPr>
        <p:spPr>
          <a:xfrm>
            <a:off x="5993645" y="1082090"/>
            <a:ext cx="3203110"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lang="zh-CN" altLang="en-US" sz="1400" dirty="0">
                <a:solidFill>
                  <a:schemeClr val="tx1"/>
                </a:solidFill>
                <a:latin typeface="宋体" panose="02010600030101010101" pitchFamily="2" charset="-122"/>
                <a:ea typeface="宋体" panose="02010600030101010101" pitchFamily="2" charset="-122"/>
              </a:rPr>
              <a:t>四、数据需求</a:t>
            </a:r>
            <a:endParaRPr lang="en-US" altLang="zh-CN" sz="1400" dirty="0">
              <a:solidFill>
                <a:schemeClr val="tx1"/>
              </a:solidFill>
              <a:latin typeface="宋体" panose="02010600030101010101" pitchFamily="2" charset="-122"/>
              <a:ea typeface="宋体" panose="02010600030101010101" pitchFamily="2" charset="-122"/>
            </a:endParaRPr>
          </a:p>
          <a:p>
            <a:pPr lvl="1">
              <a:defRPr/>
            </a:pPr>
            <a:r>
              <a:rPr lang="zh-CN" altLang="en-US" sz="1400" dirty="0">
                <a:solidFill>
                  <a:schemeClr val="tx1"/>
                </a:solidFill>
                <a:latin typeface="宋体" panose="02010600030101010101" pitchFamily="2" charset="-122"/>
                <a:ea typeface="宋体" panose="02010600030101010101" pitchFamily="2" charset="-122"/>
              </a:rPr>
              <a:t>数据需求描述</a:t>
            </a:r>
            <a:endParaRPr lang="en-US" altLang="zh-CN" sz="1400" dirty="0">
              <a:solidFill>
                <a:schemeClr val="tx1"/>
              </a:solidFill>
              <a:latin typeface="宋体" panose="02010600030101010101" pitchFamily="2" charset="-122"/>
              <a:ea typeface="宋体" panose="02010600030101010101" pitchFamily="2" charset="-122"/>
            </a:endParaRPr>
          </a:p>
          <a:p>
            <a:pPr lvl="1">
              <a:defRPr/>
            </a:pPr>
            <a:r>
              <a:rPr lang="zh-CN" altLang="en-US" sz="1400" dirty="0">
                <a:solidFill>
                  <a:schemeClr val="tx1"/>
                </a:solidFill>
                <a:latin typeface="宋体" panose="02010600030101010101" pitchFamily="2" charset="-122"/>
                <a:ea typeface="宋体" panose="02010600030101010101" pitchFamily="2" charset="-122"/>
              </a:rPr>
              <a:t>数据流图</a:t>
            </a:r>
            <a:endParaRPr lang="en-US" altLang="zh-CN" sz="1400" dirty="0">
              <a:solidFill>
                <a:schemeClr val="tx1"/>
              </a:solidFill>
              <a:latin typeface="宋体" panose="02010600030101010101" pitchFamily="2" charset="-122"/>
              <a:ea typeface="宋体" panose="02010600030101010101" pitchFamily="2" charset="-122"/>
            </a:endParaRPr>
          </a:p>
          <a:p>
            <a:pPr lvl="1">
              <a:defRPr/>
            </a:pPr>
            <a:r>
              <a:rPr lang="zh-CN" altLang="en-US" sz="1400" dirty="0">
                <a:solidFill>
                  <a:schemeClr val="tx1"/>
                </a:solidFill>
                <a:latin typeface="宋体" panose="02010600030101010101" pitchFamily="2" charset="-122"/>
                <a:ea typeface="宋体" panose="02010600030101010101" pitchFamily="2" charset="-122"/>
              </a:rPr>
              <a:t>数据字典</a:t>
            </a:r>
            <a:endParaRPr lang="en-US" altLang="zh-CN" sz="1400" dirty="0">
              <a:latin typeface="宋体" panose="02010600030101010101" pitchFamily="2" charset="-122"/>
              <a:ea typeface="宋体" panose="02010600030101010101" pitchFamily="2" charset="-122"/>
            </a:endParaRPr>
          </a:p>
          <a:p>
            <a:pPr lvl="1">
              <a:defRPr/>
            </a:pPr>
            <a:endParaRPr lang="en-US" altLang="zh-CN" sz="1400" dirty="0">
              <a:latin typeface="宋体" panose="02010600030101010101" pitchFamily="2" charset="-122"/>
              <a:ea typeface="宋体" panose="02010600030101010101" pitchFamily="2" charset="-122"/>
            </a:endParaRPr>
          </a:p>
          <a:p>
            <a:pPr>
              <a:defRPr/>
            </a:pPr>
            <a:r>
              <a:rPr lang="zh-CN" altLang="en-US" sz="1400" dirty="0">
                <a:latin typeface="宋体" panose="02010600030101010101" pitchFamily="2" charset="-122"/>
                <a:ea typeface="宋体" panose="02010600030101010101" pitchFamily="2" charset="-122"/>
              </a:rPr>
              <a:t>五、功能需求</a:t>
            </a:r>
            <a:endParaRPr lang="en-US" altLang="zh-CN" sz="1400" dirty="0">
              <a:latin typeface="宋体" panose="02010600030101010101" pitchFamily="2" charset="-122"/>
              <a:ea typeface="宋体" panose="02010600030101010101" pitchFamily="2" charset="-122"/>
            </a:endParaRPr>
          </a:p>
          <a:p>
            <a:pPr lvl="1">
              <a:defRPr/>
            </a:pPr>
            <a:r>
              <a:rPr lang="zh-CN" altLang="en-US" sz="1400" dirty="0">
                <a:latin typeface="宋体" panose="02010600030101010101" pitchFamily="2" charset="-122"/>
                <a:ea typeface="宋体" panose="02010600030101010101" pitchFamily="2" charset="-122"/>
              </a:rPr>
              <a:t>功能划分</a:t>
            </a:r>
            <a:endParaRPr lang="en-US" altLang="zh-CN" sz="1400" dirty="0">
              <a:latin typeface="宋体" panose="02010600030101010101" pitchFamily="2" charset="-122"/>
              <a:ea typeface="宋体" panose="02010600030101010101" pitchFamily="2" charset="-122"/>
            </a:endParaRPr>
          </a:p>
          <a:p>
            <a:pPr lvl="1">
              <a:defRPr/>
            </a:pPr>
            <a:r>
              <a:rPr lang="zh-CN" altLang="en-US" sz="1400" dirty="0">
                <a:latin typeface="宋体" panose="02010600030101010101" pitchFamily="2" charset="-122"/>
                <a:ea typeface="宋体" panose="02010600030101010101" pitchFamily="2" charset="-122"/>
              </a:rPr>
              <a:t>功能描述</a:t>
            </a:r>
            <a:endParaRPr lang="en-US" altLang="zh-CN" sz="1400" dirty="0">
              <a:latin typeface="宋体" panose="02010600030101010101" pitchFamily="2" charset="-122"/>
              <a:ea typeface="宋体" panose="02010600030101010101" pitchFamily="2" charset="-122"/>
            </a:endParaRPr>
          </a:p>
          <a:p>
            <a:pPr lvl="1">
              <a:defRPr/>
            </a:pPr>
            <a:endParaRPr lang="en-US" altLang="zh-CN" sz="1400" dirty="0">
              <a:latin typeface="宋体" panose="02010600030101010101" pitchFamily="2" charset="-122"/>
              <a:ea typeface="宋体" panose="02010600030101010101" pitchFamily="2" charset="-122"/>
            </a:endParaRPr>
          </a:p>
          <a:p>
            <a:pPr>
              <a:defRPr/>
            </a:pPr>
            <a:r>
              <a:rPr lang="zh-CN" altLang="en-US" sz="1400" dirty="0">
                <a:latin typeface="宋体" panose="02010600030101010101" pitchFamily="2" charset="-122"/>
                <a:ea typeface="宋体" panose="02010600030101010101" pitchFamily="2" charset="-122"/>
              </a:rPr>
              <a:t>六、性能</a:t>
            </a:r>
            <a:r>
              <a:rPr lang="en-US" altLang="zh-CN" sz="1400" dirty="0">
                <a:latin typeface="宋体" panose="02010600030101010101" pitchFamily="2" charset="-122"/>
                <a:ea typeface="宋体" panose="02010600030101010101" pitchFamily="2" charset="-122"/>
              </a:rPr>
              <a:t>/</a:t>
            </a:r>
            <a:r>
              <a:rPr lang="zh-CN" altLang="en-US" sz="1400" dirty="0">
                <a:latin typeface="宋体" panose="02010600030101010101" pitchFamily="2" charset="-122"/>
                <a:ea typeface="宋体" panose="02010600030101010101" pitchFamily="2" charset="-122"/>
              </a:rPr>
              <a:t>非功能需求</a:t>
            </a:r>
            <a:endParaRPr lang="en-US" altLang="zh-CN" sz="1400" dirty="0">
              <a:latin typeface="宋体" panose="02010600030101010101" pitchFamily="2" charset="-122"/>
              <a:ea typeface="宋体" panose="02010600030101010101" pitchFamily="2" charset="-122"/>
            </a:endParaRPr>
          </a:p>
          <a:p>
            <a:pPr lvl="1">
              <a:defRPr/>
            </a:pPr>
            <a:r>
              <a:rPr lang="zh-CN" altLang="en-US" sz="1400" dirty="0">
                <a:latin typeface="宋体" panose="02010600030101010101" pitchFamily="2" charset="-122"/>
                <a:ea typeface="宋体" panose="02010600030101010101" pitchFamily="2" charset="-122"/>
              </a:rPr>
              <a:t>系统的准确性、及时性、可扩充性、易用性、易维护性、标准性、先进性、</a:t>
            </a:r>
            <a:r>
              <a:rPr lang="en-US" altLang="zh-CN" sz="1400" dirty="0">
                <a:latin typeface="宋体" panose="02010600030101010101" pitchFamily="2" charset="-122"/>
                <a:ea typeface="宋体" panose="02010600030101010101" pitchFamily="2" charset="-122"/>
              </a:rPr>
              <a:t>……</a:t>
            </a:r>
          </a:p>
          <a:p>
            <a:pPr lvl="1">
              <a:defRPr/>
            </a:pPr>
            <a:endParaRPr lang="en-US" altLang="zh-CN" sz="1400" dirty="0">
              <a:latin typeface="宋体" panose="02010600030101010101" pitchFamily="2" charset="-122"/>
              <a:ea typeface="宋体" panose="02010600030101010101" pitchFamily="2" charset="-122"/>
            </a:endParaRPr>
          </a:p>
          <a:p>
            <a:pPr>
              <a:defRPr/>
            </a:pPr>
            <a:r>
              <a:rPr lang="zh-CN" altLang="en-US" sz="1400" dirty="0">
                <a:latin typeface="宋体" panose="02010600030101010101" pitchFamily="2" charset="-122"/>
                <a:ea typeface="宋体" panose="02010600030101010101" pitchFamily="2" charset="-122"/>
              </a:rPr>
              <a:t>七、系统运行要求</a:t>
            </a:r>
            <a:endParaRPr lang="en-US" altLang="zh-CN" sz="1400" dirty="0">
              <a:latin typeface="宋体" panose="02010600030101010101" pitchFamily="2" charset="-122"/>
              <a:ea typeface="宋体" panose="02010600030101010101" pitchFamily="2" charset="-122"/>
            </a:endParaRPr>
          </a:p>
          <a:p>
            <a:pPr lvl="1">
              <a:defRPr/>
            </a:pPr>
            <a:r>
              <a:rPr lang="zh-CN" altLang="en-US" sz="1400" dirty="0">
                <a:latin typeface="宋体" panose="02010600030101010101" pitchFamily="2" charset="-122"/>
                <a:ea typeface="宋体" panose="02010600030101010101" pitchFamily="2" charset="-122"/>
              </a:rPr>
              <a:t>硬件配置要求、软件配置要求、</a:t>
            </a:r>
            <a:r>
              <a:rPr lang="en-US" altLang="zh-CN" sz="1400" dirty="0">
                <a:latin typeface="宋体" panose="02010600030101010101" pitchFamily="2" charset="-122"/>
                <a:ea typeface="宋体" panose="02010600030101010101" pitchFamily="2" charset="-122"/>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8400" y="190962"/>
            <a:ext cx="10969200" cy="705600"/>
          </a:xfrm>
        </p:spPr>
        <p:txBody>
          <a:bodyPr/>
          <a:lstStyle/>
          <a:p>
            <a:r>
              <a:rPr lang="zh-CN" altLang="en-US" b="1" dirty="0"/>
              <a:t>软件设计报告</a:t>
            </a:r>
          </a:p>
        </p:txBody>
      </p:sp>
      <p:sp>
        <p:nvSpPr>
          <p:cNvPr id="3" name="内容占位符 2"/>
          <p:cNvSpPr>
            <a:spLocks noGrp="1"/>
          </p:cNvSpPr>
          <p:nvPr>
            <p:ph idx="1"/>
          </p:nvPr>
        </p:nvSpPr>
        <p:spPr>
          <a:xfrm>
            <a:off x="1761612" y="1081651"/>
            <a:ext cx="3549383" cy="4351338"/>
          </a:xfrm>
        </p:spPr>
        <p:txBody>
          <a:bodyPr>
            <a:noAutofit/>
          </a:bodyPr>
          <a:lstStyle/>
          <a:p>
            <a:pPr marL="228600" lvl="0" indent="-228600" defTabSz="914400">
              <a:lnSpc>
                <a:spcPct val="90000"/>
              </a:lnSpc>
              <a:spcBef>
                <a:spcPts val="1000"/>
              </a:spcBef>
              <a:buFont typeface="Arial" panose="020B0604020202020204" pitchFamily="34" charset="0"/>
              <a:buChar char="•"/>
            </a:pPr>
            <a:r>
              <a:rPr lang="zh-CN" altLang="en-US" sz="1600" dirty="0">
                <a:solidFill>
                  <a:prstClr val="black"/>
                </a:solidFill>
                <a:latin typeface="宋体" panose="02010600030101010101" pitchFamily="2" charset="-122"/>
                <a:ea typeface="宋体" panose="02010600030101010101" pitchFamily="2" charset="-122"/>
                <a:sym typeface="+mn-ea"/>
              </a:rPr>
              <a:t>一、用例图</a:t>
            </a:r>
            <a:endParaRPr lang="en-US" altLang="zh-CN" sz="1600" dirty="0">
              <a:solidFill>
                <a:prstClr val="black"/>
              </a:solidFill>
              <a:latin typeface="宋体" panose="02010600030101010101" pitchFamily="2" charset="-122"/>
              <a:ea typeface="宋体" panose="02010600030101010101" pitchFamily="2" charset="-122"/>
            </a:endParaRPr>
          </a:p>
          <a:p>
            <a:pPr marL="228600" lvl="0" indent="-228600" defTabSz="914400">
              <a:lnSpc>
                <a:spcPct val="90000"/>
              </a:lnSpc>
              <a:spcBef>
                <a:spcPts val="1000"/>
              </a:spcBef>
              <a:buFont typeface="Arial" panose="020B0604020202020204" pitchFamily="34" charset="0"/>
              <a:buChar char="•"/>
            </a:pPr>
            <a:r>
              <a:rPr lang="zh-CN" altLang="en-US" sz="1600" dirty="0">
                <a:solidFill>
                  <a:prstClr val="black"/>
                </a:solidFill>
                <a:latin typeface="宋体" panose="02010600030101010101" pitchFamily="2" charset="-122"/>
                <a:ea typeface="宋体" panose="02010600030101010101" pitchFamily="2" charset="-122"/>
                <a:sym typeface="+mn-ea"/>
              </a:rPr>
              <a:t>二、活动图</a:t>
            </a:r>
            <a:endParaRPr lang="en-US" altLang="zh-CN" sz="1600" dirty="0">
              <a:solidFill>
                <a:prstClr val="black"/>
              </a:solidFill>
              <a:latin typeface="宋体" panose="02010600030101010101" pitchFamily="2" charset="-122"/>
              <a:ea typeface="宋体" panose="02010600030101010101" pitchFamily="2" charset="-122"/>
            </a:endParaRPr>
          </a:p>
          <a:p>
            <a:pPr marL="228600" lvl="0" indent="-228600" defTabSz="914400">
              <a:lnSpc>
                <a:spcPct val="90000"/>
              </a:lnSpc>
              <a:spcBef>
                <a:spcPts val="1000"/>
              </a:spcBef>
              <a:buFont typeface="Arial" panose="020B0604020202020204" pitchFamily="34" charset="0"/>
              <a:buChar char="•"/>
            </a:pPr>
            <a:r>
              <a:rPr lang="zh-CN" altLang="en-US" sz="1600" dirty="0">
                <a:solidFill>
                  <a:prstClr val="black"/>
                </a:solidFill>
                <a:latin typeface="宋体" panose="02010600030101010101" pitchFamily="2" charset="-122"/>
                <a:ea typeface="宋体" panose="02010600030101010101" pitchFamily="2" charset="-122"/>
                <a:sym typeface="+mn-ea"/>
              </a:rPr>
              <a:t>三、类图</a:t>
            </a:r>
            <a:endParaRPr lang="en-US" altLang="zh-CN" sz="1600" dirty="0">
              <a:solidFill>
                <a:prstClr val="black"/>
              </a:solidFill>
              <a:latin typeface="宋体" panose="02010600030101010101" pitchFamily="2" charset="-122"/>
              <a:ea typeface="宋体" panose="02010600030101010101" pitchFamily="2" charset="-122"/>
            </a:endParaRPr>
          </a:p>
          <a:p>
            <a:pPr marL="228600" lvl="0" indent="-228600" defTabSz="914400">
              <a:lnSpc>
                <a:spcPct val="90000"/>
              </a:lnSpc>
              <a:spcBef>
                <a:spcPts val="1000"/>
              </a:spcBef>
              <a:buFont typeface="Arial" panose="020B0604020202020204" pitchFamily="34" charset="0"/>
              <a:buChar char="•"/>
            </a:pPr>
            <a:r>
              <a:rPr lang="zh-CN" altLang="en-US" sz="1600" dirty="0">
                <a:solidFill>
                  <a:prstClr val="black"/>
                </a:solidFill>
                <a:latin typeface="宋体" panose="02010600030101010101" pitchFamily="2" charset="-122"/>
                <a:ea typeface="宋体" panose="02010600030101010101" pitchFamily="2" charset="-122"/>
                <a:sym typeface="+mn-ea"/>
              </a:rPr>
              <a:t>四、顺序图</a:t>
            </a:r>
            <a:endParaRPr lang="en-US" altLang="zh-CN" sz="1600" dirty="0">
              <a:solidFill>
                <a:prstClr val="black"/>
              </a:solidFill>
              <a:latin typeface="宋体" panose="02010600030101010101" pitchFamily="2" charset="-122"/>
              <a:ea typeface="宋体" panose="02010600030101010101" pitchFamily="2" charset="-122"/>
            </a:endParaRPr>
          </a:p>
          <a:p>
            <a:pPr marL="228600" lvl="0" indent="-228600" defTabSz="914400">
              <a:lnSpc>
                <a:spcPct val="90000"/>
              </a:lnSpc>
              <a:spcBef>
                <a:spcPts val="1000"/>
              </a:spcBef>
              <a:buFont typeface="Arial" panose="020B0604020202020204" pitchFamily="34" charset="0"/>
              <a:buChar char="•"/>
            </a:pPr>
            <a:r>
              <a:rPr lang="zh-CN" altLang="en-US" sz="1600" dirty="0">
                <a:solidFill>
                  <a:prstClr val="black"/>
                </a:solidFill>
                <a:latin typeface="宋体" panose="02010600030101010101" pitchFamily="2" charset="-122"/>
                <a:ea typeface="宋体" panose="02010600030101010101" pitchFamily="2" charset="-122"/>
                <a:sym typeface="+mn-ea"/>
              </a:rPr>
              <a:t>五、协作图</a:t>
            </a:r>
            <a:endParaRPr lang="en-US" altLang="zh-CN" sz="1600" dirty="0">
              <a:solidFill>
                <a:prstClr val="black"/>
              </a:solidFill>
              <a:latin typeface="宋体" panose="02010600030101010101" pitchFamily="2" charset="-122"/>
              <a:ea typeface="宋体" panose="02010600030101010101" pitchFamily="2" charset="-122"/>
            </a:endParaRPr>
          </a:p>
          <a:p>
            <a:pPr marL="228600" lvl="0" indent="-228600" defTabSz="914400">
              <a:lnSpc>
                <a:spcPct val="90000"/>
              </a:lnSpc>
              <a:spcBef>
                <a:spcPts val="1000"/>
              </a:spcBef>
              <a:buFont typeface="Arial" panose="020B0604020202020204" pitchFamily="34" charset="0"/>
              <a:buChar char="•"/>
            </a:pPr>
            <a:r>
              <a:rPr lang="zh-CN" altLang="en-US" sz="1600" dirty="0">
                <a:solidFill>
                  <a:prstClr val="black"/>
                </a:solidFill>
                <a:latin typeface="宋体" panose="02010600030101010101" pitchFamily="2" charset="-122"/>
                <a:ea typeface="宋体" panose="02010600030101010101" pitchFamily="2" charset="-122"/>
                <a:sym typeface="+mn-ea"/>
              </a:rPr>
              <a:t>六、状态图</a:t>
            </a:r>
            <a:endParaRPr lang="en-US" altLang="zh-CN" sz="1600" dirty="0">
              <a:solidFill>
                <a:prstClr val="black"/>
              </a:solidFill>
              <a:latin typeface="宋体" panose="02010600030101010101" pitchFamily="2" charset="-122"/>
              <a:ea typeface="宋体" panose="02010600030101010101" pitchFamily="2" charset="-122"/>
            </a:endParaRPr>
          </a:p>
          <a:p>
            <a:pPr marL="228600" lvl="0" indent="-228600" defTabSz="914400">
              <a:lnSpc>
                <a:spcPct val="90000"/>
              </a:lnSpc>
              <a:spcBef>
                <a:spcPts val="1000"/>
              </a:spcBef>
              <a:buFont typeface="Arial" panose="020B0604020202020204" pitchFamily="34" charset="0"/>
              <a:buChar char="•"/>
            </a:pPr>
            <a:r>
              <a:rPr lang="zh-CN" altLang="en-US" sz="1600" dirty="0">
                <a:solidFill>
                  <a:prstClr val="black"/>
                </a:solidFill>
                <a:latin typeface="宋体" panose="02010600030101010101" pitchFamily="2" charset="-122"/>
                <a:ea typeface="宋体" panose="02010600030101010101" pitchFamily="2" charset="-122"/>
                <a:sym typeface="+mn-ea"/>
              </a:rPr>
              <a:t>七、构件图</a:t>
            </a:r>
            <a:endParaRPr lang="en-US" altLang="zh-CN" sz="1600" dirty="0">
              <a:solidFill>
                <a:prstClr val="black"/>
              </a:solidFill>
              <a:latin typeface="宋体" panose="02010600030101010101" pitchFamily="2" charset="-122"/>
              <a:ea typeface="宋体" panose="02010600030101010101" pitchFamily="2" charset="-122"/>
            </a:endParaRPr>
          </a:p>
          <a:p>
            <a:pPr marL="228600" lvl="0" indent="-228600" defTabSz="914400">
              <a:lnSpc>
                <a:spcPct val="90000"/>
              </a:lnSpc>
              <a:spcBef>
                <a:spcPts val="1000"/>
              </a:spcBef>
              <a:buFont typeface="Arial" panose="020B0604020202020204" pitchFamily="34" charset="0"/>
              <a:buChar char="•"/>
            </a:pPr>
            <a:r>
              <a:rPr lang="zh-CN" altLang="en-US" sz="1600" dirty="0">
                <a:solidFill>
                  <a:prstClr val="black"/>
                </a:solidFill>
                <a:latin typeface="宋体" panose="02010600030101010101" pitchFamily="2" charset="-122"/>
                <a:ea typeface="宋体" panose="02010600030101010101" pitchFamily="2" charset="-122"/>
                <a:sym typeface="+mn-ea"/>
              </a:rPr>
              <a:t>八、部署图</a:t>
            </a:r>
            <a:endParaRPr lang="en-US" altLang="zh-CN" sz="1600" dirty="0">
              <a:solidFill>
                <a:prstClr val="black"/>
              </a:solidFill>
              <a:latin typeface="宋体" panose="02010600030101010101" pitchFamily="2" charset="-122"/>
              <a:ea typeface="宋体" panose="02010600030101010101" pitchFamily="2" charset="-122"/>
            </a:endParaRPr>
          </a:p>
          <a:p>
            <a:pPr marL="228600" lvl="0" indent="-228600" defTabSz="914400">
              <a:lnSpc>
                <a:spcPct val="90000"/>
              </a:lnSpc>
              <a:spcBef>
                <a:spcPts val="1000"/>
              </a:spcBef>
              <a:buFont typeface="Arial" panose="020B0604020202020204" pitchFamily="34" charset="0"/>
              <a:buChar char="•"/>
            </a:pPr>
            <a:endParaRPr lang="en-US" altLang="zh-CN" sz="1600" dirty="0">
              <a:solidFill>
                <a:prstClr val="black"/>
              </a:solidFill>
              <a:latin typeface="宋体" panose="02010600030101010101" pitchFamily="2" charset="-122"/>
              <a:ea typeface="宋体" panose="02010600030101010101" pitchFamily="2" charset="-122"/>
            </a:endParaRPr>
          </a:p>
          <a:p>
            <a:pPr lvl="0" defTabSz="914400">
              <a:lnSpc>
                <a:spcPct val="90000"/>
              </a:lnSpc>
              <a:spcBef>
                <a:spcPts val="1000"/>
              </a:spcBef>
            </a:pPr>
            <a:r>
              <a:rPr lang="zh-CN" altLang="en-US" sz="1600" dirty="0">
                <a:solidFill>
                  <a:prstClr val="black"/>
                </a:solidFill>
                <a:latin typeface="宋体" panose="02010600030101010101" pitchFamily="2" charset="-122"/>
                <a:ea typeface="宋体" panose="02010600030101010101" pitchFamily="2" charset="-122"/>
                <a:sym typeface="+mn-ea"/>
              </a:rPr>
              <a:t>注意：</a:t>
            </a:r>
            <a:endParaRPr lang="en-US" altLang="zh-CN" sz="1600" dirty="0">
              <a:solidFill>
                <a:prstClr val="black"/>
              </a:solidFill>
              <a:latin typeface="宋体" panose="02010600030101010101" pitchFamily="2" charset="-122"/>
              <a:ea typeface="宋体" panose="02010600030101010101" pitchFamily="2" charset="-122"/>
            </a:endParaRPr>
          </a:p>
          <a:p>
            <a:pPr lvl="0" defTabSz="914400">
              <a:lnSpc>
                <a:spcPct val="90000"/>
              </a:lnSpc>
              <a:spcBef>
                <a:spcPts val="1000"/>
              </a:spcBef>
            </a:pPr>
            <a:r>
              <a:rPr lang="zh-CN" altLang="en-US" sz="1600" dirty="0">
                <a:solidFill>
                  <a:prstClr val="black"/>
                </a:solidFill>
                <a:latin typeface="宋体" panose="02010600030101010101" pitchFamily="2" charset="-122"/>
                <a:ea typeface="宋体" panose="02010600030101010101" pitchFamily="2" charset="-122"/>
                <a:sym typeface="+mn-ea"/>
              </a:rPr>
              <a:t>每种</a:t>
            </a:r>
            <a:r>
              <a:rPr lang="en-US" altLang="zh-CN" sz="1600" dirty="0">
                <a:solidFill>
                  <a:prstClr val="black"/>
                </a:solidFill>
                <a:latin typeface="宋体" panose="02010600030101010101" pitchFamily="2" charset="-122"/>
                <a:ea typeface="宋体" panose="02010600030101010101" pitchFamily="2" charset="-122"/>
                <a:sym typeface="+mn-ea"/>
              </a:rPr>
              <a:t>UML</a:t>
            </a:r>
            <a:r>
              <a:rPr lang="zh-CN" altLang="en-US" sz="1600" dirty="0">
                <a:solidFill>
                  <a:prstClr val="black"/>
                </a:solidFill>
                <a:latin typeface="宋体" panose="02010600030101010101" pitchFamily="2" charset="-122"/>
                <a:ea typeface="宋体" panose="02010600030101010101" pitchFamily="2" charset="-122"/>
                <a:sym typeface="+mn-ea"/>
              </a:rPr>
              <a:t>图都需要同时有相关文字阐述</a:t>
            </a:r>
            <a:endParaRPr lang="en-US" altLang="zh-CN" sz="1600" dirty="0">
              <a:solidFill>
                <a:prstClr val="black"/>
              </a:solidFill>
              <a:latin typeface="宋体" panose="02010600030101010101" pitchFamily="2" charset="-122"/>
              <a:ea typeface="宋体" panose="02010600030101010101" pitchFamily="2" charset="-122"/>
            </a:endParaRPr>
          </a:p>
          <a:p>
            <a:endParaRPr lang="en-US" altLang="zh-CN" sz="1600" dirty="0">
              <a:latin typeface="宋体" panose="02010600030101010101" pitchFamily="2" charset="-122"/>
              <a:ea typeface="宋体" panose="02010600030101010101" pitchFamily="2" charset="-122"/>
            </a:endParaRPr>
          </a:p>
        </p:txBody>
      </p:sp>
      <p:sp>
        <p:nvSpPr>
          <p:cNvPr id="6" name="内容占位符 2"/>
          <p:cNvSpPr txBox="1"/>
          <p:nvPr/>
        </p:nvSpPr>
        <p:spPr>
          <a:xfrm>
            <a:off x="6472435" y="835906"/>
            <a:ext cx="3203110"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lang="en-US" altLang="zh-CN" sz="1800" b="1" dirty="0">
                <a:latin typeface="微软雅黑" panose="020B0503020204020204" charset="-122"/>
                <a:ea typeface="微软雅黑" panose="020B0503020204020204" charset="-122"/>
                <a:sym typeface="+mn-ea"/>
              </a:rPr>
              <a:t>UML</a:t>
            </a:r>
            <a:r>
              <a:rPr lang="zh-CN" altLang="en-US" sz="1800" b="1" dirty="0">
                <a:latin typeface="微软雅黑" panose="020B0503020204020204" charset="-122"/>
                <a:ea typeface="微软雅黑" panose="020B0503020204020204" charset="-122"/>
                <a:sym typeface="+mn-ea"/>
              </a:rPr>
              <a:t>工具推荐</a:t>
            </a:r>
            <a:endParaRPr lang="en-US" altLang="zh-CN" sz="1800" b="1" dirty="0">
              <a:latin typeface="微软雅黑" panose="020B0503020204020204" charset="-122"/>
              <a:ea typeface="微软雅黑" panose="020B0503020204020204" charset="-122"/>
            </a:endParaRPr>
          </a:p>
          <a:p>
            <a:pPr algn="just">
              <a:lnSpc>
                <a:spcPct val="150000"/>
              </a:lnSpc>
            </a:pPr>
            <a:endParaRPr lang="zh-CN" altLang="en-US" sz="1800" dirty="0">
              <a:latin typeface="宋体" panose="02010600030101010101" pitchFamily="2" charset="-122"/>
              <a:ea typeface="宋体" panose="02010600030101010101" pitchFamily="2" charset="-122"/>
            </a:endParaRPr>
          </a:p>
          <a:p>
            <a:pPr marL="228600" lvl="0" indent="-228600" algn="just" defTabSz="914400">
              <a:spcBef>
                <a:spcPts val="600"/>
              </a:spcBef>
              <a:spcAft>
                <a:spcPts val="1200"/>
              </a:spcAft>
              <a:buFont typeface="Arial" panose="020B0604020202020204" pitchFamily="34" charset="0"/>
              <a:buChar char="•"/>
            </a:pPr>
            <a:r>
              <a:rPr lang="en-US" altLang="zh-CN" sz="18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sym typeface="+mn-ea"/>
              </a:rPr>
              <a:t>Enterprise Architect (EA)</a:t>
            </a:r>
            <a:endParaRPr lang="en-US" altLang="zh-CN" sz="18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endParaRPr>
          </a:p>
          <a:p>
            <a:pPr marL="228600" lvl="0" indent="-228600" algn="just" defTabSz="914400">
              <a:spcBef>
                <a:spcPts val="600"/>
              </a:spcBef>
              <a:spcAft>
                <a:spcPts val="1200"/>
              </a:spcAft>
              <a:buFont typeface="Arial" panose="020B0604020202020204" pitchFamily="34" charset="0"/>
              <a:buChar char="•"/>
            </a:pPr>
            <a:r>
              <a:rPr lang="en-US" altLang="zh-CN" sz="18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sym typeface="+mn-ea"/>
              </a:rPr>
              <a:t>Rational Rose</a:t>
            </a:r>
            <a:endParaRPr lang="en-US" altLang="zh-CN" sz="18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endParaRPr>
          </a:p>
          <a:p>
            <a:pPr marL="228600" lvl="0" indent="-228600" algn="just" defTabSz="914400">
              <a:spcBef>
                <a:spcPts val="600"/>
              </a:spcBef>
              <a:spcAft>
                <a:spcPts val="1200"/>
              </a:spcAft>
              <a:buFont typeface="Arial" panose="020B0604020202020204" pitchFamily="34" charset="0"/>
              <a:buChar char="•"/>
            </a:pPr>
            <a:r>
              <a:rPr lang="en-US" altLang="zh-CN" sz="18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sym typeface="+mn-ea"/>
              </a:rPr>
              <a:t>Power Designer (PD)</a:t>
            </a:r>
            <a:endParaRPr lang="en-US" altLang="zh-CN" sz="18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endParaRPr>
          </a:p>
          <a:p>
            <a:pPr marL="228600" lvl="0" indent="-228600" algn="just" defTabSz="914400">
              <a:spcBef>
                <a:spcPts val="600"/>
              </a:spcBef>
              <a:spcAft>
                <a:spcPts val="1200"/>
              </a:spcAft>
              <a:buFont typeface="Arial" panose="020B0604020202020204" pitchFamily="34" charset="0"/>
              <a:buChar char="•"/>
            </a:pPr>
            <a:r>
              <a:rPr lang="zh-CN" altLang="en-US" sz="18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sym typeface="+mn-ea"/>
              </a:rPr>
              <a:t>亿图图示</a:t>
            </a:r>
            <a:endParaRPr lang="en-US" altLang="zh-CN" sz="18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endParaRPr>
          </a:p>
          <a:p>
            <a:pPr marL="228600" lvl="0" indent="-228600" algn="just" defTabSz="914400">
              <a:spcBef>
                <a:spcPts val="600"/>
              </a:spcBef>
              <a:spcAft>
                <a:spcPts val="1200"/>
              </a:spcAft>
              <a:buFont typeface="Arial" panose="020B0604020202020204" pitchFamily="34" charset="0"/>
              <a:buChar char="•"/>
            </a:pPr>
            <a:r>
              <a:rPr lang="en-US" altLang="zh-CN" sz="1800" kern="100" dirty="0" err="1">
                <a:solidFill>
                  <a:prstClr val="black"/>
                </a:solidFill>
                <a:latin typeface="宋体" panose="02010600030101010101" pitchFamily="2" charset="-122"/>
                <a:ea typeface="宋体" panose="02010600030101010101" pitchFamily="2" charset="-122"/>
                <a:cs typeface="Times New Roman" panose="02020603050405020304" pitchFamily="18" charset="0"/>
                <a:sym typeface="+mn-ea"/>
              </a:rPr>
              <a:t>GitMind</a:t>
            </a:r>
            <a:endParaRPr lang="en-US" altLang="zh-CN" sz="18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endParaRPr>
          </a:p>
          <a:p>
            <a:pPr marL="228600" lvl="0" indent="-228600" algn="just" defTabSz="914400">
              <a:spcBef>
                <a:spcPts val="600"/>
              </a:spcBef>
              <a:spcAft>
                <a:spcPts val="1200"/>
              </a:spcAft>
              <a:buFont typeface="Arial" panose="020B0604020202020204" pitchFamily="34" charset="0"/>
              <a:buChar char="•"/>
            </a:pPr>
            <a:r>
              <a:rPr lang="en-US" altLang="zh-CN" sz="1800" kern="100" dirty="0" err="1">
                <a:solidFill>
                  <a:prstClr val="black"/>
                </a:solidFill>
                <a:latin typeface="宋体" panose="02010600030101010101" pitchFamily="2" charset="-122"/>
                <a:ea typeface="宋体" panose="02010600030101010101" pitchFamily="2" charset="-122"/>
                <a:cs typeface="Times New Roman" panose="02020603050405020304" pitchFamily="18" charset="0"/>
                <a:sym typeface="+mn-ea"/>
              </a:rPr>
              <a:t>PlantUML</a:t>
            </a:r>
            <a:endParaRPr lang="en-US" altLang="zh-CN" sz="18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endParaRPr>
          </a:p>
          <a:p>
            <a:pPr marL="228600" lvl="0" indent="-228600" algn="just" defTabSz="914400">
              <a:spcBef>
                <a:spcPts val="600"/>
              </a:spcBef>
              <a:spcAft>
                <a:spcPts val="1200"/>
              </a:spcAft>
              <a:buFont typeface="Arial" panose="020B0604020202020204" pitchFamily="34" charset="0"/>
              <a:buChar char="•"/>
            </a:pPr>
            <a:r>
              <a:rPr lang="en-US" altLang="zh-CN" sz="18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sym typeface="+mn-ea"/>
              </a:rPr>
              <a:t>Visual Paradigm</a:t>
            </a:r>
            <a:endParaRPr lang="en-US" altLang="zh-CN" sz="1600" dirty="0">
              <a:latin typeface="宋体" panose="02010600030101010101" pitchFamily="2" charset="-122"/>
              <a:ea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提交要求</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buClrTx/>
              <a:buSzTx/>
              <a:buFontTx/>
              <a:buNone/>
              <a:defRPr/>
            </a:pPr>
            <a:fld id="{74D2AB8B-5816-41F2-8B4B-CA5C3E4E6A65}"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t>12</a:t>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5" name="内容占位符 4"/>
          <p:cNvSpPr>
            <a:spLocks noGrp="1"/>
          </p:cNvSpPr>
          <p:nvPr>
            <p:ph idx="1"/>
          </p:nvPr>
        </p:nvSpPr>
        <p:spPr>
          <a:xfrm>
            <a:off x="1600200" y="1918490"/>
            <a:ext cx="7719646" cy="1253486"/>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28600" lvl="0" indent="-228600" algn="just" defTabSz="914400">
              <a:lnSpc>
                <a:spcPct val="150000"/>
              </a:lnSpc>
              <a:spcBef>
                <a:spcPts val="1200"/>
              </a:spcBef>
              <a:spcAft>
                <a:spcPts val="1200"/>
              </a:spcAft>
              <a:buFont typeface="Arial" panose="020B0604020202020204" pitchFamily="34" charset="0"/>
              <a:buChar char="•"/>
            </a:pPr>
            <a:r>
              <a:rPr lang="zh-CN" altLang="en-US" sz="2000" b="1" kern="100" dirty="0">
                <a:solidFill>
                  <a:prstClr val="black"/>
                </a:solidFill>
                <a:latin typeface="宋体" panose="02010600030101010101" pitchFamily="2" charset="-122"/>
                <a:ea typeface="宋体" panose="02010600030101010101" pitchFamily="2" charset="-122"/>
                <a:cs typeface="Times New Roman" panose="02020603050405020304" pitchFamily="18" charset="0"/>
                <a:sym typeface="+mn-ea"/>
              </a:rPr>
              <a:t>每人</a:t>
            </a:r>
            <a:r>
              <a:rPr lang="zh-CN" altLang="en-US" sz="20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sym typeface="+mn-ea"/>
              </a:rPr>
              <a:t>提交一份软件需求分析报告，统一为</a:t>
            </a:r>
            <a:r>
              <a:rPr lang="en-US" altLang="zh-CN" sz="2000" b="1" kern="100" dirty="0">
                <a:solidFill>
                  <a:prstClr val="black"/>
                </a:solidFill>
                <a:latin typeface="宋体" panose="02010600030101010101" pitchFamily="2" charset="-122"/>
                <a:ea typeface="宋体" panose="02010600030101010101" pitchFamily="2" charset="-122"/>
                <a:cs typeface="Times New Roman" panose="02020603050405020304" pitchFamily="18" charset="0"/>
                <a:sym typeface="+mn-ea"/>
              </a:rPr>
              <a:t>.pdf</a:t>
            </a:r>
            <a:r>
              <a:rPr lang="zh-CN" altLang="en-US" sz="20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sym typeface="+mn-ea"/>
              </a:rPr>
              <a:t>格式</a:t>
            </a:r>
            <a:endParaRPr lang="en-US" altLang="zh-CN" sz="20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endParaRPr>
          </a:p>
          <a:p>
            <a:pPr marL="228600" lvl="0" indent="-228600" algn="just" defTabSz="914400">
              <a:lnSpc>
                <a:spcPct val="150000"/>
              </a:lnSpc>
              <a:spcBef>
                <a:spcPts val="1200"/>
              </a:spcBef>
              <a:spcAft>
                <a:spcPts val="1200"/>
              </a:spcAft>
              <a:buFont typeface="Arial" panose="020B0604020202020204" pitchFamily="34" charset="0"/>
              <a:buChar char="•"/>
            </a:pPr>
            <a:r>
              <a:rPr lang="zh-CN" altLang="en-US" sz="20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sym typeface="+mn-ea"/>
              </a:rPr>
              <a:t>直接提交到统一项目管理平台，截至日期</a:t>
            </a:r>
            <a:r>
              <a:rPr lang="en-US" altLang="zh-CN" sz="20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sym typeface="+mn-ea"/>
              </a:rPr>
              <a:t>2025.4.22</a:t>
            </a:r>
            <a:r>
              <a:rPr lang="zh-CN" altLang="en-US" sz="20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sym typeface="+mn-ea"/>
              </a:rPr>
              <a:t> </a:t>
            </a:r>
            <a:r>
              <a:rPr lang="en-US" altLang="zh-CN" sz="20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sym typeface="+mn-ea"/>
              </a:rPr>
              <a:t>00</a:t>
            </a:r>
            <a:r>
              <a:rPr lang="zh-CN" altLang="en-US" sz="20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2000" kern="100" dirty="0">
                <a:solidFill>
                  <a:prstClr val="black"/>
                </a:solidFill>
                <a:latin typeface="宋体" panose="02010600030101010101" pitchFamily="2" charset="-122"/>
                <a:ea typeface="宋体" panose="02010600030101010101" pitchFamily="2" charset="-122"/>
                <a:cs typeface="Times New Roman" panose="02020603050405020304" pitchFamily="18" charset="0"/>
                <a:sym typeface="+mn-ea"/>
              </a:rPr>
              <a:t>00</a:t>
            </a:r>
            <a:endParaRPr lang="zh-CN" altLang="zh-CN" sz="1400" kern="100" dirty="0">
              <a:latin typeface="宋体" panose="02010600030101010101" pitchFamily="2" charset="-122"/>
              <a:ea typeface="宋体" panose="02010600030101010101" pitchFamily="2" charset="-122"/>
              <a:cs typeface="Times New Roman" panose="02020603050405020304" pitchFamily="18" charset="0"/>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mQ3NjQxYmZmN2ZkODIxYWNiNTEzMzQyMTZmNzQ1MmMifQ=="/>
</p:tagLst>
</file>

<file path=ppt/tags/tag2.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0F1423"/>
      </a:dk2>
      <a:lt2>
        <a:srgbClr val="FFFFFF"/>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TotalTime>
  <Words>641</Words>
  <Application>Microsoft Office PowerPoint</Application>
  <PresentationFormat>宽屏</PresentationFormat>
  <Paragraphs>88</Paragraphs>
  <Slides>12</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12</vt:i4>
      </vt:variant>
    </vt:vector>
  </HeadingPairs>
  <TitlesOfParts>
    <vt:vector size="18" baseType="lpstr">
      <vt:lpstr>等线</vt:lpstr>
      <vt:lpstr>宋体</vt:lpstr>
      <vt:lpstr>微软雅黑</vt:lpstr>
      <vt:lpstr>Arial</vt:lpstr>
      <vt:lpstr>Wingdings</vt:lpstr>
      <vt:lpstr>WPS</vt:lpstr>
      <vt:lpstr>软件工程大作业</vt:lpstr>
      <vt:lpstr>背景</vt:lpstr>
      <vt:lpstr>功能模块</vt:lpstr>
      <vt:lpstr>PowerPoint 演示文稿</vt:lpstr>
      <vt:lpstr>PowerPoint 演示文稿</vt:lpstr>
      <vt:lpstr>PowerPoint 演示文稿</vt:lpstr>
      <vt:lpstr>PowerPoint 演示文稿</vt:lpstr>
      <vt:lpstr>PowerPoint 演示文稿</vt:lpstr>
      <vt:lpstr>需求分析/软件设计作业</vt:lpstr>
      <vt:lpstr>需求分析报告</vt:lpstr>
      <vt:lpstr>软件设计报告</vt:lpstr>
      <vt:lpstr>提交要求</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雪 韩</cp:lastModifiedBy>
  <cp:revision>169</cp:revision>
  <dcterms:created xsi:type="dcterms:W3CDTF">2019-06-19T02:08:00Z</dcterms:created>
  <dcterms:modified xsi:type="dcterms:W3CDTF">2025-03-17T04:49:39Z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2052-12.1.0.15120</vt:lpwstr>
  </property>
  <property fmtid="{D5CDD505-2E9C-101B-9397-08002B2CF9AE}" pid="3" name="ICV">
    <vt:lpwstr>7436701037B343DCBE880E64926D9765_11</vt:lpwstr>
  </property>
</Properties>
</file>