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7"/>
  </p:notesMasterIdLst>
  <p:sldIdLst>
    <p:sldId id="354" r:id="rId2"/>
    <p:sldId id="353" r:id="rId3"/>
    <p:sldId id="352" r:id="rId4"/>
    <p:sldId id="350" r:id="rId5"/>
    <p:sldId id="355" r:id="rId6"/>
  </p:sldIdLst>
  <p:sldSz cx="12192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E0FE45-C444-4B67-AE01-271791A3D8C1}" v="6" dt="2026-03-24T01:51:28.1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61" autoAdjust="0"/>
    <p:restoredTop sz="94679"/>
  </p:normalViewPr>
  <p:slideViewPr>
    <p:cSldViewPr snapToGrid="0">
      <p:cViewPr varScale="1">
        <p:scale>
          <a:sx n="51" d="100"/>
          <a:sy n="51" d="100"/>
        </p:scale>
        <p:origin x="1014"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 zhang" userId="71435f637f6fd63d" providerId="LiveId" clId="{5080AB5A-332D-4CE2-8E77-88CCDE8A32A0}"/>
    <pc:docChg chg="modSld">
      <pc:chgData name="xu zhang" userId="71435f637f6fd63d" providerId="LiveId" clId="{5080AB5A-332D-4CE2-8E77-88CCDE8A32A0}" dt="2026-03-24T01:51:28.170" v="75"/>
      <pc:docMkLst>
        <pc:docMk/>
      </pc:docMkLst>
      <pc:sldChg chg="modSp mod">
        <pc:chgData name="xu zhang" userId="71435f637f6fd63d" providerId="LiveId" clId="{5080AB5A-332D-4CE2-8E77-88CCDE8A32A0}" dt="2026-03-24T01:45:34.731" v="72" actId="1076"/>
        <pc:sldMkLst>
          <pc:docMk/>
          <pc:sldMk cId="0" sldId="350"/>
        </pc:sldMkLst>
        <pc:spChg chg="mod">
          <ac:chgData name="xu zhang" userId="71435f637f6fd63d" providerId="LiveId" clId="{5080AB5A-332D-4CE2-8E77-88CCDE8A32A0}" dt="2026-03-24T01:44:59.385" v="71" actId="1076"/>
          <ac:spMkLst>
            <pc:docMk/>
            <pc:sldMk cId="0" sldId="350"/>
            <ac:spMk id="71" creationId="{4988810C-367E-3D7C-FF4B-83CCFA3E8AA0}"/>
          </ac:spMkLst>
        </pc:spChg>
        <pc:spChg chg="mod">
          <ac:chgData name="xu zhang" userId="71435f637f6fd63d" providerId="LiveId" clId="{5080AB5A-332D-4CE2-8E77-88CCDE8A32A0}" dt="2026-03-24T01:45:34.731" v="72" actId="1076"/>
          <ac:spMkLst>
            <pc:docMk/>
            <pc:sldMk cId="0" sldId="350"/>
            <ac:spMk id="72" creationId="{39BEF211-FB3F-295B-EA22-7B1ECE499DED}"/>
          </ac:spMkLst>
        </pc:spChg>
      </pc:sldChg>
      <pc:sldChg chg="modSp mod">
        <pc:chgData name="xu zhang" userId="71435f637f6fd63d" providerId="LiveId" clId="{5080AB5A-332D-4CE2-8E77-88CCDE8A32A0}" dt="2026-03-24T01:43:39.071" v="68" actId="1076"/>
        <pc:sldMkLst>
          <pc:docMk/>
          <pc:sldMk cId="3162562234" sldId="352"/>
        </pc:sldMkLst>
        <pc:spChg chg="mod">
          <ac:chgData name="xu zhang" userId="71435f637f6fd63d" providerId="LiveId" clId="{5080AB5A-332D-4CE2-8E77-88CCDE8A32A0}" dt="2026-03-24T01:43:39.071" v="68" actId="1076"/>
          <ac:spMkLst>
            <pc:docMk/>
            <pc:sldMk cId="3162562234" sldId="352"/>
            <ac:spMk id="2" creationId="{02B68457-7483-E498-50E1-969051A48FFC}"/>
          </ac:spMkLst>
        </pc:spChg>
      </pc:sldChg>
      <pc:sldChg chg="modSp mod">
        <pc:chgData name="xu zhang" userId="71435f637f6fd63d" providerId="LiveId" clId="{5080AB5A-332D-4CE2-8E77-88CCDE8A32A0}" dt="2026-03-24T01:31:42.485" v="6" actId="1076"/>
        <pc:sldMkLst>
          <pc:docMk/>
          <pc:sldMk cId="3186907331" sldId="353"/>
        </pc:sldMkLst>
        <pc:spChg chg="mod">
          <ac:chgData name="xu zhang" userId="71435f637f6fd63d" providerId="LiveId" clId="{5080AB5A-332D-4CE2-8E77-88CCDE8A32A0}" dt="2026-03-24T01:31:42.485" v="6" actId="1076"/>
          <ac:spMkLst>
            <pc:docMk/>
            <pc:sldMk cId="3186907331" sldId="353"/>
            <ac:spMk id="2" creationId="{DA75EC40-4871-4A1B-43E6-7CDD9D214FF6}"/>
          </ac:spMkLst>
        </pc:spChg>
      </pc:sldChg>
      <pc:sldChg chg="modSp mod">
        <pc:chgData name="xu zhang" userId="71435f637f6fd63d" providerId="LiveId" clId="{5080AB5A-332D-4CE2-8E77-88CCDE8A32A0}" dt="2026-03-24T01:51:28.170" v="75"/>
        <pc:sldMkLst>
          <pc:docMk/>
          <pc:sldMk cId="4112297495" sldId="355"/>
        </pc:sldMkLst>
        <pc:spChg chg="mod">
          <ac:chgData name="xu zhang" userId="71435f637f6fd63d" providerId="LiveId" clId="{5080AB5A-332D-4CE2-8E77-88CCDE8A32A0}" dt="2026-03-24T01:51:28.170" v="75"/>
          <ac:spMkLst>
            <pc:docMk/>
            <pc:sldMk cId="4112297495" sldId="355"/>
            <ac:spMk id="2" creationId="{8428A465-1C7C-900D-A5C6-875EB8B3628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D82B2A-20E8-4CCF-8219-0022322B4E97}" type="datetimeFigureOut">
              <a:rPr lang="zh-CN" altLang="en-US" smtClean="0"/>
              <a:t>2026/3/28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FC42CA-8358-4247-8870-0B0EF32AEC26}" type="slidenum">
              <a:rPr lang="zh-CN" altLang="en-US" smtClean="0"/>
              <a:t>‹#›</a:t>
            </a:fld>
            <a:endParaRPr lang="zh-CN" altLang="en-US"/>
          </a:p>
        </p:txBody>
      </p:sp>
    </p:spTree>
    <p:extLst>
      <p:ext uri="{BB962C8B-B14F-4D97-AF65-F5344CB8AC3E}">
        <p14:creationId xmlns:p14="http://schemas.microsoft.com/office/powerpoint/2010/main" val="3993699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ISO9126</a:t>
            </a:r>
            <a:r>
              <a:rPr lang="zh-CN" altLang="en-US" dirty="0"/>
              <a:t>模型，是一个专门评价软件质量的模型，它定义了软件的六个质量属性，即功能性。。。每一个属性又细分成一些列子属性。下面我们简单解释一下每个质量属性的含义。这里概念性比较多，希望大家能够理解其中的含义，并在今后的开发过程中，能够开始考虑这些质量因素，知道自己所开发的软件还可以往怎样一个更好的方向去改进。</a:t>
            </a:r>
            <a:endParaRPr lang="en-US" altLang="zh-CN"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96484"/>
            <a:ext cx="10363200" cy="3183467"/>
          </a:xfrm>
        </p:spPr>
        <p:txBody>
          <a:bodyPr anchor="b"/>
          <a:lstStyle>
            <a:lvl1pPr algn="ctr">
              <a:defRPr sz="8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4802717"/>
            <a:ext cx="9144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3659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28444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2279653"/>
            <a:ext cx="10515600" cy="3803649"/>
          </a:xfrm>
        </p:spPr>
        <p:txBody>
          <a:bodyPr anchor="b"/>
          <a:lstStyle>
            <a:lvl1pPr>
              <a:defRPr sz="8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6119286"/>
            <a:ext cx="10515600" cy="2000249"/>
          </a:xfrm>
        </p:spPr>
        <p:txBody>
          <a:bodyPr/>
          <a:lstStyle>
            <a:lvl1pPr marL="0" indent="0">
              <a:buNone/>
              <a:defRPr sz="32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18020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2434167"/>
            <a:ext cx="5181600" cy="58017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2434167"/>
            <a:ext cx="5181600" cy="58017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53420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486836"/>
            <a:ext cx="10515600" cy="176741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2241551"/>
            <a:ext cx="515778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4" name="Content Placeholder 3"/>
          <p:cNvSpPr>
            <a:spLocks noGrp="1"/>
          </p:cNvSpPr>
          <p:nvPr>
            <p:ph sz="half" idx="2"/>
          </p:nvPr>
        </p:nvSpPr>
        <p:spPr>
          <a:xfrm>
            <a:off x="839789" y="3340100"/>
            <a:ext cx="5157787" cy="49127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1" y="2241551"/>
            <a:ext cx="5183188"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6" name="Content Placeholder 5"/>
          <p:cNvSpPr>
            <a:spLocks noGrp="1"/>
          </p:cNvSpPr>
          <p:nvPr>
            <p:ph sz="quarter" idx="4"/>
          </p:nvPr>
        </p:nvSpPr>
        <p:spPr>
          <a:xfrm>
            <a:off x="6172201" y="3340100"/>
            <a:ext cx="5183188" cy="49127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3/28/2026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45239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3/28/2026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01045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1362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zh-CN" altLang="en-US"/>
              <a:t>单击此处编辑母版标题样式</a:t>
            </a:r>
            <a:endParaRPr lang="en-US" dirty="0"/>
          </a:p>
        </p:txBody>
      </p:sp>
      <p:sp>
        <p:nvSpPr>
          <p:cNvPr id="3" name="Content Placeholder 2"/>
          <p:cNvSpPr>
            <a:spLocks noGrp="1"/>
          </p:cNvSpPr>
          <p:nvPr>
            <p:ph idx="1"/>
          </p:nvPr>
        </p:nvSpPr>
        <p:spPr>
          <a:xfrm>
            <a:off x="5183188" y="1316569"/>
            <a:ext cx="61722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0337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1316569"/>
            <a:ext cx="61722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zh-CN" altLang="en-US"/>
              <a:t>单击图标添加图片</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49518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33305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486834"/>
            <a:ext cx="2628900" cy="7749117"/>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1" y="486834"/>
            <a:ext cx="7734300" cy="774911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71132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86836"/>
            <a:ext cx="10515600" cy="1767417"/>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2434167"/>
            <a:ext cx="10515600" cy="580178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8475136"/>
            <a:ext cx="27432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fld id="{C764DE79-268F-4C1A-8933-263129D2AF90}" type="datetimeFigureOut">
              <a:rPr lang="en-US" dirty="0"/>
              <a:t>3/28/2026</a:t>
            </a:fld>
            <a:endParaRPr lang="en-US" dirty="0"/>
          </a:p>
        </p:txBody>
      </p:sp>
      <p:sp>
        <p:nvSpPr>
          <p:cNvPr id="5" name="Footer Placeholder 4"/>
          <p:cNvSpPr>
            <a:spLocks noGrp="1"/>
          </p:cNvSpPr>
          <p:nvPr>
            <p:ph type="ftr" sz="quarter" idx="3"/>
          </p:nvPr>
        </p:nvSpPr>
        <p:spPr>
          <a:xfrm>
            <a:off x="4038600" y="8475136"/>
            <a:ext cx="41148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8475136"/>
            <a:ext cx="27432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657401660"/>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7B4F6A1A-E37F-5453-0580-C2E5F3F7B1AE}"/>
              </a:ext>
            </a:extLst>
          </p:cNvPr>
          <p:cNvSpPr>
            <a:spLocks noGrp="1"/>
          </p:cNvSpPr>
          <p:nvPr>
            <p:ph type="title"/>
          </p:nvPr>
        </p:nvSpPr>
        <p:spPr>
          <a:xfrm>
            <a:off x="677945" y="3126341"/>
            <a:ext cx="10515600" cy="1767417"/>
          </a:xfrm>
        </p:spPr>
        <p:txBody>
          <a:bodyPr>
            <a:noAutofit/>
          </a:bodyPr>
          <a:lstStyle/>
          <a:p>
            <a:pPr algn="ctr"/>
            <a:r>
              <a:rPr lang="zh-CN" altLang="en-US" sz="5400" b="1" dirty="0">
                <a:solidFill>
                  <a:prstClr val="black"/>
                </a:solidFill>
                <a:latin typeface="等线 Light"/>
                <a:ea typeface="等线 Light" panose="02010600030101010101" pitchFamily="2" charset="-122"/>
              </a:rPr>
              <a:t>软件工程第二次作业</a:t>
            </a:r>
            <a:br>
              <a:rPr lang="en-US" altLang="zh-CN" sz="5400" b="1" dirty="0">
                <a:solidFill>
                  <a:prstClr val="black"/>
                </a:solidFill>
                <a:latin typeface="等线 Light"/>
                <a:ea typeface="等线 Light" panose="02010600030101010101" pitchFamily="2" charset="-122"/>
              </a:rPr>
            </a:br>
            <a:r>
              <a:rPr lang="en-US" altLang="zh-CN" sz="5400" b="1" dirty="0">
                <a:solidFill>
                  <a:prstClr val="black"/>
                </a:solidFill>
                <a:latin typeface="等线 Light"/>
                <a:ea typeface="等线 Light" panose="02010600030101010101" pitchFamily="2" charset="-122"/>
              </a:rPr>
              <a:t>--</a:t>
            </a:r>
            <a:r>
              <a:rPr lang="zh-CN" altLang="en-US" sz="5400" b="1" dirty="0">
                <a:solidFill>
                  <a:prstClr val="black"/>
                </a:solidFill>
                <a:latin typeface="等线 Light"/>
                <a:ea typeface="等线 Light" panose="02010600030101010101" pitchFamily="2" charset="-122"/>
              </a:rPr>
              <a:t>需求分析</a:t>
            </a:r>
            <a:br>
              <a:rPr lang="en-US" altLang="zh-CN" sz="5400" b="1" dirty="0">
                <a:solidFill>
                  <a:prstClr val="black"/>
                </a:solidFill>
                <a:latin typeface="等线 Light"/>
                <a:ea typeface="等线 Light" panose="02010600030101010101" pitchFamily="2" charset="-122"/>
              </a:rPr>
            </a:br>
            <a:br>
              <a:rPr lang="en-US" altLang="zh-CN" sz="5400" b="1" dirty="0">
                <a:solidFill>
                  <a:prstClr val="black"/>
                </a:solidFill>
                <a:latin typeface="等线 Light"/>
                <a:ea typeface="等线 Light" panose="02010600030101010101" pitchFamily="2" charset="-122"/>
              </a:rPr>
            </a:br>
            <a:r>
              <a:rPr lang="zh-CN" altLang="en-US" sz="5400" b="1" dirty="0">
                <a:solidFill>
                  <a:srgbClr val="FF0000"/>
                </a:solidFill>
                <a:latin typeface="等线 Light"/>
                <a:ea typeface="等线 Light" panose="02010600030101010101" pitchFamily="2" charset="-122"/>
              </a:rPr>
              <a:t>截至日期：</a:t>
            </a:r>
            <a:r>
              <a:rPr lang="en-US" altLang="zh-CN" sz="5400" b="1" dirty="0">
                <a:solidFill>
                  <a:srgbClr val="FF0000"/>
                </a:solidFill>
                <a:latin typeface="等线 Light"/>
                <a:ea typeface="等线 Light" panose="02010600030101010101" pitchFamily="2" charset="-122"/>
              </a:rPr>
              <a:t>4</a:t>
            </a:r>
            <a:r>
              <a:rPr lang="zh-CN" altLang="en-US" sz="5400" b="1" dirty="0">
                <a:solidFill>
                  <a:srgbClr val="FF0000"/>
                </a:solidFill>
                <a:latin typeface="等线 Light"/>
                <a:ea typeface="等线 Light" panose="02010600030101010101" pitchFamily="2" charset="-122"/>
              </a:rPr>
              <a:t>月</a:t>
            </a:r>
            <a:r>
              <a:rPr lang="en-US" altLang="zh-CN" sz="5400" b="1" dirty="0">
                <a:solidFill>
                  <a:srgbClr val="FF0000"/>
                </a:solidFill>
                <a:latin typeface="等线 Light"/>
                <a:ea typeface="等线 Light" panose="02010600030101010101" pitchFamily="2" charset="-122"/>
              </a:rPr>
              <a:t>20</a:t>
            </a:r>
            <a:r>
              <a:rPr lang="zh-CN" altLang="en-US" sz="5400" b="1" dirty="0">
                <a:solidFill>
                  <a:srgbClr val="FF0000"/>
                </a:solidFill>
                <a:latin typeface="等线 Light"/>
                <a:ea typeface="等线 Light" panose="02010600030101010101" pitchFamily="2" charset="-122"/>
              </a:rPr>
              <a:t>日晚上</a:t>
            </a:r>
            <a:r>
              <a:rPr lang="en-US" altLang="zh-CN" sz="5400" b="1" dirty="0">
                <a:solidFill>
                  <a:srgbClr val="FF0000"/>
                </a:solidFill>
                <a:latin typeface="等线 Light"/>
                <a:ea typeface="等线 Light" panose="02010600030101010101" pitchFamily="2" charset="-122"/>
              </a:rPr>
              <a:t>24</a:t>
            </a:r>
            <a:r>
              <a:rPr lang="zh-CN" altLang="en-US" sz="5400" b="1" dirty="0">
                <a:solidFill>
                  <a:srgbClr val="FF0000"/>
                </a:solidFill>
                <a:latin typeface="等线 Light"/>
                <a:ea typeface="等线 Light" panose="02010600030101010101" pitchFamily="2" charset="-122"/>
              </a:rPr>
              <a:t>点</a:t>
            </a:r>
            <a:br>
              <a:rPr lang="en-US" altLang="zh-CN" sz="5400" b="1" dirty="0">
                <a:solidFill>
                  <a:srgbClr val="FF0000"/>
                </a:solidFill>
                <a:latin typeface="等线 Light"/>
                <a:ea typeface="等线 Light" panose="02010600030101010101" pitchFamily="2" charset="-122"/>
              </a:rPr>
            </a:br>
            <a:br>
              <a:rPr lang="en-US" altLang="zh-CN" sz="5400" b="1" dirty="0">
                <a:solidFill>
                  <a:srgbClr val="FF0000"/>
                </a:solidFill>
                <a:latin typeface="等线 Light"/>
                <a:ea typeface="等线 Light" panose="02010600030101010101" pitchFamily="2" charset="-122"/>
              </a:rPr>
            </a:br>
            <a:r>
              <a:rPr lang="zh-CN" altLang="en-US" sz="5400" b="1" dirty="0">
                <a:solidFill>
                  <a:schemeClr val="tx1">
                    <a:lumMod val="95000"/>
                    <a:lumOff val="5000"/>
                  </a:schemeClr>
                </a:solidFill>
                <a:latin typeface="等线 Light"/>
                <a:ea typeface="等线 Light" panose="02010600030101010101" pitchFamily="2" charset="-122"/>
              </a:rPr>
              <a:t>分数：</a:t>
            </a:r>
            <a:r>
              <a:rPr lang="en-US" altLang="zh-CN" sz="5400" b="1" dirty="0">
                <a:solidFill>
                  <a:schemeClr val="tx1">
                    <a:lumMod val="95000"/>
                    <a:lumOff val="5000"/>
                  </a:schemeClr>
                </a:solidFill>
                <a:latin typeface="等线 Light"/>
                <a:ea typeface="等线 Light" panose="02010600030101010101" pitchFamily="2" charset="-122"/>
              </a:rPr>
              <a:t>15</a:t>
            </a:r>
            <a:endParaRPr lang="zh-CN" altLang="en-US" sz="5400" dirty="0">
              <a:solidFill>
                <a:schemeClr val="tx1">
                  <a:lumMod val="95000"/>
                  <a:lumOff val="5000"/>
                </a:schemeClr>
              </a:solidFill>
            </a:endParaRPr>
          </a:p>
        </p:txBody>
      </p:sp>
    </p:spTree>
    <p:extLst>
      <p:ext uri="{BB962C8B-B14F-4D97-AF65-F5344CB8AC3E}">
        <p14:creationId xmlns:p14="http://schemas.microsoft.com/office/powerpoint/2010/main" val="2748060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A75EC40-4871-4A1B-43E6-7CDD9D214FF6}"/>
              </a:ext>
            </a:extLst>
          </p:cNvPr>
          <p:cNvSpPr txBox="1"/>
          <p:nvPr>
            <p:custDataLst>
              <p:tags r:id="rId1"/>
            </p:custDataLst>
          </p:nvPr>
        </p:nvSpPr>
        <p:spPr>
          <a:xfrm>
            <a:off x="587045" y="1944964"/>
            <a:ext cx="11017910" cy="4384222"/>
          </a:xfrm>
          <a:prstGeom prst="rect">
            <a:avLst/>
          </a:prstGeom>
          <a:noFill/>
        </p:spPr>
        <p:txBody>
          <a:bodyPr vert="horz" wrap="square" rtlCol="0" anchor="ctr" anchorCtr="0">
            <a:noAutofit/>
          </a:bodyPr>
          <a:lstStyle/>
          <a:p>
            <a:pPr defTabSz="713105">
              <a:lnSpc>
                <a:spcPct val="150000"/>
              </a:lnSpc>
              <a:defRPr/>
            </a:pPr>
            <a:r>
              <a:rPr lang="zh-CN" altLang="en-US" sz="3200" b="1" dirty="0">
                <a:solidFill>
                  <a:prstClr val="black"/>
                </a:solidFill>
                <a:latin typeface="微软雅黑" panose="020B0503020204020204" pitchFamily="34" charset="-122"/>
                <a:ea typeface="微软雅黑" panose="020B0503020204020204" pitchFamily="34" charset="-122"/>
              </a:rPr>
              <a:t>题目：</a:t>
            </a:r>
            <a:endParaRPr lang="en-US" altLang="zh-CN" sz="3200" dirty="0">
              <a:solidFill>
                <a:prstClr val="black"/>
              </a:solidFill>
              <a:latin typeface="微软雅黑" panose="020B0503020204020204" pitchFamily="34" charset="-122"/>
              <a:ea typeface="微软雅黑" panose="020B0503020204020204" pitchFamily="34" charset="-122"/>
            </a:endParaRPr>
          </a:p>
          <a:p>
            <a:pPr defTabSz="713105">
              <a:lnSpc>
                <a:spcPct val="150000"/>
              </a:lnSpc>
              <a:defRPr/>
            </a:pPr>
            <a:r>
              <a:rPr lang="zh-CN" altLang="en-US" sz="2800" dirty="0">
                <a:solidFill>
                  <a:prstClr val="black"/>
                </a:solidFill>
                <a:latin typeface="微软雅黑" panose="020B0503020204020204" pitchFamily="34" charset="-122"/>
                <a:ea typeface="微软雅黑" panose="020B0503020204020204" pitchFamily="34" charset="-122"/>
              </a:rPr>
              <a:t>智能城市生成系统软件的开发正处于快速发展阶段，随着人工智能技术（尤其是大模型 </a:t>
            </a:r>
            <a:r>
              <a:rPr lang="en-US" altLang="zh-CN" sz="2800" dirty="0">
                <a:solidFill>
                  <a:prstClr val="black"/>
                </a:solidFill>
                <a:latin typeface="微软雅黑" panose="020B0503020204020204" pitchFamily="34" charset="-122"/>
                <a:ea typeface="微软雅黑" panose="020B0503020204020204" pitchFamily="34" charset="-122"/>
              </a:rPr>
              <a:t>LLM</a:t>
            </a:r>
            <a:r>
              <a:rPr lang="zh-CN" altLang="en-US" sz="2800" dirty="0">
                <a:solidFill>
                  <a:prstClr val="black"/>
                </a:solidFill>
                <a:latin typeface="微软雅黑" panose="020B0503020204020204" pitchFamily="34" charset="-122"/>
                <a:ea typeface="微软雅黑" panose="020B0503020204020204" pitchFamily="34" charset="-122"/>
              </a:rPr>
              <a:t>）与 </a:t>
            </a:r>
            <a:r>
              <a:rPr lang="en-US" altLang="zh-CN" sz="2800" dirty="0">
                <a:solidFill>
                  <a:prstClr val="black"/>
                </a:solidFill>
                <a:latin typeface="微软雅黑" panose="020B0503020204020204" pitchFamily="34" charset="-122"/>
                <a:ea typeface="微软雅黑" panose="020B0503020204020204" pitchFamily="34" charset="-122"/>
              </a:rPr>
              <a:t>3D </a:t>
            </a:r>
            <a:r>
              <a:rPr lang="zh-CN" altLang="en-US" sz="2800" dirty="0">
                <a:solidFill>
                  <a:prstClr val="black"/>
                </a:solidFill>
                <a:latin typeface="微软雅黑" panose="020B0503020204020204" pitchFamily="34" charset="-122"/>
                <a:ea typeface="微软雅黑" panose="020B0503020204020204" pitchFamily="34" charset="-122"/>
              </a:rPr>
              <a:t>建模技术的深度融合，城市建模的自动化与智能化水平显著提升 。这类系统通常结合自然语言处理、图像识别、动态仿真等多种技术，旨在为场景建模师和行业分析师提供更加高效、精准和具象化的城市设计体验 。未来在开发智能城市生成系统时，考虑使用智能化工具将极大提高开发效率和系统的智能水平 。</a:t>
            </a:r>
            <a:endParaRPr lang="en-US" altLang="zh-CN" sz="2800" dirty="0">
              <a:solidFill>
                <a:prstClr val="black"/>
              </a:solidFill>
              <a:latin typeface="微软雅黑" panose="020B0503020204020204" pitchFamily="34" charset="-122"/>
              <a:ea typeface="微软雅黑" panose="020B0503020204020204" pitchFamily="34" charset="-122"/>
            </a:endParaRPr>
          </a:p>
          <a:p>
            <a:pPr defTabSz="713105">
              <a:lnSpc>
                <a:spcPct val="150000"/>
              </a:lnSpc>
              <a:defRPr/>
            </a:pPr>
            <a:endParaRPr lang="en-US" altLang="zh-CN" sz="2800" dirty="0">
              <a:solidFill>
                <a:prstClr val="black"/>
              </a:solidFill>
              <a:latin typeface="微软雅黑" panose="020B0503020204020204" pitchFamily="34" charset="-122"/>
              <a:ea typeface="微软雅黑" panose="020B0503020204020204" pitchFamily="34" charset="-122"/>
            </a:endParaRPr>
          </a:p>
          <a:p>
            <a:pPr defTabSz="713105">
              <a:lnSpc>
                <a:spcPct val="150000"/>
              </a:lnSpc>
              <a:defRPr/>
            </a:pPr>
            <a:r>
              <a:rPr lang="zh-CN" altLang="en-US" sz="2800" dirty="0">
                <a:solidFill>
                  <a:srgbClr val="FF0000"/>
                </a:solidFill>
                <a:latin typeface="微软雅黑" panose="020B0503020204020204" pitchFamily="34" charset="-122"/>
                <a:ea typeface="微软雅黑" panose="020B0503020204020204" pitchFamily="34" charset="-122"/>
              </a:rPr>
              <a:t>请针对智能城市生成系统，撰写一份需求分析报告。</a:t>
            </a:r>
            <a:endParaRPr lang="en-US" altLang="zh-CN" sz="28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86907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2B68457-7483-E498-50E1-969051A48FFC}"/>
              </a:ext>
            </a:extLst>
          </p:cNvPr>
          <p:cNvSpPr txBox="1"/>
          <p:nvPr>
            <p:custDataLst>
              <p:tags r:id="rId1"/>
            </p:custDataLst>
          </p:nvPr>
        </p:nvSpPr>
        <p:spPr>
          <a:xfrm>
            <a:off x="562826" y="416379"/>
            <a:ext cx="10570647" cy="8311242"/>
          </a:xfrm>
          <a:prstGeom prst="rect">
            <a:avLst/>
          </a:prstGeom>
          <a:noFill/>
        </p:spPr>
        <p:txBody>
          <a:bodyPr vert="horz" wrap="square" rtlCol="0" anchor="ctr" anchorCtr="0">
            <a:no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需求分析作业：</a:t>
            </a:r>
            <a:endParaRPr lang="en-US" altLang="zh-CN" sz="2800" b="1" dirty="0">
              <a:latin typeface="微软雅黑" panose="020B0503020204020204" pitchFamily="34" charset="-122"/>
              <a:ea typeface="微软雅黑" panose="020B0503020204020204" pitchFamily="34" charset="-122"/>
            </a:endParaRPr>
          </a:p>
          <a:p>
            <a:pPr lvl="0" algn="just" defTabSz="914400">
              <a:lnSpc>
                <a:spcPct val="150000"/>
              </a:lnSpc>
              <a:spcBef>
                <a:spcPts val="1200"/>
              </a:spcBef>
              <a:spcAft>
                <a:spcPts val="1200"/>
              </a:spcAft>
            </a:pPr>
            <a:r>
              <a:rPr lang="zh-CN" altLang="en-US" sz="2800" b="1"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智能城市生成系统</a:t>
            </a:r>
            <a:endParaRPr lang="en-US" altLang="zh-CN" sz="2800" b="1" kern="100"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342900" lvl="0" indent="-342900" algn="just" defTabSz="914400">
              <a:lnSpc>
                <a:spcPct val="150000"/>
              </a:lnSpc>
              <a:spcBef>
                <a:spcPts val="1200"/>
              </a:spcBef>
              <a:spcAft>
                <a:spcPts val="1200"/>
              </a:spcAft>
              <a:buFont typeface="Arial" panose="020B0604020202020204" pitchFamily="34" charset="0"/>
              <a:buChar char="•"/>
            </a:pPr>
            <a:r>
              <a:rPr lang="zh-CN" altLang="en-US"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用户： 场景建模师、行业分析师、系统管理员</a:t>
            </a:r>
            <a:endParaRPr lang="en-US" altLang="zh-CN"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342900" lvl="0" indent="-342900" algn="just" defTabSz="914400">
              <a:lnSpc>
                <a:spcPct val="150000"/>
              </a:lnSpc>
              <a:spcBef>
                <a:spcPts val="1200"/>
              </a:spcBef>
              <a:spcAft>
                <a:spcPts val="1200"/>
              </a:spcAft>
              <a:buFont typeface="Arial" panose="020B0604020202020204" pitchFamily="34" charset="0"/>
              <a:buChar char="•"/>
            </a:pPr>
            <a:r>
              <a:rPr lang="zh-CN" altLang="en-US"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功能（包括但不限于）： 界面与架构功能包含多角色登录与权限分配、根据角色显示不同 </a:t>
            </a:r>
            <a:r>
              <a:rPr lang="en-US" altLang="zh-CN"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UI</a:t>
            </a:r>
            <a:r>
              <a:rPr lang="zh-CN" altLang="en-US"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、主系统与 </a:t>
            </a:r>
            <a:r>
              <a:rPr lang="en-US" altLang="zh-CN"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Blender </a:t>
            </a:r>
            <a:r>
              <a:rPr lang="zh-CN" altLang="en-US"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插件系统的交互入口设计 ；场景生成功能包含 </a:t>
            </a:r>
            <a:r>
              <a:rPr lang="en-US" altLang="zh-CN"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2D </a:t>
            </a:r>
            <a:r>
              <a:rPr lang="zh-CN" altLang="en-US"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与 </a:t>
            </a:r>
            <a:r>
              <a:rPr lang="en-US" altLang="zh-CN"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3D </a:t>
            </a:r>
            <a:r>
              <a:rPr lang="zh-CN" altLang="en-US"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资产的成功加载与替换、基于模板选择输入框实现树木道路及座椅类型的自动联动配置 ；布局与生态控制包含手动输入点集精确控制布局、从图像草图中自动提取点线集信息进行布局修改、实现在城市周边生成山峦湖泊及动态船只等生态元素 ；智能交互与仿真包含接入大模型（</a:t>
            </a:r>
            <a:r>
              <a:rPr lang="en-US" altLang="zh-CN"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LLM</a:t>
            </a:r>
            <a:r>
              <a:rPr lang="zh-CN" altLang="en-US"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）实现自然语言控制天色或天气等场景动态调整、往场景中加入符合社会规则运行轨迹的汽车与人群动态模拟等</a:t>
            </a:r>
            <a:r>
              <a:rPr lang="en-US" altLang="zh-CN"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a:t>
            </a:r>
          </a:p>
          <a:p>
            <a:pPr marL="342900" lvl="0" indent="-342900" algn="just" defTabSz="914400">
              <a:lnSpc>
                <a:spcPct val="150000"/>
              </a:lnSpc>
              <a:spcBef>
                <a:spcPts val="1200"/>
              </a:spcBef>
              <a:spcAft>
                <a:spcPts val="1200"/>
              </a:spcAft>
              <a:buFont typeface="Arial" panose="020B0604020202020204" pitchFamily="34" charset="0"/>
              <a:buChar char="•"/>
            </a:pPr>
            <a:r>
              <a:rPr lang="zh-CN" altLang="en-US"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一个创新功能： 接入大模型（</a:t>
            </a:r>
            <a:r>
              <a:rPr lang="en-US" altLang="zh-CN"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LLM</a:t>
            </a:r>
            <a:r>
              <a:rPr lang="zh-CN" altLang="en-US" sz="24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）实现多模态指令解析，自定义实现通过输入自然语言文本自动调用插件生成函数完成场景建模。</a:t>
            </a:r>
          </a:p>
        </p:txBody>
      </p:sp>
    </p:spTree>
    <p:extLst>
      <p:ext uri="{BB962C8B-B14F-4D97-AF65-F5344CB8AC3E}">
        <p14:creationId xmlns:p14="http://schemas.microsoft.com/office/powerpoint/2010/main" val="3162562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4</a:t>
            </a:fld>
            <a:endParaRPr lang="zh-CN" altLang="en-US">
              <a:latin typeface="微软雅黑" panose="020B0503020204020204" pitchFamily="34" charset="-122"/>
              <a:ea typeface="微软雅黑" panose="020B0503020204020204" pitchFamily="34" charset="-122"/>
            </a:endParaRPr>
          </a:p>
        </p:txBody>
      </p:sp>
      <p:sp>
        <p:nvSpPr>
          <p:cNvPr id="71" name="文本框 70">
            <a:extLst>
              <a:ext uri="{FF2B5EF4-FFF2-40B4-BE49-F238E27FC236}">
                <a16:creationId xmlns:a16="http://schemas.microsoft.com/office/drawing/2014/main" id="{4988810C-367E-3D7C-FF4B-83CCFA3E8AA0}"/>
              </a:ext>
            </a:extLst>
          </p:cNvPr>
          <p:cNvSpPr txBox="1"/>
          <p:nvPr/>
        </p:nvSpPr>
        <p:spPr>
          <a:xfrm>
            <a:off x="838200" y="299324"/>
            <a:ext cx="4587240" cy="8419228"/>
          </a:xfrm>
          <a:prstGeom prst="rect">
            <a:avLst/>
          </a:prstGeom>
          <a:noFill/>
        </p:spPr>
        <p:txBody>
          <a:bodyPr wrap="square" rtlCol="0">
            <a:spAutoFit/>
          </a:bodyPr>
          <a:lstStyle/>
          <a:p>
            <a:pPr algn="just">
              <a:lnSpc>
                <a:spcPct val="150000"/>
              </a:lnSpc>
            </a:pPr>
            <a:r>
              <a:rPr lang="zh-CN" altLang="en-US" sz="2800" b="1" dirty="0">
                <a:latin typeface="微软雅黑" panose="020B0503020204020204" pitchFamily="34" charset="-122"/>
                <a:ea typeface="微软雅黑" panose="020B0503020204020204" pitchFamily="34" charset="-122"/>
              </a:rPr>
              <a:t>软件需求分析报告</a:t>
            </a:r>
            <a:endParaRPr lang="en-US" altLang="zh-CN" sz="2800" b="1" dirty="0">
              <a:latin typeface="微软雅黑" panose="020B0503020204020204" pitchFamily="34" charset="-122"/>
              <a:ea typeface="微软雅黑" panose="020B0503020204020204" pitchFamily="34" charset="-122"/>
            </a:endParaRPr>
          </a:p>
          <a:p>
            <a:pPr algn="just">
              <a:lnSpc>
                <a:spcPct val="150000"/>
              </a:lnSpc>
            </a:pPr>
            <a:endParaRPr lang="zh-CN" altLang="en-US" sz="2000" dirty="0">
              <a:latin typeface="宋体" panose="02010600030101010101" pitchFamily="2" charset="-122"/>
              <a:ea typeface="宋体" panose="02010600030101010101" pitchFamily="2" charset="-122"/>
            </a:endParaRPr>
          </a:p>
          <a:p>
            <a:pPr marL="228600" lvl="0" indent="-228600" defTabSz="914400">
              <a:lnSpc>
                <a:spcPct val="90000"/>
              </a:lnSpc>
              <a:spcBef>
                <a:spcPts val="1000"/>
              </a:spcBef>
              <a:buFont typeface="Arial" panose="020B0604020202020204" pitchFamily="34" charset="0"/>
              <a:buChar char="•"/>
            </a:pPr>
            <a:r>
              <a:rPr lang="zh-CN" altLang="en-US" sz="2800" dirty="0">
                <a:solidFill>
                  <a:prstClr val="black"/>
                </a:solidFill>
                <a:latin typeface="宋体" panose="02010600030101010101" pitchFamily="2" charset="-122"/>
                <a:ea typeface="宋体" panose="02010600030101010101" pitchFamily="2" charset="-122"/>
              </a:rPr>
              <a:t>一、引言</a:t>
            </a:r>
            <a:endParaRPr lang="en-US" altLang="zh-CN" sz="2800" dirty="0">
              <a:solidFill>
                <a:prstClr val="black"/>
              </a:solidFill>
              <a:latin typeface="宋体" panose="02010600030101010101" pitchFamily="2" charset="-122"/>
              <a:ea typeface="宋体" panose="02010600030101010101" pitchFamily="2" charset="-122"/>
            </a:endParaRPr>
          </a:p>
          <a:p>
            <a:pPr marL="685800" lvl="1" indent="-228600" defTabSz="914400">
              <a:lnSpc>
                <a:spcPct val="90000"/>
              </a:lnSpc>
              <a:spcBef>
                <a:spcPts val="500"/>
              </a:spcBef>
              <a:buFont typeface="Arial" panose="020B0604020202020204" pitchFamily="34" charset="0"/>
              <a:buChar char="•"/>
            </a:pPr>
            <a:r>
              <a:rPr lang="zh-CN" altLang="en-US" sz="2400" dirty="0">
                <a:solidFill>
                  <a:prstClr val="black"/>
                </a:solidFill>
                <a:latin typeface="宋体" panose="02010600030101010101" pitchFamily="2" charset="-122"/>
                <a:ea typeface="宋体" panose="02010600030101010101" pitchFamily="2" charset="-122"/>
              </a:rPr>
              <a:t>编写目的</a:t>
            </a:r>
            <a:endParaRPr lang="en-US" altLang="zh-CN" sz="2400" dirty="0">
              <a:solidFill>
                <a:prstClr val="black"/>
              </a:solidFill>
              <a:latin typeface="宋体" panose="02010600030101010101" pitchFamily="2" charset="-122"/>
              <a:ea typeface="宋体" panose="02010600030101010101" pitchFamily="2" charset="-122"/>
            </a:endParaRPr>
          </a:p>
          <a:p>
            <a:pPr marL="685800" lvl="1" indent="-228600" defTabSz="914400">
              <a:lnSpc>
                <a:spcPct val="90000"/>
              </a:lnSpc>
              <a:spcBef>
                <a:spcPts val="500"/>
              </a:spcBef>
              <a:buFont typeface="Arial" panose="020B0604020202020204" pitchFamily="34" charset="0"/>
              <a:buChar char="•"/>
            </a:pPr>
            <a:r>
              <a:rPr lang="zh-CN" altLang="en-US" sz="2400" dirty="0">
                <a:solidFill>
                  <a:prstClr val="black"/>
                </a:solidFill>
                <a:latin typeface="宋体" panose="02010600030101010101" pitchFamily="2" charset="-122"/>
                <a:ea typeface="宋体" panose="02010600030101010101" pitchFamily="2" charset="-122"/>
              </a:rPr>
              <a:t>项目背景</a:t>
            </a:r>
            <a:endParaRPr lang="en-US" altLang="zh-CN" sz="2400" dirty="0">
              <a:solidFill>
                <a:prstClr val="black"/>
              </a:solidFill>
              <a:latin typeface="宋体" panose="02010600030101010101" pitchFamily="2" charset="-122"/>
              <a:ea typeface="宋体" panose="02010600030101010101" pitchFamily="2" charset="-122"/>
            </a:endParaRPr>
          </a:p>
          <a:p>
            <a:pPr marL="685800" lvl="1" indent="-228600" defTabSz="914400">
              <a:lnSpc>
                <a:spcPct val="90000"/>
              </a:lnSpc>
              <a:spcBef>
                <a:spcPts val="500"/>
              </a:spcBef>
              <a:buFont typeface="Arial" panose="020B0604020202020204" pitchFamily="34" charset="0"/>
              <a:buChar char="•"/>
            </a:pPr>
            <a:endParaRPr lang="en-US" altLang="zh-CN" sz="2400" dirty="0">
              <a:solidFill>
                <a:prstClr val="black"/>
              </a:solidFill>
              <a:latin typeface="宋体" panose="02010600030101010101" pitchFamily="2" charset="-122"/>
              <a:ea typeface="宋体" panose="02010600030101010101" pitchFamily="2" charset="-122"/>
            </a:endParaRPr>
          </a:p>
          <a:p>
            <a:pPr marL="228600" lvl="0" indent="-228600" defTabSz="914400">
              <a:lnSpc>
                <a:spcPct val="90000"/>
              </a:lnSpc>
              <a:spcBef>
                <a:spcPts val="1000"/>
              </a:spcBef>
              <a:buFont typeface="Arial" panose="020B0604020202020204" pitchFamily="34" charset="0"/>
              <a:buChar char="•"/>
            </a:pPr>
            <a:r>
              <a:rPr lang="zh-CN" altLang="en-US" sz="2800" dirty="0">
                <a:solidFill>
                  <a:prstClr val="black"/>
                </a:solidFill>
                <a:latin typeface="宋体" panose="02010600030101010101" pitchFamily="2" charset="-122"/>
                <a:ea typeface="宋体" panose="02010600030101010101" pitchFamily="2" charset="-122"/>
              </a:rPr>
              <a:t>二、任务概述</a:t>
            </a:r>
            <a:endParaRPr lang="en-US" altLang="zh-CN" sz="2800" dirty="0">
              <a:solidFill>
                <a:prstClr val="black"/>
              </a:solidFill>
              <a:latin typeface="宋体" panose="02010600030101010101" pitchFamily="2" charset="-122"/>
              <a:ea typeface="宋体" panose="02010600030101010101" pitchFamily="2" charset="-122"/>
            </a:endParaRPr>
          </a:p>
          <a:p>
            <a:pPr marL="685800" lvl="1" indent="-228600" defTabSz="914400">
              <a:lnSpc>
                <a:spcPct val="90000"/>
              </a:lnSpc>
              <a:spcBef>
                <a:spcPts val="500"/>
              </a:spcBef>
              <a:buFont typeface="Arial" panose="020B0604020202020204" pitchFamily="34" charset="0"/>
              <a:buChar char="•"/>
            </a:pPr>
            <a:r>
              <a:rPr lang="zh-CN" altLang="en-US" sz="2400" dirty="0">
                <a:solidFill>
                  <a:prstClr val="black"/>
                </a:solidFill>
                <a:latin typeface="宋体" panose="02010600030101010101" pitchFamily="2" charset="-122"/>
                <a:ea typeface="宋体" panose="02010600030101010101" pitchFamily="2" charset="-122"/>
              </a:rPr>
              <a:t>任务目标</a:t>
            </a:r>
            <a:endParaRPr lang="en-US" altLang="zh-CN" sz="2400" dirty="0">
              <a:solidFill>
                <a:prstClr val="black"/>
              </a:solidFill>
              <a:latin typeface="宋体" panose="02010600030101010101" pitchFamily="2" charset="-122"/>
              <a:ea typeface="宋体" panose="02010600030101010101" pitchFamily="2" charset="-122"/>
            </a:endParaRPr>
          </a:p>
          <a:p>
            <a:pPr marL="685800" lvl="1" indent="-228600" defTabSz="914400">
              <a:lnSpc>
                <a:spcPct val="90000"/>
              </a:lnSpc>
              <a:spcBef>
                <a:spcPts val="500"/>
              </a:spcBef>
              <a:buFont typeface="Arial" panose="020B0604020202020204" pitchFamily="34" charset="0"/>
              <a:buChar char="•"/>
            </a:pPr>
            <a:r>
              <a:rPr lang="zh-CN" altLang="en-US" sz="2400" dirty="0">
                <a:solidFill>
                  <a:prstClr val="black"/>
                </a:solidFill>
                <a:latin typeface="宋体" panose="02010600030101010101" pitchFamily="2" charset="-122"/>
                <a:ea typeface="宋体" panose="02010600030101010101" pitchFamily="2" charset="-122"/>
              </a:rPr>
              <a:t>用户特点</a:t>
            </a:r>
            <a:endParaRPr lang="en-US" altLang="zh-CN" sz="2400" dirty="0">
              <a:solidFill>
                <a:prstClr val="black"/>
              </a:solidFill>
              <a:latin typeface="宋体" panose="02010600030101010101" pitchFamily="2" charset="-122"/>
              <a:ea typeface="宋体" panose="02010600030101010101" pitchFamily="2" charset="-122"/>
            </a:endParaRPr>
          </a:p>
          <a:p>
            <a:pPr marL="685800" lvl="1" indent="-228600" defTabSz="914400">
              <a:lnSpc>
                <a:spcPct val="90000"/>
              </a:lnSpc>
              <a:spcBef>
                <a:spcPts val="500"/>
              </a:spcBef>
              <a:buFont typeface="Arial" panose="020B0604020202020204" pitchFamily="34" charset="0"/>
              <a:buChar char="•"/>
            </a:pPr>
            <a:r>
              <a:rPr lang="zh-CN" altLang="en-US" sz="2400" dirty="0">
                <a:solidFill>
                  <a:prstClr val="black"/>
                </a:solidFill>
                <a:latin typeface="宋体" panose="02010600030101010101" pitchFamily="2" charset="-122"/>
                <a:ea typeface="宋体" panose="02010600030101010101" pitchFamily="2" charset="-122"/>
              </a:rPr>
              <a:t>假定与约束</a:t>
            </a:r>
            <a:endParaRPr lang="en-US" altLang="zh-CN" sz="2400" dirty="0">
              <a:solidFill>
                <a:prstClr val="black"/>
              </a:solidFill>
              <a:latin typeface="宋体" panose="02010600030101010101" pitchFamily="2" charset="-122"/>
              <a:ea typeface="宋体" panose="02010600030101010101" pitchFamily="2" charset="-122"/>
            </a:endParaRPr>
          </a:p>
          <a:p>
            <a:pPr marL="685800" lvl="1" indent="-228600" defTabSz="914400">
              <a:lnSpc>
                <a:spcPct val="90000"/>
              </a:lnSpc>
              <a:spcBef>
                <a:spcPts val="500"/>
              </a:spcBef>
              <a:buFont typeface="Arial" panose="020B0604020202020204" pitchFamily="34" charset="0"/>
              <a:buChar char="•"/>
            </a:pPr>
            <a:endParaRPr lang="en-US" altLang="zh-CN" sz="2400" dirty="0">
              <a:solidFill>
                <a:prstClr val="black"/>
              </a:solidFill>
              <a:latin typeface="宋体" panose="02010600030101010101" pitchFamily="2" charset="-122"/>
              <a:ea typeface="宋体" panose="02010600030101010101" pitchFamily="2" charset="-122"/>
            </a:endParaRPr>
          </a:p>
          <a:p>
            <a:pPr marL="228600" lvl="0" indent="-228600" defTabSz="914400">
              <a:lnSpc>
                <a:spcPct val="90000"/>
              </a:lnSpc>
              <a:spcBef>
                <a:spcPts val="1000"/>
              </a:spcBef>
              <a:buFont typeface="Arial" panose="020B0604020202020204" pitchFamily="34" charset="0"/>
              <a:buChar char="•"/>
            </a:pPr>
            <a:r>
              <a:rPr lang="zh-CN" altLang="en-US" sz="2800" dirty="0">
                <a:solidFill>
                  <a:prstClr val="black"/>
                </a:solidFill>
                <a:latin typeface="宋体" panose="02010600030101010101" pitchFamily="2" charset="-122"/>
                <a:ea typeface="宋体" panose="02010600030101010101" pitchFamily="2" charset="-122"/>
              </a:rPr>
              <a:t>三、业务描述</a:t>
            </a:r>
            <a:endParaRPr lang="en-US" altLang="zh-CN" sz="2800" dirty="0">
              <a:solidFill>
                <a:prstClr val="black"/>
              </a:solidFill>
              <a:latin typeface="宋体" panose="02010600030101010101" pitchFamily="2" charset="-122"/>
              <a:ea typeface="宋体" panose="02010600030101010101" pitchFamily="2" charset="-122"/>
            </a:endParaRPr>
          </a:p>
          <a:p>
            <a:pPr marL="685800" lvl="1" indent="-228600" defTabSz="914400">
              <a:lnSpc>
                <a:spcPct val="90000"/>
              </a:lnSpc>
              <a:spcBef>
                <a:spcPts val="500"/>
              </a:spcBef>
              <a:buFont typeface="Arial" panose="020B0604020202020204" pitchFamily="34" charset="0"/>
              <a:buChar char="•"/>
            </a:pPr>
            <a:r>
              <a:rPr lang="zh-CN" altLang="en-US" sz="2400" dirty="0">
                <a:solidFill>
                  <a:prstClr val="black"/>
                </a:solidFill>
                <a:latin typeface="宋体" panose="02010600030101010101" pitchFamily="2" charset="-122"/>
                <a:ea typeface="宋体" panose="02010600030101010101" pitchFamily="2" charset="-122"/>
              </a:rPr>
              <a:t>系统总业务流程图及其描述</a:t>
            </a:r>
            <a:endParaRPr lang="en-US" altLang="zh-CN" sz="2400" dirty="0">
              <a:solidFill>
                <a:prstClr val="black"/>
              </a:solidFill>
              <a:latin typeface="宋体" panose="02010600030101010101" pitchFamily="2" charset="-122"/>
              <a:ea typeface="宋体" panose="02010600030101010101" pitchFamily="2" charset="-122"/>
            </a:endParaRPr>
          </a:p>
          <a:p>
            <a:pPr marL="685800" lvl="1" indent="-228600" defTabSz="914400">
              <a:lnSpc>
                <a:spcPct val="90000"/>
              </a:lnSpc>
              <a:spcBef>
                <a:spcPts val="500"/>
              </a:spcBef>
              <a:buFont typeface="Arial" panose="020B0604020202020204" pitchFamily="34" charset="0"/>
              <a:buChar char="•"/>
            </a:pPr>
            <a:r>
              <a:rPr lang="zh-CN" altLang="en-US" sz="2400" dirty="0">
                <a:solidFill>
                  <a:prstClr val="black"/>
                </a:solidFill>
                <a:latin typeface="宋体" panose="02010600030101010101" pitchFamily="2" charset="-122"/>
                <a:ea typeface="宋体" panose="02010600030101010101" pitchFamily="2" charset="-122"/>
              </a:rPr>
              <a:t>各个子业务流程图及其描述</a:t>
            </a:r>
            <a:endParaRPr lang="en-US" altLang="zh-CN" sz="2400" dirty="0">
              <a:solidFill>
                <a:prstClr val="black"/>
              </a:solidFill>
              <a:latin typeface="宋体" panose="02010600030101010101" pitchFamily="2" charset="-122"/>
              <a:ea typeface="宋体" panose="02010600030101010101" pitchFamily="2" charset="-122"/>
            </a:endParaRPr>
          </a:p>
          <a:p>
            <a:pPr marL="685800" lvl="1" indent="-228600" defTabSz="914400">
              <a:lnSpc>
                <a:spcPct val="90000"/>
              </a:lnSpc>
              <a:spcBef>
                <a:spcPts val="500"/>
              </a:spcBef>
              <a:buFont typeface="Arial" panose="020B0604020202020204" pitchFamily="34" charset="0"/>
              <a:buChar char="•"/>
            </a:pPr>
            <a:endParaRPr lang="en-US" altLang="zh-CN" sz="2400" dirty="0">
              <a:solidFill>
                <a:prstClr val="black"/>
              </a:solidFill>
              <a:latin typeface="宋体" panose="02010600030101010101" pitchFamily="2" charset="-122"/>
              <a:ea typeface="宋体" panose="02010600030101010101" pitchFamily="2" charset="-122"/>
            </a:endParaRPr>
          </a:p>
          <a:p>
            <a:pPr marL="228600" lvl="0" indent="-228600" defTabSz="914400">
              <a:lnSpc>
                <a:spcPct val="90000"/>
              </a:lnSpc>
              <a:spcBef>
                <a:spcPts val="1000"/>
              </a:spcBef>
              <a:buFont typeface="Arial" panose="020B0604020202020204" pitchFamily="34" charset="0"/>
              <a:buChar char="•"/>
              <a:defRPr/>
            </a:pPr>
            <a:r>
              <a:rPr lang="zh-CN" altLang="en-US" sz="2800" dirty="0">
                <a:solidFill>
                  <a:prstClr val="black"/>
                </a:solidFill>
                <a:latin typeface="宋体" panose="02010600030101010101" pitchFamily="2" charset="-122"/>
                <a:ea typeface="宋体" panose="02010600030101010101" pitchFamily="2" charset="-122"/>
              </a:rPr>
              <a:t>四、数据需求</a:t>
            </a:r>
            <a:endParaRPr lang="en-US" altLang="zh-CN" sz="2800" dirty="0">
              <a:solidFill>
                <a:prstClr val="black"/>
              </a:solidFill>
              <a:latin typeface="宋体" panose="02010600030101010101" pitchFamily="2" charset="-122"/>
              <a:ea typeface="宋体" panose="02010600030101010101" pitchFamily="2" charset="-122"/>
            </a:endParaRPr>
          </a:p>
          <a:p>
            <a:pPr marL="685800" lvl="1" indent="-228600" defTabSz="914400">
              <a:lnSpc>
                <a:spcPct val="90000"/>
              </a:lnSpc>
              <a:spcBef>
                <a:spcPts val="500"/>
              </a:spcBef>
              <a:buFont typeface="Arial" panose="020B0604020202020204" pitchFamily="34" charset="0"/>
              <a:buChar char="•"/>
              <a:defRPr/>
            </a:pPr>
            <a:r>
              <a:rPr lang="zh-CN" altLang="en-US" sz="2400" dirty="0">
                <a:solidFill>
                  <a:prstClr val="black"/>
                </a:solidFill>
                <a:latin typeface="宋体" panose="02010600030101010101" pitchFamily="2" charset="-122"/>
                <a:ea typeface="宋体" panose="02010600030101010101" pitchFamily="2" charset="-122"/>
              </a:rPr>
              <a:t>数据需求描述</a:t>
            </a:r>
            <a:endParaRPr lang="en-US" altLang="zh-CN" sz="2400" dirty="0">
              <a:solidFill>
                <a:prstClr val="black"/>
              </a:solidFill>
              <a:latin typeface="宋体" panose="02010600030101010101" pitchFamily="2" charset="-122"/>
              <a:ea typeface="宋体" panose="02010600030101010101" pitchFamily="2" charset="-122"/>
            </a:endParaRPr>
          </a:p>
          <a:p>
            <a:pPr marL="685800" lvl="1" indent="-228600" defTabSz="914400">
              <a:lnSpc>
                <a:spcPct val="90000"/>
              </a:lnSpc>
              <a:spcBef>
                <a:spcPts val="500"/>
              </a:spcBef>
              <a:buFont typeface="Arial" panose="020B0604020202020204" pitchFamily="34" charset="0"/>
              <a:buChar char="•"/>
              <a:defRPr/>
            </a:pPr>
            <a:r>
              <a:rPr lang="zh-CN" altLang="en-US" sz="2400" dirty="0">
                <a:solidFill>
                  <a:prstClr val="black"/>
                </a:solidFill>
                <a:latin typeface="宋体" panose="02010600030101010101" pitchFamily="2" charset="-122"/>
                <a:ea typeface="宋体" panose="02010600030101010101" pitchFamily="2" charset="-122"/>
              </a:rPr>
              <a:t>数据流图</a:t>
            </a:r>
            <a:endParaRPr lang="en-US" altLang="zh-CN" sz="2400" dirty="0">
              <a:solidFill>
                <a:prstClr val="black"/>
              </a:solidFill>
              <a:latin typeface="宋体" panose="02010600030101010101" pitchFamily="2" charset="-122"/>
              <a:ea typeface="宋体" panose="02010600030101010101" pitchFamily="2" charset="-122"/>
            </a:endParaRPr>
          </a:p>
          <a:p>
            <a:pPr marL="685800" lvl="1" indent="-228600" defTabSz="914400">
              <a:lnSpc>
                <a:spcPct val="90000"/>
              </a:lnSpc>
              <a:spcBef>
                <a:spcPts val="500"/>
              </a:spcBef>
              <a:buFont typeface="Arial" panose="020B0604020202020204" pitchFamily="34" charset="0"/>
              <a:buChar char="•"/>
              <a:defRPr/>
            </a:pPr>
            <a:r>
              <a:rPr lang="zh-CN" altLang="en-US" sz="2400" dirty="0">
                <a:solidFill>
                  <a:prstClr val="black"/>
                </a:solidFill>
                <a:latin typeface="宋体" panose="02010600030101010101" pitchFamily="2" charset="-122"/>
                <a:ea typeface="宋体" panose="02010600030101010101" pitchFamily="2" charset="-122"/>
              </a:rPr>
              <a:t>数据字典</a:t>
            </a:r>
            <a:endParaRPr lang="en-US" altLang="zh-CN" sz="2400" dirty="0">
              <a:solidFill>
                <a:prstClr val="black"/>
              </a:solidFill>
              <a:latin typeface="宋体" panose="02010600030101010101" pitchFamily="2" charset="-122"/>
              <a:ea typeface="宋体" panose="02010600030101010101" pitchFamily="2" charset="-122"/>
            </a:endParaRPr>
          </a:p>
        </p:txBody>
      </p:sp>
      <p:sp>
        <p:nvSpPr>
          <p:cNvPr id="72" name="文本框 71">
            <a:extLst>
              <a:ext uri="{FF2B5EF4-FFF2-40B4-BE49-F238E27FC236}">
                <a16:creationId xmlns:a16="http://schemas.microsoft.com/office/drawing/2014/main" id="{39BEF211-FB3F-295B-EA22-7B1ECE499DED}"/>
              </a:ext>
            </a:extLst>
          </p:cNvPr>
          <p:cNvSpPr txBox="1"/>
          <p:nvPr/>
        </p:nvSpPr>
        <p:spPr>
          <a:xfrm>
            <a:off x="6506227" y="908411"/>
            <a:ext cx="4847573" cy="5579476"/>
          </a:xfrm>
          <a:prstGeom prst="rect">
            <a:avLst/>
          </a:prstGeom>
          <a:noFill/>
        </p:spPr>
        <p:txBody>
          <a:bodyPr wrap="square" rtlCol="0">
            <a:spAutoFit/>
          </a:bodyPr>
          <a:lstStyle/>
          <a:p>
            <a:pPr algn="just">
              <a:lnSpc>
                <a:spcPct val="150000"/>
              </a:lnSpc>
            </a:pPr>
            <a:endParaRPr lang="zh-CN" altLang="en-US" sz="2000" dirty="0">
              <a:latin typeface="宋体" panose="02010600030101010101" pitchFamily="2" charset="-122"/>
              <a:ea typeface="宋体" panose="02010600030101010101" pitchFamily="2" charset="-122"/>
            </a:endParaRPr>
          </a:p>
          <a:p>
            <a:pPr marL="285750" lvl="0" indent="-285750" defTabSz="914400">
              <a:buFont typeface="Arial" panose="020B0604020202020204" pitchFamily="34" charset="0"/>
              <a:buChar char="•"/>
              <a:defRPr/>
            </a:pPr>
            <a:r>
              <a:rPr lang="zh-CN" altLang="en-US" sz="2800" dirty="0">
                <a:solidFill>
                  <a:prstClr val="black"/>
                </a:solidFill>
                <a:latin typeface="宋体" panose="02010600030101010101" pitchFamily="2" charset="-122"/>
                <a:ea typeface="宋体" panose="02010600030101010101" pitchFamily="2" charset="-122"/>
              </a:rPr>
              <a:t>五、功能需求</a:t>
            </a:r>
            <a:endParaRPr lang="en-US" altLang="zh-CN" sz="2800" dirty="0">
              <a:solidFill>
                <a:prstClr val="black"/>
              </a:solidFill>
              <a:latin typeface="宋体" panose="02010600030101010101" pitchFamily="2" charset="-122"/>
              <a:ea typeface="宋体" panose="02010600030101010101" pitchFamily="2" charset="-122"/>
            </a:endParaRPr>
          </a:p>
          <a:p>
            <a:pPr marL="742950" lvl="1" indent="-285750" defTabSz="914400">
              <a:buFont typeface="Arial" panose="020B0604020202020204" pitchFamily="34" charset="0"/>
              <a:buChar char="•"/>
              <a:defRPr/>
            </a:pPr>
            <a:r>
              <a:rPr lang="zh-CN" altLang="en-US" sz="2400" dirty="0">
                <a:solidFill>
                  <a:prstClr val="black"/>
                </a:solidFill>
                <a:latin typeface="宋体" panose="02010600030101010101" pitchFamily="2" charset="-122"/>
                <a:ea typeface="宋体" panose="02010600030101010101" pitchFamily="2" charset="-122"/>
              </a:rPr>
              <a:t>功能划分</a:t>
            </a:r>
            <a:endParaRPr lang="en-US" altLang="zh-CN" sz="2400" dirty="0">
              <a:solidFill>
                <a:prstClr val="black"/>
              </a:solidFill>
              <a:latin typeface="宋体" panose="02010600030101010101" pitchFamily="2" charset="-122"/>
              <a:ea typeface="宋体" panose="02010600030101010101" pitchFamily="2" charset="-122"/>
            </a:endParaRPr>
          </a:p>
          <a:p>
            <a:pPr marL="742950" lvl="1" indent="-285750" defTabSz="914400">
              <a:buFont typeface="Arial" panose="020B0604020202020204" pitchFamily="34" charset="0"/>
              <a:buChar char="•"/>
              <a:defRPr/>
            </a:pPr>
            <a:r>
              <a:rPr lang="zh-CN" altLang="en-US" sz="2400" dirty="0">
                <a:solidFill>
                  <a:prstClr val="black"/>
                </a:solidFill>
                <a:latin typeface="宋体" panose="02010600030101010101" pitchFamily="2" charset="-122"/>
                <a:ea typeface="宋体" panose="02010600030101010101" pitchFamily="2" charset="-122"/>
              </a:rPr>
              <a:t>功能描述</a:t>
            </a:r>
            <a:endParaRPr lang="en-US" altLang="zh-CN" sz="2400" dirty="0">
              <a:solidFill>
                <a:prstClr val="black"/>
              </a:solidFill>
              <a:latin typeface="宋体" panose="02010600030101010101" pitchFamily="2" charset="-122"/>
              <a:ea typeface="宋体" panose="02010600030101010101" pitchFamily="2" charset="-122"/>
            </a:endParaRPr>
          </a:p>
          <a:p>
            <a:pPr marL="742950" lvl="1" indent="-285750" defTabSz="914400">
              <a:buFont typeface="Arial" panose="020B0604020202020204" pitchFamily="34" charset="0"/>
              <a:buChar char="•"/>
              <a:defRPr/>
            </a:pPr>
            <a:endParaRPr lang="en-US" altLang="zh-CN" sz="2800" dirty="0">
              <a:solidFill>
                <a:prstClr val="black"/>
              </a:solidFill>
              <a:latin typeface="宋体" panose="02010600030101010101" pitchFamily="2" charset="-122"/>
              <a:ea typeface="宋体" panose="02010600030101010101" pitchFamily="2" charset="-122"/>
            </a:endParaRPr>
          </a:p>
          <a:p>
            <a:pPr marL="285750" lvl="0" indent="-285750" defTabSz="914400">
              <a:buFont typeface="Arial" panose="020B0604020202020204" pitchFamily="34" charset="0"/>
              <a:buChar char="•"/>
              <a:defRPr/>
            </a:pPr>
            <a:r>
              <a:rPr lang="zh-CN" altLang="en-US" sz="2800" dirty="0">
                <a:solidFill>
                  <a:prstClr val="black"/>
                </a:solidFill>
                <a:latin typeface="宋体" panose="02010600030101010101" pitchFamily="2" charset="-122"/>
                <a:ea typeface="宋体" panose="02010600030101010101" pitchFamily="2" charset="-122"/>
              </a:rPr>
              <a:t>六、性能</a:t>
            </a:r>
            <a:r>
              <a:rPr lang="en-US" altLang="zh-CN" sz="2800" dirty="0">
                <a:solidFill>
                  <a:prstClr val="black"/>
                </a:solidFill>
                <a:latin typeface="宋体" panose="02010600030101010101" pitchFamily="2" charset="-122"/>
                <a:ea typeface="宋体" panose="02010600030101010101" pitchFamily="2" charset="-122"/>
              </a:rPr>
              <a:t>/</a:t>
            </a:r>
            <a:r>
              <a:rPr lang="zh-CN" altLang="en-US" sz="2800" dirty="0">
                <a:solidFill>
                  <a:prstClr val="black"/>
                </a:solidFill>
                <a:latin typeface="宋体" panose="02010600030101010101" pitchFamily="2" charset="-122"/>
                <a:ea typeface="宋体" panose="02010600030101010101" pitchFamily="2" charset="-122"/>
              </a:rPr>
              <a:t>非功能需求</a:t>
            </a:r>
            <a:endParaRPr lang="en-US" altLang="zh-CN" sz="2800" dirty="0">
              <a:solidFill>
                <a:prstClr val="black"/>
              </a:solidFill>
              <a:latin typeface="宋体" panose="02010600030101010101" pitchFamily="2" charset="-122"/>
              <a:ea typeface="宋体" panose="02010600030101010101" pitchFamily="2" charset="-122"/>
            </a:endParaRPr>
          </a:p>
          <a:p>
            <a:pPr marL="742950" lvl="1" indent="-285750" defTabSz="914400">
              <a:buFont typeface="Arial" panose="020B0604020202020204" pitchFamily="34" charset="0"/>
              <a:buChar char="•"/>
              <a:defRPr/>
            </a:pPr>
            <a:r>
              <a:rPr lang="zh-CN" altLang="en-US" sz="2400" dirty="0">
                <a:solidFill>
                  <a:prstClr val="black"/>
                </a:solidFill>
                <a:latin typeface="宋体" panose="02010600030101010101" pitchFamily="2" charset="-122"/>
                <a:ea typeface="宋体" panose="02010600030101010101" pitchFamily="2" charset="-122"/>
              </a:rPr>
              <a:t>系统的准确性、及时性、可扩充性、易用性、易维护性、标准性、先进性、</a:t>
            </a:r>
            <a:r>
              <a:rPr lang="en-US" altLang="zh-CN" sz="2400" dirty="0">
                <a:solidFill>
                  <a:prstClr val="black"/>
                </a:solidFill>
                <a:latin typeface="宋体" panose="02010600030101010101" pitchFamily="2" charset="-122"/>
                <a:ea typeface="宋体" panose="02010600030101010101" pitchFamily="2" charset="-122"/>
              </a:rPr>
              <a:t>……</a:t>
            </a:r>
          </a:p>
          <a:p>
            <a:pPr marL="742950" lvl="1" indent="-285750" defTabSz="914400">
              <a:buFont typeface="Arial" panose="020B0604020202020204" pitchFamily="34" charset="0"/>
              <a:buChar char="•"/>
              <a:defRPr/>
            </a:pPr>
            <a:endParaRPr lang="en-US" altLang="zh-CN" sz="2800" dirty="0">
              <a:solidFill>
                <a:prstClr val="black"/>
              </a:solidFill>
              <a:latin typeface="宋体" panose="02010600030101010101" pitchFamily="2" charset="-122"/>
              <a:ea typeface="宋体" panose="02010600030101010101" pitchFamily="2" charset="-122"/>
            </a:endParaRPr>
          </a:p>
          <a:p>
            <a:pPr marL="285750" lvl="0" indent="-285750" defTabSz="914400">
              <a:buFont typeface="Arial" panose="020B0604020202020204" pitchFamily="34" charset="0"/>
              <a:buChar char="•"/>
              <a:defRPr/>
            </a:pPr>
            <a:r>
              <a:rPr lang="zh-CN" altLang="en-US" sz="2800" dirty="0">
                <a:solidFill>
                  <a:prstClr val="black"/>
                </a:solidFill>
                <a:latin typeface="宋体" panose="02010600030101010101" pitchFamily="2" charset="-122"/>
                <a:ea typeface="宋体" panose="02010600030101010101" pitchFamily="2" charset="-122"/>
              </a:rPr>
              <a:t>七、系统运行要求</a:t>
            </a:r>
            <a:endParaRPr lang="en-US" altLang="zh-CN" sz="2800" dirty="0">
              <a:solidFill>
                <a:prstClr val="black"/>
              </a:solidFill>
              <a:latin typeface="宋体" panose="02010600030101010101" pitchFamily="2" charset="-122"/>
              <a:ea typeface="宋体" panose="02010600030101010101" pitchFamily="2" charset="-122"/>
            </a:endParaRPr>
          </a:p>
          <a:p>
            <a:pPr marL="742950" lvl="1" indent="-285750" defTabSz="914400">
              <a:buFont typeface="Arial" panose="020B0604020202020204" pitchFamily="34" charset="0"/>
              <a:buChar char="•"/>
              <a:defRPr/>
            </a:pPr>
            <a:r>
              <a:rPr lang="zh-CN" altLang="en-US" sz="2400" dirty="0">
                <a:solidFill>
                  <a:prstClr val="black"/>
                </a:solidFill>
                <a:latin typeface="宋体" panose="02010600030101010101" pitchFamily="2" charset="-122"/>
                <a:ea typeface="宋体" panose="02010600030101010101" pitchFamily="2" charset="-122"/>
              </a:rPr>
              <a:t>硬件配置要求、软件配置要求、</a:t>
            </a:r>
            <a:r>
              <a:rPr lang="en-US" altLang="zh-CN" sz="2400" dirty="0">
                <a:solidFill>
                  <a:prstClr val="black"/>
                </a:solidFill>
                <a:latin typeface="宋体" panose="02010600030101010101" pitchFamily="2" charset="-122"/>
                <a:ea typeface="宋体" panose="02010600030101010101" pitchFamily="2" charset="-122"/>
              </a:rPr>
              <a:t>……</a:t>
            </a:r>
          </a:p>
          <a:p>
            <a:pPr marL="457200" lvl="1" defTabSz="914400">
              <a:lnSpc>
                <a:spcPct val="90000"/>
              </a:lnSpc>
              <a:spcBef>
                <a:spcPts val="500"/>
              </a:spcBef>
              <a:defRPr/>
            </a:pPr>
            <a:endParaRPr lang="en-US" altLang="zh-CN" dirty="0">
              <a:solidFill>
                <a:prstClr val="black"/>
              </a:solidFill>
              <a:latin typeface="宋体" panose="02010600030101010101" pitchFamily="2" charset="-122"/>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428A465-1C7C-900D-A5C6-875EB8B36284}"/>
              </a:ext>
            </a:extLst>
          </p:cNvPr>
          <p:cNvSpPr txBox="1"/>
          <p:nvPr/>
        </p:nvSpPr>
        <p:spPr>
          <a:xfrm>
            <a:off x="855536" y="1448629"/>
            <a:ext cx="10480927" cy="5869877"/>
          </a:xfrm>
          <a:prstGeom prst="rect">
            <a:avLst/>
          </a:prstGeom>
          <a:noFill/>
        </p:spPr>
        <p:txBody>
          <a:bodyPr wrap="square" rtlCol="0">
            <a:spAutoFit/>
          </a:bodyPr>
          <a:lstStyle/>
          <a:p>
            <a:pPr algn="just">
              <a:lnSpc>
                <a:spcPct val="150000"/>
              </a:lnSpc>
            </a:pPr>
            <a:r>
              <a:rPr lang="zh-CN" altLang="en-US" sz="3200" b="1" dirty="0">
                <a:latin typeface="微软雅黑" panose="020B0503020204020204" pitchFamily="34" charset="-122"/>
                <a:ea typeface="微软雅黑" panose="020B0503020204020204" pitchFamily="34" charset="-122"/>
              </a:rPr>
              <a:t>提交要求</a:t>
            </a:r>
            <a:endParaRPr lang="en-US" altLang="zh-CN" sz="3200" b="1" dirty="0">
              <a:latin typeface="微软雅黑" panose="020B0503020204020204" pitchFamily="34" charset="-122"/>
              <a:ea typeface="微软雅黑" panose="020B0503020204020204" pitchFamily="34" charset="-122"/>
            </a:endParaRPr>
          </a:p>
          <a:p>
            <a:pPr algn="just">
              <a:lnSpc>
                <a:spcPct val="150000"/>
              </a:lnSpc>
            </a:pPr>
            <a:endParaRPr lang="zh-CN" altLang="en-US" sz="2400" dirty="0">
              <a:latin typeface="宋体" panose="02010600030101010101" pitchFamily="2" charset="-122"/>
              <a:ea typeface="宋体" panose="02010600030101010101" pitchFamily="2" charset="-122"/>
            </a:endParaRPr>
          </a:p>
          <a:p>
            <a:pPr marL="228600" lvl="0" indent="-228600" algn="just" defTabSz="914400">
              <a:spcBef>
                <a:spcPts val="600"/>
              </a:spcBef>
              <a:spcAft>
                <a:spcPts val="1200"/>
              </a:spcAft>
              <a:buFont typeface="Arial" panose="020B0604020202020204" pitchFamily="34" charset="0"/>
              <a:buChar char="•"/>
            </a:pPr>
            <a:r>
              <a:rPr lang="zh-CN" altLang="en-US"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该需求分析作业在实验课的第</a:t>
            </a:r>
            <a:r>
              <a:rPr lang="en-US" altLang="zh-CN"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3</a:t>
            </a:r>
            <a:r>
              <a:rPr lang="zh-CN" altLang="en-US"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周到第</a:t>
            </a:r>
            <a:r>
              <a:rPr lang="en-US" altLang="zh-CN"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5</a:t>
            </a:r>
            <a:r>
              <a:rPr lang="zh-CN" altLang="en-US"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周完成</a:t>
            </a:r>
            <a:endParaRPr lang="en-US" altLang="zh-CN"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28600" lvl="0" algn="just" defTabSz="914400">
              <a:lnSpc>
                <a:spcPct val="150000"/>
              </a:lnSpc>
              <a:spcBef>
                <a:spcPts val="600"/>
              </a:spcBef>
              <a:spcAft>
                <a:spcPts val="1200"/>
              </a:spcAft>
            </a:pPr>
            <a:r>
              <a:rPr lang="zh-CN" altLang="en-US"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  </a:t>
            </a:r>
            <a:r>
              <a:rPr lang="zh-CN" altLang="en-US" sz="2800"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rPr>
              <a:t>截止时间：</a:t>
            </a:r>
            <a:r>
              <a:rPr lang="en-US" altLang="zh-CN" sz="2800"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rPr>
              <a:t>2026.4.20</a:t>
            </a:r>
            <a:r>
              <a:rPr lang="zh-CN" altLang="en-US" sz="2800"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rPr>
              <a:t>的</a:t>
            </a:r>
            <a:r>
              <a:rPr lang="en-US" altLang="zh-CN" sz="2800"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rPr>
              <a:t>24:00</a:t>
            </a:r>
          </a:p>
          <a:p>
            <a:pPr marL="228600" lvl="0" indent="-228600" algn="just" defTabSz="914400">
              <a:lnSpc>
                <a:spcPct val="150000"/>
              </a:lnSpc>
              <a:spcBef>
                <a:spcPts val="1200"/>
              </a:spcBef>
              <a:spcAft>
                <a:spcPts val="1200"/>
              </a:spcAft>
              <a:buFont typeface="Arial" panose="020B0604020202020204" pitchFamily="34" charset="0"/>
              <a:buChar char="•"/>
            </a:pPr>
            <a:r>
              <a:rPr lang="zh-CN" altLang="en-US" sz="2800" b="1"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每人</a:t>
            </a:r>
            <a:r>
              <a:rPr lang="zh-CN" altLang="en-US"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提交一份软件需求分析报告，统一为</a:t>
            </a:r>
            <a:r>
              <a:rPr lang="en-US" altLang="zh-CN" sz="2800" b="1"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.pdf</a:t>
            </a:r>
            <a:r>
              <a:rPr lang="zh-CN" altLang="en-US"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格式，命名为“学号</a:t>
            </a:r>
            <a:r>
              <a:rPr lang="en-US" altLang="zh-CN"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a:t>
            </a:r>
            <a:r>
              <a:rPr lang="zh-CN" altLang="en-US"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姓名</a:t>
            </a:r>
            <a:r>
              <a:rPr lang="en-US" altLang="zh-CN"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a:t>
            </a:r>
            <a:r>
              <a:rPr lang="zh-CN" altLang="en-US"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第二次个人作业”，发送至飞书文件夹</a:t>
            </a:r>
            <a:r>
              <a:rPr lang="en-US" altLang="zh-CN"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a:t>
            </a:r>
            <a:r>
              <a:rPr lang="zh-CN" altLang="en-US"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需求分析作业</a:t>
            </a:r>
            <a:endParaRPr lang="en-US" altLang="zh-CN"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lvl="0" algn="just" defTabSz="914400">
              <a:lnSpc>
                <a:spcPct val="150000"/>
              </a:lnSpc>
              <a:spcBef>
                <a:spcPts val="1200"/>
              </a:spcBef>
              <a:spcAft>
                <a:spcPts val="1200"/>
              </a:spcAft>
            </a:pPr>
            <a:r>
              <a:rPr lang="en-US" altLang="zh-CN" sz="2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https://nankai.feishu.cn/share/base/form/shrcnOXD5TmkSFb0guKcjpvnMrf</a:t>
            </a:r>
          </a:p>
        </p:txBody>
      </p:sp>
    </p:spTree>
    <p:extLst>
      <p:ext uri="{BB962C8B-B14F-4D97-AF65-F5344CB8AC3E}">
        <p14:creationId xmlns:p14="http://schemas.microsoft.com/office/powerpoint/2010/main" val="41122974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353</TotalTime>
  <Words>598</Words>
  <Application>Microsoft Office PowerPoint</Application>
  <PresentationFormat>自定义</PresentationFormat>
  <Paragraphs>48</Paragraphs>
  <Slides>5</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等线</vt:lpstr>
      <vt:lpstr>等线 Light</vt:lpstr>
      <vt:lpstr>宋体</vt:lpstr>
      <vt:lpstr>微软雅黑</vt:lpstr>
      <vt:lpstr>Arial</vt:lpstr>
      <vt:lpstr>Calibri</vt:lpstr>
      <vt:lpstr>Calibri Light</vt:lpstr>
      <vt:lpstr>Office 主题​​</vt:lpstr>
      <vt:lpstr>软件工程第二次作业 --需求分析  截至日期：4月20日晚上24点  分数：15</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第0次个人作业  截至日期：3月1日中午12点</dc:title>
  <dc:creator>小亮 王</dc:creator>
  <cp:lastModifiedBy>lenovo</cp:lastModifiedBy>
  <cp:revision>60</cp:revision>
  <dcterms:created xsi:type="dcterms:W3CDTF">2024-03-01T02:56:35Z</dcterms:created>
  <dcterms:modified xsi:type="dcterms:W3CDTF">2026-03-28T08:12:21Z</dcterms:modified>
</cp:coreProperties>
</file>