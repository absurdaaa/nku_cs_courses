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6"/>
  </p:notesMasterIdLst>
  <p:sldIdLst>
    <p:sldId id="354" r:id="rId2"/>
    <p:sldId id="353" r:id="rId3"/>
    <p:sldId id="350" r:id="rId4"/>
    <p:sldId id="355" r:id="rId5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1E7C9-01FB-FC41-B9CD-57A9D759DD98}" v="2" dt="2026-04-29T02:43:45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 autoAdjust="0"/>
    <p:restoredTop sz="94721"/>
  </p:normalViewPr>
  <p:slideViewPr>
    <p:cSldViewPr snapToGrid="0">
      <p:cViewPr varScale="1">
        <p:scale>
          <a:sx n="51" d="100"/>
          <a:sy n="51" d="100"/>
        </p:scale>
        <p:origin x="96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82B2A-20E8-4CCF-8219-0022322B4E97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42CA-8358-4247-8870-0B0EF32AEC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69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ISO9126</a:t>
            </a:r>
            <a:r>
              <a:rPr lang="zh-CN" altLang="en-US" dirty="0"/>
              <a:t>模型，是一个专门评价软件质量的模型，它定义了软件的六个质量属性，即功能性。。。每一个属性又细分成一些列子属性。下面我们简单解释一下每个质量属性的含义。这里概念性比较多，希望大家能够理解其中的含义，并在今后的开发过程中，能够开始考虑这些质量因素，知道自己所开发的软件还可以往怎样一个更好的方向去改进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08F8E-A66F-462A-B457-A69A741C093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59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44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02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2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23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4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36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51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30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13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40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B4F6A1A-E37F-5453-0580-C2E5F3F7B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45" y="3126341"/>
            <a:ext cx="10515600" cy="1767417"/>
          </a:xfrm>
        </p:spPr>
        <p:txBody>
          <a:bodyPr>
            <a:noAutofit/>
          </a:bodyPr>
          <a:lstStyle/>
          <a:p>
            <a:pPr algn="ctr"/>
            <a:r>
              <a:rPr lang="zh-CN" altLang="en-US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  <a:t>软件工程第四次作业</a:t>
            </a:r>
            <a:b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</a:br>
            <a: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  <a:t>--</a:t>
            </a:r>
            <a:r>
              <a:rPr lang="zh-CN" altLang="en-US" sz="5400" b="1" dirty="0"/>
              <a:t>软件编程实现、分析和测试</a:t>
            </a:r>
            <a:b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</a:br>
            <a:b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</a:b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截至日期：</a:t>
            </a:r>
            <a: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6</a:t>
            </a: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月</a:t>
            </a:r>
            <a: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8</a:t>
            </a: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日晚上</a:t>
            </a:r>
            <a: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24</a:t>
            </a: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点</a:t>
            </a:r>
            <a:b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</a:br>
            <a:b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</a:br>
            <a:r>
              <a:rPr lang="zh-CN" altLang="en-US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/>
                <a:ea typeface="等线 Light" panose="02010600030101010101" pitchFamily="2" charset="-122"/>
              </a:rPr>
              <a:t>分数：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/>
                <a:ea typeface="等线 Light" panose="02010600030101010101" pitchFamily="2" charset="-122"/>
              </a:rPr>
              <a:t>25</a:t>
            </a:r>
            <a:endParaRPr lang="zh-CN" altLang="en-US" sz="5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06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75EC40-4871-4A1B-43E6-7CDD9D214FF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46140" y="2951017"/>
            <a:ext cx="7287711" cy="438674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题目：滑动窗口最大值实现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3105">
              <a:lnSpc>
                <a:spcPct val="150000"/>
              </a:lnSpc>
              <a:defRPr/>
            </a:pP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问题定义：</a:t>
            </a:r>
          </a:p>
          <a:p>
            <a:pPr defTabSz="713105">
              <a:lnSpc>
                <a:spcPct val="150000"/>
              </a:lnSpc>
              <a:defRPr/>
            </a:pP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给定一个整数数组 </a:t>
            </a:r>
            <a:r>
              <a:rPr lang="en-US" altLang="zh-CN" sz="2400" b="1" kern="1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nums</a:t>
            </a: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，有一个大小为 </a:t>
            </a:r>
            <a:r>
              <a:rPr lang="en-US" altLang="zh-CN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的滑动窗口从数组的最左侧移动到最右侧。你只可以看到在窗口内的 </a:t>
            </a:r>
            <a:r>
              <a:rPr lang="en-US" altLang="zh-CN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个数字。滑动窗口每次只向右移动一位。</a:t>
            </a:r>
          </a:p>
          <a:p>
            <a:pPr defTabSz="713105">
              <a:lnSpc>
                <a:spcPct val="150000"/>
              </a:lnSpc>
              <a:defRPr/>
            </a:pPr>
            <a:r>
              <a:rPr lang="zh-CN" altLang="en-US" sz="24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请找出滑动窗口每次移动后，窗口内包含的最大值，并返回由这些最大值组成的数组。</a:t>
            </a:r>
          </a:p>
          <a:p>
            <a:pPr defTabSz="713105">
              <a:lnSpc>
                <a:spcPct val="150000"/>
              </a:lnSpc>
              <a:defRPr/>
            </a:pPr>
            <a:endParaRPr lang="en-US" altLang="zh-CN" sz="2400" b="1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713105">
              <a:lnSpc>
                <a:spcPct val="150000"/>
              </a:lnSpc>
              <a:defRPr/>
            </a:pPr>
            <a:r>
              <a:rPr lang="zh-CN" altLang="en-US" sz="24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任务要求：</a:t>
            </a:r>
            <a:endParaRPr lang="en-US" altLang="zh-CN" sz="24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defTabSz="71310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设计编程实现该算法</a:t>
            </a:r>
            <a:endParaRPr lang="en-US" altLang="zh-CN" sz="24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defTabSz="71310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400" kern="1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pylint</a:t>
            </a:r>
            <a:r>
              <a:rPr lang="zh-CN" altLang="en-US" sz="24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进行代码分析</a:t>
            </a:r>
            <a:endParaRPr lang="en-US" altLang="zh-CN" sz="24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defTabSz="71310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4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profile</a:t>
            </a:r>
            <a:r>
              <a:rPr lang="zh-CN" altLang="en-US" sz="24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进行性能分析</a:t>
            </a:r>
            <a:endParaRPr lang="en-US" altLang="zh-CN" sz="24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defTabSz="71310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400" kern="1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unittest</a:t>
            </a:r>
            <a:r>
              <a:rPr lang="zh-CN" altLang="en-US" sz="24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进行单元测试</a:t>
            </a:r>
          </a:p>
          <a:p>
            <a:pPr defTabSz="713105">
              <a:lnSpc>
                <a:spcPct val="150000"/>
              </a:lnSpc>
              <a:defRPr/>
            </a:pPr>
            <a:endParaRPr lang="en-US" altLang="zh-CN" sz="2400" b="1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713105">
              <a:lnSpc>
                <a:spcPct val="150000"/>
              </a:lnSpc>
              <a:defRPr/>
            </a:pP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3105">
              <a:lnSpc>
                <a:spcPct val="150000"/>
              </a:lnSpc>
              <a:defRPr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2" descr="已生成图片">
            <a:extLst>
              <a:ext uri="{FF2B5EF4-FFF2-40B4-BE49-F238E27FC236}">
                <a16:creationId xmlns:a16="http://schemas.microsoft.com/office/drawing/2014/main" id="{FEF979F0-0BD1-C3FF-F484-1A624679F6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41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003267-6450-D7A2-1374-C56FC9562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126" y="1957847"/>
            <a:ext cx="4254202" cy="318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0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CF9F5E-4A3F-033F-DCF0-F29BB2BE5DA6}"/>
              </a:ext>
            </a:extLst>
          </p:cNvPr>
          <p:cNvSpPr txBox="1"/>
          <p:nvPr/>
        </p:nvSpPr>
        <p:spPr>
          <a:xfrm>
            <a:off x="397578" y="169882"/>
            <a:ext cx="10546915" cy="8792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作业报告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prstClr val="black"/>
                </a:solidFill>
              </a:rPr>
              <a:t>简要回答以下问题：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</a:rPr>
              <a:t>a) </a:t>
            </a:r>
            <a:r>
              <a:rPr lang="zh-CN" altLang="en-US" sz="2400" b="1" dirty="0">
                <a:solidFill>
                  <a:prstClr val="black"/>
                </a:solidFill>
              </a:rPr>
              <a:t>是否遵守编程规范</a:t>
            </a:r>
            <a:r>
              <a:rPr lang="zh-CN" altLang="en-US" sz="2400" dirty="0">
                <a:solidFill>
                  <a:prstClr val="black"/>
                </a:solidFill>
              </a:rPr>
              <a:t>，参考的哪个规范，如何检查是否遵守编程规范的？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</a:rPr>
              <a:t>b) </a:t>
            </a:r>
            <a:r>
              <a:rPr lang="zh-CN" altLang="en-US" sz="2400" b="1" dirty="0">
                <a:solidFill>
                  <a:prstClr val="black"/>
                </a:solidFill>
              </a:rPr>
              <a:t>是否考虑算法的可扩展性</a:t>
            </a:r>
            <a:r>
              <a:rPr lang="zh-CN" altLang="en-US" sz="2400" dirty="0">
                <a:solidFill>
                  <a:prstClr val="black"/>
                </a:solidFill>
              </a:rPr>
              <a:t>（已扩展了什么功能、未来还可以如何扩展，数据、需求、用户、软件构建</a:t>
            </a:r>
            <a:r>
              <a:rPr lang="en-US" altLang="zh-CN" sz="2400" dirty="0">
                <a:solidFill>
                  <a:prstClr val="black"/>
                </a:solidFill>
              </a:rPr>
              <a:t>…</a:t>
            </a:r>
            <a:r>
              <a:rPr lang="zh-CN" altLang="en-US" sz="2400" dirty="0">
                <a:solidFill>
                  <a:prstClr val="black"/>
                </a:solidFill>
              </a:rPr>
              <a:t>）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</a:rPr>
              <a:t>c) </a:t>
            </a:r>
            <a:r>
              <a:rPr lang="zh-CN" altLang="en-US" sz="2400" b="1" dirty="0">
                <a:solidFill>
                  <a:prstClr val="black"/>
                </a:solidFill>
              </a:rPr>
              <a:t>是否遵守了两个原则</a:t>
            </a:r>
            <a:r>
              <a:rPr lang="zh-CN" altLang="en-US" sz="2400" dirty="0">
                <a:solidFill>
                  <a:prstClr val="black"/>
                </a:solidFill>
              </a:rPr>
              <a:t>，代码的哪个部分是后续扩展功能也可以重复使用、不会修改的基础功能；</a:t>
            </a:r>
            <a:r>
              <a:rPr lang="zh-CN" altLang="en-US" sz="2400" b="1" dirty="0"/>
              <a:t>单一职责原则（</a:t>
            </a:r>
            <a:r>
              <a:rPr lang="en-US" altLang="zh-CN" sz="2400" b="1" dirty="0"/>
              <a:t>Single Responsibility Principle, SRP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开放</a:t>
            </a:r>
            <a:r>
              <a:rPr lang="en-US" altLang="zh-CN" sz="2400" b="1" dirty="0"/>
              <a:t>- </a:t>
            </a:r>
            <a:r>
              <a:rPr lang="zh-CN" altLang="en-US" sz="2400" b="1" dirty="0"/>
              <a:t>封闭原则（</a:t>
            </a:r>
            <a:r>
              <a:rPr lang="en-US" altLang="zh-CN" sz="2400" b="1" dirty="0"/>
              <a:t>Open-Close Principle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OCP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 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</a:rPr>
              <a:t>d) </a:t>
            </a:r>
            <a:r>
              <a:rPr lang="zh-CN" altLang="en-US" sz="2400" b="1" dirty="0">
                <a:solidFill>
                  <a:prstClr val="black"/>
                </a:solidFill>
              </a:rPr>
              <a:t>考虑了哪些错误与异常处理</a:t>
            </a:r>
            <a:endParaRPr lang="en-US" altLang="zh-CN" sz="2400" b="1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</a:rPr>
              <a:t>e) </a:t>
            </a:r>
            <a:r>
              <a:rPr lang="zh-CN" altLang="en-US" sz="2400" b="1" dirty="0">
                <a:solidFill>
                  <a:prstClr val="black"/>
                </a:solidFill>
              </a:rPr>
              <a:t>算法复杂度</a:t>
            </a:r>
            <a:r>
              <a:rPr lang="zh-CN" altLang="en-US" sz="2400" dirty="0">
                <a:solidFill>
                  <a:prstClr val="black"/>
                </a:solidFill>
              </a:rPr>
              <a:t>是多少？如何对代码性能进行</a:t>
            </a:r>
            <a:r>
              <a:rPr lang="zh-CN" altLang="en-US" sz="2400" b="1" dirty="0">
                <a:solidFill>
                  <a:prstClr val="black"/>
                </a:solidFill>
              </a:rPr>
              <a:t>分析</a:t>
            </a:r>
            <a:r>
              <a:rPr lang="zh-CN" altLang="en-US" sz="2400" dirty="0">
                <a:solidFill>
                  <a:prstClr val="black"/>
                </a:solidFill>
              </a:rPr>
              <a:t>？分析的结果如何</a:t>
            </a:r>
            <a:r>
              <a:rPr lang="en-US" altLang="zh-CN" sz="2400" dirty="0">
                <a:solidFill>
                  <a:prstClr val="black"/>
                </a:solidFill>
              </a:rPr>
              <a:t>?</a:t>
            </a:r>
            <a:r>
              <a:rPr lang="zh-CN" altLang="en-US" sz="2400" dirty="0">
                <a:solidFill>
                  <a:prstClr val="black"/>
                </a:solidFill>
              </a:rPr>
              <a:t>你是如何进行</a:t>
            </a:r>
            <a:r>
              <a:rPr lang="zh-CN" altLang="en-US" sz="2400" b="1" dirty="0">
                <a:solidFill>
                  <a:prstClr val="black"/>
                </a:solidFill>
              </a:rPr>
              <a:t>优化</a:t>
            </a:r>
            <a:r>
              <a:rPr lang="zh-CN" altLang="en-US" sz="2400" dirty="0">
                <a:solidFill>
                  <a:prstClr val="black"/>
                </a:solidFill>
              </a:rPr>
              <a:t>的？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</a:rPr>
              <a:t>f) </a:t>
            </a:r>
            <a:r>
              <a:rPr lang="zh-CN" altLang="en-US" sz="2400" b="1" dirty="0">
                <a:solidFill>
                  <a:prstClr val="black"/>
                </a:solidFill>
              </a:rPr>
              <a:t>单元测试</a:t>
            </a:r>
            <a:r>
              <a:rPr lang="zh-CN" altLang="en-US" sz="2400" dirty="0">
                <a:solidFill>
                  <a:prstClr val="black"/>
                </a:solidFill>
              </a:rPr>
              <a:t>的用例设计思路、覆盖率（选择一种覆盖指标）、测试通过率分别是多少？测试用例设计思路、测试用例表、测试覆盖率、测试通过率、缺陷报告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428A465-1C7C-900D-A5C6-875EB8B36284}"/>
              </a:ext>
            </a:extLst>
          </p:cNvPr>
          <p:cNvSpPr txBox="1"/>
          <p:nvPr/>
        </p:nvSpPr>
        <p:spPr>
          <a:xfrm>
            <a:off x="897225" y="864167"/>
            <a:ext cx="10367805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提交要求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截止时间：</a:t>
            </a:r>
            <a:r>
              <a:rPr lang="en-US" altLang="zh-CN" sz="32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2026.6.8</a:t>
            </a:r>
            <a:r>
              <a:rPr lang="zh-CN" altLang="en-US" sz="32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32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24:00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 defTabSz="914400">
              <a:spcBef>
                <a:spcPts val="600"/>
              </a:spcBef>
              <a:spcAft>
                <a:spcPts val="1200"/>
              </a:spcAft>
            </a:pPr>
            <a:r>
              <a:rPr lang="zh-CN" altLang="en-US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每人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提交一个</a:t>
            </a:r>
            <a:r>
              <a:rPr lang="en-US" altLang="zh-CN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.zip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压缩包，里面包括：（</a:t>
            </a:r>
            <a:r>
              <a:rPr lang="en-US" altLang="zh-CN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）作业报告，</a:t>
            </a:r>
            <a:r>
              <a:rPr lang="en-US" altLang="zh-CN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.pdf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格式；（</a:t>
            </a:r>
            <a:r>
              <a:rPr lang="en-US" altLang="zh-CN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）源代码（要求用</a:t>
            </a:r>
            <a:r>
              <a:rPr lang="en-US" altLang="zh-CN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语言编写，含测试数据）</a:t>
            </a:r>
            <a:endParaRPr lang="en-US" altLang="zh-CN" sz="28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defTabSz="914400">
              <a:spcBef>
                <a:spcPts val="600"/>
              </a:spcBef>
              <a:spcAft>
                <a:spcPts val="1200"/>
              </a:spcAft>
            </a:pP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通过问卷上传：</a:t>
            </a:r>
            <a:endParaRPr lang="en-US" altLang="zh-CN" sz="28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defTabSz="914400">
              <a:spcBef>
                <a:spcPts val="600"/>
              </a:spcBef>
              <a:spcAft>
                <a:spcPts val="1200"/>
              </a:spcAft>
            </a:pPr>
            <a:r>
              <a:rPr lang="en-US" altLang="zh-CN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https://nankai.feishu.cn/share/base/form/shrcnL8jwiVzzw6XiERy9elKqDf</a:t>
            </a:r>
          </a:p>
        </p:txBody>
      </p:sp>
    </p:spTree>
    <p:extLst>
      <p:ext uri="{BB962C8B-B14F-4D97-AF65-F5344CB8AC3E}">
        <p14:creationId xmlns:p14="http://schemas.microsoft.com/office/powerpoint/2010/main" val="41122974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441</TotalTime>
  <Words>470</Words>
  <Application>Microsoft Office PowerPoint</Application>
  <PresentationFormat>自定义</PresentationFormat>
  <Paragraphs>32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宋体</vt:lpstr>
      <vt:lpstr>微软雅黑</vt:lpstr>
      <vt:lpstr>Arial</vt:lpstr>
      <vt:lpstr>Calibri</vt:lpstr>
      <vt:lpstr>Calibri Light</vt:lpstr>
      <vt:lpstr>Office 主题​​</vt:lpstr>
      <vt:lpstr>软件工程第四次作业 --软件编程实现、分析和测试  截至日期：6月8日晚上24点  分数：25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第0次个人作业  截至日期：3月1日中午12点</dc:title>
  <dc:creator>小亮 王</dc:creator>
  <cp:lastModifiedBy>lenovo</cp:lastModifiedBy>
  <cp:revision>64</cp:revision>
  <dcterms:created xsi:type="dcterms:W3CDTF">2024-03-01T02:56:35Z</dcterms:created>
  <dcterms:modified xsi:type="dcterms:W3CDTF">2026-05-05T11:13:58Z</dcterms:modified>
</cp:coreProperties>
</file>